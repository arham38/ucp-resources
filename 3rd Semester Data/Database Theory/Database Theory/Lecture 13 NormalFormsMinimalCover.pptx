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56" autoAdjust="0"/>
  </p:normalViewPr>
  <p:slideViewPr>
    <p:cSldViewPr snapToGrid="0">
      <p:cViewPr varScale="1">
        <p:scale>
          <a:sx n="62" d="100"/>
          <a:sy n="62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8560-8800-472A-B593-CBAE17F6A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BA08C-3300-4A78-8058-F7E0026B7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9F093-DB11-4E7D-95E3-D1463BF0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D72E3-8598-4155-AB73-9CC5589F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41A9B-B9C1-4DAF-B652-7E917FB4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8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BAA0-6EB7-418E-8178-AEC56F33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F590E-D930-4C60-ACFA-734A800E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CE1F-3661-4F18-B4EF-44920303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B84D8-EC63-404F-A5C1-BBF7495F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67037-0AA4-4B08-A217-5E187600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2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705E-F438-4606-BF55-9021BC46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AA18B-6CE6-4D56-9D55-C70BBEF16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A10A0-5D5C-4C7C-B55D-02AC6001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724F-E72F-454A-95FF-94700695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90BB-CDC5-42DB-B332-783E3525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70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FBDA-10FE-4CCB-A54C-5A10ECF7E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5320F-F272-4820-8E02-AF81F0647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CFBFA-89B2-4959-801E-2B27BD554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187C6-86EE-4544-BB4C-D11BFFF0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2729D-25B4-40CB-AA64-92029EC8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A7842-E681-45AA-9A55-E381FC00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8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C8EC-0E12-4962-92E9-0969248F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8C74-392F-4BD2-89AC-81A1A8BE0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D9E24-89CE-48F6-ACA5-B567339A5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1A4EC-CA8C-4F85-90BD-48025E3C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912F4-D4DD-48E6-A9EB-FD2E6D4D1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B2D49-363F-4010-A058-3CA7FE9C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D7F56-0EE5-413D-BC20-AEB13223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688B1-ABD8-4562-ACA1-CFA0A8E6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7343-9F59-44BC-AFC1-F1E75A87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34E6-0535-495D-A81D-555B3D0E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89284-E9ED-4706-923D-C709E742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83CCB-930E-47D7-B90D-58FA236D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7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96F5E-F697-49EB-9912-BB046342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3EC5F-6E39-4B7F-BE98-2295E727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4FCAC-F23B-4773-BD4A-F3896A1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4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546B-5E89-4F9A-9768-50B8A99C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3213-E55A-4030-8EFB-3CAEFC41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FCBED-78A3-42EE-A866-27698733E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93D1C-A9F1-46E1-A930-ABF036AE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41F5D-D345-43F8-AEF5-A81FE0FD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06809-F81F-40D3-B097-155F26D4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4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FA2F-F6B3-4D7C-BD79-EA3D7E59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E0277-A547-42AD-91AF-1EB37F9FD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7508C-FC9E-4E1F-B731-5A223D143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56F3A-26FB-451B-9809-57EEAA42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6B7F3-6FD0-41CC-9094-1AFF2923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F6CE-52F6-43EA-ACB7-65EF1506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5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7534-D71C-4D84-B5BE-DBE5255D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E6826-D8DA-4802-858B-D3FCE0A11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9E3C7-B2A9-45B3-A352-003B83967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65270-8732-4419-8363-A3471299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CFA7-69CE-44B9-A862-431438B4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1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40DE8-D131-48C9-B673-661F30F59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2ACCF-C376-467A-BB51-9AEC32761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DDEAD-7A00-4BCE-822B-2EF177A7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20350-FCB6-461F-AACF-6AEBD9B7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BB618-0A75-4205-966E-03B2A90B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3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24C7-1284-4DAB-B2F8-92B76B22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01B8C-D977-4E4B-BA73-E2D4D07C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8530-A089-47ED-BEC7-FDBA3DDD2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B7EEE-53C8-4F31-B571-245CE5B5791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2F9D9-25C7-4B52-8B98-F9FE4865C7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41542-1C1F-4E6D-9A4E-8D4800A21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0DD58-3DD9-4957-90ED-7D9E5B95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5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30A9-17D2-4CE9-974C-63335D2AC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identify normal forms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63FDB-97D1-4FDE-A85A-B5F3D644ED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0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9E61-0F3C-4FE4-9509-24430EB8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C297-8561-4F40-B0AF-4EED8EA15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BCNF</a:t>
            </a:r>
          </a:p>
          <a:p>
            <a:pPr lvl="1"/>
            <a:r>
              <a:rPr lang="en-US" dirty="0"/>
              <a:t>On L.H.S of all </a:t>
            </a:r>
            <a:r>
              <a:rPr lang="en-US" dirty="0" err="1"/>
              <a:t>Fds</a:t>
            </a:r>
            <a:r>
              <a:rPr lang="en-US" dirty="0"/>
              <a:t> there should be </a:t>
            </a:r>
            <a:r>
              <a:rPr lang="en-US" dirty="0" err="1"/>
              <a:t>superkey</a:t>
            </a:r>
            <a:endParaRPr lang="en-US" dirty="0"/>
          </a:p>
          <a:p>
            <a:r>
              <a:rPr lang="en-US" dirty="0"/>
              <a:t>3NF </a:t>
            </a:r>
          </a:p>
          <a:p>
            <a:pPr lvl="1"/>
            <a:r>
              <a:rPr lang="en-US" dirty="0"/>
              <a:t>There should be NO </a:t>
            </a:r>
            <a:r>
              <a:rPr lang="en-US" dirty="0" err="1"/>
              <a:t>fd</a:t>
            </a:r>
            <a:r>
              <a:rPr lang="en-US" dirty="0"/>
              <a:t> for: NP</a:t>
            </a:r>
            <a:r>
              <a:rPr lang="en-US" dirty="0">
                <a:sym typeface="Wingdings" panose="05000000000000000000" pitchFamily="2" charset="2"/>
              </a:rPr>
              <a:t>NP</a:t>
            </a:r>
          </a:p>
          <a:p>
            <a:r>
              <a:rPr lang="en-US" dirty="0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There should be NO </a:t>
            </a:r>
            <a:r>
              <a:rPr lang="en-US" dirty="0" err="1">
                <a:sym typeface="Wingdings" panose="05000000000000000000" pitchFamily="2" charset="2"/>
              </a:rPr>
              <a:t>fd</a:t>
            </a:r>
            <a:r>
              <a:rPr lang="en-US" dirty="0">
                <a:sym typeface="Wingdings" panose="05000000000000000000" pitchFamily="2" charset="2"/>
              </a:rPr>
              <a:t> for: PNP</a:t>
            </a:r>
          </a:p>
          <a:p>
            <a:r>
              <a:rPr lang="en-US" dirty="0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7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A87A-1EBE-4251-A5CF-F8007CF0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5DD22-5815-4DF1-B543-7D7B13D8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R(A,B,C,D,E,F)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 BCDEF</a:t>
            </a:r>
          </a:p>
          <a:p>
            <a:r>
              <a:rPr lang="en-US" dirty="0">
                <a:sym typeface="Wingdings" panose="05000000000000000000" pitchFamily="2" charset="2"/>
              </a:rPr>
              <a:t>BC ADEF</a:t>
            </a:r>
          </a:p>
          <a:p>
            <a:r>
              <a:rPr lang="en-US" dirty="0">
                <a:sym typeface="Wingdings" panose="05000000000000000000" pitchFamily="2" charset="2"/>
              </a:rPr>
              <a:t>DEFABC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A, BC, DEF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E1F185-495F-4A76-8B9E-7E3F43AEBC74}"/>
              </a:ext>
            </a:extLst>
          </p:cNvPr>
          <p:cNvSpPr txBox="1">
            <a:spLocks/>
          </p:cNvSpPr>
          <p:nvPr/>
        </p:nvSpPr>
        <p:spPr>
          <a:xfrm>
            <a:off x="4759271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9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BBAF-E8DA-4E3F-8D84-CA3AC193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2FF8E-4107-4C24-A61B-EF1D25476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R(A,B,C)</a:t>
            </a:r>
          </a:p>
          <a:p>
            <a:endParaRPr lang="en-US" dirty="0"/>
          </a:p>
          <a:p>
            <a:r>
              <a:rPr lang="en-US" dirty="0"/>
              <a:t>AB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</a:t>
            </a:r>
          </a:p>
          <a:p>
            <a:r>
              <a:rPr lang="en-US" dirty="0"/>
              <a:t>C</a:t>
            </a:r>
            <a:r>
              <a:rPr lang="en-US" dirty="0">
                <a:sym typeface="Wingdings" panose="05000000000000000000" pitchFamily="2" charset="2"/>
              </a:rPr>
              <a:t> A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AB, BC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94364A-3010-4EFC-AE29-E3BEA114007D}"/>
              </a:ext>
            </a:extLst>
          </p:cNvPr>
          <p:cNvSpPr txBox="1">
            <a:spLocks/>
          </p:cNvSpPr>
          <p:nvPr/>
        </p:nvSpPr>
        <p:spPr>
          <a:xfrm>
            <a:off x="5410200" y="1577652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9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A7F4-203B-44AB-816F-A61541BA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0D8B7-10FC-46BF-9D1F-A0650B36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R(A,B,C,D,E)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 B</a:t>
            </a:r>
          </a:p>
          <a:p>
            <a:r>
              <a:rPr lang="en-US" dirty="0">
                <a:sym typeface="Wingdings" panose="05000000000000000000" pitchFamily="2" charset="2"/>
              </a:rPr>
              <a:t>BC E</a:t>
            </a:r>
          </a:p>
          <a:p>
            <a:r>
              <a:rPr lang="en-US" dirty="0">
                <a:sym typeface="Wingdings" panose="05000000000000000000" pitchFamily="2" charset="2"/>
              </a:rPr>
              <a:t>DE A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 : ACD, BCD, CDE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450C5A-51B9-4B9B-ADD7-527FC84904FF}"/>
              </a:ext>
            </a:extLst>
          </p:cNvPr>
          <p:cNvSpPr txBox="1">
            <a:spLocks/>
          </p:cNvSpPr>
          <p:nvPr/>
        </p:nvSpPr>
        <p:spPr>
          <a:xfrm>
            <a:off x="4821264" y="1469164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2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3D1E-6EB9-4293-BBD0-478957B5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65A2-751E-4F63-851E-BFB62A30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R(ABCDE)</a:t>
            </a:r>
          </a:p>
          <a:p>
            <a:endParaRPr lang="en-US" dirty="0"/>
          </a:p>
          <a:p>
            <a:r>
              <a:rPr lang="en-US" dirty="0"/>
              <a:t>AB</a:t>
            </a:r>
            <a:r>
              <a:rPr lang="en-US" dirty="0">
                <a:sym typeface="Wingdings" panose="05000000000000000000" pitchFamily="2" charset="2"/>
              </a:rPr>
              <a:t> CD</a:t>
            </a:r>
          </a:p>
          <a:p>
            <a:r>
              <a:rPr lang="en-US" dirty="0">
                <a:sym typeface="Wingdings" panose="05000000000000000000" pitchFamily="2" charset="2"/>
              </a:rPr>
              <a:t>DA</a:t>
            </a:r>
          </a:p>
          <a:p>
            <a:r>
              <a:rPr lang="en-US" dirty="0">
                <a:sym typeface="Wingdings" panose="05000000000000000000" pitchFamily="2" charset="2"/>
              </a:rPr>
              <a:t>BCDE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AB,BC, BD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51B338-7947-466E-ADC3-98E8D787E70C}"/>
              </a:ext>
            </a:extLst>
          </p:cNvPr>
          <p:cNvSpPr txBox="1">
            <a:spLocks/>
          </p:cNvSpPr>
          <p:nvPr/>
        </p:nvSpPr>
        <p:spPr>
          <a:xfrm>
            <a:off x="5224221" y="1484662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2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69A1-F0A0-458E-AD4C-4E48FB3C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C68B-E693-40DA-8AE2-F471BE7E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R(WXYZ)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Z</a:t>
            </a:r>
            <a:r>
              <a:rPr lang="en-US" dirty="0">
                <a:sym typeface="Wingdings" panose="05000000000000000000" pitchFamily="2" charset="2"/>
              </a:rPr>
              <a:t> W</a:t>
            </a:r>
          </a:p>
          <a:p>
            <a:r>
              <a:rPr lang="en-US" dirty="0">
                <a:sym typeface="Wingdings" panose="05000000000000000000" pitchFamily="2" charset="2"/>
              </a:rPr>
              <a:t>YXZ</a:t>
            </a:r>
          </a:p>
          <a:p>
            <a:r>
              <a:rPr lang="en-US" dirty="0">
                <a:sym typeface="Wingdings" panose="05000000000000000000" pitchFamily="2" charset="2"/>
              </a:rPr>
              <a:t>XWY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Y, XW, XZ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7E2B78-B07D-4270-B712-F47110A79C2E}"/>
              </a:ext>
            </a:extLst>
          </p:cNvPr>
          <p:cNvSpPr txBox="1">
            <a:spLocks/>
          </p:cNvSpPr>
          <p:nvPr/>
        </p:nvSpPr>
        <p:spPr>
          <a:xfrm>
            <a:off x="5146729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9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886B-345C-4206-BE0E-FBE85FD8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156F-5082-42B6-9170-2CF8E94DF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R(ABCDE)</a:t>
            </a:r>
          </a:p>
          <a:p>
            <a:endParaRPr lang="en-US" dirty="0"/>
          </a:p>
          <a:p>
            <a:r>
              <a:rPr lang="en-US" dirty="0"/>
              <a:t>AB</a:t>
            </a:r>
            <a:r>
              <a:rPr lang="en-US" dirty="0">
                <a:sym typeface="Wingdings" panose="05000000000000000000" pitchFamily="2" charset="2"/>
              </a:rPr>
              <a:t> C</a:t>
            </a:r>
          </a:p>
          <a:p>
            <a:r>
              <a:rPr lang="en-US" dirty="0">
                <a:sym typeface="Wingdings" panose="05000000000000000000" pitchFamily="2" charset="2"/>
              </a:rPr>
              <a:t>CD AE</a:t>
            </a:r>
          </a:p>
          <a:p>
            <a:r>
              <a:rPr lang="en-US" dirty="0">
                <a:sym typeface="Wingdings" panose="05000000000000000000" pitchFamily="2" charset="2"/>
              </a:rPr>
              <a:t>E F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ABD, BCD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797DF5-2356-45DC-A4E3-23467444481C}"/>
              </a:ext>
            </a:extLst>
          </p:cNvPr>
          <p:cNvSpPr txBox="1">
            <a:spLocks/>
          </p:cNvSpPr>
          <p:nvPr/>
        </p:nvSpPr>
        <p:spPr>
          <a:xfrm>
            <a:off x="5689169" y="185344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7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C3AF-7983-4065-A9B5-FB8F4150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9E46-074F-422E-AB60-E5B29911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R(VWXYZ)</a:t>
            </a:r>
          </a:p>
          <a:p>
            <a:endParaRPr lang="en-US" dirty="0"/>
          </a:p>
          <a:p>
            <a:r>
              <a:rPr lang="en-US" dirty="0"/>
              <a:t>Z</a:t>
            </a:r>
            <a:r>
              <a:rPr lang="en-US" dirty="0">
                <a:sym typeface="Wingdings" panose="05000000000000000000" pitchFamily="2" charset="2"/>
              </a:rPr>
              <a:t>Y</a:t>
            </a:r>
          </a:p>
          <a:p>
            <a:r>
              <a:rPr lang="en-US" dirty="0">
                <a:sym typeface="Wingdings" panose="05000000000000000000" pitchFamily="2" charset="2"/>
              </a:rPr>
              <a:t>YZ</a:t>
            </a:r>
          </a:p>
          <a:p>
            <a:r>
              <a:rPr lang="en-US" dirty="0">
                <a:sym typeface="Wingdings" panose="05000000000000000000" pitchFamily="2" charset="2"/>
              </a:rPr>
              <a:t>XYV</a:t>
            </a:r>
          </a:p>
          <a:p>
            <a:r>
              <a:rPr lang="en-US" dirty="0">
                <a:sym typeface="Wingdings" panose="05000000000000000000" pitchFamily="2" charset="2"/>
              </a:rPr>
              <a:t>VWX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Keys: VW, XW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BD47C5-221A-499B-BBC1-5A7D2A8DD382}"/>
              </a:ext>
            </a:extLst>
          </p:cNvPr>
          <p:cNvSpPr txBox="1">
            <a:spLocks/>
          </p:cNvSpPr>
          <p:nvPr/>
        </p:nvSpPr>
        <p:spPr>
          <a:xfrm>
            <a:off x="4898756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43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294A-ACA1-4C26-A5EE-C1E80E01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D03D-1132-4871-9FD0-5CA97DD6C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R(ABCDEF)</a:t>
            </a:r>
          </a:p>
          <a:p>
            <a:endParaRPr lang="en-US" dirty="0"/>
          </a:p>
          <a:p>
            <a:r>
              <a:rPr lang="en-US" dirty="0"/>
              <a:t>ABC</a:t>
            </a:r>
            <a:r>
              <a:rPr lang="en-US" dirty="0"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CDF</a:t>
            </a:r>
          </a:p>
          <a:p>
            <a:r>
              <a:rPr lang="en-US" dirty="0">
                <a:sym typeface="Wingdings" panose="05000000000000000000" pitchFamily="2" charset="2"/>
              </a:rPr>
              <a:t>ABD E</a:t>
            </a:r>
          </a:p>
          <a:p>
            <a:r>
              <a:rPr lang="en-US" dirty="0">
                <a:sym typeface="Wingdings" panose="05000000000000000000" pitchFamily="2" charset="2"/>
              </a:rPr>
              <a:t>CDFB</a:t>
            </a:r>
          </a:p>
          <a:p>
            <a:r>
              <a:rPr lang="en-US" dirty="0">
                <a:sym typeface="Wingdings" panose="05000000000000000000" pitchFamily="2" charset="2"/>
              </a:rPr>
              <a:t>BF D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Keys: AB, ACD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64064B-4401-410C-9F43-947ECF4F55D9}"/>
              </a:ext>
            </a:extLst>
          </p:cNvPr>
          <p:cNvSpPr txBox="1">
            <a:spLocks/>
          </p:cNvSpPr>
          <p:nvPr/>
        </p:nvSpPr>
        <p:spPr>
          <a:xfrm>
            <a:off x="5782160" y="182245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892D-4A2F-469F-9A0E-D97F48FE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18747-A0E5-41C7-8076-0842AE6E5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R(ABCDE)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 B</a:t>
            </a:r>
          </a:p>
          <a:p>
            <a:r>
              <a:rPr lang="en-US" dirty="0">
                <a:sym typeface="Wingdings" panose="05000000000000000000" pitchFamily="2" charset="2"/>
              </a:rPr>
              <a:t>BE</a:t>
            </a:r>
          </a:p>
          <a:p>
            <a:r>
              <a:rPr lang="en-US" dirty="0">
                <a:sym typeface="Wingdings" panose="05000000000000000000" pitchFamily="2" charset="2"/>
              </a:rPr>
              <a:t>CD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Keys: AC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669F41-3019-40F7-A4D7-4BC6BE1885B6}"/>
              </a:ext>
            </a:extLst>
          </p:cNvPr>
          <p:cNvSpPr txBox="1">
            <a:spLocks/>
          </p:cNvSpPr>
          <p:nvPr/>
        </p:nvSpPr>
        <p:spPr>
          <a:xfrm>
            <a:off x="5642675" y="1656516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BCNF</a:t>
            </a:r>
          </a:p>
          <a:p>
            <a:pPr lvl="1"/>
            <a:r>
              <a:rPr lang="en-US"/>
              <a:t>On L.H.S of all Fds there should be superkey</a:t>
            </a:r>
          </a:p>
          <a:p>
            <a:r>
              <a:rPr lang="en-US"/>
              <a:t>3NF </a:t>
            </a:r>
          </a:p>
          <a:p>
            <a:pPr lvl="1"/>
            <a:r>
              <a:rPr lang="en-US"/>
              <a:t>There should be NO fd for: NP</a:t>
            </a:r>
            <a:r>
              <a:rPr lang="en-US">
                <a:sym typeface="Wingdings" panose="05000000000000000000" pitchFamily="2" charset="2"/>
              </a:rPr>
              <a:t>NP</a:t>
            </a:r>
          </a:p>
          <a:p>
            <a:r>
              <a:rPr lang="en-US">
                <a:sym typeface="Wingdings" panose="05000000000000000000" pitchFamily="2" charset="2"/>
              </a:rPr>
              <a:t>2NF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NO fd for: PNP</a:t>
            </a:r>
          </a:p>
          <a:p>
            <a:r>
              <a:rPr lang="en-US">
                <a:sym typeface="Wingdings" panose="05000000000000000000" pitchFamily="2" charset="2"/>
              </a:rPr>
              <a:t>1NF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There should be a primary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57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A2CF25-4651-46A1-A733-B80464643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Find Minimal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A68C17-1E0E-41CF-9503-0D4FD7F6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01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D852-323A-431F-8181-25321CE2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ABF1-39EF-4F32-BE4B-F72D71C7F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Re-structure all </a:t>
            </a:r>
            <a:r>
              <a:rPr lang="en-US" dirty="0" err="1"/>
              <a:t>Fds</a:t>
            </a:r>
            <a:r>
              <a:rPr lang="en-US" dirty="0"/>
              <a:t> so that they have single attribute on RHS.</a:t>
            </a:r>
          </a:p>
          <a:p>
            <a:pPr lvl="1"/>
            <a:r>
              <a:rPr lang="en-US" dirty="0"/>
              <a:t>Hint: Use Decomposition Rule.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those </a:t>
            </a:r>
            <a:r>
              <a:rPr lang="en-US" dirty="0" err="1"/>
              <a:t>Fds</a:t>
            </a:r>
            <a:r>
              <a:rPr lang="en-US" dirty="0"/>
              <a:t> which have more than one attribute on L.H.S</a:t>
            </a:r>
          </a:p>
          <a:p>
            <a:pPr lvl="1"/>
            <a:r>
              <a:rPr lang="en-US" dirty="0"/>
              <a:t>Take closure of every single attribute which is on LHS of </a:t>
            </a:r>
            <a:r>
              <a:rPr lang="en-US" dirty="0" err="1"/>
              <a:t>Fd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If the closure yields all attributes that were on RHS then restructure the </a:t>
            </a:r>
            <a:r>
              <a:rPr lang="en-US" dirty="0" err="1"/>
              <a:t>fd</a:t>
            </a:r>
            <a:r>
              <a:rPr lang="en-US" dirty="0"/>
              <a:t> to include only one attribute on LHS.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all the FDs if there is a situation of transitivity. </a:t>
            </a:r>
          </a:p>
          <a:p>
            <a:pPr lvl="1"/>
            <a:r>
              <a:rPr lang="en-US" dirty="0"/>
              <a:t>For example if we have </a:t>
            </a:r>
            <a:r>
              <a:rPr lang="en-US" dirty="0" err="1"/>
              <a:t>Fds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b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bc</a:t>
            </a:r>
            <a:r>
              <a:rPr lang="en-US" dirty="0">
                <a:sym typeface="Wingdings" panose="05000000000000000000" pitchFamily="2" charset="2"/>
              </a:rPr>
              <a:t> &amp; </a:t>
            </a:r>
            <a:r>
              <a:rPr lang="en-US" dirty="0" err="1">
                <a:sym typeface="Wingdings" panose="05000000000000000000" pitchFamily="2" charset="2"/>
              </a:rPr>
              <a:t>ac</a:t>
            </a:r>
            <a:r>
              <a:rPr lang="en-US" dirty="0">
                <a:sym typeface="Wingdings" panose="05000000000000000000" pitchFamily="2" charset="2"/>
              </a:rPr>
              <a:t>. We can remove </a:t>
            </a:r>
            <a:r>
              <a:rPr lang="en-US" dirty="0" err="1">
                <a:sym typeface="Wingdings" panose="05000000000000000000" pitchFamily="2" charset="2"/>
              </a:rPr>
              <a:t>ac</a:t>
            </a:r>
            <a:r>
              <a:rPr lang="en-US" dirty="0">
                <a:sym typeface="Wingdings" panose="05000000000000000000" pitchFamily="2" charset="2"/>
              </a:rPr>
              <a:t> from the set of </a:t>
            </a:r>
            <a:r>
              <a:rPr lang="en-US" dirty="0" err="1">
                <a:sym typeface="Wingdings" panose="05000000000000000000" pitchFamily="2" charset="2"/>
              </a:rPr>
              <a:t>fds</a:t>
            </a:r>
            <a:r>
              <a:rPr lang="en-US" dirty="0">
                <a:sym typeface="Wingdings" panose="05000000000000000000" pitchFamily="2" charset="2"/>
              </a:rPr>
              <a:t> as it can be inferred any time using the other two </a:t>
            </a:r>
            <a:r>
              <a:rPr lang="en-US" dirty="0" err="1">
                <a:sym typeface="Wingdings" panose="05000000000000000000" pitchFamily="2" charset="2"/>
              </a:rPr>
              <a:t>fds</a:t>
            </a:r>
            <a:r>
              <a:rPr lang="en-US" dirty="0">
                <a:sym typeface="Wingdings" panose="05000000000000000000" pitchFamily="2" charset="2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6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271A-82E1-445B-94A8-EF05B1D0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C80ED-9BE9-4910-A785-9C8F7103C2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AB</a:t>
            </a:r>
            <a:r>
              <a:rPr lang="en-US" dirty="0"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DEF</a:t>
            </a:r>
          </a:p>
          <a:p>
            <a:r>
              <a:rPr lang="en-US" dirty="0">
                <a:sym typeface="Wingdings" panose="05000000000000000000" pitchFamily="2" charset="2"/>
              </a:rPr>
              <a:t>A CF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4ED45-53D0-45E9-AB9E-6E7CE81029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 2</a:t>
            </a:r>
          </a:p>
          <a:p>
            <a:r>
              <a:rPr lang="en-US" dirty="0">
                <a:highlight>
                  <a:srgbClr val="FFFF00"/>
                </a:highlight>
              </a:rPr>
              <a:t>AB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r>
              <a:rPr lang="en-US" dirty="0">
                <a:sym typeface="Wingdings" panose="05000000000000000000" pitchFamily="2" charset="2"/>
              </a:rPr>
              <a:t>AF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3BBD14E-65BB-4322-81E4-39200E2D5B1D}"/>
              </a:ext>
            </a:extLst>
          </p:cNvPr>
          <p:cNvSpPr txBox="1">
            <a:spLocks/>
          </p:cNvSpPr>
          <p:nvPr/>
        </p:nvSpPr>
        <p:spPr>
          <a:xfrm>
            <a:off x="3505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1</a:t>
            </a:r>
          </a:p>
          <a:p>
            <a:r>
              <a:rPr lang="en-US"/>
              <a:t>AB</a:t>
            </a:r>
            <a:r>
              <a:rPr lang="en-US">
                <a:sym typeface="Wingdings" panose="05000000000000000000" pitchFamily="2" charset="2"/>
              </a:rPr>
              <a:t>D</a:t>
            </a:r>
          </a:p>
          <a:p>
            <a:r>
              <a:rPr lang="en-US">
                <a:sym typeface="Wingdings" panose="05000000000000000000" pitchFamily="2" charset="2"/>
              </a:rPr>
              <a:t>BC</a:t>
            </a:r>
          </a:p>
          <a:p>
            <a:r>
              <a:rPr lang="en-US">
                <a:sym typeface="Wingdings" panose="05000000000000000000" pitchFamily="2" charset="2"/>
              </a:rPr>
              <a:t>AEB</a:t>
            </a:r>
          </a:p>
          <a:p>
            <a:r>
              <a:rPr lang="en-US">
                <a:sym typeface="Wingdings" panose="05000000000000000000" pitchFamily="2" charset="2"/>
              </a:rPr>
              <a:t>A D</a:t>
            </a:r>
          </a:p>
          <a:p>
            <a:r>
              <a:rPr lang="en-US">
                <a:sym typeface="Wingdings" panose="05000000000000000000" pitchFamily="2" charset="2"/>
              </a:rPr>
              <a:t>DE</a:t>
            </a:r>
          </a:p>
          <a:p>
            <a:r>
              <a:rPr lang="en-US">
                <a:sym typeface="Wingdings" panose="05000000000000000000" pitchFamily="2" charset="2"/>
              </a:rPr>
              <a:t>DF</a:t>
            </a:r>
          </a:p>
          <a:p>
            <a:r>
              <a:rPr lang="en-US">
                <a:sym typeface="Wingdings" panose="05000000000000000000" pitchFamily="2" charset="2"/>
              </a:rPr>
              <a:t>A C</a:t>
            </a:r>
          </a:p>
          <a:p>
            <a:r>
              <a:rPr lang="en-US">
                <a:sym typeface="Wingdings" panose="05000000000000000000" pitchFamily="2" charset="2"/>
              </a:rPr>
              <a:t>AF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1F765E8-3E37-4CB6-9A1A-22F03E7BFBBF}"/>
              </a:ext>
            </a:extLst>
          </p:cNvPr>
          <p:cNvSpPr txBox="1">
            <a:spLocks/>
          </p:cNvSpPr>
          <p:nvPr/>
        </p:nvSpPr>
        <p:spPr>
          <a:xfrm>
            <a:off x="8686800" y="1825625"/>
            <a:ext cx="33088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2a</a:t>
            </a:r>
          </a:p>
          <a:p>
            <a:r>
              <a:rPr lang="en-US" dirty="0"/>
              <a:t>Taking AB</a:t>
            </a:r>
            <a:r>
              <a:rPr lang="en-US" dirty="0">
                <a:sym typeface="Wingdings" panose="05000000000000000000" pitchFamily="2" charset="2"/>
              </a:rPr>
              <a:t> D</a:t>
            </a:r>
          </a:p>
          <a:p>
            <a:r>
              <a:rPr lang="en-US" dirty="0">
                <a:sym typeface="Wingdings" panose="05000000000000000000" pitchFamily="2" charset="2"/>
              </a:rPr>
              <a:t>Taking Closure </a:t>
            </a:r>
          </a:p>
          <a:p>
            <a:r>
              <a:rPr lang="en-US" dirty="0">
                <a:sym typeface="Wingdings" panose="05000000000000000000" pitchFamily="2" charset="2"/>
              </a:rPr>
              <a:t>A+  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B+  B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 we can minimize this FD to 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1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271A-82E1-445B-94A8-EF05B1D0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4ED45-53D0-45E9-AB9E-6E7CE8102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312" y="1690688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 2</a:t>
            </a:r>
          </a:p>
          <a:p>
            <a:r>
              <a:rPr lang="en-US" dirty="0">
                <a:highlight>
                  <a:srgbClr val="FFFF00"/>
                </a:highlight>
              </a:rPr>
              <a:t>AB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r>
              <a:rPr lang="en-US" dirty="0">
                <a:sym typeface="Wingdings" panose="05000000000000000000" pitchFamily="2" charset="2"/>
              </a:rPr>
              <a:t>AF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1F765E8-3E37-4CB6-9A1A-22F03E7BFBBF}"/>
              </a:ext>
            </a:extLst>
          </p:cNvPr>
          <p:cNvSpPr txBox="1">
            <a:spLocks/>
          </p:cNvSpPr>
          <p:nvPr/>
        </p:nvSpPr>
        <p:spPr>
          <a:xfrm>
            <a:off x="2193010" y="1614569"/>
            <a:ext cx="33088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2a</a:t>
            </a:r>
          </a:p>
          <a:p>
            <a:r>
              <a:rPr lang="en-US" dirty="0"/>
              <a:t>Taking AB</a:t>
            </a:r>
            <a:r>
              <a:rPr lang="en-US" dirty="0">
                <a:sym typeface="Wingdings" panose="05000000000000000000" pitchFamily="2" charset="2"/>
              </a:rPr>
              <a:t> D</a:t>
            </a:r>
          </a:p>
          <a:p>
            <a:r>
              <a:rPr lang="en-US" dirty="0">
                <a:sym typeface="Wingdings" panose="05000000000000000000" pitchFamily="2" charset="2"/>
              </a:rPr>
              <a:t>Taking Closure </a:t>
            </a:r>
          </a:p>
          <a:p>
            <a:r>
              <a:rPr lang="en-US" dirty="0">
                <a:sym typeface="Wingdings" panose="05000000000000000000" pitchFamily="2" charset="2"/>
              </a:rPr>
              <a:t>A+  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B+  B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 we can minimize this FD to 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BC8CB5-E945-4441-9817-EDCDD0D4E723}"/>
              </a:ext>
            </a:extLst>
          </p:cNvPr>
          <p:cNvSpPr txBox="1">
            <a:spLocks/>
          </p:cNvSpPr>
          <p:nvPr/>
        </p:nvSpPr>
        <p:spPr>
          <a:xfrm>
            <a:off x="5501898" y="1583573"/>
            <a:ext cx="345612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Taking AE</a:t>
            </a:r>
            <a:r>
              <a:rPr lang="en-US" dirty="0">
                <a:sym typeface="Wingdings" panose="05000000000000000000" pitchFamily="2" charset="2"/>
              </a:rPr>
              <a:t> 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Taking Closure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A+  </a:t>
            </a:r>
            <a:r>
              <a:rPr lang="en-US" dirty="0" err="1">
                <a:sym typeface="Wingdings" panose="05000000000000000000" pitchFamily="2" charset="2"/>
              </a:rPr>
              <a:t>doesnot</a:t>
            </a:r>
            <a:r>
              <a:rPr lang="en-US" dirty="0">
                <a:sym typeface="Wingdings" panose="05000000000000000000" pitchFamily="2" charset="2"/>
              </a:rPr>
              <a:t> have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E+  </a:t>
            </a:r>
            <a:r>
              <a:rPr lang="en-US" dirty="0" err="1">
                <a:sym typeface="Wingdings" panose="05000000000000000000" pitchFamily="2" charset="2"/>
              </a:rPr>
              <a:t>doesnot</a:t>
            </a:r>
            <a:r>
              <a:rPr lang="en-US" dirty="0">
                <a:sym typeface="Wingdings" panose="05000000000000000000" pitchFamily="2" charset="2"/>
              </a:rPr>
              <a:t> have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So this FD will remain as is. 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43D5097-C576-4489-8CCA-AACAEB8874AC}"/>
              </a:ext>
            </a:extLst>
          </p:cNvPr>
          <p:cNvSpPr txBox="1">
            <a:spLocks/>
          </p:cNvSpPr>
          <p:nvPr/>
        </p:nvSpPr>
        <p:spPr>
          <a:xfrm>
            <a:off x="9082006" y="1564900"/>
            <a:ext cx="27432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After Completion of step 2 we have following FDs</a:t>
            </a:r>
          </a:p>
          <a:p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r>
              <a:rPr lang="en-US" dirty="0">
                <a:sym typeface="Wingdings" panose="05000000000000000000" pitchFamily="2" charset="2"/>
              </a:rPr>
              <a:t>AF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926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271A-82E1-445B-94A8-EF05B1D0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0C0EEF-A0C2-4EDB-9175-B8887D4CD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0925" y="1853447"/>
            <a:ext cx="337475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highlight>
                  <a:srgbClr val="008080"/>
                </a:highlight>
              </a:rPr>
              <a:t>Next Step is to remove Duplicates &amp; identities.</a:t>
            </a:r>
          </a:p>
          <a:p>
            <a:r>
              <a:rPr lang="en-US" dirty="0">
                <a:highlight>
                  <a:srgbClr val="FFFF00"/>
                </a:highlight>
              </a:rPr>
              <a:t>A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r>
              <a:rPr lang="en-US" dirty="0">
                <a:sym typeface="Wingdings" panose="05000000000000000000" pitchFamily="2" charset="2"/>
              </a:rPr>
              <a:t>AF</a:t>
            </a: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43D5097-C576-4489-8CCA-AACAEB8874AC}"/>
              </a:ext>
            </a:extLst>
          </p:cNvPr>
          <p:cNvSpPr txBox="1">
            <a:spLocks/>
          </p:cNvSpPr>
          <p:nvPr/>
        </p:nvSpPr>
        <p:spPr>
          <a:xfrm>
            <a:off x="464948" y="1825625"/>
            <a:ext cx="27432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After Completion of step 2 we have following FDs</a:t>
            </a:r>
          </a:p>
          <a:p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D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r>
              <a:rPr lang="en-US" dirty="0">
                <a:sym typeface="Wingdings" panose="05000000000000000000" pitchFamily="2" charset="2"/>
              </a:rPr>
              <a:t>AF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CCD5B-469C-4174-B827-2EE0E5116478}"/>
              </a:ext>
            </a:extLst>
          </p:cNvPr>
          <p:cNvSpPr txBox="1"/>
          <p:nvPr/>
        </p:nvSpPr>
        <p:spPr>
          <a:xfrm>
            <a:off x="7621290" y="2132417"/>
            <a:ext cx="394044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After duplicate removal:</a:t>
            </a:r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BC</a:t>
            </a:r>
          </a:p>
          <a:p>
            <a:r>
              <a:rPr lang="en-US" sz="2800" dirty="0">
                <a:sym typeface="Wingdings" panose="05000000000000000000" pitchFamily="2" charset="2"/>
              </a:rPr>
              <a:t>AEB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 D</a:t>
            </a:r>
          </a:p>
          <a:p>
            <a:r>
              <a:rPr lang="en-US" sz="2800" dirty="0">
                <a:sym typeface="Wingdings" panose="05000000000000000000" pitchFamily="2" charset="2"/>
              </a:rPr>
              <a:t>DE</a:t>
            </a:r>
          </a:p>
          <a:p>
            <a:r>
              <a:rPr lang="en-US" sz="2800" dirty="0">
                <a:sym typeface="Wingdings" panose="05000000000000000000" pitchFamily="2" charset="2"/>
              </a:rPr>
              <a:t>DF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 C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AF</a:t>
            </a:r>
          </a:p>
        </p:txBody>
      </p:sp>
    </p:spTree>
    <p:extLst>
      <p:ext uri="{BB962C8B-B14F-4D97-AF65-F5344CB8AC3E}">
        <p14:creationId xmlns:p14="http://schemas.microsoft.com/office/powerpoint/2010/main" val="114693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271A-82E1-445B-94A8-EF05B1D0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900AE-E35D-42EB-B70F-7A4EC20D8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31574" y="2118561"/>
            <a:ext cx="504728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Now we need to find if there is any FD which can be transitively inferred. We will remove them. </a:t>
            </a:r>
          </a:p>
          <a:p>
            <a:r>
              <a:rPr lang="en-US" sz="2800" dirty="0">
                <a:sym typeface="Wingdings" panose="05000000000000000000" pitchFamily="2" charset="2"/>
              </a:rPr>
              <a:t>BC</a:t>
            </a:r>
          </a:p>
          <a:p>
            <a:r>
              <a:rPr lang="en-US" sz="2800" dirty="0">
                <a:sym typeface="Wingdings" panose="05000000000000000000" pitchFamily="2" charset="2"/>
              </a:rPr>
              <a:t>AEB</a:t>
            </a:r>
          </a:p>
          <a:p>
            <a:r>
              <a:rPr lang="en-US" sz="2800" dirty="0">
                <a:highlight>
                  <a:srgbClr val="FFFF00"/>
                </a:highlight>
                <a:sym typeface="Wingdings" panose="05000000000000000000" pitchFamily="2" charset="2"/>
              </a:rPr>
              <a:t>A D</a:t>
            </a:r>
          </a:p>
          <a:p>
            <a:r>
              <a:rPr lang="en-US" sz="2800" dirty="0">
                <a:sym typeface="Wingdings" panose="05000000000000000000" pitchFamily="2" charset="2"/>
              </a:rPr>
              <a:t>DE</a:t>
            </a:r>
          </a:p>
          <a:p>
            <a:r>
              <a:rPr lang="en-US" sz="2800" dirty="0">
                <a:highlight>
                  <a:srgbClr val="FFFF00"/>
                </a:highlight>
                <a:sym typeface="Wingdings" panose="05000000000000000000" pitchFamily="2" charset="2"/>
              </a:rPr>
              <a:t>DF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 C</a:t>
            </a:r>
          </a:p>
          <a:p>
            <a:r>
              <a:rPr lang="en-US" sz="2800" dirty="0">
                <a:highlight>
                  <a:srgbClr val="00FFFF"/>
                </a:highlight>
                <a:sym typeface="Wingdings" panose="05000000000000000000" pitchFamily="2" charset="2"/>
              </a:rPr>
              <a:t>AF</a:t>
            </a:r>
          </a:p>
          <a:p>
            <a:pPr marL="0" indent="0">
              <a:buNone/>
            </a:pPr>
            <a:endParaRPr lang="en-US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In this case A F should be removed.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CCD5B-469C-4174-B827-2EE0E5116478}"/>
              </a:ext>
            </a:extLst>
          </p:cNvPr>
          <p:cNvSpPr txBox="1"/>
          <p:nvPr/>
        </p:nvSpPr>
        <p:spPr>
          <a:xfrm>
            <a:off x="585059" y="2309071"/>
            <a:ext cx="39404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Step 3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BC</a:t>
            </a:r>
          </a:p>
          <a:p>
            <a:r>
              <a:rPr lang="en-US" sz="2800" dirty="0">
                <a:sym typeface="Wingdings" panose="05000000000000000000" pitchFamily="2" charset="2"/>
              </a:rPr>
              <a:t>AEB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 D</a:t>
            </a:r>
          </a:p>
          <a:p>
            <a:r>
              <a:rPr lang="en-US" sz="2800" dirty="0">
                <a:sym typeface="Wingdings" panose="05000000000000000000" pitchFamily="2" charset="2"/>
              </a:rPr>
              <a:t>DE</a:t>
            </a:r>
          </a:p>
          <a:p>
            <a:r>
              <a:rPr lang="en-US" sz="2800" dirty="0">
                <a:sym typeface="Wingdings" panose="05000000000000000000" pitchFamily="2" charset="2"/>
              </a:rPr>
              <a:t>DF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 C</a:t>
            </a:r>
          </a:p>
          <a:p>
            <a:r>
              <a:rPr lang="en-US" sz="2800" dirty="0">
                <a:sym typeface="Wingdings" panose="05000000000000000000" pitchFamily="2" charset="2"/>
              </a:rPr>
              <a:t>AF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3116F69-3CB9-4288-9DCF-7A8B31308124}"/>
              </a:ext>
            </a:extLst>
          </p:cNvPr>
          <p:cNvSpPr txBox="1">
            <a:spLocks/>
          </p:cNvSpPr>
          <p:nvPr/>
        </p:nvSpPr>
        <p:spPr>
          <a:xfrm>
            <a:off x="7800814" y="209835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Minimal Cover would be: </a:t>
            </a:r>
          </a:p>
          <a:p>
            <a:r>
              <a:rPr lang="en-US" dirty="0">
                <a:sym typeface="Wingdings" panose="05000000000000000000" pitchFamily="2" charset="2"/>
              </a:rPr>
              <a:t>BC</a:t>
            </a:r>
          </a:p>
          <a:p>
            <a:r>
              <a:rPr lang="en-US" dirty="0">
                <a:sym typeface="Wingdings" panose="05000000000000000000" pitchFamily="2" charset="2"/>
              </a:rPr>
              <a:t>AEB</a:t>
            </a:r>
          </a:p>
          <a:p>
            <a:r>
              <a:rPr lang="en-US" dirty="0">
                <a:sym typeface="Wingdings" panose="05000000000000000000" pitchFamily="2" charset="2"/>
              </a:rPr>
              <a:t>A D</a:t>
            </a:r>
          </a:p>
          <a:p>
            <a:r>
              <a:rPr lang="en-US" dirty="0">
                <a:sym typeface="Wingdings" panose="05000000000000000000" pitchFamily="2" charset="2"/>
              </a:rPr>
              <a:t>DE</a:t>
            </a:r>
          </a:p>
          <a:p>
            <a:r>
              <a:rPr lang="en-US" dirty="0">
                <a:sym typeface="Wingdings" panose="05000000000000000000" pitchFamily="2" charset="2"/>
              </a:rPr>
              <a:t>DF</a:t>
            </a:r>
          </a:p>
          <a:p>
            <a:r>
              <a:rPr lang="en-US" dirty="0">
                <a:sym typeface="Wingdings" panose="05000000000000000000" pitchFamily="2" charset="2"/>
              </a:rPr>
              <a:t>A C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In this case A F should be removed.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0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E9F9-BFF4-45A1-BEC2-27804D95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0BE9-A07B-4D65-8DBC-020831BAED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Find minimal Cover of</a:t>
            </a:r>
          </a:p>
          <a:p>
            <a:r>
              <a:rPr lang="en-US"/>
              <a:t>B</a:t>
            </a:r>
            <a:r>
              <a:rPr lang="en-US">
                <a:sym typeface="Wingdings" panose="05000000000000000000" pitchFamily="2" charset="2"/>
              </a:rPr>
              <a:t> AB</a:t>
            </a:r>
          </a:p>
          <a:p>
            <a:r>
              <a:rPr lang="en-US">
                <a:sym typeface="Wingdings" panose="05000000000000000000" pitchFamily="2" charset="2"/>
              </a:rPr>
              <a:t>DAD</a:t>
            </a:r>
          </a:p>
          <a:p>
            <a:r>
              <a:rPr lang="en-US">
                <a:sym typeface="Wingdings" panose="05000000000000000000" pitchFamily="2" charset="2"/>
              </a:rPr>
              <a:t>BD A</a:t>
            </a:r>
          </a:p>
          <a:p>
            <a:r>
              <a:rPr lang="en-US">
                <a:sym typeface="Wingdings" panose="05000000000000000000" pitchFamily="2" charset="2"/>
              </a:rPr>
              <a:t>AAC</a:t>
            </a:r>
          </a:p>
          <a:p>
            <a:r>
              <a:rPr lang="en-US">
                <a:sym typeface="Wingdings" panose="05000000000000000000" pitchFamily="2" charset="2"/>
              </a:rPr>
              <a:t>DC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142DF-393D-47D9-995A-F2977C64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7766" y="1825625"/>
            <a:ext cx="5181600" cy="4351338"/>
          </a:xfrm>
        </p:spPr>
        <p:txBody>
          <a:bodyPr/>
          <a:lstStyle/>
          <a:p>
            <a:r>
              <a:rPr lang="en-US"/>
              <a:t>Step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59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1234</Words>
  <Application>Microsoft Office PowerPoint</Application>
  <PresentationFormat>Widescreen</PresentationFormat>
  <Paragraphs>303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How to identify normal forms </vt:lpstr>
      <vt:lpstr>Rules </vt:lpstr>
      <vt:lpstr>Example 1:</vt:lpstr>
      <vt:lpstr>Example 2 </vt:lpstr>
      <vt:lpstr>Example 3</vt:lpstr>
      <vt:lpstr>Example  4 </vt:lpstr>
      <vt:lpstr>Example 5</vt:lpstr>
      <vt:lpstr>Example 6 </vt:lpstr>
      <vt:lpstr>Example 7</vt:lpstr>
      <vt:lpstr>Example 8</vt:lpstr>
      <vt:lpstr>Example 9 </vt:lpstr>
      <vt:lpstr>How to Find Minimal Cover</vt:lpstr>
      <vt:lpstr>Steps:</vt:lpstr>
      <vt:lpstr>Example 1: </vt:lpstr>
      <vt:lpstr>Example 1: </vt:lpstr>
      <vt:lpstr>Example 1: </vt:lpstr>
      <vt:lpstr>Example 1: </vt:lpstr>
      <vt:lpstr>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identify normal forms </dc:title>
  <dc:creator>Sadaf Baloch</dc:creator>
  <cp:lastModifiedBy>Sadaf Baloch</cp:lastModifiedBy>
  <cp:revision>16</cp:revision>
  <dcterms:created xsi:type="dcterms:W3CDTF">2021-01-28T07:58:30Z</dcterms:created>
  <dcterms:modified xsi:type="dcterms:W3CDTF">2021-01-28T10:34:25Z</dcterms:modified>
</cp:coreProperties>
</file>