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31"/>
  </p:notesMasterIdLst>
  <p:sldIdLst>
    <p:sldId id="291" r:id="rId2"/>
    <p:sldId id="292" r:id="rId3"/>
    <p:sldId id="293" r:id="rId4"/>
    <p:sldId id="294" r:id="rId5"/>
    <p:sldId id="266" r:id="rId6"/>
    <p:sldId id="261" r:id="rId7"/>
    <p:sldId id="279" r:id="rId8"/>
    <p:sldId id="263" r:id="rId9"/>
    <p:sldId id="268" r:id="rId10"/>
    <p:sldId id="269" r:id="rId11"/>
    <p:sldId id="280" r:id="rId12"/>
    <p:sldId id="284" r:id="rId13"/>
    <p:sldId id="271" r:id="rId14"/>
    <p:sldId id="286" r:id="rId15"/>
    <p:sldId id="272" r:id="rId16"/>
    <p:sldId id="281" r:id="rId17"/>
    <p:sldId id="295" r:id="rId18"/>
    <p:sldId id="273" r:id="rId19"/>
    <p:sldId id="282" r:id="rId20"/>
    <p:sldId id="287" r:id="rId21"/>
    <p:sldId id="274" r:id="rId22"/>
    <p:sldId id="270" r:id="rId23"/>
    <p:sldId id="296" r:id="rId24"/>
    <p:sldId id="275" r:id="rId25"/>
    <p:sldId id="276" r:id="rId26"/>
    <p:sldId id="277" r:id="rId27"/>
    <p:sldId id="283" r:id="rId28"/>
    <p:sldId id="278" r:id="rId29"/>
    <p:sldId id="25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249" autoAdjust="0"/>
  </p:normalViewPr>
  <p:slideViewPr>
    <p:cSldViewPr>
      <p:cViewPr varScale="1">
        <p:scale>
          <a:sx n="72" d="100"/>
          <a:sy n="72" d="100"/>
        </p:scale>
        <p:origin x="132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DEAFC4-30F1-424A-977F-099783DDDAA8}" type="datetimeFigureOut">
              <a:rPr lang="en-US" smtClean="0"/>
              <a:t>10/12/2026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969301-FEC2-4B25-8D0D-2D540EB3A414}" type="slidenum">
              <a:rPr lang="en-US" smtClean="0"/>
              <a:t>‹#›</a:t>
            </a:fld>
            <a:endParaRPr lang="en-US"/>
          </a:p>
        </p:txBody>
      </p:sp>
    </p:spTree>
    <p:extLst>
      <p:ext uri="{BB962C8B-B14F-4D97-AF65-F5344CB8AC3E}">
        <p14:creationId xmlns:p14="http://schemas.microsoft.com/office/powerpoint/2010/main" val="120937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Week 3, Lecture 2. Source: Hughes &amp; Cotterell, Software Project Management, Chapter 3: An Overview of Project Planning (Step Wise).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dua.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'Contents' slide, expanded to show the parts of the lecture.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slide 4 (was an image of the book's Figure 3.1), redrawn so it is sharp on a projector and editable.</a:t>
            </a:r>
          </a:p>
          <a:p>
            <a:r>
              <a:t>Walk the diagram top to bottom. Point out the two loops: 'for each activity' (steps 5–6) and the loop from step 10 back up to step 4 (review) and into the detailed planning box (lower-level detail).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p:spPr>
        <p:txBody>
          <a:bodyPr anchor="b">
            <a:normAutofit/>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1941910" y="4777380"/>
            <a:ext cx="6686549" cy="1126283"/>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1"/>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4529541"/>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49369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624110"/>
            <a:ext cx="6683765"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1909" y="2133600"/>
            <a:ext cx="668655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1229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1910" y="2058750"/>
            <a:ext cx="6686549" cy="1468800"/>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3530129"/>
            <a:ext cx="6686549" cy="860400"/>
          </a:xfrm>
        </p:spPr>
        <p:txBody>
          <a:bodyPr anchor="t"/>
          <a:lstStyle>
            <a:lvl1pPr marL="0" indent="0" algn="l">
              <a:buNone/>
              <a:defRPr sz="150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4790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1909" y="2133600"/>
            <a:ext cx="3235398"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93060" y="2126222"/>
            <a:ext cx="3235398"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787783"/>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368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04530" y="1972703"/>
            <a:ext cx="2994549"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41909" y="2548966"/>
            <a:ext cx="3257170"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29972" y="1969475"/>
            <a:ext cx="2999251"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375218" y="2545738"/>
            <a:ext cx="3254006"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787783"/>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159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77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73419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46088"/>
            <a:ext cx="2628899" cy="976312"/>
          </a:xfrm>
        </p:spPr>
        <p:txBody>
          <a:bodyPr anchor="b"/>
          <a:lstStyle>
            <a:lvl1pPr algn="l">
              <a:defRPr sz="1500" b="0"/>
            </a:lvl1pPr>
          </a:lstStyle>
          <a:p>
            <a:r>
              <a:rPr lang="en-US"/>
              <a:t>Click to edit Master title style</a:t>
            </a:r>
            <a:endParaRPr lang="en-US" dirty="0"/>
          </a:p>
        </p:txBody>
      </p:sp>
      <p:sp>
        <p:nvSpPr>
          <p:cNvPr id="3" name="Content Placeholder 2"/>
          <p:cNvSpPr>
            <a:spLocks noGrp="1"/>
          </p:cNvSpPr>
          <p:nvPr>
            <p:ph idx="1"/>
          </p:nvPr>
        </p:nvSpPr>
        <p:spPr>
          <a:xfrm>
            <a:off x="4742259" y="446089"/>
            <a:ext cx="38862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1910" y="1598613"/>
            <a:ext cx="2628899" cy="4262436"/>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82397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800600"/>
            <a:ext cx="668655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1909" y="634965"/>
            <a:ext cx="6686550" cy="3854970"/>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941910" y="5367338"/>
            <a:ext cx="6686550" cy="493712"/>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805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609600"/>
            <a:ext cx="6686549" cy="3117040"/>
          </a:xfrm>
        </p:spPr>
        <p:txBody>
          <a:bodyPr anchor="ctr">
            <a:normAutofit/>
          </a:bodyPr>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42890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37462" y="609600"/>
            <a:ext cx="6295445" cy="2895600"/>
          </a:xfrm>
        </p:spPr>
        <p:txBody>
          <a:bodyPr anchor="ctr">
            <a:normAutofit/>
          </a:bodyPr>
          <a:lstStyle>
            <a:lvl1pPr algn="l">
              <a:defRPr sz="36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56259" y="3505200"/>
            <a:ext cx="5652416"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B6F15528-21DE-4FAA-801E-634DDDAF4B2B}" type="slidenum">
              <a:rPr lang="en-US" smtClean="0"/>
              <a:pPr/>
              <a:t>‹#›</a:t>
            </a:fld>
            <a:endParaRPr lang="en-US"/>
          </a:p>
        </p:txBody>
      </p:sp>
      <p:sp>
        <p:nvSpPr>
          <p:cNvPr id="14" name="TextBox 13"/>
          <p:cNvSpPr txBox="1"/>
          <p:nvPr/>
        </p:nvSpPr>
        <p:spPr>
          <a:xfrm>
            <a:off x="1850739" y="648005"/>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5" name="TextBox 14"/>
          <p:cNvSpPr txBox="1"/>
          <p:nvPr/>
        </p:nvSpPr>
        <p:spPr>
          <a:xfrm>
            <a:off x="8336139" y="290530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71399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1910" y="2438401"/>
            <a:ext cx="6686550" cy="2724845"/>
          </a:xfrm>
        </p:spPr>
        <p:txBody>
          <a:bodyPr anchor="b">
            <a:normAutofit/>
          </a:bodyPr>
          <a:lstStyle>
            <a:lvl1pPr algn="l">
              <a:defRPr sz="3600" b="0"/>
            </a:lvl1pPr>
          </a:lstStyle>
          <a:p>
            <a:r>
              <a:rPr lang="en-US"/>
              <a:t>Click to edit Master title style</a:t>
            </a:r>
            <a:endParaRPr lang="en-US" dirty="0"/>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312426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137462" y="609600"/>
            <a:ext cx="6295445" cy="2895600"/>
          </a:xfrm>
        </p:spPr>
        <p:txBody>
          <a:bodyPr anchor="ctr">
            <a:normAutofit/>
          </a:bodyPr>
          <a:lstStyle>
            <a:lvl1pPr algn="l">
              <a:defRPr sz="36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B6F15528-21DE-4FAA-801E-634DDDAF4B2B}" type="slidenum">
              <a:rPr lang="en-US" smtClean="0"/>
              <a:pPr/>
              <a:t>‹#›</a:t>
            </a:fld>
            <a:endParaRPr lang="en-US"/>
          </a:p>
        </p:txBody>
      </p:sp>
      <p:sp>
        <p:nvSpPr>
          <p:cNvPr id="17" name="TextBox 16"/>
          <p:cNvSpPr txBox="1"/>
          <p:nvPr/>
        </p:nvSpPr>
        <p:spPr>
          <a:xfrm>
            <a:off x="1850739" y="648005"/>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8" name="TextBox 17"/>
          <p:cNvSpPr txBox="1"/>
          <p:nvPr/>
        </p:nvSpPr>
        <p:spPr>
          <a:xfrm>
            <a:off x="8336139" y="290530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80442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1910" y="627407"/>
            <a:ext cx="6686549" cy="2880020"/>
          </a:xfrm>
        </p:spPr>
        <p:txBody>
          <a:bodyPr anchor="ctr">
            <a:normAutofit/>
          </a:bodyPr>
          <a:lstStyle>
            <a:lvl1pPr algn="l">
              <a:defRPr sz="3600" b="0"/>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2466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2956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627406"/>
            <a:ext cx="16557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1909" y="627406"/>
            <a:ext cx="485775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81125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138637"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786"/>
            <a:ext cx="1767506"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624110"/>
            <a:ext cx="6683765"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1909" y="2133600"/>
            <a:ext cx="668655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1210" y="6130437"/>
            <a:ext cx="859712" cy="370396"/>
          </a:xfrm>
          <a:prstGeom prst="rect">
            <a:avLst/>
          </a:prstGeom>
        </p:spPr>
        <p:txBody>
          <a:bodyPr vert="horz" lIns="91440" tIns="45720" rIns="91440" bIns="45720" rtlCol="0" anchor="ctr"/>
          <a:lstStyle>
            <a:lvl1pPr algn="r">
              <a:defRPr sz="675">
                <a:solidFill>
                  <a:schemeClr val="tx1">
                    <a:tint val="75000"/>
                  </a:schemeClr>
                </a:solidFill>
              </a:defRPr>
            </a:lvl1pPr>
          </a:lstStyle>
          <a:p>
            <a:fld id="{1D8BD707-D9CF-40AE-B4C6-C98DA3205C09}" type="datetimeFigureOut">
              <a:rPr lang="en-US" smtClean="0"/>
              <a:pPr/>
              <a:t>10/12/2026</a:t>
            </a:fld>
            <a:endParaRPr lang="en-US"/>
          </a:p>
        </p:txBody>
      </p:sp>
      <p:sp>
        <p:nvSpPr>
          <p:cNvPr id="5" name="Footer Placeholder 4"/>
          <p:cNvSpPr>
            <a:spLocks noGrp="1"/>
          </p:cNvSpPr>
          <p:nvPr>
            <p:ph type="ftr" sz="quarter" idx="3"/>
          </p:nvPr>
        </p:nvSpPr>
        <p:spPr>
          <a:xfrm>
            <a:off x="1941910" y="6135809"/>
            <a:ext cx="5714999"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398860" y="787783"/>
            <a:ext cx="584825" cy="365125"/>
          </a:xfrm>
          <a:prstGeom prst="rect">
            <a:avLst/>
          </a:prstGeom>
        </p:spPr>
        <p:txBody>
          <a:bodyPr vert="horz" lIns="91440" tIns="45720" rIns="91440" bIns="45720" rtlCol="0" anchor="ctr"/>
          <a:lstStyle>
            <a:lvl1pPr algn="r">
              <a:defRPr sz="1500">
                <a:solidFill>
                  <a:srgbClr val="FE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2668169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Lst>
  <p:txStyles>
    <p:titleStyle>
      <a:lvl1pPr algn="l" defTabSz="342900" rtl="0" eaLnBrk="1" latinLnBrk="0" hangingPunct="1">
        <a:spcBef>
          <a:spcPct val="0"/>
        </a:spcBef>
        <a:buNone/>
        <a:defRPr sz="27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anam.Mustaqeem@ucp.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A6C8-8B8A-423E-9F04-8D97B5525C06}"/>
              </a:ext>
            </a:extLst>
          </p:cNvPr>
          <p:cNvSpPr>
            <a:spLocks noGrp="1"/>
          </p:cNvSpPr>
          <p:nvPr>
            <p:ph type="ctrTitle"/>
          </p:nvPr>
        </p:nvSpPr>
        <p:spPr>
          <a:xfrm>
            <a:off x="1703371" y="1573026"/>
            <a:ext cx="6686549" cy="1697086"/>
          </a:xfrm>
        </p:spPr>
        <p:txBody>
          <a:bodyPr>
            <a:normAutofit fontScale="90000"/>
          </a:bodyPr>
          <a:lstStyle/>
          <a:p>
            <a:pPr algn="ctr"/>
            <a:r>
              <a:rPr lang="en-US" dirty="0"/>
              <a:t>Software Project Management</a:t>
            </a:r>
            <a:br>
              <a:rPr lang="en-US" dirty="0"/>
            </a:br>
            <a:r>
              <a:rPr lang="en-US" dirty="0"/>
              <a:t>An Overview of Project Planning:</a:t>
            </a:r>
            <a:br>
              <a:rPr lang="en-US" dirty="0"/>
            </a:br>
            <a:r>
              <a:rPr lang="en-US" dirty="0"/>
              <a:t>The Step Wise Method</a:t>
            </a:r>
            <a:endParaRPr lang="x-none" dirty="0"/>
          </a:p>
        </p:txBody>
      </p:sp>
      <p:sp>
        <p:nvSpPr>
          <p:cNvPr id="3" name="Subtitle 2">
            <a:extLst>
              <a:ext uri="{FF2B5EF4-FFF2-40B4-BE49-F238E27FC236}">
                <a16:creationId xmlns:a16="http://schemas.microsoft.com/office/drawing/2014/main" id="{B7786CB4-AF0E-4376-81B0-4DCFB09E3CF1}"/>
              </a:ext>
            </a:extLst>
          </p:cNvPr>
          <p:cNvSpPr>
            <a:spLocks noGrp="1"/>
          </p:cNvSpPr>
          <p:nvPr>
            <p:ph type="subTitle" idx="1"/>
          </p:nvPr>
        </p:nvSpPr>
        <p:spPr>
          <a:xfrm>
            <a:off x="1703371" y="3356919"/>
            <a:ext cx="7122578" cy="1697086"/>
          </a:xfrm>
        </p:spPr>
        <p:txBody>
          <a:bodyPr>
            <a:normAutofit fontScale="92500" lnSpcReduction="20000"/>
          </a:bodyPr>
          <a:lstStyle/>
          <a:p>
            <a:pPr algn="ctr"/>
            <a:r>
              <a:rPr lang="en-US" sz="1050" dirty="0">
                <a:latin typeface="Calibri" panose="020F0502020204030204" pitchFamily="34" charset="0"/>
                <a:cs typeface="Calibri" panose="020F0502020204030204" pitchFamily="34" charset="0"/>
              </a:rPr>
              <a:t>Week 3  ·  Lecture 3  |  Chapter 3, Software Project Management (Hughes &amp; Cotterell)</a:t>
            </a:r>
          </a:p>
          <a:p>
            <a:pPr algn="ctr"/>
            <a:r>
              <a:rPr lang="en-US" sz="1050" dirty="0">
                <a:latin typeface="Calibri" panose="020F0502020204030204" pitchFamily="34" charset="0"/>
                <a:cs typeface="Calibri" panose="020F0502020204030204" pitchFamily="34" charset="0"/>
              </a:rPr>
              <a:t>FALL 2026</a:t>
            </a:r>
          </a:p>
          <a:p>
            <a:r>
              <a:rPr lang="en-US" dirty="0">
                <a:latin typeface="Calibri" panose="020F0502020204030204" pitchFamily="34" charset="0"/>
                <a:cs typeface="Calibri" panose="020F0502020204030204" pitchFamily="34" charset="0"/>
              </a:rPr>
              <a:t>Dr. Anam Mustaqeem</a:t>
            </a:r>
          </a:p>
          <a:p>
            <a:r>
              <a:rPr lang="en-US" dirty="0">
                <a:solidFill>
                  <a:srgbClr val="0070C0"/>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anam.mustaqeem@ucp.edu.pk</a:t>
            </a:r>
            <a:endParaRPr lang="en-US" dirty="0">
              <a:solidFill>
                <a:srgbClr val="0070C0"/>
              </a:solidFill>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Office: Cabin #2, F303 Building A</a:t>
            </a:r>
          </a:p>
          <a:p>
            <a:r>
              <a:rPr lang="en-US" b="1" dirty="0">
                <a:latin typeface="Calibri" panose="020F0502020204030204" pitchFamily="34" charset="0"/>
                <a:cs typeface="Calibri" panose="020F0502020204030204" pitchFamily="34" charset="0"/>
              </a:rPr>
              <a:t>OFFICE HOURS:  Wednesday : 09:00 AM- 12:00 AM</a:t>
            </a:r>
          </a:p>
          <a:p>
            <a:r>
              <a:rPr lang="en-US" b="1" dirty="0">
                <a:latin typeface="Calibri" panose="020F0502020204030204" pitchFamily="34" charset="0"/>
                <a:cs typeface="Calibri" panose="020F0502020204030204" pitchFamily="34" charset="0"/>
              </a:rPr>
              <a:t>                              Thursday: 09:00 AM- 11:00 PM</a:t>
            </a:r>
          </a:p>
          <a:p>
            <a:endParaRPr lang="x-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2616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4294967295"/>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0" y="840582"/>
            <a:ext cx="9144000" cy="5160169"/>
          </a:xfrm>
        </p:spPr>
      </p:pic>
    </p:spTree>
    <p:extLst>
      <p:ext uri="{BB962C8B-B14F-4D97-AF65-F5344CB8AC3E}">
        <p14:creationId xmlns:p14="http://schemas.microsoft.com/office/powerpoint/2010/main" val="1781442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346" y="1305454"/>
            <a:ext cx="6683765" cy="960668"/>
          </a:xfrm>
        </p:spPr>
        <p:txBody>
          <a:bodyPr/>
          <a:lstStyle/>
          <a:p>
            <a:r>
              <a:rPr sz="2400">
                <a:latin typeface="Calibri"/>
                <a:cs typeface="Calibri"/>
              </a:rPr>
              <a:t>Today’s Agenda</a:t>
            </a:r>
          </a:p>
        </p:txBody>
      </p:sp>
      <p:sp>
        <p:nvSpPr>
          <p:cNvPr id="3" name="Content Placeholder 2"/>
          <p:cNvSpPr>
            <a:spLocks noGrp="1"/>
          </p:cNvSpPr>
          <p:nvPr>
            <p:ph idx="1"/>
          </p:nvPr>
        </p:nvSpPr>
        <p:spPr>
          <a:xfrm>
            <a:off x="1348345" y="2267250"/>
            <a:ext cx="7224155" cy="3337500"/>
          </a:xfrm>
        </p:spPr>
        <p:txBody>
          <a:bodyPr>
            <a:noAutofit/>
          </a:bodyPr>
          <a:lstStyle/>
          <a:p>
            <a:pPr>
              <a:spcBef>
                <a:spcPts val="900"/>
              </a:spcBef>
            </a:pPr>
            <a:r>
              <a:rPr sz="1500">
                <a:latin typeface="Calibri"/>
                <a:cs typeface="Calibri"/>
              </a:rPr>
              <a:t>Introduction to Step Wise project planning</a:t>
            </a:r>
          </a:p>
          <a:p>
            <a:pPr>
              <a:spcBef>
                <a:spcPts val="900"/>
              </a:spcBef>
            </a:pPr>
            <a:r>
              <a:rPr sz="1500">
                <a:latin typeface="Calibri"/>
                <a:cs typeface="Calibri"/>
              </a:rPr>
              <a:t>Case study: Brigette at Brightmouth College</a:t>
            </a:r>
          </a:p>
          <a:p>
            <a:pPr>
              <a:spcBef>
                <a:spcPts val="900"/>
              </a:spcBef>
            </a:pPr>
            <a:r>
              <a:rPr sz="1500">
                <a:latin typeface="Calibri"/>
                <a:cs typeface="Calibri"/>
              </a:rPr>
              <a:t>Steps 0–3: select the project, set scope, infrastructure and approach</a:t>
            </a:r>
          </a:p>
          <a:p>
            <a:pPr>
              <a:spcBef>
                <a:spcPts val="900"/>
              </a:spcBef>
            </a:pPr>
            <a:r>
              <a:rPr sz="1500">
                <a:latin typeface="Calibri"/>
                <a:cs typeface="Calibri"/>
              </a:rPr>
              <a:t>Steps 4–6: products and activities, effort estimates, activity risks</a:t>
            </a:r>
          </a:p>
          <a:p>
            <a:pPr>
              <a:spcBef>
                <a:spcPts val="900"/>
              </a:spcBef>
            </a:pPr>
            <a:r>
              <a:rPr sz="1500">
                <a:latin typeface="Calibri"/>
                <a:cs typeface="Calibri"/>
              </a:rPr>
              <a:t>Steps 7–10: resources, review, execution and lower levels of planning</a:t>
            </a:r>
          </a:p>
          <a:p>
            <a:pPr>
              <a:spcBef>
                <a:spcPts val="900"/>
              </a:spcBef>
            </a:pPr>
            <a:r>
              <a:rPr sz="1500">
                <a:latin typeface="Calibri"/>
                <a:cs typeface="Calibri"/>
              </a:rPr>
              <a:t>In-class activities on the case study</a:t>
            </a:r>
          </a:p>
          <a:p>
            <a:pPr>
              <a:spcBef>
                <a:spcPts val="900"/>
              </a:spcBef>
            </a:pPr>
            <a:r>
              <a:rPr sz="1500">
                <a:latin typeface="Calibri"/>
                <a:cs typeface="Calibri"/>
              </a:rPr>
              <a:t>Summary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Calibri"/>
                <a:cs typeface="Calibri"/>
              </a:rPr>
              <a:t>Introduction to Step Wise</a:t>
            </a:r>
          </a:p>
        </p:txBody>
      </p:sp>
      <p:sp>
        <p:nvSpPr>
          <p:cNvPr id="3" name="Text Placeholder 2"/>
          <p:cNvSpPr>
            <a:spLocks noGrp="1"/>
          </p:cNvSpPr>
          <p:nvPr>
            <p:ph type="body" idx="1"/>
          </p:nvPr>
        </p:nvSpPr>
        <p:spPr>
          <a:xfrm>
            <a:off x="1941910" y="3504847"/>
            <a:ext cx="6686549" cy="645300"/>
          </a:xfrm>
        </p:spPr>
        <p:txBody>
          <a:bodyPr/>
          <a:lstStyle/>
          <a:p>
            <a:r>
              <a:rPr b="1">
                <a:solidFill>
                  <a:srgbClr val="A53010"/>
                </a:solidFill>
                <a:latin typeface="Calibri"/>
                <a:cs typeface="Calibri"/>
              </a:rPr>
              <a:t>Part 1  |  </a:t>
            </a:r>
            <a:r>
              <a:rPr>
                <a:latin typeface="Calibri"/>
                <a:cs typeface="Calibri"/>
              </a:rPr>
              <a:t>A framework of basic steps in project planning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685800"/>
            <a:ext cx="7685283" cy="1143000"/>
          </a:xfrm>
        </p:spPr>
        <p:txBody>
          <a:bodyPr>
            <a:normAutofit/>
          </a:bodyPr>
          <a:lstStyle/>
          <a:p>
            <a:r>
              <a:rPr lang="en-US" dirty="0"/>
              <a:t>Introduction to Step Wise project Planning</a:t>
            </a:r>
          </a:p>
        </p:txBody>
      </p:sp>
      <p:sp>
        <p:nvSpPr>
          <p:cNvPr id="3" name="Content Placeholder 2"/>
          <p:cNvSpPr>
            <a:spLocks noGrp="1"/>
          </p:cNvSpPr>
          <p:nvPr>
            <p:ph idx="1"/>
          </p:nvPr>
        </p:nvSpPr>
        <p:spPr>
          <a:xfrm>
            <a:off x="1371599" y="1676400"/>
            <a:ext cx="7532883" cy="4191000"/>
          </a:xfrm>
        </p:spPr>
        <p:txBody>
          <a:bodyPr>
            <a:normAutofit/>
          </a:bodyPr>
          <a:lstStyle/>
          <a:p>
            <a:pPr algn="just"/>
            <a:r>
              <a:rPr lang="en-US" sz="2400" dirty="0"/>
              <a:t>This section describes a framework of basic steps in project planning on which the following course contents are build.</a:t>
            </a:r>
          </a:p>
          <a:p>
            <a:pPr algn="just"/>
            <a:r>
              <a:rPr lang="en-US" sz="2400" dirty="0"/>
              <a:t>The described framework is called the Step Wise Method.</a:t>
            </a:r>
          </a:p>
        </p:txBody>
      </p:sp>
    </p:spTree>
    <p:extLst>
      <p:ext uri="{BB962C8B-B14F-4D97-AF65-F5344CB8AC3E}">
        <p14:creationId xmlns:p14="http://schemas.microsoft.com/office/powerpoint/2010/main" val="234500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514" y="640950"/>
            <a:ext cx="6683765" cy="960668"/>
          </a:xfrm>
        </p:spPr>
        <p:txBody>
          <a:bodyPr/>
          <a:lstStyle/>
          <a:p>
            <a:r>
              <a:rPr sz="2400" dirty="0">
                <a:latin typeface="Calibri"/>
                <a:cs typeface="Calibri"/>
              </a:rPr>
              <a:t>Step Wise Planning: Overview</a:t>
            </a:r>
          </a:p>
        </p:txBody>
      </p:sp>
      <p:sp>
        <p:nvSpPr>
          <p:cNvPr id="3" name="Rectangle 2"/>
          <p:cNvSpPr/>
          <p:nvPr/>
        </p:nvSpPr>
        <p:spPr>
          <a:xfrm>
            <a:off x="4732019" y="3621023"/>
            <a:ext cx="3223260" cy="1567053"/>
          </a:xfrm>
          <a:prstGeom prst="rect">
            <a:avLst/>
          </a:prstGeom>
          <a:noFill/>
          <a:ln w="9525">
            <a:solidFill>
              <a:srgbClr val="5E59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sz="1350"/>
          </a:p>
        </p:txBody>
      </p:sp>
      <p:sp>
        <p:nvSpPr>
          <p:cNvPr id="4" name="Rectangle 3"/>
          <p:cNvSpPr/>
          <p:nvPr/>
        </p:nvSpPr>
        <p:spPr>
          <a:xfrm>
            <a:off x="4903469" y="2091690"/>
            <a:ext cx="212598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0. Select project</a:t>
            </a:r>
          </a:p>
        </p:txBody>
      </p:sp>
      <p:sp>
        <p:nvSpPr>
          <p:cNvPr id="5" name="Rectangle 4"/>
          <p:cNvSpPr/>
          <p:nvPr/>
        </p:nvSpPr>
        <p:spPr>
          <a:xfrm>
            <a:off x="3771899" y="2486025"/>
            <a:ext cx="205740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1. Identify scope and objectives</a:t>
            </a:r>
          </a:p>
        </p:txBody>
      </p:sp>
      <p:sp>
        <p:nvSpPr>
          <p:cNvPr id="6" name="Rectangle 5"/>
          <p:cNvSpPr/>
          <p:nvPr/>
        </p:nvSpPr>
        <p:spPr>
          <a:xfrm>
            <a:off x="6103619" y="2486025"/>
            <a:ext cx="205740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2. Identify infrastructure</a:t>
            </a:r>
          </a:p>
        </p:txBody>
      </p:sp>
      <p:sp>
        <p:nvSpPr>
          <p:cNvPr id="7" name="Rectangle 6"/>
          <p:cNvSpPr/>
          <p:nvPr/>
        </p:nvSpPr>
        <p:spPr>
          <a:xfrm>
            <a:off x="4903469" y="2880360"/>
            <a:ext cx="2125980" cy="288036"/>
          </a:xfrm>
          <a:prstGeom prst="rect">
            <a:avLst/>
          </a:prstGeom>
          <a:solidFill>
            <a:srgbClr val="A53010"/>
          </a:solidFill>
          <a:ln>
            <a:no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FFFFFF"/>
                </a:solidFill>
                <a:latin typeface="Calibri"/>
                <a:cs typeface="Calibri"/>
              </a:rPr>
              <a:t>3. Analyse project characteristics</a:t>
            </a:r>
          </a:p>
        </p:txBody>
      </p:sp>
      <p:sp>
        <p:nvSpPr>
          <p:cNvPr id="8" name="Rectangle 7"/>
          <p:cNvSpPr/>
          <p:nvPr/>
        </p:nvSpPr>
        <p:spPr>
          <a:xfrm>
            <a:off x="4903469" y="3274695"/>
            <a:ext cx="212598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4. Identify products and activities</a:t>
            </a:r>
          </a:p>
        </p:txBody>
      </p:sp>
      <p:sp>
        <p:nvSpPr>
          <p:cNvPr id="9" name="Rectangle 8"/>
          <p:cNvSpPr/>
          <p:nvPr/>
        </p:nvSpPr>
        <p:spPr>
          <a:xfrm>
            <a:off x="4903469" y="3669029"/>
            <a:ext cx="212598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5. Estimate effort for each activity</a:t>
            </a:r>
          </a:p>
        </p:txBody>
      </p:sp>
      <p:sp>
        <p:nvSpPr>
          <p:cNvPr id="10" name="Rectangle 9"/>
          <p:cNvSpPr/>
          <p:nvPr/>
        </p:nvSpPr>
        <p:spPr>
          <a:xfrm>
            <a:off x="4903469" y="4063365"/>
            <a:ext cx="212598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6. Identify activity risks</a:t>
            </a:r>
          </a:p>
        </p:txBody>
      </p:sp>
      <p:sp>
        <p:nvSpPr>
          <p:cNvPr id="11" name="Rectangle 10"/>
          <p:cNvSpPr/>
          <p:nvPr/>
        </p:nvSpPr>
        <p:spPr>
          <a:xfrm>
            <a:off x="4903469" y="4457700"/>
            <a:ext cx="212598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7. Allocate resources</a:t>
            </a:r>
          </a:p>
        </p:txBody>
      </p:sp>
      <p:sp>
        <p:nvSpPr>
          <p:cNvPr id="12" name="Rectangle 11"/>
          <p:cNvSpPr/>
          <p:nvPr/>
        </p:nvSpPr>
        <p:spPr>
          <a:xfrm>
            <a:off x="4903469" y="4852034"/>
            <a:ext cx="212598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8. Review / publicise plan</a:t>
            </a:r>
          </a:p>
        </p:txBody>
      </p:sp>
      <p:sp>
        <p:nvSpPr>
          <p:cNvPr id="13" name="Rectangle 12"/>
          <p:cNvSpPr/>
          <p:nvPr/>
        </p:nvSpPr>
        <p:spPr>
          <a:xfrm>
            <a:off x="3154680" y="4457700"/>
            <a:ext cx="133731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10. Lower-level planning</a:t>
            </a:r>
          </a:p>
        </p:txBody>
      </p:sp>
      <p:sp>
        <p:nvSpPr>
          <p:cNvPr id="14" name="Rectangle 13"/>
          <p:cNvSpPr/>
          <p:nvPr/>
        </p:nvSpPr>
        <p:spPr>
          <a:xfrm>
            <a:off x="3154680" y="4852034"/>
            <a:ext cx="1337310" cy="288036"/>
          </a:xfrm>
          <a:prstGeom prst="rect">
            <a:avLst/>
          </a:prstGeom>
          <a:solidFill>
            <a:srgbClr val="FFFFFF"/>
          </a:solidFill>
          <a:ln w="9525">
            <a:solidFill>
              <a:srgbClr val="A53010"/>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wrap="square" lIns="41148" tIns="0" rIns="41148" bIns="0" rtlCol="0" anchor="ctr">
            <a:noAutofit/>
          </a:bodyPr>
          <a:lstStyle/>
          <a:p>
            <a:pPr algn="ctr">
              <a:spcAft>
                <a:spcPts val="225"/>
              </a:spcAft>
            </a:pPr>
            <a:r>
              <a:rPr sz="938" b="1">
                <a:solidFill>
                  <a:srgbClr val="3A3A30"/>
                </a:solidFill>
                <a:latin typeface="Calibri"/>
                <a:cs typeface="Calibri"/>
              </a:rPr>
              <a:t>9. Execute plan</a:t>
            </a:r>
          </a:p>
        </p:txBody>
      </p:sp>
      <p:cxnSp>
        <p:nvCxnSpPr>
          <p:cNvPr id="15" name="Connector 14"/>
          <p:cNvCxnSpPr/>
          <p:nvPr/>
        </p:nvCxnSpPr>
        <p:spPr>
          <a:xfrm>
            <a:off x="5966459" y="2379726"/>
            <a:ext cx="0" cy="53150"/>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869179" y="2432876"/>
            <a:ext cx="2194560" cy="0"/>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869179" y="2432875"/>
            <a:ext cx="0" cy="53150"/>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063739" y="2432875"/>
            <a:ext cx="0" cy="53150"/>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869179" y="2774061"/>
            <a:ext cx="0" cy="53150"/>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063739" y="2774061"/>
            <a:ext cx="0" cy="53150"/>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869179" y="2827211"/>
            <a:ext cx="2194560" cy="0"/>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66459" y="2827210"/>
            <a:ext cx="0" cy="53150"/>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6459" y="3168396"/>
            <a:ext cx="0" cy="106299"/>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66459" y="3562732"/>
            <a:ext cx="0" cy="106298"/>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66459" y="3957066"/>
            <a:ext cx="0" cy="106300"/>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66459" y="4351401"/>
            <a:ext cx="0" cy="106299"/>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66459" y="4745737"/>
            <a:ext cx="0" cy="106298"/>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029450" y="4207383"/>
            <a:ext cx="274320" cy="0"/>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303770" y="3813048"/>
            <a:ext cx="0" cy="394336"/>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7029450" y="3813047"/>
            <a:ext cx="274320" cy="0"/>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p:cNvSpPr txBox="1"/>
          <p:nvPr/>
        </p:nvSpPr>
        <p:spPr>
          <a:xfrm>
            <a:off x="7372350" y="3751326"/>
            <a:ext cx="754380" cy="548640"/>
          </a:xfrm>
          <a:prstGeom prst="rect">
            <a:avLst/>
          </a:prstGeom>
          <a:noFill/>
        </p:spPr>
        <p:txBody>
          <a:bodyPr wrap="square" lIns="0" tIns="0" rIns="0" bIns="0" anchor="t">
            <a:noAutofit/>
          </a:bodyPr>
          <a:lstStyle/>
          <a:p>
            <a:pPr>
              <a:spcAft>
                <a:spcPts val="225"/>
              </a:spcAft>
            </a:pPr>
            <a:r>
              <a:rPr sz="900" b="1" i="1">
                <a:solidFill>
                  <a:srgbClr val="A53010"/>
                </a:solidFill>
                <a:latin typeface="Calibri"/>
                <a:cs typeface="Calibri"/>
              </a:rPr>
              <a:t>For each activity</a:t>
            </a:r>
          </a:p>
        </p:txBody>
      </p:sp>
      <p:cxnSp>
        <p:nvCxnSpPr>
          <p:cNvPr id="32" name="Connector 31"/>
          <p:cNvCxnSpPr/>
          <p:nvPr/>
        </p:nvCxnSpPr>
        <p:spPr>
          <a:xfrm flipV="1">
            <a:off x="3823334" y="4745737"/>
            <a:ext cx="0" cy="106298"/>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823334" y="3418713"/>
            <a:ext cx="0" cy="1038987"/>
          </a:xfrm>
          <a:prstGeom prst="line">
            <a:avLst/>
          </a:prstGeom>
          <a:ln w="15875">
            <a:solidFill>
              <a:srgbClr val="3A3A3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823334" y="3418713"/>
            <a:ext cx="1080135" cy="0"/>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823334" y="3847337"/>
            <a:ext cx="908685" cy="0"/>
          </a:xfrm>
          <a:prstGeom prst="line">
            <a:avLst/>
          </a:prstGeom>
          <a:ln w="15875">
            <a:solidFill>
              <a:srgbClr val="3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p:cNvSpPr txBox="1"/>
          <p:nvPr/>
        </p:nvSpPr>
        <p:spPr>
          <a:xfrm>
            <a:off x="3891914" y="3219831"/>
            <a:ext cx="822960" cy="205740"/>
          </a:xfrm>
          <a:prstGeom prst="rect">
            <a:avLst/>
          </a:prstGeom>
          <a:noFill/>
        </p:spPr>
        <p:txBody>
          <a:bodyPr wrap="square" lIns="0" tIns="0" rIns="0" bIns="0" anchor="t">
            <a:noAutofit/>
          </a:bodyPr>
          <a:lstStyle/>
          <a:p>
            <a:pPr>
              <a:spcAft>
                <a:spcPts val="225"/>
              </a:spcAft>
            </a:pPr>
            <a:r>
              <a:rPr sz="975" b="1" i="1">
                <a:solidFill>
                  <a:srgbClr val="A53010"/>
                </a:solidFill>
                <a:latin typeface="Calibri"/>
                <a:cs typeface="Calibri"/>
              </a:rPr>
              <a:t>Review</a:t>
            </a:r>
          </a:p>
        </p:txBody>
      </p:sp>
      <p:sp>
        <p:nvSpPr>
          <p:cNvPr id="37" name="TextBox"/>
          <p:cNvSpPr txBox="1"/>
          <p:nvPr/>
        </p:nvSpPr>
        <p:spPr>
          <a:xfrm>
            <a:off x="3878198" y="3881627"/>
            <a:ext cx="891540" cy="205740"/>
          </a:xfrm>
          <a:prstGeom prst="rect">
            <a:avLst/>
          </a:prstGeom>
          <a:noFill/>
        </p:spPr>
        <p:txBody>
          <a:bodyPr wrap="square" lIns="0" tIns="0" rIns="0" bIns="0" anchor="t">
            <a:noAutofit/>
          </a:bodyPr>
          <a:lstStyle/>
          <a:p>
            <a:pPr>
              <a:spcAft>
                <a:spcPts val="225"/>
              </a:spcAft>
            </a:pPr>
            <a:r>
              <a:rPr sz="900" b="1" i="1">
                <a:solidFill>
                  <a:srgbClr val="A53010"/>
                </a:solidFill>
                <a:latin typeface="Calibri"/>
                <a:cs typeface="Calibri"/>
              </a:rPr>
              <a:t>Lower-level detail</a:t>
            </a:r>
          </a:p>
        </p:txBody>
      </p:sp>
      <p:sp>
        <p:nvSpPr>
          <p:cNvPr id="38" name="Card"/>
          <p:cNvSpPr/>
          <p:nvPr/>
        </p:nvSpPr>
        <p:spPr>
          <a:xfrm>
            <a:off x="1351026" y="2125980"/>
            <a:ext cx="1680210" cy="2468880"/>
          </a:xfrm>
          <a:prstGeom prst="roundRect">
            <a:avLst>
              <a:gd name="adj" fmla="val 8000"/>
            </a:avLst>
          </a:prstGeom>
          <a:solidFill>
            <a:srgbClr val="E3EACF">
              <a:alpha val="95000"/>
            </a:srgbClr>
          </a:solidFill>
          <a:ln w="9525">
            <a:solidFill>
              <a:srgbClr val="C4CCA6"/>
            </a:solidFill>
          </a:ln>
          <a:effectLst>
            <a:outerShdw blurRad="635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sz="1350"/>
          </a:p>
        </p:txBody>
      </p:sp>
      <p:sp>
        <p:nvSpPr>
          <p:cNvPr id="39" name="TextBox"/>
          <p:cNvSpPr txBox="1"/>
          <p:nvPr/>
        </p:nvSpPr>
        <p:spPr>
          <a:xfrm>
            <a:off x="1474470" y="2194560"/>
            <a:ext cx="1474470" cy="3017520"/>
          </a:xfrm>
          <a:prstGeom prst="rect">
            <a:avLst/>
          </a:prstGeom>
          <a:noFill/>
        </p:spPr>
        <p:txBody>
          <a:bodyPr wrap="square" lIns="0" tIns="0" rIns="0" bIns="0" anchor="t">
            <a:noAutofit/>
          </a:bodyPr>
          <a:lstStyle/>
          <a:p>
            <a:pPr>
              <a:spcAft>
                <a:spcPts val="225"/>
              </a:spcAft>
            </a:pPr>
            <a:r>
              <a:rPr sz="900" b="1">
                <a:solidFill>
                  <a:srgbClr val="A53010"/>
                </a:solidFill>
                <a:latin typeface="Calibri"/>
                <a:cs typeface="Calibri"/>
              </a:rPr>
              <a:t>READING THE DIAGRAM</a:t>
            </a:r>
          </a:p>
          <a:p>
            <a:pPr>
              <a:spcBef>
                <a:spcPts val="300"/>
              </a:spcBef>
              <a:spcAft>
                <a:spcPts val="600"/>
              </a:spcAft>
            </a:pPr>
            <a:r>
              <a:rPr sz="1050" b="1">
                <a:solidFill>
                  <a:srgbClr val="3A3A30"/>
                </a:solidFill>
                <a:latin typeface="Calibri"/>
                <a:cs typeface="Calibri"/>
              </a:rPr>
              <a:t>Steps 0–4 </a:t>
            </a:r>
            <a:r>
              <a:rPr sz="1050">
                <a:solidFill>
                  <a:srgbClr val="5E5943"/>
                </a:solidFill>
                <a:latin typeface="Calibri"/>
                <a:cs typeface="Calibri"/>
              </a:rPr>
              <a:t>frame the project.</a:t>
            </a:r>
          </a:p>
          <a:p>
            <a:pPr>
              <a:spcAft>
                <a:spcPts val="600"/>
              </a:spcAft>
            </a:pPr>
            <a:r>
              <a:rPr sz="1050" b="1">
                <a:solidFill>
                  <a:srgbClr val="3A3A30"/>
                </a:solidFill>
                <a:latin typeface="Calibri"/>
                <a:cs typeface="Calibri"/>
              </a:rPr>
              <a:t>Steps 5–8 </a:t>
            </a:r>
            <a:r>
              <a:rPr sz="1050">
                <a:solidFill>
                  <a:srgbClr val="5E5943"/>
                </a:solidFill>
                <a:latin typeface="Calibri"/>
                <a:cs typeface="Calibri"/>
              </a:rPr>
              <a:t>(dashed box) build the detailed plan; 5–6 repeat for each activity.</a:t>
            </a:r>
          </a:p>
          <a:p>
            <a:pPr>
              <a:spcAft>
                <a:spcPts val="600"/>
              </a:spcAft>
            </a:pPr>
            <a:r>
              <a:rPr sz="1050" b="1">
                <a:solidFill>
                  <a:srgbClr val="3A3A30"/>
                </a:solidFill>
                <a:latin typeface="Calibri"/>
                <a:cs typeface="Calibri"/>
              </a:rPr>
              <a:t>Steps 9–10 </a:t>
            </a:r>
            <a:r>
              <a:rPr sz="1050">
                <a:solidFill>
                  <a:srgbClr val="5E5943"/>
                </a:solidFill>
                <a:latin typeface="Calibri"/>
                <a:cs typeface="Calibri"/>
              </a:rPr>
              <a:t>loop back as the project runs, re-planning in more detail.</a:t>
            </a:r>
          </a:p>
          <a:p>
            <a:pPr>
              <a:spcAft>
                <a:spcPts val="225"/>
              </a:spcAft>
            </a:pPr>
            <a:r>
              <a:rPr sz="1050" b="1">
                <a:solidFill>
                  <a:srgbClr val="A53010"/>
                </a:solidFill>
                <a:latin typeface="Calibri"/>
                <a:cs typeface="Calibri"/>
              </a:rPr>
              <a:t>Step 3 </a:t>
            </a:r>
            <a:r>
              <a:rPr sz="1050">
                <a:solidFill>
                  <a:srgbClr val="5E5943"/>
                </a:solidFill>
                <a:latin typeface="Calibri"/>
                <a:cs typeface="Calibri"/>
              </a:rPr>
              <a:t>decides the overall approach.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09600"/>
            <a:ext cx="6683765" cy="1280890"/>
          </a:xfrm>
        </p:spPr>
        <p:txBody>
          <a:bodyPr/>
          <a:lstStyle/>
          <a:p>
            <a:r>
              <a:rPr lang="en-US" dirty="0"/>
              <a:t>Case Study</a:t>
            </a:r>
          </a:p>
        </p:txBody>
      </p:sp>
      <p:sp>
        <p:nvSpPr>
          <p:cNvPr id="4" name="Content Placeholder 3"/>
          <p:cNvSpPr>
            <a:spLocks noGrp="1"/>
          </p:cNvSpPr>
          <p:nvPr>
            <p:ph idx="1"/>
          </p:nvPr>
        </p:nvSpPr>
        <p:spPr>
          <a:xfrm>
            <a:off x="1143000" y="1540188"/>
            <a:ext cx="7543800" cy="5013011"/>
          </a:xfrm>
        </p:spPr>
        <p:txBody>
          <a:bodyPr>
            <a:normAutofit/>
          </a:bodyPr>
          <a:lstStyle/>
          <a:p>
            <a:pPr algn="just"/>
            <a:r>
              <a:rPr lang="en-US" sz="1800" dirty="0"/>
              <a:t>Brigette has been working for the management services department of a local authority when she sees an advertisement for the position of information systems development officer at </a:t>
            </a:r>
            <a:r>
              <a:rPr lang="en-US" sz="1800" dirty="0" err="1"/>
              <a:t>brightmouth</a:t>
            </a:r>
            <a:r>
              <a:rPr lang="en-US" sz="1800" dirty="0"/>
              <a:t> college. She is attracted to the idea of being her own boss, working in a relatively small organization and helping them to setup appropriate information systems from scratch. She applies for the job and get it. One of the first tasks that confronts her is the implementation of independent payroll processing.</a:t>
            </a:r>
          </a:p>
        </p:txBody>
      </p:sp>
    </p:spTree>
    <p:extLst>
      <p:ext uri="{BB962C8B-B14F-4D97-AF65-F5344CB8AC3E}">
        <p14:creationId xmlns:p14="http://schemas.microsoft.com/office/powerpoint/2010/main" val="2854828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Calibri"/>
                <a:cs typeface="Calibri"/>
              </a:rPr>
              <a:t>Steps 0–3: Setting the Frame</a:t>
            </a:r>
          </a:p>
        </p:txBody>
      </p:sp>
      <p:sp>
        <p:nvSpPr>
          <p:cNvPr id="3" name="Text Placeholder 2"/>
          <p:cNvSpPr>
            <a:spLocks noGrp="1"/>
          </p:cNvSpPr>
          <p:nvPr>
            <p:ph type="body" idx="1"/>
          </p:nvPr>
        </p:nvSpPr>
        <p:spPr>
          <a:xfrm>
            <a:off x="1941910" y="3504847"/>
            <a:ext cx="6686549" cy="645300"/>
          </a:xfrm>
        </p:spPr>
        <p:txBody>
          <a:bodyPr/>
          <a:lstStyle/>
          <a:p>
            <a:r>
              <a:rPr b="1">
                <a:solidFill>
                  <a:srgbClr val="A53010"/>
                </a:solidFill>
                <a:latin typeface="Calibri"/>
                <a:cs typeface="Calibri"/>
              </a:rPr>
              <a:t>Part 2  |  </a:t>
            </a:r>
            <a:r>
              <a:rPr>
                <a:latin typeface="Calibri"/>
                <a:cs typeface="Calibri"/>
              </a:rPr>
              <a:t>Select the project, set scope and objectives, infrastructure and approach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6683765" cy="1280890"/>
          </a:xfrm>
        </p:spPr>
        <p:txBody>
          <a:bodyPr>
            <a:normAutofit/>
          </a:bodyPr>
          <a:lstStyle/>
          <a:p>
            <a:r>
              <a:rPr lang="en-US" dirty="0"/>
              <a:t>Step 0: Select Project</a:t>
            </a:r>
          </a:p>
        </p:txBody>
      </p:sp>
      <p:sp>
        <p:nvSpPr>
          <p:cNvPr id="3" name="Content Placeholder 2"/>
          <p:cNvSpPr>
            <a:spLocks noGrp="1"/>
          </p:cNvSpPr>
          <p:nvPr>
            <p:ph idx="1"/>
          </p:nvPr>
        </p:nvSpPr>
        <p:spPr>
          <a:xfrm>
            <a:off x="1088634" y="1540188"/>
            <a:ext cx="7293365" cy="4327211"/>
          </a:xfrm>
        </p:spPr>
        <p:txBody>
          <a:bodyPr>
            <a:normAutofit/>
          </a:bodyPr>
          <a:lstStyle/>
          <a:p>
            <a:pPr algn="just"/>
            <a:r>
              <a:rPr lang="en-US" sz="1800" dirty="0"/>
              <a:t>Called Step 0 because it is actually outside the main project planning steps.</a:t>
            </a:r>
          </a:p>
          <a:p>
            <a:pPr algn="just"/>
            <a:r>
              <a:rPr lang="en-US" sz="1800" dirty="0"/>
              <a:t>While </a:t>
            </a:r>
            <a:r>
              <a:rPr lang="en-US" sz="1800" dirty="0">
                <a:solidFill>
                  <a:schemeClr val="accent2"/>
                </a:solidFill>
              </a:rPr>
              <a:t>feasibility study </a:t>
            </a:r>
            <a:r>
              <a:rPr lang="en-US" sz="1800" dirty="0"/>
              <a:t>suggests that there is a business case for the project, it would still need to be established that it should have </a:t>
            </a:r>
            <a:r>
              <a:rPr lang="en-US" sz="1800" dirty="0">
                <a:solidFill>
                  <a:schemeClr val="accent2"/>
                </a:solidFill>
              </a:rPr>
              <a:t>priority over other projects</a:t>
            </a:r>
            <a:r>
              <a:rPr lang="en-US" sz="1800" dirty="0"/>
              <a:t>.</a:t>
            </a:r>
          </a:p>
          <a:p>
            <a:pPr algn="just"/>
            <a:r>
              <a:rPr lang="en-US" sz="1800" dirty="0"/>
              <a:t>This evaluation can be part of </a:t>
            </a:r>
            <a:r>
              <a:rPr lang="en-US" sz="1800" u="sng" dirty="0"/>
              <a:t>project portfolio management</a:t>
            </a:r>
            <a:r>
              <a:rPr lang="en-US" sz="1800" dirty="0"/>
              <a:t>. </a:t>
            </a:r>
          </a:p>
        </p:txBody>
      </p:sp>
    </p:spTree>
    <p:extLst>
      <p:ext uri="{BB962C8B-B14F-4D97-AF65-F5344CB8AC3E}">
        <p14:creationId xmlns:p14="http://schemas.microsoft.com/office/powerpoint/2010/main" val="3297427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09600"/>
            <a:ext cx="7398342" cy="1219200"/>
          </a:xfrm>
        </p:spPr>
        <p:txBody>
          <a:bodyPr>
            <a:normAutofit/>
          </a:bodyPr>
          <a:lstStyle/>
          <a:p>
            <a:r>
              <a:rPr lang="en-US" dirty="0"/>
              <a:t>Step 1: Identify Project Scope </a:t>
            </a:r>
            <a:br>
              <a:rPr lang="en-US" dirty="0"/>
            </a:br>
            <a:r>
              <a:rPr lang="en-US" dirty="0"/>
              <a:t>and Objectives</a:t>
            </a:r>
          </a:p>
        </p:txBody>
      </p:sp>
      <p:sp>
        <p:nvSpPr>
          <p:cNvPr id="3" name="Content Placeholder 2"/>
          <p:cNvSpPr>
            <a:spLocks noGrp="1"/>
          </p:cNvSpPr>
          <p:nvPr>
            <p:ph idx="1"/>
          </p:nvPr>
        </p:nvSpPr>
        <p:spPr>
          <a:xfrm>
            <a:off x="1263247" y="1842052"/>
            <a:ext cx="7365212" cy="3872948"/>
          </a:xfrm>
        </p:spPr>
        <p:txBody>
          <a:bodyPr>
            <a:normAutofit/>
          </a:bodyPr>
          <a:lstStyle/>
          <a:p>
            <a:pPr algn="just"/>
            <a:r>
              <a:rPr lang="en-US" sz="1800" dirty="0"/>
              <a:t>1.1 Identify objectives and practical measures of the effectiveness in meeting those objectives</a:t>
            </a:r>
          </a:p>
          <a:p>
            <a:pPr algn="just"/>
            <a:r>
              <a:rPr lang="en-US" sz="1800" dirty="0"/>
              <a:t>1.2 Establish a project authority </a:t>
            </a:r>
          </a:p>
          <a:p>
            <a:pPr algn="just"/>
            <a:r>
              <a:rPr lang="en-US" sz="1800" dirty="0"/>
              <a:t>1.3 Stakeholder analysis – identify all stakeholders in the project and their interests</a:t>
            </a:r>
          </a:p>
          <a:p>
            <a:pPr algn="just"/>
            <a:r>
              <a:rPr lang="en-US" sz="1800" dirty="0"/>
              <a:t>1.4 Modify objectives in the light of stakeholder analysis</a:t>
            </a:r>
          </a:p>
          <a:p>
            <a:pPr algn="just"/>
            <a:r>
              <a:rPr lang="en-US" sz="1800" dirty="0"/>
              <a:t>1.5 Establish methods of communication with all parties</a:t>
            </a:r>
          </a:p>
        </p:txBody>
      </p:sp>
    </p:spTree>
    <p:extLst>
      <p:ext uri="{BB962C8B-B14F-4D97-AF65-F5344CB8AC3E}">
        <p14:creationId xmlns:p14="http://schemas.microsoft.com/office/powerpoint/2010/main" val="472229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533400"/>
            <a:ext cx="6683765" cy="1280890"/>
          </a:xfrm>
        </p:spPr>
        <p:txBody>
          <a:bodyPr>
            <a:normAutofit/>
          </a:bodyPr>
          <a:lstStyle/>
          <a:p>
            <a:r>
              <a:rPr lang="en-US" dirty="0"/>
              <a:t>Step 1: Identify Project Scope </a:t>
            </a:r>
            <a:br>
              <a:rPr lang="en-US" dirty="0"/>
            </a:br>
            <a:r>
              <a:rPr lang="en-US" dirty="0"/>
              <a:t>and Objectives</a:t>
            </a:r>
          </a:p>
        </p:txBody>
      </p:sp>
      <p:sp>
        <p:nvSpPr>
          <p:cNvPr id="3" name="Content Placeholder 2"/>
          <p:cNvSpPr>
            <a:spLocks noGrp="1"/>
          </p:cNvSpPr>
          <p:nvPr>
            <p:ph idx="1"/>
          </p:nvPr>
        </p:nvSpPr>
        <p:spPr>
          <a:xfrm>
            <a:off x="1230116" y="1814290"/>
            <a:ext cx="7456683" cy="4510310"/>
          </a:xfrm>
        </p:spPr>
        <p:txBody>
          <a:bodyPr>
            <a:normAutofit/>
          </a:bodyPr>
          <a:lstStyle/>
          <a:p>
            <a:r>
              <a:rPr lang="en-US" sz="2000" dirty="0"/>
              <a:t>Activity 1: </a:t>
            </a:r>
          </a:p>
          <a:p>
            <a:pPr lvl="1"/>
            <a:r>
              <a:rPr lang="en-US" sz="1800" dirty="0"/>
              <a:t>List objectives and </a:t>
            </a:r>
          </a:p>
          <a:p>
            <a:pPr lvl="1"/>
            <a:r>
              <a:rPr lang="en-US" sz="1800" dirty="0"/>
              <a:t>Identify the main stakeholders and project authority in the provided scenario.</a:t>
            </a:r>
          </a:p>
        </p:txBody>
      </p:sp>
    </p:spTree>
    <p:extLst>
      <p:ext uri="{BB962C8B-B14F-4D97-AF65-F5344CB8AC3E}">
        <p14:creationId xmlns:p14="http://schemas.microsoft.com/office/powerpoint/2010/main" val="378453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7CDDE-1272-49D2-8B92-34363400E79D}"/>
              </a:ext>
            </a:extLst>
          </p:cNvPr>
          <p:cNvSpPr>
            <a:spLocks noGrp="1"/>
          </p:cNvSpPr>
          <p:nvPr>
            <p:ph type="title"/>
          </p:nvPr>
        </p:nvSpPr>
        <p:spPr>
          <a:xfrm>
            <a:off x="1230115" y="609600"/>
            <a:ext cx="6683765" cy="1280890"/>
          </a:xfrm>
        </p:spPr>
        <p:txBody>
          <a:bodyPr>
            <a:normAutofit/>
          </a:bodyPr>
          <a:lstStyle/>
          <a:p>
            <a:r>
              <a:rPr lang="en-US" dirty="0"/>
              <a:t>Case Study</a:t>
            </a:r>
          </a:p>
        </p:txBody>
      </p:sp>
      <p:sp>
        <p:nvSpPr>
          <p:cNvPr id="3" name="Content Placeholder 2">
            <a:extLst>
              <a:ext uri="{FF2B5EF4-FFF2-40B4-BE49-F238E27FC236}">
                <a16:creationId xmlns:a16="http://schemas.microsoft.com/office/drawing/2014/main" id="{4D71C810-269D-4662-BD61-9664D00D3D23}"/>
              </a:ext>
            </a:extLst>
          </p:cNvPr>
          <p:cNvSpPr>
            <a:spLocks noGrp="1"/>
          </p:cNvSpPr>
          <p:nvPr>
            <p:ph idx="1"/>
          </p:nvPr>
        </p:nvSpPr>
        <p:spPr>
          <a:xfrm>
            <a:off x="1066799" y="1540188"/>
            <a:ext cx="7704667" cy="4708211"/>
          </a:xfrm>
        </p:spPr>
        <p:txBody>
          <a:bodyPr>
            <a:noAutofit/>
          </a:bodyPr>
          <a:lstStyle/>
          <a:p>
            <a:r>
              <a:rPr lang="en-US" sz="1800" dirty="0"/>
              <a:t>Project Authorities:</a:t>
            </a:r>
            <a:br>
              <a:rPr lang="en-US" sz="1800" dirty="0"/>
            </a:br>
            <a:br>
              <a:rPr lang="en-US" sz="1800" dirty="0"/>
            </a:br>
            <a:r>
              <a:rPr lang="en-US" sz="1800" dirty="0"/>
              <a:t>Brigette finds that effectively she has two different clients for the payroll system: the finance and human resources departments. To help resolve conflicts, it is agreed that the managers of both departments should attend a monthly meeting with the vice-principal which Brigette has arranged in order to steer the project.</a:t>
            </a:r>
          </a:p>
          <a:p>
            <a:r>
              <a:rPr lang="en-US" sz="1800" dirty="0"/>
              <a:t>Following are the ‘objectives’</a:t>
            </a:r>
          </a:p>
          <a:p>
            <a:pPr marL="724050" lvl="1" indent="-400050">
              <a:buFont typeface="+mj-lt"/>
              <a:buAutoNum type="romanLcPeriod"/>
            </a:pPr>
            <a:r>
              <a:rPr lang="en-US" sz="1800" dirty="0"/>
              <a:t>to implement the new application on time and within budget;</a:t>
            </a:r>
          </a:p>
          <a:p>
            <a:pPr marL="724050" lvl="1" indent="-400050">
              <a:buFont typeface="+mj-lt"/>
              <a:buAutoNum type="romanLcPeriod"/>
            </a:pPr>
            <a:r>
              <a:rPr lang="en-US" sz="1800" dirty="0"/>
              <a:t>to implement the new software application with the fewest possible software errors that might lead to operational failures;</a:t>
            </a:r>
          </a:p>
          <a:p>
            <a:pPr marL="724050" lvl="1" indent="-400050">
              <a:buFont typeface="+mj-lt"/>
              <a:buAutoNum type="romanLcPeriod"/>
            </a:pPr>
            <a:r>
              <a:rPr lang="en-US" sz="1800" dirty="0"/>
              <a:t>to design a system that is user-friendly;</a:t>
            </a:r>
          </a:p>
          <a:p>
            <a:pPr marL="724050" lvl="1" indent="-400050">
              <a:buFont typeface="+mj-lt"/>
              <a:buAutoNum type="romanLcPeriod"/>
            </a:pPr>
            <a:r>
              <a:rPr lang="en-US" sz="1800" dirty="0"/>
              <a:t>to produce full documentation for the new system.</a:t>
            </a:r>
          </a:p>
        </p:txBody>
      </p:sp>
      <p:sp>
        <p:nvSpPr>
          <p:cNvPr id="4" name="Title 1">
            <a:extLst>
              <a:ext uri="{FF2B5EF4-FFF2-40B4-BE49-F238E27FC236}">
                <a16:creationId xmlns:a16="http://schemas.microsoft.com/office/drawing/2014/main" id="{8F1DD297-63C3-4463-B976-41D240DF0DA5}"/>
              </a:ext>
            </a:extLst>
          </p:cNvPr>
          <p:cNvSpPr txBox="1">
            <a:spLocks/>
          </p:cNvSpPr>
          <p:nvPr/>
        </p:nvSpPr>
        <p:spPr>
          <a:xfrm>
            <a:off x="719665" y="-533400"/>
            <a:ext cx="7704667" cy="1981200"/>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b="1" u="sng" dirty="0"/>
          </a:p>
        </p:txBody>
      </p:sp>
    </p:spTree>
    <p:extLst>
      <p:ext uri="{BB962C8B-B14F-4D97-AF65-F5344CB8AC3E}">
        <p14:creationId xmlns:p14="http://schemas.microsoft.com/office/powerpoint/2010/main" val="2662642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85800"/>
            <a:ext cx="6683765" cy="1280890"/>
          </a:xfrm>
        </p:spPr>
        <p:txBody>
          <a:bodyPr>
            <a:normAutofit/>
          </a:bodyPr>
          <a:lstStyle/>
          <a:p>
            <a:r>
              <a:rPr lang="en-US" dirty="0"/>
              <a:t>Step 2: Identify Project Infrastructure</a:t>
            </a:r>
          </a:p>
        </p:txBody>
      </p:sp>
      <p:sp>
        <p:nvSpPr>
          <p:cNvPr id="3" name="Content Placeholder 2"/>
          <p:cNvSpPr>
            <a:spLocks noGrp="1"/>
          </p:cNvSpPr>
          <p:nvPr>
            <p:ph idx="1"/>
          </p:nvPr>
        </p:nvSpPr>
        <p:spPr>
          <a:xfrm>
            <a:off x="1227332" y="1540188"/>
            <a:ext cx="7383268" cy="4479611"/>
          </a:xfrm>
        </p:spPr>
        <p:txBody>
          <a:bodyPr>
            <a:normAutofit/>
          </a:bodyPr>
          <a:lstStyle/>
          <a:p>
            <a:r>
              <a:rPr lang="en-US" sz="2000" dirty="0"/>
              <a:t>Identify relationship between the project and strategic planning</a:t>
            </a:r>
          </a:p>
          <a:p>
            <a:r>
              <a:rPr lang="en-US" sz="2000" dirty="0"/>
              <a:t>Identify installation standards and procedures</a:t>
            </a:r>
          </a:p>
          <a:p>
            <a:r>
              <a:rPr lang="en-US" sz="2000" dirty="0"/>
              <a:t>Identify project team organization </a:t>
            </a:r>
          </a:p>
        </p:txBody>
      </p:sp>
    </p:spTree>
    <p:extLst>
      <p:ext uri="{BB962C8B-B14F-4D97-AF65-F5344CB8AC3E}">
        <p14:creationId xmlns:p14="http://schemas.microsoft.com/office/powerpoint/2010/main" val="744060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D3514-5FD2-4961-9C60-8A8D7BCFE071}"/>
              </a:ext>
            </a:extLst>
          </p:cNvPr>
          <p:cNvSpPr>
            <a:spLocks noGrp="1"/>
          </p:cNvSpPr>
          <p:nvPr>
            <p:ph type="title"/>
          </p:nvPr>
        </p:nvSpPr>
        <p:spPr>
          <a:xfrm>
            <a:off x="1230117" y="533400"/>
            <a:ext cx="7456683" cy="1219200"/>
          </a:xfrm>
        </p:spPr>
        <p:txBody>
          <a:bodyPr>
            <a:normAutofit/>
          </a:bodyPr>
          <a:lstStyle/>
          <a:p>
            <a:r>
              <a:rPr lang="en-US" sz="2400" b="1" i="1" dirty="0"/>
              <a:t>Activity 2: </a:t>
            </a:r>
            <a:r>
              <a:rPr lang="en-US" sz="2400" dirty="0"/>
              <a:t>List some standards that </a:t>
            </a:r>
            <a:r>
              <a:rPr lang="en-US" sz="2400" dirty="0" err="1"/>
              <a:t>brigette</a:t>
            </a:r>
            <a:r>
              <a:rPr lang="en-US" sz="2400" dirty="0"/>
              <a:t> should identify and set before moving on further</a:t>
            </a:r>
          </a:p>
        </p:txBody>
      </p:sp>
      <p:sp>
        <p:nvSpPr>
          <p:cNvPr id="3" name="Content Placeholder 2">
            <a:extLst>
              <a:ext uri="{FF2B5EF4-FFF2-40B4-BE49-F238E27FC236}">
                <a16:creationId xmlns:a16="http://schemas.microsoft.com/office/drawing/2014/main" id="{B765133E-4CA4-482A-80A8-656376781B71}"/>
              </a:ext>
            </a:extLst>
          </p:cNvPr>
          <p:cNvSpPr>
            <a:spLocks noGrp="1"/>
          </p:cNvSpPr>
          <p:nvPr>
            <p:ph idx="1"/>
          </p:nvPr>
        </p:nvSpPr>
        <p:spPr>
          <a:xfrm>
            <a:off x="953293" y="1600200"/>
            <a:ext cx="7704667" cy="4953000"/>
          </a:xfrm>
        </p:spPr>
        <p:txBody>
          <a:bodyPr>
            <a:normAutofit fontScale="92500"/>
          </a:bodyPr>
          <a:lstStyle/>
          <a:p>
            <a:pPr marL="0" marR="0" algn="just">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Brigette at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Brightmouth</a:t>
            </a:r>
            <a:r>
              <a:rPr lang="en-US" sz="1600" dirty="0">
                <a:effectLst/>
                <a:latin typeface="Calibri" panose="020F0502020204030204" pitchFamily="34" charset="0"/>
                <a:ea typeface="Calibri" panose="020F0502020204030204" pitchFamily="34" charset="0"/>
                <a:cs typeface="Times New Roman" panose="02020603050405020304" pitchFamily="18" charset="0"/>
              </a:rPr>
              <a:t> College finds that there is an overall College strategic plan which describes new courses to be developed, and so on, and mentions in passing the need for ‘appropriate administrative procedures’ to be in place. There is a recommendation in a consultant’s report concerning the implications of financial autonomy that independent payroll processing be implemented as just one module in an ERP system which would cover all the college’s financial processing needs. Although the college has quite a lot of ICT equipment for teaching purposes, there is no machine set aside for payroll processing and the intention is that the hardware to run the payroll will be acquired at the same time as the software.</a:t>
            </a:r>
          </a:p>
          <a:p>
            <a:pPr marL="0" marR="0" algn="just">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Brigette finds no documents except for some handouts for students that have been produced by different lecturers at different times and which seem to contradict each other. As a stop-gap measure, Brigette writes a brief document which states what the main stages of a ‘project’ (perhaps ‘job for the user’ would be a better term in this context) should be. She stresses that:</a:t>
            </a:r>
          </a:p>
          <a:p>
            <a:pPr marL="457200" marR="0" algn="just">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 no job of work to change a system or implement a new one is to be done without there being a detailed specification first</a:t>
            </a:r>
          </a:p>
          <a:p>
            <a:pPr marL="457200" marR="0" algn="just">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 the users must record agreement to each specification in writing before the work is carried out.</a:t>
            </a:r>
          </a:p>
          <a:p>
            <a:pPr marL="0" marR="0" algn="just">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She draws up a simple procedure for recording all changes to user requirements.</a:t>
            </a:r>
          </a:p>
          <a:p>
            <a:endParaRPr lang="en-US" sz="2000" dirty="0"/>
          </a:p>
          <a:p>
            <a:endParaRPr lang="en-US" sz="2000" dirty="0"/>
          </a:p>
        </p:txBody>
      </p:sp>
    </p:spTree>
    <p:extLst>
      <p:ext uri="{BB962C8B-B14F-4D97-AF65-F5344CB8AC3E}">
        <p14:creationId xmlns:p14="http://schemas.microsoft.com/office/powerpoint/2010/main" val="2537941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09600"/>
            <a:ext cx="7609083" cy="1143000"/>
          </a:xfrm>
        </p:spPr>
        <p:txBody>
          <a:bodyPr>
            <a:normAutofit/>
          </a:bodyPr>
          <a:lstStyle/>
          <a:p>
            <a:r>
              <a:rPr lang="en-US" dirty="0"/>
              <a:t>Step 3: Analyze Project Characteristics</a:t>
            </a:r>
          </a:p>
        </p:txBody>
      </p:sp>
      <p:sp>
        <p:nvSpPr>
          <p:cNvPr id="3" name="Content Placeholder 2"/>
          <p:cNvSpPr>
            <a:spLocks noGrp="1"/>
          </p:cNvSpPr>
          <p:nvPr>
            <p:ph idx="1"/>
          </p:nvPr>
        </p:nvSpPr>
        <p:spPr>
          <a:xfrm>
            <a:off x="990599" y="1540188"/>
            <a:ext cx="7609083" cy="4860611"/>
          </a:xfrm>
        </p:spPr>
        <p:txBody>
          <a:bodyPr>
            <a:normAutofit/>
          </a:bodyPr>
          <a:lstStyle/>
          <a:p>
            <a:pPr algn="just"/>
            <a:r>
              <a:rPr lang="en-US" sz="2400" dirty="0"/>
              <a:t>Distinguish the project as either objective- or product-driven</a:t>
            </a:r>
          </a:p>
          <a:p>
            <a:pPr algn="just"/>
            <a:r>
              <a:rPr lang="en-US" sz="2400" dirty="0"/>
              <a:t>Analyze other project characteristics</a:t>
            </a:r>
          </a:p>
          <a:p>
            <a:pPr algn="just"/>
            <a:r>
              <a:rPr lang="en-US" sz="2400" dirty="0"/>
              <a:t>Identify high-level project risks</a:t>
            </a:r>
          </a:p>
          <a:p>
            <a:pPr algn="just"/>
            <a:r>
              <a:rPr lang="en-US" sz="2400" dirty="0"/>
              <a:t>Take into account user requirements concerning implementation</a:t>
            </a:r>
          </a:p>
          <a:p>
            <a:pPr algn="just"/>
            <a:r>
              <a:rPr lang="en-US" sz="2400" dirty="0"/>
              <a:t>Select development methodology and life- cycle approach</a:t>
            </a:r>
          </a:p>
          <a:p>
            <a:pPr algn="just"/>
            <a:r>
              <a:rPr lang="en-US" sz="2400" dirty="0"/>
              <a:t>Review overall resource estimates </a:t>
            </a:r>
          </a:p>
        </p:txBody>
      </p:sp>
    </p:spTree>
    <p:extLst>
      <p:ext uri="{BB962C8B-B14F-4D97-AF65-F5344CB8AC3E}">
        <p14:creationId xmlns:p14="http://schemas.microsoft.com/office/powerpoint/2010/main" val="2828620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85800"/>
            <a:ext cx="6683765" cy="1280890"/>
          </a:xfrm>
        </p:spPr>
        <p:txBody>
          <a:bodyPr>
            <a:normAutofit/>
          </a:bodyPr>
          <a:lstStyle/>
          <a:p>
            <a:r>
              <a:rPr lang="en-US" dirty="0"/>
              <a:t>Step 3: Analyze Project Characteristics</a:t>
            </a:r>
          </a:p>
        </p:txBody>
      </p:sp>
      <p:sp>
        <p:nvSpPr>
          <p:cNvPr id="3" name="Content Placeholder 2"/>
          <p:cNvSpPr>
            <a:spLocks noGrp="1"/>
          </p:cNvSpPr>
          <p:nvPr>
            <p:ph idx="1"/>
          </p:nvPr>
        </p:nvSpPr>
        <p:spPr>
          <a:xfrm>
            <a:off x="1200300" y="1752600"/>
            <a:ext cx="7334100" cy="4191000"/>
          </a:xfrm>
        </p:spPr>
        <p:txBody>
          <a:bodyPr>
            <a:normAutofit/>
          </a:bodyPr>
          <a:lstStyle/>
          <a:p>
            <a:r>
              <a:rPr lang="en-US" sz="1800" dirty="0"/>
              <a:t>Activity 3: Prepare a list of risks, that you think </a:t>
            </a:r>
            <a:r>
              <a:rPr lang="en-US" sz="1800" dirty="0" err="1"/>
              <a:t>brigette</a:t>
            </a:r>
            <a:r>
              <a:rPr lang="en-US" sz="1800" dirty="0"/>
              <a:t> will identify in this step. </a:t>
            </a:r>
          </a:p>
        </p:txBody>
      </p:sp>
    </p:spTree>
    <p:extLst>
      <p:ext uri="{BB962C8B-B14F-4D97-AF65-F5344CB8AC3E}">
        <p14:creationId xmlns:p14="http://schemas.microsoft.com/office/powerpoint/2010/main" val="2271819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Calibri"/>
                <a:cs typeface="Calibri"/>
              </a:rPr>
              <a:t>Steps 4–6: Products, Effort and Risks</a:t>
            </a:r>
          </a:p>
        </p:txBody>
      </p:sp>
      <p:sp>
        <p:nvSpPr>
          <p:cNvPr id="3" name="Text Placeholder 2"/>
          <p:cNvSpPr>
            <a:spLocks noGrp="1"/>
          </p:cNvSpPr>
          <p:nvPr>
            <p:ph type="body" idx="1"/>
          </p:nvPr>
        </p:nvSpPr>
        <p:spPr>
          <a:xfrm>
            <a:off x="1941910" y="3504847"/>
            <a:ext cx="6686549" cy="645300"/>
          </a:xfrm>
        </p:spPr>
        <p:txBody>
          <a:bodyPr/>
          <a:lstStyle/>
          <a:p>
            <a:r>
              <a:rPr b="1">
                <a:solidFill>
                  <a:srgbClr val="A53010"/>
                </a:solidFill>
                <a:latin typeface="Calibri"/>
                <a:cs typeface="Calibri"/>
              </a:rPr>
              <a:t>Part 3  |  </a:t>
            </a:r>
            <a:r>
              <a:rPr>
                <a:latin typeface="Calibri"/>
                <a:cs typeface="Calibri"/>
              </a:rPr>
              <a:t>From deliverables to activities, estimates and activity risks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09600"/>
            <a:ext cx="7685283" cy="1143000"/>
          </a:xfrm>
        </p:spPr>
        <p:txBody>
          <a:bodyPr>
            <a:normAutofit/>
          </a:bodyPr>
          <a:lstStyle/>
          <a:p>
            <a:r>
              <a:rPr lang="en-US" dirty="0"/>
              <a:t>Step 4: Identify Project Products &amp; Activities</a:t>
            </a:r>
          </a:p>
        </p:txBody>
      </p:sp>
      <p:sp>
        <p:nvSpPr>
          <p:cNvPr id="3" name="Content Placeholder 2"/>
          <p:cNvSpPr>
            <a:spLocks noGrp="1"/>
          </p:cNvSpPr>
          <p:nvPr>
            <p:ph idx="1"/>
          </p:nvPr>
        </p:nvSpPr>
        <p:spPr>
          <a:xfrm>
            <a:off x="1230117" y="1752600"/>
            <a:ext cx="6686550" cy="3777622"/>
          </a:xfrm>
        </p:spPr>
        <p:txBody>
          <a:bodyPr>
            <a:normAutofit/>
          </a:bodyPr>
          <a:lstStyle/>
          <a:p>
            <a:pPr algn="just"/>
            <a:r>
              <a:rPr lang="en-US" sz="2000" dirty="0"/>
              <a:t>Identify and describe project products- Work Breakdown Structure</a:t>
            </a:r>
          </a:p>
          <a:p>
            <a:pPr algn="just"/>
            <a:r>
              <a:rPr lang="en-US" sz="2000" dirty="0"/>
              <a:t>Document generic product flows</a:t>
            </a:r>
          </a:p>
          <a:p>
            <a:pPr algn="just"/>
            <a:r>
              <a:rPr lang="en-US" sz="2000" dirty="0"/>
              <a:t>Recognize product instances</a:t>
            </a:r>
          </a:p>
          <a:p>
            <a:pPr algn="just"/>
            <a:r>
              <a:rPr lang="en-US" sz="2000" dirty="0"/>
              <a:t>Produce ideal activity network</a:t>
            </a:r>
          </a:p>
          <a:p>
            <a:pPr algn="just"/>
            <a:r>
              <a:rPr lang="en-US" sz="2000" dirty="0"/>
              <a:t>Modify the ideal to take into account need for stages and checkpoints</a:t>
            </a:r>
          </a:p>
        </p:txBody>
      </p:sp>
    </p:spTree>
    <p:extLst>
      <p:ext uri="{BB962C8B-B14F-4D97-AF65-F5344CB8AC3E}">
        <p14:creationId xmlns:p14="http://schemas.microsoft.com/office/powerpoint/2010/main" val="416922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09600"/>
            <a:ext cx="7532883" cy="1295400"/>
          </a:xfrm>
        </p:spPr>
        <p:txBody>
          <a:bodyPr>
            <a:normAutofit/>
          </a:bodyPr>
          <a:lstStyle/>
          <a:p>
            <a:r>
              <a:rPr lang="en-US" dirty="0"/>
              <a:t>Step 4: Identify Project Products &amp; Activities</a:t>
            </a:r>
          </a:p>
        </p:txBody>
      </p:sp>
      <p:sp>
        <p:nvSpPr>
          <p:cNvPr id="3" name="Content Placeholder 2"/>
          <p:cNvSpPr>
            <a:spLocks noGrp="1"/>
          </p:cNvSpPr>
          <p:nvPr>
            <p:ph idx="1"/>
          </p:nvPr>
        </p:nvSpPr>
        <p:spPr>
          <a:xfrm>
            <a:off x="1230117" y="1676400"/>
            <a:ext cx="6686550" cy="3777622"/>
          </a:xfrm>
        </p:spPr>
        <p:txBody>
          <a:bodyPr>
            <a:normAutofit/>
          </a:bodyPr>
          <a:lstStyle/>
          <a:p>
            <a:r>
              <a:rPr lang="en-US" sz="1800" dirty="0"/>
              <a:t>Activity 4: Identify products and activities performed. </a:t>
            </a:r>
          </a:p>
        </p:txBody>
      </p:sp>
    </p:spTree>
    <p:extLst>
      <p:ext uri="{BB962C8B-B14F-4D97-AF65-F5344CB8AC3E}">
        <p14:creationId xmlns:p14="http://schemas.microsoft.com/office/powerpoint/2010/main" val="1664877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533400"/>
            <a:ext cx="6683765" cy="1280890"/>
          </a:xfrm>
        </p:spPr>
        <p:txBody>
          <a:bodyPr>
            <a:normAutofit/>
          </a:bodyPr>
          <a:lstStyle/>
          <a:p>
            <a:r>
              <a:rPr lang="en-US" dirty="0"/>
              <a:t>Step 4: Identify Project </a:t>
            </a:r>
            <a:br>
              <a:rPr lang="en-US" dirty="0"/>
            </a:br>
            <a:r>
              <a:rPr lang="en-US" dirty="0"/>
              <a:t>Products &amp; Activities</a:t>
            </a:r>
          </a:p>
        </p:txBody>
      </p:sp>
      <p:sp>
        <p:nvSpPr>
          <p:cNvPr id="3" name="Content Placeholder 2"/>
          <p:cNvSpPr>
            <a:spLocks noGrp="1"/>
          </p:cNvSpPr>
          <p:nvPr>
            <p:ph idx="1"/>
          </p:nvPr>
        </p:nvSpPr>
        <p:spPr>
          <a:xfrm>
            <a:off x="1236742" y="1676400"/>
            <a:ext cx="7678657" cy="4648200"/>
          </a:xfrm>
        </p:spPr>
        <p:txBody>
          <a:bodyPr>
            <a:normAutofit/>
          </a:bodyPr>
          <a:lstStyle/>
          <a:p>
            <a:r>
              <a:rPr lang="en-US" dirty="0"/>
              <a:t>Activity 4: </a:t>
            </a:r>
          </a:p>
          <a:p>
            <a:pPr algn="just"/>
            <a:r>
              <a:rPr lang="en-US" sz="1800" dirty="0"/>
              <a:t>Brigette at </a:t>
            </a:r>
            <a:r>
              <a:rPr lang="en-US" sz="1800" dirty="0" err="1"/>
              <a:t>Brightmouth</a:t>
            </a:r>
            <a:r>
              <a:rPr lang="en-US" sz="1800" dirty="0"/>
              <a:t> College has no installation standard PBS, although she can, of course, refer to various books for standard checklists. She decides that one part of the PBS should contain the products needed to help select the appropriate hardware and software for the payroll application</a:t>
            </a:r>
          </a:p>
          <a:p>
            <a:pPr algn="just"/>
            <a:r>
              <a:rPr lang="en-US" sz="1800" dirty="0"/>
              <a:t>At </a:t>
            </a:r>
            <a:r>
              <a:rPr lang="en-US" sz="1800" dirty="0" err="1"/>
              <a:t>brightmouth</a:t>
            </a:r>
            <a:r>
              <a:rPr lang="en-US" sz="1800" dirty="0"/>
              <a:t> college, Brigette has decided that the finance department at the college should carry out acceptance testing of the new payroll system. The staff are not sure what test documents should look like, Brigette draws up a product description of a test case. Write the content for this product description.</a:t>
            </a:r>
          </a:p>
        </p:txBody>
      </p:sp>
    </p:spTree>
    <p:extLst>
      <p:ext uri="{BB962C8B-B14F-4D97-AF65-F5344CB8AC3E}">
        <p14:creationId xmlns:p14="http://schemas.microsoft.com/office/powerpoint/2010/main" val="1733894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85800"/>
            <a:ext cx="6683765" cy="1280890"/>
          </a:xfrm>
        </p:spPr>
        <p:txBody>
          <a:bodyPr>
            <a:normAutofit/>
          </a:bodyPr>
          <a:lstStyle/>
          <a:p>
            <a:r>
              <a:rPr lang="en-US" dirty="0"/>
              <a:t>Step 5: Estimate Effort for Each Activity</a:t>
            </a:r>
          </a:p>
        </p:txBody>
      </p:sp>
      <p:sp>
        <p:nvSpPr>
          <p:cNvPr id="3" name="Content Placeholder 2"/>
          <p:cNvSpPr>
            <a:spLocks noGrp="1"/>
          </p:cNvSpPr>
          <p:nvPr>
            <p:ph idx="1"/>
          </p:nvPr>
        </p:nvSpPr>
        <p:spPr>
          <a:xfrm>
            <a:off x="1193674" y="1752600"/>
            <a:ext cx="6686550" cy="3777622"/>
          </a:xfrm>
        </p:spPr>
        <p:txBody>
          <a:bodyPr>
            <a:normAutofit/>
          </a:bodyPr>
          <a:lstStyle/>
          <a:p>
            <a:r>
              <a:rPr lang="en-US" sz="1800" dirty="0"/>
              <a:t>Carry out bottom-up estimates</a:t>
            </a:r>
          </a:p>
          <a:p>
            <a:r>
              <a:rPr lang="en-US" sz="1800" dirty="0"/>
              <a:t>Revise plan to create controllable activities </a:t>
            </a:r>
          </a:p>
        </p:txBody>
      </p:sp>
    </p:spTree>
    <p:extLst>
      <p:ext uri="{BB962C8B-B14F-4D97-AF65-F5344CB8AC3E}">
        <p14:creationId xmlns:p14="http://schemas.microsoft.com/office/powerpoint/2010/main" val="147915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816267"/>
            <a:ext cx="6683765" cy="1280890"/>
          </a:xfrm>
        </p:spPr>
        <p:txBody>
          <a:bodyPr/>
          <a:lstStyle/>
          <a:p>
            <a:r>
              <a:rPr lang="en-US" dirty="0"/>
              <a:t>Step 6: Identify Activity Risks</a:t>
            </a:r>
          </a:p>
        </p:txBody>
      </p:sp>
      <p:sp>
        <p:nvSpPr>
          <p:cNvPr id="3" name="Content Placeholder 2"/>
          <p:cNvSpPr>
            <a:spLocks noGrp="1"/>
          </p:cNvSpPr>
          <p:nvPr>
            <p:ph idx="1"/>
          </p:nvPr>
        </p:nvSpPr>
        <p:spPr>
          <a:xfrm>
            <a:off x="1230116" y="1752599"/>
            <a:ext cx="7609083" cy="4289133"/>
          </a:xfrm>
        </p:spPr>
        <p:txBody>
          <a:bodyPr>
            <a:normAutofit/>
          </a:bodyPr>
          <a:lstStyle/>
          <a:p>
            <a:r>
              <a:rPr lang="en-US" sz="1800" dirty="0"/>
              <a:t>Identify and quantify activity-based risks</a:t>
            </a:r>
          </a:p>
          <a:p>
            <a:r>
              <a:rPr lang="en-US" sz="1800" dirty="0"/>
              <a:t>Plan risk reduction and contingency measures where appropriate</a:t>
            </a:r>
          </a:p>
          <a:p>
            <a:r>
              <a:rPr lang="en-US" sz="1800" dirty="0"/>
              <a:t>Adjust overall plans and estimates to take account of risks</a:t>
            </a:r>
          </a:p>
          <a:p>
            <a:pPr marL="0" indent="0">
              <a:buNone/>
            </a:pPr>
            <a:r>
              <a:rPr lang="en-US" sz="1800" b="1" dirty="0"/>
              <a:t>Activity 5: </a:t>
            </a:r>
            <a:r>
              <a:rPr lang="en-US" sz="1800" b="1" dirty="0" err="1"/>
              <a:t>Brigette</a:t>
            </a:r>
            <a:r>
              <a:rPr lang="en-US" sz="1800" b="1" dirty="0"/>
              <a:t> identifies as a risk the possible absence of key staff when investigating the user requirements, as this activity will take place over the holiday period. How can she reduce this risk?</a:t>
            </a:r>
          </a:p>
        </p:txBody>
      </p:sp>
    </p:spTree>
    <p:extLst>
      <p:ext uri="{BB962C8B-B14F-4D97-AF65-F5344CB8AC3E}">
        <p14:creationId xmlns:p14="http://schemas.microsoft.com/office/powerpoint/2010/main" val="2279560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Calibri"/>
                <a:cs typeface="Calibri"/>
              </a:rPr>
              <a:t>Steps 7–10: Resources to Execution</a:t>
            </a:r>
          </a:p>
        </p:txBody>
      </p:sp>
      <p:sp>
        <p:nvSpPr>
          <p:cNvPr id="3" name="Text Placeholder 2"/>
          <p:cNvSpPr>
            <a:spLocks noGrp="1"/>
          </p:cNvSpPr>
          <p:nvPr>
            <p:ph type="body" idx="1"/>
          </p:nvPr>
        </p:nvSpPr>
        <p:spPr>
          <a:xfrm>
            <a:off x="1941910" y="3504847"/>
            <a:ext cx="6686549" cy="645300"/>
          </a:xfrm>
        </p:spPr>
        <p:txBody>
          <a:bodyPr/>
          <a:lstStyle/>
          <a:p>
            <a:r>
              <a:rPr b="1">
                <a:solidFill>
                  <a:srgbClr val="A53010"/>
                </a:solidFill>
                <a:latin typeface="Calibri"/>
                <a:cs typeface="Calibri"/>
              </a:rPr>
              <a:t>Part 4  |  </a:t>
            </a:r>
            <a:r>
              <a:rPr>
                <a:latin typeface="Calibri"/>
                <a:cs typeface="Calibri"/>
              </a:rPr>
              <a:t>Allocate resources, agree the plan, then plan in more detail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85800"/>
            <a:ext cx="6683765" cy="1280890"/>
          </a:xfrm>
        </p:spPr>
        <p:txBody>
          <a:bodyPr/>
          <a:lstStyle/>
          <a:p>
            <a:r>
              <a:rPr lang="en-US" dirty="0"/>
              <a:t>Step 7: Allocate Resources</a:t>
            </a:r>
          </a:p>
        </p:txBody>
      </p:sp>
      <p:sp>
        <p:nvSpPr>
          <p:cNvPr id="3" name="Content Placeholder 2"/>
          <p:cNvSpPr>
            <a:spLocks noGrp="1"/>
          </p:cNvSpPr>
          <p:nvPr>
            <p:ph idx="1"/>
          </p:nvPr>
        </p:nvSpPr>
        <p:spPr>
          <a:xfrm>
            <a:off x="1227332" y="1752600"/>
            <a:ext cx="7459468" cy="4419600"/>
          </a:xfrm>
        </p:spPr>
        <p:txBody>
          <a:bodyPr>
            <a:normAutofit/>
          </a:bodyPr>
          <a:lstStyle/>
          <a:p>
            <a:pPr algn="just"/>
            <a:r>
              <a:rPr lang="en-US" sz="1800" dirty="0"/>
              <a:t>Identify and allocate resources</a:t>
            </a:r>
          </a:p>
          <a:p>
            <a:pPr algn="just"/>
            <a:r>
              <a:rPr lang="en-US" sz="1800" dirty="0"/>
              <a:t>Revise plans and estimates to take into account resource constraints </a:t>
            </a:r>
          </a:p>
        </p:txBody>
      </p:sp>
    </p:spTree>
    <p:extLst>
      <p:ext uri="{BB962C8B-B14F-4D97-AF65-F5344CB8AC3E}">
        <p14:creationId xmlns:p14="http://schemas.microsoft.com/office/powerpoint/2010/main" val="412541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85800"/>
            <a:ext cx="6683765" cy="1280890"/>
          </a:xfrm>
        </p:spPr>
        <p:txBody>
          <a:bodyPr/>
          <a:lstStyle/>
          <a:p>
            <a:r>
              <a:rPr lang="en-US" dirty="0"/>
              <a:t>Step 8: Review/Publicize Plan</a:t>
            </a:r>
          </a:p>
        </p:txBody>
      </p:sp>
      <p:sp>
        <p:nvSpPr>
          <p:cNvPr id="3" name="Content Placeholder 2"/>
          <p:cNvSpPr>
            <a:spLocks noGrp="1"/>
          </p:cNvSpPr>
          <p:nvPr>
            <p:ph idx="1"/>
          </p:nvPr>
        </p:nvSpPr>
        <p:spPr>
          <a:xfrm>
            <a:off x="1371600" y="1676400"/>
            <a:ext cx="6686550" cy="3777622"/>
          </a:xfrm>
        </p:spPr>
        <p:txBody>
          <a:bodyPr>
            <a:normAutofit/>
          </a:bodyPr>
          <a:lstStyle/>
          <a:p>
            <a:r>
              <a:rPr lang="en-US" sz="1800" dirty="0"/>
              <a:t>Review quality aspects of the project plan</a:t>
            </a:r>
          </a:p>
          <a:p>
            <a:r>
              <a:rPr lang="en-US" sz="1800" dirty="0"/>
              <a:t>Document plans and obtain agreement</a:t>
            </a:r>
          </a:p>
        </p:txBody>
      </p:sp>
    </p:spTree>
    <p:extLst>
      <p:ext uri="{BB962C8B-B14F-4D97-AF65-F5344CB8AC3E}">
        <p14:creationId xmlns:p14="http://schemas.microsoft.com/office/powerpoint/2010/main" val="3964975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17" y="609600"/>
            <a:ext cx="7398342" cy="1524000"/>
          </a:xfrm>
        </p:spPr>
        <p:txBody>
          <a:bodyPr>
            <a:normAutofit/>
          </a:bodyPr>
          <a:lstStyle/>
          <a:p>
            <a:r>
              <a:rPr lang="en-US" dirty="0"/>
              <a:t>Steps 9/10: Execute Plan/Lower Levels of Planning</a:t>
            </a:r>
          </a:p>
        </p:txBody>
      </p:sp>
      <p:sp>
        <p:nvSpPr>
          <p:cNvPr id="3" name="Content Placeholder 2"/>
          <p:cNvSpPr>
            <a:spLocks noGrp="1"/>
          </p:cNvSpPr>
          <p:nvPr>
            <p:ph idx="1"/>
          </p:nvPr>
        </p:nvSpPr>
        <p:spPr>
          <a:xfrm>
            <a:off x="1227332" y="1981200"/>
            <a:ext cx="7611867" cy="3810000"/>
          </a:xfrm>
        </p:spPr>
        <p:txBody>
          <a:bodyPr>
            <a:normAutofit/>
          </a:bodyPr>
          <a:lstStyle/>
          <a:p>
            <a:r>
              <a:rPr lang="en-US" sz="2000" dirty="0"/>
              <a:t>Once the project is under way, plans will need to be drawn up in greater detail for each activity as it becomes due.</a:t>
            </a:r>
          </a:p>
          <a:p>
            <a:r>
              <a:rPr lang="en-US" sz="2000" dirty="0"/>
              <a:t>Detailed planning of the later stages will need to be delayed because more information will be available nearer the start of the stage.</a:t>
            </a:r>
          </a:p>
          <a:p>
            <a:r>
              <a:rPr lang="en-US" sz="2000" dirty="0"/>
              <a:t>It is necessary to make provisional plans for the more distant tasks. </a:t>
            </a:r>
          </a:p>
        </p:txBody>
      </p:sp>
    </p:spTree>
    <p:extLst>
      <p:ext uri="{BB962C8B-B14F-4D97-AF65-F5344CB8AC3E}">
        <p14:creationId xmlns:p14="http://schemas.microsoft.com/office/powerpoint/2010/main" val="3428899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6</a:t>
            </a:r>
          </a:p>
        </p:txBody>
      </p:sp>
      <p:sp>
        <p:nvSpPr>
          <p:cNvPr id="3" name="Content Placeholder 2"/>
          <p:cNvSpPr>
            <a:spLocks noGrp="1"/>
          </p:cNvSpPr>
          <p:nvPr>
            <p:ph idx="1"/>
          </p:nvPr>
        </p:nvSpPr>
        <p:spPr>
          <a:xfrm>
            <a:off x="1524000" y="1676400"/>
            <a:ext cx="6686550" cy="3777622"/>
          </a:xfrm>
        </p:spPr>
        <p:txBody>
          <a:bodyPr>
            <a:normAutofit/>
          </a:bodyPr>
          <a:lstStyle/>
          <a:p>
            <a:r>
              <a:rPr lang="en-US" sz="1800" dirty="0"/>
              <a:t>List the products created by the step wise planning process.</a:t>
            </a:r>
          </a:p>
        </p:txBody>
      </p:sp>
    </p:spTree>
    <p:extLst>
      <p:ext uri="{BB962C8B-B14F-4D97-AF65-F5344CB8AC3E}">
        <p14:creationId xmlns:p14="http://schemas.microsoft.com/office/powerpoint/2010/main" val="643859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6683765" cy="1280890"/>
          </a:xfrm>
        </p:spPr>
        <p:txBody>
          <a:bodyPr/>
          <a:lstStyle/>
          <a:p>
            <a:r>
              <a:rPr lang="en-US" dirty="0"/>
              <a:t>Summary</a:t>
            </a:r>
          </a:p>
        </p:txBody>
      </p:sp>
      <p:sp>
        <p:nvSpPr>
          <p:cNvPr id="3" name="Content Placeholder 2"/>
          <p:cNvSpPr>
            <a:spLocks noGrp="1"/>
          </p:cNvSpPr>
          <p:nvPr>
            <p:ph idx="1"/>
          </p:nvPr>
        </p:nvSpPr>
        <p:spPr>
          <a:xfrm>
            <a:off x="1228724" y="1752600"/>
            <a:ext cx="7458075" cy="4495800"/>
          </a:xfrm>
        </p:spPr>
        <p:txBody>
          <a:bodyPr>
            <a:noAutofit/>
          </a:bodyPr>
          <a:lstStyle/>
          <a:p>
            <a:r>
              <a:rPr lang="en-US" sz="1600" dirty="0"/>
              <a:t>Any planning approach should have the following elements:</a:t>
            </a:r>
          </a:p>
          <a:p>
            <a:pPr lvl="1"/>
            <a:r>
              <a:rPr lang="en-US" sz="1600" dirty="0"/>
              <a:t>the establishment of project objectives </a:t>
            </a:r>
          </a:p>
          <a:p>
            <a:pPr lvl="1"/>
            <a:r>
              <a:rPr lang="en-US" sz="1600" dirty="0"/>
              <a:t>the analysis of the characteristics of the project </a:t>
            </a:r>
          </a:p>
          <a:p>
            <a:pPr lvl="1"/>
            <a:r>
              <a:rPr lang="en-US" sz="1600" dirty="0"/>
              <a:t>the establishment of an infrastructure consisting of an appropriate organization and set of standards, methods and tools </a:t>
            </a:r>
          </a:p>
          <a:p>
            <a:pPr lvl="1"/>
            <a:r>
              <a:rPr lang="en-US" sz="1600" dirty="0"/>
              <a:t>the identification of the products of the project and the activities needed to generate those products</a:t>
            </a:r>
          </a:p>
          <a:p>
            <a:pPr lvl="1"/>
            <a:r>
              <a:rPr lang="en-US" sz="1600" dirty="0"/>
              <a:t>the allocation of resources to activities</a:t>
            </a:r>
          </a:p>
          <a:p>
            <a:pPr lvl="1"/>
            <a:r>
              <a:rPr lang="en-US" sz="1600" dirty="0"/>
              <a:t>the establishment of quality controls</a:t>
            </a:r>
          </a:p>
          <a:p>
            <a:pPr lvl="1"/>
            <a:r>
              <a:rPr lang="en-US" sz="1600" dirty="0"/>
              <a:t>Project planning is an iterative process </a:t>
            </a:r>
          </a:p>
          <a:p>
            <a:pPr lvl="1"/>
            <a:r>
              <a:rPr lang="en-US" sz="1600" dirty="0"/>
              <a:t>As the time approaches for particular activities to be carried out they should be re-planned in more detail. </a:t>
            </a:r>
          </a:p>
        </p:txBody>
      </p:sp>
    </p:spTree>
    <p:extLst>
      <p:ext uri="{BB962C8B-B14F-4D97-AF65-F5344CB8AC3E}">
        <p14:creationId xmlns:p14="http://schemas.microsoft.com/office/powerpoint/2010/main" val="92449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6683765" cy="1280890"/>
          </a:xfrm>
        </p:spPr>
        <p:txBody>
          <a:bodyPr/>
          <a:lstStyle/>
          <a:p>
            <a:r>
              <a:rPr lang="en-US" dirty="0"/>
              <a:t>Reading</a:t>
            </a:r>
          </a:p>
        </p:txBody>
      </p:sp>
      <p:sp>
        <p:nvSpPr>
          <p:cNvPr id="3" name="Content Placeholder 2"/>
          <p:cNvSpPr>
            <a:spLocks noGrp="1"/>
          </p:cNvSpPr>
          <p:nvPr>
            <p:ph idx="1"/>
          </p:nvPr>
        </p:nvSpPr>
        <p:spPr>
          <a:xfrm>
            <a:off x="1228725" y="1540189"/>
            <a:ext cx="6686550" cy="3777622"/>
          </a:xfrm>
        </p:spPr>
        <p:txBody>
          <a:bodyPr/>
          <a:lstStyle/>
          <a:p>
            <a:r>
              <a:rPr lang="en-US" dirty="0"/>
              <a:t>[Chapter 3] “Software Project Management by Bob Hughes and Mike Cotterell, McGraw-Hill Education; 6th Edition (2009). ISBN-10: 0077122798”</a:t>
            </a:r>
          </a:p>
          <a:p>
            <a:endParaRPr lang="en-US"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6452</TotalTime>
  <Words>1677</Words>
  <Application>Microsoft Office PowerPoint</Application>
  <PresentationFormat>On-screen Show (4:3)</PresentationFormat>
  <Paragraphs>138</Paragraphs>
  <Slides>29</Slides>
  <Notes>4</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Century Gothic</vt:lpstr>
      <vt:lpstr>Wingdings 3</vt:lpstr>
      <vt:lpstr>Wisp</vt:lpstr>
      <vt:lpstr>Software Project Management An Overview of Project Planning: The Step Wise Method</vt:lpstr>
      <vt:lpstr>PowerPoint Presentation</vt:lpstr>
      <vt:lpstr>Today’s Agenda</vt:lpstr>
      <vt:lpstr>Introduction to Step Wise</vt:lpstr>
      <vt:lpstr>Introduction to Step Wise project Planning</vt:lpstr>
      <vt:lpstr>Step Wise Planning: Overview</vt:lpstr>
      <vt:lpstr>Case Study</vt:lpstr>
      <vt:lpstr>Steps 0–3: Setting the Frame</vt:lpstr>
      <vt:lpstr>Step 0: Select Project</vt:lpstr>
      <vt:lpstr>Step 1: Identify Project Scope  and Objectives</vt:lpstr>
      <vt:lpstr>Step 1: Identify Project Scope  and Objectives</vt:lpstr>
      <vt:lpstr>Case Study</vt:lpstr>
      <vt:lpstr>Step 2: Identify Project Infrastructure</vt:lpstr>
      <vt:lpstr>Activity 2: List some standards that brigette should identify and set before moving on further</vt:lpstr>
      <vt:lpstr>Step 3: Analyze Project Characteristics</vt:lpstr>
      <vt:lpstr>Step 3: Analyze Project Characteristics</vt:lpstr>
      <vt:lpstr>Steps 4–6: Products, Effort and Risks</vt:lpstr>
      <vt:lpstr>Step 4: Identify Project Products &amp; Activities</vt:lpstr>
      <vt:lpstr>Step 4: Identify Project Products &amp; Activities</vt:lpstr>
      <vt:lpstr>Step 4: Identify Project  Products &amp; Activities</vt:lpstr>
      <vt:lpstr>Step 5: Estimate Effort for Each Activity</vt:lpstr>
      <vt:lpstr>Step 6: Identify Activity Risks</vt:lpstr>
      <vt:lpstr>Steps 7–10: Resources to Execution</vt:lpstr>
      <vt:lpstr>Step 7: Allocate Resources</vt:lpstr>
      <vt:lpstr>Step 8: Review/Publicize Plan</vt:lpstr>
      <vt:lpstr>Steps 9/10: Execute Plan/Lower Levels of Planning</vt:lpstr>
      <vt:lpstr>Activity 6</vt:lpstr>
      <vt:lpstr>Summary</vt:lpstr>
      <vt:lpstr>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PROJECT MANAGEMENT</dc:title>
  <dc:creator>ibrahim</dc:creator>
  <cp:lastModifiedBy>Dr Anam Mustaqeem</cp:lastModifiedBy>
  <cp:revision>136</cp:revision>
  <dcterms:created xsi:type="dcterms:W3CDTF">2006-08-16T00:00:00Z</dcterms:created>
  <dcterms:modified xsi:type="dcterms:W3CDTF">2026-10-12T06:26:59Z</dcterms:modified>
</cp:coreProperties>
</file>