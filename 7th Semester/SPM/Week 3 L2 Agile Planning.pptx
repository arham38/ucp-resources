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86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5" r:id="rId28"/>
    <p:sldId id="286" r:id="rId29"/>
    <p:sldId id="287" r:id="rId30"/>
    <p:sldId id="289" r:id="rId31"/>
    <p:sldId id="28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0000"/>
    <a:srgbClr val="820000"/>
    <a:srgbClr val="C804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5" autoAdjust="0"/>
    <p:restoredTop sz="85451" autoAdjust="0"/>
  </p:normalViewPr>
  <p:slideViewPr>
    <p:cSldViewPr snapToGrid="0">
      <p:cViewPr varScale="1">
        <p:scale>
          <a:sx n="62" d="100"/>
          <a:sy n="62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79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8DFE61-B161-473D-94C7-9033212AA1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14206-E9C2-47D6-A2F4-943BF3F3E24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59D3B-DAB1-4631-93ED-1790C6879D49}" type="datetimeFigureOut">
              <a:rPr lang="x-none" smtClean="0"/>
              <a:t>12/10/2026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E272DB-D72B-439B-999C-C1697FE422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B80EE8-F5A7-421E-96D2-FEC8E3228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25952-33AD-41B1-BCE1-4C908CD95762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42683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8F383D-DF1A-44C6-BBB7-9676DDE0F941}" type="datetimeFigureOut">
              <a:rPr lang="x-none" smtClean="0"/>
              <a:t>12/10/2026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03075-08C1-4B30-988D-4B7C2E376121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81879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Source: The Scrum Guide (2020).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138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923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52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340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44199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29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838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720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015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0299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280254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24243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861506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48541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461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55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242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  <p:sldLayoutId id="2147483898" r:id="rId12"/>
    <p:sldLayoutId id="2147483899" r:id="rId13"/>
    <p:sldLayoutId id="2147483900" r:id="rId14"/>
    <p:sldLayoutId id="2147483901" r:id="rId15"/>
    <p:sldLayoutId id="2147483902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nam.Mustaqeem@ucp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BA6C8-8B8A-423E-9F04-8D97B5525C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1160" y="954368"/>
            <a:ext cx="8915399" cy="226278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Software Project Management</a:t>
            </a:r>
            <a:br>
              <a:rPr lang="en-US" dirty="0"/>
            </a:br>
            <a:r>
              <a:rPr lang="en-US" dirty="0"/>
              <a:t>Life Cycles, Planning &amp;</a:t>
            </a:r>
            <a:br>
              <a:rPr lang="en-US" dirty="0"/>
            </a:br>
            <a:r>
              <a:rPr lang="en-US" dirty="0"/>
              <a:t>Agile Methods</a:t>
            </a:r>
            <a:endParaRPr lang="x-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86CB4-AF0E-4376-81B0-4DCFB09E3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1161" y="3332891"/>
            <a:ext cx="9496770" cy="2262781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Week 3  ·  Lecture 2  |  Life Cycles, Planning, Agile, Scrum &amp; Kanban</a:t>
            </a:r>
          </a:p>
          <a:p>
            <a:pPr algn="ctr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FALL 2026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Dr. Anam Mustaqeem</a:t>
            </a:r>
          </a:p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anam.mustaqeem@ucp.edu.pk</a:t>
            </a:r>
            <a:endParaRPr lang="en-US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Office: Cabin #2, F303 Building A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OFFICE HOURS:  Wednesday : 09:00 AM- 12:00 PM</a:t>
            </a: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Thursday: 09:00 AM- 11:00 AM</a:t>
            </a:r>
          </a:p>
          <a:p>
            <a:endParaRPr lang="x-non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593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4294967295"/>
          </p:nvPr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2225"/>
            <a:ext cx="12192000" cy="6880225"/>
          </a:xfrm>
        </p:spPr>
      </p:pic>
    </p:spTree>
    <p:extLst>
      <p:ext uri="{BB962C8B-B14F-4D97-AF65-F5344CB8AC3E}">
        <p14:creationId xmlns:p14="http://schemas.microsoft.com/office/powerpoint/2010/main" val="1382441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sz="3200">
                <a:latin typeface="Calibri"/>
                <a:cs typeface="Calibri"/>
              </a:rPr>
              <a:t>Today’s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7794" y="1880000"/>
            <a:ext cx="9632206" cy="4450000"/>
          </a:xfrm>
        </p:spPr>
        <p:txBody>
          <a:bodyPr>
            <a:noAutofit/>
          </a:bodyPr>
          <a:lstStyle/>
          <a:p>
            <a:pPr>
              <a:spcBef>
                <a:spcPts val="1100"/>
              </a:spcBef>
            </a:pPr>
            <a:r>
              <a:rPr sz="2000">
                <a:latin typeface="Calibri"/>
                <a:cs typeface="Calibri"/>
              </a:rPr>
              <a:t>Product and project life cycles</a:t>
            </a:r>
          </a:p>
          <a:p>
            <a:pPr>
              <a:spcBef>
                <a:spcPts val="1100"/>
              </a:spcBef>
            </a:pPr>
            <a:r>
              <a:rPr sz="2000">
                <a:latin typeface="Calibri"/>
                <a:cs typeface="Calibri"/>
              </a:rPr>
              <a:t>Phases of a project, process groups and phase gates</a:t>
            </a:r>
          </a:p>
          <a:p>
            <a:pPr>
              <a:spcBef>
                <a:spcPts val="1100"/>
              </a:spcBef>
            </a:pPr>
            <a:r>
              <a:rPr sz="2000">
                <a:latin typeface="Calibri"/>
                <a:cs typeface="Calibri"/>
              </a:rPr>
              <a:t>Software project planning and the Step Wise framework</a:t>
            </a:r>
          </a:p>
          <a:p>
            <a:pPr>
              <a:spcBef>
                <a:spcPts val="1100"/>
              </a:spcBef>
            </a:pPr>
            <a:r>
              <a:rPr sz="2000">
                <a:latin typeface="Calibri"/>
                <a:cs typeface="Calibri"/>
              </a:rPr>
              <a:t>Introduction to Agile: the Manifesto and its principles</a:t>
            </a:r>
          </a:p>
          <a:p>
            <a:pPr>
              <a:spcBef>
                <a:spcPts val="1100"/>
              </a:spcBef>
            </a:pPr>
            <a:r>
              <a:rPr sz="2000">
                <a:latin typeface="Calibri"/>
                <a:cs typeface="Calibri"/>
              </a:rPr>
              <a:t>The Scrum framework: accountabilities, events and artifacts</a:t>
            </a:r>
          </a:p>
          <a:p>
            <a:pPr>
              <a:spcBef>
                <a:spcPts val="1100"/>
              </a:spcBef>
            </a:pPr>
            <a:r>
              <a:rPr sz="2000">
                <a:latin typeface="Calibri"/>
                <a:cs typeface="Calibri"/>
              </a:rPr>
              <a:t>Kanban: visualising work and limiting WIP</a:t>
            </a:r>
          </a:p>
          <a:p>
            <a:pPr>
              <a:spcBef>
                <a:spcPts val="1100"/>
              </a:spcBef>
            </a:pPr>
            <a:r>
              <a:rPr sz="2000">
                <a:latin typeface="Calibri"/>
                <a:cs typeface="Calibri"/>
              </a:rPr>
              <a:t>Choosing an approach: Scrum, Kanban or plan-driven</a:t>
            </a:r>
          </a:p>
          <a:p>
            <a:pPr>
              <a:spcBef>
                <a:spcPts val="1100"/>
              </a:spcBef>
            </a:pPr>
            <a:r>
              <a:rPr sz="2000">
                <a:latin typeface="Calibri"/>
                <a:cs typeface="Calibri"/>
              </a:rPr>
              <a:t>Five in-class activities along the way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latin typeface="Calibri"/>
                <a:cs typeface="Calibri"/>
              </a:rPr>
              <a:t>Product and Project Life Cycles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/>
          <a:lstStyle/>
          <a:p>
            <a:r>
              <a:rPr sz="2000" b="1">
                <a:solidFill>
                  <a:srgbClr val="A53010"/>
                </a:solidFill>
                <a:latin typeface="Calibri"/>
                <a:cs typeface="Calibri"/>
              </a:rPr>
              <a:t>Part 1  |  </a:t>
            </a:r>
            <a:r>
              <a:rPr sz="2000">
                <a:latin typeface="Calibri"/>
                <a:cs typeface="Calibri"/>
              </a:rPr>
              <a:t>Two different things that are routinely confused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0156" y="531979"/>
            <a:ext cx="8911687" cy="1280890"/>
          </a:xfrm>
        </p:spPr>
        <p:txBody>
          <a:bodyPr/>
          <a:lstStyle/>
          <a:p>
            <a:r>
              <a:rPr sz="3200" dirty="0">
                <a:latin typeface="Calibri"/>
                <a:cs typeface="Calibri"/>
              </a:rPr>
              <a:t>Project </a:t>
            </a:r>
            <a:r>
              <a:rPr lang="en-US" sz="3200" dirty="0">
                <a:latin typeface="Calibri"/>
                <a:cs typeface="Calibri"/>
              </a:rPr>
              <a:t>Vs </a:t>
            </a:r>
            <a:r>
              <a:rPr sz="3200" dirty="0">
                <a:latin typeface="Calibri"/>
                <a:cs typeface="Calibri"/>
              </a:rPr>
              <a:t>Product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10BCBD5-4EE1-1582-CC83-1FD54EF6BE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51308" y="1907953"/>
            <a:ext cx="4990455" cy="4756318"/>
          </a:xfrm>
        </p:spPr>
        <p:txBody>
          <a:bodyPr>
            <a:normAutofit/>
          </a:bodyPr>
          <a:lstStyle/>
          <a:p>
            <a:pPr marR="0" lvl="0" fontAlgn="auto">
              <a:lnSpc>
                <a:spcPct val="100000"/>
              </a:lnSpc>
              <a:spcAft>
                <a:spcPts val="300"/>
              </a:spcAft>
              <a:buSzTx/>
              <a:buNone/>
              <a:tabLst/>
              <a:defRPr/>
            </a:pPr>
            <a:r>
              <a:rPr lang="en-US" b="1" dirty="0">
                <a:solidFill>
                  <a:srgbClr val="A53010"/>
                </a:solidFill>
                <a:latin typeface="Calibri"/>
                <a:cs typeface="Calibri"/>
              </a:rPr>
              <a:t>PROJECT</a:t>
            </a:r>
          </a:p>
          <a:p>
            <a:pPr marR="0" lvl="0" fontAlgn="auto">
              <a:lnSpc>
                <a:spcPct val="100000"/>
              </a:lnSpc>
              <a:spcAft>
                <a:spcPts val="1000"/>
              </a:spcAft>
              <a:buSzTx/>
              <a:buNone/>
              <a:tabLst/>
              <a:defRPr/>
            </a:pPr>
            <a:r>
              <a:rPr lang="en-US" i="1" dirty="0">
                <a:solidFill>
                  <a:srgbClr val="3A3A30"/>
                </a:solidFill>
                <a:latin typeface="Calibri"/>
                <a:cs typeface="Calibri"/>
              </a:rPr>
              <a:t>A temporary </a:t>
            </a:r>
            <a:r>
              <a:rPr lang="en-US" i="1" dirty="0" err="1">
                <a:solidFill>
                  <a:srgbClr val="3A3A30"/>
                </a:solidFill>
                <a:latin typeface="Calibri"/>
                <a:cs typeface="Calibri"/>
              </a:rPr>
              <a:t>endeavour</a:t>
            </a:r>
            <a:r>
              <a:rPr lang="en-US" i="1" dirty="0">
                <a:solidFill>
                  <a:srgbClr val="3A3A30"/>
                </a:solidFill>
                <a:latin typeface="Calibri"/>
                <a:cs typeface="Calibri"/>
              </a:rPr>
              <a:t> undertaken to create a unique product, service or result.</a:t>
            </a:r>
          </a:p>
          <a:p>
            <a:pPr marR="0" lvl="0" fontAlgn="auto">
              <a:lnSpc>
                <a:spcPct val="100000"/>
              </a:lnSpc>
              <a:spcAft>
                <a:spcPts val="500"/>
              </a:spcAft>
              <a:buSzTx/>
              <a:tabLst/>
              <a:defRPr/>
            </a:pPr>
            <a:r>
              <a:rPr lang="en-US" dirty="0">
                <a:solidFill>
                  <a:srgbClr val="5E5943"/>
                </a:solidFill>
                <a:latin typeface="Calibri"/>
                <a:cs typeface="Calibri"/>
              </a:rPr>
              <a:t>Has a definite start and a definite end</a:t>
            </a:r>
          </a:p>
          <a:p>
            <a:pPr marR="0" lvl="0" fontAlgn="auto">
              <a:lnSpc>
                <a:spcPct val="100000"/>
              </a:lnSpc>
              <a:spcAft>
                <a:spcPts val="500"/>
              </a:spcAft>
              <a:buSzTx/>
              <a:tabLst/>
              <a:defRPr/>
            </a:pPr>
            <a:r>
              <a:rPr lang="en-US" dirty="0">
                <a:solidFill>
                  <a:srgbClr val="5E5943"/>
                </a:solidFill>
                <a:latin typeface="Calibri"/>
                <a:cs typeface="Calibri"/>
              </a:rPr>
              <a:t>Ends when objectives are met, or cannot be met</a:t>
            </a:r>
          </a:p>
          <a:p>
            <a:pPr marR="0" lvl="0" fontAlgn="auto">
              <a:lnSpc>
                <a:spcPct val="100000"/>
              </a:lnSpc>
              <a:spcAft>
                <a:spcPts val="500"/>
              </a:spcAft>
              <a:buSzTx/>
              <a:tabLst/>
              <a:defRPr/>
            </a:pPr>
            <a:r>
              <a:rPr lang="en-US" dirty="0">
                <a:solidFill>
                  <a:srgbClr val="5E5943"/>
                </a:solidFill>
                <a:latin typeface="Calibri"/>
                <a:cs typeface="Calibri"/>
              </a:rPr>
              <a:t>Repeating an identical build is operations, not a project</a:t>
            </a:r>
          </a:p>
          <a:p>
            <a:pPr marR="0" lvl="0" fontAlgn="auto">
              <a:lnSpc>
                <a:spcPct val="100000"/>
              </a:lnSpc>
              <a:spcAft>
                <a:spcPts val="500"/>
              </a:spcAft>
              <a:buSzTx/>
              <a:tabLst/>
              <a:defRPr/>
            </a:pPr>
            <a:r>
              <a:rPr lang="en-US" dirty="0">
                <a:solidFill>
                  <a:srgbClr val="5E5943"/>
                </a:solidFill>
                <a:latin typeface="Calibri"/>
                <a:cs typeface="Calibri"/>
              </a:rPr>
              <a:t>Success: scope, time, cost and quality</a:t>
            </a:r>
            <a:endParaRPr lang="en-PK" dirty="0">
              <a:solidFill>
                <a:srgbClr val="5E5943"/>
              </a:solidFill>
              <a:latin typeface="Calibri"/>
              <a:cs typeface="Calibri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AFDAC68-1BE9-730B-914A-8D82EB32E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0746" y="1812868"/>
            <a:ext cx="4631967" cy="4169477"/>
          </a:xfrm>
        </p:spPr>
        <p:txBody>
          <a:bodyPr>
            <a:normAutofit/>
          </a:bodyPr>
          <a:lstStyle/>
          <a:p>
            <a:pPr>
              <a:spcAft>
                <a:spcPts val="300"/>
              </a:spcAft>
              <a:buNone/>
            </a:pPr>
            <a:r>
              <a:rPr lang="en-US" b="1" dirty="0">
                <a:solidFill>
                  <a:srgbClr val="A53010"/>
                </a:solidFill>
                <a:latin typeface="Calibri"/>
                <a:cs typeface="Calibri"/>
              </a:rPr>
              <a:t>PRODUCT</a:t>
            </a:r>
          </a:p>
          <a:p>
            <a:pPr>
              <a:spcAft>
                <a:spcPts val="1000"/>
              </a:spcAft>
              <a:buNone/>
            </a:pPr>
            <a:r>
              <a:rPr lang="en-US" i="1" dirty="0">
                <a:solidFill>
                  <a:srgbClr val="3A3A30"/>
                </a:solidFill>
                <a:latin typeface="Calibri"/>
                <a:cs typeface="Calibri"/>
              </a:rPr>
              <a:t>An artefact that is produced, is quantifiable, and can be an end item or a component.</a:t>
            </a:r>
          </a:p>
          <a:p>
            <a:pPr>
              <a:spcAft>
                <a:spcPts val="500"/>
              </a:spcAft>
            </a:pPr>
            <a:r>
              <a:rPr lang="en-US" dirty="0">
                <a:solidFill>
                  <a:srgbClr val="5E5943"/>
                </a:solidFill>
                <a:latin typeface="Calibri"/>
                <a:cs typeface="Calibri"/>
              </a:rPr>
              <a:t>Persists after the project that created it closes</a:t>
            </a:r>
          </a:p>
          <a:p>
            <a:pPr>
              <a:spcAft>
                <a:spcPts val="500"/>
              </a:spcAft>
            </a:pPr>
            <a:r>
              <a:rPr lang="en-US" dirty="0">
                <a:solidFill>
                  <a:srgbClr val="5E5943"/>
                </a:solidFill>
                <a:latin typeface="Calibri"/>
                <a:cs typeface="Calibri"/>
              </a:rPr>
              <a:t>Is maintained, extended and eventually retired</a:t>
            </a:r>
          </a:p>
          <a:p>
            <a:pPr>
              <a:spcAft>
                <a:spcPts val="500"/>
              </a:spcAft>
            </a:pPr>
            <a:r>
              <a:rPr lang="en-US" dirty="0">
                <a:solidFill>
                  <a:srgbClr val="5E5943"/>
                </a:solidFill>
                <a:latin typeface="Calibri"/>
                <a:cs typeface="Calibri"/>
              </a:rPr>
              <a:t>Usually outlives several projects and teams</a:t>
            </a:r>
          </a:p>
          <a:p>
            <a:pPr>
              <a:spcAft>
                <a:spcPts val="500"/>
              </a:spcAft>
            </a:pPr>
            <a:r>
              <a:rPr lang="en-US" dirty="0">
                <a:solidFill>
                  <a:srgbClr val="5E5943"/>
                </a:solidFill>
                <a:latin typeface="Calibri"/>
                <a:cs typeface="Calibri"/>
              </a:rPr>
              <a:t>Success: adoption, value and total cost of ownership</a:t>
            </a:r>
          </a:p>
          <a:p>
            <a:endParaRPr lang="en-PK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sz="2800">
                <a:latin typeface="Calibri"/>
                <a:cs typeface="Calibri"/>
              </a:rPr>
              <a:t>A Product Life Cycle Contains Many Project Life Cycles</a:t>
            </a:r>
          </a:p>
        </p:txBody>
      </p:sp>
      <p:sp>
        <p:nvSpPr>
          <p:cNvPr id="3" name="Pentagon 2"/>
          <p:cNvSpPr/>
          <p:nvPr/>
        </p:nvSpPr>
        <p:spPr>
          <a:xfrm>
            <a:off x="1801368" y="1737360"/>
            <a:ext cx="2057400" cy="566928"/>
          </a:xfrm>
          <a:prstGeom prst="homePlate">
            <a:avLst>
              <a:gd name="adj" fmla="val 22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"/>
          <p:cNvSpPr txBox="1"/>
          <p:nvPr/>
        </p:nvSpPr>
        <p:spPr>
          <a:xfrm>
            <a:off x="1911095" y="173736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3A3A30"/>
                </a:solidFill>
                <a:latin typeface="Calibri"/>
                <a:cs typeface="Calibri"/>
              </a:rPr>
              <a:t>Introduction</a:t>
            </a:r>
          </a:p>
        </p:txBody>
      </p:sp>
      <p:sp>
        <p:nvSpPr>
          <p:cNvPr id="5" name="Chevron 4"/>
          <p:cNvSpPr/>
          <p:nvPr/>
        </p:nvSpPr>
        <p:spPr>
          <a:xfrm>
            <a:off x="3694176" y="1737360"/>
            <a:ext cx="2057400" cy="566928"/>
          </a:xfrm>
          <a:prstGeom prst="chevron">
            <a:avLst>
              <a:gd name="adj" fmla="val 22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"/>
          <p:cNvSpPr txBox="1"/>
          <p:nvPr/>
        </p:nvSpPr>
        <p:spPr>
          <a:xfrm>
            <a:off x="3968496" y="173736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3A3A30"/>
                </a:solidFill>
                <a:latin typeface="Calibri"/>
                <a:cs typeface="Calibri"/>
              </a:rPr>
              <a:t>Growth</a:t>
            </a:r>
          </a:p>
        </p:txBody>
      </p:sp>
      <p:sp>
        <p:nvSpPr>
          <p:cNvPr id="7" name="Chevron 6"/>
          <p:cNvSpPr/>
          <p:nvPr/>
        </p:nvSpPr>
        <p:spPr>
          <a:xfrm>
            <a:off x="5586983" y="1737360"/>
            <a:ext cx="2057400" cy="566928"/>
          </a:xfrm>
          <a:prstGeom prst="chevron">
            <a:avLst>
              <a:gd name="adj" fmla="val 22000"/>
            </a:avLst>
          </a:prstGeom>
          <a:solidFill>
            <a:srgbClr val="A53010"/>
          </a:solidFill>
          <a:ln>
            <a:noFill/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"/>
          <p:cNvSpPr txBox="1"/>
          <p:nvPr/>
        </p:nvSpPr>
        <p:spPr>
          <a:xfrm>
            <a:off x="5861303" y="173736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Maturity</a:t>
            </a:r>
          </a:p>
        </p:txBody>
      </p:sp>
      <p:sp>
        <p:nvSpPr>
          <p:cNvPr id="9" name="Chevron 8"/>
          <p:cNvSpPr/>
          <p:nvPr/>
        </p:nvSpPr>
        <p:spPr>
          <a:xfrm>
            <a:off x="7479792" y="1737360"/>
            <a:ext cx="2057400" cy="566928"/>
          </a:xfrm>
          <a:prstGeom prst="chevron">
            <a:avLst>
              <a:gd name="adj" fmla="val 22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"/>
          <p:cNvSpPr txBox="1"/>
          <p:nvPr/>
        </p:nvSpPr>
        <p:spPr>
          <a:xfrm>
            <a:off x="7754112" y="173736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3A3A30"/>
                </a:solidFill>
                <a:latin typeface="Calibri"/>
                <a:cs typeface="Calibri"/>
              </a:rPr>
              <a:t>Decline</a:t>
            </a:r>
          </a:p>
        </p:txBody>
      </p:sp>
      <p:sp>
        <p:nvSpPr>
          <p:cNvPr id="11" name="Chevron 10"/>
          <p:cNvSpPr/>
          <p:nvPr/>
        </p:nvSpPr>
        <p:spPr>
          <a:xfrm>
            <a:off x="9372600" y="1737360"/>
            <a:ext cx="2057400" cy="566928"/>
          </a:xfrm>
          <a:prstGeom prst="chevron">
            <a:avLst>
              <a:gd name="adj" fmla="val 22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9646920" y="173736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3A3A30"/>
                </a:solidFill>
                <a:latin typeface="Calibri"/>
                <a:cs typeface="Calibri"/>
              </a:rPr>
              <a:t>Retirement</a:t>
            </a:r>
          </a:p>
        </p:txBody>
      </p:sp>
      <p:sp>
        <p:nvSpPr>
          <p:cNvPr id="13" name="Card"/>
          <p:cNvSpPr/>
          <p:nvPr/>
        </p:nvSpPr>
        <p:spPr>
          <a:xfrm>
            <a:off x="1847088" y="2487168"/>
            <a:ext cx="1810512" cy="105156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"/>
          <p:cNvSpPr txBox="1"/>
          <p:nvPr/>
        </p:nvSpPr>
        <p:spPr>
          <a:xfrm>
            <a:off x="1956816" y="2560320"/>
            <a:ext cx="1600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A53010"/>
                </a:solidFill>
                <a:latin typeface="Calibri"/>
                <a:cs typeface="Calibri"/>
              </a:rPr>
              <a:t>Project A</a:t>
            </a:r>
          </a:p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3A3A30"/>
                </a:solidFill>
                <a:latin typeface="Calibri"/>
                <a:cs typeface="Calibri"/>
              </a:rPr>
              <a:t>Initial build and v1.0 release</a:t>
            </a:r>
          </a:p>
        </p:txBody>
      </p:sp>
      <p:sp>
        <p:nvSpPr>
          <p:cNvPr id="15" name="Card"/>
          <p:cNvSpPr/>
          <p:nvPr/>
        </p:nvSpPr>
        <p:spPr>
          <a:xfrm>
            <a:off x="3739896" y="2487168"/>
            <a:ext cx="1810512" cy="105156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3849624" y="2560320"/>
            <a:ext cx="1600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A53010"/>
                </a:solidFill>
                <a:latin typeface="Calibri"/>
                <a:cs typeface="Calibri"/>
              </a:rPr>
              <a:t>Project B</a:t>
            </a:r>
          </a:p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3A3A30"/>
                </a:solidFill>
                <a:latin typeface="Calibri"/>
                <a:cs typeface="Calibri"/>
              </a:rPr>
              <a:t>Mobile client added</a:t>
            </a:r>
          </a:p>
        </p:txBody>
      </p:sp>
      <p:sp>
        <p:nvSpPr>
          <p:cNvPr id="17" name="Card"/>
          <p:cNvSpPr/>
          <p:nvPr/>
        </p:nvSpPr>
        <p:spPr>
          <a:xfrm>
            <a:off x="5632703" y="2487168"/>
            <a:ext cx="1810512" cy="105156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"/>
          <p:cNvSpPr txBox="1"/>
          <p:nvPr/>
        </p:nvSpPr>
        <p:spPr>
          <a:xfrm>
            <a:off x="5742431" y="2560320"/>
            <a:ext cx="1600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A53010"/>
                </a:solidFill>
                <a:latin typeface="Calibri"/>
                <a:cs typeface="Calibri"/>
              </a:rPr>
              <a:t>Project C</a:t>
            </a:r>
          </a:p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3A3A30"/>
                </a:solidFill>
                <a:latin typeface="Calibri"/>
                <a:cs typeface="Calibri"/>
              </a:rPr>
              <a:t>Payments integration</a:t>
            </a:r>
          </a:p>
        </p:txBody>
      </p:sp>
      <p:sp>
        <p:nvSpPr>
          <p:cNvPr id="19" name="Card"/>
          <p:cNvSpPr/>
          <p:nvPr/>
        </p:nvSpPr>
        <p:spPr>
          <a:xfrm>
            <a:off x="7525512" y="2487168"/>
            <a:ext cx="1810512" cy="105156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"/>
          <p:cNvSpPr txBox="1"/>
          <p:nvPr/>
        </p:nvSpPr>
        <p:spPr>
          <a:xfrm>
            <a:off x="7635240" y="2560320"/>
            <a:ext cx="1600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A53010"/>
                </a:solidFill>
                <a:latin typeface="Calibri"/>
                <a:cs typeface="Calibri"/>
              </a:rPr>
              <a:t>Project D</a:t>
            </a:r>
          </a:p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3A3A30"/>
                </a:solidFill>
                <a:latin typeface="Calibri"/>
                <a:cs typeface="Calibri"/>
              </a:rPr>
              <a:t>Platform migration</a:t>
            </a:r>
          </a:p>
        </p:txBody>
      </p:sp>
      <p:sp>
        <p:nvSpPr>
          <p:cNvPr id="21" name="Card"/>
          <p:cNvSpPr/>
          <p:nvPr/>
        </p:nvSpPr>
        <p:spPr>
          <a:xfrm>
            <a:off x="9418320" y="2487168"/>
            <a:ext cx="1810512" cy="105156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"/>
          <p:cNvSpPr txBox="1"/>
          <p:nvPr/>
        </p:nvSpPr>
        <p:spPr>
          <a:xfrm>
            <a:off x="9528048" y="2560320"/>
            <a:ext cx="1600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A53010"/>
                </a:solidFill>
                <a:latin typeface="Calibri"/>
                <a:cs typeface="Calibri"/>
              </a:rPr>
              <a:t>Project E</a:t>
            </a:r>
          </a:p>
          <a:p>
            <a:pPr algn="l">
              <a:spcAft>
                <a:spcPts val="300"/>
              </a:spcAft>
              <a:buNone/>
            </a:pPr>
            <a:r>
              <a:rPr sz="1400" b="0" i="0">
                <a:solidFill>
                  <a:srgbClr val="3A3A30"/>
                </a:solidFill>
                <a:latin typeface="Calibri"/>
                <a:cs typeface="Calibri"/>
              </a:rPr>
              <a:t>Decommission and data export</a:t>
            </a:r>
          </a:p>
        </p:txBody>
      </p:sp>
      <p:sp>
        <p:nvSpPr>
          <p:cNvPr id="23" name="Card"/>
          <p:cNvSpPr/>
          <p:nvPr/>
        </p:nvSpPr>
        <p:spPr>
          <a:xfrm>
            <a:off x="1801368" y="3749039"/>
            <a:ext cx="4718304" cy="210312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"/>
          <p:cNvSpPr txBox="1"/>
          <p:nvPr/>
        </p:nvSpPr>
        <p:spPr>
          <a:xfrm>
            <a:off x="2029967" y="3858768"/>
            <a:ext cx="4297680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 dirty="0">
                <a:solidFill>
                  <a:srgbClr val="A53010"/>
                </a:solidFill>
                <a:latin typeface="Calibri"/>
                <a:cs typeface="Calibri"/>
              </a:rPr>
              <a:t>WHAT THIS MEANS FOR THE PROJECT MANAGER</a:t>
            </a:r>
          </a:p>
          <a:p>
            <a:pPr marL="228600" indent="-228600" algn="l">
              <a:spcAft>
                <a:spcPts val="3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 dirty="0">
                <a:solidFill>
                  <a:srgbClr val="5E5943"/>
                </a:solidFill>
                <a:latin typeface="Calibri"/>
                <a:cs typeface="Calibri"/>
              </a:rPr>
              <a:t>Your project inherits decisions made by earlier projects</a:t>
            </a:r>
          </a:p>
          <a:p>
            <a:pPr marL="228600" indent="-228600" algn="l">
              <a:spcAft>
                <a:spcPts val="3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 dirty="0">
                <a:solidFill>
                  <a:srgbClr val="5E5943"/>
                </a:solidFill>
                <a:latin typeface="Calibri"/>
                <a:cs typeface="Calibri"/>
              </a:rPr>
              <a:t>Your decisions constrain projects that have not started yet</a:t>
            </a:r>
          </a:p>
          <a:p>
            <a:pPr marL="228600" indent="-228600" algn="l">
              <a:spcAft>
                <a:spcPts val="3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 dirty="0">
                <a:solidFill>
                  <a:srgbClr val="5E5943"/>
                </a:solidFill>
                <a:latin typeface="Calibri"/>
                <a:cs typeface="Calibri"/>
              </a:rPr>
              <a:t>Handover to operations is part of your scope, not an afterthought</a:t>
            </a:r>
          </a:p>
        </p:txBody>
      </p:sp>
      <p:sp>
        <p:nvSpPr>
          <p:cNvPr id="25" name="Card"/>
          <p:cNvSpPr/>
          <p:nvPr/>
        </p:nvSpPr>
        <p:spPr>
          <a:xfrm>
            <a:off x="6711696" y="3749039"/>
            <a:ext cx="4718304" cy="2103120"/>
          </a:xfrm>
          <a:prstGeom prst="roundRect">
            <a:avLst>
              <a:gd name="adj" fmla="val 8000"/>
            </a:avLst>
          </a:prstGeom>
          <a:solidFill>
            <a:srgbClr val="E3EACF">
              <a:alpha val="9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"/>
          <p:cNvSpPr txBox="1"/>
          <p:nvPr/>
        </p:nvSpPr>
        <p:spPr>
          <a:xfrm>
            <a:off x="6940296" y="3858768"/>
            <a:ext cx="4297680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A53010"/>
                </a:solidFill>
                <a:latin typeface="Calibri"/>
                <a:cs typeface="Calibri"/>
              </a:rPr>
              <a:t>WHERE AGILE CHANGES THE PICTURE</a:t>
            </a:r>
          </a:p>
          <a:p>
            <a:pPr algn="l">
              <a:spcAft>
                <a:spcPts val="300"/>
              </a:spcAft>
              <a:buNone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Many agile organisations keep a standing product team that owns the product for its whole life, with no project start or end to manage. This is the “project to product” shift.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latin typeface="Calibri"/>
                <a:cs typeface="Calibri"/>
              </a:rPr>
              <a:t>Phases of a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/>
          <a:lstStyle/>
          <a:p>
            <a:r>
              <a:rPr sz="2000" b="1">
                <a:solidFill>
                  <a:srgbClr val="A53010"/>
                </a:solidFill>
                <a:latin typeface="Calibri"/>
                <a:cs typeface="Calibri"/>
              </a:rPr>
              <a:t>Part 2  |  </a:t>
            </a:r>
            <a:r>
              <a:rPr sz="2000">
                <a:latin typeface="Calibri"/>
                <a:cs typeface="Calibri"/>
              </a:rPr>
              <a:t>Process groups, phases and what a phase gate is for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sz="3200" dirty="0">
                <a:latin typeface="Calibri"/>
                <a:cs typeface="Calibri"/>
              </a:rPr>
              <a:t>The Five Process Groups</a:t>
            </a:r>
          </a:p>
        </p:txBody>
      </p:sp>
      <p:sp>
        <p:nvSpPr>
          <p:cNvPr id="3" name="Card"/>
          <p:cNvSpPr/>
          <p:nvPr/>
        </p:nvSpPr>
        <p:spPr>
          <a:xfrm>
            <a:off x="1801368" y="1737360"/>
            <a:ext cx="1815998" cy="329184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Badge"/>
          <p:cNvSpPr/>
          <p:nvPr/>
        </p:nvSpPr>
        <p:spPr>
          <a:xfrm>
            <a:off x="1911095" y="1847088"/>
            <a:ext cx="384048" cy="384048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911095" y="2304288"/>
            <a:ext cx="161483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3A3A30"/>
                </a:solidFill>
                <a:latin typeface="Calibri"/>
                <a:cs typeface="Calibri"/>
              </a:rPr>
              <a:t>Initiating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911095" y="2944368"/>
            <a:ext cx="161483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0" i="1">
                <a:solidFill>
                  <a:srgbClr val="A53010"/>
                </a:solidFill>
                <a:latin typeface="Calibri"/>
                <a:cs typeface="Calibri"/>
              </a:rPr>
              <a:t>Authorise the project</a:t>
            </a:r>
          </a:p>
          <a:p>
            <a:pPr marL="228600" indent="-228600" algn="l">
              <a:spcAft>
                <a:spcPts val="4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Business case and feasibility</a:t>
            </a:r>
          </a:p>
          <a:p>
            <a:pPr marL="228600" indent="-228600" algn="l">
              <a:spcAft>
                <a:spcPts val="4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Project charter</a:t>
            </a:r>
          </a:p>
          <a:p>
            <a:pPr marL="228600" indent="-228600" algn="l">
              <a:spcAft>
                <a:spcPts val="4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Identify stakeholders</a:t>
            </a:r>
          </a:p>
        </p:txBody>
      </p:sp>
      <p:sp>
        <p:nvSpPr>
          <p:cNvPr id="7" name="Card"/>
          <p:cNvSpPr/>
          <p:nvPr/>
        </p:nvSpPr>
        <p:spPr>
          <a:xfrm>
            <a:off x="3754526" y="1737360"/>
            <a:ext cx="1815998" cy="329184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Badge"/>
          <p:cNvSpPr/>
          <p:nvPr/>
        </p:nvSpPr>
        <p:spPr>
          <a:xfrm>
            <a:off x="3864254" y="1847088"/>
            <a:ext cx="384048" cy="384048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864254" y="2304288"/>
            <a:ext cx="161483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3A3A30"/>
                </a:solidFill>
                <a:latin typeface="Calibri"/>
                <a:cs typeface="Calibri"/>
              </a:rPr>
              <a:t>Planning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3864254" y="2944368"/>
            <a:ext cx="161483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0" i="1">
                <a:solidFill>
                  <a:srgbClr val="A53010"/>
                </a:solidFill>
                <a:latin typeface="Calibri"/>
                <a:cs typeface="Calibri"/>
              </a:rPr>
              <a:t>Define how it will be done</a:t>
            </a:r>
          </a:p>
          <a:p>
            <a:pPr marL="228600" indent="-228600" algn="l">
              <a:spcAft>
                <a:spcPts val="4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Scope, WBS, schedule, budget</a:t>
            </a:r>
          </a:p>
          <a:p>
            <a:pPr marL="228600" indent="-228600" algn="l">
              <a:spcAft>
                <a:spcPts val="4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Risk, quality and resource plans</a:t>
            </a:r>
          </a:p>
          <a:p>
            <a:pPr marL="228600" indent="-228600" algn="l">
              <a:spcAft>
                <a:spcPts val="4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The baseline</a:t>
            </a:r>
          </a:p>
        </p:txBody>
      </p:sp>
      <p:sp>
        <p:nvSpPr>
          <p:cNvPr id="11" name="Card"/>
          <p:cNvSpPr/>
          <p:nvPr/>
        </p:nvSpPr>
        <p:spPr>
          <a:xfrm>
            <a:off x="5707684" y="1737360"/>
            <a:ext cx="1815998" cy="329184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2" name="Badge"/>
          <p:cNvSpPr/>
          <p:nvPr/>
        </p:nvSpPr>
        <p:spPr>
          <a:xfrm>
            <a:off x="5817412" y="1847088"/>
            <a:ext cx="384048" cy="384048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5817412" y="2304288"/>
            <a:ext cx="161483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3A3A30"/>
                </a:solidFill>
                <a:latin typeface="Calibri"/>
                <a:cs typeface="Calibri"/>
              </a:rPr>
              <a:t>Executing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5817412" y="2944368"/>
            <a:ext cx="161483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0" i="1" dirty="0">
                <a:solidFill>
                  <a:srgbClr val="A53010"/>
                </a:solidFill>
                <a:latin typeface="Calibri"/>
                <a:cs typeface="Calibri"/>
              </a:rPr>
              <a:t>Do the work</a:t>
            </a:r>
          </a:p>
          <a:p>
            <a:pPr marL="228600" indent="-228600" algn="l">
              <a:spcAft>
                <a:spcPts val="4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 dirty="0">
                <a:solidFill>
                  <a:srgbClr val="5E5943"/>
                </a:solidFill>
                <a:latin typeface="Calibri"/>
                <a:cs typeface="Calibri"/>
              </a:rPr>
              <a:t>Build the deliverables</a:t>
            </a:r>
          </a:p>
          <a:p>
            <a:pPr marL="228600" indent="-228600" algn="l">
              <a:spcAft>
                <a:spcPts val="4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 dirty="0">
                <a:solidFill>
                  <a:srgbClr val="5E5943"/>
                </a:solidFill>
                <a:latin typeface="Calibri"/>
                <a:cs typeface="Calibri"/>
              </a:rPr>
              <a:t>Lead and develop the team</a:t>
            </a:r>
          </a:p>
          <a:p>
            <a:pPr marL="228600" indent="-228600" algn="l">
              <a:spcAft>
                <a:spcPts val="4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 dirty="0">
                <a:solidFill>
                  <a:srgbClr val="5E5943"/>
                </a:solidFill>
                <a:latin typeface="Calibri"/>
                <a:cs typeface="Calibri"/>
              </a:rPr>
              <a:t>Engage stakeholders</a:t>
            </a:r>
          </a:p>
        </p:txBody>
      </p:sp>
      <p:sp>
        <p:nvSpPr>
          <p:cNvPr id="15" name="Card"/>
          <p:cNvSpPr/>
          <p:nvPr/>
        </p:nvSpPr>
        <p:spPr>
          <a:xfrm>
            <a:off x="7660843" y="1737360"/>
            <a:ext cx="1815998" cy="329184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6" name="Oval 15"/>
          <p:cNvSpPr/>
          <p:nvPr/>
        </p:nvSpPr>
        <p:spPr>
          <a:xfrm>
            <a:off x="7770571" y="1847088"/>
            <a:ext cx="384048" cy="384048"/>
          </a:xfrm>
          <a:prstGeom prst="ellipse">
            <a:avLst/>
          </a:prstGeom>
          <a:solidFill>
            <a:srgbClr val="8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 dirty="0">
                <a:solidFill>
                  <a:schemeClr val="bg1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7770571" y="2304288"/>
            <a:ext cx="161483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600" b="1" i="0" dirty="0">
                <a:latin typeface="Calibri"/>
                <a:cs typeface="Calibri"/>
              </a:rPr>
              <a:t>Monitoring &amp; Controlling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770571" y="2944368"/>
            <a:ext cx="161483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600"/>
              </a:spcAft>
            </a:pPr>
            <a:r>
              <a:rPr sz="1500" i="1" dirty="0">
                <a:solidFill>
                  <a:srgbClr val="A53010"/>
                </a:solidFill>
                <a:latin typeface="Calibri"/>
                <a:cs typeface="Calibri"/>
              </a:rPr>
              <a:t>Compare and correct</a:t>
            </a:r>
          </a:p>
          <a:p>
            <a:pPr marL="285750" indent="-285750" algn="l">
              <a:spcAft>
                <a:spcPts val="400"/>
              </a:spcAft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sz="1500" b="0" i="0" dirty="0">
                <a:latin typeface="Calibri"/>
                <a:cs typeface="Calibri"/>
              </a:rPr>
              <a:t>Track against the baseline</a:t>
            </a:r>
          </a:p>
          <a:p>
            <a:pPr marL="285750" indent="-285750" algn="l">
              <a:spcAft>
                <a:spcPts val="400"/>
              </a:spcAft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sz="1500" b="0" i="0" dirty="0">
                <a:latin typeface="Calibri"/>
                <a:cs typeface="Calibri"/>
              </a:rPr>
              <a:t>Change control</a:t>
            </a:r>
          </a:p>
          <a:p>
            <a:pPr marL="285750" indent="-285750" algn="l">
              <a:spcAft>
                <a:spcPts val="400"/>
              </a:spcAft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sz="1500" b="0" i="0" dirty="0">
                <a:latin typeface="Calibri"/>
                <a:cs typeface="Calibri"/>
              </a:rPr>
              <a:t>Runs alongside all others</a:t>
            </a:r>
          </a:p>
        </p:txBody>
      </p:sp>
      <p:sp>
        <p:nvSpPr>
          <p:cNvPr id="19" name="Card"/>
          <p:cNvSpPr/>
          <p:nvPr/>
        </p:nvSpPr>
        <p:spPr>
          <a:xfrm>
            <a:off x="9614001" y="1737360"/>
            <a:ext cx="1815998" cy="329184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Badge"/>
          <p:cNvSpPr/>
          <p:nvPr/>
        </p:nvSpPr>
        <p:spPr>
          <a:xfrm>
            <a:off x="9723729" y="1847088"/>
            <a:ext cx="384048" cy="384048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9723729" y="2304288"/>
            <a:ext cx="161483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3A3A30"/>
                </a:solidFill>
                <a:latin typeface="Calibri"/>
                <a:cs typeface="Calibri"/>
              </a:rPr>
              <a:t>Closing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9723729" y="2944368"/>
            <a:ext cx="161483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0" i="1">
                <a:solidFill>
                  <a:srgbClr val="A53010"/>
                </a:solidFill>
                <a:latin typeface="Calibri"/>
                <a:cs typeface="Calibri"/>
              </a:rPr>
              <a:t>Finish deliberately</a:t>
            </a:r>
          </a:p>
          <a:p>
            <a:pPr marL="228600" indent="-228600" algn="l">
              <a:spcAft>
                <a:spcPts val="4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Formal acceptance, handover</a:t>
            </a:r>
          </a:p>
          <a:p>
            <a:pPr marL="228600" indent="-228600" algn="l">
              <a:spcAft>
                <a:spcPts val="4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Release resources</a:t>
            </a:r>
          </a:p>
          <a:p>
            <a:pPr marL="228600" indent="-228600" algn="l">
              <a:spcAft>
                <a:spcPts val="4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Capture lessons learned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sz="3200">
                <a:latin typeface="Calibri"/>
                <a:cs typeface="Calibri"/>
              </a:rPr>
              <a:t>Phases, Deliverables and Gates</a:t>
            </a:r>
          </a:p>
        </p:txBody>
      </p:sp>
      <p:sp>
        <p:nvSpPr>
          <p:cNvPr id="3" name="Pentagon 2"/>
          <p:cNvSpPr/>
          <p:nvPr/>
        </p:nvSpPr>
        <p:spPr>
          <a:xfrm>
            <a:off x="1801368" y="1737360"/>
            <a:ext cx="2057400" cy="685800"/>
          </a:xfrm>
          <a:prstGeom prst="homePlate">
            <a:avLst>
              <a:gd name="adj" fmla="val 22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"/>
          <p:cNvSpPr txBox="1"/>
          <p:nvPr/>
        </p:nvSpPr>
        <p:spPr>
          <a:xfrm>
            <a:off x="1911095" y="1737360"/>
            <a:ext cx="16002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3A3A30"/>
                </a:solidFill>
                <a:latin typeface="Calibri"/>
                <a:cs typeface="Calibri"/>
              </a:rPr>
              <a:t>Feasibility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892807" y="248716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300" b="0" i="1">
                <a:solidFill>
                  <a:srgbClr val="5E5943"/>
                </a:solidFill>
                <a:latin typeface="Calibri"/>
                <a:cs typeface="Calibri"/>
              </a:rPr>
              <a:t>Business case</a:t>
            </a:r>
          </a:p>
        </p:txBody>
      </p:sp>
      <p:sp>
        <p:nvSpPr>
          <p:cNvPr id="6" name="Diamond 5"/>
          <p:cNvSpPr/>
          <p:nvPr/>
        </p:nvSpPr>
        <p:spPr>
          <a:xfrm>
            <a:off x="3630168" y="2852928"/>
            <a:ext cx="274320" cy="274320"/>
          </a:xfrm>
          <a:prstGeom prst="diamond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Chevron 6"/>
          <p:cNvSpPr/>
          <p:nvPr/>
        </p:nvSpPr>
        <p:spPr>
          <a:xfrm>
            <a:off x="3694176" y="1737360"/>
            <a:ext cx="2057400" cy="685800"/>
          </a:xfrm>
          <a:prstGeom prst="chevron">
            <a:avLst>
              <a:gd name="adj" fmla="val 22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"/>
          <p:cNvSpPr txBox="1"/>
          <p:nvPr/>
        </p:nvSpPr>
        <p:spPr>
          <a:xfrm>
            <a:off x="3968496" y="1737360"/>
            <a:ext cx="16002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3A3A30"/>
                </a:solidFill>
                <a:latin typeface="Calibri"/>
                <a:cs typeface="Calibri"/>
              </a:rPr>
              <a:t>Requirements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785615" y="248716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300" b="0" i="1">
                <a:solidFill>
                  <a:srgbClr val="5E5943"/>
                </a:solidFill>
                <a:latin typeface="Calibri"/>
                <a:cs typeface="Calibri"/>
              </a:rPr>
              <a:t>Requirements spec</a:t>
            </a:r>
          </a:p>
        </p:txBody>
      </p:sp>
      <p:sp>
        <p:nvSpPr>
          <p:cNvPr id="10" name="Diamond 9"/>
          <p:cNvSpPr/>
          <p:nvPr/>
        </p:nvSpPr>
        <p:spPr>
          <a:xfrm>
            <a:off x="5522976" y="2852928"/>
            <a:ext cx="274320" cy="274320"/>
          </a:xfrm>
          <a:prstGeom prst="diamond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Chevron 10"/>
          <p:cNvSpPr/>
          <p:nvPr/>
        </p:nvSpPr>
        <p:spPr>
          <a:xfrm>
            <a:off x="5586983" y="1737360"/>
            <a:ext cx="2057400" cy="685800"/>
          </a:xfrm>
          <a:prstGeom prst="chevron">
            <a:avLst>
              <a:gd name="adj" fmla="val 22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"/>
          <p:cNvSpPr txBox="1"/>
          <p:nvPr/>
        </p:nvSpPr>
        <p:spPr>
          <a:xfrm>
            <a:off x="5861303" y="1737360"/>
            <a:ext cx="16002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3A3A30"/>
                </a:solidFill>
                <a:latin typeface="Calibri"/>
                <a:cs typeface="Calibri"/>
              </a:rPr>
              <a:t>Design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5678423" y="248716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300" b="0" i="1">
                <a:solidFill>
                  <a:srgbClr val="5E5943"/>
                </a:solidFill>
                <a:latin typeface="Calibri"/>
                <a:cs typeface="Calibri"/>
              </a:rPr>
              <a:t>Architecture &amp; design</a:t>
            </a:r>
          </a:p>
        </p:txBody>
      </p:sp>
      <p:sp>
        <p:nvSpPr>
          <p:cNvPr id="14" name="Diamond 13"/>
          <p:cNvSpPr/>
          <p:nvPr/>
        </p:nvSpPr>
        <p:spPr>
          <a:xfrm>
            <a:off x="7415783" y="2852928"/>
            <a:ext cx="274320" cy="274320"/>
          </a:xfrm>
          <a:prstGeom prst="diamond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Chevron 14"/>
          <p:cNvSpPr/>
          <p:nvPr/>
        </p:nvSpPr>
        <p:spPr>
          <a:xfrm>
            <a:off x="7479792" y="1737360"/>
            <a:ext cx="2057400" cy="685800"/>
          </a:xfrm>
          <a:prstGeom prst="chevron">
            <a:avLst>
              <a:gd name="adj" fmla="val 22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7754112" y="1737360"/>
            <a:ext cx="16002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3A3A30"/>
                </a:solidFill>
                <a:latin typeface="Calibri"/>
                <a:cs typeface="Calibri"/>
              </a:rPr>
              <a:t>Build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7571231" y="248716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300" b="0" i="1">
                <a:solidFill>
                  <a:srgbClr val="5E5943"/>
                </a:solidFill>
                <a:latin typeface="Calibri"/>
                <a:cs typeface="Calibri"/>
              </a:rPr>
              <a:t>Tested components</a:t>
            </a:r>
          </a:p>
        </p:txBody>
      </p:sp>
      <p:sp>
        <p:nvSpPr>
          <p:cNvPr id="18" name="Diamond 17"/>
          <p:cNvSpPr/>
          <p:nvPr/>
        </p:nvSpPr>
        <p:spPr>
          <a:xfrm>
            <a:off x="9308592" y="2852928"/>
            <a:ext cx="274320" cy="274320"/>
          </a:xfrm>
          <a:prstGeom prst="diamond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Chevron 18"/>
          <p:cNvSpPr/>
          <p:nvPr/>
        </p:nvSpPr>
        <p:spPr>
          <a:xfrm>
            <a:off x="9372600" y="1737360"/>
            <a:ext cx="2057400" cy="685800"/>
          </a:xfrm>
          <a:prstGeom prst="chevron">
            <a:avLst>
              <a:gd name="adj" fmla="val 22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"/>
          <p:cNvSpPr txBox="1"/>
          <p:nvPr/>
        </p:nvSpPr>
        <p:spPr>
          <a:xfrm>
            <a:off x="9646920" y="1737360"/>
            <a:ext cx="16002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3A3A30"/>
                </a:solidFill>
                <a:latin typeface="Calibri"/>
                <a:cs typeface="Calibri"/>
              </a:rPr>
              <a:t>Deploy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9464040" y="248716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300" b="0" i="1">
                <a:solidFill>
                  <a:srgbClr val="5E5943"/>
                </a:solidFill>
                <a:latin typeface="Calibri"/>
                <a:cs typeface="Calibri"/>
              </a:rPr>
              <a:t>Live system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801368" y="3182112"/>
            <a:ext cx="962863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300" b="1" i="0">
                <a:solidFill>
                  <a:srgbClr val="A53010"/>
                </a:solidFill>
                <a:latin typeface="Calibri"/>
                <a:cs typeface="Calibri"/>
              </a:rPr>
              <a:t>◆ = phase gate: a deliverable is reviewed and a decision is made</a:t>
            </a:r>
          </a:p>
        </p:txBody>
      </p:sp>
      <p:sp>
        <p:nvSpPr>
          <p:cNvPr id="23" name="Card"/>
          <p:cNvSpPr/>
          <p:nvPr/>
        </p:nvSpPr>
        <p:spPr>
          <a:xfrm>
            <a:off x="3894485" y="3721608"/>
            <a:ext cx="4718304" cy="224028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"/>
          <p:cNvSpPr txBox="1"/>
          <p:nvPr/>
        </p:nvSpPr>
        <p:spPr>
          <a:xfrm>
            <a:off x="4398263" y="3877056"/>
            <a:ext cx="429768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 dirty="0">
                <a:solidFill>
                  <a:srgbClr val="A53010"/>
                </a:solidFill>
                <a:latin typeface="Calibri"/>
                <a:cs typeface="Calibri"/>
              </a:rPr>
              <a:t>WHAT A GATE DECIDES</a:t>
            </a:r>
          </a:p>
          <a:p>
            <a:pPr marL="228600" indent="-228600" algn="l">
              <a:spcAft>
                <a:spcPts val="300"/>
              </a:spcAft>
              <a:buClr>
                <a:srgbClr val="A53010"/>
              </a:buClr>
              <a:buFont typeface="Arial"/>
              <a:buChar char="•"/>
            </a:pPr>
            <a:r>
              <a:rPr sz="1600" b="0" i="0" dirty="0">
                <a:solidFill>
                  <a:srgbClr val="5E5943"/>
                </a:solidFill>
                <a:latin typeface="Calibri"/>
                <a:cs typeface="Calibri"/>
              </a:rPr>
              <a:t>Proceed to the next phase</a:t>
            </a:r>
          </a:p>
          <a:p>
            <a:pPr marL="228600" indent="-228600" algn="l">
              <a:spcAft>
                <a:spcPts val="300"/>
              </a:spcAft>
              <a:buClr>
                <a:srgbClr val="A53010"/>
              </a:buClr>
              <a:buFont typeface="Arial"/>
              <a:buChar char="•"/>
            </a:pPr>
            <a:r>
              <a:rPr sz="1600" b="0" i="0" dirty="0">
                <a:solidFill>
                  <a:srgbClr val="5E5943"/>
                </a:solidFill>
                <a:latin typeface="Calibri"/>
                <a:cs typeface="Calibri"/>
              </a:rPr>
              <a:t>Proceed with conditions attached</a:t>
            </a:r>
          </a:p>
          <a:p>
            <a:pPr marL="228600" indent="-228600" algn="l">
              <a:spcAft>
                <a:spcPts val="300"/>
              </a:spcAft>
              <a:buClr>
                <a:srgbClr val="A53010"/>
              </a:buClr>
              <a:buFont typeface="Arial"/>
              <a:buChar char="•"/>
            </a:pPr>
            <a:r>
              <a:rPr sz="1600" b="0" i="0" dirty="0">
                <a:solidFill>
                  <a:srgbClr val="5E5943"/>
                </a:solidFill>
                <a:latin typeface="Calibri"/>
                <a:cs typeface="Calibri"/>
              </a:rPr>
              <a:t>Return to the previous phase and rework</a:t>
            </a:r>
          </a:p>
          <a:p>
            <a:pPr marL="228600" indent="-228600" algn="l">
              <a:spcAft>
                <a:spcPts val="300"/>
              </a:spcAft>
              <a:buClr>
                <a:srgbClr val="A53010"/>
              </a:buClr>
              <a:buFont typeface="Arial"/>
              <a:buChar char="•"/>
            </a:pPr>
            <a:r>
              <a:rPr sz="1600" b="0" i="0" dirty="0">
                <a:solidFill>
                  <a:srgbClr val="5E5943"/>
                </a:solidFill>
                <a:latin typeface="Calibri"/>
                <a:cs typeface="Calibri"/>
              </a:rPr>
              <a:t>Terminate the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sz="3200" dirty="0">
                <a:latin typeface="Calibri"/>
                <a:cs typeface="Calibri"/>
              </a:rPr>
              <a:t>Activity : Make the Gate Call</a:t>
            </a:r>
          </a:p>
        </p:txBody>
      </p:sp>
      <p:sp>
        <p:nvSpPr>
          <p:cNvPr id="3" name="Card"/>
          <p:cNvSpPr/>
          <p:nvPr/>
        </p:nvSpPr>
        <p:spPr>
          <a:xfrm>
            <a:off x="1801368" y="1737360"/>
            <a:ext cx="6035040" cy="411480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"/>
          <p:cNvSpPr txBox="1"/>
          <p:nvPr/>
        </p:nvSpPr>
        <p:spPr>
          <a:xfrm>
            <a:off x="2075688" y="1874519"/>
            <a:ext cx="5486400" cy="393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A53010"/>
                </a:solidFill>
                <a:latin typeface="Calibri"/>
                <a:cs typeface="Calibri"/>
              </a:rPr>
              <a:t>SCENARIO: CAMPUSRIDE APP</a:t>
            </a:r>
          </a:p>
          <a:p>
            <a:pPr algn="l">
              <a:spcAft>
                <a:spcPts val="800"/>
              </a:spcAft>
              <a:buNone/>
            </a:pPr>
            <a:r>
              <a:rPr sz="1600" b="0" i="0">
                <a:solidFill>
                  <a:srgbClr val="3A3A30"/>
                </a:solidFill>
                <a:latin typeface="Calibri"/>
                <a:cs typeface="Calibri"/>
              </a:rPr>
              <a:t>Your team is building a shuttle-tracking app for the university’s Transport Office. You have reached the gate at the end of the Design phase.</a:t>
            </a:r>
          </a:p>
          <a:p>
            <a:pPr marL="228600" indent="-228600" algn="l">
              <a:spcAft>
                <a:spcPts val="400"/>
              </a:spcAft>
              <a:buClr>
                <a:srgbClr val="A53010"/>
              </a:buClr>
              <a:buFont typeface="Arial"/>
              <a:buChar char="•"/>
            </a:pPr>
            <a:r>
              <a:rPr sz="1700" b="0" i="0">
                <a:solidFill>
                  <a:srgbClr val="5E5943"/>
                </a:solidFill>
                <a:latin typeface="Calibri"/>
                <a:cs typeface="Calibri"/>
              </a:rPr>
              <a:t>The design is complete, well reviewed and the team is proud of it</a:t>
            </a:r>
          </a:p>
          <a:p>
            <a:pPr marL="228600" indent="-228600" algn="l">
              <a:spcAft>
                <a:spcPts val="400"/>
              </a:spcAft>
              <a:buClr>
                <a:srgbClr val="A53010"/>
              </a:buClr>
              <a:buFont typeface="Arial"/>
              <a:buChar char="•"/>
            </a:pPr>
            <a:r>
              <a:rPr sz="1700" b="0" i="0">
                <a:solidFill>
                  <a:srgbClr val="5E5943"/>
                </a:solidFill>
                <a:latin typeface="Calibri"/>
                <a:cs typeface="Calibri"/>
              </a:rPr>
              <a:t>Revised estimate: cost is now 60% above the business case</a:t>
            </a:r>
          </a:p>
          <a:p>
            <a:pPr marL="228600" indent="-228600" algn="l">
              <a:spcAft>
                <a:spcPts val="400"/>
              </a:spcAft>
              <a:buClr>
                <a:srgbClr val="A53010"/>
              </a:buClr>
              <a:buFont typeface="Arial"/>
              <a:buChar char="•"/>
            </a:pPr>
            <a:r>
              <a:rPr sz="1700" b="0" i="0">
                <a:solidFill>
                  <a:srgbClr val="5E5943"/>
                </a:solidFill>
                <a:latin typeface="Calibri"/>
                <a:cs typeface="Calibri"/>
              </a:rPr>
              <a:t>Yesterday, the Transport Office announced it will replace campus shuttles with a contracted bus service from next year</a:t>
            </a:r>
          </a:p>
          <a:p>
            <a:pPr marL="228600" indent="-228600" algn="l">
              <a:spcAft>
                <a:spcPts val="400"/>
              </a:spcAft>
              <a:buClr>
                <a:srgbClr val="A53010"/>
              </a:buClr>
              <a:buFont typeface="Arial"/>
              <a:buChar char="•"/>
            </a:pPr>
            <a:r>
              <a:rPr sz="1700" b="0" i="0">
                <a:solidFill>
                  <a:srgbClr val="5E5943"/>
                </a:solidFill>
                <a:latin typeface="Calibri"/>
                <a:cs typeface="Calibri"/>
              </a:rPr>
              <a:t>The team has already spent four months on the project</a:t>
            </a:r>
          </a:p>
        </p:txBody>
      </p:sp>
      <p:sp>
        <p:nvSpPr>
          <p:cNvPr id="5" name="Card"/>
          <p:cNvSpPr/>
          <p:nvPr/>
        </p:nvSpPr>
        <p:spPr>
          <a:xfrm>
            <a:off x="8019288" y="1737360"/>
            <a:ext cx="3410711" cy="4114800"/>
          </a:xfrm>
          <a:prstGeom prst="roundRect">
            <a:avLst>
              <a:gd name="adj" fmla="val 8000"/>
            </a:avLst>
          </a:prstGeom>
          <a:solidFill>
            <a:srgbClr val="E3EACF">
              <a:alpha val="9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"/>
          <p:cNvSpPr txBox="1"/>
          <p:nvPr/>
        </p:nvSpPr>
        <p:spPr>
          <a:xfrm>
            <a:off x="8247888" y="1874519"/>
            <a:ext cx="2953511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 dirty="0">
                <a:solidFill>
                  <a:srgbClr val="A53010"/>
                </a:solidFill>
                <a:latin typeface="Calibri"/>
                <a:cs typeface="Calibri"/>
              </a:rPr>
              <a:t>YOUR CALL</a:t>
            </a:r>
          </a:p>
          <a:p>
            <a:pPr algn="l">
              <a:spcAft>
                <a:spcPts val="300"/>
              </a:spcAft>
              <a:buNone/>
            </a:pPr>
            <a:r>
              <a:rPr sz="1400" b="0" i="1" dirty="0">
                <a:solidFill>
                  <a:srgbClr val="5E5943"/>
                </a:solidFill>
                <a:latin typeface="Calibri"/>
                <a:cs typeface="Calibri"/>
              </a:rPr>
              <a:t>Vote. Be ready to defend it.</a:t>
            </a:r>
          </a:p>
        </p:txBody>
      </p:sp>
      <p:sp>
        <p:nvSpPr>
          <p:cNvPr id="7" name="Badge"/>
          <p:cNvSpPr/>
          <p:nvPr/>
        </p:nvSpPr>
        <p:spPr>
          <a:xfrm>
            <a:off x="8247888" y="2788920"/>
            <a:ext cx="420624" cy="420624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8796528" y="2788920"/>
            <a:ext cx="2450591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3A3A30"/>
                </a:solidFill>
                <a:latin typeface="Calibri"/>
                <a:cs typeface="Calibri"/>
              </a:rPr>
              <a:t>Proceed</a:t>
            </a:r>
          </a:p>
        </p:txBody>
      </p:sp>
      <p:sp>
        <p:nvSpPr>
          <p:cNvPr id="9" name="Badge"/>
          <p:cNvSpPr/>
          <p:nvPr/>
        </p:nvSpPr>
        <p:spPr>
          <a:xfrm>
            <a:off x="8247888" y="3410712"/>
            <a:ext cx="420624" cy="420624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8796528" y="3410712"/>
            <a:ext cx="2450591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3A3A30"/>
                </a:solidFill>
                <a:latin typeface="Calibri"/>
                <a:cs typeface="Calibri"/>
              </a:rPr>
              <a:t>Proceed with conditions</a:t>
            </a:r>
          </a:p>
        </p:txBody>
      </p:sp>
      <p:sp>
        <p:nvSpPr>
          <p:cNvPr id="11" name="Badge"/>
          <p:cNvSpPr/>
          <p:nvPr/>
        </p:nvSpPr>
        <p:spPr>
          <a:xfrm>
            <a:off x="8247888" y="4032504"/>
            <a:ext cx="420624" cy="420624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8796528" y="4032504"/>
            <a:ext cx="2450591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3A3A30"/>
                </a:solidFill>
                <a:latin typeface="Calibri"/>
                <a:cs typeface="Calibri"/>
              </a:rPr>
              <a:t>Rework: go back a phase</a:t>
            </a:r>
          </a:p>
        </p:txBody>
      </p:sp>
      <p:sp>
        <p:nvSpPr>
          <p:cNvPr id="13" name="Badge"/>
          <p:cNvSpPr/>
          <p:nvPr/>
        </p:nvSpPr>
        <p:spPr>
          <a:xfrm>
            <a:off x="8247888" y="4654296"/>
            <a:ext cx="420624" cy="420624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8796528" y="4654296"/>
            <a:ext cx="2450591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3A3A30"/>
                </a:solidFill>
                <a:latin typeface="Calibri"/>
                <a:cs typeface="Calibri"/>
              </a:rPr>
              <a:t>Terminate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latin typeface="Calibri"/>
                <a:cs typeface="Calibri"/>
              </a:rPr>
              <a:t>Software Project Planning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/>
          <a:lstStyle/>
          <a:p>
            <a:r>
              <a:rPr sz="2000" b="1">
                <a:solidFill>
                  <a:srgbClr val="A53010"/>
                </a:solidFill>
                <a:latin typeface="Calibri"/>
                <a:cs typeface="Calibri"/>
              </a:rPr>
              <a:t>Part 3  |  </a:t>
            </a:r>
            <a:r>
              <a:rPr sz="2000">
                <a:latin typeface="Calibri"/>
                <a:cs typeface="Calibri"/>
              </a:rPr>
              <a:t>What planning is, what it produces, and a structured method for doing 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sz="3200">
                <a:latin typeface="Calibri"/>
                <a:cs typeface="Calibri"/>
              </a:rPr>
              <a:t>Defining the Planning Process</a:t>
            </a:r>
          </a:p>
        </p:txBody>
      </p:sp>
      <p:sp>
        <p:nvSpPr>
          <p:cNvPr id="3" name="Card"/>
          <p:cNvSpPr/>
          <p:nvPr/>
        </p:nvSpPr>
        <p:spPr>
          <a:xfrm>
            <a:off x="1801368" y="1737360"/>
            <a:ext cx="5120640" cy="411480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"/>
          <p:cNvSpPr txBox="1"/>
          <p:nvPr/>
        </p:nvSpPr>
        <p:spPr>
          <a:xfrm>
            <a:off x="2029967" y="1856231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A53010"/>
                </a:solidFill>
                <a:latin typeface="Calibri"/>
                <a:cs typeface="Calibri"/>
              </a:rPr>
              <a:t>WORKING DEFINITION</a:t>
            </a:r>
          </a:p>
          <a:p>
            <a:pPr algn="l">
              <a:spcAft>
                <a:spcPts val="1000"/>
              </a:spcAft>
              <a:buNone/>
            </a:pPr>
            <a:r>
              <a:rPr sz="1600" b="0" i="1">
                <a:solidFill>
                  <a:srgbClr val="3A3A30"/>
                </a:solidFill>
                <a:latin typeface="Calibri"/>
                <a:cs typeface="Calibri"/>
              </a:rPr>
              <a:t>Planning is deciding what must be done, in what order, by whom, with what resources and by when, and recording those decisions so progress can be measured against them.</a:t>
            </a:r>
          </a:p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A53010"/>
                </a:solidFill>
                <a:latin typeface="Calibri"/>
                <a:cs typeface="Calibri"/>
              </a:rPr>
              <a:t>WHAT PLANNING PRODUCES</a:t>
            </a:r>
          </a:p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Scope statement and work breakdown structure</a:t>
            </a:r>
          </a:p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Schedule with dependencies and critical path</a:t>
            </a:r>
          </a:p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Cost estimate and budget baseline</a:t>
            </a:r>
          </a:p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Resource and staffing plan</a:t>
            </a:r>
          </a:p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Risk register with owners and responses</a:t>
            </a:r>
          </a:p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Quality criteria and communication plan</a:t>
            </a:r>
          </a:p>
        </p:txBody>
      </p:sp>
      <p:sp>
        <p:nvSpPr>
          <p:cNvPr id="5" name="Card"/>
          <p:cNvSpPr/>
          <p:nvPr/>
        </p:nvSpPr>
        <p:spPr>
          <a:xfrm>
            <a:off x="7104888" y="1737360"/>
            <a:ext cx="4325112" cy="128016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Badge"/>
          <p:cNvSpPr/>
          <p:nvPr/>
        </p:nvSpPr>
        <p:spPr>
          <a:xfrm>
            <a:off x="7242048" y="1865376"/>
            <a:ext cx="402336" cy="402336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7790688" y="1865376"/>
            <a:ext cx="3319271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3A3A30"/>
                </a:solidFill>
                <a:latin typeface="Calibri"/>
                <a:cs typeface="Calibri"/>
              </a:rPr>
              <a:t>It is iterative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7242048" y="2322576"/>
            <a:ext cx="4005071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The plan is revised whenever new evidence arrives. A plan never updated is a historical document.</a:t>
            </a:r>
          </a:p>
        </p:txBody>
      </p:sp>
      <p:sp>
        <p:nvSpPr>
          <p:cNvPr id="9" name="Card"/>
          <p:cNvSpPr/>
          <p:nvPr/>
        </p:nvSpPr>
        <p:spPr>
          <a:xfrm>
            <a:off x="7104888" y="3136391"/>
            <a:ext cx="4325112" cy="128016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Badge"/>
          <p:cNvSpPr/>
          <p:nvPr/>
        </p:nvSpPr>
        <p:spPr>
          <a:xfrm>
            <a:off x="7242048" y="3264408"/>
            <a:ext cx="402336" cy="402336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7790688" y="3264408"/>
            <a:ext cx="3319271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3A3A30"/>
                </a:solidFill>
                <a:latin typeface="Calibri"/>
                <a:cs typeface="Calibri"/>
              </a:rPr>
              <a:t>It is progressively elaborated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242048" y="3721607"/>
            <a:ext cx="4005071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Near-term work is planned in detail, distant work coarsely: rolling wave planning.</a:t>
            </a:r>
          </a:p>
        </p:txBody>
      </p:sp>
      <p:sp>
        <p:nvSpPr>
          <p:cNvPr id="13" name="Card"/>
          <p:cNvSpPr/>
          <p:nvPr/>
        </p:nvSpPr>
        <p:spPr>
          <a:xfrm>
            <a:off x="7104888" y="4535424"/>
            <a:ext cx="4325112" cy="128016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Badge"/>
          <p:cNvSpPr/>
          <p:nvPr/>
        </p:nvSpPr>
        <p:spPr>
          <a:xfrm>
            <a:off x="7242048" y="4663440"/>
            <a:ext cx="402336" cy="402336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7790688" y="4663440"/>
            <a:ext cx="3319271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600" b="1" i="0">
                <a:solidFill>
                  <a:srgbClr val="3A3A30"/>
                </a:solidFill>
                <a:latin typeface="Calibri"/>
                <a:cs typeface="Calibri"/>
              </a:rPr>
              <a:t>It creates a baseline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7242048" y="5120640"/>
            <a:ext cx="4005071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Without a recorded baseline there is nothing to measure schedule or cost variance against.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sz="3200">
                <a:latin typeface="Calibri"/>
                <a:cs typeface="Calibri"/>
              </a:rPr>
              <a:t>How Much Can You Plan Up Front?</a:t>
            </a:r>
          </a:p>
        </p:txBody>
      </p:sp>
      <p:sp>
        <p:nvSpPr>
          <p:cNvPr id="3" name="Card"/>
          <p:cNvSpPr/>
          <p:nvPr/>
        </p:nvSpPr>
        <p:spPr>
          <a:xfrm>
            <a:off x="1801368" y="1737360"/>
            <a:ext cx="2283713" cy="251460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Badge"/>
          <p:cNvSpPr/>
          <p:nvPr/>
        </p:nvSpPr>
        <p:spPr>
          <a:xfrm>
            <a:off x="1938528" y="1856231"/>
            <a:ext cx="384048" cy="384048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938528" y="2331720"/>
            <a:ext cx="2009393" cy="1874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1" i="0">
                <a:solidFill>
                  <a:srgbClr val="3A3A30"/>
                </a:solidFill>
                <a:latin typeface="Calibri"/>
                <a:cs typeface="Calibri"/>
              </a:rPr>
              <a:t>Predictive</a:t>
            </a:r>
          </a:p>
          <a:p>
            <a:pPr algn="l">
              <a:spcAft>
                <a:spcPts val="800"/>
              </a:spcAft>
              <a:buNone/>
            </a:pPr>
            <a:r>
              <a:rPr sz="1400" b="0" i="1">
                <a:solidFill>
                  <a:srgbClr val="A53010"/>
                </a:solidFill>
                <a:latin typeface="Calibri"/>
                <a:cs typeface="Calibri"/>
              </a:rPr>
              <a:t>Plan the whole project up front</a:t>
            </a:r>
          </a:p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3A3A30"/>
                </a:solidFill>
                <a:latin typeface="Calibri"/>
                <a:cs typeface="Calibri"/>
              </a:rPr>
              <a:t>Use when: </a:t>
            </a:r>
            <a:r>
              <a:rPr sz="1400" b="0" i="0">
                <a:solidFill>
                  <a:srgbClr val="5E5943"/>
                </a:solidFill>
                <a:latin typeface="Calibri"/>
                <a:cs typeface="Calibri"/>
              </a:rPr>
              <a:t>Requirements are stable and well understood</a:t>
            </a:r>
          </a:p>
        </p:txBody>
      </p:sp>
      <p:sp>
        <p:nvSpPr>
          <p:cNvPr id="6" name="Card"/>
          <p:cNvSpPr/>
          <p:nvPr/>
        </p:nvSpPr>
        <p:spPr>
          <a:xfrm>
            <a:off x="4249674" y="1737360"/>
            <a:ext cx="2283713" cy="251460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Badge"/>
          <p:cNvSpPr/>
          <p:nvPr/>
        </p:nvSpPr>
        <p:spPr>
          <a:xfrm>
            <a:off x="4386834" y="1856231"/>
            <a:ext cx="384048" cy="384048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4386834" y="2331720"/>
            <a:ext cx="2009393" cy="1874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1" i="0">
                <a:solidFill>
                  <a:srgbClr val="3A3A30"/>
                </a:solidFill>
                <a:latin typeface="Calibri"/>
                <a:cs typeface="Calibri"/>
              </a:rPr>
              <a:t>Iterative</a:t>
            </a:r>
          </a:p>
          <a:p>
            <a:pPr algn="l">
              <a:spcAft>
                <a:spcPts val="800"/>
              </a:spcAft>
              <a:buNone/>
            </a:pPr>
            <a:r>
              <a:rPr sz="1400" b="0" i="1">
                <a:solidFill>
                  <a:srgbClr val="A53010"/>
                </a:solidFill>
                <a:latin typeface="Calibri"/>
                <a:cs typeface="Calibri"/>
              </a:rPr>
              <a:t>Plan the whole; refine the solution in cycles</a:t>
            </a:r>
          </a:p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3A3A30"/>
                </a:solidFill>
                <a:latin typeface="Calibri"/>
                <a:cs typeface="Calibri"/>
              </a:rPr>
              <a:t>Use when: </a:t>
            </a:r>
            <a:r>
              <a:rPr sz="1400" b="0" i="0">
                <a:solidFill>
                  <a:srgbClr val="5E5943"/>
                </a:solidFill>
                <a:latin typeface="Calibri"/>
                <a:cs typeface="Calibri"/>
              </a:rPr>
              <a:t>The problem is understood; the solution is not</a:t>
            </a:r>
          </a:p>
        </p:txBody>
      </p:sp>
      <p:sp>
        <p:nvSpPr>
          <p:cNvPr id="9" name="Card"/>
          <p:cNvSpPr/>
          <p:nvPr/>
        </p:nvSpPr>
        <p:spPr>
          <a:xfrm>
            <a:off x="6697979" y="1737360"/>
            <a:ext cx="2283713" cy="251460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Badge"/>
          <p:cNvSpPr/>
          <p:nvPr/>
        </p:nvSpPr>
        <p:spPr>
          <a:xfrm>
            <a:off x="6835140" y="1856231"/>
            <a:ext cx="384048" cy="384048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6835140" y="2331720"/>
            <a:ext cx="2009393" cy="1874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1" i="0">
                <a:solidFill>
                  <a:srgbClr val="3A3A30"/>
                </a:solidFill>
                <a:latin typeface="Calibri"/>
                <a:cs typeface="Calibri"/>
              </a:rPr>
              <a:t>Incremental</a:t>
            </a:r>
          </a:p>
          <a:p>
            <a:pPr algn="l">
              <a:spcAft>
                <a:spcPts val="800"/>
              </a:spcAft>
              <a:buNone/>
            </a:pPr>
            <a:r>
              <a:rPr sz="1400" b="0" i="1">
                <a:solidFill>
                  <a:srgbClr val="A53010"/>
                </a:solidFill>
                <a:latin typeface="Calibri"/>
                <a:cs typeface="Calibri"/>
              </a:rPr>
              <a:t>Plan releases; deliver usable pieces</a:t>
            </a:r>
          </a:p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3A3A30"/>
                </a:solidFill>
                <a:latin typeface="Calibri"/>
                <a:cs typeface="Calibri"/>
              </a:rPr>
              <a:t>Use when: </a:t>
            </a:r>
            <a:r>
              <a:rPr sz="1400" b="0" i="0">
                <a:solidFill>
                  <a:srgbClr val="5E5943"/>
                </a:solidFill>
                <a:latin typeface="Calibri"/>
                <a:cs typeface="Calibri"/>
              </a:rPr>
              <a:t>Value can be delivered before everything is finished</a:t>
            </a:r>
          </a:p>
        </p:txBody>
      </p:sp>
      <p:sp>
        <p:nvSpPr>
          <p:cNvPr id="12" name="Card"/>
          <p:cNvSpPr/>
          <p:nvPr/>
        </p:nvSpPr>
        <p:spPr>
          <a:xfrm>
            <a:off x="9146286" y="1737360"/>
            <a:ext cx="2283713" cy="251460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Badge"/>
          <p:cNvSpPr/>
          <p:nvPr/>
        </p:nvSpPr>
        <p:spPr>
          <a:xfrm>
            <a:off x="9283446" y="1856231"/>
            <a:ext cx="384048" cy="384048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9283446" y="2331720"/>
            <a:ext cx="2009393" cy="1874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1" i="0">
                <a:solidFill>
                  <a:srgbClr val="3A3A30"/>
                </a:solidFill>
                <a:latin typeface="Calibri"/>
                <a:cs typeface="Calibri"/>
              </a:rPr>
              <a:t>Adaptive (Agile)</a:t>
            </a:r>
          </a:p>
          <a:p>
            <a:pPr algn="l">
              <a:spcAft>
                <a:spcPts val="800"/>
              </a:spcAft>
              <a:buNone/>
            </a:pPr>
            <a:r>
              <a:rPr sz="1400" b="0" i="1">
                <a:solidFill>
                  <a:srgbClr val="A53010"/>
                </a:solidFill>
                <a:latin typeface="Calibri"/>
                <a:cs typeface="Calibri"/>
              </a:rPr>
              <a:t>Plan the next iteration in detail, the rest coarsely</a:t>
            </a:r>
          </a:p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3A3A30"/>
                </a:solidFill>
                <a:latin typeface="Calibri"/>
                <a:cs typeface="Calibri"/>
              </a:rPr>
              <a:t>Use when: </a:t>
            </a:r>
            <a:r>
              <a:rPr sz="1400" b="0" i="0">
                <a:solidFill>
                  <a:srgbClr val="5E5943"/>
                </a:solidFill>
                <a:latin typeface="Calibri"/>
                <a:cs typeface="Calibri"/>
              </a:rPr>
              <a:t>Requirements will be discovered during the work</a:t>
            </a:r>
          </a:p>
        </p:txBody>
      </p:sp>
      <p:sp>
        <p:nvSpPr>
          <p:cNvPr id="15" name="Left-Right Arrow 14"/>
          <p:cNvSpPr/>
          <p:nvPr/>
        </p:nvSpPr>
        <p:spPr>
          <a:xfrm>
            <a:off x="1801368" y="4389120"/>
            <a:ext cx="9628632" cy="4572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E3EACF"/>
          </a:solidFill>
          <a:ln w="9525">
            <a:solidFill>
              <a:srgbClr val="C4CC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2350008" y="438912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3A3A30"/>
                </a:solidFill>
                <a:latin typeface="Calibri"/>
                <a:cs typeface="Calibri"/>
              </a:rPr>
              <a:t>More certainty  ·  more up-front planning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6766560" y="438912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Aft>
                <a:spcPts val="300"/>
              </a:spcAft>
              <a:buNone/>
            </a:pPr>
            <a:r>
              <a:rPr sz="1300" b="1" i="0">
                <a:solidFill>
                  <a:srgbClr val="3A3A30"/>
                </a:solidFill>
                <a:latin typeface="Calibri"/>
                <a:cs typeface="Calibri"/>
              </a:rPr>
              <a:t>More uncertainty  ·  more re-planning</a:t>
            </a:r>
          </a:p>
        </p:txBody>
      </p:sp>
      <p:sp>
        <p:nvSpPr>
          <p:cNvPr id="18" name="Card"/>
          <p:cNvSpPr/>
          <p:nvPr/>
        </p:nvSpPr>
        <p:spPr>
          <a:xfrm>
            <a:off x="1801368" y="5029200"/>
            <a:ext cx="9628632" cy="822960"/>
          </a:xfrm>
          <a:prstGeom prst="roundRect">
            <a:avLst>
              <a:gd name="adj" fmla="val 8000"/>
            </a:avLst>
          </a:prstGeom>
          <a:solidFill>
            <a:srgbClr val="E3EACF">
              <a:alpha val="9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"/>
          <p:cNvSpPr txBox="1"/>
          <p:nvPr/>
        </p:nvSpPr>
        <p:spPr>
          <a:xfrm>
            <a:off x="2029967" y="5029200"/>
            <a:ext cx="9171432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A53010"/>
                </a:solidFill>
                <a:latin typeface="Calibri"/>
                <a:cs typeface="Calibri"/>
              </a:rPr>
              <a:t>COMMON MISCONCEPTION  </a:t>
            </a:r>
            <a:r>
              <a:rPr sz="1500" b="0" i="0">
                <a:solidFill>
                  <a:srgbClr val="3A3A30"/>
                </a:solidFill>
                <a:latin typeface="Calibri"/>
                <a:cs typeface="Calibri"/>
              </a:rPr>
              <a:t>“Agile means less planning.” It means more planning events at shorter intervals, with less wasted planning. </a:t>
            </a:r>
            <a:r>
              <a:rPr sz="1500" b="1" i="0">
                <a:solidFill>
                  <a:srgbClr val="3A3A30"/>
                </a:solidFill>
                <a:latin typeface="Calibri"/>
                <a:cs typeface="Calibri"/>
              </a:rPr>
              <a:t>Agile moves planning; it does not remove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latin typeface="Calibri"/>
                <a:cs typeface="Calibri"/>
              </a:rPr>
              <a:t>Introduction to Agile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/>
          <a:lstStyle/>
          <a:p>
            <a:r>
              <a:rPr sz="2000" b="1">
                <a:solidFill>
                  <a:srgbClr val="A53010"/>
                </a:solidFill>
                <a:latin typeface="Calibri"/>
                <a:cs typeface="Calibri"/>
              </a:rPr>
              <a:t>Part 4  |  </a:t>
            </a:r>
            <a:r>
              <a:rPr sz="2000">
                <a:latin typeface="Calibri"/>
                <a:cs typeface="Calibri"/>
              </a:rPr>
              <a:t>Where it came from, what it actually says, and where it does not apply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sz="3200">
                <a:latin typeface="Calibri"/>
                <a:cs typeface="Calibri"/>
              </a:rPr>
              <a:t>The Agile Manifesto: Four Values</a:t>
            </a:r>
          </a:p>
        </p:txBody>
      </p:sp>
      <p:sp>
        <p:nvSpPr>
          <p:cNvPr id="3" name="Card"/>
          <p:cNvSpPr/>
          <p:nvPr/>
        </p:nvSpPr>
        <p:spPr>
          <a:xfrm>
            <a:off x="1801368" y="1737360"/>
            <a:ext cx="2283713" cy="301752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Badge"/>
          <p:cNvSpPr/>
          <p:nvPr/>
        </p:nvSpPr>
        <p:spPr>
          <a:xfrm>
            <a:off x="1938528" y="1856231"/>
            <a:ext cx="384048" cy="384048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938528" y="2331720"/>
            <a:ext cx="2009393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900" b="1" i="0">
                <a:solidFill>
                  <a:srgbClr val="A53010"/>
                </a:solidFill>
                <a:latin typeface="Calibri"/>
                <a:cs typeface="Calibri"/>
              </a:rPr>
              <a:t>Individuals and interactions</a:t>
            </a:r>
          </a:p>
          <a:p>
            <a:pPr algn="l">
              <a:spcAft>
                <a:spcPts val="1200"/>
              </a:spcAft>
              <a:buNone/>
            </a:pPr>
            <a:r>
              <a:rPr sz="1600" b="0" i="1">
                <a:solidFill>
                  <a:srgbClr val="3A3A30"/>
                </a:solidFill>
                <a:latin typeface="Calibri"/>
                <a:cs typeface="Calibri"/>
              </a:rPr>
              <a:t>over processes and tools</a:t>
            </a:r>
          </a:p>
          <a:p>
            <a:pPr algn="l">
              <a:spcAft>
                <a:spcPts val="300"/>
              </a:spcAft>
              <a:buNone/>
            </a:pPr>
            <a:r>
              <a:rPr sz="1600" b="0" i="0">
                <a:solidFill>
                  <a:srgbClr val="5E5943"/>
                </a:solidFill>
                <a:latin typeface="Calibri"/>
                <a:cs typeface="Calibri"/>
              </a:rPr>
              <a:t>A capable team with a weak process beats a weak team with a strong one.</a:t>
            </a:r>
          </a:p>
        </p:txBody>
      </p:sp>
      <p:sp>
        <p:nvSpPr>
          <p:cNvPr id="6" name="Card"/>
          <p:cNvSpPr/>
          <p:nvPr/>
        </p:nvSpPr>
        <p:spPr>
          <a:xfrm>
            <a:off x="4249674" y="1737360"/>
            <a:ext cx="2283713" cy="301752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Badge"/>
          <p:cNvSpPr/>
          <p:nvPr/>
        </p:nvSpPr>
        <p:spPr>
          <a:xfrm>
            <a:off x="4386834" y="1856231"/>
            <a:ext cx="384048" cy="384048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4386834" y="2331720"/>
            <a:ext cx="2009393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900" b="1" i="0">
                <a:solidFill>
                  <a:srgbClr val="A53010"/>
                </a:solidFill>
                <a:latin typeface="Calibri"/>
                <a:cs typeface="Calibri"/>
              </a:rPr>
              <a:t>Working software</a:t>
            </a:r>
          </a:p>
          <a:p>
            <a:pPr algn="l">
              <a:spcAft>
                <a:spcPts val="1200"/>
              </a:spcAft>
              <a:buNone/>
            </a:pPr>
            <a:r>
              <a:rPr sz="1600" b="0" i="1">
                <a:solidFill>
                  <a:srgbClr val="3A3A30"/>
                </a:solidFill>
                <a:latin typeface="Calibri"/>
                <a:cs typeface="Calibri"/>
              </a:rPr>
              <a:t>over comprehensive documentation</a:t>
            </a:r>
          </a:p>
          <a:p>
            <a:pPr algn="l">
              <a:spcAft>
                <a:spcPts val="300"/>
              </a:spcAft>
              <a:buNone/>
            </a:pPr>
            <a:r>
              <a:rPr sz="1600" b="0" i="0">
                <a:solidFill>
                  <a:srgbClr val="5E5943"/>
                </a:solidFill>
                <a:latin typeface="Calibri"/>
                <a:cs typeface="Calibri"/>
              </a:rPr>
              <a:t>Running code is the honest measure of progress.</a:t>
            </a:r>
          </a:p>
        </p:txBody>
      </p:sp>
      <p:sp>
        <p:nvSpPr>
          <p:cNvPr id="9" name="Card"/>
          <p:cNvSpPr/>
          <p:nvPr/>
        </p:nvSpPr>
        <p:spPr>
          <a:xfrm>
            <a:off x="6697979" y="1737360"/>
            <a:ext cx="2283713" cy="301752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Badge"/>
          <p:cNvSpPr/>
          <p:nvPr/>
        </p:nvSpPr>
        <p:spPr>
          <a:xfrm>
            <a:off x="6835140" y="1856231"/>
            <a:ext cx="384048" cy="384048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6835140" y="2331720"/>
            <a:ext cx="2009393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900" b="1" i="0">
                <a:solidFill>
                  <a:srgbClr val="A53010"/>
                </a:solidFill>
                <a:latin typeface="Calibri"/>
                <a:cs typeface="Calibri"/>
              </a:rPr>
              <a:t>Customer collaboration</a:t>
            </a:r>
          </a:p>
          <a:p>
            <a:pPr algn="l">
              <a:spcAft>
                <a:spcPts val="1200"/>
              </a:spcAft>
              <a:buNone/>
            </a:pPr>
            <a:r>
              <a:rPr sz="1600" b="0" i="1">
                <a:solidFill>
                  <a:srgbClr val="3A3A30"/>
                </a:solidFill>
                <a:latin typeface="Calibri"/>
                <a:cs typeface="Calibri"/>
              </a:rPr>
              <a:t>over contract negotiation</a:t>
            </a:r>
          </a:p>
          <a:p>
            <a:pPr algn="l">
              <a:spcAft>
                <a:spcPts val="300"/>
              </a:spcAft>
              <a:buNone/>
            </a:pPr>
            <a:r>
              <a:rPr sz="1600" b="0" i="0">
                <a:solidFill>
                  <a:srgbClr val="5E5943"/>
                </a:solidFill>
                <a:latin typeface="Calibri"/>
                <a:cs typeface="Calibri"/>
              </a:rPr>
              <a:t>The customer is a participant in the project, not the other side.</a:t>
            </a:r>
          </a:p>
        </p:txBody>
      </p:sp>
      <p:sp>
        <p:nvSpPr>
          <p:cNvPr id="12" name="Card"/>
          <p:cNvSpPr/>
          <p:nvPr/>
        </p:nvSpPr>
        <p:spPr>
          <a:xfrm>
            <a:off x="9146286" y="1737360"/>
            <a:ext cx="2283713" cy="301752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Badge"/>
          <p:cNvSpPr/>
          <p:nvPr/>
        </p:nvSpPr>
        <p:spPr>
          <a:xfrm>
            <a:off x="9283446" y="1856231"/>
            <a:ext cx="384048" cy="384048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9283446" y="2331720"/>
            <a:ext cx="2009393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900" b="1" i="0">
                <a:solidFill>
                  <a:srgbClr val="A53010"/>
                </a:solidFill>
                <a:latin typeface="Calibri"/>
                <a:cs typeface="Calibri"/>
              </a:rPr>
              <a:t>Responding to change</a:t>
            </a:r>
          </a:p>
          <a:p>
            <a:pPr algn="l">
              <a:spcAft>
                <a:spcPts val="1200"/>
              </a:spcAft>
              <a:buNone/>
            </a:pPr>
            <a:r>
              <a:rPr sz="1600" b="0" i="1">
                <a:solidFill>
                  <a:srgbClr val="3A3A30"/>
                </a:solidFill>
                <a:latin typeface="Calibri"/>
                <a:cs typeface="Calibri"/>
              </a:rPr>
              <a:t>over following a plan</a:t>
            </a:r>
          </a:p>
          <a:p>
            <a:pPr algn="l">
              <a:spcAft>
                <a:spcPts val="300"/>
              </a:spcAft>
              <a:buNone/>
            </a:pPr>
            <a:r>
              <a:rPr sz="1600" b="0" i="0">
                <a:solidFill>
                  <a:srgbClr val="5E5943"/>
                </a:solidFill>
                <a:latin typeface="Calibri"/>
                <a:cs typeface="Calibri"/>
              </a:rPr>
              <a:t>A plan is a forecast, revised as evidence arrives.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sz="3200">
                <a:latin typeface="Calibri"/>
                <a:cs typeface="Calibri"/>
              </a:rPr>
              <a:t>The Twelve Principles in Four Groups</a:t>
            </a:r>
          </a:p>
        </p:txBody>
      </p:sp>
      <p:sp>
        <p:nvSpPr>
          <p:cNvPr id="3" name="Card"/>
          <p:cNvSpPr/>
          <p:nvPr/>
        </p:nvSpPr>
        <p:spPr>
          <a:xfrm>
            <a:off x="1801368" y="1719072"/>
            <a:ext cx="4718304" cy="201168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Badge"/>
          <p:cNvSpPr/>
          <p:nvPr/>
        </p:nvSpPr>
        <p:spPr>
          <a:xfrm>
            <a:off x="1938528" y="1856231"/>
            <a:ext cx="420624" cy="420624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A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2487168" y="1856231"/>
            <a:ext cx="38404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3A3A30"/>
                </a:solidFill>
                <a:latin typeface="Calibri"/>
                <a:cs typeface="Calibri"/>
              </a:rPr>
              <a:t>Customer value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984248" y="2359152"/>
            <a:ext cx="4389120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Satisfy the customer with early, continuous delivery</a:t>
            </a:r>
          </a:p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Welcome changing requirements, even late</a:t>
            </a:r>
          </a:p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Deliver working software often: weeks, not months</a:t>
            </a:r>
          </a:p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Working software is the primary measure of progress</a:t>
            </a:r>
          </a:p>
        </p:txBody>
      </p:sp>
      <p:sp>
        <p:nvSpPr>
          <p:cNvPr id="7" name="Card"/>
          <p:cNvSpPr/>
          <p:nvPr/>
        </p:nvSpPr>
        <p:spPr>
          <a:xfrm>
            <a:off x="6711696" y="1719072"/>
            <a:ext cx="4718304" cy="201168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Badge"/>
          <p:cNvSpPr/>
          <p:nvPr/>
        </p:nvSpPr>
        <p:spPr>
          <a:xfrm>
            <a:off x="6848856" y="1856231"/>
            <a:ext cx="420624" cy="420624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B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7397496" y="1856231"/>
            <a:ext cx="38404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3A3A30"/>
                </a:solidFill>
                <a:latin typeface="Calibri"/>
                <a:cs typeface="Calibri"/>
              </a:rPr>
              <a:t>Collaboration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894576" y="2359152"/>
            <a:ext cx="4389120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Business people and developers work together daily</a:t>
            </a:r>
          </a:p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Prefer face-to-face conversation</a:t>
            </a:r>
          </a:p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Build projects around motivated individuals, and trust them</a:t>
            </a:r>
          </a:p>
        </p:txBody>
      </p:sp>
      <p:sp>
        <p:nvSpPr>
          <p:cNvPr id="11" name="Card"/>
          <p:cNvSpPr/>
          <p:nvPr/>
        </p:nvSpPr>
        <p:spPr>
          <a:xfrm>
            <a:off x="1801368" y="3867912"/>
            <a:ext cx="4718304" cy="201168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Badge"/>
          <p:cNvSpPr/>
          <p:nvPr/>
        </p:nvSpPr>
        <p:spPr>
          <a:xfrm>
            <a:off x="1938528" y="4005072"/>
            <a:ext cx="420624" cy="420624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C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2487168" y="4005072"/>
            <a:ext cx="38404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3A3A30"/>
                </a:solidFill>
                <a:latin typeface="Calibri"/>
                <a:cs typeface="Calibri"/>
              </a:rPr>
              <a:t>Sustainability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984248" y="4507992"/>
            <a:ext cx="4389120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Keep a pace the team can sustain indefinitely</a:t>
            </a:r>
          </a:p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Continuous attention to technical excellence and good design</a:t>
            </a:r>
          </a:p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Simplicity: maximise the work not done</a:t>
            </a:r>
          </a:p>
        </p:txBody>
      </p:sp>
      <p:sp>
        <p:nvSpPr>
          <p:cNvPr id="15" name="Card"/>
          <p:cNvSpPr/>
          <p:nvPr/>
        </p:nvSpPr>
        <p:spPr>
          <a:xfrm>
            <a:off x="6711696" y="3867912"/>
            <a:ext cx="4718304" cy="201168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Badge"/>
          <p:cNvSpPr/>
          <p:nvPr/>
        </p:nvSpPr>
        <p:spPr>
          <a:xfrm>
            <a:off x="6848856" y="4005072"/>
            <a:ext cx="420624" cy="420624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D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7397496" y="4005072"/>
            <a:ext cx="38404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3A3A30"/>
                </a:solidFill>
                <a:latin typeface="Calibri"/>
                <a:cs typeface="Calibri"/>
              </a:rPr>
              <a:t>Self-improvement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6894576" y="4507992"/>
            <a:ext cx="4389120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The best designs emerge from self-organising teams</a:t>
            </a:r>
          </a:p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At regular intervals the team reflects and adjusts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sz="3200">
                <a:latin typeface="Calibri"/>
                <a:cs typeface="Calibri"/>
              </a:rPr>
              <a:t>Plan-Driven and Agile Side by Side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554995"/>
              </p:ext>
            </p:extLst>
          </p:nvPr>
        </p:nvGraphicFramePr>
        <p:xfrm>
          <a:off x="1801368" y="1691640"/>
          <a:ext cx="9628631" cy="3803904"/>
        </p:xfrm>
        <a:graphic>
          <a:graphicData uri="http://schemas.openxmlformats.org/drawingml/2006/table">
            <a:tbl>
              <a:tblPr firstRow="1" band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endParaRPr/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Plan-driven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Agile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A53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A53010"/>
                          </a:solidFill>
                          <a:latin typeface="Calibri"/>
                          <a:cs typeface="Calibri"/>
                        </a:rPr>
                        <a:t>Requirements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Defined up front and baselined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Emerge; a prioritised, changing backlog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A53010"/>
                          </a:solidFill>
                          <a:latin typeface="Calibri"/>
                          <a:cs typeface="Calibri"/>
                        </a:rPr>
                        <a:t>Planning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Detailed plan for the whole project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Detailed for the next iteration, coarse beyond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A53010"/>
                          </a:solidFill>
                          <a:latin typeface="Calibri"/>
                          <a:cs typeface="Calibri"/>
                        </a:rPr>
                        <a:t>Change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Controlled by a formal change process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Expected; re-prioritised each iteration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A53010"/>
                          </a:solidFill>
                          <a:latin typeface="Calibri"/>
                          <a:cs typeface="Calibri"/>
                        </a:rPr>
                        <a:t>Delivery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Usually once, at the end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Working increments at a fixed </a:t>
                      </a:r>
                      <a:r>
                        <a:rPr lang="en-US" sz="1500" dirty="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interval</a:t>
                      </a:r>
                      <a:endParaRPr sz="1500" dirty="0">
                        <a:solidFill>
                          <a:srgbClr val="3A3A30"/>
                        </a:solidFill>
                        <a:latin typeface="Calibri"/>
                        <a:cs typeface="Calibri"/>
                      </a:endParaRP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A53010"/>
                          </a:solidFill>
                          <a:latin typeface="Calibri"/>
                          <a:cs typeface="Calibri"/>
                        </a:rPr>
                        <a:t>Documentation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Comprehensive, before build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Enough to build and to maintain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A53010"/>
                          </a:solidFill>
                          <a:latin typeface="Calibri"/>
                          <a:cs typeface="Calibri"/>
                        </a:rPr>
                        <a:t>Team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Specialised roles, assigned tasks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Cross-functional and self-managing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A53010"/>
                          </a:solidFill>
                          <a:latin typeface="Calibri"/>
                          <a:cs typeface="Calibri"/>
                        </a:rPr>
                        <a:t>Success measure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Conformance to the baseline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Working software and delivered value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A53010"/>
                          </a:solidFill>
                          <a:latin typeface="Calibri"/>
                          <a:cs typeface="Calibri"/>
                        </a:rPr>
                        <a:t>Fails when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Requirements turn out to be wrong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Certification or fixed contract scope is required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sz="3200" dirty="0">
                <a:latin typeface="Calibri"/>
                <a:cs typeface="Calibri"/>
              </a:rPr>
              <a:t>Activity 2: Agil</a:t>
            </a:r>
            <a:r>
              <a:rPr lang="en-US" sz="3200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 Myth or Fact?</a:t>
            </a:r>
          </a:p>
        </p:txBody>
      </p:sp>
      <p:sp>
        <p:nvSpPr>
          <p:cNvPr id="3" name="Card"/>
          <p:cNvSpPr/>
          <p:nvPr/>
        </p:nvSpPr>
        <p:spPr>
          <a:xfrm>
            <a:off x="1801367" y="1737360"/>
            <a:ext cx="8360665" cy="4226118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Badge"/>
          <p:cNvSpPr/>
          <p:nvPr/>
        </p:nvSpPr>
        <p:spPr>
          <a:xfrm>
            <a:off x="2029967" y="1920240"/>
            <a:ext cx="438912" cy="438912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2624328" y="1847088"/>
            <a:ext cx="53035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0" i="0">
                <a:solidFill>
                  <a:srgbClr val="3A3A30"/>
                </a:solidFill>
                <a:latin typeface="Calibri"/>
                <a:cs typeface="Calibri"/>
              </a:rPr>
              <a:t>Agile means you don’t write documentation.</a:t>
            </a:r>
          </a:p>
        </p:txBody>
      </p:sp>
      <p:sp>
        <p:nvSpPr>
          <p:cNvPr id="6" name="Badge"/>
          <p:cNvSpPr/>
          <p:nvPr/>
        </p:nvSpPr>
        <p:spPr>
          <a:xfrm>
            <a:off x="2029967" y="2688336"/>
            <a:ext cx="438912" cy="438912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624328" y="2615184"/>
            <a:ext cx="53035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0" i="0">
                <a:solidFill>
                  <a:srgbClr val="3A3A30"/>
                </a:solidFill>
                <a:latin typeface="Calibri"/>
                <a:cs typeface="Calibri"/>
              </a:rPr>
              <a:t>Agile teams plan more often than plan-driven teams.</a:t>
            </a:r>
          </a:p>
        </p:txBody>
      </p:sp>
      <p:sp>
        <p:nvSpPr>
          <p:cNvPr id="8" name="Badge"/>
          <p:cNvSpPr/>
          <p:nvPr/>
        </p:nvSpPr>
        <p:spPr>
          <a:xfrm>
            <a:off x="2029967" y="3456432"/>
            <a:ext cx="438912" cy="438912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2624327" y="3383280"/>
            <a:ext cx="6307637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0" i="0" dirty="0">
                <a:solidFill>
                  <a:srgbClr val="3A3A30"/>
                </a:solidFill>
                <a:latin typeface="Calibri"/>
                <a:cs typeface="Calibri"/>
              </a:rPr>
              <a:t>Agile welcomes changing requirements, even late in</a:t>
            </a:r>
            <a:r>
              <a:rPr lang="en-PK" sz="1700" b="0" i="0" dirty="0">
                <a:solidFill>
                  <a:srgbClr val="3A3A30"/>
                </a:solidFill>
                <a:latin typeface="Calibri"/>
                <a:cs typeface="Calibri"/>
              </a:rPr>
              <a:t> </a:t>
            </a:r>
            <a:r>
              <a:rPr sz="1700" b="0" i="0" dirty="0">
                <a:solidFill>
                  <a:srgbClr val="3A3A30"/>
                </a:solidFill>
                <a:latin typeface="Calibri"/>
                <a:cs typeface="Calibri"/>
              </a:rPr>
              <a:t>development.</a:t>
            </a:r>
          </a:p>
        </p:txBody>
      </p:sp>
      <p:sp>
        <p:nvSpPr>
          <p:cNvPr id="10" name="Badge"/>
          <p:cNvSpPr/>
          <p:nvPr/>
        </p:nvSpPr>
        <p:spPr>
          <a:xfrm>
            <a:off x="2029967" y="4224528"/>
            <a:ext cx="438912" cy="438912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2624328" y="4151376"/>
            <a:ext cx="53035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0" i="0">
                <a:solidFill>
                  <a:srgbClr val="3A3A30"/>
                </a:solidFill>
                <a:latin typeface="Calibri"/>
                <a:cs typeface="Calibri"/>
              </a:rPr>
              <a:t>The Agile Manifesto rejects contracts with customers.</a:t>
            </a:r>
          </a:p>
        </p:txBody>
      </p:sp>
      <p:sp>
        <p:nvSpPr>
          <p:cNvPr id="12" name="Badge"/>
          <p:cNvSpPr/>
          <p:nvPr/>
        </p:nvSpPr>
        <p:spPr>
          <a:xfrm>
            <a:off x="2029967" y="4992624"/>
            <a:ext cx="438912" cy="438912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2624328" y="4919472"/>
            <a:ext cx="53035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0" i="0">
                <a:solidFill>
                  <a:srgbClr val="3A3A30"/>
                </a:solidFill>
                <a:latin typeface="Calibri"/>
                <a:cs typeface="Calibri"/>
              </a:rPr>
              <a:t>Agile is always the best choice for a software project.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latin typeface="Calibri"/>
                <a:cs typeface="Calibri"/>
              </a:rPr>
              <a:t>The Scrum Framework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/>
          <a:lstStyle/>
          <a:p>
            <a:r>
              <a:rPr sz="2000" b="1">
                <a:solidFill>
                  <a:srgbClr val="A53010"/>
                </a:solidFill>
                <a:latin typeface="Calibri"/>
                <a:cs typeface="Calibri"/>
              </a:rPr>
              <a:t>Part 5  |  </a:t>
            </a:r>
            <a:r>
              <a:rPr sz="2000">
                <a:latin typeface="Calibri"/>
                <a:cs typeface="Calibri"/>
              </a:rPr>
              <a:t>Three accountabilities, five events, three artifacts and the loop they serve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sz="3200">
                <a:latin typeface="Calibri"/>
                <a:cs typeface="Calibri"/>
              </a:rPr>
              <a:t>How a Sprint Runs</a:t>
            </a:r>
          </a:p>
        </p:txBody>
      </p:sp>
      <p:sp>
        <p:nvSpPr>
          <p:cNvPr id="3" name="Pentagon 2"/>
          <p:cNvSpPr/>
          <p:nvPr/>
        </p:nvSpPr>
        <p:spPr>
          <a:xfrm>
            <a:off x="1801368" y="1737360"/>
            <a:ext cx="2057400" cy="731520"/>
          </a:xfrm>
          <a:prstGeom prst="homePlate">
            <a:avLst>
              <a:gd name="adj" fmla="val 22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"/>
          <p:cNvSpPr txBox="1"/>
          <p:nvPr/>
        </p:nvSpPr>
        <p:spPr>
          <a:xfrm>
            <a:off x="1911095" y="1737360"/>
            <a:ext cx="1600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50" b="1" i="0" dirty="0">
                <a:solidFill>
                  <a:srgbClr val="3A3A30"/>
                </a:solidFill>
                <a:latin typeface="Calibri"/>
                <a:cs typeface="Calibri"/>
              </a:rPr>
              <a:t>Product Backlog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874519" y="2542032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300" b="0" i="1">
                <a:solidFill>
                  <a:srgbClr val="5E5943"/>
                </a:solidFill>
                <a:latin typeface="Calibri"/>
                <a:cs typeface="Calibri"/>
              </a:rPr>
              <a:t>Ordered by the Product Owner</a:t>
            </a:r>
          </a:p>
        </p:txBody>
      </p:sp>
      <p:sp>
        <p:nvSpPr>
          <p:cNvPr id="6" name="Chevron 5"/>
          <p:cNvSpPr/>
          <p:nvPr/>
        </p:nvSpPr>
        <p:spPr>
          <a:xfrm>
            <a:off x="3694176" y="1737360"/>
            <a:ext cx="2057400" cy="731520"/>
          </a:xfrm>
          <a:prstGeom prst="chevron">
            <a:avLst>
              <a:gd name="adj" fmla="val 22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"/>
          <p:cNvSpPr txBox="1"/>
          <p:nvPr/>
        </p:nvSpPr>
        <p:spPr>
          <a:xfrm>
            <a:off x="3968496" y="1737360"/>
            <a:ext cx="1600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50" b="1" i="0">
                <a:solidFill>
                  <a:srgbClr val="3A3A30"/>
                </a:solidFill>
                <a:latin typeface="Calibri"/>
                <a:cs typeface="Calibri"/>
              </a:rPr>
              <a:t>Sprint Planning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3767328" y="2542032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300" b="0" i="1">
                <a:solidFill>
                  <a:srgbClr val="5E5943"/>
                </a:solidFill>
                <a:latin typeface="Calibri"/>
                <a:cs typeface="Calibri"/>
              </a:rPr>
              <a:t>Goal agreed, items selected</a:t>
            </a:r>
          </a:p>
        </p:txBody>
      </p:sp>
      <p:sp>
        <p:nvSpPr>
          <p:cNvPr id="9" name="Chevron 8"/>
          <p:cNvSpPr/>
          <p:nvPr/>
        </p:nvSpPr>
        <p:spPr>
          <a:xfrm>
            <a:off x="5586983" y="1737360"/>
            <a:ext cx="2057400" cy="731520"/>
          </a:xfrm>
          <a:prstGeom prst="chevron">
            <a:avLst>
              <a:gd name="adj" fmla="val 22000"/>
            </a:avLst>
          </a:prstGeom>
          <a:solidFill>
            <a:srgbClr val="A53010"/>
          </a:solidFill>
          <a:ln>
            <a:noFill/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0" name="TextBox"/>
          <p:cNvSpPr txBox="1"/>
          <p:nvPr/>
        </p:nvSpPr>
        <p:spPr>
          <a:xfrm>
            <a:off x="5861303" y="1737360"/>
            <a:ext cx="1600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50" b="1" i="0" dirty="0">
                <a:solidFill>
                  <a:srgbClr val="FFFFFF"/>
                </a:solidFill>
                <a:latin typeface="Calibri"/>
                <a:cs typeface="Calibri"/>
              </a:rPr>
              <a:t>Sprint (</a:t>
            </a:r>
            <a:r>
              <a:rPr lang="en-US" sz="1450" b="1" i="0" dirty="0">
                <a:solidFill>
                  <a:srgbClr val="FFFFFF"/>
                </a:solidFill>
                <a:latin typeface="Calibri"/>
                <a:cs typeface="Calibri"/>
              </a:rPr>
              <a:t>2-4 </a:t>
            </a:r>
            <a:r>
              <a:rPr sz="1450" b="1" i="0" dirty="0">
                <a:solidFill>
                  <a:srgbClr val="FFFFFF"/>
                </a:solidFill>
                <a:latin typeface="Calibri"/>
                <a:cs typeface="Calibri"/>
              </a:rPr>
              <a:t>weeks)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5660136" y="2542032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300" b="0" i="1">
                <a:solidFill>
                  <a:srgbClr val="5E5943"/>
                </a:solidFill>
                <a:latin typeface="Calibri"/>
                <a:cs typeface="Calibri"/>
              </a:rPr>
              <a:t>Daily Scrum every day</a:t>
            </a:r>
          </a:p>
        </p:txBody>
      </p:sp>
      <p:sp>
        <p:nvSpPr>
          <p:cNvPr id="12" name="Chevron 11"/>
          <p:cNvSpPr/>
          <p:nvPr/>
        </p:nvSpPr>
        <p:spPr>
          <a:xfrm>
            <a:off x="7479792" y="1737360"/>
            <a:ext cx="2057400" cy="731520"/>
          </a:xfrm>
          <a:prstGeom prst="chevron">
            <a:avLst>
              <a:gd name="adj" fmla="val 22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"/>
          <p:cNvSpPr txBox="1"/>
          <p:nvPr/>
        </p:nvSpPr>
        <p:spPr>
          <a:xfrm>
            <a:off x="7754112" y="1737360"/>
            <a:ext cx="1600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50" b="1" i="0">
                <a:solidFill>
                  <a:srgbClr val="3A3A30"/>
                </a:solidFill>
                <a:latin typeface="Calibri"/>
                <a:cs typeface="Calibri"/>
              </a:rPr>
              <a:t>Sprint Review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7552944" y="2542032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300" b="0" i="1">
                <a:solidFill>
                  <a:srgbClr val="5E5943"/>
                </a:solidFill>
                <a:latin typeface="Calibri"/>
                <a:cs typeface="Calibri"/>
              </a:rPr>
              <a:t>Increment inspected with stakeholders</a:t>
            </a:r>
          </a:p>
        </p:txBody>
      </p:sp>
      <p:sp>
        <p:nvSpPr>
          <p:cNvPr id="15" name="Chevron 14"/>
          <p:cNvSpPr/>
          <p:nvPr/>
        </p:nvSpPr>
        <p:spPr>
          <a:xfrm>
            <a:off x="9372600" y="1737360"/>
            <a:ext cx="2057400" cy="731520"/>
          </a:xfrm>
          <a:prstGeom prst="chevron">
            <a:avLst>
              <a:gd name="adj" fmla="val 22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9646920" y="1737360"/>
            <a:ext cx="1600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50" b="1" i="0">
                <a:solidFill>
                  <a:srgbClr val="3A3A30"/>
                </a:solidFill>
                <a:latin typeface="Calibri"/>
                <a:cs typeface="Calibri"/>
              </a:rPr>
              <a:t>Retrospective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9445752" y="2542032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300" b="0" i="1">
                <a:solidFill>
                  <a:srgbClr val="5E5943"/>
                </a:solidFill>
                <a:latin typeface="Calibri"/>
                <a:cs typeface="Calibri"/>
              </a:rPr>
              <a:t>The process itself is improved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801368" y="3127248"/>
            <a:ext cx="962863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A53010"/>
                </a:solidFill>
                <a:latin typeface="Calibri"/>
                <a:cs typeface="Calibri"/>
              </a:rPr>
              <a:t>↻  The loop repeats at a fixed cadence: inspect, then adapt</a:t>
            </a:r>
          </a:p>
        </p:txBody>
      </p:sp>
      <p:sp>
        <p:nvSpPr>
          <p:cNvPr id="19" name="Card"/>
          <p:cNvSpPr/>
          <p:nvPr/>
        </p:nvSpPr>
        <p:spPr>
          <a:xfrm>
            <a:off x="1801368" y="3611880"/>
            <a:ext cx="3044952" cy="224028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Badge"/>
          <p:cNvSpPr/>
          <p:nvPr/>
        </p:nvSpPr>
        <p:spPr>
          <a:xfrm>
            <a:off x="1938528" y="3749039"/>
            <a:ext cx="402336" cy="402336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2459736" y="3749039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1" i="0">
                <a:solidFill>
                  <a:srgbClr val="3A3A30"/>
                </a:solidFill>
                <a:latin typeface="Calibri"/>
                <a:cs typeface="Calibri"/>
              </a:rPr>
              <a:t>Transparency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965960" y="4279392"/>
            <a:ext cx="2743200" cy="1508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The work and its state are visible to everyone who inspects it. A hidden problem cannot be fixed.</a:t>
            </a:r>
          </a:p>
        </p:txBody>
      </p:sp>
      <p:sp>
        <p:nvSpPr>
          <p:cNvPr id="23" name="Card"/>
          <p:cNvSpPr/>
          <p:nvPr/>
        </p:nvSpPr>
        <p:spPr>
          <a:xfrm>
            <a:off x="5093208" y="3611880"/>
            <a:ext cx="3044952" cy="224028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Badge"/>
          <p:cNvSpPr/>
          <p:nvPr/>
        </p:nvSpPr>
        <p:spPr>
          <a:xfrm>
            <a:off x="5230368" y="3749039"/>
            <a:ext cx="402336" cy="402336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5751576" y="3749039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1" i="0">
                <a:solidFill>
                  <a:srgbClr val="3A3A30"/>
                </a:solidFill>
                <a:latin typeface="Calibri"/>
                <a:cs typeface="Calibri"/>
              </a:rPr>
              <a:t>Inspection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5257800" y="4279392"/>
            <a:ext cx="2743200" cy="1508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Progress toward the goal is checked often, but not so often that checking gets in the way of the work.</a:t>
            </a:r>
          </a:p>
        </p:txBody>
      </p:sp>
      <p:sp>
        <p:nvSpPr>
          <p:cNvPr id="27" name="Card"/>
          <p:cNvSpPr/>
          <p:nvPr/>
        </p:nvSpPr>
        <p:spPr>
          <a:xfrm>
            <a:off x="8385048" y="3611880"/>
            <a:ext cx="3044952" cy="224028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Badge"/>
          <p:cNvSpPr/>
          <p:nvPr/>
        </p:nvSpPr>
        <p:spPr>
          <a:xfrm>
            <a:off x="8522208" y="3749039"/>
            <a:ext cx="402336" cy="402336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9043416" y="3749039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1" i="0">
                <a:solidFill>
                  <a:srgbClr val="3A3A30"/>
                </a:solidFill>
                <a:latin typeface="Calibri"/>
                <a:cs typeface="Calibri"/>
              </a:rPr>
              <a:t>Adaptation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8549640" y="4279392"/>
            <a:ext cx="2743200" cy="1508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0" i="0">
                <a:solidFill>
                  <a:srgbClr val="5E5943"/>
                </a:solidFill>
                <a:latin typeface="Calibri"/>
                <a:cs typeface="Calibri"/>
              </a:rPr>
              <a:t>If inspection shows a deviation, adjust now, not at the next stage gate.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sz="3200">
                <a:latin typeface="Calibri"/>
                <a:cs typeface="Calibri"/>
              </a:rPr>
              <a:t>Three Accountabilities and How Each One Fails</a:t>
            </a:r>
          </a:p>
        </p:txBody>
      </p:sp>
      <p:sp>
        <p:nvSpPr>
          <p:cNvPr id="3" name="Card"/>
          <p:cNvSpPr/>
          <p:nvPr/>
        </p:nvSpPr>
        <p:spPr>
          <a:xfrm>
            <a:off x="1801368" y="1737360"/>
            <a:ext cx="3044952" cy="411480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Badge"/>
          <p:cNvSpPr/>
          <p:nvPr/>
        </p:nvSpPr>
        <p:spPr>
          <a:xfrm>
            <a:off x="1938528" y="1874519"/>
            <a:ext cx="502920" cy="502920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PO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2551176" y="1874519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3A3A30"/>
                </a:solidFill>
                <a:latin typeface="Calibri"/>
                <a:cs typeface="Calibri"/>
              </a:rPr>
              <a:t>Product Owner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984248" y="2514600"/>
            <a:ext cx="269748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600" b="0" i="0">
                <a:solidFill>
                  <a:srgbClr val="5E5943"/>
                </a:solidFill>
                <a:latin typeface="Calibri"/>
                <a:cs typeface="Calibri"/>
              </a:rPr>
              <a:t>Maximises the value of the product. Owns the Product Backlog: content, order and clarity. One person, not a committee.</a:t>
            </a:r>
          </a:p>
        </p:txBody>
      </p:sp>
      <p:sp>
        <p:nvSpPr>
          <p:cNvPr id="7" name="Card"/>
          <p:cNvSpPr/>
          <p:nvPr/>
        </p:nvSpPr>
        <p:spPr>
          <a:xfrm>
            <a:off x="1938528" y="4434840"/>
            <a:ext cx="2770632" cy="1280160"/>
          </a:xfrm>
          <a:prstGeom prst="roundRect">
            <a:avLst>
              <a:gd name="adj" fmla="val 8000"/>
            </a:avLst>
          </a:prstGeom>
          <a:solidFill>
            <a:srgbClr val="E3EACF">
              <a:alpha val="9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"/>
          <p:cNvSpPr txBox="1"/>
          <p:nvPr/>
        </p:nvSpPr>
        <p:spPr>
          <a:xfrm>
            <a:off x="2075688" y="4507992"/>
            <a:ext cx="2514600" cy="11612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A53010"/>
                </a:solidFill>
                <a:latin typeface="Calibri"/>
                <a:cs typeface="Calibri"/>
              </a:rPr>
              <a:t>ANTI-PATTERN</a:t>
            </a:r>
          </a:p>
          <a:p>
            <a:pPr algn="l">
              <a:spcAft>
                <a:spcPts val="300"/>
              </a:spcAft>
              <a:buNone/>
            </a:pPr>
            <a:r>
              <a:rPr sz="1500" b="0" i="0">
                <a:solidFill>
                  <a:srgbClr val="3A3A30"/>
                </a:solidFill>
                <a:latin typeface="Calibri"/>
                <a:cs typeface="Calibri"/>
              </a:rPr>
              <a:t>A proxy with no real authority, so every decision escalates and the backlog stalls.</a:t>
            </a:r>
          </a:p>
        </p:txBody>
      </p:sp>
      <p:sp>
        <p:nvSpPr>
          <p:cNvPr id="9" name="Card"/>
          <p:cNvSpPr/>
          <p:nvPr/>
        </p:nvSpPr>
        <p:spPr>
          <a:xfrm>
            <a:off x="5093208" y="1737360"/>
            <a:ext cx="3044952" cy="411480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Badge"/>
          <p:cNvSpPr/>
          <p:nvPr/>
        </p:nvSpPr>
        <p:spPr>
          <a:xfrm>
            <a:off x="5230368" y="1874519"/>
            <a:ext cx="502920" cy="502920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SM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5843016" y="1874519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3A3A30"/>
                </a:solidFill>
                <a:latin typeface="Calibri"/>
                <a:cs typeface="Calibri"/>
              </a:rPr>
              <a:t>Scrum Master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5276088" y="2514600"/>
            <a:ext cx="269748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600" b="0" i="0">
                <a:solidFill>
                  <a:srgbClr val="5E5943"/>
                </a:solidFill>
                <a:latin typeface="Calibri"/>
                <a:cs typeface="Calibri"/>
              </a:rPr>
              <a:t>Makes the team effective. Coaches the framework, removes impediments and protects the team from mid-sprint disruption.</a:t>
            </a:r>
          </a:p>
        </p:txBody>
      </p:sp>
      <p:sp>
        <p:nvSpPr>
          <p:cNvPr id="13" name="Card"/>
          <p:cNvSpPr/>
          <p:nvPr/>
        </p:nvSpPr>
        <p:spPr>
          <a:xfrm>
            <a:off x="5230368" y="4434840"/>
            <a:ext cx="2770632" cy="1280160"/>
          </a:xfrm>
          <a:prstGeom prst="roundRect">
            <a:avLst>
              <a:gd name="adj" fmla="val 8000"/>
            </a:avLst>
          </a:prstGeom>
          <a:solidFill>
            <a:srgbClr val="E3EACF">
              <a:alpha val="9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"/>
          <p:cNvSpPr txBox="1"/>
          <p:nvPr/>
        </p:nvSpPr>
        <p:spPr>
          <a:xfrm>
            <a:off x="5367528" y="4507992"/>
            <a:ext cx="2514600" cy="11612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A53010"/>
                </a:solidFill>
                <a:latin typeface="Calibri"/>
                <a:cs typeface="Calibri"/>
              </a:rPr>
              <a:t>ANTI-PATTERN</a:t>
            </a:r>
          </a:p>
          <a:p>
            <a:pPr algn="l">
              <a:spcAft>
                <a:spcPts val="300"/>
              </a:spcAft>
              <a:buNone/>
            </a:pPr>
            <a:r>
              <a:rPr sz="1500" b="0" i="0">
                <a:solidFill>
                  <a:srgbClr val="3A3A30"/>
                </a:solidFill>
                <a:latin typeface="Calibri"/>
                <a:cs typeface="Calibri"/>
              </a:rPr>
              <a:t>Acting as a project manager who assigns tasks and chases status.</a:t>
            </a:r>
          </a:p>
        </p:txBody>
      </p:sp>
      <p:sp>
        <p:nvSpPr>
          <p:cNvPr id="15" name="Card"/>
          <p:cNvSpPr/>
          <p:nvPr/>
        </p:nvSpPr>
        <p:spPr>
          <a:xfrm>
            <a:off x="8385048" y="1737360"/>
            <a:ext cx="3044952" cy="411480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Badge"/>
          <p:cNvSpPr/>
          <p:nvPr/>
        </p:nvSpPr>
        <p:spPr>
          <a:xfrm>
            <a:off x="8522208" y="1874519"/>
            <a:ext cx="502920" cy="502920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D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9134856" y="1874519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3A3A30"/>
                </a:solidFill>
                <a:latin typeface="Calibri"/>
                <a:cs typeface="Calibri"/>
              </a:rPr>
              <a:t>Developers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8567928" y="2514600"/>
            <a:ext cx="269748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600" b="0" i="0">
                <a:solidFill>
                  <a:srgbClr val="5E5943"/>
                </a:solidFill>
                <a:latin typeface="Calibri"/>
                <a:cs typeface="Calibri"/>
              </a:rPr>
              <a:t>Create a usable increment every sprint. Self-managing: they decide how the work is done and who does what.</a:t>
            </a:r>
          </a:p>
        </p:txBody>
      </p:sp>
      <p:sp>
        <p:nvSpPr>
          <p:cNvPr id="19" name="Card"/>
          <p:cNvSpPr/>
          <p:nvPr/>
        </p:nvSpPr>
        <p:spPr>
          <a:xfrm>
            <a:off x="8522208" y="4434840"/>
            <a:ext cx="2770632" cy="1280160"/>
          </a:xfrm>
          <a:prstGeom prst="roundRect">
            <a:avLst>
              <a:gd name="adj" fmla="val 8000"/>
            </a:avLst>
          </a:prstGeom>
          <a:solidFill>
            <a:srgbClr val="E3EACF">
              <a:alpha val="9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"/>
          <p:cNvSpPr txBox="1"/>
          <p:nvPr/>
        </p:nvSpPr>
        <p:spPr>
          <a:xfrm>
            <a:off x="8659368" y="4507992"/>
            <a:ext cx="2514600" cy="11612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A53010"/>
                </a:solidFill>
                <a:latin typeface="Calibri"/>
                <a:cs typeface="Calibri"/>
              </a:rPr>
              <a:t>ANTI-PATTERN</a:t>
            </a:r>
          </a:p>
          <a:p>
            <a:pPr algn="l">
              <a:spcAft>
                <a:spcPts val="300"/>
              </a:spcAft>
              <a:buNone/>
            </a:pPr>
            <a:r>
              <a:rPr sz="1500" b="0" i="0">
                <a:solidFill>
                  <a:srgbClr val="3A3A30"/>
                </a:solidFill>
                <a:latin typeface="Calibri"/>
                <a:cs typeface="Calibri"/>
              </a:rPr>
              <a:t>Narrow specialists, so work piles up behind one person.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sz="2800">
                <a:latin typeface="Calibri"/>
                <a:cs typeface="Calibri"/>
              </a:rPr>
              <a:t>Five Events: Timeboxed Inspect-and-Adapt Points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1801368" y="1691640"/>
          <a:ext cx="9628632" cy="3712464"/>
        </p:xfrm>
        <a:graphic>
          <a:graphicData uri="http://schemas.openxmlformats.org/drawingml/2006/table">
            <a:tbl>
              <a:tblPr firstRow="1" bandRow="1"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6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Event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Timebox*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Purpose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 point people miss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A53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A53010"/>
                          </a:solidFill>
                          <a:latin typeface="Calibri"/>
                          <a:cs typeface="Calibri"/>
                        </a:rPr>
                        <a:t>The Sprint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≤ 1 month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Container for all other events; fixed length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Caps risk at one sprint’s cost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A53010"/>
                          </a:solidFill>
                          <a:latin typeface="Calibri"/>
                          <a:cs typeface="Calibri"/>
                        </a:rPr>
                        <a:t>Sprint Planning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≤ 8 hours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Agree the Sprint Goal, select items, plan the work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Why valuable? What? How?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A53010"/>
                          </a:solidFill>
                          <a:latin typeface="Calibri"/>
                          <a:cs typeface="Calibri"/>
                        </a:rPr>
                        <a:t>Daily Scrum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15 min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Developers inspect progress and adapt the day’s plan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A planning event, not a status report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A53010"/>
                          </a:solidFill>
                          <a:latin typeface="Calibri"/>
                          <a:cs typeface="Calibri"/>
                        </a:rPr>
                        <a:t>Sprint Review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≤ 4 hours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Inspect the increment with stakeholders; decide next steps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A working demo, not slides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A53010"/>
                          </a:solidFill>
                          <a:latin typeface="Calibri"/>
                          <a:cs typeface="Calibri"/>
                        </a:rPr>
                        <a:t>Sprint Retrospective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≤ 3 hours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Inspect how the team worked; commit to improvements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The only event about process, not product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sz="3200">
                <a:latin typeface="Calibri"/>
                <a:cs typeface="Calibri"/>
              </a:rPr>
              <a:t>Three Artifacts, Each With a Commitment</a:t>
            </a:r>
          </a:p>
        </p:txBody>
      </p:sp>
      <p:sp>
        <p:nvSpPr>
          <p:cNvPr id="3" name="Card"/>
          <p:cNvSpPr/>
          <p:nvPr/>
        </p:nvSpPr>
        <p:spPr>
          <a:xfrm>
            <a:off x="1801368" y="1737360"/>
            <a:ext cx="3044952" cy="320040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Badge"/>
          <p:cNvSpPr/>
          <p:nvPr/>
        </p:nvSpPr>
        <p:spPr>
          <a:xfrm>
            <a:off x="1938528" y="1874519"/>
            <a:ext cx="420624" cy="420624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2487168" y="1874519"/>
            <a:ext cx="228600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3A3A30"/>
                </a:solidFill>
                <a:latin typeface="Calibri"/>
                <a:cs typeface="Calibri"/>
              </a:rPr>
              <a:t>Product Backlog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984248" y="2423160"/>
            <a:ext cx="269748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50" b="0" i="0">
                <a:solidFill>
                  <a:srgbClr val="5E5943"/>
                </a:solidFill>
                <a:latin typeface="Calibri"/>
                <a:cs typeface="Calibri"/>
              </a:rPr>
              <a:t>An ordered, emergent list of everything that could improve the product. Never complete.</a:t>
            </a:r>
          </a:p>
        </p:txBody>
      </p:sp>
      <p:sp>
        <p:nvSpPr>
          <p:cNvPr id="7" name="Card"/>
          <p:cNvSpPr/>
          <p:nvPr/>
        </p:nvSpPr>
        <p:spPr>
          <a:xfrm>
            <a:off x="1938528" y="3520440"/>
            <a:ext cx="2770632" cy="1280160"/>
          </a:xfrm>
          <a:prstGeom prst="roundRect">
            <a:avLst>
              <a:gd name="adj" fmla="val 8000"/>
            </a:avLst>
          </a:prstGeom>
          <a:solidFill>
            <a:srgbClr val="E3EACF">
              <a:alpha val="9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"/>
          <p:cNvSpPr txBox="1"/>
          <p:nvPr/>
        </p:nvSpPr>
        <p:spPr>
          <a:xfrm>
            <a:off x="2075688" y="3584448"/>
            <a:ext cx="25146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A53010"/>
                </a:solidFill>
                <a:latin typeface="Calibri"/>
                <a:cs typeface="Calibri"/>
              </a:rPr>
              <a:t>COMMITMENT: </a:t>
            </a:r>
            <a:r>
              <a:rPr sz="1300" b="1" i="0">
                <a:solidFill>
                  <a:srgbClr val="3A3A30"/>
                </a:solidFill>
                <a:latin typeface="Calibri"/>
                <a:cs typeface="Calibri"/>
              </a:rPr>
              <a:t>Product Goal</a:t>
            </a:r>
          </a:p>
          <a:p>
            <a:pPr algn="l">
              <a:spcAft>
                <a:spcPts val="300"/>
              </a:spcAft>
              <a:buNone/>
            </a:pPr>
            <a:r>
              <a:rPr sz="1500" b="0" i="0">
                <a:solidFill>
                  <a:srgbClr val="3A3A30"/>
                </a:solidFill>
                <a:latin typeface="Calibri"/>
                <a:cs typeface="Calibri"/>
              </a:rPr>
              <a:t>The long-term objective the team works toward.</a:t>
            </a:r>
          </a:p>
        </p:txBody>
      </p:sp>
      <p:sp>
        <p:nvSpPr>
          <p:cNvPr id="9" name="Card"/>
          <p:cNvSpPr/>
          <p:nvPr/>
        </p:nvSpPr>
        <p:spPr>
          <a:xfrm>
            <a:off x="5093208" y="1737360"/>
            <a:ext cx="3044952" cy="320040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Badge"/>
          <p:cNvSpPr/>
          <p:nvPr/>
        </p:nvSpPr>
        <p:spPr>
          <a:xfrm>
            <a:off x="5230368" y="1874519"/>
            <a:ext cx="420624" cy="420624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5779008" y="1874519"/>
            <a:ext cx="228600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3A3A30"/>
                </a:solidFill>
                <a:latin typeface="Calibri"/>
                <a:cs typeface="Calibri"/>
              </a:rPr>
              <a:t>Sprint Backlog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5276088" y="2423160"/>
            <a:ext cx="269748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50" b="0" i="0">
                <a:solidFill>
                  <a:srgbClr val="5E5943"/>
                </a:solidFill>
                <a:latin typeface="Calibri"/>
                <a:cs typeface="Calibri"/>
              </a:rPr>
              <a:t>Items selected for this sprint plus the plan to deliver them. Owned by the Developers.</a:t>
            </a:r>
          </a:p>
        </p:txBody>
      </p:sp>
      <p:sp>
        <p:nvSpPr>
          <p:cNvPr id="13" name="Card"/>
          <p:cNvSpPr/>
          <p:nvPr/>
        </p:nvSpPr>
        <p:spPr>
          <a:xfrm>
            <a:off x="5230368" y="3520440"/>
            <a:ext cx="2770632" cy="1280160"/>
          </a:xfrm>
          <a:prstGeom prst="roundRect">
            <a:avLst>
              <a:gd name="adj" fmla="val 8000"/>
            </a:avLst>
          </a:prstGeom>
          <a:solidFill>
            <a:srgbClr val="E3EACF">
              <a:alpha val="9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"/>
          <p:cNvSpPr txBox="1"/>
          <p:nvPr/>
        </p:nvSpPr>
        <p:spPr>
          <a:xfrm>
            <a:off x="5367528" y="3584448"/>
            <a:ext cx="25146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A53010"/>
                </a:solidFill>
                <a:latin typeface="Calibri"/>
                <a:cs typeface="Calibri"/>
              </a:rPr>
              <a:t>COMMITMENT: </a:t>
            </a:r>
            <a:r>
              <a:rPr sz="1300" b="1" i="0">
                <a:solidFill>
                  <a:srgbClr val="3A3A30"/>
                </a:solidFill>
                <a:latin typeface="Calibri"/>
                <a:cs typeface="Calibri"/>
              </a:rPr>
              <a:t>Sprint Goal</a:t>
            </a:r>
          </a:p>
          <a:p>
            <a:pPr algn="l">
              <a:spcAft>
                <a:spcPts val="300"/>
              </a:spcAft>
              <a:buNone/>
            </a:pPr>
            <a:r>
              <a:rPr sz="1500" b="0" i="0">
                <a:solidFill>
                  <a:srgbClr val="3A3A30"/>
                </a:solidFill>
                <a:latin typeface="Calibri"/>
                <a:cs typeface="Calibri"/>
              </a:rPr>
              <a:t>One objective; lets the team renegotiate scope without losing purpose.</a:t>
            </a:r>
          </a:p>
        </p:txBody>
      </p:sp>
      <p:sp>
        <p:nvSpPr>
          <p:cNvPr id="15" name="Card"/>
          <p:cNvSpPr/>
          <p:nvPr/>
        </p:nvSpPr>
        <p:spPr>
          <a:xfrm>
            <a:off x="8385048" y="1737360"/>
            <a:ext cx="3044952" cy="320040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Badge"/>
          <p:cNvSpPr/>
          <p:nvPr/>
        </p:nvSpPr>
        <p:spPr>
          <a:xfrm>
            <a:off x="8522208" y="1874519"/>
            <a:ext cx="420624" cy="420624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9070848" y="1874519"/>
            <a:ext cx="228600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3A3A30"/>
                </a:solidFill>
                <a:latin typeface="Calibri"/>
                <a:cs typeface="Calibri"/>
              </a:rPr>
              <a:t>Increment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8567928" y="2423160"/>
            <a:ext cx="269748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50" b="0" i="0">
                <a:solidFill>
                  <a:srgbClr val="5E5943"/>
                </a:solidFill>
                <a:latin typeface="Calibri"/>
                <a:cs typeface="Calibri"/>
              </a:rPr>
              <a:t>A usable step toward the Product Goal. Several may be created in one sprint.</a:t>
            </a:r>
          </a:p>
        </p:txBody>
      </p:sp>
      <p:sp>
        <p:nvSpPr>
          <p:cNvPr id="19" name="Card"/>
          <p:cNvSpPr/>
          <p:nvPr/>
        </p:nvSpPr>
        <p:spPr>
          <a:xfrm>
            <a:off x="8522208" y="3520440"/>
            <a:ext cx="2770632" cy="1280160"/>
          </a:xfrm>
          <a:prstGeom prst="roundRect">
            <a:avLst>
              <a:gd name="adj" fmla="val 8000"/>
            </a:avLst>
          </a:prstGeom>
          <a:solidFill>
            <a:srgbClr val="E3EACF">
              <a:alpha val="9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"/>
          <p:cNvSpPr txBox="1"/>
          <p:nvPr/>
        </p:nvSpPr>
        <p:spPr>
          <a:xfrm>
            <a:off x="8659368" y="3584448"/>
            <a:ext cx="25146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A53010"/>
                </a:solidFill>
                <a:latin typeface="Calibri"/>
                <a:cs typeface="Calibri"/>
              </a:rPr>
              <a:t>COMMITMENT: </a:t>
            </a:r>
            <a:r>
              <a:rPr sz="1300" b="1" i="0">
                <a:solidFill>
                  <a:srgbClr val="3A3A30"/>
                </a:solidFill>
                <a:latin typeface="Calibri"/>
                <a:cs typeface="Calibri"/>
              </a:rPr>
              <a:t>Definition of Done</a:t>
            </a:r>
          </a:p>
          <a:p>
            <a:pPr algn="l">
              <a:spcAft>
                <a:spcPts val="300"/>
              </a:spcAft>
              <a:buNone/>
            </a:pPr>
            <a:r>
              <a:rPr sz="1500" b="0" i="0">
                <a:solidFill>
                  <a:srgbClr val="3A3A30"/>
                </a:solidFill>
                <a:latin typeface="Calibri"/>
                <a:cs typeface="Calibri"/>
              </a:rPr>
              <a:t>The shared quality bar. Not met means not done.</a:t>
            </a:r>
          </a:p>
        </p:txBody>
      </p:sp>
      <p:sp>
        <p:nvSpPr>
          <p:cNvPr id="21" name="Card"/>
          <p:cNvSpPr/>
          <p:nvPr/>
        </p:nvSpPr>
        <p:spPr>
          <a:xfrm>
            <a:off x="1801368" y="5120640"/>
            <a:ext cx="9628632" cy="731520"/>
          </a:xfrm>
          <a:prstGeom prst="roundRect">
            <a:avLst>
              <a:gd name="adj" fmla="val 8000"/>
            </a:avLst>
          </a:prstGeom>
          <a:solidFill>
            <a:srgbClr val="E3EACF">
              <a:alpha val="9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"/>
          <p:cNvSpPr txBox="1"/>
          <p:nvPr/>
        </p:nvSpPr>
        <p:spPr>
          <a:xfrm>
            <a:off x="2029967" y="5120640"/>
            <a:ext cx="9171432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0" i="0" dirty="0">
                <a:solidFill>
                  <a:srgbClr val="3A3A30"/>
                </a:solidFill>
                <a:latin typeface="Calibri"/>
                <a:cs typeface="Calibri"/>
              </a:rPr>
              <a:t>A weak Definition of Done is the usual cause of “we finished the sprint but nothing shipped”.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lang="en-US" sz="3200" dirty="0">
                <a:latin typeface="Calibri"/>
                <a:cs typeface="Calibri"/>
              </a:rPr>
              <a:t>Activity</a:t>
            </a:r>
            <a:r>
              <a:rPr sz="3200" dirty="0">
                <a:latin typeface="Calibri"/>
                <a:cs typeface="Calibri"/>
              </a:rPr>
              <a:t>: Who Owns It?</a:t>
            </a:r>
          </a:p>
        </p:txBody>
      </p:sp>
      <p:sp>
        <p:nvSpPr>
          <p:cNvPr id="3" name="Card"/>
          <p:cNvSpPr/>
          <p:nvPr/>
        </p:nvSpPr>
        <p:spPr>
          <a:xfrm>
            <a:off x="1801368" y="1737360"/>
            <a:ext cx="6309360" cy="411480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Badge"/>
          <p:cNvSpPr/>
          <p:nvPr/>
        </p:nvSpPr>
        <p:spPr>
          <a:xfrm>
            <a:off x="2029967" y="1874519"/>
            <a:ext cx="402336" cy="402336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a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2578608" y="1819655"/>
            <a:ext cx="5394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0" i="0">
                <a:solidFill>
                  <a:srgbClr val="3A3A30"/>
                </a:solidFill>
                <a:latin typeface="Calibri"/>
                <a:cs typeface="Calibri"/>
              </a:rPr>
              <a:t>Deciding which feature goes to the top of the backlog</a:t>
            </a:r>
          </a:p>
        </p:txBody>
      </p:sp>
      <p:sp>
        <p:nvSpPr>
          <p:cNvPr id="6" name="Badge"/>
          <p:cNvSpPr/>
          <p:nvPr/>
        </p:nvSpPr>
        <p:spPr>
          <a:xfrm>
            <a:off x="2029967" y="2514600"/>
            <a:ext cx="402336" cy="402336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b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578608" y="2459736"/>
            <a:ext cx="5394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0" i="0">
                <a:solidFill>
                  <a:srgbClr val="3A3A30"/>
                </a:solidFill>
                <a:latin typeface="Calibri"/>
                <a:cs typeface="Calibri"/>
              </a:rPr>
              <a:t>Another department keeps pulling a developer away mid-sprint</a:t>
            </a:r>
          </a:p>
        </p:txBody>
      </p:sp>
      <p:sp>
        <p:nvSpPr>
          <p:cNvPr id="8" name="Badge"/>
          <p:cNvSpPr/>
          <p:nvPr/>
        </p:nvSpPr>
        <p:spPr>
          <a:xfrm>
            <a:off x="2029967" y="3154679"/>
            <a:ext cx="402336" cy="402336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c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2578608" y="3099815"/>
            <a:ext cx="5394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0" i="0">
                <a:solidFill>
                  <a:srgbClr val="3A3A30"/>
                </a:solidFill>
                <a:latin typeface="Calibri"/>
                <a:cs typeface="Calibri"/>
              </a:rPr>
              <a:t>Splitting a story into tasks and deciding who takes which</a:t>
            </a:r>
          </a:p>
        </p:txBody>
      </p:sp>
      <p:sp>
        <p:nvSpPr>
          <p:cNvPr id="10" name="Badge"/>
          <p:cNvSpPr/>
          <p:nvPr/>
        </p:nvSpPr>
        <p:spPr>
          <a:xfrm>
            <a:off x="2029967" y="3794759"/>
            <a:ext cx="402336" cy="402336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d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2578608" y="3739896"/>
            <a:ext cx="5394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0" i="0">
                <a:solidFill>
                  <a:srgbClr val="3A3A30"/>
                </a:solidFill>
                <a:latin typeface="Calibri"/>
                <a:cs typeface="Calibri"/>
              </a:rPr>
              <a:t>Explaining to stakeholders what the next release will contain</a:t>
            </a:r>
          </a:p>
        </p:txBody>
      </p:sp>
      <p:sp>
        <p:nvSpPr>
          <p:cNvPr id="12" name="Badge"/>
          <p:cNvSpPr/>
          <p:nvPr/>
        </p:nvSpPr>
        <p:spPr>
          <a:xfrm>
            <a:off x="2029967" y="4434840"/>
            <a:ext cx="402336" cy="402336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e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2578608" y="4379976"/>
            <a:ext cx="5394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0" i="0">
                <a:solidFill>
                  <a:srgbClr val="3A3A30"/>
                </a:solidFill>
                <a:latin typeface="Calibri"/>
                <a:cs typeface="Calibri"/>
              </a:rPr>
              <a:t>Coaching the team to run a more useful retrospective</a:t>
            </a:r>
          </a:p>
        </p:txBody>
      </p:sp>
      <p:sp>
        <p:nvSpPr>
          <p:cNvPr id="14" name="Badge"/>
          <p:cNvSpPr/>
          <p:nvPr/>
        </p:nvSpPr>
        <p:spPr>
          <a:xfrm>
            <a:off x="2029967" y="5074920"/>
            <a:ext cx="402336" cy="402336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Calibri"/>
                <a:cs typeface="Calibri"/>
              </a:rPr>
              <a:t>f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578608" y="5020056"/>
            <a:ext cx="539496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0" i="0">
                <a:solidFill>
                  <a:srgbClr val="3A3A30"/>
                </a:solidFill>
                <a:latin typeface="Calibri"/>
                <a:cs typeface="Calibri"/>
              </a:rPr>
              <a:t>Making sure the increment actually meets the Definition of Done</a:t>
            </a:r>
          </a:p>
        </p:txBody>
      </p:sp>
      <p:sp>
        <p:nvSpPr>
          <p:cNvPr id="16" name="Card"/>
          <p:cNvSpPr/>
          <p:nvPr/>
        </p:nvSpPr>
        <p:spPr>
          <a:xfrm>
            <a:off x="8293608" y="1737360"/>
            <a:ext cx="3136391" cy="4114800"/>
          </a:xfrm>
          <a:prstGeom prst="roundRect">
            <a:avLst>
              <a:gd name="adj" fmla="val 8000"/>
            </a:avLst>
          </a:prstGeom>
          <a:solidFill>
            <a:srgbClr val="E3EACF">
              <a:alpha val="9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"/>
          <p:cNvSpPr txBox="1"/>
          <p:nvPr/>
        </p:nvSpPr>
        <p:spPr>
          <a:xfrm>
            <a:off x="8522208" y="1874519"/>
            <a:ext cx="2679191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A53010"/>
                </a:solidFill>
                <a:latin typeface="Calibri"/>
                <a:cs typeface="Calibri"/>
              </a:rPr>
              <a:t>SHOW YOUR ANSWER</a:t>
            </a:r>
          </a:p>
        </p:txBody>
      </p:sp>
      <p:sp>
        <p:nvSpPr>
          <p:cNvPr id="18" name="Badge"/>
          <p:cNvSpPr/>
          <p:nvPr/>
        </p:nvSpPr>
        <p:spPr>
          <a:xfrm>
            <a:off x="8522208" y="2377440"/>
            <a:ext cx="438912" cy="438912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9070848" y="2377440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1" i="0">
                <a:solidFill>
                  <a:srgbClr val="3A3A30"/>
                </a:solidFill>
                <a:latin typeface="Calibri"/>
                <a:cs typeface="Calibri"/>
              </a:rPr>
              <a:t>Product Owner</a:t>
            </a:r>
          </a:p>
        </p:txBody>
      </p:sp>
      <p:sp>
        <p:nvSpPr>
          <p:cNvPr id="20" name="Badge"/>
          <p:cNvSpPr/>
          <p:nvPr/>
        </p:nvSpPr>
        <p:spPr>
          <a:xfrm>
            <a:off x="8522208" y="3035808"/>
            <a:ext cx="438912" cy="438912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9070848" y="3035808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1" i="0">
                <a:solidFill>
                  <a:srgbClr val="3A3A30"/>
                </a:solidFill>
                <a:latin typeface="Calibri"/>
                <a:cs typeface="Calibri"/>
              </a:rPr>
              <a:t>Scrum Master</a:t>
            </a:r>
          </a:p>
        </p:txBody>
      </p:sp>
      <p:sp>
        <p:nvSpPr>
          <p:cNvPr id="22" name="Badge"/>
          <p:cNvSpPr/>
          <p:nvPr/>
        </p:nvSpPr>
        <p:spPr>
          <a:xfrm>
            <a:off x="8522208" y="3694176"/>
            <a:ext cx="438912" cy="438912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9070848" y="3694176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700" b="1" i="0">
                <a:solidFill>
                  <a:srgbClr val="3A3A30"/>
                </a:solidFill>
                <a:latin typeface="Calibri"/>
                <a:cs typeface="Calibri"/>
              </a:rPr>
              <a:t>Developers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latin typeface="Calibri"/>
                <a:cs typeface="Calibri"/>
              </a:rPr>
              <a:t>Kanban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/>
          <a:lstStyle/>
          <a:p>
            <a:r>
              <a:rPr sz="2000" b="1">
                <a:solidFill>
                  <a:srgbClr val="A53010"/>
                </a:solidFill>
                <a:latin typeface="Calibri"/>
                <a:cs typeface="Calibri"/>
              </a:rPr>
              <a:t>Part 6  |  </a:t>
            </a:r>
            <a:r>
              <a:rPr sz="2000">
                <a:latin typeface="Calibri"/>
                <a:cs typeface="Calibri"/>
              </a:rPr>
              <a:t>The other control: limit work in progress instead of timeboxing it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sz="3200">
                <a:latin typeface="Calibri"/>
                <a:cs typeface="Calibri"/>
              </a:rPr>
              <a:t>Kanban: Visualise the Work, Then Limit It</a:t>
            </a:r>
          </a:p>
        </p:txBody>
      </p:sp>
      <p:sp>
        <p:nvSpPr>
          <p:cNvPr id="3" name="Card"/>
          <p:cNvSpPr/>
          <p:nvPr/>
        </p:nvSpPr>
        <p:spPr>
          <a:xfrm>
            <a:off x="1801368" y="1737360"/>
            <a:ext cx="5806440" cy="411480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"/>
          <p:cNvSpPr txBox="1"/>
          <p:nvPr/>
        </p:nvSpPr>
        <p:spPr>
          <a:xfrm>
            <a:off x="1938528" y="18288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300" b="1" i="0">
                <a:solidFill>
                  <a:srgbClr val="3A3A30"/>
                </a:solidFill>
                <a:latin typeface="Calibri"/>
                <a:cs typeface="Calibri"/>
              </a:rPr>
              <a:t>Backlog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2029968" y="2743200"/>
            <a:ext cx="914400" cy="530352"/>
          </a:xfrm>
          <a:prstGeom prst="rect">
            <a:avLst/>
          </a:prstGeom>
          <a:solidFill>
            <a:srgbClr val="E3EACF"/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29968" y="3401568"/>
            <a:ext cx="914400" cy="530352"/>
          </a:xfrm>
          <a:prstGeom prst="rect">
            <a:avLst/>
          </a:prstGeom>
          <a:solidFill>
            <a:srgbClr val="E3EACF"/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29968" y="4059935"/>
            <a:ext cx="914400" cy="530352"/>
          </a:xfrm>
          <a:prstGeom prst="rect">
            <a:avLst/>
          </a:prstGeom>
          <a:solidFill>
            <a:srgbClr val="E3EACF"/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029968" y="4718304"/>
            <a:ext cx="914400" cy="530352"/>
          </a:xfrm>
          <a:prstGeom prst="rect">
            <a:avLst/>
          </a:prstGeom>
          <a:solidFill>
            <a:srgbClr val="E3EACF"/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"/>
          <p:cNvSpPr txBox="1"/>
          <p:nvPr/>
        </p:nvSpPr>
        <p:spPr>
          <a:xfrm>
            <a:off x="3063240" y="18288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300" b="1" i="0">
                <a:solidFill>
                  <a:srgbClr val="3A3A30"/>
                </a:solidFill>
                <a:latin typeface="Calibri"/>
                <a:cs typeface="Calibri"/>
              </a:rPr>
              <a:t>Analysis</a:t>
            </a:r>
          </a:p>
        </p:txBody>
      </p:sp>
      <p:sp>
        <p:nvSpPr>
          <p:cNvPr id="10" name="Oval 9"/>
          <p:cNvSpPr/>
          <p:nvPr/>
        </p:nvSpPr>
        <p:spPr>
          <a:xfrm>
            <a:off x="3429000" y="2212848"/>
            <a:ext cx="365760" cy="365760"/>
          </a:xfrm>
          <a:prstGeom prst="ellipse">
            <a:avLst/>
          </a:prstGeom>
          <a:solidFill>
            <a:srgbClr val="DE7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9524" y="1874519"/>
            <a:ext cx="0" cy="3840481"/>
          </a:xfrm>
          <a:prstGeom prst="line">
            <a:avLst/>
          </a:prstGeom>
          <a:ln w="12700">
            <a:solidFill>
              <a:srgbClr val="C4C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154680" y="2743200"/>
            <a:ext cx="914400" cy="530352"/>
          </a:xfrm>
          <a:prstGeom prst="rect">
            <a:avLst/>
          </a:prstGeom>
          <a:solidFill>
            <a:srgbClr val="E3EACF"/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54680" y="3401568"/>
            <a:ext cx="914400" cy="530352"/>
          </a:xfrm>
          <a:prstGeom prst="rect">
            <a:avLst/>
          </a:prstGeom>
          <a:solidFill>
            <a:srgbClr val="E3EACF"/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"/>
          <p:cNvSpPr txBox="1"/>
          <p:nvPr/>
        </p:nvSpPr>
        <p:spPr>
          <a:xfrm>
            <a:off x="4187952" y="18288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300" b="1" i="0">
                <a:solidFill>
                  <a:srgbClr val="3A3A30"/>
                </a:solidFill>
                <a:latin typeface="Calibri"/>
                <a:cs typeface="Calibri"/>
              </a:rPr>
              <a:t>Development</a:t>
            </a:r>
          </a:p>
        </p:txBody>
      </p:sp>
      <p:sp>
        <p:nvSpPr>
          <p:cNvPr id="15" name="Oval 14"/>
          <p:cNvSpPr/>
          <p:nvPr/>
        </p:nvSpPr>
        <p:spPr>
          <a:xfrm>
            <a:off x="4553712" y="2212848"/>
            <a:ext cx="365760" cy="365760"/>
          </a:xfrm>
          <a:prstGeom prst="ellipse">
            <a:avLst/>
          </a:prstGeom>
          <a:solidFill>
            <a:srgbClr val="DE7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74236" y="1874519"/>
            <a:ext cx="0" cy="3840481"/>
          </a:xfrm>
          <a:prstGeom prst="line">
            <a:avLst/>
          </a:prstGeom>
          <a:ln w="12700">
            <a:solidFill>
              <a:srgbClr val="C4C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79392" y="2743200"/>
            <a:ext cx="914400" cy="530352"/>
          </a:xfrm>
          <a:prstGeom prst="rect">
            <a:avLst/>
          </a:prstGeom>
          <a:solidFill>
            <a:srgbClr val="F6D7C3"/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79392" y="3401568"/>
            <a:ext cx="914400" cy="530352"/>
          </a:xfrm>
          <a:prstGeom prst="rect">
            <a:avLst/>
          </a:prstGeom>
          <a:solidFill>
            <a:srgbClr val="F6D7C3"/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79392" y="4059935"/>
            <a:ext cx="914400" cy="530352"/>
          </a:xfrm>
          <a:prstGeom prst="rect">
            <a:avLst/>
          </a:prstGeom>
          <a:solidFill>
            <a:srgbClr val="F6D7C3"/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"/>
          <p:cNvSpPr txBox="1"/>
          <p:nvPr/>
        </p:nvSpPr>
        <p:spPr>
          <a:xfrm>
            <a:off x="5312664" y="18288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300" b="1" i="0">
                <a:solidFill>
                  <a:srgbClr val="3A3A30"/>
                </a:solidFill>
                <a:latin typeface="Calibri"/>
                <a:cs typeface="Calibri"/>
              </a:rPr>
              <a:t>Review</a:t>
            </a:r>
          </a:p>
        </p:txBody>
      </p:sp>
      <p:sp>
        <p:nvSpPr>
          <p:cNvPr id="21" name="Oval 20"/>
          <p:cNvSpPr/>
          <p:nvPr/>
        </p:nvSpPr>
        <p:spPr>
          <a:xfrm>
            <a:off x="5678424" y="2212848"/>
            <a:ext cx="365760" cy="365760"/>
          </a:xfrm>
          <a:prstGeom prst="ellipse">
            <a:avLst/>
          </a:prstGeom>
          <a:solidFill>
            <a:srgbClr val="DE7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98948" y="1874519"/>
            <a:ext cx="0" cy="3840481"/>
          </a:xfrm>
          <a:prstGeom prst="line">
            <a:avLst/>
          </a:prstGeom>
          <a:ln w="12700">
            <a:solidFill>
              <a:srgbClr val="C4C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404104" y="2743200"/>
            <a:ext cx="914400" cy="530352"/>
          </a:xfrm>
          <a:prstGeom prst="rect">
            <a:avLst/>
          </a:prstGeom>
          <a:solidFill>
            <a:srgbClr val="E3EACF"/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"/>
          <p:cNvSpPr txBox="1"/>
          <p:nvPr/>
        </p:nvSpPr>
        <p:spPr>
          <a:xfrm>
            <a:off x="6437376" y="182880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300" b="1" i="0">
                <a:solidFill>
                  <a:srgbClr val="3A3A30"/>
                </a:solidFill>
                <a:latin typeface="Calibri"/>
                <a:cs typeface="Calibri"/>
              </a:rPr>
              <a:t>Done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23660" y="1874519"/>
            <a:ext cx="0" cy="3840481"/>
          </a:xfrm>
          <a:prstGeom prst="line">
            <a:avLst/>
          </a:prstGeom>
          <a:ln w="12700">
            <a:solidFill>
              <a:srgbClr val="C4C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528816" y="2743200"/>
            <a:ext cx="914400" cy="530352"/>
          </a:xfrm>
          <a:prstGeom prst="rect">
            <a:avLst/>
          </a:prstGeom>
          <a:solidFill>
            <a:srgbClr val="D5E3C0"/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28816" y="3401568"/>
            <a:ext cx="914400" cy="530352"/>
          </a:xfrm>
          <a:prstGeom prst="rect">
            <a:avLst/>
          </a:prstGeom>
          <a:solidFill>
            <a:srgbClr val="D5E3C0"/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28816" y="4059935"/>
            <a:ext cx="914400" cy="530352"/>
          </a:xfrm>
          <a:prstGeom prst="rect">
            <a:avLst/>
          </a:prstGeom>
          <a:solidFill>
            <a:srgbClr val="D5E3C0"/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"/>
          <p:cNvSpPr txBox="1"/>
          <p:nvPr/>
        </p:nvSpPr>
        <p:spPr>
          <a:xfrm>
            <a:off x="1938528" y="53949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300" b="0" i="1">
                <a:solidFill>
                  <a:srgbClr val="A53010"/>
                </a:solidFill>
                <a:latin typeface="Calibri"/>
                <a:cs typeface="Calibri"/>
              </a:rPr>
              <a:t>Development is at its WIP limit of 3: nothing new may enter.</a:t>
            </a:r>
          </a:p>
        </p:txBody>
      </p:sp>
      <p:sp>
        <p:nvSpPr>
          <p:cNvPr id="30" name="Card"/>
          <p:cNvSpPr/>
          <p:nvPr/>
        </p:nvSpPr>
        <p:spPr>
          <a:xfrm>
            <a:off x="7790688" y="1737360"/>
            <a:ext cx="3639311" cy="4114800"/>
          </a:xfrm>
          <a:prstGeom prst="roundRect">
            <a:avLst>
              <a:gd name="adj" fmla="val 8000"/>
            </a:avLst>
          </a:prstGeom>
          <a:solidFill>
            <a:srgbClr val="E3EACF">
              <a:alpha val="9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"/>
          <p:cNvSpPr txBox="1"/>
          <p:nvPr/>
        </p:nvSpPr>
        <p:spPr>
          <a:xfrm>
            <a:off x="8019288" y="1874519"/>
            <a:ext cx="3182111" cy="393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A53010"/>
                </a:solidFill>
                <a:latin typeface="Calibri"/>
                <a:cs typeface="Calibri"/>
              </a:rPr>
              <a:t>CORE PRACTICES</a:t>
            </a:r>
          </a:p>
          <a:p>
            <a:pPr algn="l">
              <a:spcAft>
                <a:spcPts val="600"/>
              </a:spcAft>
              <a:buNone/>
            </a:pPr>
            <a:r>
              <a:rPr sz="1500" b="1" i="0">
                <a:solidFill>
                  <a:srgbClr val="A53010"/>
                </a:solidFill>
                <a:latin typeface="Calibri"/>
                <a:cs typeface="Calibri"/>
              </a:rPr>
              <a:t>1.  </a:t>
            </a:r>
            <a:r>
              <a:rPr sz="1500" b="0" i="0">
                <a:solidFill>
                  <a:srgbClr val="3A3A30"/>
                </a:solidFill>
                <a:latin typeface="Calibri"/>
                <a:cs typeface="Calibri"/>
              </a:rPr>
              <a:t>Visualise the workflow as it really is</a:t>
            </a:r>
          </a:p>
          <a:p>
            <a:pPr algn="l">
              <a:spcAft>
                <a:spcPts val="600"/>
              </a:spcAft>
              <a:buNone/>
            </a:pPr>
            <a:r>
              <a:rPr sz="1500" b="1" i="0">
                <a:solidFill>
                  <a:srgbClr val="A53010"/>
                </a:solidFill>
                <a:latin typeface="Calibri"/>
                <a:cs typeface="Calibri"/>
              </a:rPr>
              <a:t>2.  </a:t>
            </a:r>
            <a:r>
              <a:rPr sz="1500" b="0" i="0">
                <a:solidFill>
                  <a:srgbClr val="3A3A30"/>
                </a:solidFill>
                <a:latin typeface="Calibri"/>
                <a:cs typeface="Calibri"/>
              </a:rPr>
              <a:t>Limit work in progress (WIP)</a:t>
            </a:r>
          </a:p>
          <a:p>
            <a:pPr algn="l">
              <a:spcAft>
                <a:spcPts val="600"/>
              </a:spcAft>
              <a:buNone/>
            </a:pPr>
            <a:r>
              <a:rPr sz="1500" b="1" i="0">
                <a:solidFill>
                  <a:srgbClr val="A53010"/>
                </a:solidFill>
                <a:latin typeface="Calibri"/>
                <a:cs typeface="Calibri"/>
              </a:rPr>
              <a:t>3.  </a:t>
            </a:r>
            <a:r>
              <a:rPr sz="1500" b="0" i="0">
                <a:solidFill>
                  <a:srgbClr val="3A3A30"/>
                </a:solidFill>
                <a:latin typeface="Calibri"/>
                <a:cs typeface="Calibri"/>
              </a:rPr>
              <a:t>Manage flow: measure cycle time, fix bottlenecks</a:t>
            </a:r>
          </a:p>
          <a:p>
            <a:pPr algn="l">
              <a:spcAft>
                <a:spcPts val="600"/>
              </a:spcAft>
              <a:buNone/>
            </a:pPr>
            <a:r>
              <a:rPr sz="1500" b="1" i="0">
                <a:solidFill>
                  <a:srgbClr val="A53010"/>
                </a:solidFill>
                <a:latin typeface="Calibri"/>
                <a:cs typeface="Calibri"/>
              </a:rPr>
              <a:t>4.  </a:t>
            </a:r>
            <a:r>
              <a:rPr sz="1500" b="0" i="0">
                <a:solidFill>
                  <a:srgbClr val="3A3A30"/>
                </a:solidFill>
                <a:latin typeface="Calibri"/>
                <a:cs typeface="Calibri"/>
              </a:rPr>
              <a:t>Make policies explicit (what does “ready for review” mean?)</a:t>
            </a:r>
          </a:p>
          <a:p>
            <a:pPr algn="l">
              <a:spcBef>
                <a:spcPts val="400"/>
              </a:spcBef>
              <a:spcAft>
                <a:spcPts val="300"/>
              </a:spcAft>
              <a:buNone/>
            </a:pPr>
            <a:r>
              <a:rPr sz="1300" b="0" i="1">
                <a:solidFill>
                  <a:srgbClr val="5E5943"/>
                </a:solidFill>
                <a:latin typeface="Calibri"/>
                <a:cs typeface="Calibri"/>
              </a:rPr>
              <a:t>The Kanban Method adds two more: implement feedback loops, and improve collaboratively.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buNone/>
            </a:pPr>
            <a:r>
              <a:rPr sz="1500" b="1" i="0">
                <a:solidFill>
                  <a:srgbClr val="A53010"/>
                </a:solidFill>
                <a:latin typeface="Calibri"/>
                <a:cs typeface="Calibri"/>
              </a:rPr>
              <a:t>No sprints. No prescribed roles. Work is pulled, not pushed.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sz="3200">
                <a:latin typeface="Calibri"/>
                <a:cs typeface="Calibri"/>
              </a:rPr>
              <a:t>Why Limiting WIP Works: Little’s Law</a:t>
            </a:r>
          </a:p>
        </p:txBody>
      </p:sp>
      <p:sp>
        <p:nvSpPr>
          <p:cNvPr id="3" name="Card"/>
          <p:cNvSpPr/>
          <p:nvPr/>
        </p:nvSpPr>
        <p:spPr>
          <a:xfrm>
            <a:off x="1801368" y="1737360"/>
            <a:ext cx="9628632" cy="1143000"/>
          </a:xfrm>
          <a:prstGeom prst="roundRect">
            <a:avLst>
              <a:gd name="adj" fmla="val 8000"/>
            </a:avLst>
          </a:prstGeom>
          <a:solidFill>
            <a:srgbClr val="E3EACF">
              <a:alpha val="9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"/>
          <p:cNvSpPr txBox="1"/>
          <p:nvPr/>
        </p:nvSpPr>
        <p:spPr>
          <a:xfrm>
            <a:off x="1801368" y="1737360"/>
            <a:ext cx="9628632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2600" b="1" i="0">
                <a:solidFill>
                  <a:srgbClr val="3A3A30"/>
                </a:solidFill>
                <a:latin typeface="Calibri"/>
                <a:cs typeface="Calibri"/>
              </a:rPr>
              <a:t>Average cycle time  =  Work in progress  ÷  Throughput</a:t>
            </a:r>
          </a:p>
        </p:txBody>
      </p:sp>
      <p:sp>
        <p:nvSpPr>
          <p:cNvPr id="5" name="Card"/>
          <p:cNvSpPr/>
          <p:nvPr/>
        </p:nvSpPr>
        <p:spPr>
          <a:xfrm>
            <a:off x="1801368" y="3108960"/>
            <a:ext cx="3044952" cy="274320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"/>
          <p:cNvSpPr txBox="1"/>
          <p:nvPr/>
        </p:nvSpPr>
        <p:spPr>
          <a:xfrm>
            <a:off x="2029967" y="3246120"/>
            <a:ext cx="2606040" cy="2560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1" i="0">
                <a:solidFill>
                  <a:srgbClr val="A53010"/>
                </a:solidFill>
                <a:latin typeface="Calibri"/>
                <a:cs typeface="Calibri"/>
              </a:rPr>
              <a:t>TEAM A</a:t>
            </a:r>
          </a:p>
          <a:p>
            <a:pPr algn="l">
              <a:spcAft>
                <a:spcPts val="300"/>
              </a:spcAft>
              <a:buNone/>
            </a:pPr>
            <a:r>
              <a:rPr sz="1800" b="0" i="0">
                <a:solidFill>
                  <a:srgbClr val="3A3A30"/>
                </a:solidFill>
                <a:latin typeface="Calibri"/>
                <a:cs typeface="Calibri"/>
              </a:rPr>
              <a:t>WIP = 10 items</a:t>
            </a:r>
          </a:p>
          <a:p>
            <a:pPr algn="l">
              <a:spcAft>
                <a:spcPts val="1400"/>
              </a:spcAft>
              <a:buNone/>
            </a:pPr>
            <a:r>
              <a:rPr sz="1800" b="0" i="0">
                <a:solidFill>
                  <a:srgbClr val="3A3A30"/>
                </a:solidFill>
                <a:latin typeface="Calibri"/>
                <a:cs typeface="Calibri"/>
              </a:rPr>
              <a:t>Throughput = 2 items / day</a:t>
            </a:r>
          </a:p>
          <a:p>
            <a:pPr algn="l">
              <a:spcAft>
                <a:spcPts val="300"/>
              </a:spcAft>
              <a:buNone/>
            </a:pPr>
            <a:r>
              <a:rPr sz="2200" b="1" i="0">
                <a:solidFill>
                  <a:srgbClr val="A53010"/>
                </a:solidFill>
                <a:latin typeface="Calibri"/>
                <a:cs typeface="Calibri"/>
              </a:rPr>
              <a:t>Cycle time = 5 days</a:t>
            </a:r>
          </a:p>
        </p:txBody>
      </p:sp>
      <p:sp>
        <p:nvSpPr>
          <p:cNvPr id="7" name="Card"/>
          <p:cNvSpPr/>
          <p:nvPr/>
        </p:nvSpPr>
        <p:spPr>
          <a:xfrm>
            <a:off x="5093208" y="3108960"/>
            <a:ext cx="3044952" cy="274320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"/>
          <p:cNvSpPr txBox="1"/>
          <p:nvPr/>
        </p:nvSpPr>
        <p:spPr>
          <a:xfrm>
            <a:off x="5321808" y="3246120"/>
            <a:ext cx="2606040" cy="2560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1" i="0">
                <a:solidFill>
                  <a:srgbClr val="A53010"/>
                </a:solidFill>
                <a:latin typeface="Calibri"/>
                <a:cs typeface="Calibri"/>
              </a:rPr>
              <a:t>TEAM B</a:t>
            </a:r>
          </a:p>
          <a:p>
            <a:pPr algn="l">
              <a:spcAft>
                <a:spcPts val="300"/>
              </a:spcAft>
              <a:buNone/>
            </a:pPr>
            <a:r>
              <a:rPr sz="1800" b="0" i="0">
                <a:solidFill>
                  <a:srgbClr val="3A3A30"/>
                </a:solidFill>
                <a:latin typeface="Calibri"/>
                <a:cs typeface="Calibri"/>
              </a:rPr>
              <a:t>WIP = 4 items</a:t>
            </a:r>
          </a:p>
          <a:p>
            <a:pPr algn="l">
              <a:spcAft>
                <a:spcPts val="1400"/>
              </a:spcAft>
              <a:buNone/>
            </a:pPr>
            <a:r>
              <a:rPr sz="1800" b="0" i="0">
                <a:solidFill>
                  <a:srgbClr val="3A3A30"/>
                </a:solidFill>
                <a:latin typeface="Calibri"/>
                <a:cs typeface="Calibri"/>
              </a:rPr>
              <a:t>Throughput = 2 items / day</a:t>
            </a:r>
          </a:p>
          <a:p>
            <a:pPr algn="l">
              <a:spcAft>
                <a:spcPts val="300"/>
              </a:spcAft>
              <a:buNone/>
            </a:pPr>
            <a:r>
              <a:rPr sz="2200" b="1" i="0">
                <a:solidFill>
                  <a:srgbClr val="A53010"/>
                </a:solidFill>
                <a:latin typeface="Calibri"/>
                <a:cs typeface="Calibri"/>
              </a:rPr>
              <a:t>Cycle time = 2 days</a:t>
            </a:r>
          </a:p>
        </p:txBody>
      </p:sp>
      <p:sp>
        <p:nvSpPr>
          <p:cNvPr id="9" name="Card"/>
          <p:cNvSpPr/>
          <p:nvPr/>
        </p:nvSpPr>
        <p:spPr>
          <a:xfrm>
            <a:off x="8385048" y="3108960"/>
            <a:ext cx="3044951" cy="274320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"/>
          <p:cNvSpPr txBox="1"/>
          <p:nvPr/>
        </p:nvSpPr>
        <p:spPr>
          <a:xfrm>
            <a:off x="8613648" y="3246120"/>
            <a:ext cx="2587751" cy="2560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A53010"/>
                </a:solidFill>
                <a:latin typeface="Calibri"/>
                <a:cs typeface="Calibri"/>
              </a:rPr>
              <a:t>PULL, NOT PUSH</a:t>
            </a:r>
          </a:p>
          <a:p>
            <a:pPr algn="l">
              <a:spcAft>
                <a:spcPts val="300"/>
              </a:spcAft>
              <a:buNone/>
            </a:pPr>
            <a:r>
              <a:rPr sz="1600" b="0" i="0">
                <a:solidFill>
                  <a:srgbClr val="3A3A30"/>
                </a:solidFill>
                <a:latin typeface="Calibri"/>
                <a:cs typeface="Calibri"/>
              </a:rPr>
              <a:t>Same team, same speed: fewer items in progress means each item finishes sooner. </a:t>
            </a:r>
          </a:p>
          <a:p>
            <a:pPr algn="l">
              <a:spcAft>
                <a:spcPts val="300"/>
              </a:spcAft>
              <a:buNone/>
            </a:pPr>
            <a:r>
              <a:rPr sz="1600" b="0" i="0">
                <a:solidFill>
                  <a:srgbClr val="5E5943"/>
                </a:solidFill>
                <a:latin typeface="Calibri"/>
                <a:cs typeface="Calibri"/>
              </a:rPr>
              <a:t>When a column is full, the person who is free helps clear the next column instead of starting new work.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sz="3200">
                <a:latin typeface="Calibri"/>
                <a:cs typeface="Calibri"/>
              </a:rPr>
              <a:t>Choosing Between Scrum and Kanban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1801368" y="1691640"/>
          <a:ext cx="6263640" cy="4041648"/>
        </p:xfrm>
        <a:graphic>
          <a:graphicData uri="http://schemas.openxmlformats.org/drawingml/2006/table">
            <a:tbl>
              <a:tblPr firstRow="1" bandRow="1"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endParaRPr/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Scrum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A53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Kanban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A53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A53010"/>
                          </a:solidFill>
                          <a:latin typeface="Calibri"/>
                          <a:cs typeface="Calibri"/>
                        </a:rPr>
                        <a:t>Cadence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Fixed-length sprints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Continuous flow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A53010"/>
                          </a:solidFill>
                          <a:latin typeface="Calibri"/>
                          <a:cs typeface="Calibri"/>
                        </a:rPr>
                        <a:t>Commitment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A Sprint Goal per sprint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No sprint-level commitment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A53010"/>
                          </a:solidFill>
                          <a:latin typeface="Calibri"/>
                          <a:cs typeface="Calibri"/>
                        </a:rPr>
                        <a:t>Roles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PO, SM, Developers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None prescribed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A53010"/>
                          </a:solidFill>
                          <a:latin typeface="Calibri"/>
                          <a:cs typeface="Calibri"/>
                        </a:rPr>
                        <a:t>Mid-cycle change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Protect the Sprint Goal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Re-prioritise any time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A53010"/>
                          </a:solidFill>
                          <a:latin typeface="Calibri"/>
                          <a:cs typeface="Calibri"/>
                        </a:rPr>
                        <a:t>Typical metric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Velocity (common practice)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Cycle time, throughput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A53010"/>
                          </a:solidFill>
                          <a:latin typeface="Calibri"/>
                          <a:cs typeface="Calibri"/>
                        </a:rPr>
                        <a:t>Best fit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Feature work with a plannable backlog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A3A30"/>
                          </a:solidFill>
                          <a:latin typeface="Calibri"/>
                          <a:cs typeface="Calibri"/>
                        </a:rPr>
                        <a:t>Support and maintenance work</a:t>
                      </a:r>
                    </a:p>
                  </a:txBody>
                  <a:tcPr marT="54864" marB="54864" anchor="ctr">
                    <a:lnL w="6350">
                      <a:solidFill>
                        <a:srgbClr val="C4CCA6"/>
                      </a:solidFill>
                    </a:lnL>
                    <a:lnR w="6350">
                      <a:solidFill>
                        <a:srgbClr val="C4CCA6"/>
                      </a:solidFill>
                    </a:lnR>
                    <a:lnT w="6350">
                      <a:solidFill>
                        <a:srgbClr val="C4CCA6"/>
                      </a:solidFill>
                    </a:lnT>
                    <a:lnB w="6350">
                      <a:solidFill>
                        <a:srgbClr val="C4CCA6"/>
                      </a:solidFill>
                    </a:lnB>
                    <a:solidFill>
                      <a:srgbClr val="F1F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8247888" y="1691640"/>
            <a:ext cx="3182111" cy="2011680"/>
          </a:xfrm>
          <a:prstGeom prst="roundRect">
            <a:avLst>
              <a:gd name="adj" fmla="val 8000"/>
            </a:avLst>
          </a:prstGeom>
          <a:solidFill>
            <a:srgbClr val="E3EACF">
              <a:alpha val="9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"/>
          <p:cNvSpPr txBox="1"/>
          <p:nvPr/>
        </p:nvSpPr>
        <p:spPr>
          <a:xfrm>
            <a:off x="8458200" y="1801368"/>
            <a:ext cx="2770631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A53010"/>
                </a:solidFill>
                <a:latin typeface="Calibri"/>
                <a:cs typeface="Calibri"/>
              </a:rPr>
              <a:t>SCRUMBAN</a:t>
            </a:r>
          </a:p>
          <a:p>
            <a:pPr algn="l">
              <a:spcAft>
                <a:spcPts val="300"/>
              </a:spcAft>
              <a:buNone/>
            </a:pPr>
            <a:r>
              <a:rPr sz="1600" b="0" i="0">
                <a:solidFill>
                  <a:srgbClr val="3A3A30"/>
                </a:solidFill>
                <a:latin typeface="Calibri"/>
                <a:cs typeface="Calibri"/>
              </a:rPr>
              <a:t>Keep Scrum’s events and roles; add WIP limits and pull inside the sprint.</a:t>
            </a:r>
          </a:p>
        </p:txBody>
      </p:sp>
      <p:sp>
        <p:nvSpPr>
          <p:cNvPr id="6" name="Card"/>
          <p:cNvSpPr/>
          <p:nvPr/>
        </p:nvSpPr>
        <p:spPr>
          <a:xfrm>
            <a:off x="8247888" y="3840480"/>
            <a:ext cx="3182111" cy="2011680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"/>
          <p:cNvSpPr txBox="1"/>
          <p:nvPr/>
        </p:nvSpPr>
        <p:spPr>
          <a:xfrm>
            <a:off x="8458200" y="3931920"/>
            <a:ext cx="2770631" cy="187451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>
                <a:solidFill>
                  <a:srgbClr val="A53010"/>
                </a:solidFill>
                <a:latin typeface="Calibri"/>
                <a:cs typeface="Calibri"/>
              </a:rPr>
              <a:t>WHEN NEITHER FITS</a:t>
            </a:r>
          </a:p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50" b="0" i="0">
                <a:solidFill>
                  <a:srgbClr val="5E5943"/>
                </a:solidFill>
                <a:latin typeface="Calibri"/>
                <a:cs typeface="Calibri"/>
              </a:rPr>
              <a:t>Safety-critical or certified systems</a:t>
            </a:r>
          </a:p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50" b="0" i="0">
                <a:solidFill>
                  <a:srgbClr val="5E5943"/>
                </a:solidFill>
                <a:latin typeface="Calibri"/>
                <a:cs typeface="Calibri"/>
              </a:rPr>
              <a:t>Fixed-price, fixed-scope contracts</a:t>
            </a:r>
          </a:p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50" b="0" i="0">
                <a:solidFill>
                  <a:srgbClr val="5E5943"/>
                </a:solidFill>
                <a:latin typeface="Calibri"/>
                <a:cs typeface="Calibri"/>
              </a:rPr>
              <a:t>Hardware with long lead times</a:t>
            </a:r>
          </a:p>
          <a:p>
            <a:pPr marL="228600" indent="-228600" algn="l">
              <a:spcAft>
                <a:spcPts val="200"/>
              </a:spcAft>
              <a:buClr>
                <a:srgbClr val="A53010"/>
              </a:buClr>
              <a:buFont typeface="Arial"/>
              <a:buChar char="•"/>
            </a:pPr>
            <a:r>
              <a:rPr sz="1550" b="0" i="0">
                <a:solidFill>
                  <a:srgbClr val="5E5943"/>
                </a:solidFill>
                <a:latin typeface="Calibri"/>
                <a:cs typeface="Calibri"/>
              </a:rPr>
              <a:t>Truly stable requirements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sz="3200" dirty="0">
                <a:latin typeface="Calibri"/>
                <a:cs typeface="Calibri"/>
              </a:rPr>
              <a:t>Activity : Match the Approach to the Project</a:t>
            </a:r>
          </a:p>
        </p:txBody>
      </p:sp>
      <p:sp>
        <p:nvSpPr>
          <p:cNvPr id="3" name="Card"/>
          <p:cNvSpPr/>
          <p:nvPr/>
        </p:nvSpPr>
        <p:spPr>
          <a:xfrm>
            <a:off x="1801368" y="1737360"/>
            <a:ext cx="3108960" cy="1938528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Badge"/>
          <p:cNvSpPr/>
          <p:nvPr/>
        </p:nvSpPr>
        <p:spPr>
          <a:xfrm>
            <a:off x="1938528" y="1874519"/>
            <a:ext cx="420624" cy="420624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A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984248" y="2377439"/>
            <a:ext cx="27889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50" b="0" i="0">
                <a:solidFill>
                  <a:srgbClr val="3A3A30"/>
                </a:solidFill>
                <a:latin typeface="Calibri"/>
                <a:cs typeface="Calibri"/>
              </a:rPr>
              <a:t>Hospital radiotherapy module. Must be certified before clinical use; requirements come from a clinical standard.</a:t>
            </a:r>
          </a:p>
        </p:txBody>
      </p:sp>
      <p:sp>
        <p:nvSpPr>
          <p:cNvPr id="6" name="Card"/>
          <p:cNvSpPr/>
          <p:nvPr/>
        </p:nvSpPr>
        <p:spPr>
          <a:xfrm>
            <a:off x="5047488" y="1737360"/>
            <a:ext cx="3108960" cy="1938528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Badge"/>
          <p:cNvSpPr/>
          <p:nvPr/>
        </p:nvSpPr>
        <p:spPr>
          <a:xfrm>
            <a:off x="5184648" y="1874519"/>
            <a:ext cx="420624" cy="420624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B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5230368" y="2377439"/>
            <a:ext cx="27889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50" b="0" i="0">
                <a:solidFill>
                  <a:srgbClr val="3A3A30"/>
                </a:solidFill>
                <a:latin typeface="Calibri"/>
                <a:cs typeface="Calibri"/>
              </a:rPr>
              <a:t>Three-person startup building a food-delivery app. No customers yet; the core feature changes every month.</a:t>
            </a:r>
          </a:p>
        </p:txBody>
      </p:sp>
      <p:sp>
        <p:nvSpPr>
          <p:cNvPr id="9" name="Card"/>
          <p:cNvSpPr/>
          <p:nvPr/>
        </p:nvSpPr>
        <p:spPr>
          <a:xfrm>
            <a:off x="1801368" y="3840479"/>
            <a:ext cx="3108960" cy="1938528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Badge"/>
          <p:cNvSpPr/>
          <p:nvPr/>
        </p:nvSpPr>
        <p:spPr>
          <a:xfrm>
            <a:off x="1938528" y="3977639"/>
            <a:ext cx="420624" cy="420624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C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984248" y="4480559"/>
            <a:ext cx="27889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50" b="0" i="0">
                <a:solidFill>
                  <a:srgbClr val="3A3A30"/>
                </a:solidFill>
                <a:latin typeface="Calibri"/>
                <a:cs typeface="Calibri"/>
              </a:rPr>
              <a:t>University payroll migration to a new system with the same rules. The team has done two similar migrations.</a:t>
            </a:r>
          </a:p>
        </p:txBody>
      </p:sp>
      <p:sp>
        <p:nvSpPr>
          <p:cNvPr id="12" name="Card"/>
          <p:cNvSpPr/>
          <p:nvPr/>
        </p:nvSpPr>
        <p:spPr>
          <a:xfrm>
            <a:off x="5047488" y="3840479"/>
            <a:ext cx="3108960" cy="1938528"/>
          </a:xfrm>
          <a:prstGeom prst="roundRect">
            <a:avLst>
              <a:gd name="adj" fmla="val 8000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Badge"/>
          <p:cNvSpPr/>
          <p:nvPr/>
        </p:nvSpPr>
        <p:spPr>
          <a:xfrm>
            <a:off x="5184648" y="3977639"/>
            <a:ext cx="420624" cy="420624"/>
          </a:xfrm>
          <a:prstGeom prst="ellipse">
            <a:avLst/>
          </a:prstGeom>
          <a:solidFill>
            <a:srgbClr val="A53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cs typeface="Calibri"/>
              </a:rPr>
              <a:t>D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5230368" y="4480559"/>
            <a:ext cx="27889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50" b="0" i="0">
                <a:solidFill>
                  <a:srgbClr val="3A3A30"/>
                </a:solidFill>
                <a:latin typeface="Calibri"/>
                <a:cs typeface="Calibri"/>
              </a:rPr>
              <a:t>In-house team maintaining 12 internal systems. Work arrives as tickets, from 10 minutes to 2 weeks long.</a:t>
            </a:r>
          </a:p>
        </p:txBody>
      </p:sp>
      <p:sp>
        <p:nvSpPr>
          <p:cNvPr id="15" name="Card"/>
          <p:cNvSpPr/>
          <p:nvPr/>
        </p:nvSpPr>
        <p:spPr>
          <a:xfrm>
            <a:off x="8385048" y="1737360"/>
            <a:ext cx="3044951" cy="4114800"/>
          </a:xfrm>
          <a:prstGeom prst="roundRect">
            <a:avLst>
              <a:gd name="adj" fmla="val 8000"/>
            </a:avLst>
          </a:prstGeom>
          <a:solidFill>
            <a:srgbClr val="E3EACF">
              <a:alpha val="9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"/>
          <p:cNvSpPr txBox="1"/>
          <p:nvPr/>
        </p:nvSpPr>
        <p:spPr>
          <a:xfrm>
            <a:off x="8613648" y="1874519"/>
            <a:ext cx="2587751" cy="393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400" b="1" i="0" dirty="0">
                <a:solidFill>
                  <a:srgbClr val="A53010"/>
                </a:solidFill>
                <a:latin typeface="Calibri"/>
                <a:cs typeface="Calibri"/>
              </a:rPr>
              <a:t>YOUR TASK (TRIOS)</a:t>
            </a:r>
          </a:p>
          <a:p>
            <a:pPr marL="228600" indent="-228600" algn="l">
              <a:spcAft>
                <a:spcPts val="600"/>
              </a:spcAft>
              <a:buClr>
                <a:srgbClr val="A53010"/>
              </a:buClr>
              <a:buFont typeface="Arial"/>
              <a:buChar char="•"/>
            </a:pPr>
            <a:r>
              <a:rPr sz="1600" b="0" i="0" dirty="0">
                <a:solidFill>
                  <a:srgbClr val="3A3A30"/>
                </a:solidFill>
                <a:latin typeface="Calibri"/>
                <a:cs typeface="Calibri"/>
              </a:rPr>
              <a:t>Pick for each: Predictive, Scrum, Kanban or a hybrid.</a:t>
            </a:r>
          </a:p>
          <a:p>
            <a:pPr marL="228600" indent="-228600" algn="l">
              <a:spcAft>
                <a:spcPts val="600"/>
              </a:spcAft>
              <a:buClr>
                <a:srgbClr val="A53010"/>
              </a:buClr>
              <a:buFont typeface="Arial"/>
              <a:buChar char="•"/>
            </a:pPr>
            <a:r>
              <a:rPr sz="1600" b="0" i="0" dirty="0">
                <a:solidFill>
                  <a:srgbClr val="3A3A30"/>
                </a:solidFill>
                <a:latin typeface="Calibri"/>
                <a:cs typeface="Calibri"/>
              </a:rPr>
              <a:t>Justify with one constraint from the scenario.</a:t>
            </a:r>
          </a:p>
          <a:p>
            <a:pPr marL="228600" indent="-228600" algn="l">
              <a:spcAft>
                <a:spcPts val="1400"/>
              </a:spcAft>
              <a:buClr>
                <a:srgbClr val="A53010"/>
              </a:buClr>
              <a:buFont typeface="Arial"/>
              <a:buChar char="•"/>
            </a:pPr>
            <a:r>
              <a:rPr sz="1600" b="0" i="0" dirty="0">
                <a:solidFill>
                  <a:srgbClr val="3A3A30"/>
                </a:solidFill>
                <a:latin typeface="Calibri"/>
                <a:cs typeface="Calibri"/>
              </a:rPr>
              <a:t>For the hardest one: what single fact would change your answer?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sz="3200">
                <a:latin typeface="Calibri"/>
                <a:cs typeface="Calibri"/>
              </a:rPr>
              <a:t>Exit Ticket</a:t>
            </a:r>
          </a:p>
        </p:txBody>
      </p:sp>
      <p:sp>
        <p:nvSpPr>
          <p:cNvPr id="3" name="Card"/>
          <p:cNvSpPr/>
          <p:nvPr/>
        </p:nvSpPr>
        <p:spPr>
          <a:xfrm>
            <a:off x="2350008" y="1828800"/>
            <a:ext cx="8531352" cy="2377440"/>
          </a:xfrm>
          <a:prstGeom prst="roundRect">
            <a:avLst>
              <a:gd name="adj" fmla="val 8000"/>
            </a:avLst>
          </a:prstGeom>
          <a:solidFill>
            <a:srgbClr val="E3EACF">
              <a:alpha val="95000"/>
            </a:srgbClr>
          </a:solidFill>
          <a:ln w="9525">
            <a:solidFill>
              <a:srgbClr val="C4CCA6"/>
            </a:solidFill>
          </a:ln>
          <a:effectLst>
            <a:outerShdw blurRad="63500" dist="19050" dir="5400000" algn="t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"/>
          <p:cNvSpPr txBox="1"/>
          <p:nvPr/>
        </p:nvSpPr>
        <p:spPr>
          <a:xfrm>
            <a:off x="2715768" y="1828800"/>
            <a:ext cx="7799831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2800" b="1" i="0" dirty="0">
                <a:solidFill>
                  <a:srgbClr val="3A3A30"/>
                </a:solidFill>
                <a:latin typeface="Calibri"/>
                <a:cs typeface="Calibri"/>
              </a:rPr>
              <a:t>Your FYP: predictive, Scrum or Kanban?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794" y="597606"/>
            <a:ext cx="8911687" cy="1280890"/>
          </a:xfrm>
        </p:spPr>
        <p:txBody>
          <a:bodyPr/>
          <a:lstStyle/>
          <a:p>
            <a:r>
              <a:rPr lang="en-US" sz="3200" dirty="0">
                <a:latin typeface="Calibri"/>
                <a:cs typeface="Calibri"/>
              </a:rPr>
              <a:t>Conclusion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7794" y="1880000"/>
            <a:ext cx="9632206" cy="4450000"/>
          </a:xfrm>
        </p:spPr>
        <p:txBody>
          <a:bodyPr>
            <a:noAutofit/>
          </a:bodyPr>
          <a:lstStyle/>
          <a:p>
            <a:pPr marL="457200" indent="-457200">
              <a:spcBef>
                <a:spcPts val="1300"/>
              </a:spcBef>
              <a:buClr>
                <a:srgbClr val="A53010"/>
              </a:buClr>
              <a:buFont typeface="+mj-lt"/>
              <a:buAutoNum type="arabicPeriod"/>
            </a:pPr>
            <a:r>
              <a:rPr sz="2000">
                <a:latin typeface="Calibri"/>
                <a:cs typeface="Calibri"/>
              </a:rPr>
              <a:t>A product outlives the projects that build it; your project inherits and imposes constraints.</a:t>
            </a:r>
          </a:p>
          <a:p>
            <a:pPr marL="457200" indent="-457200">
              <a:spcBef>
                <a:spcPts val="1300"/>
              </a:spcBef>
              <a:buClr>
                <a:srgbClr val="A53010"/>
              </a:buClr>
              <a:buFont typeface="+mj-lt"/>
              <a:buAutoNum type="arabicPeriod"/>
            </a:pPr>
            <a:r>
              <a:rPr sz="2000">
                <a:latin typeface="Calibri"/>
                <a:cs typeface="Calibri"/>
              </a:rPr>
              <a:t>A phase gate is only useful if stopping the project is a real option.</a:t>
            </a:r>
          </a:p>
          <a:p>
            <a:pPr marL="457200" indent="-457200">
              <a:spcBef>
                <a:spcPts val="1300"/>
              </a:spcBef>
              <a:buClr>
                <a:srgbClr val="A53010"/>
              </a:buClr>
              <a:buFont typeface="+mj-lt"/>
              <a:buAutoNum type="arabicPeriod"/>
            </a:pPr>
            <a:r>
              <a:rPr sz="2000">
                <a:latin typeface="Calibri"/>
                <a:cs typeface="Calibri"/>
              </a:rPr>
              <a:t>Planning is reasoning, not a Gantt chart: iterative, progressively elaborated, baselined.</a:t>
            </a:r>
          </a:p>
          <a:p>
            <a:pPr marL="457200" indent="-457200">
              <a:spcBef>
                <a:spcPts val="1300"/>
              </a:spcBef>
              <a:buClr>
                <a:srgbClr val="A53010"/>
              </a:buClr>
              <a:buFont typeface="+mj-lt"/>
              <a:buAutoNum type="arabicPeriod"/>
            </a:pPr>
            <a:r>
              <a:rPr sz="2000">
                <a:latin typeface="Calibri"/>
                <a:cs typeface="Calibri"/>
              </a:rPr>
              <a:t>Agile moves planning; it does not remove it.</a:t>
            </a:r>
          </a:p>
          <a:p>
            <a:pPr marL="457200" indent="-457200">
              <a:spcBef>
                <a:spcPts val="1300"/>
              </a:spcBef>
              <a:buClr>
                <a:srgbClr val="A53010"/>
              </a:buClr>
              <a:buFont typeface="+mj-lt"/>
              <a:buAutoNum type="arabicPeriod"/>
            </a:pPr>
            <a:r>
              <a:rPr sz="2000">
                <a:latin typeface="Calibri"/>
                <a:cs typeface="Calibri"/>
              </a:rPr>
              <a:t>Scrum timeboxes the work; Kanban limits it. Both are inspect-and-adapt controls.</a:t>
            </a:r>
          </a:p>
          <a:p>
            <a:pPr marL="457200" indent="-457200">
              <a:spcBef>
                <a:spcPts val="1300"/>
              </a:spcBef>
              <a:buClr>
                <a:srgbClr val="A53010"/>
              </a:buClr>
              <a:buFont typeface="+mj-lt"/>
              <a:buAutoNum type="arabicPeriod"/>
            </a:pPr>
            <a:r>
              <a:rPr sz="2000">
                <a:latin typeface="Calibri"/>
                <a:cs typeface="Calibri"/>
              </a:rPr>
              <a:t>Choose by the shape of the work and its uncertainty, not by what sounds modern.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2159</TotalTime>
  <Words>2442</Words>
  <Application>Microsoft Office PowerPoint</Application>
  <PresentationFormat>Widescreen</PresentationFormat>
  <Paragraphs>424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Century Gothic</vt:lpstr>
      <vt:lpstr>Wingdings 3</vt:lpstr>
      <vt:lpstr>Wisp</vt:lpstr>
      <vt:lpstr>Software Project Management Life Cycles, Planning &amp; Agile Methods</vt:lpstr>
      <vt:lpstr>PowerPoint Presentation</vt:lpstr>
      <vt:lpstr>Today’s Agenda</vt:lpstr>
      <vt:lpstr>Product and Project Life Cycles</vt:lpstr>
      <vt:lpstr>Project Vs Product</vt:lpstr>
      <vt:lpstr>A Product Life Cycle Contains Many Project Life Cycles</vt:lpstr>
      <vt:lpstr>Phases of a Project</vt:lpstr>
      <vt:lpstr>The Five Process Groups</vt:lpstr>
      <vt:lpstr>Phases, Deliverables and Gates</vt:lpstr>
      <vt:lpstr>Activity : Make the Gate Call</vt:lpstr>
      <vt:lpstr>Software Project Planning</vt:lpstr>
      <vt:lpstr>Defining the Planning Process</vt:lpstr>
      <vt:lpstr>How Much Can You Plan Up Front?</vt:lpstr>
      <vt:lpstr>Introduction to Agile</vt:lpstr>
      <vt:lpstr>The Agile Manifesto: Four Values</vt:lpstr>
      <vt:lpstr>The Twelve Principles in Four Groups</vt:lpstr>
      <vt:lpstr>Plan-Driven and Agile Side by Side</vt:lpstr>
      <vt:lpstr>Activity 2: Agile Myth or Fact?</vt:lpstr>
      <vt:lpstr>The Scrum Framework</vt:lpstr>
      <vt:lpstr>How a Sprint Runs</vt:lpstr>
      <vt:lpstr>Three Accountabilities and How Each One Fails</vt:lpstr>
      <vt:lpstr>Five Events: Timeboxed Inspect-and-Adapt Points</vt:lpstr>
      <vt:lpstr>Three Artifacts, Each With a Commitment</vt:lpstr>
      <vt:lpstr>Activity: Who Owns It?</vt:lpstr>
      <vt:lpstr>Kanban</vt:lpstr>
      <vt:lpstr>Kanban: Visualise the Work, Then Limit It</vt:lpstr>
      <vt:lpstr>Why Limiting WIP Works: Little’s Law</vt:lpstr>
      <vt:lpstr>Choosing Between Scrum and Kanban</vt:lpstr>
      <vt:lpstr>Activity : Match the Approach to the Project</vt:lpstr>
      <vt:lpstr>Exit Ticket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Requirements Engineering</dc:title>
  <dc:creator>Haroon Abdul Waheed</dc:creator>
  <cp:lastModifiedBy>Dr Anam Mustaqeem</cp:lastModifiedBy>
  <cp:revision>140</cp:revision>
  <dcterms:created xsi:type="dcterms:W3CDTF">2019-10-12T16:18:10Z</dcterms:created>
  <dcterms:modified xsi:type="dcterms:W3CDTF">2026-10-12T05:39:08Z</dcterms:modified>
</cp:coreProperties>
</file>