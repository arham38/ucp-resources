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77" r:id="rId1"/>
  </p:sldMasterIdLst>
  <p:notesMasterIdLst>
    <p:notesMasterId r:id="rId71"/>
  </p:notesMasterIdLst>
  <p:handoutMasterIdLst>
    <p:handoutMasterId r:id="rId72"/>
  </p:handoutMasterIdLst>
  <p:sldIdLst>
    <p:sldId id="548" r:id="rId2"/>
    <p:sldId id="550" r:id="rId3"/>
    <p:sldId id="551" r:id="rId4"/>
    <p:sldId id="523" r:id="rId5"/>
    <p:sldId id="524" r:id="rId6"/>
    <p:sldId id="525" r:id="rId7"/>
    <p:sldId id="526" r:id="rId8"/>
    <p:sldId id="527" r:id="rId9"/>
    <p:sldId id="528" r:id="rId10"/>
    <p:sldId id="529" r:id="rId11"/>
    <p:sldId id="552" r:id="rId12"/>
    <p:sldId id="553" r:id="rId13"/>
    <p:sldId id="530" r:id="rId14"/>
    <p:sldId id="531" r:id="rId15"/>
    <p:sldId id="563" r:id="rId16"/>
    <p:sldId id="562" r:id="rId17"/>
    <p:sldId id="532" r:id="rId18"/>
    <p:sldId id="564" r:id="rId19"/>
    <p:sldId id="534" r:id="rId20"/>
    <p:sldId id="535" r:id="rId21"/>
    <p:sldId id="565" r:id="rId22"/>
    <p:sldId id="536" r:id="rId23"/>
    <p:sldId id="505" r:id="rId24"/>
    <p:sldId id="544" r:id="rId25"/>
    <p:sldId id="506" r:id="rId26"/>
    <p:sldId id="542" r:id="rId27"/>
    <p:sldId id="543" r:id="rId28"/>
    <p:sldId id="507" r:id="rId29"/>
    <p:sldId id="508" r:id="rId30"/>
    <p:sldId id="509" r:id="rId31"/>
    <p:sldId id="510" r:id="rId32"/>
    <p:sldId id="545" r:id="rId33"/>
    <p:sldId id="538" r:id="rId34"/>
    <p:sldId id="539" r:id="rId35"/>
    <p:sldId id="556" r:id="rId36"/>
    <p:sldId id="540" r:id="rId37"/>
    <p:sldId id="557" r:id="rId38"/>
    <p:sldId id="555" r:id="rId39"/>
    <p:sldId id="558" r:id="rId40"/>
    <p:sldId id="495" r:id="rId41"/>
    <p:sldId id="411" r:id="rId42"/>
    <p:sldId id="459" r:id="rId43"/>
    <p:sldId id="460" r:id="rId44"/>
    <p:sldId id="461" r:id="rId45"/>
    <p:sldId id="463" r:id="rId46"/>
    <p:sldId id="511" r:id="rId47"/>
    <p:sldId id="465" r:id="rId48"/>
    <p:sldId id="497" r:id="rId49"/>
    <p:sldId id="469" r:id="rId50"/>
    <p:sldId id="512" r:id="rId51"/>
    <p:sldId id="491" r:id="rId52"/>
    <p:sldId id="513" r:id="rId53"/>
    <p:sldId id="547" r:id="rId54"/>
    <p:sldId id="520" r:id="rId55"/>
    <p:sldId id="521" r:id="rId56"/>
    <p:sldId id="522" r:id="rId57"/>
    <p:sldId id="546" r:id="rId58"/>
    <p:sldId id="514" r:id="rId59"/>
    <p:sldId id="475" r:id="rId60"/>
    <p:sldId id="476" r:id="rId61"/>
    <p:sldId id="515" r:id="rId62"/>
    <p:sldId id="477" r:id="rId63"/>
    <p:sldId id="478" r:id="rId64"/>
    <p:sldId id="479" r:id="rId65"/>
    <p:sldId id="496" r:id="rId66"/>
    <p:sldId id="549" r:id="rId67"/>
    <p:sldId id="466" r:id="rId68"/>
    <p:sldId id="561" r:id="rId69"/>
    <p:sldId id="467" r:id="rId70"/>
  </p:sldIdLst>
  <p:sldSz cx="9144000" cy="6858000" type="screen4x3"/>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3300"/>
    <a:srgbClr val="996600"/>
    <a:srgbClr val="0000CC"/>
    <a:srgbClr val="006600"/>
    <a:srgbClr val="6C7992"/>
    <a:srgbClr val="4D7473"/>
    <a:srgbClr val="4E7776"/>
    <a:srgbClr val="66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27" autoAdjust="0"/>
    <p:restoredTop sz="82320" autoAdjust="0"/>
  </p:normalViewPr>
  <p:slideViewPr>
    <p:cSldViewPr>
      <p:cViewPr varScale="1">
        <p:scale>
          <a:sx n="60" d="100"/>
          <a:sy n="60" d="100"/>
        </p:scale>
        <p:origin x="1656"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7176"/>
    </p:cViewPr>
  </p:sorterViewPr>
  <p:notesViewPr>
    <p:cSldViewPr>
      <p:cViewPr varScale="1">
        <p:scale>
          <a:sx n="57" d="100"/>
          <a:sy n="57" d="100"/>
        </p:scale>
        <p:origin x="-2520"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52B5413-CAB0-4594-9311-B0DECC0EB2F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a:extLst>
              <a:ext uri="{FF2B5EF4-FFF2-40B4-BE49-F238E27FC236}">
                <a16:creationId xmlns:a16="http://schemas.microsoft.com/office/drawing/2014/main" id="{6F45BE5E-8295-4D02-A46D-895C155C9BA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A528350-569A-46BE-8089-03A6BDFDB4CA}" type="datetimeFigureOut">
              <a:rPr lang="en-PK" smtClean="0"/>
              <a:t>05/10/2026</a:t>
            </a:fld>
            <a:endParaRPr lang="en-PK"/>
          </a:p>
        </p:txBody>
      </p:sp>
      <p:sp>
        <p:nvSpPr>
          <p:cNvPr id="4" name="Footer Placeholder 3">
            <a:extLst>
              <a:ext uri="{FF2B5EF4-FFF2-40B4-BE49-F238E27FC236}">
                <a16:creationId xmlns:a16="http://schemas.microsoft.com/office/drawing/2014/main" id="{AAD577E4-4196-4CEC-8692-54FC681A597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5" name="Slide Number Placeholder 4">
            <a:extLst>
              <a:ext uri="{FF2B5EF4-FFF2-40B4-BE49-F238E27FC236}">
                <a16:creationId xmlns:a16="http://schemas.microsoft.com/office/drawing/2014/main" id="{3AA1124A-7B7E-48C0-B36C-20F41412D73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22F6E5C-E7AA-46AF-B867-3A87F744A5B9}" type="slidenum">
              <a:rPr lang="en-PK" smtClean="0"/>
              <a:t>‹#›</a:t>
            </a:fld>
            <a:endParaRPr lang="en-PK"/>
          </a:p>
        </p:txBody>
      </p:sp>
    </p:spTree>
    <p:extLst>
      <p:ext uri="{BB962C8B-B14F-4D97-AF65-F5344CB8AC3E}">
        <p14:creationId xmlns:p14="http://schemas.microsoft.com/office/powerpoint/2010/main" val="1617209468"/>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Arial" charset="0"/>
                <a:cs typeface="Arial" charset="0"/>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Arial" charset="0"/>
                <a:cs typeface="Arial" charset="0"/>
              </a:defRPr>
            </a:lvl1pPr>
          </a:lstStyle>
          <a:p>
            <a:pPr>
              <a:defRPr/>
            </a:pPr>
            <a:fld id="{9C68D871-5170-4D02-9BA7-C104D375387C}" type="datetimeFigureOut">
              <a:rPr lang="en-US"/>
              <a:pPr>
                <a:defRPr/>
              </a:pPr>
              <a:t>10/5/2026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Arial" charset="0"/>
                <a:cs typeface="Arial" charset="0"/>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fontAlgn="auto" hangingPunct="1">
              <a:spcBef>
                <a:spcPts val="0"/>
              </a:spcBef>
              <a:spcAft>
                <a:spcPts val="0"/>
              </a:spcAft>
              <a:defRPr sz="1200">
                <a:latin typeface="+mn-lt"/>
              </a:defRPr>
            </a:lvl1pPr>
          </a:lstStyle>
          <a:p>
            <a:pPr>
              <a:defRPr/>
            </a:pPr>
            <a:fld id="{639D7793-4D1A-40DA-8609-BFF61584ADA1}"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Session 1 (today): the four project dimensions, classic mistakes, and projects vs operations.</a:t>
            </a:r>
          </a:p>
          <a:p>
            <a:r>
              <a:rPr dirty="0"/>
              <a:t>Session 2: life cycle, phases, phase relationships, and product vs project life cycle.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ACTIVITY 1 [~10 min] - do this BEFORE showing the four dimensions.</a:t>
            </a:r>
          </a:p>
          <a:p>
            <a:r>
              <a:t>1. Give 1 minute of silent thinking: a semester project, group assignment or FYP stage that went badly.</a:t>
            </a:r>
          </a:p>
          <a:p>
            <a:r>
              <a:t>2. Each student writes ONE biggest reason on a sticky note or paper slip. One reason only, short phrase.</a:t>
            </a:r>
          </a:p>
          <a:p>
            <a:r>
              <a:t>3. Collect the slips. Read 8-10 aloud and stick/write them on the board in four columns WITHOUT labels. Group similar ones together as you go.</a:t>
            </a:r>
          </a:p>
          <a:p>
            <a:r>
              <a:t>4. Ask the class: "What do the notes in each column have in common?" Let them try to name the columns.</a:t>
            </a:r>
          </a:p>
          <a:p>
            <a:r>
              <a:t>5. Reveal the labels: People, Process, Product, Technology (next slide).</a:t>
            </a:r>
          </a:p>
          <a:p>
            <a:r>
              <a:t>Expected result: most notes land in People (teammate didn't contribute, poor communication) and Process (started late, no plan). Very few in Technology. That is the whole point of the next slides: "It's always a people problem."</a:t>
            </a:r>
          </a:p>
          <a:p>
            <a:r>
              <a:t>Tip: keep the slips. You can reuse them when you reach the Classic Mistakes slides.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Rot="1" noChangeAspect="1" noChangeArrowheads="1" noTextEdit="1"/>
          </p:cNvSpPr>
          <p:nvPr>
            <p:ph type="sldImg"/>
          </p:nvPr>
        </p:nvSpPr>
        <p:spPr>
          <a:ln/>
        </p:spPr>
      </p:sp>
      <p:sp>
        <p:nvSpPr>
          <p:cNvPr id="92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Peopleware issues</a:t>
            </a:r>
          </a:p>
          <a:p>
            <a:pPr eaLnBrk="1" hangingPunct="1">
              <a:buFontTx/>
              <a:buChar char="-"/>
            </a:pPr>
            <a:r>
              <a:rPr lang="en-US" altLang="en-US">
                <a:latin typeface="Times New Roman" panose="02020603050405020304" pitchFamily="18" charset="0"/>
              </a:rPr>
              <a:t>10-to-1 difference in Dev productivity</a:t>
            </a:r>
          </a:p>
          <a:p>
            <a:pPr eaLnBrk="1" hangingPunct="1">
              <a:buFontTx/>
              <a:buChar char="-"/>
            </a:pPr>
            <a:r>
              <a:rPr lang="en-US" altLang="en-US">
                <a:latin typeface="Times New Roman" panose="02020603050405020304" pitchFamily="18" charset="0"/>
              </a:rPr>
              <a:t>Teams 3 or 5 to 1 diff</a:t>
            </a:r>
          </a:p>
          <a:p>
            <a:pPr eaLnBrk="1" hangingPunct="1">
              <a:buFontTx/>
              <a:buChar char="-"/>
            </a:pPr>
            <a:r>
              <a:rPr lang="en-US" altLang="en-US">
                <a:latin typeface="Times New Roman" panose="02020603050405020304" pitchFamily="18" charset="0"/>
              </a:rPr>
              <a:t>Process</a:t>
            </a:r>
          </a:p>
          <a:p>
            <a:pPr eaLnBrk="1" hangingPunct="1">
              <a:buFontTx/>
              <a:buChar char="-"/>
            </a:pPr>
            <a:r>
              <a:rPr lang="en-US" altLang="en-US">
                <a:latin typeface="Times New Roman" panose="02020603050405020304" pitchFamily="18" charset="0"/>
              </a:rPr>
              <a:t>Dev basics, risk mgmt, QA, lifecycle planning, customer orientation</a:t>
            </a:r>
          </a:p>
          <a:p>
            <a:pPr eaLnBrk="1" hangingPunct="1">
              <a:buFontTx/>
              <a:buChar char="-"/>
            </a:pPr>
            <a:r>
              <a:rPr lang="en-US" altLang="en-US">
                <a:latin typeface="Times New Roman" panose="02020603050405020304" pitchFamily="18" charset="0"/>
              </a:rPr>
              <a:t>Product</a:t>
            </a:r>
          </a:p>
          <a:p>
            <a:pPr eaLnBrk="1" hangingPunct="1">
              <a:buFontTx/>
              <a:buChar char="-"/>
            </a:pPr>
            <a:r>
              <a:rPr lang="en-US" altLang="en-US">
                <a:latin typeface="Times New Roman" panose="02020603050405020304" pitchFamily="18" charset="0"/>
              </a:rPr>
              <a:t>Most tangible dimension</a:t>
            </a:r>
          </a:p>
          <a:p>
            <a:pPr eaLnBrk="1" hangingPunct="1">
              <a:buFontTx/>
              <a:buChar char="-"/>
            </a:pPr>
            <a:r>
              <a:rPr lang="en-US" altLang="en-US">
                <a:latin typeface="Times New Roman" panose="02020603050405020304" pitchFamily="18" charset="0"/>
              </a:rPr>
              <a:t>Technology</a:t>
            </a:r>
          </a:p>
        </p:txBody>
      </p:sp>
    </p:spTree>
    <p:extLst>
      <p:ext uri="{BB962C8B-B14F-4D97-AF65-F5344CB8AC3E}">
        <p14:creationId xmlns:p14="http://schemas.microsoft.com/office/powerpoint/2010/main" val="38803575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Rot="1" noChangeAspect="1" noChangeArrowheads="1" noTextEdit="1"/>
          </p:cNvSpPr>
          <p:nvPr>
            <p:ph type="sldImg"/>
          </p:nvPr>
        </p:nvSpPr>
        <p:spPr>
          <a:ln/>
        </p:spPr>
      </p:sp>
      <p:sp>
        <p:nvSpPr>
          <p:cNvPr id="112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Teams: 5-to-1 range</a:t>
            </a:r>
          </a:p>
        </p:txBody>
      </p:sp>
    </p:spTree>
    <p:extLst>
      <p:ext uri="{BB962C8B-B14F-4D97-AF65-F5344CB8AC3E}">
        <p14:creationId xmlns:p14="http://schemas.microsoft.com/office/powerpoint/2010/main" val="18571658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Stfling= very hard</a:t>
            </a:r>
          </a:p>
          <a:p>
            <a:pPr eaLnBrk="1" hangingPunct="1">
              <a:buFontTx/>
              <a:buChar char="-"/>
            </a:pPr>
            <a:r>
              <a:rPr lang="en-US" altLang="en-US">
                <a:latin typeface="Times New Roman" panose="02020603050405020304" pitchFamily="18" charset="0"/>
              </a:rPr>
              <a:t>cut time-to-market</a:t>
            </a:r>
          </a:p>
          <a:p>
            <a:pPr eaLnBrk="1" hangingPunct="1">
              <a:buFontTx/>
              <a:buChar char="-"/>
            </a:pPr>
            <a:r>
              <a:rPr lang="en-US" altLang="en-US">
                <a:latin typeface="Times New Roman" panose="02020603050405020304" pitchFamily="18" charset="0"/>
              </a:rPr>
              <a:t>Improve quality</a:t>
            </a:r>
          </a:p>
          <a:p>
            <a:pPr eaLnBrk="1" hangingPunct="1"/>
            <a:endParaRPr lang="en-US" altLang="en-US">
              <a:latin typeface="Times New Roman" panose="02020603050405020304" pitchFamily="18" charset="0"/>
            </a:endParaRPr>
          </a:p>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1371219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Seductive: good reason for decisions at the time</a:t>
            </a:r>
          </a:p>
          <a:p>
            <a:pPr eaLnBrk="1" hangingPunct="1">
              <a:buFontTx/>
              <a:buChar char="-"/>
            </a:pPr>
            <a:r>
              <a:rPr lang="en-US" altLang="en-US">
                <a:latin typeface="Times New Roman" panose="02020603050405020304" pitchFamily="18" charset="0"/>
              </a:rPr>
              <a:t>Some are IT, most not</a:t>
            </a:r>
          </a:p>
          <a:p>
            <a:pPr eaLnBrk="1" hangingPunct="1">
              <a:buFontTx/>
              <a:buChar char="-"/>
            </a:pPr>
            <a:r>
              <a:rPr lang="en-US" altLang="en-US">
                <a:latin typeface="Times New Roman" panose="02020603050405020304" pitchFamily="18" charset="0"/>
              </a:rPr>
              <a:t>We’ll visit these throughout course</a:t>
            </a:r>
          </a:p>
          <a:p>
            <a:pPr eaLnBrk="1" hangingPunct="1">
              <a:buFontTx/>
              <a:buChar char="-"/>
            </a:pPr>
            <a:r>
              <a:rPr lang="en-US" altLang="en-US">
                <a:latin typeface="Times New Roman" panose="02020603050405020304" pitchFamily="18" charset="0"/>
              </a:rPr>
              <a:t>Gilligan’s Island: new scheme, get off island, seems to work, then fails</a:t>
            </a:r>
          </a:p>
          <a:p>
            <a:pPr eaLnBrk="1" hangingPunct="1">
              <a:buFontTx/>
              <a:buChar char="-"/>
            </a:pPr>
            <a:r>
              <a:rPr lang="en-US" altLang="en-US">
                <a:latin typeface="Times New Roman" panose="02020603050405020304" pitchFamily="18" charset="0"/>
              </a:rPr>
              <a:t>Being aware can help prevent</a:t>
            </a:r>
          </a:p>
          <a:p>
            <a:pPr eaLnBrk="1" hangingPunct="1">
              <a:buFontTx/>
              <a:buChar char="-"/>
            </a:pPr>
            <a:r>
              <a:rPr lang="en-US" altLang="en-US">
                <a:latin typeface="Times New Roman" panose="02020603050405020304" pitchFamily="18" charset="0"/>
              </a:rPr>
              <a:t>Class discussion</a:t>
            </a:r>
          </a:p>
        </p:txBody>
      </p:sp>
    </p:spTree>
    <p:extLst>
      <p:ext uri="{BB962C8B-B14F-4D97-AF65-F5344CB8AC3E}">
        <p14:creationId xmlns:p14="http://schemas.microsoft.com/office/powerpoint/2010/main" val="16768250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DEBRIEF [~8 min]</a:t>
            </a:r>
          </a:p>
          <a:p>
            <a:r>
              <a:t>Reveal the answer key row by row (or let groups call out each one before you reveal).</a:t>
            </a:r>
          </a:p>
          <a:p>
            <a:r>
              <a:t>Points to stress:</a:t>
            </a:r>
          </a:p>
          <a:p>
            <a:r>
              <a:t>- Optimistic schedule + wishful thinking: McConnell calls wishful thinking possibly the biggest single cause of problems in software development. "We'll manage" is the classic phrase.</a:t>
            </a:r>
          </a:p>
          <a:p>
            <a:r>
              <a:t>- Shortchanged QA: one day of QA skipped early can cost 3-10 days later.</a:t>
            </a:r>
          </a:p>
          <a:p>
            <a:r>
              <a:t>- Shortchanged upstream: a requirements or design defect fixed late can cost 10-100 times more.</a:t>
            </a:r>
          </a:p>
          <a:p>
            <a:r>
              <a:t>- Adding people to a late project: we will demo this right after the next slide.</a:t>
            </a:r>
          </a:p>
          <a:p>
            <a:r>
              <a:t>- Heroics: when a company depends on one hero, it is being held hostage. Ask: "Does your FYP group have a hero?"</a:t>
            </a:r>
          </a:p>
          <a:p>
            <a:r>
              <a:t>Some items fit more than one category - accept any well-argued answer. The skill is noticing, not memorizing.</a:t>
            </a:r>
          </a:p>
          <a:p>
            <a:r>
              <a:t>Transition: "The next slides are the complete catalogue. You have already found most of them." Move through slides 9-15 quickly (about 1.5 minutes each).</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dirty="0">
                <a:latin typeface="Times New Roman" panose="02020603050405020304" pitchFamily="18" charset="0"/>
              </a:rPr>
              <a:t>Motivation: studies show has largest impact</a:t>
            </a:r>
          </a:p>
          <a:p>
            <a:pPr eaLnBrk="1" hangingPunct="1">
              <a:buFontTx/>
              <a:buChar char="-"/>
            </a:pPr>
            <a:r>
              <a:rPr lang="en-US" altLang="en-US" dirty="0">
                <a:latin typeface="Times New Roman" panose="02020603050405020304" pitchFamily="18" charset="0"/>
              </a:rPr>
              <a:t>Don’t undermine Morale</a:t>
            </a:r>
          </a:p>
          <a:p>
            <a:pPr eaLnBrk="1" hangingPunct="1">
              <a:buFontTx/>
              <a:buChar char="-"/>
            </a:pPr>
            <a:r>
              <a:rPr lang="en-US" altLang="en-US" dirty="0">
                <a:latin typeface="Times New Roman" panose="02020603050405020304" pitchFamily="18" charset="0"/>
              </a:rPr>
              <a:t>2</a:t>
            </a:r>
            <a:r>
              <a:rPr lang="en-US" altLang="en-US" baseline="30000" dirty="0">
                <a:latin typeface="Times New Roman" panose="02020603050405020304" pitchFamily="18" charset="0"/>
              </a:rPr>
              <a:t>nd</a:t>
            </a:r>
            <a:r>
              <a:rPr lang="en-US" altLang="en-US" dirty="0">
                <a:latin typeface="Times New Roman" panose="02020603050405020304" pitchFamily="18" charset="0"/>
              </a:rPr>
              <a:t> greatest influence on productivity</a:t>
            </a:r>
          </a:p>
          <a:p>
            <a:pPr lvl="1" eaLnBrk="1" hangingPunct="1">
              <a:buFontTx/>
              <a:buChar char="-"/>
            </a:pPr>
            <a:r>
              <a:rPr lang="en-US" altLang="en-US" dirty="0">
                <a:latin typeface="Times New Roman" panose="02020603050405020304" pitchFamily="18" charset="0"/>
              </a:rPr>
              <a:t>Junior != bad</a:t>
            </a:r>
          </a:p>
          <a:p>
            <a:pPr eaLnBrk="1" hangingPunct="1">
              <a:buFontTx/>
              <a:buChar char="-"/>
            </a:pPr>
            <a:r>
              <a:rPr lang="en-US" altLang="en-US" dirty="0">
                <a:latin typeface="Times New Roman" panose="02020603050405020304" pitchFamily="18" charset="0"/>
              </a:rPr>
              <a:t>Uncontrolled: most common developer complain about their managers</a:t>
            </a:r>
          </a:p>
          <a:p>
            <a:pPr eaLnBrk="1" hangingPunct="1">
              <a:buFontTx/>
              <a:buChar char="-"/>
            </a:pPr>
            <a:r>
              <a:rPr lang="en-US" altLang="en-US" dirty="0">
                <a:latin typeface="Times New Roman" panose="02020603050405020304" pitchFamily="18" charset="0"/>
              </a:rPr>
              <a:t>Heroics. Company hostage.</a:t>
            </a:r>
          </a:p>
          <a:p>
            <a:pPr eaLnBrk="1" hangingPunct="1">
              <a:buFontTx/>
              <a:buChar char="-"/>
            </a:pPr>
            <a:r>
              <a:rPr lang="en-US" altLang="en-US" dirty="0">
                <a:latin typeface="Times New Roman" panose="02020603050405020304" pitchFamily="18" charset="0"/>
              </a:rPr>
              <a:t>“Can-do”, “how high” attitudes</a:t>
            </a:r>
          </a:p>
          <a:p>
            <a:pPr eaLnBrk="1" hangingPunct="1">
              <a:buFontTx/>
              <a:buChar char="-"/>
            </a:pPr>
            <a:r>
              <a:rPr lang="en-US" altLang="en-US" dirty="0">
                <a:latin typeface="Times New Roman" panose="02020603050405020304" pitchFamily="18" charset="0"/>
              </a:rPr>
              <a:t>Brooks, reading assignment</a:t>
            </a:r>
          </a:p>
        </p:txBody>
      </p:sp>
    </p:spTree>
    <p:extLst>
      <p:ext uri="{BB962C8B-B14F-4D97-AF65-F5344CB8AC3E}">
        <p14:creationId xmlns:p14="http://schemas.microsoft.com/office/powerpoint/2010/main" val="26751076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dirty="0">
                <a:latin typeface="Times New Roman" panose="02020603050405020304" pitchFamily="18" charset="0"/>
              </a:rPr>
              <a:t>60%of developers feel unsatisfactory environment: need quite and privacy</a:t>
            </a:r>
          </a:p>
          <a:p>
            <a:pPr eaLnBrk="1" hangingPunct="1">
              <a:buFontTx/>
              <a:buChar char="-"/>
            </a:pPr>
            <a:r>
              <a:rPr lang="en-US" altLang="en-US" dirty="0">
                <a:latin typeface="Times New Roman" panose="02020603050405020304" pitchFamily="18" charset="0"/>
              </a:rPr>
              <a:t>MS offices</a:t>
            </a:r>
          </a:p>
          <a:p>
            <a:pPr eaLnBrk="1" hangingPunct="1">
              <a:buFontTx/>
              <a:buChar char="-"/>
            </a:pPr>
            <a:r>
              <a:rPr lang="en-US" altLang="en-US" dirty="0">
                <a:latin typeface="Times New Roman" panose="02020603050405020304" pitchFamily="18" charset="0"/>
              </a:rPr>
              <a:t>Friction: classic differing viewpoints</a:t>
            </a:r>
          </a:p>
          <a:p>
            <a:pPr eaLnBrk="1" hangingPunct="1">
              <a:buFontTx/>
              <a:buChar char="-"/>
            </a:pPr>
            <a:r>
              <a:rPr lang="en-US" altLang="en-US" dirty="0">
                <a:latin typeface="Times New Roman" panose="02020603050405020304" pitchFamily="18" charset="0"/>
              </a:rPr>
              <a:t>Results in ‘poor communication’</a:t>
            </a:r>
          </a:p>
          <a:p>
            <a:pPr lvl="1" eaLnBrk="1" hangingPunct="1">
              <a:buFontTx/>
              <a:buChar char="-"/>
            </a:pPr>
            <a:r>
              <a:rPr lang="en-US" altLang="en-US" dirty="0">
                <a:latin typeface="Times New Roman" panose="02020603050405020304" pitchFamily="18" charset="0"/>
              </a:rPr>
              <a:t>Passive-aggressive</a:t>
            </a:r>
          </a:p>
          <a:p>
            <a:pPr eaLnBrk="1" hangingPunct="1">
              <a:buFontTx/>
              <a:buChar char="-"/>
            </a:pPr>
            <a:r>
              <a:rPr lang="en-US" altLang="en-US" dirty="0">
                <a:latin typeface="Times New Roman" panose="02020603050405020304" pitchFamily="18" charset="0"/>
              </a:rPr>
              <a:t>Realistic Expectations: 1 of top 5 reasons for success of in-house projects</a:t>
            </a:r>
          </a:p>
          <a:p>
            <a:pPr lvl="1" eaLnBrk="1" hangingPunct="1">
              <a:buFontTx/>
              <a:buChar char="-"/>
            </a:pPr>
            <a:r>
              <a:rPr lang="en-US" altLang="en-US" dirty="0">
                <a:latin typeface="Times New Roman" panose="02020603050405020304" pitchFamily="18" charset="0"/>
              </a:rPr>
              <a:t>Perception woe</a:t>
            </a:r>
          </a:p>
          <a:p>
            <a:pPr eaLnBrk="1" hangingPunct="1">
              <a:buFontTx/>
              <a:buChar char="-"/>
            </a:pPr>
            <a:r>
              <a:rPr lang="en-US" altLang="en-US" dirty="0">
                <a:latin typeface="Times New Roman" panose="02020603050405020304" pitchFamily="18" charset="0"/>
              </a:rPr>
              <a:t>Politics</a:t>
            </a:r>
          </a:p>
          <a:p>
            <a:pPr lvl="1" eaLnBrk="1" hangingPunct="1">
              <a:buFontTx/>
              <a:buChar char="-"/>
            </a:pPr>
            <a:r>
              <a:rPr lang="en-US" altLang="en-US" dirty="0">
                <a:latin typeface="Times New Roman" panose="02020603050405020304" pitchFamily="18" charset="0"/>
              </a:rPr>
              <a:t>Managing-up</a:t>
            </a:r>
          </a:p>
          <a:p>
            <a:pPr eaLnBrk="1" hangingPunct="1">
              <a:buFontTx/>
              <a:buChar char="-"/>
            </a:pPr>
            <a:r>
              <a:rPr lang="en-US" altLang="en-US" dirty="0">
                <a:latin typeface="Times New Roman" panose="02020603050405020304" pitchFamily="18" charset="0"/>
              </a:rPr>
              <a:t>Wishful</a:t>
            </a:r>
          </a:p>
          <a:p>
            <a:pPr lvl="1" eaLnBrk="1" hangingPunct="1">
              <a:buFontTx/>
              <a:buChar char="-"/>
            </a:pPr>
            <a:r>
              <a:rPr lang="en-US" altLang="en-US" dirty="0">
                <a:latin typeface="Times New Roman" panose="02020603050405020304" pitchFamily="18" charset="0"/>
              </a:rPr>
              <a:t>Cognitive dissonance</a:t>
            </a:r>
          </a:p>
          <a:p>
            <a:pPr lvl="1" eaLnBrk="1" hangingPunct="1">
              <a:buFontTx/>
              <a:buChar char="-"/>
            </a:pPr>
            <a:r>
              <a:rPr lang="en-US" altLang="en-US" dirty="0">
                <a:latin typeface="Times New Roman" panose="02020603050405020304" pitchFamily="18" charset="0"/>
              </a:rPr>
              <a:t>Closing your eyes and hoping</a:t>
            </a:r>
          </a:p>
          <a:p>
            <a:pPr lvl="1" eaLnBrk="1" hangingPunct="1">
              <a:buFontTx/>
              <a:buChar char="-"/>
            </a:pPr>
            <a:r>
              <a:rPr lang="en-US" altLang="en-US" dirty="0">
                <a:latin typeface="Times New Roman" panose="02020603050405020304" pitchFamily="18" charset="0"/>
              </a:rPr>
              <a:t>McConnell: maybe causes the most problems in software development</a:t>
            </a:r>
          </a:p>
          <a:p>
            <a:pPr eaLnBrk="1" hangingPunct="1">
              <a:buFontTx/>
              <a:buChar char="-"/>
            </a:pP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5002727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K" b="1" dirty="0"/>
              <a:t>adding people to a late project, heroics, weak personnel, undermined motivation, and uncontrolled employee problems</a:t>
            </a:r>
            <a:r>
              <a:rPr lang="en-PK" dirty="0"/>
              <a:t>.</a:t>
            </a:r>
          </a:p>
        </p:txBody>
      </p:sp>
    </p:spTree>
    <p:extLst>
      <p:ext uri="{BB962C8B-B14F-4D97-AF65-F5344CB8AC3E}">
        <p14:creationId xmlns:p14="http://schemas.microsoft.com/office/powerpoint/2010/main" val="32975008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PK" dirty="0"/>
              <a:t>Unrealistic expectations </a:t>
            </a:r>
          </a:p>
          <a:p>
            <a:pPr lvl="0"/>
            <a:r>
              <a:rPr lang="en-PK" dirty="0"/>
              <a:t>Lack of user input </a:t>
            </a:r>
          </a:p>
          <a:p>
            <a:pPr lvl="0"/>
            <a:r>
              <a:rPr lang="en-PK" dirty="0"/>
              <a:t>Lack of effective project sponsorship </a:t>
            </a:r>
          </a:p>
          <a:p>
            <a:pPr lvl="0"/>
            <a:r>
              <a:rPr lang="en-PK" dirty="0"/>
              <a:t>Wishful thinking </a:t>
            </a:r>
          </a:p>
          <a:p>
            <a:pPr lvl="0"/>
            <a:r>
              <a:rPr lang="en-PK" dirty="0"/>
              <a:t>Noisy/crowded offices </a:t>
            </a:r>
          </a:p>
          <a:p>
            <a:pPr lvl="0"/>
            <a:r>
              <a:rPr lang="en-PK" dirty="0"/>
              <a:t>Customer–developer friction</a:t>
            </a:r>
          </a:p>
          <a:p>
            <a:endParaRPr lang="en-PK" dirty="0"/>
          </a:p>
        </p:txBody>
      </p:sp>
    </p:spTree>
    <p:extLst>
      <p:ext uri="{BB962C8B-B14F-4D97-AF65-F5344CB8AC3E}">
        <p14:creationId xmlns:p14="http://schemas.microsoft.com/office/powerpoint/2010/main" val="40682283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Similar to wishful thinking</a:t>
            </a:r>
          </a:p>
          <a:p>
            <a:pPr eaLnBrk="1" hangingPunct="1">
              <a:buFontTx/>
              <a:buChar char="-"/>
            </a:pPr>
            <a:r>
              <a:rPr lang="en-US" altLang="en-US">
                <a:latin typeface="Times New Roman" panose="02020603050405020304" pitchFamily="18" charset="0"/>
              </a:rPr>
              <a:t>Puts unnecessary pressure </a:t>
            </a:r>
          </a:p>
          <a:p>
            <a:pPr eaLnBrk="1" hangingPunct="1">
              <a:buFontTx/>
              <a:buChar char="-"/>
            </a:pPr>
            <a:r>
              <a:rPr lang="en-US" altLang="en-US">
                <a:latin typeface="Times New Roman" panose="02020603050405020304" pitchFamily="18" charset="0"/>
              </a:rPr>
              <a:t>Risk Mgmt: </a:t>
            </a:r>
          </a:p>
          <a:p>
            <a:pPr lvl="1" eaLnBrk="1" hangingPunct="1">
              <a:buFontTx/>
              <a:buChar char="-"/>
            </a:pPr>
            <a:r>
              <a:rPr lang="en-US" altLang="en-US">
                <a:latin typeface="Times New Roman" panose="02020603050405020304" pitchFamily="18" charset="0"/>
              </a:rPr>
              <a:t>Risks will manage you</a:t>
            </a:r>
          </a:p>
          <a:p>
            <a:pPr eaLnBrk="1" hangingPunct="1">
              <a:buFontTx/>
              <a:buChar char="-"/>
            </a:pPr>
            <a:r>
              <a:rPr lang="en-US" altLang="en-US">
                <a:latin typeface="Times New Roman" panose="02020603050405020304" pitchFamily="18" charset="0"/>
              </a:rPr>
              <a:t>Contractor: late, poor quality, or fails to meet specifications</a:t>
            </a:r>
          </a:p>
          <a:p>
            <a:pPr eaLnBrk="1" hangingPunct="1">
              <a:buFontTx/>
              <a:buChar char="-"/>
            </a:pPr>
            <a:r>
              <a:rPr lang="en-US" altLang="en-US">
                <a:latin typeface="Times New Roman" panose="02020603050405020304" pitchFamily="18" charset="0"/>
              </a:rPr>
              <a:t>Requires lots of management</a:t>
            </a:r>
          </a:p>
          <a:p>
            <a:pPr eaLnBrk="1" hangingPunct="1">
              <a:buFontTx/>
              <a:buChar char="-"/>
            </a:pPr>
            <a:r>
              <a:rPr lang="en-US" altLang="en-US">
                <a:latin typeface="Times New Roman" panose="02020603050405020304" pitchFamily="18" charset="0"/>
              </a:rPr>
              <a:t>Insufficient planning: “if you don’t care where you’re going, any plan will do”</a:t>
            </a:r>
          </a:p>
          <a:p>
            <a:pPr eaLnBrk="1" hangingPunct="1">
              <a:buFontTx/>
              <a:buChar char="-"/>
            </a:pPr>
            <a:r>
              <a:rPr lang="en-US" altLang="en-US">
                <a:latin typeface="Times New Roman" panose="02020603050405020304" pitchFamily="18" charset="0"/>
              </a:rPr>
              <a:t>Abandonment</a:t>
            </a:r>
          </a:p>
          <a:p>
            <a:pPr lvl="1" eaLnBrk="1" hangingPunct="1">
              <a:buFontTx/>
              <a:buChar char="-"/>
            </a:pPr>
            <a:r>
              <a:rPr lang="en-US" altLang="en-US">
                <a:latin typeface="Times New Roman" panose="02020603050405020304" pitchFamily="18" charset="0"/>
              </a:rPr>
              <a:t>Out the window</a:t>
            </a:r>
          </a:p>
          <a:p>
            <a:pPr lvl="1" eaLnBrk="1" hangingPunct="1">
              <a:buFontTx/>
              <a:buChar char="-"/>
            </a:pPr>
            <a:r>
              <a:rPr lang="en-US" altLang="en-US">
                <a:latin typeface="Times New Roman" panose="02020603050405020304" pitchFamily="18" charset="0"/>
              </a:rPr>
              <a:t>Fall into code-and-fix mode</a:t>
            </a:r>
          </a:p>
        </p:txBody>
      </p:sp>
    </p:spTree>
    <p:extLst>
      <p:ext uri="{BB962C8B-B14F-4D97-AF65-F5344CB8AC3E}">
        <p14:creationId xmlns:p14="http://schemas.microsoft.com/office/powerpoint/2010/main" val="13284561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dirty="0">
                <a:latin typeface="Times New Roman" panose="02020603050405020304" pitchFamily="18" charset="0"/>
              </a:rPr>
              <a:t>Management controls</a:t>
            </a:r>
          </a:p>
          <a:p>
            <a:pPr lvl="1" eaLnBrk="1" hangingPunct="1">
              <a:buFontTx/>
              <a:buChar char="-"/>
            </a:pPr>
            <a:r>
              <a:rPr lang="en-US" altLang="en-US" dirty="0">
                <a:latin typeface="Times New Roman" panose="02020603050405020304" pitchFamily="18" charset="0"/>
              </a:rPr>
              <a:t>Need to be able to track </a:t>
            </a:r>
          </a:p>
          <a:p>
            <a:pPr lvl="1" eaLnBrk="1" hangingPunct="1">
              <a:buFontTx/>
              <a:buChar char="-"/>
            </a:pPr>
            <a:r>
              <a:rPr lang="en-US" altLang="en-US" dirty="0">
                <a:latin typeface="Times New Roman" panose="02020603050405020304" pitchFamily="18" charset="0"/>
              </a:rPr>
              <a:t>We’ll cover lots of these</a:t>
            </a:r>
          </a:p>
          <a:p>
            <a:pPr lvl="1" eaLnBrk="1" hangingPunct="1">
              <a:buFontTx/>
              <a:buChar char="-"/>
            </a:pPr>
            <a:r>
              <a:rPr lang="en-US" altLang="en-US" dirty="0">
                <a:latin typeface="Times New Roman" panose="02020603050405020304" pitchFamily="18" charset="0"/>
              </a:rPr>
              <a:t>PMI</a:t>
            </a:r>
          </a:p>
          <a:p>
            <a:pPr eaLnBrk="1" hangingPunct="1">
              <a:buFontTx/>
              <a:buChar char="-"/>
            </a:pPr>
            <a:r>
              <a:rPr lang="en-US" altLang="en-US" dirty="0">
                <a:latin typeface="Times New Roman" panose="02020603050405020304" pitchFamily="18" charset="0"/>
              </a:rPr>
              <a:t>Convergence</a:t>
            </a:r>
          </a:p>
          <a:p>
            <a:pPr lvl="1" eaLnBrk="1" hangingPunct="1">
              <a:buFontTx/>
              <a:buChar char="-"/>
            </a:pPr>
            <a:r>
              <a:rPr lang="en-US" altLang="en-US" dirty="0">
                <a:latin typeface="Times New Roman" panose="02020603050405020304" pitchFamily="18" charset="0"/>
              </a:rPr>
              <a:t>Waste of time</a:t>
            </a:r>
          </a:p>
          <a:p>
            <a:pPr eaLnBrk="1" hangingPunct="1">
              <a:buFontTx/>
              <a:buChar char="-"/>
            </a:pPr>
            <a:r>
              <a:rPr lang="en-US" altLang="en-US" dirty="0">
                <a:latin typeface="Times New Roman" panose="02020603050405020304" pitchFamily="18" charset="0"/>
              </a:rPr>
              <a:t>Missing tasks</a:t>
            </a:r>
          </a:p>
          <a:p>
            <a:pPr lvl="1" eaLnBrk="1" hangingPunct="1">
              <a:buFontTx/>
              <a:buChar char="-"/>
            </a:pPr>
            <a:r>
              <a:rPr lang="en-US" altLang="en-US" dirty="0">
                <a:latin typeface="Times New Roman" panose="02020603050405020304" pitchFamily="18" charset="0"/>
              </a:rPr>
              <a:t>Often 20-30% of a schedule</a:t>
            </a:r>
          </a:p>
          <a:p>
            <a:pPr eaLnBrk="1" hangingPunct="1">
              <a:buFontTx/>
              <a:buChar char="-"/>
            </a:pPr>
            <a:r>
              <a:rPr lang="en-US" altLang="en-US" dirty="0">
                <a:latin typeface="Times New Roman" panose="02020603050405020304" pitchFamily="18" charset="0"/>
              </a:rPr>
              <a:t>Catch-up later</a:t>
            </a:r>
          </a:p>
          <a:p>
            <a:pPr lvl="1" eaLnBrk="1" hangingPunct="1">
              <a:buFontTx/>
              <a:buChar char="-"/>
            </a:pPr>
            <a:r>
              <a:rPr lang="en-US" altLang="en-US" dirty="0">
                <a:latin typeface="Times New Roman" panose="02020603050405020304" pitchFamily="18" charset="0"/>
              </a:rPr>
              <a:t>How many times have you seen a project catch-up?</a:t>
            </a:r>
          </a:p>
          <a:p>
            <a:pPr lvl="1" eaLnBrk="1" hangingPunct="1">
              <a:buFontTx/>
              <a:buChar char="-"/>
            </a:pPr>
            <a:r>
              <a:rPr lang="en-US" altLang="en-US" dirty="0">
                <a:latin typeface="Times New Roman" panose="02020603050405020304" pitchFamily="18" charset="0"/>
              </a:rPr>
              <a:t>Only by all-nighters</a:t>
            </a:r>
          </a:p>
          <a:p>
            <a:pPr eaLnBrk="1" hangingPunct="1">
              <a:buFontTx/>
              <a:buChar char="-"/>
            </a:pPr>
            <a:r>
              <a:rPr lang="en-US" altLang="en-US" dirty="0">
                <a:latin typeface="Times New Roman" panose="02020603050405020304" pitchFamily="18" charset="0"/>
              </a:rPr>
              <a:t>Like hell</a:t>
            </a:r>
          </a:p>
          <a:p>
            <a:pPr lvl="1" eaLnBrk="1" hangingPunct="1">
              <a:buFontTx/>
              <a:buChar char="-"/>
            </a:pPr>
            <a:r>
              <a:rPr lang="en-US" altLang="en-US" dirty="0">
                <a:latin typeface="Times New Roman" panose="02020603050405020304" pitchFamily="18" charset="0"/>
              </a:rPr>
              <a:t>“Entrepreneurial” approach</a:t>
            </a:r>
          </a:p>
          <a:p>
            <a:pPr lvl="1" eaLnBrk="1" hangingPunct="1">
              <a:buFontTx/>
              <a:buChar char="-"/>
            </a:pPr>
            <a:r>
              <a:rPr lang="en-US" altLang="en-US" dirty="0">
                <a:latin typeface="Times New Roman" panose="02020603050405020304" pitchFamily="18" charset="0"/>
              </a:rPr>
              <a:t>See catch-up later</a:t>
            </a:r>
          </a:p>
          <a:p>
            <a:pPr lvl="1" eaLnBrk="1" hangingPunct="1">
              <a:buFontTx/>
              <a:buChar char="-"/>
            </a:pPr>
            <a:r>
              <a:rPr lang="en-US" b="0" i="0" dirty="0">
                <a:solidFill>
                  <a:srgbClr val="001D35"/>
                </a:solidFill>
                <a:effectLst/>
                <a:latin typeface="Google Sans"/>
              </a:rPr>
              <a:t>"Code like hell" programming is a software development approach that involves writing code quickly and fixing issues as they arise. It's also known as the "code and fix" model. </a:t>
            </a:r>
            <a:endParaRPr lang="en-US" altLang="en-US" dirty="0">
              <a:latin typeface="Times New Roman" panose="02020603050405020304" pitchFamily="18" charset="0"/>
            </a:endParaRPr>
          </a:p>
          <a:p>
            <a:pPr lvl="1" eaLnBrk="1" hangingPunct="1">
              <a:buFontTx/>
              <a:buChar char="-"/>
            </a:pP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5445919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dirty="0">
                <a:latin typeface="Times New Roman" panose="02020603050405020304" pitchFamily="18" charset="0"/>
              </a:rPr>
              <a:t>Gold</a:t>
            </a:r>
          </a:p>
          <a:p>
            <a:pPr lvl="1" eaLnBrk="1" hangingPunct="1">
              <a:buFontTx/>
              <a:buChar char="-"/>
            </a:pPr>
            <a:r>
              <a:rPr lang="en-US" altLang="en-US" dirty="0">
                <a:latin typeface="Times New Roman" panose="02020603050405020304" pitchFamily="18" charset="0"/>
              </a:rPr>
              <a:t>Gilding the lily</a:t>
            </a:r>
          </a:p>
          <a:p>
            <a:pPr lvl="1" eaLnBrk="1" hangingPunct="1">
              <a:buFontTx/>
              <a:buChar char="-"/>
            </a:pPr>
            <a:r>
              <a:rPr lang="en-US" altLang="en-US" dirty="0">
                <a:latin typeface="Times New Roman" panose="02020603050405020304" pitchFamily="18" charset="0"/>
              </a:rPr>
              <a:t>Performance is required more often than need be</a:t>
            </a:r>
          </a:p>
          <a:p>
            <a:pPr eaLnBrk="1" hangingPunct="1">
              <a:buFontTx/>
              <a:buChar char="-"/>
            </a:pPr>
            <a:r>
              <a:rPr lang="en-US" altLang="en-US" dirty="0">
                <a:latin typeface="Times New Roman" panose="02020603050405020304" pitchFamily="18" charset="0"/>
              </a:rPr>
              <a:t>Feature creep</a:t>
            </a:r>
          </a:p>
          <a:p>
            <a:pPr lvl="1" eaLnBrk="1" hangingPunct="1">
              <a:buFontTx/>
              <a:buChar char="-"/>
            </a:pPr>
            <a:r>
              <a:rPr lang="en-US" altLang="en-US" dirty="0">
                <a:latin typeface="Times New Roman" panose="02020603050405020304" pitchFamily="18" charset="0"/>
              </a:rPr>
              <a:t>25% average change in req.</a:t>
            </a:r>
          </a:p>
          <a:p>
            <a:pPr eaLnBrk="1" hangingPunct="1">
              <a:buFontTx/>
              <a:buChar char="-"/>
            </a:pPr>
            <a:r>
              <a:rPr lang="en-US" altLang="en-US" dirty="0">
                <a:latin typeface="Times New Roman" panose="02020603050405020304" pitchFamily="18" charset="0"/>
              </a:rPr>
              <a:t>Dev. Gold</a:t>
            </a:r>
          </a:p>
          <a:p>
            <a:pPr lvl="1" eaLnBrk="1" hangingPunct="1">
              <a:buFontTx/>
              <a:buChar char="-"/>
            </a:pPr>
            <a:r>
              <a:rPr lang="en-US" altLang="en-US" dirty="0">
                <a:latin typeface="Times New Roman" panose="02020603050405020304" pitchFamily="18" charset="0"/>
              </a:rPr>
              <a:t>Nifty new technology</a:t>
            </a:r>
          </a:p>
          <a:p>
            <a:pPr lvl="1" eaLnBrk="1" hangingPunct="1">
              <a:buFontTx/>
              <a:buChar char="-"/>
            </a:pPr>
            <a:r>
              <a:rPr lang="en-US" altLang="en-US" dirty="0">
                <a:latin typeface="Times New Roman" panose="02020603050405020304" pitchFamily="18" charset="0"/>
              </a:rPr>
              <a:t>Pet project</a:t>
            </a:r>
          </a:p>
          <a:p>
            <a:pPr eaLnBrk="1" hangingPunct="1">
              <a:buFontTx/>
              <a:buChar char="-"/>
            </a:pPr>
            <a:r>
              <a:rPr lang="en-US" altLang="en-US" dirty="0">
                <a:latin typeface="Times New Roman" panose="02020603050405020304" pitchFamily="18" charset="0"/>
              </a:rPr>
              <a:t>Push-me</a:t>
            </a:r>
          </a:p>
          <a:p>
            <a:pPr lvl="1" eaLnBrk="1" hangingPunct="1">
              <a:buFontTx/>
              <a:buChar char="-"/>
            </a:pPr>
            <a:r>
              <a:rPr lang="en-US" altLang="en-US" dirty="0">
                <a:latin typeface="Times New Roman" panose="02020603050405020304" pitchFamily="18" charset="0"/>
              </a:rPr>
              <a:t>Slip schedule + add features</a:t>
            </a:r>
          </a:p>
          <a:p>
            <a:pPr eaLnBrk="1" hangingPunct="1">
              <a:buFontTx/>
              <a:buChar char="-"/>
            </a:pPr>
            <a:r>
              <a:rPr lang="en-US" altLang="en-US" dirty="0">
                <a:latin typeface="Times New Roman" panose="02020603050405020304" pitchFamily="18" charset="0"/>
              </a:rPr>
              <a:t>Research vs. Development</a:t>
            </a:r>
          </a:p>
          <a:p>
            <a:pPr eaLnBrk="1" hangingPunct="1">
              <a:buFontTx/>
              <a:buChar char="-"/>
            </a:pP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10782101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who’s heard of ‘silver bullet’ (not the beer)</a:t>
            </a:r>
          </a:p>
          <a:p>
            <a:pPr eaLnBrk="1" hangingPunct="1">
              <a:buFontTx/>
              <a:buChar char="-"/>
            </a:pPr>
            <a:r>
              <a:rPr lang="en-US" altLang="en-US">
                <a:latin typeface="Times New Roman" panose="02020603050405020304" pitchFamily="18" charset="0"/>
              </a:rPr>
              <a:t>SCM</a:t>
            </a:r>
          </a:p>
          <a:p>
            <a:pPr lvl="1" eaLnBrk="1" hangingPunct="1">
              <a:buFontTx/>
              <a:buChar char="-"/>
            </a:pPr>
            <a:r>
              <a:rPr lang="en-US" altLang="en-US">
                <a:latin typeface="Times New Roman" panose="02020603050405020304" pitchFamily="18" charset="0"/>
              </a:rPr>
              <a:t>Jones: 10% month, I see more</a:t>
            </a:r>
          </a:p>
          <a:p>
            <a:pPr lvl="1" eaLnBrk="1" hangingPunct="1"/>
            <a:endParaRPr lang="en-US" altLang="en-US">
              <a:latin typeface="Times New Roman" panose="02020603050405020304" pitchFamily="18" charset="0"/>
            </a:endParaRPr>
          </a:p>
          <a:p>
            <a:pPr lvl="1" eaLnBrk="1" hangingPunct="1">
              <a:buFontTx/>
              <a:buChar char="-"/>
            </a:pPr>
            <a:endParaRPr lang="en-US" altLang="en-US">
              <a:latin typeface="Times New Roman" panose="02020603050405020304" pitchFamily="18" charset="0"/>
            </a:endParaRPr>
          </a:p>
        </p:txBody>
      </p:sp>
    </p:spTree>
    <p:extLst>
      <p:ext uri="{BB962C8B-B14F-4D97-AF65-F5344CB8AC3E}">
        <p14:creationId xmlns:p14="http://schemas.microsoft.com/office/powerpoint/2010/main" val="41638217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https://www.iliyanastareva.com/blog/the-difference-between-projects-and-operations</a:t>
            </a:r>
          </a:p>
        </p:txBody>
      </p:sp>
    </p:spTree>
    <p:extLst>
      <p:ext uri="{BB962C8B-B14F-4D97-AF65-F5344CB8AC3E}">
        <p14:creationId xmlns:p14="http://schemas.microsoft.com/office/powerpoint/2010/main" val="11908455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 Temporary: yes - deadline "by the end of this year".</a:t>
            </a:r>
          </a:p>
          <a:p>
            <a:r>
              <a:rPr dirty="0"/>
              <a:t>- Unique result: yes - 12 new stalls that did not exist before.</a:t>
            </a:r>
          </a:p>
          <a:p>
            <a:r>
              <a:rPr dirty="0"/>
              <a:t>- Constrained: yes - resources ("as many as he can", which is vague - a risk!) and a fixed deadline.</a:t>
            </a:r>
          </a:p>
          <a:p>
            <a:r>
              <a:rPr dirty="0"/>
              <a:t>- Objectives: yes - increase awareness and sign-ups.</a:t>
            </a:r>
          </a:p>
          <a:p>
            <a:r>
              <a:rPr dirty="0"/>
              <a:t>Verdict: it is a project.</a:t>
            </a:r>
          </a:p>
          <a:p>
            <a:r>
              <a:rPr dirty="0"/>
              <a:t>once the stalls are open, signing up customers, taking bill payments and selling accessories every day is OPERATIONS. The project creates the stalls; operations runs them.</a:t>
            </a:r>
          </a:p>
          <a:p>
            <a:r>
              <a:rPr dirty="0"/>
              <a:t>Extra discussion: spot any classic mistakes in the scenario - the "fabulous" idea from the boss (politics over substance?), vague resources, a fixed deadline set before planning (optimistic schedule).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024801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Part 1 is operations (support work): variety in the details does not make it a project.</a:t>
            </a:r>
          </a:p>
          <a:p>
            <a:r>
              <a:rPr dirty="0"/>
              <a:t>Part 2 becomes a project the moment it has its own scope, budget and schedule.</a:t>
            </a:r>
          </a:p>
          <a:p>
            <a:r>
              <a:rPr dirty="0"/>
              <a:t>Key takeaway: a project is defined by scope, budget and schedule - which leads directly into next session's life cycle.</a:t>
            </a:r>
          </a:p>
          <a:p>
            <a:endParaRPr dirty="0"/>
          </a:p>
          <a:p>
            <a:r>
              <a:rPr dirty="0"/>
              <a:t>--- Original notes ---</a:t>
            </a:r>
          </a:p>
          <a:p>
            <a:r>
              <a:rPr dirty="0"/>
              <a:t>https://www.solutionsiq.com/resource/blog-post/whats-the-difference-between-a-project-and-a-product/</a:t>
            </a:r>
          </a:p>
        </p:txBody>
      </p:sp>
    </p:spTree>
    <p:extLst>
      <p:ext uri="{BB962C8B-B14F-4D97-AF65-F5344CB8AC3E}">
        <p14:creationId xmlns:p14="http://schemas.microsoft.com/office/powerpoint/2010/main" val="20336226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ACTIVITY 3: STAND UP OR SIT DOWN [~10 min]</a:t>
            </a:r>
          </a:p>
          <a:p>
            <a:r>
              <a:rPr dirty="0"/>
              <a:t>Everyone stands for a project, stays seated for an operation. Read each item and give 3 seconds to decide.</a:t>
            </a:r>
          </a:p>
          <a:p>
            <a:r>
              <a:rPr dirty="0"/>
              <a:t>Answers:</a:t>
            </a:r>
          </a:p>
          <a:p>
            <a:r>
              <a:rPr dirty="0"/>
              <a:t>1. K-Electric's monthly billing - OPERATION (repetitive, ongoing)</a:t>
            </a:r>
          </a:p>
          <a:p>
            <a:r>
              <a:rPr dirty="0"/>
              <a:t>2. Building the Karachi BRT Red Line - PROJECT (unique, has an end)</a:t>
            </a:r>
          </a:p>
          <a:p>
            <a:r>
              <a:rPr dirty="0"/>
              <a:t>3. Daraz processing today's orders - OPERATION</a:t>
            </a:r>
          </a:p>
          <a:p>
            <a:r>
              <a:rPr dirty="0"/>
              <a:t>4. Daraz launching its 11.11 sale campaign - PROJECT (temporary, specific goal and date)</a:t>
            </a:r>
          </a:p>
          <a:p>
            <a:r>
              <a:rPr dirty="0"/>
              <a:t>5. A bank handling daily cash deposits - OPERATION</a:t>
            </a:r>
          </a:p>
          <a:p>
            <a:r>
              <a:rPr dirty="0"/>
              <a:t>6. A bank migrating to a new core banking system - PROJECT</a:t>
            </a:r>
          </a:p>
          <a:p>
            <a:r>
              <a:rPr dirty="0"/>
              <a:t>7. Your Final Year Project - PROJECT</a:t>
            </a:r>
          </a:p>
          <a:p>
            <a:r>
              <a:rPr dirty="0"/>
              <a:t>8. Attending your weekly classes - OPERATION (for the student; the degree as a whole can be argued as a project - good debate)</a:t>
            </a:r>
          </a:p>
          <a:p>
            <a:r>
              <a:rPr dirty="0"/>
              <a:t>Whenever the room splits, ask one person standing and one sitting to defend their choice. Write the criteria they use on the board: temporary vs ongoing, unique vs repetitive, has an end vs continues.</a:t>
            </a:r>
          </a:p>
          <a:p>
            <a:r>
              <a:rPr dirty="0"/>
              <a:t>Transition: "You just discovered the textbook definitions. Let's confirm them."</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1.</a:t>
            </a:r>
            <a:r>
              <a:rPr dirty="0"/>
              <a:t> "Where is this product today?"</a:t>
            </a:r>
          </a:p>
          <a:p>
            <a:r>
              <a:rPr dirty="0"/>
              <a:t>- WhatsApp: maturity. Careem ride-hailing: maturity (moving into a wider "super app"). Nokia 3310 (original): retired, then relaunched in 2017 as a new product.</a:t>
            </a:r>
          </a:p>
          <a:p>
            <a:r>
              <a:rPr dirty="0"/>
              <a:t>2. </a:t>
            </a:r>
            <a:r>
              <a:rPr lang="en-US" dirty="0"/>
              <a:t>What happened to projects</a:t>
            </a:r>
            <a:r>
              <a:rPr dirty="0"/>
              <a:t> during its life and place each on the stage, e.g. for WhatsApp: building the first version (introduction), adding voice/video calling (growth), end-to-end encryption rollout (growth/maturity), launching WhatsApp Business (maturity), dropping support for old phones (retirement of older versions).</a:t>
            </a:r>
          </a:p>
          <a:p>
            <a:r>
              <a:rPr dirty="0"/>
              <a:t>3. Key insight: one product, many projects - each with its own start and end. The project life cycle sits INSIDE the product life cycle.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F0A20-7169-4C7C-8A59-5E756985F3C8}"/>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PK"/>
          </a:p>
        </p:txBody>
      </p:sp>
      <p:sp>
        <p:nvSpPr>
          <p:cNvPr id="3" name="Subtitle 2">
            <a:extLst>
              <a:ext uri="{FF2B5EF4-FFF2-40B4-BE49-F238E27FC236}">
                <a16:creationId xmlns:a16="http://schemas.microsoft.com/office/drawing/2014/main" id="{B06FD7DF-075A-45F0-9E7A-52E6084DA313}"/>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5148479E-9771-43AB-BC67-98A3001373AF}"/>
              </a:ext>
            </a:extLst>
          </p:cNvPr>
          <p:cNvSpPr>
            <a:spLocks noGrp="1"/>
          </p:cNvSpPr>
          <p:nvPr>
            <p:ph type="dt" sz="half" idx="10"/>
          </p:nvPr>
        </p:nvSpPr>
        <p:spPr/>
        <p:txBody>
          <a:bodyPr/>
          <a:lstStyle/>
          <a:p>
            <a:pPr>
              <a:defRPr/>
            </a:pPr>
            <a:fld id="{4E670CC1-1828-491B-AAA1-2C4508E313F3}" type="datetime1">
              <a:rPr lang="en-US" smtClean="0"/>
              <a:t>10/5/2026</a:t>
            </a:fld>
            <a:endParaRPr lang="en-US" dirty="0"/>
          </a:p>
        </p:txBody>
      </p:sp>
      <p:sp>
        <p:nvSpPr>
          <p:cNvPr id="5" name="Footer Placeholder 4">
            <a:extLst>
              <a:ext uri="{FF2B5EF4-FFF2-40B4-BE49-F238E27FC236}">
                <a16:creationId xmlns:a16="http://schemas.microsoft.com/office/drawing/2014/main" id="{6B621537-7097-4330-8551-2602BCC9D3C5}"/>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0C00077F-0D93-4203-932F-2842CF9A2E5E}"/>
              </a:ext>
            </a:extLst>
          </p:cNvPr>
          <p:cNvSpPr>
            <a:spLocks noGrp="1"/>
          </p:cNvSpPr>
          <p:nvPr>
            <p:ph type="sldNum" sz="quarter" idx="12"/>
          </p:nvPr>
        </p:nvSpPr>
        <p:spPr/>
        <p:txBody>
          <a:bodyPr/>
          <a:lstStyle/>
          <a:p>
            <a:pPr>
              <a:defRPr/>
            </a:pPr>
            <a:fld id="{E9E55743-95FC-4762-A1C4-28B306B3A70A}" type="slidenum">
              <a:rPr lang="en-US" smtClean="0"/>
              <a:pPr>
                <a:defRPr/>
              </a:pPr>
              <a:t>‹#›</a:t>
            </a:fld>
            <a:endParaRPr lang="en-US" dirty="0"/>
          </a:p>
        </p:txBody>
      </p:sp>
      <p:grpSp>
        <p:nvGrpSpPr>
          <p:cNvPr id="7" name="Group 204">
            <a:extLst>
              <a:ext uri="{FF2B5EF4-FFF2-40B4-BE49-F238E27FC236}">
                <a16:creationId xmlns:a16="http://schemas.microsoft.com/office/drawing/2014/main" id="{543A3420-F7A8-4683-9132-D6F3DB85F443}"/>
              </a:ext>
            </a:extLst>
          </p:cNvPr>
          <p:cNvGrpSpPr>
            <a:grpSpLocks/>
          </p:cNvGrpSpPr>
          <p:nvPr userDrawn="1"/>
        </p:nvGrpSpPr>
        <p:grpSpPr bwMode="auto">
          <a:xfrm>
            <a:off x="7315200" y="4191000"/>
            <a:ext cx="1600200" cy="2362200"/>
            <a:chOff x="4704" y="1885"/>
            <a:chExt cx="843" cy="1379"/>
          </a:xfrm>
        </p:grpSpPr>
        <p:sp>
          <p:nvSpPr>
            <p:cNvPr id="8" name="Oval 205">
              <a:extLst>
                <a:ext uri="{FF2B5EF4-FFF2-40B4-BE49-F238E27FC236}">
                  <a16:creationId xmlns:a16="http://schemas.microsoft.com/office/drawing/2014/main" id="{4EDA4D9C-116D-48FC-A480-D8EFA2CA9DA0}"/>
                </a:ext>
              </a:extLst>
            </p:cNvPr>
            <p:cNvSpPr>
              <a:spLocks noChangeArrowheads="1"/>
            </p:cNvSpPr>
            <p:nvPr/>
          </p:nvSpPr>
          <p:spPr bwMode="auto">
            <a:xfrm>
              <a:off x="4704"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spcBef>
                  <a:spcPts val="0"/>
                </a:spcBef>
                <a:spcAft>
                  <a:spcPts val="0"/>
                </a:spcAft>
                <a:defRPr/>
              </a:pPr>
              <a:endParaRPr lang="en-US" altLang="en-US"/>
            </a:p>
          </p:txBody>
        </p:sp>
        <p:sp>
          <p:nvSpPr>
            <p:cNvPr id="9" name="Oval 206">
              <a:extLst>
                <a:ext uri="{FF2B5EF4-FFF2-40B4-BE49-F238E27FC236}">
                  <a16:creationId xmlns:a16="http://schemas.microsoft.com/office/drawing/2014/main" id="{5886F9FE-A5A6-41A8-8DAB-B8E705191D6D}"/>
                </a:ext>
              </a:extLst>
            </p:cNvPr>
            <p:cNvSpPr>
              <a:spLocks noChangeArrowheads="1"/>
            </p:cNvSpPr>
            <p:nvPr/>
          </p:nvSpPr>
          <p:spPr bwMode="auto">
            <a:xfrm>
              <a:off x="4883"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spcBef>
                  <a:spcPts val="0"/>
                </a:spcBef>
                <a:spcAft>
                  <a:spcPts val="0"/>
                </a:spcAft>
                <a:defRPr/>
              </a:pPr>
              <a:endParaRPr lang="en-US" altLang="en-US"/>
            </a:p>
          </p:txBody>
        </p:sp>
        <p:sp>
          <p:nvSpPr>
            <p:cNvPr id="10" name="Oval 207">
              <a:extLst>
                <a:ext uri="{FF2B5EF4-FFF2-40B4-BE49-F238E27FC236}">
                  <a16:creationId xmlns:a16="http://schemas.microsoft.com/office/drawing/2014/main" id="{891C3F57-625C-4CC1-9CD9-D921436C4F5A}"/>
                </a:ext>
              </a:extLst>
            </p:cNvPr>
            <p:cNvSpPr>
              <a:spLocks noChangeArrowheads="1"/>
            </p:cNvSpPr>
            <p:nvPr/>
          </p:nvSpPr>
          <p:spPr bwMode="auto">
            <a:xfrm>
              <a:off x="5062"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spcBef>
                  <a:spcPts val="0"/>
                </a:spcBef>
                <a:spcAft>
                  <a:spcPts val="0"/>
                </a:spcAft>
                <a:defRPr/>
              </a:pPr>
              <a:endParaRPr lang="en-US" altLang="en-US"/>
            </a:p>
          </p:txBody>
        </p:sp>
        <p:sp>
          <p:nvSpPr>
            <p:cNvPr id="11" name="Oval 208">
              <a:extLst>
                <a:ext uri="{FF2B5EF4-FFF2-40B4-BE49-F238E27FC236}">
                  <a16:creationId xmlns:a16="http://schemas.microsoft.com/office/drawing/2014/main" id="{5EFD1A82-2952-41CF-989A-13B83FA20E1A}"/>
                </a:ext>
              </a:extLst>
            </p:cNvPr>
            <p:cNvSpPr>
              <a:spLocks noChangeArrowheads="1"/>
            </p:cNvSpPr>
            <p:nvPr/>
          </p:nvSpPr>
          <p:spPr bwMode="auto">
            <a:xfrm>
              <a:off x="4704"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spcBef>
                  <a:spcPts val="0"/>
                </a:spcBef>
                <a:spcAft>
                  <a:spcPts val="0"/>
                </a:spcAft>
                <a:defRPr/>
              </a:pPr>
              <a:endParaRPr lang="en-US" altLang="en-US"/>
            </a:p>
          </p:txBody>
        </p:sp>
        <p:sp>
          <p:nvSpPr>
            <p:cNvPr id="12" name="Oval 209">
              <a:extLst>
                <a:ext uri="{FF2B5EF4-FFF2-40B4-BE49-F238E27FC236}">
                  <a16:creationId xmlns:a16="http://schemas.microsoft.com/office/drawing/2014/main" id="{51199A31-5F83-414A-A945-4A9E8F50659E}"/>
                </a:ext>
              </a:extLst>
            </p:cNvPr>
            <p:cNvSpPr>
              <a:spLocks noChangeArrowheads="1"/>
            </p:cNvSpPr>
            <p:nvPr/>
          </p:nvSpPr>
          <p:spPr bwMode="auto">
            <a:xfrm>
              <a:off x="4883"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spcBef>
                  <a:spcPts val="0"/>
                </a:spcBef>
                <a:spcAft>
                  <a:spcPts val="0"/>
                </a:spcAft>
                <a:defRPr/>
              </a:pPr>
              <a:endParaRPr lang="en-US" altLang="en-US"/>
            </a:p>
          </p:txBody>
        </p:sp>
        <p:sp>
          <p:nvSpPr>
            <p:cNvPr id="13" name="Oval 210">
              <a:extLst>
                <a:ext uri="{FF2B5EF4-FFF2-40B4-BE49-F238E27FC236}">
                  <a16:creationId xmlns:a16="http://schemas.microsoft.com/office/drawing/2014/main" id="{32F9DCD3-1546-40B4-ACB0-080A248C8C55}"/>
                </a:ext>
              </a:extLst>
            </p:cNvPr>
            <p:cNvSpPr>
              <a:spLocks noChangeArrowheads="1"/>
            </p:cNvSpPr>
            <p:nvPr/>
          </p:nvSpPr>
          <p:spPr bwMode="auto">
            <a:xfrm>
              <a:off x="5062"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spcBef>
                  <a:spcPts val="0"/>
                </a:spcBef>
                <a:spcAft>
                  <a:spcPts val="0"/>
                </a:spcAft>
                <a:defRPr/>
              </a:pPr>
              <a:endParaRPr lang="en-US" altLang="en-US"/>
            </a:p>
          </p:txBody>
        </p:sp>
        <p:sp>
          <p:nvSpPr>
            <p:cNvPr id="14" name="Oval 211">
              <a:extLst>
                <a:ext uri="{FF2B5EF4-FFF2-40B4-BE49-F238E27FC236}">
                  <a16:creationId xmlns:a16="http://schemas.microsoft.com/office/drawing/2014/main" id="{BE2F8ADE-30ED-4F57-A87E-4AFB14B8CA4A}"/>
                </a:ext>
              </a:extLst>
            </p:cNvPr>
            <p:cNvSpPr>
              <a:spLocks noChangeArrowheads="1"/>
            </p:cNvSpPr>
            <p:nvPr/>
          </p:nvSpPr>
          <p:spPr bwMode="auto">
            <a:xfrm>
              <a:off x="5241" y="2064"/>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spcBef>
                  <a:spcPts val="0"/>
                </a:spcBef>
                <a:spcAft>
                  <a:spcPts val="0"/>
                </a:spcAft>
                <a:defRPr/>
              </a:pPr>
              <a:endParaRPr lang="en-US" altLang="en-US"/>
            </a:p>
          </p:txBody>
        </p:sp>
        <p:sp>
          <p:nvSpPr>
            <p:cNvPr id="15" name="Oval 212">
              <a:extLst>
                <a:ext uri="{FF2B5EF4-FFF2-40B4-BE49-F238E27FC236}">
                  <a16:creationId xmlns:a16="http://schemas.microsoft.com/office/drawing/2014/main" id="{56DD9C8E-B381-4EF1-91A1-6D8211875348}"/>
                </a:ext>
              </a:extLst>
            </p:cNvPr>
            <p:cNvSpPr>
              <a:spLocks noChangeArrowheads="1"/>
            </p:cNvSpPr>
            <p:nvPr/>
          </p:nvSpPr>
          <p:spPr bwMode="auto">
            <a:xfrm>
              <a:off x="4704" y="2243"/>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spcBef>
                  <a:spcPts val="0"/>
                </a:spcBef>
                <a:spcAft>
                  <a:spcPts val="0"/>
                </a:spcAft>
                <a:defRPr/>
              </a:pPr>
              <a:endParaRPr lang="en-US" altLang="en-US"/>
            </a:p>
          </p:txBody>
        </p:sp>
        <p:sp>
          <p:nvSpPr>
            <p:cNvPr id="16" name="Oval 213">
              <a:extLst>
                <a:ext uri="{FF2B5EF4-FFF2-40B4-BE49-F238E27FC236}">
                  <a16:creationId xmlns:a16="http://schemas.microsoft.com/office/drawing/2014/main" id="{C7AD920A-9AA6-4496-BFE6-C05AFF470FDB}"/>
                </a:ext>
              </a:extLst>
            </p:cNvPr>
            <p:cNvSpPr>
              <a:spLocks noChangeArrowheads="1"/>
            </p:cNvSpPr>
            <p:nvPr/>
          </p:nvSpPr>
          <p:spPr bwMode="auto">
            <a:xfrm>
              <a:off x="4883" y="2243"/>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spcBef>
                  <a:spcPts val="0"/>
                </a:spcBef>
                <a:spcAft>
                  <a:spcPts val="0"/>
                </a:spcAft>
                <a:defRPr/>
              </a:pPr>
              <a:endParaRPr lang="en-US" altLang="en-US"/>
            </a:p>
          </p:txBody>
        </p:sp>
        <p:sp>
          <p:nvSpPr>
            <p:cNvPr id="17" name="Oval 214">
              <a:extLst>
                <a:ext uri="{FF2B5EF4-FFF2-40B4-BE49-F238E27FC236}">
                  <a16:creationId xmlns:a16="http://schemas.microsoft.com/office/drawing/2014/main" id="{DE6BB64B-76A0-4CB5-9E06-73D746CCB0BC}"/>
                </a:ext>
              </a:extLst>
            </p:cNvPr>
            <p:cNvSpPr>
              <a:spLocks noChangeArrowheads="1"/>
            </p:cNvSpPr>
            <p:nvPr/>
          </p:nvSpPr>
          <p:spPr bwMode="auto">
            <a:xfrm>
              <a:off x="5062" y="2243"/>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spcBef>
                  <a:spcPts val="0"/>
                </a:spcBef>
                <a:spcAft>
                  <a:spcPts val="0"/>
                </a:spcAft>
                <a:defRPr/>
              </a:pPr>
              <a:endParaRPr lang="en-US" altLang="en-US"/>
            </a:p>
          </p:txBody>
        </p:sp>
        <p:sp>
          <p:nvSpPr>
            <p:cNvPr id="18" name="Oval 215">
              <a:extLst>
                <a:ext uri="{FF2B5EF4-FFF2-40B4-BE49-F238E27FC236}">
                  <a16:creationId xmlns:a16="http://schemas.microsoft.com/office/drawing/2014/main" id="{624D3649-FBA6-43E7-9639-38595C723CC6}"/>
                </a:ext>
              </a:extLst>
            </p:cNvPr>
            <p:cNvSpPr>
              <a:spLocks noChangeArrowheads="1"/>
            </p:cNvSpPr>
            <p:nvPr/>
          </p:nvSpPr>
          <p:spPr bwMode="auto">
            <a:xfrm>
              <a:off x="5241" y="2243"/>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spcBef>
                  <a:spcPts val="0"/>
                </a:spcBef>
                <a:spcAft>
                  <a:spcPts val="0"/>
                </a:spcAft>
                <a:defRPr/>
              </a:pPr>
              <a:endParaRPr lang="en-US" altLang="en-US"/>
            </a:p>
          </p:txBody>
        </p:sp>
        <p:sp>
          <p:nvSpPr>
            <p:cNvPr id="19" name="Oval 216">
              <a:extLst>
                <a:ext uri="{FF2B5EF4-FFF2-40B4-BE49-F238E27FC236}">
                  <a16:creationId xmlns:a16="http://schemas.microsoft.com/office/drawing/2014/main" id="{02461A1E-57FF-4452-94E4-19393DB82B80}"/>
                </a:ext>
              </a:extLst>
            </p:cNvPr>
            <p:cNvSpPr>
              <a:spLocks noChangeArrowheads="1"/>
            </p:cNvSpPr>
            <p:nvPr/>
          </p:nvSpPr>
          <p:spPr bwMode="auto">
            <a:xfrm>
              <a:off x="5420" y="2243"/>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spcBef>
                  <a:spcPts val="0"/>
                </a:spcBef>
                <a:spcAft>
                  <a:spcPts val="0"/>
                </a:spcAft>
                <a:defRPr/>
              </a:pPr>
              <a:endParaRPr lang="en-US" altLang="en-US"/>
            </a:p>
          </p:txBody>
        </p:sp>
        <p:sp>
          <p:nvSpPr>
            <p:cNvPr id="20" name="Oval 217">
              <a:extLst>
                <a:ext uri="{FF2B5EF4-FFF2-40B4-BE49-F238E27FC236}">
                  <a16:creationId xmlns:a16="http://schemas.microsoft.com/office/drawing/2014/main" id="{831CC31A-3C15-45C9-AB36-EAFC3AFB9D5D}"/>
                </a:ext>
              </a:extLst>
            </p:cNvPr>
            <p:cNvSpPr>
              <a:spLocks noChangeArrowheads="1"/>
            </p:cNvSpPr>
            <p:nvPr/>
          </p:nvSpPr>
          <p:spPr bwMode="auto">
            <a:xfrm>
              <a:off x="4704" y="2421"/>
              <a:ext cx="127" cy="128"/>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spcBef>
                  <a:spcPts val="0"/>
                </a:spcBef>
                <a:spcAft>
                  <a:spcPts val="0"/>
                </a:spcAft>
                <a:defRPr/>
              </a:pPr>
              <a:endParaRPr lang="en-US" altLang="en-US"/>
            </a:p>
          </p:txBody>
        </p:sp>
        <p:sp>
          <p:nvSpPr>
            <p:cNvPr id="21" name="Oval 218">
              <a:extLst>
                <a:ext uri="{FF2B5EF4-FFF2-40B4-BE49-F238E27FC236}">
                  <a16:creationId xmlns:a16="http://schemas.microsoft.com/office/drawing/2014/main" id="{D7673358-71BC-45A0-B6F9-C7F046934DCF}"/>
                </a:ext>
              </a:extLst>
            </p:cNvPr>
            <p:cNvSpPr>
              <a:spLocks noChangeArrowheads="1"/>
            </p:cNvSpPr>
            <p:nvPr/>
          </p:nvSpPr>
          <p:spPr bwMode="auto">
            <a:xfrm>
              <a:off x="4883" y="2421"/>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spcBef>
                  <a:spcPts val="0"/>
                </a:spcBef>
                <a:spcAft>
                  <a:spcPts val="0"/>
                </a:spcAft>
                <a:defRPr/>
              </a:pPr>
              <a:endParaRPr lang="en-US" altLang="en-US"/>
            </a:p>
          </p:txBody>
        </p:sp>
        <p:sp>
          <p:nvSpPr>
            <p:cNvPr id="22" name="Oval 219">
              <a:extLst>
                <a:ext uri="{FF2B5EF4-FFF2-40B4-BE49-F238E27FC236}">
                  <a16:creationId xmlns:a16="http://schemas.microsoft.com/office/drawing/2014/main" id="{6AFFCF8E-9BB3-4001-94D5-54169729C3DC}"/>
                </a:ext>
              </a:extLst>
            </p:cNvPr>
            <p:cNvSpPr>
              <a:spLocks noChangeArrowheads="1"/>
            </p:cNvSpPr>
            <p:nvPr/>
          </p:nvSpPr>
          <p:spPr bwMode="auto">
            <a:xfrm>
              <a:off x="5062" y="2421"/>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spcBef>
                  <a:spcPts val="0"/>
                </a:spcBef>
                <a:spcAft>
                  <a:spcPts val="0"/>
                </a:spcAft>
                <a:defRPr/>
              </a:pPr>
              <a:endParaRPr lang="en-US" altLang="en-US"/>
            </a:p>
          </p:txBody>
        </p:sp>
        <p:sp>
          <p:nvSpPr>
            <p:cNvPr id="23" name="Oval 220">
              <a:extLst>
                <a:ext uri="{FF2B5EF4-FFF2-40B4-BE49-F238E27FC236}">
                  <a16:creationId xmlns:a16="http://schemas.microsoft.com/office/drawing/2014/main" id="{8D6DB560-2BC8-4C74-92B2-6D95C0EA3B37}"/>
                </a:ext>
              </a:extLst>
            </p:cNvPr>
            <p:cNvSpPr>
              <a:spLocks noChangeArrowheads="1"/>
            </p:cNvSpPr>
            <p:nvPr/>
          </p:nvSpPr>
          <p:spPr bwMode="auto">
            <a:xfrm>
              <a:off x="5241" y="2421"/>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spcBef>
                  <a:spcPts val="0"/>
                </a:spcBef>
                <a:spcAft>
                  <a:spcPts val="0"/>
                </a:spcAft>
                <a:defRPr/>
              </a:pPr>
              <a:endParaRPr lang="en-US" altLang="en-US"/>
            </a:p>
          </p:txBody>
        </p:sp>
        <p:sp>
          <p:nvSpPr>
            <p:cNvPr id="24" name="Oval 221">
              <a:extLst>
                <a:ext uri="{FF2B5EF4-FFF2-40B4-BE49-F238E27FC236}">
                  <a16:creationId xmlns:a16="http://schemas.microsoft.com/office/drawing/2014/main" id="{6F10C9C9-7EE9-49B3-AD84-5810742949D8}"/>
                </a:ext>
              </a:extLst>
            </p:cNvPr>
            <p:cNvSpPr>
              <a:spLocks noChangeArrowheads="1"/>
            </p:cNvSpPr>
            <p:nvPr/>
          </p:nvSpPr>
          <p:spPr bwMode="auto">
            <a:xfrm>
              <a:off x="4704" y="2600"/>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spcBef>
                  <a:spcPts val="0"/>
                </a:spcBef>
                <a:spcAft>
                  <a:spcPts val="0"/>
                </a:spcAft>
                <a:defRPr/>
              </a:pPr>
              <a:endParaRPr lang="en-US" altLang="en-US"/>
            </a:p>
          </p:txBody>
        </p:sp>
        <p:sp>
          <p:nvSpPr>
            <p:cNvPr id="25" name="Oval 222">
              <a:extLst>
                <a:ext uri="{FF2B5EF4-FFF2-40B4-BE49-F238E27FC236}">
                  <a16:creationId xmlns:a16="http://schemas.microsoft.com/office/drawing/2014/main" id="{6CCCDE64-1AD4-4C6F-B0A3-B56C0165C19C}"/>
                </a:ext>
              </a:extLst>
            </p:cNvPr>
            <p:cNvSpPr>
              <a:spLocks noChangeArrowheads="1"/>
            </p:cNvSpPr>
            <p:nvPr/>
          </p:nvSpPr>
          <p:spPr bwMode="auto">
            <a:xfrm>
              <a:off x="4883" y="2600"/>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spcBef>
                  <a:spcPts val="0"/>
                </a:spcBef>
                <a:spcAft>
                  <a:spcPts val="0"/>
                </a:spcAft>
                <a:defRPr/>
              </a:pPr>
              <a:endParaRPr lang="en-US" altLang="en-US"/>
            </a:p>
          </p:txBody>
        </p:sp>
        <p:sp>
          <p:nvSpPr>
            <p:cNvPr id="26" name="Oval 223">
              <a:extLst>
                <a:ext uri="{FF2B5EF4-FFF2-40B4-BE49-F238E27FC236}">
                  <a16:creationId xmlns:a16="http://schemas.microsoft.com/office/drawing/2014/main" id="{06017333-054B-4A3D-9FA5-3D052D6939C1}"/>
                </a:ext>
              </a:extLst>
            </p:cNvPr>
            <p:cNvSpPr>
              <a:spLocks noChangeArrowheads="1"/>
            </p:cNvSpPr>
            <p:nvPr/>
          </p:nvSpPr>
          <p:spPr bwMode="auto">
            <a:xfrm>
              <a:off x="5062" y="2600"/>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spcBef>
                  <a:spcPts val="0"/>
                </a:spcBef>
                <a:spcAft>
                  <a:spcPts val="0"/>
                </a:spcAft>
                <a:defRPr/>
              </a:pPr>
              <a:endParaRPr lang="en-US" altLang="en-US"/>
            </a:p>
          </p:txBody>
        </p:sp>
        <p:sp>
          <p:nvSpPr>
            <p:cNvPr id="27" name="Oval 224">
              <a:extLst>
                <a:ext uri="{FF2B5EF4-FFF2-40B4-BE49-F238E27FC236}">
                  <a16:creationId xmlns:a16="http://schemas.microsoft.com/office/drawing/2014/main" id="{EB80F7CC-61BD-4A11-B82F-375E880F59AE}"/>
                </a:ext>
              </a:extLst>
            </p:cNvPr>
            <p:cNvSpPr>
              <a:spLocks noChangeArrowheads="1"/>
            </p:cNvSpPr>
            <p:nvPr/>
          </p:nvSpPr>
          <p:spPr bwMode="auto">
            <a:xfrm>
              <a:off x="5241" y="2600"/>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spcBef>
                  <a:spcPts val="0"/>
                </a:spcBef>
                <a:spcAft>
                  <a:spcPts val="0"/>
                </a:spcAft>
                <a:defRPr/>
              </a:pPr>
              <a:endParaRPr lang="en-US" altLang="en-US"/>
            </a:p>
          </p:txBody>
        </p:sp>
        <p:sp>
          <p:nvSpPr>
            <p:cNvPr id="28" name="Oval 225">
              <a:extLst>
                <a:ext uri="{FF2B5EF4-FFF2-40B4-BE49-F238E27FC236}">
                  <a16:creationId xmlns:a16="http://schemas.microsoft.com/office/drawing/2014/main" id="{D88B51ED-E890-4A40-98D1-2C7DE4CC9ABC}"/>
                </a:ext>
              </a:extLst>
            </p:cNvPr>
            <p:cNvSpPr>
              <a:spLocks noChangeArrowheads="1"/>
            </p:cNvSpPr>
            <p:nvPr/>
          </p:nvSpPr>
          <p:spPr bwMode="auto">
            <a:xfrm>
              <a:off x="5420" y="2600"/>
              <a:ext cx="127" cy="128"/>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spcBef>
                  <a:spcPts val="0"/>
                </a:spcBef>
                <a:spcAft>
                  <a:spcPts val="0"/>
                </a:spcAft>
                <a:defRPr/>
              </a:pPr>
              <a:endParaRPr lang="en-US" altLang="en-US"/>
            </a:p>
          </p:txBody>
        </p:sp>
        <p:sp>
          <p:nvSpPr>
            <p:cNvPr id="29" name="Oval 226">
              <a:extLst>
                <a:ext uri="{FF2B5EF4-FFF2-40B4-BE49-F238E27FC236}">
                  <a16:creationId xmlns:a16="http://schemas.microsoft.com/office/drawing/2014/main" id="{430C0463-7118-4C27-99EA-1B6848B362ED}"/>
                </a:ext>
              </a:extLst>
            </p:cNvPr>
            <p:cNvSpPr>
              <a:spLocks noChangeArrowheads="1"/>
            </p:cNvSpPr>
            <p:nvPr/>
          </p:nvSpPr>
          <p:spPr bwMode="auto">
            <a:xfrm>
              <a:off x="4704" y="2779"/>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spcBef>
                  <a:spcPts val="0"/>
                </a:spcBef>
                <a:spcAft>
                  <a:spcPts val="0"/>
                </a:spcAft>
                <a:defRPr/>
              </a:pPr>
              <a:endParaRPr lang="en-US" altLang="en-US"/>
            </a:p>
          </p:txBody>
        </p:sp>
        <p:sp>
          <p:nvSpPr>
            <p:cNvPr id="30" name="Oval 227">
              <a:extLst>
                <a:ext uri="{FF2B5EF4-FFF2-40B4-BE49-F238E27FC236}">
                  <a16:creationId xmlns:a16="http://schemas.microsoft.com/office/drawing/2014/main" id="{C0E5E471-F777-4629-B191-45242153D85F}"/>
                </a:ext>
              </a:extLst>
            </p:cNvPr>
            <p:cNvSpPr>
              <a:spLocks noChangeArrowheads="1"/>
            </p:cNvSpPr>
            <p:nvPr/>
          </p:nvSpPr>
          <p:spPr bwMode="auto">
            <a:xfrm>
              <a:off x="4883" y="2779"/>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spcBef>
                  <a:spcPts val="0"/>
                </a:spcBef>
                <a:spcAft>
                  <a:spcPts val="0"/>
                </a:spcAft>
                <a:defRPr/>
              </a:pPr>
              <a:endParaRPr lang="en-US" altLang="en-US"/>
            </a:p>
          </p:txBody>
        </p:sp>
        <p:sp>
          <p:nvSpPr>
            <p:cNvPr id="31" name="Oval 228">
              <a:extLst>
                <a:ext uri="{FF2B5EF4-FFF2-40B4-BE49-F238E27FC236}">
                  <a16:creationId xmlns:a16="http://schemas.microsoft.com/office/drawing/2014/main" id="{14995CA5-A588-485F-85E6-81603367E65B}"/>
                </a:ext>
              </a:extLst>
            </p:cNvPr>
            <p:cNvSpPr>
              <a:spLocks noChangeArrowheads="1"/>
            </p:cNvSpPr>
            <p:nvPr/>
          </p:nvSpPr>
          <p:spPr bwMode="auto">
            <a:xfrm>
              <a:off x="5062" y="2779"/>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spcBef>
                  <a:spcPts val="0"/>
                </a:spcBef>
                <a:spcAft>
                  <a:spcPts val="0"/>
                </a:spcAft>
                <a:defRPr/>
              </a:pPr>
              <a:endParaRPr lang="en-US" altLang="en-US"/>
            </a:p>
          </p:txBody>
        </p:sp>
        <p:sp>
          <p:nvSpPr>
            <p:cNvPr id="32" name="Oval 229">
              <a:extLst>
                <a:ext uri="{FF2B5EF4-FFF2-40B4-BE49-F238E27FC236}">
                  <a16:creationId xmlns:a16="http://schemas.microsoft.com/office/drawing/2014/main" id="{0709C096-B46B-4BF0-92C1-7C37D7419117}"/>
                </a:ext>
              </a:extLst>
            </p:cNvPr>
            <p:cNvSpPr>
              <a:spLocks noChangeArrowheads="1"/>
            </p:cNvSpPr>
            <p:nvPr/>
          </p:nvSpPr>
          <p:spPr bwMode="auto">
            <a:xfrm>
              <a:off x="5241" y="2779"/>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spcBef>
                  <a:spcPts val="0"/>
                </a:spcBef>
                <a:spcAft>
                  <a:spcPts val="0"/>
                </a:spcAft>
                <a:defRPr/>
              </a:pPr>
              <a:endParaRPr lang="en-US" altLang="en-US"/>
            </a:p>
          </p:txBody>
        </p:sp>
        <p:sp>
          <p:nvSpPr>
            <p:cNvPr id="33" name="Oval 230">
              <a:extLst>
                <a:ext uri="{FF2B5EF4-FFF2-40B4-BE49-F238E27FC236}">
                  <a16:creationId xmlns:a16="http://schemas.microsoft.com/office/drawing/2014/main" id="{4AA779A1-866D-4431-A8EB-446F8149C082}"/>
                </a:ext>
              </a:extLst>
            </p:cNvPr>
            <p:cNvSpPr>
              <a:spLocks noChangeArrowheads="1"/>
            </p:cNvSpPr>
            <p:nvPr/>
          </p:nvSpPr>
          <p:spPr bwMode="auto">
            <a:xfrm>
              <a:off x="4704" y="2958"/>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spcBef>
                  <a:spcPts val="0"/>
                </a:spcBef>
                <a:spcAft>
                  <a:spcPts val="0"/>
                </a:spcAft>
                <a:defRPr/>
              </a:pPr>
              <a:endParaRPr lang="en-US" altLang="en-US"/>
            </a:p>
          </p:txBody>
        </p:sp>
        <p:sp>
          <p:nvSpPr>
            <p:cNvPr id="34" name="Oval 231">
              <a:extLst>
                <a:ext uri="{FF2B5EF4-FFF2-40B4-BE49-F238E27FC236}">
                  <a16:creationId xmlns:a16="http://schemas.microsoft.com/office/drawing/2014/main" id="{21AF1A6A-C7B3-43E7-82C4-C4D88D1E5F48}"/>
                </a:ext>
              </a:extLst>
            </p:cNvPr>
            <p:cNvSpPr>
              <a:spLocks noChangeArrowheads="1"/>
            </p:cNvSpPr>
            <p:nvPr/>
          </p:nvSpPr>
          <p:spPr bwMode="auto">
            <a:xfrm>
              <a:off x="4883" y="2958"/>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spcBef>
                  <a:spcPts val="0"/>
                </a:spcBef>
                <a:spcAft>
                  <a:spcPts val="0"/>
                </a:spcAft>
                <a:defRPr/>
              </a:pPr>
              <a:endParaRPr lang="en-US" altLang="en-US"/>
            </a:p>
          </p:txBody>
        </p:sp>
        <p:sp>
          <p:nvSpPr>
            <p:cNvPr id="35" name="Oval 232">
              <a:extLst>
                <a:ext uri="{FF2B5EF4-FFF2-40B4-BE49-F238E27FC236}">
                  <a16:creationId xmlns:a16="http://schemas.microsoft.com/office/drawing/2014/main" id="{5E896F47-AFEB-43F8-A0C0-8AD6AE1542F0}"/>
                </a:ext>
              </a:extLst>
            </p:cNvPr>
            <p:cNvSpPr>
              <a:spLocks noChangeArrowheads="1"/>
            </p:cNvSpPr>
            <p:nvPr/>
          </p:nvSpPr>
          <p:spPr bwMode="auto">
            <a:xfrm>
              <a:off x="5062" y="2958"/>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spcBef>
                  <a:spcPts val="0"/>
                </a:spcBef>
                <a:spcAft>
                  <a:spcPts val="0"/>
                </a:spcAft>
                <a:defRPr/>
              </a:pPr>
              <a:endParaRPr lang="en-US" altLang="en-US"/>
            </a:p>
          </p:txBody>
        </p:sp>
        <p:sp>
          <p:nvSpPr>
            <p:cNvPr id="36" name="Oval 233">
              <a:extLst>
                <a:ext uri="{FF2B5EF4-FFF2-40B4-BE49-F238E27FC236}">
                  <a16:creationId xmlns:a16="http://schemas.microsoft.com/office/drawing/2014/main" id="{C53BEAD9-F795-4C0D-A833-D64549E039C4}"/>
                </a:ext>
              </a:extLst>
            </p:cNvPr>
            <p:cNvSpPr>
              <a:spLocks noChangeArrowheads="1"/>
            </p:cNvSpPr>
            <p:nvPr/>
          </p:nvSpPr>
          <p:spPr bwMode="auto">
            <a:xfrm>
              <a:off x="5241" y="2958"/>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spcBef>
                  <a:spcPts val="0"/>
                </a:spcBef>
                <a:spcAft>
                  <a:spcPts val="0"/>
                </a:spcAft>
                <a:defRPr/>
              </a:pPr>
              <a:endParaRPr lang="en-US" altLang="en-US"/>
            </a:p>
          </p:txBody>
        </p:sp>
        <p:sp>
          <p:nvSpPr>
            <p:cNvPr id="37" name="Oval 234">
              <a:extLst>
                <a:ext uri="{FF2B5EF4-FFF2-40B4-BE49-F238E27FC236}">
                  <a16:creationId xmlns:a16="http://schemas.microsoft.com/office/drawing/2014/main" id="{D90A773F-CC85-4F54-96DE-DE7682B84184}"/>
                </a:ext>
              </a:extLst>
            </p:cNvPr>
            <p:cNvSpPr>
              <a:spLocks noChangeArrowheads="1"/>
            </p:cNvSpPr>
            <p:nvPr/>
          </p:nvSpPr>
          <p:spPr bwMode="auto">
            <a:xfrm>
              <a:off x="4883" y="3137"/>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spcBef>
                  <a:spcPts val="0"/>
                </a:spcBef>
                <a:spcAft>
                  <a:spcPts val="0"/>
                </a:spcAft>
                <a:defRPr/>
              </a:pPr>
              <a:endParaRPr lang="en-US" altLang="en-US"/>
            </a:p>
          </p:txBody>
        </p:sp>
        <p:sp>
          <p:nvSpPr>
            <p:cNvPr id="38" name="Oval 235">
              <a:extLst>
                <a:ext uri="{FF2B5EF4-FFF2-40B4-BE49-F238E27FC236}">
                  <a16:creationId xmlns:a16="http://schemas.microsoft.com/office/drawing/2014/main" id="{E0000D42-7816-4188-81E8-2DF30B77F8E4}"/>
                </a:ext>
              </a:extLst>
            </p:cNvPr>
            <p:cNvSpPr>
              <a:spLocks noChangeArrowheads="1"/>
            </p:cNvSpPr>
            <p:nvPr/>
          </p:nvSpPr>
          <p:spPr bwMode="auto">
            <a:xfrm>
              <a:off x="5241" y="3137"/>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spcBef>
                  <a:spcPts val="0"/>
                </a:spcBef>
                <a:spcAft>
                  <a:spcPts val="0"/>
                </a:spcAft>
                <a:defRPr/>
              </a:pPr>
              <a:endParaRPr lang="en-US" altLang="en-US"/>
            </a:p>
          </p:txBody>
        </p:sp>
      </p:grpSp>
      <p:sp>
        <p:nvSpPr>
          <p:cNvPr id="39" name="Line 236">
            <a:extLst>
              <a:ext uri="{FF2B5EF4-FFF2-40B4-BE49-F238E27FC236}">
                <a16:creationId xmlns:a16="http://schemas.microsoft.com/office/drawing/2014/main" id="{30C2BC93-FD6C-46F1-924E-DBAAEAA2453E}"/>
              </a:ext>
            </a:extLst>
          </p:cNvPr>
          <p:cNvSpPr>
            <a:spLocks noChangeShapeType="1"/>
          </p:cNvSpPr>
          <p:nvPr userDrawn="1"/>
        </p:nvSpPr>
        <p:spPr bwMode="auto">
          <a:xfrm>
            <a:off x="6934200" y="3962400"/>
            <a:ext cx="0" cy="26670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 name="Rectangle 238">
            <a:extLst>
              <a:ext uri="{FF2B5EF4-FFF2-40B4-BE49-F238E27FC236}">
                <a16:creationId xmlns:a16="http://schemas.microsoft.com/office/drawing/2014/main" id="{D231810B-9406-4451-9052-5E8AC859DABD}"/>
              </a:ext>
            </a:extLst>
          </p:cNvPr>
          <p:cNvSpPr>
            <a:spLocks noChangeArrowheads="1"/>
          </p:cNvSpPr>
          <p:nvPr userDrawn="1"/>
        </p:nvSpPr>
        <p:spPr bwMode="auto">
          <a:xfrm>
            <a:off x="152400" y="2362200"/>
            <a:ext cx="8839200" cy="1371600"/>
          </a:xfrm>
          <a:prstGeom prst="rect">
            <a:avLst/>
          </a:prstGeom>
          <a:solidFill>
            <a:schemeClr val="accent1">
              <a:alpha val="38039"/>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spcBef>
                <a:spcPts val="0"/>
              </a:spcBef>
              <a:spcAft>
                <a:spcPts val="0"/>
              </a:spcAft>
              <a:defRPr/>
            </a:pPr>
            <a:endParaRPr lang="en-US" altLang="en-US"/>
          </a:p>
        </p:txBody>
      </p:sp>
      <p:sp>
        <p:nvSpPr>
          <p:cNvPr id="41" name="Line 239">
            <a:extLst>
              <a:ext uri="{FF2B5EF4-FFF2-40B4-BE49-F238E27FC236}">
                <a16:creationId xmlns:a16="http://schemas.microsoft.com/office/drawing/2014/main" id="{4B2BACCD-6718-4F56-880B-CEF141240634}"/>
              </a:ext>
            </a:extLst>
          </p:cNvPr>
          <p:cNvSpPr>
            <a:spLocks noChangeShapeType="1"/>
          </p:cNvSpPr>
          <p:nvPr userDrawn="1"/>
        </p:nvSpPr>
        <p:spPr bwMode="auto">
          <a:xfrm>
            <a:off x="157163" y="2133600"/>
            <a:ext cx="8943975" cy="1588"/>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 name="Line 241">
            <a:extLst>
              <a:ext uri="{FF2B5EF4-FFF2-40B4-BE49-F238E27FC236}">
                <a16:creationId xmlns:a16="http://schemas.microsoft.com/office/drawing/2014/main" id="{09C96325-E309-43F1-A0D7-E3110EBA9904}"/>
              </a:ext>
            </a:extLst>
          </p:cNvPr>
          <p:cNvSpPr>
            <a:spLocks noChangeShapeType="1"/>
          </p:cNvSpPr>
          <p:nvPr userDrawn="1"/>
        </p:nvSpPr>
        <p:spPr bwMode="auto">
          <a:xfrm>
            <a:off x="152400" y="3962400"/>
            <a:ext cx="8943975" cy="1588"/>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8739613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A8984-F878-49A0-9EB7-8AF740369D41}"/>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19FC6189-8B0F-44A8-94A2-C1B46396D15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9843617B-7774-4495-954B-FC8A0E88E3B5}"/>
              </a:ext>
            </a:extLst>
          </p:cNvPr>
          <p:cNvSpPr>
            <a:spLocks noGrp="1"/>
          </p:cNvSpPr>
          <p:nvPr>
            <p:ph type="dt" sz="half" idx="10"/>
          </p:nvPr>
        </p:nvSpPr>
        <p:spPr/>
        <p:txBody>
          <a:bodyPr/>
          <a:lstStyle/>
          <a:p>
            <a:pPr>
              <a:defRPr/>
            </a:pPr>
            <a:fld id="{91185F5F-674F-4300-A867-D8F346C9A960}" type="datetime1">
              <a:rPr lang="en-US" smtClean="0"/>
              <a:t>10/5/2026</a:t>
            </a:fld>
            <a:endParaRPr lang="en-US" dirty="0"/>
          </a:p>
        </p:txBody>
      </p:sp>
      <p:sp>
        <p:nvSpPr>
          <p:cNvPr id="5" name="Footer Placeholder 4">
            <a:extLst>
              <a:ext uri="{FF2B5EF4-FFF2-40B4-BE49-F238E27FC236}">
                <a16:creationId xmlns:a16="http://schemas.microsoft.com/office/drawing/2014/main" id="{5EB07C2E-77B4-4C92-84C7-9FA2660FF8D1}"/>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4D9F0257-44FB-48C9-9564-365331407F52}"/>
              </a:ext>
            </a:extLst>
          </p:cNvPr>
          <p:cNvSpPr>
            <a:spLocks noGrp="1"/>
          </p:cNvSpPr>
          <p:nvPr>
            <p:ph type="sldNum" sz="quarter" idx="12"/>
          </p:nvPr>
        </p:nvSpPr>
        <p:spPr/>
        <p:txBody>
          <a:bodyPr/>
          <a:lstStyle/>
          <a:p>
            <a:pPr>
              <a:defRPr/>
            </a:pPr>
            <a:fld id="{33A18CBA-1B75-4FB3-8426-17B9F2D75E39}" type="slidenum">
              <a:rPr lang="en-US" smtClean="0"/>
              <a:pPr>
                <a:defRPr/>
              </a:pPr>
              <a:t>‹#›</a:t>
            </a:fld>
            <a:endParaRPr lang="en-US" dirty="0"/>
          </a:p>
        </p:txBody>
      </p:sp>
    </p:spTree>
    <p:extLst>
      <p:ext uri="{BB962C8B-B14F-4D97-AF65-F5344CB8AC3E}">
        <p14:creationId xmlns:p14="http://schemas.microsoft.com/office/powerpoint/2010/main" val="11970333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9DB8E-420F-4887-9709-E3D382B9CD03}"/>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F7A345BD-EFC1-4797-9AD1-3FEFE1E72E4E}"/>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8EF3347-BD63-4835-AE21-1E98B8E4C3AD}"/>
              </a:ext>
            </a:extLst>
          </p:cNvPr>
          <p:cNvSpPr>
            <a:spLocks noGrp="1"/>
          </p:cNvSpPr>
          <p:nvPr>
            <p:ph type="dt" sz="half" idx="10"/>
          </p:nvPr>
        </p:nvSpPr>
        <p:spPr/>
        <p:txBody>
          <a:bodyPr/>
          <a:lstStyle/>
          <a:p>
            <a:pPr>
              <a:defRPr/>
            </a:pPr>
            <a:fld id="{244E03A6-0E87-416E-AF9A-E7B47979C079}" type="datetime1">
              <a:rPr lang="en-US" smtClean="0"/>
              <a:t>10/5/2026</a:t>
            </a:fld>
            <a:endParaRPr lang="en-US" dirty="0"/>
          </a:p>
        </p:txBody>
      </p:sp>
      <p:sp>
        <p:nvSpPr>
          <p:cNvPr id="5" name="Footer Placeholder 4">
            <a:extLst>
              <a:ext uri="{FF2B5EF4-FFF2-40B4-BE49-F238E27FC236}">
                <a16:creationId xmlns:a16="http://schemas.microsoft.com/office/drawing/2014/main" id="{AA96DA7F-1B67-414C-8D07-0CA91C7248CE}"/>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73503E38-D065-4530-ABA1-94A22515BB6E}"/>
              </a:ext>
            </a:extLst>
          </p:cNvPr>
          <p:cNvSpPr>
            <a:spLocks noGrp="1"/>
          </p:cNvSpPr>
          <p:nvPr>
            <p:ph type="sldNum" sz="quarter" idx="12"/>
          </p:nvPr>
        </p:nvSpPr>
        <p:spPr/>
        <p:txBody>
          <a:bodyPr/>
          <a:lstStyle/>
          <a:p>
            <a:pPr>
              <a:defRPr/>
            </a:pPr>
            <a:fld id="{C62B2ABC-7254-4F59-A008-DC230A5D4FDC}" type="slidenum">
              <a:rPr lang="en-US" smtClean="0"/>
              <a:pPr>
                <a:defRPr/>
              </a:pPr>
              <a:t>‹#›</a:t>
            </a:fld>
            <a:endParaRPr lang="en-US" dirty="0"/>
          </a:p>
        </p:txBody>
      </p:sp>
    </p:spTree>
    <p:extLst>
      <p:ext uri="{BB962C8B-B14F-4D97-AF65-F5344CB8AC3E}">
        <p14:creationId xmlns:p14="http://schemas.microsoft.com/office/powerpoint/2010/main" val="36267176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D6235-E448-4090-B1DB-098E2AC63910}"/>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B0CA6192-5B5E-4508-B27C-27661FA51DAD}"/>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D24B4B88-C6CD-4033-98FD-D20DBB54A2EF}"/>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089E77BA-9CF0-45C8-BCC0-CD6625575C4C}"/>
              </a:ext>
            </a:extLst>
          </p:cNvPr>
          <p:cNvSpPr>
            <a:spLocks noGrp="1"/>
          </p:cNvSpPr>
          <p:nvPr>
            <p:ph type="dt" sz="half" idx="10"/>
          </p:nvPr>
        </p:nvSpPr>
        <p:spPr/>
        <p:txBody>
          <a:bodyPr/>
          <a:lstStyle/>
          <a:p>
            <a:pPr>
              <a:defRPr/>
            </a:pPr>
            <a:fld id="{32D1380D-E3FC-4400-8608-068381AB5AD6}" type="datetime1">
              <a:rPr lang="en-US" smtClean="0"/>
              <a:t>10/5/2026</a:t>
            </a:fld>
            <a:endParaRPr lang="en-US" dirty="0"/>
          </a:p>
        </p:txBody>
      </p:sp>
      <p:sp>
        <p:nvSpPr>
          <p:cNvPr id="6" name="Footer Placeholder 5">
            <a:extLst>
              <a:ext uri="{FF2B5EF4-FFF2-40B4-BE49-F238E27FC236}">
                <a16:creationId xmlns:a16="http://schemas.microsoft.com/office/drawing/2014/main" id="{701D0F18-EFA7-4EBC-8410-4B22B9EFE621}"/>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A914E80B-E6FA-423B-9428-B42480499F3E}"/>
              </a:ext>
            </a:extLst>
          </p:cNvPr>
          <p:cNvSpPr>
            <a:spLocks noGrp="1"/>
          </p:cNvSpPr>
          <p:nvPr>
            <p:ph type="sldNum" sz="quarter" idx="12"/>
          </p:nvPr>
        </p:nvSpPr>
        <p:spPr/>
        <p:txBody>
          <a:bodyPr/>
          <a:lstStyle/>
          <a:p>
            <a:pPr>
              <a:defRPr/>
            </a:pPr>
            <a:fld id="{2493EE23-75AB-49F0-A6CE-2FEF6CA874C4}" type="slidenum">
              <a:rPr lang="en-US" smtClean="0"/>
              <a:pPr>
                <a:defRPr/>
              </a:pPr>
              <a:t>‹#›</a:t>
            </a:fld>
            <a:endParaRPr lang="en-US" dirty="0"/>
          </a:p>
        </p:txBody>
      </p:sp>
    </p:spTree>
    <p:extLst>
      <p:ext uri="{BB962C8B-B14F-4D97-AF65-F5344CB8AC3E}">
        <p14:creationId xmlns:p14="http://schemas.microsoft.com/office/powerpoint/2010/main" val="36229392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BB412-6AD7-4787-81A1-B6BEC403DBC5}"/>
              </a:ext>
            </a:extLst>
          </p:cNvPr>
          <p:cNvSpPr>
            <a:spLocks noGrp="1"/>
          </p:cNvSpPr>
          <p:nvPr>
            <p:ph type="title"/>
          </p:nvPr>
        </p:nvSpPr>
        <p:spPr>
          <a:xfrm>
            <a:off x="629841" y="365126"/>
            <a:ext cx="78867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95816430-98CF-4102-AAA6-CAFE4E665156}"/>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E43A34C0-23BF-44E3-B44D-5D732A457BDF}"/>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0B1754D1-6DF9-4BB8-9F4F-9AA31DBE4B1F}"/>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BCE400F0-E49C-4BEE-BCED-7A1621BC9B52}"/>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E237BF10-5EFB-4220-87C5-52834FF39C3B}"/>
              </a:ext>
            </a:extLst>
          </p:cNvPr>
          <p:cNvSpPr>
            <a:spLocks noGrp="1"/>
          </p:cNvSpPr>
          <p:nvPr>
            <p:ph type="dt" sz="half" idx="10"/>
          </p:nvPr>
        </p:nvSpPr>
        <p:spPr/>
        <p:txBody>
          <a:bodyPr/>
          <a:lstStyle/>
          <a:p>
            <a:pPr>
              <a:defRPr/>
            </a:pPr>
            <a:fld id="{C0013267-A812-4F0A-90D4-F2B111914629}" type="datetime1">
              <a:rPr lang="en-US" smtClean="0"/>
              <a:t>10/5/2026</a:t>
            </a:fld>
            <a:endParaRPr lang="en-US" dirty="0"/>
          </a:p>
        </p:txBody>
      </p:sp>
      <p:sp>
        <p:nvSpPr>
          <p:cNvPr id="8" name="Footer Placeholder 7">
            <a:extLst>
              <a:ext uri="{FF2B5EF4-FFF2-40B4-BE49-F238E27FC236}">
                <a16:creationId xmlns:a16="http://schemas.microsoft.com/office/drawing/2014/main" id="{BE8DD430-5B00-48A5-A9C7-2C55B747E3BB}"/>
              </a:ext>
            </a:extLst>
          </p:cNvPr>
          <p:cNvSpPr>
            <a:spLocks noGrp="1"/>
          </p:cNvSpPr>
          <p:nvPr>
            <p:ph type="ftr" sz="quarter" idx="11"/>
          </p:nvPr>
        </p:nvSpPr>
        <p:spPr/>
        <p:txBody>
          <a:bodyPr/>
          <a:lstStyle/>
          <a:p>
            <a:pPr>
              <a:defRPr/>
            </a:pPr>
            <a:endParaRPr lang="en-US"/>
          </a:p>
        </p:txBody>
      </p:sp>
      <p:sp>
        <p:nvSpPr>
          <p:cNvPr id="9" name="Slide Number Placeholder 8">
            <a:extLst>
              <a:ext uri="{FF2B5EF4-FFF2-40B4-BE49-F238E27FC236}">
                <a16:creationId xmlns:a16="http://schemas.microsoft.com/office/drawing/2014/main" id="{1A1691D2-E209-4E32-8E07-E4C1C0822EAE}"/>
              </a:ext>
            </a:extLst>
          </p:cNvPr>
          <p:cNvSpPr>
            <a:spLocks noGrp="1"/>
          </p:cNvSpPr>
          <p:nvPr>
            <p:ph type="sldNum" sz="quarter" idx="12"/>
          </p:nvPr>
        </p:nvSpPr>
        <p:spPr/>
        <p:txBody>
          <a:bodyPr/>
          <a:lstStyle/>
          <a:p>
            <a:pPr>
              <a:defRPr/>
            </a:pPr>
            <a:fld id="{DFCFAC3A-BB2C-464A-A204-9BE6F2892ACE}" type="slidenum">
              <a:rPr lang="en-US" smtClean="0"/>
              <a:pPr>
                <a:defRPr/>
              </a:pPr>
              <a:t>‹#›</a:t>
            </a:fld>
            <a:endParaRPr lang="en-US" dirty="0"/>
          </a:p>
        </p:txBody>
      </p:sp>
    </p:spTree>
    <p:extLst>
      <p:ext uri="{BB962C8B-B14F-4D97-AF65-F5344CB8AC3E}">
        <p14:creationId xmlns:p14="http://schemas.microsoft.com/office/powerpoint/2010/main" val="34243164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DBEC6-EA62-4975-A6E2-8470986A2690}"/>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D1EBF6CF-A4E3-47ED-8B02-893D3B49279A}"/>
              </a:ext>
            </a:extLst>
          </p:cNvPr>
          <p:cNvSpPr>
            <a:spLocks noGrp="1"/>
          </p:cNvSpPr>
          <p:nvPr>
            <p:ph type="dt" sz="half" idx="10"/>
          </p:nvPr>
        </p:nvSpPr>
        <p:spPr/>
        <p:txBody>
          <a:bodyPr/>
          <a:lstStyle/>
          <a:p>
            <a:pPr>
              <a:defRPr/>
            </a:pPr>
            <a:fld id="{03466E65-B2C2-411C-93A9-6D7F1581AD44}" type="datetime1">
              <a:rPr lang="en-US" smtClean="0"/>
              <a:t>10/5/2026</a:t>
            </a:fld>
            <a:endParaRPr lang="en-US" dirty="0"/>
          </a:p>
        </p:txBody>
      </p:sp>
      <p:sp>
        <p:nvSpPr>
          <p:cNvPr id="4" name="Footer Placeholder 3">
            <a:extLst>
              <a:ext uri="{FF2B5EF4-FFF2-40B4-BE49-F238E27FC236}">
                <a16:creationId xmlns:a16="http://schemas.microsoft.com/office/drawing/2014/main" id="{8F0132BA-BB91-4EE3-8910-3A4A2112CAC1}"/>
              </a:ext>
            </a:extLst>
          </p:cNvPr>
          <p:cNvSpPr>
            <a:spLocks noGrp="1"/>
          </p:cNvSpPr>
          <p:nvPr>
            <p:ph type="ftr" sz="quarter" idx="11"/>
          </p:nvPr>
        </p:nvSpPr>
        <p:spPr/>
        <p:txBody>
          <a:bodyPr/>
          <a:lstStyle/>
          <a:p>
            <a:pPr>
              <a:defRPr/>
            </a:pPr>
            <a:endParaRPr lang="en-US"/>
          </a:p>
        </p:txBody>
      </p:sp>
      <p:sp>
        <p:nvSpPr>
          <p:cNvPr id="5" name="Slide Number Placeholder 4">
            <a:extLst>
              <a:ext uri="{FF2B5EF4-FFF2-40B4-BE49-F238E27FC236}">
                <a16:creationId xmlns:a16="http://schemas.microsoft.com/office/drawing/2014/main" id="{8E7F84BA-F1AF-4275-9C5B-8E014BF895E6}"/>
              </a:ext>
            </a:extLst>
          </p:cNvPr>
          <p:cNvSpPr>
            <a:spLocks noGrp="1"/>
          </p:cNvSpPr>
          <p:nvPr>
            <p:ph type="sldNum" sz="quarter" idx="12"/>
          </p:nvPr>
        </p:nvSpPr>
        <p:spPr/>
        <p:txBody>
          <a:bodyPr/>
          <a:lstStyle/>
          <a:p>
            <a:pPr>
              <a:defRPr/>
            </a:pPr>
            <a:fld id="{10D982E8-88B9-4D20-8D5D-4EA2F2AF9759}" type="slidenum">
              <a:rPr lang="en-US" smtClean="0"/>
              <a:pPr>
                <a:defRPr/>
              </a:pPr>
              <a:t>‹#›</a:t>
            </a:fld>
            <a:endParaRPr lang="en-US" dirty="0"/>
          </a:p>
        </p:txBody>
      </p:sp>
    </p:spTree>
    <p:extLst>
      <p:ext uri="{BB962C8B-B14F-4D97-AF65-F5344CB8AC3E}">
        <p14:creationId xmlns:p14="http://schemas.microsoft.com/office/powerpoint/2010/main" val="16161419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49BED3-BB61-43FB-916F-EFFFCAF5B1DD}"/>
              </a:ext>
            </a:extLst>
          </p:cNvPr>
          <p:cNvSpPr>
            <a:spLocks noGrp="1"/>
          </p:cNvSpPr>
          <p:nvPr>
            <p:ph type="dt" sz="half" idx="10"/>
          </p:nvPr>
        </p:nvSpPr>
        <p:spPr/>
        <p:txBody>
          <a:bodyPr/>
          <a:lstStyle/>
          <a:p>
            <a:pPr>
              <a:defRPr/>
            </a:pPr>
            <a:fld id="{BF4C6848-A35D-4BAA-99A2-13E04054EB84}" type="datetime1">
              <a:rPr lang="en-US" smtClean="0"/>
              <a:t>10/5/2026</a:t>
            </a:fld>
            <a:endParaRPr lang="en-US" dirty="0"/>
          </a:p>
        </p:txBody>
      </p:sp>
      <p:sp>
        <p:nvSpPr>
          <p:cNvPr id="3" name="Footer Placeholder 2">
            <a:extLst>
              <a:ext uri="{FF2B5EF4-FFF2-40B4-BE49-F238E27FC236}">
                <a16:creationId xmlns:a16="http://schemas.microsoft.com/office/drawing/2014/main" id="{6DCBC4A8-0ECF-4A82-A15A-24AC747C667C}"/>
              </a:ext>
            </a:extLst>
          </p:cNvPr>
          <p:cNvSpPr>
            <a:spLocks noGrp="1"/>
          </p:cNvSpPr>
          <p:nvPr>
            <p:ph type="ftr" sz="quarter" idx="11"/>
          </p:nvPr>
        </p:nvSpPr>
        <p:spPr/>
        <p:txBody>
          <a:bodyPr/>
          <a:lstStyle/>
          <a:p>
            <a:pPr>
              <a:defRPr/>
            </a:pPr>
            <a:endParaRPr lang="en-US"/>
          </a:p>
        </p:txBody>
      </p:sp>
      <p:sp>
        <p:nvSpPr>
          <p:cNvPr id="4" name="Slide Number Placeholder 3">
            <a:extLst>
              <a:ext uri="{FF2B5EF4-FFF2-40B4-BE49-F238E27FC236}">
                <a16:creationId xmlns:a16="http://schemas.microsoft.com/office/drawing/2014/main" id="{0C720239-87B9-4679-89E4-D0FF0322AA42}"/>
              </a:ext>
            </a:extLst>
          </p:cNvPr>
          <p:cNvSpPr>
            <a:spLocks noGrp="1"/>
          </p:cNvSpPr>
          <p:nvPr>
            <p:ph type="sldNum" sz="quarter" idx="12"/>
          </p:nvPr>
        </p:nvSpPr>
        <p:spPr/>
        <p:txBody>
          <a:bodyPr/>
          <a:lstStyle/>
          <a:p>
            <a:pPr>
              <a:defRPr/>
            </a:pPr>
            <a:fld id="{549D05C1-9C79-4764-9CF5-315406C1DB61}" type="slidenum">
              <a:rPr lang="en-US" smtClean="0"/>
              <a:pPr>
                <a:defRPr/>
              </a:pPr>
              <a:t>‹#›</a:t>
            </a:fld>
            <a:endParaRPr lang="en-US" dirty="0"/>
          </a:p>
        </p:txBody>
      </p:sp>
    </p:spTree>
    <p:extLst>
      <p:ext uri="{BB962C8B-B14F-4D97-AF65-F5344CB8AC3E}">
        <p14:creationId xmlns:p14="http://schemas.microsoft.com/office/powerpoint/2010/main" val="12408827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C333C-8DC2-41B4-A432-8737E71468C7}"/>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3E664067-87DC-4EA7-82C8-3BE465B0267F}"/>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634CDD81-0FDA-4DEC-9B8D-ACA0E98C2359}"/>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739B9FCC-7155-4B8C-94AA-F1636F47D3C4}"/>
              </a:ext>
            </a:extLst>
          </p:cNvPr>
          <p:cNvSpPr>
            <a:spLocks noGrp="1"/>
          </p:cNvSpPr>
          <p:nvPr>
            <p:ph type="dt" sz="half" idx="10"/>
          </p:nvPr>
        </p:nvSpPr>
        <p:spPr/>
        <p:txBody>
          <a:bodyPr/>
          <a:lstStyle/>
          <a:p>
            <a:pPr>
              <a:defRPr/>
            </a:pPr>
            <a:fld id="{9D32F287-DB4B-4949-8A09-F211A1CA6262}" type="datetime1">
              <a:rPr lang="en-US" smtClean="0"/>
              <a:t>10/5/2026</a:t>
            </a:fld>
            <a:endParaRPr lang="en-US" dirty="0"/>
          </a:p>
        </p:txBody>
      </p:sp>
      <p:sp>
        <p:nvSpPr>
          <p:cNvPr id="6" name="Footer Placeholder 5">
            <a:extLst>
              <a:ext uri="{FF2B5EF4-FFF2-40B4-BE49-F238E27FC236}">
                <a16:creationId xmlns:a16="http://schemas.microsoft.com/office/drawing/2014/main" id="{91DFADB7-47D4-4DDB-91F1-8610941F6C2A}"/>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9DEA87F9-624C-4645-BD3B-7790B8D3BEC3}"/>
              </a:ext>
            </a:extLst>
          </p:cNvPr>
          <p:cNvSpPr>
            <a:spLocks noGrp="1"/>
          </p:cNvSpPr>
          <p:nvPr>
            <p:ph type="sldNum" sz="quarter" idx="12"/>
          </p:nvPr>
        </p:nvSpPr>
        <p:spPr/>
        <p:txBody>
          <a:bodyPr/>
          <a:lstStyle/>
          <a:p>
            <a:pPr>
              <a:defRPr/>
            </a:pPr>
            <a:fld id="{E15ACBE5-C802-41B6-93B8-D159D2369D54}" type="slidenum">
              <a:rPr lang="en-US" smtClean="0"/>
              <a:pPr>
                <a:defRPr/>
              </a:pPr>
              <a:t>‹#›</a:t>
            </a:fld>
            <a:endParaRPr lang="en-US" dirty="0"/>
          </a:p>
        </p:txBody>
      </p:sp>
    </p:spTree>
    <p:extLst>
      <p:ext uri="{BB962C8B-B14F-4D97-AF65-F5344CB8AC3E}">
        <p14:creationId xmlns:p14="http://schemas.microsoft.com/office/powerpoint/2010/main" val="14571906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F7BD3-8E00-4C8E-989D-08BC6B4F5195}"/>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DD96D488-7761-487B-82D3-8EA678D92076}"/>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PK"/>
          </a:p>
        </p:txBody>
      </p:sp>
      <p:sp>
        <p:nvSpPr>
          <p:cNvPr id="4" name="Text Placeholder 3">
            <a:extLst>
              <a:ext uri="{FF2B5EF4-FFF2-40B4-BE49-F238E27FC236}">
                <a16:creationId xmlns:a16="http://schemas.microsoft.com/office/drawing/2014/main" id="{163BC7F8-85A7-45D3-8328-E02D2F76FA1E}"/>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10412960-10E7-4179-92E8-0475F096CBD3}"/>
              </a:ext>
            </a:extLst>
          </p:cNvPr>
          <p:cNvSpPr>
            <a:spLocks noGrp="1"/>
          </p:cNvSpPr>
          <p:nvPr>
            <p:ph type="dt" sz="half" idx="10"/>
          </p:nvPr>
        </p:nvSpPr>
        <p:spPr/>
        <p:txBody>
          <a:bodyPr/>
          <a:lstStyle/>
          <a:p>
            <a:pPr>
              <a:defRPr/>
            </a:pPr>
            <a:fld id="{9977A794-53F7-41A6-A4C4-AA0F6F04BBE2}" type="datetime1">
              <a:rPr lang="en-US" smtClean="0"/>
              <a:t>10/5/2026</a:t>
            </a:fld>
            <a:endParaRPr lang="en-US" dirty="0"/>
          </a:p>
        </p:txBody>
      </p:sp>
      <p:sp>
        <p:nvSpPr>
          <p:cNvPr id="6" name="Footer Placeholder 5">
            <a:extLst>
              <a:ext uri="{FF2B5EF4-FFF2-40B4-BE49-F238E27FC236}">
                <a16:creationId xmlns:a16="http://schemas.microsoft.com/office/drawing/2014/main" id="{DA81961D-4A01-4DB6-B878-2CAEA0A474BB}"/>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408DDCA0-872F-491B-87BE-AC162F59051B}"/>
              </a:ext>
            </a:extLst>
          </p:cNvPr>
          <p:cNvSpPr>
            <a:spLocks noGrp="1"/>
          </p:cNvSpPr>
          <p:nvPr>
            <p:ph type="sldNum" sz="quarter" idx="12"/>
          </p:nvPr>
        </p:nvSpPr>
        <p:spPr/>
        <p:txBody>
          <a:bodyPr/>
          <a:lstStyle/>
          <a:p>
            <a:pPr>
              <a:defRPr/>
            </a:pPr>
            <a:fld id="{FC4E1311-7F5E-47D1-A119-C5BA70B01DC0}" type="slidenum">
              <a:rPr lang="en-US" smtClean="0"/>
              <a:pPr>
                <a:defRPr/>
              </a:pPr>
              <a:t>‹#›</a:t>
            </a:fld>
            <a:endParaRPr lang="en-US" dirty="0"/>
          </a:p>
        </p:txBody>
      </p:sp>
    </p:spTree>
    <p:extLst>
      <p:ext uri="{BB962C8B-B14F-4D97-AF65-F5344CB8AC3E}">
        <p14:creationId xmlns:p14="http://schemas.microsoft.com/office/powerpoint/2010/main" val="34267712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1C45E-BEB5-4034-84FD-C0D8DE4E4A04}"/>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08F52035-8E13-422E-B1F3-AD6ADCBEB84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AF7C057D-9F4A-4A6E-8E3B-F68FAC19A52D}"/>
              </a:ext>
            </a:extLst>
          </p:cNvPr>
          <p:cNvSpPr>
            <a:spLocks noGrp="1"/>
          </p:cNvSpPr>
          <p:nvPr>
            <p:ph type="dt" sz="half" idx="10"/>
          </p:nvPr>
        </p:nvSpPr>
        <p:spPr/>
        <p:txBody>
          <a:bodyPr/>
          <a:lstStyle/>
          <a:p>
            <a:pPr>
              <a:defRPr/>
            </a:pPr>
            <a:fld id="{BB31E2E7-677F-4C6F-AB0D-918FCA30F40A}" type="datetime1">
              <a:rPr lang="en-US" smtClean="0"/>
              <a:t>10/5/2026</a:t>
            </a:fld>
            <a:endParaRPr lang="en-US" dirty="0"/>
          </a:p>
        </p:txBody>
      </p:sp>
      <p:sp>
        <p:nvSpPr>
          <p:cNvPr id="5" name="Footer Placeholder 4">
            <a:extLst>
              <a:ext uri="{FF2B5EF4-FFF2-40B4-BE49-F238E27FC236}">
                <a16:creationId xmlns:a16="http://schemas.microsoft.com/office/drawing/2014/main" id="{44774333-EC47-40ED-B540-4EE1BEDD0814}"/>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4552043D-324B-4590-9342-52415042746C}"/>
              </a:ext>
            </a:extLst>
          </p:cNvPr>
          <p:cNvSpPr>
            <a:spLocks noGrp="1"/>
          </p:cNvSpPr>
          <p:nvPr>
            <p:ph type="sldNum" sz="quarter" idx="12"/>
          </p:nvPr>
        </p:nvSpPr>
        <p:spPr/>
        <p:txBody>
          <a:bodyPr/>
          <a:lstStyle/>
          <a:p>
            <a:pPr>
              <a:defRPr/>
            </a:pPr>
            <a:fld id="{18B50E65-7B0B-467F-B986-50A984B246EC}" type="slidenum">
              <a:rPr lang="en-US" smtClean="0"/>
              <a:pPr>
                <a:defRPr/>
              </a:pPr>
              <a:t>‹#›</a:t>
            </a:fld>
            <a:endParaRPr lang="en-US" dirty="0"/>
          </a:p>
        </p:txBody>
      </p:sp>
    </p:spTree>
    <p:extLst>
      <p:ext uri="{BB962C8B-B14F-4D97-AF65-F5344CB8AC3E}">
        <p14:creationId xmlns:p14="http://schemas.microsoft.com/office/powerpoint/2010/main" val="3634432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037F0D9-8B28-46AC-8AA7-E3E9D7E941DC}"/>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BB02DA7D-C418-4B05-A641-6FFF77CE3986}"/>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A360E533-610E-4F1B-A7BD-2B1EF3835B5D}"/>
              </a:ext>
            </a:extLst>
          </p:cNvPr>
          <p:cNvSpPr>
            <a:spLocks noGrp="1"/>
          </p:cNvSpPr>
          <p:nvPr>
            <p:ph type="dt" sz="half" idx="10"/>
          </p:nvPr>
        </p:nvSpPr>
        <p:spPr/>
        <p:txBody>
          <a:bodyPr/>
          <a:lstStyle/>
          <a:p>
            <a:pPr>
              <a:defRPr/>
            </a:pPr>
            <a:fld id="{B876C68D-146C-4B9D-8E67-02A8D30F6B33}" type="datetime1">
              <a:rPr lang="en-US" smtClean="0"/>
              <a:t>10/5/2026</a:t>
            </a:fld>
            <a:endParaRPr lang="en-US" dirty="0"/>
          </a:p>
        </p:txBody>
      </p:sp>
      <p:sp>
        <p:nvSpPr>
          <p:cNvPr id="5" name="Footer Placeholder 4">
            <a:extLst>
              <a:ext uri="{FF2B5EF4-FFF2-40B4-BE49-F238E27FC236}">
                <a16:creationId xmlns:a16="http://schemas.microsoft.com/office/drawing/2014/main" id="{B94F1D6D-ED01-40DA-BDCA-66F620280162}"/>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AA605792-8287-4FE0-9324-1F38199C8D51}"/>
              </a:ext>
            </a:extLst>
          </p:cNvPr>
          <p:cNvSpPr>
            <a:spLocks noGrp="1"/>
          </p:cNvSpPr>
          <p:nvPr>
            <p:ph type="sldNum" sz="quarter" idx="12"/>
          </p:nvPr>
        </p:nvSpPr>
        <p:spPr/>
        <p:txBody>
          <a:bodyPr/>
          <a:lstStyle/>
          <a:p>
            <a:pPr>
              <a:defRPr/>
            </a:pPr>
            <a:fld id="{1030E50E-0CCC-426D-BC81-BA1C65FD26E8}" type="slidenum">
              <a:rPr lang="en-US" smtClean="0"/>
              <a:pPr>
                <a:defRPr/>
              </a:pPr>
              <a:t>‹#›</a:t>
            </a:fld>
            <a:endParaRPr lang="en-US" dirty="0"/>
          </a:p>
        </p:txBody>
      </p:sp>
    </p:spTree>
    <p:extLst>
      <p:ext uri="{BB962C8B-B14F-4D97-AF65-F5344CB8AC3E}">
        <p14:creationId xmlns:p14="http://schemas.microsoft.com/office/powerpoint/2010/main" val="3060836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599793-EE07-4DAA-986A-D5FA5BE990E7}"/>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B8B06FDF-7EE4-407F-986E-74FFFA07B368}"/>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6A96BBDE-EC18-4432-9656-D84B9DEBF8A5}"/>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fld id="{5C4A4B58-8AEE-45BC-A36B-6FDF2A7EB2AC}" type="datetime1">
              <a:rPr lang="en-US" smtClean="0"/>
              <a:t>10/5/2026</a:t>
            </a:fld>
            <a:endParaRPr lang="en-US" dirty="0"/>
          </a:p>
        </p:txBody>
      </p:sp>
      <p:sp>
        <p:nvSpPr>
          <p:cNvPr id="5" name="Footer Placeholder 4">
            <a:extLst>
              <a:ext uri="{FF2B5EF4-FFF2-40B4-BE49-F238E27FC236}">
                <a16:creationId xmlns:a16="http://schemas.microsoft.com/office/drawing/2014/main" id="{B40DC1BA-1B2B-4663-8A17-4176B0C1A8A7}"/>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D0157882-861D-460A-BCAD-120B6FCA77DB}"/>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0E1D5F91-71F4-481F-9209-C252062566B0}" type="slidenum">
              <a:rPr lang="en-US" smtClean="0"/>
              <a:pPr>
                <a:defRPr/>
              </a:pPr>
              <a:t>‹#›</a:t>
            </a:fld>
            <a:endParaRPr lang="en-US" dirty="0"/>
          </a:p>
        </p:txBody>
      </p:sp>
      <p:sp>
        <p:nvSpPr>
          <p:cNvPr id="7" name="Rectangle 42">
            <a:extLst>
              <a:ext uri="{FF2B5EF4-FFF2-40B4-BE49-F238E27FC236}">
                <a16:creationId xmlns:a16="http://schemas.microsoft.com/office/drawing/2014/main" id="{0540589F-7111-4441-AD83-CD02877C5204}"/>
              </a:ext>
            </a:extLst>
          </p:cNvPr>
          <p:cNvSpPr>
            <a:spLocks noChangeArrowheads="1"/>
          </p:cNvSpPr>
          <p:nvPr userDrawn="1"/>
        </p:nvSpPr>
        <p:spPr bwMode="auto">
          <a:xfrm>
            <a:off x="0" y="152400"/>
            <a:ext cx="9144000" cy="444500"/>
          </a:xfrm>
          <a:prstGeom prst="rect">
            <a:avLst/>
          </a:prstGeom>
          <a:solidFill>
            <a:schemeClr val="accent1">
              <a:alpha val="38039"/>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spcBef>
                <a:spcPts val="0"/>
              </a:spcBef>
              <a:spcAft>
                <a:spcPts val="0"/>
              </a:spcAft>
              <a:defRPr/>
            </a:pPr>
            <a:endParaRPr lang="en-US" altLang="en-US"/>
          </a:p>
        </p:txBody>
      </p:sp>
      <p:sp>
        <p:nvSpPr>
          <p:cNvPr id="8" name="Line 41">
            <a:extLst>
              <a:ext uri="{FF2B5EF4-FFF2-40B4-BE49-F238E27FC236}">
                <a16:creationId xmlns:a16="http://schemas.microsoft.com/office/drawing/2014/main" id="{02F95445-BACB-42F4-B86B-E6DC474CBD72}"/>
              </a:ext>
            </a:extLst>
          </p:cNvPr>
          <p:cNvSpPr>
            <a:spLocks noChangeShapeType="1"/>
          </p:cNvSpPr>
          <p:nvPr userDrawn="1"/>
        </p:nvSpPr>
        <p:spPr bwMode="auto">
          <a:xfrm>
            <a:off x="0" y="609600"/>
            <a:ext cx="9144000" cy="0"/>
          </a:xfrm>
          <a:prstGeom prst="line">
            <a:avLst/>
          </a:prstGeom>
          <a:noFill/>
          <a:ln w="25400">
            <a:solidFill>
              <a:srgbClr val="4D747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 name="Line 43">
            <a:extLst>
              <a:ext uri="{FF2B5EF4-FFF2-40B4-BE49-F238E27FC236}">
                <a16:creationId xmlns:a16="http://schemas.microsoft.com/office/drawing/2014/main" id="{3D7E9865-C092-4873-8030-123182E56C0B}"/>
              </a:ext>
            </a:extLst>
          </p:cNvPr>
          <p:cNvSpPr>
            <a:spLocks noChangeShapeType="1"/>
          </p:cNvSpPr>
          <p:nvPr userDrawn="1"/>
        </p:nvSpPr>
        <p:spPr bwMode="auto">
          <a:xfrm>
            <a:off x="0" y="152400"/>
            <a:ext cx="9144000" cy="0"/>
          </a:xfrm>
          <a:prstGeom prst="line">
            <a:avLst/>
          </a:prstGeom>
          <a:noFill/>
          <a:ln w="25400">
            <a:solidFill>
              <a:srgbClr val="4D747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 name="Line 46">
            <a:extLst>
              <a:ext uri="{FF2B5EF4-FFF2-40B4-BE49-F238E27FC236}">
                <a16:creationId xmlns:a16="http://schemas.microsoft.com/office/drawing/2014/main" id="{2D64DA36-5668-4287-9E53-216D67BC117A}"/>
              </a:ext>
            </a:extLst>
          </p:cNvPr>
          <p:cNvSpPr>
            <a:spLocks noChangeShapeType="1"/>
          </p:cNvSpPr>
          <p:nvPr userDrawn="1"/>
        </p:nvSpPr>
        <p:spPr bwMode="auto">
          <a:xfrm>
            <a:off x="0" y="6705600"/>
            <a:ext cx="9144000" cy="0"/>
          </a:xfrm>
          <a:prstGeom prst="line">
            <a:avLst/>
          </a:prstGeom>
          <a:noFill/>
          <a:ln w="25400">
            <a:solidFill>
              <a:srgbClr val="4D747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 name="Rectangle 48">
            <a:extLst>
              <a:ext uri="{FF2B5EF4-FFF2-40B4-BE49-F238E27FC236}">
                <a16:creationId xmlns:a16="http://schemas.microsoft.com/office/drawing/2014/main" id="{70639D94-DEFF-474C-8120-1A03E44D15CB}"/>
              </a:ext>
            </a:extLst>
          </p:cNvPr>
          <p:cNvSpPr>
            <a:spLocks noChangeArrowheads="1"/>
          </p:cNvSpPr>
          <p:nvPr userDrawn="1"/>
        </p:nvSpPr>
        <p:spPr bwMode="auto">
          <a:xfrm>
            <a:off x="0" y="6718300"/>
            <a:ext cx="9144000" cy="139700"/>
          </a:xfrm>
          <a:prstGeom prst="rect">
            <a:avLst/>
          </a:prstGeom>
          <a:solidFill>
            <a:schemeClr val="accent1">
              <a:alpha val="5294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auto" hangingPunct="1">
              <a:spcBef>
                <a:spcPts val="0"/>
              </a:spcBef>
              <a:spcAft>
                <a:spcPts val="0"/>
              </a:spcAft>
              <a:defRPr/>
            </a:pPr>
            <a:endParaRPr lang="en-US" altLang="en-US"/>
          </a:p>
        </p:txBody>
      </p:sp>
    </p:spTree>
    <p:extLst>
      <p:ext uri="{BB962C8B-B14F-4D97-AF65-F5344CB8AC3E}">
        <p14:creationId xmlns:p14="http://schemas.microsoft.com/office/powerpoint/2010/main" val="2103804477"/>
      </p:ext>
    </p:extLst>
  </p:cSld>
  <p:clrMap bg1="lt1" tx1="dk1" bg2="lt2" tx2="dk2" accent1="accent1" accent2="accent2" accent3="accent3" accent4="accent4" accent5="accent5" accent6="accent6" hlink="hlink" folHlink="folHlink"/>
  <p:sldLayoutIdLst>
    <p:sldLayoutId id="2147484078" r:id="rId1"/>
    <p:sldLayoutId id="2147484079" r:id="rId2"/>
    <p:sldLayoutId id="2147484080" r:id="rId3"/>
    <p:sldLayoutId id="2147484081" r:id="rId4"/>
    <p:sldLayoutId id="2147484082" r:id="rId5"/>
    <p:sldLayoutId id="2147484083" r:id="rId6"/>
    <p:sldLayoutId id="2147484084" r:id="rId7"/>
    <p:sldLayoutId id="2147484085" r:id="rId8"/>
    <p:sldLayoutId id="2147484086" r:id="rId9"/>
    <p:sldLayoutId id="2147484087" r:id="rId10"/>
    <p:sldLayoutId id="2147484088" r:id="rId11"/>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PK"/>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D8B5B-1B1C-4A7D-934A-00220DC2497B}"/>
              </a:ext>
            </a:extLst>
          </p:cNvPr>
          <p:cNvSpPr>
            <a:spLocks noGrp="1"/>
          </p:cNvSpPr>
          <p:nvPr>
            <p:ph type="ctrTitle"/>
          </p:nvPr>
        </p:nvSpPr>
        <p:spPr>
          <a:xfrm>
            <a:off x="1174230" y="1293787"/>
            <a:ext cx="6858000" cy="2387600"/>
          </a:xfrm>
        </p:spPr>
        <p:txBody>
          <a:bodyPr>
            <a:normAutofit/>
          </a:bodyPr>
          <a:lstStyle/>
          <a:p>
            <a:r>
              <a:rPr lang="en-US" sz="4800" b="1" dirty="0"/>
              <a:t>Project Dimensions and Life Cycle</a:t>
            </a:r>
            <a:endParaRPr lang="en-PK" sz="4800" b="1" dirty="0"/>
          </a:p>
        </p:txBody>
      </p:sp>
      <p:sp>
        <p:nvSpPr>
          <p:cNvPr id="3" name="Subtitle 2">
            <a:extLst>
              <a:ext uri="{FF2B5EF4-FFF2-40B4-BE49-F238E27FC236}">
                <a16:creationId xmlns:a16="http://schemas.microsoft.com/office/drawing/2014/main" id="{86302CBC-332D-4811-B3B4-0029AEBF0699}"/>
              </a:ext>
            </a:extLst>
          </p:cNvPr>
          <p:cNvSpPr>
            <a:spLocks noGrp="1"/>
          </p:cNvSpPr>
          <p:nvPr>
            <p:ph type="subTitle" idx="1"/>
          </p:nvPr>
        </p:nvSpPr>
        <p:spPr>
          <a:xfrm>
            <a:off x="1179227" y="4038600"/>
            <a:ext cx="6858000" cy="1655762"/>
          </a:xfrm>
        </p:spPr>
        <p:txBody>
          <a:bodyPr/>
          <a:lstStyle/>
          <a:p>
            <a:r>
              <a:rPr lang="en-US" dirty="0"/>
              <a:t>Week 2</a:t>
            </a:r>
            <a:endParaRPr lang="en-PK" dirty="0"/>
          </a:p>
        </p:txBody>
      </p:sp>
    </p:spTree>
    <p:extLst>
      <p:ext uri="{BB962C8B-B14F-4D97-AF65-F5344CB8AC3E}">
        <p14:creationId xmlns:p14="http://schemas.microsoft.com/office/powerpoint/2010/main" val="36387265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57200"/>
            <a:ext cx="7886700" cy="777240"/>
          </a:xfrm>
        </p:spPr>
        <p:txBody>
          <a:bodyPr/>
          <a:lstStyle/>
          <a:p>
            <a:r>
              <a:rPr sz="2600" b="1"/>
              <a:t>Week 2 Roadmap</a:t>
            </a:r>
          </a:p>
        </p:txBody>
      </p:sp>
      <p:sp>
        <p:nvSpPr>
          <p:cNvPr id="3" name="Rectangle 2"/>
          <p:cNvSpPr/>
          <p:nvPr/>
        </p:nvSpPr>
        <p:spPr>
          <a:xfrm>
            <a:off x="630936" y="1600200"/>
            <a:ext cx="3749039" cy="3931920"/>
          </a:xfrm>
          <a:prstGeom prst="rect">
            <a:avLst/>
          </a:prstGeom>
          <a:solidFill>
            <a:srgbClr val="DEE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30936" y="1600200"/>
            <a:ext cx="3749039" cy="4114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400"/>
              </a:spcAft>
            </a:pPr>
            <a:r>
              <a:rPr sz="1500" b="1" i="0">
                <a:solidFill>
                  <a:srgbClr val="FFFFFF"/>
                </a:solidFill>
              </a:rPr>
              <a:t>Session 1</a:t>
            </a:r>
          </a:p>
        </p:txBody>
      </p:sp>
      <p:sp>
        <p:nvSpPr>
          <p:cNvPr id="5" name="TextBox 4"/>
          <p:cNvSpPr txBox="1"/>
          <p:nvPr/>
        </p:nvSpPr>
        <p:spPr>
          <a:xfrm>
            <a:off x="704087" y="2084832"/>
            <a:ext cx="3602735" cy="915122"/>
          </a:xfrm>
          <a:prstGeom prst="rect">
            <a:avLst/>
          </a:prstGeom>
          <a:noFill/>
        </p:spPr>
        <p:txBody>
          <a:bodyPr wrap="square" lIns="73152" tIns="36576" rIns="73152" bIns="36576" anchor="t">
            <a:spAutoFit/>
          </a:bodyPr>
          <a:lstStyle/>
          <a:p>
            <a:pPr algn="l">
              <a:spcAft>
                <a:spcPts val="400"/>
              </a:spcAft>
            </a:pPr>
            <a:r>
              <a:rPr sz="1600" b="1" i="0" dirty="0">
                <a:solidFill>
                  <a:srgbClr val="262626"/>
                </a:solidFill>
              </a:rPr>
              <a:t>Four project dimensions</a:t>
            </a:r>
          </a:p>
          <a:p>
            <a:pPr algn="l">
              <a:spcAft>
                <a:spcPts val="400"/>
              </a:spcAft>
            </a:pPr>
            <a:r>
              <a:rPr sz="1600" b="1" i="0" dirty="0">
                <a:solidFill>
                  <a:srgbClr val="262626"/>
                </a:solidFill>
              </a:rPr>
              <a:t>Classic mistakes</a:t>
            </a:r>
          </a:p>
          <a:p>
            <a:pPr algn="l">
              <a:spcAft>
                <a:spcPts val="400"/>
              </a:spcAft>
            </a:pPr>
            <a:r>
              <a:rPr sz="1600" b="1" i="0" dirty="0">
                <a:solidFill>
                  <a:srgbClr val="262626"/>
                </a:solidFill>
              </a:rPr>
              <a:t>Projects vs operations</a:t>
            </a:r>
          </a:p>
        </p:txBody>
      </p:sp>
      <p:sp>
        <p:nvSpPr>
          <p:cNvPr id="6" name="Rectangle 5"/>
          <p:cNvSpPr/>
          <p:nvPr/>
        </p:nvSpPr>
        <p:spPr>
          <a:xfrm>
            <a:off x="4754880" y="1600200"/>
            <a:ext cx="3749039" cy="3931920"/>
          </a:xfrm>
          <a:prstGeom prst="rect">
            <a:avLst/>
          </a:prstGeom>
          <a:solidFill>
            <a:srgbClr val="DEE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754880" y="1600200"/>
            <a:ext cx="3749039" cy="4114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400"/>
              </a:spcAft>
            </a:pPr>
            <a:r>
              <a:rPr sz="1500" b="1">
                <a:solidFill>
                  <a:srgbClr val="FFFFFF"/>
                </a:solidFill>
              </a:rPr>
              <a:t>Session 2</a:t>
            </a:r>
          </a:p>
        </p:txBody>
      </p:sp>
      <p:sp>
        <p:nvSpPr>
          <p:cNvPr id="8" name="TextBox 7"/>
          <p:cNvSpPr txBox="1"/>
          <p:nvPr/>
        </p:nvSpPr>
        <p:spPr>
          <a:xfrm>
            <a:off x="4828032" y="2084832"/>
            <a:ext cx="3602735" cy="1212640"/>
          </a:xfrm>
          <a:prstGeom prst="rect">
            <a:avLst/>
          </a:prstGeom>
          <a:noFill/>
        </p:spPr>
        <p:txBody>
          <a:bodyPr wrap="square" lIns="73152" tIns="36576" rIns="73152" bIns="36576" anchor="t">
            <a:spAutoFit/>
          </a:bodyPr>
          <a:lstStyle/>
          <a:p>
            <a:pPr algn="l">
              <a:spcAft>
                <a:spcPts val="400"/>
              </a:spcAft>
            </a:pPr>
            <a:r>
              <a:rPr sz="1600" b="1" i="0" dirty="0">
                <a:solidFill>
                  <a:srgbClr val="262626"/>
                </a:solidFill>
              </a:rPr>
              <a:t>Project life cycle</a:t>
            </a:r>
          </a:p>
          <a:p>
            <a:pPr algn="l">
              <a:spcAft>
                <a:spcPts val="400"/>
              </a:spcAft>
            </a:pPr>
            <a:r>
              <a:rPr sz="1600" b="1" i="0" dirty="0">
                <a:solidFill>
                  <a:srgbClr val="262626"/>
                </a:solidFill>
              </a:rPr>
              <a:t>Phases and process groups</a:t>
            </a:r>
          </a:p>
          <a:p>
            <a:pPr algn="l">
              <a:spcAft>
                <a:spcPts val="400"/>
              </a:spcAft>
            </a:pPr>
            <a:r>
              <a:rPr sz="1600" b="1" i="0" dirty="0">
                <a:solidFill>
                  <a:srgbClr val="262626"/>
                </a:solidFill>
              </a:rPr>
              <a:t>Phase-to-phase relationships</a:t>
            </a:r>
          </a:p>
          <a:p>
            <a:pPr algn="l">
              <a:spcAft>
                <a:spcPts val="400"/>
              </a:spcAft>
            </a:pPr>
            <a:r>
              <a:rPr sz="1600" b="1" i="0" dirty="0">
                <a:solidFill>
                  <a:srgbClr val="262626"/>
                </a:solidFill>
              </a:rPr>
              <a:t>Product vs project life cycle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57200"/>
            <a:ext cx="7886700" cy="777240"/>
          </a:xfrm>
        </p:spPr>
        <p:txBody>
          <a:bodyPr/>
          <a:lstStyle/>
          <a:p>
            <a:r>
              <a:rPr sz="2600" b="1"/>
              <a:t>What Killed Your Project?</a:t>
            </a:r>
          </a:p>
        </p:txBody>
      </p:sp>
      <p:sp>
        <p:nvSpPr>
          <p:cNvPr id="4" name="Oval 3"/>
          <p:cNvSpPr/>
          <p:nvPr/>
        </p:nvSpPr>
        <p:spPr>
          <a:xfrm>
            <a:off x="630936" y="1965960"/>
            <a:ext cx="384048" cy="384048"/>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0" tIns="36576" rIns="0" bIns="36576" rtlCol="0" anchor="ctr"/>
          <a:lstStyle/>
          <a:p>
            <a:pPr algn="ctr">
              <a:spcAft>
                <a:spcPts val="400"/>
              </a:spcAft>
            </a:pPr>
            <a:r>
              <a:rPr sz="1600" b="1" i="0">
                <a:solidFill>
                  <a:srgbClr val="FFFFFF"/>
                </a:solidFill>
              </a:rPr>
              <a:t>1</a:t>
            </a:r>
          </a:p>
        </p:txBody>
      </p:sp>
      <p:sp>
        <p:nvSpPr>
          <p:cNvPr id="5" name="TextBox 4"/>
          <p:cNvSpPr txBox="1"/>
          <p:nvPr/>
        </p:nvSpPr>
        <p:spPr>
          <a:xfrm>
            <a:off x="1133856" y="1993391"/>
            <a:ext cx="3429000" cy="960120"/>
          </a:xfrm>
          <a:prstGeom prst="rect">
            <a:avLst/>
          </a:prstGeom>
          <a:noFill/>
        </p:spPr>
        <p:txBody>
          <a:bodyPr wrap="square" lIns="73152" tIns="36576" rIns="73152" bIns="36576" anchor="t">
            <a:spAutoFit/>
          </a:bodyPr>
          <a:lstStyle/>
          <a:p>
            <a:pPr algn="l">
              <a:spcAft>
                <a:spcPts val="400"/>
              </a:spcAft>
            </a:pPr>
            <a:r>
              <a:rPr sz="1600" b="0" i="0">
                <a:solidFill>
                  <a:srgbClr val="262626"/>
                </a:solidFill>
              </a:rPr>
              <a:t>Think of a semester project, group assignment or FYP stage that went badly</a:t>
            </a:r>
          </a:p>
        </p:txBody>
      </p:sp>
      <p:sp>
        <p:nvSpPr>
          <p:cNvPr id="6" name="Oval 5"/>
          <p:cNvSpPr/>
          <p:nvPr/>
        </p:nvSpPr>
        <p:spPr>
          <a:xfrm>
            <a:off x="630936" y="2926080"/>
            <a:ext cx="384048" cy="384048"/>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0" tIns="36576" rIns="0" bIns="36576" rtlCol="0" anchor="ctr"/>
          <a:lstStyle/>
          <a:p>
            <a:pPr algn="ctr">
              <a:spcAft>
                <a:spcPts val="400"/>
              </a:spcAft>
            </a:pPr>
            <a:r>
              <a:rPr sz="1600" b="1" i="0">
                <a:solidFill>
                  <a:srgbClr val="FFFFFF"/>
                </a:solidFill>
              </a:rPr>
              <a:t>2</a:t>
            </a:r>
          </a:p>
        </p:txBody>
      </p:sp>
      <p:sp>
        <p:nvSpPr>
          <p:cNvPr id="7" name="TextBox 6"/>
          <p:cNvSpPr txBox="1"/>
          <p:nvPr/>
        </p:nvSpPr>
        <p:spPr>
          <a:xfrm>
            <a:off x="1133856" y="2953512"/>
            <a:ext cx="3429000" cy="960120"/>
          </a:xfrm>
          <a:prstGeom prst="rect">
            <a:avLst/>
          </a:prstGeom>
          <a:noFill/>
        </p:spPr>
        <p:txBody>
          <a:bodyPr wrap="square" lIns="73152" tIns="36576" rIns="73152" bIns="36576" anchor="t">
            <a:spAutoFit/>
          </a:bodyPr>
          <a:lstStyle/>
          <a:p>
            <a:pPr algn="l">
              <a:spcAft>
                <a:spcPts val="400"/>
              </a:spcAft>
            </a:pPr>
            <a:r>
              <a:rPr sz="1600" b="0" i="0">
                <a:solidFill>
                  <a:srgbClr val="262626"/>
                </a:solidFill>
              </a:rPr>
              <a:t>Write the ONE biggest reason on a slip of paper</a:t>
            </a:r>
          </a:p>
        </p:txBody>
      </p:sp>
      <p:sp>
        <p:nvSpPr>
          <p:cNvPr id="12" name="TextBox 11"/>
          <p:cNvSpPr txBox="1"/>
          <p:nvPr/>
        </p:nvSpPr>
        <p:spPr>
          <a:xfrm>
            <a:off x="4892040" y="1783080"/>
            <a:ext cx="3611880" cy="365760"/>
          </a:xfrm>
          <a:prstGeom prst="rect">
            <a:avLst/>
          </a:prstGeom>
          <a:noFill/>
        </p:spPr>
        <p:txBody>
          <a:bodyPr wrap="square" lIns="73152" tIns="36576" rIns="73152" bIns="36576" anchor="t">
            <a:spAutoFit/>
          </a:bodyPr>
          <a:lstStyle/>
          <a:p>
            <a:pPr algn="ctr">
              <a:spcAft>
                <a:spcPts val="400"/>
              </a:spcAft>
            </a:pPr>
            <a:r>
              <a:rPr sz="1400" b="1" i="0">
                <a:solidFill>
                  <a:srgbClr val="595959"/>
                </a:solidFill>
              </a:rPr>
              <a:t>The board</a:t>
            </a:r>
          </a:p>
        </p:txBody>
      </p:sp>
      <p:sp>
        <p:nvSpPr>
          <p:cNvPr id="13" name="Rectangle 12"/>
          <p:cNvSpPr/>
          <p:nvPr/>
        </p:nvSpPr>
        <p:spPr>
          <a:xfrm>
            <a:off x="4892040" y="2194560"/>
            <a:ext cx="822960" cy="3566160"/>
          </a:xfrm>
          <a:prstGeom prst="rect">
            <a:avLst/>
          </a:prstGeom>
          <a:noFill/>
          <a:ln w="15875">
            <a:solidFill>
              <a:srgbClr val="1F386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892040" y="2286000"/>
            <a:ext cx="822960" cy="548640"/>
          </a:xfrm>
          <a:prstGeom prst="rect">
            <a:avLst/>
          </a:prstGeom>
          <a:noFill/>
        </p:spPr>
        <p:txBody>
          <a:bodyPr wrap="square" lIns="73152" tIns="36576" rIns="73152" bIns="36576" anchor="t">
            <a:spAutoFit/>
          </a:bodyPr>
          <a:lstStyle/>
          <a:p>
            <a:pPr algn="ctr">
              <a:spcAft>
                <a:spcPts val="400"/>
              </a:spcAft>
            </a:pPr>
            <a:r>
              <a:rPr sz="2800" b="1" i="0">
                <a:solidFill>
                  <a:srgbClr val="ED7D31"/>
                </a:solidFill>
              </a:rPr>
              <a:t>?</a:t>
            </a:r>
          </a:p>
        </p:txBody>
      </p:sp>
      <p:sp>
        <p:nvSpPr>
          <p:cNvPr id="15" name="Rectangle 14"/>
          <p:cNvSpPr/>
          <p:nvPr/>
        </p:nvSpPr>
        <p:spPr>
          <a:xfrm>
            <a:off x="5806440" y="2194560"/>
            <a:ext cx="822960" cy="3566160"/>
          </a:xfrm>
          <a:prstGeom prst="rect">
            <a:avLst/>
          </a:prstGeom>
          <a:noFill/>
          <a:ln w="15875">
            <a:solidFill>
              <a:srgbClr val="1F386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806440" y="2286000"/>
            <a:ext cx="822960" cy="548640"/>
          </a:xfrm>
          <a:prstGeom prst="rect">
            <a:avLst/>
          </a:prstGeom>
          <a:noFill/>
        </p:spPr>
        <p:txBody>
          <a:bodyPr wrap="square" lIns="73152" tIns="36576" rIns="73152" bIns="36576" anchor="t">
            <a:spAutoFit/>
          </a:bodyPr>
          <a:lstStyle/>
          <a:p>
            <a:pPr algn="ctr">
              <a:spcAft>
                <a:spcPts val="400"/>
              </a:spcAft>
            </a:pPr>
            <a:r>
              <a:rPr sz="2800" b="1" i="0">
                <a:solidFill>
                  <a:srgbClr val="ED7D31"/>
                </a:solidFill>
              </a:rPr>
              <a:t>?</a:t>
            </a:r>
          </a:p>
        </p:txBody>
      </p:sp>
      <p:sp>
        <p:nvSpPr>
          <p:cNvPr id="17" name="Rectangle 16"/>
          <p:cNvSpPr/>
          <p:nvPr/>
        </p:nvSpPr>
        <p:spPr>
          <a:xfrm>
            <a:off x="6720840" y="2194560"/>
            <a:ext cx="822960" cy="3566160"/>
          </a:xfrm>
          <a:prstGeom prst="rect">
            <a:avLst/>
          </a:prstGeom>
          <a:noFill/>
          <a:ln w="15875">
            <a:solidFill>
              <a:srgbClr val="1F386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720840" y="2286000"/>
            <a:ext cx="822960" cy="548640"/>
          </a:xfrm>
          <a:prstGeom prst="rect">
            <a:avLst/>
          </a:prstGeom>
          <a:noFill/>
        </p:spPr>
        <p:txBody>
          <a:bodyPr wrap="square" lIns="73152" tIns="36576" rIns="73152" bIns="36576" anchor="t">
            <a:spAutoFit/>
          </a:bodyPr>
          <a:lstStyle/>
          <a:p>
            <a:pPr algn="ctr">
              <a:spcAft>
                <a:spcPts val="400"/>
              </a:spcAft>
            </a:pPr>
            <a:r>
              <a:rPr sz="2800" b="1" i="0">
                <a:solidFill>
                  <a:srgbClr val="ED7D31"/>
                </a:solidFill>
              </a:rPr>
              <a:t>?</a:t>
            </a:r>
          </a:p>
        </p:txBody>
      </p:sp>
      <p:sp>
        <p:nvSpPr>
          <p:cNvPr id="19" name="Rectangle 18"/>
          <p:cNvSpPr/>
          <p:nvPr/>
        </p:nvSpPr>
        <p:spPr>
          <a:xfrm>
            <a:off x="7635240" y="2194560"/>
            <a:ext cx="822960" cy="3566160"/>
          </a:xfrm>
          <a:prstGeom prst="rect">
            <a:avLst/>
          </a:prstGeom>
          <a:noFill/>
          <a:ln w="15875">
            <a:solidFill>
              <a:srgbClr val="1F386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635240" y="2286000"/>
            <a:ext cx="822960" cy="548640"/>
          </a:xfrm>
          <a:prstGeom prst="rect">
            <a:avLst/>
          </a:prstGeom>
          <a:noFill/>
        </p:spPr>
        <p:txBody>
          <a:bodyPr wrap="square" lIns="73152" tIns="36576" rIns="73152" bIns="36576" anchor="t">
            <a:spAutoFit/>
          </a:bodyPr>
          <a:lstStyle/>
          <a:p>
            <a:pPr algn="ctr">
              <a:spcAft>
                <a:spcPts val="400"/>
              </a:spcAft>
            </a:pPr>
            <a:r>
              <a:rPr sz="2800" b="1" i="0">
                <a:solidFill>
                  <a:srgbClr val="ED7D31"/>
                </a:solidFill>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p:txBody>
          <a:bodyPr/>
          <a:lstStyle/>
          <a:p>
            <a:r>
              <a:rPr lang="en-US" altLang="en-US" dirty="0"/>
              <a:t>Four Project Dimensions</a:t>
            </a:r>
          </a:p>
        </p:txBody>
      </p:sp>
      <p:sp>
        <p:nvSpPr>
          <p:cNvPr id="8196" name="Rectangle 3"/>
          <p:cNvSpPr>
            <a:spLocks noGrp="1" noChangeArrowheads="1"/>
          </p:cNvSpPr>
          <p:nvPr>
            <p:ph idx="1"/>
          </p:nvPr>
        </p:nvSpPr>
        <p:spPr/>
        <p:txBody>
          <a:bodyPr/>
          <a:lstStyle/>
          <a:p>
            <a:r>
              <a:rPr lang="en-US" altLang="en-US" dirty="0"/>
              <a:t>People</a:t>
            </a:r>
          </a:p>
          <a:p>
            <a:r>
              <a:rPr lang="en-US" altLang="en-US" dirty="0"/>
              <a:t>Process</a:t>
            </a:r>
          </a:p>
          <a:p>
            <a:r>
              <a:rPr lang="en-US" altLang="en-US" dirty="0"/>
              <a:t>Product</a:t>
            </a:r>
          </a:p>
          <a:p>
            <a:r>
              <a:rPr lang="en-US" altLang="en-US" dirty="0"/>
              <a:t>Technology</a:t>
            </a:r>
          </a:p>
        </p:txBody>
      </p:sp>
    </p:spTree>
    <p:extLst>
      <p:ext uri="{BB962C8B-B14F-4D97-AF65-F5344CB8AC3E}">
        <p14:creationId xmlns:p14="http://schemas.microsoft.com/office/powerpoint/2010/main" val="32355391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p:txBody>
          <a:bodyPr/>
          <a:lstStyle/>
          <a:p>
            <a:pPr eaLnBrk="1" hangingPunct="1"/>
            <a:r>
              <a:rPr lang="en-US" altLang="en-US" b="1" dirty="0"/>
              <a:t>People</a:t>
            </a:r>
          </a:p>
        </p:txBody>
      </p:sp>
      <p:sp>
        <p:nvSpPr>
          <p:cNvPr id="2" name="Rectangle 3"/>
          <p:cNvSpPr>
            <a:spLocks noGrp="1" noChangeArrowheads="1"/>
          </p:cNvSpPr>
          <p:nvPr>
            <p:ph idx="1"/>
          </p:nvPr>
        </p:nvSpPr>
        <p:spPr/>
        <p:txBody>
          <a:bodyPr>
            <a:normAutofit/>
          </a:bodyPr>
          <a:lstStyle/>
          <a:p>
            <a:pPr eaLnBrk="1" hangingPunct="1"/>
            <a:r>
              <a:rPr lang="en-US" altLang="en-US" sz="1800" dirty="0">
                <a:solidFill>
                  <a:schemeClr val="tx1">
                    <a:lumMod val="95000"/>
                    <a:lumOff val="5000"/>
                  </a:schemeClr>
                </a:solidFill>
              </a:rPr>
              <a:t>“It’s always a people problem” Gerald Weinberg, “The Secrets of Consulting”</a:t>
            </a:r>
          </a:p>
          <a:p>
            <a:pPr eaLnBrk="1" hangingPunct="1"/>
            <a:r>
              <a:rPr lang="en-US" altLang="en-US" sz="1800" dirty="0">
                <a:solidFill>
                  <a:schemeClr val="tx1">
                    <a:lumMod val="95000"/>
                    <a:lumOff val="5000"/>
                  </a:schemeClr>
                </a:solidFill>
              </a:rPr>
              <a:t>Developer productivity</a:t>
            </a:r>
          </a:p>
          <a:p>
            <a:pPr eaLnBrk="1" hangingPunct="1"/>
            <a:r>
              <a:rPr lang="en-US" altLang="en-US" sz="1800" dirty="0">
                <a:solidFill>
                  <a:schemeClr val="tx1">
                    <a:lumMod val="95000"/>
                    <a:lumOff val="5000"/>
                  </a:schemeClr>
                </a:solidFill>
              </a:rPr>
              <a:t>Improvements:</a:t>
            </a:r>
          </a:p>
          <a:p>
            <a:pPr lvl="1" eaLnBrk="1" hangingPunct="1">
              <a:buFontTx/>
              <a:buChar char="-"/>
            </a:pPr>
            <a:r>
              <a:rPr lang="en-US" altLang="en-US" sz="1800" dirty="0">
                <a:solidFill>
                  <a:schemeClr val="tx1">
                    <a:lumMod val="95000"/>
                    <a:lumOff val="5000"/>
                  </a:schemeClr>
                </a:solidFill>
              </a:rPr>
              <a:t>Team selection</a:t>
            </a:r>
          </a:p>
          <a:p>
            <a:pPr lvl="1" eaLnBrk="1" hangingPunct="1">
              <a:buFontTx/>
              <a:buChar char="-"/>
            </a:pPr>
            <a:r>
              <a:rPr lang="en-US" altLang="en-US" sz="1800" dirty="0">
                <a:solidFill>
                  <a:schemeClr val="tx1">
                    <a:lumMod val="95000"/>
                    <a:lumOff val="5000"/>
                  </a:schemeClr>
                </a:solidFill>
              </a:rPr>
              <a:t>Team organization</a:t>
            </a:r>
          </a:p>
          <a:p>
            <a:pPr lvl="1" eaLnBrk="1" hangingPunct="1"/>
            <a:r>
              <a:rPr lang="en-US" altLang="en-US" sz="1800" dirty="0">
                <a:solidFill>
                  <a:schemeClr val="tx1">
                    <a:lumMod val="95000"/>
                    <a:lumOff val="5000"/>
                  </a:schemeClr>
                </a:solidFill>
              </a:rPr>
              <a:t>Motivation</a:t>
            </a:r>
          </a:p>
        </p:txBody>
      </p:sp>
    </p:spTree>
    <p:extLst>
      <p:ext uri="{BB962C8B-B14F-4D97-AF65-F5344CB8AC3E}">
        <p14:creationId xmlns:p14="http://schemas.microsoft.com/office/powerpoint/2010/main" val="21342758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2">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2">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p:txBody>
          <a:bodyPr/>
          <a:lstStyle/>
          <a:p>
            <a:pPr eaLnBrk="1" hangingPunct="1"/>
            <a:r>
              <a:rPr lang="en-US" altLang="en-US" b="1" dirty="0">
                <a:effectLst>
                  <a:outerShdw blurRad="38100" dist="38100" dir="2700000" algn="tl">
                    <a:srgbClr val="000000">
                      <a:alpha val="43137"/>
                    </a:srgbClr>
                  </a:outerShdw>
                </a:effectLst>
              </a:rPr>
              <a:t>People</a:t>
            </a:r>
          </a:p>
        </p:txBody>
      </p:sp>
      <p:sp>
        <p:nvSpPr>
          <p:cNvPr id="97283" name="Rectangle 3"/>
          <p:cNvSpPr>
            <a:spLocks noGrp="1" noChangeArrowheads="1"/>
          </p:cNvSpPr>
          <p:nvPr>
            <p:ph idx="1"/>
          </p:nvPr>
        </p:nvSpPr>
        <p:spPr/>
        <p:txBody>
          <a:bodyPr>
            <a:normAutofit/>
          </a:bodyPr>
          <a:lstStyle/>
          <a:p>
            <a:r>
              <a:rPr lang="en-US" altLang="en-US" sz="1800" dirty="0">
                <a:solidFill>
                  <a:schemeClr val="tx1">
                    <a:lumMod val="95000"/>
                    <a:lumOff val="5000"/>
                  </a:schemeClr>
                </a:solidFill>
              </a:rPr>
              <a:t>Other success factors</a:t>
            </a:r>
          </a:p>
          <a:p>
            <a:pPr lvl="1"/>
            <a:r>
              <a:rPr lang="en-US" altLang="en-US" sz="1800" dirty="0">
                <a:solidFill>
                  <a:schemeClr val="tx1">
                    <a:lumMod val="95000"/>
                    <a:lumOff val="5000"/>
                  </a:schemeClr>
                </a:solidFill>
              </a:rPr>
              <a:t>Matching people to tasks</a:t>
            </a:r>
          </a:p>
          <a:p>
            <a:pPr lvl="1"/>
            <a:r>
              <a:rPr lang="en-US" altLang="en-US" sz="1800" dirty="0">
                <a:solidFill>
                  <a:schemeClr val="tx1">
                    <a:lumMod val="95000"/>
                    <a:lumOff val="5000"/>
                  </a:schemeClr>
                </a:solidFill>
              </a:rPr>
              <a:t>Career development</a:t>
            </a:r>
          </a:p>
          <a:p>
            <a:pPr lvl="1"/>
            <a:r>
              <a:rPr lang="en-US" altLang="en-US" sz="1800" dirty="0">
                <a:solidFill>
                  <a:schemeClr val="tx1">
                    <a:lumMod val="95000"/>
                    <a:lumOff val="5000"/>
                  </a:schemeClr>
                </a:solidFill>
              </a:rPr>
              <a:t>Balance: individual and team</a:t>
            </a:r>
          </a:p>
          <a:p>
            <a:pPr lvl="1"/>
            <a:r>
              <a:rPr lang="en-US" altLang="en-US" sz="1800" dirty="0">
                <a:solidFill>
                  <a:schemeClr val="tx1">
                    <a:lumMod val="95000"/>
                    <a:lumOff val="5000"/>
                  </a:schemeClr>
                </a:solidFill>
              </a:rPr>
              <a:t>Clear communication</a:t>
            </a:r>
          </a:p>
        </p:txBody>
      </p:sp>
    </p:spTree>
    <p:extLst>
      <p:ext uri="{BB962C8B-B14F-4D97-AF65-F5344CB8AC3E}">
        <p14:creationId xmlns:p14="http://schemas.microsoft.com/office/powerpoint/2010/main" val="34749028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728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9728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9728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9728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9728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3" grpId="0" build="p" autoUpdateAnimBg="0"/>
    </p:bldLst>
  </p:timing>
</p:sld>
</file>

<file path=ppt/slides/slide7.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13315" name="Rectangle 1026"/>
          <p:cNvSpPr>
            <a:spLocks noGrp="1" noChangeArrowheads="1"/>
          </p:cNvSpPr>
          <p:nvPr>
            <p:ph type="title"/>
          </p:nvPr>
        </p:nvSpPr>
        <p:spPr/>
        <p:txBody>
          <a:bodyPr/>
          <a:lstStyle/>
          <a:p>
            <a:pPr eaLnBrk="1" hangingPunct="1"/>
            <a:r>
              <a:rPr lang="en-US" altLang="en-US" b="1" dirty="0">
                <a:effectLst>
                  <a:outerShdw blurRad="38100" dist="38100" dir="2700000" algn="tl">
                    <a:srgbClr val="000000">
                      <a:alpha val="43137"/>
                    </a:srgbClr>
                  </a:outerShdw>
                </a:effectLst>
              </a:rPr>
              <a:t>Process</a:t>
            </a:r>
          </a:p>
        </p:txBody>
      </p:sp>
      <p:sp>
        <p:nvSpPr>
          <p:cNvPr id="84995" name="Rectangle 1027"/>
          <p:cNvSpPr>
            <a:spLocks noGrp="1" noChangeArrowheads="1"/>
          </p:cNvSpPr>
          <p:nvPr>
            <p:ph idx="1"/>
          </p:nvPr>
        </p:nvSpPr>
        <p:spPr/>
        <p:txBody>
          <a:bodyPr>
            <a:normAutofit/>
          </a:bodyPr>
          <a:lstStyle/>
          <a:p>
            <a:pPr eaLnBrk="1" hangingPunct="1"/>
            <a:r>
              <a:rPr lang="en-US" altLang="en-US" sz="1800" dirty="0">
                <a:solidFill>
                  <a:schemeClr val="tx1">
                    <a:lumMod val="95000"/>
                    <a:lumOff val="5000"/>
                  </a:schemeClr>
                </a:solidFill>
              </a:rPr>
              <a:t>Is process stifling? </a:t>
            </a:r>
          </a:p>
          <a:p>
            <a:pPr eaLnBrk="1" hangingPunct="1"/>
            <a:r>
              <a:rPr lang="en-US" altLang="en-US" sz="1800" dirty="0">
                <a:solidFill>
                  <a:schemeClr val="tx1">
                    <a:lumMod val="95000"/>
                    <a:lumOff val="5000"/>
                  </a:schemeClr>
                </a:solidFill>
              </a:rPr>
              <a:t>2 Types: Management &amp; Technical</a:t>
            </a:r>
          </a:p>
          <a:p>
            <a:pPr lvl="1"/>
            <a:r>
              <a:rPr lang="en-US" altLang="en-US" sz="1800" dirty="0">
                <a:solidFill>
                  <a:schemeClr val="tx1">
                    <a:lumMod val="95000"/>
                    <a:lumOff val="5000"/>
                  </a:schemeClr>
                </a:solidFill>
              </a:rPr>
              <a:t>Development fundamentals</a:t>
            </a:r>
          </a:p>
          <a:p>
            <a:pPr lvl="1"/>
            <a:r>
              <a:rPr lang="en-US" altLang="en-US" sz="1800" dirty="0">
                <a:solidFill>
                  <a:schemeClr val="tx1">
                    <a:lumMod val="95000"/>
                    <a:lumOff val="5000"/>
                  </a:schemeClr>
                </a:solidFill>
              </a:rPr>
              <a:t>Quality assurance</a:t>
            </a:r>
          </a:p>
          <a:p>
            <a:pPr eaLnBrk="1" hangingPunct="1"/>
            <a:r>
              <a:rPr lang="en-US" altLang="en-US" sz="1800" dirty="0">
                <a:solidFill>
                  <a:schemeClr val="tx1">
                    <a:lumMod val="95000"/>
                    <a:lumOff val="5000"/>
                  </a:schemeClr>
                </a:solidFill>
              </a:rPr>
              <a:t>Risk management</a:t>
            </a:r>
          </a:p>
          <a:p>
            <a:pPr eaLnBrk="1" hangingPunct="1"/>
            <a:r>
              <a:rPr lang="en-US" altLang="en-US" sz="1800" dirty="0">
                <a:solidFill>
                  <a:schemeClr val="tx1">
                    <a:lumMod val="95000"/>
                    <a:lumOff val="5000"/>
                  </a:schemeClr>
                </a:solidFill>
              </a:rPr>
              <a:t>Lifecycle planning</a:t>
            </a:r>
          </a:p>
        </p:txBody>
      </p:sp>
    </p:spTree>
    <p:extLst>
      <p:ext uri="{BB962C8B-B14F-4D97-AF65-F5344CB8AC3E}">
        <p14:creationId xmlns:p14="http://schemas.microsoft.com/office/powerpoint/2010/main" val="300922705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499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84995">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84995">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84995">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84995">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8499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5" grpId="0" build="p" autoUpdateAnimBg="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p:txBody>
          <a:bodyPr/>
          <a:lstStyle/>
          <a:p>
            <a:pPr eaLnBrk="1" hangingPunct="1"/>
            <a:r>
              <a:rPr lang="en-US" altLang="en-US" b="1" dirty="0">
                <a:effectLst>
                  <a:outerShdw blurRad="38100" dist="38100" dir="2700000" algn="tl">
                    <a:srgbClr val="000000">
                      <a:alpha val="43137"/>
                    </a:srgbClr>
                  </a:outerShdw>
                </a:effectLst>
              </a:rPr>
              <a:t>Product</a:t>
            </a:r>
          </a:p>
        </p:txBody>
      </p:sp>
      <p:sp>
        <p:nvSpPr>
          <p:cNvPr id="3" name="Content Placeholder 2">
            <a:extLst>
              <a:ext uri="{FF2B5EF4-FFF2-40B4-BE49-F238E27FC236}">
                <a16:creationId xmlns:a16="http://schemas.microsoft.com/office/drawing/2014/main" id="{851AA5F6-5D01-4F2D-A4F2-C106C07506A5}"/>
              </a:ext>
            </a:extLst>
          </p:cNvPr>
          <p:cNvSpPr>
            <a:spLocks noGrp="1"/>
          </p:cNvSpPr>
          <p:nvPr>
            <p:ph idx="1"/>
          </p:nvPr>
        </p:nvSpPr>
        <p:spPr/>
        <p:txBody>
          <a:bodyPr/>
          <a:lstStyle/>
          <a:p>
            <a:r>
              <a:rPr lang="en-US" b="0" i="0" dirty="0">
                <a:solidFill>
                  <a:srgbClr val="70757A"/>
                </a:solidFill>
                <a:effectLst/>
                <a:latin typeface="arial" panose="020B0604020202020204" pitchFamily="34" charset="0"/>
              </a:rPr>
              <a:t> </a:t>
            </a:r>
            <a:r>
              <a:rPr lang="en-US" b="1" i="0" dirty="0">
                <a:solidFill>
                  <a:srgbClr val="5F6368"/>
                </a:solidFill>
                <a:effectLst/>
                <a:latin typeface="arial" panose="020B0604020202020204" pitchFamily="34" charset="0"/>
              </a:rPr>
              <a:t>Product is the final production of the project.</a:t>
            </a:r>
            <a:endParaRPr lang="en-US" dirty="0"/>
          </a:p>
        </p:txBody>
      </p:sp>
    </p:spTree>
    <p:extLst>
      <p:ext uri="{BB962C8B-B14F-4D97-AF65-F5344CB8AC3E}">
        <p14:creationId xmlns:p14="http://schemas.microsoft.com/office/powerpoint/2010/main" val="10388932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pPr eaLnBrk="1" hangingPunct="1"/>
            <a:r>
              <a:rPr lang="en-US" altLang="en-US" b="1" dirty="0">
                <a:effectLst>
                  <a:outerShdw blurRad="38100" dist="38100" dir="2700000" algn="tl">
                    <a:srgbClr val="000000">
                      <a:alpha val="43137"/>
                    </a:srgbClr>
                  </a:outerShdw>
                </a:effectLst>
              </a:rPr>
              <a:t>Technology</a:t>
            </a:r>
          </a:p>
        </p:txBody>
      </p:sp>
      <p:sp>
        <p:nvSpPr>
          <p:cNvPr id="90115" name="Rectangle 3"/>
          <p:cNvSpPr>
            <a:spLocks noGrp="1" noChangeArrowheads="1"/>
          </p:cNvSpPr>
          <p:nvPr>
            <p:ph idx="1"/>
          </p:nvPr>
        </p:nvSpPr>
        <p:spPr/>
        <p:txBody>
          <a:bodyPr>
            <a:normAutofit/>
          </a:bodyPr>
          <a:lstStyle/>
          <a:p>
            <a:pPr eaLnBrk="1" hangingPunct="1"/>
            <a:r>
              <a:rPr lang="en-US" altLang="en-US" sz="1800" dirty="0">
                <a:solidFill>
                  <a:schemeClr val="tx1">
                    <a:lumMod val="95000"/>
                    <a:lumOff val="5000"/>
                  </a:schemeClr>
                </a:solidFill>
              </a:rPr>
              <a:t>Often the least important dimension</a:t>
            </a:r>
          </a:p>
          <a:p>
            <a:pPr eaLnBrk="1" hangingPunct="1"/>
            <a:r>
              <a:rPr lang="en-US" altLang="en-US" sz="1800" dirty="0">
                <a:solidFill>
                  <a:schemeClr val="tx1">
                    <a:lumMod val="95000"/>
                    <a:lumOff val="5000"/>
                  </a:schemeClr>
                </a:solidFill>
              </a:rPr>
              <a:t>Language and tool selection</a:t>
            </a:r>
          </a:p>
          <a:p>
            <a:pPr eaLnBrk="1" hangingPunct="1"/>
            <a:r>
              <a:rPr lang="en-US" altLang="en-US" sz="1800" dirty="0">
                <a:solidFill>
                  <a:schemeClr val="tx1">
                    <a:lumMod val="95000"/>
                    <a:lumOff val="5000"/>
                  </a:schemeClr>
                </a:solidFill>
              </a:rPr>
              <a:t>Value and cost of reuse</a:t>
            </a:r>
          </a:p>
        </p:txBody>
      </p:sp>
    </p:spTree>
    <p:extLst>
      <p:ext uri="{BB962C8B-B14F-4D97-AF65-F5344CB8AC3E}">
        <p14:creationId xmlns:p14="http://schemas.microsoft.com/office/powerpoint/2010/main" val="14038003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011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9011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9011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5"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a:xfrm>
            <a:off x="628650" y="336990"/>
            <a:ext cx="7886700" cy="1325563"/>
          </a:xfrm>
        </p:spPr>
        <p:txBody>
          <a:bodyPr/>
          <a:lstStyle/>
          <a:p>
            <a:pPr eaLnBrk="1" hangingPunct="1"/>
            <a:r>
              <a:rPr lang="en-US" altLang="en-US" b="1" dirty="0">
                <a:effectLst>
                  <a:outerShdw blurRad="38100" dist="38100" dir="2700000" algn="tl">
                    <a:srgbClr val="000000">
                      <a:alpha val="43137"/>
                    </a:srgbClr>
                  </a:outerShdw>
                </a:effectLst>
              </a:rPr>
              <a:t>Classic Mistakes</a:t>
            </a:r>
          </a:p>
        </p:txBody>
      </p:sp>
      <p:sp>
        <p:nvSpPr>
          <p:cNvPr id="18436" name="Rectangle 3"/>
          <p:cNvSpPr>
            <a:spLocks noGrp="1" noChangeArrowheads="1"/>
          </p:cNvSpPr>
          <p:nvPr>
            <p:ph idx="1"/>
          </p:nvPr>
        </p:nvSpPr>
        <p:spPr/>
        <p:txBody>
          <a:bodyPr>
            <a:normAutofit/>
          </a:bodyPr>
          <a:lstStyle/>
          <a:p>
            <a:pPr eaLnBrk="1" hangingPunct="1">
              <a:lnSpc>
                <a:spcPct val="90000"/>
              </a:lnSpc>
            </a:pPr>
            <a:r>
              <a:rPr lang="en-US" altLang="en-US" sz="1800" dirty="0">
                <a:solidFill>
                  <a:schemeClr val="tx1">
                    <a:lumMod val="95000"/>
                    <a:lumOff val="5000"/>
                  </a:schemeClr>
                </a:solidFill>
              </a:rPr>
              <a:t>One bad apple can spoil your whole project. </a:t>
            </a:r>
          </a:p>
          <a:p>
            <a:pPr eaLnBrk="1" hangingPunct="1">
              <a:lnSpc>
                <a:spcPct val="90000"/>
              </a:lnSpc>
            </a:pPr>
            <a:r>
              <a:rPr lang="en-US" altLang="en-US" sz="1800" dirty="0">
                <a:solidFill>
                  <a:schemeClr val="tx1">
                    <a:lumMod val="95000"/>
                    <a:lumOff val="5000"/>
                  </a:schemeClr>
                </a:solidFill>
              </a:rPr>
              <a:t>Some ineffective development practices have been chosen so often, by so many people, with such predictable, bad results that they deserve to be called “classic mistakes.”</a:t>
            </a:r>
          </a:p>
          <a:p>
            <a:pPr eaLnBrk="1" hangingPunct="1">
              <a:lnSpc>
                <a:spcPct val="90000"/>
              </a:lnSpc>
            </a:pPr>
            <a:r>
              <a:rPr lang="en-US" altLang="en-US" sz="1800" b="1" dirty="0">
                <a:solidFill>
                  <a:schemeClr val="tx1">
                    <a:lumMod val="95000"/>
                    <a:lumOff val="5000"/>
                  </a:schemeClr>
                </a:solidFill>
              </a:rPr>
              <a:t>Types</a:t>
            </a:r>
          </a:p>
          <a:p>
            <a:pPr lvl="1" eaLnBrk="1" hangingPunct="1">
              <a:lnSpc>
                <a:spcPct val="90000"/>
              </a:lnSpc>
            </a:pPr>
            <a:r>
              <a:rPr lang="en-US" altLang="en-US" sz="1800" dirty="0">
                <a:solidFill>
                  <a:schemeClr val="tx1">
                    <a:lumMod val="95000"/>
                    <a:lumOff val="5000"/>
                  </a:schemeClr>
                </a:solidFill>
              </a:rPr>
              <a:t>People-Related</a:t>
            </a:r>
          </a:p>
          <a:p>
            <a:pPr lvl="1" eaLnBrk="1" hangingPunct="1">
              <a:lnSpc>
                <a:spcPct val="90000"/>
              </a:lnSpc>
            </a:pPr>
            <a:r>
              <a:rPr lang="en-US" altLang="en-US" sz="1800" dirty="0">
                <a:solidFill>
                  <a:schemeClr val="tx1">
                    <a:lumMod val="95000"/>
                    <a:lumOff val="5000"/>
                  </a:schemeClr>
                </a:solidFill>
              </a:rPr>
              <a:t>Process-Related</a:t>
            </a:r>
          </a:p>
          <a:p>
            <a:pPr lvl="1" eaLnBrk="1" hangingPunct="1">
              <a:lnSpc>
                <a:spcPct val="90000"/>
              </a:lnSpc>
            </a:pPr>
            <a:r>
              <a:rPr lang="en-US" altLang="en-US" sz="1800" dirty="0">
                <a:solidFill>
                  <a:schemeClr val="tx1">
                    <a:lumMod val="95000"/>
                    <a:lumOff val="5000"/>
                  </a:schemeClr>
                </a:solidFill>
              </a:rPr>
              <a:t>Product-Related</a:t>
            </a:r>
          </a:p>
          <a:p>
            <a:pPr lvl="1" eaLnBrk="1" hangingPunct="1">
              <a:lnSpc>
                <a:spcPct val="90000"/>
              </a:lnSpc>
            </a:pPr>
            <a:r>
              <a:rPr lang="en-US" altLang="en-US" sz="1800" dirty="0">
                <a:solidFill>
                  <a:schemeClr val="tx1">
                    <a:lumMod val="95000"/>
                    <a:lumOff val="5000"/>
                  </a:schemeClr>
                </a:solidFill>
              </a:rPr>
              <a:t>Technology-Related</a:t>
            </a:r>
          </a:p>
        </p:txBody>
      </p:sp>
    </p:spTree>
    <p:extLst>
      <p:ext uri="{BB962C8B-B14F-4D97-AF65-F5344CB8AC3E}">
        <p14:creationId xmlns:p14="http://schemas.microsoft.com/office/powerpoint/2010/main" val="15048451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57200"/>
            <a:ext cx="7886700" cy="777240"/>
          </a:xfrm>
        </p:spPr>
        <p:txBody>
          <a:bodyPr/>
          <a:lstStyle/>
          <a:p>
            <a:r>
              <a:rPr sz="2600" b="1" dirty="0"/>
              <a:t>Mistake Detective: </a:t>
            </a:r>
            <a:r>
              <a:rPr sz="2600" b="1" dirty="0" err="1"/>
              <a:t>UniConnect</a:t>
            </a:r>
            <a:r>
              <a:rPr sz="2600" b="1" dirty="0"/>
              <a:t> Portal</a:t>
            </a:r>
          </a:p>
        </p:txBody>
      </p:sp>
      <p:sp>
        <p:nvSpPr>
          <p:cNvPr id="4" name="Rectangle 3"/>
          <p:cNvSpPr/>
          <p:nvPr/>
        </p:nvSpPr>
        <p:spPr>
          <a:xfrm>
            <a:off x="630936" y="1783080"/>
            <a:ext cx="7872983" cy="3611880"/>
          </a:xfrm>
          <a:prstGeom prst="rect">
            <a:avLst/>
          </a:prstGeom>
          <a:solidFill>
            <a:srgbClr val="DEE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874519"/>
            <a:ext cx="7589520" cy="3520440"/>
          </a:xfrm>
          <a:prstGeom prst="rect">
            <a:avLst/>
          </a:prstGeom>
          <a:noFill/>
        </p:spPr>
        <p:txBody>
          <a:bodyPr wrap="square" lIns="73152" tIns="36576" rIns="73152" bIns="36576" anchor="t">
            <a:spAutoFit/>
          </a:bodyPr>
          <a:lstStyle/>
          <a:p>
            <a:pPr algn="l">
              <a:spcAft>
                <a:spcPts val="400"/>
              </a:spcAft>
            </a:pPr>
            <a:r>
              <a:rPr sz="1700" b="0" i="0" dirty="0">
                <a:solidFill>
                  <a:srgbClr val="262626"/>
                </a:solidFill>
              </a:rPr>
              <a:t>The Vice Chancellor wants a new student portal live before admissions open in 3 months. The vendor estimated 6 months, but the IT head said “we’ll manage.” The team spends the first five weeks waiting for the Registrar’s office to sign off on requirements. To save time, they skip design and start coding straight away. Ahmed, the senior developer, insists on rewriting the backend in a new framework he has wanted to try, saying it will “double our speed.” The Registrar keeps adding features: a chatbot, a mobile app, a fee-installment calculator. No students were ever asked what they need. Code is shared through WhatsApp and USB drives. One developer skips meetings and ignores code reviews, but the manager never addresses it. Two weeks before launch, testing is cut from three weeks to three days, and four new developers are hired to “speed things up.” The team pulls all-nighters, and the manager praises Ahmed as the hero.</a:t>
            </a:r>
          </a:p>
        </p:txBody>
      </p:sp>
      <p:sp>
        <p:nvSpPr>
          <p:cNvPr id="6" name="TextBox 5"/>
          <p:cNvSpPr txBox="1"/>
          <p:nvPr/>
        </p:nvSpPr>
        <p:spPr>
          <a:xfrm>
            <a:off x="630936" y="5532120"/>
            <a:ext cx="2194560" cy="411480"/>
          </a:xfrm>
          <a:prstGeom prst="rect">
            <a:avLst/>
          </a:prstGeom>
          <a:noFill/>
        </p:spPr>
        <p:txBody>
          <a:bodyPr wrap="square" lIns="73152" tIns="36576" rIns="73152" bIns="36576" anchor="ctr">
            <a:spAutoFit/>
          </a:bodyPr>
          <a:lstStyle/>
          <a:p>
            <a:pPr algn="l">
              <a:spcAft>
                <a:spcPts val="400"/>
              </a:spcAft>
            </a:pPr>
            <a:r>
              <a:rPr sz="1400" b="1" i="0">
                <a:solidFill>
                  <a:srgbClr val="262626"/>
                </a:solidFill>
              </a:rPr>
              <a:t>Find &amp; label each mistake:</a:t>
            </a:r>
          </a:p>
        </p:txBody>
      </p:sp>
      <p:sp>
        <p:nvSpPr>
          <p:cNvPr id="7" name="Rounded Rectangle 6"/>
          <p:cNvSpPr/>
          <p:nvPr/>
        </p:nvSpPr>
        <p:spPr>
          <a:xfrm>
            <a:off x="2880360" y="5532120"/>
            <a:ext cx="1325880" cy="411480"/>
          </a:xfrm>
          <a:prstGeom prst="roundRect">
            <a:avLst>
              <a:gd name="adj" fmla="val 50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400"/>
              </a:spcAft>
            </a:pPr>
            <a:r>
              <a:rPr sz="1300" b="1" i="0">
                <a:solidFill>
                  <a:srgbClr val="FFFFFF"/>
                </a:solidFill>
              </a:rPr>
              <a:t>People</a:t>
            </a:r>
          </a:p>
        </p:txBody>
      </p:sp>
      <p:sp>
        <p:nvSpPr>
          <p:cNvPr id="8" name="Rounded Rectangle 7"/>
          <p:cNvSpPr/>
          <p:nvPr/>
        </p:nvSpPr>
        <p:spPr>
          <a:xfrm>
            <a:off x="4297680" y="5532120"/>
            <a:ext cx="1325880" cy="411480"/>
          </a:xfrm>
          <a:prstGeom prst="roundRect">
            <a:avLst>
              <a:gd name="adj" fmla="val 50000"/>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400"/>
              </a:spcAft>
            </a:pPr>
            <a:r>
              <a:rPr sz="1300" b="1" i="0">
                <a:solidFill>
                  <a:srgbClr val="FFFFFF"/>
                </a:solidFill>
              </a:rPr>
              <a:t>Process</a:t>
            </a:r>
          </a:p>
        </p:txBody>
      </p:sp>
      <p:sp>
        <p:nvSpPr>
          <p:cNvPr id="9" name="Rounded Rectangle 8"/>
          <p:cNvSpPr/>
          <p:nvPr/>
        </p:nvSpPr>
        <p:spPr>
          <a:xfrm>
            <a:off x="5715000" y="5532120"/>
            <a:ext cx="1325880" cy="411480"/>
          </a:xfrm>
          <a:prstGeom prst="roundRect">
            <a:avLst>
              <a:gd name="adj" fmla="val 50000"/>
            </a:avLst>
          </a:prstGeom>
          <a:solidFill>
            <a:srgbClr val="38761D"/>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400"/>
              </a:spcAft>
            </a:pPr>
            <a:r>
              <a:rPr sz="1300" b="1" i="0">
                <a:solidFill>
                  <a:srgbClr val="FFFFFF"/>
                </a:solidFill>
              </a:rPr>
              <a:t>Product</a:t>
            </a:r>
          </a:p>
        </p:txBody>
      </p:sp>
      <p:sp>
        <p:nvSpPr>
          <p:cNvPr id="10" name="Rounded Rectangle 9"/>
          <p:cNvSpPr/>
          <p:nvPr/>
        </p:nvSpPr>
        <p:spPr>
          <a:xfrm>
            <a:off x="7132320" y="5532120"/>
            <a:ext cx="1325880" cy="411480"/>
          </a:xfrm>
          <a:prstGeom prst="roundRect">
            <a:avLst>
              <a:gd name="adj" fmla="val 50000"/>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400"/>
              </a:spcAft>
            </a:pPr>
            <a:r>
              <a:rPr sz="1300" b="1" i="0">
                <a:solidFill>
                  <a:srgbClr val="FFFFFF"/>
                </a:solidFill>
              </a:rPr>
              <a:t>Technology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57200"/>
            <a:ext cx="7886700" cy="777240"/>
          </a:xfrm>
        </p:spPr>
        <p:txBody>
          <a:bodyPr/>
          <a:lstStyle/>
          <a:p>
            <a:r>
              <a:rPr sz="2600" b="1"/>
              <a:t>Mistake Detective: Answer Key</a:t>
            </a:r>
          </a:p>
        </p:txBody>
      </p:sp>
      <p:graphicFrame>
        <p:nvGraphicFramePr>
          <p:cNvPr id="3" name="Table 2"/>
          <p:cNvGraphicFramePr>
            <a:graphicFrameLocks noGrp="1"/>
          </p:cNvGraphicFramePr>
          <p:nvPr/>
        </p:nvGraphicFramePr>
        <p:xfrm>
          <a:off x="630936" y="1371600"/>
          <a:ext cx="7872984" cy="4608576"/>
        </p:xfrm>
        <a:graphic>
          <a:graphicData uri="http://schemas.openxmlformats.org/drawingml/2006/table">
            <a:tbl>
              <a:tblPr firstRow="1" bandRow="1">
                <a:tableStyleId>{5C22544A-7EE6-4342-B048-85BDC9FD1C3A}</a:tableStyleId>
              </a:tblPr>
              <a:tblGrid>
                <a:gridCol w="3017520">
                  <a:extLst>
                    <a:ext uri="{9D8B030D-6E8A-4147-A177-3AD203B41FA5}">
                      <a16:colId xmlns:a16="http://schemas.microsoft.com/office/drawing/2014/main" val="20000"/>
                    </a:ext>
                  </a:extLst>
                </a:gridCol>
                <a:gridCol w="3392424">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384048">
                <a:tc>
                  <a:txBody>
                    <a:bodyPr/>
                    <a:lstStyle/>
                    <a:p>
                      <a:r>
                        <a:rPr sz="1300" b="1">
                          <a:solidFill>
                            <a:srgbClr val="FFFFFF"/>
                          </a:solidFill>
                        </a:rPr>
                        <a:t>Clue in the case</a:t>
                      </a:r>
                    </a:p>
                  </a:txBody>
                  <a:tcPr marT="27432" marB="27432" anchor="ctr">
                    <a:solidFill>
                      <a:srgbClr val="1F3864"/>
                    </a:solidFill>
                  </a:tcPr>
                </a:tc>
                <a:tc>
                  <a:txBody>
                    <a:bodyPr/>
                    <a:lstStyle/>
                    <a:p>
                      <a:r>
                        <a:rPr sz="1300" b="1">
                          <a:solidFill>
                            <a:srgbClr val="FFFFFF"/>
                          </a:solidFill>
                        </a:rPr>
                        <a:t>Classic mistake</a:t>
                      </a:r>
                    </a:p>
                  </a:txBody>
                  <a:tcPr marT="27432" marB="27432" anchor="ctr">
                    <a:solidFill>
                      <a:srgbClr val="1F3864"/>
                    </a:solidFill>
                  </a:tcPr>
                </a:tc>
                <a:tc>
                  <a:txBody>
                    <a:bodyPr/>
                    <a:lstStyle/>
                    <a:p>
                      <a:r>
                        <a:rPr sz="1300" b="1">
                          <a:solidFill>
                            <a:srgbClr val="FFFFFF"/>
                          </a:solidFill>
                        </a:rPr>
                        <a:t>Category</a:t>
                      </a:r>
                    </a:p>
                  </a:txBody>
                  <a:tcPr marT="27432" marB="27432" anchor="ctr">
                    <a:solidFill>
                      <a:srgbClr val="1F3864"/>
                    </a:solidFill>
                  </a:tcPr>
                </a:tc>
                <a:extLst>
                  <a:ext uri="{0D108BD9-81ED-4DB2-BD59-A6C34878D82A}">
                    <a16:rowId xmlns:a16="http://schemas.microsoft.com/office/drawing/2014/main" val="10000"/>
                  </a:ext>
                </a:extLst>
              </a:tr>
              <a:tr h="384048">
                <a:tc>
                  <a:txBody>
                    <a:bodyPr/>
                    <a:lstStyle/>
                    <a:p>
                      <a:r>
                        <a:rPr sz="1300">
                          <a:solidFill>
                            <a:srgbClr val="262626"/>
                          </a:solidFill>
                        </a:rPr>
                        <a:t>“We’ll manage” 3 months vs 6</a:t>
                      </a:r>
                    </a:p>
                  </a:txBody>
                  <a:tcPr marT="27432" marB="27432" anchor="ctr">
                    <a:solidFill>
                      <a:srgbClr val="DEE7F5"/>
                    </a:solidFill>
                  </a:tcPr>
                </a:tc>
                <a:tc>
                  <a:txBody>
                    <a:bodyPr/>
                    <a:lstStyle/>
                    <a:p>
                      <a:r>
                        <a:rPr sz="1300">
                          <a:solidFill>
                            <a:srgbClr val="262626"/>
                          </a:solidFill>
                        </a:rPr>
                        <a:t>Optimistic schedule, wishful thinking</a:t>
                      </a:r>
                    </a:p>
                  </a:txBody>
                  <a:tcPr marT="27432" marB="27432" anchor="ctr">
                    <a:solidFill>
                      <a:srgbClr val="DEE7F5"/>
                    </a:solidFill>
                  </a:tcPr>
                </a:tc>
                <a:tc>
                  <a:txBody>
                    <a:bodyPr/>
                    <a:lstStyle/>
                    <a:p>
                      <a:r>
                        <a:rPr sz="1300" b="1">
                          <a:solidFill>
                            <a:srgbClr val="ED7D31"/>
                          </a:solidFill>
                        </a:rPr>
                        <a:t>Process</a:t>
                      </a:r>
                    </a:p>
                  </a:txBody>
                  <a:tcPr marT="27432" marB="27432" anchor="ctr">
                    <a:solidFill>
                      <a:srgbClr val="DEE7F5"/>
                    </a:solidFill>
                  </a:tcPr>
                </a:tc>
                <a:extLst>
                  <a:ext uri="{0D108BD9-81ED-4DB2-BD59-A6C34878D82A}">
                    <a16:rowId xmlns:a16="http://schemas.microsoft.com/office/drawing/2014/main" val="10001"/>
                  </a:ext>
                </a:extLst>
              </a:tr>
              <a:tr h="384048">
                <a:tc>
                  <a:txBody>
                    <a:bodyPr/>
                    <a:lstStyle/>
                    <a:p>
                      <a:r>
                        <a:rPr sz="1300">
                          <a:solidFill>
                            <a:srgbClr val="262626"/>
                          </a:solidFill>
                        </a:rPr>
                        <a:t>Five weeks waiting for sign-off</a:t>
                      </a:r>
                    </a:p>
                  </a:txBody>
                  <a:tcPr marT="27432" marB="27432" anchor="ctr">
                    <a:solidFill>
                      <a:srgbClr val="FFFFFF"/>
                    </a:solidFill>
                  </a:tcPr>
                </a:tc>
                <a:tc>
                  <a:txBody>
                    <a:bodyPr/>
                    <a:lstStyle/>
                    <a:p>
                      <a:r>
                        <a:rPr sz="1300">
                          <a:solidFill>
                            <a:srgbClr val="262626"/>
                          </a:solidFill>
                        </a:rPr>
                        <a:t>Wasted time in the fuzzy front end</a:t>
                      </a:r>
                    </a:p>
                  </a:txBody>
                  <a:tcPr marT="27432" marB="27432" anchor="ctr">
                    <a:solidFill>
                      <a:srgbClr val="FFFFFF"/>
                    </a:solidFill>
                  </a:tcPr>
                </a:tc>
                <a:tc>
                  <a:txBody>
                    <a:bodyPr/>
                    <a:lstStyle/>
                    <a:p>
                      <a:r>
                        <a:rPr sz="1300" b="1">
                          <a:solidFill>
                            <a:srgbClr val="ED7D31"/>
                          </a:solidFill>
                        </a:rPr>
                        <a:t>Process</a:t>
                      </a:r>
                    </a:p>
                  </a:txBody>
                  <a:tcPr marT="27432" marB="27432" anchor="ctr">
                    <a:solidFill>
                      <a:srgbClr val="FFFFFF"/>
                    </a:solidFill>
                  </a:tcPr>
                </a:tc>
                <a:extLst>
                  <a:ext uri="{0D108BD9-81ED-4DB2-BD59-A6C34878D82A}">
                    <a16:rowId xmlns:a16="http://schemas.microsoft.com/office/drawing/2014/main" val="10002"/>
                  </a:ext>
                </a:extLst>
              </a:tr>
              <a:tr h="384048">
                <a:tc>
                  <a:txBody>
                    <a:bodyPr/>
                    <a:lstStyle/>
                    <a:p>
                      <a:r>
                        <a:rPr sz="1300">
                          <a:solidFill>
                            <a:srgbClr val="262626"/>
                          </a:solidFill>
                        </a:rPr>
                        <a:t>Skip design, start coding</a:t>
                      </a:r>
                    </a:p>
                  </a:txBody>
                  <a:tcPr marT="27432" marB="27432" anchor="ctr">
                    <a:solidFill>
                      <a:srgbClr val="DEE7F5"/>
                    </a:solidFill>
                  </a:tcPr>
                </a:tc>
                <a:tc>
                  <a:txBody>
                    <a:bodyPr/>
                    <a:lstStyle/>
                    <a:p>
                      <a:r>
                        <a:rPr sz="1300">
                          <a:solidFill>
                            <a:srgbClr val="262626"/>
                          </a:solidFill>
                        </a:rPr>
                        <a:t>Shortchanged upstream, code-like-hell</a:t>
                      </a:r>
                    </a:p>
                  </a:txBody>
                  <a:tcPr marT="27432" marB="27432" anchor="ctr">
                    <a:solidFill>
                      <a:srgbClr val="DEE7F5"/>
                    </a:solidFill>
                  </a:tcPr>
                </a:tc>
                <a:tc>
                  <a:txBody>
                    <a:bodyPr/>
                    <a:lstStyle/>
                    <a:p>
                      <a:r>
                        <a:rPr sz="1300" b="1">
                          <a:solidFill>
                            <a:srgbClr val="ED7D31"/>
                          </a:solidFill>
                        </a:rPr>
                        <a:t>Process</a:t>
                      </a:r>
                    </a:p>
                  </a:txBody>
                  <a:tcPr marT="27432" marB="27432" anchor="ctr">
                    <a:solidFill>
                      <a:srgbClr val="DEE7F5"/>
                    </a:solidFill>
                  </a:tcPr>
                </a:tc>
                <a:extLst>
                  <a:ext uri="{0D108BD9-81ED-4DB2-BD59-A6C34878D82A}">
                    <a16:rowId xmlns:a16="http://schemas.microsoft.com/office/drawing/2014/main" val="10003"/>
                  </a:ext>
                </a:extLst>
              </a:tr>
              <a:tr h="384048">
                <a:tc>
                  <a:txBody>
                    <a:bodyPr/>
                    <a:lstStyle/>
                    <a:p>
                      <a:r>
                        <a:rPr sz="1300">
                          <a:solidFill>
                            <a:srgbClr val="262626"/>
                          </a:solidFill>
                        </a:rPr>
                        <a:t>New framework to “double our speed”</a:t>
                      </a:r>
                    </a:p>
                  </a:txBody>
                  <a:tcPr marT="27432" marB="27432" anchor="ctr">
                    <a:solidFill>
                      <a:srgbClr val="FFFFFF"/>
                    </a:solidFill>
                  </a:tcPr>
                </a:tc>
                <a:tc>
                  <a:txBody>
                    <a:bodyPr/>
                    <a:lstStyle/>
                    <a:p>
                      <a:r>
                        <a:rPr sz="1300">
                          <a:solidFill>
                            <a:srgbClr val="262626"/>
                          </a:solidFill>
                        </a:rPr>
                        <a:t>Silver bullet, developer gold-plating</a:t>
                      </a:r>
                    </a:p>
                  </a:txBody>
                  <a:tcPr marT="27432" marB="27432" anchor="ctr">
                    <a:solidFill>
                      <a:srgbClr val="FFFFFF"/>
                    </a:solidFill>
                  </a:tcPr>
                </a:tc>
                <a:tc>
                  <a:txBody>
                    <a:bodyPr/>
                    <a:lstStyle/>
                    <a:p>
                      <a:r>
                        <a:rPr sz="1300" b="1">
                          <a:solidFill>
                            <a:srgbClr val="595959"/>
                          </a:solidFill>
                        </a:rPr>
                        <a:t>Technology</a:t>
                      </a:r>
                    </a:p>
                  </a:txBody>
                  <a:tcPr marT="27432" marB="27432" anchor="ctr">
                    <a:solidFill>
                      <a:srgbClr val="FFFFFF"/>
                    </a:solidFill>
                  </a:tcPr>
                </a:tc>
                <a:extLst>
                  <a:ext uri="{0D108BD9-81ED-4DB2-BD59-A6C34878D82A}">
                    <a16:rowId xmlns:a16="http://schemas.microsoft.com/office/drawing/2014/main" val="10004"/>
                  </a:ext>
                </a:extLst>
              </a:tr>
              <a:tr h="384048">
                <a:tc>
                  <a:txBody>
                    <a:bodyPr/>
                    <a:lstStyle/>
                    <a:p>
                      <a:r>
                        <a:rPr sz="1300">
                          <a:solidFill>
                            <a:srgbClr val="262626"/>
                          </a:solidFill>
                        </a:rPr>
                        <a:t>Chatbot, app, calculator added</a:t>
                      </a:r>
                    </a:p>
                  </a:txBody>
                  <a:tcPr marT="27432" marB="27432" anchor="ctr">
                    <a:solidFill>
                      <a:srgbClr val="DEE7F5"/>
                    </a:solidFill>
                  </a:tcPr>
                </a:tc>
                <a:tc>
                  <a:txBody>
                    <a:bodyPr/>
                    <a:lstStyle/>
                    <a:p>
                      <a:r>
                        <a:rPr sz="1300">
                          <a:solidFill>
                            <a:srgbClr val="262626"/>
                          </a:solidFill>
                        </a:rPr>
                        <a:t>Feature creep, requirements gold-plating</a:t>
                      </a:r>
                    </a:p>
                  </a:txBody>
                  <a:tcPr marT="27432" marB="27432" anchor="ctr">
                    <a:solidFill>
                      <a:srgbClr val="DEE7F5"/>
                    </a:solidFill>
                  </a:tcPr>
                </a:tc>
                <a:tc>
                  <a:txBody>
                    <a:bodyPr/>
                    <a:lstStyle/>
                    <a:p>
                      <a:r>
                        <a:rPr sz="1300" b="1">
                          <a:solidFill>
                            <a:srgbClr val="38761D"/>
                          </a:solidFill>
                        </a:rPr>
                        <a:t>Product</a:t>
                      </a:r>
                    </a:p>
                  </a:txBody>
                  <a:tcPr marT="27432" marB="27432" anchor="ctr">
                    <a:solidFill>
                      <a:srgbClr val="DEE7F5"/>
                    </a:solidFill>
                  </a:tcPr>
                </a:tc>
                <a:extLst>
                  <a:ext uri="{0D108BD9-81ED-4DB2-BD59-A6C34878D82A}">
                    <a16:rowId xmlns:a16="http://schemas.microsoft.com/office/drawing/2014/main" val="10005"/>
                  </a:ext>
                </a:extLst>
              </a:tr>
              <a:tr h="384048">
                <a:tc>
                  <a:txBody>
                    <a:bodyPr/>
                    <a:lstStyle/>
                    <a:p>
                      <a:r>
                        <a:rPr sz="1300">
                          <a:solidFill>
                            <a:srgbClr val="262626"/>
                          </a:solidFill>
                        </a:rPr>
                        <a:t>Students never asked</a:t>
                      </a:r>
                    </a:p>
                  </a:txBody>
                  <a:tcPr marT="27432" marB="27432" anchor="ctr">
                    <a:solidFill>
                      <a:srgbClr val="FFFFFF"/>
                    </a:solidFill>
                  </a:tcPr>
                </a:tc>
                <a:tc>
                  <a:txBody>
                    <a:bodyPr/>
                    <a:lstStyle/>
                    <a:p>
                      <a:r>
                        <a:rPr sz="1300">
                          <a:solidFill>
                            <a:srgbClr val="262626"/>
                          </a:solidFill>
                        </a:rPr>
                        <a:t>Lack of user input</a:t>
                      </a:r>
                    </a:p>
                  </a:txBody>
                  <a:tcPr marT="27432" marB="27432" anchor="ctr">
                    <a:solidFill>
                      <a:srgbClr val="FFFFFF"/>
                    </a:solidFill>
                  </a:tcPr>
                </a:tc>
                <a:tc>
                  <a:txBody>
                    <a:bodyPr/>
                    <a:lstStyle/>
                    <a:p>
                      <a:r>
                        <a:rPr sz="1300" b="1">
                          <a:solidFill>
                            <a:srgbClr val="1F3864"/>
                          </a:solidFill>
                        </a:rPr>
                        <a:t>People</a:t>
                      </a:r>
                    </a:p>
                  </a:txBody>
                  <a:tcPr marT="27432" marB="27432" anchor="ctr">
                    <a:solidFill>
                      <a:srgbClr val="FFFFFF"/>
                    </a:solidFill>
                  </a:tcPr>
                </a:tc>
                <a:extLst>
                  <a:ext uri="{0D108BD9-81ED-4DB2-BD59-A6C34878D82A}">
                    <a16:rowId xmlns:a16="http://schemas.microsoft.com/office/drawing/2014/main" val="10006"/>
                  </a:ext>
                </a:extLst>
              </a:tr>
              <a:tr h="384048">
                <a:tc>
                  <a:txBody>
                    <a:bodyPr/>
                    <a:lstStyle/>
                    <a:p>
                      <a:r>
                        <a:rPr sz="1300">
                          <a:solidFill>
                            <a:srgbClr val="262626"/>
                          </a:solidFill>
                        </a:rPr>
                        <a:t>Code on WhatsApp and USB</a:t>
                      </a:r>
                    </a:p>
                  </a:txBody>
                  <a:tcPr marT="27432" marB="27432" anchor="ctr">
                    <a:solidFill>
                      <a:srgbClr val="DEE7F5"/>
                    </a:solidFill>
                  </a:tcPr>
                </a:tc>
                <a:tc>
                  <a:txBody>
                    <a:bodyPr/>
                    <a:lstStyle/>
                    <a:p>
                      <a:r>
                        <a:rPr sz="1300">
                          <a:solidFill>
                            <a:srgbClr val="262626"/>
                          </a:solidFill>
                        </a:rPr>
                        <a:t>No source-code control</a:t>
                      </a:r>
                    </a:p>
                  </a:txBody>
                  <a:tcPr marT="27432" marB="27432" anchor="ctr">
                    <a:solidFill>
                      <a:srgbClr val="DEE7F5"/>
                    </a:solidFill>
                  </a:tcPr>
                </a:tc>
                <a:tc>
                  <a:txBody>
                    <a:bodyPr/>
                    <a:lstStyle/>
                    <a:p>
                      <a:r>
                        <a:rPr sz="1300" b="1">
                          <a:solidFill>
                            <a:srgbClr val="595959"/>
                          </a:solidFill>
                        </a:rPr>
                        <a:t>Technology</a:t>
                      </a:r>
                    </a:p>
                  </a:txBody>
                  <a:tcPr marT="27432" marB="27432" anchor="ctr">
                    <a:solidFill>
                      <a:srgbClr val="DEE7F5"/>
                    </a:solidFill>
                  </a:tcPr>
                </a:tc>
                <a:extLst>
                  <a:ext uri="{0D108BD9-81ED-4DB2-BD59-A6C34878D82A}">
                    <a16:rowId xmlns:a16="http://schemas.microsoft.com/office/drawing/2014/main" val="10007"/>
                  </a:ext>
                </a:extLst>
              </a:tr>
              <a:tr h="384048">
                <a:tc>
                  <a:txBody>
                    <a:bodyPr/>
                    <a:lstStyle/>
                    <a:p>
                      <a:r>
                        <a:rPr sz="1300">
                          <a:solidFill>
                            <a:srgbClr val="262626"/>
                          </a:solidFill>
                        </a:rPr>
                        <a:t>Developer skips meetings, unaddressed</a:t>
                      </a:r>
                    </a:p>
                  </a:txBody>
                  <a:tcPr marT="27432" marB="27432" anchor="ctr">
                    <a:solidFill>
                      <a:srgbClr val="FFFFFF"/>
                    </a:solidFill>
                  </a:tcPr>
                </a:tc>
                <a:tc>
                  <a:txBody>
                    <a:bodyPr/>
                    <a:lstStyle/>
                    <a:p>
                      <a:r>
                        <a:rPr sz="1300">
                          <a:solidFill>
                            <a:srgbClr val="262626"/>
                          </a:solidFill>
                        </a:rPr>
                        <a:t>Uncontrolled problem employee</a:t>
                      </a:r>
                    </a:p>
                  </a:txBody>
                  <a:tcPr marT="27432" marB="27432" anchor="ctr">
                    <a:solidFill>
                      <a:srgbClr val="FFFFFF"/>
                    </a:solidFill>
                  </a:tcPr>
                </a:tc>
                <a:tc>
                  <a:txBody>
                    <a:bodyPr/>
                    <a:lstStyle/>
                    <a:p>
                      <a:r>
                        <a:rPr sz="1300" b="1">
                          <a:solidFill>
                            <a:srgbClr val="1F3864"/>
                          </a:solidFill>
                        </a:rPr>
                        <a:t>People</a:t>
                      </a:r>
                    </a:p>
                  </a:txBody>
                  <a:tcPr marT="27432" marB="27432" anchor="ctr">
                    <a:solidFill>
                      <a:srgbClr val="FFFFFF"/>
                    </a:solidFill>
                  </a:tcPr>
                </a:tc>
                <a:extLst>
                  <a:ext uri="{0D108BD9-81ED-4DB2-BD59-A6C34878D82A}">
                    <a16:rowId xmlns:a16="http://schemas.microsoft.com/office/drawing/2014/main" val="10008"/>
                  </a:ext>
                </a:extLst>
              </a:tr>
              <a:tr h="384048">
                <a:tc>
                  <a:txBody>
                    <a:bodyPr/>
                    <a:lstStyle/>
                    <a:p>
                      <a:r>
                        <a:rPr sz="1300">
                          <a:solidFill>
                            <a:srgbClr val="262626"/>
                          </a:solidFill>
                        </a:rPr>
                        <a:t>Testing cut to three days</a:t>
                      </a:r>
                    </a:p>
                  </a:txBody>
                  <a:tcPr marT="27432" marB="27432" anchor="ctr">
                    <a:solidFill>
                      <a:srgbClr val="DEE7F5"/>
                    </a:solidFill>
                  </a:tcPr>
                </a:tc>
                <a:tc>
                  <a:txBody>
                    <a:bodyPr/>
                    <a:lstStyle/>
                    <a:p>
                      <a:r>
                        <a:rPr sz="1300">
                          <a:solidFill>
                            <a:srgbClr val="262626"/>
                          </a:solidFill>
                        </a:rPr>
                        <a:t>Shortchanged quality assurance</a:t>
                      </a:r>
                    </a:p>
                  </a:txBody>
                  <a:tcPr marT="27432" marB="27432" anchor="ctr">
                    <a:solidFill>
                      <a:srgbClr val="DEE7F5"/>
                    </a:solidFill>
                  </a:tcPr>
                </a:tc>
                <a:tc>
                  <a:txBody>
                    <a:bodyPr/>
                    <a:lstStyle/>
                    <a:p>
                      <a:r>
                        <a:rPr sz="1300" b="1">
                          <a:solidFill>
                            <a:srgbClr val="ED7D31"/>
                          </a:solidFill>
                        </a:rPr>
                        <a:t>Process</a:t>
                      </a:r>
                    </a:p>
                  </a:txBody>
                  <a:tcPr marT="27432" marB="27432" anchor="ctr">
                    <a:solidFill>
                      <a:srgbClr val="DEE7F5"/>
                    </a:solidFill>
                  </a:tcPr>
                </a:tc>
                <a:extLst>
                  <a:ext uri="{0D108BD9-81ED-4DB2-BD59-A6C34878D82A}">
                    <a16:rowId xmlns:a16="http://schemas.microsoft.com/office/drawing/2014/main" val="10009"/>
                  </a:ext>
                </a:extLst>
              </a:tr>
              <a:tr h="384048">
                <a:tc>
                  <a:txBody>
                    <a:bodyPr/>
                    <a:lstStyle/>
                    <a:p>
                      <a:r>
                        <a:rPr sz="1300">
                          <a:solidFill>
                            <a:srgbClr val="262626"/>
                          </a:solidFill>
                        </a:rPr>
                        <a:t>Four new hires before launch</a:t>
                      </a:r>
                    </a:p>
                  </a:txBody>
                  <a:tcPr marT="27432" marB="27432" anchor="ctr">
                    <a:solidFill>
                      <a:srgbClr val="FFFFFF"/>
                    </a:solidFill>
                  </a:tcPr>
                </a:tc>
                <a:tc>
                  <a:txBody>
                    <a:bodyPr/>
                    <a:lstStyle/>
                    <a:p>
                      <a:r>
                        <a:rPr sz="1300">
                          <a:solidFill>
                            <a:srgbClr val="262626"/>
                          </a:solidFill>
                        </a:rPr>
                        <a:t>Adding people to a late project</a:t>
                      </a:r>
                    </a:p>
                  </a:txBody>
                  <a:tcPr marT="27432" marB="27432" anchor="ctr">
                    <a:solidFill>
                      <a:srgbClr val="FFFFFF"/>
                    </a:solidFill>
                  </a:tcPr>
                </a:tc>
                <a:tc>
                  <a:txBody>
                    <a:bodyPr/>
                    <a:lstStyle/>
                    <a:p>
                      <a:r>
                        <a:rPr sz="1300" b="1">
                          <a:solidFill>
                            <a:srgbClr val="1F3864"/>
                          </a:solidFill>
                        </a:rPr>
                        <a:t>People</a:t>
                      </a:r>
                    </a:p>
                  </a:txBody>
                  <a:tcPr marT="27432" marB="27432" anchor="ctr">
                    <a:solidFill>
                      <a:srgbClr val="FFFFFF"/>
                    </a:solidFill>
                  </a:tcPr>
                </a:tc>
                <a:extLst>
                  <a:ext uri="{0D108BD9-81ED-4DB2-BD59-A6C34878D82A}">
                    <a16:rowId xmlns:a16="http://schemas.microsoft.com/office/drawing/2014/main" val="10010"/>
                  </a:ext>
                </a:extLst>
              </a:tr>
              <a:tr h="384048">
                <a:tc>
                  <a:txBody>
                    <a:bodyPr/>
                    <a:lstStyle/>
                    <a:p>
                      <a:r>
                        <a:rPr sz="1300">
                          <a:solidFill>
                            <a:srgbClr val="262626"/>
                          </a:solidFill>
                        </a:rPr>
                        <a:t>All-nighters, Ahmed the hero</a:t>
                      </a:r>
                    </a:p>
                  </a:txBody>
                  <a:tcPr marT="27432" marB="27432" anchor="ctr">
                    <a:solidFill>
                      <a:srgbClr val="DEE7F5"/>
                    </a:solidFill>
                  </a:tcPr>
                </a:tc>
                <a:tc>
                  <a:txBody>
                    <a:bodyPr/>
                    <a:lstStyle/>
                    <a:p>
                      <a:r>
                        <a:rPr sz="1300">
                          <a:solidFill>
                            <a:srgbClr val="262626"/>
                          </a:solidFill>
                        </a:rPr>
                        <a:t>Heroics</a:t>
                      </a:r>
                    </a:p>
                  </a:txBody>
                  <a:tcPr marT="27432" marB="27432" anchor="ctr">
                    <a:solidFill>
                      <a:srgbClr val="DEE7F5"/>
                    </a:solidFill>
                  </a:tcPr>
                </a:tc>
                <a:tc>
                  <a:txBody>
                    <a:bodyPr/>
                    <a:lstStyle/>
                    <a:p>
                      <a:r>
                        <a:rPr sz="1300" b="1">
                          <a:solidFill>
                            <a:srgbClr val="1F3864"/>
                          </a:solidFill>
                        </a:rPr>
                        <a:t>People</a:t>
                      </a:r>
                    </a:p>
                  </a:txBody>
                  <a:tcPr marT="27432" marB="27432" anchor="ctr">
                    <a:solidFill>
                      <a:srgbClr val="DEE7F5"/>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p:txBody>
          <a:bodyPr/>
          <a:lstStyle/>
          <a:p>
            <a:pPr eaLnBrk="1" hangingPunct="1"/>
            <a:r>
              <a:rPr lang="en-US" altLang="en-US" b="1" dirty="0">
                <a:effectLst>
                  <a:outerShdw blurRad="38100" dist="38100" dir="2700000" algn="tl">
                    <a:srgbClr val="000000">
                      <a:alpha val="43137"/>
                    </a:srgbClr>
                  </a:outerShdw>
                </a:effectLst>
              </a:rPr>
              <a:t>People-Related Mistakes Part 1</a:t>
            </a:r>
          </a:p>
        </p:txBody>
      </p:sp>
      <p:sp>
        <p:nvSpPr>
          <p:cNvPr id="20484" name="Rectangle 3"/>
          <p:cNvSpPr>
            <a:spLocks noGrp="1" noChangeArrowheads="1"/>
          </p:cNvSpPr>
          <p:nvPr>
            <p:ph idx="1"/>
          </p:nvPr>
        </p:nvSpPr>
        <p:spPr/>
        <p:txBody>
          <a:bodyPr>
            <a:normAutofit/>
          </a:bodyPr>
          <a:lstStyle/>
          <a:p>
            <a:pPr eaLnBrk="1" hangingPunct="1"/>
            <a:r>
              <a:rPr lang="en-US" altLang="en-US" sz="1800" dirty="0">
                <a:solidFill>
                  <a:schemeClr val="tx1">
                    <a:lumMod val="95000"/>
                    <a:lumOff val="5000"/>
                  </a:schemeClr>
                </a:solidFill>
              </a:rPr>
              <a:t>Undermined motivation</a:t>
            </a:r>
          </a:p>
          <a:p>
            <a:pPr eaLnBrk="1" hangingPunct="1"/>
            <a:r>
              <a:rPr lang="en-US" altLang="en-US" sz="1800" dirty="0">
                <a:solidFill>
                  <a:schemeClr val="tx1">
                    <a:lumMod val="95000"/>
                    <a:lumOff val="5000"/>
                  </a:schemeClr>
                </a:solidFill>
              </a:rPr>
              <a:t>Weak personnel</a:t>
            </a:r>
          </a:p>
          <a:p>
            <a:pPr lvl="1" eaLnBrk="1" hangingPunct="1"/>
            <a:r>
              <a:rPr lang="en-US" altLang="en-US" sz="1800" dirty="0">
                <a:solidFill>
                  <a:schemeClr val="tx1">
                    <a:lumMod val="95000"/>
                    <a:lumOff val="5000"/>
                  </a:schemeClr>
                </a:solidFill>
              </a:rPr>
              <a:t>Weak vs. Junior</a:t>
            </a:r>
          </a:p>
          <a:p>
            <a:pPr eaLnBrk="1" hangingPunct="1"/>
            <a:r>
              <a:rPr lang="en-US" altLang="en-US" sz="1800" dirty="0">
                <a:solidFill>
                  <a:schemeClr val="tx1">
                    <a:lumMod val="95000"/>
                    <a:lumOff val="5000"/>
                  </a:schemeClr>
                </a:solidFill>
              </a:rPr>
              <a:t>Uncontrolled employee’s problems</a:t>
            </a:r>
          </a:p>
          <a:p>
            <a:pPr eaLnBrk="1" hangingPunct="1"/>
            <a:r>
              <a:rPr lang="en-US" altLang="en-US" sz="1800" dirty="0">
                <a:solidFill>
                  <a:schemeClr val="tx1">
                    <a:lumMod val="95000"/>
                    <a:lumOff val="5000"/>
                  </a:schemeClr>
                </a:solidFill>
              </a:rPr>
              <a:t>Heroics</a:t>
            </a:r>
          </a:p>
          <a:p>
            <a:pPr eaLnBrk="1" hangingPunct="1"/>
            <a:r>
              <a:rPr lang="en-US" altLang="en-US" sz="1800" dirty="0">
                <a:solidFill>
                  <a:schemeClr val="tx1">
                    <a:lumMod val="95000"/>
                    <a:lumOff val="5000"/>
                  </a:schemeClr>
                </a:solidFill>
              </a:rPr>
              <a:t>Adding people to a late project</a:t>
            </a:r>
          </a:p>
        </p:txBody>
      </p:sp>
    </p:spTree>
    <p:extLst>
      <p:ext uri="{BB962C8B-B14F-4D97-AF65-F5344CB8AC3E}">
        <p14:creationId xmlns:p14="http://schemas.microsoft.com/office/powerpoint/2010/main" val="28100792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p:txBody>
          <a:bodyPr/>
          <a:lstStyle/>
          <a:p>
            <a:pPr eaLnBrk="1" hangingPunct="1"/>
            <a:r>
              <a:rPr lang="en-US" altLang="en-US" b="1" dirty="0"/>
              <a:t>People-Related Mistakes Part 2</a:t>
            </a:r>
          </a:p>
        </p:txBody>
      </p:sp>
      <p:sp>
        <p:nvSpPr>
          <p:cNvPr id="22532" name="Rectangle 3"/>
          <p:cNvSpPr>
            <a:spLocks noGrp="1" noChangeArrowheads="1"/>
          </p:cNvSpPr>
          <p:nvPr>
            <p:ph idx="1"/>
          </p:nvPr>
        </p:nvSpPr>
        <p:spPr/>
        <p:txBody>
          <a:bodyPr/>
          <a:lstStyle/>
          <a:p>
            <a:pPr eaLnBrk="1" hangingPunct="1"/>
            <a:r>
              <a:rPr lang="en-US" altLang="en-US" sz="1800" dirty="0">
                <a:solidFill>
                  <a:schemeClr val="tx1">
                    <a:lumMod val="95000"/>
                    <a:lumOff val="5000"/>
                  </a:schemeClr>
                </a:solidFill>
              </a:rPr>
              <a:t>Noisy, crowded offices</a:t>
            </a:r>
          </a:p>
          <a:p>
            <a:pPr eaLnBrk="1" hangingPunct="1"/>
            <a:r>
              <a:rPr lang="en-US" altLang="en-US" sz="1800" dirty="0">
                <a:solidFill>
                  <a:schemeClr val="tx1">
                    <a:lumMod val="95000"/>
                    <a:lumOff val="5000"/>
                  </a:schemeClr>
                </a:solidFill>
              </a:rPr>
              <a:t>Customer-Developer friction</a:t>
            </a:r>
          </a:p>
          <a:p>
            <a:pPr eaLnBrk="1" hangingPunct="1"/>
            <a:r>
              <a:rPr lang="en-US" altLang="en-US" sz="1800" dirty="0">
                <a:solidFill>
                  <a:schemeClr val="tx1">
                    <a:lumMod val="95000"/>
                    <a:lumOff val="5000"/>
                  </a:schemeClr>
                </a:solidFill>
              </a:rPr>
              <a:t>Unrealistic expectations</a:t>
            </a:r>
          </a:p>
          <a:p>
            <a:pPr eaLnBrk="1" hangingPunct="1"/>
            <a:r>
              <a:rPr lang="en-US" altLang="en-US" sz="1800" dirty="0">
                <a:solidFill>
                  <a:schemeClr val="tx1">
                    <a:lumMod val="95000"/>
                    <a:lumOff val="5000"/>
                  </a:schemeClr>
                </a:solidFill>
              </a:rPr>
              <a:t>Politics over substance</a:t>
            </a:r>
          </a:p>
          <a:p>
            <a:pPr eaLnBrk="1" hangingPunct="1"/>
            <a:r>
              <a:rPr lang="en-US" altLang="en-US" sz="1800" dirty="0">
                <a:solidFill>
                  <a:schemeClr val="tx1">
                    <a:lumMod val="95000"/>
                    <a:lumOff val="5000"/>
                  </a:schemeClr>
                </a:solidFill>
              </a:rPr>
              <a:t>Wishful thinking</a:t>
            </a:r>
          </a:p>
          <a:p>
            <a:pPr eaLnBrk="1" hangingPunct="1"/>
            <a:r>
              <a:rPr lang="en-US" altLang="en-US" sz="1800" dirty="0">
                <a:solidFill>
                  <a:schemeClr val="tx1">
                    <a:lumMod val="95000"/>
                    <a:lumOff val="5000"/>
                  </a:schemeClr>
                </a:solidFill>
              </a:rPr>
              <a:t>Lack of effective project sponsorship</a:t>
            </a:r>
          </a:p>
          <a:p>
            <a:pPr eaLnBrk="1" hangingPunct="1"/>
            <a:r>
              <a:rPr lang="en-US" altLang="en-US" sz="1800" dirty="0">
                <a:solidFill>
                  <a:schemeClr val="tx1">
                    <a:lumMod val="95000"/>
                    <a:lumOff val="5000"/>
                  </a:schemeClr>
                </a:solidFill>
              </a:rPr>
              <a:t>Lack of user input</a:t>
            </a:r>
          </a:p>
          <a:p>
            <a:pPr eaLnBrk="1" hangingPunct="1"/>
            <a:endParaRPr lang="en-US" altLang="en-US" dirty="0"/>
          </a:p>
        </p:txBody>
      </p:sp>
    </p:spTree>
    <p:extLst>
      <p:ext uri="{BB962C8B-B14F-4D97-AF65-F5344CB8AC3E}">
        <p14:creationId xmlns:p14="http://schemas.microsoft.com/office/powerpoint/2010/main" val="37118308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D7552-E193-0408-D540-AAC1C0FD69F4}"/>
              </a:ext>
            </a:extLst>
          </p:cNvPr>
          <p:cNvSpPr>
            <a:spLocks noGrp="1"/>
          </p:cNvSpPr>
          <p:nvPr>
            <p:ph type="title"/>
          </p:nvPr>
        </p:nvSpPr>
        <p:spPr/>
        <p:txBody>
          <a:bodyPr/>
          <a:lstStyle/>
          <a:p>
            <a:r>
              <a:rPr lang="en-US" dirty="0"/>
              <a:t>Identify People Mistakes</a:t>
            </a:r>
            <a:endParaRPr lang="en-PK" dirty="0"/>
          </a:p>
        </p:txBody>
      </p:sp>
      <p:sp>
        <p:nvSpPr>
          <p:cNvPr id="3" name="Content Placeholder 2">
            <a:extLst>
              <a:ext uri="{FF2B5EF4-FFF2-40B4-BE49-F238E27FC236}">
                <a16:creationId xmlns:a16="http://schemas.microsoft.com/office/drawing/2014/main" id="{8E8495EF-4F7A-065C-234E-3AA6D67F4DB7}"/>
              </a:ext>
            </a:extLst>
          </p:cNvPr>
          <p:cNvSpPr>
            <a:spLocks noGrp="1"/>
          </p:cNvSpPr>
          <p:nvPr>
            <p:ph idx="1"/>
          </p:nvPr>
        </p:nvSpPr>
        <p:spPr/>
        <p:txBody>
          <a:bodyPr/>
          <a:lstStyle/>
          <a:p>
            <a:pPr algn="just"/>
            <a:r>
              <a:rPr lang="en-PK" dirty="0"/>
              <a:t>A software project is 2 months behind schedule. The manager hires 5 junior developers, asks the senior developer to work every weekend, ignores conflicts between two team members, and tells everyone to “work harder.”</a:t>
            </a:r>
          </a:p>
        </p:txBody>
      </p:sp>
    </p:spTree>
    <p:extLst>
      <p:ext uri="{BB962C8B-B14F-4D97-AF65-F5344CB8AC3E}">
        <p14:creationId xmlns:p14="http://schemas.microsoft.com/office/powerpoint/2010/main" val="21800068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5BA86-AED2-27B4-EB2F-05DEF987ECA6}"/>
              </a:ext>
            </a:extLst>
          </p:cNvPr>
          <p:cNvSpPr>
            <a:spLocks noGrp="1"/>
          </p:cNvSpPr>
          <p:nvPr>
            <p:ph type="title"/>
          </p:nvPr>
        </p:nvSpPr>
        <p:spPr/>
        <p:txBody>
          <a:bodyPr/>
          <a:lstStyle/>
          <a:p>
            <a:r>
              <a:rPr lang="en-US" dirty="0"/>
              <a:t>Identify People Mistakes</a:t>
            </a:r>
            <a:endParaRPr lang="en-PK" dirty="0"/>
          </a:p>
        </p:txBody>
      </p:sp>
      <p:sp>
        <p:nvSpPr>
          <p:cNvPr id="3" name="Content Placeholder 2">
            <a:extLst>
              <a:ext uri="{FF2B5EF4-FFF2-40B4-BE49-F238E27FC236}">
                <a16:creationId xmlns:a16="http://schemas.microsoft.com/office/drawing/2014/main" id="{6C83A619-F5BE-6149-A435-84496CA48F54}"/>
              </a:ext>
            </a:extLst>
          </p:cNvPr>
          <p:cNvSpPr>
            <a:spLocks noGrp="1"/>
          </p:cNvSpPr>
          <p:nvPr>
            <p:ph idx="1"/>
          </p:nvPr>
        </p:nvSpPr>
        <p:spPr/>
        <p:txBody>
          <a:bodyPr/>
          <a:lstStyle/>
          <a:p>
            <a:pPr algn="just"/>
            <a:r>
              <a:rPr lang="en-PK" dirty="0"/>
              <a:t>A university is developing a new LMS. The manager promises delivery in 6 weeks despite estimates showing it needs 4 months. Teachers are not consulted about their requirements. Senior management does not help when resources are needed. The manager keeps saying, “We'll catch up later.” Meanwhile, developers work in an overcrowded office and the client keeps demanding new features.</a:t>
            </a:r>
          </a:p>
        </p:txBody>
      </p:sp>
    </p:spTree>
    <p:extLst>
      <p:ext uri="{BB962C8B-B14F-4D97-AF65-F5344CB8AC3E}">
        <p14:creationId xmlns:p14="http://schemas.microsoft.com/office/powerpoint/2010/main" val="24397374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p:txBody>
          <a:bodyPr/>
          <a:lstStyle/>
          <a:p>
            <a:pPr eaLnBrk="1" hangingPunct="1"/>
            <a:r>
              <a:rPr lang="en-US" altLang="en-US" b="1" dirty="0">
                <a:effectLst>
                  <a:outerShdw blurRad="38100" dist="38100" dir="2700000" algn="tl">
                    <a:srgbClr val="000000">
                      <a:alpha val="43137"/>
                    </a:srgbClr>
                  </a:outerShdw>
                </a:effectLst>
              </a:rPr>
              <a:t>Process-Related Mistakes</a:t>
            </a:r>
          </a:p>
        </p:txBody>
      </p:sp>
      <p:sp>
        <p:nvSpPr>
          <p:cNvPr id="24580" name="Rectangle 3"/>
          <p:cNvSpPr>
            <a:spLocks noGrp="1" noChangeArrowheads="1"/>
          </p:cNvSpPr>
          <p:nvPr>
            <p:ph idx="1"/>
          </p:nvPr>
        </p:nvSpPr>
        <p:spPr/>
        <p:txBody>
          <a:bodyPr>
            <a:normAutofit/>
          </a:bodyPr>
          <a:lstStyle/>
          <a:p>
            <a:pPr eaLnBrk="1" hangingPunct="1"/>
            <a:r>
              <a:rPr lang="en-US" altLang="en-US" sz="1800" dirty="0">
                <a:solidFill>
                  <a:schemeClr val="tx1">
                    <a:lumMod val="95000"/>
                    <a:lumOff val="5000"/>
                  </a:schemeClr>
                </a:solidFill>
              </a:rPr>
              <a:t>Optimistic schedules</a:t>
            </a:r>
          </a:p>
          <a:p>
            <a:pPr eaLnBrk="1" hangingPunct="1"/>
            <a:r>
              <a:rPr lang="en-US" altLang="en-US" sz="1800" dirty="0">
                <a:solidFill>
                  <a:schemeClr val="tx1">
                    <a:lumMod val="95000"/>
                    <a:lumOff val="5000"/>
                  </a:schemeClr>
                </a:solidFill>
              </a:rPr>
              <a:t>Insufficient risk management</a:t>
            </a:r>
          </a:p>
          <a:p>
            <a:pPr eaLnBrk="1" hangingPunct="1"/>
            <a:r>
              <a:rPr lang="en-US" altLang="en-US" sz="1800" dirty="0">
                <a:solidFill>
                  <a:schemeClr val="tx1">
                    <a:lumMod val="95000"/>
                    <a:lumOff val="5000"/>
                  </a:schemeClr>
                </a:solidFill>
              </a:rPr>
              <a:t>Contractor failure</a:t>
            </a:r>
          </a:p>
          <a:p>
            <a:pPr eaLnBrk="1" hangingPunct="1"/>
            <a:r>
              <a:rPr lang="en-US" altLang="en-US" sz="1800" dirty="0">
                <a:solidFill>
                  <a:schemeClr val="tx1">
                    <a:lumMod val="95000"/>
                    <a:lumOff val="5000"/>
                  </a:schemeClr>
                </a:solidFill>
              </a:rPr>
              <a:t>Insufficient planning</a:t>
            </a:r>
          </a:p>
          <a:p>
            <a:pPr eaLnBrk="1" hangingPunct="1"/>
            <a:r>
              <a:rPr lang="en-US" altLang="en-US" sz="1800" dirty="0">
                <a:solidFill>
                  <a:schemeClr val="tx1">
                    <a:lumMod val="95000"/>
                    <a:lumOff val="5000"/>
                  </a:schemeClr>
                </a:solidFill>
              </a:rPr>
              <a:t>Abandonment of plan under pressure</a:t>
            </a:r>
          </a:p>
          <a:p>
            <a:r>
              <a:rPr lang="en-US" altLang="en-US" sz="1800" dirty="0">
                <a:solidFill>
                  <a:schemeClr val="tx1">
                    <a:lumMod val="95000"/>
                    <a:lumOff val="5000"/>
                  </a:schemeClr>
                </a:solidFill>
              </a:rPr>
              <a:t>Wasted time during fuzzy front end</a:t>
            </a:r>
          </a:p>
          <a:p>
            <a:r>
              <a:rPr lang="en-US" altLang="en-US" sz="1800" dirty="0">
                <a:solidFill>
                  <a:schemeClr val="tx1">
                    <a:lumMod val="95000"/>
                    <a:lumOff val="5000"/>
                  </a:schemeClr>
                </a:solidFill>
              </a:rPr>
              <a:t>Shortchanged upstream activities</a:t>
            </a:r>
          </a:p>
          <a:p>
            <a:r>
              <a:rPr lang="en-US" altLang="en-US" sz="1800" dirty="0">
                <a:solidFill>
                  <a:schemeClr val="tx1">
                    <a:lumMod val="95000"/>
                    <a:lumOff val="5000"/>
                  </a:schemeClr>
                </a:solidFill>
              </a:rPr>
              <a:t>Inadequate design</a:t>
            </a:r>
          </a:p>
          <a:p>
            <a:r>
              <a:rPr lang="en-US" altLang="en-US" sz="1800" dirty="0">
                <a:solidFill>
                  <a:schemeClr val="tx1">
                    <a:lumMod val="95000"/>
                    <a:lumOff val="5000"/>
                  </a:schemeClr>
                </a:solidFill>
              </a:rPr>
              <a:t>Shortchanged quality assurance </a:t>
            </a:r>
          </a:p>
          <a:p>
            <a:pPr eaLnBrk="1" hangingPunct="1"/>
            <a:endParaRPr lang="en-US" altLang="en-US" sz="1800" dirty="0">
              <a:solidFill>
                <a:schemeClr val="tx1">
                  <a:lumMod val="95000"/>
                  <a:lumOff val="5000"/>
                </a:schemeClr>
              </a:solidFill>
            </a:endParaRPr>
          </a:p>
        </p:txBody>
      </p:sp>
    </p:spTree>
    <p:extLst>
      <p:ext uri="{BB962C8B-B14F-4D97-AF65-F5344CB8AC3E}">
        <p14:creationId xmlns:p14="http://schemas.microsoft.com/office/powerpoint/2010/main" val="11312353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C3C6F-8417-4505-A2CD-A7E9379A15F1}"/>
              </a:ext>
            </a:extLst>
          </p:cNvPr>
          <p:cNvSpPr>
            <a:spLocks noGrp="1"/>
          </p:cNvSpPr>
          <p:nvPr>
            <p:ph type="title"/>
          </p:nvPr>
        </p:nvSpPr>
        <p:spPr/>
        <p:txBody>
          <a:bodyPr/>
          <a:lstStyle/>
          <a:p>
            <a:r>
              <a:rPr lang="en-US" dirty="0"/>
              <a:t>Identify Process-Related Mistakes</a:t>
            </a:r>
            <a:endParaRPr lang="en-PK" dirty="0"/>
          </a:p>
        </p:txBody>
      </p:sp>
      <p:sp>
        <p:nvSpPr>
          <p:cNvPr id="3" name="Content Placeholder 2">
            <a:extLst>
              <a:ext uri="{FF2B5EF4-FFF2-40B4-BE49-F238E27FC236}">
                <a16:creationId xmlns:a16="http://schemas.microsoft.com/office/drawing/2014/main" id="{9E4C4AAC-359D-0330-5B32-89B8DDE44641}"/>
              </a:ext>
            </a:extLst>
          </p:cNvPr>
          <p:cNvSpPr>
            <a:spLocks noGrp="1"/>
          </p:cNvSpPr>
          <p:nvPr>
            <p:ph idx="1"/>
          </p:nvPr>
        </p:nvSpPr>
        <p:spPr/>
        <p:txBody>
          <a:bodyPr/>
          <a:lstStyle/>
          <a:p>
            <a:pPr marL="0" indent="0" algn="just">
              <a:buNone/>
            </a:pPr>
            <a:r>
              <a:rPr lang="en-PK" dirty="0"/>
              <a:t>A software company is developing a hospital management system. The manager promises delivery in two months even though the team estimates five months. Requirements have not been finalized, but developers have already started coding. The customer keeps requesting new features and the manager accepts all of them. Testing time is reduced because the deadline cannot be changed.</a:t>
            </a:r>
          </a:p>
        </p:txBody>
      </p:sp>
    </p:spTree>
    <p:extLst>
      <p:ext uri="{BB962C8B-B14F-4D97-AF65-F5344CB8AC3E}">
        <p14:creationId xmlns:p14="http://schemas.microsoft.com/office/powerpoint/2010/main" val="27207823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p:txBody>
          <a:bodyPr/>
          <a:lstStyle/>
          <a:p>
            <a:pPr eaLnBrk="1" hangingPunct="1"/>
            <a:r>
              <a:rPr lang="en-US" altLang="en-US" b="1" dirty="0">
                <a:effectLst>
                  <a:outerShdw blurRad="38100" dist="38100" dir="2700000" algn="tl">
                    <a:srgbClr val="000000">
                      <a:alpha val="43137"/>
                    </a:srgbClr>
                  </a:outerShdw>
                </a:effectLst>
              </a:rPr>
              <a:t>Process-Related Mistakes Part 3</a:t>
            </a:r>
          </a:p>
        </p:txBody>
      </p:sp>
      <p:sp>
        <p:nvSpPr>
          <p:cNvPr id="28676" name="Rectangle 3"/>
          <p:cNvSpPr>
            <a:spLocks noGrp="1" noChangeArrowheads="1"/>
          </p:cNvSpPr>
          <p:nvPr>
            <p:ph idx="1"/>
          </p:nvPr>
        </p:nvSpPr>
        <p:spPr/>
        <p:txBody>
          <a:bodyPr>
            <a:normAutofit/>
          </a:bodyPr>
          <a:lstStyle/>
          <a:p>
            <a:pPr eaLnBrk="1" hangingPunct="1"/>
            <a:r>
              <a:rPr lang="en-US" altLang="en-US" sz="1800" dirty="0">
                <a:solidFill>
                  <a:schemeClr val="tx1">
                    <a:lumMod val="95000"/>
                    <a:lumOff val="5000"/>
                  </a:schemeClr>
                </a:solidFill>
              </a:rPr>
              <a:t>Insufficient management controls</a:t>
            </a:r>
          </a:p>
          <a:p>
            <a:pPr eaLnBrk="1" hangingPunct="1"/>
            <a:r>
              <a:rPr lang="en-US" altLang="en-US" sz="1800" dirty="0">
                <a:solidFill>
                  <a:schemeClr val="tx1">
                    <a:lumMod val="95000"/>
                    <a:lumOff val="5000"/>
                  </a:schemeClr>
                </a:solidFill>
              </a:rPr>
              <a:t>Frequent convergence</a:t>
            </a:r>
          </a:p>
          <a:p>
            <a:pPr eaLnBrk="1" hangingPunct="1"/>
            <a:r>
              <a:rPr lang="en-US" altLang="en-US" sz="1800" dirty="0">
                <a:solidFill>
                  <a:schemeClr val="tx1">
                    <a:lumMod val="95000"/>
                    <a:lumOff val="5000"/>
                  </a:schemeClr>
                </a:solidFill>
              </a:rPr>
              <a:t>Omitting necessary tasks from estimates</a:t>
            </a:r>
          </a:p>
          <a:p>
            <a:pPr eaLnBrk="1" hangingPunct="1"/>
            <a:r>
              <a:rPr lang="en-US" altLang="en-US" sz="1800" dirty="0">
                <a:solidFill>
                  <a:schemeClr val="tx1">
                    <a:lumMod val="95000"/>
                    <a:lumOff val="5000"/>
                  </a:schemeClr>
                </a:solidFill>
              </a:rPr>
              <a:t>Planning to catch-up later</a:t>
            </a:r>
          </a:p>
          <a:p>
            <a:pPr eaLnBrk="1" hangingPunct="1"/>
            <a:r>
              <a:rPr lang="en-US" altLang="en-US" sz="1800" dirty="0">
                <a:solidFill>
                  <a:schemeClr val="tx1">
                    <a:lumMod val="95000"/>
                    <a:lumOff val="5000"/>
                  </a:schemeClr>
                </a:solidFill>
              </a:rPr>
              <a:t>Code-like-hell programming</a:t>
            </a:r>
          </a:p>
        </p:txBody>
      </p:sp>
      <p:pic>
        <p:nvPicPr>
          <p:cNvPr id="1026" name="Picture 2" descr="Code and fix model- A recipe for disaster - DEV Community">
            <a:extLst>
              <a:ext uri="{FF2B5EF4-FFF2-40B4-BE49-F238E27FC236}">
                <a16:creationId xmlns:a16="http://schemas.microsoft.com/office/drawing/2014/main" id="{C07C1BF4-91AD-4E3B-AE46-07EC54DC7C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0" y="4112956"/>
            <a:ext cx="4882611" cy="20812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6074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p:txBody>
          <a:bodyPr/>
          <a:lstStyle/>
          <a:p>
            <a:pPr eaLnBrk="1" hangingPunct="1"/>
            <a:r>
              <a:rPr lang="en-US" altLang="en-US" b="1" dirty="0">
                <a:effectLst>
                  <a:outerShdw blurRad="38100" dist="38100" dir="2700000" algn="tl">
                    <a:srgbClr val="000000">
                      <a:alpha val="43137"/>
                    </a:srgbClr>
                  </a:outerShdw>
                </a:effectLst>
              </a:rPr>
              <a:t>Product-Related Mistakes</a:t>
            </a:r>
          </a:p>
        </p:txBody>
      </p:sp>
      <p:sp>
        <p:nvSpPr>
          <p:cNvPr id="30724" name="Rectangle 3"/>
          <p:cNvSpPr>
            <a:spLocks noGrp="1" noChangeArrowheads="1"/>
          </p:cNvSpPr>
          <p:nvPr>
            <p:ph idx="1"/>
          </p:nvPr>
        </p:nvSpPr>
        <p:spPr/>
        <p:txBody>
          <a:bodyPr>
            <a:normAutofit/>
          </a:bodyPr>
          <a:lstStyle/>
          <a:p>
            <a:pPr eaLnBrk="1" hangingPunct="1"/>
            <a:r>
              <a:rPr lang="en-US" altLang="en-US" sz="1800" dirty="0">
                <a:solidFill>
                  <a:schemeClr val="tx1">
                    <a:lumMod val="95000"/>
                    <a:lumOff val="5000"/>
                  </a:schemeClr>
                </a:solidFill>
              </a:rPr>
              <a:t>Requirements gold-plating</a:t>
            </a:r>
          </a:p>
          <a:p>
            <a:pPr lvl="1" eaLnBrk="1" hangingPunct="1"/>
            <a:r>
              <a:rPr lang="en-US" altLang="en-US" sz="1800" dirty="0">
                <a:solidFill>
                  <a:schemeClr val="tx1">
                    <a:lumMod val="95000"/>
                    <a:lumOff val="5000"/>
                  </a:schemeClr>
                </a:solidFill>
              </a:rPr>
              <a:t>Gilding the lily</a:t>
            </a:r>
          </a:p>
          <a:p>
            <a:pPr eaLnBrk="1" hangingPunct="1"/>
            <a:r>
              <a:rPr lang="en-US" altLang="en-US" sz="1800" dirty="0">
                <a:solidFill>
                  <a:schemeClr val="tx1">
                    <a:lumMod val="95000"/>
                    <a:lumOff val="5000"/>
                  </a:schemeClr>
                </a:solidFill>
              </a:rPr>
              <a:t>Feature creep</a:t>
            </a:r>
          </a:p>
          <a:p>
            <a:pPr eaLnBrk="1" hangingPunct="1"/>
            <a:r>
              <a:rPr lang="en-US" altLang="en-US" sz="1800" dirty="0">
                <a:solidFill>
                  <a:schemeClr val="tx1">
                    <a:lumMod val="95000"/>
                    <a:lumOff val="5000"/>
                  </a:schemeClr>
                </a:solidFill>
              </a:rPr>
              <a:t>Developer gold-plating</a:t>
            </a:r>
          </a:p>
          <a:p>
            <a:pPr lvl="1" eaLnBrk="1" hangingPunct="1"/>
            <a:r>
              <a:rPr lang="en-US" altLang="en-US" sz="1800" dirty="0">
                <a:solidFill>
                  <a:schemeClr val="tx1">
                    <a:lumMod val="95000"/>
                    <a:lumOff val="5000"/>
                  </a:schemeClr>
                </a:solidFill>
              </a:rPr>
              <a:t>Beware the pet project</a:t>
            </a:r>
          </a:p>
          <a:p>
            <a:pPr eaLnBrk="1" hangingPunct="1"/>
            <a:r>
              <a:rPr lang="en-US" altLang="en-US" sz="1800" dirty="0">
                <a:solidFill>
                  <a:schemeClr val="tx1">
                    <a:lumMod val="95000"/>
                    <a:lumOff val="5000"/>
                  </a:schemeClr>
                </a:solidFill>
              </a:rPr>
              <a:t>Push-me, pull-me negotiation</a:t>
            </a:r>
          </a:p>
          <a:p>
            <a:pPr eaLnBrk="1" hangingPunct="1"/>
            <a:r>
              <a:rPr lang="en-US" altLang="en-US" sz="1800" dirty="0">
                <a:solidFill>
                  <a:schemeClr val="tx1">
                    <a:lumMod val="95000"/>
                    <a:lumOff val="5000"/>
                  </a:schemeClr>
                </a:solidFill>
              </a:rPr>
              <a:t>Research-oriented development</a:t>
            </a:r>
          </a:p>
        </p:txBody>
      </p:sp>
    </p:spTree>
    <p:extLst>
      <p:ext uri="{BB962C8B-B14F-4D97-AF65-F5344CB8AC3E}">
        <p14:creationId xmlns:p14="http://schemas.microsoft.com/office/powerpoint/2010/main" val="35698064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58FB3-6350-9024-7407-EB97DB854659}"/>
              </a:ext>
            </a:extLst>
          </p:cNvPr>
          <p:cNvSpPr>
            <a:spLocks noGrp="1"/>
          </p:cNvSpPr>
          <p:nvPr>
            <p:ph type="title"/>
          </p:nvPr>
        </p:nvSpPr>
        <p:spPr/>
        <p:txBody>
          <a:bodyPr/>
          <a:lstStyle/>
          <a:p>
            <a:r>
              <a:rPr lang="en-US" dirty="0"/>
              <a:t>Identify Product Related Mistakes</a:t>
            </a:r>
            <a:endParaRPr lang="en-PK" dirty="0"/>
          </a:p>
        </p:txBody>
      </p:sp>
      <p:sp>
        <p:nvSpPr>
          <p:cNvPr id="3" name="Content Placeholder 2">
            <a:extLst>
              <a:ext uri="{FF2B5EF4-FFF2-40B4-BE49-F238E27FC236}">
                <a16:creationId xmlns:a16="http://schemas.microsoft.com/office/drawing/2014/main" id="{DD8B9DB2-475F-FE7C-A0DD-9466767E675E}"/>
              </a:ext>
            </a:extLst>
          </p:cNvPr>
          <p:cNvSpPr>
            <a:spLocks noGrp="1"/>
          </p:cNvSpPr>
          <p:nvPr>
            <p:ph idx="1"/>
          </p:nvPr>
        </p:nvSpPr>
        <p:spPr/>
        <p:txBody>
          <a:bodyPr/>
          <a:lstStyle/>
          <a:p>
            <a:pPr algn="just"/>
            <a:r>
              <a:rPr lang="en-PK" dirty="0"/>
              <a:t>“The customer asked for a simple attendance system. The developer added facial recognition because he thought it was cool. Then the department requested SMS alerts, the project manager wanted an AI dashboard, and another developer decided to experiment with a new AI algorithm. The team spent two months arguing about what should be included.”</a:t>
            </a:r>
          </a:p>
        </p:txBody>
      </p:sp>
    </p:spTree>
    <p:extLst>
      <p:ext uri="{BB962C8B-B14F-4D97-AF65-F5344CB8AC3E}">
        <p14:creationId xmlns:p14="http://schemas.microsoft.com/office/powerpoint/2010/main" val="41636722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p:cNvSpPr>
            <a:spLocks noGrp="1" noChangeArrowheads="1"/>
          </p:cNvSpPr>
          <p:nvPr>
            <p:ph type="title"/>
          </p:nvPr>
        </p:nvSpPr>
        <p:spPr/>
        <p:txBody>
          <a:bodyPr/>
          <a:lstStyle/>
          <a:p>
            <a:pPr eaLnBrk="1" hangingPunct="1"/>
            <a:r>
              <a:rPr lang="en-US" altLang="en-US" b="1" dirty="0">
                <a:effectLst>
                  <a:outerShdw blurRad="38100" dist="38100" dir="2700000" algn="tl">
                    <a:srgbClr val="000000">
                      <a:alpha val="43137"/>
                    </a:srgbClr>
                  </a:outerShdw>
                </a:effectLst>
              </a:rPr>
              <a:t>Technology-Related Mistakes</a:t>
            </a:r>
          </a:p>
        </p:txBody>
      </p:sp>
      <p:sp>
        <p:nvSpPr>
          <p:cNvPr id="32772" name="Rectangle 3"/>
          <p:cNvSpPr>
            <a:spLocks noGrp="1" noChangeArrowheads="1"/>
          </p:cNvSpPr>
          <p:nvPr>
            <p:ph idx="1"/>
          </p:nvPr>
        </p:nvSpPr>
        <p:spPr/>
        <p:txBody>
          <a:bodyPr>
            <a:normAutofit/>
          </a:bodyPr>
          <a:lstStyle/>
          <a:p>
            <a:pPr eaLnBrk="1" hangingPunct="1"/>
            <a:r>
              <a:rPr lang="en-US" altLang="en-US" sz="1800" dirty="0">
                <a:solidFill>
                  <a:schemeClr val="tx1">
                    <a:lumMod val="95000"/>
                    <a:lumOff val="5000"/>
                  </a:schemeClr>
                </a:solidFill>
              </a:rPr>
              <a:t>Silver-bullet syndrome</a:t>
            </a:r>
          </a:p>
          <a:p>
            <a:pPr eaLnBrk="1" hangingPunct="1"/>
            <a:r>
              <a:rPr lang="en-US" altLang="en-US" sz="1800" dirty="0">
                <a:solidFill>
                  <a:schemeClr val="tx1">
                    <a:lumMod val="95000"/>
                    <a:lumOff val="5000"/>
                  </a:schemeClr>
                </a:solidFill>
              </a:rPr>
              <a:t>Overestimated savings from new tools and methods</a:t>
            </a:r>
          </a:p>
          <a:p>
            <a:pPr lvl="1" eaLnBrk="1" hangingPunct="1"/>
            <a:r>
              <a:rPr lang="en-US" altLang="en-US" sz="1800" dirty="0">
                <a:solidFill>
                  <a:schemeClr val="tx1">
                    <a:lumMod val="95000"/>
                    <a:lumOff val="5000"/>
                  </a:schemeClr>
                </a:solidFill>
              </a:rPr>
              <a:t>Fad warning</a:t>
            </a:r>
          </a:p>
          <a:p>
            <a:pPr eaLnBrk="1" hangingPunct="1"/>
            <a:r>
              <a:rPr lang="en-US" altLang="en-US" sz="1800" dirty="0">
                <a:solidFill>
                  <a:schemeClr val="tx1">
                    <a:lumMod val="95000"/>
                    <a:lumOff val="5000"/>
                  </a:schemeClr>
                </a:solidFill>
              </a:rPr>
              <a:t>Switching tools in mid-project</a:t>
            </a:r>
          </a:p>
          <a:p>
            <a:pPr eaLnBrk="1" hangingPunct="1"/>
            <a:r>
              <a:rPr lang="en-US" altLang="en-US" sz="1800" dirty="0">
                <a:solidFill>
                  <a:schemeClr val="tx1">
                    <a:lumMod val="95000"/>
                    <a:lumOff val="5000"/>
                  </a:schemeClr>
                </a:solidFill>
              </a:rPr>
              <a:t>Lack of automated source-code control</a:t>
            </a:r>
          </a:p>
        </p:txBody>
      </p:sp>
    </p:spTree>
    <p:extLst>
      <p:ext uri="{BB962C8B-B14F-4D97-AF65-F5344CB8AC3E}">
        <p14:creationId xmlns:p14="http://schemas.microsoft.com/office/powerpoint/2010/main" val="12222706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3689EC-24D2-4833-86AD-03A57A58AED5}"/>
              </a:ext>
            </a:extLst>
          </p:cNvPr>
          <p:cNvSpPr>
            <a:spLocks noGrp="1"/>
          </p:cNvSpPr>
          <p:nvPr>
            <p:ph type="title"/>
          </p:nvPr>
        </p:nvSpPr>
        <p:spPr/>
        <p:txBody>
          <a:bodyPr/>
          <a:lstStyle/>
          <a:p>
            <a:r>
              <a:rPr lang="en-US" sz="4800" b="1" kern="0" cap="all" dirty="0">
                <a:solidFill>
                  <a:srgbClr val="4D7473"/>
                </a:solidFill>
                <a:latin typeface="+mj-lt"/>
                <a:ea typeface="+mj-ea"/>
                <a:cs typeface="+mj-cs"/>
              </a:rPr>
              <a:t>Project vs operations</a:t>
            </a:r>
            <a:endParaRPr lang="en-PK" dirty="0"/>
          </a:p>
        </p:txBody>
      </p:sp>
      <p:sp>
        <p:nvSpPr>
          <p:cNvPr id="5" name="Text Placeholder 4">
            <a:extLst>
              <a:ext uri="{FF2B5EF4-FFF2-40B4-BE49-F238E27FC236}">
                <a16:creationId xmlns:a16="http://schemas.microsoft.com/office/drawing/2014/main" id="{FF2BB6A2-935A-45AC-B6AF-87395FC5A34A}"/>
              </a:ext>
            </a:extLst>
          </p:cNvPr>
          <p:cNvSpPr>
            <a:spLocks noGrp="1"/>
          </p:cNvSpPr>
          <p:nvPr>
            <p:ph type="body" idx="1"/>
          </p:nvPr>
        </p:nvSpPr>
        <p:spPr/>
        <p:txBody>
          <a:bodyPr/>
          <a:lstStyle/>
          <a:p>
            <a:endParaRPr lang="en-PK"/>
          </a:p>
        </p:txBody>
      </p:sp>
      <p:sp>
        <p:nvSpPr>
          <p:cNvPr id="7" name="Title 1"/>
          <p:cNvSpPr txBox="1">
            <a:spLocks/>
          </p:cNvSpPr>
          <p:nvPr/>
        </p:nvSpPr>
        <p:spPr bwMode="auto">
          <a:xfrm>
            <a:off x="228600" y="2133600"/>
            <a:ext cx="8686800" cy="1143000"/>
          </a:xfrm>
          <a:prstGeom prst="rect">
            <a:avLst/>
          </a:prstGeom>
          <a:noFill/>
          <a:ln w="9525">
            <a:noFill/>
            <a:miter lim="800000"/>
            <a:headEnd/>
            <a:tailEnd/>
          </a:ln>
        </p:spPr>
        <p:txBody>
          <a:bodyPr/>
          <a:lstStyle/>
          <a:p>
            <a:pPr algn="ctr" eaLnBrk="1" fontAlgn="auto" hangingPunct="1">
              <a:spcBef>
                <a:spcPts val="0"/>
              </a:spcBef>
              <a:spcAft>
                <a:spcPts val="0"/>
              </a:spcAft>
              <a:defRPr/>
            </a:pPr>
            <a:endParaRPr lang="en-US" sz="3600" b="1" kern="0" cap="all" dirty="0">
              <a:solidFill>
                <a:srgbClr val="4D7473"/>
              </a:solidFill>
              <a:latin typeface="+mj-lt"/>
              <a:ea typeface="+mj-ea"/>
              <a:cs typeface="+mj-cs"/>
            </a:endParaRPr>
          </a:p>
        </p:txBody>
      </p:sp>
    </p:spTree>
    <p:extLst>
      <p:ext uri="{BB962C8B-B14F-4D97-AF65-F5344CB8AC3E}">
        <p14:creationId xmlns:p14="http://schemas.microsoft.com/office/powerpoint/2010/main" val="1312072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F895DE1-58D0-41C9-B8DE-8F0AF43EC88D}"/>
              </a:ext>
            </a:extLst>
          </p:cNvPr>
          <p:cNvSpPr>
            <a:spLocks noGrp="1"/>
          </p:cNvSpPr>
          <p:nvPr>
            <p:ph type="title"/>
          </p:nvPr>
        </p:nvSpPr>
        <p:spPr/>
        <p:txBody>
          <a:bodyPr/>
          <a:lstStyle/>
          <a:p>
            <a:endParaRPr lang="en-PK"/>
          </a:p>
        </p:txBody>
      </p:sp>
      <p:sp>
        <p:nvSpPr>
          <p:cNvPr id="5" name="Content Placeholder 4">
            <a:extLst>
              <a:ext uri="{FF2B5EF4-FFF2-40B4-BE49-F238E27FC236}">
                <a16:creationId xmlns:a16="http://schemas.microsoft.com/office/drawing/2014/main" id="{DBBA8D43-A020-46C8-8BA6-E1ABC8538DFF}"/>
              </a:ext>
            </a:extLst>
          </p:cNvPr>
          <p:cNvSpPr>
            <a:spLocks noGrp="1"/>
          </p:cNvSpPr>
          <p:nvPr>
            <p:ph idx="1"/>
          </p:nvPr>
        </p:nvSpPr>
        <p:spPr/>
        <p:txBody>
          <a:bodyPr/>
          <a:lstStyle/>
          <a:p>
            <a:endParaRPr lang="en-PK"/>
          </a:p>
        </p:txBody>
      </p:sp>
      <p:pic>
        <p:nvPicPr>
          <p:cNvPr id="3074" name="Picture 2">
            <a:extLst>
              <a:ext uri="{FF2B5EF4-FFF2-40B4-BE49-F238E27FC236}">
                <a16:creationId xmlns:a16="http://schemas.microsoft.com/office/drawing/2014/main" id="{561CB4EC-DB53-4808-AC8B-EE595C49C2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14400"/>
            <a:ext cx="9144000" cy="518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63734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p:txBody>
          <a:bodyPr/>
          <a:lstStyle/>
          <a:p>
            <a:r>
              <a:rPr lang="en-US" altLang="en-US" dirty="0">
                <a:ln>
                  <a:noFill/>
                </a:ln>
              </a:rPr>
              <a:t> Projects vs Operations</a:t>
            </a:r>
          </a:p>
        </p:txBody>
      </p:sp>
      <p:sp>
        <p:nvSpPr>
          <p:cNvPr id="35843" name="Content Placeholder 2"/>
          <p:cNvSpPr>
            <a:spLocks noGrp="1"/>
          </p:cNvSpPr>
          <p:nvPr>
            <p:ph idx="1"/>
          </p:nvPr>
        </p:nvSpPr>
        <p:spPr>
          <a:xfrm>
            <a:off x="982133" y="2209800"/>
            <a:ext cx="7704667" cy="4094816"/>
          </a:xfrm>
        </p:spPr>
        <p:txBody>
          <a:bodyPr rtlCol="0">
            <a:noAutofit/>
          </a:bodyPr>
          <a:lstStyle/>
          <a:p>
            <a:pPr fontAlgn="auto">
              <a:buFont typeface="Wingdings" panose="05000000000000000000" pitchFamily="2" charset="2"/>
              <a:buNone/>
              <a:defRPr/>
            </a:pPr>
            <a:r>
              <a:rPr lang="en-US" altLang="en-US" sz="1800" dirty="0">
                <a:solidFill>
                  <a:schemeClr val="tx1">
                    <a:lumMod val="85000"/>
                    <a:lumOff val="15000"/>
                  </a:schemeClr>
                </a:solidFill>
              </a:rPr>
              <a:t>Organizations perform </a:t>
            </a:r>
            <a:r>
              <a:rPr lang="en-US" altLang="en-US" sz="1800" dirty="0">
                <a:solidFill>
                  <a:srgbClr val="00B050"/>
                </a:solidFill>
              </a:rPr>
              <a:t>work</a:t>
            </a:r>
            <a:r>
              <a:rPr lang="en-US" altLang="en-US" sz="1800" dirty="0">
                <a:solidFill>
                  <a:schemeClr val="tx1">
                    <a:lumMod val="85000"/>
                    <a:lumOff val="15000"/>
                  </a:schemeClr>
                </a:solidFill>
              </a:rPr>
              <a:t> to achieve a set of </a:t>
            </a:r>
            <a:r>
              <a:rPr lang="en-US" altLang="en-US" sz="1800" dirty="0">
                <a:solidFill>
                  <a:srgbClr val="00B050"/>
                </a:solidFill>
              </a:rPr>
              <a:t>objectives</a:t>
            </a:r>
            <a:r>
              <a:rPr lang="en-US" altLang="en-US" sz="1800" dirty="0">
                <a:solidFill>
                  <a:schemeClr val="tx1">
                    <a:lumMod val="85000"/>
                    <a:lumOff val="15000"/>
                  </a:schemeClr>
                </a:solidFill>
              </a:rPr>
              <a:t>. </a:t>
            </a:r>
          </a:p>
          <a:p>
            <a:pPr fontAlgn="auto">
              <a:buFont typeface="Wingdings" panose="05000000000000000000" pitchFamily="2" charset="2"/>
              <a:buNone/>
              <a:defRPr/>
            </a:pPr>
            <a:r>
              <a:rPr lang="en-US" altLang="en-US" sz="1800" dirty="0">
                <a:solidFill>
                  <a:srgbClr val="C00000"/>
                </a:solidFill>
              </a:rPr>
              <a:t>Categories of Organizational Work:</a:t>
            </a:r>
            <a:r>
              <a:rPr lang="en-US" altLang="en-US" sz="1800" dirty="0">
                <a:solidFill>
                  <a:schemeClr val="tx1">
                    <a:lumMod val="85000"/>
                    <a:lumOff val="15000"/>
                  </a:schemeClr>
                </a:solidFill>
              </a:rPr>
              <a:t> </a:t>
            </a:r>
          </a:p>
          <a:p>
            <a:pPr fontAlgn="auto">
              <a:buFont typeface="Wingdings" panose="05000000000000000000" pitchFamily="2" charset="2"/>
              <a:buChar char="v"/>
              <a:defRPr/>
            </a:pPr>
            <a:r>
              <a:rPr lang="en-US" altLang="en-US" sz="1800" dirty="0">
                <a:solidFill>
                  <a:srgbClr val="00B050"/>
                </a:solidFill>
              </a:rPr>
              <a:t>PROJECT</a:t>
            </a:r>
            <a:r>
              <a:rPr lang="en-US" altLang="en-US" sz="1800" dirty="0">
                <a:solidFill>
                  <a:schemeClr val="tx1">
                    <a:lumMod val="85000"/>
                    <a:lumOff val="15000"/>
                  </a:schemeClr>
                </a:solidFill>
              </a:rPr>
              <a:t> work</a:t>
            </a:r>
          </a:p>
          <a:p>
            <a:pPr fontAlgn="auto">
              <a:buFont typeface="Wingdings" panose="05000000000000000000" pitchFamily="2" charset="2"/>
              <a:buChar char="v"/>
              <a:defRPr/>
            </a:pPr>
            <a:r>
              <a:rPr lang="en-US" altLang="en-US" sz="1800" dirty="0">
                <a:solidFill>
                  <a:srgbClr val="00B050"/>
                </a:solidFill>
              </a:rPr>
              <a:t>OPERATIONS </a:t>
            </a:r>
            <a:r>
              <a:rPr lang="en-US" altLang="en-US" sz="1800" dirty="0">
                <a:solidFill>
                  <a:schemeClr val="tx1">
                    <a:lumMod val="85000"/>
                    <a:lumOff val="15000"/>
                  </a:schemeClr>
                </a:solidFill>
              </a:rPr>
              <a:t>work.</a:t>
            </a:r>
          </a:p>
          <a:p>
            <a:pPr fontAlgn="auto">
              <a:buFont typeface="Wingdings" panose="05000000000000000000" pitchFamily="2" charset="2"/>
              <a:buNone/>
              <a:defRPr/>
            </a:pPr>
            <a:endParaRPr lang="en-US" altLang="en-US" sz="1800" dirty="0">
              <a:solidFill>
                <a:schemeClr val="tx1">
                  <a:lumMod val="85000"/>
                  <a:lumOff val="15000"/>
                </a:schemeClr>
              </a:solidFill>
            </a:endParaRPr>
          </a:p>
          <a:p>
            <a:pPr fontAlgn="auto">
              <a:buFont typeface="Wingdings" panose="05000000000000000000" pitchFamily="2" charset="2"/>
              <a:buNone/>
              <a:defRPr/>
            </a:pPr>
            <a:r>
              <a:rPr lang="en-US" altLang="en-US" sz="1800" dirty="0">
                <a:solidFill>
                  <a:srgbClr val="C00000"/>
                </a:solidFill>
              </a:rPr>
              <a:t>Shared Characteristics of Project and Operations Work:</a:t>
            </a:r>
          </a:p>
          <a:p>
            <a:pPr lvl="1" fontAlgn="auto">
              <a:buFont typeface="Arial"/>
              <a:buChar char="•"/>
              <a:defRPr/>
            </a:pPr>
            <a:r>
              <a:rPr lang="en-US" altLang="en-US" sz="1800" dirty="0">
                <a:solidFill>
                  <a:srgbClr val="FF0000"/>
                </a:solidFill>
              </a:rPr>
              <a:t>Performed by individuals</a:t>
            </a:r>
            <a:r>
              <a:rPr lang="en-US" altLang="en-US" sz="1800" dirty="0">
                <a:solidFill>
                  <a:schemeClr val="tx1">
                    <a:lumMod val="85000"/>
                    <a:lumOff val="15000"/>
                  </a:schemeClr>
                </a:solidFill>
              </a:rPr>
              <a:t>,</a:t>
            </a:r>
          </a:p>
          <a:p>
            <a:pPr lvl="1" fontAlgn="auto">
              <a:buFont typeface="Arial"/>
              <a:buChar char="•"/>
              <a:defRPr/>
            </a:pPr>
            <a:r>
              <a:rPr lang="en-US" altLang="en-US" sz="1800" dirty="0">
                <a:solidFill>
                  <a:srgbClr val="00B050"/>
                </a:solidFill>
              </a:rPr>
              <a:t>LIMITED BY CONSTRAINTS</a:t>
            </a:r>
            <a:r>
              <a:rPr lang="en-US" altLang="en-US" sz="1800" dirty="0">
                <a:solidFill>
                  <a:schemeClr val="tx1">
                    <a:lumMod val="85000"/>
                    <a:lumOff val="15000"/>
                  </a:schemeClr>
                </a:solidFill>
              </a:rPr>
              <a:t>, including resource constraints,</a:t>
            </a:r>
          </a:p>
          <a:p>
            <a:pPr lvl="1" fontAlgn="auto">
              <a:buFont typeface="Arial"/>
              <a:buChar char="•"/>
              <a:defRPr/>
            </a:pPr>
            <a:r>
              <a:rPr lang="en-US" altLang="en-US" sz="1800" dirty="0">
                <a:solidFill>
                  <a:schemeClr val="tx1">
                    <a:lumMod val="85000"/>
                    <a:lumOff val="15000"/>
                  </a:schemeClr>
                </a:solidFill>
              </a:rPr>
              <a:t>Planned, executed, monitored and controlled [</a:t>
            </a:r>
            <a:r>
              <a:rPr lang="en-US" altLang="en-US" sz="1800" dirty="0">
                <a:solidFill>
                  <a:srgbClr val="00B050"/>
                </a:solidFill>
              </a:rPr>
              <a:t>MANAGED</a:t>
            </a:r>
            <a:r>
              <a:rPr lang="en-US" altLang="en-US" sz="1800" dirty="0">
                <a:solidFill>
                  <a:schemeClr val="tx1">
                    <a:lumMod val="85000"/>
                    <a:lumOff val="15000"/>
                  </a:schemeClr>
                </a:solidFill>
              </a:rPr>
              <a:t>], and</a:t>
            </a:r>
          </a:p>
          <a:p>
            <a:pPr lvl="1" fontAlgn="auto">
              <a:buFont typeface="Arial"/>
              <a:buChar char="•"/>
              <a:defRPr/>
            </a:pPr>
            <a:r>
              <a:rPr lang="en-US" altLang="en-US" sz="1800" dirty="0">
                <a:solidFill>
                  <a:schemeClr val="tx1">
                    <a:lumMod val="85000"/>
                    <a:lumOff val="15000"/>
                  </a:schemeClr>
                </a:solidFill>
              </a:rPr>
              <a:t>Performed to achieve organizational </a:t>
            </a:r>
            <a:r>
              <a:rPr lang="en-US" altLang="en-US" sz="1800" dirty="0">
                <a:solidFill>
                  <a:srgbClr val="FF0000"/>
                </a:solidFill>
              </a:rPr>
              <a:t>objectives</a:t>
            </a:r>
            <a:r>
              <a:rPr lang="en-US" altLang="en-US" sz="1800" dirty="0">
                <a:solidFill>
                  <a:schemeClr val="tx1">
                    <a:lumMod val="85000"/>
                    <a:lumOff val="15000"/>
                  </a:schemeClr>
                </a:solidFill>
              </a:rPr>
              <a:t> or strategic plans.</a:t>
            </a:r>
          </a:p>
          <a:p>
            <a:pPr fontAlgn="auto">
              <a:buFont typeface="Wingdings" panose="05000000000000000000" pitchFamily="2" charset="2"/>
              <a:buNone/>
              <a:defRPr/>
            </a:pPr>
            <a:endParaRPr lang="en-US" altLang="en-US" sz="1800" dirty="0">
              <a:solidFill>
                <a:schemeClr val="tx1">
                  <a:lumMod val="85000"/>
                  <a:lumOff val="15000"/>
                </a:schemeClr>
              </a:solidFill>
            </a:endParaRPr>
          </a:p>
        </p:txBody>
      </p:sp>
    </p:spTree>
    <p:extLst>
      <p:ext uri="{BB962C8B-B14F-4D97-AF65-F5344CB8AC3E}">
        <p14:creationId xmlns:p14="http://schemas.microsoft.com/office/powerpoint/2010/main" val="30543061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EE945-C9B9-400F-A2A7-879C8884F9C3}"/>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78664D74-B720-4F42-A266-CBD90F2AF3B0}"/>
              </a:ext>
            </a:extLst>
          </p:cNvPr>
          <p:cNvSpPr>
            <a:spLocks noGrp="1"/>
          </p:cNvSpPr>
          <p:nvPr>
            <p:ph idx="1"/>
          </p:nvPr>
        </p:nvSpPr>
        <p:spPr/>
        <p:txBody>
          <a:bodyPr/>
          <a:lstStyle/>
          <a:p>
            <a:endParaRPr lang="en-PK"/>
          </a:p>
        </p:txBody>
      </p:sp>
      <p:pic>
        <p:nvPicPr>
          <p:cNvPr id="5" name="Picture 4">
            <a:extLst>
              <a:ext uri="{FF2B5EF4-FFF2-40B4-BE49-F238E27FC236}">
                <a16:creationId xmlns:a16="http://schemas.microsoft.com/office/drawing/2014/main" id="{27A02FC3-40FE-4992-9E47-37A9844019B5}"/>
              </a:ext>
            </a:extLst>
          </p:cNvPr>
          <p:cNvPicPr>
            <a:picLocks noChangeAspect="1"/>
          </p:cNvPicPr>
          <p:nvPr/>
        </p:nvPicPr>
        <p:blipFill>
          <a:blip r:embed="rId2"/>
          <a:stretch>
            <a:fillRect/>
          </a:stretch>
        </p:blipFill>
        <p:spPr>
          <a:xfrm>
            <a:off x="426858" y="1027907"/>
            <a:ext cx="8088492" cy="4351338"/>
          </a:xfrm>
          <a:prstGeom prst="rect">
            <a:avLst/>
          </a:prstGeom>
        </p:spPr>
      </p:pic>
    </p:spTree>
    <p:extLst>
      <p:ext uri="{BB962C8B-B14F-4D97-AF65-F5344CB8AC3E}">
        <p14:creationId xmlns:p14="http://schemas.microsoft.com/office/powerpoint/2010/main" val="23314225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2510A-4E78-433F-8869-E7139D2B13B1}"/>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B3E7C0DF-6E6E-4FBB-B6B3-F25A2D557BF2}"/>
              </a:ext>
            </a:extLst>
          </p:cNvPr>
          <p:cNvSpPr>
            <a:spLocks noGrp="1"/>
          </p:cNvSpPr>
          <p:nvPr>
            <p:ph idx="1"/>
          </p:nvPr>
        </p:nvSpPr>
        <p:spPr/>
        <p:txBody>
          <a:bodyPr/>
          <a:lstStyle/>
          <a:p>
            <a:endParaRPr lang="en-PK"/>
          </a:p>
        </p:txBody>
      </p:sp>
      <p:pic>
        <p:nvPicPr>
          <p:cNvPr id="5" name="Picture 4">
            <a:extLst>
              <a:ext uri="{FF2B5EF4-FFF2-40B4-BE49-F238E27FC236}">
                <a16:creationId xmlns:a16="http://schemas.microsoft.com/office/drawing/2014/main" id="{0296A662-EF80-47C6-8F51-39924532F1AC}"/>
              </a:ext>
            </a:extLst>
          </p:cNvPr>
          <p:cNvPicPr>
            <a:picLocks noChangeAspect="1"/>
          </p:cNvPicPr>
          <p:nvPr/>
        </p:nvPicPr>
        <p:blipFill>
          <a:blip r:embed="rId2">
            <a:alphaModFix/>
            <a:extLst>
              <a:ext uri="{BEBA8EAE-BF5A-486C-A8C5-ECC9F3942E4B}">
                <a14:imgProps xmlns:a14="http://schemas.microsoft.com/office/drawing/2010/main">
                  <a14:imgLayer r:embed="rId3">
                    <a14:imgEffect>
                      <a14:sharpenSoften amount="50000"/>
                    </a14:imgEffect>
                    <a14:imgEffect>
                      <a14:saturation sat="66000"/>
                    </a14:imgEffect>
                  </a14:imgLayer>
                </a14:imgProps>
              </a:ext>
            </a:extLst>
          </a:blip>
          <a:stretch>
            <a:fillRect/>
          </a:stretch>
        </p:blipFill>
        <p:spPr>
          <a:xfrm>
            <a:off x="628650" y="902395"/>
            <a:ext cx="7734300" cy="5053209"/>
          </a:xfrm>
          <a:prstGeom prst="rect">
            <a:avLst/>
          </a:prstGeom>
        </p:spPr>
      </p:pic>
    </p:spTree>
    <p:extLst>
      <p:ext uri="{BB962C8B-B14F-4D97-AF65-F5344CB8AC3E}">
        <p14:creationId xmlns:p14="http://schemas.microsoft.com/office/powerpoint/2010/main" val="41975706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7106" name="Title 1"/>
          <p:cNvSpPr>
            <a:spLocks noGrp="1"/>
          </p:cNvSpPr>
          <p:nvPr>
            <p:ph type="title"/>
          </p:nvPr>
        </p:nvSpPr>
        <p:spPr/>
        <p:txBody>
          <a:bodyPr/>
          <a:lstStyle/>
          <a:p>
            <a:r>
              <a:rPr lang="en-US" altLang="en-US">
                <a:ln>
                  <a:noFill/>
                </a:ln>
              </a:rPr>
              <a:t> Projects vs Operational Work</a:t>
            </a:r>
            <a:endParaRPr lang="en-US" altLang="en-US" dirty="0">
              <a:ln>
                <a:noFill/>
              </a:ln>
            </a:endParaRPr>
          </a:p>
        </p:txBody>
      </p:sp>
      <p:sp>
        <p:nvSpPr>
          <p:cNvPr id="36867" name="Content Placeholder 2"/>
          <p:cNvSpPr>
            <a:spLocks noGrp="1"/>
          </p:cNvSpPr>
          <p:nvPr>
            <p:ph idx="1"/>
          </p:nvPr>
        </p:nvSpPr>
        <p:spPr/>
        <p:txBody>
          <a:bodyPr rtlCol="0">
            <a:noAutofit/>
          </a:bodyPr>
          <a:lstStyle/>
          <a:p>
            <a:pPr fontAlgn="auto">
              <a:buFont typeface="Wingdings" panose="05000000000000000000" pitchFamily="2" charset="2"/>
              <a:buNone/>
              <a:defRPr/>
            </a:pPr>
            <a:r>
              <a:rPr lang="en-US" altLang="en-US" sz="1800">
                <a:solidFill>
                  <a:srgbClr val="C00000"/>
                </a:solidFill>
              </a:rPr>
              <a:t>Differences between Project and Operations Work:</a:t>
            </a:r>
            <a:endParaRPr lang="en-US" altLang="en-US" sz="1800">
              <a:solidFill>
                <a:schemeClr val="tx1">
                  <a:lumMod val="85000"/>
                  <a:lumOff val="15000"/>
                </a:schemeClr>
              </a:solidFill>
            </a:endParaRPr>
          </a:p>
          <a:p>
            <a:pPr fontAlgn="auto">
              <a:buFont typeface="Wingdings" panose="05000000000000000000" pitchFamily="2" charset="2"/>
              <a:buNone/>
              <a:defRPr/>
            </a:pPr>
            <a:r>
              <a:rPr lang="en-US" altLang="en-US" sz="1800">
                <a:solidFill>
                  <a:schemeClr val="tx1">
                    <a:lumMod val="85000"/>
                    <a:lumOff val="15000"/>
                  </a:schemeClr>
                </a:solidFill>
              </a:rPr>
              <a:t>Primary Difference: </a:t>
            </a:r>
          </a:p>
          <a:p>
            <a:pPr fontAlgn="auto">
              <a:buFont typeface="Wingdings" panose="05000000000000000000" pitchFamily="2" charset="2"/>
              <a:buChar char="v"/>
              <a:defRPr/>
            </a:pPr>
            <a:r>
              <a:rPr lang="en-US" altLang="en-US" sz="1800">
                <a:solidFill>
                  <a:schemeClr val="tx1">
                    <a:lumMod val="85000"/>
                    <a:lumOff val="15000"/>
                  </a:schemeClr>
                </a:solidFill>
              </a:rPr>
              <a:t>Operations are </a:t>
            </a:r>
            <a:r>
              <a:rPr lang="en-US" altLang="en-US" sz="1800" u="sng">
                <a:solidFill>
                  <a:srgbClr val="00B050"/>
                </a:solidFill>
              </a:rPr>
              <a:t>ongoing</a:t>
            </a:r>
            <a:r>
              <a:rPr lang="en-US" altLang="en-US" sz="1800">
                <a:solidFill>
                  <a:srgbClr val="00B050"/>
                </a:solidFill>
              </a:rPr>
              <a:t> </a:t>
            </a:r>
            <a:r>
              <a:rPr lang="en-US" altLang="en-US" sz="1800">
                <a:solidFill>
                  <a:schemeClr val="tx1">
                    <a:lumMod val="85000"/>
                    <a:lumOff val="15000"/>
                  </a:schemeClr>
                </a:solidFill>
              </a:rPr>
              <a:t>and produce </a:t>
            </a:r>
            <a:r>
              <a:rPr lang="en-US" altLang="en-US" sz="1800" u="sng">
                <a:solidFill>
                  <a:srgbClr val="00B050"/>
                </a:solidFill>
              </a:rPr>
              <a:t>repetitive</a:t>
            </a:r>
            <a:r>
              <a:rPr lang="en-US" altLang="en-US" sz="1800">
                <a:solidFill>
                  <a:schemeClr val="tx1">
                    <a:lumMod val="85000"/>
                    <a:lumOff val="15000"/>
                  </a:schemeClr>
                </a:solidFill>
              </a:rPr>
              <a:t> products, services, or results. </a:t>
            </a:r>
          </a:p>
          <a:p>
            <a:pPr fontAlgn="auto">
              <a:buFont typeface="Wingdings" panose="05000000000000000000" pitchFamily="2" charset="2"/>
              <a:buChar char="v"/>
              <a:defRPr/>
            </a:pPr>
            <a:r>
              <a:rPr lang="en-US" altLang="en-US" sz="1800">
                <a:solidFill>
                  <a:schemeClr val="tx1">
                    <a:lumMod val="85000"/>
                    <a:lumOff val="15000"/>
                  </a:schemeClr>
                </a:solidFill>
              </a:rPr>
              <a:t>Projects (along with team members and often the opportunity) are </a:t>
            </a:r>
            <a:r>
              <a:rPr lang="en-US" altLang="en-US" sz="1800" u="sng">
                <a:solidFill>
                  <a:srgbClr val="00B050"/>
                </a:solidFill>
              </a:rPr>
              <a:t>temporary</a:t>
            </a:r>
            <a:r>
              <a:rPr lang="en-US" altLang="en-US" sz="1800">
                <a:solidFill>
                  <a:schemeClr val="tx1">
                    <a:lumMod val="85000"/>
                    <a:lumOff val="15000"/>
                  </a:schemeClr>
                </a:solidFill>
              </a:rPr>
              <a:t> and </a:t>
            </a:r>
            <a:r>
              <a:rPr lang="en-US" altLang="en-US" sz="1800" u="sng">
                <a:solidFill>
                  <a:srgbClr val="00B050"/>
                </a:solidFill>
              </a:rPr>
              <a:t>end</a:t>
            </a:r>
            <a:r>
              <a:rPr lang="en-US" altLang="en-US" sz="1800">
                <a:solidFill>
                  <a:schemeClr val="tx1">
                    <a:lumMod val="85000"/>
                    <a:lumOff val="15000"/>
                  </a:schemeClr>
                </a:solidFill>
              </a:rPr>
              <a:t>. </a:t>
            </a:r>
          </a:p>
          <a:p>
            <a:pPr fontAlgn="auto">
              <a:buFont typeface="Wingdings" panose="05000000000000000000" pitchFamily="2" charset="2"/>
              <a:buNone/>
              <a:defRPr/>
            </a:pPr>
            <a:endParaRPr lang="en-US" altLang="en-US" sz="1800">
              <a:solidFill>
                <a:schemeClr val="tx1">
                  <a:lumMod val="85000"/>
                  <a:lumOff val="15000"/>
                </a:schemeClr>
              </a:solidFill>
            </a:endParaRPr>
          </a:p>
          <a:p>
            <a:pPr fontAlgn="auto">
              <a:buFont typeface="Wingdings" panose="05000000000000000000" pitchFamily="2" charset="2"/>
              <a:buChar char="ü"/>
              <a:defRPr/>
            </a:pPr>
            <a:r>
              <a:rPr lang="en-US" altLang="en-US" sz="1800">
                <a:solidFill>
                  <a:schemeClr val="tx1">
                    <a:lumMod val="85000"/>
                    <a:lumOff val="15000"/>
                  </a:schemeClr>
                </a:solidFill>
              </a:rPr>
              <a:t>Operations work is ongoing and </a:t>
            </a:r>
            <a:r>
              <a:rPr lang="en-US" altLang="en-US" sz="1800">
                <a:solidFill>
                  <a:srgbClr val="00B050"/>
                </a:solidFill>
              </a:rPr>
              <a:t>sustains the organization over time</a:t>
            </a:r>
            <a:r>
              <a:rPr lang="en-US" altLang="en-US" sz="1800">
                <a:solidFill>
                  <a:schemeClr val="tx1">
                    <a:lumMod val="85000"/>
                    <a:lumOff val="15000"/>
                  </a:schemeClr>
                </a:solidFill>
              </a:rPr>
              <a:t>.</a:t>
            </a:r>
          </a:p>
          <a:p>
            <a:pPr fontAlgn="auto">
              <a:buFont typeface="Wingdings" panose="05000000000000000000" pitchFamily="2" charset="2"/>
              <a:buChar char="ü"/>
              <a:defRPr/>
            </a:pPr>
            <a:endParaRPr lang="en-US" altLang="en-US" sz="1800">
              <a:solidFill>
                <a:schemeClr val="tx1">
                  <a:lumMod val="85000"/>
                  <a:lumOff val="15000"/>
                </a:schemeClr>
              </a:solidFill>
            </a:endParaRPr>
          </a:p>
          <a:p>
            <a:pPr fontAlgn="auto">
              <a:buFont typeface="Wingdings" panose="05000000000000000000" pitchFamily="2" charset="2"/>
              <a:buChar char="ü"/>
              <a:defRPr/>
            </a:pPr>
            <a:r>
              <a:rPr lang="en-US" altLang="en-US" sz="1800">
                <a:solidFill>
                  <a:schemeClr val="tx1">
                    <a:lumMod val="85000"/>
                    <a:lumOff val="15000"/>
                  </a:schemeClr>
                </a:solidFill>
              </a:rPr>
              <a:t>Operations work </a:t>
            </a:r>
            <a:r>
              <a:rPr lang="en-US" altLang="en-US" sz="1800">
                <a:solidFill>
                  <a:srgbClr val="00B050"/>
                </a:solidFill>
              </a:rPr>
              <a:t>does not terminate</a:t>
            </a:r>
            <a:r>
              <a:rPr lang="en-US" altLang="en-US" sz="1800">
                <a:solidFill>
                  <a:schemeClr val="tx1">
                    <a:lumMod val="85000"/>
                    <a:lumOff val="15000"/>
                  </a:schemeClr>
                </a:solidFill>
              </a:rPr>
              <a:t> when its current objectives are met but instead </a:t>
            </a:r>
            <a:r>
              <a:rPr lang="en-US" altLang="en-US" sz="1800">
                <a:solidFill>
                  <a:srgbClr val="00B050"/>
                </a:solidFill>
              </a:rPr>
              <a:t>follow new directions </a:t>
            </a:r>
            <a:r>
              <a:rPr lang="en-US" altLang="en-US" sz="1800">
                <a:solidFill>
                  <a:schemeClr val="tx1">
                    <a:lumMod val="85000"/>
                    <a:lumOff val="15000"/>
                  </a:schemeClr>
                </a:solidFill>
              </a:rPr>
              <a:t>to support the organization’s strategic plans.</a:t>
            </a:r>
          </a:p>
          <a:p>
            <a:pPr fontAlgn="auto">
              <a:buFont typeface="Wingdings" panose="05000000000000000000" pitchFamily="2" charset="2"/>
              <a:buNone/>
              <a:defRPr/>
            </a:pPr>
            <a:endParaRPr lang="en-US" altLang="en-US" sz="1800" dirty="0">
              <a:solidFill>
                <a:schemeClr val="tx1">
                  <a:lumMod val="85000"/>
                  <a:lumOff val="15000"/>
                </a:schemeClr>
              </a:solidFill>
            </a:endParaRPr>
          </a:p>
        </p:txBody>
      </p:sp>
    </p:spTree>
    <p:extLst>
      <p:ext uri="{BB962C8B-B14F-4D97-AF65-F5344CB8AC3E}">
        <p14:creationId xmlns:p14="http://schemas.microsoft.com/office/powerpoint/2010/main" val="690975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8130" name="Title 1"/>
          <p:cNvSpPr>
            <a:spLocks noGrp="1"/>
          </p:cNvSpPr>
          <p:nvPr>
            <p:ph type="title"/>
          </p:nvPr>
        </p:nvSpPr>
        <p:spPr/>
        <p:txBody>
          <a:bodyPr/>
          <a:lstStyle/>
          <a:p>
            <a:r>
              <a:rPr lang="en-US" altLang="en-US">
                <a:ln>
                  <a:noFill/>
                </a:ln>
              </a:rPr>
              <a:t> Projects vs Operational Work</a:t>
            </a:r>
            <a:endParaRPr lang="en-US" altLang="en-US" dirty="0">
              <a:ln>
                <a:noFill/>
              </a:ln>
            </a:endParaRPr>
          </a:p>
        </p:txBody>
      </p:sp>
      <p:sp>
        <p:nvSpPr>
          <p:cNvPr id="41987" name="Content Placeholder 2"/>
          <p:cNvSpPr>
            <a:spLocks noGrp="1"/>
          </p:cNvSpPr>
          <p:nvPr>
            <p:ph idx="1"/>
          </p:nvPr>
        </p:nvSpPr>
        <p:spPr>
          <a:xfrm>
            <a:off x="990600" y="1981200"/>
            <a:ext cx="7704667" cy="3681412"/>
          </a:xfrm>
        </p:spPr>
        <p:txBody>
          <a:bodyPr rtlCol="0">
            <a:noAutofit/>
          </a:bodyPr>
          <a:lstStyle/>
          <a:p>
            <a:pPr marL="0" indent="0" fontAlgn="auto">
              <a:buFont typeface="Arial"/>
              <a:buNone/>
              <a:defRPr/>
            </a:pPr>
            <a:r>
              <a:rPr lang="en-US" sz="1800" dirty="0">
                <a:solidFill>
                  <a:srgbClr val="00B050"/>
                </a:solidFill>
              </a:rPr>
              <a:t>Operations work supports the business environment where projects are executed</a:t>
            </a:r>
            <a:r>
              <a:rPr lang="en-US" sz="1800" dirty="0">
                <a:solidFill>
                  <a:schemeClr val="tx1">
                    <a:lumMod val="85000"/>
                    <a:lumOff val="15000"/>
                  </a:schemeClr>
                </a:solidFill>
              </a:rPr>
              <a:t>. </a:t>
            </a:r>
          </a:p>
          <a:p>
            <a:pPr fontAlgn="auto">
              <a:buFont typeface="Wingdings" panose="05000000000000000000" pitchFamily="2" charset="2"/>
              <a:buChar char="v"/>
              <a:defRPr/>
            </a:pPr>
            <a:r>
              <a:rPr lang="en-US" sz="1800" dirty="0">
                <a:solidFill>
                  <a:schemeClr val="tx1">
                    <a:lumMod val="85000"/>
                    <a:lumOff val="15000"/>
                  </a:schemeClr>
                </a:solidFill>
              </a:rPr>
              <a:t>As a result, there is generally a significant amount of </a:t>
            </a:r>
            <a:r>
              <a:rPr lang="en-US" sz="1800" dirty="0">
                <a:solidFill>
                  <a:srgbClr val="00B050"/>
                </a:solidFill>
              </a:rPr>
              <a:t>interaction</a:t>
            </a:r>
            <a:r>
              <a:rPr lang="en-US" sz="1800" dirty="0">
                <a:solidFill>
                  <a:schemeClr val="tx1">
                    <a:lumMod val="85000"/>
                    <a:lumOff val="15000"/>
                  </a:schemeClr>
                </a:solidFill>
              </a:rPr>
              <a:t> between the operations departments and the project team as they work together to achieve project goals. </a:t>
            </a:r>
          </a:p>
          <a:p>
            <a:pPr fontAlgn="auto">
              <a:buFont typeface="Wingdings" panose="05000000000000000000" pitchFamily="2" charset="2"/>
              <a:buChar char="v"/>
              <a:defRPr/>
            </a:pPr>
            <a:r>
              <a:rPr lang="en-US" sz="1800" dirty="0">
                <a:solidFill>
                  <a:schemeClr val="tx1">
                    <a:lumMod val="85000"/>
                    <a:lumOff val="15000"/>
                  </a:schemeClr>
                </a:solidFill>
              </a:rPr>
              <a:t>An example of this is when a project is created to redesign a product. The project manager may work with multiple operational managers to </a:t>
            </a:r>
          </a:p>
          <a:p>
            <a:pPr fontAlgn="auto">
              <a:buFont typeface="Wingdings" panose="05000000000000000000" pitchFamily="2" charset="2"/>
              <a:buChar char="§"/>
              <a:defRPr/>
            </a:pPr>
            <a:r>
              <a:rPr lang="en-US" sz="1800" dirty="0">
                <a:solidFill>
                  <a:schemeClr val="tx1">
                    <a:lumMod val="85000"/>
                    <a:lumOff val="15000"/>
                  </a:schemeClr>
                </a:solidFill>
              </a:rPr>
              <a:t>	research consumer preferences, </a:t>
            </a:r>
          </a:p>
          <a:p>
            <a:pPr fontAlgn="auto">
              <a:buFont typeface="Wingdings" panose="05000000000000000000" pitchFamily="2" charset="2"/>
              <a:buChar char="§"/>
              <a:defRPr/>
            </a:pPr>
            <a:r>
              <a:rPr lang="en-US" sz="1800" dirty="0">
                <a:solidFill>
                  <a:schemeClr val="tx1">
                    <a:lumMod val="85000"/>
                    <a:lumOff val="15000"/>
                  </a:schemeClr>
                </a:solidFill>
              </a:rPr>
              <a:t>	draw up technical specifications, </a:t>
            </a:r>
          </a:p>
          <a:p>
            <a:pPr fontAlgn="auto">
              <a:buFont typeface="Wingdings" panose="05000000000000000000" pitchFamily="2" charset="2"/>
              <a:buChar char="§"/>
              <a:defRPr/>
            </a:pPr>
            <a:r>
              <a:rPr lang="en-US" sz="1800" dirty="0">
                <a:solidFill>
                  <a:schemeClr val="tx1">
                    <a:lumMod val="85000"/>
                    <a:lumOff val="15000"/>
                  </a:schemeClr>
                </a:solidFill>
              </a:rPr>
              <a:t>	build a prototype, </a:t>
            </a:r>
          </a:p>
          <a:p>
            <a:pPr fontAlgn="auto">
              <a:buFont typeface="Wingdings" panose="05000000000000000000" pitchFamily="2" charset="2"/>
              <a:buChar char="§"/>
              <a:defRPr/>
            </a:pPr>
            <a:r>
              <a:rPr lang="en-US" sz="1800" dirty="0">
                <a:solidFill>
                  <a:schemeClr val="tx1">
                    <a:lumMod val="85000"/>
                    <a:lumOff val="15000"/>
                  </a:schemeClr>
                </a:solidFill>
              </a:rPr>
              <a:t>	test it, and </a:t>
            </a:r>
          </a:p>
          <a:p>
            <a:pPr fontAlgn="auto">
              <a:buFont typeface="Wingdings" panose="05000000000000000000" pitchFamily="2" charset="2"/>
              <a:buChar char="§"/>
              <a:defRPr/>
            </a:pPr>
            <a:r>
              <a:rPr lang="en-US" sz="1800" dirty="0">
                <a:solidFill>
                  <a:schemeClr val="tx1">
                    <a:lumMod val="85000"/>
                    <a:lumOff val="15000"/>
                  </a:schemeClr>
                </a:solidFill>
              </a:rPr>
              <a:t>	begin manufacturing. </a:t>
            </a:r>
          </a:p>
        </p:txBody>
      </p:sp>
    </p:spTree>
    <p:extLst>
      <p:ext uri="{BB962C8B-B14F-4D97-AF65-F5344CB8AC3E}">
        <p14:creationId xmlns:p14="http://schemas.microsoft.com/office/powerpoint/2010/main" val="26926570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9154" name="Title 1"/>
          <p:cNvSpPr>
            <a:spLocks noGrp="1"/>
          </p:cNvSpPr>
          <p:nvPr>
            <p:ph type="title"/>
          </p:nvPr>
        </p:nvSpPr>
        <p:spPr/>
        <p:txBody>
          <a:bodyPr/>
          <a:lstStyle/>
          <a:p>
            <a:r>
              <a:rPr lang="en-US" altLang="en-US" dirty="0">
                <a:ln>
                  <a:noFill/>
                </a:ln>
              </a:rPr>
              <a:t> Projects vs Operational Work</a:t>
            </a:r>
          </a:p>
        </p:txBody>
      </p:sp>
      <p:sp>
        <p:nvSpPr>
          <p:cNvPr id="49155" name="Content Placeholder 2"/>
          <p:cNvSpPr>
            <a:spLocks noGrp="1"/>
          </p:cNvSpPr>
          <p:nvPr>
            <p:ph idx="1"/>
          </p:nvPr>
        </p:nvSpPr>
        <p:spPr>
          <a:xfrm>
            <a:off x="628650" y="1905000"/>
            <a:ext cx="7886700" cy="4191000"/>
          </a:xfrm>
        </p:spPr>
        <p:txBody>
          <a:bodyPr/>
          <a:lstStyle/>
          <a:p>
            <a:pPr algn="just"/>
            <a:r>
              <a:rPr lang="en-US" altLang="en-US" sz="1800" dirty="0"/>
              <a:t>The team will interface [or interact] with the operational departments to determine the manufacturing capacity of current equipment, or to determine the most appropriate time to transition production lines to produce the new product.</a:t>
            </a:r>
          </a:p>
          <a:p>
            <a:pPr algn="just"/>
            <a:r>
              <a:rPr lang="en-US" altLang="en-US" sz="1800" dirty="0"/>
              <a:t>The amount of resources supplied from operations will vary from project to project. </a:t>
            </a:r>
          </a:p>
          <a:p>
            <a:pPr algn="just"/>
            <a:r>
              <a:rPr lang="en-US" altLang="en-US" sz="1800" dirty="0"/>
              <a:t>One </a:t>
            </a:r>
            <a:r>
              <a:rPr lang="en-US" altLang="en-US" sz="1800" u="sng" dirty="0">
                <a:solidFill>
                  <a:srgbClr val="00B050"/>
                </a:solidFill>
              </a:rPr>
              <a:t>example of this interaction</a:t>
            </a:r>
            <a:r>
              <a:rPr lang="en-US" altLang="en-US" sz="1800" dirty="0"/>
              <a:t> is when individuals from operations are assigned as dedicated project resources. Their operational expertise is used to carry out and assist in the completion of project deliverables by working with the rest of the project team to complete the project.</a:t>
            </a:r>
          </a:p>
          <a:p>
            <a:pPr algn="just"/>
            <a:endParaRPr lang="en-US" altLang="en-US" sz="1800" dirty="0"/>
          </a:p>
        </p:txBody>
      </p:sp>
    </p:spTree>
    <p:extLst>
      <p:ext uri="{BB962C8B-B14F-4D97-AF65-F5344CB8AC3E}">
        <p14:creationId xmlns:p14="http://schemas.microsoft.com/office/powerpoint/2010/main" val="2895677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0178" name="Title 1"/>
          <p:cNvSpPr>
            <a:spLocks noGrp="1"/>
          </p:cNvSpPr>
          <p:nvPr>
            <p:ph type="title"/>
          </p:nvPr>
        </p:nvSpPr>
        <p:spPr/>
        <p:txBody>
          <a:bodyPr/>
          <a:lstStyle/>
          <a:p>
            <a:r>
              <a:rPr lang="en-US" altLang="en-US" dirty="0">
                <a:ln>
                  <a:noFill/>
                </a:ln>
              </a:rPr>
              <a:t> Projects vs Operational Work</a:t>
            </a:r>
          </a:p>
        </p:txBody>
      </p:sp>
      <p:sp>
        <p:nvSpPr>
          <p:cNvPr id="39939" name="Content Placeholder 2"/>
          <p:cNvSpPr>
            <a:spLocks noGrp="1"/>
          </p:cNvSpPr>
          <p:nvPr>
            <p:ph idx="1"/>
          </p:nvPr>
        </p:nvSpPr>
        <p:spPr>
          <a:xfrm>
            <a:off x="810683" y="1905000"/>
            <a:ext cx="7704667" cy="3886200"/>
          </a:xfrm>
        </p:spPr>
        <p:txBody>
          <a:bodyPr rtlCol="0">
            <a:normAutofit/>
          </a:bodyPr>
          <a:lstStyle/>
          <a:p>
            <a:pPr fontAlgn="auto">
              <a:buFont typeface="Wingdings" panose="05000000000000000000" pitchFamily="2" charset="2"/>
              <a:buNone/>
              <a:defRPr/>
            </a:pPr>
            <a:r>
              <a:rPr lang="en-US" altLang="en-US" sz="1600" dirty="0">
                <a:solidFill>
                  <a:schemeClr val="tx1">
                    <a:lumMod val="85000"/>
                    <a:lumOff val="15000"/>
                  </a:schemeClr>
                </a:solidFill>
              </a:rPr>
              <a:t>Depending on the nature of the project, the deliverables may modify or contribute to the existing operations work. In this case, the operations department will integrate the deliverables into future business practices. </a:t>
            </a:r>
          </a:p>
          <a:p>
            <a:pPr fontAlgn="auto">
              <a:buFont typeface="Wingdings" panose="05000000000000000000" pitchFamily="2" charset="2"/>
              <a:buNone/>
              <a:defRPr/>
            </a:pPr>
            <a:endParaRPr lang="en-US" altLang="en-US" sz="1600" dirty="0">
              <a:solidFill>
                <a:schemeClr val="tx1">
                  <a:lumMod val="85000"/>
                  <a:lumOff val="15000"/>
                </a:schemeClr>
              </a:solidFill>
            </a:endParaRPr>
          </a:p>
          <a:p>
            <a:pPr fontAlgn="auto">
              <a:buFont typeface="Wingdings" panose="05000000000000000000" pitchFamily="2" charset="2"/>
              <a:buNone/>
              <a:defRPr/>
            </a:pPr>
            <a:r>
              <a:rPr lang="en-US" altLang="en-US" sz="1600" dirty="0">
                <a:solidFill>
                  <a:schemeClr val="tx1">
                    <a:lumMod val="85000"/>
                    <a:lumOff val="15000"/>
                  </a:schemeClr>
                </a:solidFill>
              </a:rPr>
              <a:t>Examples of these types of projects can include, but are not limited to: </a:t>
            </a:r>
            <a:endParaRPr lang="en-US" altLang="en-US" sz="2000" dirty="0">
              <a:solidFill>
                <a:schemeClr val="tx1">
                  <a:lumMod val="85000"/>
                  <a:lumOff val="15000"/>
                </a:schemeClr>
              </a:solidFill>
            </a:endParaRPr>
          </a:p>
          <a:p>
            <a:pPr lvl="1" fontAlgn="auto">
              <a:buFont typeface="Arial"/>
              <a:buChar char="•"/>
              <a:defRPr/>
            </a:pPr>
            <a:r>
              <a:rPr lang="en-US" altLang="en-US" sz="1600" dirty="0">
                <a:solidFill>
                  <a:schemeClr val="tx1">
                    <a:lumMod val="85000"/>
                    <a:lumOff val="15000"/>
                  </a:schemeClr>
                </a:solidFill>
              </a:rPr>
              <a:t>Developing a new product or service that is added to an organization’s product line to be marketed and sold,</a:t>
            </a:r>
            <a:endParaRPr lang="en-US" altLang="en-US" dirty="0">
              <a:solidFill>
                <a:schemeClr val="tx1">
                  <a:lumMod val="85000"/>
                  <a:lumOff val="15000"/>
                </a:schemeClr>
              </a:solidFill>
            </a:endParaRPr>
          </a:p>
          <a:p>
            <a:pPr lvl="1" fontAlgn="auto">
              <a:buFont typeface="Arial"/>
              <a:buChar char="•"/>
              <a:defRPr/>
            </a:pPr>
            <a:r>
              <a:rPr lang="en-US" altLang="en-US" sz="1600" dirty="0">
                <a:solidFill>
                  <a:schemeClr val="tx1">
                    <a:lumMod val="85000"/>
                    <a:lumOff val="15000"/>
                  </a:schemeClr>
                </a:solidFill>
              </a:rPr>
              <a:t>Installing products or services that will require ongoing support,</a:t>
            </a:r>
            <a:endParaRPr lang="en-US" altLang="en-US" dirty="0">
              <a:solidFill>
                <a:schemeClr val="tx1">
                  <a:lumMod val="85000"/>
                  <a:lumOff val="15000"/>
                </a:schemeClr>
              </a:solidFill>
            </a:endParaRPr>
          </a:p>
          <a:p>
            <a:pPr lvl="1" fontAlgn="auto">
              <a:buFont typeface="Arial"/>
              <a:buChar char="•"/>
              <a:defRPr/>
            </a:pPr>
            <a:r>
              <a:rPr lang="en-US" altLang="en-US" sz="1600" dirty="0">
                <a:solidFill>
                  <a:schemeClr val="tx1">
                    <a:lumMod val="85000"/>
                    <a:lumOff val="15000"/>
                  </a:schemeClr>
                </a:solidFill>
              </a:rPr>
              <a:t>Internal projects that will affect the structure, staffing levels, or culture of an organization, or</a:t>
            </a:r>
            <a:endParaRPr lang="en-US" altLang="en-US" dirty="0">
              <a:solidFill>
                <a:schemeClr val="tx1">
                  <a:lumMod val="85000"/>
                  <a:lumOff val="15000"/>
                </a:schemeClr>
              </a:solidFill>
            </a:endParaRPr>
          </a:p>
          <a:p>
            <a:pPr lvl="1" fontAlgn="auto">
              <a:buFont typeface="Arial"/>
              <a:buChar char="•"/>
              <a:defRPr/>
            </a:pPr>
            <a:r>
              <a:rPr lang="en-US" altLang="en-US" sz="1600" dirty="0">
                <a:solidFill>
                  <a:schemeClr val="tx1">
                    <a:lumMod val="85000"/>
                    <a:lumOff val="15000"/>
                  </a:schemeClr>
                </a:solidFill>
              </a:rPr>
              <a:t>Developing, acquiring, or enhancing an operational department’s information system.</a:t>
            </a:r>
            <a:endParaRPr lang="en-US" altLang="en-US" dirty="0">
              <a:solidFill>
                <a:schemeClr val="tx1">
                  <a:lumMod val="85000"/>
                  <a:lumOff val="15000"/>
                </a:schemeClr>
              </a:solidFill>
            </a:endParaRPr>
          </a:p>
        </p:txBody>
      </p:sp>
    </p:spTree>
    <p:extLst>
      <p:ext uri="{BB962C8B-B14F-4D97-AF65-F5344CB8AC3E}">
        <p14:creationId xmlns:p14="http://schemas.microsoft.com/office/powerpoint/2010/main" val="18487919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Project-Vs-Operations infographic">
            <a:extLst>
              <a:ext uri="{FF2B5EF4-FFF2-40B4-BE49-F238E27FC236}">
                <a16:creationId xmlns:a16="http://schemas.microsoft.com/office/drawing/2014/main" id="{2D8569BC-1968-45D9-82C8-A575090FAC14}"/>
              </a:ext>
            </a:extLst>
          </p:cNvPr>
          <p:cNvPicPr>
            <a:picLocks noChangeAspect="1" noChangeArrowheads="1"/>
          </p:cNvPicPr>
          <p:nvPr/>
        </p:nvPicPr>
        <p:blipFill>
          <a:blip r:embed="rId2">
            <a:alphaModFix/>
            <a:extLst>
              <a:ext uri="{28A0092B-C50C-407E-A947-70E740481C1C}">
                <a14:useLocalDpi xmlns:a14="http://schemas.microsoft.com/office/drawing/2010/main" val="0"/>
              </a:ext>
            </a:extLst>
          </a:blip>
          <a:srcRect/>
          <a:stretch>
            <a:fillRect/>
          </a:stretch>
        </p:blipFill>
        <p:spPr bwMode="auto">
          <a:xfrm>
            <a:off x="57150" y="0"/>
            <a:ext cx="9031288"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29740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0" y="381000"/>
            <a:ext cx="7407275" cy="1017588"/>
          </a:xfrm>
        </p:spPr>
        <p:txBody>
          <a:bodyPr/>
          <a:lstStyle/>
          <a:p>
            <a:r>
              <a:rPr lang="en-US" b="1" dirty="0">
                <a:effectLst>
                  <a:outerShdw blurRad="38100" dist="38100" dir="2700000" algn="tl">
                    <a:srgbClr val="000000">
                      <a:alpha val="43137"/>
                    </a:srgbClr>
                  </a:outerShdw>
                </a:effectLst>
              </a:rPr>
              <a:t>Project VS Operation</a:t>
            </a:r>
          </a:p>
        </p:txBody>
      </p:sp>
      <p:sp>
        <p:nvSpPr>
          <p:cNvPr id="5" name="Text Placeholder 4"/>
          <p:cNvSpPr>
            <a:spLocks noGrp="1"/>
          </p:cNvSpPr>
          <p:nvPr>
            <p:ph type="body" idx="4294967295"/>
          </p:nvPr>
        </p:nvSpPr>
        <p:spPr>
          <a:xfrm>
            <a:off x="0" y="1301750"/>
            <a:ext cx="3565525" cy="582613"/>
          </a:xfrm>
        </p:spPr>
        <p:txBody>
          <a:bodyPr/>
          <a:lstStyle/>
          <a:p>
            <a:r>
              <a:rPr lang="en-US" b="1" dirty="0"/>
              <a:t>Project</a:t>
            </a:r>
          </a:p>
        </p:txBody>
      </p:sp>
      <p:sp>
        <p:nvSpPr>
          <p:cNvPr id="6" name="Content Placeholder 5"/>
          <p:cNvSpPr>
            <a:spLocks noGrp="1"/>
          </p:cNvSpPr>
          <p:nvPr>
            <p:ph sz="half" idx="4294967295"/>
          </p:nvPr>
        </p:nvSpPr>
        <p:spPr>
          <a:xfrm>
            <a:off x="0" y="1785938"/>
            <a:ext cx="4190998" cy="4611687"/>
          </a:xfrm>
        </p:spPr>
        <p:txBody>
          <a:bodyPr>
            <a:noAutofit/>
          </a:bodyPr>
          <a:lstStyle/>
          <a:p>
            <a:pPr>
              <a:lnSpc>
                <a:spcPct val="100000"/>
              </a:lnSpc>
            </a:pPr>
            <a:r>
              <a:rPr lang="en-US" sz="1600" dirty="0">
                <a:solidFill>
                  <a:schemeClr val="tx1">
                    <a:lumMod val="95000"/>
                    <a:lumOff val="5000"/>
                  </a:schemeClr>
                </a:solidFill>
              </a:rPr>
              <a:t>Projects are temporary, and have a beginning and an end.</a:t>
            </a:r>
          </a:p>
          <a:p>
            <a:pPr>
              <a:lnSpc>
                <a:spcPct val="100000"/>
              </a:lnSpc>
            </a:pPr>
            <a:r>
              <a:rPr lang="en-US" sz="1600" dirty="0">
                <a:solidFill>
                  <a:schemeClr val="tx1">
                    <a:lumMod val="95000"/>
                    <a:lumOff val="5000"/>
                  </a:schemeClr>
                </a:solidFill>
              </a:rPr>
              <a:t>Produce unique products, services, or results.</a:t>
            </a:r>
          </a:p>
          <a:p>
            <a:pPr>
              <a:lnSpc>
                <a:spcPct val="100000"/>
              </a:lnSpc>
            </a:pPr>
            <a:r>
              <a:rPr lang="en-US" sz="1600" dirty="0">
                <a:solidFill>
                  <a:schemeClr val="tx1">
                    <a:lumMod val="95000"/>
                    <a:lumOff val="5000"/>
                  </a:schemeClr>
                </a:solidFill>
              </a:rPr>
              <a:t>When current objectives are met Projects are closed. Any New directions may result in initiation of new projects.</a:t>
            </a:r>
          </a:p>
          <a:p>
            <a:pPr>
              <a:lnSpc>
                <a:spcPct val="100000"/>
              </a:lnSpc>
            </a:pPr>
            <a:r>
              <a:rPr lang="en-US" sz="1600" b="1" dirty="0">
                <a:solidFill>
                  <a:schemeClr val="tx1">
                    <a:lumMod val="95000"/>
                    <a:lumOff val="5000"/>
                  </a:schemeClr>
                </a:solidFill>
                <a:effectLst>
                  <a:outerShdw blurRad="38100" dist="38100" dir="2700000" algn="tl">
                    <a:srgbClr val="000000">
                      <a:alpha val="43137"/>
                    </a:srgbClr>
                  </a:outerShdw>
                </a:effectLst>
              </a:rPr>
              <a:t>Examples:</a:t>
            </a:r>
          </a:p>
          <a:p>
            <a:pPr>
              <a:lnSpc>
                <a:spcPct val="100000"/>
              </a:lnSpc>
            </a:pPr>
            <a:r>
              <a:rPr lang="en-US" sz="1600" dirty="0">
                <a:solidFill>
                  <a:schemeClr val="tx1">
                    <a:lumMod val="95000"/>
                    <a:lumOff val="5000"/>
                  </a:schemeClr>
                </a:solidFill>
              </a:rPr>
              <a:t>Writing a term paper </a:t>
            </a:r>
          </a:p>
          <a:p>
            <a:pPr>
              <a:lnSpc>
                <a:spcPct val="100000"/>
              </a:lnSpc>
            </a:pPr>
            <a:r>
              <a:rPr lang="en-US" sz="1600" dirty="0">
                <a:solidFill>
                  <a:schemeClr val="tx1">
                    <a:lumMod val="95000"/>
                    <a:lumOff val="5000"/>
                  </a:schemeClr>
                </a:solidFill>
              </a:rPr>
              <a:t>Developing a supply-chain information system </a:t>
            </a:r>
          </a:p>
          <a:p>
            <a:pPr>
              <a:lnSpc>
                <a:spcPct val="100000"/>
              </a:lnSpc>
            </a:pPr>
            <a:r>
              <a:rPr lang="en-US" sz="1600" dirty="0">
                <a:solidFill>
                  <a:schemeClr val="tx1">
                    <a:lumMod val="95000"/>
                    <a:lumOff val="5000"/>
                  </a:schemeClr>
                </a:solidFill>
              </a:rPr>
              <a:t>Designing an iPod that is approximately 2 X 4 inches, interfaces </a:t>
            </a:r>
            <a:r>
              <a:rPr lang="en-US" sz="1500" dirty="0">
                <a:solidFill>
                  <a:schemeClr val="tx1">
                    <a:lumMod val="95000"/>
                    <a:lumOff val="5000"/>
                  </a:schemeClr>
                </a:solidFill>
              </a:rPr>
              <a:t>with PC, and stores 10,000 songs </a:t>
            </a:r>
          </a:p>
        </p:txBody>
      </p:sp>
      <p:sp>
        <p:nvSpPr>
          <p:cNvPr id="7" name="Text Placeholder 6"/>
          <p:cNvSpPr>
            <a:spLocks noGrp="1"/>
          </p:cNvSpPr>
          <p:nvPr>
            <p:ph type="body" sz="quarter" idx="4294967295"/>
          </p:nvPr>
        </p:nvSpPr>
        <p:spPr>
          <a:xfrm>
            <a:off x="5005388" y="1300957"/>
            <a:ext cx="3567112" cy="582612"/>
          </a:xfrm>
        </p:spPr>
        <p:txBody>
          <a:bodyPr/>
          <a:lstStyle/>
          <a:p>
            <a:r>
              <a:rPr lang="en-US" b="1" dirty="0"/>
              <a:t>Operation</a:t>
            </a:r>
          </a:p>
        </p:txBody>
      </p:sp>
      <p:sp>
        <p:nvSpPr>
          <p:cNvPr id="8" name="Content Placeholder 7"/>
          <p:cNvSpPr>
            <a:spLocks noGrp="1"/>
          </p:cNvSpPr>
          <p:nvPr>
            <p:ph sz="quarter" idx="4294967295"/>
          </p:nvPr>
        </p:nvSpPr>
        <p:spPr>
          <a:xfrm>
            <a:off x="4953000" y="1398588"/>
            <a:ext cx="4191000" cy="4764087"/>
          </a:xfrm>
        </p:spPr>
        <p:txBody>
          <a:bodyPr>
            <a:noAutofit/>
          </a:bodyPr>
          <a:lstStyle/>
          <a:p>
            <a:pPr>
              <a:lnSpc>
                <a:spcPct val="110000"/>
              </a:lnSpc>
            </a:pPr>
            <a:endParaRPr lang="en-US" sz="1600" dirty="0">
              <a:solidFill>
                <a:schemeClr val="tx1">
                  <a:lumMod val="95000"/>
                  <a:lumOff val="5000"/>
                </a:schemeClr>
              </a:solidFill>
            </a:endParaRPr>
          </a:p>
          <a:p>
            <a:pPr>
              <a:lnSpc>
                <a:spcPct val="110000"/>
              </a:lnSpc>
            </a:pPr>
            <a:r>
              <a:rPr lang="en-US" sz="1600" dirty="0">
                <a:solidFill>
                  <a:schemeClr val="tx1">
                    <a:lumMod val="95000"/>
                    <a:lumOff val="5000"/>
                  </a:schemeClr>
                </a:solidFill>
              </a:rPr>
              <a:t>Ongoing, day-to-day activities </a:t>
            </a:r>
          </a:p>
          <a:p>
            <a:pPr>
              <a:lnSpc>
                <a:spcPct val="110000"/>
              </a:lnSpc>
            </a:pPr>
            <a:r>
              <a:rPr lang="en-US" sz="1600" dirty="0">
                <a:solidFill>
                  <a:schemeClr val="tx1">
                    <a:lumMod val="95000"/>
                    <a:lumOff val="5000"/>
                  </a:schemeClr>
                </a:solidFill>
              </a:rPr>
              <a:t>Routine and Repetitive Work</a:t>
            </a:r>
          </a:p>
          <a:p>
            <a:pPr>
              <a:lnSpc>
                <a:spcPct val="110000"/>
              </a:lnSpc>
            </a:pPr>
            <a:r>
              <a:rPr lang="en-US" sz="1600" dirty="0">
                <a:solidFill>
                  <a:schemeClr val="tx1">
                    <a:lumMod val="95000"/>
                    <a:lumOff val="5000"/>
                  </a:schemeClr>
                </a:solidFill>
              </a:rPr>
              <a:t>When current objectives are met Operations do not terminate, but follow new directions to support the organization’s strategic plans.</a:t>
            </a:r>
          </a:p>
          <a:p>
            <a:pPr>
              <a:lnSpc>
                <a:spcPct val="110000"/>
              </a:lnSpc>
            </a:pPr>
            <a:r>
              <a:rPr lang="en-US" sz="1600" b="1" dirty="0">
                <a:solidFill>
                  <a:schemeClr val="tx1">
                    <a:lumMod val="95000"/>
                    <a:lumOff val="5000"/>
                  </a:schemeClr>
                </a:solidFill>
                <a:effectLst>
                  <a:outerShdw blurRad="38100" dist="38100" dir="2700000" algn="tl">
                    <a:srgbClr val="000000">
                      <a:alpha val="43137"/>
                    </a:srgbClr>
                  </a:outerShdw>
                </a:effectLst>
              </a:rPr>
              <a:t>Examples:</a:t>
            </a:r>
          </a:p>
          <a:p>
            <a:pPr>
              <a:lnSpc>
                <a:spcPct val="110000"/>
              </a:lnSpc>
            </a:pPr>
            <a:r>
              <a:rPr lang="en-US" sz="1600" dirty="0">
                <a:solidFill>
                  <a:schemeClr val="tx1">
                    <a:lumMod val="95000"/>
                    <a:lumOff val="5000"/>
                  </a:schemeClr>
                </a:solidFill>
              </a:rPr>
              <a:t>Taking class notes</a:t>
            </a:r>
          </a:p>
          <a:p>
            <a:pPr>
              <a:lnSpc>
                <a:spcPct val="110000"/>
              </a:lnSpc>
            </a:pPr>
            <a:r>
              <a:rPr lang="en-US" sz="1600" dirty="0">
                <a:solidFill>
                  <a:schemeClr val="tx1">
                    <a:lumMod val="95000"/>
                    <a:lumOff val="5000"/>
                  </a:schemeClr>
                </a:solidFill>
              </a:rPr>
              <a:t>Responding to a supply-chain request</a:t>
            </a:r>
          </a:p>
          <a:p>
            <a:pPr>
              <a:lnSpc>
                <a:spcPct val="110000"/>
              </a:lnSpc>
            </a:pPr>
            <a:r>
              <a:rPr lang="en-US" sz="1600" dirty="0">
                <a:solidFill>
                  <a:schemeClr val="tx1">
                    <a:lumMod val="95000"/>
                    <a:lumOff val="5000"/>
                  </a:schemeClr>
                </a:solidFill>
              </a:rPr>
              <a:t>Routine manufacture of an Apple iPod</a:t>
            </a:r>
          </a:p>
        </p:txBody>
      </p:sp>
      <p:cxnSp>
        <p:nvCxnSpPr>
          <p:cNvPr id="10" name="Straight Connector 9"/>
          <p:cNvCxnSpPr/>
          <p:nvPr/>
        </p:nvCxnSpPr>
        <p:spPr>
          <a:xfrm>
            <a:off x="4656137" y="1785938"/>
            <a:ext cx="0" cy="4184248"/>
          </a:xfrm>
          <a:prstGeom prst="line">
            <a:avLst/>
          </a:prstGeom>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338253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p:spPr>
        <p:txBody>
          <a:bodyPr/>
          <a:lstStyle/>
          <a:p>
            <a:r>
              <a:rPr lang="en-US" dirty="0"/>
              <a:t>Is it a Project?</a:t>
            </a:r>
          </a:p>
        </p:txBody>
      </p:sp>
      <p:sp>
        <p:nvSpPr>
          <p:cNvPr id="3" name="Content Placeholder 2"/>
          <p:cNvSpPr>
            <a:spLocks noGrp="1"/>
          </p:cNvSpPr>
          <p:nvPr>
            <p:ph idx="1"/>
          </p:nvPr>
        </p:nvSpPr>
        <p:spPr>
          <a:xfrm>
            <a:off x="628650" y="1825625"/>
            <a:ext cx="7886700" cy="4351338"/>
          </a:xfrm>
        </p:spPr>
        <p:txBody>
          <a:bodyPr>
            <a:noAutofit/>
          </a:bodyPr>
          <a:lstStyle/>
          <a:p>
            <a:pPr algn="just"/>
            <a:r>
              <a:rPr lang="en-US" dirty="0"/>
              <a:t>Consider the following scenario: You work for a wireless phone provider, and the VP of marketing approaches you with a fabulous idea – “fabulous” because he’s the big boss and because he thought it up. He wants to set up Stalls in local grocery and big–box stores as mini–offices. These offices will offer customers the ability to sign up for new wireless phone services, make their wireless phone bill payments, and purchase equipment and accessories. He believes that the exposure in grocery stores will increase awareness of the company’s offerings. After all, everyone has to eat, right? He told you that the board of directors has already cleared the project, and he will dedicate as many resources to this as he can. He wants the new Stalls in place in 12 stores by the end of this year. The best news is he has assigned you to head up this project. </a:t>
            </a:r>
          </a:p>
        </p:txBody>
      </p:sp>
    </p:spTree>
    <p:extLst>
      <p:ext uri="{BB962C8B-B14F-4D97-AF65-F5344CB8AC3E}">
        <p14:creationId xmlns:p14="http://schemas.microsoft.com/office/powerpoint/2010/main" val="7973964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57200"/>
            <a:ext cx="7886700" cy="777240"/>
          </a:xfrm>
        </p:spPr>
        <p:txBody>
          <a:bodyPr/>
          <a:lstStyle/>
          <a:p>
            <a:r>
              <a:rPr sz="2600" b="1"/>
              <a:t>Your Verdict: Is It a Project?</a:t>
            </a:r>
          </a:p>
        </p:txBody>
      </p:sp>
      <p:sp>
        <p:nvSpPr>
          <p:cNvPr id="4" name="Rectangle 3"/>
          <p:cNvSpPr/>
          <p:nvPr/>
        </p:nvSpPr>
        <p:spPr>
          <a:xfrm>
            <a:off x="630936" y="1828800"/>
            <a:ext cx="3840480" cy="1280160"/>
          </a:xfrm>
          <a:prstGeom prst="rect">
            <a:avLst/>
          </a:prstGeom>
          <a:solidFill>
            <a:srgbClr val="DEE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13815" y="2103120"/>
            <a:ext cx="384048" cy="384048"/>
          </a:xfrm>
          <a:prstGeom prst="rect">
            <a:avLst/>
          </a:prstGeom>
          <a:solidFill>
            <a:srgbClr val="FFFFFF"/>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16736" y="1993392"/>
            <a:ext cx="3063240" cy="411480"/>
          </a:xfrm>
          <a:prstGeom prst="rect">
            <a:avLst/>
          </a:prstGeom>
          <a:noFill/>
        </p:spPr>
        <p:txBody>
          <a:bodyPr wrap="square" lIns="73152" tIns="36576" rIns="73152" bIns="36576" anchor="t">
            <a:spAutoFit/>
          </a:bodyPr>
          <a:lstStyle/>
          <a:p>
            <a:pPr algn="l">
              <a:spcAft>
                <a:spcPts val="400"/>
              </a:spcAft>
            </a:pPr>
            <a:r>
              <a:rPr sz="1800" b="1" i="0">
                <a:solidFill>
                  <a:srgbClr val="1F3864"/>
                </a:solidFill>
              </a:rPr>
              <a:t>Temporary?</a:t>
            </a:r>
          </a:p>
        </p:txBody>
      </p:sp>
      <p:sp>
        <p:nvSpPr>
          <p:cNvPr id="7" name="TextBox 6"/>
          <p:cNvSpPr txBox="1"/>
          <p:nvPr/>
        </p:nvSpPr>
        <p:spPr>
          <a:xfrm>
            <a:off x="1316736" y="2395728"/>
            <a:ext cx="3063240" cy="640080"/>
          </a:xfrm>
          <a:prstGeom prst="rect">
            <a:avLst/>
          </a:prstGeom>
          <a:noFill/>
        </p:spPr>
        <p:txBody>
          <a:bodyPr wrap="square" lIns="73152" tIns="36576" rIns="73152" bIns="36576" anchor="t">
            <a:spAutoFit/>
          </a:bodyPr>
          <a:lstStyle/>
          <a:p>
            <a:pPr algn="l">
              <a:spcAft>
                <a:spcPts val="400"/>
              </a:spcAft>
            </a:pPr>
            <a:r>
              <a:rPr sz="1600" b="0" i="0">
                <a:solidFill>
                  <a:srgbClr val="262626"/>
                </a:solidFill>
              </a:rPr>
              <a:t>Is there a clear start and end?</a:t>
            </a:r>
          </a:p>
        </p:txBody>
      </p:sp>
      <p:sp>
        <p:nvSpPr>
          <p:cNvPr id="8" name="Rectangle 7"/>
          <p:cNvSpPr/>
          <p:nvPr/>
        </p:nvSpPr>
        <p:spPr>
          <a:xfrm>
            <a:off x="4663440" y="1828800"/>
            <a:ext cx="3840480" cy="1280160"/>
          </a:xfrm>
          <a:prstGeom prst="rect">
            <a:avLst/>
          </a:prstGeom>
          <a:solidFill>
            <a:srgbClr val="DEE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846320" y="2103120"/>
            <a:ext cx="384048" cy="384048"/>
          </a:xfrm>
          <a:prstGeom prst="rect">
            <a:avLst/>
          </a:prstGeom>
          <a:solidFill>
            <a:srgbClr val="FFFFFF"/>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349240" y="1993392"/>
            <a:ext cx="3063240" cy="411480"/>
          </a:xfrm>
          <a:prstGeom prst="rect">
            <a:avLst/>
          </a:prstGeom>
          <a:noFill/>
        </p:spPr>
        <p:txBody>
          <a:bodyPr wrap="square" lIns="73152" tIns="36576" rIns="73152" bIns="36576" anchor="t">
            <a:spAutoFit/>
          </a:bodyPr>
          <a:lstStyle/>
          <a:p>
            <a:pPr algn="l">
              <a:spcAft>
                <a:spcPts val="400"/>
              </a:spcAft>
            </a:pPr>
            <a:r>
              <a:rPr sz="1800" b="1" i="0">
                <a:solidFill>
                  <a:srgbClr val="1F3864"/>
                </a:solidFill>
              </a:rPr>
              <a:t>Unique result?</a:t>
            </a:r>
          </a:p>
        </p:txBody>
      </p:sp>
      <p:sp>
        <p:nvSpPr>
          <p:cNvPr id="11" name="TextBox 10"/>
          <p:cNvSpPr txBox="1"/>
          <p:nvPr/>
        </p:nvSpPr>
        <p:spPr>
          <a:xfrm>
            <a:off x="5349240" y="2395728"/>
            <a:ext cx="3063240" cy="640080"/>
          </a:xfrm>
          <a:prstGeom prst="rect">
            <a:avLst/>
          </a:prstGeom>
          <a:noFill/>
        </p:spPr>
        <p:txBody>
          <a:bodyPr wrap="square" lIns="73152" tIns="36576" rIns="73152" bIns="36576" anchor="t">
            <a:spAutoFit/>
          </a:bodyPr>
          <a:lstStyle/>
          <a:p>
            <a:pPr algn="l">
              <a:spcAft>
                <a:spcPts val="400"/>
              </a:spcAft>
            </a:pPr>
            <a:r>
              <a:rPr sz="1600" b="0" i="0">
                <a:solidFill>
                  <a:srgbClr val="262626"/>
                </a:solidFill>
              </a:rPr>
              <a:t>Does it create something new?</a:t>
            </a:r>
          </a:p>
        </p:txBody>
      </p:sp>
      <p:sp>
        <p:nvSpPr>
          <p:cNvPr id="12" name="Rectangle 11"/>
          <p:cNvSpPr/>
          <p:nvPr/>
        </p:nvSpPr>
        <p:spPr>
          <a:xfrm>
            <a:off x="630936" y="3291840"/>
            <a:ext cx="3840480" cy="1280160"/>
          </a:xfrm>
          <a:prstGeom prst="rect">
            <a:avLst/>
          </a:prstGeom>
          <a:solidFill>
            <a:srgbClr val="DEE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13815" y="3566160"/>
            <a:ext cx="384048" cy="384048"/>
          </a:xfrm>
          <a:prstGeom prst="rect">
            <a:avLst/>
          </a:prstGeom>
          <a:solidFill>
            <a:srgbClr val="FFFFFF"/>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316736" y="3456432"/>
            <a:ext cx="3063240" cy="411480"/>
          </a:xfrm>
          <a:prstGeom prst="rect">
            <a:avLst/>
          </a:prstGeom>
          <a:noFill/>
        </p:spPr>
        <p:txBody>
          <a:bodyPr wrap="square" lIns="73152" tIns="36576" rIns="73152" bIns="36576" anchor="t">
            <a:spAutoFit/>
          </a:bodyPr>
          <a:lstStyle/>
          <a:p>
            <a:pPr algn="l">
              <a:spcAft>
                <a:spcPts val="400"/>
              </a:spcAft>
            </a:pPr>
            <a:r>
              <a:rPr sz="1800" b="1" i="0">
                <a:solidFill>
                  <a:srgbClr val="1F3864"/>
                </a:solidFill>
              </a:rPr>
              <a:t>Constrained?</a:t>
            </a:r>
          </a:p>
        </p:txBody>
      </p:sp>
      <p:sp>
        <p:nvSpPr>
          <p:cNvPr id="15" name="TextBox 14"/>
          <p:cNvSpPr txBox="1"/>
          <p:nvPr/>
        </p:nvSpPr>
        <p:spPr>
          <a:xfrm>
            <a:off x="1316736" y="3858768"/>
            <a:ext cx="3063240" cy="640080"/>
          </a:xfrm>
          <a:prstGeom prst="rect">
            <a:avLst/>
          </a:prstGeom>
          <a:noFill/>
        </p:spPr>
        <p:txBody>
          <a:bodyPr wrap="square" lIns="73152" tIns="36576" rIns="73152" bIns="36576" anchor="t">
            <a:spAutoFit/>
          </a:bodyPr>
          <a:lstStyle/>
          <a:p>
            <a:pPr algn="l">
              <a:spcAft>
                <a:spcPts val="400"/>
              </a:spcAft>
            </a:pPr>
            <a:r>
              <a:rPr sz="1600" b="0" i="0">
                <a:solidFill>
                  <a:srgbClr val="262626"/>
                </a:solidFill>
              </a:rPr>
              <a:t>Which limits on time and resources?</a:t>
            </a:r>
          </a:p>
        </p:txBody>
      </p:sp>
      <p:sp>
        <p:nvSpPr>
          <p:cNvPr id="16" name="Rectangle 15"/>
          <p:cNvSpPr/>
          <p:nvPr/>
        </p:nvSpPr>
        <p:spPr>
          <a:xfrm>
            <a:off x="4663440" y="3291840"/>
            <a:ext cx="3840480" cy="1280160"/>
          </a:xfrm>
          <a:prstGeom prst="rect">
            <a:avLst/>
          </a:prstGeom>
          <a:solidFill>
            <a:srgbClr val="DEE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846320" y="3566160"/>
            <a:ext cx="384048" cy="384048"/>
          </a:xfrm>
          <a:prstGeom prst="rect">
            <a:avLst/>
          </a:prstGeom>
          <a:solidFill>
            <a:srgbClr val="FFFFFF"/>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349240" y="3456432"/>
            <a:ext cx="3063240" cy="411480"/>
          </a:xfrm>
          <a:prstGeom prst="rect">
            <a:avLst/>
          </a:prstGeom>
          <a:noFill/>
        </p:spPr>
        <p:txBody>
          <a:bodyPr wrap="square" lIns="73152" tIns="36576" rIns="73152" bIns="36576" anchor="t">
            <a:spAutoFit/>
          </a:bodyPr>
          <a:lstStyle/>
          <a:p>
            <a:pPr algn="l">
              <a:spcAft>
                <a:spcPts val="400"/>
              </a:spcAft>
            </a:pPr>
            <a:r>
              <a:rPr sz="1800" b="1" i="0">
                <a:solidFill>
                  <a:srgbClr val="1F3864"/>
                </a:solidFill>
              </a:rPr>
              <a:t>Objectives?</a:t>
            </a:r>
          </a:p>
        </p:txBody>
      </p:sp>
      <p:sp>
        <p:nvSpPr>
          <p:cNvPr id="19" name="TextBox 18"/>
          <p:cNvSpPr txBox="1"/>
          <p:nvPr/>
        </p:nvSpPr>
        <p:spPr>
          <a:xfrm>
            <a:off x="5349240" y="3858768"/>
            <a:ext cx="3063240" cy="640080"/>
          </a:xfrm>
          <a:prstGeom prst="rect">
            <a:avLst/>
          </a:prstGeom>
          <a:noFill/>
        </p:spPr>
        <p:txBody>
          <a:bodyPr wrap="square" lIns="73152" tIns="36576" rIns="73152" bIns="36576" anchor="t">
            <a:spAutoFit/>
          </a:bodyPr>
          <a:lstStyle/>
          <a:p>
            <a:pPr algn="l">
              <a:spcAft>
                <a:spcPts val="400"/>
              </a:spcAft>
            </a:pPr>
            <a:r>
              <a:rPr sz="1600" b="0" i="0">
                <a:solidFill>
                  <a:srgbClr val="262626"/>
                </a:solidFill>
              </a:rPr>
              <a:t>What is it meant to achieve?</a:t>
            </a:r>
          </a:p>
        </p:txBody>
      </p:sp>
      <p:sp>
        <p:nvSpPr>
          <p:cNvPr id="20" name="Rectangle 19"/>
          <p:cNvSpPr/>
          <p:nvPr/>
        </p:nvSpPr>
        <p:spPr>
          <a:xfrm>
            <a:off x="630936" y="4892040"/>
            <a:ext cx="7872983" cy="914400"/>
          </a:xfrm>
          <a:prstGeom prst="rect">
            <a:avLst/>
          </a:prstGeom>
          <a:solidFill>
            <a:srgbClr val="FCE9DB"/>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36576" rIns="73152" bIns="36576" rtlCol="0" anchor="ctr"/>
          <a:lstStyle/>
          <a:p>
            <a:pPr algn="l">
              <a:spcAft>
                <a:spcPts val="400"/>
              </a:spcAft>
            </a:pPr>
            <a:r>
              <a:rPr sz="1500" b="0" i="0" dirty="0">
                <a:solidFill>
                  <a:srgbClr val="262626"/>
                </a:solidFill>
              </a:rPr>
              <a:t>once the stalls are open, what becomes operations work?</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b="1" dirty="0">
                <a:effectLst>
                  <a:outerShdw blurRad="38100" dist="38100" dir="2700000" algn="tl">
                    <a:srgbClr val="000000">
                      <a:alpha val="43137"/>
                    </a:srgbClr>
                  </a:outerShdw>
                </a:effectLst>
              </a:rPr>
              <a:t>Project or Operation</a:t>
            </a:r>
          </a:p>
        </p:txBody>
      </p:sp>
      <p:sp>
        <p:nvSpPr>
          <p:cNvPr id="8" name="Content Placeholder 7"/>
          <p:cNvSpPr>
            <a:spLocks noGrp="1"/>
          </p:cNvSpPr>
          <p:nvPr>
            <p:ph idx="1"/>
          </p:nvPr>
        </p:nvSpPr>
        <p:spPr/>
        <p:txBody>
          <a:bodyPr>
            <a:normAutofit/>
          </a:bodyPr>
          <a:lstStyle/>
          <a:p>
            <a:pPr algn="just"/>
            <a:r>
              <a:rPr lang="en-US" dirty="0">
                <a:solidFill>
                  <a:schemeClr val="tx1">
                    <a:lumMod val="95000"/>
                    <a:lumOff val="5000"/>
                  </a:schemeClr>
                </a:solidFill>
              </a:rPr>
              <a:t>Each day a plumber fixes leaks in 20 different locations. Each leak may require a different solution (some may need a new washer, or a new pipe, or some putty), </a:t>
            </a:r>
            <a:r>
              <a:rPr lang="en-US" b="1" dirty="0">
                <a:solidFill>
                  <a:srgbClr val="FF0000"/>
                </a:solidFill>
              </a:rPr>
              <a:t>is it project or operation?</a:t>
            </a:r>
          </a:p>
          <a:p>
            <a:pPr algn="just"/>
            <a:r>
              <a:rPr lang="en-US" dirty="0">
                <a:solidFill>
                  <a:schemeClr val="tx1">
                    <a:lumMod val="95000"/>
                    <a:lumOff val="5000"/>
                  </a:schemeClr>
                </a:solidFill>
              </a:rPr>
              <a:t>But let’s say during a leak fix, he realizes that the whole tubing is weak, damaged at many locations, and is going to explode at any time. Thus, he informs the home owner that a “Redesign the bathroom” should be undertaken if you want a permanent fix. </a:t>
            </a:r>
            <a:r>
              <a:rPr lang="en-US" b="1" dirty="0">
                <a:solidFill>
                  <a:srgbClr val="FF0000"/>
                </a:solidFill>
              </a:rPr>
              <a:t>Now</a:t>
            </a:r>
            <a:r>
              <a:rPr lang="en-US" dirty="0">
                <a:solidFill>
                  <a:schemeClr val="tx1">
                    <a:lumMod val="95000"/>
                    <a:lumOff val="5000"/>
                  </a:schemeClr>
                </a:solidFill>
              </a:rPr>
              <a:t> </a:t>
            </a:r>
            <a:r>
              <a:rPr lang="en-US" b="1" dirty="0">
                <a:solidFill>
                  <a:srgbClr val="FF0000"/>
                </a:solidFill>
              </a:rPr>
              <a:t>is it a project or operation?</a:t>
            </a:r>
            <a:endParaRPr lang="en-US" dirty="0">
              <a:solidFill>
                <a:schemeClr val="tx1">
                  <a:lumMod val="95000"/>
                  <a:lumOff val="5000"/>
                </a:schemeClr>
              </a:solidFill>
            </a:endParaRPr>
          </a:p>
        </p:txBody>
      </p:sp>
    </p:spTree>
    <p:extLst>
      <p:ext uri="{BB962C8B-B14F-4D97-AF65-F5344CB8AC3E}">
        <p14:creationId xmlns:p14="http://schemas.microsoft.com/office/powerpoint/2010/main" val="24752624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b="1" dirty="0">
                <a:effectLst>
                  <a:outerShdw blurRad="38100" dist="38100" dir="2700000" algn="tl">
                    <a:srgbClr val="000000">
                      <a:alpha val="43137"/>
                    </a:srgbClr>
                  </a:outerShdw>
                </a:effectLst>
              </a:rPr>
              <a:t>Project or Operation (Solution)</a:t>
            </a:r>
          </a:p>
        </p:txBody>
      </p:sp>
      <p:sp>
        <p:nvSpPr>
          <p:cNvPr id="8" name="Content Placeholder 7"/>
          <p:cNvSpPr>
            <a:spLocks noGrp="1"/>
          </p:cNvSpPr>
          <p:nvPr>
            <p:ph idx="1"/>
          </p:nvPr>
        </p:nvSpPr>
        <p:spPr/>
        <p:txBody>
          <a:bodyPr>
            <a:normAutofit/>
          </a:bodyPr>
          <a:lstStyle/>
          <a:p>
            <a:r>
              <a:rPr lang="en-US" dirty="0">
                <a:solidFill>
                  <a:schemeClr val="tx1">
                    <a:lumMod val="95000"/>
                    <a:lumOff val="5000"/>
                  </a:schemeClr>
                </a:solidFill>
              </a:rPr>
              <a:t>A plumber may be doing a support work to fix a leak. Each day he fixes leaks in 20 locations. Each leak may require a different solution (some may need a new washer, or a new pipe, or some putty), but it is still support work.</a:t>
            </a:r>
          </a:p>
          <a:p>
            <a:endParaRPr lang="en-US" dirty="0">
              <a:solidFill>
                <a:schemeClr val="tx1">
                  <a:lumMod val="95000"/>
                  <a:lumOff val="5000"/>
                </a:schemeClr>
              </a:solidFill>
            </a:endParaRPr>
          </a:p>
          <a:p>
            <a:r>
              <a:rPr lang="en-US" dirty="0">
                <a:solidFill>
                  <a:schemeClr val="tx1">
                    <a:lumMod val="95000"/>
                    <a:lumOff val="5000"/>
                  </a:schemeClr>
                </a:solidFill>
              </a:rPr>
              <a:t>But let’s say during a leak fix, he realizes that the whole tubing is weak, damaged at many locations, and is going to explode at any time. Thus, he informs the home owner that a “Redesign the bathroom” project should be undertaken if you want a permanent fix, and the plumber can then give the details of the work required (scope), and a quotation (budget), and estimated time to fix the whole thing (schedule).</a:t>
            </a:r>
          </a:p>
        </p:txBody>
      </p:sp>
    </p:spTree>
    <p:extLst>
      <p:ext uri="{BB962C8B-B14F-4D97-AF65-F5344CB8AC3E}">
        <p14:creationId xmlns:p14="http://schemas.microsoft.com/office/powerpoint/2010/main" val="11339177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57200"/>
            <a:ext cx="7886700" cy="777240"/>
          </a:xfrm>
        </p:spPr>
        <p:txBody>
          <a:bodyPr/>
          <a:lstStyle/>
          <a:p>
            <a:r>
              <a:rPr sz="2600" b="1"/>
              <a:t>Stand Up or Sit Down?</a:t>
            </a:r>
          </a:p>
        </p:txBody>
      </p:sp>
      <p:sp>
        <p:nvSpPr>
          <p:cNvPr id="4" name="Rounded Rectangle 3"/>
          <p:cNvSpPr/>
          <p:nvPr/>
        </p:nvSpPr>
        <p:spPr>
          <a:xfrm>
            <a:off x="630936" y="1783080"/>
            <a:ext cx="3840480" cy="685800"/>
          </a:xfrm>
          <a:prstGeom prst="roundRect">
            <a:avLst>
              <a:gd name="adj" fmla="val 15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400"/>
              </a:spcAft>
            </a:pPr>
            <a:r>
              <a:rPr sz="2000" b="1" i="0">
                <a:solidFill>
                  <a:srgbClr val="FFFFFF"/>
                </a:solidFill>
              </a:rPr>
              <a:t>STAND UP</a:t>
            </a:r>
            <a:r>
              <a:rPr sz="1800" b="0" i="0">
                <a:solidFill>
                  <a:srgbClr val="FFFFFF"/>
                </a:solidFill>
              </a:rPr>
              <a:t>  =  Project</a:t>
            </a:r>
          </a:p>
        </p:txBody>
      </p:sp>
      <p:sp>
        <p:nvSpPr>
          <p:cNvPr id="5" name="Rounded Rectangle 4"/>
          <p:cNvSpPr/>
          <p:nvPr/>
        </p:nvSpPr>
        <p:spPr>
          <a:xfrm>
            <a:off x="4663440" y="1783080"/>
            <a:ext cx="3840480" cy="685800"/>
          </a:xfrm>
          <a:prstGeom prst="roundRect">
            <a:avLst>
              <a:gd name="adj" fmla="val 15000"/>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400"/>
              </a:spcAft>
            </a:pPr>
            <a:r>
              <a:rPr sz="2000" b="1" i="0">
                <a:solidFill>
                  <a:srgbClr val="FFFFFF"/>
                </a:solidFill>
              </a:rPr>
              <a:t>STAY SEATED</a:t>
            </a:r>
            <a:r>
              <a:rPr sz="1800" b="0" i="0">
                <a:solidFill>
                  <a:srgbClr val="FFFFFF"/>
                </a:solidFill>
              </a:rPr>
              <a:t>  =  Operation</a:t>
            </a:r>
          </a:p>
        </p:txBody>
      </p:sp>
      <p:sp>
        <p:nvSpPr>
          <p:cNvPr id="6" name="Oval 5"/>
          <p:cNvSpPr/>
          <p:nvPr/>
        </p:nvSpPr>
        <p:spPr>
          <a:xfrm>
            <a:off x="630936" y="2743200"/>
            <a:ext cx="365760" cy="365760"/>
          </a:xfrm>
          <a:prstGeom prst="ellipse">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wrap="square" lIns="0" tIns="36576" rIns="0" bIns="36576" rtlCol="0" anchor="ctr"/>
          <a:lstStyle/>
          <a:p>
            <a:pPr algn="ctr">
              <a:spcAft>
                <a:spcPts val="400"/>
              </a:spcAft>
            </a:pPr>
            <a:r>
              <a:rPr sz="1600" b="1" i="0">
                <a:solidFill>
                  <a:srgbClr val="FFFFFF"/>
                </a:solidFill>
              </a:rPr>
              <a:t>1</a:t>
            </a:r>
          </a:p>
        </p:txBody>
      </p:sp>
      <p:sp>
        <p:nvSpPr>
          <p:cNvPr id="7" name="TextBox 6"/>
          <p:cNvSpPr txBox="1"/>
          <p:nvPr/>
        </p:nvSpPr>
        <p:spPr>
          <a:xfrm>
            <a:off x="1088136" y="2770632"/>
            <a:ext cx="3383280" cy="731520"/>
          </a:xfrm>
          <a:prstGeom prst="rect">
            <a:avLst/>
          </a:prstGeom>
          <a:noFill/>
        </p:spPr>
        <p:txBody>
          <a:bodyPr wrap="square" lIns="73152" tIns="36576" rIns="73152" bIns="36576" anchor="t">
            <a:spAutoFit/>
          </a:bodyPr>
          <a:lstStyle/>
          <a:p>
            <a:pPr algn="l">
              <a:spcAft>
                <a:spcPts val="400"/>
              </a:spcAft>
            </a:pPr>
            <a:r>
              <a:rPr sz="1600" b="0" i="0">
                <a:solidFill>
                  <a:srgbClr val="262626"/>
                </a:solidFill>
              </a:rPr>
              <a:t>K-Electric’s monthly billing</a:t>
            </a:r>
          </a:p>
        </p:txBody>
      </p:sp>
      <p:sp>
        <p:nvSpPr>
          <p:cNvPr id="8" name="Oval 7"/>
          <p:cNvSpPr/>
          <p:nvPr/>
        </p:nvSpPr>
        <p:spPr>
          <a:xfrm>
            <a:off x="630936" y="3584448"/>
            <a:ext cx="365760" cy="365760"/>
          </a:xfrm>
          <a:prstGeom prst="ellipse">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wrap="square" lIns="0" tIns="36576" rIns="0" bIns="36576" rtlCol="0" anchor="ctr"/>
          <a:lstStyle/>
          <a:p>
            <a:pPr algn="ctr">
              <a:spcAft>
                <a:spcPts val="400"/>
              </a:spcAft>
            </a:pPr>
            <a:r>
              <a:rPr sz="1600" b="1" i="0">
                <a:solidFill>
                  <a:srgbClr val="FFFFFF"/>
                </a:solidFill>
              </a:rPr>
              <a:t>2</a:t>
            </a:r>
          </a:p>
        </p:txBody>
      </p:sp>
      <p:sp>
        <p:nvSpPr>
          <p:cNvPr id="9" name="TextBox 8"/>
          <p:cNvSpPr txBox="1"/>
          <p:nvPr/>
        </p:nvSpPr>
        <p:spPr>
          <a:xfrm>
            <a:off x="1088136" y="3611879"/>
            <a:ext cx="3383280" cy="731520"/>
          </a:xfrm>
          <a:prstGeom prst="rect">
            <a:avLst/>
          </a:prstGeom>
          <a:noFill/>
        </p:spPr>
        <p:txBody>
          <a:bodyPr wrap="square" lIns="73152" tIns="36576" rIns="73152" bIns="36576" anchor="t">
            <a:spAutoFit/>
          </a:bodyPr>
          <a:lstStyle/>
          <a:p>
            <a:pPr algn="l">
              <a:spcAft>
                <a:spcPts val="400"/>
              </a:spcAft>
            </a:pPr>
            <a:r>
              <a:rPr sz="1600" b="0" i="0">
                <a:solidFill>
                  <a:srgbClr val="262626"/>
                </a:solidFill>
              </a:rPr>
              <a:t>Building the Karachi BRT Red Line</a:t>
            </a:r>
          </a:p>
        </p:txBody>
      </p:sp>
      <p:sp>
        <p:nvSpPr>
          <p:cNvPr id="10" name="Oval 9"/>
          <p:cNvSpPr/>
          <p:nvPr/>
        </p:nvSpPr>
        <p:spPr>
          <a:xfrm>
            <a:off x="630936" y="4425696"/>
            <a:ext cx="365760" cy="365760"/>
          </a:xfrm>
          <a:prstGeom prst="ellipse">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wrap="square" lIns="0" tIns="36576" rIns="0" bIns="36576" rtlCol="0" anchor="ctr"/>
          <a:lstStyle/>
          <a:p>
            <a:pPr algn="ctr">
              <a:spcAft>
                <a:spcPts val="400"/>
              </a:spcAft>
            </a:pPr>
            <a:r>
              <a:rPr sz="1600" b="1" i="0">
                <a:solidFill>
                  <a:srgbClr val="FFFFFF"/>
                </a:solidFill>
              </a:rPr>
              <a:t>3</a:t>
            </a:r>
          </a:p>
        </p:txBody>
      </p:sp>
      <p:sp>
        <p:nvSpPr>
          <p:cNvPr id="11" name="TextBox 10"/>
          <p:cNvSpPr txBox="1"/>
          <p:nvPr/>
        </p:nvSpPr>
        <p:spPr>
          <a:xfrm>
            <a:off x="1088136" y="4453128"/>
            <a:ext cx="3383280" cy="731520"/>
          </a:xfrm>
          <a:prstGeom prst="rect">
            <a:avLst/>
          </a:prstGeom>
          <a:noFill/>
        </p:spPr>
        <p:txBody>
          <a:bodyPr wrap="square" lIns="73152" tIns="36576" rIns="73152" bIns="36576" anchor="t">
            <a:spAutoFit/>
          </a:bodyPr>
          <a:lstStyle/>
          <a:p>
            <a:pPr algn="l">
              <a:spcAft>
                <a:spcPts val="400"/>
              </a:spcAft>
            </a:pPr>
            <a:r>
              <a:rPr sz="1600" b="0" i="0">
                <a:solidFill>
                  <a:srgbClr val="262626"/>
                </a:solidFill>
              </a:rPr>
              <a:t>Daraz processing today’s orders</a:t>
            </a:r>
          </a:p>
        </p:txBody>
      </p:sp>
      <p:sp>
        <p:nvSpPr>
          <p:cNvPr id="12" name="Oval 11"/>
          <p:cNvSpPr/>
          <p:nvPr/>
        </p:nvSpPr>
        <p:spPr>
          <a:xfrm>
            <a:off x="630936" y="5266944"/>
            <a:ext cx="365760" cy="365760"/>
          </a:xfrm>
          <a:prstGeom prst="ellipse">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wrap="square" lIns="0" tIns="36576" rIns="0" bIns="36576" rtlCol="0" anchor="ctr"/>
          <a:lstStyle/>
          <a:p>
            <a:pPr algn="ctr">
              <a:spcAft>
                <a:spcPts val="400"/>
              </a:spcAft>
            </a:pPr>
            <a:r>
              <a:rPr sz="1600" b="1" i="0">
                <a:solidFill>
                  <a:srgbClr val="FFFFFF"/>
                </a:solidFill>
              </a:rPr>
              <a:t>4</a:t>
            </a:r>
          </a:p>
        </p:txBody>
      </p:sp>
      <p:sp>
        <p:nvSpPr>
          <p:cNvPr id="13" name="TextBox 12"/>
          <p:cNvSpPr txBox="1"/>
          <p:nvPr/>
        </p:nvSpPr>
        <p:spPr>
          <a:xfrm>
            <a:off x="1088136" y="5294376"/>
            <a:ext cx="3383280" cy="731520"/>
          </a:xfrm>
          <a:prstGeom prst="rect">
            <a:avLst/>
          </a:prstGeom>
          <a:noFill/>
        </p:spPr>
        <p:txBody>
          <a:bodyPr wrap="square" lIns="73152" tIns="36576" rIns="73152" bIns="36576" anchor="t">
            <a:spAutoFit/>
          </a:bodyPr>
          <a:lstStyle/>
          <a:p>
            <a:pPr algn="l">
              <a:spcAft>
                <a:spcPts val="400"/>
              </a:spcAft>
            </a:pPr>
            <a:r>
              <a:rPr sz="1600" b="0" i="0">
                <a:solidFill>
                  <a:srgbClr val="262626"/>
                </a:solidFill>
              </a:rPr>
              <a:t>Daraz launching its 11.11 sale</a:t>
            </a:r>
          </a:p>
        </p:txBody>
      </p:sp>
      <p:sp>
        <p:nvSpPr>
          <p:cNvPr id="14" name="Oval 13"/>
          <p:cNvSpPr/>
          <p:nvPr/>
        </p:nvSpPr>
        <p:spPr>
          <a:xfrm>
            <a:off x="4663440" y="2743200"/>
            <a:ext cx="365760" cy="365760"/>
          </a:xfrm>
          <a:prstGeom prst="ellipse">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wrap="square" lIns="0" tIns="36576" rIns="0" bIns="36576" rtlCol="0" anchor="ctr"/>
          <a:lstStyle/>
          <a:p>
            <a:pPr algn="ctr">
              <a:spcAft>
                <a:spcPts val="400"/>
              </a:spcAft>
            </a:pPr>
            <a:r>
              <a:rPr sz="1600" b="1" i="0">
                <a:solidFill>
                  <a:srgbClr val="FFFFFF"/>
                </a:solidFill>
              </a:rPr>
              <a:t>5</a:t>
            </a:r>
          </a:p>
        </p:txBody>
      </p:sp>
      <p:sp>
        <p:nvSpPr>
          <p:cNvPr id="15" name="TextBox 14"/>
          <p:cNvSpPr txBox="1"/>
          <p:nvPr/>
        </p:nvSpPr>
        <p:spPr>
          <a:xfrm>
            <a:off x="5120640" y="2770632"/>
            <a:ext cx="3383280" cy="731520"/>
          </a:xfrm>
          <a:prstGeom prst="rect">
            <a:avLst/>
          </a:prstGeom>
          <a:noFill/>
        </p:spPr>
        <p:txBody>
          <a:bodyPr wrap="square" lIns="73152" tIns="36576" rIns="73152" bIns="36576" anchor="t">
            <a:spAutoFit/>
          </a:bodyPr>
          <a:lstStyle/>
          <a:p>
            <a:pPr algn="l">
              <a:spcAft>
                <a:spcPts val="400"/>
              </a:spcAft>
            </a:pPr>
            <a:r>
              <a:rPr sz="1600" b="0" i="0">
                <a:solidFill>
                  <a:srgbClr val="262626"/>
                </a:solidFill>
              </a:rPr>
              <a:t>A bank handling daily cash deposits</a:t>
            </a:r>
          </a:p>
        </p:txBody>
      </p:sp>
      <p:sp>
        <p:nvSpPr>
          <p:cNvPr id="16" name="Oval 15"/>
          <p:cNvSpPr/>
          <p:nvPr/>
        </p:nvSpPr>
        <p:spPr>
          <a:xfrm>
            <a:off x="4663440" y="3584448"/>
            <a:ext cx="365760" cy="365760"/>
          </a:xfrm>
          <a:prstGeom prst="ellipse">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wrap="square" lIns="0" tIns="36576" rIns="0" bIns="36576" rtlCol="0" anchor="ctr"/>
          <a:lstStyle/>
          <a:p>
            <a:pPr algn="ctr">
              <a:spcAft>
                <a:spcPts val="400"/>
              </a:spcAft>
            </a:pPr>
            <a:r>
              <a:rPr sz="1600" b="1" i="0">
                <a:solidFill>
                  <a:srgbClr val="FFFFFF"/>
                </a:solidFill>
              </a:rPr>
              <a:t>6</a:t>
            </a:r>
          </a:p>
        </p:txBody>
      </p:sp>
      <p:sp>
        <p:nvSpPr>
          <p:cNvPr id="17" name="TextBox 16"/>
          <p:cNvSpPr txBox="1"/>
          <p:nvPr/>
        </p:nvSpPr>
        <p:spPr>
          <a:xfrm>
            <a:off x="5120640" y="3611879"/>
            <a:ext cx="3383280" cy="731520"/>
          </a:xfrm>
          <a:prstGeom prst="rect">
            <a:avLst/>
          </a:prstGeom>
          <a:noFill/>
        </p:spPr>
        <p:txBody>
          <a:bodyPr wrap="square" lIns="73152" tIns="36576" rIns="73152" bIns="36576" anchor="t">
            <a:spAutoFit/>
          </a:bodyPr>
          <a:lstStyle/>
          <a:p>
            <a:pPr algn="l">
              <a:spcAft>
                <a:spcPts val="400"/>
              </a:spcAft>
            </a:pPr>
            <a:r>
              <a:rPr sz="1600" b="0" i="0">
                <a:solidFill>
                  <a:srgbClr val="262626"/>
                </a:solidFill>
              </a:rPr>
              <a:t>A bank moving to a new core banking system</a:t>
            </a:r>
          </a:p>
        </p:txBody>
      </p:sp>
      <p:sp>
        <p:nvSpPr>
          <p:cNvPr id="18" name="Oval 17"/>
          <p:cNvSpPr/>
          <p:nvPr/>
        </p:nvSpPr>
        <p:spPr>
          <a:xfrm>
            <a:off x="4663440" y="4425696"/>
            <a:ext cx="365760" cy="365760"/>
          </a:xfrm>
          <a:prstGeom prst="ellipse">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wrap="square" lIns="0" tIns="36576" rIns="0" bIns="36576" rtlCol="0" anchor="ctr"/>
          <a:lstStyle/>
          <a:p>
            <a:pPr algn="ctr">
              <a:spcAft>
                <a:spcPts val="400"/>
              </a:spcAft>
            </a:pPr>
            <a:r>
              <a:rPr sz="1600" b="1" i="0">
                <a:solidFill>
                  <a:srgbClr val="FFFFFF"/>
                </a:solidFill>
              </a:rPr>
              <a:t>7</a:t>
            </a:r>
          </a:p>
        </p:txBody>
      </p:sp>
      <p:sp>
        <p:nvSpPr>
          <p:cNvPr id="19" name="TextBox 18"/>
          <p:cNvSpPr txBox="1"/>
          <p:nvPr/>
        </p:nvSpPr>
        <p:spPr>
          <a:xfrm>
            <a:off x="5120640" y="4453128"/>
            <a:ext cx="3383280" cy="731520"/>
          </a:xfrm>
          <a:prstGeom prst="rect">
            <a:avLst/>
          </a:prstGeom>
          <a:noFill/>
        </p:spPr>
        <p:txBody>
          <a:bodyPr wrap="square" lIns="73152" tIns="36576" rIns="73152" bIns="36576" anchor="t">
            <a:spAutoFit/>
          </a:bodyPr>
          <a:lstStyle/>
          <a:p>
            <a:pPr algn="l">
              <a:spcAft>
                <a:spcPts val="400"/>
              </a:spcAft>
            </a:pPr>
            <a:r>
              <a:rPr sz="1600" b="0" i="0">
                <a:solidFill>
                  <a:srgbClr val="262626"/>
                </a:solidFill>
              </a:rPr>
              <a:t>Your Final Year Project</a:t>
            </a:r>
          </a:p>
        </p:txBody>
      </p:sp>
      <p:sp>
        <p:nvSpPr>
          <p:cNvPr id="20" name="Oval 19"/>
          <p:cNvSpPr/>
          <p:nvPr/>
        </p:nvSpPr>
        <p:spPr>
          <a:xfrm>
            <a:off x="4663440" y="5266944"/>
            <a:ext cx="365760" cy="365760"/>
          </a:xfrm>
          <a:prstGeom prst="ellipse">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wrap="square" lIns="0" tIns="36576" rIns="0" bIns="36576" rtlCol="0" anchor="ctr"/>
          <a:lstStyle/>
          <a:p>
            <a:pPr algn="ctr">
              <a:spcAft>
                <a:spcPts val="400"/>
              </a:spcAft>
            </a:pPr>
            <a:r>
              <a:rPr sz="1600" b="1" i="0">
                <a:solidFill>
                  <a:srgbClr val="FFFFFF"/>
                </a:solidFill>
              </a:rPr>
              <a:t>8</a:t>
            </a:r>
          </a:p>
        </p:txBody>
      </p:sp>
      <p:sp>
        <p:nvSpPr>
          <p:cNvPr id="21" name="TextBox 20"/>
          <p:cNvSpPr txBox="1"/>
          <p:nvPr/>
        </p:nvSpPr>
        <p:spPr>
          <a:xfrm>
            <a:off x="5120640" y="5294376"/>
            <a:ext cx="3383280" cy="731520"/>
          </a:xfrm>
          <a:prstGeom prst="rect">
            <a:avLst/>
          </a:prstGeom>
          <a:noFill/>
        </p:spPr>
        <p:txBody>
          <a:bodyPr wrap="square" lIns="73152" tIns="36576" rIns="73152" bIns="36576" anchor="t">
            <a:spAutoFit/>
          </a:bodyPr>
          <a:lstStyle/>
          <a:p>
            <a:pPr algn="l">
              <a:spcAft>
                <a:spcPts val="400"/>
              </a:spcAft>
            </a:pPr>
            <a:r>
              <a:rPr sz="1600" b="0" i="0">
                <a:solidFill>
                  <a:srgbClr val="262626"/>
                </a:solidFill>
              </a:rPr>
              <a:t>Attending your weekly classes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57200"/>
            <a:ext cx="7886700" cy="777240"/>
          </a:xfrm>
        </p:spPr>
        <p:txBody>
          <a:bodyPr/>
          <a:lstStyle/>
          <a:p>
            <a:r>
              <a:rPr sz="2600" b="1"/>
              <a:t>Exit Ticket</a:t>
            </a:r>
          </a:p>
        </p:txBody>
      </p:sp>
      <p:sp>
        <p:nvSpPr>
          <p:cNvPr id="4" name="Rounded Rectangle 3"/>
          <p:cNvSpPr/>
          <p:nvPr/>
        </p:nvSpPr>
        <p:spPr>
          <a:xfrm>
            <a:off x="630936" y="1920240"/>
            <a:ext cx="7872983" cy="2560320"/>
          </a:xfrm>
          <a:prstGeom prst="roundRect">
            <a:avLst>
              <a:gd name="adj" fmla="val 6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365760" tIns="36576" rIns="365760" bIns="36576" rtlCol="0" anchor="ctr"/>
          <a:lstStyle/>
          <a:p>
            <a:pPr algn="ctr">
              <a:spcAft>
                <a:spcPts val="400"/>
              </a:spcAft>
            </a:pPr>
            <a:r>
              <a:rPr sz="2600" b="1" i="0">
                <a:solidFill>
                  <a:srgbClr val="FFFFFF"/>
                </a:solidFill>
              </a:rPr>
              <a:t>Which classic mistake is your FYP group most at risk of right now?</a:t>
            </a:r>
          </a:p>
          <a:p>
            <a:pPr algn="ctr">
              <a:spcAft>
                <a:spcPts val="400"/>
              </a:spcAft>
            </a:pPr>
            <a:r>
              <a:rPr sz="1800" b="0" i="0">
                <a:solidFill>
                  <a:srgbClr val="C9D6EE"/>
                </a:solidFill>
              </a:rPr>
              <a:t>And one thing you will do this week to prevent it.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3"/>
          <p:cNvSpPr>
            <a:spLocks noGrp="1"/>
          </p:cNvSpPr>
          <p:nvPr>
            <p:ph type="title"/>
          </p:nvPr>
        </p:nvSpPr>
        <p:spPr>
          <a:xfrm>
            <a:off x="623888" y="1709739"/>
            <a:ext cx="7886700" cy="2852737"/>
          </a:xfrm>
        </p:spPr>
        <p:txBody>
          <a:bodyPr/>
          <a:lstStyle/>
          <a:p>
            <a:r>
              <a:rPr lang="en-US" dirty="0"/>
              <a:t>The Project Life Cycle - Overview</a:t>
            </a:r>
            <a:endParaRPr lang="en-US" altLang="en-US" dirty="0"/>
          </a:p>
        </p:txBody>
      </p:sp>
      <p:sp>
        <p:nvSpPr>
          <p:cNvPr id="3" name="Text Placeholder 2">
            <a:extLst>
              <a:ext uri="{FF2B5EF4-FFF2-40B4-BE49-F238E27FC236}">
                <a16:creationId xmlns:a16="http://schemas.microsoft.com/office/drawing/2014/main" id="{9F2AF5E8-89DA-4243-9100-08BC64F12A33}"/>
              </a:ext>
            </a:extLst>
          </p:cNvPr>
          <p:cNvSpPr>
            <a:spLocks noGrp="1"/>
          </p:cNvSpPr>
          <p:nvPr>
            <p:ph type="body" idx="1"/>
          </p:nvPr>
        </p:nvSpPr>
        <p:spPr>
          <a:xfrm>
            <a:off x="623888" y="4589464"/>
            <a:ext cx="7886700" cy="1500187"/>
          </a:xfrm>
        </p:spPr>
        <p:txBody>
          <a:bodyPr/>
          <a:lstStyle/>
          <a:p>
            <a:r>
              <a:rPr lang="en-US" altLang="en-US" dirty="0"/>
              <a:t>Characteristics of a project life cycle</a:t>
            </a:r>
            <a:endParaRPr lang="en-PK" dirty="0"/>
          </a:p>
        </p:txBody>
      </p:sp>
      <p:sp>
        <p:nvSpPr>
          <p:cNvPr id="7" name="Title 1"/>
          <p:cNvSpPr txBox="1">
            <a:spLocks/>
          </p:cNvSpPr>
          <p:nvPr/>
        </p:nvSpPr>
        <p:spPr bwMode="auto">
          <a:xfrm>
            <a:off x="228600" y="2133600"/>
            <a:ext cx="8686800" cy="1143000"/>
          </a:xfrm>
          <a:prstGeom prst="rect">
            <a:avLst/>
          </a:prstGeom>
          <a:noFill/>
          <a:ln w="9525">
            <a:noFill/>
            <a:miter lim="800000"/>
            <a:headEnd/>
            <a:tailEnd/>
          </a:ln>
        </p:spPr>
        <p:txBody>
          <a:bodyPr/>
          <a:lstStyle/>
          <a:p>
            <a:pPr algn="ctr" eaLnBrk="1" fontAlgn="auto" hangingPunct="1">
              <a:spcBef>
                <a:spcPts val="0"/>
              </a:spcBef>
              <a:spcAft>
                <a:spcPts val="0"/>
              </a:spcAft>
              <a:defRPr/>
            </a:pPr>
            <a:endParaRPr lang="en-US" sz="3600" b="1" kern="0" cap="all" dirty="0">
              <a:solidFill>
                <a:srgbClr val="4D7473"/>
              </a:solidFill>
              <a:latin typeface="+mj-lt"/>
              <a:ea typeface="+mj-ea"/>
              <a:cs typeface="+mj-cs"/>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rtlCol="0">
            <a:normAutofit/>
          </a:bodyPr>
          <a:lstStyle/>
          <a:p>
            <a:pPr fontAlgn="auto">
              <a:spcAft>
                <a:spcPts val="0"/>
              </a:spcAft>
              <a:defRPr/>
            </a:pPr>
            <a:r>
              <a:rPr lang="en-US" altLang="en-US" dirty="0">
                <a:solidFill>
                  <a:schemeClr val="tx1">
                    <a:lumMod val="85000"/>
                    <a:lumOff val="15000"/>
                  </a:schemeClr>
                </a:solidFill>
              </a:rPr>
              <a:t>The Project Life Cycle - Overview</a:t>
            </a:r>
          </a:p>
        </p:txBody>
      </p:sp>
      <p:sp>
        <p:nvSpPr>
          <p:cNvPr id="7171" name="Content Placeholder 2"/>
          <p:cNvSpPr>
            <a:spLocks noGrp="1"/>
          </p:cNvSpPr>
          <p:nvPr>
            <p:ph idx="1"/>
          </p:nvPr>
        </p:nvSpPr>
        <p:spPr>
          <a:xfrm>
            <a:off x="643398" y="1905000"/>
            <a:ext cx="8382000" cy="3757612"/>
          </a:xfrm>
        </p:spPr>
        <p:txBody>
          <a:bodyPr rtlCol="0">
            <a:normAutofit/>
          </a:bodyPr>
          <a:lstStyle/>
          <a:p>
            <a:pPr fontAlgn="auto">
              <a:buFont typeface="Wingdings" panose="05000000000000000000" pitchFamily="2" charset="2"/>
              <a:buNone/>
              <a:defRPr/>
            </a:pPr>
            <a:r>
              <a:rPr lang="en-US" dirty="0">
                <a:solidFill>
                  <a:srgbClr val="C00000"/>
                </a:solidFill>
              </a:rPr>
              <a:t>What is Project Life Cycle? </a:t>
            </a:r>
            <a:r>
              <a:rPr lang="en-US" dirty="0">
                <a:solidFill>
                  <a:schemeClr val="tx1">
                    <a:lumMod val="85000"/>
                    <a:lumOff val="15000"/>
                  </a:schemeClr>
                </a:solidFill>
              </a:rPr>
              <a:t>	</a:t>
            </a:r>
          </a:p>
          <a:p>
            <a:pPr marL="0" indent="0" fontAlgn="auto">
              <a:buFont typeface="Wingdings" panose="05000000000000000000" pitchFamily="2" charset="2"/>
              <a:buNone/>
              <a:defRPr/>
            </a:pPr>
            <a:r>
              <a:rPr lang="en-US" dirty="0">
                <a:solidFill>
                  <a:schemeClr val="tx1">
                    <a:lumMod val="85000"/>
                    <a:lumOff val="15000"/>
                  </a:schemeClr>
                </a:solidFill>
              </a:rPr>
              <a:t>A project life cycle is a collection of </a:t>
            </a:r>
            <a:r>
              <a:rPr lang="en-US" dirty="0">
                <a:solidFill>
                  <a:srgbClr val="00B050"/>
                </a:solidFill>
              </a:rPr>
              <a:t>generally sequential</a:t>
            </a:r>
            <a:r>
              <a:rPr lang="en-US" dirty="0">
                <a:solidFill>
                  <a:schemeClr val="tx1">
                    <a:lumMod val="85000"/>
                    <a:lumOff val="15000"/>
                  </a:schemeClr>
                </a:solidFill>
              </a:rPr>
              <a:t> and </a:t>
            </a:r>
            <a:r>
              <a:rPr lang="en-US" dirty="0">
                <a:solidFill>
                  <a:srgbClr val="00B050"/>
                </a:solidFill>
              </a:rPr>
              <a:t>sometimes overlapping</a:t>
            </a:r>
            <a:r>
              <a:rPr lang="en-US" dirty="0">
                <a:solidFill>
                  <a:schemeClr val="tx1">
                    <a:lumMod val="85000"/>
                    <a:lumOff val="15000"/>
                  </a:schemeClr>
                </a:solidFill>
              </a:rPr>
              <a:t> project phases.</a:t>
            </a:r>
          </a:p>
          <a:p>
            <a:pPr fontAlgn="auto">
              <a:buFont typeface="Wingdings" panose="05000000000000000000" pitchFamily="2" charset="2"/>
              <a:buChar char="v"/>
              <a:defRPr/>
            </a:pPr>
            <a:r>
              <a:rPr lang="en-US" dirty="0">
                <a:solidFill>
                  <a:schemeClr val="tx1">
                    <a:lumMod val="85000"/>
                    <a:lumOff val="15000"/>
                  </a:schemeClr>
                </a:solidFill>
              </a:rPr>
              <a:t>The phases are assigned names and numbers.</a:t>
            </a:r>
          </a:p>
          <a:p>
            <a:pPr fontAlgn="auto">
              <a:buFont typeface="Wingdings" panose="05000000000000000000" pitchFamily="2" charset="2"/>
              <a:buChar char="v"/>
              <a:defRPr/>
            </a:pPr>
            <a:r>
              <a:rPr lang="en-US" dirty="0">
                <a:solidFill>
                  <a:schemeClr val="tx1">
                    <a:lumMod val="85000"/>
                    <a:lumOff val="15000"/>
                  </a:schemeClr>
                </a:solidFill>
              </a:rPr>
              <a:t>The name and number are determined by </a:t>
            </a:r>
          </a:p>
          <a:p>
            <a:pPr marL="1035050" indent="-349250" fontAlgn="auto">
              <a:buFont typeface="Wingdings" panose="05000000000000000000" pitchFamily="2" charset="2"/>
              <a:buChar char="q"/>
              <a:defRPr/>
            </a:pPr>
            <a:r>
              <a:rPr lang="en-US" dirty="0">
                <a:solidFill>
                  <a:schemeClr val="tx1">
                    <a:lumMod val="85000"/>
                    <a:lumOff val="15000"/>
                  </a:schemeClr>
                </a:solidFill>
              </a:rPr>
              <a:t>the </a:t>
            </a:r>
            <a:r>
              <a:rPr lang="en-US" dirty="0">
                <a:solidFill>
                  <a:srgbClr val="00B050"/>
                </a:solidFill>
              </a:rPr>
              <a:t>management and control needs </a:t>
            </a:r>
            <a:r>
              <a:rPr lang="en-US" dirty="0">
                <a:solidFill>
                  <a:schemeClr val="tx1">
                    <a:lumMod val="85000"/>
                    <a:lumOff val="15000"/>
                  </a:schemeClr>
                </a:solidFill>
              </a:rPr>
              <a:t>of the organization or organizations involved in the project, </a:t>
            </a:r>
          </a:p>
          <a:p>
            <a:pPr marL="1035050" indent="-349250" fontAlgn="auto">
              <a:buFont typeface="Wingdings" panose="05000000000000000000" pitchFamily="2" charset="2"/>
              <a:buChar char="q"/>
              <a:defRPr/>
            </a:pPr>
            <a:r>
              <a:rPr lang="en-US" dirty="0">
                <a:solidFill>
                  <a:schemeClr val="tx1">
                    <a:lumMod val="85000"/>
                    <a:lumOff val="15000"/>
                  </a:schemeClr>
                </a:solidFill>
              </a:rPr>
              <a:t>the </a:t>
            </a:r>
            <a:r>
              <a:rPr lang="en-US" dirty="0">
                <a:solidFill>
                  <a:srgbClr val="00B050"/>
                </a:solidFill>
              </a:rPr>
              <a:t>nature of the project </a:t>
            </a:r>
            <a:r>
              <a:rPr lang="en-US" dirty="0">
                <a:solidFill>
                  <a:schemeClr val="tx1">
                    <a:lumMod val="85000"/>
                    <a:lumOff val="15000"/>
                  </a:schemeClr>
                </a:solidFill>
              </a:rPr>
              <a:t>itself, and </a:t>
            </a:r>
          </a:p>
          <a:p>
            <a:pPr marL="1035050" indent="-349250" fontAlgn="auto">
              <a:buFont typeface="Wingdings" panose="05000000000000000000" pitchFamily="2" charset="2"/>
              <a:buChar char="q"/>
              <a:defRPr/>
            </a:pPr>
            <a:r>
              <a:rPr lang="en-US" dirty="0">
                <a:solidFill>
                  <a:schemeClr val="tx1">
                    <a:lumMod val="85000"/>
                    <a:lumOff val="15000"/>
                  </a:schemeClr>
                </a:solidFill>
              </a:rPr>
              <a:t>its </a:t>
            </a:r>
            <a:r>
              <a:rPr lang="en-US" dirty="0">
                <a:solidFill>
                  <a:srgbClr val="00B050"/>
                </a:solidFill>
              </a:rPr>
              <a:t>area of application</a:t>
            </a:r>
            <a:r>
              <a:rPr lang="en-US" dirty="0">
                <a:solidFill>
                  <a:schemeClr val="tx1">
                    <a:lumMod val="85000"/>
                    <a:lumOff val="15000"/>
                  </a:schemeClr>
                </a:solidFill>
              </a:rPr>
              <a:t>. </a:t>
            </a:r>
          </a:p>
          <a:p>
            <a:pPr fontAlgn="auto">
              <a:buFont typeface="Wingdings" panose="05000000000000000000" pitchFamily="2" charset="2"/>
              <a:buNone/>
              <a:defRPr/>
            </a:pPr>
            <a:endParaRPr lang="en-US" i="1" dirty="0">
              <a:solidFill>
                <a:srgbClr val="C00000"/>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rtlCol="0">
            <a:normAutofit/>
          </a:bodyPr>
          <a:lstStyle/>
          <a:p>
            <a:pPr fontAlgn="auto">
              <a:spcAft>
                <a:spcPts val="0"/>
              </a:spcAft>
              <a:defRPr/>
            </a:pPr>
            <a:r>
              <a:rPr lang="en-US" altLang="en-US" dirty="0">
                <a:solidFill>
                  <a:schemeClr val="tx1">
                    <a:lumMod val="85000"/>
                    <a:lumOff val="15000"/>
                  </a:schemeClr>
                </a:solidFill>
              </a:rPr>
              <a:t>The Project Life Cycle - Overview</a:t>
            </a:r>
          </a:p>
        </p:txBody>
      </p:sp>
      <p:sp>
        <p:nvSpPr>
          <p:cNvPr id="9219" name="Content Placeholder 2"/>
          <p:cNvSpPr>
            <a:spLocks noGrp="1"/>
          </p:cNvSpPr>
          <p:nvPr>
            <p:ph idx="1"/>
          </p:nvPr>
        </p:nvSpPr>
        <p:spPr>
          <a:xfrm>
            <a:off x="1176338" y="2490788"/>
            <a:ext cx="6799262" cy="3681412"/>
          </a:xfrm>
        </p:spPr>
        <p:txBody>
          <a:bodyPr rtlCol="0">
            <a:normAutofit/>
          </a:bodyPr>
          <a:lstStyle/>
          <a:p>
            <a:pPr fontAlgn="auto">
              <a:buFont typeface="Wingdings" panose="05000000000000000000" pitchFamily="2" charset="2"/>
              <a:buNone/>
              <a:defRPr/>
            </a:pPr>
            <a:r>
              <a:rPr lang="en-US" dirty="0">
                <a:solidFill>
                  <a:schemeClr val="tx1">
                    <a:lumMod val="85000"/>
                    <a:lumOff val="15000"/>
                  </a:schemeClr>
                </a:solidFill>
              </a:rPr>
              <a:t>	The project life cycle can be </a:t>
            </a:r>
            <a:r>
              <a:rPr lang="en-US" dirty="0">
                <a:solidFill>
                  <a:srgbClr val="00B050"/>
                </a:solidFill>
              </a:rPr>
              <a:t>determined or shaped by </a:t>
            </a:r>
          </a:p>
          <a:p>
            <a:pPr marL="806450" indent="-349250" fontAlgn="auto">
              <a:buFont typeface="Wingdings" panose="05000000000000000000" pitchFamily="2" charset="2"/>
              <a:buChar char="q"/>
              <a:defRPr/>
            </a:pPr>
            <a:r>
              <a:rPr lang="en-US" dirty="0">
                <a:solidFill>
                  <a:schemeClr val="tx1">
                    <a:lumMod val="85000"/>
                    <a:lumOff val="15000"/>
                  </a:schemeClr>
                </a:solidFill>
              </a:rPr>
              <a:t>the unique aspects of the organization, </a:t>
            </a:r>
          </a:p>
          <a:p>
            <a:pPr marL="806450" indent="-349250" fontAlgn="auto">
              <a:buFont typeface="Wingdings" panose="05000000000000000000" pitchFamily="2" charset="2"/>
              <a:buChar char="q"/>
              <a:defRPr/>
            </a:pPr>
            <a:r>
              <a:rPr lang="en-US" dirty="0">
                <a:solidFill>
                  <a:schemeClr val="tx1">
                    <a:lumMod val="85000"/>
                    <a:lumOff val="15000"/>
                  </a:schemeClr>
                </a:solidFill>
              </a:rPr>
              <a:t>Deliverables, and </a:t>
            </a:r>
          </a:p>
          <a:p>
            <a:pPr marL="806450" indent="-349250" fontAlgn="auto">
              <a:buFont typeface="Wingdings" panose="05000000000000000000" pitchFamily="2" charset="2"/>
              <a:buChar char="q"/>
              <a:defRPr/>
            </a:pPr>
            <a:r>
              <a:rPr lang="en-US" dirty="0">
                <a:solidFill>
                  <a:schemeClr val="tx1">
                    <a:lumMod val="85000"/>
                    <a:lumOff val="15000"/>
                  </a:schemeClr>
                </a:solidFill>
              </a:rPr>
              <a:t>activities that take place in between will vary widely with the project. </a:t>
            </a:r>
          </a:p>
          <a:p>
            <a:pPr fontAlgn="auto">
              <a:buFont typeface="Wingdings" panose="05000000000000000000" pitchFamily="2" charset="2"/>
              <a:buNone/>
              <a:defRPr/>
            </a:pPr>
            <a:r>
              <a:rPr lang="en-US" dirty="0">
                <a:solidFill>
                  <a:schemeClr val="tx1">
                    <a:lumMod val="85000"/>
                    <a:lumOff val="15000"/>
                  </a:schemeClr>
                </a:solidFill>
              </a:rPr>
              <a:t> </a:t>
            </a:r>
          </a:p>
          <a:p>
            <a:pPr marL="0" indent="0" fontAlgn="auto">
              <a:buFont typeface="Wingdings" panose="05000000000000000000" pitchFamily="2" charset="2"/>
              <a:buNone/>
              <a:defRPr/>
            </a:pPr>
            <a:r>
              <a:rPr lang="en-US" dirty="0">
                <a:solidFill>
                  <a:schemeClr val="tx1">
                    <a:lumMod val="85000"/>
                    <a:lumOff val="15000"/>
                  </a:schemeClr>
                </a:solidFill>
              </a:rPr>
              <a:t>The life cycle </a:t>
            </a:r>
            <a:r>
              <a:rPr lang="en-US" dirty="0">
                <a:solidFill>
                  <a:srgbClr val="00B050"/>
                </a:solidFill>
              </a:rPr>
              <a:t>provides the basic framework </a:t>
            </a:r>
            <a:r>
              <a:rPr lang="en-US" dirty="0">
                <a:solidFill>
                  <a:srgbClr val="FF0000"/>
                </a:solidFill>
              </a:rPr>
              <a:t>for managing the project</a:t>
            </a:r>
            <a:r>
              <a:rPr lang="en-US" dirty="0">
                <a:solidFill>
                  <a:schemeClr val="tx1">
                    <a:lumMod val="85000"/>
                    <a:lumOff val="15000"/>
                  </a:schemeClr>
                </a:solidFill>
              </a:rPr>
              <a:t>, regardless of the specific work involved. </a:t>
            </a:r>
            <a:endParaRPr lang="en-US" i="1" dirty="0">
              <a:solidFill>
                <a:srgbClr val="C00000"/>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rtlCol="0">
            <a:normAutofit/>
          </a:bodyPr>
          <a:lstStyle/>
          <a:p>
            <a:pPr fontAlgn="auto">
              <a:spcAft>
                <a:spcPts val="0"/>
              </a:spcAft>
              <a:defRPr/>
            </a:pPr>
            <a:r>
              <a:rPr lang="en-US" altLang="en-US" dirty="0">
                <a:solidFill>
                  <a:schemeClr val="tx1">
                    <a:lumMod val="85000"/>
                    <a:lumOff val="15000"/>
                  </a:schemeClr>
                </a:solidFill>
              </a:rPr>
              <a:t> The Project Life Cycle - Overview</a:t>
            </a:r>
          </a:p>
        </p:txBody>
      </p:sp>
      <p:sp>
        <p:nvSpPr>
          <p:cNvPr id="9219" name="Content Placeholder 2"/>
          <p:cNvSpPr>
            <a:spLocks noGrp="1"/>
          </p:cNvSpPr>
          <p:nvPr>
            <p:ph idx="1"/>
          </p:nvPr>
        </p:nvSpPr>
        <p:spPr>
          <a:xfrm>
            <a:off x="914400" y="1905000"/>
            <a:ext cx="6799262" cy="3757612"/>
          </a:xfrm>
        </p:spPr>
        <p:txBody>
          <a:bodyPr rtlCol="0">
            <a:normAutofit lnSpcReduction="10000"/>
          </a:bodyPr>
          <a:lstStyle/>
          <a:p>
            <a:pPr fontAlgn="auto">
              <a:buFont typeface="Wingdings" panose="05000000000000000000" pitchFamily="2" charset="2"/>
              <a:buNone/>
              <a:defRPr/>
            </a:pPr>
            <a:r>
              <a:rPr lang="en-US" sz="2800" dirty="0">
                <a:solidFill>
                  <a:srgbClr val="C00000"/>
                </a:solidFill>
              </a:rPr>
              <a:t>Generic Life Cycle Structure: </a:t>
            </a:r>
            <a:r>
              <a:rPr lang="en-US" sz="2800" u="sng" dirty="0">
                <a:solidFill>
                  <a:srgbClr val="FF0000"/>
                </a:solidFill>
              </a:rPr>
              <a:t>Introduction</a:t>
            </a:r>
          </a:p>
          <a:p>
            <a:pPr fontAlgn="auto">
              <a:buFont typeface="Wingdings" panose="05000000000000000000" pitchFamily="2" charset="2"/>
              <a:buChar char="v"/>
              <a:defRPr/>
            </a:pPr>
            <a:r>
              <a:rPr lang="en-US" dirty="0">
                <a:solidFill>
                  <a:schemeClr val="tx1">
                    <a:lumMod val="85000"/>
                    <a:lumOff val="15000"/>
                  </a:schemeClr>
                </a:solidFill>
              </a:rPr>
              <a:t>Projects vary in size and complexity. </a:t>
            </a:r>
          </a:p>
          <a:p>
            <a:pPr fontAlgn="auto">
              <a:buFont typeface="Wingdings" panose="05000000000000000000" pitchFamily="2" charset="2"/>
              <a:buNone/>
              <a:defRPr/>
            </a:pPr>
            <a:endParaRPr lang="en-US" dirty="0">
              <a:solidFill>
                <a:schemeClr val="tx1">
                  <a:lumMod val="85000"/>
                  <a:lumOff val="15000"/>
                </a:schemeClr>
              </a:solidFill>
            </a:endParaRPr>
          </a:p>
          <a:p>
            <a:pPr fontAlgn="auto">
              <a:buFont typeface="Wingdings" panose="05000000000000000000" pitchFamily="2" charset="2"/>
              <a:buChar char="v"/>
              <a:defRPr/>
            </a:pPr>
            <a:r>
              <a:rPr lang="en-US" dirty="0">
                <a:solidFill>
                  <a:schemeClr val="tx1">
                    <a:lumMod val="85000"/>
                    <a:lumOff val="15000"/>
                  </a:schemeClr>
                </a:solidFill>
              </a:rPr>
              <a:t>No matter how </a:t>
            </a:r>
            <a:r>
              <a:rPr lang="en-US" dirty="0">
                <a:solidFill>
                  <a:srgbClr val="00B050"/>
                </a:solidFill>
              </a:rPr>
              <a:t>large or small</a:t>
            </a:r>
            <a:r>
              <a:rPr lang="en-US" dirty="0">
                <a:solidFill>
                  <a:schemeClr val="tx1">
                    <a:lumMod val="85000"/>
                    <a:lumOff val="15000"/>
                  </a:schemeClr>
                </a:solidFill>
              </a:rPr>
              <a:t>, </a:t>
            </a:r>
            <a:r>
              <a:rPr lang="en-US" dirty="0">
                <a:solidFill>
                  <a:srgbClr val="00B050"/>
                </a:solidFill>
              </a:rPr>
              <a:t>simple or complex</a:t>
            </a:r>
            <a:r>
              <a:rPr lang="en-US" dirty="0">
                <a:solidFill>
                  <a:schemeClr val="tx1">
                    <a:lumMod val="85000"/>
                    <a:lumOff val="15000"/>
                  </a:schemeClr>
                </a:solidFill>
              </a:rPr>
              <a:t>, all projects can be mapped to the following life cycle structure:</a:t>
            </a:r>
            <a:endParaRPr lang="en-US" sz="2800" dirty="0">
              <a:solidFill>
                <a:schemeClr val="tx1">
                  <a:lumMod val="85000"/>
                  <a:lumOff val="15000"/>
                </a:schemeClr>
              </a:solidFill>
            </a:endParaRPr>
          </a:p>
          <a:p>
            <a:pPr marL="1263650" indent="-457200" fontAlgn="auto">
              <a:buFont typeface="Wingdings" panose="05000000000000000000" pitchFamily="2" charset="2"/>
              <a:buChar char="q"/>
              <a:defRPr/>
            </a:pPr>
            <a:r>
              <a:rPr lang="en-US" dirty="0">
                <a:solidFill>
                  <a:schemeClr val="tx1">
                    <a:lumMod val="85000"/>
                    <a:lumOff val="15000"/>
                  </a:schemeClr>
                </a:solidFill>
              </a:rPr>
              <a:t>Starting the project</a:t>
            </a:r>
            <a:endParaRPr lang="en-US" sz="2800" dirty="0">
              <a:solidFill>
                <a:schemeClr val="tx1">
                  <a:lumMod val="85000"/>
                  <a:lumOff val="15000"/>
                </a:schemeClr>
              </a:solidFill>
            </a:endParaRPr>
          </a:p>
          <a:p>
            <a:pPr marL="1263650" indent="-457200" fontAlgn="auto">
              <a:buFont typeface="Wingdings" panose="05000000000000000000" pitchFamily="2" charset="2"/>
              <a:buChar char="q"/>
              <a:defRPr/>
            </a:pPr>
            <a:r>
              <a:rPr lang="en-US" dirty="0">
                <a:solidFill>
                  <a:schemeClr val="tx1">
                    <a:lumMod val="85000"/>
                    <a:lumOff val="15000"/>
                  </a:schemeClr>
                </a:solidFill>
              </a:rPr>
              <a:t>Organizing and preparing</a:t>
            </a:r>
            <a:endParaRPr lang="en-US" sz="2800" dirty="0">
              <a:solidFill>
                <a:schemeClr val="tx1">
                  <a:lumMod val="85000"/>
                  <a:lumOff val="15000"/>
                </a:schemeClr>
              </a:solidFill>
            </a:endParaRPr>
          </a:p>
          <a:p>
            <a:pPr marL="1263650" indent="-457200" fontAlgn="auto">
              <a:buFont typeface="Wingdings" panose="05000000000000000000" pitchFamily="2" charset="2"/>
              <a:buChar char="q"/>
              <a:defRPr/>
            </a:pPr>
            <a:r>
              <a:rPr lang="en-US" dirty="0">
                <a:solidFill>
                  <a:schemeClr val="tx1">
                    <a:lumMod val="85000"/>
                    <a:lumOff val="15000"/>
                  </a:schemeClr>
                </a:solidFill>
              </a:rPr>
              <a:t>Carrying out the project work</a:t>
            </a:r>
            <a:endParaRPr lang="en-US" sz="2800" dirty="0">
              <a:solidFill>
                <a:schemeClr val="tx1">
                  <a:lumMod val="85000"/>
                  <a:lumOff val="15000"/>
                </a:schemeClr>
              </a:solidFill>
            </a:endParaRPr>
          </a:p>
          <a:p>
            <a:pPr marL="1263650" indent="-457200" fontAlgn="auto">
              <a:buFont typeface="Wingdings" panose="05000000000000000000" pitchFamily="2" charset="2"/>
              <a:buChar char="q"/>
              <a:defRPr/>
            </a:pPr>
            <a:r>
              <a:rPr lang="en-US" dirty="0">
                <a:solidFill>
                  <a:schemeClr val="tx1">
                    <a:lumMod val="85000"/>
                    <a:lumOff val="15000"/>
                  </a:schemeClr>
                </a:solidFill>
              </a:rPr>
              <a:t>Closing the project.</a:t>
            </a:r>
            <a:endParaRPr lang="en-US" sz="2800" dirty="0">
              <a:solidFill>
                <a:schemeClr val="tx1">
                  <a:lumMod val="85000"/>
                  <a:lumOff val="15000"/>
                </a:schemeClr>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rtlCol="0">
            <a:normAutofit/>
          </a:bodyPr>
          <a:lstStyle/>
          <a:p>
            <a:pPr fontAlgn="auto">
              <a:spcAft>
                <a:spcPts val="0"/>
              </a:spcAft>
              <a:defRPr/>
            </a:pPr>
            <a:r>
              <a:rPr lang="en-US" altLang="en-US" dirty="0">
                <a:solidFill>
                  <a:schemeClr val="tx1">
                    <a:lumMod val="85000"/>
                    <a:lumOff val="15000"/>
                  </a:schemeClr>
                </a:solidFill>
              </a:rPr>
              <a:t>The Project Life Cycle - Overview</a:t>
            </a:r>
          </a:p>
        </p:txBody>
      </p:sp>
      <p:sp>
        <p:nvSpPr>
          <p:cNvPr id="10243" name="Content Placeholder 2"/>
          <p:cNvSpPr>
            <a:spLocks noGrp="1"/>
          </p:cNvSpPr>
          <p:nvPr>
            <p:ph idx="1"/>
          </p:nvPr>
        </p:nvSpPr>
        <p:spPr/>
        <p:txBody>
          <a:bodyPr rtlCol="0">
            <a:normAutofit/>
          </a:bodyPr>
          <a:lstStyle/>
          <a:p>
            <a:pPr fontAlgn="auto">
              <a:buFont typeface="Wingdings" panose="05000000000000000000" pitchFamily="2" charset="2"/>
              <a:buNone/>
              <a:defRPr/>
            </a:pPr>
            <a:r>
              <a:rPr lang="en-US" sz="2800" dirty="0">
                <a:solidFill>
                  <a:srgbClr val="C00000"/>
                </a:solidFill>
              </a:rPr>
              <a:t>Generic Life Cycle Structure: </a:t>
            </a:r>
            <a:r>
              <a:rPr lang="en-US" sz="2800" u="sng" dirty="0">
                <a:solidFill>
                  <a:srgbClr val="FF0000"/>
                </a:solidFill>
              </a:rPr>
              <a:t>Benefits</a:t>
            </a:r>
          </a:p>
          <a:p>
            <a:pPr marL="914400" indent="-403225" fontAlgn="auto">
              <a:buFont typeface="Wingdings" panose="05000000000000000000" pitchFamily="2" charset="2"/>
              <a:buChar char="q"/>
              <a:defRPr/>
            </a:pPr>
            <a:r>
              <a:rPr lang="en-US" dirty="0">
                <a:solidFill>
                  <a:schemeClr val="tx1">
                    <a:lumMod val="85000"/>
                    <a:lumOff val="15000"/>
                  </a:schemeClr>
                </a:solidFill>
              </a:rPr>
              <a:t>It is often referred to when </a:t>
            </a:r>
            <a:r>
              <a:rPr lang="en-US" dirty="0">
                <a:solidFill>
                  <a:srgbClr val="00B050"/>
                </a:solidFill>
              </a:rPr>
              <a:t>communicating</a:t>
            </a:r>
            <a:r>
              <a:rPr lang="en-US" dirty="0">
                <a:solidFill>
                  <a:schemeClr val="tx1">
                    <a:lumMod val="85000"/>
                    <a:lumOff val="15000"/>
                  </a:schemeClr>
                </a:solidFill>
              </a:rPr>
              <a:t> with upper management or other entities </a:t>
            </a:r>
          </a:p>
          <a:p>
            <a:pPr marL="914400" indent="-403225" fontAlgn="auto">
              <a:buFont typeface="Wingdings" panose="05000000000000000000" pitchFamily="2" charset="2"/>
              <a:buNone/>
              <a:defRPr/>
            </a:pPr>
            <a:r>
              <a:rPr lang="en-US" dirty="0">
                <a:solidFill>
                  <a:srgbClr val="00B050"/>
                </a:solidFill>
              </a:rPr>
              <a:t>	less familiar with the details of the project</a:t>
            </a:r>
            <a:r>
              <a:rPr lang="en-US" dirty="0">
                <a:solidFill>
                  <a:schemeClr val="tx1">
                    <a:lumMod val="85000"/>
                    <a:lumOff val="15000"/>
                  </a:schemeClr>
                </a:solidFill>
              </a:rPr>
              <a:t>. </a:t>
            </a:r>
          </a:p>
          <a:p>
            <a:pPr marL="914400" indent="-403225" fontAlgn="auto">
              <a:buFont typeface="Wingdings" panose="05000000000000000000" pitchFamily="2" charset="2"/>
              <a:buNone/>
              <a:defRPr/>
            </a:pPr>
            <a:endParaRPr lang="en-US" dirty="0">
              <a:solidFill>
                <a:schemeClr val="tx1">
                  <a:lumMod val="85000"/>
                  <a:lumOff val="15000"/>
                </a:schemeClr>
              </a:solidFill>
            </a:endParaRPr>
          </a:p>
          <a:p>
            <a:pPr marL="914400" indent="-403225" fontAlgn="auto">
              <a:buFont typeface="Wingdings" panose="05000000000000000000" pitchFamily="2" charset="2"/>
              <a:buChar char="q"/>
              <a:defRPr/>
            </a:pPr>
            <a:r>
              <a:rPr lang="en-US" dirty="0">
                <a:solidFill>
                  <a:schemeClr val="tx1">
                    <a:lumMod val="85000"/>
                    <a:lumOff val="15000"/>
                  </a:schemeClr>
                </a:solidFill>
              </a:rPr>
              <a:t>This high-level view can provide a </a:t>
            </a:r>
            <a:r>
              <a:rPr lang="en-US" dirty="0">
                <a:solidFill>
                  <a:srgbClr val="00B050"/>
                </a:solidFill>
              </a:rPr>
              <a:t>common frame of reference </a:t>
            </a:r>
            <a:r>
              <a:rPr lang="en-US" dirty="0">
                <a:solidFill>
                  <a:schemeClr val="tx1">
                    <a:lumMod val="85000"/>
                    <a:lumOff val="15000"/>
                  </a:schemeClr>
                </a:solidFill>
              </a:rPr>
              <a:t>for </a:t>
            </a:r>
            <a:r>
              <a:rPr lang="en-US" dirty="0">
                <a:solidFill>
                  <a:srgbClr val="00B050"/>
                </a:solidFill>
              </a:rPr>
              <a:t>comparing</a:t>
            </a:r>
            <a:r>
              <a:rPr lang="en-US" dirty="0">
                <a:solidFill>
                  <a:schemeClr val="tx1">
                    <a:lumMod val="85000"/>
                    <a:lumOff val="15000"/>
                  </a:schemeClr>
                </a:solidFill>
              </a:rPr>
              <a:t> projects—even if they are dissimilar in nature.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rtlCol="0">
            <a:normAutofit/>
          </a:bodyPr>
          <a:lstStyle/>
          <a:p>
            <a:pPr fontAlgn="auto">
              <a:buFont typeface="Wingdings" panose="05000000000000000000" pitchFamily="2" charset="2"/>
              <a:buNone/>
              <a:defRPr/>
            </a:pPr>
            <a:r>
              <a:rPr lang="en-US" altLang="en-US" dirty="0">
                <a:solidFill>
                  <a:srgbClr val="C00000"/>
                </a:solidFill>
              </a:rPr>
              <a:t>Generic Life Cycle Structure: </a:t>
            </a:r>
            <a:r>
              <a:rPr lang="en-US" altLang="en-US" u="sng" dirty="0">
                <a:solidFill>
                  <a:srgbClr val="FF0000"/>
                </a:solidFill>
              </a:rPr>
              <a:t>General Characteristics</a:t>
            </a:r>
            <a:endParaRPr lang="en-US" altLang="en-US" u="sng" dirty="0">
              <a:solidFill>
                <a:srgbClr val="C00000"/>
              </a:solidFill>
            </a:endParaRPr>
          </a:p>
        </p:txBody>
      </p:sp>
      <p:sp>
        <p:nvSpPr>
          <p:cNvPr id="10243" name="Content Placeholder 2"/>
          <p:cNvSpPr>
            <a:spLocks noGrp="1"/>
          </p:cNvSpPr>
          <p:nvPr>
            <p:ph idx="1"/>
          </p:nvPr>
        </p:nvSpPr>
        <p:spPr>
          <a:xfrm>
            <a:off x="152400" y="2362200"/>
            <a:ext cx="8534399" cy="914400"/>
          </a:xfrm>
        </p:spPr>
        <p:txBody>
          <a:bodyPr rtlCol="0">
            <a:normAutofit/>
          </a:bodyPr>
          <a:lstStyle/>
          <a:p>
            <a:pPr lvl="1" fontAlgn="auto">
              <a:buFont typeface="Arial"/>
              <a:buChar char="•"/>
              <a:defRPr/>
            </a:pPr>
            <a:r>
              <a:rPr lang="en-US" altLang="en-US" dirty="0">
                <a:solidFill>
                  <a:srgbClr val="FF0000"/>
                </a:solidFill>
              </a:rPr>
              <a:t>Cost and staffing levels </a:t>
            </a:r>
            <a:r>
              <a:rPr lang="en-US" altLang="en-US" dirty="0">
                <a:solidFill>
                  <a:schemeClr val="tx1">
                    <a:lumMod val="85000"/>
                    <a:lumOff val="15000"/>
                  </a:schemeClr>
                </a:solidFill>
              </a:rPr>
              <a:t>are low at the start, peak as the work is carried out, and drop rapidly as the project draws to a close. </a:t>
            </a:r>
            <a:endParaRPr lang="en-US" altLang="en-US" sz="2400" dirty="0">
              <a:solidFill>
                <a:srgbClr val="00B050"/>
              </a:solidFill>
            </a:endParaRPr>
          </a:p>
        </p:txBody>
      </p:sp>
      <p:pic>
        <p:nvPicPr>
          <p:cNvPr id="5" name="Resim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6070" y="3352801"/>
            <a:ext cx="5135662" cy="3276599"/>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Content Placeholder 2"/>
          <p:cNvSpPr>
            <a:spLocks noGrp="1"/>
          </p:cNvSpPr>
          <p:nvPr>
            <p:ph type="body" sz="half" idx="4294967295"/>
          </p:nvPr>
        </p:nvSpPr>
        <p:spPr>
          <a:xfrm>
            <a:off x="0" y="4191000"/>
            <a:ext cx="8153400" cy="2057400"/>
          </a:xfrm>
        </p:spPr>
        <p:txBody>
          <a:bodyPr rtlCol="0">
            <a:normAutofit fontScale="85000" lnSpcReduction="10000"/>
          </a:bodyPr>
          <a:lstStyle/>
          <a:p>
            <a:pPr lvl="1" fontAlgn="auto">
              <a:buFont typeface="Arial"/>
              <a:buChar char="•"/>
              <a:defRPr/>
            </a:pPr>
            <a:r>
              <a:rPr lang="en-US" altLang="en-US" sz="2400" dirty="0">
                <a:solidFill>
                  <a:srgbClr val="00B050"/>
                </a:solidFill>
              </a:rPr>
              <a:t>Stakeholder influences, risk, and uncertainty</a:t>
            </a:r>
            <a:r>
              <a:rPr lang="en-US" altLang="en-US" sz="2400" dirty="0">
                <a:solidFill>
                  <a:schemeClr val="tx1">
                    <a:lumMod val="85000"/>
                    <a:lumOff val="15000"/>
                  </a:schemeClr>
                </a:solidFill>
              </a:rPr>
              <a:t> are greatest at the start of the project. These factors decrease over the life of the project.</a:t>
            </a:r>
            <a:endParaRPr lang="en-US" altLang="en-US" sz="2800" dirty="0">
              <a:solidFill>
                <a:schemeClr val="tx1">
                  <a:lumMod val="85000"/>
                  <a:lumOff val="15000"/>
                </a:schemeClr>
              </a:solidFill>
            </a:endParaRPr>
          </a:p>
          <a:p>
            <a:pPr lvl="1" fontAlgn="auto">
              <a:buFont typeface="Arial"/>
              <a:buChar char="•"/>
              <a:defRPr/>
            </a:pPr>
            <a:r>
              <a:rPr lang="en-US" altLang="en-US" sz="2400" dirty="0">
                <a:solidFill>
                  <a:srgbClr val="00B050"/>
                </a:solidFill>
              </a:rPr>
              <a:t>Cost of changes:</a:t>
            </a:r>
            <a:r>
              <a:rPr lang="en-US" altLang="en-US" sz="2400" dirty="0">
                <a:solidFill>
                  <a:schemeClr val="tx1">
                    <a:lumMod val="85000"/>
                    <a:lumOff val="15000"/>
                  </a:schemeClr>
                </a:solidFill>
              </a:rPr>
              <a:t> Ability to influence the final characteristics of the project’s product, without significantly impacting cost, is highest at the start of the project and decreases as the project progresses towards completion. The cost of changes and correcting errors typically increases substantially as the project approaches completion.</a:t>
            </a:r>
            <a:endParaRPr lang="en-US" altLang="en-US" sz="2800" dirty="0">
              <a:solidFill>
                <a:schemeClr val="tx1">
                  <a:lumMod val="85000"/>
                  <a:lumOff val="15000"/>
                </a:schemeClr>
              </a:solidFill>
            </a:endParaRPr>
          </a:p>
        </p:txBody>
      </p:sp>
      <p:pic>
        <p:nvPicPr>
          <p:cNvPr id="8" name="Resim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725042"/>
            <a:ext cx="6372225" cy="3268960"/>
          </a:xfrm>
          <a:prstGeom prst="rect">
            <a:avLst/>
          </a:prstGeom>
        </p:spPr>
      </p:pic>
    </p:spTree>
    <p:extLst>
      <p:ext uri="{BB962C8B-B14F-4D97-AF65-F5344CB8AC3E}">
        <p14:creationId xmlns:p14="http://schemas.microsoft.com/office/powerpoint/2010/main" val="73772819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rtlCol="0">
            <a:normAutofit/>
          </a:bodyPr>
          <a:lstStyle/>
          <a:p>
            <a:pPr fontAlgn="auto">
              <a:spcAft>
                <a:spcPts val="0"/>
              </a:spcAft>
              <a:defRPr/>
            </a:pPr>
            <a:r>
              <a:rPr lang="en-US" altLang="en-US" dirty="0">
                <a:solidFill>
                  <a:schemeClr val="tx1">
                    <a:lumMod val="85000"/>
                    <a:lumOff val="15000"/>
                  </a:schemeClr>
                </a:solidFill>
              </a:rPr>
              <a:t>The Project Life Cycle - Overview</a:t>
            </a:r>
          </a:p>
        </p:txBody>
      </p:sp>
      <p:sp>
        <p:nvSpPr>
          <p:cNvPr id="11267" name="Content Placeholder 2"/>
          <p:cNvSpPr>
            <a:spLocks noGrp="1"/>
          </p:cNvSpPr>
          <p:nvPr>
            <p:ph idx="1"/>
          </p:nvPr>
        </p:nvSpPr>
        <p:spPr>
          <a:xfrm>
            <a:off x="501742" y="2753192"/>
            <a:ext cx="8642258" cy="3332816"/>
          </a:xfrm>
        </p:spPr>
        <p:txBody>
          <a:bodyPr rtlCol="0">
            <a:normAutofit/>
          </a:bodyPr>
          <a:lstStyle/>
          <a:p>
            <a:pPr fontAlgn="auto">
              <a:buFont typeface="Wingdings" panose="05000000000000000000" pitchFamily="2" charset="2"/>
              <a:buNone/>
              <a:defRPr/>
            </a:pPr>
            <a:r>
              <a:rPr lang="en-US" altLang="en-US" sz="2800" dirty="0">
                <a:solidFill>
                  <a:srgbClr val="C00000"/>
                </a:solidFill>
              </a:rPr>
              <a:t>Generic Life Cycle Structure: </a:t>
            </a:r>
            <a:r>
              <a:rPr lang="en-US" altLang="en-US" sz="2800" u="sng" dirty="0">
                <a:solidFill>
                  <a:srgbClr val="FF0000"/>
                </a:solidFill>
              </a:rPr>
              <a:t>The Need for More Control</a:t>
            </a:r>
            <a:endParaRPr lang="en-US" altLang="en-US" sz="2800" u="sng" dirty="0">
              <a:solidFill>
                <a:schemeClr val="tx1">
                  <a:lumMod val="85000"/>
                  <a:lumOff val="15000"/>
                </a:schemeClr>
              </a:solidFill>
            </a:endParaRPr>
          </a:p>
          <a:p>
            <a:pPr fontAlgn="auto">
              <a:buFont typeface="Wingdings" panose="05000000000000000000" pitchFamily="2" charset="2"/>
              <a:buNone/>
              <a:defRPr/>
            </a:pPr>
            <a:r>
              <a:rPr lang="en-US" altLang="en-US" dirty="0">
                <a:solidFill>
                  <a:schemeClr val="tx1">
                    <a:lumMod val="85000"/>
                    <a:lumOff val="15000"/>
                  </a:schemeClr>
                </a:solidFill>
              </a:rPr>
              <a:t>	Within the context of the generic life cycle structure, a project manager may determine the </a:t>
            </a:r>
            <a:r>
              <a:rPr lang="en-US" altLang="en-US" dirty="0">
                <a:solidFill>
                  <a:srgbClr val="00B050"/>
                </a:solidFill>
              </a:rPr>
              <a:t>need for more effective control over certain deliverables</a:t>
            </a:r>
            <a:r>
              <a:rPr lang="en-US" altLang="en-US" dirty="0">
                <a:solidFill>
                  <a:schemeClr val="tx1">
                    <a:lumMod val="85000"/>
                    <a:lumOff val="15000"/>
                  </a:schemeClr>
                </a:solidFill>
              </a:rPr>
              <a:t>. </a:t>
            </a:r>
          </a:p>
          <a:p>
            <a:pPr fontAlgn="auto">
              <a:buFont typeface="Wingdings" panose="05000000000000000000" pitchFamily="2" charset="2"/>
              <a:buNone/>
              <a:defRPr/>
            </a:pPr>
            <a:r>
              <a:rPr lang="en-US" altLang="en-US" dirty="0">
                <a:solidFill>
                  <a:schemeClr val="tx1">
                    <a:lumMod val="85000"/>
                    <a:lumOff val="15000"/>
                  </a:schemeClr>
                </a:solidFill>
              </a:rPr>
              <a:t>	</a:t>
            </a:r>
          </a:p>
          <a:p>
            <a:pPr fontAlgn="auto">
              <a:buFont typeface="Wingdings" panose="05000000000000000000" pitchFamily="2" charset="2"/>
              <a:buNone/>
              <a:defRPr/>
            </a:pPr>
            <a:r>
              <a:rPr lang="en-US" altLang="en-US" dirty="0">
                <a:solidFill>
                  <a:schemeClr val="tx1">
                    <a:lumMod val="85000"/>
                    <a:lumOff val="15000"/>
                  </a:schemeClr>
                </a:solidFill>
              </a:rPr>
              <a:t>	</a:t>
            </a:r>
            <a:r>
              <a:rPr lang="en-US" altLang="en-US" dirty="0">
                <a:solidFill>
                  <a:srgbClr val="00B050"/>
                </a:solidFill>
              </a:rPr>
              <a:t>Large and complex projects</a:t>
            </a:r>
            <a:r>
              <a:rPr lang="en-US" altLang="en-US" dirty="0">
                <a:solidFill>
                  <a:schemeClr val="tx1">
                    <a:lumMod val="85000"/>
                    <a:lumOff val="15000"/>
                  </a:schemeClr>
                </a:solidFill>
              </a:rPr>
              <a:t> in particular may require this </a:t>
            </a:r>
            <a:r>
              <a:rPr lang="en-US" altLang="en-US" dirty="0">
                <a:solidFill>
                  <a:srgbClr val="00B050"/>
                </a:solidFill>
              </a:rPr>
              <a:t>additional level of control</a:t>
            </a:r>
            <a:r>
              <a:rPr lang="en-US" altLang="en-US" dirty="0">
                <a:solidFill>
                  <a:schemeClr val="tx1">
                    <a:lumMod val="85000"/>
                    <a:lumOff val="15000"/>
                  </a:schemeClr>
                </a:solidFill>
              </a:rPr>
              <a:t>. In such instances, the work carried out to complete the project’s objective may benefit from being formally divided into phases.</a:t>
            </a:r>
            <a:endParaRPr lang="en-US" altLang="en-US" sz="2800" dirty="0">
              <a:solidFill>
                <a:schemeClr val="tx1">
                  <a:lumMod val="85000"/>
                  <a:lumOff val="15000"/>
                </a:schemeClr>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228600" y="2062316"/>
            <a:ext cx="8686800" cy="1143000"/>
          </a:xfrm>
          <a:prstGeom prst="rect">
            <a:avLst/>
          </a:prstGeom>
          <a:noFill/>
          <a:ln w="9525">
            <a:noFill/>
            <a:miter lim="800000"/>
            <a:headEnd/>
            <a:tailEnd/>
          </a:ln>
        </p:spPr>
        <p:txBody>
          <a:bodyPr/>
          <a:lstStyle/>
          <a:p>
            <a:pPr algn="ctr" eaLnBrk="1" fontAlgn="auto" hangingPunct="1">
              <a:spcBef>
                <a:spcPts val="0"/>
              </a:spcBef>
              <a:spcAft>
                <a:spcPts val="0"/>
              </a:spcAft>
              <a:defRPr/>
            </a:pPr>
            <a:endParaRPr lang="en-US" sz="3600" b="1" kern="0" cap="all" dirty="0">
              <a:solidFill>
                <a:srgbClr val="4D7473"/>
              </a:solidFill>
              <a:latin typeface="+mj-lt"/>
              <a:ea typeface="+mj-ea"/>
              <a:cs typeface="+mj-cs"/>
            </a:endParaRPr>
          </a:p>
        </p:txBody>
      </p:sp>
      <p:sp>
        <p:nvSpPr>
          <p:cNvPr id="9" name="Title 8">
            <a:extLst>
              <a:ext uri="{FF2B5EF4-FFF2-40B4-BE49-F238E27FC236}">
                <a16:creationId xmlns:a16="http://schemas.microsoft.com/office/drawing/2014/main" id="{FEDA875C-31B8-4CFF-89CC-C619E0B6D845}"/>
              </a:ext>
            </a:extLst>
          </p:cNvPr>
          <p:cNvSpPr>
            <a:spLocks noGrp="1"/>
          </p:cNvSpPr>
          <p:nvPr>
            <p:ph type="title"/>
          </p:nvPr>
        </p:nvSpPr>
        <p:spPr/>
        <p:txBody>
          <a:bodyPr/>
          <a:lstStyle/>
          <a:p>
            <a:r>
              <a:rPr lang="en-US" sz="4800" b="1" kern="0" cap="all" dirty="0">
                <a:solidFill>
                  <a:srgbClr val="4D7473"/>
                </a:solidFill>
                <a:latin typeface="+mj-lt"/>
                <a:ea typeface="+mj-ea"/>
                <a:cs typeface="+mj-cs"/>
              </a:rPr>
              <a:t>The Project Life Cycle -Phases</a:t>
            </a:r>
            <a:endParaRPr lang="en-PK" dirty="0"/>
          </a:p>
        </p:txBody>
      </p:sp>
      <p:sp>
        <p:nvSpPr>
          <p:cNvPr id="10" name="Text Placeholder 9">
            <a:extLst>
              <a:ext uri="{FF2B5EF4-FFF2-40B4-BE49-F238E27FC236}">
                <a16:creationId xmlns:a16="http://schemas.microsoft.com/office/drawing/2014/main" id="{292D6C12-D4C2-49D8-88C1-79A5FA006FF8}"/>
              </a:ext>
            </a:extLst>
          </p:cNvPr>
          <p:cNvSpPr>
            <a:spLocks noGrp="1"/>
          </p:cNvSpPr>
          <p:nvPr>
            <p:ph type="body" idx="1"/>
          </p:nvPr>
        </p:nvSpPr>
        <p:spPr/>
        <p:txBody>
          <a:bodyPr/>
          <a:lstStyle/>
          <a:p>
            <a:endParaRPr lang="en-PK"/>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rtlCol="0">
            <a:normAutofit/>
          </a:bodyPr>
          <a:lstStyle/>
          <a:p>
            <a:pPr fontAlgn="auto">
              <a:spcAft>
                <a:spcPts val="0"/>
              </a:spcAft>
              <a:defRPr/>
            </a:pPr>
            <a:r>
              <a:rPr lang="en-US" altLang="en-US" dirty="0">
                <a:solidFill>
                  <a:schemeClr val="tx1">
                    <a:lumMod val="85000"/>
                    <a:lumOff val="15000"/>
                  </a:schemeClr>
                </a:solidFill>
              </a:rPr>
              <a:t>Project Phases</a:t>
            </a:r>
          </a:p>
        </p:txBody>
      </p:sp>
      <p:sp>
        <p:nvSpPr>
          <p:cNvPr id="18435" name="Content Placeholder 2"/>
          <p:cNvSpPr>
            <a:spLocks noGrp="1"/>
          </p:cNvSpPr>
          <p:nvPr>
            <p:ph idx="1"/>
          </p:nvPr>
        </p:nvSpPr>
        <p:spPr/>
        <p:txBody>
          <a:bodyPr rtlCol="0">
            <a:noAutofit/>
          </a:bodyPr>
          <a:lstStyle/>
          <a:p>
            <a:pPr fontAlgn="auto">
              <a:buFont typeface="Wingdings" panose="05000000000000000000" pitchFamily="2" charset="2"/>
              <a:buNone/>
              <a:defRPr/>
            </a:pPr>
            <a:r>
              <a:rPr lang="en-US" sz="2000" dirty="0">
                <a:solidFill>
                  <a:srgbClr val="C00000"/>
                </a:solidFill>
              </a:rPr>
              <a:t>What are project phases?  </a:t>
            </a:r>
          </a:p>
          <a:p>
            <a:pPr marL="0" indent="0" fontAlgn="auto">
              <a:buFont typeface="Wingdings" panose="05000000000000000000" pitchFamily="2" charset="2"/>
              <a:buNone/>
              <a:defRPr/>
            </a:pPr>
            <a:r>
              <a:rPr lang="en-US" sz="2000" dirty="0">
                <a:solidFill>
                  <a:schemeClr val="tx1">
                    <a:lumMod val="85000"/>
                    <a:lumOff val="15000"/>
                  </a:schemeClr>
                </a:solidFill>
              </a:rPr>
              <a:t>Project phases are divisions within a project where extra control is needed to effectively manage the completion of a major deliverable. </a:t>
            </a:r>
          </a:p>
          <a:p>
            <a:pPr fontAlgn="auto">
              <a:buFont typeface="Wingdings" panose="05000000000000000000" pitchFamily="2" charset="2"/>
              <a:buNone/>
              <a:defRPr/>
            </a:pPr>
            <a:r>
              <a:rPr lang="en-US" sz="2000" dirty="0">
                <a:solidFill>
                  <a:srgbClr val="C00000"/>
                </a:solidFill>
              </a:rPr>
              <a:t>Key Concepts:</a:t>
            </a:r>
            <a:r>
              <a:rPr lang="en-US" sz="2000" dirty="0">
                <a:solidFill>
                  <a:schemeClr val="tx1">
                    <a:lumMod val="85000"/>
                    <a:lumOff val="15000"/>
                  </a:schemeClr>
                </a:solidFill>
              </a:rPr>
              <a:t> </a:t>
            </a:r>
          </a:p>
          <a:p>
            <a:pPr fontAlgn="auto">
              <a:buFont typeface="Wingdings" panose="05000000000000000000" pitchFamily="2" charset="2"/>
              <a:buChar char="v"/>
              <a:defRPr/>
            </a:pPr>
            <a:r>
              <a:rPr lang="en-US" sz="2000" dirty="0">
                <a:solidFill>
                  <a:schemeClr val="tx1">
                    <a:lumMod val="85000"/>
                    <a:lumOff val="15000"/>
                  </a:schemeClr>
                </a:solidFill>
              </a:rPr>
              <a:t>Project phases are </a:t>
            </a:r>
            <a:r>
              <a:rPr lang="en-US" sz="2000" dirty="0">
                <a:solidFill>
                  <a:srgbClr val="00B050"/>
                </a:solidFill>
              </a:rPr>
              <a:t>typically completed sequentially</a:t>
            </a:r>
            <a:r>
              <a:rPr lang="en-US" sz="2000" dirty="0">
                <a:solidFill>
                  <a:schemeClr val="tx1">
                    <a:lumMod val="85000"/>
                    <a:lumOff val="15000"/>
                  </a:schemeClr>
                </a:solidFill>
              </a:rPr>
              <a:t>, but can overlap in some project situations. </a:t>
            </a:r>
          </a:p>
          <a:p>
            <a:pPr fontAlgn="auto">
              <a:buFont typeface="Wingdings" panose="05000000000000000000" pitchFamily="2" charset="2"/>
              <a:buChar char="v"/>
              <a:defRPr/>
            </a:pPr>
            <a:r>
              <a:rPr lang="en-US" sz="2000" dirty="0">
                <a:solidFill>
                  <a:schemeClr val="tx1">
                    <a:lumMod val="85000"/>
                    <a:lumOff val="15000"/>
                  </a:schemeClr>
                </a:solidFill>
              </a:rPr>
              <a:t>Project phases are an </a:t>
            </a:r>
            <a:r>
              <a:rPr lang="en-US" sz="2000" dirty="0">
                <a:solidFill>
                  <a:srgbClr val="00B050"/>
                </a:solidFill>
              </a:rPr>
              <a:t>element of project life cycle</a:t>
            </a:r>
            <a:r>
              <a:rPr lang="en-US" sz="2000" dirty="0">
                <a:solidFill>
                  <a:schemeClr val="tx1">
                    <a:lumMod val="85000"/>
                    <a:lumOff val="15000"/>
                  </a:schemeClr>
                </a:solidFill>
              </a:rPr>
              <a:t> because of their high level nature. </a:t>
            </a:r>
          </a:p>
          <a:p>
            <a:pPr fontAlgn="auto">
              <a:buFont typeface="Wingdings" panose="05000000000000000000" pitchFamily="2" charset="2"/>
              <a:buChar char="v"/>
              <a:defRPr/>
            </a:pPr>
            <a:r>
              <a:rPr lang="en-US" sz="2000" dirty="0">
                <a:solidFill>
                  <a:srgbClr val="00B050"/>
                </a:solidFill>
              </a:rPr>
              <a:t>A project phase is not a Project Management Process Group</a:t>
            </a:r>
            <a:r>
              <a:rPr lang="en-US" sz="2000" dirty="0">
                <a:solidFill>
                  <a:schemeClr val="tx1">
                    <a:lumMod val="85000"/>
                    <a:lumOff val="15000"/>
                  </a:schemeClr>
                </a:solidFill>
              </a:rPr>
              <a:t>.</a:t>
            </a:r>
          </a:p>
          <a:p>
            <a:pPr fontAlgn="auto">
              <a:buFont typeface="Wingdings" panose="05000000000000000000" pitchFamily="2" charset="2"/>
              <a:buNone/>
              <a:defRPr/>
            </a:pPr>
            <a:r>
              <a:rPr lang="en-US" sz="2000" dirty="0">
                <a:solidFill>
                  <a:schemeClr val="tx1">
                    <a:lumMod val="85000"/>
                    <a:lumOff val="15000"/>
                  </a:schemeClr>
                </a:solidFill>
              </a:rPr>
              <a:t> </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A Complete Guide on Project Management Life Cycle Phases">
            <a:extLst>
              <a:ext uri="{FF2B5EF4-FFF2-40B4-BE49-F238E27FC236}">
                <a16:creationId xmlns:a16="http://schemas.microsoft.com/office/drawing/2014/main" id="{663392C5-3C7D-4152-8E6A-B0711F81D7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9637" y="1658734"/>
            <a:ext cx="4424363" cy="4507999"/>
          </a:xfrm>
          <a:prstGeom prst="rect">
            <a:avLst/>
          </a:prstGeom>
          <a:noFill/>
          <a:extLst>
            <a:ext uri="{909E8E84-426E-40DD-AFC4-6F175D3DCCD1}">
              <a14:hiddenFill xmlns:a14="http://schemas.microsoft.com/office/drawing/2010/main">
                <a:solidFill>
                  <a:srgbClr val="FFFFFF"/>
                </a:solidFill>
              </a14:hiddenFill>
            </a:ext>
          </a:extLst>
        </p:spPr>
      </p:pic>
      <p:sp>
        <p:nvSpPr>
          <p:cNvPr id="17410" name="Title 1"/>
          <p:cNvSpPr>
            <a:spLocks noGrp="1"/>
          </p:cNvSpPr>
          <p:nvPr>
            <p:ph type="title"/>
          </p:nvPr>
        </p:nvSpPr>
        <p:spPr/>
        <p:txBody>
          <a:bodyPr rtlCol="0">
            <a:normAutofit/>
          </a:bodyPr>
          <a:lstStyle/>
          <a:p>
            <a:pPr fontAlgn="auto">
              <a:spcAft>
                <a:spcPts val="0"/>
              </a:spcAft>
              <a:defRPr/>
            </a:pPr>
            <a:r>
              <a:rPr lang="en-US" altLang="en-US" dirty="0">
                <a:solidFill>
                  <a:schemeClr val="tx1">
                    <a:lumMod val="85000"/>
                    <a:lumOff val="15000"/>
                  </a:schemeClr>
                </a:solidFill>
              </a:rPr>
              <a:t>Project Phases</a:t>
            </a:r>
          </a:p>
        </p:txBody>
      </p:sp>
      <p:sp>
        <p:nvSpPr>
          <p:cNvPr id="18435" name="Content Placeholder 2"/>
          <p:cNvSpPr>
            <a:spLocks noGrp="1"/>
          </p:cNvSpPr>
          <p:nvPr>
            <p:ph idx="1"/>
          </p:nvPr>
        </p:nvSpPr>
        <p:spPr>
          <a:xfrm>
            <a:off x="163231" y="1371600"/>
            <a:ext cx="4953000" cy="4572000"/>
          </a:xfrm>
        </p:spPr>
        <p:txBody>
          <a:bodyPr rtlCol="0">
            <a:noAutofit/>
          </a:bodyPr>
          <a:lstStyle/>
          <a:p>
            <a:pPr marL="0" indent="0">
              <a:lnSpc>
                <a:spcPct val="100000"/>
              </a:lnSpc>
              <a:buNone/>
            </a:pPr>
            <a:endParaRPr lang="en-GB" sz="2000" dirty="0"/>
          </a:p>
          <a:p>
            <a:pPr>
              <a:lnSpc>
                <a:spcPct val="100000"/>
              </a:lnSpc>
              <a:buFont typeface="Wingdings" panose="05000000000000000000" pitchFamily="2" charset="2"/>
              <a:buChar char="v"/>
            </a:pPr>
            <a:r>
              <a:rPr lang="en-GB" dirty="0"/>
              <a:t>The phase structure allows the project to be segmented into logical subsets for ease of management, planning, and control. </a:t>
            </a:r>
          </a:p>
          <a:p>
            <a:pPr fontAlgn="auto">
              <a:buFont typeface="Wingdings" panose="05000000000000000000" pitchFamily="2" charset="2"/>
              <a:buChar char="v"/>
              <a:defRPr/>
            </a:pPr>
            <a:r>
              <a:rPr lang="en-US" dirty="0">
                <a:solidFill>
                  <a:schemeClr val="tx1">
                    <a:lumMod val="85000"/>
                    <a:lumOff val="15000"/>
                  </a:schemeClr>
                </a:solidFill>
              </a:rPr>
              <a:t>The </a:t>
            </a:r>
            <a:r>
              <a:rPr lang="en-US" dirty="0">
                <a:solidFill>
                  <a:srgbClr val="00B050"/>
                </a:solidFill>
              </a:rPr>
              <a:t>number of phases</a:t>
            </a:r>
            <a:r>
              <a:rPr lang="en-US" dirty="0">
                <a:solidFill>
                  <a:schemeClr val="tx1">
                    <a:lumMod val="85000"/>
                    <a:lumOff val="15000"/>
                  </a:schemeClr>
                </a:solidFill>
              </a:rPr>
              <a:t>, the</a:t>
            </a:r>
            <a:r>
              <a:rPr lang="en-US" dirty="0">
                <a:solidFill>
                  <a:srgbClr val="00B050"/>
                </a:solidFill>
              </a:rPr>
              <a:t> need for phases</a:t>
            </a:r>
            <a:r>
              <a:rPr lang="en-US" dirty="0">
                <a:solidFill>
                  <a:schemeClr val="tx1">
                    <a:lumMod val="85000"/>
                    <a:lumOff val="15000"/>
                  </a:schemeClr>
                </a:solidFill>
              </a:rPr>
              <a:t>, and the </a:t>
            </a:r>
            <a:r>
              <a:rPr lang="en-US" dirty="0">
                <a:solidFill>
                  <a:srgbClr val="00B050"/>
                </a:solidFill>
              </a:rPr>
              <a:t>degree of control applied</a:t>
            </a:r>
            <a:r>
              <a:rPr lang="en-US" dirty="0">
                <a:solidFill>
                  <a:schemeClr val="tx1">
                    <a:lumMod val="85000"/>
                    <a:lumOff val="15000"/>
                  </a:schemeClr>
                </a:solidFill>
              </a:rPr>
              <a:t>, depend on the </a:t>
            </a:r>
          </a:p>
          <a:p>
            <a:pPr lvl="1" fontAlgn="auto">
              <a:buFont typeface="Arial"/>
              <a:buChar char="•"/>
              <a:defRPr/>
            </a:pPr>
            <a:r>
              <a:rPr lang="en-US" dirty="0">
                <a:solidFill>
                  <a:schemeClr val="tx1">
                    <a:lumMod val="85000"/>
                    <a:lumOff val="15000"/>
                  </a:schemeClr>
                </a:solidFill>
              </a:rPr>
              <a:t>	</a:t>
            </a:r>
            <a:r>
              <a:rPr lang="en-US" dirty="0">
                <a:solidFill>
                  <a:srgbClr val="00B050"/>
                </a:solidFill>
              </a:rPr>
              <a:t>size</a:t>
            </a:r>
            <a:r>
              <a:rPr lang="en-US" dirty="0">
                <a:solidFill>
                  <a:schemeClr val="tx1">
                    <a:lumMod val="85000"/>
                    <a:lumOff val="15000"/>
                  </a:schemeClr>
                </a:solidFill>
              </a:rPr>
              <a:t>, </a:t>
            </a:r>
          </a:p>
          <a:p>
            <a:pPr lvl="1" fontAlgn="auto">
              <a:buFont typeface="Arial"/>
              <a:buChar char="•"/>
              <a:defRPr/>
            </a:pPr>
            <a:r>
              <a:rPr lang="en-US" dirty="0">
                <a:solidFill>
                  <a:schemeClr val="tx1">
                    <a:lumMod val="85000"/>
                    <a:lumOff val="15000"/>
                  </a:schemeClr>
                </a:solidFill>
              </a:rPr>
              <a:t>	</a:t>
            </a:r>
            <a:r>
              <a:rPr lang="en-US" dirty="0">
                <a:solidFill>
                  <a:srgbClr val="00B050"/>
                </a:solidFill>
              </a:rPr>
              <a:t>complexity</a:t>
            </a:r>
            <a:r>
              <a:rPr lang="en-US" dirty="0">
                <a:solidFill>
                  <a:schemeClr val="tx1">
                    <a:lumMod val="85000"/>
                    <a:lumOff val="15000"/>
                  </a:schemeClr>
                </a:solidFill>
              </a:rPr>
              <a:t>, and </a:t>
            </a:r>
          </a:p>
          <a:p>
            <a:pPr lvl="1" fontAlgn="auto">
              <a:buFont typeface="Arial"/>
              <a:buChar char="•"/>
              <a:defRPr/>
            </a:pPr>
            <a:r>
              <a:rPr lang="en-US" dirty="0">
                <a:solidFill>
                  <a:schemeClr val="tx1">
                    <a:lumMod val="85000"/>
                    <a:lumOff val="15000"/>
                  </a:schemeClr>
                </a:solidFill>
              </a:rPr>
              <a:t>	potential </a:t>
            </a:r>
            <a:r>
              <a:rPr lang="en-US" dirty="0">
                <a:solidFill>
                  <a:srgbClr val="00B050"/>
                </a:solidFill>
              </a:rPr>
              <a:t>impact</a:t>
            </a:r>
            <a:r>
              <a:rPr lang="en-US" dirty="0">
                <a:solidFill>
                  <a:schemeClr val="tx1">
                    <a:lumMod val="85000"/>
                    <a:lumOff val="15000"/>
                  </a:schemeClr>
                </a:solidFill>
              </a:rPr>
              <a:t> of the project. </a:t>
            </a:r>
          </a:p>
          <a:p>
            <a:pPr>
              <a:lnSpc>
                <a:spcPct val="100000"/>
              </a:lnSpc>
            </a:pPr>
            <a:endParaRPr lang="en-GB" sz="2000" dirty="0"/>
          </a:p>
          <a:p>
            <a:pPr>
              <a:lnSpc>
                <a:spcPct val="100000"/>
              </a:lnSpc>
            </a:pPr>
            <a:endParaRPr lang="en-GB" sz="2000" dirty="0"/>
          </a:p>
        </p:txBody>
      </p:sp>
    </p:spTree>
    <p:extLst>
      <p:ext uri="{BB962C8B-B14F-4D97-AF65-F5344CB8AC3E}">
        <p14:creationId xmlns:p14="http://schemas.microsoft.com/office/powerpoint/2010/main" val="397160334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rtlCol="0">
            <a:normAutofit/>
          </a:bodyPr>
          <a:lstStyle/>
          <a:p>
            <a:pPr fontAlgn="auto">
              <a:spcAft>
                <a:spcPts val="0"/>
              </a:spcAft>
              <a:defRPr/>
            </a:pPr>
            <a:r>
              <a:rPr lang="en-US" altLang="en-US" dirty="0" err="1">
                <a:solidFill>
                  <a:schemeClr val="tx1">
                    <a:lumMod val="85000"/>
                    <a:lumOff val="15000"/>
                  </a:schemeClr>
                </a:solidFill>
              </a:rPr>
              <a:t>Contd</a:t>
            </a:r>
            <a:r>
              <a:rPr lang="en-US" altLang="en-US" dirty="0">
                <a:solidFill>
                  <a:schemeClr val="tx1">
                    <a:lumMod val="85000"/>
                    <a:lumOff val="15000"/>
                  </a:schemeClr>
                </a:solidFill>
              </a:rPr>
              <a:t>…</a:t>
            </a:r>
          </a:p>
        </p:txBody>
      </p:sp>
      <p:sp>
        <p:nvSpPr>
          <p:cNvPr id="18435" name="Content Placeholder 2"/>
          <p:cNvSpPr>
            <a:spLocks noGrp="1"/>
          </p:cNvSpPr>
          <p:nvPr>
            <p:ph idx="1"/>
          </p:nvPr>
        </p:nvSpPr>
        <p:spPr>
          <a:xfrm>
            <a:off x="1176338" y="2490788"/>
            <a:ext cx="7129462" cy="3681412"/>
          </a:xfrm>
        </p:spPr>
        <p:txBody>
          <a:bodyPr rtlCol="0">
            <a:noAutofit/>
          </a:bodyPr>
          <a:lstStyle/>
          <a:p>
            <a:pPr fontAlgn="auto">
              <a:buFont typeface="Wingdings" panose="05000000000000000000" pitchFamily="2" charset="2"/>
              <a:buNone/>
              <a:defRPr/>
            </a:pPr>
            <a:r>
              <a:rPr lang="en-US" sz="1600" dirty="0">
                <a:solidFill>
                  <a:srgbClr val="C00000"/>
                </a:solidFill>
              </a:rPr>
              <a:t> </a:t>
            </a:r>
            <a:r>
              <a:rPr lang="en-US" dirty="0">
                <a:solidFill>
                  <a:srgbClr val="C00000"/>
                </a:solidFill>
              </a:rPr>
              <a:t>Why do we do phasing? Or Why do we divide project into phases? </a:t>
            </a:r>
          </a:p>
          <a:p>
            <a:pPr marL="0" indent="0" fontAlgn="auto">
              <a:buFont typeface="Wingdings" panose="05000000000000000000" pitchFamily="2" charset="2"/>
              <a:buNone/>
              <a:defRPr/>
            </a:pPr>
            <a:r>
              <a:rPr lang="en-US" dirty="0">
                <a:solidFill>
                  <a:schemeClr val="tx1">
                    <a:lumMod val="85000"/>
                    <a:lumOff val="15000"/>
                  </a:schemeClr>
                </a:solidFill>
              </a:rPr>
              <a:t>The phase structure allows the project to be segmented into logical subsets for ease of </a:t>
            </a:r>
          </a:p>
          <a:p>
            <a:pPr fontAlgn="auto">
              <a:buFont typeface="Arial"/>
              <a:buChar char="•"/>
              <a:defRPr/>
            </a:pPr>
            <a:r>
              <a:rPr lang="en-US" dirty="0">
                <a:solidFill>
                  <a:srgbClr val="00B050"/>
                </a:solidFill>
              </a:rPr>
              <a:t>	management</a:t>
            </a:r>
            <a:r>
              <a:rPr lang="en-US" dirty="0">
                <a:solidFill>
                  <a:schemeClr val="tx1">
                    <a:lumMod val="85000"/>
                    <a:lumOff val="15000"/>
                  </a:schemeClr>
                </a:solidFill>
              </a:rPr>
              <a:t>, </a:t>
            </a:r>
          </a:p>
          <a:p>
            <a:pPr fontAlgn="auto">
              <a:buFont typeface="Arial"/>
              <a:buChar char="•"/>
              <a:defRPr/>
            </a:pPr>
            <a:r>
              <a:rPr lang="en-US" dirty="0">
                <a:solidFill>
                  <a:srgbClr val="FF0000"/>
                </a:solidFill>
              </a:rPr>
              <a:t>	planning</a:t>
            </a:r>
            <a:r>
              <a:rPr lang="en-US" dirty="0">
                <a:solidFill>
                  <a:schemeClr val="tx1">
                    <a:lumMod val="85000"/>
                    <a:lumOff val="15000"/>
                  </a:schemeClr>
                </a:solidFill>
              </a:rPr>
              <a:t>, and </a:t>
            </a:r>
          </a:p>
          <a:p>
            <a:pPr fontAlgn="auto">
              <a:buFont typeface="Arial"/>
              <a:buChar char="•"/>
              <a:defRPr/>
            </a:pPr>
            <a:r>
              <a:rPr lang="en-US" dirty="0">
                <a:solidFill>
                  <a:srgbClr val="00B050"/>
                </a:solidFill>
              </a:rPr>
              <a:t>	control</a:t>
            </a:r>
            <a:r>
              <a:rPr lang="en-US" dirty="0">
                <a:solidFill>
                  <a:schemeClr val="tx1">
                    <a:lumMod val="85000"/>
                    <a:lumOff val="15000"/>
                  </a:schemeClr>
                </a:solidFill>
              </a:rPr>
              <a:t>. </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176338" y="3429000"/>
            <a:ext cx="6799262" cy="2690812"/>
          </a:xfrm>
        </p:spPr>
        <p:txBody>
          <a:bodyPr/>
          <a:lstStyle/>
          <a:p>
            <a:pPr algn="just">
              <a:lnSpc>
                <a:spcPct val="100000"/>
              </a:lnSpc>
            </a:pPr>
            <a:r>
              <a:rPr lang="en-GB" sz="2000" dirty="0"/>
              <a:t>Although many projects may have similar phase name with similar outputs, few are identical. Some will have only one phase, and others may have many phases.</a:t>
            </a:r>
          </a:p>
          <a:p>
            <a:pPr algn="just">
              <a:lnSpc>
                <a:spcPct val="100000"/>
              </a:lnSpc>
            </a:pPr>
            <a:r>
              <a:rPr lang="en-GB" sz="2000" dirty="0"/>
              <a:t>Different phases typically have a different duration or length. One project team might divide a project into two phases where a different team might choose single phase. So it depends on the nature of the project and the style of project team or organization.</a:t>
            </a:r>
          </a:p>
        </p:txBody>
      </p:sp>
      <p:pic>
        <p:nvPicPr>
          <p:cNvPr id="6" name="Picture 4" descr="C:\Users\Hp\Desktop\PMBOK Chapters\Chapter 02\Figures and Tables\F2.3.JPG"/>
          <p:cNvPicPr>
            <a:picLocks noChangeAspect="1" noChangeArrowheads="1"/>
          </p:cNvPicPr>
          <p:nvPr/>
        </p:nvPicPr>
        <p:blipFill rotWithShape="1">
          <a:blip r:embed="rId2">
            <a:extLst>
              <a:ext uri="{28A0092B-C50C-407E-A947-70E740481C1C}">
                <a14:useLocalDpi xmlns:a14="http://schemas.microsoft.com/office/drawing/2010/main" val="0"/>
              </a:ext>
            </a:extLst>
          </a:blip>
          <a:srcRect t="12728"/>
          <a:stretch/>
        </p:blipFill>
        <p:spPr bwMode="auto">
          <a:xfrm>
            <a:off x="1524000" y="990599"/>
            <a:ext cx="6159500" cy="2419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6319836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example of the project lifecycle in stages.">
            <a:extLst>
              <a:ext uri="{FF2B5EF4-FFF2-40B4-BE49-F238E27FC236}">
                <a16:creationId xmlns:a16="http://schemas.microsoft.com/office/drawing/2014/main" id="{47EA7375-82CF-43BF-81E8-D5505C6EBF0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1322"/>
          <a:stretch/>
        </p:blipFill>
        <p:spPr bwMode="auto">
          <a:xfrm>
            <a:off x="0" y="996948"/>
            <a:ext cx="9144000" cy="549592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584BA27-36B0-4CB0-B13F-11A112B7BFB0}"/>
              </a:ext>
            </a:extLst>
          </p:cNvPr>
          <p:cNvSpPr>
            <a:spLocks noGrp="1"/>
          </p:cNvSpPr>
          <p:nvPr>
            <p:ph type="title"/>
          </p:nvPr>
        </p:nvSpPr>
        <p:spPr>
          <a:xfrm>
            <a:off x="457200" y="365126"/>
            <a:ext cx="7886700" cy="1325563"/>
          </a:xfrm>
        </p:spPr>
        <p:txBody>
          <a:bodyPr>
            <a:normAutofit/>
          </a:bodyPr>
          <a:lstStyle/>
          <a:p>
            <a:r>
              <a:rPr lang="en-US" b="0" i="0" dirty="0">
                <a:solidFill>
                  <a:srgbClr val="333637"/>
                </a:solidFill>
                <a:effectLst/>
                <a:latin typeface="Poppins" panose="020B0502040204020203" pitchFamily="2" charset="0"/>
              </a:rPr>
              <a:t>5 Phases of Project Management Life Cycle </a:t>
            </a:r>
            <a:endParaRPr lang="en-PK" dirty="0"/>
          </a:p>
        </p:txBody>
      </p:sp>
    </p:spTree>
    <p:extLst>
      <p:ext uri="{BB962C8B-B14F-4D97-AF65-F5344CB8AC3E}">
        <p14:creationId xmlns:p14="http://schemas.microsoft.com/office/powerpoint/2010/main" val="148444464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rtlCol="0">
            <a:normAutofit/>
          </a:bodyPr>
          <a:lstStyle/>
          <a:p>
            <a:pPr fontAlgn="auto">
              <a:buFont typeface="Wingdings" panose="05000000000000000000" pitchFamily="2" charset="2"/>
              <a:buNone/>
              <a:defRPr/>
            </a:pPr>
            <a:r>
              <a:rPr lang="en-US" altLang="en-US" dirty="0">
                <a:solidFill>
                  <a:schemeClr val="tx1">
                    <a:lumMod val="85000"/>
                    <a:lumOff val="15000"/>
                  </a:schemeClr>
                </a:solidFill>
              </a:rPr>
              <a:t>The Project Life Cycle (Processes in Project)</a:t>
            </a:r>
            <a:endParaRPr lang="en-US" altLang="en-US" dirty="0">
              <a:solidFill>
                <a:srgbClr val="C00000"/>
              </a:solidFill>
            </a:endParaRPr>
          </a:p>
        </p:txBody>
      </p:sp>
      <p:sp>
        <p:nvSpPr>
          <p:cNvPr id="2" name="Text Placeholder 1"/>
          <p:cNvSpPr>
            <a:spLocks noGrp="1"/>
          </p:cNvSpPr>
          <p:nvPr>
            <p:ph type="body" idx="1"/>
          </p:nvPr>
        </p:nvSpPr>
        <p:spPr>
          <a:xfrm>
            <a:off x="1176338" y="1900955"/>
            <a:ext cx="3337560" cy="465668"/>
          </a:xfrm>
        </p:spPr>
        <p:txBody>
          <a:bodyPr/>
          <a:lstStyle/>
          <a:p>
            <a:r>
              <a:rPr lang="en-GB" b="1" dirty="0"/>
              <a:t>Initiation Process</a:t>
            </a:r>
          </a:p>
        </p:txBody>
      </p:sp>
      <p:sp>
        <p:nvSpPr>
          <p:cNvPr id="33795" name="Content Placeholder 2"/>
          <p:cNvSpPr>
            <a:spLocks noGrp="1"/>
          </p:cNvSpPr>
          <p:nvPr>
            <p:ph sz="half" idx="2"/>
          </p:nvPr>
        </p:nvSpPr>
        <p:spPr>
          <a:xfrm>
            <a:off x="914400" y="2627376"/>
            <a:ext cx="3337560" cy="2706624"/>
          </a:xfrm>
        </p:spPr>
        <p:txBody>
          <a:bodyPr rtlCol="0">
            <a:normAutofit fontScale="92500" lnSpcReduction="10000"/>
          </a:bodyPr>
          <a:lstStyle/>
          <a:p>
            <a:pPr marL="342900" indent="-342900">
              <a:buFontTx/>
              <a:buChar char="-"/>
            </a:pPr>
            <a:r>
              <a:rPr lang="en-GB" dirty="0"/>
              <a:t>Defining the major goals of the project</a:t>
            </a:r>
          </a:p>
          <a:p>
            <a:pPr marL="342900" indent="-342900">
              <a:buFontTx/>
              <a:buChar char="-"/>
            </a:pPr>
            <a:r>
              <a:rPr lang="en-GB" dirty="0"/>
              <a:t>Determining project selection criteria</a:t>
            </a:r>
          </a:p>
          <a:p>
            <a:pPr marL="342900" indent="-342900">
              <a:buFontTx/>
              <a:buChar char="-"/>
            </a:pPr>
            <a:r>
              <a:rPr lang="en-GB" dirty="0"/>
              <a:t>Assigning the project manager</a:t>
            </a:r>
          </a:p>
          <a:p>
            <a:pPr marL="342900" indent="-342900">
              <a:buFontTx/>
              <a:buChar char="-"/>
            </a:pPr>
            <a:r>
              <a:rPr lang="en-GB" dirty="0"/>
              <a:t>Obtaining the sign-off of the project charter</a:t>
            </a:r>
          </a:p>
          <a:p>
            <a:endParaRPr lang="en-GB" b="1" dirty="0"/>
          </a:p>
          <a:p>
            <a:endParaRPr lang="en-GB" b="1" dirty="0"/>
          </a:p>
          <a:p>
            <a:endParaRPr lang="en-GB" b="1" dirty="0"/>
          </a:p>
          <a:p>
            <a:pPr fontAlgn="auto">
              <a:buFont typeface="Wingdings" panose="05000000000000000000" pitchFamily="2" charset="2"/>
              <a:buNone/>
              <a:defRPr/>
            </a:pPr>
            <a:endParaRPr lang="en-US" altLang="en-US" dirty="0">
              <a:solidFill>
                <a:srgbClr val="C00000"/>
              </a:solidFill>
            </a:endParaRPr>
          </a:p>
        </p:txBody>
      </p:sp>
      <p:sp>
        <p:nvSpPr>
          <p:cNvPr id="3" name="Text Placeholder 2"/>
          <p:cNvSpPr>
            <a:spLocks noGrp="1"/>
          </p:cNvSpPr>
          <p:nvPr>
            <p:ph type="body" sz="quarter" idx="3"/>
          </p:nvPr>
        </p:nvSpPr>
        <p:spPr>
          <a:xfrm>
            <a:off x="4636181" y="1974279"/>
            <a:ext cx="3337560" cy="389467"/>
          </a:xfrm>
        </p:spPr>
        <p:txBody>
          <a:bodyPr/>
          <a:lstStyle/>
          <a:p>
            <a:r>
              <a:rPr lang="en-GB" b="1" dirty="0"/>
              <a:t>Planning Process</a:t>
            </a:r>
          </a:p>
        </p:txBody>
      </p:sp>
      <p:sp>
        <p:nvSpPr>
          <p:cNvPr id="4" name="Content Placeholder 3"/>
          <p:cNvSpPr>
            <a:spLocks noGrp="1"/>
          </p:cNvSpPr>
          <p:nvPr>
            <p:ph sz="quarter" idx="4"/>
          </p:nvPr>
        </p:nvSpPr>
        <p:spPr>
          <a:xfrm>
            <a:off x="4512039" y="2608791"/>
            <a:ext cx="3337560" cy="2706624"/>
          </a:xfrm>
        </p:spPr>
        <p:txBody>
          <a:bodyPr>
            <a:normAutofit fontScale="92500" lnSpcReduction="10000"/>
          </a:bodyPr>
          <a:lstStyle/>
          <a:p>
            <a:pPr marL="342900" indent="-342900">
              <a:lnSpc>
                <a:spcPct val="100000"/>
              </a:lnSpc>
              <a:buFontTx/>
              <a:buChar char="-"/>
            </a:pPr>
            <a:r>
              <a:rPr lang="en-GB" dirty="0"/>
              <a:t>Determining project outputs</a:t>
            </a:r>
          </a:p>
          <a:p>
            <a:pPr marL="342900" indent="-342900">
              <a:lnSpc>
                <a:spcPct val="100000"/>
              </a:lnSpc>
              <a:buFontTx/>
              <a:buChar char="-"/>
            </a:pPr>
            <a:r>
              <a:rPr lang="en-GB" dirty="0"/>
              <a:t>Writing and publishing a scope statement</a:t>
            </a:r>
          </a:p>
          <a:p>
            <a:pPr marL="342900" indent="-342900">
              <a:lnSpc>
                <a:spcPct val="100000"/>
              </a:lnSpc>
              <a:buFontTx/>
              <a:buChar char="-"/>
            </a:pPr>
            <a:r>
              <a:rPr lang="en-GB" dirty="0"/>
              <a:t>Establishing a project budget</a:t>
            </a:r>
          </a:p>
          <a:p>
            <a:pPr marL="342900" indent="-342900">
              <a:lnSpc>
                <a:spcPct val="100000"/>
              </a:lnSpc>
              <a:buFontTx/>
              <a:buChar char="-"/>
            </a:pPr>
            <a:r>
              <a:rPr lang="en-GB" dirty="0"/>
              <a:t>Defining project activities and estimates</a:t>
            </a:r>
          </a:p>
          <a:p>
            <a:pPr marL="342900" indent="-342900">
              <a:lnSpc>
                <a:spcPct val="100000"/>
              </a:lnSpc>
              <a:buFontTx/>
              <a:buChar char="-"/>
            </a:pPr>
            <a:r>
              <a:rPr lang="en-GB" dirty="0"/>
              <a:t>Developing a schedule</a:t>
            </a:r>
          </a:p>
          <a:p>
            <a:endParaRPr lang="en-US" dirty="0"/>
          </a:p>
        </p:txBody>
      </p:sp>
    </p:spTree>
    <p:extLst>
      <p:ext uri="{BB962C8B-B14F-4D97-AF65-F5344CB8AC3E}">
        <p14:creationId xmlns:p14="http://schemas.microsoft.com/office/powerpoint/2010/main" val="50354530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rtlCol="0">
            <a:normAutofit/>
          </a:bodyPr>
          <a:lstStyle/>
          <a:p>
            <a:pPr fontAlgn="auto">
              <a:buFont typeface="Wingdings" panose="05000000000000000000" pitchFamily="2" charset="2"/>
              <a:buNone/>
              <a:defRPr/>
            </a:pPr>
            <a:r>
              <a:rPr lang="en-US" altLang="en-US" dirty="0">
                <a:solidFill>
                  <a:schemeClr val="tx1">
                    <a:lumMod val="85000"/>
                    <a:lumOff val="15000"/>
                  </a:schemeClr>
                </a:solidFill>
              </a:rPr>
              <a:t>The Project Life Cycle (Processes in Project)</a:t>
            </a:r>
            <a:endParaRPr lang="en-US" altLang="en-US" dirty="0">
              <a:solidFill>
                <a:srgbClr val="C00000"/>
              </a:solidFill>
            </a:endParaRPr>
          </a:p>
        </p:txBody>
      </p:sp>
      <p:sp>
        <p:nvSpPr>
          <p:cNvPr id="2" name="Text Placeholder 1"/>
          <p:cNvSpPr>
            <a:spLocks noGrp="1"/>
          </p:cNvSpPr>
          <p:nvPr>
            <p:ph type="body" idx="1"/>
          </p:nvPr>
        </p:nvSpPr>
        <p:spPr>
          <a:xfrm>
            <a:off x="914400" y="2097782"/>
            <a:ext cx="3337560" cy="465668"/>
          </a:xfrm>
        </p:spPr>
        <p:txBody>
          <a:bodyPr/>
          <a:lstStyle/>
          <a:p>
            <a:r>
              <a:rPr lang="en-GB" b="1" dirty="0"/>
              <a:t>Execution Process</a:t>
            </a:r>
          </a:p>
        </p:txBody>
      </p:sp>
      <p:sp>
        <p:nvSpPr>
          <p:cNvPr id="33795" name="Content Placeholder 2"/>
          <p:cNvSpPr>
            <a:spLocks noGrp="1"/>
          </p:cNvSpPr>
          <p:nvPr>
            <p:ph sz="half" idx="2"/>
          </p:nvPr>
        </p:nvSpPr>
        <p:spPr>
          <a:xfrm>
            <a:off x="877229" y="2521786"/>
            <a:ext cx="3597639" cy="3593307"/>
          </a:xfrm>
        </p:spPr>
        <p:txBody>
          <a:bodyPr rtlCol="0">
            <a:normAutofit fontScale="47500" lnSpcReduction="20000"/>
          </a:bodyPr>
          <a:lstStyle/>
          <a:p>
            <a:pPr marL="342900" indent="-342900">
              <a:buFontTx/>
              <a:buChar char="-"/>
            </a:pPr>
            <a:r>
              <a:rPr lang="en-GB" sz="3800" dirty="0"/>
              <a:t>Developing and forming project team</a:t>
            </a:r>
          </a:p>
          <a:p>
            <a:pPr marL="342900" indent="-342900">
              <a:buFontTx/>
              <a:buChar char="-"/>
            </a:pPr>
            <a:r>
              <a:rPr lang="en-GB" sz="3800" dirty="0"/>
              <a:t>Directing and leading the project team</a:t>
            </a:r>
          </a:p>
          <a:p>
            <a:pPr marL="342900" indent="-342900">
              <a:buFontTx/>
              <a:buChar char="-"/>
            </a:pPr>
            <a:r>
              <a:rPr lang="en-GB" sz="3800" dirty="0"/>
              <a:t>Obtaining other project resources</a:t>
            </a:r>
          </a:p>
          <a:p>
            <a:pPr marL="342900" indent="-342900">
              <a:buFontTx/>
              <a:buChar char="-"/>
            </a:pPr>
            <a:r>
              <a:rPr lang="en-GB" sz="3800" dirty="0"/>
              <a:t>Conducting status review meetings</a:t>
            </a:r>
          </a:p>
          <a:p>
            <a:pPr marL="342900" indent="-342900">
              <a:buFontTx/>
              <a:buChar char="-"/>
            </a:pPr>
            <a:r>
              <a:rPr lang="en-GB" sz="3800" dirty="0"/>
              <a:t>Communicating project information</a:t>
            </a:r>
          </a:p>
          <a:p>
            <a:pPr marL="342900" indent="-342900">
              <a:buFontTx/>
              <a:buChar char="-"/>
            </a:pPr>
            <a:r>
              <a:rPr lang="en-GB" sz="3800" dirty="0"/>
              <a:t>Managing project progress</a:t>
            </a:r>
          </a:p>
          <a:p>
            <a:pPr marL="342900" indent="-342900">
              <a:buFontTx/>
              <a:buChar char="-"/>
            </a:pPr>
            <a:r>
              <a:rPr lang="en-GB" sz="3800" dirty="0"/>
              <a:t>Implementing quality assurance procedures</a:t>
            </a:r>
            <a:endParaRPr lang="en-GB" sz="3800" b="1" dirty="0"/>
          </a:p>
          <a:p>
            <a:endParaRPr lang="en-GB" b="1" dirty="0"/>
          </a:p>
          <a:p>
            <a:endParaRPr lang="en-GB" b="1" dirty="0"/>
          </a:p>
          <a:p>
            <a:pPr fontAlgn="auto">
              <a:buFont typeface="Wingdings" panose="05000000000000000000" pitchFamily="2" charset="2"/>
              <a:buNone/>
              <a:defRPr/>
            </a:pPr>
            <a:endParaRPr lang="en-US" altLang="en-US" dirty="0">
              <a:solidFill>
                <a:srgbClr val="C00000"/>
              </a:solidFill>
            </a:endParaRPr>
          </a:p>
        </p:txBody>
      </p:sp>
      <p:sp>
        <p:nvSpPr>
          <p:cNvPr id="3" name="Text Placeholder 2"/>
          <p:cNvSpPr>
            <a:spLocks noGrp="1"/>
          </p:cNvSpPr>
          <p:nvPr>
            <p:ph type="body" sz="quarter" idx="3"/>
          </p:nvPr>
        </p:nvSpPr>
        <p:spPr>
          <a:xfrm>
            <a:off x="4572000" y="1905000"/>
            <a:ext cx="4550069" cy="634512"/>
          </a:xfrm>
        </p:spPr>
        <p:txBody>
          <a:bodyPr/>
          <a:lstStyle/>
          <a:p>
            <a:r>
              <a:rPr lang="en-GB" b="1" dirty="0"/>
              <a:t>Monitoring and Controlling Process</a:t>
            </a:r>
          </a:p>
        </p:txBody>
      </p:sp>
      <p:sp>
        <p:nvSpPr>
          <p:cNvPr id="4" name="Content Placeholder 3"/>
          <p:cNvSpPr>
            <a:spLocks noGrp="1"/>
          </p:cNvSpPr>
          <p:nvPr>
            <p:ph sz="quarter" idx="4"/>
          </p:nvPr>
        </p:nvSpPr>
        <p:spPr>
          <a:xfrm>
            <a:off x="4474868" y="2521786"/>
            <a:ext cx="3793761" cy="3149965"/>
          </a:xfrm>
        </p:spPr>
        <p:txBody>
          <a:bodyPr>
            <a:noAutofit/>
          </a:bodyPr>
          <a:lstStyle/>
          <a:p>
            <a:pPr marL="342900" indent="-342900">
              <a:lnSpc>
                <a:spcPct val="100000"/>
              </a:lnSpc>
              <a:buFontTx/>
              <a:buChar char="-"/>
            </a:pPr>
            <a:r>
              <a:rPr lang="en-GB" sz="1800" dirty="0"/>
              <a:t>Measuring performance against the plan</a:t>
            </a:r>
          </a:p>
          <a:p>
            <a:pPr marL="342900" indent="-342900">
              <a:lnSpc>
                <a:spcPct val="100000"/>
              </a:lnSpc>
              <a:buFontTx/>
              <a:buChar char="-"/>
            </a:pPr>
            <a:r>
              <a:rPr lang="en-GB" sz="1800" dirty="0"/>
              <a:t>Taking corrective action when measures are outside the limits</a:t>
            </a:r>
            <a:endParaRPr lang="en-GB" sz="1800" b="1" dirty="0"/>
          </a:p>
          <a:p>
            <a:pPr marL="342900" indent="-342900">
              <a:lnSpc>
                <a:spcPct val="100000"/>
              </a:lnSpc>
              <a:buFontTx/>
              <a:buChar char="-"/>
            </a:pPr>
            <a:r>
              <a:rPr lang="en-GB" sz="1800" dirty="0"/>
              <a:t>Evaluating the effectiveness of the corrective actions</a:t>
            </a:r>
          </a:p>
          <a:p>
            <a:pPr marL="342900" indent="-342900">
              <a:lnSpc>
                <a:spcPct val="100000"/>
              </a:lnSpc>
              <a:buFontTx/>
              <a:buChar char="-"/>
            </a:pPr>
            <a:r>
              <a:rPr lang="en-GB" sz="1800" dirty="0"/>
              <a:t>Ensuring that project progress continues according to the plan</a:t>
            </a:r>
          </a:p>
          <a:p>
            <a:pPr marL="342900" indent="-342900">
              <a:lnSpc>
                <a:spcPct val="100000"/>
              </a:lnSpc>
              <a:buFontTx/>
              <a:buChar char="-"/>
            </a:pPr>
            <a:r>
              <a:rPr lang="en-GB" sz="1800" dirty="0"/>
              <a:t>Reviewing and implementing change requests</a:t>
            </a:r>
          </a:p>
        </p:txBody>
      </p:sp>
    </p:spTree>
    <p:extLst>
      <p:ext uri="{BB962C8B-B14F-4D97-AF65-F5344CB8AC3E}">
        <p14:creationId xmlns:p14="http://schemas.microsoft.com/office/powerpoint/2010/main" val="180420812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rtlCol="0">
            <a:normAutofit/>
          </a:bodyPr>
          <a:lstStyle/>
          <a:p>
            <a:pPr fontAlgn="auto">
              <a:buFont typeface="Wingdings" panose="05000000000000000000" pitchFamily="2" charset="2"/>
              <a:buNone/>
              <a:defRPr/>
            </a:pPr>
            <a:r>
              <a:rPr lang="en-US" altLang="en-US" dirty="0">
                <a:solidFill>
                  <a:schemeClr val="tx1">
                    <a:lumMod val="85000"/>
                    <a:lumOff val="15000"/>
                  </a:schemeClr>
                </a:solidFill>
              </a:rPr>
              <a:t>The Project Life Cycle (Processes in Project)</a:t>
            </a:r>
            <a:endParaRPr lang="en-US" altLang="en-US" dirty="0">
              <a:solidFill>
                <a:srgbClr val="C00000"/>
              </a:solidFill>
            </a:endParaRPr>
          </a:p>
        </p:txBody>
      </p:sp>
      <p:sp>
        <p:nvSpPr>
          <p:cNvPr id="2" name="Text Placeholder 1"/>
          <p:cNvSpPr>
            <a:spLocks noGrp="1"/>
          </p:cNvSpPr>
          <p:nvPr>
            <p:ph type="body" idx="1"/>
          </p:nvPr>
        </p:nvSpPr>
        <p:spPr>
          <a:xfrm>
            <a:off x="1066800" y="2425472"/>
            <a:ext cx="3337560" cy="465668"/>
          </a:xfrm>
        </p:spPr>
        <p:txBody>
          <a:bodyPr/>
          <a:lstStyle/>
          <a:p>
            <a:r>
              <a:rPr lang="en-GB" b="1" dirty="0"/>
              <a:t>Closing Process</a:t>
            </a:r>
          </a:p>
        </p:txBody>
      </p:sp>
      <p:sp>
        <p:nvSpPr>
          <p:cNvPr id="33795" name="Content Placeholder 2"/>
          <p:cNvSpPr>
            <a:spLocks noGrp="1"/>
          </p:cNvSpPr>
          <p:nvPr>
            <p:ph sz="half" idx="2"/>
          </p:nvPr>
        </p:nvSpPr>
        <p:spPr>
          <a:xfrm>
            <a:off x="1176338" y="2891141"/>
            <a:ext cx="6900862" cy="2366660"/>
          </a:xfrm>
        </p:spPr>
        <p:txBody>
          <a:bodyPr rtlCol="0">
            <a:normAutofit/>
          </a:bodyPr>
          <a:lstStyle/>
          <a:p>
            <a:pPr marL="342900" indent="-342900">
              <a:buFontTx/>
              <a:buChar char="-"/>
            </a:pPr>
            <a:r>
              <a:rPr lang="en-GB" sz="2000" dirty="0"/>
              <a:t>Obtaining acceptance of project outputs</a:t>
            </a:r>
          </a:p>
          <a:p>
            <a:pPr marL="342900" indent="-342900">
              <a:buFontTx/>
              <a:buChar char="-"/>
            </a:pPr>
            <a:r>
              <a:rPr lang="en-GB" sz="2000" dirty="0"/>
              <a:t>Documenting the lessons learned over the course of the project</a:t>
            </a:r>
          </a:p>
          <a:p>
            <a:pPr marL="342900" indent="-342900">
              <a:buFontTx/>
              <a:buChar char="-"/>
            </a:pPr>
            <a:r>
              <a:rPr lang="en-GB" sz="2000" dirty="0"/>
              <a:t>Archiving project records</a:t>
            </a:r>
          </a:p>
          <a:p>
            <a:pPr marL="342900" indent="-342900">
              <a:buFontTx/>
              <a:buChar char="-"/>
            </a:pPr>
            <a:r>
              <a:rPr lang="en-GB" sz="2000" dirty="0"/>
              <a:t>Formalizing the closure of the project</a:t>
            </a:r>
          </a:p>
          <a:p>
            <a:pPr marL="342900" indent="-342900">
              <a:buFontTx/>
              <a:buChar char="-"/>
            </a:pPr>
            <a:r>
              <a:rPr lang="en-GB" sz="2000" dirty="0"/>
              <a:t>Releasing project resources</a:t>
            </a:r>
          </a:p>
          <a:p>
            <a:endParaRPr lang="en-GB" b="1" dirty="0"/>
          </a:p>
          <a:p>
            <a:endParaRPr lang="en-GB" b="1" dirty="0"/>
          </a:p>
          <a:p>
            <a:pPr fontAlgn="auto">
              <a:buFont typeface="Wingdings" panose="05000000000000000000" pitchFamily="2" charset="2"/>
              <a:buNone/>
              <a:defRPr/>
            </a:pPr>
            <a:endParaRPr lang="en-US" altLang="en-US" dirty="0">
              <a:solidFill>
                <a:srgbClr val="C00000"/>
              </a:solidFill>
            </a:endParaRPr>
          </a:p>
        </p:txBody>
      </p:sp>
    </p:spTree>
    <p:extLst>
      <p:ext uri="{BB962C8B-B14F-4D97-AF65-F5344CB8AC3E}">
        <p14:creationId xmlns:p14="http://schemas.microsoft.com/office/powerpoint/2010/main" val="109318176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51065-5FA4-4263-A6C9-5FFBA331DCFE}"/>
              </a:ext>
            </a:extLst>
          </p:cNvPr>
          <p:cNvSpPr>
            <a:spLocks noGrp="1"/>
          </p:cNvSpPr>
          <p:nvPr>
            <p:ph type="title"/>
          </p:nvPr>
        </p:nvSpPr>
        <p:spPr>
          <a:xfrm>
            <a:off x="623888" y="1709739"/>
            <a:ext cx="7886700" cy="2852737"/>
          </a:xfrm>
        </p:spPr>
        <p:txBody>
          <a:bodyPr/>
          <a:lstStyle/>
          <a:p>
            <a:r>
              <a:rPr lang="en-US" altLang="en-US" dirty="0"/>
              <a:t>Phase-to-Phase Relationships</a:t>
            </a:r>
            <a:endParaRPr lang="en-PK" dirty="0"/>
          </a:p>
        </p:txBody>
      </p:sp>
      <p:sp>
        <p:nvSpPr>
          <p:cNvPr id="5" name="Text Placeholder 4">
            <a:extLst>
              <a:ext uri="{FF2B5EF4-FFF2-40B4-BE49-F238E27FC236}">
                <a16:creationId xmlns:a16="http://schemas.microsoft.com/office/drawing/2014/main" id="{4D790B3F-8E91-44C9-A35B-75C006055000}"/>
              </a:ext>
            </a:extLst>
          </p:cNvPr>
          <p:cNvSpPr>
            <a:spLocks noGrp="1"/>
          </p:cNvSpPr>
          <p:nvPr>
            <p:ph type="body" idx="1"/>
          </p:nvPr>
        </p:nvSpPr>
        <p:spPr/>
        <p:txBody>
          <a:bodyPr/>
          <a:lstStyle/>
          <a:p>
            <a:endParaRPr lang="en-PK"/>
          </a:p>
        </p:txBody>
      </p:sp>
    </p:spTree>
    <p:extLst>
      <p:ext uri="{BB962C8B-B14F-4D97-AF65-F5344CB8AC3E}">
        <p14:creationId xmlns:p14="http://schemas.microsoft.com/office/powerpoint/2010/main" val="409066022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rtlCol="0">
            <a:normAutofit/>
          </a:bodyPr>
          <a:lstStyle/>
          <a:p>
            <a:pPr fontAlgn="auto">
              <a:buFont typeface="Wingdings" panose="05000000000000000000" pitchFamily="2" charset="2"/>
              <a:buNone/>
              <a:defRPr/>
            </a:pPr>
            <a:r>
              <a:rPr lang="en-US" altLang="en-US" dirty="0">
                <a:solidFill>
                  <a:srgbClr val="C00000"/>
                </a:solidFill>
              </a:rPr>
              <a:t>Phase-to-Phase Relationships</a:t>
            </a:r>
          </a:p>
        </p:txBody>
      </p:sp>
      <p:sp>
        <p:nvSpPr>
          <p:cNvPr id="26627" name="Content Placeholder 2"/>
          <p:cNvSpPr>
            <a:spLocks noGrp="1"/>
          </p:cNvSpPr>
          <p:nvPr>
            <p:ph idx="1"/>
          </p:nvPr>
        </p:nvSpPr>
        <p:spPr>
          <a:xfrm>
            <a:off x="1176338" y="2490788"/>
            <a:ext cx="6799262" cy="3757612"/>
          </a:xfrm>
        </p:spPr>
        <p:txBody>
          <a:bodyPr rtlCol="0">
            <a:normAutofit/>
          </a:bodyPr>
          <a:lstStyle/>
          <a:p>
            <a:pPr fontAlgn="auto">
              <a:buFont typeface="Wingdings" panose="05000000000000000000" pitchFamily="2" charset="2"/>
              <a:buNone/>
              <a:defRPr/>
            </a:pPr>
            <a:r>
              <a:rPr lang="en-US" altLang="en-US" dirty="0">
                <a:solidFill>
                  <a:schemeClr val="tx1">
                    <a:lumMod val="85000"/>
                    <a:lumOff val="15000"/>
                  </a:schemeClr>
                </a:solidFill>
              </a:rPr>
              <a:t>    In multi-phased projects, the phases are part of a generally </a:t>
            </a:r>
            <a:r>
              <a:rPr lang="en-US" altLang="en-US" dirty="0">
                <a:solidFill>
                  <a:srgbClr val="00B050"/>
                </a:solidFill>
              </a:rPr>
              <a:t>sequential process </a:t>
            </a:r>
            <a:r>
              <a:rPr lang="en-US" altLang="en-US" dirty="0">
                <a:solidFill>
                  <a:schemeClr val="tx1">
                    <a:lumMod val="85000"/>
                    <a:lumOff val="15000"/>
                  </a:schemeClr>
                </a:solidFill>
              </a:rPr>
              <a:t>designed to ensure proper control of the project and attain the desired product, service, or result. </a:t>
            </a:r>
          </a:p>
          <a:p>
            <a:pPr fontAlgn="auto">
              <a:buFont typeface="Wingdings" panose="05000000000000000000" pitchFamily="2" charset="2"/>
              <a:buNone/>
              <a:defRPr/>
            </a:pPr>
            <a:endParaRPr lang="en-US" altLang="en-US" dirty="0">
              <a:solidFill>
                <a:schemeClr val="tx1">
                  <a:lumMod val="85000"/>
                  <a:lumOff val="15000"/>
                </a:schemeClr>
              </a:solidFill>
            </a:endParaRPr>
          </a:p>
          <a:p>
            <a:pPr fontAlgn="auto">
              <a:buFont typeface="Wingdings" panose="05000000000000000000" pitchFamily="2" charset="2"/>
              <a:buNone/>
              <a:defRPr/>
            </a:pPr>
            <a:r>
              <a:rPr lang="en-US" altLang="en-US" dirty="0">
                <a:solidFill>
                  <a:schemeClr val="tx1">
                    <a:lumMod val="85000"/>
                    <a:lumOff val="15000"/>
                  </a:schemeClr>
                </a:solidFill>
              </a:rPr>
              <a:t>	However, there are situations when a project might benefit from </a:t>
            </a:r>
            <a:r>
              <a:rPr lang="en-US" altLang="en-US" dirty="0">
                <a:solidFill>
                  <a:srgbClr val="00B050"/>
                </a:solidFill>
              </a:rPr>
              <a:t>overlapping or concurrent phases</a:t>
            </a:r>
            <a:r>
              <a:rPr lang="en-US" altLang="en-US" dirty="0">
                <a:solidFill>
                  <a:schemeClr val="tx1">
                    <a:lumMod val="85000"/>
                    <a:lumOff val="15000"/>
                  </a:schemeClr>
                </a:solidFill>
              </a:rPr>
              <a:t>.</a:t>
            </a:r>
          </a:p>
          <a:p>
            <a:pPr fontAlgn="auto">
              <a:buFont typeface="Wingdings" panose="05000000000000000000" pitchFamily="2" charset="2"/>
              <a:buNone/>
              <a:defRPr/>
            </a:pPr>
            <a:endParaRPr lang="en-US" altLang="en-US" dirty="0">
              <a:solidFill>
                <a:srgbClr val="C00000"/>
              </a:solidFill>
            </a:endParaRPr>
          </a:p>
        </p:txBody>
      </p:sp>
    </p:spTree>
    <p:extLst>
      <p:ext uri="{BB962C8B-B14F-4D97-AF65-F5344CB8AC3E}">
        <p14:creationId xmlns:p14="http://schemas.microsoft.com/office/powerpoint/2010/main" val="395675940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rtlCol="0">
            <a:normAutofit/>
          </a:bodyPr>
          <a:lstStyle/>
          <a:p>
            <a:pPr>
              <a:buFont typeface="Wingdings" panose="05000000000000000000" pitchFamily="2" charset="2"/>
              <a:buNone/>
            </a:pPr>
            <a:r>
              <a:rPr lang="en-US" altLang="en-US" dirty="0">
                <a:solidFill>
                  <a:srgbClr val="C00000"/>
                </a:solidFill>
              </a:rPr>
              <a:t>Phase-to-Phase Relationships</a:t>
            </a:r>
          </a:p>
        </p:txBody>
      </p:sp>
      <p:sp>
        <p:nvSpPr>
          <p:cNvPr id="37891" name="Content Placeholder 2"/>
          <p:cNvSpPr>
            <a:spLocks noGrp="1"/>
          </p:cNvSpPr>
          <p:nvPr>
            <p:ph idx="1"/>
          </p:nvPr>
        </p:nvSpPr>
        <p:spPr/>
        <p:txBody>
          <a:bodyPr/>
          <a:lstStyle/>
          <a:p>
            <a:pPr>
              <a:buFont typeface="Wingdings" panose="05000000000000000000" pitchFamily="2" charset="2"/>
              <a:buNone/>
            </a:pPr>
            <a:r>
              <a:rPr lang="en-US" altLang="en-US" dirty="0"/>
              <a:t>There are three basic types of phase-to-phase relationships:</a:t>
            </a:r>
            <a:endParaRPr lang="en-US" altLang="en-US" sz="2800" dirty="0"/>
          </a:p>
          <a:p>
            <a:pPr lvl="1"/>
            <a:r>
              <a:rPr lang="en-US" altLang="en-US" sz="2400" dirty="0"/>
              <a:t>A sequential relationship</a:t>
            </a:r>
            <a:endParaRPr lang="en-US" altLang="en-US" sz="2800" dirty="0"/>
          </a:p>
          <a:p>
            <a:pPr lvl="1"/>
            <a:r>
              <a:rPr lang="en-US" altLang="en-US" sz="2400" dirty="0"/>
              <a:t>An overlapping relationship</a:t>
            </a:r>
          </a:p>
          <a:p>
            <a:pPr lvl="1"/>
            <a:r>
              <a:rPr lang="en-US" altLang="en-US" sz="2400" dirty="0"/>
              <a:t>An iterative relationship</a:t>
            </a:r>
          </a:p>
          <a:p>
            <a:pPr lvl="1"/>
            <a:endParaRPr lang="en-US" altLang="en-US" sz="2800" dirty="0"/>
          </a:p>
          <a:p>
            <a:pPr>
              <a:buFont typeface="Wingdings" panose="05000000000000000000" pitchFamily="2" charset="2"/>
              <a:buNone/>
            </a:pPr>
            <a:endParaRPr lang="en-US" altLang="en-US" dirty="0">
              <a:solidFill>
                <a:srgbClr val="C00000"/>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rtlCol="0">
            <a:normAutofit/>
          </a:bodyPr>
          <a:lstStyle/>
          <a:p>
            <a:pPr fontAlgn="auto">
              <a:buFont typeface="Wingdings" panose="05000000000000000000" pitchFamily="2" charset="2"/>
              <a:buNone/>
              <a:defRPr/>
            </a:pPr>
            <a:r>
              <a:rPr lang="en-US" altLang="en-US" dirty="0">
                <a:solidFill>
                  <a:srgbClr val="C00000"/>
                </a:solidFill>
              </a:rPr>
              <a:t>Sequential Phase Relationship</a:t>
            </a:r>
          </a:p>
        </p:txBody>
      </p:sp>
      <p:sp>
        <p:nvSpPr>
          <p:cNvPr id="28675" name="Content Placeholder 2"/>
          <p:cNvSpPr>
            <a:spLocks noGrp="1"/>
          </p:cNvSpPr>
          <p:nvPr>
            <p:ph idx="1"/>
          </p:nvPr>
        </p:nvSpPr>
        <p:spPr/>
        <p:txBody>
          <a:bodyPr rtlCol="0">
            <a:normAutofit/>
          </a:bodyPr>
          <a:lstStyle/>
          <a:p>
            <a:pPr fontAlgn="auto">
              <a:defRPr/>
            </a:pPr>
            <a:r>
              <a:rPr lang="en-US" altLang="en-US" sz="2000" dirty="0">
                <a:solidFill>
                  <a:schemeClr val="tx1">
                    <a:lumMod val="85000"/>
                    <a:lumOff val="15000"/>
                  </a:schemeClr>
                </a:solidFill>
              </a:rPr>
              <a:t>A sequential relationship, where a phase can only start once the previous phase is complete. </a:t>
            </a:r>
          </a:p>
          <a:p>
            <a:pPr fontAlgn="auto">
              <a:defRPr/>
            </a:pPr>
            <a:r>
              <a:rPr lang="en-GB" sz="2000" dirty="0"/>
              <a:t>The step by step nature of this approach reduces </a:t>
            </a:r>
            <a:r>
              <a:rPr lang="en-US" sz="2000" dirty="0"/>
              <a:t>uncertainty</a:t>
            </a:r>
            <a:r>
              <a:rPr lang="en-GB" sz="2000" dirty="0"/>
              <a:t>, but may eliminate options for reducing the schedule</a:t>
            </a:r>
          </a:p>
          <a:p>
            <a:pPr fontAlgn="auto">
              <a:buFont typeface="Wingdings" panose="05000000000000000000" pitchFamily="2" charset="2"/>
              <a:buNone/>
              <a:defRPr/>
            </a:pPr>
            <a:endParaRPr lang="en-US" altLang="en-US" dirty="0">
              <a:solidFill>
                <a:schemeClr val="tx1">
                  <a:lumMod val="85000"/>
                  <a:lumOff val="15000"/>
                </a:schemeClr>
              </a:solidFill>
            </a:endParaRPr>
          </a:p>
          <a:p>
            <a:pPr fontAlgn="auto">
              <a:buFont typeface="Wingdings" panose="05000000000000000000" pitchFamily="2" charset="2"/>
              <a:buNone/>
              <a:defRPr/>
            </a:pPr>
            <a:endParaRPr lang="en-US" altLang="en-US" dirty="0">
              <a:solidFill>
                <a:schemeClr val="tx1">
                  <a:lumMod val="85000"/>
                  <a:lumOff val="15000"/>
                </a:schemeClr>
              </a:solidFill>
            </a:endParaRPr>
          </a:p>
          <a:p>
            <a:pPr fontAlgn="auto">
              <a:buFont typeface="Wingdings" panose="05000000000000000000" pitchFamily="2" charset="2"/>
              <a:buNone/>
              <a:defRPr/>
            </a:pPr>
            <a:endParaRPr lang="en-US" altLang="en-US" dirty="0">
              <a:solidFill>
                <a:srgbClr val="C00000"/>
              </a:solidFill>
            </a:endParaRPr>
          </a:p>
          <a:p>
            <a:pPr fontAlgn="auto">
              <a:buFont typeface="Wingdings" panose="05000000000000000000" pitchFamily="2" charset="2"/>
              <a:buNone/>
              <a:defRPr/>
            </a:pPr>
            <a:endParaRPr lang="en-US" altLang="en-US" dirty="0">
              <a:solidFill>
                <a:srgbClr val="C00000"/>
              </a:solidFill>
            </a:endParaRPr>
          </a:p>
        </p:txBody>
      </p:sp>
      <p:pic>
        <p:nvPicPr>
          <p:cNvPr id="4" name="Resim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6215" y="4276725"/>
            <a:ext cx="6400800" cy="2276475"/>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Content Placeholder 2"/>
          <p:cNvSpPr>
            <a:spLocks noGrp="1"/>
          </p:cNvSpPr>
          <p:nvPr>
            <p:ph idx="4294967295"/>
          </p:nvPr>
        </p:nvSpPr>
        <p:spPr>
          <a:xfrm>
            <a:off x="857249" y="3200400"/>
            <a:ext cx="7431087" cy="3444875"/>
          </a:xfrm>
        </p:spPr>
        <p:txBody>
          <a:bodyPr rtlCol="0">
            <a:normAutofit/>
          </a:bodyPr>
          <a:lstStyle/>
          <a:p>
            <a:pPr fontAlgn="auto">
              <a:buFont typeface="Wingdings" panose="05000000000000000000" pitchFamily="2" charset="2"/>
              <a:buNone/>
              <a:defRPr/>
            </a:pPr>
            <a:r>
              <a:rPr lang="en-US" altLang="en-US" dirty="0">
                <a:solidFill>
                  <a:srgbClr val="C00000"/>
                </a:solidFill>
              </a:rPr>
              <a:t>Sequential Phase Relationship:</a:t>
            </a:r>
          </a:p>
          <a:p>
            <a:pPr fontAlgn="auto">
              <a:buFont typeface="Wingdings" panose="05000000000000000000" pitchFamily="2" charset="2"/>
              <a:buNone/>
              <a:defRPr/>
            </a:pPr>
            <a:r>
              <a:rPr lang="en-US" altLang="en-US" dirty="0">
                <a:solidFill>
                  <a:schemeClr val="tx1">
                    <a:lumMod val="85000"/>
                    <a:lumOff val="15000"/>
                  </a:schemeClr>
                </a:solidFill>
              </a:rPr>
              <a:t>	A sequential relationship, where a phase can only start once the previous phase is complete. </a:t>
            </a:r>
          </a:p>
          <a:p>
            <a:pPr marL="457200" lvl="1" indent="0" fontAlgn="auto">
              <a:buNone/>
              <a:defRPr/>
            </a:pPr>
            <a:r>
              <a:rPr lang="en-US" altLang="en-US" dirty="0">
                <a:solidFill>
                  <a:srgbClr val="C00000"/>
                </a:solidFill>
              </a:rPr>
              <a:t>Advantage of Sequential Phases: </a:t>
            </a:r>
          </a:p>
          <a:p>
            <a:pPr marL="457200" lvl="1" indent="0" fontAlgn="auto">
              <a:buNone/>
              <a:defRPr/>
            </a:pPr>
            <a:r>
              <a:rPr lang="en-US" altLang="en-US" dirty="0">
                <a:solidFill>
                  <a:schemeClr val="tx1">
                    <a:lumMod val="85000"/>
                    <a:lumOff val="15000"/>
                  </a:schemeClr>
                </a:solidFill>
              </a:rPr>
              <a:t>The step-by-step nature of this approach reduces uncertainty</a:t>
            </a:r>
          </a:p>
          <a:p>
            <a:pPr marL="457200" lvl="1" indent="0" fontAlgn="auto">
              <a:buNone/>
              <a:defRPr/>
            </a:pPr>
            <a:r>
              <a:rPr lang="en-US" altLang="en-US" dirty="0">
                <a:solidFill>
                  <a:srgbClr val="C00000"/>
                </a:solidFill>
              </a:rPr>
              <a:t>Disadvantage of Sequential Phases: </a:t>
            </a:r>
          </a:p>
          <a:p>
            <a:pPr marL="457200" lvl="1" indent="0" fontAlgn="auto">
              <a:buNone/>
              <a:defRPr/>
            </a:pPr>
            <a:r>
              <a:rPr lang="en-US" altLang="en-US" dirty="0">
                <a:solidFill>
                  <a:schemeClr val="tx1">
                    <a:lumMod val="85000"/>
                    <a:lumOff val="15000"/>
                  </a:schemeClr>
                </a:solidFill>
              </a:rPr>
              <a:t>Eliminate options for reducing the schedule.</a:t>
            </a:r>
          </a:p>
          <a:p>
            <a:pPr fontAlgn="auto">
              <a:buFont typeface="Wingdings" panose="05000000000000000000" pitchFamily="2" charset="2"/>
              <a:buNone/>
              <a:defRPr/>
            </a:pPr>
            <a:endParaRPr lang="en-US" altLang="en-US" dirty="0">
              <a:solidFill>
                <a:srgbClr val="C00000"/>
              </a:solidFill>
            </a:endParaRPr>
          </a:p>
          <a:p>
            <a:pPr fontAlgn="auto">
              <a:buFont typeface="Wingdings" panose="05000000000000000000" pitchFamily="2" charset="2"/>
              <a:buNone/>
              <a:defRPr/>
            </a:pPr>
            <a:endParaRPr lang="en-US" altLang="en-US" dirty="0">
              <a:solidFill>
                <a:srgbClr val="C00000"/>
              </a:solidFill>
            </a:endParaRPr>
          </a:p>
        </p:txBody>
      </p:sp>
      <p:pic>
        <p:nvPicPr>
          <p:cNvPr id="4" name="Resim 1"/>
          <p:cNvPicPr>
            <a:picLocks noChangeAspect="1"/>
          </p:cNvPicPr>
          <p:nvPr/>
        </p:nvPicPr>
        <p:blipFill rotWithShape="1">
          <a:blip r:embed="rId2">
            <a:extLst>
              <a:ext uri="{28A0092B-C50C-407E-A947-70E740481C1C}">
                <a14:useLocalDpi xmlns:a14="http://schemas.microsoft.com/office/drawing/2010/main" val="0"/>
              </a:ext>
            </a:extLst>
          </a:blip>
          <a:srcRect b="19666"/>
          <a:stretch/>
        </p:blipFill>
        <p:spPr>
          <a:xfrm>
            <a:off x="855663" y="695779"/>
            <a:ext cx="7432673" cy="2123621"/>
          </a:xfrm>
          <a:prstGeom prst="rect">
            <a:avLst/>
          </a:prstGeom>
        </p:spPr>
      </p:pic>
    </p:spTree>
    <p:extLst>
      <p:ext uri="{BB962C8B-B14F-4D97-AF65-F5344CB8AC3E}">
        <p14:creationId xmlns:p14="http://schemas.microsoft.com/office/powerpoint/2010/main" val="114851935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Content Placeholder 2"/>
          <p:cNvSpPr>
            <a:spLocks noGrp="1"/>
          </p:cNvSpPr>
          <p:nvPr>
            <p:ph idx="4294967295"/>
          </p:nvPr>
        </p:nvSpPr>
        <p:spPr>
          <a:xfrm>
            <a:off x="914400" y="3274716"/>
            <a:ext cx="7924800" cy="3594100"/>
          </a:xfrm>
        </p:spPr>
        <p:txBody>
          <a:bodyPr rtlCol="0">
            <a:noAutofit/>
          </a:bodyPr>
          <a:lstStyle/>
          <a:p>
            <a:pPr fontAlgn="auto">
              <a:buFont typeface="Wingdings" panose="05000000000000000000" pitchFamily="2" charset="2"/>
              <a:buNone/>
              <a:defRPr/>
            </a:pPr>
            <a:r>
              <a:rPr lang="en-US" sz="1800" dirty="0">
                <a:solidFill>
                  <a:srgbClr val="C00000"/>
                </a:solidFill>
              </a:rPr>
              <a:t>Overlapping Phase Relationship:</a:t>
            </a:r>
          </a:p>
          <a:p>
            <a:pPr fontAlgn="auto">
              <a:buFont typeface="Wingdings" panose="05000000000000000000" pitchFamily="2" charset="2"/>
              <a:buNone/>
              <a:defRPr/>
            </a:pPr>
            <a:r>
              <a:rPr lang="en-US" sz="1800" dirty="0">
                <a:solidFill>
                  <a:schemeClr val="tx1">
                    <a:lumMod val="85000"/>
                    <a:lumOff val="15000"/>
                  </a:schemeClr>
                </a:solidFill>
              </a:rPr>
              <a:t>	An overlapping relationship, where the phase starts prior to completion of the previous one</a:t>
            </a:r>
            <a:r>
              <a:rPr lang="en-US" sz="2000" dirty="0">
                <a:solidFill>
                  <a:schemeClr val="tx1">
                    <a:lumMod val="85000"/>
                    <a:lumOff val="15000"/>
                  </a:schemeClr>
                </a:solidFill>
              </a:rPr>
              <a:t>. </a:t>
            </a:r>
            <a:endParaRPr lang="en-US" sz="2000" dirty="0">
              <a:solidFill>
                <a:srgbClr val="C00000"/>
              </a:solidFill>
            </a:endParaRPr>
          </a:p>
          <a:p>
            <a:pPr lvl="1" fontAlgn="auto">
              <a:buFont typeface="Wingdings" panose="05000000000000000000" pitchFamily="2" charset="2"/>
              <a:buNone/>
              <a:defRPr/>
            </a:pPr>
            <a:r>
              <a:rPr lang="en-US" sz="1800" dirty="0">
                <a:solidFill>
                  <a:srgbClr val="C00000"/>
                </a:solidFill>
              </a:rPr>
              <a:t>Advantage(s) of  Overlapping Phase Relationship: </a:t>
            </a:r>
            <a:r>
              <a:rPr lang="en-US" sz="1800" dirty="0">
                <a:solidFill>
                  <a:schemeClr val="tx1">
                    <a:lumMod val="85000"/>
                    <a:lumOff val="15000"/>
                  </a:schemeClr>
                </a:solidFill>
              </a:rPr>
              <a:t>	</a:t>
            </a:r>
          </a:p>
          <a:p>
            <a:pPr lvl="1" fontAlgn="auto">
              <a:buFont typeface="Wingdings" panose="05000000000000000000" pitchFamily="2" charset="2"/>
              <a:buNone/>
              <a:defRPr/>
            </a:pPr>
            <a:r>
              <a:rPr lang="en-US" sz="1800" dirty="0">
                <a:solidFill>
                  <a:schemeClr val="tx1">
                    <a:lumMod val="85000"/>
                    <a:lumOff val="15000"/>
                  </a:schemeClr>
                </a:solidFill>
              </a:rPr>
              <a:t>	This can sometimes be applied as an example of the schedule compression technique called </a:t>
            </a:r>
            <a:r>
              <a:rPr lang="en-US" sz="1800" dirty="0">
                <a:solidFill>
                  <a:srgbClr val="00B050"/>
                </a:solidFill>
              </a:rPr>
              <a:t>fast tracking</a:t>
            </a:r>
            <a:r>
              <a:rPr lang="en-US" sz="1800" dirty="0">
                <a:solidFill>
                  <a:schemeClr val="tx1">
                    <a:lumMod val="85000"/>
                    <a:lumOff val="15000"/>
                  </a:schemeClr>
                </a:solidFill>
              </a:rPr>
              <a:t>. </a:t>
            </a:r>
            <a:endParaRPr lang="en-US" sz="1800" dirty="0">
              <a:solidFill>
                <a:srgbClr val="C00000"/>
              </a:solidFill>
            </a:endParaRPr>
          </a:p>
          <a:p>
            <a:pPr lvl="1" fontAlgn="auto">
              <a:buFont typeface="Wingdings" panose="05000000000000000000" pitchFamily="2" charset="2"/>
              <a:buNone/>
              <a:defRPr/>
            </a:pPr>
            <a:r>
              <a:rPr lang="en-US" sz="1800" dirty="0">
                <a:solidFill>
                  <a:srgbClr val="C00000"/>
                </a:solidFill>
              </a:rPr>
              <a:t>Disadvantage(s) of  Overlapping Phase Relationship:</a:t>
            </a:r>
            <a:endParaRPr lang="en-US" sz="1800" dirty="0">
              <a:solidFill>
                <a:schemeClr val="tx1">
                  <a:lumMod val="85000"/>
                  <a:lumOff val="15000"/>
                </a:schemeClr>
              </a:solidFill>
            </a:endParaRPr>
          </a:p>
          <a:p>
            <a:pPr marL="1200150" lvl="1" fontAlgn="auto">
              <a:defRPr/>
            </a:pPr>
            <a:r>
              <a:rPr lang="en-US" sz="1800" dirty="0">
                <a:solidFill>
                  <a:schemeClr val="tx1">
                    <a:lumMod val="85000"/>
                    <a:lumOff val="15000"/>
                  </a:schemeClr>
                </a:solidFill>
              </a:rPr>
              <a:t>May increase risk</a:t>
            </a:r>
          </a:p>
          <a:p>
            <a:pPr marL="1200150" lvl="1" fontAlgn="auto">
              <a:defRPr/>
            </a:pPr>
            <a:r>
              <a:rPr lang="en-US" sz="1800" dirty="0">
                <a:solidFill>
                  <a:schemeClr val="tx1">
                    <a:lumMod val="85000"/>
                    <a:lumOff val="15000"/>
                  </a:schemeClr>
                </a:solidFill>
              </a:rPr>
              <a:t>Can result in rework if a subsequent phase progresses before accurate information is available from the previous phase.</a:t>
            </a:r>
          </a:p>
        </p:txBody>
      </p:sp>
      <p:pic>
        <p:nvPicPr>
          <p:cNvPr id="4" name="Resim 2"/>
          <p:cNvPicPr>
            <a:picLocks noChangeAspect="1"/>
          </p:cNvPicPr>
          <p:nvPr/>
        </p:nvPicPr>
        <p:blipFill rotWithShape="1">
          <a:blip r:embed="rId2">
            <a:extLst>
              <a:ext uri="{28A0092B-C50C-407E-A947-70E740481C1C}">
                <a14:useLocalDpi xmlns:a14="http://schemas.microsoft.com/office/drawing/2010/main" val="0"/>
              </a:ext>
            </a:extLst>
          </a:blip>
          <a:srcRect b="12998"/>
          <a:stretch/>
        </p:blipFill>
        <p:spPr>
          <a:xfrm>
            <a:off x="1066800" y="152400"/>
            <a:ext cx="7239000" cy="2911679"/>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3565D-2CD7-4487-ACC3-D2C603A741A2}"/>
              </a:ext>
            </a:extLst>
          </p:cNvPr>
          <p:cNvSpPr>
            <a:spLocks noGrp="1"/>
          </p:cNvSpPr>
          <p:nvPr>
            <p:ph type="title"/>
          </p:nvPr>
        </p:nvSpPr>
        <p:spPr/>
        <p:txBody>
          <a:bodyPr/>
          <a:lstStyle/>
          <a:p>
            <a:endParaRPr lang="en-PK"/>
          </a:p>
        </p:txBody>
      </p:sp>
      <p:sp>
        <p:nvSpPr>
          <p:cNvPr id="33795" name="Content Placeholder 2"/>
          <p:cNvSpPr>
            <a:spLocks noGrp="1"/>
          </p:cNvSpPr>
          <p:nvPr>
            <p:ph idx="1"/>
          </p:nvPr>
        </p:nvSpPr>
        <p:spPr/>
        <p:txBody>
          <a:bodyPr rtlCol="0">
            <a:noAutofit/>
          </a:bodyPr>
          <a:lstStyle/>
          <a:p>
            <a:pPr fontAlgn="auto">
              <a:buFont typeface="Wingdings" panose="05000000000000000000" pitchFamily="2" charset="2"/>
              <a:buNone/>
              <a:defRPr/>
            </a:pPr>
            <a:r>
              <a:rPr lang="en-US" sz="2000" dirty="0">
                <a:solidFill>
                  <a:srgbClr val="C00000"/>
                </a:solidFill>
              </a:rPr>
              <a:t>Iterative Phase Relationship:</a:t>
            </a:r>
          </a:p>
          <a:p>
            <a:pPr marL="0" lvl="1" indent="0" fontAlgn="auto">
              <a:buFont typeface="Wingdings" panose="05000000000000000000" pitchFamily="2" charset="2"/>
              <a:buNone/>
              <a:defRPr/>
            </a:pPr>
            <a:r>
              <a:rPr lang="en-US" dirty="0">
                <a:solidFill>
                  <a:schemeClr val="tx1">
                    <a:lumMod val="85000"/>
                    <a:lumOff val="15000"/>
                  </a:schemeClr>
                </a:solidFill>
              </a:rPr>
              <a:t>An iterative relationship, where only one phase is planned at any given time and the planning for the next is carried out as work progresses on the current phase and deliverables. </a:t>
            </a:r>
          </a:p>
          <a:p>
            <a:pPr marL="349250" lvl="1" indent="-349250" fontAlgn="auto">
              <a:buFont typeface="Wingdings" panose="05000000000000000000" pitchFamily="2" charset="2"/>
              <a:buNone/>
              <a:defRPr/>
            </a:pPr>
            <a:r>
              <a:rPr lang="en-US" dirty="0">
                <a:solidFill>
                  <a:srgbClr val="C00000"/>
                </a:solidFill>
              </a:rPr>
              <a:t>Advantage(s) of  Overlapping Phase Relationship: </a:t>
            </a:r>
            <a:r>
              <a:rPr lang="en-US" dirty="0">
                <a:solidFill>
                  <a:schemeClr val="tx1">
                    <a:lumMod val="85000"/>
                    <a:lumOff val="15000"/>
                  </a:schemeClr>
                </a:solidFill>
              </a:rPr>
              <a:t>	</a:t>
            </a:r>
          </a:p>
          <a:p>
            <a:pPr marL="0" lvl="1" indent="0" fontAlgn="auto">
              <a:buFont typeface="Wingdings" panose="05000000000000000000" pitchFamily="2" charset="2"/>
              <a:buNone/>
              <a:defRPr/>
            </a:pPr>
            <a:r>
              <a:rPr lang="en-US" dirty="0">
                <a:solidFill>
                  <a:schemeClr val="tx1">
                    <a:lumMod val="85000"/>
                    <a:lumOff val="15000"/>
                  </a:schemeClr>
                </a:solidFill>
              </a:rPr>
              <a:t>This approach is </a:t>
            </a:r>
            <a:r>
              <a:rPr lang="en-US" dirty="0">
                <a:solidFill>
                  <a:srgbClr val="00B050"/>
                </a:solidFill>
              </a:rPr>
              <a:t>useful in largely undefined, uncertain, or rapidly changing environments</a:t>
            </a:r>
            <a:r>
              <a:rPr lang="en-US" dirty="0">
                <a:solidFill>
                  <a:schemeClr val="tx1">
                    <a:lumMod val="85000"/>
                    <a:lumOff val="15000"/>
                  </a:schemeClr>
                </a:solidFill>
              </a:rPr>
              <a:t> such as research, </a:t>
            </a:r>
          </a:p>
          <a:p>
            <a:pPr marL="349250" lvl="1" indent="-349250" fontAlgn="auto">
              <a:buFont typeface="Wingdings" panose="05000000000000000000" pitchFamily="2" charset="2"/>
              <a:buNone/>
              <a:defRPr/>
            </a:pPr>
            <a:r>
              <a:rPr lang="en-US" dirty="0">
                <a:solidFill>
                  <a:srgbClr val="C00000"/>
                </a:solidFill>
              </a:rPr>
              <a:t>Disadvantage(s) of  Overlapping Phase Relationship: </a:t>
            </a:r>
          </a:p>
          <a:p>
            <a:pPr marL="349250" lvl="1" indent="-349250" fontAlgn="auto">
              <a:buFont typeface="Wingdings" panose="05000000000000000000" pitchFamily="2" charset="2"/>
              <a:buChar char="v"/>
              <a:defRPr/>
            </a:pPr>
            <a:r>
              <a:rPr lang="en-US" dirty="0">
                <a:solidFill>
                  <a:schemeClr val="tx1">
                    <a:lumMod val="85000"/>
                    <a:lumOff val="15000"/>
                  </a:schemeClr>
                </a:solidFill>
              </a:rPr>
              <a:t>It can reduce the ability to provide </a:t>
            </a:r>
            <a:r>
              <a:rPr lang="en-US" dirty="0">
                <a:solidFill>
                  <a:srgbClr val="00B050"/>
                </a:solidFill>
              </a:rPr>
              <a:t>long term planning</a:t>
            </a:r>
            <a:r>
              <a:rPr lang="en-US" dirty="0">
                <a:solidFill>
                  <a:schemeClr val="tx1">
                    <a:lumMod val="85000"/>
                    <a:lumOff val="15000"/>
                  </a:schemeClr>
                </a:solidFill>
              </a:rPr>
              <a:t>.</a:t>
            </a:r>
          </a:p>
          <a:p>
            <a:pPr marL="349250" lvl="1" indent="-349250" fontAlgn="auto">
              <a:buFont typeface="Wingdings" panose="05000000000000000000" pitchFamily="2" charset="2"/>
              <a:buChar char="v"/>
              <a:defRPr/>
            </a:pPr>
            <a:r>
              <a:rPr lang="en-US" dirty="0">
                <a:solidFill>
                  <a:srgbClr val="CC3300"/>
                </a:solidFill>
              </a:rPr>
              <a:t> The scope is then managed by continuously delivering increments of the product and prioritizing requirements to minimize project risks and maximize product business value</a:t>
            </a:r>
            <a:r>
              <a:rPr lang="en-US" dirty="0">
                <a:solidFill>
                  <a:schemeClr val="tx1">
                    <a:lumMod val="85000"/>
                    <a:lumOff val="15000"/>
                  </a:schemeClr>
                </a:solidFill>
              </a:rPr>
              <a:t>. </a:t>
            </a:r>
          </a:p>
          <a:p>
            <a:pPr marL="349250" lvl="1" indent="-349250" fontAlgn="auto">
              <a:buFont typeface="Wingdings" panose="05000000000000000000" pitchFamily="2" charset="2"/>
              <a:buChar char="v"/>
              <a:defRPr/>
            </a:pPr>
            <a:r>
              <a:rPr lang="en-US" dirty="0">
                <a:solidFill>
                  <a:schemeClr val="tx1">
                    <a:lumMod val="85000"/>
                    <a:lumOff val="15000"/>
                  </a:schemeClr>
                </a:solidFill>
              </a:rPr>
              <a:t>It also can entail having all of the </a:t>
            </a:r>
            <a:r>
              <a:rPr lang="en-US" dirty="0">
                <a:solidFill>
                  <a:srgbClr val="00B050"/>
                </a:solidFill>
              </a:rPr>
              <a:t>project team members </a:t>
            </a:r>
            <a:r>
              <a:rPr lang="en-US" dirty="0">
                <a:solidFill>
                  <a:schemeClr val="tx1">
                    <a:lumMod val="85000"/>
                    <a:lumOff val="15000"/>
                  </a:schemeClr>
                </a:solidFill>
              </a:rPr>
              <a:t>available throughout the project or, at a minimum, for two consecutive phases.</a:t>
            </a:r>
          </a:p>
          <a:p>
            <a:pPr fontAlgn="auto">
              <a:buFont typeface="Wingdings" panose="05000000000000000000" pitchFamily="2" charset="2"/>
              <a:buNone/>
              <a:defRPr/>
            </a:pPr>
            <a:endParaRPr lang="en-US" sz="1400" dirty="0">
              <a:solidFill>
                <a:srgbClr val="C00000"/>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rtlCol="0">
            <a:normAutofit/>
          </a:bodyPr>
          <a:lstStyle/>
          <a:p>
            <a:pPr fontAlgn="auto">
              <a:buFont typeface="Wingdings" panose="05000000000000000000" pitchFamily="2" charset="2"/>
              <a:buNone/>
              <a:defRPr/>
            </a:pPr>
            <a:r>
              <a:rPr lang="en-US" altLang="en-US" dirty="0">
                <a:solidFill>
                  <a:srgbClr val="C00000"/>
                </a:solidFill>
              </a:rPr>
              <a:t>Phase-to-Phase Relationships (</a:t>
            </a:r>
            <a:r>
              <a:rPr lang="en-US" altLang="en-US" dirty="0" err="1">
                <a:solidFill>
                  <a:srgbClr val="C00000"/>
                </a:solidFill>
              </a:rPr>
              <a:t>Contd</a:t>
            </a:r>
            <a:r>
              <a:rPr lang="en-US" altLang="en-US" dirty="0">
                <a:solidFill>
                  <a:srgbClr val="C00000"/>
                </a:solidFill>
              </a:rPr>
              <a:t>…)</a:t>
            </a:r>
          </a:p>
        </p:txBody>
      </p:sp>
      <p:sp>
        <p:nvSpPr>
          <p:cNvPr id="33795" name="Content Placeholder 2"/>
          <p:cNvSpPr>
            <a:spLocks noGrp="1"/>
          </p:cNvSpPr>
          <p:nvPr>
            <p:ph idx="1"/>
          </p:nvPr>
        </p:nvSpPr>
        <p:spPr>
          <a:xfrm>
            <a:off x="1176338" y="2490788"/>
            <a:ext cx="7205662" cy="3444875"/>
          </a:xfrm>
        </p:spPr>
        <p:txBody>
          <a:bodyPr rtlCol="0">
            <a:normAutofit lnSpcReduction="10000"/>
          </a:bodyPr>
          <a:lstStyle/>
          <a:p>
            <a:pPr fontAlgn="auto">
              <a:buFont typeface="Wingdings" panose="05000000000000000000" pitchFamily="2" charset="2"/>
              <a:buChar char="v"/>
              <a:defRPr/>
            </a:pPr>
            <a:r>
              <a:rPr lang="en-US" altLang="en-US" dirty="0">
                <a:solidFill>
                  <a:schemeClr val="tx1">
                    <a:lumMod val="85000"/>
                    <a:lumOff val="15000"/>
                  </a:schemeClr>
                </a:solidFill>
              </a:rPr>
              <a:t>For multi-phase projects, more than one phase-to-phase relationship could occur during the project life cycle. </a:t>
            </a:r>
          </a:p>
          <a:p>
            <a:pPr fontAlgn="auto">
              <a:buFont typeface="Wingdings" panose="05000000000000000000" pitchFamily="2" charset="2"/>
              <a:buChar char="v"/>
              <a:defRPr/>
            </a:pPr>
            <a:r>
              <a:rPr lang="en-US" altLang="en-US" dirty="0">
                <a:solidFill>
                  <a:schemeClr val="tx1">
                    <a:lumMod val="85000"/>
                    <a:lumOff val="15000"/>
                  </a:schemeClr>
                </a:solidFill>
              </a:rPr>
              <a:t>Considerations such as </a:t>
            </a:r>
          </a:p>
          <a:p>
            <a:pPr fontAlgn="auto">
              <a:buFont typeface="Wingdings" panose="05000000000000000000" pitchFamily="2" charset="2"/>
              <a:buNone/>
              <a:defRPr/>
            </a:pPr>
            <a:r>
              <a:rPr lang="en-US" altLang="en-US" dirty="0">
                <a:solidFill>
                  <a:schemeClr val="tx1">
                    <a:lumMod val="85000"/>
                    <a:lumOff val="15000"/>
                  </a:schemeClr>
                </a:solidFill>
              </a:rPr>
              <a:t>			level of control required, </a:t>
            </a:r>
          </a:p>
          <a:p>
            <a:pPr fontAlgn="auto">
              <a:buFont typeface="Wingdings" panose="05000000000000000000" pitchFamily="2" charset="2"/>
              <a:buNone/>
              <a:defRPr/>
            </a:pPr>
            <a:r>
              <a:rPr lang="en-US" altLang="en-US" dirty="0">
                <a:solidFill>
                  <a:schemeClr val="tx1">
                    <a:lumMod val="85000"/>
                    <a:lumOff val="15000"/>
                  </a:schemeClr>
                </a:solidFill>
              </a:rPr>
              <a:t>			effectiveness, and </a:t>
            </a:r>
          </a:p>
          <a:p>
            <a:pPr fontAlgn="auto">
              <a:buFont typeface="Wingdings" panose="05000000000000000000" pitchFamily="2" charset="2"/>
              <a:buNone/>
              <a:defRPr/>
            </a:pPr>
            <a:r>
              <a:rPr lang="en-US" altLang="en-US" dirty="0">
                <a:solidFill>
                  <a:schemeClr val="tx1">
                    <a:lumMod val="85000"/>
                    <a:lumOff val="15000"/>
                  </a:schemeClr>
                </a:solidFill>
              </a:rPr>
              <a:t>			degree of uncertainty </a:t>
            </a:r>
          </a:p>
          <a:p>
            <a:pPr fontAlgn="auto">
              <a:buFont typeface="Wingdings" panose="05000000000000000000" pitchFamily="2" charset="2"/>
              <a:buNone/>
              <a:defRPr/>
            </a:pPr>
            <a:r>
              <a:rPr lang="en-US" altLang="en-US" dirty="0">
                <a:solidFill>
                  <a:schemeClr val="tx1">
                    <a:lumMod val="85000"/>
                    <a:lumOff val="15000"/>
                  </a:schemeClr>
                </a:solidFill>
              </a:rPr>
              <a:t>	determine the relationship to be applied between phases. </a:t>
            </a:r>
          </a:p>
          <a:p>
            <a:pPr fontAlgn="auto">
              <a:buFont typeface="Wingdings" panose="05000000000000000000" pitchFamily="2" charset="2"/>
              <a:buNone/>
              <a:defRPr/>
            </a:pPr>
            <a:r>
              <a:rPr lang="en-US" altLang="en-US" dirty="0">
                <a:solidFill>
                  <a:schemeClr val="tx1">
                    <a:lumMod val="85000"/>
                    <a:lumOff val="15000"/>
                  </a:schemeClr>
                </a:solidFill>
              </a:rPr>
              <a:t>	</a:t>
            </a:r>
          </a:p>
          <a:p>
            <a:pPr fontAlgn="auto">
              <a:buFont typeface="Wingdings" panose="05000000000000000000" pitchFamily="2" charset="2"/>
              <a:buNone/>
              <a:defRPr/>
            </a:pPr>
            <a:r>
              <a:rPr lang="en-US" altLang="en-US" dirty="0">
                <a:solidFill>
                  <a:schemeClr val="tx1">
                    <a:lumMod val="85000"/>
                    <a:lumOff val="15000"/>
                  </a:schemeClr>
                </a:solidFill>
              </a:rPr>
              <a:t>	Based on those considerations, all three relationships could occur between different phases of a single project.</a:t>
            </a:r>
            <a:endParaRPr lang="en-US" altLang="en-US" sz="2800" dirty="0">
              <a:solidFill>
                <a:schemeClr val="tx1">
                  <a:lumMod val="85000"/>
                  <a:lumOff val="15000"/>
                </a:schemeClr>
              </a:solidFill>
            </a:endParaRPr>
          </a:p>
          <a:p>
            <a:pPr fontAlgn="auto">
              <a:buFont typeface="Wingdings" panose="05000000000000000000" pitchFamily="2" charset="2"/>
              <a:buNone/>
              <a:defRPr/>
            </a:pPr>
            <a:endParaRPr lang="en-US" altLang="en-US" dirty="0">
              <a:solidFill>
                <a:srgbClr val="C00000"/>
              </a:solidFil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3"/>
          <p:cNvSpPr>
            <a:spLocks noGrp="1"/>
          </p:cNvSpPr>
          <p:nvPr>
            <p:ph type="title"/>
          </p:nvPr>
        </p:nvSpPr>
        <p:spPr>
          <a:xfrm>
            <a:off x="623888" y="1709739"/>
            <a:ext cx="7886700" cy="2852737"/>
          </a:xfrm>
        </p:spPr>
        <p:txBody>
          <a:bodyPr/>
          <a:lstStyle/>
          <a:p>
            <a:r>
              <a:rPr lang="en-US" altLang="en-US" dirty="0"/>
              <a:t>Product Vs Project Life Cycle </a:t>
            </a:r>
            <a:endParaRPr lang="en-PK" dirty="0"/>
          </a:p>
        </p:txBody>
      </p:sp>
      <p:sp>
        <p:nvSpPr>
          <p:cNvPr id="4" name="Text Placeholder 3">
            <a:extLst>
              <a:ext uri="{FF2B5EF4-FFF2-40B4-BE49-F238E27FC236}">
                <a16:creationId xmlns:a16="http://schemas.microsoft.com/office/drawing/2014/main" id="{BC795FE8-E767-4AA9-9941-F184352FB2E9}"/>
              </a:ext>
            </a:extLst>
          </p:cNvPr>
          <p:cNvSpPr>
            <a:spLocks noGrp="1"/>
          </p:cNvSpPr>
          <p:nvPr>
            <p:ph type="body" idx="1"/>
          </p:nvPr>
        </p:nvSpPr>
        <p:spPr/>
        <p:txBody>
          <a:bodyPr/>
          <a:lstStyle/>
          <a:p>
            <a:endParaRPr lang="en-PK"/>
          </a:p>
        </p:txBody>
      </p:sp>
      <p:sp>
        <p:nvSpPr>
          <p:cNvPr id="7" name="Title 1"/>
          <p:cNvSpPr txBox="1">
            <a:spLocks/>
          </p:cNvSpPr>
          <p:nvPr/>
        </p:nvSpPr>
        <p:spPr bwMode="auto">
          <a:xfrm>
            <a:off x="228600" y="2133600"/>
            <a:ext cx="8686800" cy="1143000"/>
          </a:xfrm>
          <a:prstGeom prst="rect">
            <a:avLst/>
          </a:prstGeom>
          <a:noFill/>
          <a:ln w="9525">
            <a:noFill/>
            <a:miter lim="800000"/>
            <a:headEnd/>
            <a:tailEnd/>
          </a:ln>
        </p:spPr>
        <p:txBody>
          <a:bodyPr/>
          <a:lstStyle/>
          <a:p>
            <a:pPr algn="ctr" eaLnBrk="1" fontAlgn="auto" hangingPunct="1">
              <a:spcBef>
                <a:spcPts val="0"/>
              </a:spcBef>
              <a:spcAft>
                <a:spcPts val="0"/>
              </a:spcAft>
              <a:defRPr/>
            </a:pPr>
            <a:endParaRPr lang="en-US" sz="3600" b="1" kern="0" cap="all" dirty="0">
              <a:solidFill>
                <a:srgbClr val="4D7473"/>
              </a:solidFill>
              <a:latin typeface="+mj-lt"/>
              <a:ea typeface="+mj-ea"/>
              <a:cs typeface="+mj-cs"/>
            </a:endParaRPr>
          </a:p>
        </p:txBody>
      </p:sp>
    </p:spTree>
    <p:extLst>
      <p:ext uri="{BB962C8B-B14F-4D97-AF65-F5344CB8AC3E}">
        <p14:creationId xmlns:p14="http://schemas.microsoft.com/office/powerpoint/2010/main" val="17866582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C0AF757-7528-45E2-825B-FA45CE82B3E5}"/>
              </a:ext>
            </a:extLst>
          </p:cNvPr>
          <p:cNvPicPr>
            <a:picLocks noChangeAspect="1"/>
          </p:cNvPicPr>
          <p:nvPr/>
        </p:nvPicPr>
        <p:blipFill>
          <a:blip r:embed="rId2"/>
          <a:stretch>
            <a:fillRect/>
          </a:stretch>
        </p:blipFill>
        <p:spPr>
          <a:xfrm>
            <a:off x="76200" y="2133600"/>
            <a:ext cx="8991600" cy="3629025"/>
          </a:xfrm>
          <a:prstGeom prst="rect">
            <a:avLst/>
          </a:prstGeom>
        </p:spPr>
      </p:pic>
      <p:sp>
        <p:nvSpPr>
          <p:cNvPr id="10" name="Title 9">
            <a:extLst>
              <a:ext uri="{FF2B5EF4-FFF2-40B4-BE49-F238E27FC236}">
                <a16:creationId xmlns:a16="http://schemas.microsoft.com/office/drawing/2014/main" id="{E26D54A6-9F06-444B-843A-9915333AA2EC}"/>
              </a:ext>
            </a:extLst>
          </p:cNvPr>
          <p:cNvSpPr>
            <a:spLocks noGrp="1"/>
          </p:cNvSpPr>
          <p:nvPr>
            <p:ph type="title"/>
          </p:nvPr>
        </p:nvSpPr>
        <p:spPr>
          <a:xfrm>
            <a:off x="628650" y="365126"/>
            <a:ext cx="7886700" cy="1325563"/>
          </a:xfrm>
        </p:spPr>
        <p:txBody>
          <a:bodyPr/>
          <a:lstStyle/>
          <a:p>
            <a:r>
              <a:rPr lang="en-US" altLang="en-US" dirty="0"/>
              <a:t>Product Vs Project Life Cycle </a:t>
            </a:r>
            <a:endParaRPr lang="en-PK" dirty="0"/>
          </a:p>
        </p:txBody>
      </p:sp>
    </p:spTree>
    <p:extLst>
      <p:ext uri="{BB962C8B-B14F-4D97-AF65-F5344CB8AC3E}">
        <p14:creationId xmlns:p14="http://schemas.microsoft.com/office/powerpoint/2010/main" val="285015446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rtlCol="0">
            <a:normAutofit/>
          </a:bodyPr>
          <a:lstStyle/>
          <a:p>
            <a:pPr fontAlgn="auto">
              <a:spcAft>
                <a:spcPts val="0"/>
              </a:spcAft>
              <a:defRPr/>
            </a:pPr>
            <a:r>
              <a:rPr lang="en-US" altLang="en-US" dirty="0">
                <a:solidFill>
                  <a:schemeClr val="tx1">
                    <a:lumMod val="85000"/>
                    <a:lumOff val="15000"/>
                  </a:schemeClr>
                </a:solidFill>
              </a:rPr>
              <a:t>The Project Life Cycle - Overview</a:t>
            </a:r>
          </a:p>
        </p:txBody>
      </p:sp>
      <p:sp>
        <p:nvSpPr>
          <p:cNvPr id="24579" name="Content Placeholder 2"/>
          <p:cNvSpPr>
            <a:spLocks noGrp="1"/>
          </p:cNvSpPr>
          <p:nvPr>
            <p:ph idx="1"/>
          </p:nvPr>
        </p:nvSpPr>
        <p:spPr>
          <a:xfrm>
            <a:off x="1176338" y="2362200"/>
            <a:ext cx="7188200" cy="3952875"/>
          </a:xfrm>
        </p:spPr>
        <p:txBody>
          <a:bodyPr/>
          <a:lstStyle/>
          <a:p>
            <a:pPr algn="just">
              <a:buFont typeface="Wingdings" panose="05000000000000000000" pitchFamily="2" charset="2"/>
              <a:buNone/>
            </a:pPr>
            <a:r>
              <a:rPr lang="en-US" altLang="en-US" sz="1700" dirty="0">
                <a:solidFill>
                  <a:srgbClr val="C00000"/>
                </a:solidFill>
              </a:rPr>
              <a:t>Product Life Cycle Vs Project Life cycle</a:t>
            </a:r>
            <a:r>
              <a:rPr lang="en-US" altLang="en-US" sz="1700" dirty="0"/>
              <a:t> </a:t>
            </a:r>
          </a:p>
          <a:p>
            <a:pPr algn="just">
              <a:buFont typeface="Wingdings" panose="05000000000000000000" pitchFamily="2" charset="2"/>
              <a:buChar char="v"/>
            </a:pPr>
            <a:r>
              <a:rPr lang="en-US" altLang="en-US" sz="1700" dirty="0"/>
              <a:t>A product life cycle is the amount of time a product goes from being introduced into the market until it's taken off the shelves.</a:t>
            </a:r>
          </a:p>
          <a:p>
            <a:pPr algn="just">
              <a:buFont typeface="Wingdings" panose="05000000000000000000" pitchFamily="2" charset="2"/>
              <a:buChar char="v"/>
            </a:pPr>
            <a:r>
              <a:rPr lang="en-US" altLang="en-US" sz="1700" dirty="0"/>
              <a:t>There are four stages in a product's life cycle—</a:t>
            </a:r>
            <a:r>
              <a:rPr lang="en-US" altLang="en-US" sz="1700" dirty="0">
                <a:solidFill>
                  <a:srgbClr val="FF0000"/>
                </a:solidFill>
              </a:rPr>
              <a:t>introduction, growth, maturity, and retirement.. </a:t>
            </a:r>
          </a:p>
          <a:p>
            <a:pPr algn="just">
              <a:buFont typeface="Wingdings" panose="05000000000000000000" pitchFamily="2" charset="2"/>
              <a:buChar char="v"/>
            </a:pPr>
            <a:r>
              <a:rPr lang="en-US" altLang="en-US" sz="1700" dirty="0"/>
              <a:t>The last product life cycle phase for a product is generally the product’s retirement. </a:t>
            </a:r>
          </a:p>
          <a:p>
            <a:pPr algn="just">
              <a:buFont typeface="Wingdings" panose="05000000000000000000" pitchFamily="2" charset="2"/>
              <a:buChar char="v"/>
            </a:pPr>
            <a:r>
              <a:rPr lang="en-US" altLang="en-US" sz="1700" dirty="0"/>
              <a:t>Project life cycles occur in one or more phases of a product life cycle. </a:t>
            </a:r>
          </a:p>
          <a:p>
            <a:pPr algn="just">
              <a:buFont typeface="Wingdings" panose="05000000000000000000" pitchFamily="2" charset="2"/>
              <a:buChar char="v"/>
            </a:pPr>
            <a:r>
              <a:rPr lang="en-US" altLang="en-US" sz="1700" dirty="0"/>
              <a:t>All projects have a purpose or objective, but in those cases where the objective is a service or result, there may be a life cycle for the service or result, not a product life cycle.</a:t>
            </a:r>
          </a:p>
        </p:txBody>
      </p:sp>
    </p:spTree>
    <p:extLst>
      <p:ext uri="{BB962C8B-B14F-4D97-AF65-F5344CB8AC3E}">
        <p14:creationId xmlns:p14="http://schemas.microsoft.com/office/powerpoint/2010/main" val="242029221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57200"/>
            <a:ext cx="7886700" cy="777240"/>
          </a:xfrm>
        </p:spPr>
        <p:txBody>
          <a:bodyPr/>
          <a:lstStyle/>
          <a:p>
            <a:r>
              <a:rPr sz="2600" b="1"/>
              <a:t>Product Life Cycle Timeline</a:t>
            </a:r>
          </a:p>
        </p:txBody>
      </p:sp>
      <p:sp>
        <p:nvSpPr>
          <p:cNvPr id="4" name="Pentagon 3"/>
          <p:cNvSpPr/>
          <p:nvPr/>
        </p:nvSpPr>
        <p:spPr>
          <a:xfrm>
            <a:off x="630936" y="1828800"/>
            <a:ext cx="2057400" cy="685800"/>
          </a:xfrm>
          <a:prstGeom prst="homePlate">
            <a:avLst/>
          </a:prstGeom>
          <a:solidFill>
            <a:srgbClr val="8FAAD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400"/>
              </a:spcAft>
            </a:pPr>
            <a:r>
              <a:rPr sz="1500" b="1" i="0">
                <a:solidFill>
                  <a:srgbClr val="FFFFFF"/>
                </a:solidFill>
              </a:rPr>
              <a:t>Introduction</a:t>
            </a:r>
          </a:p>
        </p:txBody>
      </p:sp>
      <p:sp>
        <p:nvSpPr>
          <p:cNvPr id="5" name="Chevron 4"/>
          <p:cNvSpPr/>
          <p:nvPr/>
        </p:nvSpPr>
        <p:spPr>
          <a:xfrm>
            <a:off x="2596896" y="1828800"/>
            <a:ext cx="2057400" cy="685800"/>
          </a:xfrm>
          <a:prstGeom prst="chevron">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400"/>
              </a:spcAft>
            </a:pPr>
            <a:r>
              <a:rPr sz="1500" b="1" i="0">
                <a:solidFill>
                  <a:srgbClr val="FFFFFF"/>
                </a:solidFill>
              </a:rPr>
              <a:t>Growth</a:t>
            </a:r>
          </a:p>
        </p:txBody>
      </p:sp>
      <p:sp>
        <p:nvSpPr>
          <p:cNvPr id="6" name="Chevron 5"/>
          <p:cNvSpPr/>
          <p:nvPr/>
        </p:nvSpPr>
        <p:spPr>
          <a:xfrm>
            <a:off x="4562856" y="1828800"/>
            <a:ext cx="2057400" cy="685800"/>
          </a:xfrm>
          <a:prstGeom prst="chevron">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400"/>
              </a:spcAft>
            </a:pPr>
            <a:r>
              <a:rPr sz="1500" b="1" i="0">
                <a:solidFill>
                  <a:srgbClr val="FFFFFF"/>
                </a:solidFill>
              </a:rPr>
              <a:t>Maturity</a:t>
            </a:r>
          </a:p>
        </p:txBody>
      </p:sp>
      <p:sp>
        <p:nvSpPr>
          <p:cNvPr id="7" name="Chevron 6"/>
          <p:cNvSpPr/>
          <p:nvPr/>
        </p:nvSpPr>
        <p:spPr>
          <a:xfrm>
            <a:off x="6528815" y="1828800"/>
            <a:ext cx="2057400" cy="685800"/>
          </a:xfrm>
          <a:prstGeom prst="chevron">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400"/>
              </a:spcAft>
            </a:pPr>
            <a:r>
              <a:rPr sz="1500" b="1" i="0">
                <a:solidFill>
                  <a:srgbClr val="FFFFFF"/>
                </a:solidFill>
              </a:rPr>
              <a:t>Retirement</a:t>
            </a:r>
          </a:p>
        </p:txBody>
      </p:sp>
      <p:sp>
        <p:nvSpPr>
          <p:cNvPr id="8" name="TextBox 7"/>
          <p:cNvSpPr txBox="1"/>
          <p:nvPr/>
        </p:nvSpPr>
        <p:spPr>
          <a:xfrm>
            <a:off x="630936" y="2743200"/>
            <a:ext cx="7872983" cy="411480"/>
          </a:xfrm>
          <a:prstGeom prst="rect">
            <a:avLst/>
          </a:prstGeom>
          <a:noFill/>
        </p:spPr>
        <p:txBody>
          <a:bodyPr wrap="square" lIns="73152" tIns="36576" rIns="73152" bIns="36576" anchor="t">
            <a:spAutoFit/>
          </a:bodyPr>
          <a:lstStyle/>
          <a:p>
            <a:pPr algn="l">
              <a:spcAft>
                <a:spcPts val="400"/>
              </a:spcAft>
            </a:pPr>
            <a:r>
              <a:rPr sz="1800" b="1" i="0">
                <a:solidFill>
                  <a:srgbClr val="262626"/>
                </a:solidFill>
              </a:rPr>
              <a:t>Pick a product:  </a:t>
            </a:r>
            <a:r>
              <a:rPr sz="1800" b="1" i="0">
                <a:solidFill>
                  <a:srgbClr val="ED7D31"/>
                </a:solidFill>
              </a:rPr>
              <a:t>WhatsApp  ·  Careem  ·  Nokia 3310</a:t>
            </a:r>
          </a:p>
        </p:txBody>
      </p:sp>
      <p:sp>
        <p:nvSpPr>
          <p:cNvPr id="9" name="Oval 8"/>
          <p:cNvSpPr/>
          <p:nvPr/>
        </p:nvSpPr>
        <p:spPr>
          <a:xfrm>
            <a:off x="630936" y="3337560"/>
            <a:ext cx="384048" cy="384048"/>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0" tIns="36576" rIns="0" bIns="36576" rtlCol="0" anchor="ctr"/>
          <a:lstStyle/>
          <a:p>
            <a:pPr algn="ctr">
              <a:spcAft>
                <a:spcPts val="400"/>
              </a:spcAft>
            </a:pPr>
            <a:r>
              <a:rPr sz="1600" b="1" i="0">
                <a:solidFill>
                  <a:srgbClr val="FFFFFF"/>
                </a:solidFill>
              </a:rPr>
              <a:t>1</a:t>
            </a:r>
          </a:p>
        </p:txBody>
      </p:sp>
      <p:sp>
        <p:nvSpPr>
          <p:cNvPr id="10" name="TextBox 9"/>
          <p:cNvSpPr txBox="1"/>
          <p:nvPr/>
        </p:nvSpPr>
        <p:spPr>
          <a:xfrm>
            <a:off x="1133856" y="3364991"/>
            <a:ext cx="7360919" cy="731520"/>
          </a:xfrm>
          <a:prstGeom prst="rect">
            <a:avLst/>
          </a:prstGeom>
          <a:noFill/>
        </p:spPr>
        <p:txBody>
          <a:bodyPr wrap="square" lIns="73152" tIns="36576" rIns="73152" bIns="36576" anchor="t">
            <a:spAutoFit/>
          </a:bodyPr>
          <a:lstStyle/>
          <a:p>
            <a:pPr algn="l">
              <a:spcAft>
                <a:spcPts val="400"/>
              </a:spcAft>
            </a:pPr>
            <a:r>
              <a:rPr sz="1600" b="0" i="0">
                <a:solidFill>
                  <a:srgbClr val="262626"/>
                </a:solidFill>
              </a:rPr>
              <a:t>Where is it on the life cycle today?</a:t>
            </a:r>
          </a:p>
        </p:txBody>
      </p:sp>
      <p:sp>
        <p:nvSpPr>
          <p:cNvPr id="11" name="Oval 10"/>
          <p:cNvSpPr/>
          <p:nvPr/>
        </p:nvSpPr>
        <p:spPr>
          <a:xfrm>
            <a:off x="630936" y="4069080"/>
            <a:ext cx="384048" cy="384048"/>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0" tIns="36576" rIns="0" bIns="36576" rtlCol="0" anchor="ctr"/>
          <a:lstStyle/>
          <a:p>
            <a:pPr algn="ctr">
              <a:spcAft>
                <a:spcPts val="400"/>
              </a:spcAft>
            </a:pPr>
            <a:r>
              <a:rPr sz="1600" b="1" i="0">
                <a:solidFill>
                  <a:srgbClr val="FFFFFF"/>
                </a:solidFill>
              </a:rPr>
              <a:t>2</a:t>
            </a:r>
          </a:p>
        </p:txBody>
      </p:sp>
      <p:sp>
        <p:nvSpPr>
          <p:cNvPr id="12" name="TextBox 11"/>
          <p:cNvSpPr txBox="1"/>
          <p:nvPr/>
        </p:nvSpPr>
        <p:spPr>
          <a:xfrm>
            <a:off x="1133856" y="4096512"/>
            <a:ext cx="7360919" cy="731520"/>
          </a:xfrm>
          <a:prstGeom prst="rect">
            <a:avLst/>
          </a:prstGeom>
          <a:noFill/>
        </p:spPr>
        <p:txBody>
          <a:bodyPr wrap="square" lIns="73152" tIns="36576" rIns="73152" bIns="36576" anchor="t">
            <a:spAutoFit/>
          </a:bodyPr>
          <a:lstStyle/>
          <a:p>
            <a:pPr algn="l">
              <a:spcAft>
                <a:spcPts val="400"/>
              </a:spcAft>
            </a:pPr>
            <a:r>
              <a:rPr sz="1600" b="0" i="0">
                <a:solidFill>
                  <a:srgbClr val="262626"/>
                </a:solidFill>
              </a:rPr>
              <a:t>List five projects that happened during its life</a:t>
            </a:r>
          </a:p>
        </p:txBody>
      </p:sp>
      <p:sp>
        <p:nvSpPr>
          <p:cNvPr id="13" name="Oval 12"/>
          <p:cNvSpPr/>
          <p:nvPr/>
        </p:nvSpPr>
        <p:spPr>
          <a:xfrm>
            <a:off x="630936" y="4800600"/>
            <a:ext cx="384048" cy="384048"/>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0" tIns="36576" rIns="0" bIns="36576" rtlCol="0" anchor="ctr"/>
          <a:lstStyle/>
          <a:p>
            <a:pPr algn="ctr">
              <a:spcAft>
                <a:spcPts val="400"/>
              </a:spcAft>
            </a:pPr>
            <a:r>
              <a:rPr sz="1600" b="1" i="0">
                <a:solidFill>
                  <a:srgbClr val="FFFFFF"/>
                </a:solidFill>
              </a:rPr>
              <a:t>3</a:t>
            </a:r>
          </a:p>
        </p:txBody>
      </p:sp>
      <p:sp>
        <p:nvSpPr>
          <p:cNvPr id="14" name="TextBox 13"/>
          <p:cNvSpPr txBox="1"/>
          <p:nvPr/>
        </p:nvSpPr>
        <p:spPr>
          <a:xfrm>
            <a:off x="1133856" y="4828032"/>
            <a:ext cx="7360919" cy="731520"/>
          </a:xfrm>
          <a:prstGeom prst="rect">
            <a:avLst/>
          </a:prstGeom>
          <a:noFill/>
        </p:spPr>
        <p:txBody>
          <a:bodyPr wrap="square" lIns="73152" tIns="36576" rIns="73152" bIns="36576" anchor="t">
            <a:spAutoFit/>
          </a:bodyPr>
          <a:lstStyle/>
          <a:p>
            <a:pPr algn="l">
              <a:spcAft>
                <a:spcPts val="400"/>
              </a:spcAft>
            </a:pPr>
            <a:r>
              <a:rPr sz="1600" b="0" i="0">
                <a:solidFill>
                  <a:srgbClr val="262626"/>
                </a:solidFill>
              </a:rPr>
              <a:t>Place each project on the stage where it happened</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628650" y="365126"/>
            <a:ext cx="7886700" cy="1325563"/>
          </a:xfrm>
        </p:spPr>
        <p:txBody>
          <a:bodyPr rtlCol="0">
            <a:normAutofit/>
          </a:bodyPr>
          <a:lstStyle/>
          <a:p>
            <a:r>
              <a:rPr lang="en-US" altLang="en-US" dirty="0"/>
              <a:t>The Project Life Cycle - Overview</a:t>
            </a:r>
          </a:p>
        </p:txBody>
      </p:sp>
      <p:sp>
        <p:nvSpPr>
          <p:cNvPr id="16387" name="Content Placeholder 2"/>
          <p:cNvSpPr>
            <a:spLocks noGrp="1"/>
          </p:cNvSpPr>
          <p:nvPr>
            <p:ph idx="1"/>
          </p:nvPr>
        </p:nvSpPr>
        <p:spPr>
          <a:xfrm>
            <a:off x="628650" y="1825625"/>
            <a:ext cx="7886700" cy="4351338"/>
          </a:xfrm>
        </p:spPr>
        <p:txBody>
          <a:bodyPr rtlCol="0">
            <a:noAutofit/>
          </a:bodyPr>
          <a:lstStyle/>
          <a:p>
            <a:pPr algn="just"/>
            <a:r>
              <a:rPr lang="en-US" dirty="0"/>
              <a:t>Examples:  </a:t>
            </a:r>
          </a:p>
          <a:p>
            <a:pPr algn="just"/>
            <a:r>
              <a:rPr lang="en-US" dirty="0"/>
              <a:t>When the output of the project is related to a product, there are many possible relationships. </a:t>
            </a:r>
          </a:p>
          <a:p>
            <a:pPr algn="just"/>
            <a:r>
              <a:rPr lang="en-US" dirty="0"/>
              <a:t>For instance, the development of a new product could be a project on its own. </a:t>
            </a:r>
          </a:p>
          <a:p>
            <a:pPr algn="just"/>
            <a:r>
              <a:rPr lang="en-US" dirty="0"/>
              <a:t>Alternatively, an existing product might benefit from a project to add new functions or features, or a project might be created to develop a new model. </a:t>
            </a:r>
          </a:p>
          <a:p>
            <a:pPr algn="just"/>
            <a:r>
              <a:rPr lang="en-US" dirty="0"/>
              <a:t>Many facets of the product life cycle lend themselves to being run as projects, for example, performing a feasibility study, conducting market research, running an advertising campaign, installing a product, holding focus groups, conducting a product trial in a test market, etc. In each of these examples, the project life cycle would differ from the product life cycle.</a:t>
            </a:r>
          </a:p>
        </p:txBody>
      </p:sp>
    </p:spTree>
    <p:extLst>
      <p:ext uri="{BB962C8B-B14F-4D97-AF65-F5344CB8AC3E}">
        <p14:creationId xmlns:p14="http://schemas.microsoft.com/office/powerpoint/2010/main" val="2620873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2241</TotalTime>
  <Words>5182</Words>
  <Application>Microsoft Office PowerPoint</Application>
  <PresentationFormat>On-screen Show (4:3)</PresentationFormat>
  <Paragraphs>571</Paragraphs>
  <Slides>69</Slides>
  <Notes>23</Notes>
  <HiddenSlides>9</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69</vt:i4>
      </vt:variant>
    </vt:vector>
  </HeadingPairs>
  <TitlesOfParts>
    <vt:vector size="78" baseType="lpstr">
      <vt:lpstr>Arial</vt:lpstr>
      <vt:lpstr>Arial</vt:lpstr>
      <vt:lpstr>Calibri</vt:lpstr>
      <vt:lpstr>Calibri Light</vt:lpstr>
      <vt:lpstr>Google Sans</vt:lpstr>
      <vt:lpstr>Poppins</vt:lpstr>
      <vt:lpstr>Times New Roman</vt:lpstr>
      <vt:lpstr>Wingdings</vt:lpstr>
      <vt:lpstr>Office Theme</vt:lpstr>
      <vt:lpstr>Project Dimensions and Life Cycle</vt:lpstr>
      <vt:lpstr>Week 2 Roadmap</vt:lpstr>
      <vt:lpstr>What Killed Your Project?</vt:lpstr>
      <vt:lpstr>Four Project Dimensions</vt:lpstr>
      <vt:lpstr>People</vt:lpstr>
      <vt:lpstr>People</vt:lpstr>
      <vt:lpstr>Process</vt:lpstr>
      <vt:lpstr>Product</vt:lpstr>
      <vt:lpstr>Technology</vt:lpstr>
      <vt:lpstr>Classic Mistakes</vt:lpstr>
      <vt:lpstr>Mistake Detective: UniConnect Portal</vt:lpstr>
      <vt:lpstr>Mistake Detective: Answer Key</vt:lpstr>
      <vt:lpstr>People-Related Mistakes Part 1</vt:lpstr>
      <vt:lpstr>People-Related Mistakes Part 2</vt:lpstr>
      <vt:lpstr>Identify People Mistakes</vt:lpstr>
      <vt:lpstr>Identify People Mistakes</vt:lpstr>
      <vt:lpstr>Process-Related Mistakes</vt:lpstr>
      <vt:lpstr>Identify Process-Related Mistakes</vt:lpstr>
      <vt:lpstr>Process-Related Mistakes Part 3</vt:lpstr>
      <vt:lpstr>Product-Related Mistakes</vt:lpstr>
      <vt:lpstr>Identify Product Related Mistakes</vt:lpstr>
      <vt:lpstr>Technology-Related Mistakes</vt:lpstr>
      <vt:lpstr>Project vs operations</vt:lpstr>
      <vt:lpstr>PowerPoint Presentation</vt:lpstr>
      <vt:lpstr> Projects vs Operations</vt:lpstr>
      <vt:lpstr>PowerPoint Presentation</vt:lpstr>
      <vt:lpstr>PowerPoint Presentation</vt:lpstr>
      <vt:lpstr> Projects vs Operational Work</vt:lpstr>
      <vt:lpstr> Projects vs Operational Work</vt:lpstr>
      <vt:lpstr> Projects vs Operational Work</vt:lpstr>
      <vt:lpstr> Projects vs Operational Work</vt:lpstr>
      <vt:lpstr>PowerPoint Presentation</vt:lpstr>
      <vt:lpstr>Project VS Operation</vt:lpstr>
      <vt:lpstr>Is it a Project?</vt:lpstr>
      <vt:lpstr>Your Verdict: Is It a Project?</vt:lpstr>
      <vt:lpstr>Project or Operation</vt:lpstr>
      <vt:lpstr>Project or Operation (Solution)</vt:lpstr>
      <vt:lpstr>Stand Up or Sit Down?</vt:lpstr>
      <vt:lpstr>Exit Ticket</vt:lpstr>
      <vt:lpstr>The Project Life Cycle - Overview</vt:lpstr>
      <vt:lpstr>The Project Life Cycle - Overview</vt:lpstr>
      <vt:lpstr>The Project Life Cycle - Overview</vt:lpstr>
      <vt:lpstr> The Project Life Cycle - Overview</vt:lpstr>
      <vt:lpstr>The Project Life Cycle - Overview</vt:lpstr>
      <vt:lpstr>Generic Life Cycle Structure: General Characteristics</vt:lpstr>
      <vt:lpstr>PowerPoint Presentation</vt:lpstr>
      <vt:lpstr>The Project Life Cycle - Overview</vt:lpstr>
      <vt:lpstr>The Project Life Cycle -Phases</vt:lpstr>
      <vt:lpstr>Project Phases</vt:lpstr>
      <vt:lpstr>Project Phases</vt:lpstr>
      <vt:lpstr>Contd…</vt:lpstr>
      <vt:lpstr>PowerPoint Presentation</vt:lpstr>
      <vt:lpstr>5 Phases of Project Management Life Cycle </vt:lpstr>
      <vt:lpstr>The Project Life Cycle (Processes in Project)</vt:lpstr>
      <vt:lpstr>The Project Life Cycle (Processes in Project)</vt:lpstr>
      <vt:lpstr>The Project Life Cycle (Processes in Project)</vt:lpstr>
      <vt:lpstr>Phase-to-Phase Relationships</vt:lpstr>
      <vt:lpstr>Phase-to-Phase Relationships</vt:lpstr>
      <vt:lpstr>Phase-to-Phase Relationships</vt:lpstr>
      <vt:lpstr>Sequential Phase Relationship</vt:lpstr>
      <vt:lpstr>PowerPoint Presentation</vt:lpstr>
      <vt:lpstr>PowerPoint Presentation</vt:lpstr>
      <vt:lpstr>PowerPoint Presentation</vt:lpstr>
      <vt:lpstr>Phase-to-Phase Relationships (Contd…)</vt:lpstr>
      <vt:lpstr>Product Vs Project Life Cycle </vt:lpstr>
      <vt:lpstr>Product Vs Project Life Cycle </vt:lpstr>
      <vt:lpstr>The Project Life Cycle - Overview</vt:lpstr>
      <vt:lpstr>Product Life Cycle Timeline</vt:lpstr>
      <vt:lpstr>The Project Life Cycle - Overview</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Uzair</dc:creator>
  <cp:lastModifiedBy>Dr Anam Mustaqeem</cp:lastModifiedBy>
  <cp:revision>207</cp:revision>
  <dcterms:created xsi:type="dcterms:W3CDTF">2010-11-06T16:51:40Z</dcterms:created>
  <dcterms:modified xsi:type="dcterms:W3CDTF">2026-10-05T06:44:44Z</dcterms:modified>
</cp:coreProperties>
</file>