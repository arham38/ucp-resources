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notesMasterIdLst>
    <p:notesMasterId r:id="rId24"/>
  </p:notesMasterIdLst>
  <p:sldIdLst>
    <p:sldId id="276" r:id="rId2"/>
    <p:sldId id="277" r:id="rId3"/>
    <p:sldId id="278" r:id="rId4"/>
    <p:sldId id="279" r:id="rId5"/>
    <p:sldId id="272" r:id="rId6"/>
    <p:sldId id="274" r:id="rId7"/>
    <p:sldId id="256" r:id="rId8"/>
    <p:sldId id="257" r:id="rId9"/>
    <p:sldId id="258" r:id="rId10"/>
    <p:sldId id="259" r:id="rId11"/>
    <p:sldId id="260" r:id="rId12"/>
    <p:sldId id="261" r:id="rId13"/>
    <p:sldId id="262" r:id="rId14"/>
    <p:sldId id="263" r:id="rId15"/>
    <p:sldId id="264" r:id="rId16"/>
    <p:sldId id="267" r:id="rId17"/>
    <p:sldId id="265" r:id="rId18"/>
    <p:sldId id="266" r:id="rId19"/>
    <p:sldId id="268" r:id="rId20"/>
    <p:sldId id="269" r:id="rId21"/>
    <p:sldId id="270" r:id="rId22"/>
    <p:sldId id="27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91" autoAdjust="0"/>
  </p:normalViewPr>
  <p:slideViewPr>
    <p:cSldViewPr snapToGrid="0">
      <p:cViewPr varScale="1">
        <p:scale>
          <a:sx n="68" d="100"/>
          <a:sy n="68" d="100"/>
        </p:scale>
        <p:origin x="14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5EFEC2-B6C7-4FA7-BAC3-15FBBBB3FB6E}" type="datetimeFigureOut">
              <a:rPr lang="en-US" smtClean="0"/>
              <a:t>10/12/2026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893944-D854-4993-8F67-6438B3F52AC4}" type="slidenum">
              <a:rPr lang="en-US" smtClean="0"/>
              <a:t>‹#›</a:t>
            </a:fld>
            <a:endParaRPr lang="en-US"/>
          </a:p>
        </p:txBody>
      </p:sp>
    </p:spTree>
    <p:extLst>
      <p:ext uri="{BB962C8B-B14F-4D97-AF65-F5344CB8AC3E}">
        <p14:creationId xmlns:p14="http://schemas.microsoft.com/office/powerpoint/2010/main" val="273652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dua.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893944-D854-4993-8F67-6438B3F52AC4}" type="slidenum">
              <a:rPr lang="en-US" smtClean="0"/>
              <a:t>11</a:t>
            </a:fld>
            <a:endParaRPr lang="en-US"/>
          </a:p>
        </p:txBody>
      </p:sp>
    </p:spTree>
    <p:extLst>
      <p:ext uri="{BB962C8B-B14F-4D97-AF65-F5344CB8AC3E}">
        <p14:creationId xmlns:p14="http://schemas.microsoft.com/office/powerpoint/2010/main" val="862278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a:t>
            </a:r>
            <a:r>
              <a:rPr lang="en-US" sz="1200" b="0" i="0" u="none" strike="noStrike" baseline="0" dirty="0">
                <a:latin typeface="Meridien-Roman"/>
              </a:rPr>
              <a:t>This is a list that covers software requirements specifications, design and architecture specifications, class or UML diagrams, code or software packages (divided into separate libraries or modules, if necessary), test plans and test cases, user acceptance plans, and any other document, source code or other work product that will be created. A brief description—no more than a paragraph—is usually sufficient for each one. The SOW also should list any standards or templates that will be used to create the work product.</a:t>
            </a:r>
          </a:p>
          <a:p>
            <a:endParaRPr lang="en-US" dirty="0"/>
          </a:p>
        </p:txBody>
      </p:sp>
      <p:sp>
        <p:nvSpPr>
          <p:cNvPr id="4" name="Slide Number Placeholder 3"/>
          <p:cNvSpPr>
            <a:spLocks noGrp="1"/>
          </p:cNvSpPr>
          <p:nvPr>
            <p:ph type="sldNum" sz="quarter" idx="5"/>
          </p:nvPr>
        </p:nvSpPr>
        <p:spPr/>
        <p:txBody>
          <a:bodyPr/>
          <a:lstStyle/>
          <a:p>
            <a:fld id="{03893944-D854-4993-8F67-6438B3F52AC4}" type="slidenum">
              <a:rPr lang="en-US" smtClean="0"/>
              <a:t>12</a:t>
            </a:fld>
            <a:endParaRPr lang="en-US"/>
          </a:p>
        </p:txBody>
      </p:sp>
    </p:spTree>
    <p:extLst>
      <p:ext uri="{BB962C8B-B14F-4D97-AF65-F5344CB8AC3E}">
        <p14:creationId xmlns:p14="http://schemas.microsoft.com/office/powerpoint/2010/main" val="265451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p:spPr>
        <p:txBody>
          <a:bodyPr anchor="b">
            <a:normAutofit/>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1941910" y="4777380"/>
            <a:ext cx="6686549" cy="1126283"/>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99FB2F-AEDD-4D8A-89CB-9F3C29ED01F2}"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1"/>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4529541"/>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905030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624110"/>
            <a:ext cx="6683765"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1909" y="2133600"/>
            <a:ext cx="668655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99FB2F-AEDD-4D8A-89CB-9F3C29ED01F2}"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762710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1910" y="2058750"/>
            <a:ext cx="6686549" cy="1468800"/>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3530129"/>
            <a:ext cx="6686549" cy="860400"/>
          </a:xfrm>
        </p:spPr>
        <p:txBody>
          <a:bodyPr anchor="t"/>
          <a:lstStyle>
            <a:lvl1pPr marL="0" indent="0" algn="l">
              <a:buNone/>
              <a:defRPr sz="150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99FB2F-AEDD-4D8A-89CB-9F3C29ED01F2}"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1885669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1909" y="2133600"/>
            <a:ext cx="3235398"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93060" y="2126222"/>
            <a:ext cx="3235398"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99FB2F-AEDD-4D8A-89CB-9F3C29ED01F2}"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787783"/>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450689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04530" y="1972703"/>
            <a:ext cx="2994549"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41909" y="2548966"/>
            <a:ext cx="3257170"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29972" y="1969475"/>
            <a:ext cx="2999251" cy="576262"/>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375218" y="2545738"/>
            <a:ext cx="3254006"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99FB2F-AEDD-4D8A-89CB-9F3C29ED01F2}"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787783"/>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995540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99FB2F-AEDD-4D8A-89CB-9F3C29ED01F2}"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625950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99FB2F-AEDD-4D8A-89CB-9F3C29ED01F2}"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933741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46088"/>
            <a:ext cx="2628899" cy="976312"/>
          </a:xfrm>
        </p:spPr>
        <p:txBody>
          <a:bodyPr anchor="b"/>
          <a:lstStyle>
            <a:lvl1pPr algn="l">
              <a:defRPr sz="1500" b="0"/>
            </a:lvl1pPr>
          </a:lstStyle>
          <a:p>
            <a:r>
              <a:rPr lang="en-US"/>
              <a:t>Click to edit Master title style</a:t>
            </a:r>
            <a:endParaRPr lang="en-US" dirty="0"/>
          </a:p>
        </p:txBody>
      </p:sp>
      <p:sp>
        <p:nvSpPr>
          <p:cNvPr id="3" name="Content Placeholder 2"/>
          <p:cNvSpPr>
            <a:spLocks noGrp="1"/>
          </p:cNvSpPr>
          <p:nvPr>
            <p:ph idx="1"/>
          </p:nvPr>
        </p:nvSpPr>
        <p:spPr>
          <a:xfrm>
            <a:off x="4742259" y="446089"/>
            <a:ext cx="38862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1910" y="1598613"/>
            <a:ext cx="2628899" cy="4262436"/>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0399FB2F-AEDD-4D8A-89CB-9F3C29ED01F2}"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530061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800600"/>
            <a:ext cx="6686550"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1909" y="634965"/>
            <a:ext cx="6686550" cy="3854970"/>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941910" y="5367338"/>
            <a:ext cx="6686550" cy="493712"/>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0399FB2F-AEDD-4D8A-89CB-9F3C29ED01F2}"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4176328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609600"/>
            <a:ext cx="6686549" cy="3117040"/>
          </a:xfrm>
        </p:spPr>
        <p:txBody>
          <a:bodyPr anchor="ctr">
            <a:normAutofit/>
          </a:bodyPr>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99FB2F-AEDD-4D8A-89CB-9F3C29ED01F2}"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352701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37462" y="609600"/>
            <a:ext cx="6295445" cy="2895600"/>
          </a:xfrm>
        </p:spPr>
        <p:txBody>
          <a:bodyPr anchor="ctr">
            <a:normAutofit/>
          </a:bodyPr>
          <a:lstStyle>
            <a:lvl1pPr algn="l">
              <a:defRPr sz="36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56259" y="3505200"/>
            <a:ext cx="5652416" cy="38100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99FB2F-AEDD-4D8A-89CB-9F3C29ED01F2}"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3CD497E3-8235-4BAE-BDE5-48C0C0F9883A}" type="slidenum">
              <a:rPr lang="en-US" smtClean="0"/>
              <a:t>‹#›</a:t>
            </a:fld>
            <a:endParaRPr lang="en-US"/>
          </a:p>
        </p:txBody>
      </p:sp>
      <p:sp>
        <p:nvSpPr>
          <p:cNvPr id="14" name="TextBox 13"/>
          <p:cNvSpPr txBox="1"/>
          <p:nvPr/>
        </p:nvSpPr>
        <p:spPr>
          <a:xfrm>
            <a:off x="1850739" y="648005"/>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5" name="TextBox 14"/>
          <p:cNvSpPr txBox="1"/>
          <p:nvPr/>
        </p:nvSpPr>
        <p:spPr>
          <a:xfrm>
            <a:off x="8336139" y="290530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18948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1910" y="2438401"/>
            <a:ext cx="6686550" cy="2724845"/>
          </a:xfrm>
        </p:spPr>
        <p:txBody>
          <a:bodyPr anchor="b">
            <a:normAutofit/>
          </a:bodyPr>
          <a:lstStyle>
            <a:lvl1pPr algn="l">
              <a:defRPr sz="3600" b="0"/>
            </a:lvl1pPr>
          </a:lstStyle>
          <a:p>
            <a:r>
              <a:rPr lang="en-US"/>
              <a:t>Click to edit Master title style</a:t>
            </a:r>
            <a:endParaRPr lang="en-US" dirty="0"/>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99FB2F-AEDD-4D8A-89CB-9F3C29ED01F2}"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4014394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137462" y="609600"/>
            <a:ext cx="6295445" cy="2895600"/>
          </a:xfrm>
        </p:spPr>
        <p:txBody>
          <a:bodyPr anchor="ctr">
            <a:normAutofit/>
          </a:bodyPr>
          <a:lstStyle>
            <a:lvl1pPr algn="l">
              <a:defRPr sz="36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99FB2F-AEDD-4D8A-89CB-9F3C29ED01F2}"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CD497E3-8235-4BAE-BDE5-48C0C0F9883A}" type="slidenum">
              <a:rPr lang="en-US" smtClean="0"/>
              <a:t>‹#›</a:t>
            </a:fld>
            <a:endParaRPr lang="en-US"/>
          </a:p>
        </p:txBody>
      </p:sp>
      <p:sp>
        <p:nvSpPr>
          <p:cNvPr id="17" name="TextBox 16"/>
          <p:cNvSpPr txBox="1"/>
          <p:nvPr/>
        </p:nvSpPr>
        <p:spPr>
          <a:xfrm>
            <a:off x="1850739" y="648005"/>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8" name="TextBox 17"/>
          <p:cNvSpPr txBox="1"/>
          <p:nvPr/>
        </p:nvSpPr>
        <p:spPr>
          <a:xfrm>
            <a:off x="8336139" y="2905306"/>
            <a:ext cx="457200"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79252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1910" y="627407"/>
            <a:ext cx="6686549" cy="2880020"/>
          </a:xfrm>
        </p:spPr>
        <p:txBody>
          <a:bodyPr anchor="ctr">
            <a:normAutofit/>
          </a:bodyPr>
          <a:lstStyle>
            <a:lvl1pPr algn="l">
              <a:defRPr sz="3600" b="0"/>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399FB2F-AEDD-4D8A-89CB-9F3C29ED01F2}"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2835827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99FB2F-AEDD-4D8A-89CB-9F3C29ED01F2}"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1319455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627406"/>
            <a:ext cx="16557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1909" y="627406"/>
            <a:ext cx="485775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99FB2F-AEDD-4D8A-89CB-9F3C29ED01F2}"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CD497E3-8235-4BAE-BDE5-48C0C0F9883A}" type="slidenum">
              <a:rPr lang="en-US" smtClean="0"/>
              <a:t>‹#›</a:t>
            </a:fld>
            <a:endParaRPr lang="en-US"/>
          </a:p>
        </p:txBody>
      </p:sp>
    </p:spTree>
    <p:extLst>
      <p:ext uri="{BB962C8B-B14F-4D97-AF65-F5344CB8AC3E}">
        <p14:creationId xmlns:p14="http://schemas.microsoft.com/office/powerpoint/2010/main" val="3045920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138637"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786"/>
            <a:ext cx="1767506"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624110"/>
            <a:ext cx="6683765"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1909" y="2133600"/>
            <a:ext cx="668655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1210" y="6130437"/>
            <a:ext cx="859712" cy="370396"/>
          </a:xfrm>
          <a:prstGeom prst="rect">
            <a:avLst/>
          </a:prstGeom>
        </p:spPr>
        <p:txBody>
          <a:bodyPr vert="horz" lIns="91440" tIns="45720" rIns="91440" bIns="45720" rtlCol="0" anchor="ctr"/>
          <a:lstStyle>
            <a:lvl1pPr algn="r">
              <a:defRPr sz="675">
                <a:solidFill>
                  <a:schemeClr val="tx1">
                    <a:tint val="75000"/>
                  </a:schemeClr>
                </a:solidFill>
              </a:defRPr>
            </a:lvl1pPr>
          </a:lstStyle>
          <a:p>
            <a:fld id="{0399FB2F-AEDD-4D8A-89CB-9F3C29ED01F2}" type="datetimeFigureOut">
              <a:rPr lang="en-US" smtClean="0"/>
              <a:t>10/12/2026</a:t>
            </a:fld>
            <a:endParaRPr lang="en-US"/>
          </a:p>
        </p:txBody>
      </p:sp>
      <p:sp>
        <p:nvSpPr>
          <p:cNvPr id="5" name="Footer Placeholder 4"/>
          <p:cNvSpPr>
            <a:spLocks noGrp="1"/>
          </p:cNvSpPr>
          <p:nvPr>
            <p:ph type="ftr" sz="quarter" idx="3"/>
          </p:nvPr>
        </p:nvSpPr>
        <p:spPr>
          <a:xfrm>
            <a:off x="1941910" y="6135809"/>
            <a:ext cx="5714999"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398860" y="787783"/>
            <a:ext cx="584825" cy="365125"/>
          </a:xfrm>
          <a:prstGeom prst="rect">
            <a:avLst/>
          </a:prstGeom>
        </p:spPr>
        <p:txBody>
          <a:bodyPr vert="horz" lIns="91440" tIns="45720" rIns="91440" bIns="45720" rtlCol="0" anchor="ctr"/>
          <a:lstStyle>
            <a:lvl1pPr algn="r">
              <a:defRPr sz="1500">
                <a:solidFill>
                  <a:srgbClr val="FEFFFF"/>
                </a:solidFill>
              </a:defRPr>
            </a:lvl1pPr>
          </a:lstStyle>
          <a:p>
            <a:fld id="{3CD497E3-8235-4BAE-BDE5-48C0C0F9883A}" type="slidenum">
              <a:rPr lang="en-US" smtClean="0"/>
              <a:t>‹#›</a:t>
            </a:fld>
            <a:endParaRPr lang="en-US"/>
          </a:p>
        </p:txBody>
      </p:sp>
    </p:spTree>
    <p:extLst>
      <p:ext uri="{BB962C8B-B14F-4D97-AF65-F5344CB8AC3E}">
        <p14:creationId xmlns:p14="http://schemas.microsoft.com/office/powerpoint/2010/main" val="1829862856"/>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Lst>
  <p:txStyles>
    <p:titleStyle>
      <a:lvl1pPr algn="l" defTabSz="342900" rtl="0" eaLnBrk="1" latinLnBrk="0" hangingPunct="1">
        <a:spcBef>
          <a:spcPct val="0"/>
        </a:spcBef>
        <a:buNone/>
        <a:defRPr sz="27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anam.Mustaqeem@ucp.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BA6C8-8B8A-423E-9F04-8D97B5525C06}"/>
              </a:ext>
            </a:extLst>
          </p:cNvPr>
          <p:cNvSpPr>
            <a:spLocks noGrp="1"/>
          </p:cNvSpPr>
          <p:nvPr>
            <p:ph type="ctrTitle"/>
          </p:nvPr>
        </p:nvSpPr>
        <p:spPr>
          <a:xfrm>
            <a:off x="1703371" y="1573026"/>
            <a:ext cx="6686549" cy="1697086"/>
          </a:xfrm>
        </p:spPr>
        <p:txBody>
          <a:bodyPr>
            <a:normAutofit fontScale="90000"/>
          </a:bodyPr>
          <a:lstStyle/>
          <a:p>
            <a:pPr algn="ctr"/>
            <a:r>
              <a:rPr lang="en-US" dirty="0"/>
              <a:t>Software Project Management</a:t>
            </a:r>
            <a:br>
              <a:rPr lang="en-US" dirty="0"/>
            </a:br>
            <a:r>
              <a:rPr lang="en-US" dirty="0"/>
              <a:t>Software Project Planning:</a:t>
            </a:r>
            <a:br>
              <a:rPr lang="en-US" dirty="0"/>
            </a:br>
            <a:r>
              <a:rPr lang="en-US" dirty="0"/>
              <a:t>Creating the Project Plan</a:t>
            </a:r>
            <a:endParaRPr lang="x-none" dirty="0"/>
          </a:p>
        </p:txBody>
      </p:sp>
      <p:sp>
        <p:nvSpPr>
          <p:cNvPr id="3" name="Subtitle 2">
            <a:extLst>
              <a:ext uri="{FF2B5EF4-FFF2-40B4-BE49-F238E27FC236}">
                <a16:creationId xmlns:a16="http://schemas.microsoft.com/office/drawing/2014/main" id="{B7786CB4-AF0E-4376-81B0-4DCFB09E3CF1}"/>
              </a:ext>
            </a:extLst>
          </p:cNvPr>
          <p:cNvSpPr>
            <a:spLocks noGrp="1"/>
          </p:cNvSpPr>
          <p:nvPr>
            <p:ph type="subTitle" idx="1"/>
          </p:nvPr>
        </p:nvSpPr>
        <p:spPr>
          <a:xfrm>
            <a:off x="1703371" y="3356919"/>
            <a:ext cx="7122578" cy="1697086"/>
          </a:xfrm>
        </p:spPr>
        <p:txBody>
          <a:bodyPr>
            <a:normAutofit fontScale="92500" lnSpcReduction="20000"/>
          </a:bodyPr>
          <a:lstStyle/>
          <a:p>
            <a:pPr algn="ctr"/>
            <a:r>
              <a:rPr lang="en-US" sz="1050" dirty="0">
                <a:latin typeface="Calibri" panose="020F0502020204030204" pitchFamily="34" charset="0"/>
                <a:cs typeface="Calibri" panose="020F0502020204030204" pitchFamily="34" charset="0"/>
              </a:rPr>
              <a:t>Week 3  ·  Lecture 1  |  Chapter 2, Applied Software Project Management (Stellman &amp; Greene)</a:t>
            </a:r>
          </a:p>
          <a:p>
            <a:pPr algn="ctr"/>
            <a:r>
              <a:rPr lang="en-US" sz="1050" dirty="0">
                <a:latin typeface="Calibri" panose="020F0502020204030204" pitchFamily="34" charset="0"/>
                <a:cs typeface="Calibri" panose="020F0502020204030204" pitchFamily="34" charset="0"/>
              </a:rPr>
              <a:t>FALL 2026</a:t>
            </a:r>
          </a:p>
          <a:p>
            <a:r>
              <a:rPr lang="en-US" dirty="0">
                <a:latin typeface="Calibri" panose="020F0502020204030204" pitchFamily="34" charset="0"/>
                <a:cs typeface="Calibri" panose="020F0502020204030204" pitchFamily="34" charset="0"/>
              </a:rPr>
              <a:t>Dr. Anam Mustaqeem</a:t>
            </a:r>
          </a:p>
          <a:p>
            <a:r>
              <a:rPr lang="en-US" dirty="0">
                <a:solidFill>
                  <a:srgbClr val="0070C0"/>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anam.mustaqeem@ucp.edu.pk</a:t>
            </a:r>
            <a:endParaRPr lang="en-US" dirty="0">
              <a:solidFill>
                <a:srgbClr val="0070C0"/>
              </a:solidFill>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Office: Cabin #2, F303 Building A</a:t>
            </a:r>
          </a:p>
          <a:p>
            <a:r>
              <a:rPr lang="en-US" b="1" dirty="0">
                <a:latin typeface="Calibri" panose="020F0502020204030204" pitchFamily="34" charset="0"/>
                <a:cs typeface="Calibri" panose="020F0502020204030204" pitchFamily="34" charset="0"/>
              </a:rPr>
              <a:t>OFFICE HOURS:  Wednesday : 09:00 AM- 12:00 PM</a:t>
            </a:r>
          </a:p>
          <a:p>
            <a:r>
              <a:rPr lang="en-US" b="1" dirty="0">
                <a:latin typeface="Calibri" panose="020F0502020204030204" pitchFamily="34" charset="0"/>
                <a:cs typeface="Calibri" panose="020F0502020204030204" pitchFamily="34" charset="0"/>
              </a:rPr>
              <a:t>                              Thursday: 09:00 AM- 11:00 AM</a:t>
            </a:r>
          </a:p>
          <a:p>
            <a:endParaRPr lang="x-non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7593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4294967295"/>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0" y="840582"/>
            <a:ext cx="9144000" cy="5160169"/>
          </a:xfrm>
        </p:spPr>
      </p:pic>
    </p:spTree>
    <p:extLst>
      <p:ext uri="{BB962C8B-B14F-4D97-AF65-F5344CB8AC3E}">
        <p14:creationId xmlns:p14="http://schemas.microsoft.com/office/powerpoint/2010/main" val="1382441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346" y="1305454"/>
            <a:ext cx="6683765" cy="960668"/>
          </a:xfrm>
        </p:spPr>
        <p:txBody>
          <a:bodyPr/>
          <a:lstStyle/>
          <a:p>
            <a:r>
              <a:rPr sz="2400">
                <a:latin typeface="Calibri"/>
                <a:cs typeface="Calibri"/>
              </a:rPr>
              <a:t>Today’s Agenda</a:t>
            </a:r>
          </a:p>
        </p:txBody>
      </p:sp>
      <p:sp>
        <p:nvSpPr>
          <p:cNvPr id="3" name="Content Placeholder 2"/>
          <p:cNvSpPr>
            <a:spLocks noGrp="1"/>
          </p:cNvSpPr>
          <p:nvPr>
            <p:ph idx="1"/>
          </p:nvPr>
        </p:nvSpPr>
        <p:spPr>
          <a:xfrm>
            <a:off x="1348345" y="2267250"/>
            <a:ext cx="7224155" cy="3337500"/>
          </a:xfrm>
        </p:spPr>
        <p:txBody>
          <a:bodyPr>
            <a:noAutofit/>
          </a:bodyPr>
          <a:lstStyle/>
          <a:p>
            <a:pPr>
              <a:spcBef>
                <a:spcPts val="900"/>
              </a:spcBef>
            </a:pPr>
            <a:r>
              <a:rPr sz="1500">
                <a:latin typeface="Calibri"/>
                <a:cs typeface="Calibri"/>
              </a:rPr>
              <a:t>Understand the project needs</a:t>
            </a:r>
          </a:p>
          <a:p>
            <a:pPr>
              <a:spcBef>
                <a:spcPts val="900"/>
              </a:spcBef>
            </a:pPr>
            <a:r>
              <a:rPr sz="1500">
                <a:latin typeface="Calibri"/>
                <a:cs typeface="Calibri"/>
              </a:rPr>
              <a:t>Create the project plan: its components and who uses it</a:t>
            </a:r>
          </a:p>
          <a:p>
            <a:pPr>
              <a:spcBef>
                <a:spcPts val="900"/>
              </a:spcBef>
            </a:pPr>
            <a:r>
              <a:rPr sz="1500">
                <a:latin typeface="Calibri"/>
                <a:cs typeface="Calibri"/>
              </a:rPr>
              <a:t>Statement of work (SOW)</a:t>
            </a:r>
          </a:p>
          <a:p>
            <a:pPr>
              <a:spcBef>
                <a:spcPts val="900"/>
              </a:spcBef>
            </a:pPr>
            <a:r>
              <a:rPr sz="1500">
                <a:latin typeface="Calibri"/>
                <a:cs typeface="Calibri"/>
              </a:rPr>
              <a:t>Resource list</a:t>
            </a:r>
          </a:p>
          <a:p>
            <a:pPr>
              <a:spcBef>
                <a:spcPts val="900"/>
              </a:spcBef>
            </a:pPr>
            <a:r>
              <a:rPr sz="1500">
                <a:latin typeface="Calibri"/>
                <a:cs typeface="Calibri"/>
              </a:rPr>
              <a:t>Estimates and project schedule</a:t>
            </a:r>
          </a:p>
          <a:p>
            <a:pPr>
              <a:spcBef>
                <a:spcPts val="900"/>
              </a:spcBef>
            </a:pPr>
            <a:r>
              <a:rPr sz="1500">
                <a:latin typeface="Calibri"/>
                <a:cs typeface="Calibri"/>
              </a:rPr>
              <a:t>Risk plan: risk planning script and a sample risk plan</a:t>
            </a:r>
          </a:p>
          <a:p>
            <a:pPr>
              <a:spcBef>
                <a:spcPts val="900"/>
              </a:spcBef>
            </a:pPr>
            <a:r>
              <a:rPr sz="1500">
                <a:latin typeface="Calibri"/>
                <a:cs typeface="Calibri"/>
              </a:rPr>
              <a:t>Project plan inspection checklist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Calibri"/>
                <a:cs typeface="Calibri"/>
              </a:rPr>
              <a:t>Understand the Project Needs</a:t>
            </a:r>
          </a:p>
        </p:txBody>
      </p:sp>
      <p:sp>
        <p:nvSpPr>
          <p:cNvPr id="3" name="Text Placeholder 2"/>
          <p:cNvSpPr>
            <a:spLocks noGrp="1"/>
          </p:cNvSpPr>
          <p:nvPr>
            <p:ph type="body" idx="1"/>
          </p:nvPr>
        </p:nvSpPr>
        <p:spPr>
          <a:xfrm>
            <a:off x="1941910" y="3504847"/>
            <a:ext cx="6686549" cy="645300"/>
          </a:xfrm>
        </p:spPr>
        <p:txBody>
          <a:bodyPr/>
          <a:lstStyle/>
          <a:p>
            <a:r>
              <a:rPr b="1">
                <a:solidFill>
                  <a:srgbClr val="A53010"/>
                </a:solidFill>
                <a:latin typeface="Calibri"/>
                <a:cs typeface="Calibri"/>
              </a:rPr>
              <a:t>Part 1  |  </a:t>
            </a:r>
            <a:r>
              <a:rPr>
                <a:latin typeface="Calibri"/>
                <a:cs typeface="Calibri"/>
              </a:rPr>
              <a:t>Why planning starts from needs, not from urgency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1027B-8348-4DEA-AEC5-780BE04FEDA9}"/>
              </a:ext>
            </a:extLst>
          </p:cNvPr>
          <p:cNvSpPr>
            <a:spLocks noGrp="1"/>
          </p:cNvSpPr>
          <p:nvPr>
            <p:ph type="title"/>
          </p:nvPr>
        </p:nvSpPr>
        <p:spPr>
          <a:xfrm>
            <a:off x="1230117" y="638177"/>
            <a:ext cx="6683765" cy="1280890"/>
          </a:xfrm>
        </p:spPr>
        <p:txBody>
          <a:bodyPr>
            <a:normAutofit/>
          </a:bodyPr>
          <a:lstStyle/>
          <a:p>
            <a:r>
              <a:rPr lang="en-US" dirty="0"/>
              <a:t>Understand the Project Needs</a:t>
            </a:r>
          </a:p>
        </p:txBody>
      </p:sp>
      <p:sp>
        <p:nvSpPr>
          <p:cNvPr id="3" name="Content Placeholder 2">
            <a:extLst>
              <a:ext uri="{FF2B5EF4-FFF2-40B4-BE49-F238E27FC236}">
                <a16:creationId xmlns:a16="http://schemas.microsoft.com/office/drawing/2014/main" id="{004EA01F-0E32-4FD4-9DEF-D3515FBBC284}"/>
              </a:ext>
            </a:extLst>
          </p:cNvPr>
          <p:cNvSpPr>
            <a:spLocks noGrp="1"/>
          </p:cNvSpPr>
          <p:nvPr>
            <p:ph idx="1"/>
          </p:nvPr>
        </p:nvSpPr>
        <p:spPr>
          <a:xfrm>
            <a:off x="1463607" y="1725637"/>
            <a:ext cx="6686550" cy="3777622"/>
          </a:xfrm>
        </p:spPr>
        <p:txBody>
          <a:bodyPr/>
          <a:lstStyle/>
          <a:p>
            <a:r>
              <a:rPr lang="en-US" dirty="0"/>
              <a:t>AN URGENT NEED CAN BE A GOOD MOTIVATOR</a:t>
            </a:r>
          </a:p>
          <a:p>
            <a:endParaRPr lang="en-US" dirty="0"/>
          </a:p>
        </p:txBody>
      </p:sp>
      <p:pic>
        <p:nvPicPr>
          <p:cNvPr id="8" name="Picture 7">
            <a:extLst>
              <a:ext uri="{FF2B5EF4-FFF2-40B4-BE49-F238E27FC236}">
                <a16:creationId xmlns:a16="http://schemas.microsoft.com/office/drawing/2014/main" id="{863CA73F-EAE0-4AC7-B0D4-83B26DA33CFC}"/>
              </a:ext>
            </a:extLst>
          </p:cNvPr>
          <p:cNvPicPr>
            <a:picLocks noChangeAspect="1"/>
          </p:cNvPicPr>
          <p:nvPr/>
        </p:nvPicPr>
        <p:blipFill>
          <a:blip r:embed="rId2"/>
          <a:stretch>
            <a:fillRect/>
          </a:stretch>
        </p:blipFill>
        <p:spPr>
          <a:xfrm>
            <a:off x="5821867" y="1278622"/>
            <a:ext cx="2561780" cy="1280890"/>
          </a:xfrm>
          <a:prstGeom prst="rect">
            <a:avLst/>
          </a:prstGeom>
        </p:spPr>
      </p:pic>
      <p:sp>
        <p:nvSpPr>
          <p:cNvPr id="5" name="TextBox 4">
            <a:extLst>
              <a:ext uri="{FF2B5EF4-FFF2-40B4-BE49-F238E27FC236}">
                <a16:creationId xmlns:a16="http://schemas.microsoft.com/office/drawing/2014/main" id="{25313933-D15B-D383-39FE-E6DD888EE7C5}"/>
              </a:ext>
            </a:extLst>
          </p:cNvPr>
          <p:cNvSpPr txBox="1"/>
          <p:nvPr/>
        </p:nvSpPr>
        <p:spPr>
          <a:xfrm>
            <a:off x="1603717" y="2867327"/>
            <a:ext cx="6076675" cy="2281448"/>
          </a:xfrm>
          <a:prstGeom prst="rect">
            <a:avLst/>
          </a:prstGeom>
          <a:noFill/>
        </p:spPr>
        <p:txBody>
          <a:bodyPr wrap="square">
            <a:spAutoFit/>
          </a:bodyPr>
          <a:lstStyle/>
          <a:p>
            <a:pPr algn="just"/>
            <a:r>
              <a:rPr lang="en-US" sz="2000" dirty="0"/>
              <a:t>But urgency can also be the source of a project’s most difficult problems. Urgency causes people to panic and people will rush into gathering requirements (or, even worse, rush into building the code!) without thoroughly understanding the needs of the people who want the software built.</a:t>
            </a:r>
          </a:p>
        </p:txBody>
      </p:sp>
    </p:spTree>
    <p:extLst>
      <p:ext uri="{BB962C8B-B14F-4D97-AF65-F5344CB8AC3E}">
        <p14:creationId xmlns:p14="http://schemas.microsoft.com/office/powerpoint/2010/main" val="1564622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1027B-8348-4DEA-AEC5-780BE04FEDA9}"/>
              </a:ext>
            </a:extLst>
          </p:cNvPr>
          <p:cNvSpPr>
            <a:spLocks noGrp="1"/>
          </p:cNvSpPr>
          <p:nvPr>
            <p:ph type="title"/>
          </p:nvPr>
        </p:nvSpPr>
        <p:spPr>
          <a:xfrm>
            <a:off x="1231510" y="738555"/>
            <a:ext cx="6683765" cy="1280890"/>
          </a:xfrm>
        </p:spPr>
        <p:txBody>
          <a:bodyPr>
            <a:normAutofit/>
          </a:bodyPr>
          <a:lstStyle/>
          <a:p>
            <a:r>
              <a:rPr lang="en-US" b="1" i="0" u="none" strike="noStrike" baseline="0" dirty="0">
                <a:latin typeface="BaileySansITC-Bold"/>
              </a:rPr>
              <a:t>Understand the Project Needs</a:t>
            </a:r>
            <a:endParaRPr lang="en-US" dirty="0"/>
          </a:p>
        </p:txBody>
      </p:sp>
      <p:sp>
        <p:nvSpPr>
          <p:cNvPr id="3" name="Content Placeholder 2">
            <a:extLst>
              <a:ext uri="{FF2B5EF4-FFF2-40B4-BE49-F238E27FC236}">
                <a16:creationId xmlns:a16="http://schemas.microsoft.com/office/drawing/2014/main" id="{004EA01F-0E32-4FD4-9DEF-D3515FBBC284}"/>
              </a:ext>
            </a:extLst>
          </p:cNvPr>
          <p:cNvSpPr>
            <a:spLocks noGrp="1"/>
          </p:cNvSpPr>
          <p:nvPr>
            <p:ph idx="1"/>
          </p:nvPr>
        </p:nvSpPr>
        <p:spPr>
          <a:xfrm>
            <a:off x="1228725" y="1540188"/>
            <a:ext cx="7507312" cy="4579257"/>
          </a:xfrm>
        </p:spPr>
        <p:txBody>
          <a:bodyPr>
            <a:normAutofit/>
          </a:bodyPr>
          <a:lstStyle/>
          <a:p>
            <a:pPr algn="just"/>
            <a:r>
              <a:rPr lang="en-US" sz="2000" b="0" i="0" u="none" strike="noStrike" baseline="0" dirty="0">
                <a:latin typeface="Meridien-Roman"/>
              </a:rPr>
              <a:t>If a project manager does not really understand the context in which the software is being built, then the only thing that the project team sees is the urgency; they lose track of the needs. </a:t>
            </a:r>
          </a:p>
          <a:p>
            <a:pPr algn="just"/>
            <a:r>
              <a:rPr lang="en-US" sz="2000" b="0" i="0" u="none" strike="noStrike" baseline="0" dirty="0">
                <a:latin typeface="Meridien-Roman"/>
              </a:rPr>
              <a:t>Unless the team understands the needs that drive the project, they may end up with a narrow focus, causing them to waste time addressing problems that are of little importance to the stakeholders.</a:t>
            </a:r>
          </a:p>
          <a:p>
            <a:pPr algn="just"/>
            <a:r>
              <a:rPr lang="en-US" sz="2000" b="0" i="0" u="none" strike="noStrike" baseline="0" dirty="0">
                <a:latin typeface="Meridien-Roman"/>
              </a:rPr>
              <a:t> It’s easy to build great software that solves the wrong problems, but the only way to build the appropriate software is for everyone in the project to understand and agree on both why and how that software will be built before the work begins. </a:t>
            </a:r>
            <a:r>
              <a:rPr lang="en-US" sz="2000" b="1" i="0" u="none" strike="noStrike" baseline="0" dirty="0">
                <a:latin typeface="Meridien-Roman"/>
              </a:rPr>
              <a:t>That’s the purpose of project planning</a:t>
            </a:r>
            <a:r>
              <a:rPr lang="en-US" sz="2000" b="0" i="0" u="none" strike="noStrike" baseline="0" dirty="0">
                <a:latin typeface="Meridien-Roman"/>
              </a:rPr>
              <a:t>.</a:t>
            </a:r>
            <a:endParaRPr lang="en-US" sz="2000" dirty="0"/>
          </a:p>
        </p:txBody>
      </p:sp>
    </p:spTree>
    <p:extLst>
      <p:ext uri="{BB962C8B-B14F-4D97-AF65-F5344CB8AC3E}">
        <p14:creationId xmlns:p14="http://schemas.microsoft.com/office/powerpoint/2010/main" val="263953749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13CC-780D-4C29-B773-3143E056CBD7}"/>
              </a:ext>
            </a:extLst>
          </p:cNvPr>
          <p:cNvSpPr>
            <a:spLocks noGrp="1"/>
          </p:cNvSpPr>
          <p:nvPr>
            <p:ph type="title"/>
          </p:nvPr>
        </p:nvSpPr>
        <p:spPr/>
        <p:txBody>
          <a:bodyPr/>
          <a:lstStyle/>
          <a:p>
            <a:r>
              <a:rPr lang="en-US" b="1" dirty="0">
                <a:latin typeface="BaileySansITC-Bold"/>
              </a:rPr>
              <a:t>Create the Project Plan</a:t>
            </a:r>
            <a:endParaRPr lang="en-US" dirty="0"/>
          </a:p>
        </p:txBody>
      </p:sp>
      <p:sp>
        <p:nvSpPr>
          <p:cNvPr id="3" name="Subtitle 2">
            <a:extLst>
              <a:ext uri="{FF2B5EF4-FFF2-40B4-BE49-F238E27FC236}">
                <a16:creationId xmlns:a16="http://schemas.microsoft.com/office/drawing/2014/main" id="{01A8E1FE-743D-41C3-8323-81D5F7CA07AA}"/>
              </a:ext>
            </a:extLst>
          </p:cNvPr>
          <p:cNvSpPr>
            <a:spLocks noGrp="1"/>
          </p:cNvSpPr>
          <p:nvPr>
            <p:ph type="body" idx="1"/>
          </p:nvPr>
        </p:nvSpPr>
        <p:spPr/>
        <p:txBody>
          <a:bodyPr>
            <a:normAutofit/>
          </a:bodyPr>
          <a:lstStyle/>
          <a:p>
            <a:r>
              <a:rPr lang="en-US" dirty="0"/>
              <a:t>Chapter 2: Applied Software Project Management by </a:t>
            </a:r>
            <a:r>
              <a:rPr lang="en-US" sz="1800" b="0" i="0" u="none" strike="noStrike" baseline="0" dirty="0">
                <a:latin typeface="AkzidenzGroteskBE-Regular"/>
              </a:rPr>
              <a:t>Andrew </a:t>
            </a:r>
            <a:r>
              <a:rPr lang="en-US" sz="1800" b="0" i="0" u="none" strike="noStrike" baseline="0" dirty="0" err="1">
                <a:latin typeface="AkzidenzGroteskBE-Regular"/>
              </a:rPr>
              <a:t>Stellman</a:t>
            </a:r>
            <a:r>
              <a:rPr lang="en-US" dirty="0"/>
              <a:t> </a:t>
            </a:r>
          </a:p>
        </p:txBody>
      </p:sp>
    </p:spTree>
    <p:extLst>
      <p:ext uri="{BB962C8B-B14F-4D97-AF65-F5344CB8AC3E}">
        <p14:creationId xmlns:p14="http://schemas.microsoft.com/office/powerpoint/2010/main" val="1977732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3FAE5-EEBA-4DC4-902E-3F7B7B778292}"/>
              </a:ext>
            </a:extLst>
          </p:cNvPr>
          <p:cNvSpPr>
            <a:spLocks noGrp="1"/>
          </p:cNvSpPr>
          <p:nvPr>
            <p:ph type="title"/>
          </p:nvPr>
        </p:nvSpPr>
        <p:spPr>
          <a:xfrm>
            <a:off x="1257300" y="721451"/>
            <a:ext cx="7886700" cy="994172"/>
          </a:xfrm>
        </p:spPr>
        <p:txBody>
          <a:bodyPr/>
          <a:lstStyle/>
          <a:p>
            <a:r>
              <a:rPr lang="en-US" b="1" dirty="0">
                <a:latin typeface="BaileySansITC-Bold"/>
              </a:rPr>
              <a:t>Create the Project Plan</a:t>
            </a:r>
            <a:endParaRPr lang="en-US" dirty="0"/>
          </a:p>
        </p:txBody>
      </p:sp>
      <p:sp>
        <p:nvSpPr>
          <p:cNvPr id="3" name="Content Placeholder 2">
            <a:extLst>
              <a:ext uri="{FF2B5EF4-FFF2-40B4-BE49-F238E27FC236}">
                <a16:creationId xmlns:a16="http://schemas.microsoft.com/office/drawing/2014/main" id="{1F088C2D-0766-4E6E-A20B-0BFA28F16A87}"/>
              </a:ext>
            </a:extLst>
          </p:cNvPr>
          <p:cNvSpPr>
            <a:spLocks noGrp="1"/>
          </p:cNvSpPr>
          <p:nvPr>
            <p:ph idx="1"/>
          </p:nvPr>
        </p:nvSpPr>
        <p:spPr>
          <a:xfrm>
            <a:off x="719666" y="1715622"/>
            <a:ext cx="8114845" cy="4952463"/>
          </a:xfrm>
        </p:spPr>
        <p:txBody>
          <a:bodyPr>
            <a:normAutofit/>
          </a:bodyPr>
          <a:lstStyle/>
          <a:p>
            <a:pPr algn="just"/>
            <a:r>
              <a:rPr lang="en-US" sz="2000" dirty="0">
                <a:latin typeface="Meridien-Roman"/>
              </a:rPr>
              <a:t>The </a:t>
            </a:r>
            <a:r>
              <a:rPr lang="en-US" sz="2000" b="1" i="1" dirty="0">
                <a:latin typeface="Meridien-Italic"/>
              </a:rPr>
              <a:t>project plan </a:t>
            </a:r>
            <a:r>
              <a:rPr lang="en-US" sz="2000" dirty="0">
                <a:latin typeface="Meridien-Roman"/>
              </a:rPr>
              <a:t>defines the work that will be done on the project and who will do it. A typical project plan consists of:</a:t>
            </a:r>
          </a:p>
          <a:p>
            <a:pPr lvl="1" algn="just"/>
            <a:r>
              <a:rPr lang="en-US" sz="2000" dirty="0">
                <a:latin typeface="Meridien-Roman"/>
              </a:rPr>
              <a:t>A </a:t>
            </a:r>
            <a:r>
              <a:rPr lang="en-US" sz="2000" dirty="0">
                <a:solidFill>
                  <a:schemeClr val="accent1"/>
                </a:solidFill>
                <a:latin typeface="Meridien-Roman"/>
              </a:rPr>
              <a:t>statement of work </a:t>
            </a:r>
            <a:r>
              <a:rPr lang="en-US" sz="2000" dirty="0">
                <a:latin typeface="Meridien-Roman"/>
              </a:rPr>
              <a:t>that describes all work products (specifications, test plans, code, defect reports, and any other product of work performed over the course of the project) that will be produced and a list of people who will perform that work</a:t>
            </a:r>
          </a:p>
          <a:p>
            <a:pPr lvl="1" algn="just"/>
            <a:r>
              <a:rPr lang="en-US" sz="2000" dirty="0">
                <a:latin typeface="Meridien-Roman"/>
              </a:rPr>
              <a:t>A </a:t>
            </a:r>
            <a:r>
              <a:rPr lang="en-US" sz="2000" dirty="0">
                <a:solidFill>
                  <a:schemeClr val="accent2"/>
                </a:solidFill>
                <a:latin typeface="Meridien-Roman"/>
              </a:rPr>
              <a:t>resource list </a:t>
            </a:r>
            <a:r>
              <a:rPr lang="en-US" sz="2000" dirty="0">
                <a:latin typeface="Meridien-Roman"/>
              </a:rPr>
              <a:t>that contains a list of all resources that will be needed for the product, and their availability</a:t>
            </a:r>
          </a:p>
          <a:p>
            <a:pPr lvl="1" algn="just"/>
            <a:r>
              <a:rPr lang="en-US" sz="2000" dirty="0">
                <a:latin typeface="Meridien-Roman"/>
              </a:rPr>
              <a:t>A </a:t>
            </a:r>
            <a:r>
              <a:rPr lang="en-US" sz="2000" dirty="0">
                <a:solidFill>
                  <a:schemeClr val="accent3"/>
                </a:solidFill>
                <a:latin typeface="Meridien-Roman"/>
              </a:rPr>
              <a:t>work breakdown structure </a:t>
            </a:r>
            <a:r>
              <a:rPr lang="en-US" sz="2000" dirty="0">
                <a:latin typeface="Meridien-Roman"/>
              </a:rPr>
              <a:t>and a set of effort estimates </a:t>
            </a:r>
          </a:p>
          <a:p>
            <a:pPr lvl="1" algn="just"/>
            <a:r>
              <a:rPr lang="en-US" sz="2000" dirty="0">
                <a:latin typeface="Meridien-Roman"/>
              </a:rPr>
              <a:t>A </a:t>
            </a:r>
            <a:r>
              <a:rPr lang="en-US" sz="2000" dirty="0">
                <a:solidFill>
                  <a:schemeClr val="accent4"/>
                </a:solidFill>
                <a:latin typeface="Meridien-Roman"/>
              </a:rPr>
              <a:t>project schedule </a:t>
            </a:r>
          </a:p>
          <a:p>
            <a:pPr lvl="1" algn="just"/>
            <a:r>
              <a:rPr lang="en-US" sz="2000" dirty="0">
                <a:latin typeface="Meridien-Roman"/>
              </a:rPr>
              <a:t>A </a:t>
            </a:r>
            <a:r>
              <a:rPr lang="en-US" sz="2000" dirty="0">
                <a:solidFill>
                  <a:schemeClr val="accent5"/>
                </a:solidFill>
                <a:latin typeface="Meridien-Roman"/>
              </a:rPr>
              <a:t>risk plan </a:t>
            </a:r>
            <a:r>
              <a:rPr lang="en-US" sz="2000" dirty="0">
                <a:latin typeface="Meridien-Roman"/>
              </a:rPr>
              <a:t>that identifies any risks that might be encountered and indicates how those risks would be handled, should they occur</a:t>
            </a:r>
            <a:endParaRPr lang="en-US" sz="2000" dirty="0"/>
          </a:p>
        </p:txBody>
      </p:sp>
    </p:spTree>
    <p:extLst>
      <p:ext uri="{BB962C8B-B14F-4D97-AF65-F5344CB8AC3E}">
        <p14:creationId xmlns:p14="http://schemas.microsoft.com/office/powerpoint/2010/main" val="186274444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55B68-BF72-4CD7-8899-45CC43C3DB4D}"/>
              </a:ext>
            </a:extLst>
          </p:cNvPr>
          <p:cNvSpPr>
            <a:spLocks noGrp="1"/>
          </p:cNvSpPr>
          <p:nvPr>
            <p:ph type="title"/>
          </p:nvPr>
        </p:nvSpPr>
        <p:spPr>
          <a:xfrm>
            <a:off x="1230117" y="624110"/>
            <a:ext cx="6683765" cy="1280890"/>
          </a:xfrm>
        </p:spPr>
        <p:txBody>
          <a:bodyPr/>
          <a:lstStyle/>
          <a:p>
            <a:r>
              <a:rPr lang="en-US" b="1" dirty="0"/>
              <a:t>Project Plan - Uses</a:t>
            </a:r>
          </a:p>
        </p:txBody>
      </p:sp>
      <p:sp>
        <p:nvSpPr>
          <p:cNvPr id="3" name="Content Placeholder 2">
            <a:extLst>
              <a:ext uri="{FF2B5EF4-FFF2-40B4-BE49-F238E27FC236}">
                <a16:creationId xmlns:a16="http://schemas.microsoft.com/office/drawing/2014/main" id="{983D6FF2-9AA7-4FB8-B0CF-647869216DE3}"/>
              </a:ext>
            </a:extLst>
          </p:cNvPr>
          <p:cNvSpPr>
            <a:spLocks noGrp="1"/>
          </p:cNvSpPr>
          <p:nvPr>
            <p:ph idx="1"/>
          </p:nvPr>
        </p:nvSpPr>
        <p:spPr>
          <a:xfrm>
            <a:off x="872763" y="1540188"/>
            <a:ext cx="7764799" cy="4693701"/>
          </a:xfrm>
        </p:spPr>
        <p:txBody>
          <a:bodyPr>
            <a:noAutofit/>
          </a:bodyPr>
          <a:lstStyle/>
          <a:p>
            <a:pPr marL="0" indent="0" algn="just">
              <a:buNone/>
            </a:pPr>
            <a:r>
              <a:rPr lang="en-US" sz="2400" b="0" i="0" u="none" strike="noStrike" baseline="0" dirty="0">
                <a:latin typeface="Meridien-Roman"/>
              </a:rPr>
              <a:t>The project plan is used by many people in the organization. </a:t>
            </a:r>
          </a:p>
          <a:p>
            <a:pPr algn="just"/>
            <a:r>
              <a:rPr lang="en-US" sz="2400" b="0" i="0" u="none" strike="noStrike" baseline="0" dirty="0">
                <a:latin typeface="Meridien-Roman"/>
              </a:rPr>
              <a:t>The </a:t>
            </a:r>
            <a:r>
              <a:rPr lang="en-US" sz="2400" b="0" i="0" u="none" strike="noStrike" baseline="0" dirty="0">
                <a:solidFill>
                  <a:schemeClr val="accent5"/>
                </a:solidFill>
                <a:latin typeface="Meridien-Roman"/>
              </a:rPr>
              <a:t>project manager </a:t>
            </a:r>
            <a:r>
              <a:rPr lang="en-US" sz="2400" b="0" i="0" u="none" strike="noStrike" baseline="0" dirty="0">
                <a:latin typeface="Meridien-Roman"/>
              </a:rPr>
              <a:t>uses it to communicate the project’s status to the stakeholders and senior managers, and to plan the team’s activities. </a:t>
            </a:r>
          </a:p>
          <a:p>
            <a:pPr algn="just"/>
            <a:r>
              <a:rPr lang="en-US" sz="2400" b="0" i="0" u="none" strike="noStrike" baseline="0" dirty="0">
                <a:latin typeface="Meridien-Roman"/>
              </a:rPr>
              <a:t>The </a:t>
            </a:r>
            <a:r>
              <a:rPr lang="en-US" sz="2400" b="0" i="0" u="none" strike="noStrike" baseline="0" dirty="0">
                <a:solidFill>
                  <a:schemeClr val="accent4"/>
                </a:solidFill>
                <a:latin typeface="Meridien-Roman"/>
              </a:rPr>
              <a:t>team members </a:t>
            </a:r>
            <a:r>
              <a:rPr lang="en-US" sz="2400" b="0" i="0" u="none" strike="noStrike" baseline="0" dirty="0">
                <a:latin typeface="Meridien-Roman"/>
              </a:rPr>
              <a:t>use it to understand the context for the work they are doing. </a:t>
            </a:r>
          </a:p>
          <a:p>
            <a:pPr algn="just"/>
            <a:r>
              <a:rPr lang="en-US" sz="2400" b="0" i="0" u="none" strike="noStrike" baseline="0" dirty="0">
                <a:latin typeface="Meridien-Roman"/>
              </a:rPr>
              <a:t>The </a:t>
            </a:r>
            <a:r>
              <a:rPr lang="en-US" sz="2400" b="0" i="0" u="none" strike="noStrike" baseline="0" dirty="0">
                <a:solidFill>
                  <a:schemeClr val="accent6"/>
                </a:solidFill>
                <a:latin typeface="Meridien-Roman"/>
              </a:rPr>
              <a:t>senior managers </a:t>
            </a:r>
            <a:r>
              <a:rPr lang="en-US" sz="2400" b="0" i="0" u="none" strike="noStrike" baseline="0" dirty="0">
                <a:latin typeface="Meridien-Roman"/>
              </a:rPr>
              <a:t>use it to verify that the project’s cost and schedule are reasonable and under control, and that the project is being done in an efficient and cost effective manner. </a:t>
            </a:r>
          </a:p>
          <a:p>
            <a:pPr algn="just"/>
            <a:r>
              <a:rPr lang="en-US" sz="2400" b="0" i="0" u="none" strike="noStrike" baseline="0" dirty="0">
                <a:latin typeface="Meridien-Roman"/>
              </a:rPr>
              <a:t>The </a:t>
            </a:r>
            <a:r>
              <a:rPr lang="en-US" sz="2400" b="0" i="0" u="none" strike="noStrike" baseline="0" dirty="0">
                <a:solidFill>
                  <a:schemeClr val="accent2"/>
                </a:solidFill>
                <a:latin typeface="Meridien-Roman"/>
              </a:rPr>
              <a:t>stakeholders</a:t>
            </a:r>
            <a:r>
              <a:rPr lang="en-US" sz="2400" b="0" i="0" u="none" strike="noStrike" baseline="0" dirty="0">
                <a:latin typeface="Meridien-Roman"/>
              </a:rPr>
              <a:t> use it to make sure that the project is on track, and that their needs are being addressed.</a:t>
            </a:r>
            <a:endParaRPr lang="en-US" sz="2400" dirty="0"/>
          </a:p>
        </p:txBody>
      </p:sp>
    </p:spTree>
    <p:extLst>
      <p:ext uri="{BB962C8B-B14F-4D97-AF65-F5344CB8AC3E}">
        <p14:creationId xmlns:p14="http://schemas.microsoft.com/office/powerpoint/2010/main" val="1127526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84BA-CB5D-411C-814C-3AC1DCB2D266}"/>
              </a:ext>
            </a:extLst>
          </p:cNvPr>
          <p:cNvSpPr>
            <a:spLocks noGrp="1"/>
          </p:cNvSpPr>
          <p:nvPr>
            <p:ph type="title"/>
          </p:nvPr>
        </p:nvSpPr>
        <p:spPr>
          <a:xfrm>
            <a:off x="1230117" y="511568"/>
            <a:ext cx="6683765" cy="1280890"/>
          </a:xfrm>
        </p:spPr>
        <p:txBody>
          <a:bodyPr/>
          <a:lstStyle/>
          <a:p>
            <a:r>
              <a:rPr lang="en-US" sz="4000" b="1" i="0" u="none" strike="noStrike" baseline="0" dirty="0">
                <a:latin typeface="BaileySansITC-Bold"/>
              </a:rPr>
              <a:t>Statement of Work</a:t>
            </a:r>
            <a:endParaRPr lang="en-US" dirty="0"/>
          </a:p>
        </p:txBody>
      </p:sp>
      <p:sp>
        <p:nvSpPr>
          <p:cNvPr id="3" name="Content Placeholder 2">
            <a:extLst>
              <a:ext uri="{FF2B5EF4-FFF2-40B4-BE49-F238E27FC236}">
                <a16:creationId xmlns:a16="http://schemas.microsoft.com/office/drawing/2014/main" id="{CD9EA420-DDD9-4E21-91A3-5C93C350C25D}"/>
              </a:ext>
            </a:extLst>
          </p:cNvPr>
          <p:cNvSpPr>
            <a:spLocks noGrp="1"/>
          </p:cNvSpPr>
          <p:nvPr>
            <p:ph idx="1"/>
          </p:nvPr>
        </p:nvSpPr>
        <p:spPr>
          <a:xfrm>
            <a:off x="734634" y="1623645"/>
            <a:ext cx="7674732" cy="4397327"/>
          </a:xfrm>
        </p:spPr>
        <p:txBody>
          <a:bodyPr>
            <a:noAutofit/>
          </a:bodyPr>
          <a:lstStyle/>
          <a:p>
            <a:pPr algn="just"/>
            <a:r>
              <a:rPr lang="en-US" sz="2400" b="0" i="0" u="none" strike="noStrike" baseline="0" dirty="0">
                <a:latin typeface="Meridien-Roman"/>
              </a:rPr>
              <a:t>The first component of the project plan is a </a:t>
            </a:r>
            <a:r>
              <a:rPr lang="en-US" sz="2400" b="0" i="1" u="none" strike="noStrike" baseline="0" dirty="0">
                <a:latin typeface="Meridien-Italic"/>
              </a:rPr>
              <a:t>statement of work </a:t>
            </a:r>
            <a:r>
              <a:rPr lang="en-US" sz="2400" b="0" i="0" u="none" strike="noStrike" baseline="0" dirty="0">
                <a:latin typeface="Meridien-Roman"/>
              </a:rPr>
              <a:t>(SOW). </a:t>
            </a:r>
          </a:p>
          <a:p>
            <a:pPr algn="just"/>
            <a:r>
              <a:rPr lang="en-US" sz="2400" b="0" i="1" u="none" strike="noStrike" baseline="0" dirty="0">
                <a:solidFill>
                  <a:schemeClr val="accent1"/>
                </a:solidFill>
                <a:latin typeface="Meridien-Roman"/>
              </a:rPr>
              <a:t>This is a detailed description of all of the work products that will be created over the course of the project, including who is responsible for creating each work product. </a:t>
            </a:r>
          </a:p>
          <a:p>
            <a:pPr algn="just"/>
            <a:r>
              <a:rPr lang="en-US" sz="2400" b="0" i="0" u="none" strike="noStrike" baseline="0" dirty="0">
                <a:latin typeface="Meridien-Roman"/>
              </a:rPr>
              <a:t>The description of each work product should contain a reference to any tasks in the project schedule in which it is involved. </a:t>
            </a:r>
          </a:p>
          <a:p>
            <a:pPr algn="just"/>
            <a:r>
              <a:rPr lang="en-US" sz="2400" b="0" i="0" u="none" strike="noStrike" baseline="0" dirty="0">
                <a:latin typeface="Meridien-Roman"/>
              </a:rPr>
              <a:t>The vision and scope document is a useful starting point for the SOW.</a:t>
            </a:r>
          </a:p>
        </p:txBody>
      </p:sp>
    </p:spTree>
    <p:extLst>
      <p:ext uri="{BB962C8B-B14F-4D97-AF65-F5344CB8AC3E}">
        <p14:creationId xmlns:p14="http://schemas.microsoft.com/office/powerpoint/2010/main" val="120591236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BEC6-120F-4F6B-9CFC-DB947CADD3D6}"/>
              </a:ext>
            </a:extLst>
          </p:cNvPr>
          <p:cNvSpPr>
            <a:spLocks noGrp="1"/>
          </p:cNvSpPr>
          <p:nvPr>
            <p:ph type="title"/>
          </p:nvPr>
        </p:nvSpPr>
        <p:spPr>
          <a:xfrm>
            <a:off x="1230117" y="610042"/>
            <a:ext cx="7787274" cy="1148420"/>
          </a:xfrm>
        </p:spPr>
        <p:txBody>
          <a:bodyPr>
            <a:normAutofit fontScale="90000"/>
          </a:bodyPr>
          <a:lstStyle/>
          <a:p>
            <a:r>
              <a:rPr lang="en-US" sz="4000" b="1" i="0" u="none" strike="noStrike" baseline="0" dirty="0">
                <a:latin typeface="BaileySansITC-Bold"/>
              </a:rPr>
              <a:t>Statement of Work vs Vision and Scope </a:t>
            </a:r>
            <a:endParaRPr lang="en-US" dirty="0"/>
          </a:p>
        </p:txBody>
      </p:sp>
      <p:sp>
        <p:nvSpPr>
          <p:cNvPr id="3" name="Content Placeholder 2">
            <a:extLst>
              <a:ext uri="{FF2B5EF4-FFF2-40B4-BE49-F238E27FC236}">
                <a16:creationId xmlns:a16="http://schemas.microsoft.com/office/drawing/2014/main" id="{89468219-6414-4820-9457-2A9ED4AB36C4}"/>
              </a:ext>
            </a:extLst>
          </p:cNvPr>
          <p:cNvSpPr>
            <a:spLocks noGrp="1"/>
          </p:cNvSpPr>
          <p:nvPr>
            <p:ph idx="1"/>
          </p:nvPr>
        </p:nvSpPr>
        <p:spPr>
          <a:xfrm>
            <a:off x="1230116" y="1655298"/>
            <a:ext cx="7196431" cy="4592659"/>
          </a:xfrm>
        </p:spPr>
        <p:txBody>
          <a:bodyPr>
            <a:normAutofit/>
          </a:bodyPr>
          <a:lstStyle/>
          <a:p>
            <a:pPr algn="just"/>
            <a:r>
              <a:rPr lang="en-US" sz="2400" b="0" i="0" u="none" strike="noStrike" baseline="0" dirty="0">
                <a:latin typeface="Meridien-Roman"/>
              </a:rPr>
              <a:t>The vision and scope document talks about the rationale for the project (the needs that must be met, the list of users and stakeholders who need it built, etc.)</a:t>
            </a:r>
          </a:p>
          <a:p>
            <a:pPr algn="just"/>
            <a:r>
              <a:rPr lang="en-US" sz="2400" dirty="0">
                <a:latin typeface="Meridien-Roman"/>
              </a:rPr>
              <a:t>T</a:t>
            </a:r>
            <a:r>
              <a:rPr lang="en-US" sz="2400" b="0" i="0" u="none" strike="noStrike" baseline="0" dirty="0">
                <a:latin typeface="Meridien-Roman"/>
              </a:rPr>
              <a:t>he SOW simply contains a detailed list of the work that must be done and all of the work products that will be produced.</a:t>
            </a:r>
            <a:endParaRPr lang="en-US" dirty="0"/>
          </a:p>
          <a:p>
            <a:pPr marL="0" indent="0">
              <a:buNone/>
            </a:pPr>
            <a:endParaRPr lang="en-US" dirty="0"/>
          </a:p>
        </p:txBody>
      </p:sp>
    </p:spTree>
    <p:extLst>
      <p:ext uri="{BB962C8B-B14F-4D97-AF65-F5344CB8AC3E}">
        <p14:creationId xmlns:p14="http://schemas.microsoft.com/office/powerpoint/2010/main" val="3622379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C85D-80BC-4860-BF89-574FE0CDF421}"/>
              </a:ext>
            </a:extLst>
          </p:cNvPr>
          <p:cNvSpPr>
            <a:spLocks noGrp="1"/>
          </p:cNvSpPr>
          <p:nvPr>
            <p:ph type="title"/>
          </p:nvPr>
        </p:nvSpPr>
        <p:spPr>
          <a:xfrm>
            <a:off x="1230117" y="638177"/>
            <a:ext cx="6683765" cy="1280890"/>
          </a:xfrm>
        </p:spPr>
        <p:txBody>
          <a:bodyPr/>
          <a:lstStyle/>
          <a:p>
            <a:r>
              <a:rPr lang="en-US" sz="4000" b="1" i="0" u="none" strike="noStrike" baseline="0" dirty="0">
                <a:latin typeface="BaileySansITC-Bold"/>
              </a:rPr>
              <a:t>Statement of Work - Elements</a:t>
            </a:r>
            <a:endParaRPr lang="en-US" dirty="0"/>
          </a:p>
        </p:txBody>
      </p:sp>
      <p:sp>
        <p:nvSpPr>
          <p:cNvPr id="3" name="Content Placeholder 2">
            <a:extLst>
              <a:ext uri="{FF2B5EF4-FFF2-40B4-BE49-F238E27FC236}">
                <a16:creationId xmlns:a16="http://schemas.microsoft.com/office/drawing/2014/main" id="{18E49765-78A9-4813-8190-EF5AAB5A5197}"/>
              </a:ext>
            </a:extLst>
          </p:cNvPr>
          <p:cNvSpPr>
            <a:spLocks noGrp="1"/>
          </p:cNvSpPr>
          <p:nvPr>
            <p:ph idx="1"/>
          </p:nvPr>
        </p:nvSpPr>
        <p:spPr>
          <a:xfrm>
            <a:off x="897725" y="1701911"/>
            <a:ext cx="7704667" cy="4009571"/>
          </a:xfrm>
        </p:spPr>
        <p:txBody>
          <a:bodyPr>
            <a:normAutofit/>
          </a:bodyPr>
          <a:lstStyle/>
          <a:p>
            <a:pPr algn="just"/>
            <a:r>
              <a:rPr lang="en-US" sz="2000" b="0" i="0" u="none" strike="noStrike" baseline="0" dirty="0">
                <a:latin typeface="Meridien-Roman"/>
              </a:rPr>
              <a:t>The SOW is included as part of the project plan, but it should be a separate document that can stand on its own. It should contain each of the following: </a:t>
            </a:r>
          </a:p>
          <a:p>
            <a:pPr lvl="1" algn="just"/>
            <a:r>
              <a:rPr lang="en-US" sz="2000" b="0" i="0" u="none" strike="noStrike" baseline="0" dirty="0">
                <a:latin typeface="Meridien-Roman"/>
              </a:rPr>
              <a:t>The </a:t>
            </a:r>
            <a:r>
              <a:rPr lang="en-US" sz="2000" b="0" i="0" u="none" strike="noStrike" baseline="0" dirty="0">
                <a:solidFill>
                  <a:schemeClr val="accent2"/>
                </a:solidFill>
                <a:latin typeface="Meridien-Roman"/>
              </a:rPr>
              <a:t>list of features </a:t>
            </a:r>
            <a:r>
              <a:rPr lang="en-US" sz="2000" b="0" i="0" u="none" strike="noStrike" baseline="0" dirty="0">
                <a:latin typeface="Meridien-Roman"/>
              </a:rPr>
              <a:t>being developed. </a:t>
            </a:r>
          </a:p>
          <a:p>
            <a:pPr lvl="1" algn="just"/>
            <a:r>
              <a:rPr lang="en-US" sz="2000" b="0" i="0" u="none" strike="noStrike" baseline="0" dirty="0">
                <a:latin typeface="Meridien-Roman"/>
              </a:rPr>
              <a:t>A </a:t>
            </a:r>
            <a:r>
              <a:rPr lang="en-US" sz="2000" b="0" i="0" u="none" strike="noStrike" baseline="0" dirty="0">
                <a:solidFill>
                  <a:schemeClr val="accent3"/>
                </a:solidFill>
                <a:latin typeface="Meridien-Roman"/>
              </a:rPr>
              <a:t>description of the intermediate deliverable</a:t>
            </a:r>
            <a:r>
              <a:rPr lang="en-US" sz="2000" b="0" i="0" u="none" strike="noStrike" baseline="0" dirty="0">
                <a:latin typeface="Meridien-Roman"/>
              </a:rPr>
              <a:t> or work product that will be built.</a:t>
            </a:r>
          </a:p>
          <a:p>
            <a:pPr lvl="1" algn="just"/>
            <a:r>
              <a:rPr lang="en-US" sz="2000" b="0" i="0" u="none" strike="noStrike" baseline="0" dirty="0">
                <a:latin typeface="Meridien-Roman"/>
              </a:rPr>
              <a:t>The </a:t>
            </a:r>
            <a:r>
              <a:rPr lang="en-US" sz="2000" b="0" i="0" u="none" strike="noStrike" baseline="0" dirty="0">
                <a:solidFill>
                  <a:schemeClr val="accent5"/>
                </a:solidFill>
                <a:latin typeface="Meridien-Roman"/>
              </a:rPr>
              <a:t>estimated effort </a:t>
            </a:r>
            <a:r>
              <a:rPr lang="en-US" sz="2000" b="0" i="0" u="none" strike="noStrike" baseline="0" dirty="0">
                <a:latin typeface="Meridien-Roman"/>
              </a:rPr>
              <a:t>involved for each work product to be delivered </a:t>
            </a:r>
            <a:endParaRPr lang="en-US" sz="2000" dirty="0"/>
          </a:p>
        </p:txBody>
      </p:sp>
    </p:spTree>
    <p:extLst>
      <p:ext uri="{BB962C8B-B14F-4D97-AF65-F5344CB8AC3E}">
        <p14:creationId xmlns:p14="http://schemas.microsoft.com/office/powerpoint/2010/main" val="3361795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625EB-C52B-416D-9433-A69596EDCDB9}"/>
              </a:ext>
            </a:extLst>
          </p:cNvPr>
          <p:cNvSpPr>
            <a:spLocks noGrp="1"/>
          </p:cNvSpPr>
          <p:nvPr>
            <p:ph type="title"/>
          </p:nvPr>
        </p:nvSpPr>
        <p:spPr/>
        <p:txBody>
          <a:bodyPr/>
          <a:lstStyle/>
          <a:p>
            <a:r>
              <a:rPr lang="en-US" sz="4000" b="1" i="0" u="none" strike="noStrike" baseline="0" dirty="0">
                <a:latin typeface="BaileySansITC-Bold"/>
              </a:rPr>
              <a:t>Resource List</a:t>
            </a:r>
            <a:endParaRPr lang="en-US" dirty="0"/>
          </a:p>
        </p:txBody>
      </p:sp>
      <p:sp>
        <p:nvSpPr>
          <p:cNvPr id="3" name="Content Placeholder 2">
            <a:extLst>
              <a:ext uri="{FF2B5EF4-FFF2-40B4-BE49-F238E27FC236}">
                <a16:creationId xmlns:a16="http://schemas.microsoft.com/office/drawing/2014/main" id="{3F4B7A41-08A0-4E23-AF74-6B5D1214D46C}"/>
              </a:ext>
            </a:extLst>
          </p:cNvPr>
          <p:cNvSpPr>
            <a:spLocks noGrp="1"/>
          </p:cNvSpPr>
          <p:nvPr>
            <p:ph idx="1"/>
          </p:nvPr>
        </p:nvSpPr>
        <p:spPr>
          <a:xfrm>
            <a:off x="1435472" y="1540189"/>
            <a:ext cx="6686550" cy="3777622"/>
          </a:xfrm>
        </p:spPr>
        <p:txBody>
          <a:bodyPr>
            <a:normAutofit/>
          </a:bodyPr>
          <a:lstStyle/>
          <a:p>
            <a:pPr algn="just"/>
            <a:r>
              <a:rPr lang="en-US" sz="2400" b="0" i="0" u="none" strike="noStrike" baseline="0" dirty="0">
                <a:latin typeface="Meridien-Roman"/>
              </a:rPr>
              <a:t>The project plan should contain a list of all resources that will be used on the project. </a:t>
            </a:r>
          </a:p>
          <a:p>
            <a:pPr algn="just"/>
            <a:r>
              <a:rPr lang="en-US" sz="2400" b="0" i="0" u="none" strike="noStrike" baseline="0" dirty="0">
                <a:latin typeface="Meridien-Roman"/>
              </a:rPr>
              <a:t>The list should give each </a:t>
            </a:r>
            <a:r>
              <a:rPr lang="en-US" sz="2400" b="0" i="0" u="none" strike="noStrike" baseline="0" dirty="0">
                <a:solidFill>
                  <a:schemeClr val="accent1"/>
                </a:solidFill>
                <a:latin typeface="Meridien-Roman"/>
              </a:rPr>
              <a:t>resource a name</a:t>
            </a:r>
            <a:r>
              <a:rPr lang="en-US" sz="2400" b="0" i="0" u="none" strike="noStrike" baseline="0" dirty="0">
                <a:latin typeface="Meridien-Roman"/>
              </a:rPr>
              <a:t>, a </a:t>
            </a:r>
            <a:r>
              <a:rPr lang="en-US" sz="2400" b="0" i="0" u="none" strike="noStrike" baseline="0" dirty="0">
                <a:solidFill>
                  <a:schemeClr val="accent2"/>
                </a:solidFill>
                <a:latin typeface="Meridien-Roman"/>
              </a:rPr>
              <a:t>brief one-line description</a:t>
            </a:r>
            <a:r>
              <a:rPr lang="en-US" sz="2400" b="0" i="0" u="none" strike="noStrike" baseline="0" dirty="0">
                <a:latin typeface="Meridien-Roman"/>
              </a:rPr>
              <a:t>, and the </a:t>
            </a:r>
            <a:r>
              <a:rPr lang="en-US" sz="2400" b="0" i="0" u="none" strike="noStrike" baseline="0" dirty="0">
                <a:solidFill>
                  <a:schemeClr val="accent3"/>
                </a:solidFill>
                <a:latin typeface="Meridien-Roman"/>
              </a:rPr>
              <a:t>availability and cost </a:t>
            </a:r>
            <a:r>
              <a:rPr lang="en-US" sz="2400" b="0" i="0" u="none" strike="noStrike" baseline="0" dirty="0">
                <a:latin typeface="Meridien-Roman"/>
              </a:rPr>
              <a:t>(if applicable) of the resource. All resources should be handled in the same way, regardless of type.</a:t>
            </a:r>
          </a:p>
          <a:p>
            <a:pPr algn="just"/>
            <a:r>
              <a:rPr lang="en-US" sz="2400" b="0" i="0" u="none" strike="noStrike" baseline="0" dirty="0">
                <a:latin typeface="Meridien-Roman"/>
              </a:rPr>
              <a:t>Most project management software packages provide a feature to maintain a resource list.</a:t>
            </a:r>
          </a:p>
          <a:p>
            <a:pPr algn="just"/>
            <a:endParaRPr lang="en-US" dirty="0"/>
          </a:p>
        </p:txBody>
      </p:sp>
    </p:spTree>
    <p:extLst>
      <p:ext uri="{BB962C8B-B14F-4D97-AF65-F5344CB8AC3E}">
        <p14:creationId xmlns:p14="http://schemas.microsoft.com/office/powerpoint/2010/main" val="119158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4E67-9B0A-494C-82AE-7673123132D3}"/>
              </a:ext>
            </a:extLst>
          </p:cNvPr>
          <p:cNvSpPr>
            <a:spLocks noGrp="1"/>
          </p:cNvSpPr>
          <p:nvPr>
            <p:ph type="title"/>
          </p:nvPr>
        </p:nvSpPr>
        <p:spPr>
          <a:xfrm>
            <a:off x="1230117" y="594360"/>
            <a:ext cx="6683765" cy="1280890"/>
          </a:xfrm>
        </p:spPr>
        <p:txBody>
          <a:bodyPr>
            <a:normAutofit fontScale="90000"/>
          </a:bodyPr>
          <a:lstStyle/>
          <a:p>
            <a:r>
              <a:rPr lang="en-US" sz="4000" b="1" i="0" u="none" strike="noStrike" baseline="0" dirty="0">
                <a:latin typeface="BaileySansITC-Bold"/>
              </a:rPr>
              <a:t>Estimates and Project Schedule</a:t>
            </a:r>
            <a:endParaRPr lang="en-US" dirty="0"/>
          </a:p>
        </p:txBody>
      </p:sp>
      <p:sp>
        <p:nvSpPr>
          <p:cNvPr id="3" name="Content Placeholder 2">
            <a:extLst>
              <a:ext uri="{FF2B5EF4-FFF2-40B4-BE49-F238E27FC236}">
                <a16:creationId xmlns:a16="http://schemas.microsoft.com/office/drawing/2014/main" id="{EED15A93-7DD6-43F8-B1D2-CC0A1965C4D6}"/>
              </a:ext>
            </a:extLst>
          </p:cNvPr>
          <p:cNvSpPr>
            <a:spLocks noGrp="1"/>
          </p:cNvSpPr>
          <p:nvPr>
            <p:ph idx="1"/>
          </p:nvPr>
        </p:nvSpPr>
        <p:spPr>
          <a:xfrm>
            <a:off x="982133" y="2072640"/>
            <a:ext cx="7704667" cy="4191000"/>
          </a:xfrm>
        </p:spPr>
        <p:txBody>
          <a:bodyPr>
            <a:normAutofit/>
          </a:bodyPr>
          <a:lstStyle/>
          <a:p>
            <a:pPr algn="just"/>
            <a:r>
              <a:rPr lang="en-US" sz="2000" b="0" i="0" u="none" strike="noStrike" baseline="0" dirty="0">
                <a:latin typeface="Meridien-Roman"/>
              </a:rPr>
              <a:t>This is usually done in several steps:</a:t>
            </a:r>
          </a:p>
          <a:p>
            <a:pPr lvl="1" algn="just"/>
            <a:r>
              <a:rPr lang="en-US" sz="2000" b="0" i="0" u="none" strike="noStrike" baseline="0" dirty="0">
                <a:latin typeface="Meridien-Roman"/>
              </a:rPr>
              <a:t>A </a:t>
            </a:r>
            <a:r>
              <a:rPr lang="en-US" sz="2000" b="0" i="0" u="none" strike="noStrike" baseline="0" dirty="0">
                <a:solidFill>
                  <a:schemeClr val="accent5"/>
                </a:solidFill>
                <a:latin typeface="Meridien-Roman"/>
              </a:rPr>
              <a:t>work breakdown structure (WBS)</a:t>
            </a:r>
            <a:r>
              <a:rPr lang="en-US" sz="2000" b="0" i="0" u="none" strike="noStrike" baseline="0" dirty="0">
                <a:latin typeface="Meridien-Roman"/>
              </a:rPr>
              <a:t> is defined. This is a list of tasks that, if performed, will generate all of the work products needed to build the software.</a:t>
            </a:r>
          </a:p>
          <a:p>
            <a:pPr lvl="1" algn="just"/>
            <a:r>
              <a:rPr lang="en-US" sz="2000" b="0" i="0" u="none" strike="noStrike" baseline="0" dirty="0">
                <a:latin typeface="Meridien-Roman"/>
              </a:rPr>
              <a:t>An </a:t>
            </a:r>
            <a:r>
              <a:rPr lang="en-US" sz="2000" b="0" i="0" u="none" strike="noStrike" baseline="0" dirty="0">
                <a:solidFill>
                  <a:schemeClr val="accent6"/>
                </a:solidFill>
                <a:latin typeface="Meridien-Roman"/>
              </a:rPr>
              <a:t>estimate of the effort </a:t>
            </a:r>
            <a:r>
              <a:rPr lang="en-US" sz="2000" b="0" i="0" u="none" strike="noStrike" baseline="0" dirty="0">
                <a:latin typeface="Meridien-Roman"/>
              </a:rPr>
              <a:t>required for each task in the WBS is generated.</a:t>
            </a:r>
          </a:p>
          <a:p>
            <a:pPr lvl="1" algn="just"/>
            <a:r>
              <a:rPr lang="en-US" sz="2000" b="0" i="0" u="none" strike="noStrike" baseline="0" dirty="0">
                <a:latin typeface="Meridien-Roman"/>
              </a:rPr>
              <a:t>A </a:t>
            </a:r>
            <a:r>
              <a:rPr lang="en-US" sz="2000" b="0" i="0" u="none" strike="noStrike" baseline="0" dirty="0">
                <a:solidFill>
                  <a:schemeClr val="accent4"/>
                </a:solidFill>
                <a:latin typeface="Meridien-Roman"/>
              </a:rPr>
              <a:t>project schedule </a:t>
            </a:r>
            <a:r>
              <a:rPr lang="en-US" sz="2000" b="0" i="0" u="none" strike="noStrike" baseline="0" dirty="0">
                <a:latin typeface="Meridien-Roman"/>
              </a:rPr>
              <a:t>is created by assigning resources and determining the calendar time required for each task.</a:t>
            </a:r>
          </a:p>
          <a:p>
            <a:pPr algn="just"/>
            <a:r>
              <a:rPr lang="en-US" sz="2000" b="0" i="0" u="none" strike="noStrike" baseline="0" dirty="0">
                <a:latin typeface="Meridien-Roman"/>
              </a:rPr>
              <a:t>The project plan should contain a list of any tasks that are added, changed, or removed, and when those </a:t>
            </a:r>
            <a:r>
              <a:rPr lang="en-US" sz="2000" b="0" i="0" u="none" strike="noStrike" baseline="0" dirty="0">
                <a:solidFill>
                  <a:schemeClr val="accent1"/>
                </a:solidFill>
                <a:latin typeface="Meridien-Roman"/>
              </a:rPr>
              <a:t>changes occurred</a:t>
            </a:r>
            <a:r>
              <a:rPr lang="en-US" sz="2000" b="0" i="0" u="none" strike="noStrike" baseline="0" dirty="0">
                <a:latin typeface="Meridien-Roman"/>
              </a:rPr>
              <a:t>. It should also include estimates and a project schedule, including any revisions that were made during the review meetings. </a:t>
            </a:r>
            <a:endParaRPr lang="en-US" sz="2000" dirty="0"/>
          </a:p>
        </p:txBody>
      </p:sp>
    </p:spTree>
    <p:extLst>
      <p:ext uri="{BB962C8B-B14F-4D97-AF65-F5344CB8AC3E}">
        <p14:creationId xmlns:p14="http://schemas.microsoft.com/office/powerpoint/2010/main" val="3482213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9F9-54C3-4BD2-B91A-2B05FD92B2B0}"/>
              </a:ext>
            </a:extLst>
          </p:cNvPr>
          <p:cNvSpPr>
            <a:spLocks noGrp="1"/>
          </p:cNvSpPr>
          <p:nvPr>
            <p:ph type="title"/>
          </p:nvPr>
        </p:nvSpPr>
        <p:spPr>
          <a:xfrm>
            <a:off x="1339784" y="483433"/>
            <a:ext cx="6683765" cy="1280890"/>
          </a:xfrm>
        </p:spPr>
        <p:txBody>
          <a:bodyPr/>
          <a:lstStyle/>
          <a:p>
            <a:r>
              <a:rPr lang="en-US" sz="4000" b="1" i="0" u="none" strike="noStrike" baseline="0" dirty="0">
                <a:latin typeface="BaileySansITC-Bold"/>
              </a:rPr>
              <a:t>Risk Plan</a:t>
            </a:r>
            <a:endParaRPr lang="en-US" dirty="0"/>
          </a:p>
        </p:txBody>
      </p:sp>
      <p:sp>
        <p:nvSpPr>
          <p:cNvPr id="3" name="Content Placeholder 2">
            <a:extLst>
              <a:ext uri="{FF2B5EF4-FFF2-40B4-BE49-F238E27FC236}">
                <a16:creationId xmlns:a16="http://schemas.microsoft.com/office/drawing/2014/main" id="{8919DC5A-4715-4463-8AC7-1DF772CE27A7}"/>
              </a:ext>
            </a:extLst>
          </p:cNvPr>
          <p:cNvSpPr>
            <a:spLocks noGrp="1"/>
          </p:cNvSpPr>
          <p:nvPr>
            <p:ph idx="1"/>
          </p:nvPr>
        </p:nvSpPr>
        <p:spPr>
          <a:xfrm>
            <a:off x="1013441" y="1540189"/>
            <a:ext cx="7807002" cy="4987220"/>
          </a:xfrm>
        </p:spPr>
        <p:txBody>
          <a:bodyPr>
            <a:noAutofit/>
          </a:bodyPr>
          <a:lstStyle/>
          <a:p>
            <a:pPr algn="ctr"/>
            <a:r>
              <a:rPr lang="en-US" sz="2400" b="0" i="1" u="none" strike="noStrike" baseline="0" dirty="0">
                <a:solidFill>
                  <a:schemeClr val="accent1"/>
                </a:solidFill>
                <a:latin typeface="Meridien-Roman"/>
              </a:rPr>
              <a:t>A </a:t>
            </a:r>
            <a:r>
              <a:rPr lang="en-US" sz="2400" b="1" i="1" u="none" strike="noStrike" baseline="0" dirty="0">
                <a:solidFill>
                  <a:schemeClr val="accent1"/>
                </a:solidFill>
                <a:latin typeface="Meridien-Italic"/>
              </a:rPr>
              <a:t>Risk Plan </a:t>
            </a:r>
            <a:r>
              <a:rPr lang="en-US" sz="2400" b="0" i="1" u="none" strike="noStrike" baseline="0" dirty="0">
                <a:solidFill>
                  <a:schemeClr val="accent1"/>
                </a:solidFill>
                <a:latin typeface="Meridien-Roman"/>
              </a:rPr>
              <a:t>is a list of all risks that threaten the project, along with a plan to mitigate some or all of those risks.</a:t>
            </a:r>
          </a:p>
          <a:p>
            <a:pPr algn="just"/>
            <a:r>
              <a:rPr lang="en-US" sz="2400" b="0" i="0" u="none" strike="noStrike" baseline="0" dirty="0">
                <a:latin typeface="Meridien-Roman"/>
              </a:rPr>
              <a:t>Adding a risk plan to a software project plan is an effective way to keep the project from being derailed by uncertainties.</a:t>
            </a:r>
          </a:p>
          <a:p>
            <a:pPr algn="just"/>
            <a:r>
              <a:rPr lang="en-US" sz="2400" b="0" i="0" u="none" strike="noStrike" baseline="0" dirty="0">
                <a:latin typeface="Meridien-Roman"/>
              </a:rPr>
              <a:t>Risk planning for most projects can be done in one meeting, usually in less than two hours. The meeting is led by the project manager, who should select a team similar</a:t>
            </a:r>
            <a:endParaRPr lang="en-US" sz="2400" dirty="0"/>
          </a:p>
        </p:txBody>
      </p:sp>
    </p:spTree>
    <p:extLst>
      <p:ext uri="{BB962C8B-B14F-4D97-AF65-F5344CB8AC3E}">
        <p14:creationId xmlns:p14="http://schemas.microsoft.com/office/powerpoint/2010/main" val="1979415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5CE3A-9275-4B4D-9E0B-8348BC20A422}"/>
              </a:ext>
            </a:extLst>
          </p:cNvPr>
          <p:cNvSpPr>
            <a:spLocks noGrp="1"/>
          </p:cNvSpPr>
          <p:nvPr>
            <p:ph type="title"/>
          </p:nvPr>
        </p:nvSpPr>
        <p:spPr>
          <a:xfrm>
            <a:off x="1492583" y="413094"/>
            <a:ext cx="6683765" cy="1280890"/>
          </a:xfrm>
        </p:spPr>
        <p:txBody>
          <a:bodyPr/>
          <a:lstStyle/>
          <a:p>
            <a:r>
              <a:rPr lang="en-US" sz="4000" b="1" i="0" u="none" strike="noStrike" baseline="0" dirty="0">
                <a:latin typeface="BaileySansITC-Bold"/>
              </a:rPr>
              <a:t>Risk Plan</a:t>
            </a:r>
            <a:endParaRPr lang="en-US" dirty="0"/>
          </a:p>
        </p:txBody>
      </p:sp>
      <p:sp>
        <p:nvSpPr>
          <p:cNvPr id="3" name="Content Placeholder 2">
            <a:extLst>
              <a:ext uri="{FF2B5EF4-FFF2-40B4-BE49-F238E27FC236}">
                <a16:creationId xmlns:a16="http://schemas.microsoft.com/office/drawing/2014/main" id="{11E77710-1588-4D2C-A733-6A23FAB65840}"/>
              </a:ext>
            </a:extLst>
          </p:cNvPr>
          <p:cNvSpPr>
            <a:spLocks noGrp="1"/>
          </p:cNvSpPr>
          <p:nvPr>
            <p:ph idx="1"/>
          </p:nvPr>
        </p:nvSpPr>
        <p:spPr>
          <a:xfrm>
            <a:off x="982131" y="1693984"/>
            <a:ext cx="7704667" cy="4069080"/>
          </a:xfrm>
        </p:spPr>
        <p:txBody>
          <a:bodyPr>
            <a:noAutofit/>
          </a:bodyPr>
          <a:lstStyle/>
          <a:p>
            <a:r>
              <a:rPr lang="en-US" sz="2400" dirty="0"/>
              <a:t>Three Main activities:</a:t>
            </a:r>
          </a:p>
          <a:p>
            <a:pPr lvl="1"/>
            <a:r>
              <a:rPr lang="en-US" sz="2400" b="1" i="0" u="none" strike="noStrike" baseline="0" dirty="0">
                <a:latin typeface="BaileySansITC-Bold"/>
              </a:rPr>
              <a:t>Brainstorm potential risks</a:t>
            </a:r>
          </a:p>
          <a:p>
            <a:pPr lvl="1"/>
            <a:r>
              <a:rPr lang="en-US" sz="2400" b="1" i="0" u="none" strike="noStrike" baseline="0" dirty="0">
                <a:latin typeface="BaileySansITC-Bold"/>
              </a:rPr>
              <a:t>Estimate the impact of each risk</a:t>
            </a:r>
          </a:p>
          <a:p>
            <a:pPr lvl="2" algn="just"/>
            <a:r>
              <a:rPr lang="en-US" sz="2400" b="0" i="0" u="none" strike="noStrike" baseline="0" dirty="0">
                <a:latin typeface="Meridien-Roman"/>
              </a:rPr>
              <a:t>Estimate two things: a rough estimate of the probability that the risk will occur, and the potential impact of that risk on the project</a:t>
            </a:r>
            <a:endParaRPr lang="en-US" sz="2400" b="1" dirty="0">
              <a:latin typeface="BaileySansITC-Bold"/>
            </a:endParaRPr>
          </a:p>
          <a:p>
            <a:pPr lvl="1"/>
            <a:r>
              <a:rPr lang="en-US" sz="2400" b="1" i="0" u="none" strike="noStrike" baseline="0" dirty="0">
                <a:latin typeface="BaileySansITC-Bold"/>
              </a:rPr>
              <a:t>Make a mitigation plan</a:t>
            </a:r>
          </a:p>
          <a:p>
            <a:pPr lvl="2"/>
            <a:r>
              <a:rPr lang="en-US" sz="2400" b="0" i="0" u="none" strike="noStrike" baseline="0" dirty="0">
                <a:latin typeface="Meridien-Roman"/>
              </a:rPr>
              <a:t>The team can take any or all of these actions to mitigate a risk</a:t>
            </a:r>
            <a:r>
              <a:rPr lang="en-US" sz="2400" b="1" dirty="0">
                <a:latin typeface="BaileySansITC-Bold"/>
              </a:rPr>
              <a:t>: </a:t>
            </a:r>
            <a:r>
              <a:rPr lang="en-US" sz="2400" b="0" i="1" u="none" strike="noStrike" baseline="0" dirty="0">
                <a:latin typeface="Meridien-Italic"/>
              </a:rPr>
              <a:t>Alter the project plan, Add additional tasks or Plan for risks.</a:t>
            </a:r>
            <a:endParaRPr lang="en-US" sz="2400" dirty="0"/>
          </a:p>
        </p:txBody>
      </p:sp>
    </p:spTree>
    <p:extLst>
      <p:ext uri="{BB962C8B-B14F-4D97-AF65-F5344CB8AC3E}">
        <p14:creationId xmlns:p14="http://schemas.microsoft.com/office/powerpoint/2010/main" val="985399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79260-A6C2-4833-B79B-4CFEBA3F92F4}"/>
              </a:ext>
            </a:extLst>
          </p:cNvPr>
          <p:cNvSpPr>
            <a:spLocks noGrp="1"/>
          </p:cNvSpPr>
          <p:nvPr>
            <p:ph type="title"/>
          </p:nvPr>
        </p:nvSpPr>
        <p:spPr>
          <a:xfrm>
            <a:off x="1256441" y="388487"/>
            <a:ext cx="7704667" cy="723899"/>
          </a:xfrm>
        </p:spPr>
        <p:txBody>
          <a:bodyPr>
            <a:normAutofit/>
          </a:bodyPr>
          <a:lstStyle/>
          <a:p>
            <a:r>
              <a:rPr lang="en-US" b="1" u="none" strike="noStrike" baseline="0" dirty="0">
                <a:latin typeface="BaileySansITC-BookItalic"/>
              </a:rPr>
              <a:t>Risk Planning Script</a:t>
            </a:r>
            <a:endParaRPr lang="en-US" b="1" dirty="0"/>
          </a:p>
        </p:txBody>
      </p:sp>
      <p:pic>
        <p:nvPicPr>
          <p:cNvPr id="7" name="Picture 6">
            <a:extLst>
              <a:ext uri="{FF2B5EF4-FFF2-40B4-BE49-F238E27FC236}">
                <a16:creationId xmlns:a16="http://schemas.microsoft.com/office/drawing/2014/main" id="{4050711D-2C61-4F67-BE64-382E1CFE4414}"/>
              </a:ext>
            </a:extLst>
          </p:cNvPr>
          <p:cNvPicPr>
            <a:picLocks noChangeAspect="1"/>
          </p:cNvPicPr>
          <p:nvPr/>
        </p:nvPicPr>
        <p:blipFill>
          <a:blip r:embed="rId2"/>
          <a:stretch>
            <a:fillRect/>
          </a:stretch>
        </p:blipFill>
        <p:spPr>
          <a:xfrm>
            <a:off x="772408" y="1112386"/>
            <a:ext cx="7322234" cy="5640832"/>
          </a:xfrm>
          <a:prstGeom prst="rect">
            <a:avLst/>
          </a:prstGeom>
        </p:spPr>
      </p:pic>
    </p:spTree>
    <p:extLst>
      <p:ext uri="{BB962C8B-B14F-4D97-AF65-F5344CB8AC3E}">
        <p14:creationId xmlns:p14="http://schemas.microsoft.com/office/powerpoint/2010/main" val="2022686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618EA-B0C1-4A69-BC61-36681AE72D02}"/>
              </a:ext>
            </a:extLst>
          </p:cNvPr>
          <p:cNvSpPr>
            <a:spLocks noGrp="1"/>
          </p:cNvSpPr>
          <p:nvPr>
            <p:ph type="title"/>
          </p:nvPr>
        </p:nvSpPr>
        <p:spPr>
          <a:xfrm>
            <a:off x="1197967" y="329558"/>
            <a:ext cx="7704667" cy="1234440"/>
          </a:xfrm>
        </p:spPr>
        <p:txBody>
          <a:bodyPr/>
          <a:lstStyle/>
          <a:p>
            <a:r>
              <a:rPr lang="en-US" b="1" dirty="0"/>
              <a:t>Sample Risk Plan</a:t>
            </a:r>
          </a:p>
        </p:txBody>
      </p:sp>
      <p:sp>
        <p:nvSpPr>
          <p:cNvPr id="3" name="Content Placeholder 2">
            <a:extLst>
              <a:ext uri="{FF2B5EF4-FFF2-40B4-BE49-F238E27FC236}">
                <a16:creationId xmlns:a16="http://schemas.microsoft.com/office/drawing/2014/main" id="{29DA99EB-63FB-47BA-A13F-B1715440F33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CC91AD5-F946-4929-A63B-85F7034D6F0E}"/>
              </a:ext>
            </a:extLst>
          </p:cNvPr>
          <p:cNvPicPr>
            <a:picLocks noChangeAspect="1"/>
          </p:cNvPicPr>
          <p:nvPr/>
        </p:nvPicPr>
        <p:blipFill>
          <a:blip r:embed="rId2"/>
          <a:stretch>
            <a:fillRect/>
          </a:stretch>
        </p:blipFill>
        <p:spPr>
          <a:xfrm>
            <a:off x="643121" y="1175860"/>
            <a:ext cx="8500880" cy="5682139"/>
          </a:xfrm>
          <a:prstGeom prst="rect">
            <a:avLst/>
          </a:prstGeom>
        </p:spPr>
      </p:pic>
    </p:spTree>
    <p:extLst>
      <p:ext uri="{BB962C8B-B14F-4D97-AF65-F5344CB8AC3E}">
        <p14:creationId xmlns:p14="http://schemas.microsoft.com/office/powerpoint/2010/main" val="1618914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5D17-6E72-4216-B7BA-7D0233E449A3}"/>
              </a:ext>
            </a:extLst>
          </p:cNvPr>
          <p:cNvSpPr>
            <a:spLocks noGrp="1"/>
          </p:cNvSpPr>
          <p:nvPr>
            <p:ph type="title"/>
          </p:nvPr>
        </p:nvSpPr>
        <p:spPr>
          <a:xfrm>
            <a:off x="1230117" y="581907"/>
            <a:ext cx="6683765" cy="1280890"/>
          </a:xfrm>
        </p:spPr>
        <p:txBody>
          <a:bodyPr>
            <a:normAutofit/>
          </a:bodyPr>
          <a:lstStyle/>
          <a:p>
            <a:r>
              <a:rPr lang="en-US" b="1" i="0" u="none" strike="noStrike" baseline="0" dirty="0">
                <a:latin typeface="BaileySansITC-Bold"/>
              </a:rPr>
              <a:t>Project Plan Inspection Checklist</a:t>
            </a:r>
            <a:endParaRPr lang="en-US" dirty="0"/>
          </a:p>
        </p:txBody>
      </p:sp>
      <p:sp>
        <p:nvSpPr>
          <p:cNvPr id="3" name="Content Placeholder 2">
            <a:extLst>
              <a:ext uri="{FF2B5EF4-FFF2-40B4-BE49-F238E27FC236}">
                <a16:creationId xmlns:a16="http://schemas.microsoft.com/office/drawing/2014/main" id="{0E84AFFB-D4EB-42AE-BEE2-D6D1DBF31446}"/>
              </a:ext>
            </a:extLst>
          </p:cNvPr>
          <p:cNvSpPr>
            <a:spLocks noGrp="1"/>
          </p:cNvSpPr>
          <p:nvPr>
            <p:ph idx="1"/>
          </p:nvPr>
        </p:nvSpPr>
        <p:spPr>
          <a:xfrm>
            <a:off x="1125983" y="1540188"/>
            <a:ext cx="7511580" cy="4396377"/>
          </a:xfrm>
        </p:spPr>
        <p:txBody>
          <a:bodyPr>
            <a:normAutofit/>
          </a:bodyPr>
          <a:lstStyle/>
          <a:p>
            <a:pPr algn="l"/>
            <a:r>
              <a:rPr lang="en-US" sz="2000" b="0" i="0" u="none" strike="noStrike" baseline="0" dirty="0">
                <a:latin typeface="Meridien-Roman"/>
              </a:rPr>
              <a:t>The project plan should be reviewed using this inspection checklist.</a:t>
            </a:r>
          </a:p>
          <a:p>
            <a:pPr algn="l"/>
            <a:r>
              <a:rPr lang="en-US" sz="2000" b="1" u="none" strike="noStrike" baseline="0" dirty="0">
                <a:latin typeface="Meridien-Italic"/>
              </a:rPr>
              <a:t>Statement of work</a:t>
            </a:r>
          </a:p>
          <a:p>
            <a:pPr lvl="1"/>
            <a:r>
              <a:rPr lang="en-US" sz="2000" b="0" i="0" u="none" strike="noStrike" baseline="0" dirty="0">
                <a:latin typeface="Meridien-Roman"/>
              </a:rPr>
              <a:t>Does the project plan include a statement of work (SOW)?</a:t>
            </a:r>
          </a:p>
          <a:p>
            <a:pPr lvl="1"/>
            <a:r>
              <a:rPr lang="en-US" sz="2000" b="0" i="0" u="none" strike="noStrike" baseline="0" dirty="0">
                <a:latin typeface="Meridien-Roman"/>
              </a:rPr>
              <a:t>Is the SOW complete—does it contain all of the features that will be developed?</a:t>
            </a:r>
          </a:p>
          <a:p>
            <a:pPr lvl="1"/>
            <a:r>
              <a:rPr lang="en-US" sz="2000" b="0" i="0" u="none" strike="noStrike" baseline="0" dirty="0">
                <a:latin typeface="Meridien-Roman"/>
              </a:rPr>
              <a:t>Are all work products represented?</a:t>
            </a:r>
          </a:p>
          <a:p>
            <a:pPr lvl="1"/>
            <a:r>
              <a:rPr lang="en-US" sz="2000" b="0" i="0" u="none" strike="noStrike" baseline="0" dirty="0">
                <a:latin typeface="Meridien-Roman"/>
              </a:rPr>
              <a:t>If estimates are known, have they been included?</a:t>
            </a:r>
            <a:endParaRPr lang="en-US" sz="2000" dirty="0"/>
          </a:p>
        </p:txBody>
      </p:sp>
    </p:spTree>
    <p:extLst>
      <p:ext uri="{BB962C8B-B14F-4D97-AF65-F5344CB8AC3E}">
        <p14:creationId xmlns:p14="http://schemas.microsoft.com/office/powerpoint/2010/main" val="347449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CD23-B32A-4129-B93A-9BE1487A9FD6}"/>
              </a:ext>
            </a:extLst>
          </p:cNvPr>
          <p:cNvSpPr>
            <a:spLocks noGrp="1"/>
          </p:cNvSpPr>
          <p:nvPr>
            <p:ph type="title"/>
          </p:nvPr>
        </p:nvSpPr>
        <p:spPr>
          <a:xfrm>
            <a:off x="1230117" y="567839"/>
            <a:ext cx="6683765" cy="1280890"/>
          </a:xfrm>
        </p:spPr>
        <p:txBody>
          <a:bodyPr/>
          <a:lstStyle/>
          <a:p>
            <a:r>
              <a:rPr lang="en-US" b="1" i="0" u="none" strike="noStrike" baseline="0" dirty="0">
                <a:latin typeface="BaileySansITC-Bold"/>
              </a:rPr>
              <a:t>Project Plan Inspection Checklist</a:t>
            </a:r>
            <a:endParaRPr lang="en-US" dirty="0"/>
          </a:p>
        </p:txBody>
      </p:sp>
      <p:sp>
        <p:nvSpPr>
          <p:cNvPr id="3" name="Content Placeholder 2">
            <a:extLst>
              <a:ext uri="{FF2B5EF4-FFF2-40B4-BE49-F238E27FC236}">
                <a16:creationId xmlns:a16="http://schemas.microsoft.com/office/drawing/2014/main" id="{A47E30D3-B7AF-411F-AF74-D1C14BEF1AD3}"/>
              </a:ext>
            </a:extLst>
          </p:cNvPr>
          <p:cNvSpPr>
            <a:spLocks noGrp="1"/>
          </p:cNvSpPr>
          <p:nvPr>
            <p:ph idx="1"/>
          </p:nvPr>
        </p:nvSpPr>
        <p:spPr>
          <a:xfrm>
            <a:off x="1230116" y="1540189"/>
            <a:ext cx="7294905" cy="4749972"/>
          </a:xfrm>
        </p:spPr>
        <p:txBody>
          <a:bodyPr>
            <a:noAutofit/>
          </a:bodyPr>
          <a:lstStyle/>
          <a:p>
            <a:pPr algn="l"/>
            <a:r>
              <a:rPr lang="en-US" sz="2000" b="1" u="none" strike="noStrike" baseline="0" dirty="0">
                <a:latin typeface="Meridien-Italic"/>
              </a:rPr>
              <a:t>Resources</a:t>
            </a:r>
          </a:p>
          <a:p>
            <a:pPr lvl="1"/>
            <a:r>
              <a:rPr lang="en-US" sz="2000" b="0" i="0" u="none" strike="noStrike" baseline="0" dirty="0">
                <a:latin typeface="Meridien-Roman"/>
              </a:rPr>
              <a:t>Does the project plan include a resource list?</a:t>
            </a:r>
          </a:p>
          <a:p>
            <a:pPr lvl="1"/>
            <a:r>
              <a:rPr lang="en-US" sz="2000" b="0" i="0" u="none" strike="noStrike" baseline="0" dirty="0">
                <a:latin typeface="Meridien-Roman"/>
              </a:rPr>
              <a:t>Does the resource list contain all resources available to the project?</a:t>
            </a:r>
          </a:p>
          <a:p>
            <a:pPr lvl="1"/>
            <a:r>
              <a:rPr lang="en-US" sz="2000" b="0" i="0" u="none" strike="noStrike" baseline="0" dirty="0">
                <a:latin typeface="Meridien-Roman"/>
              </a:rPr>
              <a:t>Are there any resources known to be assigned to other projects at the same time that they are assigned to this one?</a:t>
            </a:r>
          </a:p>
          <a:p>
            <a:pPr lvl="1"/>
            <a:r>
              <a:rPr lang="en-US" sz="2000" b="0" i="0" u="none" strike="noStrike" baseline="0" dirty="0">
                <a:latin typeface="Meridien-Roman"/>
              </a:rPr>
              <a:t>Have dates that the resources are unavailable (scheduled downtime for machines, vacations for people, times that facilities cannot be booked, etc.) been taken into account?</a:t>
            </a:r>
            <a:endParaRPr lang="en-US" sz="2000" dirty="0"/>
          </a:p>
        </p:txBody>
      </p:sp>
    </p:spTree>
    <p:extLst>
      <p:ext uri="{BB962C8B-B14F-4D97-AF65-F5344CB8AC3E}">
        <p14:creationId xmlns:p14="http://schemas.microsoft.com/office/powerpoint/2010/main" val="4105025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4F19-6484-4AD4-87C2-C8974B9070F1}"/>
              </a:ext>
            </a:extLst>
          </p:cNvPr>
          <p:cNvSpPr>
            <a:spLocks noGrp="1"/>
          </p:cNvSpPr>
          <p:nvPr>
            <p:ph type="title"/>
          </p:nvPr>
        </p:nvSpPr>
        <p:spPr>
          <a:xfrm>
            <a:off x="1230117" y="624110"/>
            <a:ext cx="6683765" cy="1280890"/>
          </a:xfrm>
        </p:spPr>
        <p:txBody>
          <a:bodyPr/>
          <a:lstStyle/>
          <a:p>
            <a:r>
              <a:rPr lang="en-US" b="1" i="0" u="none" strike="noStrike" baseline="0" dirty="0">
                <a:latin typeface="BaileySansITC-Bold"/>
              </a:rPr>
              <a:t>Project Plan Inspection Checklist</a:t>
            </a:r>
            <a:endParaRPr lang="en-US" dirty="0"/>
          </a:p>
        </p:txBody>
      </p:sp>
      <p:sp>
        <p:nvSpPr>
          <p:cNvPr id="3" name="Content Placeholder 2">
            <a:extLst>
              <a:ext uri="{FF2B5EF4-FFF2-40B4-BE49-F238E27FC236}">
                <a16:creationId xmlns:a16="http://schemas.microsoft.com/office/drawing/2014/main" id="{B0DDD4E5-E505-4BC0-9C93-3D321C474848}"/>
              </a:ext>
            </a:extLst>
          </p:cNvPr>
          <p:cNvSpPr>
            <a:spLocks noGrp="1"/>
          </p:cNvSpPr>
          <p:nvPr>
            <p:ph idx="1"/>
          </p:nvPr>
        </p:nvSpPr>
        <p:spPr>
          <a:xfrm>
            <a:off x="1027853" y="1575581"/>
            <a:ext cx="7704667" cy="4084320"/>
          </a:xfrm>
        </p:spPr>
        <p:txBody>
          <a:bodyPr>
            <a:noAutofit/>
          </a:bodyPr>
          <a:lstStyle/>
          <a:p>
            <a:pPr algn="l"/>
            <a:r>
              <a:rPr lang="en-US" sz="2000" b="1" u="none" strike="noStrike" baseline="0" dirty="0">
                <a:latin typeface="Meridien-Italic"/>
              </a:rPr>
              <a:t>Project schedule</a:t>
            </a:r>
          </a:p>
          <a:p>
            <a:pPr lvl="1"/>
            <a:r>
              <a:rPr lang="en-US" sz="2000" b="0" i="0" u="none" strike="noStrike" baseline="0" dirty="0">
                <a:latin typeface="Meridien-Roman"/>
              </a:rPr>
              <a:t>Does the project plan include a schedule?</a:t>
            </a:r>
          </a:p>
          <a:p>
            <a:pPr lvl="1"/>
            <a:r>
              <a:rPr lang="en-US" sz="2000" b="0" i="0" u="none" strike="noStrike" baseline="0" dirty="0">
                <a:latin typeface="Meridien-Roman"/>
              </a:rPr>
              <a:t>Are there any tasks that are missing or incorrect?</a:t>
            </a:r>
          </a:p>
          <a:p>
            <a:pPr lvl="1"/>
            <a:r>
              <a:rPr lang="en-US" sz="2000" b="0" i="0" u="none" strike="noStrike" baseline="0" dirty="0">
                <a:latin typeface="Meridien-Roman"/>
              </a:rPr>
              <a:t>If a WBS was generated by a Delphi session, does the project schedule reflect all of the tasks that were identified by the team?</a:t>
            </a:r>
          </a:p>
          <a:p>
            <a:pPr lvl="1"/>
            <a:r>
              <a:rPr lang="en-US" sz="2000" b="0" i="0" u="none" strike="noStrike" baseline="0" dirty="0">
                <a:latin typeface="Meridien-Roman"/>
              </a:rPr>
              <a:t>Does each task have a predecessor?</a:t>
            </a:r>
          </a:p>
          <a:p>
            <a:pPr lvl="1"/>
            <a:r>
              <a:rPr lang="en-US" sz="2000" b="0" i="0" u="none" strike="noStrike" baseline="0" dirty="0">
                <a:latin typeface="Meridien-Roman"/>
              </a:rPr>
              <a:t>Is a resource allocated to each task?</a:t>
            </a:r>
          </a:p>
          <a:p>
            <a:pPr lvl="1"/>
            <a:r>
              <a:rPr lang="en-US" sz="2000" b="0" i="0" u="none" strike="noStrike" baseline="0" dirty="0">
                <a:latin typeface="Meridien-Roman"/>
              </a:rPr>
              <a:t>If multiple resources have been assigned to a single task, has the task’s duration been updated properly to reflect that?</a:t>
            </a:r>
          </a:p>
          <a:p>
            <a:pPr lvl="1"/>
            <a:r>
              <a:rPr lang="en-US" sz="2000" b="0" i="0" u="none" strike="noStrike" baseline="0" dirty="0">
                <a:latin typeface="Meridien-Roman"/>
              </a:rPr>
              <a:t>Is there a more efficient way to allocate resources?</a:t>
            </a:r>
          </a:p>
          <a:p>
            <a:pPr lvl="1"/>
            <a:r>
              <a:rPr lang="en-US" sz="2000" b="0" i="0" u="none" strike="noStrike" baseline="0" dirty="0">
                <a:latin typeface="Meridien-Roman"/>
              </a:rPr>
              <a:t>Does the project schedule contain periodic reviews?</a:t>
            </a:r>
          </a:p>
        </p:txBody>
      </p:sp>
    </p:spTree>
    <p:extLst>
      <p:ext uri="{BB962C8B-B14F-4D97-AF65-F5344CB8AC3E}">
        <p14:creationId xmlns:p14="http://schemas.microsoft.com/office/powerpoint/2010/main" val="4229015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5FBA4-1E56-4E5C-8D64-7AAA0A6D4896}"/>
              </a:ext>
            </a:extLst>
          </p:cNvPr>
          <p:cNvSpPr>
            <a:spLocks noGrp="1"/>
          </p:cNvSpPr>
          <p:nvPr>
            <p:ph type="title"/>
          </p:nvPr>
        </p:nvSpPr>
        <p:spPr>
          <a:xfrm>
            <a:off x="1230117" y="595974"/>
            <a:ext cx="6683765" cy="1280890"/>
          </a:xfrm>
        </p:spPr>
        <p:txBody>
          <a:bodyPr/>
          <a:lstStyle/>
          <a:p>
            <a:r>
              <a:rPr lang="en-US" b="1" i="0" u="none" strike="noStrike" baseline="0" dirty="0">
                <a:latin typeface="BaileySansITC-Bold"/>
              </a:rPr>
              <a:t>Project Plan Inspection Checklist</a:t>
            </a:r>
            <a:endParaRPr lang="en-US" dirty="0"/>
          </a:p>
        </p:txBody>
      </p:sp>
      <p:sp>
        <p:nvSpPr>
          <p:cNvPr id="3" name="Content Placeholder 2">
            <a:extLst>
              <a:ext uri="{FF2B5EF4-FFF2-40B4-BE49-F238E27FC236}">
                <a16:creationId xmlns:a16="http://schemas.microsoft.com/office/drawing/2014/main" id="{366B2589-3DD8-4C88-BA47-42DB33E2DEF3}"/>
              </a:ext>
            </a:extLst>
          </p:cNvPr>
          <p:cNvSpPr>
            <a:spLocks noGrp="1"/>
          </p:cNvSpPr>
          <p:nvPr>
            <p:ph idx="1"/>
          </p:nvPr>
        </p:nvSpPr>
        <p:spPr>
          <a:xfrm>
            <a:off x="1227332" y="1540188"/>
            <a:ext cx="7649382" cy="4721837"/>
          </a:xfrm>
        </p:spPr>
        <p:txBody>
          <a:bodyPr>
            <a:noAutofit/>
          </a:bodyPr>
          <a:lstStyle/>
          <a:p>
            <a:pPr algn="l"/>
            <a:r>
              <a:rPr lang="en-US" sz="2400" b="1" u="none" strike="noStrike" baseline="0" dirty="0">
                <a:latin typeface="Meridien-Italic"/>
              </a:rPr>
              <a:t>Risk plan</a:t>
            </a:r>
          </a:p>
          <a:p>
            <a:pPr lvl="1"/>
            <a:r>
              <a:rPr lang="en-US" sz="2400" b="0" i="0" u="none" strike="noStrike" baseline="0" dirty="0">
                <a:latin typeface="Meridien-Roman"/>
              </a:rPr>
              <a:t>Does the project plan include a risk plan?</a:t>
            </a:r>
          </a:p>
          <a:p>
            <a:pPr lvl="1"/>
            <a:r>
              <a:rPr lang="en-US" sz="2400" b="0" i="0" u="none" strike="noStrike" baseline="0" dirty="0">
                <a:latin typeface="Meridien-Roman"/>
              </a:rPr>
              <a:t>Are there any risks that are not in the plan?</a:t>
            </a:r>
          </a:p>
          <a:p>
            <a:pPr lvl="1"/>
            <a:r>
              <a:rPr lang="en-US" sz="2400" b="0" i="0" u="none" strike="noStrike" baseline="0" dirty="0">
                <a:latin typeface="Meridien-Roman"/>
              </a:rPr>
              <a:t>Are there any assumptions that represent risks that should be included in the plan?</a:t>
            </a:r>
            <a:endParaRPr lang="en-US" sz="2400" dirty="0"/>
          </a:p>
          <a:p>
            <a:pPr lvl="1"/>
            <a:r>
              <a:rPr lang="en-US" sz="2400" b="0" i="0" u="none" strike="noStrike" baseline="0" dirty="0">
                <a:latin typeface="Meridien-Roman"/>
              </a:rPr>
              <a:t>Is each risk prioritized correctly?</a:t>
            </a:r>
          </a:p>
          <a:p>
            <a:pPr lvl="1"/>
            <a:r>
              <a:rPr lang="en-US" sz="2400" b="0" i="0" u="none" strike="noStrike" baseline="0" dirty="0">
                <a:latin typeface="Meridien-Roman"/>
              </a:rPr>
              <a:t>Has the impact of each risk been estimated correctly?</a:t>
            </a:r>
          </a:p>
          <a:p>
            <a:pPr lvl="1"/>
            <a:r>
              <a:rPr lang="en-US" sz="2400" b="0" i="0" u="none" strike="noStrike" baseline="0" dirty="0">
                <a:latin typeface="Meridien-Roman"/>
              </a:rPr>
              <a:t>Have the risks been sufficiently mitigated?</a:t>
            </a:r>
            <a:endParaRPr lang="en-US" sz="2400" dirty="0"/>
          </a:p>
        </p:txBody>
      </p:sp>
    </p:spTree>
    <p:extLst>
      <p:ext uri="{BB962C8B-B14F-4D97-AF65-F5344CB8AC3E}">
        <p14:creationId xmlns:p14="http://schemas.microsoft.com/office/powerpoint/2010/main" val="391631459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docProps/app.xml><?xml version="1.0" encoding="utf-8"?>
<Properties xmlns="http://schemas.openxmlformats.org/officeDocument/2006/extended-properties" xmlns:vt="http://schemas.openxmlformats.org/officeDocument/2006/docPropsVTypes">
  <Template/>
  <TotalTime>633</TotalTime>
  <Words>1590</Words>
  <Application>Microsoft Office PowerPoint</Application>
  <PresentationFormat>On-screen Show (4:3)</PresentationFormat>
  <Paragraphs>111</Paragraphs>
  <Slides>22</Slides>
  <Notes>5</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AkzidenzGroteskBE-Regular</vt:lpstr>
      <vt:lpstr>Arial</vt:lpstr>
      <vt:lpstr>BaileySansITC-Bold</vt:lpstr>
      <vt:lpstr>BaileySansITC-BookItalic</vt:lpstr>
      <vt:lpstr>Calibri</vt:lpstr>
      <vt:lpstr>Century Gothic</vt:lpstr>
      <vt:lpstr>Meridien-Italic</vt:lpstr>
      <vt:lpstr>Meridien-Roman</vt:lpstr>
      <vt:lpstr>Wingdings 3</vt:lpstr>
      <vt:lpstr>Wisp</vt:lpstr>
      <vt:lpstr>Software Project Management Software Project Planning: Creating the Project Plan</vt:lpstr>
      <vt:lpstr>PowerPoint Presentation</vt:lpstr>
      <vt:lpstr>Today’s Agenda</vt:lpstr>
      <vt:lpstr>Understand the Project Needs</vt:lpstr>
      <vt:lpstr>Understand the Project Needs</vt:lpstr>
      <vt:lpstr>Understand the Project Needs</vt:lpstr>
      <vt:lpstr>Create the Project Plan</vt:lpstr>
      <vt:lpstr>Create the Project Plan</vt:lpstr>
      <vt:lpstr>Project Plan - Uses</vt:lpstr>
      <vt:lpstr>Statement of Work</vt:lpstr>
      <vt:lpstr>Statement of Work vs Vision and Scope </vt:lpstr>
      <vt:lpstr>Statement of Work - Elements</vt:lpstr>
      <vt:lpstr>Resource List</vt:lpstr>
      <vt:lpstr>Estimates and Project Schedule</vt:lpstr>
      <vt:lpstr>Risk Plan</vt:lpstr>
      <vt:lpstr>Risk Plan</vt:lpstr>
      <vt:lpstr>Risk Planning Script</vt:lpstr>
      <vt:lpstr>Sample Risk Plan</vt:lpstr>
      <vt:lpstr>Project Plan Inspection Checklist</vt:lpstr>
      <vt:lpstr>Project Plan Inspection Checklist</vt:lpstr>
      <vt:lpstr>Project Plan Inspection Checklist</vt:lpstr>
      <vt:lpstr>Project Plan Inspection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the Project Plan</dc:title>
  <dc:creator>Maham Mehr Awan</dc:creator>
  <cp:lastModifiedBy>Dr Anam Mustaqeem</cp:lastModifiedBy>
  <cp:revision>65</cp:revision>
  <dcterms:created xsi:type="dcterms:W3CDTF">2023-10-28T08:51:20Z</dcterms:created>
  <dcterms:modified xsi:type="dcterms:W3CDTF">2026-10-12T05:57:30Z</dcterms:modified>
</cp:coreProperties>
</file>