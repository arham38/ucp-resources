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110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g.org/mof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MOF, UML, and EMF-based transformations</a:t>
            </a:r>
            <a:r>
              <a:rPr lang="en-US" dirty="0"/>
              <a:t> form the core triad of Model-Driven Engineering (MDE), where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Meta-Object Facility (MOF)</a:t>
            </a:r>
            <a:r>
              <a:rPr lang="en-US" dirty="0"/>
              <a:t> provides the abstract metamodeling standard,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Unified Modeling Language (UML)</a:t>
            </a:r>
            <a:r>
              <a:rPr lang="en-US" dirty="0"/>
              <a:t> acts as a standardized modeling language defined upon it, and the Eclipse Modeling Framework (EMF/</a:t>
            </a:r>
            <a:r>
              <a:rPr lang="en-US" dirty="0" err="1"/>
              <a:t>Ecore</a:t>
            </a:r>
            <a:r>
              <a:rPr lang="en-US" dirty="0"/>
              <a:t>) delivers the practical, widely-used runtime implementation for building, loading, and transforming these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14630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5912" y="3291840"/>
            <a:ext cx="2377440" cy="23774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LECTURES 1–3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Evolution, Maintenance &amp; Reengineering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— course introduction and the core vocabulary of the field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 (3-0), BSSE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431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Saira Latif· Lecturer (SE), FOIT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424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Saira.latif@ucp.edu.pk · Office Hours: 1:00–2:00 PM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60350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Central Punjab · Faculty of Information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LOGISTICS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</a:t>
            </a: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Ground Rules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big class — let's keep it educational and enjoyable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85416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1579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instructor finish before jumping 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569464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54203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for questions — no side conversations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53512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other people's questions; you'll often share them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31012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here — and be here on time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LOGISTICS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Survive This Course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material can sound strange at first — it isn't actually hard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8541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1579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leave everything for exam night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67004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copy homework — work assignments through yourself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18211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Assignments: avoid plagiarism (see policy)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451592" y="3182112"/>
            <a:ext cx="1188720" cy="292608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2160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are unannounced — stay prepared every week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48640" y="4233672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33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42062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enrichment: skim the recent research reading list on slide 7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LEARNING OUTCOMES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concepts, models and processes of software reengineering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451592" y="1645920"/>
            <a:ext cx="1188720" cy="292608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8541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15798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reengineering techniques across the software evolution lifecycle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451592" y="2157984"/>
            <a:ext cx="1188720" cy="292608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6700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maintenance problems in object-oriented systems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451592" y="2670048"/>
            <a:ext cx="1188720" cy="292608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0954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18211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design reengineering and reverse engineering on real systems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451592" y="3182112"/>
            <a:ext cx="1188720" cy="292608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PLO2 (CLO1, CLO2) and PLO3 (CLO3) per the NCEAC course description.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LOGISTICS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Cooperate on Learning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submissions aside, collaborate and help each other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185416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1579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study alone when you don't have to — form study groups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2569464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54203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each other without plagiarizing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295351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to office hours or email with questions, prepared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346557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65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43814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bad question is the one you wanted to ask and didn't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LIST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Books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TEXTS (OFFICIAL COURSE TEXTBOOK &amp; REFERENCE)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02082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L. Parnas &amp; Chris Birchall, Re-engineering Legacy Software, Safari Books, 2016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45973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K.H. Bennett &amp; V.T. Rajlich, Software Maintenance and Evolution: A Roadmap, ACM Press, 2000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3008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READING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106375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Saira Latif, Zaigham Mushtaq, Pragmatic evidence of cross-language link detection: A systematic literature review, Journal of Systems and Software, 2023</a:t>
            </a:r>
          </a:p>
          <a:p>
            <a:pPr marL="0" indent="0">
              <a:buNone/>
            </a:pPr>
            <a:endParaRPr lang="en-US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Priyadarshi Tripathy &amp; Kshirasagar Naik, Software Evolution and Maintenance: A Practitioner's Approach, Wiley, 2015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7240" y="53309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Serge Demeyer, Stéphane Ducasse &amp; Oscar Nierstrasz, Object-Oriented Reengineering Patterns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566013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Seacord, Daniel Plakosh &amp; Grace Lewis, Modernizing Legacy Systems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9469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Mens &amp; Serge Demeyer (eds.), Software Evolution, Springer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LIST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Research — How the Field Has Moved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CORE TEXTS WERE WRITTEN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020824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Assunção, Marchezan, Arkoh, Egyed &amp; Ramler, "Contemporary Software Modernization: Strategies, Driving Forces &amp; Research Opportunities," ACM TOSEM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97312" y="2039112"/>
            <a:ext cx="1143000" cy="256032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75234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Diggs et al., "Leveraging LLMs for Legacy Code Modernization," arXiv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497312" y="2770632"/>
            <a:ext cx="1143000" cy="256032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3191256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Agarwal, Chimalakonda, Krishnan, Kanvar &amp; Shah, "Legacy Software Modernization: Non-AI to Generative AI," ISEC Tutorial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97312" y="3209544"/>
            <a:ext cx="1143000" cy="256032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922776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GAO, Agencies Need to Plan for Modernizing Critical Decades-Old Legacy Systems, GAO-25-107795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97312" y="3941064"/>
            <a:ext cx="1143000" cy="256032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3A10EC-33CE-83F5-976A-108178F41DE9}"/>
              </a:ext>
            </a:extLst>
          </p:cNvPr>
          <p:cNvSpPr txBox="1"/>
          <p:nvPr/>
        </p:nvSpPr>
        <p:spPr>
          <a:xfrm>
            <a:off x="659049" y="4489704"/>
            <a:ext cx="9321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Saira Latif, Zaigham Mushtaq, Pragmatic evidence of cross-language link detection: A systematic literature review, Journal of Systems and Software, 2023</a:t>
            </a: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595D72DB-8993-081F-319E-02D7662CDE86}"/>
              </a:ext>
            </a:extLst>
          </p:cNvPr>
          <p:cNvSpPr/>
          <p:nvPr/>
        </p:nvSpPr>
        <p:spPr>
          <a:xfrm>
            <a:off x="10497312" y="4684853"/>
            <a:ext cx="1143000" cy="256032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Evolution &amp; Maintenance: Basic Concepts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Maintenance: Three Stakeholders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44424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32278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3182112"/>
            <a:ext cx="262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49808" y="3630168"/>
            <a:ext cx="3041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system and wants to deliver it on time and within budget</a:t>
            </a: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67200" y="3063240"/>
            <a:ext cx="344424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1792" y="32278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431792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07280" y="3182112"/>
            <a:ext cx="262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68368" y="3630168"/>
            <a:ext cx="3041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Acquires the system and wants it built quickly and inexpensively.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985760" y="3063240"/>
            <a:ext cx="344424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0352" y="32278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150352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25840" y="3182112"/>
            <a:ext cx="262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6928" y="3630168"/>
            <a:ext cx="3041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with the results of development and maintains it far longer than the build took.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Software Maintenance (IEEE)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“Modification of a software product after delivery, to correct faults, to improve performance or other attributes, or to adapt the product to a modified environment.”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4663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1219-1994 · reaffirmed in IEEE Std 610.12-1994 as the process of modifying a system or component after delivery to correct faults, improve attributes, or adapt to a changed environment.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Maintenance? Four Classic Definitions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0352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13232" y="22219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&amp; McClure (1983)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624328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made to programs after they have been delivered to the customer or user.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26480" y="2057400"/>
            <a:ext cx="530352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22219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(1984)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27648" y="2624328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required to keep a system operational and responsive after it is accepted and in production.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0352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2336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187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Mayrhauser (1990)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4636008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life of a system from installation until it is phased out.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26480" y="4069080"/>
            <a:ext cx="530352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42336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4187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12207 (1995)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27648" y="4636008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of code and documentation due to a problem or need for improvement, preserving integrity.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Common Thread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is an “after-the-fact” activity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85416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157984"/>
            <a:ext cx="1018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sz="2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occurs once the product is in operation — the post-delivery stage</a:t>
            </a:r>
          </a:p>
          <a:p>
            <a:pPr marL="0" lvl="1" indent="0">
              <a:buNone/>
            </a:pP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2569464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54203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sz="2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these definitions, no maintenance happens during predelivery development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in the System Lifecycle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517904" y="1600200"/>
            <a:ext cx="8851392" cy="0"/>
          </a:xfrm>
          <a:prstGeom prst="line">
            <a:avLst/>
          </a:prstGeom>
          <a:noFill/>
          <a:ln w="25400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1344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261872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938528" cy="2926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028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Development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customer requirements, from scratch.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74720" y="1344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61488" y="2112848"/>
            <a:ext cx="1938528" cy="2926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224028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/ Transition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898648" y="288036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moves from developer to operator and maintainer.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687568" y="1344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687568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74336" y="2103120"/>
            <a:ext cx="1938528" cy="2926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1496" y="224028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&amp; Evolution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11496" y="288036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production while it is continuously maintained and evolved.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900416" y="1344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900416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187184" y="2103120"/>
            <a:ext cx="1938528" cy="2926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24344" y="224028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24344" y="288036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changes needed to stay operational are made — no new features.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0113264" y="1344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10113264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00032" y="2103120"/>
            <a:ext cx="1938528" cy="2926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37192" y="224028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Phase-out / Retirement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537192" y="288036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no longer changed and is eventually withdrawn.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Evolution, Servicing &amp; Phase-Out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19"/>
            <a:ext cx="10317156" cy="1136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Evolution: in operational use, changing as new requirements are proposed and implemented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3606239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4203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Servicing: useful but frozen in function — only bug fixes and environment-driven changes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89498" y="3537561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B2430"/>
                </a:solidFill>
                <a:latin typeface="Calibri" pitchFamily="34" charset="0"/>
                <a:cs typeface="Calibri" pitchFamily="34" charset="-120"/>
              </a:rPr>
              <a:t>Phase-out</a:t>
            </a:r>
            <a:r>
              <a:rPr lang="en-US" sz="2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may </a:t>
            </a:r>
            <a:r>
              <a:rPr lang="en-US" sz="2800" dirty="0">
                <a:solidFill>
                  <a:srgbClr val="1B2430"/>
                </a:solidFill>
                <a:latin typeface="Calibri" pitchFamily="34" charset="0"/>
                <a:cs typeface="Calibri" pitchFamily="34" charset="-120"/>
              </a:rPr>
              <a:t>still</a:t>
            </a:r>
            <a:r>
              <a:rPr lang="en-US" sz="2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 used, but no further changes are made to it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Maintenance: Old, Yet Very New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an old activity, but still an actively evolving research area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18541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1579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costs too much today — and continues to grow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67004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half of graduate hires start their careers doing maintenance work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1821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hope industry teaches it; industry hopes universities do — a real gap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of Software Maintenance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seen as difficult, low-prestige, unpopular work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18541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1579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turnover among maintenance staff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67004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under-researched activity relative to new development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1821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very general maintenance models exist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48640" y="372160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69417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expensive activity — commonly cited near 80% of lifecycle cost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Every Product Require Maintenance?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42062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12064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Situation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delivered software product is correct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05857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customer is satisfied and uses it until no longer needed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35040" y="1737360"/>
            <a:ext cx="5120640" cy="42062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737360"/>
            <a:ext cx="5120640" cy="50292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63640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There is no such thing as bug-free software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63640" y="31363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Customers never stay fully satisfied with a delivered system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Maintain, What We Maintain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Maintenance?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13106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562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810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2258568"/>
            <a:ext cx="490118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encountered during operation must be resolved to keep using the product.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303520" cy="13106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8562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1810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to environment changes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27648" y="2258568"/>
            <a:ext cx="490118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hardware, OS or platform changes require the software to keep pace.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276600"/>
            <a:ext cx="5303520" cy="13106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4411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441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395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3843528"/>
            <a:ext cx="490118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organizational needs require adding, removing or changing functionality.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26480" y="3276600"/>
            <a:ext cx="5303520" cy="13106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34411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3441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395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performance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27648" y="3843528"/>
            <a:ext cx="490118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users or load requires the system to run faster.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4861560"/>
            <a:ext cx="5303520" cy="13106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50261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502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49804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 future maintenance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9808" y="5428488"/>
            <a:ext cx="490118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architecture is restructured to remain easy to change.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</a:t>
            </a: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Exactly</a:t>
            </a: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 We Maintain?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specifications — formal specs, DFDs, use cases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18541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1579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specifications — documentation, flowcharts, ER diagrams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67004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the source code itself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1821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artifacts — test specs, results, tooling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48640" y="372160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69417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manuals and operating / failure-response procedures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“Software components, of course” — but maintenance touches every artifact that describes the system, not only its code.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VS. MAINTENANCE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New vs. Changing Existing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 is sometimes easier to sew a new dress than to repair an old one.”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4663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development, you build a completely new system; during maintenance, you change an existing one — with all the constraints that implies.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VS. MAINTENANCE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Activities, Different Constraints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4424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219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76272"/>
            <a:ext cx="262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request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9808" y="2624328"/>
            <a:ext cx="3041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 both — but maintenance requires reading it against the existing system.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67200" y="2057400"/>
            <a:ext cx="344424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1792" y="22219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431792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07280" y="2176272"/>
            <a:ext cx="262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system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68368" y="2624328"/>
            <a:ext cx="3041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Maintenance-specific — development has no existing system to study.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985760" y="2057400"/>
            <a:ext cx="344424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0352" y="22219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150352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25840" y="2176272"/>
            <a:ext cx="262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designs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86928" y="2624328"/>
            <a:ext cx="3041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 both, but maintenance must respect the existing design.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44424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2336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187952"/>
            <a:ext cx="262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proposals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9808" y="4636008"/>
            <a:ext cx="3041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must weigh side effects on other existing components too.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267200" y="4069080"/>
            <a:ext cx="344424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1792" y="42336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431792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07280" y="4187952"/>
            <a:ext cx="262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skills needed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68368" y="4636008"/>
            <a:ext cx="3041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requires system-specific knowledge in addition to implementation skills.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985760" y="4069080"/>
            <a:ext cx="344424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0352" y="42336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150352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25840" y="4187952"/>
            <a:ext cx="262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change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186928" y="4636008"/>
            <a:ext cx="3041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 repeats prior tests to catch newly introduced defects.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Performs Maintenance?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the original developers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185416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1579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system knowledge, no need for elaborate documentation or a formal hand-off channel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56946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54203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a separate maintenance team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05409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Specializes in support work, but depends heavily on documentation quality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Software Reengineering?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REENGINEERING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Reengineering, Seen Through Maintenance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large extent, reengineering is a bundle of maintenance activities: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85416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1579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— predictive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569464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54203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Repairing — corrective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2953512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— perfective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31012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— adaptive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REENGINEERING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Disciplines Reengineering Draws 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13106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562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810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Quality-driven 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2258568"/>
            <a:ext cx="490118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-ilities and other quality attributes.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303520" cy="13106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8562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1810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27648" y="2258568"/>
            <a:ext cx="490118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and non-functional requirements.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276600"/>
            <a:ext cx="5303520" cy="13106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4411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441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395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9808" y="3843528"/>
            <a:ext cx="490118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statecharts, feature views.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26480" y="3276600"/>
            <a:ext cx="5303520" cy="13106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34411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3441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395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Model-driven development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27648" y="3843528"/>
            <a:ext cx="490118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MOF, UML, EMF-based transformation.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48640" y="4861560"/>
            <a:ext cx="5303520" cy="13106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50261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502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49804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&amp; refactoring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9808" y="5428488"/>
            <a:ext cx="490118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Structural/behavioural patterns and code smells.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126480" y="4861560"/>
            <a:ext cx="5303520" cy="13106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91072" y="50261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502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49804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 &amp; paradigms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27648" y="5428488"/>
            <a:ext cx="490118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Trade-offs; OO, goal-, agent- and aspect-oriented views.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REENGINEERING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Reengineering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examination of a subject system to reconstitute it in a new form, and the subsequent implementation of the new form.”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4663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Elliot Chikofsky &amp; James Cross, Reverse Engineering and Design Recovery: A Taxonomy, IEEE Software 7(1):13–17, 1990.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REENGINEERING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Re-engineering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Restructuring or rewriting part or all of a legacy system without changing its functionality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690113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60273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when some, but not all, sub-systems need frequent maintenance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67004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Invests effort to make the system easier to maintain — it may be restructured and re-documented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REENGINEERING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Re-engineer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0352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219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change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49808" y="2624328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changes are mostly confined to one part — reengineer that part.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26480" y="2057400"/>
            <a:ext cx="530352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22219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Obsolescence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27648" y="2624328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or software support becomes obsolete.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0352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2336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187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access needs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9808" y="4636008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ways of accessing the system are needed, but functionality stays the same.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126480" y="4069080"/>
            <a:ext cx="5303520" cy="173736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42336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4187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exists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327648" y="4636008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tool support for the transformation is available.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REENGINEERING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Re-engineering Advantages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42062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12064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Risk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New development carries development, staffing and specification risk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Reengineering starts from a working, understood system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35040" y="1737360"/>
            <a:ext cx="5120640" cy="42062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737360"/>
            <a:ext cx="5120640" cy="50292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Cost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63640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Reengineering is typically far cheaper than a full rebuild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63640" y="3264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Existing tests, data and domain knowledge carry forward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REENGINEERING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Process Re-engineering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with redesigning business processes to be more responsive and efficient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70560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relies on introducing new computer systems to support the revised process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339242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1080" y="32918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force software re-engineering when legacy systems only support the old process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REENGINEERING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Engineering vs. Re-engineering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42062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12064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Engineering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traditional path: high-level, implementation-independent design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...down to a concrete, physical implementation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35040" y="1737360"/>
            <a:ext cx="5120640" cy="42062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737360"/>
            <a:ext cx="51206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Re-engineering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63640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Starts from an existing implementation, not a blank page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63640" y="31821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Recovers abstractions, then forward-engineers a new form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REENGINEERING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Re-engineering Process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517904" y="1600200"/>
            <a:ext cx="8851392" cy="0"/>
          </a:xfrm>
          <a:prstGeom prst="line">
            <a:avLst/>
          </a:prstGeom>
          <a:noFill/>
          <a:ln w="25400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1344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261872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938528" cy="2926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028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08610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design and requirements-level abstractions from the legacy implementation.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474720" y="1344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61488" y="2103120"/>
            <a:ext cx="1938528" cy="2926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224028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Redesign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67228" y="315468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quality, decide what changes and what is preserved in the new design.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687568" y="1344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687568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74336" y="2103120"/>
            <a:ext cx="1938528" cy="2926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1496" y="224028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45786" y="314960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recovered design to meet the new quality goals.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900416" y="1344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900416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187184" y="2103120"/>
            <a:ext cx="1938528" cy="2926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24344" y="224028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Engineer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24344" y="308610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new implementation from the restructured design.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0113264" y="1344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10113264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00032" y="2103120"/>
            <a:ext cx="1938528" cy="2926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37192" y="224028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537192" y="308610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the legacy system's behaviour to confirm equivalence.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REENGINEERING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Re-engineering Cost Factors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the software being re-engineered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18541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1579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support available for the re-engineering work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67004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extent of data conversion required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1821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availability of expert staff for re-engineering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RESEARCH SPOTLIGHT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Reengineering in the Age of LLMs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are now used to summarize, document and translate legacy code (e.g. COBOL → Java)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12196" y="1901444"/>
            <a:ext cx="1188720" cy="292608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29057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approaches speed up program comprehension but still need human validation for correctness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438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99516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Contemporary surveys catalogue modernization drivers, strategies and open research problems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634472" y="3456432"/>
            <a:ext cx="1188720" cy="292608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8171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reverse-engineer → redesign → forward-engineer process (slide 33) still frames these AI-assisted pipelines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Recent Research group on slide 7 for full citations — Diggs et al. 2024; Assunção et al. 2024–25.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RESEARCH SPOTLIGHT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Right Now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2025 U.S. GAO report flags decades-old federal systems still running mission-critical operations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451592" y="1645920"/>
            <a:ext cx="1188720" cy="292608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4736" y="2886964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760" y="28392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put roughly 200 billion lines of COBOL still in active use worldwide, much of it in finance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776473"/>
            <a:ext cx="256032" cy="256032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760" y="368960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>
              <a:buNone/>
            </a:pPr>
            <a:r>
              <a:rPr lang="en-US" sz="2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shrinking pool of engineers who know legacy languages makes reengineering skills increasingly valuable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52170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60" y="438454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course's foundations — maintenance taxonomy, the reengineering process, cost factors — are exactly what today's modernization projects still run on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2397</Words>
  <Application>Microsoft Office PowerPoint</Application>
  <PresentationFormat>Widescreen</PresentationFormat>
  <Paragraphs>389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Saira Latif</cp:lastModifiedBy>
  <cp:revision>30</cp:revision>
  <dcterms:created xsi:type="dcterms:W3CDTF">2026-09-25T07:54:53Z</dcterms:created>
  <dcterms:modified xsi:type="dcterms:W3CDTF">2026-09-27T07:23:07Z</dcterms:modified>
</cp:coreProperties>
</file>