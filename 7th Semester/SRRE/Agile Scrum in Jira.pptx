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80"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B9D34C5-A647-D06F-E0C3-5007AB81A867}">
          <p14:sldIdLst>
            <p14:sldId id="256"/>
            <p14:sldId id="257"/>
            <p14:sldId id="258"/>
            <p14:sldId id="259"/>
          </p14:sldIdLst>
        </p14:section>
        <p14:section name="Scrum framework" id="{B2C642FA-7C7C-76F1-7BE9-F7A1DA2E870D}">
          <p14:sldIdLst>
            <p14:sldId id="260"/>
            <p14:sldId id="261"/>
            <p14:sldId id="262"/>
            <p14:sldId id="263"/>
          </p14:sldIdLst>
        </p14:section>
        <p14:section name="Building the backlog" id="{B7A94C51-2EDB-4D03-5CAB-9CD647D0CB99}">
          <p14:sldIdLst>
            <p14:sldId id="264"/>
            <p14:sldId id="265"/>
            <p14:sldId id="266"/>
            <p14:sldId id="267"/>
            <p14:sldId id="268"/>
            <p14:sldId id="269"/>
            <p14:sldId id="270"/>
            <p14:sldId id="271"/>
            <p14:sldId id="272"/>
          </p14:sldIdLst>
        </p14:section>
        <p14:section name="Case study" id="{11812DCB-0278-F51E-5EFC-39C18B7D747D}">
          <p14:sldIdLst>
            <p14:sldId id="273"/>
            <p14:sldId id="274"/>
            <p14:sldId id="275"/>
            <p14:sldId id="276"/>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3" d="100"/>
          <a:sy n="93" d="100"/>
        </p:scale>
        <p:origin x="274" y="-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5C6B70"/>
                </a:solidFill>
                <a:latin typeface="+mn-lt"/>
              </a:defRPr>
            </a:pPr>
            <a:r>
              <a:rPr lang="en-US" sz="1400" b="0" i="0" u="none" strike="noStrike">
                <a:solidFill>
                  <a:srgbClr val="5C6B70"/>
                </a:solidFill>
                <a:latin typeface="+mn-lt"/>
              </a:rPr>
              <a:t>Story points per epic (stories in brackets)</a:t>
            </a:r>
          </a:p>
        </c:rich>
      </c:tx>
      <c:overlay val="0"/>
    </c:title>
    <c:autoTitleDeleted val="0"/>
    <c:plotArea>
      <c:layout/>
      <c:barChart>
        <c:barDir val="bar"/>
        <c:grouping val="clustered"/>
        <c:varyColors val="0"/>
        <c:ser>
          <c:idx val="0"/>
          <c:order val="0"/>
          <c:tx>
            <c:strRef>
              <c:f>Sheet1!$B$1</c:f>
              <c:strCache>
                <c:ptCount val="1"/>
                <c:pt idx="0">
                  <c:v>Story points</c:v>
                </c:pt>
              </c:strCache>
            </c:strRef>
          </c:tx>
          <c:spPr>
            <a:solidFill>
              <a:srgbClr val="2A9D8F"/>
            </a:solidFill>
            <a:effectLst/>
          </c:spPr>
          <c:invertIfNegative val="0"/>
          <c:dLbls>
            <c:numFmt formatCode="#,##0" sourceLinked="0"/>
            <c:spPr>
              <a:noFill/>
              <a:ln>
                <a:noFill/>
              </a:ln>
              <a:effectLst/>
            </c:spPr>
            <c:txPr>
              <a:bodyPr/>
              <a:lstStyle/>
              <a:p>
                <a:pPr>
                  <a:defRPr sz="1400" b="0" i="0" u="none" strike="noStrike">
                    <a:solidFill>
                      <a:srgbClr val="1B2A2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E1 Accounts &amp; login (4)</c:v>
                </c:pt>
                <c:pt idx="1">
                  <c:v>E2 Result entry (5)</c:v>
                </c:pt>
                <c:pt idx="2">
                  <c:v>E3 Result viewing (4)</c:v>
                </c:pt>
                <c:pt idx="3">
                  <c:v>E4 Transcripts (4)</c:v>
                </c:pt>
                <c:pt idx="4">
                  <c:v>E5 Migration (5)</c:v>
                </c:pt>
                <c:pt idx="5">
                  <c:v>E6 Deploy &amp; NFRs (4)</c:v>
                </c:pt>
              </c:strCache>
            </c:strRef>
          </c:cat>
          <c:val>
            <c:numRef>
              <c:f>Sheet1!$B$2:$B$7</c:f>
              <c:numCache>
                <c:formatCode>General</c:formatCode>
                <c:ptCount val="6"/>
                <c:pt idx="0">
                  <c:v>13</c:v>
                </c:pt>
                <c:pt idx="1">
                  <c:v>18</c:v>
                </c:pt>
                <c:pt idx="2">
                  <c:v>11</c:v>
                </c:pt>
                <c:pt idx="3">
                  <c:v>15</c:v>
                </c:pt>
                <c:pt idx="4">
                  <c:v>21</c:v>
                </c:pt>
                <c:pt idx="5">
                  <c:v>8</c:v>
                </c:pt>
              </c:numCache>
            </c:numRef>
          </c:val>
          <c:extLst>
            <c:ext xmlns:c16="http://schemas.microsoft.com/office/drawing/2014/chart" uri="{C3380CC4-5D6E-409C-BE32-E72D297353CC}">
              <c16:uniqueId val="{00000000-8145-4B3E-A0DA-AE1F8524C9F4}"/>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2A2F"/>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0292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turn Project Goal 1 into practice: how Scrum works, how to write a backlog in Jira, and a worked case study of a team re-engineering the Student Result Management System. By the end, every team should know exactly what their Jira project must contain by Week 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SMART goal aloud and point out each measurable number. Specific: a Scrum backlog for your system. Measurable: 25 stories, 5 sprints, 10 logged events. Achievable on the free Jira plan. Relevant: the backlog drives the Claude Code work. Time-bound: Week 4 and Week 15. The Agile component is 30% of the 10% project weight.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re-engineering, requirements are discovered while reading old code. Waterfall assumes we know everything upfront; the first surprise in the legacy code breaks the plan. Scrum expects surprises: anything we discover becomes a backlog item and is planned in the next sprint. Ask the class: what surprises might hide in a 10-year-old Java Swing app?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Agile Manifesto (2001) does not say the items on the right are worthless. You will still produce UML, ERDs and reports in this course; they simply serve the working software. Ask students which value they think is hardest for a student team.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Scrum is a lightweight framework with a simple shape: three roles, five events and three artifacts. Students should be able to recite 3-5-3 for the quiz.</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PO and SM rotate every sprint, so each student practises both. With five sprints and a team of four or five, everyone plays PO once and SM once. Record the rotation in the sprint goal field in Jira so the instructor can verify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left to right. In our course the daily scrum is replaced by stand-up comments in Jira twice a week: what I did, what I will do, what blocks me. The review is a demo to the instructor; the retrospective is the team talking about its own process. Both must be logged in Jira. Then the loop repeats from planning.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artifact has a commitment that gives it focus. For example, your Product Goal could be: SRMS Version 2.0 live on the web by Week 15. Every sprint needs a one-sentence Sprint Goal, typed into Jira when you start the sprint.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covers the four things every backlog item needs: a well-formed story, acceptance criteria, story points, and the shared Definition of Done.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story uses the same three-part template. The 'so that' part is the one students skip most often, but it is what lets the Product Owner order the backlog by value. A story without a benefit is usually a task in disguise.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INVEST as a quick review checklist during backlog refinement in Week 4. The two most common failures in student backlogs are Small (epics disguised as stories) and Testable (vague quality words). Anything 13 points or more must be split before it enters a sprint.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criteria define when ONE story is finished from the user's point of view. Given sets the context, When is the action, Then is the observable result. Push students to include edge cases: unpublished results, wrong passwords, empty files. These later become their test cases.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measure effort, complexity and uncertainty relative to other stories, never hours. The gaps grow because bigger work is harder to predict. In legacy systems, step 4 of planning poker is where hidden risks come out: the person voting 8 often knows something about the old code the person voting 2 does not.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Velocity only counts Done work, so partially finished stories do not inflate it. Students should never inflate points to look fast; the instructor grades consistency. The Definition of Done comes straight from the course outline's Agile working agreement.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outline says every AI-assisted change is committed under the team's Jira issue. The simplest way is a naming convention: the Jira key at the start of the branch, every commit and the pull request title. Demonstrate the GitHub for Jira app live if lab time allows.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these steps live in the lab with one team's laptop on the projector. Menu names may shift as Atlassian updates the free plan, so show students how to search settings. Step 5 is highlighted because the PO's ordering decision is the heart of Scrum. Close a sprint with Complete sprint; unfinished stories return to the backlog.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calendar from Section C of the outline. The orange diamond is today's milestone: the backlog must be ready at the end of Week 4, before Sprint 1 planning. Point out the assessments each sprint delivers, so students see the backlog is not separate from the re-engineering work; it schedules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study uses the SRMS v1.0 example named in the outline. The team (Ayesha, Bilal, Hamza and Sana) and all numbers are fictional and for illustration only; students should use it as a model, not copy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name the stakeholder who suffers from each v1.0 problem. Students cannot see results; teachers re-enter marks; the IT maintainer cannot change the database. Each pain becomes an epic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interviewed four stakeholders: students, teachers, the exam office and the IT maintainer. Each need became an epic. Highlight that the biggest epic is the maintainer's: migration and the legacy wrapper. In re-engineering, technical debt is not hidden work; it is planned in the backlog.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link between Goal 1 and Goal 2. The story and its criteria become the prompt. Asking Claude Code to plan first and wait for approval keeps students in control, and the commit prefix keeps the work traceable in Jira. Remind students they must be able to explain AI-written code in the final viva.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looks at the product; the retrospective looks at the team. Notice that the review produced a new backlog item (SRE-31) and the retro produced a concrete change in planning (18 points). Both are logged in Jira as a Task called 'Sprint 1 Review &amp; Retro'.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timed in-class exercise. Walk around and check the 'so that' clauses and the unhappy paths. During planning poker, ask the team next door to estimate, so students learn to write stories that strangers can understand.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reading the checklist. This is what will be checked at the end of Week 4 under the 'backlog quality' part of the Agile grade. Remind teams that next class starts Sprint 1 planning, so they must arrive with an ordered backlog.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920240"/>
            <a:ext cx="7498080" cy="146304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3566160"/>
            <a:ext cx="7498080" cy="1280160"/>
          </a:xfrm>
          <a:prstGeom prst="rect">
            <a:avLst/>
          </a:prstGeom>
          <a:noFill/>
          <a:ln/>
        </p:spPr>
        <p:txBody>
          <a:bodyPr wrap="square" rtlCol="0"/>
          <a:lstStyle>
            <a:lvl1pPr marL="0" indent="0">
              <a:buNone/>
              <a:defRPr lang="en-US" sz="2000" dirty="0">
                <a:solidFill>
                  <a:schemeClr val="accent5"/>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6858000" cy="548640"/>
          </a:xfrm>
          <a:prstGeom prst="rect">
            <a:avLst/>
          </a:prstGeom>
          <a:noFill/>
          <a:ln/>
        </p:spPr>
        <p:txBody>
          <a:bodyPr wrap="square" rtlCol="0"/>
          <a:lstStyle>
            <a:lvl1pPr marL="0" indent="0">
              <a:buNone/>
              <a:defRPr lang="en-US" sz="1800" b="1" dirty="0">
                <a:solidFill>
                  <a:schemeClr val="accent4"/>
                </a:solidFill>
              </a:defRPr>
            </a:lvl1pPr>
          </a:lstStyle>
          <a:p>
            <a:pPr marL="0" indent="0">
              <a:buNone/>
            </a:pPr>
            <a:endParaRPr lang="en-US" sz="1800" dirty="0"/>
          </a:p>
        </p:txBody>
      </p:sp>
      <p:sp>
        <p:nvSpPr>
          <p:cNvPr id="3" name="Text 0"/>
          <p:cNvSpPr>
            <a:spLocks noGrp="1"/>
          </p:cNvSpPr>
          <p:nvPr>
            <p:ph type="title" idx="101" hasCustomPrompt="1"/>
          </p:nvPr>
        </p:nvSpPr>
        <p:spPr>
          <a:xfrm>
            <a:off x="731520" y="2377440"/>
            <a:ext cx="6858000" cy="14630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marL="0" indent="0">
              <a:buNone/>
            </a:pPr>
            <a:r>
              <a:rPr lang="en-US" sz="1000" dirty="0">
                <a:solidFill>
                  <a:schemeClr val="accent6"/>
                </a:solidFill>
              </a:rPr>
              <a:t>SESE4143 Software Re-engineering  ·  Milestone 1: Agile Scrum in Jira</a:t>
            </a:r>
            <a:endParaRPr lang="en-US" sz="1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920240"/>
            <a:ext cx="7498080" cy="1463040"/>
          </a:xfrm>
          <a:prstGeom prst="rect">
            <a:avLst/>
          </a:prstGeom>
          <a:noFill/>
          <a:ln/>
        </p:spPr>
        <p:txBody>
          <a:bodyPr wrap="square" lIns="0" tIns="0" rIns="0" bIns="0" rtlCol="0" anchor="b"/>
          <a:lstStyle/>
          <a:p>
            <a:pPr marL="0" indent="0" algn="l">
              <a:buNone/>
            </a:pPr>
            <a:r>
              <a:rPr lang="en-US" sz="4800" b="1" dirty="0">
                <a:solidFill>
                  <a:schemeClr val="bg1"/>
                </a:solidFill>
              </a:rPr>
              <a:t>Agile Scrum in Jira</a:t>
            </a:r>
            <a:endParaRPr lang="en-US" sz="4800" dirty="0"/>
          </a:p>
        </p:txBody>
      </p:sp>
      <p:sp>
        <p:nvSpPr>
          <p:cNvPr id="3" name="Text 0"/>
          <p:cNvSpPr>
            <a:spLocks noGrp="1"/>
          </p:cNvSpPr>
          <p:nvPr>
            <p:ph type="body" idx="101" hasCustomPrompt="1"/>
          </p:nvPr>
        </p:nvSpPr>
        <p:spPr>
          <a:xfrm>
            <a:off x="731520" y="3566160"/>
            <a:ext cx="7498080" cy="1280160"/>
          </a:xfrm>
          <a:prstGeom prst="rect">
            <a:avLst/>
          </a:prstGeom>
          <a:noFill/>
          <a:ln/>
        </p:spPr>
        <p:txBody>
          <a:bodyPr wrap="square" lIns="0" tIns="0" rIns="0" bIns="0" rtlCol="0" anchor="t"/>
          <a:lstStyle/>
          <a:p>
            <a:pPr marL="0" indent="0">
              <a:buNone/>
            </a:pPr>
            <a:r>
              <a:rPr lang="en-US" sz="2000" dirty="0">
                <a:solidFill>
                  <a:schemeClr val="accent5"/>
                </a:solidFill>
              </a:rPr>
              <a:t>Milestone 1  ·  SESE4143 Software Re-engineering</a:t>
            </a:r>
            <a:endParaRPr lang="en-US" sz="2000" dirty="0"/>
          </a:p>
          <a:p>
            <a:pPr marL="0" indent="0">
              <a:buNone/>
            </a:pPr>
            <a:r>
              <a:rPr lang="en-US" sz="2000" dirty="0">
                <a:solidFill>
                  <a:schemeClr val="accent5"/>
                </a:solidFill>
              </a:rPr>
              <a:t>Taimoor Hassan  ·  University of Central Punjab</a:t>
            </a:r>
            <a:endParaRPr lang="en-US" sz="2000" dirty="0"/>
          </a:p>
        </p:txBody>
      </p:sp>
      <p:sp>
        <p:nvSpPr>
          <p:cNvPr id="4" name="icon-bg-FaSyncAlt"/>
          <p:cNvSpPr/>
          <p:nvPr/>
        </p:nvSpPr>
        <p:spPr>
          <a:xfrm>
            <a:off x="9052560" y="2103120"/>
            <a:ext cx="2377440" cy="2377440"/>
          </a:xfrm>
          <a:prstGeom prst="ellipse">
            <a:avLst/>
          </a:prstGeom>
          <a:solidFill>
            <a:schemeClr val="accent1"/>
          </a:solidFill>
          <a:ln/>
        </p:spPr>
      </p:sp>
      <p:pic>
        <p:nvPicPr>
          <p:cNvPr id="5" name="Image 0" descr="SyncAlt icon"/>
          <p:cNvPicPr>
            <a:picLocks noChangeAspect="1"/>
          </p:cNvPicPr>
          <p:nvPr/>
        </p:nvPicPr>
        <p:blipFill>
          <a:blip r:embed="rId3"/>
          <a:stretch>
            <a:fillRect/>
          </a:stretch>
        </p:blipFill>
        <p:spPr>
          <a:xfrm>
            <a:off x="9623146" y="2673706"/>
            <a:ext cx="1236269" cy="1236269"/>
          </a:xfrm>
          <a:prstGeom prst="rect">
            <a:avLst/>
          </a:prstGeom>
        </p:spPr>
      </p:pic>
      <p:sp>
        <p:nvSpPr>
          <p:cNvPr id="6" name="Text 3"/>
          <p:cNvSpPr txBox="1"/>
          <p:nvPr/>
        </p:nvSpPr>
        <p:spPr>
          <a:xfrm>
            <a:off x="8595360" y="4663440"/>
            <a:ext cx="3291840" cy="365760"/>
          </a:xfrm>
          <a:prstGeom prst="rect">
            <a:avLst/>
          </a:prstGeom>
          <a:noFill/>
          <a:ln/>
        </p:spPr>
        <p:txBody>
          <a:bodyPr wrap="square" lIns="0" tIns="0" rIns="0" bIns="0" rtlCol="0" anchor="t"/>
          <a:lstStyle/>
          <a:p>
            <a:pPr marL="0" indent="0" algn="ctr">
              <a:buNone/>
            </a:pPr>
            <a:r>
              <a:rPr lang="en-US" sz="1400" dirty="0">
                <a:solidFill>
                  <a:schemeClr val="accent5"/>
                </a:solidFill>
              </a:rPr>
              <a:t>Plan · Build · Review · Improve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Milestone 1 at a glance</a:t>
            </a:r>
            <a:endParaRPr lang="en-US" sz="3600" dirty="0"/>
          </a:p>
        </p:txBody>
      </p:sp>
      <p:sp>
        <p:nvSpPr>
          <p:cNvPr id="3" name="stat-0"/>
          <p:cNvSpPr/>
          <p:nvPr/>
        </p:nvSpPr>
        <p:spPr>
          <a:xfrm>
            <a:off x="548640" y="1463040"/>
            <a:ext cx="2567178" cy="2743200"/>
          </a:xfrm>
          <a:prstGeom prst="roundRect">
            <a:avLst>
              <a:gd name="adj" fmla="val 4274"/>
            </a:avLst>
          </a:prstGeom>
          <a:solidFill>
            <a:schemeClr val="bg2"/>
          </a:solidFill>
          <a:ln/>
        </p:spPr>
      </p:sp>
      <p:sp>
        <p:nvSpPr>
          <p:cNvPr id="4" name="Text 2"/>
          <p:cNvSpPr txBox="1"/>
          <p:nvPr/>
        </p:nvSpPr>
        <p:spPr>
          <a:xfrm>
            <a:off x="822960" y="1783080"/>
            <a:ext cx="2018538" cy="1097280"/>
          </a:xfrm>
          <a:prstGeom prst="rect">
            <a:avLst/>
          </a:prstGeom>
          <a:noFill/>
          <a:ln/>
        </p:spPr>
        <p:txBody>
          <a:bodyPr wrap="square" lIns="0" tIns="0" rIns="0" bIns="0" rtlCol="0" anchor="t"/>
          <a:lstStyle/>
          <a:p>
            <a:pPr marL="0" indent="0">
              <a:buNone/>
            </a:pPr>
            <a:r>
              <a:rPr lang="en-US" sz="6000" b="1" dirty="0">
                <a:solidFill>
                  <a:schemeClr val="accent1"/>
                </a:solidFill>
                <a:latin typeface="Cambria" pitchFamily="34" charset="0"/>
                <a:ea typeface="Cambria" pitchFamily="34" charset="-122"/>
                <a:cs typeface="Cambria" pitchFamily="34" charset="-120"/>
              </a:rPr>
              <a:t>25+</a:t>
            </a:r>
            <a:endParaRPr lang="en-US" sz="6000" dirty="0"/>
          </a:p>
        </p:txBody>
      </p:sp>
      <p:sp>
        <p:nvSpPr>
          <p:cNvPr id="5" name="Text 3"/>
          <p:cNvSpPr txBox="1"/>
          <p:nvPr/>
        </p:nvSpPr>
        <p:spPr>
          <a:xfrm>
            <a:off x="822960" y="3017520"/>
            <a:ext cx="2018538" cy="1188720"/>
          </a:xfrm>
          <a:prstGeom prst="rect">
            <a:avLst/>
          </a:prstGeom>
          <a:noFill/>
          <a:ln/>
        </p:spPr>
        <p:txBody>
          <a:bodyPr wrap="square" lIns="0" tIns="0" rIns="0" bIns="0" rtlCol="0" anchor="t"/>
          <a:lstStyle/>
          <a:p>
            <a:pPr marL="0" indent="0">
              <a:buNone/>
            </a:pPr>
            <a:r>
              <a:rPr lang="en-US" sz="1600" dirty="0">
                <a:solidFill>
                  <a:schemeClr val="tx1"/>
                </a:solidFill>
              </a:rPr>
              <a:t>user stories with criteria and points, by Week 4</a:t>
            </a:r>
            <a:endParaRPr lang="en-US" sz="1600" dirty="0"/>
          </a:p>
        </p:txBody>
      </p:sp>
      <p:sp>
        <p:nvSpPr>
          <p:cNvPr id="6" name="stat-1"/>
          <p:cNvSpPr/>
          <p:nvPr/>
        </p:nvSpPr>
        <p:spPr>
          <a:xfrm>
            <a:off x="3390138" y="1463040"/>
            <a:ext cx="2567178" cy="2743200"/>
          </a:xfrm>
          <a:prstGeom prst="roundRect">
            <a:avLst>
              <a:gd name="adj" fmla="val 4274"/>
            </a:avLst>
          </a:prstGeom>
          <a:solidFill>
            <a:schemeClr val="bg2"/>
          </a:solidFill>
          <a:ln/>
        </p:spPr>
      </p:sp>
      <p:sp>
        <p:nvSpPr>
          <p:cNvPr id="7" name="Text 5"/>
          <p:cNvSpPr txBox="1"/>
          <p:nvPr/>
        </p:nvSpPr>
        <p:spPr>
          <a:xfrm>
            <a:off x="3664458" y="1783080"/>
            <a:ext cx="2018538" cy="1097280"/>
          </a:xfrm>
          <a:prstGeom prst="rect">
            <a:avLst/>
          </a:prstGeom>
          <a:noFill/>
          <a:ln/>
        </p:spPr>
        <p:txBody>
          <a:bodyPr wrap="square" lIns="0" tIns="0" rIns="0" bIns="0" rtlCol="0" anchor="t"/>
          <a:lstStyle/>
          <a:p>
            <a:pPr marL="0" indent="0">
              <a:buNone/>
            </a:pPr>
            <a:r>
              <a:rPr lang="en-US" sz="6000" b="1" dirty="0">
                <a:solidFill>
                  <a:schemeClr val="tx2"/>
                </a:solidFill>
                <a:latin typeface="Cambria" pitchFamily="34" charset="0"/>
                <a:ea typeface="Cambria" pitchFamily="34" charset="-122"/>
                <a:cs typeface="Cambria" pitchFamily="34" charset="-120"/>
              </a:rPr>
              <a:t>5</a:t>
            </a:r>
            <a:endParaRPr lang="en-US" sz="6000" dirty="0"/>
          </a:p>
        </p:txBody>
      </p:sp>
      <p:sp>
        <p:nvSpPr>
          <p:cNvPr id="8" name="Text 6"/>
          <p:cNvSpPr txBox="1"/>
          <p:nvPr/>
        </p:nvSpPr>
        <p:spPr>
          <a:xfrm>
            <a:off x="3664458" y="3017520"/>
            <a:ext cx="2018538" cy="1188720"/>
          </a:xfrm>
          <a:prstGeom prst="rect">
            <a:avLst/>
          </a:prstGeom>
          <a:noFill/>
          <a:ln/>
        </p:spPr>
        <p:txBody>
          <a:bodyPr wrap="square" lIns="0" tIns="0" rIns="0" bIns="0" rtlCol="0" anchor="t"/>
          <a:lstStyle/>
          <a:p>
            <a:pPr marL="0" indent="0">
              <a:buNone/>
            </a:pPr>
            <a:r>
              <a:rPr lang="en-US" sz="1600" dirty="0">
                <a:solidFill>
                  <a:schemeClr val="tx1"/>
                </a:solidFill>
              </a:rPr>
              <a:t>two-week sprints, Weeks 5 to 15</a:t>
            </a:r>
            <a:endParaRPr lang="en-US" sz="1600" dirty="0"/>
          </a:p>
        </p:txBody>
      </p:sp>
      <p:sp>
        <p:nvSpPr>
          <p:cNvPr id="9" name="stat-2"/>
          <p:cNvSpPr/>
          <p:nvPr/>
        </p:nvSpPr>
        <p:spPr>
          <a:xfrm>
            <a:off x="6231636" y="1463040"/>
            <a:ext cx="2567178" cy="2743200"/>
          </a:xfrm>
          <a:prstGeom prst="roundRect">
            <a:avLst>
              <a:gd name="adj" fmla="val 4274"/>
            </a:avLst>
          </a:prstGeom>
          <a:solidFill>
            <a:schemeClr val="bg2"/>
          </a:solidFill>
          <a:ln/>
        </p:spPr>
      </p:sp>
      <p:sp>
        <p:nvSpPr>
          <p:cNvPr id="10" name="Text 8"/>
          <p:cNvSpPr txBox="1"/>
          <p:nvPr/>
        </p:nvSpPr>
        <p:spPr>
          <a:xfrm>
            <a:off x="6505956" y="1783080"/>
            <a:ext cx="2018538" cy="1097280"/>
          </a:xfrm>
          <a:prstGeom prst="rect">
            <a:avLst/>
          </a:prstGeom>
          <a:noFill/>
          <a:ln/>
        </p:spPr>
        <p:txBody>
          <a:bodyPr wrap="square" lIns="0" tIns="0" rIns="0" bIns="0" rtlCol="0" anchor="t"/>
          <a:lstStyle/>
          <a:p>
            <a:pPr marL="0" indent="0">
              <a:buNone/>
            </a:pPr>
            <a:r>
              <a:rPr lang="en-US" sz="6000" b="1" dirty="0">
                <a:solidFill>
                  <a:schemeClr val="tx2"/>
                </a:solidFill>
                <a:latin typeface="Cambria" pitchFamily="34" charset="0"/>
                <a:ea typeface="Cambria" pitchFamily="34" charset="-122"/>
                <a:cs typeface="Cambria" pitchFamily="34" charset="-120"/>
              </a:rPr>
              <a:t>10</a:t>
            </a:r>
            <a:endParaRPr lang="en-US" sz="6000" dirty="0"/>
          </a:p>
        </p:txBody>
      </p:sp>
      <p:sp>
        <p:nvSpPr>
          <p:cNvPr id="11" name="Text 9"/>
          <p:cNvSpPr txBox="1"/>
          <p:nvPr/>
        </p:nvSpPr>
        <p:spPr>
          <a:xfrm>
            <a:off x="6505956" y="3017520"/>
            <a:ext cx="2018538" cy="1188720"/>
          </a:xfrm>
          <a:prstGeom prst="rect">
            <a:avLst/>
          </a:prstGeom>
          <a:noFill/>
          <a:ln/>
        </p:spPr>
        <p:txBody>
          <a:bodyPr wrap="square" lIns="0" tIns="0" rIns="0" bIns="0" rtlCol="0" anchor="t"/>
          <a:lstStyle/>
          <a:p>
            <a:pPr marL="0" indent="0">
              <a:buNone/>
            </a:pPr>
            <a:r>
              <a:rPr lang="en-US" sz="1600" dirty="0">
                <a:solidFill>
                  <a:schemeClr val="tx1"/>
                </a:solidFill>
              </a:rPr>
              <a:t>logged events: 5 sprint reviews + 5 retrospectives</a:t>
            </a:r>
            <a:endParaRPr lang="en-US" sz="1600" dirty="0"/>
          </a:p>
        </p:txBody>
      </p:sp>
      <p:sp>
        <p:nvSpPr>
          <p:cNvPr id="12" name="stat-3"/>
          <p:cNvSpPr/>
          <p:nvPr/>
        </p:nvSpPr>
        <p:spPr>
          <a:xfrm>
            <a:off x="9073134" y="1463040"/>
            <a:ext cx="2567178" cy="2743200"/>
          </a:xfrm>
          <a:prstGeom prst="roundRect">
            <a:avLst>
              <a:gd name="adj" fmla="val 4274"/>
            </a:avLst>
          </a:prstGeom>
          <a:solidFill>
            <a:schemeClr val="bg2"/>
          </a:solidFill>
          <a:ln/>
        </p:spPr>
      </p:sp>
      <p:sp>
        <p:nvSpPr>
          <p:cNvPr id="13" name="Text 11"/>
          <p:cNvSpPr txBox="1"/>
          <p:nvPr/>
        </p:nvSpPr>
        <p:spPr>
          <a:xfrm>
            <a:off x="9347454" y="1783080"/>
            <a:ext cx="2018538" cy="1097280"/>
          </a:xfrm>
          <a:prstGeom prst="rect">
            <a:avLst/>
          </a:prstGeom>
          <a:noFill/>
          <a:ln/>
        </p:spPr>
        <p:txBody>
          <a:bodyPr wrap="square" lIns="0" tIns="0" rIns="0" bIns="0" rtlCol="0" anchor="t"/>
          <a:lstStyle/>
          <a:p>
            <a:pPr marL="0" indent="0">
              <a:buNone/>
            </a:pPr>
            <a:r>
              <a:rPr lang="en-US" sz="6000" b="1" dirty="0">
                <a:solidFill>
                  <a:schemeClr val="tx2"/>
                </a:solidFill>
                <a:latin typeface="Cambria" pitchFamily="34" charset="0"/>
                <a:ea typeface="Cambria" pitchFamily="34" charset="-122"/>
                <a:cs typeface="Cambria" pitchFamily="34" charset="-120"/>
              </a:rPr>
              <a:t>30%</a:t>
            </a:r>
            <a:endParaRPr lang="en-US" sz="6000" dirty="0"/>
          </a:p>
        </p:txBody>
      </p:sp>
      <p:sp>
        <p:nvSpPr>
          <p:cNvPr id="14" name="Text 12"/>
          <p:cNvSpPr txBox="1"/>
          <p:nvPr/>
        </p:nvSpPr>
        <p:spPr>
          <a:xfrm>
            <a:off x="9347454" y="3017520"/>
            <a:ext cx="2018538" cy="1188720"/>
          </a:xfrm>
          <a:prstGeom prst="rect">
            <a:avLst/>
          </a:prstGeom>
          <a:noFill/>
          <a:ln/>
        </p:spPr>
        <p:txBody>
          <a:bodyPr wrap="square" lIns="0" tIns="0" rIns="0" bIns="0" rtlCol="0" anchor="t"/>
          <a:lstStyle/>
          <a:p>
            <a:pPr marL="0" indent="0">
              <a:buNone/>
            </a:pPr>
            <a:r>
              <a:rPr lang="en-US" sz="1600" dirty="0">
                <a:solidFill>
                  <a:schemeClr val="tx1"/>
                </a:solidFill>
              </a:rPr>
              <a:t>of the project mark is the Agile process in Jira</a:t>
            </a:r>
            <a:endParaRPr lang="en-US" sz="1600" dirty="0"/>
          </a:p>
        </p:txBody>
      </p:sp>
      <p:sp>
        <p:nvSpPr>
          <p:cNvPr id="15" name="Text 13"/>
          <p:cNvSpPr txBox="1"/>
          <p:nvPr/>
        </p:nvSpPr>
        <p:spPr>
          <a:xfrm>
            <a:off x="548640" y="4572000"/>
            <a:ext cx="11091672" cy="914400"/>
          </a:xfrm>
          <a:prstGeom prst="rect">
            <a:avLst/>
          </a:prstGeom>
          <a:noFill/>
          <a:ln/>
        </p:spPr>
        <p:txBody>
          <a:bodyPr wrap="square" lIns="0" tIns="0" rIns="0" bIns="0" rtlCol="0" anchor="t"/>
          <a:lstStyle/>
          <a:p>
            <a:pPr marL="0" indent="0">
              <a:buNone/>
            </a:pPr>
            <a:r>
              <a:rPr lang="en-US" sz="1800" b="1" dirty="0">
                <a:solidFill>
                  <a:schemeClr val="tx2"/>
                </a:solidFill>
              </a:rPr>
              <a:t>Goal 1 (SMART): </a:t>
            </a:r>
            <a:r>
              <a:rPr lang="en-US" sz="1800" dirty="0">
                <a:solidFill>
                  <a:schemeClr val="tx1"/>
                </a:solidFill>
              </a:rPr>
              <a:t>By Week 4, a Jira backlog of 25+ user stories with acceptance criteria and story points; then five 2-week sprints by Week 15, each with a logged review and retrospective.</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Why Agile suits legacy re-engineering</a:t>
            </a:r>
            <a:endParaRPr lang="en-US" sz="3600" dirty="0"/>
          </a:p>
        </p:txBody>
      </p:sp>
      <p:sp>
        <p:nvSpPr>
          <p:cNvPr id="3" name="col-Waterfall"/>
          <p:cNvSpPr/>
          <p:nvPr/>
        </p:nvSpPr>
        <p:spPr>
          <a:xfrm>
            <a:off x="548640" y="1463040"/>
            <a:ext cx="5394960" cy="4480560"/>
          </a:xfrm>
          <a:prstGeom prst="roundRect">
            <a:avLst>
              <a:gd name="adj" fmla="val 2449"/>
            </a:avLst>
          </a:prstGeom>
          <a:solidFill>
            <a:schemeClr val="bg1"/>
          </a:solidFill>
          <a:ln w="15875">
            <a:solidFill>
              <a:schemeClr val="accent5"/>
            </a:solidFill>
            <a:prstDash val="solid"/>
          </a:ln>
        </p:spPr>
      </p:sp>
      <p:sp>
        <p:nvSpPr>
          <p:cNvPr id="4" name="icon-bg-FaWater"/>
          <p:cNvSpPr/>
          <p:nvPr/>
        </p:nvSpPr>
        <p:spPr>
          <a:xfrm>
            <a:off x="868680" y="1737360"/>
            <a:ext cx="640080" cy="640080"/>
          </a:xfrm>
          <a:prstGeom prst="ellipse">
            <a:avLst/>
          </a:prstGeom>
          <a:solidFill>
            <a:schemeClr val="accent6"/>
          </a:solidFill>
          <a:ln/>
        </p:spPr>
      </p:sp>
      <p:pic>
        <p:nvPicPr>
          <p:cNvPr id="5" name="Image 0" descr="Water icon"/>
          <p:cNvPicPr>
            <a:picLocks noChangeAspect="1"/>
          </p:cNvPicPr>
          <p:nvPr/>
        </p:nvPicPr>
        <p:blipFill>
          <a:blip r:embed="rId3"/>
          <a:stretch>
            <a:fillRect/>
          </a:stretch>
        </p:blipFill>
        <p:spPr>
          <a:xfrm>
            <a:off x="1022299" y="1890979"/>
            <a:ext cx="332842" cy="332842"/>
          </a:xfrm>
          <a:prstGeom prst="rect">
            <a:avLst/>
          </a:prstGeom>
        </p:spPr>
      </p:pic>
      <p:sp>
        <p:nvSpPr>
          <p:cNvPr id="6" name="Text 3"/>
          <p:cNvSpPr txBox="1"/>
          <p:nvPr/>
        </p:nvSpPr>
        <p:spPr>
          <a:xfrm>
            <a:off x="1691640" y="1783080"/>
            <a:ext cx="3657600" cy="548640"/>
          </a:xfrm>
          <a:prstGeom prst="rect">
            <a:avLst/>
          </a:prstGeom>
          <a:noFill/>
          <a:ln/>
        </p:spPr>
        <p:txBody>
          <a:bodyPr wrap="square" lIns="0" tIns="0" rIns="0" bIns="0" rtlCol="0" anchor="ctr"/>
          <a:lstStyle/>
          <a:p>
            <a:pPr marL="0" indent="0">
              <a:buNone/>
            </a:pPr>
            <a:r>
              <a:rPr lang="en-US" sz="2400" b="1" dirty="0">
                <a:solidFill>
                  <a:schemeClr val="tx2"/>
                </a:solidFill>
                <a:latin typeface="Cambria" pitchFamily="34" charset="0"/>
                <a:ea typeface="Cambria" pitchFamily="34" charset="-122"/>
                <a:cs typeface="Cambria" pitchFamily="34" charset="-120"/>
              </a:rPr>
              <a:t>Waterfall</a:t>
            </a:r>
            <a:endParaRPr lang="en-US" sz="2400" dirty="0"/>
          </a:p>
        </p:txBody>
      </p:sp>
      <p:sp>
        <p:nvSpPr>
          <p:cNvPr id="7" name="Text 4"/>
          <p:cNvSpPr txBox="1"/>
          <p:nvPr/>
        </p:nvSpPr>
        <p:spPr>
          <a:xfrm>
            <a:off x="914400" y="2697480"/>
            <a:ext cx="4663440" cy="3017520"/>
          </a:xfrm>
          <a:prstGeom prst="rect">
            <a:avLst/>
          </a:prstGeom>
          <a:noFill/>
          <a:ln/>
        </p:spPr>
        <p:txBody>
          <a:bodyPr wrap="square" lIns="0" tIns="0" rIns="0" bIns="0" rtlCol="0" anchor="t"/>
          <a:lstStyle/>
          <a:p>
            <a:pPr marL="342900" indent="-342900">
              <a:spcAft>
                <a:spcPts val="1800"/>
              </a:spcAft>
              <a:buSzPct val="100000"/>
              <a:buChar char="•"/>
            </a:pPr>
            <a:r>
              <a:rPr lang="en-US" sz="2100" dirty="0">
                <a:solidFill>
                  <a:schemeClr val="tx1"/>
                </a:solidFill>
              </a:rPr>
              <a:t>Plan once, at the start</a:t>
            </a:r>
            <a:endParaRPr lang="en-US" sz="2100" dirty="0"/>
          </a:p>
          <a:p>
            <a:pPr marL="342900" indent="-342900">
              <a:spcAft>
                <a:spcPts val="1800"/>
              </a:spcAft>
              <a:buSzPct val="100000"/>
              <a:buChar char="•"/>
            </a:pPr>
            <a:r>
              <a:rPr lang="en-US" sz="2100" dirty="0">
                <a:solidFill>
                  <a:schemeClr val="tx1"/>
                </a:solidFill>
              </a:rPr>
              <a:t>Requirements frozen in a long SRS</a:t>
            </a:r>
            <a:endParaRPr lang="en-US" sz="2100" dirty="0"/>
          </a:p>
          <a:p>
            <a:pPr marL="342900" indent="-342900">
              <a:spcAft>
                <a:spcPts val="1800"/>
              </a:spcAft>
              <a:buSzPct val="100000"/>
              <a:buChar char="•"/>
            </a:pPr>
            <a:r>
              <a:rPr lang="en-US" sz="2100" dirty="0">
                <a:solidFill>
                  <a:schemeClr val="tx1"/>
                </a:solidFill>
              </a:rPr>
              <a:t>Working software only at the end</a:t>
            </a:r>
            <a:endParaRPr lang="en-US" sz="2100" dirty="0"/>
          </a:p>
          <a:p>
            <a:pPr marL="342900" indent="-342900">
              <a:spcAft>
                <a:spcPts val="1800"/>
              </a:spcAft>
              <a:buSzPct val="100000"/>
              <a:buChar char="•"/>
            </a:pPr>
            <a:r>
              <a:rPr lang="en-US" sz="2100" dirty="0">
                <a:solidFill>
                  <a:schemeClr val="tx1"/>
                </a:solidFill>
              </a:rPr>
              <a:t>Feedback at acceptance testing</a:t>
            </a:r>
            <a:endParaRPr lang="en-US" sz="2100" dirty="0"/>
          </a:p>
          <a:p>
            <a:pPr marL="342900" indent="-342900">
              <a:spcAft>
                <a:spcPts val="1800"/>
              </a:spcAft>
              <a:buSzPct val="100000"/>
              <a:buChar char="•"/>
            </a:pPr>
            <a:r>
              <a:rPr lang="en-US" sz="2100" dirty="0">
                <a:solidFill>
                  <a:schemeClr val="tx1"/>
                </a:solidFill>
              </a:rPr>
              <a:t>Hidden legacy debt breaks the plan</a:t>
            </a:r>
            <a:endParaRPr lang="en-US" sz="2100" dirty="0"/>
          </a:p>
        </p:txBody>
      </p:sp>
      <p:sp>
        <p:nvSpPr>
          <p:cNvPr id="8" name="col-Scrum"/>
          <p:cNvSpPr/>
          <p:nvPr/>
        </p:nvSpPr>
        <p:spPr>
          <a:xfrm>
            <a:off x="6245352" y="1463040"/>
            <a:ext cx="5394960" cy="4480560"/>
          </a:xfrm>
          <a:prstGeom prst="roundRect">
            <a:avLst>
              <a:gd name="adj" fmla="val 2449"/>
            </a:avLst>
          </a:prstGeom>
          <a:solidFill>
            <a:schemeClr val="bg2"/>
          </a:solidFill>
          <a:ln/>
        </p:spPr>
      </p:sp>
      <p:sp>
        <p:nvSpPr>
          <p:cNvPr id="9" name="icon-bg-FaSyncAlt"/>
          <p:cNvSpPr/>
          <p:nvPr/>
        </p:nvSpPr>
        <p:spPr>
          <a:xfrm>
            <a:off x="6565392" y="1737360"/>
            <a:ext cx="640080" cy="640080"/>
          </a:xfrm>
          <a:prstGeom prst="ellipse">
            <a:avLst/>
          </a:prstGeom>
          <a:solidFill>
            <a:schemeClr val="accent1"/>
          </a:solidFill>
          <a:ln/>
        </p:spPr>
      </p:sp>
      <p:pic>
        <p:nvPicPr>
          <p:cNvPr id="10" name="Image 1" descr="SyncAlt icon"/>
          <p:cNvPicPr>
            <a:picLocks noChangeAspect="1"/>
          </p:cNvPicPr>
          <p:nvPr/>
        </p:nvPicPr>
        <p:blipFill>
          <a:blip r:embed="rId4"/>
          <a:stretch>
            <a:fillRect/>
          </a:stretch>
        </p:blipFill>
        <p:spPr>
          <a:xfrm>
            <a:off x="6719011" y="1890979"/>
            <a:ext cx="332842" cy="332842"/>
          </a:xfrm>
          <a:prstGeom prst="rect">
            <a:avLst/>
          </a:prstGeom>
        </p:spPr>
      </p:pic>
      <p:sp>
        <p:nvSpPr>
          <p:cNvPr id="11" name="Text 7"/>
          <p:cNvSpPr txBox="1"/>
          <p:nvPr/>
        </p:nvSpPr>
        <p:spPr>
          <a:xfrm>
            <a:off x="7388352" y="1783080"/>
            <a:ext cx="3657600" cy="548640"/>
          </a:xfrm>
          <a:prstGeom prst="rect">
            <a:avLst/>
          </a:prstGeom>
          <a:noFill/>
          <a:ln/>
        </p:spPr>
        <p:txBody>
          <a:bodyPr wrap="square" lIns="0" tIns="0" rIns="0" bIns="0" rtlCol="0" anchor="ctr"/>
          <a:lstStyle/>
          <a:p>
            <a:pPr marL="0" indent="0">
              <a:buNone/>
            </a:pPr>
            <a:r>
              <a:rPr lang="en-US" sz="2400" b="1" dirty="0">
                <a:solidFill>
                  <a:schemeClr val="tx2"/>
                </a:solidFill>
                <a:latin typeface="Cambria" pitchFamily="34" charset="0"/>
                <a:ea typeface="Cambria" pitchFamily="34" charset="-122"/>
                <a:cs typeface="Cambria" pitchFamily="34" charset="-120"/>
              </a:rPr>
              <a:t>Scrum</a:t>
            </a:r>
            <a:endParaRPr lang="en-US" sz="2400" dirty="0"/>
          </a:p>
        </p:txBody>
      </p:sp>
      <p:sp>
        <p:nvSpPr>
          <p:cNvPr id="12" name="Text 8"/>
          <p:cNvSpPr txBox="1"/>
          <p:nvPr/>
        </p:nvSpPr>
        <p:spPr>
          <a:xfrm>
            <a:off x="6611112" y="2697480"/>
            <a:ext cx="4663440" cy="3017520"/>
          </a:xfrm>
          <a:prstGeom prst="rect">
            <a:avLst/>
          </a:prstGeom>
          <a:noFill/>
          <a:ln/>
        </p:spPr>
        <p:txBody>
          <a:bodyPr wrap="square" lIns="0" tIns="0" rIns="0" bIns="0" rtlCol="0" anchor="t"/>
          <a:lstStyle/>
          <a:p>
            <a:pPr marL="342900" indent="-342900">
              <a:spcAft>
                <a:spcPts val="1800"/>
              </a:spcAft>
              <a:buSzPct val="100000"/>
              <a:buChar char="•"/>
            </a:pPr>
            <a:r>
              <a:rPr lang="en-US" sz="2100" dirty="0">
                <a:solidFill>
                  <a:schemeClr val="tx1"/>
                </a:solidFill>
              </a:rPr>
              <a:t>Re-plan every 2 weeks</a:t>
            </a:r>
            <a:endParaRPr lang="en-US" sz="2100" dirty="0"/>
          </a:p>
          <a:p>
            <a:pPr marL="342900" indent="-342900">
              <a:spcAft>
                <a:spcPts val="1800"/>
              </a:spcAft>
              <a:buSzPct val="100000"/>
              <a:buChar char="•"/>
            </a:pPr>
            <a:r>
              <a:rPr lang="en-US" sz="2100" dirty="0">
                <a:solidFill>
                  <a:schemeClr val="tx1"/>
                </a:solidFill>
              </a:rPr>
              <a:t>Living backlog, ordered by value</a:t>
            </a:r>
            <a:endParaRPr lang="en-US" sz="2100" dirty="0"/>
          </a:p>
          <a:p>
            <a:pPr marL="342900" indent="-342900">
              <a:spcAft>
                <a:spcPts val="1800"/>
              </a:spcAft>
              <a:buSzPct val="100000"/>
              <a:buChar char="•"/>
            </a:pPr>
            <a:r>
              <a:rPr lang="en-US" sz="2100" dirty="0">
                <a:solidFill>
                  <a:schemeClr val="tx1"/>
                </a:solidFill>
              </a:rPr>
              <a:t>A working increment every sprint</a:t>
            </a:r>
            <a:endParaRPr lang="en-US" sz="2100" dirty="0"/>
          </a:p>
          <a:p>
            <a:pPr marL="342900" indent="-342900">
              <a:spcAft>
                <a:spcPts val="1800"/>
              </a:spcAft>
              <a:buSzPct val="100000"/>
              <a:buChar char="•"/>
            </a:pPr>
            <a:r>
              <a:rPr lang="en-US" sz="2100" dirty="0">
                <a:solidFill>
                  <a:schemeClr val="tx1"/>
                </a:solidFill>
              </a:rPr>
              <a:t>Feedback at every sprint review</a:t>
            </a:r>
            <a:endParaRPr lang="en-US" sz="2100" dirty="0"/>
          </a:p>
          <a:p>
            <a:pPr marL="342900" indent="-342900">
              <a:spcAft>
                <a:spcPts val="1800"/>
              </a:spcAft>
              <a:buSzPct val="100000"/>
              <a:buChar char="•"/>
            </a:pPr>
            <a:r>
              <a:rPr lang="en-US" sz="2100" dirty="0">
                <a:solidFill>
                  <a:schemeClr val="tx1"/>
                </a:solidFill>
              </a:rPr>
              <a:t>Legacy debt becomes backlog items</a:t>
            </a:r>
            <a:endParaRPr lang="en-US" sz="21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The Agile Manifesto: four values</a:t>
            </a:r>
            <a:endParaRPr lang="en-US" sz="3600" dirty="0"/>
          </a:p>
        </p:txBody>
      </p:sp>
      <p:sp>
        <p:nvSpPr>
          <p:cNvPr id="3" name="value-1"/>
          <p:cNvSpPr/>
          <p:nvPr/>
        </p:nvSpPr>
        <p:spPr>
          <a:xfrm>
            <a:off x="548640" y="1463040"/>
            <a:ext cx="5394960" cy="2057400"/>
          </a:xfrm>
          <a:prstGeom prst="roundRect">
            <a:avLst>
              <a:gd name="adj" fmla="val 5333"/>
            </a:avLst>
          </a:prstGeom>
          <a:solidFill>
            <a:schemeClr val="bg2"/>
          </a:solidFill>
          <a:ln/>
        </p:spPr>
      </p:sp>
      <p:sp>
        <p:nvSpPr>
          <p:cNvPr id="4" name="num-1"/>
          <p:cNvSpPr/>
          <p:nvPr/>
        </p:nvSpPr>
        <p:spPr>
          <a:xfrm>
            <a:off x="868680" y="1783080"/>
            <a:ext cx="640080" cy="640080"/>
          </a:xfrm>
          <a:prstGeom prst="ellipse">
            <a:avLst/>
          </a:prstGeom>
          <a:solidFill>
            <a:schemeClr val="accent2"/>
          </a:solidFill>
          <a:ln/>
        </p:spPr>
      </p:sp>
      <p:sp>
        <p:nvSpPr>
          <p:cNvPr id="5" name="Text 3"/>
          <p:cNvSpPr txBox="1"/>
          <p:nvPr/>
        </p:nvSpPr>
        <p:spPr>
          <a:xfrm>
            <a:off x="868680" y="178308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6" name="Text 4"/>
          <p:cNvSpPr txBox="1"/>
          <p:nvPr/>
        </p:nvSpPr>
        <p:spPr>
          <a:xfrm>
            <a:off x="1737360" y="1783080"/>
            <a:ext cx="3931920" cy="50292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Individuals and interactions</a:t>
            </a:r>
            <a:endParaRPr lang="en-US" sz="2200" dirty="0"/>
          </a:p>
        </p:txBody>
      </p:sp>
      <p:sp>
        <p:nvSpPr>
          <p:cNvPr id="7" name="Text 5"/>
          <p:cNvSpPr txBox="1"/>
          <p:nvPr/>
        </p:nvSpPr>
        <p:spPr>
          <a:xfrm>
            <a:off x="1737360" y="2331720"/>
            <a:ext cx="3931920" cy="411480"/>
          </a:xfrm>
          <a:prstGeom prst="rect">
            <a:avLst/>
          </a:prstGeom>
          <a:noFill/>
          <a:ln/>
        </p:spPr>
        <p:txBody>
          <a:bodyPr wrap="square" lIns="0" tIns="0" rIns="0" bIns="0" rtlCol="0" anchor="t"/>
          <a:lstStyle/>
          <a:p>
            <a:pPr marL="0" indent="0">
              <a:buNone/>
            </a:pPr>
            <a:r>
              <a:rPr lang="en-US" sz="1600" dirty="0">
                <a:solidFill>
                  <a:schemeClr val="accent6"/>
                </a:solidFill>
              </a:rPr>
              <a:t>over processes and tools</a:t>
            </a:r>
            <a:endParaRPr lang="en-US" sz="1600" dirty="0"/>
          </a:p>
        </p:txBody>
      </p:sp>
      <p:sp>
        <p:nvSpPr>
          <p:cNvPr id="8" name="Text 6"/>
          <p:cNvSpPr txBox="1"/>
          <p:nvPr/>
        </p:nvSpPr>
        <p:spPr>
          <a:xfrm>
            <a:off x="1737360" y="2834640"/>
            <a:ext cx="3931920" cy="457200"/>
          </a:xfrm>
          <a:prstGeom prst="rect">
            <a:avLst/>
          </a:prstGeom>
          <a:noFill/>
          <a:ln/>
        </p:spPr>
        <p:txBody>
          <a:bodyPr wrap="square" lIns="0" tIns="0" rIns="0" bIns="0" rtlCol="0" anchor="t"/>
          <a:lstStyle/>
          <a:p>
            <a:pPr marL="0" indent="0">
              <a:buNone/>
            </a:pPr>
            <a:r>
              <a:rPr lang="en-US" sz="1500" i="1" dirty="0">
                <a:solidFill>
                  <a:schemeClr val="tx1"/>
                </a:solidFill>
              </a:rPr>
              <a:t>In class: talk first, then record it in Jira.</a:t>
            </a:r>
            <a:endParaRPr lang="en-US" sz="1500" dirty="0"/>
          </a:p>
        </p:txBody>
      </p:sp>
      <p:sp>
        <p:nvSpPr>
          <p:cNvPr id="9" name="value-2"/>
          <p:cNvSpPr/>
          <p:nvPr/>
        </p:nvSpPr>
        <p:spPr>
          <a:xfrm>
            <a:off x="6245352" y="1463040"/>
            <a:ext cx="5394960" cy="2057400"/>
          </a:xfrm>
          <a:prstGeom prst="roundRect">
            <a:avLst>
              <a:gd name="adj" fmla="val 5333"/>
            </a:avLst>
          </a:prstGeom>
          <a:solidFill>
            <a:schemeClr val="bg2"/>
          </a:solidFill>
          <a:ln/>
        </p:spPr>
      </p:sp>
      <p:sp>
        <p:nvSpPr>
          <p:cNvPr id="10" name="num-2"/>
          <p:cNvSpPr/>
          <p:nvPr/>
        </p:nvSpPr>
        <p:spPr>
          <a:xfrm>
            <a:off x="6565392" y="1783080"/>
            <a:ext cx="640080" cy="640080"/>
          </a:xfrm>
          <a:prstGeom prst="ellipse">
            <a:avLst/>
          </a:prstGeom>
          <a:solidFill>
            <a:schemeClr val="accent2"/>
          </a:solidFill>
          <a:ln/>
        </p:spPr>
      </p:sp>
      <p:sp>
        <p:nvSpPr>
          <p:cNvPr id="11" name="Text 9"/>
          <p:cNvSpPr txBox="1"/>
          <p:nvPr/>
        </p:nvSpPr>
        <p:spPr>
          <a:xfrm>
            <a:off x="6565392" y="178308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2" name="Text 10"/>
          <p:cNvSpPr txBox="1"/>
          <p:nvPr/>
        </p:nvSpPr>
        <p:spPr>
          <a:xfrm>
            <a:off x="7434072" y="1783080"/>
            <a:ext cx="3931920" cy="50292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Working software</a:t>
            </a:r>
            <a:endParaRPr lang="en-US" sz="2200" dirty="0"/>
          </a:p>
        </p:txBody>
      </p:sp>
      <p:sp>
        <p:nvSpPr>
          <p:cNvPr id="13" name="Text 11"/>
          <p:cNvSpPr txBox="1"/>
          <p:nvPr/>
        </p:nvSpPr>
        <p:spPr>
          <a:xfrm>
            <a:off x="7434072" y="2331720"/>
            <a:ext cx="3931920" cy="411480"/>
          </a:xfrm>
          <a:prstGeom prst="rect">
            <a:avLst/>
          </a:prstGeom>
          <a:noFill/>
          <a:ln/>
        </p:spPr>
        <p:txBody>
          <a:bodyPr wrap="square" lIns="0" tIns="0" rIns="0" bIns="0" rtlCol="0" anchor="t"/>
          <a:lstStyle/>
          <a:p>
            <a:pPr marL="0" indent="0">
              <a:buNone/>
            </a:pPr>
            <a:r>
              <a:rPr lang="en-US" sz="1600" dirty="0">
                <a:solidFill>
                  <a:schemeClr val="accent6"/>
                </a:solidFill>
              </a:rPr>
              <a:t>over comprehensive documentation</a:t>
            </a:r>
            <a:endParaRPr lang="en-US" sz="1600" dirty="0"/>
          </a:p>
        </p:txBody>
      </p:sp>
      <p:sp>
        <p:nvSpPr>
          <p:cNvPr id="14" name="Text 12"/>
          <p:cNvSpPr txBox="1"/>
          <p:nvPr/>
        </p:nvSpPr>
        <p:spPr>
          <a:xfrm>
            <a:off x="7434072" y="2834640"/>
            <a:ext cx="3931920" cy="457200"/>
          </a:xfrm>
          <a:prstGeom prst="rect">
            <a:avLst/>
          </a:prstGeom>
          <a:noFill/>
          <a:ln/>
        </p:spPr>
        <p:txBody>
          <a:bodyPr wrap="square" lIns="0" tIns="0" rIns="0" bIns="0" rtlCol="0" anchor="t"/>
          <a:lstStyle/>
          <a:p>
            <a:pPr marL="0" indent="0">
              <a:buNone/>
            </a:pPr>
            <a:r>
              <a:rPr lang="en-US" sz="1500" i="1" dirty="0">
                <a:solidFill>
                  <a:schemeClr val="tx1"/>
                </a:solidFill>
              </a:rPr>
              <a:t>In class: a working demo at every sprint review.</a:t>
            </a:r>
            <a:endParaRPr lang="en-US" sz="1500" dirty="0"/>
          </a:p>
        </p:txBody>
      </p:sp>
      <p:sp>
        <p:nvSpPr>
          <p:cNvPr id="15" name="value-3"/>
          <p:cNvSpPr/>
          <p:nvPr/>
        </p:nvSpPr>
        <p:spPr>
          <a:xfrm>
            <a:off x="548640" y="3794760"/>
            <a:ext cx="5394960" cy="2057400"/>
          </a:xfrm>
          <a:prstGeom prst="roundRect">
            <a:avLst>
              <a:gd name="adj" fmla="val 5333"/>
            </a:avLst>
          </a:prstGeom>
          <a:solidFill>
            <a:schemeClr val="bg2"/>
          </a:solidFill>
          <a:ln/>
        </p:spPr>
      </p:sp>
      <p:sp>
        <p:nvSpPr>
          <p:cNvPr id="16" name="num-3"/>
          <p:cNvSpPr/>
          <p:nvPr/>
        </p:nvSpPr>
        <p:spPr>
          <a:xfrm>
            <a:off x="868680" y="4114800"/>
            <a:ext cx="640080" cy="640080"/>
          </a:xfrm>
          <a:prstGeom prst="ellipse">
            <a:avLst/>
          </a:prstGeom>
          <a:solidFill>
            <a:schemeClr val="accent2"/>
          </a:solidFill>
          <a:ln/>
        </p:spPr>
      </p:sp>
      <p:sp>
        <p:nvSpPr>
          <p:cNvPr id="17" name="Text 15"/>
          <p:cNvSpPr txBox="1"/>
          <p:nvPr/>
        </p:nvSpPr>
        <p:spPr>
          <a:xfrm>
            <a:off x="868680" y="411480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8" name="Text 16"/>
          <p:cNvSpPr txBox="1"/>
          <p:nvPr/>
        </p:nvSpPr>
        <p:spPr>
          <a:xfrm>
            <a:off x="1737360" y="4114800"/>
            <a:ext cx="3931920" cy="50292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Customer collaboration</a:t>
            </a:r>
            <a:endParaRPr lang="en-US" sz="2200" dirty="0"/>
          </a:p>
        </p:txBody>
      </p:sp>
      <p:sp>
        <p:nvSpPr>
          <p:cNvPr id="19" name="Text 17"/>
          <p:cNvSpPr txBox="1"/>
          <p:nvPr/>
        </p:nvSpPr>
        <p:spPr>
          <a:xfrm>
            <a:off x="1737360" y="4663440"/>
            <a:ext cx="3931920" cy="411480"/>
          </a:xfrm>
          <a:prstGeom prst="rect">
            <a:avLst/>
          </a:prstGeom>
          <a:noFill/>
          <a:ln/>
        </p:spPr>
        <p:txBody>
          <a:bodyPr wrap="square" lIns="0" tIns="0" rIns="0" bIns="0" rtlCol="0" anchor="t"/>
          <a:lstStyle/>
          <a:p>
            <a:pPr marL="0" indent="0">
              <a:buNone/>
            </a:pPr>
            <a:r>
              <a:rPr lang="en-US" sz="1600" dirty="0">
                <a:solidFill>
                  <a:schemeClr val="accent6"/>
                </a:solidFill>
              </a:rPr>
              <a:t>over contract negotiation</a:t>
            </a:r>
            <a:endParaRPr lang="en-US" sz="1600" dirty="0"/>
          </a:p>
        </p:txBody>
      </p:sp>
      <p:sp>
        <p:nvSpPr>
          <p:cNvPr id="20" name="Text 18"/>
          <p:cNvSpPr txBox="1"/>
          <p:nvPr/>
        </p:nvSpPr>
        <p:spPr>
          <a:xfrm>
            <a:off x="1737360" y="5166360"/>
            <a:ext cx="3931920" cy="457200"/>
          </a:xfrm>
          <a:prstGeom prst="rect">
            <a:avLst/>
          </a:prstGeom>
          <a:noFill/>
          <a:ln/>
        </p:spPr>
        <p:txBody>
          <a:bodyPr wrap="square" lIns="0" tIns="0" rIns="0" bIns="0" rtlCol="0" anchor="t"/>
          <a:lstStyle/>
          <a:p>
            <a:pPr marL="0" indent="0">
              <a:buNone/>
            </a:pPr>
            <a:r>
              <a:rPr lang="en-US" sz="1500" i="1" dirty="0">
                <a:solidFill>
                  <a:schemeClr val="tx1"/>
                </a:solidFill>
              </a:rPr>
              <a:t>In class: your instructor is the stakeholder.</a:t>
            </a:r>
            <a:endParaRPr lang="en-US" sz="1500" dirty="0"/>
          </a:p>
        </p:txBody>
      </p:sp>
      <p:sp>
        <p:nvSpPr>
          <p:cNvPr id="21" name="value-4"/>
          <p:cNvSpPr/>
          <p:nvPr/>
        </p:nvSpPr>
        <p:spPr>
          <a:xfrm>
            <a:off x="6245352" y="3794760"/>
            <a:ext cx="5394960" cy="2057400"/>
          </a:xfrm>
          <a:prstGeom prst="roundRect">
            <a:avLst>
              <a:gd name="adj" fmla="val 5333"/>
            </a:avLst>
          </a:prstGeom>
          <a:solidFill>
            <a:schemeClr val="bg2"/>
          </a:solidFill>
          <a:ln/>
        </p:spPr>
      </p:sp>
      <p:sp>
        <p:nvSpPr>
          <p:cNvPr id="22" name="num-4"/>
          <p:cNvSpPr/>
          <p:nvPr/>
        </p:nvSpPr>
        <p:spPr>
          <a:xfrm>
            <a:off x="6565392" y="4114800"/>
            <a:ext cx="640080" cy="640080"/>
          </a:xfrm>
          <a:prstGeom prst="ellipse">
            <a:avLst/>
          </a:prstGeom>
          <a:solidFill>
            <a:schemeClr val="accent2"/>
          </a:solidFill>
          <a:ln/>
        </p:spPr>
      </p:sp>
      <p:sp>
        <p:nvSpPr>
          <p:cNvPr id="23" name="Text 21"/>
          <p:cNvSpPr txBox="1"/>
          <p:nvPr/>
        </p:nvSpPr>
        <p:spPr>
          <a:xfrm>
            <a:off x="6565392" y="411480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24" name="Text 22"/>
          <p:cNvSpPr txBox="1"/>
          <p:nvPr/>
        </p:nvSpPr>
        <p:spPr>
          <a:xfrm>
            <a:off x="7434072" y="4114800"/>
            <a:ext cx="3931920" cy="50292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Responding to change</a:t>
            </a:r>
            <a:endParaRPr lang="en-US" sz="2200" dirty="0"/>
          </a:p>
        </p:txBody>
      </p:sp>
      <p:sp>
        <p:nvSpPr>
          <p:cNvPr id="25" name="Text 23"/>
          <p:cNvSpPr txBox="1"/>
          <p:nvPr/>
        </p:nvSpPr>
        <p:spPr>
          <a:xfrm>
            <a:off x="7434072" y="4663440"/>
            <a:ext cx="3931920" cy="411480"/>
          </a:xfrm>
          <a:prstGeom prst="rect">
            <a:avLst/>
          </a:prstGeom>
          <a:noFill/>
          <a:ln/>
        </p:spPr>
        <p:txBody>
          <a:bodyPr wrap="square" lIns="0" tIns="0" rIns="0" bIns="0" rtlCol="0" anchor="t"/>
          <a:lstStyle/>
          <a:p>
            <a:pPr marL="0" indent="0">
              <a:buNone/>
            </a:pPr>
            <a:r>
              <a:rPr lang="en-US" sz="1600" dirty="0">
                <a:solidFill>
                  <a:schemeClr val="accent6"/>
                </a:solidFill>
              </a:rPr>
              <a:t>over following a plan</a:t>
            </a:r>
            <a:endParaRPr lang="en-US" sz="1600" dirty="0"/>
          </a:p>
        </p:txBody>
      </p:sp>
      <p:sp>
        <p:nvSpPr>
          <p:cNvPr id="26" name="Text 24"/>
          <p:cNvSpPr txBox="1"/>
          <p:nvPr/>
        </p:nvSpPr>
        <p:spPr>
          <a:xfrm>
            <a:off x="7434072" y="5166360"/>
            <a:ext cx="3931920" cy="457200"/>
          </a:xfrm>
          <a:prstGeom prst="rect">
            <a:avLst/>
          </a:prstGeom>
          <a:noFill/>
          <a:ln/>
        </p:spPr>
        <p:txBody>
          <a:bodyPr wrap="square" lIns="0" tIns="0" rIns="0" bIns="0" rtlCol="0" anchor="t"/>
          <a:lstStyle/>
          <a:p>
            <a:pPr marL="0" indent="0">
              <a:buNone/>
            </a:pPr>
            <a:r>
              <a:rPr lang="en-US" sz="1500" i="1" dirty="0">
                <a:solidFill>
                  <a:schemeClr val="tx1"/>
                </a:solidFill>
              </a:rPr>
              <a:t>In class: re-order the backlog every sprint.</a:t>
            </a:r>
            <a:endParaRPr lang="en-US" sz="1500" dirty="0"/>
          </a:p>
        </p:txBody>
      </p:sp>
      <p:sp>
        <p:nvSpPr>
          <p:cNvPr id="27"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6858000" cy="548640"/>
          </a:xfrm>
          <a:prstGeom prst="rect">
            <a:avLst/>
          </a:prstGeom>
          <a:noFill/>
          <a:ln/>
        </p:spPr>
        <p:txBody>
          <a:bodyPr wrap="square" lIns="0" tIns="0" rIns="0" bIns="0" rtlCol="0"/>
          <a:lstStyle/>
          <a:p>
            <a:pPr marL="0" indent="0">
              <a:buNone/>
            </a:pPr>
            <a:r>
              <a:rPr lang="en-US" sz="1800" b="1" dirty="0">
                <a:solidFill>
                  <a:schemeClr val="accent4"/>
                </a:solidFill>
              </a:rPr>
              <a:t>PART 1</a:t>
            </a:r>
            <a:endParaRPr lang="en-US" sz="1800" dirty="0"/>
          </a:p>
        </p:txBody>
      </p:sp>
      <p:sp>
        <p:nvSpPr>
          <p:cNvPr id="3" name="Text 0"/>
          <p:cNvSpPr>
            <a:spLocks noGrp="1"/>
          </p:cNvSpPr>
          <p:nvPr>
            <p:ph type="title" idx="101" hasCustomPrompt="1"/>
          </p:nvPr>
        </p:nvSpPr>
        <p:spPr>
          <a:xfrm>
            <a:off x="731520" y="2377440"/>
            <a:ext cx="6858000" cy="1463040"/>
          </a:xfrm>
          <a:prstGeom prst="rect">
            <a:avLst/>
          </a:prstGeom>
          <a:noFill/>
          <a:ln/>
        </p:spPr>
        <p:txBody>
          <a:bodyPr wrap="square" lIns="0" tIns="0" rIns="0" bIns="0" rtlCol="0" anchor="t"/>
          <a:lstStyle/>
          <a:p>
            <a:pPr marL="0" indent="0" algn="l">
              <a:buNone/>
            </a:pPr>
            <a:r>
              <a:rPr lang="en-US" sz="4400" b="1" dirty="0">
                <a:solidFill>
                  <a:schemeClr val="bg1"/>
                </a:solidFill>
              </a:rPr>
              <a:t>The Scrum framework</a:t>
            </a:r>
            <a:endParaRPr lang="en-US" sz="4400" dirty="0"/>
          </a:p>
        </p:txBody>
      </p:sp>
      <p:sp>
        <p:nvSpPr>
          <p:cNvPr id="4" name="Text 2"/>
          <p:cNvSpPr txBox="1"/>
          <p:nvPr/>
        </p:nvSpPr>
        <p:spPr>
          <a:xfrm>
            <a:off x="7863840" y="2194560"/>
            <a:ext cx="3840480" cy="1280160"/>
          </a:xfrm>
          <a:prstGeom prst="rect">
            <a:avLst/>
          </a:prstGeom>
          <a:noFill/>
          <a:ln/>
        </p:spPr>
        <p:txBody>
          <a:bodyPr wrap="square" lIns="0" tIns="0" rIns="0" bIns="0" rtlCol="0" anchor="t"/>
          <a:lstStyle/>
          <a:p>
            <a:pPr marL="0" indent="0" algn="ctr">
              <a:buNone/>
            </a:pPr>
            <a:r>
              <a:rPr lang="en-US" sz="7200" b="1" dirty="0">
                <a:solidFill>
                  <a:schemeClr val="accent1"/>
                </a:solidFill>
                <a:latin typeface="Cambria" pitchFamily="34" charset="0"/>
                <a:ea typeface="Cambria" pitchFamily="34" charset="-122"/>
                <a:cs typeface="Cambria" pitchFamily="34" charset="-120"/>
              </a:rPr>
              <a:t>3 · 5 · 3</a:t>
            </a:r>
            <a:endParaRPr lang="en-US" sz="7200" dirty="0"/>
          </a:p>
        </p:txBody>
      </p:sp>
      <p:sp>
        <p:nvSpPr>
          <p:cNvPr id="5" name="Text 3"/>
          <p:cNvSpPr txBox="1"/>
          <p:nvPr/>
        </p:nvSpPr>
        <p:spPr>
          <a:xfrm>
            <a:off x="7863840" y="3566160"/>
            <a:ext cx="3840480" cy="457200"/>
          </a:xfrm>
          <a:prstGeom prst="rect">
            <a:avLst/>
          </a:prstGeom>
          <a:noFill/>
          <a:ln/>
        </p:spPr>
        <p:txBody>
          <a:bodyPr wrap="square" lIns="0" tIns="0" rIns="0" bIns="0" rtlCol="0" anchor="t"/>
          <a:lstStyle/>
          <a:p>
            <a:pPr marL="0" indent="0" algn="ctr">
              <a:buNone/>
            </a:pPr>
            <a:r>
              <a:rPr lang="en-US" sz="1800" dirty="0">
                <a:solidFill>
                  <a:schemeClr val="accent5"/>
                </a:solidFill>
              </a:rPr>
              <a:t>roles  ·  events  ·  artifacts</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Three roles, rotating every sprint</a:t>
            </a:r>
            <a:endParaRPr lang="en-US" sz="3600" dirty="0"/>
          </a:p>
        </p:txBody>
      </p:sp>
      <p:sp>
        <p:nvSpPr>
          <p:cNvPr id="3" name="role-0"/>
          <p:cNvSpPr/>
          <p:nvPr/>
        </p:nvSpPr>
        <p:spPr>
          <a:xfrm>
            <a:off x="548640" y="1463040"/>
            <a:ext cx="3514344" cy="4526280"/>
          </a:xfrm>
          <a:prstGeom prst="roundRect">
            <a:avLst>
              <a:gd name="adj" fmla="val 3122"/>
            </a:avLst>
          </a:prstGeom>
          <a:solidFill>
            <a:schemeClr val="bg2"/>
          </a:solidFill>
          <a:ln/>
        </p:spPr>
      </p:sp>
      <p:sp>
        <p:nvSpPr>
          <p:cNvPr id="4" name="icon-bg-FaUserTie"/>
          <p:cNvSpPr/>
          <p:nvPr/>
        </p:nvSpPr>
        <p:spPr>
          <a:xfrm>
            <a:off x="1894332" y="1737360"/>
            <a:ext cx="822960" cy="822960"/>
          </a:xfrm>
          <a:prstGeom prst="ellipse">
            <a:avLst/>
          </a:prstGeom>
          <a:solidFill>
            <a:schemeClr val="accent1"/>
          </a:solidFill>
          <a:ln/>
        </p:spPr>
      </p:sp>
      <p:pic>
        <p:nvPicPr>
          <p:cNvPr id="5" name="Image 0" descr="UserTie icon"/>
          <p:cNvPicPr>
            <a:picLocks noChangeAspect="1"/>
          </p:cNvPicPr>
          <p:nvPr/>
        </p:nvPicPr>
        <p:blipFill>
          <a:blip r:embed="rId3"/>
          <a:stretch>
            <a:fillRect/>
          </a:stretch>
        </p:blipFill>
        <p:spPr>
          <a:xfrm>
            <a:off x="2091842" y="1934870"/>
            <a:ext cx="427939" cy="427939"/>
          </a:xfrm>
          <a:prstGeom prst="rect">
            <a:avLst/>
          </a:prstGeom>
        </p:spPr>
      </p:pic>
      <p:sp>
        <p:nvSpPr>
          <p:cNvPr id="6" name="Text 3"/>
          <p:cNvSpPr txBox="1"/>
          <p:nvPr/>
        </p:nvSpPr>
        <p:spPr>
          <a:xfrm>
            <a:off x="822960" y="2697480"/>
            <a:ext cx="2965704" cy="457200"/>
          </a:xfrm>
          <a:prstGeom prst="rect">
            <a:avLst/>
          </a:prstGeom>
          <a:noFill/>
          <a:ln/>
        </p:spPr>
        <p:txBody>
          <a:bodyPr wrap="square" lIns="0" tIns="0" rIns="0" bIns="0" rtlCol="0" anchor="t"/>
          <a:lstStyle/>
          <a:p>
            <a:pPr marL="0" indent="0" algn="ctr">
              <a:buNone/>
            </a:pPr>
            <a:r>
              <a:rPr lang="en-US" sz="2200" b="1" dirty="0">
                <a:solidFill>
                  <a:schemeClr val="tx2"/>
                </a:solidFill>
                <a:latin typeface="Cambria" pitchFamily="34" charset="0"/>
                <a:ea typeface="Cambria" pitchFamily="34" charset="-122"/>
                <a:cs typeface="Cambria" pitchFamily="34" charset="-120"/>
              </a:rPr>
              <a:t>Product Owner</a:t>
            </a:r>
            <a:endParaRPr lang="en-US" sz="2200" dirty="0"/>
          </a:p>
        </p:txBody>
      </p:sp>
      <p:sp>
        <p:nvSpPr>
          <p:cNvPr id="7" name="Text 4"/>
          <p:cNvSpPr txBox="1"/>
          <p:nvPr/>
        </p:nvSpPr>
        <p:spPr>
          <a:xfrm>
            <a:off x="868680" y="3291840"/>
            <a:ext cx="2874264"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OWNS</a:t>
            </a:r>
            <a:endParaRPr lang="en-US" sz="1200" dirty="0"/>
          </a:p>
        </p:txBody>
      </p:sp>
      <p:sp>
        <p:nvSpPr>
          <p:cNvPr id="8" name="Text 5"/>
          <p:cNvSpPr txBox="1"/>
          <p:nvPr/>
        </p:nvSpPr>
        <p:spPr>
          <a:xfrm>
            <a:off x="868680" y="3566160"/>
            <a:ext cx="2874264" cy="822960"/>
          </a:xfrm>
          <a:prstGeom prst="rect">
            <a:avLst/>
          </a:prstGeom>
          <a:noFill/>
          <a:ln/>
        </p:spPr>
        <p:txBody>
          <a:bodyPr wrap="square" lIns="0" tIns="0" rIns="0" bIns="0" rtlCol="0" anchor="t"/>
          <a:lstStyle/>
          <a:p>
            <a:pPr marL="0" indent="0">
              <a:buNone/>
            </a:pPr>
            <a:r>
              <a:rPr lang="en-US" sz="1600" dirty="0">
                <a:solidFill>
                  <a:schemeClr val="tx1"/>
                </a:solidFill>
              </a:rPr>
              <a:t>What gets built, and in what order: the product backlog.</a:t>
            </a:r>
            <a:endParaRPr lang="en-US" sz="1600" dirty="0"/>
          </a:p>
        </p:txBody>
      </p:sp>
      <p:sp>
        <p:nvSpPr>
          <p:cNvPr id="9" name="Text 6"/>
          <p:cNvSpPr txBox="1"/>
          <p:nvPr/>
        </p:nvSpPr>
        <p:spPr>
          <a:xfrm>
            <a:off x="868680" y="4480560"/>
            <a:ext cx="2874264"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IN THIS COURSE</a:t>
            </a:r>
            <a:endParaRPr lang="en-US" sz="1200" dirty="0"/>
          </a:p>
        </p:txBody>
      </p:sp>
      <p:sp>
        <p:nvSpPr>
          <p:cNvPr id="10" name="Text 7"/>
          <p:cNvSpPr txBox="1"/>
          <p:nvPr/>
        </p:nvSpPr>
        <p:spPr>
          <a:xfrm>
            <a:off x="868680" y="4754880"/>
            <a:ext cx="2874264" cy="914400"/>
          </a:xfrm>
          <a:prstGeom prst="rect">
            <a:avLst/>
          </a:prstGeom>
          <a:noFill/>
          <a:ln/>
        </p:spPr>
        <p:txBody>
          <a:bodyPr wrap="square" lIns="0" tIns="0" rIns="0" bIns="0" rtlCol="0" anchor="t"/>
          <a:lstStyle/>
          <a:p>
            <a:pPr marL="0" indent="0">
              <a:buNone/>
            </a:pPr>
            <a:r>
              <a:rPr lang="en-US" sz="1600" dirty="0">
                <a:solidFill>
                  <a:schemeClr val="tx1"/>
                </a:solidFill>
              </a:rPr>
              <a:t>Writes and orders stories in Jira. Rotates each sprint.</a:t>
            </a:r>
            <a:endParaRPr lang="en-US" sz="1600" dirty="0"/>
          </a:p>
        </p:txBody>
      </p:sp>
      <p:sp>
        <p:nvSpPr>
          <p:cNvPr id="11" name="role-1"/>
          <p:cNvSpPr/>
          <p:nvPr/>
        </p:nvSpPr>
        <p:spPr>
          <a:xfrm>
            <a:off x="4337304" y="1463040"/>
            <a:ext cx="3514344" cy="4526280"/>
          </a:xfrm>
          <a:prstGeom prst="roundRect">
            <a:avLst>
              <a:gd name="adj" fmla="val 3122"/>
            </a:avLst>
          </a:prstGeom>
          <a:solidFill>
            <a:schemeClr val="bg2"/>
          </a:solidFill>
          <a:ln/>
        </p:spPr>
      </p:sp>
      <p:sp>
        <p:nvSpPr>
          <p:cNvPr id="12" name="icon-bg-FaChalkboardTeacher"/>
          <p:cNvSpPr/>
          <p:nvPr/>
        </p:nvSpPr>
        <p:spPr>
          <a:xfrm>
            <a:off x="5682996" y="1737360"/>
            <a:ext cx="822960" cy="822960"/>
          </a:xfrm>
          <a:prstGeom prst="ellipse">
            <a:avLst/>
          </a:prstGeom>
          <a:solidFill>
            <a:schemeClr val="accent2"/>
          </a:solidFill>
          <a:ln/>
        </p:spPr>
      </p:sp>
      <p:pic>
        <p:nvPicPr>
          <p:cNvPr id="13" name="Image 1" descr="ChalkboardTeacher icon"/>
          <p:cNvPicPr>
            <a:picLocks noChangeAspect="1"/>
          </p:cNvPicPr>
          <p:nvPr/>
        </p:nvPicPr>
        <p:blipFill>
          <a:blip r:embed="rId4"/>
          <a:stretch>
            <a:fillRect/>
          </a:stretch>
        </p:blipFill>
        <p:spPr>
          <a:xfrm>
            <a:off x="5880506" y="1934870"/>
            <a:ext cx="427939" cy="427939"/>
          </a:xfrm>
          <a:prstGeom prst="rect">
            <a:avLst/>
          </a:prstGeom>
        </p:spPr>
      </p:pic>
      <p:sp>
        <p:nvSpPr>
          <p:cNvPr id="14" name="Text 10"/>
          <p:cNvSpPr txBox="1"/>
          <p:nvPr/>
        </p:nvSpPr>
        <p:spPr>
          <a:xfrm>
            <a:off x="4611624" y="2697480"/>
            <a:ext cx="2965704" cy="457200"/>
          </a:xfrm>
          <a:prstGeom prst="rect">
            <a:avLst/>
          </a:prstGeom>
          <a:noFill/>
          <a:ln/>
        </p:spPr>
        <p:txBody>
          <a:bodyPr wrap="square" lIns="0" tIns="0" rIns="0" bIns="0" rtlCol="0" anchor="t"/>
          <a:lstStyle/>
          <a:p>
            <a:pPr marL="0" indent="0" algn="ctr">
              <a:buNone/>
            </a:pPr>
            <a:r>
              <a:rPr lang="en-US" sz="2200" b="1" dirty="0">
                <a:solidFill>
                  <a:schemeClr val="tx2"/>
                </a:solidFill>
                <a:latin typeface="Cambria" pitchFamily="34" charset="0"/>
                <a:ea typeface="Cambria" pitchFamily="34" charset="-122"/>
                <a:cs typeface="Cambria" pitchFamily="34" charset="-120"/>
              </a:rPr>
              <a:t>Scrum Master</a:t>
            </a:r>
            <a:endParaRPr lang="en-US" sz="2200" dirty="0"/>
          </a:p>
        </p:txBody>
      </p:sp>
      <p:sp>
        <p:nvSpPr>
          <p:cNvPr id="15" name="Text 11"/>
          <p:cNvSpPr txBox="1"/>
          <p:nvPr/>
        </p:nvSpPr>
        <p:spPr>
          <a:xfrm>
            <a:off x="4657344" y="3291840"/>
            <a:ext cx="2874264"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OWNS</a:t>
            </a:r>
            <a:endParaRPr lang="en-US" sz="1200" dirty="0"/>
          </a:p>
        </p:txBody>
      </p:sp>
      <p:sp>
        <p:nvSpPr>
          <p:cNvPr id="16" name="Text 12"/>
          <p:cNvSpPr txBox="1"/>
          <p:nvPr/>
        </p:nvSpPr>
        <p:spPr>
          <a:xfrm>
            <a:off x="4657344" y="3566160"/>
            <a:ext cx="2874264" cy="822960"/>
          </a:xfrm>
          <a:prstGeom prst="rect">
            <a:avLst/>
          </a:prstGeom>
          <a:noFill/>
          <a:ln/>
        </p:spPr>
        <p:txBody>
          <a:bodyPr wrap="square" lIns="0" tIns="0" rIns="0" bIns="0" rtlCol="0" anchor="t"/>
          <a:lstStyle/>
          <a:p>
            <a:pPr marL="0" indent="0">
              <a:buNone/>
            </a:pPr>
            <a:r>
              <a:rPr lang="en-US" sz="1600" dirty="0">
                <a:solidFill>
                  <a:schemeClr val="tx1"/>
                </a:solidFill>
              </a:rPr>
              <a:t>How the team works: ceremonies and removing blockers.</a:t>
            </a:r>
            <a:endParaRPr lang="en-US" sz="1600" dirty="0"/>
          </a:p>
        </p:txBody>
      </p:sp>
      <p:sp>
        <p:nvSpPr>
          <p:cNvPr id="17" name="Text 13"/>
          <p:cNvSpPr txBox="1"/>
          <p:nvPr/>
        </p:nvSpPr>
        <p:spPr>
          <a:xfrm>
            <a:off x="4657344" y="4480560"/>
            <a:ext cx="2874264"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IN THIS COURSE</a:t>
            </a:r>
            <a:endParaRPr lang="en-US" sz="1200" dirty="0"/>
          </a:p>
        </p:txBody>
      </p:sp>
      <p:sp>
        <p:nvSpPr>
          <p:cNvPr id="18" name="Text 14"/>
          <p:cNvSpPr txBox="1"/>
          <p:nvPr/>
        </p:nvSpPr>
        <p:spPr>
          <a:xfrm>
            <a:off x="4657344" y="4754880"/>
            <a:ext cx="2874264" cy="914400"/>
          </a:xfrm>
          <a:prstGeom prst="rect">
            <a:avLst/>
          </a:prstGeom>
          <a:noFill/>
          <a:ln/>
        </p:spPr>
        <p:txBody>
          <a:bodyPr wrap="square" lIns="0" tIns="0" rIns="0" bIns="0" rtlCol="0" anchor="t"/>
          <a:lstStyle/>
          <a:p>
            <a:pPr marL="0" indent="0">
              <a:buNone/>
            </a:pPr>
            <a:r>
              <a:rPr lang="en-US" sz="1600" dirty="0">
                <a:solidFill>
                  <a:schemeClr val="tx1"/>
                </a:solidFill>
              </a:rPr>
              <a:t>Runs planning, review and retro; checks stand-up comments.</a:t>
            </a:r>
            <a:endParaRPr lang="en-US" sz="1600" dirty="0"/>
          </a:p>
        </p:txBody>
      </p:sp>
      <p:sp>
        <p:nvSpPr>
          <p:cNvPr id="19" name="role-2"/>
          <p:cNvSpPr/>
          <p:nvPr/>
        </p:nvSpPr>
        <p:spPr>
          <a:xfrm>
            <a:off x="8125968" y="1463040"/>
            <a:ext cx="3514344" cy="4526280"/>
          </a:xfrm>
          <a:prstGeom prst="roundRect">
            <a:avLst>
              <a:gd name="adj" fmla="val 3122"/>
            </a:avLst>
          </a:prstGeom>
          <a:solidFill>
            <a:schemeClr val="bg2"/>
          </a:solidFill>
          <a:ln/>
        </p:spPr>
      </p:sp>
      <p:sp>
        <p:nvSpPr>
          <p:cNvPr id="20" name="icon-bg-FaUsers"/>
          <p:cNvSpPr/>
          <p:nvPr/>
        </p:nvSpPr>
        <p:spPr>
          <a:xfrm>
            <a:off x="9471660" y="1737360"/>
            <a:ext cx="822960" cy="822960"/>
          </a:xfrm>
          <a:prstGeom prst="ellipse">
            <a:avLst/>
          </a:prstGeom>
          <a:solidFill>
            <a:schemeClr val="accent2"/>
          </a:solidFill>
          <a:ln/>
        </p:spPr>
      </p:sp>
      <p:pic>
        <p:nvPicPr>
          <p:cNvPr id="21" name="Image 2" descr="Users icon"/>
          <p:cNvPicPr>
            <a:picLocks noChangeAspect="1"/>
          </p:cNvPicPr>
          <p:nvPr/>
        </p:nvPicPr>
        <p:blipFill>
          <a:blip r:embed="rId5"/>
          <a:stretch>
            <a:fillRect/>
          </a:stretch>
        </p:blipFill>
        <p:spPr>
          <a:xfrm>
            <a:off x="9669170" y="1934870"/>
            <a:ext cx="427939" cy="427939"/>
          </a:xfrm>
          <a:prstGeom prst="rect">
            <a:avLst/>
          </a:prstGeom>
        </p:spPr>
      </p:pic>
      <p:sp>
        <p:nvSpPr>
          <p:cNvPr id="22" name="Text 17"/>
          <p:cNvSpPr txBox="1"/>
          <p:nvPr/>
        </p:nvSpPr>
        <p:spPr>
          <a:xfrm>
            <a:off x="8400288" y="2697480"/>
            <a:ext cx="2965704" cy="457200"/>
          </a:xfrm>
          <a:prstGeom prst="rect">
            <a:avLst/>
          </a:prstGeom>
          <a:noFill/>
          <a:ln/>
        </p:spPr>
        <p:txBody>
          <a:bodyPr wrap="square" lIns="0" tIns="0" rIns="0" bIns="0" rtlCol="0" anchor="t"/>
          <a:lstStyle/>
          <a:p>
            <a:pPr marL="0" indent="0" algn="ctr">
              <a:buNone/>
            </a:pPr>
            <a:r>
              <a:rPr lang="en-US" sz="2200" b="1" dirty="0">
                <a:solidFill>
                  <a:schemeClr val="tx2"/>
                </a:solidFill>
                <a:latin typeface="Cambria" pitchFamily="34" charset="0"/>
                <a:ea typeface="Cambria" pitchFamily="34" charset="-122"/>
                <a:cs typeface="Cambria" pitchFamily="34" charset="-120"/>
              </a:rPr>
              <a:t>Developers</a:t>
            </a:r>
            <a:endParaRPr lang="en-US" sz="2200" dirty="0"/>
          </a:p>
        </p:txBody>
      </p:sp>
      <p:sp>
        <p:nvSpPr>
          <p:cNvPr id="23" name="Text 18"/>
          <p:cNvSpPr txBox="1"/>
          <p:nvPr/>
        </p:nvSpPr>
        <p:spPr>
          <a:xfrm>
            <a:off x="8446008" y="3291840"/>
            <a:ext cx="2874264"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OWNS</a:t>
            </a:r>
            <a:endParaRPr lang="en-US" sz="1200" dirty="0"/>
          </a:p>
        </p:txBody>
      </p:sp>
      <p:sp>
        <p:nvSpPr>
          <p:cNvPr id="24" name="Text 19"/>
          <p:cNvSpPr txBox="1"/>
          <p:nvPr/>
        </p:nvSpPr>
        <p:spPr>
          <a:xfrm>
            <a:off x="8446008" y="3566160"/>
            <a:ext cx="2874264" cy="822960"/>
          </a:xfrm>
          <a:prstGeom prst="rect">
            <a:avLst/>
          </a:prstGeom>
          <a:noFill/>
          <a:ln/>
        </p:spPr>
        <p:txBody>
          <a:bodyPr wrap="square" lIns="0" tIns="0" rIns="0" bIns="0" rtlCol="0" anchor="t"/>
          <a:lstStyle/>
          <a:p>
            <a:pPr marL="0" indent="0">
              <a:buNone/>
            </a:pPr>
            <a:r>
              <a:rPr lang="en-US" sz="1600" dirty="0">
                <a:solidFill>
                  <a:schemeClr val="tx1"/>
                </a:solidFill>
              </a:rPr>
              <a:t>Building a Done increment every sprint.</a:t>
            </a:r>
            <a:endParaRPr lang="en-US" sz="1600" dirty="0"/>
          </a:p>
        </p:txBody>
      </p:sp>
      <p:sp>
        <p:nvSpPr>
          <p:cNvPr id="25" name="Text 20"/>
          <p:cNvSpPr txBox="1"/>
          <p:nvPr/>
        </p:nvSpPr>
        <p:spPr>
          <a:xfrm>
            <a:off x="8446008" y="4480560"/>
            <a:ext cx="2874264"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IN THIS COURSE</a:t>
            </a:r>
            <a:endParaRPr lang="en-US" sz="1200" dirty="0"/>
          </a:p>
        </p:txBody>
      </p:sp>
      <p:sp>
        <p:nvSpPr>
          <p:cNvPr id="26" name="Text 21"/>
          <p:cNvSpPr txBox="1"/>
          <p:nvPr/>
        </p:nvSpPr>
        <p:spPr>
          <a:xfrm>
            <a:off x="8446008" y="4754880"/>
            <a:ext cx="2874264" cy="914400"/>
          </a:xfrm>
          <a:prstGeom prst="rect">
            <a:avLst/>
          </a:prstGeom>
          <a:noFill/>
          <a:ln/>
        </p:spPr>
        <p:txBody>
          <a:bodyPr wrap="square" lIns="0" tIns="0" rIns="0" bIns="0" rtlCol="0" anchor="t"/>
          <a:lstStyle/>
          <a:p>
            <a:pPr marL="0" indent="0">
              <a:buNone/>
            </a:pPr>
            <a:r>
              <a:rPr lang="en-US" sz="1600" dirty="0">
                <a:solidFill>
                  <a:schemeClr val="tx1"/>
                </a:solidFill>
              </a:rPr>
              <a:t>The whole team, PO and SM included, working with Claude Code.</a:t>
            </a:r>
            <a:endParaRPr lang="en-US" sz="1600" dirty="0"/>
          </a:p>
        </p:txBody>
      </p:sp>
      <p:sp>
        <p:nvSpPr>
          <p:cNvPr id="27"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The 2-week sprint cycle</a:t>
            </a:r>
            <a:endParaRPr lang="en-US" sz="3600" dirty="0"/>
          </a:p>
        </p:txBody>
      </p:sp>
      <p:sp>
        <p:nvSpPr>
          <p:cNvPr id="3" name="step-0"/>
          <p:cNvSpPr/>
          <p:nvPr/>
        </p:nvSpPr>
        <p:spPr>
          <a:xfrm>
            <a:off x="548640" y="1554480"/>
            <a:ext cx="1889150" cy="1600200"/>
          </a:xfrm>
          <a:prstGeom prst="roundRect">
            <a:avLst>
              <a:gd name="adj" fmla="val 6857"/>
            </a:avLst>
          </a:prstGeom>
          <a:solidFill>
            <a:schemeClr val="bg2"/>
          </a:solidFill>
          <a:ln/>
        </p:spPr>
      </p:sp>
      <p:sp>
        <p:nvSpPr>
          <p:cNvPr id="4" name="Text 2"/>
          <p:cNvSpPr txBox="1"/>
          <p:nvPr/>
        </p:nvSpPr>
        <p:spPr>
          <a:xfrm>
            <a:off x="685800" y="1737360"/>
            <a:ext cx="1614830" cy="411480"/>
          </a:xfrm>
          <a:prstGeom prst="rect">
            <a:avLst/>
          </a:prstGeom>
          <a:noFill/>
          <a:ln/>
        </p:spPr>
        <p:txBody>
          <a:bodyPr wrap="square" lIns="0" tIns="0" rIns="0" bIns="0" rtlCol="0" anchor="t"/>
          <a:lstStyle/>
          <a:p>
            <a:pPr marL="0" indent="0" algn="ctr">
              <a:buNone/>
            </a:pPr>
            <a:r>
              <a:rPr lang="en-US" sz="1700" b="1" dirty="0">
                <a:solidFill>
                  <a:schemeClr val="tx2"/>
                </a:solidFill>
              </a:rPr>
              <a:t>Product backlog</a:t>
            </a:r>
            <a:endParaRPr lang="en-US" sz="1700" dirty="0"/>
          </a:p>
        </p:txBody>
      </p:sp>
      <p:sp>
        <p:nvSpPr>
          <p:cNvPr id="5" name="Text 3"/>
          <p:cNvSpPr txBox="1"/>
          <p:nvPr/>
        </p:nvSpPr>
        <p:spPr>
          <a:xfrm>
            <a:off x="685800" y="2240280"/>
            <a:ext cx="1614830" cy="822960"/>
          </a:xfrm>
          <a:prstGeom prst="rect">
            <a:avLst/>
          </a:prstGeom>
          <a:noFill/>
          <a:ln/>
        </p:spPr>
        <p:txBody>
          <a:bodyPr wrap="square" lIns="0" tIns="0" rIns="0" bIns="0" rtlCol="0" anchor="t"/>
          <a:lstStyle/>
          <a:p>
            <a:pPr marL="0" indent="0" algn="ctr">
              <a:buNone/>
            </a:pPr>
            <a:r>
              <a:rPr lang="en-US" sz="1400" dirty="0">
                <a:solidFill>
                  <a:schemeClr val="tx1"/>
                </a:solidFill>
              </a:rPr>
              <a:t>Ordered by the PO</a:t>
            </a:r>
            <a:endParaRPr lang="en-US" sz="1400" dirty="0"/>
          </a:p>
        </p:txBody>
      </p:sp>
      <p:sp>
        <p:nvSpPr>
          <p:cNvPr id="6" name="Shape 4"/>
          <p:cNvSpPr/>
          <p:nvPr/>
        </p:nvSpPr>
        <p:spPr>
          <a:xfrm>
            <a:off x="2483510" y="2354580"/>
            <a:ext cx="320040" cy="914"/>
          </a:xfrm>
          <a:prstGeom prst="line">
            <a:avLst/>
          </a:prstGeom>
          <a:noFill/>
          <a:ln w="22225">
            <a:solidFill>
              <a:schemeClr val="accent6"/>
            </a:solidFill>
            <a:prstDash val="solid"/>
            <a:tailEnd type="triangle"/>
          </a:ln>
        </p:spPr>
      </p:sp>
      <p:sp>
        <p:nvSpPr>
          <p:cNvPr id="7" name="step-1"/>
          <p:cNvSpPr/>
          <p:nvPr/>
        </p:nvSpPr>
        <p:spPr>
          <a:xfrm>
            <a:off x="2849270" y="1554480"/>
            <a:ext cx="1889150" cy="1600200"/>
          </a:xfrm>
          <a:prstGeom prst="roundRect">
            <a:avLst>
              <a:gd name="adj" fmla="val 6857"/>
            </a:avLst>
          </a:prstGeom>
          <a:solidFill>
            <a:schemeClr val="bg2"/>
          </a:solidFill>
          <a:ln/>
        </p:spPr>
      </p:sp>
      <p:sp>
        <p:nvSpPr>
          <p:cNvPr id="8" name="Text 6"/>
          <p:cNvSpPr txBox="1"/>
          <p:nvPr/>
        </p:nvSpPr>
        <p:spPr>
          <a:xfrm>
            <a:off x="2986430" y="1737360"/>
            <a:ext cx="1614830" cy="411480"/>
          </a:xfrm>
          <a:prstGeom prst="rect">
            <a:avLst/>
          </a:prstGeom>
          <a:noFill/>
          <a:ln/>
        </p:spPr>
        <p:txBody>
          <a:bodyPr wrap="square" lIns="0" tIns="0" rIns="0" bIns="0" rtlCol="0" anchor="t"/>
          <a:lstStyle/>
          <a:p>
            <a:pPr marL="0" indent="0" algn="ctr">
              <a:buNone/>
            </a:pPr>
            <a:r>
              <a:rPr lang="en-US" sz="1700" b="1" dirty="0">
                <a:solidFill>
                  <a:schemeClr val="tx2"/>
                </a:solidFill>
              </a:rPr>
              <a:t>Sprint planning</a:t>
            </a:r>
            <a:endParaRPr lang="en-US" sz="1700" dirty="0"/>
          </a:p>
        </p:txBody>
      </p:sp>
      <p:sp>
        <p:nvSpPr>
          <p:cNvPr id="9" name="Text 7"/>
          <p:cNvSpPr txBox="1"/>
          <p:nvPr/>
        </p:nvSpPr>
        <p:spPr>
          <a:xfrm>
            <a:off x="2986430" y="2240280"/>
            <a:ext cx="1614830" cy="822960"/>
          </a:xfrm>
          <a:prstGeom prst="rect">
            <a:avLst/>
          </a:prstGeom>
          <a:noFill/>
          <a:ln/>
        </p:spPr>
        <p:txBody>
          <a:bodyPr wrap="square" lIns="0" tIns="0" rIns="0" bIns="0" rtlCol="0" anchor="t"/>
          <a:lstStyle/>
          <a:p>
            <a:pPr marL="0" indent="0" algn="ctr">
              <a:buNone/>
            </a:pPr>
            <a:r>
              <a:rPr lang="en-US" sz="1400" dirty="0">
                <a:solidFill>
                  <a:schemeClr val="tx1"/>
                </a:solidFill>
              </a:rPr>
              <a:t>Pick stories, set the sprint goal</a:t>
            </a:r>
            <a:endParaRPr lang="en-US" sz="1400" dirty="0"/>
          </a:p>
        </p:txBody>
      </p:sp>
      <p:sp>
        <p:nvSpPr>
          <p:cNvPr id="10" name="Shape 8"/>
          <p:cNvSpPr/>
          <p:nvPr/>
        </p:nvSpPr>
        <p:spPr>
          <a:xfrm>
            <a:off x="4784141" y="2354580"/>
            <a:ext cx="320040" cy="914"/>
          </a:xfrm>
          <a:prstGeom prst="line">
            <a:avLst/>
          </a:prstGeom>
          <a:noFill/>
          <a:ln w="22225">
            <a:solidFill>
              <a:schemeClr val="accent6"/>
            </a:solidFill>
            <a:prstDash val="solid"/>
            <a:tailEnd type="triangle"/>
          </a:ln>
        </p:spPr>
      </p:sp>
      <p:sp>
        <p:nvSpPr>
          <p:cNvPr id="11" name="step-2"/>
          <p:cNvSpPr/>
          <p:nvPr/>
        </p:nvSpPr>
        <p:spPr>
          <a:xfrm>
            <a:off x="5149901" y="1554480"/>
            <a:ext cx="1889150" cy="1600200"/>
          </a:xfrm>
          <a:prstGeom prst="roundRect">
            <a:avLst>
              <a:gd name="adj" fmla="val 6857"/>
            </a:avLst>
          </a:prstGeom>
          <a:solidFill>
            <a:schemeClr val="accent1"/>
          </a:solidFill>
          <a:ln/>
        </p:spPr>
      </p:sp>
      <p:sp>
        <p:nvSpPr>
          <p:cNvPr id="12" name="Text 10"/>
          <p:cNvSpPr txBox="1"/>
          <p:nvPr/>
        </p:nvSpPr>
        <p:spPr>
          <a:xfrm>
            <a:off x="5287061" y="1737360"/>
            <a:ext cx="1614830" cy="411480"/>
          </a:xfrm>
          <a:prstGeom prst="rect">
            <a:avLst/>
          </a:prstGeom>
          <a:noFill/>
          <a:ln/>
        </p:spPr>
        <p:txBody>
          <a:bodyPr wrap="square" lIns="0" tIns="0" rIns="0" bIns="0" rtlCol="0" anchor="t"/>
          <a:lstStyle/>
          <a:p>
            <a:pPr marL="0" indent="0" algn="ctr">
              <a:buNone/>
            </a:pPr>
            <a:r>
              <a:rPr lang="en-US" sz="1700" b="1" dirty="0">
                <a:solidFill>
                  <a:schemeClr val="bg1"/>
                </a:solidFill>
              </a:rPr>
              <a:t>Sprint (2 weeks)</a:t>
            </a:r>
            <a:endParaRPr lang="en-US" sz="1700" dirty="0"/>
          </a:p>
        </p:txBody>
      </p:sp>
      <p:sp>
        <p:nvSpPr>
          <p:cNvPr id="13" name="Text 11"/>
          <p:cNvSpPr txBox="1"/>
          <p:nvPr/>
        </p:nvSpPr>
        <p:spPr>
          <a:xfrm>
            <a:off x="5287061" y="2240280"/>
            <a:ext cx="1614830" cy="822960"/>
          </a:xfrm>
          <a:prstGeom prst="rect">
            <a:avLst/>
          </a:prstGeom>
          <a:noFill/>
          <a:ln/>
        </p:spPr>
        <p:txBody>
          <a:bodyPr wrap="square" lIns="0" tIns="0" rIns="0" bIns="0" rtlCol="0" anchor="t"/>
          <a:lstStyle/>
          <a:p>
            <a:pPr marL="0" indent="0" algn="ctr">
              <a:buNone/>
            </a:pPr>
            <a:r>
              <a:rPr lang="en-US" sz="1400" dirty="0">
                <a:solidFill>
                  <a:schemeClr val="bg1"/>
                </a:solidFill>
              </a:rPr>
              <a:t>Stand-ups as Jira comments, twice a week</a:t>
            </a:r>
            <a:endParaRPr lang="en-US" sz="1400" dirty="0"/>
          </a:p>
        </p:txBody>
      </p:sp>
      <p:sp>
        <p:nvSpPr>
          <p:cNvPr id="14" name="Shape 12"/>
          <p:cNvSpPr/>
          <p:nvPr/>
        </p:nvSpPr>
        <p:spPr>
          <a:xfrm>
            <a:off x="7084771" y="2354580"/>
            <a:ext cx="320040" cy="914"/>
          </a:xfrm>
          <a:prstGeom prst="line">
            <a:avLst/>
          </a:prstGeom>
          <a:noFill/>
          <a:ln w="22225">
            <a:solidFill>
              <a:schemeClr val="accent6"/>
            </a:solidFill>
            <a:prstDash val="solid"/>
            <a:tailEnd type="triangle"/>
          </a:ln>
        </p:spPr>
      </p:sp>
      <p:sp>
        <p:nvSpPr>
          <p:cNvPr id="15" name="step-3"/>
          <p:cNvSpPr/>
          <p:nvPr/>
        </p:nvSpPr>
        <p:spPr>
          <a:xfrm>
            <a:off x="7450531" y="1554480"/>
            <a:ext cx="1889150" cy="1600200"/>
          </a:xfrm>
          <a:prstGeom prst="roundRect">
            <a:avLst>
              <a:gd name="adj" fmla="val 6857"/>
            </a:avLst>
          </a:prstGeom>
          <a:solidFill>
            <a:schemeClr val="bg2"/>
          </a:solidFill>
          <a:ln/>
        </p:spPr>
      </p:sp>
      <p:sp>
        <p:nvSpPr>
          <p:cNvPr id="16" name="Text 14"/>
          <p:cNvSpPr txBox="1"/>
          <p:nvPr/>
        </p:nvSpPr>
        <p:spPr>
          <a:xfrm>
            <a:off x="7587691" y="1737360"/>
            <a:ext cx="1614830" cy="411480"/>
          </a:xfrm>
          <a:prstGeom prst="rect">
            <a:avLst/>
          </a:prstGeom>
          <a:noFill/>
          <a:ln/>
        </p:spPr>
        <p:txBody>
          <a:bodyPr wrap="square" lIns="0" tIns="0" rIns="0" bIns="0" rtlCol="0" anchor="t"/>
          <a:lstStyle/>
          <a:p>
            <a:pPr marL="0" indent="0" algn="ctr">
              <a:buNone/>
            </a:pPr>
            <a:r>
              <a:rPr lang="en-US" sz="1700" b="1" dirty="0">
                <a:solidFill>
                  <a:schemeClr val="tx2"/>
                </a:solidFill>
              </a:rPr>
              <a:t>Sprint review</a:t>
            </a:r>
            <a:endParaRPr lang="en-US" sz="1700" dirty="0"/>
          </a:p>
        </p:txBody>
      </p:sp>
      <p:sp>
        <p:nvSpPr>
          <p:cNvPr id="17" name="Text 15"/>
          <p:cNvSpPr txBox="1"/>
          <p:nvPr/>
        </p:nvSpPr>
        <p:spPr>
          <a:xfrm>
            <a:off x="7587691" y="2240280"/>
            <a:ext cx="1614830" cy="822960"/>
          </a:xfrm>
          <a:prstGeom prst="rect">
            <a:avLst/>
          </a:prstGeom>
          <a:noFill/>
          <a:ln/>
        </p:spPr>
        <p:txBody>
          <a:bodyPr wrap="square" lIns="0" tIns="0" rIns="0" bIns="0" rtlCol="0" anchor="t"/>
          <a:lstStyle/>
          <a:p>
            <a:pPr marL="0" indent="0" algn="ctr">
              <a:buNone/>
            </a:pPr>
            <a:r>
              <a:rPr lang="en-US" sz="1400" dirty="0">
                <a:solidFill>
                  <a:schemeClr val="tx1"/>
                </a:solidFill>
              </a:rPr>
              <a:t>Demo the increment, log feedback</a:t>
            </a:r>
            <a:endParaRPr lang="en-US" sz="1400" dirty="0"/>
          </a:p>
        </p:txBody>
      </p:sp>
      <p:sp>
        <p:nvSpPr>
          <p:cNvPr id="18" name="Shape 16"/>
          <p:cNvSpPr/>
          <p:nvPr/>
        </p:nvSpPr>
        <p:spPr>
          <a:xfrm>
            <a:off x="9385402" y="2354580"/>
            <a:ext cx="320040" cy="914"/>
          </a:xfrm>
          <a:prstGeom prst="line">
            <a:avLst/>
          </a:prstGeom>
          <a:noFill/>
          <a:ln w="22225">
            <a:solidFill>
              <a:schemeClr val="accent6"/>
            </a:solidFill>
            <a:prstDash val="solid"/>
            <a:tailEnd type="triangle"/>
          </a:ln>
        </p:spPr>
      </p:sp>
      <p:sp>
        <p:nvSpPr>
          <p:cNvPr id="19" name="step-4"/>
          <p:cNvSpPr/>
          <p:nvPr/>
        </p:nvSpPr>
        <p:spPr>
          <a:xfrm>
            <a:off x="9751162" y="1554480"/>
            <a:ext cx="1889150" cy="1600200"/>
          </a:xfrm>
          <a:prstGeom prst="roundRect">
            <a:avLst>
              <a:gd name="adj" fmla="val 6857"/>
            </a:avLst>
          </a:prstGeom>
          <a:solidFill>
            <a:schemeClr val="bg2"/>
          </a:solidFill>
          <a:ln/>
        </p:spPr>
      </p:sp>
      <p:sp>
        <p:nvSpPr>
          <p:cNvPr id="20" name="Text 18"/>
          <p:cNvSpPr txBox="1"/>
          <p:nvPr/>
        </p:nvSpPr>
        <p:spPr>
          <a:xfrm>
            <a:off x="9888322" y="1737360"/>
            <a:ext cx="1614830" cy="411480"/>
          </a:xfrm>
          <a:prstGeom prst="rect">
            <a:avLst/>
          </a:prstGeom>
          <a:noFill/>
          <a:ln/>
        </p:spPr>
        <p:txBody>
          <a:bodyPr wrap="square" lIns="0" tIns="0" rIns="0" bIns="0" rtlCol="0" anchor="t"/>
          <a:lstStyle/>
          <a:p>
            <a:pPr marL="0" indent="0" algn="ctr">
              <a:buNone/>
            </a:pPr>
            <a:r>
              <a:rPr lang="en-US" sz="1700" b="1" dirty="0">
                <a:solidFill>
                  <a:schemeClr val="tx2"/>
                </a:solidFill>
              </a:rPr>
              <a:t>Retrospective</a:t>
            </a:r>
            <a:endParaRPr lang="en-US" sz="1700" dirty="0"/>
          </a:p>
        </p:txBody>
      </p:sp>
      <p:sp>
        <p:nvSpPr>
          <p:cNvPr id="21" name="Text 19"/>
          <p:cNvSpPr txBox="1"/>
          <p:nvPr/>
        </p:nvSpPr>
        <p:spPr>
          <a:xfrm>
            <a:off x="9888322" y="2240280"/>
            <a:ext cx="1614830" cy="822960"/>
          </a:xfrm>
          <a:prstGeom prst="rect">
            <a:avLst/>
          </a:prstGeom>
          <a:noFill/>
          <a:ln/>
        </p:spPr>
        <p:txBody>
          <a:bodyPr wrap="square" lIns="0" tIns="0" rIns="0" bIns="0" rtlCol="0" anchor="t"/>
          <a:lstStyle/>
          <a:p>
            <a:pPr marL="0" indent="0" algn="ctr">
              <a:buNone/>
            </a:pPr>
            <a:r>
              <a:rPr lang="en-US" sz="1400" dirty="0">
                <a:solidFill>
                  <a:schemeClr val="tx1"/>
                </a:solidFill>
              </a:rPr>
              <a:t>Improve how we work next time</a:t>
            </a:r>
            <a:endParaRPr lang="en-US" sz="1400" dirty="0"/>
          </a:p>
        </p:txBody>
      </p:sp>
      <p:sp>
        <p:nvSpPr>
          <p:cNvPr id="22" name="Shape 20"/>
          <p:cNvSpPr/>
          <p:nvPr/>
        </p:nvSpPr>
        <p:spPr>
          <a:xfrm>
            <a:off x="10695737" y="3154680"/>
            <a:ext cx="914" cy="640080"/>
          </a:xfrm>
          <a:prstGeom prst="line">
            <a:avLst/>
          </a:prstGeom>
          <a:noFill/>
          <a:ln w="22225">
            <a:solidFill>
              <a:schemeClr val="accent6"/>
            </a:solidFill>
            <a:prstDash val="solid"/>
          </a:ln>
        </p:spPr>
      </p:sp>
      <p:sp>
        <p:nvSpPr>
          <p:cNvPr id="23" name="Shape 21"/>
          <p:cNvSpPr/>
          <p:nvPr/>
        </p:nvSpPr>
        <p:spPr>
          <a:xfrm>
            <a:off x="3793846" y="3794760"/>
            <a:ext cx="6901891" cy="914"/>
          </a:xfrm>
          <a:prstGeom prst="line">
            <a:avLst/>
          </a:prstGeom>
          <a:noFill/>
          <a:ln w="22225">
            <a:solidFill>
              <a:schemeClr val="accent6"/>
            </a:solidFill>
            <a:prstDash val="solid"/>
          </a:ln>
        </p:spPr>
      </p:sp>
      <p:sp>
        <p:nvSpPr>
          <p:cNvPr id="24" name="Shape 22"/>
          <p:cNvSpPr/>
          <p:nvPr/>
        </p:nvSpPr>
        <p:spPr>
          <a:xfrm flipV="1">
            <a:off x="3793846" y="3182112"/>
            <a:ext cx="914" cy="612648"/>
          </a:xfrm>
          <a:prstGeom prst="line">
            <a:avLst/>
          </a:prstGeom>
          <a:noFill/>
          <a:ln w="22225">
            <a:solidFill>
              <a:schemeClr val="accent6"/>
            </a:solidFill>
            <a:prstDash val="solid"/>
            <a:tailEnd type="triangle"/>
          </a:ln>
        </p:spPr>
      </p:sp>
      <p:sp>
        <p:nvSpPr>
          <p:cNvPr id="25" name="Text 23"/>
          <p:cNvSpPr txBox="1"/>
          <p:nvPr/>
        </p:nvSpPr>
        <p:spPr>
          <a:xfrm>
            <a:off x="6330391" y="3867912"/>
            <a:ext cx="1828800" cy="320040"/>
          </a:xfrm>
          <a:prstGeom prst="rect">
            <a:avLst/>
          </a:prstGeom>
          <a:noFill/>
          <a:ln/>
        </p:spPr>
        <p:txBody>
          <a:bodyPr wrap="square" lIns="0" tIns="0" rIns="0" bIns="0" rtlCol="0" anchor="t"/>
          <a:lstStyle/>
          <a:p>
            <a:pPr marL="0" indent="0" algn="ctr">
              <a:buNone/>
            </a:pPr>
            <a:r>
              <a:rPr lang="en-US" sz="1400" i="1" dirty="0">
                <a:solidFill>
                  <a:schemeClr val="accent6"/>
                </a:solidFill>
              </a:rPr>
              <a:t>next sprint</a:t>
            </a:r>
            <a:endParaRPr lang="en-US" sz="1400" dirty="0"/>
          </a:p>
        </p:txBody>
      </p:sp>
      <p:sp>
        <p:nvSpPr>
          <p:cNvPr id="26" name="increment"/>
          <p:cNvSpPr/>
          <p:nvPr/>
        </p:nvSpPr>
        <p:spPr>
          <a:xfrm>
            <a:off x="548640" y="4572000"/>
            <a:ext cx="11091672" cy="1188720"/>
          </a:xfrm>
          <a:prstGeom prst="roundRect">
            <a:avLst>
              <a:gd name="adj" fmla="val 9231"/>
            </a:avLst>
          </a:prstGeom>
          <a:solidFill>
            <a:schemeClr val="bg2"/>
          </a:solidFill>
          <a:ln/>
        </p:spPr>
      </p:sp>
      <p:sp>
        <p:nvSpPr>
          <p:cNvPr id="27" name="icon-bg-FaRocket"/>
          <p:cNvSpPr/>
          <p:nvPr/>
        </p:nvSpPr>
        <p:spPr>
          <a:xfrm>
            <a:off x="868680" y="4800600"/>
            <a:ext cx="731520" cy="731520"/>
          </a:xfrm>
          <a:prstGeom prst="ellipse">
            <a:avLst/>
          </a:prstGeom>
          <a:solidFill>
            <a:schemeClr val="accent2"/>
          </a:solidFill>
          <a:ln/>
        </p:spPr>
      </p:sp>
      <p:pic>
        <p:nvPicPr>
          <p:cNvPr id="28" name="Image 0" descr="Rocket icon"/>
          <p:cNvPicPr>
            <a:picLocks noChangeAspect="1"/>
          </p:cNvPicPr>
          <p:nvPr/>
        </p:nvPicPr>
        <p:blipFill>
          <a:blip r:embed="rId3"/>
          <a:stretch>
            <a:fillRect/>
          </a:stretch>
        </p:blipFill>
        <p:spPr>
          <a:xfrm>
            <a:off x="1044245" y="4976165"/>
            <a:ext cx="380390" cy="380390"/>
          </a:xfrm>
          <a:prstGeom prst="rect">
            <a:avLst/>
          </a:prstGeom>
        </p:spPr>
      </p:pic>
      <p:sp>
        <p:nvSpPr>
          <p:cNvPr id="29" name="Text 26"/>
          <p:cNvSpPr txBox="1"/>
          <p:nvPr/>
        </p:nvSpPr>
        <p:spPr>
          <a:xfrm>
            <a:off x="1828800" y="4800600"/>
            <a:ext cx="9445752" cy="731520"/>
          </a:xfrm>
          <a:prstGeom prst="rect">
            <a:avLst/>
          </a:prstGeom>
          <a:noFill/>
          <a:ln/>
        </p:spPr>
        <p:txBody>
          <a:bodyPr wrap="square" lIns="0" tIns="0" rIns="0" bIns="0" rtlCol="0" anchor="ctr"/>
          <a:lstStyle/>
          <a:p>
            <a:pPr marL="0" indent="0">
              <a:buNone/>
            </a:pPr>
            <a:r>
              <a:rPr lang="en-US" sz="1800" b="1" dirty="0">
                <a:solidFill>
                  <a:schemeClr val="tx2"/>
                </a:solidFill>
              </a:rPr>
              <a:t>Output of every sprint: </a:t>
            </a:r>
            <a:r>
              <a:rPr lang="en-US" sz="1800" dirty="0">
                <a:solidFill>
                  <a:schemeClr val="tx1"/>
                </a:solidFill>
              </a:rPr>
              <a:t>a working, tested Increment that meets the Definition of Done and can be demoed.</a:t>
            </a:r>
            <a:endParaRPr lang="en-US" sz="1800" dirty="0"/>
          </a:p>
        </p:txBody>
      </p:sp>
      <p:sp>
        <p:nvSpPr>
          <p:cNvPr id="30"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Three artifacts, three commitments</a:t>
            </a:r>
            <a:endParaRPr lang="en-US" sz="3600" dirty="0"/>
          </a:p>
        </p:txBody>
      </p:sp>
      <p:sp>
        <p:nvSpPr>
          <p:cNvPr id="3" name="artifact-0"/>
          <p:cNvSpPr/>
          <p:nvPr/>
        </p:nvSpPr>
        <p:spPr>
          <a:xfrm>
            <a:off x="548640" y="1463040"/>
            <a:ext cx="11091672" cy="1280160"/>
          </a:xfrm>
          <a:prstGeom prst="roundRect">
            <a:avLst>
              <a:gd name="adj" fmla="val 8571"/>
            </a:avLst>
          </a:prstGeom>
          <a:solidFill>
            <a:schemeClr val="bg2"/>
          </a:solidFill>
          <a:ln/>
        </p:spPr>
      </p:sp>
      <p:sp>
        <p:nvSpPr>
          <p:cNvPr id="4" name="icon-bg-FaListUl"/>
          <p:cNvSpPr/>
          <p:nvPr/>
        </p:nvSpPr>
        <p:spPr>
          <a:xfrm>
            <a:off x="822960" y="1737360"/>
            <a:ext cx="731520" cy="731520"/>
          </a:xfrm>
          <a:prstGeom prst="ellipse">
            <a:avLst/>
          </a:prstGeom>
          <a:solidFill>
            <a:schemeClr val="accent2"/>
          </a:solidFill>
          <a:ln/>
        </p:spPr>
      </p:sp>
      <p:pic>
        <p:nvPicPr>
          <p:cNvPr id="5" name="Image 0" descr="ListUl icon"/>
          <p:cNvPicPr>
            <a:picLocks noChangeAspect="1"/>
          </p:cNvPicPr>
          <p:nvPr/>
        </p:nvPicPr>
        <p:blipFill>
          <a:blip r:embed="rId3"/>
          <a:stretch>
            <a:fillRect/>
          </a:stretch>
        </p:blipFill>
        <p:spPr>
          <a:xfrm>
            <a:off x="998525" y="1912925"/>
            <a:ext cx="380390" cy="380390"/>
          </a:xfrm>
          <a:prstGeom prst="rect">
            <a:avLst/>
          </a:prstGeom>
        </p:spPr>
      </p:pic>
      <p:sp>
        <p:nvSpPr>
          <p:cNvPr id="6" name="Text 3"/>
          <p:cNvSpPr txBox="1"/>
          <p:nvPr/>
        </p:nvSpPr>
        <p:spPr>
          <a:xfrm>
            <a:off x="1828800" y="1737360"/>
            <a:ext cx="2743200" cy="73152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Product Backlog</a:t>
            </a:r>
            <a:endParaRPr lang="en-US" sz="2200" dirty="0"/>
          </a:p>
        </p:txBody>
      </p:sp>
      <p:sp>
        <p:nvSpPr>
          <p:cNvPr id="7" name="Text 4"/>
          <p:cNvSpPr txBox="1"/>
          <p:nvPr/>
        </p:nvSpPr>
        <p:spPr>
          <a:xfrm>
            <a:off x="4663440" y="1737360"/>
            <a:ext cx="4206240" cy="731520"/>
          </a:xfrm>
          <a:prstGeom prst="rect">
            <a:avLst/>
          </a:prstGeom>
          <a:noFill/>
          <a:ln/>
        </p:spPr>
        <p:txBody>
          <a:bodyPr wrap="square" lIns="0" tIns="0" rIns="0" bIns="0" rtlCol="0" anchor="ctr"/>
          <a:lstStyle/>
          <a:p>
            <a:pPr marL="0" indent="0">
              <a:buNone/>
            </a:pPr>
            <a:r>
              <a:rPr lang="en-US" sz="1700" dirty="0">
                <a:solidFill>
                  <a:schemeClr val="tx1"/>
                </a:solidFill>
              </a:rPr>
              <a:t>Ordered list of everything Version 2.0 needs</a:t>
            </a:r>
            <a:endParaRPr lang="en-US" sz="1700" dirty="0"/>
          </a:p>
        </p:txBody>
      </p:sp>
      <p:sp>
        <p:nvSpPr>
          <p:cNvPr id="8" name="Text 5"/>
          <p:cNvSpPr txBox="1"/>
          <p:nvPr/>
        </p:nvSpPr>
        <p:spPr>
          <a:xfrm>
            <a:off x="9098280" y="1627632"/>
            <a:ext cx="2286000" cy="274320"/>
          </a:xfrm>
          <a:prstGeom prst="rect">
            <a:avLst/>
          </a:prstGeom>
          <a:noFill/>
          <a:ln/>
        </p:spPr>
        <p:txBody>
          <a:bodyPr wrap="square" lIns="0" tIns="0" rIns="0" bIns="0" rtlCol="0" anchor="t"/>
          <a:lstStyle/>
          <a:p>
            <a:pPr marL="0" indent="0">
              <a:buNone/>
            </a:pPr>
            <a:r>
              <a:rPr lang="en-US" sz="1100" b="1" kern="0" spc="200" dirty="0">
                <a:solidFill>
                  <a:schemeClr val="accent6"/>
                </a:solidFill>
              </a:rPr>
              <a:t>COMMITMENT</a:t>
            </a:r>
            <a:endParaRPr lang="en-US" sz="1100" dirty="0"/>
          </a:p>
        </p:txBody>
      </p:sp>
      <p:sp>
        <p:nvSpPr>
          <p:cNvPr id="9" name="badge-0"/>
          <p:cNvSpPr/>
          <p:nvPr/>
        </p:nvSpPr>
        <p:spPr>
          <a:xfrm>
            <a:off x="9098280" y="1965960"/>
            <a:ext cx="2286000" cy="548640"/>
          </a:xfrm>
          <a:prstGeom prst="roundRect">
            <a:avLst>
              <a:gd name="adj" fmla="val 50000"/>
            </a:avLst>
          </a:prstGeom>
          <a:solidFill>
            <a:schemeClr val="accent1"/>
          </a:solidFill>
          <a:ln/>
        </p:spPr>
      </p:sp>
      <p:sp>
        <p:nvSpPr>
          <p:cNvPr id="10" name="Text 7"/>
          <p:cNvSpPr txBox="1"/>
          <p:nvPr/>
        </p:nvSpPr>
        <p:spPr>
          <a:xfrm>
            <a:off x="9098280" y="1965960"/>
            <a:ext cx="2286000" cy="548640"/>
          </a:xfrm>
          <a:prstGeom prst="rect">
            <a:avLst/>
          </a:prstGeom>
          <a:noFill/>
          <a:ln/>
        </p:spPr>
        <p:txBody>
          <a:bodyPr wrap="square" lIns="0" tIns="0" rIns="0" bIns="0" rtlCol="0" anchor="ctr"/>
          <a:lstStyle/>
          <a:p>
            <a:pPr marL="0" indent="0" algn="ctr">
              <a:buNone/>
            </a:pPr>
            <a:r>
              <a:rPr lang="en-US" sz="1500" b="1" dirty="0">
                <a:solidFill>
                  <a:schemeClr val="bg1"/>
                </a:solidFill>
              </a:rPr>
              <a:t>Product Goal</a:t>
            </a:r>
            <a:endParaRPr lang="en-US" sz="1500" dirty="0"/>
          </a:p>
        </p:txBody>
      </p:sp>
      <p:sp>
        <p:nvSpPr>
          <p:cNvPr id="11" name="artifact-1"/>
          <p:cNvSpPr/>
          <p:nvPr/>
        </p:nvSpPr>
        <p:spPr>
          <a:xfrm>
            <a:off x="548640" y="2971800"/>
            <a:ext cx="11091672" cy="1280160"/>
          </a:xfrm>
          <a:prstGeom prst="roundRect">
            <a:avLst>
              <a:gd name="adj" fmla="val 8571"/>
            </a:avLst>
          </a:prstGeom>
          <a:solidFill>
            <a:schemeClr val="bg2"/>
          </a:solidFill>
          <a:ln/>
        </p:spPr>
      </p:sp>
      <p:sp>
        <p:nvSpPr>
          <p:cNvPr id="12" name="icon-bg-FaClipboardList"/>
          <p:cNvSpPr/>
          <p:nvPr/>
        </p:nvSpPr>
        <p:spPr>
          <a:xfrm>
            <a:off x="822960" y="3246120"/>
            <a:ext cx="731520" cy="731520"/>
          </a:xfrm>
          <a:prstGeom prst="ellipse">
            <a:avLst/>
          </a:prstGeom>
          <a:solidFill>
            <a:schemeClr val="accent2"/>
          </a:solidFill>
          <a:ln/>
        </p:spPr>
      </p:sp>
      <p:pic>
        <p:nvPicPr>
          <p:cNvPr id="13" name="Image 1" descr="ClipboardList icon"/>
          <p:cNvPicPr>
            <a:picLocks noChangeAspect="1"/>
          </p:cNvPicPr>
          <p:nvPr/>
        </p:nvPicPr>
        <p:blipFill>
          <a:blip r:embed="rId4"/>
          <a:stretch>
            <a:fillRect/>
          </a:stretch>
        </p:blipFill>
        <p:spPr>
          <a:xfrm>
            <a:off x="998525" y="3421685"/>
            <a:ext cx="380390" cy="380390"/>
          </a:xfrm>
          <a:prstGeom prst="rect">
            <a:avLst/>
          </a:prstGeom>
        </p:spPr>
      </p:pic>
      <p:sp>
        <p:nvSpPr>
          <p:cNvPr id="14" name="Text 10"/>
          <p:cNvSpPr txBox="1"/>
          <p:nvPr/>
        </p:nvSpPr>
        <p:spPr>
          <a:xfrm>
            <a:off x="1828800" y="3246120"/>
            <a:ext cx="2743200" cy="73152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Sprint Backlog</a:t>
            </a:r>
            <a:endParaRPr lang="en-US" sz="2200" dirty="0"/>
          </a:p>
        </p:txBody>
      </p:sp>
      <p:sp>
        <p:nvSpPr>
          <p:cNvPr id="15" name="Text 11"/>
          <p:cNvSpPr txBox="1"/>
          <p:nvPr/>
        </p:nvSpPr>
        <p:spPr>
          <a:xfrm>
            <a:off x="4663440" y="3246120"/>
            <a:ext cx="4206240" cy="731520"/>
          </a:xfrm>
          <a:prstGeom prst="rect">
            <a:avLst/>
          </a:prstGeom>
          <a:noFill/>
          <a:ln/>
        </p:spPr>
        <p:txBody>
          <a:bodyPr wrap="square" lIns="0" tIns="0" rIns="0" bIns="0" rtlCol="0" anchor="ctr"/>
          <a:lstStyle/>
          <a:p>
            <a:pPr marL="0" indent="0">
              <a:buNone/>
            </a:pPr>
            <a:r>
              <a:rPr lang="en-US" sz="1700" dirty="0">
                <a:solidFill>
                  <a:schemeClr val="tx1"/>
                </a:solidFill>
              </a:rPr>
              <a:t>Stories picked for this sprint, plus the plan</a:t>
            </a:r>
            <a:endParaRPr lang="en-US" sz="1700" dirty="0"/>
          </a:p>
        </p:txBody>
      </p:sp>
      <p:sp>
        <p:nvSpPr>
          <p:cNvPr id="16" name="Text 12"/>
          <p:cNvSpPr txBox="1"/>
          <p:nvPr/>
        </p:nvSpPr>
        <p:spPr>
          <a:xfrm>
            <a:off x="9098280" y="3136392"/>
            <a:ext cx="2286000" cy="274320"/>
          </a:xfrm>
          <a:prstGeom prst="rect">
            <a:avLst/>
          </a:prstGeom>
          <a:noFill/>
          <a:ln/>
        </p:spPr>
        <p:txBody>
          <a:bodyPr wrap="square" lIns="0" tIns="0" rIns="0" bIns="0" rtlCol="0" anchor="t"/>
          <a:lstStyle/>
          <a:p>
            <a:pPr marL="0" indent="0">
              <a:buNone/>
            </a:pPr>
            <a:r>
              <a:rPr lang="en-US" sz="1100" b="1" kern="0" spc="200" dirty="0">
                <a:solidFill>
                  <a:schemeClr val="accent6"/>
                </a:solidFill>
              </a:rPr>
              <a:t>COMMITMENT</a:t>
            </a:r>
            <a:endParaRPr lang="en-US" sz="1100" dirty="0"/>
          </a:p>
        </p:txBody>
      </p:sp>
      <p:sp>
        <p:nvSpPr>
          <p:cNvPr id="17" name="badge-1"/>
          <p:cNvSpPr/>
          <p:nvPr/>
        </p:nvSpPr>
        <p:spPr>
          <a:xfrm>
            <a:off x="9098280" y="3474720"/>
            <a:ext cx="2286000" cy="548640"/>
          </a:xfrm>
          <a:prstGeom prst="roundRect">
            <a:avLst>
              <a:gd name="adj" fmla="val 50000"/>
            </a:avLst>
          </a:prstGeom>
          <a:solidFill>
            <a:schemeClr val="accent1"/>
          </a:solidFill>
          <a:ln/>
        </p:spPr>
      </p:sp>
      <p:sp>
        <p:nvSpPr>
          <p:cNvPr id="18" name="Text 14"/>
          <p:cNvSpPr txBox="1"/>
          <p:nvPr/>
        </p:nvSpPr>
        <p:spPr>
          <a:xfrm>
            <a:off x="9098280" y="3474720"/>
            <a:ext cx="2286000" cy="548640"/>
          </a:xfrm>
          <a:prstGeom prst="rect">
            <a:avLst/>
          </a:prstGeom>
          <a:noFill/>
          <a:ln/>
        </p:spPr>
        <p:txBody>
          <a:bodyPr wrap="square" lIns="0" tIns="0" rIns="0" bIns="0" rtlCol="0" anchor="ctr"/>
          <a:lstStyle/>
          <a:p>
            <a:pPr marL="0" indent="0" algn="ctr">
              <a:buNone/>
            </a:pPr>
            <a:r>
              <a:rPr lang="en-US" sz="1500" b="1" dirty="0">
                <a:solidFill>
                  <a:schemeClr val="bg1"/>
                </a:solidFill>
              </a:rPr>
              <a:t>Sprint Goal</a:t>
            </a:r>
            <a:endParaRPr lang="en-US" sz="1500" dirty="0"/>
          </a:p>
        </p:txBody>
      </p:sp>
      <p:sp>
        <p:nvSpPr>
          <p:cNvPr id="19" name="artifact-2"/>
          <p:cNvSpPr/>
          <p:nvPr/>
        </p:nvSpPr>
        <p:spPr>
          <a:xfrm>
            <a:off x="548640" y="4480560"/>
            <a:ext cx="11091672" cy="1280160"/>
          </a:xfrm>
          <a:prstGeom prst="roundRect">
            <a:avLst>
              <a:gd name="adj" fmla="val 8571"/>
            </a:avLst>
          </a:prstGeom>
          <a:solidFill>
            <a:schemeClr val="bg2"/>
          </a:solidFill>
          <a:ln/>
        </p:spPr>
      </p:sp>
      <p:sp>
        <p:nvSpPr>
          <p:cNvPr id="20" name="icon-bg-FaRocket"/>
          <p:cNvSpPr/>
          <p:nvPr/>
        </p:nvSpPr>
        <p:spPr>
          <a:xfrm>
            <a:off x="822960" y="4754880"/>
            <a:ext cx="731520" cy="731520"/>
          </a:xfrm>
          <a:prstGeom prst="ellipse">
            <a:avLst/>
          </a:prstGeom>
          <a:solidFill>
            <a:schemeClr val="accent2"/>
          </a:solidFill>
          <a:ln/>
        </p:spPr>
      </p:sp>
      <p:pic>
        <p:nvPicPr>
          <p:cNvPr id="21" name="Image 2" descr="Rocket icon"/>
          <p:cNvPicPr>
            <a:picLocks noChangeAspect="1"/>
          </p:cNvPicPr>
          <p:nvPr/>
        </p:nvPicPr>
        <p:blipFill>
          <a:blip r:embed="rId5"/>
          <a:stretch>
            <a:fillRect/>
          </a:stretch>
        </p:blipFill>
        <p:spPr>
          <a:xfrm>
            <a:off x="998525" y="4930445"/>
            <a:ext cx="380390" cy="380390"/>
          </a:xfrm>
          <a:prstGeom prst="rect">
            <a:avLst/>
          </a:prstGeom>
        </p:spPr>
      </p:pic>
      <p:sp>
        <p:nvSpPr>
          <p:cNvPr id="22" name="Text 17"/>
          <p:cNvSpPr txBox="1"/>
          <p:nvPr/>
        </p:nvSpPr>
        <p:spPr>
          <a:xfrm>
            <a:off x="1828800" y="4754880"/>
            <a:ext cx="2743200" cy="73152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Increment</a:t>
            </a:r>
            <a:endParaRPr lang="en-US" sz="2200" dirty="0"/>
          </a:p>
        </p:txBody>
      </p:sp>
      <p:sp>
        <p:nvSpPr>
          <p:cNvPr id="23" name="Text 18"/>
          <p:cNvSpPr txBox="1"/>
          <p:nvPr/>
        </p:nvSpPr>
        <p:spPr>
          <a:xfrm>
            <a:off x="4663440" y="4754880"/>
            <a:ext cx="4206240" cy="731520"/>
          </a:xfrm>
          <a:prstGeom prst="rect">
            <a:avLst/>
          </a:prstGeom>
          <a:noFill/>
          <a:ln/>
        </p:spPr>
        <p:txBody>
          <a:bodyPr wrap="square" lIns="0" tIns="0" rIns="0" bIns="0" rtlCol="0" anchor="ctr"/>
          <a:lstStyle/>
          <a:p>
            <a:pPr marL="0" indent="0">
              <a:buNone/>
            </a:pPr>
            <a:r>
              <a:rPr lang="en-US" sz="1700" dirty="0">
                <a:solidFill>
                  <a:schemeClr val="tx1"/>
                </a:solidFill>
              </a:rPr>
              <a:t>Working, tested, deployed software at sprint end</a:t>
            </a:r>
            <a:endParaRPr lang="en-US" sz="1700" dirty="0"/>
          </a:p>
        </p:txBody>
      </p:sp>
      <p:sp>
        <p:nvSpPr>
          <p:cNvPr id="24" name="Text 19"/>
          <p:cNvSpPr txBox="1"/>
          <p:nvPr/>
        </p:nvSpPr>
        <p:spPr>
          <a:xfrm>
            <a:off x="9098280" y="4645152"/>
            <a:ext cx="2286000" cy="274320"/>
          </a:xfrm>
          <a:prstGeom prst="rect">
            <a:avLst/>
          </a:prstGeom>
          <a:noFill/>
          <a:ln/>
        </p:spPr>
        <p:txBody>
          <a:bodyPr wrap="square" lIns="0" tIns="0" rIns="0" bIns="0" rtlCol="0" anchor="t"/>
          <a:lstStyle/>
          <a:p>
            <a:pPr marL="0" indent="0">
              <a:buNone/>
            </a:pPr>
            <a:r>
              <a:rPr lang="en-US" sz="1100" b="1" kern="0" spc="200" dirty="0">
                <a:solidFill>
                  <a:schemeClr val="accent6"/>
                </a:solidFill>
              </a:rPr>
              <a:t>COMMITMENT</a:t>
            </a:r>
            <a:endParaRPr lang="en-US" sz="1100" dirty="0"/>
          </a:p>
        </p:txBody>
      </p:sp>
      <p:sp>
        <p:nvSpPr>
          <p:cNvPr id="25" name="badge-2"/>
          <p:cNvSpPr/>
          <p:nvPr/>
        </p:nvSpPr>
        <p:spPr>
          <a:xfrm>
            <a:off x="9098280" y="4983480"/>
            <a:ext cx="2286000" cy="548640"/>
          </a:xfrm>
          <a:prstGeom prst="roundRect">
            <a:avLst>
              <a:gd name="adj" fmla="val 50000"/>
            </a:avLst>
          </a:prstGeom>
          <a:solidFill>
            <a:schemeClr val="accent1"/>
          </a:solidFill>
          <a:ln/>
        </p:spPr>
      </p:sp>
      <p:sp>
        <p:nvSpPr>
          <p:cNvPr id="26" name="Text 21"/>
          <p:cNvSpPr txBox="1"/>
          <p:nvPr/>
        </p:nvSpPr>
        <p:spPr>
          <a:xfrm>
            <a:off x="9098280" y="4983480"/>
            <a:ext cx="2286000" cy="548640"/>
          </a:xfrm>
          <a:prstGeom prst="rect">
            <a:avLst/>
          </a:prstGeom>
          <a:noFill/>
          <a:ln/>
        </p:spPr>
        <p:txBody>
          <a:bodyPr wrap="square" lIns="0" tIns="0" rIns="0" bIns="0" rtlCol="0" anchor="ctr"/>
          <a:lstStyle/>
          <a:p>
            <a:pPr marL="0" indent="0" algn="ctr">
              <a:buNone/>
            </a:pPr>
            <a:r>
              <a:rPr lang="en-US" sz="1500" b="1" dirty="0">
                <a:solidFill>
                  <a:schemeClr val="bg1"/>
                </a:solidFill>
              </a:rPr>
              <a:t>Definition of Done</a:t>
            </a:r>
            <a:endParaRPr lang="en-US" sz="1500" dirty="0"/>
          </a:p>
        </p:txBody>
      </p:sp>
      <p:sp>
        <p:nvSpPr>
          <p:cNvPr id="27"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6858000" cy="548640"/>
          </a:xfrm>
          <a:prstGeom prst="rect">
            <a:avLst/>
          </a:prstGeom>
          <a:noFill/>
          <a:ln/>
        </p:spPr>
        <p:txBody>
          <a:bodyPr wrap="square" lIns="0" tIns="0" rIns="0" bIns="0" rtlCol="0"/>
          <a:lstStyle/>
          <a:p>
            <a:pPr marL="0" indent="0">
              <a:buNone/>
            </a:pPr>
            <a:r>
              <a:rPr lang="en-US" sz="1800" b="1" dirty="0">
                <a:solidFill>
                  <a:schemeClr val="accent4"/>
                </a:solidFill>
              </a:rPr>
              <a:t>PART 2</a:t>
            </a:r>
            <a:endParaRPr lang="en-US" sz="1800" dirty="0"/>
          </a:p>
        </p:txBody>
      </p:sp>
      <p:sp>
        <p:nvSpPr>
          <p:cNvPr id="3" name="Text 0"/>
          <p:cNvSpPr>
            <a:spLocks noGrp="1"/>
          </p:cNvSpPr>
          <p:nvPr>
            <p:ph type="title" idx="101" hasCustomPrompt="1"/>
          </p:nvPr>
        </p:nvSpPr>
        <p:spPr>
          <a:xfrm>
            <a:off x="731520" y="2377440"/>
            <a:ext cx="6858000" cy="1463040"/>
          </a:xfrm>
          <a:prstGeom prst="rect">
            <a:avLst/>
          </a:prstGeom>
          <a:noFill/>
          <a:ln/>
        </p:spPr>
        <p:txBody>
          <a:bodyPr wrap="square" lIns="0" tIns="0" rIns="0" bIns="0" rtlCol="0" anchor="t"/>
          <a:lstStyle/>
          <a:p>
            <a:pPr marL="0" indent="0" algn="l">
              <a:buNone/>
            </a:pPr>
            <a:r>
              <a:rPr lang="en-US" sz="4400" b="1" dirty="0">
                <a:solidFill>
                  <a:schemeClr val="bg1"/>
                </a:solidFill>
              </a:rPr>
              <a:t>Building the backlog</a:t>
            </a:r>
            <a:endParaRPr lang="en-US" sz="4400" dirty="0"/>
          </a:p>
        </p:txBody>
      </p:sp>
      <p:sp>
        <p:nvSpPr>
          <p:cNvPr id="4" name="icon-bg-FaClipboardList"/>
          <p:cNvSpPr/>
          <p:nvPr/>
        </p:nvSpPr>
        <p:spPr>
          <a:xfrm>
            <a:off x="8778240" y="2011680"/>
            <a:ext cx="2194560" cy="2194560"/>
          </a:xfrm>
          <a:prstGeom prst="ellipse">
            <a:avLst/>
          </a:prstGeom>
          <a:solidFill>
            <a:schemeClr val="accent1"/>
          </a:solidFill>
          <a:ln/>
        </p:spPr>
      </p:sp>
      <p:pic>
        <p:nvPicPr>
          <p:cNvPr id="5" name="Image 0" descr="ClipboardList icon"/>
          <p:cNvPicPr>
            <a:picLocks noChangeAspect="1"/>
          </p:cNvPicPr>
          <p:nvPr/>
        </p:nvPicPr>
        <p:blipFill>
          <a:blip r:embed="rId3"/>
          <a:stretch>
            <a:fillRect/>
          </a:stretch>
        </p:blipFill>
        <p:spPr>
          <a:xfrm>
            <a:off x="9304934" y="2538374"/>
            <a:ext cx="1141171" cy="1141171"/>
          </a:xfrm>
          <a:prstGeom prst="rect">
            <a:avLst/>
          </a:prstGeom>
        </p:spPr>
      </p:pic>
      <p:sp>
        <p:nvSpPr>
          <p:cNvPr id="6" name="Text 3"/>
          <p:cNvSpPr txBox="1"/>
          <p:nvPr/>
        </p:nvSpPr>
        <p:spPr>
          <a:xfrm>
            <a:off x="7863840" y="4480560"/>
            <a:ext cx="4023360" cy="457200"/>
          </a:xfrm>
          <a:prstGeom prst="rect">
            <a:avLst/>
          </a:prstGeom>
          <a:noFill/>
          <a:ln/>
        </p:spPr>
        <p:txBody>
          <a:bodyPr wrap="square" lIns="0" tIns="0" rIns="0" bIns="0" rtlCol="0" anchor="t"/>
          <a:lstStyle/>
          <a:p>
            <a:pPr marL="0" indent="0" algn="ctr">
              <a:buNone/>
            </a:pPr>
            <a:r>
              <a:rPr lang="en-US" sz="1800" dirty="0">
                <a:solidFill>
                  <a:schemeClr val="accent5"/>
                </a:solidFill>
              </a:rPr>
              <a:t>stories · criteria · points · Done</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Anatomy of a user story</a:t>
            </a:r>
            <a:endParaRPr lang="en-US" sz="3600" dirty="0"/>
          </a:p>
        </p:txBody>
      </p:sp>
      <p:sp>
        <p:nvSpPr>
          <p:cNvPr id="3" name="story-example"/>
          <p:cNvSpPr/>
          <p:nvPr/>
        </p:nvSpPr>
        <p:spPr>
          <a:xfrm>
            <a:off x="548640" y="1417320"/>
            <a:ext cx="11091672" cy="1463040"/>
          </a:xfrm>
          <a:prstGeom prst="roundRect">
            <a:avLst>
              <a:gd name="adj" fmla="val 7500"/>
            </a:avLst>
          </a:prstGeom>
          <a:solidFill>
            <a:schemeClr val="bg2"/>
          </a:solidFill>
          <a:ln/>
        </p:spPr>
      </p:sp>
      <p:sp>
        <p:nvSpPr>
          <p:cNvPr id="4" name="Text 2"/>
          <p:cNvSpPr txBox="1"/>
          <p:nvPr/>
        </p:nvSpPr>
        <p:spPr>
          <a:xfrm>
            <a:off x="914400" y="1554480"/>
            <a:ext cx="10360152" cy="1188720"/>
          </a:xfrm>
          <a:prstGeom prst="rect">
            <a:avLst/>
          </a:prstGeom>
          <a:noFill/>
          <a:ln/>
        </p:spPr>
        <p:txBody>
          <a:bodyPr wrap="square" lIns="0" tIns="0" rIns="0" bIns="0" rtlCol="0" anchor="ctr"/>
          <a:lstStyle/>
          <a:p>
            <a:pPr marL="0" indent="0">
              <a:buNone/>
            </a:pPr>
            <a:r>
              <a:rPr lang="en-US" sz="2600" dirty="0">
                <a:solidFill>
                  <a:schemeClr val="tx1"/>
                </a:solidFill>
                <a:latin typeface="Cambria" pitchFamily="34" charset="0"/>
                <a:ea typeface="Cambria" pitchFamily="34" charset="-122"/>
                <a:cs typeface="Cambria" pitchFamily="34" charset="-120"/>
              </a:rPr>
              <a:t>As a </a:t>
            </a:r>
            <a:r>
              <a:rPr lang="en-US" sz="2600" b="1" dirty="0">
                <a:solidFill>
                  <a:schemeClr val="accent2"/>
                </a:solidFill>
                <a:latin typeface="Cambria" pitchFamily="34" charset="0"/>
                <a:ea typeface="Cambria" pitchFamily="34" charset="-122"/>
                <a:cs typeface="Cambria" pitchFamily="34" charset="-120"/>
              </a:rPr>
              <a:t>student</a:t>
            </a:r>
            <a:r>
              <a:rPr lang="en-US" sz="2600" dirty="0">
                <a:solidFill>
                  <a:schemeClr val="tx1"/>
                </a:solidFill>
                <a:latin typeface="Cambria" pitchFamily="34" charset="0"/>
                <a:ea typeface="Cambria" pitchFamily="34" charset="-122"/>
                <a:cs typeface="Cambria" pitchFamily="34" charset="-120"/>
              </a:rPr>
              <a:t>, I want </a:t>
            </a:r>
            <a:r>
              <a:rPr lang="en-US" sz="2600" b="1" dirty="0">
                <a:solidFill>
                  <a:schemeClr val="accent1"/>
                </a:solidFill>
                <a:latin typeface="Cambria" pitchFamily="34" charset="0"/>
                <a:ea typeface="Cambria" pitchFamily="34" charset="-122"/>
                <a:cs typeface="Cambria" pitchFamily="34" charset="-120"/>
              </a:rPr>
              <a:t>to view my semester GPA online</a:t>
            </a:r>
            <a:r>
              <a:rPr lang="en-US" sz="2600" dirty="0">
                <a:solidFill>
                  <a:schemeClr val="tx1"/>
                </a:solidFill>
                <a:latin typeface="Cambria" pitchFamily="34" charset="0"/>
                <a:ea typeface="Cambria" pitchFamily="34" charset="-122"/>
                <a:cs typeface="Cambria" pitchFamily="34" charset="-120"/>
              </a:rPr>
              <a:t> so that </a:t>
            </a:r>
            <a:r>
              <a:rPr lang="en-US" sz="2600" b="1" dirty="0">
                <a:solidFill>
                  <a:schemeClr val="tx2"/>
                </a:solidFill>
                <a:latin typeface="Cambria" pitchFamily="34" charset="0"/>
                <a:ea typeface="Cambria" pitchFamily="34" charset="-122"/>
                <a:cs typeface="Cambria" pitchFamily="34" charset="-120"/>
              </a:rPr>
              <a:t>I don't have to visit the exam office.</a:t>
            </a:r>
            <a:endParaRPr lang="en-US" sz="2600" dirty="0"/>
          </a:p>
        </p:txBody>
      </p:sp>
      <p:sp>
        <p:nvSpPr>
          <p:cNvPr id="5" name="part-WHO"/>
          <p:cNvSpPr/>
          <p:nvPr/>
        </p:nvSpPr>
        <p:spPr>
          <a:xfrm>
            <a:off x="548640" y="3200400"/>
            <a:ext cx="3514344" cy="2651760"/>
          </a:xfrm>
          <a:prstGeom prst="roundRect">
            <a:avLst>
              <a:gd name="adj" fmla="val 4138"/>
            </a:avLst>
          </a:prstGeom>
          <a:solidFill>
            <a:schemeClr val="bg1"/>
          </a:solidFill>
          <a:ln w="12700">
            <a:solidFill>
              <a:schemeClr val="accent5"/>
            </a:solidFill>
            <a:prstDash val="solid"/>
          </a:ln>
        </p:spPr>
      </p:sp>
      <p:sp>
        <p:nvSpPr>
          <p:cNvPr id="6" name="Text 4"/>
          <p:cNvSpPr txBox="1"/>
          <p:nvPr/>
        </p:nvSpPr>
        <p:spPr>
          <a:xfrm>
            <a:off x="868680" y="3429000"/>
            <a:ext cx="2874264" cy="411480"/>
          </a:xfrm>
          <a:prstGeom prst="rect">
            <a:avLst/>
          </a:prstGeom>
          <a:noFill/>
          <a:ln/>
        </p:spPr>
        <p:txBody>
          <a:bodyPr wrap="square" lIns="0" tIns="0" rIns="0" bIns="0" rtlCol="0" anchor="t"/>
          <a:lstStyle/>
          <a:p>
            <a:pPr marL="0" indent="0">
              <a:buNone/>
            </a:pPr>
            <a:r>
              <a:rPr lang="en-US" sz="2000" b="1" kern="0" spc="200" dirty="0">
                <a:solidFill>
                  <a:schemeClr val="accent2"/>
                </a:solidFill>
              </a:rPr>
              <a:t>WHO</a:t>
            </a:r>
            <a:endParaRPr lang="en-US" sz="2000" dirty="0"/>
          </a:p>
        </p:txBody>
      </p:sp>
      <p:sp>
        <p:nvSpPr>
          <p:cNvPr id="7" name="Text 5"/>
          <p:cNvSpPr txBox="1"/>
          <p:nvPr/>
        </p:nvSpPr>
        <p:spPr>
          <a:xfrm>
            <a:off x="868680" y="3886200"/>
            <a:ext cx="2874264" cy="411480"/>
          </a:xfrm>
          <a:prstGeom prst="rect">
            <a:avLst/>
          </a:prstGeom>
          <a:noFill/>
          <a:ln/>
        </p:spPr>
        <p:txBody>
          <a:bodyPr wrap="square" lIns="0" tIns="0" rIns="0" bIns="0" rtlCol="0" anchor="t"/>
          <a:lstStyle/>
          <a:p>
            <a:pPr marL="0" indent="0">
              <a:buNone/>
            </a:pPr>
            <a:r>
              <a:rPr lang="en-US" sz="1800" b="1" dirty="0">
                <a:solidFill>
                  <a:schemeClr val="tx1"/>
                </a:solidFill>
                <a:latin typeface="Courier New" pitchFamily="34" charset="0"/>
                <a:ea typeface="Courier New" pitchFamily="34" charset="-122"/>
                <a:cs typeface="Courier New" pitchFamily="34" charset="-120"/>
              </a:rPr>
              <a:t>As a &lt;role&gt;</a:t>
            </a:r>
            <a:endParaRPr lang="en-US" sz="1800" dirty="0"/>
          </a:p>
        </p:txBody>
      </p:sp>
      <p:sp>
        <p:nvSpPr>
          <p:cNvPr id="8" name="Text 6"/>
          <p:cNvSpPr txBox="1"/>
          <p:nvPr/>
        </p:nvSpPr>
        <p:spPr>
          <a:xfrm>
            <a:off x="868680" y="4434840"/>
            <a:ext cx="2874264" cy="1188720"/>
          </a:xfrm>
          <a:prstGeom prst="rect">
            <a:avLst/>
          </a:prstGeom>
          <a:noFill/>
          <a:ln/>
        </p:spPr>
        <p:txBody>
          <a:bodyPr wrap="square" lIns="0" tIns="0" rIns="0" bIns="0" rtlCol="0" anchor="t"/>
          <a:lstStyle/>
          <a:p>
            <a:pPr marL="0" indent="0">
              <a:buNone/>
            </a:pPr>
            <a:r>
              <a:rPr lang="en-US" sz="1600" dirty="0">
                <a:solidFill>
                  <a:schemeClr val="tx1"/>
                </a:solidFill>
              </a:rPr>
              <a:t>A real user or stakeholder: student, teacher, exam officer, maintainer.</a:t>
            </a:r>
            <a:endParaRPr lang="en-US" sz="1600" dirty="0"/>
          </a:p>
        </p:txBody>
      </p:sp>
      <p:sp>
        <p:nvSpPr>
          <p:cNvPr id="9" name="part-WHAT"/>
          <p:cNvSpPr/>
          <p:nvPr/>
        </p:nvSpPr>
        <p:spPr>
          <a:xfrm>
            <a:off x="4337304" y="3200400"/>
            <a:ext cx="3514344" cy="2651760"/>
          </a:xfrm>
          <a:prstGeom prst="roundRect">
            <a:avLst>
              <a:gd name="adj" fmla="val 4138"/>
            </a:avLst>
          </a:prstGeom>
          <a:solidFill>
            <a:schemeClr val="bg1"/>
          </a:solidFill>
          <a:ln w="12700">
            <a:solidFill>
              <a:schemeClr val="accent5"/>
            </a:solidFill>
            <a:prstDash val="solid"/>
          </a:ln>
        </p:spPr>
      </p:sp>
      <p:sp>
        <p:nvSpPr>
          <p:cNvPr id="10" name="Text 8"/>
          <p:cNvSpPr txBox="1"/>
          <p:nvPr/>
        </p:nvSpPr>
        <p:spPr>
          <a:xfrm>
            <a:off x="4657344" y="3429000"/>
            <a:ext cx="2874264" cy="411480"/>
          </a:xfrm>
          <a:prstGeom prst="rect">
            <a:avLst/>
          </a:prstGeom>
          <a:noFill/>
          <a:ln/>
        </p:spPr>
        <p:txBody>
          <a:bodyPr wrap="square" lIns="0" tIns="0" rIns="0" bIns="0" rtlCol="0" anchor="t"/>
          <a:lstStyle/>
          <a:p>
            <a:pPr marL="0" indent="0">
              <a:buNone/>
            </a:pPr>
            <a:r>
              <a:rPr lang="en-US" sz="2000" b="1" kern="0" spc="200" dirty="0">
                <a:solidFill>
                  <a:schemeClr val="accent1"/>
                </a:solidFill>
              </a:rPr>
              <a:t>WHAT</a:t>
            </a:r>
            <a:endParaRPr lang="en-US" sz="2000" dirty="0"/>
          </a:p>
        </p:txBody>
      </p:sp>
      <p:sp>
        <p:nvSpPr>
          <p:cNvPr id="11" name="Text 9"/>
          <p:cNvSpPr txBox="1"/>
          <p:nvPr/>
        </p:nvSpPr>
        <p:spPr>
          <a:xfrm>
            <a:off x="4657344" y="3886200"/>
            <a:ext cx="2874264" cy="411480"/>
          </a:xfrm>
          <a:prstGeom prst="rect">
            <a:avLst/>
          </a:prstGeom>
          <a:noFill/>
          <a:ln/>
        </p:spPr>
        <p:txBody>
          <a:bodyPr wrap="square" lIns="0" tIns="0" rIns="0" bIns="0" rtlCol="0" anchor="t"/>
          <a:lstStyle/>
          <a:p>
            <a:pPr marL="0" indent="0">
              <a:buNone/>
            </a:pPr>
            <a:r>
              <a:rPr lang="en-US" sz="1800" b="1" dirty="0">
                <a:solidFill>
                  <a:schemeClr val="tx1"/>
                </a:solidFill>
                <a:latin typeface="Courier New" pitchFamily="34" charset="0"/>
                <a:ea typeface="Courier New" pitchFamily="34" charset="-122"/>
                <a:cs typeface="Courier New" pitchFamily="34" charset="-120"/>
              </a:rPr>
              <a:t>I want &lt;goal&gt;</a:t>
            </a:r>
            <a:endParaRPr lang="en-US" sz="1800" dirty="0"/>
          </a:p>
        </p:txBody>
      </p:sp>
      <p:sp>
        <p:nvSpPr>
          <p:cNvPr id="12" name="Text 10"/>
          <p:cNvSpPr txBox="1"/>
          <p:nvPr/>
        </p:nvSpPr>
        <p:spPr>
          <a:xfrm>
            <a:off x="4657344" y="4434840"/>
            <a:ext cx="2874264" cy="1188720"/>
          </a:xfrm>
          <a:prstGeom prst="rect">
            <a:avLst/>
          </a:prstGeom>
          <a:noFill/>
          <a:ln/>
        </p:spPr>
        <p:txBody>
          <a:bodyPr wrap="square" lIns="0" tIns="0" rIns="0" bIns="0" rtlCol="0" anchor="t"/>
          <a:lstStyle/>
          <a:p>
            <a:pPr marL="0" indent="0">
              <a:buNone/>
            </a:pPr>
            <a:r>
              <a:rPr lang="en-US" sz="1600" dirty="0">
                <a:solidFill>
                  <a:schemeClr val="tx1"/>
                </a:solidFill>
              </a:rPr>
              <a:t>One capability, small enough to finish in one sprint.</a:t>
            </a:r>
            <a:endParaRPr lang="en-US" sz="1600" dirty="0"/>
          </a:p>
        </p:txBody>
      </p:sp>
      <p:sp>
        <p:nvSpPr>
          <p:cNvPr id="13" name="part-WHY"/>
          <p:cNvSpPr/>
          <p:nvPr/>
        </p:nvSpPr>
        <p:spPr>
          <a:xfrm>
            <a:off x="8125968" y="3200400"/>
            <a:ext cx="3514344" cy="2651760"/>
          </a:xfrm>
          <a:prstGeom prst="roundRect">
            <a:avLst>
              <a:gd name="adj" fmla="val 4138"/>
            </a:avLst>
          </a:prstGeom>
          <a:solidFill>
            <a:schemeClr val="bg1"/>
          </a:solidFill>
          <a:ln w="12700">
            <a:solidFill>
              <a:schemeClr val="accent5"/>
            </a:solidFill>
            <a:prstDash val="solid"/>
          </a:ln>
        </p:spPr>
      </p:sp>
      <p:sp>
        <p:nvSpPr>
          <p:cNvPr id="14" name="Text 12"/>
          <p:cNvSpPr txBox="1"/>
          <p:nvPr/>
        </p:nvSpPr>
        <p:spPr>
          <a:xfrm>
            <a:off x="8446008" y="3429000"/>
            <a:ext cx="2874264" cy="411480"/>
          </a:xfrm>
          <a:prstGeom prst="rect">
            <a:avLst/>
          </a:prstGeom>
          <a:noFill/>
          <a:ln/>
        </p:spPr>
        <p:txBody>
          <a:bodyPr wrap="square" lIns="0" tIns="0" rIns="0" bIns="0" rtlCol="0" anchor="t"/>
          <a:lstStyle/>
          <a:p>
            <a:pPr marL="0" indent="0">
              <a:buNone/>
            </a:pPr>
            <a:r>
              <a:rPr lang="en-US" sz="2000" b="1" kern="0" spc="200" dirty="0">
                <a:solidFill>
                  <a:schemeClr val="tx2"/>
                </a:solidFill>
              </a:rPr>
              <a:t>WHY</a:t>
            </a:r>
            <a:endParaRPr lang="en-US" sz="2000" dirty="0"/>
          </a:p>
        </p:txBody>
      </p:sp>
      <p:sp>
        <p:nvSpPr>
          <p:cNvPr id="15" name="Text 13"/>
          <p:cNvSpPr txBox="1"/>
          <p:nvPr/>
        </p:nvSpPr>
        <p:spPr>
          <a:xfrm>
            <a:off x="8446008" y="3886200"/>
            <a:ext cx="2874264" cy="411480"/>
          </a:xfrm>
          <a:prstGeom prst="rect">
            <a:avLst/>
          </a:prstGeom>
          <a:noFill/>
          <a:ln/>
        </p:spPr>
        <p:txBody>
          <a:bodyPr wrap="square" lIns="0" tIns="0" rIns="0" bIns="0" rtlCol="0" anchor="t"/>
          <a:lstStyle/>
          <a:p>
            <a:pPr marL="0" indent="0">
              <a:buNone/>
            </a:pPr>
            <a:r>
              <a:rPr lang="en-US" sz="1800" b="1" dirty="0">
                <a:solidFill>
                  <a:schemeClr val="tx1"/>
                </a:solidFill>
                <a:latin typeface="Courier New" pitchFamily="34" charset="0"/>
                <a:ea typeface="Courier New" pitchFamily="34" charset="-122"/>
                <a:cs typeface="Courier New" pitchFamily="34" charset="-120"/>
              </a:rPr>
              <a:t>so that &lt;benefit&gt;</a:t>
            </a:r>
            <a:endParaRPr lang="en-US" sz="1800" dirty="0"/>
          </a:p>
        </p:txBody>
      </p:sp>
      <p:sp>
        <p:nvSpPr>
          <p:cNvPr id="16" name="Text 14"/>
          <p:cNvSpPr txBox="1"/>
          <p:nvPr/>
        </p:nvSpPr>
        <p:spPr>
          <a:xfrm>
            <a:off x="8446008" y="4434840"/>
            <a:ext cx="2874264" cy="1188720"/>
          </a:xfrm>
          <a:prstGeom prst="rect">
            <a:avLst/>
          </a:prstGeom>
          <a:noFill/>
          <a:ln/>
        </p:spPr>
        <p:txBody>
          <a:bodyPr wrap="square" lIns="0" tIns="0" rIns="0" bIns="0" rtlCol="0" anchor="t"/>
          <a:lstStyle/>
          <a:p>
            <a:pPr marL="0" indent="0">
              <a:buNone/>
            </a:pPr>
            <a:r>
              <a:rPr lang="en-US" sz="1600" dirty="0">
                <a:solidFill>
                  <a:schemeClr val="tx1"/>
                </a:solidFill>
              </a:rPr>
              <a:t>The value. It is how the PO decides the order of the backlog.</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INVEST: test every story</a:t>
            </a:r>
            <a:endParaRPr lang="en-US" sz="3600" dirty="0"/>
          </a:p>
        </p:txBody>
      </p:sp>
      <p:sp>
        <p:nvSpPr>
          <p:cNvPr id="3" name="invest-I"/>
          <p:cNvSpPr/>
          <p:nvPr/>
        </p:nvSpPr>
        <p:spPr>
          <a:xfrm>
            <a:off x="548640" y="1417320"/>
            <a:ext cx="3514344" cy="2194560"/>
          </a:xfrm>
          <a:prstGeom prst="roundRect">
            <a:avLst>
              <a:gd name="adj" fmla="val 5000"/>
            </a:avLst>
          </a:prstGeom>
          <a:solidFill>
            <a:schemeClr val="bg2"/>
          </a:solidFill>
          <a:ln/>
        </p:spPr>
      </p:sp>
      <p:sp>
        <p:nvSpPr>
          <p:cNvPr id="4" name="letter-I"/>
          <p:cNvSpPr/>
          <p:nvPr/>
        </p:nvSpPr>
        <p:spPr>
          <a:xfrm>
            <a:off x="822960" y="1691640"/>
            <a:ext cx="777240" cy="777240"/>
          </a:xfrm>
          <a:prstGeom prst="ellipse">
            <a:avLst/>
          </a:prstGeom>
          <a:solidFill>
            <a:schemeClr val="accent2"/>
          </a:solidFill>
          <a:ln/>
        </p:spPr>
      </p:sp>
      <p:sp>
        <p:nvSpPr>
          <p:cNvPr id="5" name="Text 3"/>
          <p:cNvSpPr txBox="1"/>
          <p:nvPr/>
        </p:nvSpPr>
        <p:spPr>
          <a:xfrm>
            <a:off x="822960" y="1691640"/>
            <a:ext cx="777240" cy="777240"/>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I</a:t>
            </a:r>
            <a:endParaRPr lang="en-US" sz="3000" dirty="0"/>
          </a:p>
        </p:txBody>
      </p:sp>
      <p:sp>
        <p:nvSpPr>
          <p:cNvPr id="6" name="Text 4"/>
          <p:cNvSpPr txBox="1"/>
          <p:nvPr/>
        </p:nvSpPr>
        <p:spPr>
          <a:xfrm>
            <a:off x="1783080" y="1801368"/>
            <a:ext cx="2051304" cy="54864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Independent</a:t>
            </a:r>
            <a:endParaRPr lang="en-US" sz="2200" dirty="0"/>
          </a:p>
        </p:txBody>
      </p:sp>
      <p:sp>
        <p:nvSpPr>
          <p:cNvPr id="7" name="Text 5"/>
          <p:cNvSpPr txBox="1"/>
          <p:nvPr/>
        </p:nvSpPr>
        <p:spPr>
          <a:xfrm>
            <a:off x="822960" y="2606040"/>
            <a:ext cx="2965704" cy="365760"/>
          </a:xfrm>
          <a:prstGeom prst="rect">
            <a:avLst/>
          </a:prstGeom>
          <a:noFill/>
          <a:ln/>
        </p:spPr>
        <p:txBody>
          <a:bodyPr wrap="square" lIns="0" tIns="0" rIns="0" bIns="0" rtlCol="0" anchor="t"/>
          <a:lstStyle/>
          <a:p>
            <a:pPr marL="0" indent="0">
              <a:buNone/>
            </a:pPr>
            <a:r>
              <a:rPr lang="en-US" sz="1600" dirty="0">
                <a:solidFill>
                  <a:schemeClr val="tx1"/>
                </a:solidFill>
              </a:rPr>
              <a:t>Deliverable on its own</a:t>
            </a:r>
            <a:endParaRPr lang="en-US" sz="1600" dirty="0"/>
          </a:p>
        </p:txBody>
      </p:sp>
      <p:sp>
        <p:nvSpPr>
          <p:cNvPr id="8" name="Text 6"/>
          <p:cNvSpPr txBox="1"/>
          <p:nvPr/>
        </p:nvSpPr>
        <p:spPr>
          <a:xfrm>
            <a:off x="822960" y="3017520"/>
            <a:ext cx="2965704" cy="502920"/>
          </a:xfrm>
          <a:prstGeom prst="rect">
            <a:avLst/>
          </a:prstGeom>
          <a:noFill/>
          <a:ln/>
        </p:spPr>
        <p:txBody>
          <a:bodyPr wrap="square" lIns="0" tIns="0" rIns="0" bIns="0" rtlCol="0" anchor="t"/>
          <a:lstStyle/>
          <a:p>
            <a:pPr marL="0" indent="0">
              <a:buNone/>
            </a:pPr>
            <a:r>
              <a:rPr lang="en-US" sz="1400" i="1" dirty="0">
                <a:solidFill>
                  <a:schemeClr val="accent6"/>
                </a:solidFill>
              </a:rPr>
              <a:t>Red flag: “needs SRE-14 and SRE-22 first”</a:t>
            </a:r>
            <a:endParaRPr lang="en-US" sz="1400" dirty="0"/>
          </a:p>
        </p:txBody>
      </p:sp>
      <p:sp>
        <p:nvSpPr>
          <p:cNvPr id="9" name="invest-N"/>
          <p:cNvSpPr/>
          <p:nvPr/>
        </p:nvSpPr>
        <p:spPr>
          <a:xfrm>
            <a:off x="4337304" y="1417320"/>
            <a:ext cx="3514344" cy="2194560"/>
          </a:xfrm>
          <a:prstGeom prst="roundRect">
            <a:avLst>
              <a:gd name="adj" fmla="val 5000"/>
            </a:avLst>
          </a:prstGeom>
          <a:solidFill>
            <a:schemeClr val="bg2"/>
          </a:solidFill>
          <a:ln/>
        </p:spPr>
      </p:sp>
      <p:sp>
        <p:nvSpPr>
          <p:cNvPr id="10" name="letter-N"/>
          <p:cNvSpPr/>
          <p:nvPr/>
        </p:nvSpPr>
        <p:spPr>
          <a:xfrm>
            <a:off x="4611624" y="1691640"/>
            <a:ext cx="777240" cy="777240"/>
          </a:xfrm>
          <a:prstGeom prst="ellipse">
            <a:avLst/>
          </a:prstGeom>
          <a:solidFill>
            <a:schemeClr val="accent2"/>
          </a:solidFill>
          <a:ln/>
        </p:spPr>
      </p:sp>
      <p:sp>
        <p:nvSpPr>
          <p:cNvPr id="11" name="Text 9"/>
          <p:cNvSpPr txBox="1"/>
          <p:nvPr/>
        </p:nvSpPr>
        <p:spPr>
          <a:xfrm>
            <a:off x="4611624" y="1691640"/>
            <a:ext cx="777240" cy="777240"/>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N</a:t>
            </a:r>
            <a:endParaRPr lang="en-US" sz="3000" dirty="0"/>
          </a:p>
        </p:txBody>
      </p:sp>
      <p:sp>
        <p:nvSpPr>
          <p:cNvPr id="12" name="Text 10"/>
          <p:cNvSpPr txBox="1"/>
          <p:nvPr/>
        </p:nvSpPr>
        <p:spPr>
          <a:xfrm>
            <a:off x="5571744" y="1801368"/>
            <a:ext cx="2051304" cy="54864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Negotiable</a:t>
            </a:r>
            <a:endParaRPr lang="en-US" sz="2200" dirty="0"/>
          </a:p>
        </p:txBody>
      </p:sp>
      <p:sp>
        <p:nvSpPr>
          <p:cNvPr id="13" name="Text 11"/>
          <p:cNvSpPr txBox="1"/>
          <p:nvPr/>
        </p:nvSpPr>
        <p:spPr>
          <a:xfrm>
            <a:off x="4611624" y="2606040"/>
            <a:ext cx="2965704" cy="365760"/>
          </a:xfrm>
          <a:prstGeom prst="rect">
            <a:avLst/>
          </a:prstGeom>
          <a:noFill/>
          <a:ln/>
        </p:spPr>
        <p:txBody>
          <a:bodyPr wrap="square" lIns="0" tIns="0" rIns="0" bIns="0" rtlCol="0" anchor="t"/>
          <a:lstStyle/>
          <a:p>
            <a:pPr marL="0" indent="0">
              <a:buNone/>
            </a:pPr>
            <a:r>
              <a:rPr lang="en-US" sz="1600" dirty="0">
                <a:solidFill>
                  <a:schemeClr val="tx1"/>
                </a:solidFill>
              </a:rPr>
              <a:t>Open to discussion on how</a:t>
            </a:r>
            <a:endParaRPr lang="en-US" sz="1600" dirty="0"/>
          </a:p>
        </p:txBody>
      </p:sp>
      <p:sp>
        <p:nvSpPr>
          <p:cNvPr id="14" name="Text 12"/>
          <p:cNvSpPr txBox="1"/>
          <p:nvPr/>
        </p:nvSpPr>
        <p:spPr>
          <a:xfrm>
            <a:off x="4611624" y="3017520"/>
            <a:ext cx="2965704" cy="502920"/>
          </a:xfrm>
          <a:prstGeom prst="rect">
            <a:avLst/>
          </a:prstGeom>
          <a:noFill/>
          <a:ln/>
        </p:spPr>
        <p:txBody>
          <a:bodyPr wrap="square" lIns="0" tIns="0" rIns="0" bIns="0" rtlCol="0" anchor="t"/>
          <a:lstStyle/>
          <a:p>
            <a:pPr marL="0" indent="0">
              <a:buNone/>
            </a:pPr>
            <a:r>
              <a:rPr lang="en-US" sz="1400" i="1" dirty="0">
                <a:solidFill>
                  <a:schemeClr val="accent6"/>
                </a:solidFill>
              </a:rPr>
              <a:t>Red flag: a full technical design inside</a:t>
            </a:r>
            <a:endParaRPr lang="en-US" sz="1400" dirty="0"/>
          </a:p>
        </p:txBody>
      </p:sp>
      <p:sp>
        <p:nvSpPr>
          <p:cNvPr id="15" name="invest-V"/>
          <p:cNvSpPr/>
          <p:nvPr/>
        </p:nvSpPr>
        <p:spPr>
          <a:xfrm>
            <a:off x="8125968" y="1417320"/>
            <a:ext cx="3514344" cy="2194560"/>
          </a:xfrm>
          <a:prstGeom prst="roundRect">
            <a:avLst>
              <a:gd name="adj" fmla="val 5000"/>
            </a:avLst>
          </a:prstGeom>
          <a:solidFill>
            <a:schemeClr val="bg2"/>
          </a:solidFill>
          <a:ln/>
        </p:spPr>
      </p:sp>
      <p:sp>
        <p:nvSpPr>
          <p:cNvPr id="16" name="letter-V"/>
          <p:cNvSpPr/>
          <p:nvPr/>
        </p:nvSpPr>
        <p:spPr>
          <a:xfrm>
            <a:off x="8400288" y="1691640"/>
            <a:ext cx="777240" cy="777240"/>
          </a:xfrm>
          <a:prstGeom prst="ellipse">
            <a:avLst/>
          </a:prstGeom>
          <a:solidFill>
            <a:schemeClr val="accent2"/>
          </a:solidFill>
          <a:ln/>
        </p:spPr>
      </p:sp>
      <p:sp>
        <p:nvSpPr>
          <p:cNvPr id="17" name="Text 15"/>
          <p:cNvSpPr txBox="1"/>
          <p:nvPr/>
        </p:nvSpPr>
        <p:spPr>
          <a:xfrm>
            <a:off x="8400288" y="1691640"/>
            <a:ext cx="777240" cy="777240"/>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V</a:t>
            </a:r>
            <a:endParaRPr lang="en-US" sz="3000" dirty="0"/>
          </a:p>
        </p:txBody>
      </p:sp>
      <p:sp>
        <p:nvSpPr>
          <p:cNvPr id="18" name="Text 16"/>
          <p:cNvSpPr txBox="1"/>
          <p:nvPr/>
        </p:nvSpPr>
        <p:spPr>
          <a:xfrm>
            <a:off x="9360408" y="1801368"/>
            <a:ext cx="2051304" cy="54864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Valuable</a:t>
            </a:r>
            <a:endParaRPr lang="en-US" sz="2200" dirty="0"/>
          </a:p>
        </p:txBody>
      </p:sp>
      <p:sp>
        <p:nvSpPr>
          <p:cNvPr id="19" name="Text 17"/>
          <p:cNvSpPr txBox="1"/>
          <p:nvPr/>
        </p:nvSpPr>
        <p:spPr>
          <a:xfrm>
            <a:off x="8400288" y="2606040"/>
            <a:ext cx="2965704" cy="365760"/>
          </a:xfrm>
          <a:prstGeom prst="rect">
            <a:avLst/>
          </a:prstGeom>
          <a:noFill/>
          <a:ln/>
        </p:spPr>
        <p:txBody>
          <a:bodyPr wrap="square" lIns="0" tIns="0" rIns="0" bIns="0" rtlCol="0" anchor="t"/>
          <a:lstStyle/>
          <a:p>
            <a:pPr marL="0" indent="0">
              <a:buNone/>
            </a:pPr>
            <a:r>
              <a:rPr lang="en-US" sz="1600" dirty="0">
                <a:solidFill>
                  <a:schemeClr val="tx1"/>
                </a:solidFill>
              </a:rPr>
              <a:t>Useful to a user or stakeholder</a:t>
            </a:r>
            <a:endParaRPr lang="en-US" sz="1600" dirty="0"/>
          </a:p>
        </p:txBody>
      </p:sp>
      <p:sp>
        <p:nvSpPr>
          <p:cNvPr id="20" name="Text 18"/>
          <p:cNvSpPr txBox="1"/>
          <p:nvPr/>
        </p:nvSpPr>
        <p:spPr>
          <a:xfrm>
            <a:off x="8400288" y="3017520"/>
            <a:ext cx="2965704" cy="502920"/>
          </a:xfrm>
          <a:prstGeom prst="rect">
            <a:avLst/>
          </a:prstGeom>
          <a:noFill/>
          <a:ln/>
        </p:spPr>
        <p:txBody>
          <a:bodyPr wrap="square" lIns="0" tIns="0" rIns="0" bIns="0" rtlCol="0" anchor="t"/>
          <a:lstStyle/>
          <a:p>
            <a:pPr marL="0" indent="0">
              <a:buNone/>
            </a:pPr>
            <a:r>
              <a:rPr lang="en-US" sz="1400" i="1" dirty="0">
                <a:solidFill>
                  <a:schemeClr val="accent6"/>
                </a:solidFill>
              </a:rPr>
              <a:t>Red flag: “refactor class X” with no benefit</a:t>
            </a:r>
            <a:endParaRPr lang="en-US" sz="1400" dirty="0"/>
          </a:p>
        </p:txBody>
      </p:sp>
      <p:sp>
        <p:nvSpPr>
          <p:cNvPr id="21" name="invest-E"/>
          <p:cNvSpPr/>
          <p:nvPr/>
        </p:nvSpPr>
        <p:spPr>
          <a:xfrm>
            <a:off x="548640" y="3840480"/>
            <a:ext cx="3514344" cy="2194560"/>
          </a:xfrm>
          <a:prstGeom prst="roundRect">
            <a:avLst>
              <a:gd name="adj" fmla="val 5000"/>
            </a:avLst>
          </a:prstGeom>
          <a:solidFill>
            <a:schemeClr val="bg2"/>
          </a:solidFill>
          <a:ln/>
        </p:spPr>
      </p:sp>
      <p:sp>
        <p:nvSpPr>
          <p:cNvPr id="22" name="letter-E"/>
          <p:cNvSpPr/>
          <p:nvPr/>
        </p:nvSpPr>
        <p:spPr>
          <a:xfrm>
            <a:off x="822960" y="4114800"/>
            <a:ext cx="777240" cy="777240"/>
          </a:xfrm>
          <a:prstGeom prst="ellipse">
            <a:avLst/>
          </a:prstGeom>
          <a:solidFill>
            <a:schemeClr val="accent2"/>
          </a:solidFill>
          <a:ln/>
        </p:spPr>
      </p:sp>
      <p:sp>
        <p:nvSpPr>
          <p:cNvPr id="23" name="Text 21"/>
          <p:cNvSpPr txBox="1"/>
          <p:nvPr/>
        </p:nvSpPr>
        <p:spPr>
          <a:xfrm>
            <a:off x="822960" y="4114800"/>
            <a:ext cx="777240" cy="777240"/>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E</a:t>
            </a:r>
            <a:endParaRPr lang="en-US" sz="3000" dirty="0"/>
          </a:p>
        </p:txBody>
      </p:sp>
      <p:sp>
        <p:nvSpPr>
          <p:cNvPr id="24" name="Text 22"/>
          <p:cNvSpPr txBox="1"/>
          <p:nvPr/>
        </p:nvSpPr>
        <p:spPr>
          <a:xfrm>
            <a:off x="1783080" y="4224528"/>
            <a:ext cx="2051304" cy="54864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Estimable</a:t>
            </a:r>
            <a:endParaRPr lang="en-US" sz="2200" dirty="0"/>
          </a:p>
        </p:txBody>
      </p:sp>
      <p:sp>
        <p:nvSpPr>
          <p:cNvPr id="25" name="Text 23"/>
          <p:cNvSpPr txBox="1"/>
          <p:nvPr/>
        </p:nvSpPr>
        <p:spPr>
          <a:xfrm>
            <a:off x="822960" y="5029200"/>
            <a:ext cx="2965704" cy="365760"/>
          </a:xfrm>
          <a:prstGeom prst="rect">
            <a:avLst/>
          </a:prstGeom>
          <a:noFill/>
          <a:ln/>
        </p:spPr>
        <p:txBody>
          <a:bodyPr wrap="square" lIns="0" tIns="0" rIns="0" bIns="0" rtlCol="0" anchor="t"/>
          <a:lstStyle/>
          <a:p>
            <a:pPr marL="0" indent="0">
              <a:buNone/>
            </a:pPr>
            <a:r>
              <a:rPr lang="en-US" sz="1600" dirty="0">
                <a:solidFill>
                  <a:schemeClr val="tx1"/>
                </a:solidFill>
              </a:rPr>
              <a:t>The team can size it</a:t>
            </a:r>
            <a:endParaRPr lang="en-US" sz="1600" dirty="0"/>
          </a:p>
        </p:txBody>
      </p:sp>
      <p:sp>
        <p:nvSpPr>
          <p:cNvPr id="26" name="Text 24"/>
          <p:cNvSpPr txBox="1"/>
          <p:nvPr/>
        </p:nvSpPr>
        <p:spPr>
          <a:xfrm>
            <a:off x="822960" y="5440680"/>
            <a:ext cx="2965704" cy="502920"/>
          </a:xfrm>
          <a:prstGeom prst="rect">
            <a:avLst/>
          </a:prstGeom>
          <a:noFill/>
          <a:ln/>
        </p:spPr>
        <p:txBody>
          <a:bodyPr wrap="square" lIns="0" tIns="0" rIns="0" bIns="0" rtlCol="0" anchor="t"/>
          <a:lstStyle/>
          <a:p>
            <a:pPr marL="0" indent="0">
              <a:buNone/>
            </a:pPr>
            <a:r>
              <a:rPr lang="en-US" sz="1400" i="1" dirty="0">
                <a:solidFill>
                  <a:schemeClr val="accent6"/>
                </a:solidFill>
              </a:rPr>
              <a:t>Red flag: nobody can explain it</a:t>
            </a:r>
            <a:endParaRPr lang="en-US" sz="1400" dirty="0"/>
          </a:p>
        </p:txBody>
      </p:sp>
      <p:sp>
        <p:nvSpPr>
          <p:cNvPr id="27" name="invest-S"/>
          <p:cNvSpPr/>
          <p:nvPr/>
        </p:nvSpPr>
        <p:spPr>
          <a:xfrm>
            <a:off x="4337304" y="3840480"/>
            <a:ext cx="3514344" cy="2194560"/>
          </a:xfrm>
          <a:prstGeom prst="roundRect">
            <a:avLst>
              <a:gd name="adj" fmla="val 5000"/>
            </a:avLst>
          </a:prstGeom>
          <a:solidFill>
            <a:schemeClr val="bg2"/>
          </a:solidFill>
          <a:ln/>
        </p:spPr>
      </p:sp>
      <p:sp>
        <p:nvSpPr>
          <p:cNvPr id="28" name="letter-S"/>
          <p:cNvSpPr/>
          <p:nvPr/>
        </p:nvSpPr>
        <p:spPr>
          <a:xfrm>
            <a:off x="4611624" y="4114800"/>
            <a:ext cx="777240" cy="777240"/>
          </a:xfrm>
          <a:prstGeom prst="ellipse">
            <a:avLst/>
          </a:prstGeom>
          <a:solidFill>
            <a:schemeClr val="accent2"/>
          </a:solidFill>
          <a:ln/>
        </p:spPr>
      </p:sp>
      <p:sp>
        <p:nvSpPr>
          <p:cNvPr id="29" name="Text 27"/>
          <p:cNvSpPr txBox="1"/>
          <p:nvPr/>
        </p:nvSpPr>
        <p:spPr>
          <a:xfrm>
            <a:off x="4611624" y="4114800"/>
            <a:ext cx="777240" cy="777240"/>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S</a:t>
            </a:r>
            <a:endParaRPr lang="en-US" sz="3000" dirty="0"/>
          </a:p>
        </p:txBody>
      </p:sp>
      <p:sp>
        <p:nvSpPr>
          <p:cNvPr id="30" name="Text 28"/>
          <p:cNvSpPr txBox="1"/>
          <p:nvPr/>
        </p:nvSpPr>
        <p:spPr>
          <a:xfrm>
            <a:off x="5571744" y="4224528"/>
            <a:ext cx="2051304" cy="54864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Small</a:t>
            </a:r>
            <a:endParaRPr lang="en-US" sz="2200" dirty="0"/>
          </a:p>
        </p:txBody>
      </p:sp>
      <p:sp>
        <p:nvSpPr>
          <p:cNvPr id="31" name="Text 29"/>
          <p:cNvSpPr txBox="1"/>
          <p:nvPr/>
        </p:nvSpPr>
        <p:spPr>
          <a:xfrm>
            <a:off x="4611624" y="5029200"/>
            <a:ext cx="2965704" cy="365760"/>
          </a:xfrm>
          <a:prstGeom prst="rect">
            <a:avLst/>
          </a:prstGeom>
          <a:noFill/>
          <a:ln/>
        </p:spPr>
        <p:txBody>
          <a:bodyPr wrap="square" lIns="0" tIns="0" rIns="0" bIns="0" rtlCol="0" anchor="t"/>
          <a:lstStyle/>
          <a:p>
            <a:pPr marL="0" indent="0">
              <a:buNone/>
            </a:pPr>
            <a:r>
              <a:rPr lang="en-US" sz="1600" dirty="0">
                <a:solidFill>
                  <a:schemeClr val="tx1"/>
                </a:solidFill>
              </a:rPr>
              <a:t>Fits one sprint: 8 points or less</a:t>
            </a:r>
            <a:endParaRPr lang="en-US" sz="1600" dirty="0"/>
          </a:p>
        </p:txBody>
      </p:sp>
      <p:sp>
        <p:nvSpPr>
          <p:cNvPr id="32" name="Text 30"/>
          <p:cNvSpPr txBox="1"/>
          <p:nvPr/>
        </p:nvSpPr>
        <p:spPr>
          <a:xfrm>
            <a:off x="4611624" y="5440680"/>
            <a:ext cx="2965704" cy="502920"/>
          </a:xfrm>
          <a:prstGeom prst="rect">
            <a:avLst/>
          </a:prstGeom>
          <a:noFill/>
          <a:ln/>
        </p:spPr>
        <p:txBody>
          <a:bodyPr wrap="square" lIns="0" tIns="0" rIns="0" bIns="0" rtlCol="0" anchor="t"/>
          <a:lstStyle/>
          <a:p>
            <a:pPr marL="0" indent="0">
              <a:buNone/>
            </a:pPr>
            <a:r>
              <a:rPr lang="en-US" sz="1400" i="1" dirty="0">
                <a:solidFill>
                  <a:schemeClr val="accent6"/>
                </a:solidFill>
              </a:rPr>
              <a:t>Red flag: 13 points or more</a:t>
            </a:r>
            <a:endParaRPr lang="en-US" sz="1400" dirty="0"/>
          </a:p>
        </p:txBody>
      </p:sp>
      <p:sp>
        <p:nvSpPr>
          <p:cNvPr id="33" name="invest-T"/>
          <p:cNvSpPr/>
          <p:nvPr/>
        </p:nvSpPr>
        <p:spPr>
          <a:xfrm>
            <a:off x="8125968" y="3840480"/>
            <a:ext cx="3514344" cy="2194560"/>
          </a:xfrm>
          <a:prstGeom prst="roundRect">
            <a:avLst>
              <a:gd name="adj" fmla="val 5000"/>
            </a:avLst>
          </a:prstGeom>
          <a:solidFill>
            <a:schemeClr val="bg2"/>
          </a:solidFill>
          <a:ln/>
        </p:spPr>
      </p:sp>
      <p:sp>
        <p:nvSpPr>
          <p:cNvPr id="34" name="letter-T"/>
          <p:cNvSpPr/>
          <p:nvPr/>
        </p:nvSpPr>
        <p:spPr>
          <a:xfrm>
            <a:off x="8400288" y="4114800"/>
            <a:ext cx="777240" cy="777240"/>
          </a:xfrm>
          <a:prstGeom prst="ellipse">
            <a:avLst/>
          </a:prstGeom>
          <a:solidFill>
            <a:schemeClr val="accent2"/>
          </a:solidFill>
          <a:ln/>
        </p:spPr>
      </p:sp>
      <p:sp>
        <p:nvSpPr>
          <p:cNvPr id="35" name="Text 33"/>
          <p:cNvSpPr txBox="1"/>
          <p:nvPr/>
        </p:nvSpPr>
        <p:spPr>
          <a:xfrm>
            <a:off x="8400288" y="4114800"/>
            <a:ext cx="777240" cy="777240"/>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T</a:t>
            </a:r>
            <a:endParaRPr lang="en-US" sz="3000" dirty="0"/>
          </a:p>
        </p:txBody>
      </p:sp>
      <p:sp>
        <p:nvSpPr>
          <p:cNvPr id="36" name="Text 34"/>
          <p:cNvSpPr txBox="1"/>
          <p:nvPr/>
        </p:nvSpPr>
        <p:spPr>
          <a:xfrm>
            <a:off x="9360408" y="4224528"/>
            <a:ext cx="2051304" cy="54864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Testable</a:t>
            </a:r>
            <a:endParaRPr lang="en-US" sz="2200" dirty="0"/>
          </a:p>
        </p:txBody>
      </p:sp>
      <p:sp>
        <p:nvSpPr>
          <p:cNvPr id="37" name="Text 35"/>
          <p:cNvSpPr txBox="1"/>
          <p:nvPr/>
        </p:nvSpPr>
        <p:spPr>
          <a:xfrm>
            <a:off x="8400288" y="5029200"/>
            <a:ext cx="2965704" cy="365760"/>
          </a:xfrm>
          <a:prstGeom prst="rect">
            <a:avLst/>
          </a:prstGeom>
          <a:noFill/>
          <a:ln/>
        </p:spPr>
        <p:txBody>
          <a:bodyPr wrap="square" lIns="0" tIns="0" rIns="0" bIns="0" rtlCol="0" anchor="t"/>
          <a:lstStyle/>
          <a:p>
            <a:pPr marL="0" indent="0">
              <a:buNone/>
            </a:pPr>
            <a:r>
              <a:rPr lang="en-US" sz="1600" dirty="0">
                <a:solidFill>
                  <a:schemeClr val="tx1"/>
                </a:solidFill>
              </a:rPr>
              <a:t>Has clear pass / fail checks</a:t>
            </a:r>
            <a:endParaRPr lang="en-US" sz="1600" dirty="0"/>
          </a:p>
        </p:txBody>
      </p:sp>
      <p:sp>
        <p:nvSpPr>
          <p:cNvPr id="38" name="Text 36"/>
          <p:cNvSpPr txBox="1"/>
          <p:nvPr/>
        </p:nvSpPr>
        <p:spPr>
          <a:xfrm>
            <a:off x="8400288" y="5440680"/>
            <a:ext cx="2965704" cy="502920"/>
          </a:xfrm>
          <a:prstGeom prst="rect">
            <a:avLst/>
          </a:prstGeom>
          <a:noFill/>
          <a:ln/>
        </p:spPr>
        <p:txBody>
          <a:bodyPr wrap="square" lIns="0" tIns="0" rIns="0" bIns="0" rtlCol="0" anchor="t"/>
          <a:lstStyle/>
          <a:p>
            <a:pPr marL="0" indent="0">
              <a:buNone/>
            </a:pPr>
            <a:r>
              <a:rPr lang="en-US" sz="1400" i="1" dirty="0">
                <a:solidFill>
                  <a:schemeClr val="accent6"/>
                </a:solidFill>
              </a:rPr>
              <a:t>Red flag: “the system should be fast”</a:t>
            </a:r>
            <a:endParaRPr lang="en-US" sz="1400" dirty="0"/>
          </a:p>
        </p:txBody>
      </p:sp>
      <p:sp>
        <p:nvSpPr>
          <p:cNvPr id="39"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Acceptance criteria: Given / When / Then</a:t>
            </a:r>
            <a:endParaRPr lang="en-US" sz="3600" dirty="0"/>
          </a:p>
        </p:txBody>
      </p:sp>
      <p:sp>
        <p:nvSpPr>
          <p:cNvPr id="3" name="gwt-0"/>
          <p:cNvSpPr/>
          <p:nvPr/>
        </p:nvSpPr>
        <p:spPr>
          <a:xfrm>
            <a:off x="548640" y="1417320"/>
            <a:ext cx="5394960" cy="3429000"/>
          </a:xfrm>
          <a:prstGeom prst="roundRect">
            <a:avLst>
              <a:gd name="adj" fmla="val 3200"/>
            </a:avLst>
          </a:prstGeom>
          <a:solidFill>
            <a:schemeClr val="bg2"/>
          </a:solidFill>
          <a:ln/>
        </p:spPr>
      </p:sp>
      <p:sp>
        <p:nvSpPr>
          <p:cNvPr id="4" name="icon-bg-FaCheckCircle"/>
          <p:cNvSpPr/>
          <p:nvPr/>
        </p:nvSpPr>
        <p:spPr>
          <a:xfrm>
            <a:off x="868680" y="1645920"/>
            <a:ext cx="594360" cy="594360"/>
          </a:xfrm>
          <a:prstGeom prst="ellipse">
            <a:avLst/>
          </a:prstGeom>
          <a:solidFill>
            <a:schemeClr val="accent2"/>
          </a:solidFill>
          <a:ln/>
        </p:spPr>
      </p:sp>
      <p:pic>
        <p:nvPicPr>
          <p:cNvPr id="5" name="Image 0" descr="CheckCircle icon"/>
          <p:cNvPicPr>
            <a:picLocks noChangeAspect="1"/>
          </p:cNvPicPr>
          <p:nvPr/>
        </p:nvPicPr>
        <p:blipFill>
          <a:blip r:embed="rId3"/>
          <a:stretch>
            <a:fillRect/>
          </a:stretch>
        </p:blipFill>
        <p:spPr>
          <a:xfrm>
            <a:off x="1011326" y="1788566"/>
            <a:ext cx="309067" cy="309067"/>
          </a:xfrm>
          <a:prstGeom prst="rect">
            <a:avLst/>
          </a:prstGeom>
        </p:spPr>
      </p:pic>
      <p:sp>
        <p:nvSpPr>
          <p:cNvPr id="6" name="Text 3"/>
          <p:cNvSpPr txBox="1"/>
          <p:nvPr/>
        </p:nvSpPr>
        <p:spPr>
          <a:xfrm>
            <a:off x="1645920" y="1645920"/>
            <a:ext cx="3657600" cy="59436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Happy path</a:t>
            </a:r>
            <a:endParaRPr lang="en-US" sz="2200" dirty="0"/>
          </a:p>
        </p:txBody>
      </p:sp>
      <p:sp>
        <p:nvSpPr>
          <p:cNvPr id="7" name="Text 4"/>
          <p:cNvSpPr txBox="1"/>
          <p:nvPr/>
        </p:nvSpPr>
        <p:spPr>
          <a:xfrm>
            <a:off x="914400" y="2468880"/>
            <a:ext cx="4663440" cy="2194560"/>
          </a:xfrm>
          <a:prstGeom prst="rect">
            <a:avLst/>
          </a:prstGeom>
          <a:noFill/>
          <a:ln/>
        </p:spPr>
        <p:txBody>
          <a:bodyPr wrap="square" lIns="0" tIns="0" rIns="0" bIns="0" rtlCol="0" anchor="t"/>
          <a:lstStyle/>
          <a:p>
            <a:pPr marL="0" indent="0">
              <a:spcAft>
                <a:spcPts val="1400"/>
              </a:spcAft>
              <a:buNone/>
            </a:pPr>
            <a:r>
              <a:rPr lang="en-US" sz="1800" b="1" dirty="0">
                <a:solidFill>
                  <a:schemeClr val="accent2"/>
                </a:solidFill>
              </a:rPr>
              <a:t>Given </a:t>
            </a:r>
            <a:r>
              <a:rPr lang="en-US" sz="1800" dirty="0">
                <a:solidFill>
                  <a:schemeClr val="tx1"/>
                </a:solidFill>
              </a:rPr>
              <a:t>I am logged in as a student</a:t>
            </a:r>
            <a:endParaRPr lang="en-US" sz="1800" dirty="0"/>
          </a:p>
          <a:p>
            <a:pPr marL="0" indent="0">
              <a:spcAft>
                <a:spcPts val="1400"/>
              </a:spcAft>
              <a:buNone/>
            </a:pPr>
            <a:r>
              <a:rPr lang="en-US" sz="1800" b="1" dirty="0">
                <a:solidFill>
                  <a:schemeClr val="accent1"/>
                </a:solidFill>
              </a:rPr>
              <a:t>When </a:t>
            </a:r>
            <a:r>
              <a:rPr lang="en-US" sz="1800" dirty="0">
                <a:solidFill>
                  <a:schemeClr val="tx1"/>
                </a:solidFill>
              </a:rPr>
              <a:t>I open “My Results” for Fall 2026</a:t>
            </a:r>
            <a:endParaRPr lang="en-US" sz="1800" dirty="0"/>
          </a:p>
          <a:p>
            <a:pPr marL="0" indent="0">
              <a:spcAft>
                <a:spcPts val="1400"/>
              </a:spcAft>
              <a:buNone/>
            </a:pPr>
            <a:r>
              <a:rPr lang="en-US" sz="1800" b="1" dirty="0">
                <a:solidFill>
                  <a:schemeClr val="tx2"/>
                </a:solidFill>
              </a:rPr>
              <a:t>Then </a:t>
            </a:r>
            <a:r>
              <a:rPr lang="en-US" sz="1800" dirty="0">
                <a:solidFill>
                  <a:schemeClr val="tx1"/>
                </a:solidFill>
              </a:rPr>
              <a:t>I see each course, its grade and my GPA to 2 decimals</a:t>
            </a:r>
            <a:endParaRPr lang="en-US" sz="1800" dirty="0"/>
          </a:p>
        </p:txBody>
      </p:sp>
      <p:sp>
        <p:nvSpPr>
          <p:cNvPr id="8" name="gwt-1"/>
          <p:cNvSpPr/>
          <p:nvPr/>
        </p:nvSpPr>
        <p:spPr>
          <a:xfrm>
            <a:off x="6245352" y="1417320"/>
            <a:ext cx="5394960" cy="3429000"/>
          </a:xfrm>
          <a:prstGeom prst="roundRect">
            <a:avLst>
              <a:gd name="adj" fmla="val 3200"/>
            </a:avLst>
          </a:prstGeom>
          <a:solidFill>
            <a:schemeClr val="bg2"/>
          </a:solidFill>
          <a:ln/>
        </p:spPr>
      </p:sp>
      <p:sp>
        <p:nvSpPr>
          <p:cNvPr id="9" name="icon-bg-FaExclamationTriangle"/>
          <p:cNvSpPr/>
          <p:nvPr/>
        </p:nvSpPr>
        <p:spPr>
          <a:xfrm>
            <a:off x="6565392" y="1645920"/>
            <a:ext cx="594360" cy="594360"/>
          </a:xfrm>
          <a:prstGeom prst="ellipse">
            <a:avLst/>
          </a:prstGeom>
          <a:solidFill>
            <a:schemeClr val="accent1"/>
          </a:solidFill>
          <a:ln/>
        </p:spPr>
      </p:sp>
      <p:pic>
        <p:nvPicPr>
          <p:cNvPr id="10" name="Image 1" descr="ExclamationTriangle icon"/>
          <p:cNvPicPr>
            <a:picLocks noChangeAspect="1"/>
          </p:cNvPicPr>
          <p:nvPr/>
        </p:nvPicPr>
        <p:blipFill>
          <a:blip r:embed="rId4"/>
          <a:stretch>
            <a:fillRect/>
          </a:stretch>
        </p:blipFill>
        <p:spPr>
          <a:xfrm>
            <a:off x="6708038" y="1788566"/>
            <a:ext cx="309067" cy="309067"/>
          </a:xfrm>
          <a:prstGeom prst="rect">
            <a:avLst/>
          </a:prstGeom>
        </p:spPr>
      </p:pic>
      <p:sp>
        <p:nvSpPr>
          <p:cNvPr id="11" name="Text 7"/>
          <p:cNvSpPr txBox="1"/>
          <p:nvPr/>
        </p:nvSpPr>
        <p:spPr>
          <a:xfrm>
            <a:off x="7342632" y="1645920"/>
            <a:ext cx="3657600" cy="59436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Unhappy path</a:t>
            </a:r>
            <a:endParaRPr lang="en-US" sz="2200" dirty="0"/>
          </a:p>
        </p:txBody>
      </p:sp>
      <p:sp>
        <p:nvSpPr>
          <p:cNvPr id="12" name="Text 8"/>
          <p:cNvSpPr txBox="1"/>
          <p:nvPr/>
        </p:nvSpPr>
        <p:spPr>
          <a:xfrm>
            <a:off x="6611112" y="2468880"/>
            <a:ext cx="4663440" cy="2194560"/>
          </a:xfrm>
          <a:prstGeom prst="rect">
            <a:avLst/>
          </a:prstGeom>
          <a:noFill/>
          <a:ln/>
        </p:spPr>
        <p:txBody>
          <a:bodyPr wrap="square" lIns="0" tIns="0" rIns="0" bIns="0" rtlCol="0" anchor="t"/>
          <a:lstStyle/>
          <a:p>
            <a:pPr marL="0" indent="0">
              <a:spcAft>
                <a:spcPts val="1400"/>
              </a:spcAft>
              <a:buNone/>
            </a:pPr>
            <a:r>
              <a:rPr lang="en-US" sz="1800" b="1" dirty="0">
                <a:solidFill>
                  <a:schemeClr val="accent2"/>
                </a:solidFill>
              </a:rPr>
              <a:t>Given </a:t>
            </a:r>
            <a:r>
              <a:rPr lang="en-US" sz="1800" dirty="0">
                <a:solidFill>
                  <a:schemeClr val="tx1"/>
                </a:solidFill>
              </a:rPr>
              <a:t>my results are not yet published</a:t>
            </a:r>
            <a:endParaRPr lang="en-US" sz="1800" dirty="0"/>
          </a:p>
          <a:p>
            <a:pPr marL="0" indent="0">
              <a:spcAft>
                <a:spcPts val="1400"/>
              </a:spcAft>
              <a:buNone/>
            </a:pPr>
            <a:r>
              <a:rPr lang="en-US" sz="1800" b="1" dirty="0">
                <a:solidFill>
                  <a:schemeClr val="accent1"/>
                </a:solidFill>
              </a:rPr>
              <a:t>When </a:t>
            </a:r>
            <a:r>
              <a:rPr lang="en-US" sz="1800" dirty="0">
                <a:solidFill>
                  <a:schemeClr val="tx1"/>
                </a:solidFill>
              </a:rPr>
              <a:t>I open “My Results”</a:t>
            </a:r>
            <a:endParaRPr lang="en-US" sz="1800" dirty="0"/>
          </a:p>
          <a:p>
            <a:pPr marL="0" indent="0">
              <a:spcAft>
                <a:spcPts val="1400"/>
              </a:spcAft>
              <a:buNone/>
            </a:pPr>
            <a:r>
              <a:rPr lang="en-US" sz="1800" b="1" dirty="0">
                <a:solidFill>
                  <a:schemeClr val="tx2"/>
                </a:solidFill>
              </a:rPr>
              <a:t>Then </a:t>
            </a:r>
            <a:r>
              <a:rPr lang="en-US" sz="1800" dirty="0">
                <a:solidFill>
                  <a:schemeClr val="tx1"/>
                </a:solidFill>
              </a:rPr>
              <a:t>I see “Results not yet published” and no grades</a:t>
            </a:r>
            <a:endParaRPr lang="en-US" sz="1800" dirty="0"/>
          </a:p>
        </p:txBody>
      </p:sp>
      <p:sp>
        <p:nvSpPr>
          <p:cNvPr id="13" name="gwt-rule"/>
          <p:cNvSpPr/>
          <p:nvPr/>
        </p:nvSpPr>
        <p:spPr>
          <a:xfrm>
            <a:off x="548640" y="5120640"/>
            <a:ext cx="11091672" cy="868680"/>
          </a:xfrm>
          <a:prstGeom prst="roundRect">
            <a:avLst>
              <a:gd name="adj" fmla="val 12632"/>
            </a:avLst>
          </a:prstGeom>
          <a:solidFill>
            <a:schemeClr val="tx2"/>
          </a:solidFill>
          <a:ln/>
        </p:spPr>
      </p:sp>
      <p:sp>
        <p:nvSpPr>
          <p:cNvPr id="14" name="Text 10"/>
          <p:cNvSpPr txBox="1"/>
          <p:nvPr/>
        </p:nvSpPr>
        <p:spPr>
          <a:xfrm>
            <a:off x="914400" y="5120640"/>
            <a:ext cx="10360152" cy="868680"/>
          </a:xfrm>
          <a:prstGeom prst="rect">
            <a:avLst/>
          </a:prstGeom>
          <a:noFill/>
          <a:ln/>
        </p:spPr>
        <p:txBody>
          <a:bodyPr wrap="square" lIns="0" tIns="0" rIns="0" bIns="0" rtlCol="0" anchor="ctr"/>
          <a:lstStyle/>
          <a:p>
            <a:pPr marL="0" indent="0">
              <a:buNone/>
            </a:pPr>
            <a:r>
              <a:rPr lang="en-US" sz="1800" b="1" dirty="0">
                <a:solidFill>
                  <a:schemeClr val="bg1"/>
                </a:solidFill>
              </a:rPr>
              <a:t>Write 2–4 criteria per story in the Jira description, and always include at least one unhappy path.</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Story points: relative, not hours</a:t>
            </a:r>
            <a:endParaRPr lang="en-US" sz="3600" dirty="0"/>
          </a:p>
        </p:txBody>
      </p:sp>
      <p:sp>
        <p:nvSpPr>
          <p:cNvPr id="3" name="card-1"/>
          <p:cNvSpPr/>
          <p:nvPr/>
        </p:nvSpPr>
        <p:spPr>
          <a:xfrm>
            <a:off x="548640" y="1417320"/>
            <a:ext cx="1600200" cy="2286000"/>
          </a:xfrm>
          <a:prstGeom prst="roundRect">
            <a:avLst>
              <a:gd name="adj" fmla="val 6857"/>
            </a:avLst>
          </a:prstGeom>
          <a:solidFill>
            <a:schemeClr val="bg1"/>
          </a:solidFill>
          <a:ln w="19050">
            <a:solidFill>
              <a:schemeClr val="accent2"/>
            </a:solidFill>
            <a:prstDash val="solid"/>
          </a:ln>
        </p:spPr>
      </p:sp>
      <p:sp>
        <p:nvSpPr>
          <p:cNvPr id="4" name="Text 2"/>
          <p:cNvSpPr txBox="1"/>
          <p:nvPr/>
        </p:nvSpPr>
        <p:spPr>
          <a:xfrm>
            <a:off x="548640" y="1554480"/>
            <a:ext cx="1600200" cy="822960"/>
          </a:xfrm>
          <a:prstGeom prst="rect">
            <a:avLst/>
          </a:prstGeom>
          <a:noFill/>
          <a:ln/>
        </p:spPr>
        <p:txBody>
          <a:bodyPr wrap="square" lIns="0" tIns="0" rIns="0" bIns="0" rtlCol="0" anchor="t"/>
          <a:lstStyle/>
          <a:p>
            <a:pPr marL="0" indent="0" algn="ctr">
              <a:buNone/>
            </a:pPr>
            <a:r>
              <a:rPr lang="en-US" sz="4400" b="1" dirty="0">
                <a:solidFill>
                  <a:schemeClr val="tx2"/>
                </a:solidFill>
                <a:latin typeface="Cambria" pitchFamily="34" charset="0"/>
                <a:ea typeface="Cambria" pitchFamily="34" charset="-122"/>
                <a:cs typeface="Cambria" pitchFamily="34" charset="-120"/>
              </a:rPr>
              <a:t>1</a:t>
            </a:r>
            <a:endParaRPr lang="en-US" sz="4400" dirty="0"/>
          </a:p>
        </p:txBody>
      </p:sp>
      <p:sp>
        <p:nvSpPr>
          <p:cNvPr id="5" name="Text 3"/>
          <p:cNvSpPr txBox="1"/>
          <p:nvPr/>
        </p:nvSpPr>
        <p:spPr>
          <a:xfrm>
            <a:off x="685800" y="2514600"/>
            <a:ext cx="1325880" cy="1051560"/>
          </a:xfrm>
          <a:prstGeom prst="rect">
            <a:avLst/>
          </a:prstGeom>
          <a:noFill/>
          <a:ln/>
        </p:spPr>
        <p:txBody>
          <a:bodyPr wrap="square" lIns="0" tIns="0" rIns="0" bIns="0" rtlCol="0" anchor="t"/>
          <a:lstStyle/>
          <a:p>
            <a:pPr marL="0" indent="0" algn="ctr">
              <a:buNone/>
            </a:pPr>
            <a:r>
              <a:rPr lang="en-US" sz="1400" dirty="0">
                <a:solidFill>
                  <a:schemeClr val="tx1"/>
                </a:solidFill>
              </a:rPr>
              <a:t>Fix a label on the login screen</a:t>
            </a:r>
            <a:endParaRPr lang="en-US" sz="1400" dirty="0"/>
          </a:p>
        </p:txBody>
      </p:sp>
      <p:sp>
        <p:nvSpPr>
          <p:cNvPr id="6" name="card-2"/>
          <p:cNvSpPr/>
          <p:nvPr/>
        </p:nvSpPr>
        <p:spPr>
          <a:xfrm>
            <a:off x="2446934" y="1417320"/>
            <a:ext cx="1600200" cy="2286000"/>
          </a:xfrm>
          <a:prstGeom prst="roundRect">
            <a:avLst>
              <a:gd name="adj" fmla="val 6857"/>
            </a:avLst>
          </a:prstGeom>
          <a:solidFill>
            <a:schemeClr val="bg1"/>
          </a:solidFill>
          <a:ln w="19050">
            <a:solidFill>
              <a:schemeClr val="accent2"/>
            </a:solidFill>
            <a:prstDash val="solid"/>
          </a:ln>
        </p:spPr>
      </p:sp>
      <p:sp>
        <p:nvSpPr>
          <p:cNvPr id="7" name="Text 5"/>
          <p:cNvSpPr txBox="1"/>
          <p:nvPr/>
        </p:nvSpPr>
        <p:spPr>
          <a:xfrm>
            <a:off x="2446934" y="1554480"/>
            <a:ext cx="1600200" cy="822960"/>
          </a:xfrm>
          <a:prstGeom prst="rect">
            <a:avLst/>
          </a:prstGeom>
          <a:noFill/>
          <a:ln/>
        </p:spPr>
        <p:txBody>
          <a:bodyPr wrap="square" lIns="0" tIns="0" rIns="0" bIns="0" rtlCol="0" anchor="t"/>
          <a:lstStyle/>
          <a:p>
            <a:pPr marL="0" indent="0" algn="ctr">
              <a:buNone/>
            </a:pPr>
            <a:r>
              <a:rPr lang="en-US" sz="4400" b="1" dirty="0">
                <a:solidFill>
                  <a:schemeClr val="tx2"/>
                </a:solidFill>
                <a:latin typeface="Cambria" pitchFamily="34" charset="0"/>
                <a:ea typeface="Cambria" pitchFamily="34" charset="-122"/>
                <a:cs typeface="Cambria" pitchFamily="34" charset="-120"/>
              </a:rPr>
              <a:t>2</a:t>
            </a:r>
            <a:endParaRPr lang="en-US" sz="4400" dirty="0"/>
          </a:p>
        </p:txBody>
      </p:sp>
      <p:sp>
        <p:nvSpPr>
          <p:cNvPr id="8" name="Text 6"/>
          <p:cNvSpPr txBox="1"/>
          <p:nvPr/>
        </p:nvSpPr>
        <p:spPr>
          <a:xfrm>
            <a:off x="2584094" y="2514600"/>
            <a:ext cx="1325880" cy="1051560"/>
          </a:xfrm>
          <a:prstGeom prst="rect">
            <a:avLst/>
          </a:prstGeom>
          <a:noFill/>
          <a:ln/>
        </p:spPr>
        <p:txBody>
          <a:bodyPr wrap="square" lIns="0" tIns="0" rIns="0" bIns="0" rtlCol="0" anchor="t"/>
          <a:lstStyle/>
          <a:p>
            <a:pPr marL="0" indent="0" algn="ctr">
              <a:buNone/>
            </a:pPr>
            <a:r>
              <a:rPr lang="en-US" sz="1400" dirty="0">
                <a:solidFill>
                  <a:schemeClr val="tx1"/>
                </a:solidFill>
              </a:rPr>
              <a:t>Validate the roll number field</a:t>
            </a:r>
            <a:endParaRPr lang="en-US" sz="1400" dirty="0"/>
          </a:p>
        </p:txBody>
      </p:sp>
      <p:sp>
        <p:nvSpPr>
          <p:cNvPr id="9" name="card-3"/>
          <p:cNvSpPr/>
          <p:nvPr/>
        </p:nvSpPr>
        <p:spPr>
          <a:xfrm>
            <a:off x="4345229" y="1417320"/>
            <a:ext cx="1600200" cy="2286000"/>
          </a:xfrm>
          <a:prstGeom prst="roundRect">
            <a:avLst>
              <a:gd name="adj" fmla="val 6857"/>
            </a:avLst>
          </a:prstGeom>
          <a:solidFill>
            <a:schemeClr val="bg1"/>
          </a:solidFill>
          <a:ln w="19050">
            <a:solidFill>
              <a:schemeClr val="accent2"/>
            </a:solidFill>
            <a:prstDash val="solid"/>
          </a:ln>
        </p:spPr>
      </p:sp>
      <p:sp>
        <p:nvSpPr>
          <p:cNvPr id="10" name="Text 8"/>
          <p:cNvSpPr txBox="1"/>
          <p:nvPr/>
        </p:nvSpPr>
        <p:spPr>
          <a:xfrm>
            <a:off x="4345229" y="1554480"/>
            <a:ext cx="1600200" cy="822960"/>
          </a:xfrm>
          <a:prstGeom prst="rect">
            <a:avLst/>
          </a:prstGeom>
          <a:noFill/>
          <a:ln/>
        </p:spPr>
        <p:txBody>
          <a:bodyPr wrap="square" lIns="0" tIns="0" rIns="0" bIns="0" rtlCol="0" anchor="t"/>
          <a:lstStyle/>
          <a:p>
            <a:pPr marL="0" indent="0" algn="ctr">
              <a:buNone/>
            </a:pPr>
            <a:r>
              <a:rPr lang="en-US" sz="4400" b="1" dirty="0">
                <a:solidFill>
                  <a:schemeClr val="tx2"/>
                </a:solidFill>
                <a:latin typeface="Cambria" pitchFamily="34" charset="0"/>
                <a:ea typeface="Cambria" pitchFamily="34" charset="-122"/>
                <a:cs typeface="Cambria" pitchFamily="34" charset="-120"/>
              </a:rPr>
              <a:t>3</a:t>
            </a:r>
            <a:endParaRPr lang="en-US" sz="4400" dirty="0"/>
          </a:p>
        </p:txBody>
      </p:sp>
      <p:sp>
        <p:nvSpPr>
          <p:cNvPr id="11" name="Text 9"/>
          <p:cNvSpPr txBox="1"/>
          <p:nvPr/>
        </p:nvSpPr>
        <p:spPr>
          <a:xfrm>
            <a:off x="4482389" y="2514600"/>
            <a:ext cx="1325880" cy="1051560"/>
          </a:xfrm>
          <a:prstGeom prst="rect">
            <a:avLst/>
          </a:prstGeom>
          <a:noFill/>
          <a:ln/>
        </p:spPr>
        <p:txBody>
          <a:bodyPr wrap="square" lIns="0" tIns="0" rIns="0" bIns="0" rtlCol="0" anchor="t"/>
          <a:lstStyle/>
          <a:p>
            <a:pPr marL="0" indent="0" algn="ctr">
              <a:buNone/>
            </a:pPr>
            <a:r>
              <a:rPr lang="en-US" sz="1400" dirty="0">
                <a:solidFill>
                  <a:schemeClr val="tx1"/>
                </a:solidFill>
              </a:rPr>
              <a:t>Student views own result card</a:t>
            </a:r>
            <a:endParaRPr lang="en-US" sz="1400" dirty="0"/>
          </a:p>
        </p:txBody>
      </p:sp>
      <p:sp>
        <p:nvSpPr>
          <p:cNvPr id="12" name="card-5"/>
          <p:cNvSpPr/>
          <p:nvPr/>
        </p:nvSpPr>
        <p:spPr>
          <a:xfrm>
            <a:off x="6243523" y="1417320"/>
            <a:ext cx="1600200" cy="2286000"/>
          </a:xfrm>
          <a:prstGeom prst="roundRect">
            <a:avLst>
              <a:gd name="adj" fmla="val 6857"/>
            </a:avLst>
          </a:prstGeom>
          <a:solidFill>
            <a:schemeClr val="bg1"/>
          </a:solidFill>
          <a:ln w="19050">
            <a:solidFill>
              <a:schemeClr val="accent2"/>
            </a:solidFill>
            <a:prstDash val="solid"/>
          </a:ln>
        </p:spPr>
      </p:sp>
      <p:sp>
        <p:nvSpPr>
          <p:cNvPr id="13" name="Text 11"/>
          <p:cNvSpPr txBox="1"/>
          <p:nvPr/>
        </p:nvSpPr>
        <p:spPr>
          <a:xfrm>
            <a:off x="6243523" y="1554480"/>
            <a:ext cx="1600200" cy="822960"/>
          </a:xfrm>
          <a:prstGeom prst="rect">
            <a:avLst/>
          </a:prstGeom>
          <a:noFill/>
          <a:ln/>
        </p:spPr>
        <p:txBody>
          <a:bodyPr wrap="square" lIns="0" tIns="0" rIns="0" bIns="0" rtlCol="0" anchor="t"/>
          <a:lstStyle/>
          <a:p>
            <a:pPr marL="0" indent="0" algn="ctr">
              <a:buNone/>
            </a:pPr>
            <a:r>
              <a:rPr lang="en-US" sz="4400" b="1" dirty="0">
                <a:solidFill>
                  <a:schemeClr val="tx2"/>
                </a:solidFill>
                <a:latin typeface="Cambria" pitchFamily="34" charset="0"/>
                <a:ea typeface="Cambria" pitchFamily="34" charset="-122"/>
                <a:cs typeface="Cambria" pitchFamily="34" charset="-120"/>
              </a:rPr>
              <a:t>5</a:t>
            </a:r>
            <a:endParaRPr lang="en-US" sz="4400" dirty="0"/>
          </a:p>
        </p:txBody>
      </p:sp>
      <p:sp>
        <p:nvSpPr>
          <p:cNvPr id="14" name="Text 12"/>
          <p:cNvSpPr txBox="1"/>
          <p:nvPr/>
        </p:nvSpPr>
        <p:spPr>
          <a:xfrm>
            <a:off x="6380683" y="2514600"/>
            <a:ext cx="1325880" cy="1051560"/>
          </a:xfrm>
          <a:prstGeom prst="rect">
            <a:avLst/>
          </a:prstGeom>
          <a:noFill/>
          <a:ln/>
        </p:spPr>
        <p:txBody>
          <a:bodyPr wrap="square" lIns="0" tIns="0" rIns="0" bIns="0" rtlCol="0" anchor="t"/>
          <a:lstStyle/>
          <a:p>
            <a:pPr marL="0" indent="0" algn="ctr">
              <a:buNone/>
            </a:pPr>
            <a:r>
              <a:rPr lang="en-US" sz="1400" dirty="0">
                <a:solidFill>
                  <a:schemeClr val="tx1"/>
                </a:solidFill>
              </a:rPr>
              <a:t>Admin uploads marks from CSV</a:t>
            </a:r>
            <a:endParaRPr lang="en-US" sz="1400" dirty="0"/>
          </a:p>
        </p:txBody>
      </p:sp>
      <p:sp>
        <p:nvSpPr>
          <p:cNvPr id="15" name="card-8"/>
          <p:cNvSpPr/>
          <p:nvPr/>
        </p:nvSpPr>
        <p:spPr>
          <a:xfrm>
            <a:off x="8141818" y="1417320"/>
            <a:ext cx="1600200" cy="2286000"/>
          </a:xfrm>
          <a:prstGeom prst="roundRect">
            <a:avLst>
              <a:gd name="adj" fmla="val 6857"/>
            </a:avLst>
          </a:prstGeom>
          <a:solidFill>
            <a:schemeClr val="bg1"/>
          </a:solidFill>
          <a:ln w="19050">
            <a:solidFill>
              <a:schemeClr val="accent2"/>
            </a:solidFill>
            <a:prstDash val="solid"/>
          </a:ln>
        </p:spPr>
      </p:sp>
      <p:sp>
        <p:nvSpPr>
          <p:cNvPr id="16" name="Text 14"/>
          <p:cNvSpPr txBox="1"/>
          <p:nvPr/>
        </p:nvSpPr>
        <p:spPr>
          <a:xfrm>
            <a:off x="8141818" y="1554480"/>
            <a:ext cx="1600200" cy="822960"/>
          </a:xfrm>
          <a:prstGeom prst="rect">
            <a:avLst/>
          </a:prstGeom>
          <a:noFill/>
          <a:ln/>
        </p:spPr>
        <p:txBody>
          <a:bodyPr wrap="square" lIns="0" tIns="0" rIns="0" bIns="0" rtlCol="0" anchor="t"/>
          <a:lstStyle/>
          <a:p>
            <a:pPr marL="0" indent="0" algn="ctr">
              <a:buNone/>
            </a:pPr>
            <a:r>
              <a:rPr lang="en-US" sz="4400" b="1" dirty="0">
                <a:solidFill>
                  <a:schemeClr val="tx2"/>
                </a:solidFill>
                <a:latin typeface="Cambria" pitchFamily="34" charset="0"/>
                <a:ea typeface="Cambria" pitchFamily="34" charset="-122"/>
                <a:cs typeface="Cambria" pitchFamily="34" charset="-120"/>
              </a:rPr>
              <a:t>8</a:t>
            </a:r>
            <a:endParaRPr lang="en-US" sz="4400" dirty="0"/>
          </a:p>
        </p:txBody>
      </p:sp>
      <p:sp>
        <p:nvSpPr>
          <p:cNvPr id="17" name="Text 15"/>
          <p:cNvSpPr txBox="1"/>
          <p:nvPr/>
        </p:nvSpPr>
        <p:spPr>
          <a:xfrm>
            <a:off x="8278978" y="2514600"/>
            <a:ext cx="1325880" cy="1051560"/>
          </a:xfrm>
          <a:prstGeom prst="rect">
            <a:avLst/>
          </a:prstGeom>
          <a:noFill/>
          <a:ln/>
        </p:spPr>
        <p:txBody>
          <a:bodyPr wrap="square" lIns="0" tIns="0" rIns="0" bIns="0" rtlCol="0" anchor="t"/>
          <a:lstStyle/>
          <a:p>
            <a:pPr marL="0" indent="0" algn="ctr">
              <a:buNone/>
            </a:pPr>
            <a:r>
              <a:rPr lang="en-US" sz="1400" dirty="0">
                <a:solidFill>
                  <a:schemeClr val="tx1"/>
                </a:solidFill>
              </a:rPr>
              <a:t>Extract DAO layer from Swing forms</a:t>
            </a:r>
            <a:endParaRPr lang="en-US" sz="1400" dirty="0"/>
          </a:p>
        </p:txBody>
      </p:sp>
      <p:sp>
        <p:nvSpPr>
          <p:cNvPr id="18" name="card-13"/>
          <p:cNvSpPr/>
          <p:nvPr/>
        </p:nvSpPr>
        <p:spPr>
          <a:xfrm>
            <a:off x="10040112" y="1417320"/>
            <a:ext cx="1600200" cy="2286000"/>
          </a:xfrm>
          <a:prstGeom prst="roundRect">
            <a:avLst>
              <a:gd name="adj" fmla="val 6857"/>
            </a:avLst>
          </a:prstGeom>
          <a:solidFill>
            <a:schemeClr val="accent1"/>
          </a:solidFill>
          <a:ln/>
        </p:spPr>
      </p:sp>
      <p:sp>
        <p:nvSpPr>
          <p:cNvPr id="19" name="Text 17"/>
          <p:cNvSpPr txBox="1"/>
          <p:nvPr/>
        </p:nvSpPr>
        <p:spPr>
          <a:xfrm>
            <a:off x="10040112" y="1554480"/>
            <a:ext cx="1600200" cy="822960"/>
          </a:xfrm>
          <a:prstGeom prst="rect">
            <a:avLst/>
          </a:prstGeom>
          <a:noFill/>
          <a:ln/>
        </p:spPr>
        <p:txBody>
          <a:bodyPr wrap="square" lIns="0" tIns="0" rIns="0" bIns="0" rtlCol="0" anchor="t"/>
          <a:lstStyle/>
          <a:p>
            <a:pPr marL="0" indent="0" algn="ctr">
              <a:buNone/>
            </a:pPr>
            <a:r>
              <a:rPr lang="en-US" sz="4400" b="1" dirty="0">
                <a:solidFill>
                  <a:schemeClr val="bg1"/>
                </a:solidFill>
                <a:latin typeface="Cambria" pitchFamily="34" charset="0"/>
                <a:ea typeface="Cambria" pitchFamily="34" charset="-122"/>
                <a:cs typeface="Cambria" pitchFamily="34" charset="-120"/>
              </a:rPr>
              <a:t>13</a:t>
            </a:r>
            <a:endParaRPr lang="en-US" sz="4400" dirty="0"/>
          </a:p>
        </p:txBody>
      </p:sp>
      <p:sp>
        <p:nvSpPr>
          <p:cNvPr id="20" name="Text 18"/>
          <p:cNvSpPr txBox="1"/>
          <p:nvPr/>
        </p:nvSpPr>
        <p:spPr>
          <a:xfrm>
            <a:off x="10177272" y="2514600"/>
            <a:ext cx="1325880" cy="1051560"/>
          </a:xfrm>
          <a:prstGeom prst="rect">
            <a:avLst/>
          </a:prstGeom>
          <a:noFill/>
          <a:ln/>
        </p:spPr>
        <p:txBody>
          <a:bodyPr wrap="square" lIns="0" tIns="0" rIns="0" bIns="0" rtlCol="0" anchor="t"/>
          <a:lstStyle/>
          <a:p>
            <a:pPr marL="0" indent="0" algn="ctr">
              <a:buNone/>
            </a:pPr>
            <a:r>
              <a:rPr lang="en-US" sz="1400" dirty="0">
                <a:solidFill>
                  <a:schemeClr val="bg1"/>
                </a:solidFill>
              </a:rPr>
              <a:t>Too big: split it before the sprint</a:t>
            </a:r>
            <a:endParaRPr lang="en-US" sz="1400" dirty="0"/>
          </a:p>
        </p:txBody>
      </p:sp>
      <p:sp>
        <p:nvSpPr>
          <p:cNvPr id="21" name="Text 19"/>
          <p:cNvSpPr txBox="1"/>
          <p:nvPr/>
        </p:nvSpPr>
        <p:spPr>
          <a:xfrm>
            <a:off x="548640" y="4023360"/>
            <a:ext cx="7315200" cy="41148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Planning poker in five steps</a:t>
            </a:r>
            <a:endParaRPr lang="en-US" sz="2000" dirty="0"/>
          </a:p>
        </p:txBody>
      </p:sp>
      <p:sp>
        <p:nvSpPr>
          <p:cNvPr id="22" name="pp-0"/>
          <p:cNvSpPr/>
          <p:nvPr/>
        </p:nvSpPr>
        <p:spPr>
          <a:xfrm>
            <a:off x="548640" y="4617720"/>
            <a:ext cx="457200" cy="457200"/>
          </a:xfrm>
          <a:prstGeom prst="ellipse">
            <a:avLst/>
          </a:prstGeom>
          <a:solidFill>
            <a:schemeClr val="accent2"/>
          </a:solidFill>
          <a:ln/>
        </p:spPr>
      </p:sp>
      <p:sp>
        <p:nvSpPr>
          <p:cNvPr id="23" name="Text 21"/>
          <p:cNvSpPr txBox="1"/>
          <p:nvPr/>
        </p:nvSpPr>
        <p:spPr>
          <a:xfrm>
            <a:off x="548640" y="4617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24" name="Text 22"/>
          <p:cNvSpPr txBox="1"/>
          <p:nvPr/>
        </p:nvSpPr>
        <p:spPr>
          <a:xfrm>
            <a:off x="1143000" y="4553712"/>
            <a:ext cx="1441094" cy="822960"/>
          </a:xfrm>
          <a:prstGeom prst="rect">
            <a:avLst/>
          </a:prstGeom>
          <a:noFill/>
          <a:ln/>
        </p:spPr>
        <p:txBody>
          <a:bodyPr wrap="square" lIns="0" tIns="0" rIns="0" bIns="0" rtlCol="0" anchor="t"/>
          <a:lstStyle/>
          <a:p>
            <a:pPr marL="0" indent="0">
              <a:buNone/>
            </a:pPr>
            <a:r>
              <a:rPr lang="en-US" sz="1400" dirty="0">
                <a:solidFill>
                  <a:schemeClr val="tx1"/>
                </a:solidFill>
              </a:rPr>
              <a:t>PO reads the story and its criteria</a:t>
            </a:r>
            <a:endParaRPr lang="en-US" sz="1400" dirty="0"/>
          </a:p>
        </p:txBody>
      </p:sp>
      <p:sp>
        <p:nvSpPr>
          <p:cNvPr id="25" name="pp-1"/>
          <p:cNvSpPr/>
          <p:nvPr/>
        </p:nvSpPr>
        <p:spPr>
          <a:xfrm>
            <a:off x="2766974" y="4617720"/>
            <a:ext cx="457200" cy="457200"/>
          </a:xfrm>
          <a:prstGeom prst="ellipse">
            <a:avLst/>
          </a:prstGeom>
          <a:solidFill>
            <a:schemeClr val="accent2"/>
          </a:solidFill>
          <a:ln/>
        </p:spPr>
      </p:sp>
      <p:sp>
        <p:nvSpPr>
          <p:cNvPr id="26" name="Text 24"/>
          <p:cNvSpPr txBox="1"/>
          <p:nvPr/>
        </p:nvSpPr>
        <p:spPr>
          <a:xfrm>
            <a:off x="2766974" y="4617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27" name="Text 25"/>
          <p:cNvSpPr txBox="1"/>
          <p:nvPr/>
        </p:nvSpPr>
        <p:spPr>
          <a:xfrm>
            <a:off x="3361334" y="4553712"/>
            <a:ext cx="1441094" cy="822960"/>
          </a:xfrm>
          <a:prstGeom prst="rect">
            <a:avLst/>
          </a:prstGeom>
          <a:noFill/>
          <a:ln/>
        </p:spPr>
        <p:txBody>
          <a:bodyPr wrap="square" lIns="0" tIns="0" rIns="0" bIns="0" rtlCol="0" anchor="t"/>
          <a:lstStyle/>
          <a:p>
            <a:pPr marL="0" indent="0">
              <a:buNone/>
            </a:pPr>
            <a:r>
              <a:rPr lang="en-US" sz="1400" dirty="0">
                <a:solidFill>
                  <a:schemeClr val="tx1"/>
                </a:solidFill>
              </a:rPr>
              <a:t>Team asks questions (2 minutes)</a:t>
            </a:r>
            <a:endParaRPr lang="en-US" sz="1400" dirty="0"/>
          </a:p>
        </p:txBody>
      </p:sp>
      <p:sp>
        <p:nvSpPr>
          <p:cNvPr id="28" name="pp-2"/>
          <p:cNvSpPr/>
          <p:nvPr/>
        </p:nvSpPr>
        <p:spPr>
          <a:xfrm>
            <a:off x="4985309" y="4617720"/>
            <a:ext cx="457200" cy="457200"/>
          </a:xfrm>
          <a:prstGeom prst="ellipse">
            <a:avLst/>
          </a:prstGeom>
          <a:solidFill>
            <a:schemeClr val="accent2"/>
          </a:solidFill>
          <a:ln/>
        </p:spPr>
      </p:sp>
      <p:sp>
        <p:nvSpPr>
          <p:cNvPr id="29" name="Text 27"/>
          <p:cNvSpPr txBox="1"/>
          <p:nvPr/>
        </p:nvSpPr>
        <p:spPr>
          <a:xfrm>
            <a:off x="4985309" y="4617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30" name="Text 28"/>
          <p:cNvSpPr txBox="1"/>
          <p:nvPr/>
        </p:nvSpPr>
        <p:spPr>
          <a:xfrm>
            <a:off x="5579669" y="4553712"/>
            <a:ext cx="1441094" cy="822960"/>
          </a:xfrm>
          <a:prstGeom prst="rect">
            <a:avLst/>
          </a:prstGeom>
          <a:noFill/>
          <a:ln/>
        </p:spPr>
        <p:txBody>
          <a:bodyPr wrap="square" lIns="0" tIns="0" rIns="0" bIns="0" rtlCol="0" anchor="t"/>
          <a:lstStyle/>
          <a:p>
            <a:pPr marL="0" indent="0">
              <a:buNone/>
            </a:pPr>
            <a:r>
              <a:rPr lang="en-US" sz="1400" dirty="0">
                <a:solidFill>
                  <a:schemeClr val="tx1"/>
                </a:solidFill>
              </a:rPr>
              <a:t>Everyone reveals a card at once</a:t>
            </a:r>
            <a:endParaRPr lang="en-US" sz="1400" dirty="0"/>
          </a:p>
        </p:txBody>
      </p:sp>
      <p:sp>
        <p:nvSpPr>
          <p:cNvPr id="31" name="pp-3"/>
          <p:cNvSpPr/>
          <p:nvPr/>
        </p:nvSpPr>
        <p:spPr>
          <a:xfrm>
            <a:off x="7203643" y="4617720"/>
            <a:ext cx="457200" cy="457200"/>
          </a:xfrm>
          <a:prstGeom prst="ellipse">
            <a:avLst/>
          </a:prstGeom>
          <a:solidFill>
            <a:schemeClr val="accent2"/>
          </a:solidFill>
          <a:ln/>
        </p:spPr>
      </p:sp>
      <p:sp>
        <p:nvSpPr>
          <p:cNvPr id="32" name="Text 30"/>
          <p:cNvSpPr txBox="1"/>
          <p:nvPr/>
        </p:nvSpPr>
        <p:spPr>
          <a:xfrm>
            <a:off x="7203643" y="4617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33" name="Text 31"/>
          <p:cNvSpPr txBox="1"/>
          <p:nvPr/>
        </p:nvSpPr>
        <p:spPr>
          <a:xfrm>
            <a:off x="7798003" y="4553712"/>
            <a:ext cx="1441094" cy="822960"/>
          </a:xfrm>
          <a:prstGeom prst="rect">
            <a:avLst/>
          </a:prstGeom>
          <a:noFill/>
          <a:ln/>
        </p:spPr>
        <p:txBody>
          <a:bodyPr wrap="square" lIns="0" tIns="0" rIns="0" bIns="0" rtlCol="0" anchor="t"/>
          <a:lstStyle/>
          <a:p>
            <a:pPr marL="0" indent="0">
              <a:buNone/>
            </a:pPr>
            <a:r>
              <a:rPr lang="en-US" sz="1400" dirty="0">
                <a:solidFill>
                  <a:schemeClr val="tx1"/>
                </a:solidFill>
              </a:rPr>
              <a:t>Highest and lowest explain why</a:t>
            </a:r>
            <a:endParaRPr lang="en-US" sz="1400" dirty="0"/>
          </a:p>
        </p:txBody>
      </p:sp>
      <p:sp>
        <p:nvSpPr>
          <p:cNvPr id="34" name="pp-4"/>
          <p:cNvSpPr/>
          <p:nvPr/>
        </p:nvSpPr>
        <p:spPr>
          <a:xfrm>
            <a:off x="9421978" y="4617720"/>
            <a:ext cx="457200" cy="457200"/>
          </a:xfrm>
          <a:prstGeom prst="ellipse">
            <a:avLst/>
          </a:prstGeom>
          <a:solidFill>
            <a:schemeClr val="accent2"/>
          </a:solidFill>
          <a:ln/>
        </p:spPr>
      </p:sp>
      <p:sp>
        <p:nvSpPr>
          <p:cNvPr id="35" name="Text 33"/>
          <p:cNvSpPr txBox="1"/>
          <p:nvPr/>
        </p:nvSpPr>
        <p:spPr>
          <a:xfrm>
            <a:off x="9421978" y="4617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36" name="Text 34"/>
          <p:cNvSpPr txBox="1"/>
          <p:nvPr/>
        </p:nvSpPr>
        <p:spPr>
          <a:xfrm>
            <a:off x="10016338" y="4553712"/>
            <a:ext cx="1441094" cy="822960"/>
          </a:xfrm>
          <a:prstGeom prst="rect">
            <a:avLst/>
          </a:prstGeom>
          <a:noFill/>
          <a:ln/>
        </p:spPr>
        <p:txBody>
          <a:bodyPr wrap="square" lIns="0" tIns="0" rIns="0" bIns="0" rtlCol="0" anchor="t"/>
          <a:lstStyle/>
          <a:p>
            <a:pPr marL="0" indent="0">
              <a:buNone/>
            </a:pPr>
            <a:r>
              <a:rPr lang="en-US" sz="1400" dirty="0">
                <a:solidFill>
                  <a:schemeClr val="tx1"/>
                </a:solidFill>
              </a:rPr>
              <a:t>Re-vote once; type it into Jira</a:t>
            </a:r>
            <a:endParaRPr lang="en-US" sz="1400" dirty="0"/>
          </a:p>
        </p:txBody>
      </p:sp>
      <p:sp>
        <p:nvSpPr>
          <p:cNvPr id="37"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Velocity and the Definition of Done</a:t>
            </a:r>
            <a:endParaRPr lang="en-US" sz="3600" dirty="0"/>
          </a:p>
        </p:txBody>
      </p:sp>
      <p:sp>
        <p:nvSpPr>
          <p:cNvPr id="3" name="velocity"/>
          <p:cNvSpPr/>
          <p:nvPr/>
        </p:nvSpPr>
        <p:spPr>
          <a:xfrm>
            <a:off x="548640" y="1417320"/>
            <a:ext cx="5394960" cy="4526280"/>
          </a:xfrm>
          <a:prstGeom prst="roundRect">
            <a:avLst>
              <a:gd name="adj" fmla="val 2424"/>
            </a:avLst>
          </a:prstGeom>
          <a:solidFill>
            <a:schemeClr val="bg2"/>
          </a:solidFill>
          <a:ln/>
        </p:spPr>
      </p:sp>
      <p:sp>
        <p:nvSpPr>
          <p:cNvPr id="4" name="Text 2"/>
          <p:cNvSpPr txBox="1"/>
          <p:nvPr/>
        </p:nvSpPr>
        <p:spPr>
          <a:xfrm>
            <a:off x="914400" y="1645920"/>
            <a:ext cx="4572000" cy="502920"/>
          </a:xfrm>
          <a:prstGeom prst="rect">
            <a:avLst/>
          </a:prstGeom>
          <a:noFill/>
          <a:ln/>
        </p:spPr>
        <p:txBody>
          <a:bodyPr wrap="square" lIns="0" tIns="0" rIns="0" bIns="0" rtlCol="0" anchor="t"/>
          <a:lstStyle/>
          <a:p>
            <a:pPr marL="0" indent="0">
              <a:buNone/>
            </a:pPr>
            <a:r>
              <a:rPr lang="en-US" sz="2400" b="1" dirty="0">
                <a:solidFill>
                  <a:schemeClr val="tx2"/>
                </a:solidFill>
                <a:latin typeface="Cambria" pitchFamily="34" charset="0"/>
                <a:ea typeface="Cambria" pitchFamily="34" charset="-122"/>
                <a:cs typeface="Cambria" pitchFamily="34" charset="-120"/>
              </a:rPr>
              <a:t>Velocity</a:t>
            </a:r>
            <a:endParaRPr lang="en-US" sz="2400" dirty="0"/>
          </a:p>
        </p:txBody>
      </p:sp>
      <p:sp>
        <p:nvSpPr>
          <p:cNvPr id="5" name="Text 3"/>
          <p:cNvSpPr txBox="1"/>
          <p:nvPr/>
        </p:nvSpPr>
        <p:spPr>
          <a:xfrm>
            <a:off x="914400" y="2240280"/>
            <a:ext cx="4663440" cy="731520"/>
          </a:xfrm>
          <a:prstGeom prst="rect">
            <a:avLst/>
          </a:prstGeom>
          <a:noFill/>
          <a:ln/>
        </p:spPr>
        <p:txBody>
          <a:bodyPr wrap="square" lIns="0" tIns="0" rIns="0" bIns="0" rtlCol="0" anchor="t"/>
          <a:lstStyle/>
          <a:p>
            <a:pPr marL="0" indent="0">
              <a:buNone/>
            </a:pPr>
            <a:r>
              <a:rPr lang="en-US" sz="1800" dirty="0">
                <a:solidFill>
                  <a:schemeClr val="tx1"/>
                </a:solidFill>
              </a:rPr>
              <a:t>Points of stories that are Done in the sprint</a:t>
            </a:r>
            <a:endParaRPr lang="en-US" sz="1800" dirty="0"/>
          </a:p>
        </p:txBody>
      </p:sp>
      <p:sp>
        <p:nvSpPr>
          <p:cNvPr id="6" name="Text 4"/>
          <p:cNvSpPr txBox="1"/>
          <p:nvPr/>
        </p:nvSpPr>
        <p:spPr>
          <a:xfrm>
            <a:off x="914400" y="3017520"/>
            <a:ext cx="4663440" cy="82296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8 + 5 + 5 = 18</a:t>
            </a:r>
            <a:endParaRPr lang="en-US" sz="4000" dirty="0"/>
          </a:p>
        </p:txBody>
      </p:sp>
      <p:sp>
        <p:nvSpPr>
          <p:cNvPr id="7" name="Text 5"/>
          <p:cNvSpPr txBox="1"/>
          <p:nvPr/>
        </p:nvSpPr>
        <p:spPr>
          <a:xfrm>
            <a:off x="914400" y="3931920"/>
            <a:ext cx="4663440" cy="457200"/>
          </a:xfrm>
          <a:prstGeom prst="rect">
            <a:avLst/>
          </a:prstGeom>
          <a:noFill/>
          <a:ln/>
        </p:spPr>
        <p:txBody>
          <a:bodyPr wrap="square" lIns="0" tIns="0" rIns="0" bIns="0" rtlCol="0" anchor="t"/>
          <a:lstStyle/>
          <a:p>
            <a:pPr marL="0" indent="0">
              <a:buNone/>
            </a:pPr>
            <a:r>
              <a:rPr lang="en-US" sz="1600" i="1" dirty="0">
                <a:solidFill>
                  <a:schemeClr val="accent6"/>
                </a:solidFill>
              </a:rPr>
              <a:t>A 3-point story that is 90% done counts as 0.</a:t>
            </a:r>
            <a:endParaRPr lang="en-US" sz="1600" dirty="0"/>
          </a:p>
        </p:txBody>
      </p:sp>
      <p:sp>
        <p:nvSpPr>
          <p:cNvPr id="8" name="Text 6"/>
          <p:cNvSpPr txBox="1"/>
          <p:nvPr/>
        </p:nvSpPr>
        <p:spPr>
          <a:xfrm>
            <a:off x="914400" y="4572000"/>
            <a:ext cx="4663440" cy="822960"/>
          </a:xfrm>
          <a:prstGeom prst="rect">
            <a:avLst/>
          </a:prstGeom>
          <a:noFill/>
          <a:ln/>
        </p:spPr>
        <p:txBody>
          <a:bodyPr wrap="square" lIns="0" tIns="0" rIns="0" bIns="0" rtlCol="0" anchor="t"/>
          <a:lstStyle/>
          <a:p>
            <a:pPr marL="0" indent="0">
              <a:buNone/>
            </a:pPr>
            <a:r>
              <a:rPr lang="en-US" sz="1600" dirty="0">
                <a:solidFill>
                  <a:schemeClr val="tx1"/>
                </a:solidFill>
              </a:rPr>
              <a:t>Plan each new sprint from the average velocity of the last three sprints.</a:t>
            </a:r>
            <a:endParaRPr lang="en-US" sz="1600" dirty="0"/>
          </a:p>
        </p:txBody>
      </p:sp>
      <p:sp>
        <p:nvSpPr>
          <p:cNvPr id="9" name="Text 7"/>
          <p:cNvSpPr txBox="1"/>
          <p:nvPr/>
        </p:nvSpPr>
        <p:spPr>
          <a:xfrm>
            <a:off x="6245352" y="1463040"/>
            <a:ext cx="5394960" cy="50292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Definition of Done (every story)</a:t>
            </a:r>
            <a:endParaRPr lang="en-US" sz="2200" dirty="0"/>
          </a:p>
        </p:txBody>
      </p:sp>
      <p:sp>
        <p:nvSpPr>
          <p:cNvPr id="10" name="icon-bg-FaCheck"/>
          <p:cNvSpPr/>
          <p:nvPr/>
        </p:nvSpPr>
        <p:spPr>
          <a:xfrm>
            <a:off x="6245352" y="2148840"/>
            <a:ext cx="457200" cy="457200"/>
          </a:xfrm>
          <a:prstGeom prst="ellipse">
            <a:avLst/>
          </a:prstGeom>
          <a:solidFill>
            <a:schemeClr val="accent2"/>
          </a:solidFill>
          <a:ln/>
        </p:spPr>
      </p:sp>
      <p:pic>
        <p:nvPicPr>
          <p:cNvPr id="11" name="Image 0" descr="Check icon"/>
          <p:cNvPicPr>
            <a:picLocks noChangeAspect="1"/>
          </p:cNvPicPr>
          <p:nvPr/>
        </p:nvPicPr>
        <p:blipFill>
          <a:blip r:embed="rId3"/>
          <a:stretch>
            <a:fillRect/>
          </a:stretch>
        </p:blipFill>
        <p:spPr>
          <a:xfrm>
            <a:off x="6355080" y="2258568"/>
            <a:ext cx="237744" cy="237744"/>
          </a:xfrm>
          <a:prstGeom prst="rect">
            <a:avLst/>
          </a:prstGeom>
        </p:spPr>
      </p:pic>
      <p:sp>
        <p:nvSpPr>
          <p:cNvPr id="12" name="Text 9"/>
          <p:cNvSpPr txBox="1"/>
          <p:nvPr/>
        </p:nvSpPr>
        <p:spPr>
          <a:xfrm>
            <a:off x="6885432" y="2148840"/>
            <a:ext cx="4754880" cy="457200"/>
          </a:xfrm>
          <a:prstGeom prst="rect">
            <a:avLst/>
          </a:prstGeom>
          <a:noFill/>
          <a:ln/>
        </p:spPr>
        <p:txBody>
          <a:bodyPr wrap="square" lIns="0" tIns="0" rIns="0" bIns="0" rtlCol="0" anchor="ctr"/>
          <a:lstStyle/>
          <a:p>
            <a:pPr marL="0" indent="0">
              <a:buNone/>
            </a:pPr>
            <a:r>
              <a:rPr lang="en-US" sz="1700" dirty="0">
                <a:solidFill>
                  <a:schemeClr val="tx1"/>
                </a:solidFill>
              </a:rPr>
              <a:t>Code reviewed through a GitHub pull request</a:t>
            </a:r>
            <a:endParaRPr lang="en-US" sz="1700" dirty="0"/>
          </a:p>
        </p:txBody>
      </p:sp>
      <p:sp>
        <p:nvSpPr>
          <p:cNvPr id="13" name="icon-bg-FaCheck"/>
          <p:cNvSpPr/>
          <p:nvPr/>
        </p:nvSpPr>
        <p:spPr>
          <a:xfrm>
            <a:off x="6245352" y="2807208"/>
            <a:ext cx="457200" cy="457200"/>
          </a:xfrm>
          <a:prstGeom prst="ellipse">
            <a:avLst/>
          </a:prstGeom>
          <a:solidFill>
            <a:schemeClr val="accent2"/>
          </a:solidFill>
          <a:ln/>
        </p:spPr>
      </p:sp>
      <p:pic>
        <p:nvPicPr>
          <p:cNvPr id="14" name="Image 1" descr="Check icon"/>
          <p:cNvPicPr>
            <a:picLocks noChangeAspect="1"/>
          </p:cNvPicPr>
          <p:nvPr/>
        </p:nvPicPr>
        <p:blipFill>
          <a:blip r:embed="rId3"/>
          <a:stretch>
            <a:fillRect/>
          </a:stretch>
        </p:blipFill>
        <p:spPr>
          <a:xfrm>
            <a:off x="6355080" y="2916936"/>
            <a:ext cx="237744" cy="237744"/>
          </a:xfrm>
          <a:prstGeom prst="rect">
            <a:avLst/>
          </a:prstGeom>
        </p:spPr>
      </p:pic>
      <p:sp>
        <p:nvSpPr>
          <p:cNvPr id="15" name="Text 11"/>
          <p:cNvSpPr txBox="1"/>
          <p:nvPr/>
        </p:nvSpPr>
        <p:spPr>
          <a:xfrm>
            <a:off x="6885432" y="2807208"/>
            <a:ext cx="4754880" cy="457200"/>
          </a:xfrm>
          <a:prstGeom prst="rect">
            <a:avLst/>
          </a:prstGeom>
          <a:noFill/>
          <a:ln/>
        </p:spPr>
        <p:txBody>
          <a:bodyPr wrap="square" lIns="0" tIns="0" rIns="0" bIns="0" rtlCol="0" anchor="ctr"/>
          <a:lstStyle/>
          <a:p>
            <a:pPr marL="0" indent="0">
              <a:buNone/>
            </a:pPr>
            <a:r>
              <a:rPr lang="en-US" sz="1700" dirty="0">
                <a:solidFill>
                  <a:schemeClr val="tx1"/>
                </a:solidFill>
              </a:rPr>
              <a:t>Tests pass</a:t>
            </a:r>
            <a:endParaRPr lang="en-US" sz="1700" dirty="0"/>
          </a:p>
        </p:txBody>
      </p:sp>
      <p:sp>
        <p:nvSpPr>
          <p:cNvPr id="16" name="icon-bg-FaCheck"/>
          <p:cNvSpPr/>
          <p:nvPr/>
        </p:nvSpPr>
        <p:spPr>
          <a:xfrm>
            <a:off x="6245352" y="3465576"/>
            <a:ext cx="457200" cy="457200"/>
          </a:xfrm>
          <a:prstGeom prst="ellipse">
            <a:avLst/>
          </a:prstGeom>
          <a:solidFill>
            <a:schemeClr val="accent2"/>
          </a:solidFill>
          <a:ln/>
        </p:spPr>
      </p:sp>
      <p:pic>
        <p:nvPicPr>
          <p:cNvPr id="17" name="Image 2" descr="Check icon"/>
          <p:cNvPicPr>
            <a:picLocks noChangeAspect="1"/>
          </p:cNvPicPr>
          <p:nvPr/>
        </p:nvPicPr>
        <p:blipFill>
          <a:blip r:embed="rId3"/>
          <a:stretch>
            <a:fillRect/>
          </a:stretch>
        </p:blipFill>
        <p:spPr>
          <a:xfrm>
            <a:off x="6355080" y="3575304"/>
            <a:ext cx="237744" cy="237744"/>
          </a:xfrm>
          <a:prstGeom prst="rect">
            <a:avLst/>
          </a:prstGeom>
        </p:spPr>
      </p:pic>
      <p:sp>
        <p:nvSpPr>
          <p:cNvPr id="18" name="Text 13"/>
          <p:cNvSpPr txBox="1"/>
          <p:nvPr/>
        </p:nvSpPr>
        <p:spPr>
          <a:xfrm>
            <a:off x="6885432" y="3465576"/>
            <a:ext cx="4754880" cy="457200"/>
          </a:xfrm>
          <a:prstGeom prst="rect">
            <a:avLst/>
          </a:prstGeom>
          <a:noFill/>
          <a:ln/>
        </p:spPr>
        <p:txBody>
          <a:bodyPr wrap="square" lIns="0" tIns="0" rIns="0" bIns="0" rtlCol="0" anchor="ctr"/>
          <a:lstStyle/>
          <a:p>
            <a:pPr marL="0" indent="0">
              <a:buNone/>
            </a:pPr>
            <a:r>
              <a:rPr lang="en-US" sz="1700" dirty="0">
                <a:solidFill>
                  <a:schemeClr val="tx1"/>
                </a:solidFill>
              </a:rPr>
              <a:t>Linked to its Jira issue</a:t>
            </a:r>
            <a:endParaRPr lang="en-US" sz="1700" dirty="0"/>
          </a:p>
        </p:txBody>
      </p:sp>
      <p:sp>
        <p:nvSpPr>
          <p:cNvPr id="19" name="icon-bg-FaCheck"/>
          <p:cNvSpPr/>
          <p:nvPr/>
        </p:nvSpPr>
        <p:spPr>
          <a:xfrm>
            <a:off x="6245352" y="4123944"/>
            <a:ext cx="457200" cy="457200"/>
          </a:xfrm>
          <a:prstGeom prst="ellipse">
            <a:avLst/>
          </a:prstGeom>
          <a:solidFill>
            <a:schemeClr val="accent2"/>
          </a:solidFill>
          <a:ln/>
        </p:spPr>
      </p:sp>
      <p:pic>
        <p:nvPicPr>
          <p:cNvPr id="20" name="Image 3" descr="Check icon"/>
          <p:cNvPicPr>
            <a:picLocks noChangeAspect="1"/>
          </p:cNvPicPr>
          <p:nvPr/>
        </p:nvPicPr>
        <p:blipFill>
          <a:blip r:embed="rId3"/>
          <a:stretch>
            <a:fillRect/>
          </a:stretch>
        </p:blipFill>
        <p:spPr>
          <a:xfrm>
            <a:off x="6355080" y="4233672"/>
            <a:ext cx="237744" cy="237744"/>
          </a:xfrm>
          <a:prstGeom prst="rect">
            <a:avLst/>
          </a:prstGeom>
        </p:spPr>
      </p:pic>
      <p:sp>
        <p:nvSpPr>
          <p:cNvPr id="21" name="Text 15"/>
          <p:cNvSpPr txBox="1"/>
          <p:nvPr/>
        </p:nvSpPr>
        <p:spPr>
          <a:xfrm>
            <a:off x="6885432" y="4123944"/>
            <a:ext cx="4754880" cy="457200"/>
          </a:xfrm>
          <a:prstGeom prst="rect">
            <a:avLst/>
          </a:prstGeom>
          <a:noFill/>
          <a:ln/>
        </p:spPr>
        <p:txBody>
          <a:bodyPr wrap="square" lIns="0" tIns="0" rIns="0" bIns="0" rtlCol="0" anchor="ctr"/>
          <a:lstStyle/>
          <a:p>
            <a:pPr marL="0" indent="0">
              <a:buNone/>
            </a:pPr>
            <a:r>
              <a:rPr lang="en-US" sz="1700" dirty="0">
                <a:solidFill>
                  <a:schemeClr val="tx1"/>
                </a:solidFill>
              </a:rPr>
              <a:t>Deployed to staging (from Sprint 4)</a:t>
            </a:r>
            <a:endParaRPr lang="en-US" sz="1700" dirty="0"/>
          </a:p>
        </p:txBody>
      </p:sp>
      <p:sp>
        <p:nvSpPr>
          <p:cNvPr id="22" name="icon-bg-FaCheck"/>
          <p:cNvSpPr/>
          <p:nvPr/>
        </p:nvSpPr>
        <p:spPr>
          <a:xfrm>
            <a:off x="6245352" y="4782312"/>
            <a:ext cx="457200" cy="457200"/>
          </a:xfrm>
          <a:prstGeom prst="ellipse">
            <a:avLst/>
          </a:prstGeom>
          <a:solidFill>
            <a:schemeClr val="accent2"/>
          </a:solidFill>
          <a:ln/>
        </p:spPr>
      </p:sp>
      <p:pic>
        <p:nvPicPr>
          <p:cNvPr id="23" name="Image 4" descr="Check icon"/>
          <p:cNvPicPr>
            <a:picLocks noChangeAspect="1"/>
          </p:cNvPicPr>
          <p:nvPr/>
        </p:nvPicPr>
        <p:blipFill>
          <a:blip r:embed="rId3"/>
          <a:stretch>
            <a:fillRect/>
          </a:stretch>
        </p:blipFill>
        <p:spPr>
          <a:xfrm>
            <a:off x="6355080" y="4892040"/>
            <a:ext cx="237744" cy="237744"/>
          </a:xfrm>
          <a:prstGeom prst="rect">
            <a:avLst/>
          </a:prstGeom>
        </p:spPr>
      </p:pic>
      <p:sp>
        <p:nvSpPr>
          <p:cNvPr id="24" name="Text 17"/>
          <p:cNvSpPr txBox="1"/>
          <p:nvPr/>
        </p:nvSpPr>
        <p:spPr>
          <a:xfrm>
            <a:off x="6885432" y="4782312"/>
            <a:ext cx="4754880" cy="457200"/>
          </a:xfrm>
          <a:prstGeom prst="rect">
            <a:avLst/>
          </a:prstGeom>
          <a:noFill/>
          <a:ln/>
        </p:spPr>
        <p:txBody>
          <a:bodyPr wrap="square" lIns="0" tIns="0" rIns="0" bIns="0" rtlCol="0" anchor="ctr"/>
          <a:lstStyle/>
          <a:p>
            <a:pPr marL="0" indent="0">
              <a:buNone/>
            </a:pPr>
            <a:r>
              <a:rPr lang="en-US" sz="1700" dirty="0">
                <a:solidFill>
                  <a:schemeClr val="tx1"/>
                </a:solidFill>
              </a:rPr>
              <a:t>Documentation updated</a:t>
            </a:r>
            <a:endParaRPr lang="en-US" sz="1700" dirty="0"/>
          </a:p>
        </p:txBody>
      </p:sp>
      <p:sp>
        <p:nvSpPr>
          <p:cNvPr id="25" name="Text 18"/>
          <p:cNvSpPr txBox="1"/>
          <p:nvPr/>
        </p:nvSpPr>
        <p:spPr>
          <a:xfrm>
            <a:off x="6245352" y="5577840"/>
            <a:ext cx="5394960" cy="365760"/>
          </a:xfrm>
          <a:prstGeom prst="rect">
            <a:avLst/>
          </a:prstGeom>
          <a:noFill/>
          <a:ln/>
        </p:spPr>
        <p:txBody>
          <a:bodyPr wrap="square" lIns="0" tIns="0" rIns="0" bIns="0" rtlCol="0" anchor="t"/>
          <a:lstStyle/>
          <a:p>
            <a:pPr marL="0" indent="0">
              <a:buNone/>
            </a:pPr>
            <a:r>
              <a:rPr lang="en-US" sz="1400" i="1" dirty="0">
                <a:solidFill>
                  <a:schemeClr val="accent6"/>
                </a:solidFill>
              </a:rPr>
              <a:t>Criteria are per story; Done applies to all. Both must pass.</a:t>
            </a:r>
            <a:endParaRPr lang="en-US" sz="1400" dirty="0"/>
          </a:p>
        </p:txBody>
      </p:sp>
      <p:sp>
        <p:nvSpPr>
          <p:cNvPr id="26"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Every commit carries its Jira key</a:t>
            </a:r>
            <a:endParaRPr lang="en-US" sz="3600" dirty="0"/>
          </a:p>
        </p:txBody>
      </p:sp>
      <p:sp>
        <p:nvSpPr>
          <p:cNvPr id="3" name="git-card"/>
          <p:cNvSpPr/>
          <p:nvPr/>
        </p:nvSpPr>
        <p:spPr>
          <a:xfrm>
            <a:off x="548640" y="1417320"/>
            <a:ext cx="5852160" cy="3291840"/>
          </a:xfrm>
          <a:prstGeom prst="roundRect">
            <a:avLst>
              <a:gd name="adj" fmla="val 3333"/>
            </a:avLst>
          </a:prstGeom>
          <a:solidFill>
            <a:schemeClr val="tx2"/>
          </a:solidFill>
          <a:ln/>
        </p:spPr>
      </p:sp>
      <p:sp>
        <p:nvSpPr>
          <p:cNvPr id="4" name="Text 2"/>
          <p:cNvSpPr txBox="1"/>
          <p:nvPr/>
        </p:nvSpPr>
        <p:spPr>
          <a:xfrm>
            <a:off x="914400" y="1691640"/>
            <a:ext cx="5303520" cy="2743200"/>
          </a:xfrm>
          <a:prstGeom prst="rect">
            <a:avLst/>
          </a:prstGeom>
          <a:noFill/>
          <a:ln/>
        </p:spPr>
        <p:txBody>
          <a:bodyPr wrap="square" lIns="0" tIns="0" rIns="0" bIns="0" rtlCol="0" anchor="ctr"/>
          <a:lstStyle/>
          <a:p>
            <a:pPr marL="0" indent="0">
              <a:spcAft>
                <a:spcPts val="1600"/>
              </a:spcAft>
              <a:buNone/>
            </a:pPr>
            <a:r>
              <a:rPr lang="en-US" sz="1600" dirty="0">
                <a:solidFill>
                  <a:schemeClr val="bg1"/>
                </a:solidFill>
                <a:latin typeface="Courier New" pitchFamily="34" charset="0"/>
                <a:ea typeface="Courier New" pitchFamily="34" charset="-122"/>
                <a:cs typeface="Courier New" pitchFamily="34" charset="-120"/>
              </a:rPr>
              <a:t>Branch  feature/SRE-12-result-view</a:t>
            </a:r>
            <a:endParaRPr lang="en-US" sz="1600" dirty="0"/>
          </a:p>
          <a:p>
            <a:pPr marL="0" indent="0">
              <a:spcAft>
                <a:spcPts val="1600"/>
              </a:spcAft>
              <a:buNone/>
            </a:pPr>
            <a:r>
              <a:rPr lang="en-US" sz="1600" dirty="0">
                <a:solidFill>
                  <a:schemeClr val="bg1"/>
                </a:solidFill>
                <a:latin typeface="Courier New" pitchFamily="34" charset="0"/>
                <a:ea typeface="Courier New" pitchFamily="34" charset="-122"/>
                <a:cs typeface="Courier New" pitchFamily="34" charset="-120"/>
              </a:rPr>
              <a:t>Commit  SRE-12 Add results REST endpoint</a:t>
            </a:r>
            <a:endParaRPr lang="en-US" sz="1600" dirty="0"/>
          </a:p>
          <a:p>
            <a:pPr marL="0" indent="0">
              <a:spcAft>
                <a:spcPts val="1600"/>
              </a:spcAft>
              <a:buNone/>
            </a:pPr>
            <a:r>
              <a:rPr lang="en-US" sz="1600" dirty="0">
                <a:solidFill>
                  <a:schemeClr val="bg1"/>
                </a:solidFill>
                <a:latin typeface="Courier New" pitchFamily="34" charset="0"/>
                <a:ea typeface="Courier New" pitchFamily="34" charset="-122"/>
                <a:cs typeface="Courier New" pitchFamily="34" charset="-120"/>
              </a:rPr>
              <a:t>Commit  SRE-12 Add unit tests for GPA</a:t>
            </a:r>
            <a:endParaRPr lang="en-US" sz="1600" dirty="0"/>
          </a:p>
          <a:p>
            <a:pPr marL="0" indent="0">
              <a:spcAft>
                <a:spcPts val="1600"/>
              </a:spcAft>
              <a:buNone/>
            </a:pPr>
            <a:r>
              <a:rPr lang="en-US" sz="1600" dirty="0">
                <a:solidFill>
                  <a:schemeClr val="bg1"/>
                </a:solidFill>
                <a:latin typeface="Courier New" pitchFamily="34" charset="0"/>
                <a:ea typeface="Courier New" pitchFamily="34" charset="-122"/>
                <a:cs typeface="Courier New" pitchFamily="34" charset="-120"/>
              </a:rPr>
              <a:t>PR      SRE-12 Student can view results</a:t>
            </a:r>
            <a:endParaRPr lang="en-US" sz="1600" dirty="0"/>
          </a:p>
        </p:txBody>
      </p:sp>
      <p:sp>
        <p:nvSpPr>
          <p:cNvPr id="5" name="icon-bg-FaJira"/>
          <p:cNvSpPr/>
          <p:nvPr/>
        </p:nvSpPr>
        <p:spPr>
          <a:xfrm>
            <a:off x="6766560" y="1463040"/>
            <a:ext cx="685800" cy="685800"/>
          </a:xfrm>
          <a:prstGeom prst="ellipse">
            <a:avLst/>
          </a:prstGeom>
          <a:solidFill>
            <a:schemeClr val="accent2"/>
          </a:solidFill>
          <a:ln/>
        </p:spPr>
      </p:sp>
      <p:pic>
        <p:nvPicPr>
          <p:cNvPr id="6" name="Image 0" descr="Jira icon"/>
          <p:cNvPicPr>
            <a:picLocks noChangeAspect="1"/>
          </p:cNvPicPr>
          <p:nvPr/>
        </p:nvPicPr>
        <p:blipFill>
          <a:blip r:embed="rId3"/>
          <a:stretch>
            <a:fillRect/>
          </a:stretch>
        </p:blipFill>
        <p:spPr>
          <a:xfrm>
            <a:off x="6931152" y="1627632"/>
            <a:ext cx="356616" cy="356616"/>
          </a:xfrm>
          <a:prstGeom prst="rect">
            <a:avLst/>
          </a:prstGeom>
        </p:spPr>
      </p:pic>
      <p:sp>
        <p:nvSpPr>
          <p:cNvPr id="7" name="Text 4"/>
          <p:cNvSpPr txBox="1"/>
          <p:nvPr/>
        </p:nvSpPr>
        <p:spPr>
          <a:xfrm>
            <a:off x="7635240" y="1417320"/>
            <a:ext cx="3977640" cy="777240"/>
          </a:xfrm>
          <a:prstGeom prst="rect">
            <a:avLst/>
          </a:prstGeom>
          <a:noFill/>
          <a:ln/>
        </p:spPr>
        <p:txBody>
          <a:bodyPr wrap="square" lIns="0" tIns="0" rIns="0" bIns="0" rtlCol="0" anchor="ctr"/>
          <a:lstStyle/>
          <a:p>
            <a:pPr marL="0" indent="0">
              <a:buNone/>
            </a:pPr>
            <a:r>
              <a:rPr lang="en-US" sz="1600" dirty="0">
                <a:solidFill>
                  <a:schemeClr val="tx1"/>
                </a:solidFill>
              </a:rPr>
              <a:t>Jira's Development panel shows the code behind each story.</a:t>
            </a:r>
            <a:endParaRPr lang="en-US" sz="1600" dirty="0"/>
          </a:p>
        </p:txBody>
      </p:sp>
      <p:sp>
        <p:nvSpPr>
          <p:cNvPr id="8" name="icon-bg-FaRobot"/>
          <p:cNvSpPr/>
          <p:nvPr/>
        </p:nvSpPr>
        <p:spPr>
          <a:xfrm>
            <a:off x="6766560" y="2560320"/>
            <a:ext cx="685800" cy="685800"/>
          </a:xfrm>
          <a:prstGeom prst="ellipse">
            <a:avLst/>
          </a:prstGeom>
          <a:solidFill>
            <a:schemeClr val="accent1"/>
          </a:solidFill>
          <a:ln/>
        </p:spPr>
      </p:sp>
      <p:pic>
        <p:nvPicPr>
          <p:cNvPr id="9" name="Image 1" descr="Robot icon"/>
          <p:cNvPicPr>
            <a:picLocks noChangeAspect="1"/>
          </p:cNvPicPr>
          <p:nvPr/>
        </p:nvPicPr>
        <p:blipFill>
          <a:blip r:embed="rId4"/>
          <a:stretch>
            <a:fillRect/>
          </a:stretch>
        </p:blipFill>
        <p:spPr>
          <a:xfrm>
            <a:off x="6931152" y="2724912"/>
            <a:ext cx="356616" cy="356616"/>
          </a:xfrm>
          <a:prstGeom prst="rect">
            <a:avLst/>
          </a:prstGeom>
        </p:spPr>
      </p:pic>
      <p:sp>
        <p:nvSpPr>
          <p:cNvPr id="10" name="Text 6"/>
          <p:cNvSpPr txBox="1"/>
          <p:nvPr/>
        </p:nvSpPr>
        <p:spPr>
          <a:xfrm>
            <a:off x="7635240" y="2514600"/>
            <a:ext cx="3977640" cy="777240"/>
          </a:xfrm>
          <a:prstGeom prst="rect">
            <a:avLst/>
          </a:prstGeom>
          <a:noFill/>
          <a:ln/>
        </p:spPr>
        <p:txBody>
          <a:bodyPr wrap="square" lIns="0" tIns="0" rIns="0" bIns="0" rtlCol="0" anchor="ctr"/>
          <a:lstStyle/>
          <a:p>
            <a:pPr marL="0" indent="0">
              <a:buNone/>
            </a:pPr>
            <a:r>
              <a:rPr lang="en-US" sz="1600" dirty="0">
                <a:solidFill>
                  <a:schemeClr val="tx1"/>
                </a:solidFill>
              </a:rPr>
              <a:t>Meets the course AI-use rule: every Claude Code change is traceable.</a:t>
            </a:r>
            <a:endParaRPr lang="en-US" sz="1600" dirty="0"/>
          </a:p>
        </p:txBody>
      </p:sp>
      <p:sp>
        <p:nvSpPr>
          <p:cNvPr id="11" name="icon-bg-FaGithub"/>
          <p:cNvSpPr/>
          <p:nvPr/>
        </p:nvSpPr>
        <p:spPr>
          <a:xfrm>
            <a:off x="6766560" y="3657600"/>
            <a:ext cx="685800" cy="685800"/>
          </a:xfrm>
          <a:prstGeom prst="ellipse">
            <a:avLst/>
          </a:prstGeom>
          <a:solidFill>
            <a:schemeClr val="accent2"/>
          </a:solidFill>
          <a:ln/>
        </p:spPr>
      </p:sp>
      <p:pic>
        <p:nvPicPr>
          <p:cNvPr id="12" name="Image 2" descr="Github icon"/>
          <p:cNvPicPr>
            <a:picLocks noChangeAspect="1"/>
          </p:cNvPicPr>
          <p:nvPr/>
        </p:nvPicPr>
        <p:blipFill>
          <a:blip r:embed="rId5"/>
          <a:stretch>
            <a:fillRect/>
          </a:stretch>
        </p:blipFill>
        <p:spPr>
          <a:xfrm>
            <a:off x="6931152" y="3822192"/>
            <a:ext cx="356616" cy="356616"/>
          </a:xfrm>
          <a:prstGeom prst="rect">
            <a:avLst/>
          </a:prstGeom>
        </p:spPr>
      </p:pic>
      <p:sp>
        <p:nvSpPr>
          <p:cNvPr id="13" name="Text 8"/>
          <p:cNvSpPr txBox="1"/>
          <p:nvPr/>
        </p:nvSpPr>
        <p:spPr>
          <a:xfrm>
            <a:off x="7635240" y="3611880"/>
            <a:ext cx="3977640" cy="777240"/>
          </a:xfrm>
          <a:prstGeom prst="rect">
            <a:avLst/>
          </a:prstGeom>
          <a:noFill/>
          <a:ln/>
        </p:spPr>
        <p:txBody>
          <a:bodyPr wrap="square" lIns="0" tIns="0" rIns="0" bIns="0" rtlCol="0" anchor="ctr"/>
          <a:lstStyle/>
          <a:p>
            <a:pPr marL="0" indent="0">
              <a:buNone/>
            </a:pPr>
            <a:r>
              <a:rPr lang="en-US" sz="1600" dirty="0">
                <a:solidFill>
                  <a:schemeClr val="tx1"/>
                </a:solidFill>
              </a:rPr>
              <a:t>Set up once: Jira → Apps → GitHub for Jira, link your repo.</a:t>
            </a:r>
            <a:endParaRPr lang="en-US" sz="1600" dirty="0"/>
          </a:p>
        </p:txBody>
      </p:sp>
      <p:sp>
        <p:nvSpPr>
          <p:cNvPr id="14" name="prompt-tip"/>
          <p:cNvSpPr/>
          <p:nvPr/>
        </p:nvSpPr>
        <p:spPr>
          <a:xfrm>
            <a:off x="548640" y="5029200"/>
            <a:ext cx="11091672" cy="868680"/>
          </a:xfrm>
          <a:prstGeom prst="roundRect">
            <a:avLst>
              <a:gd name="adj" fmla="val 12632"/>
            </a:avLst>
          </a:prstGeom>
          <a:solidFill>
            <a:schemeClr val="bg2"/>
          </a:solidFill>
          <a:ln/>
        </p:spPr>
      </p:sp>
      <p:sp>
        <p:nvSpPr>
          <p:cNvPr id="15" name="Text 10"/>
          <p:cNvSpPr txBox="1"/>
          <p:nvPr/>
        </p:nvSpPr>
        <p:spPr>
          <a:xfrm>
            <a:off x="914400" y="5029200"/>
            <a:ext cx="10360152" cy="868680"/>
          </a:xfrm>
          <a:prstGeom prst="rect">
            <a:avLst/>
          </a:prstGeom>
          <a:noFill/>
          <a:ln/>
        </p:spPr>
        <p:txBody>
          <a:bodyPr wrap="square" lIns="0" tIns="0" rIns="0" bIns="0" rtlCol="0" anchor="ctr"/>
          <a:lstStyle/>
          <a:p>
            <a:pPr marL="0" indent="0">
              <a:buNone/>
            </a:pPr>
            <a:r>
              <a:rPr lang="en-US" sz="1700" b="1" dirty="0">
                <a:solidFill>
                  <a:schemeClr val="accent1"/>
                </a:solidFill>
              </a:rPr>
              <a:t>Tip: </a:t>
            </a:r>
            <a:r>
              <a:rPr lang="en-US" sz="1700" dirty="0">
                <a:solidFill>
                  <a:schemeClr val="tx1"/>
                </a:solidFill>
              </a:rPr>
              <a:t>paste the story and its criteria into your Claude Code prompt, and ask it to start every commit message with the key.</a:t>
            </a:r>
            <a:endParaRPr lang="en-US" sz="17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Jira setup in six steps</a:t>
            </a:r>
            <a:endParaRPr lang="en-US" sz="3600" dirty="0"/>
          </a:p>
        </p:txBody>
      </p:sp>
      <p:sp>
        <p:nvSpPr>
          <p:cNvPr id="3" name="Shape 1"/>
          <p:cNvSpPr/>
          <p:nvPr/>
        </p:nvSpPr>
        <p:spPr>
          <a:xfrm>
            <a:off x="1472946" y="1828800"/>
            <a:ext cx="9243060" cy="914"/>
          </a:xfrm>
          <a:prstGeom prst="line">
            <a:avLst/>
          </a:prstGeom>
          <a:noFill/>
          <a:ln w="22225">
            <a:solidFill>
              <a:schemeClr val="accent5"/>
            </a:solidFill>
            <a:prstDash val="solid"/>
          </a:ln>
        </p:spPr>
      </p:sp>
      <p:sp>
        <p:nvSpPr>
          <p:cNvPr id="4" name="jira-step-0"/>
          <p:cNvSpPr/>
          <p:nvPr/>
        </p:nvSpPr>
        <p:spPr>
          <a:xfrm>
            <a:off x="1107186" y="1463040"/>
            <a:ext cx="731520" cy="731520"/>
          </a:xfrm>
          <a:prstGeom prst="ellipse">
            <a:avLst/>
          </a:prstGeom>
          <a:solidFill>
            <a:schemeClr val="accent2"/>
          </a:solidFill>
          <a:ln/>
        </p:spPr>
      </p:sp>
      <p:sp>
        <p:nvSpPr>
          <p:cNvPr id="5" name="Text 3"/>
          <p:cNvSpPr txBox="1"/>
          <p:nvPr/>
        </p:nvSpPr>
        <p:spPr>
          <a:xfrm>
            <a:off x="1107186" y="1463040"/>
            <a:ext cx="731520" cy="73152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6" name="Text 4"/>
          <p:cNvSpPr txBox="1"/>
          <p:nvPr/>
        </p:nvSpPr>
        <p:spPr>
          <a:xfrm>
            <a:off x="640080" y="2423160"/>
            <a:ext cx="1665732" cy="457200"/>
          </a:xfrm>
          <a:prstGeom prst="rect">
            <a:avLst/>
          </a:prstGeom>
          <a:noFill/>
          <a:ln/>
        </p:spPr>
        <p:txBody>
          <a:bodyPr wrap="square" lIns="0" tIns="0" rIns="0" bIns="0" rtlCol="0" anchor="t"/>
          <a:lstStyle/>
          <a:p>
            <a:pPr marL="0" indent="0" algn="ctr">
              <a:buNone/>
            </a:pPr>
            <a:r>
              <a:rPr lang="en-US" sz="1700" b="1" dirty="0">
                <a:solidFill>
                  <a:schemeClr val="tx2"/>
                </a:solidFill>
              </a:rPr>
              <a:t>Create project</a:t>
            </a:r>
            <a:endParaRPr lang="en-US" sz="1700" dirty="0"/>
          </a:p>
        </p:txBody>
      </p:sp>
      <p:sp>
        <p:nvSpPr>
          <p:cNvPr id="7" name="Text 5"/>
          <p:cNvSpPr txBox="1"/>
          <p:nvPr/>
        </p:nvSpPr>
        <p:spPr>
          <a:xfrm>
            <a:off x="685800" y="2926080"/>
            <a:ext cx="1574292" cy="1188720"/>
          </a:xfrm>
          <a:prstGeom prst="rect">
            <a:avLst/>
          </a:prstGeom>
          <a:noFill/>
          <a:ln/>
        </p:spPr>
        <p:txBody>
          <a:bodyPr wrap="square" lIns="0" tIns="0" rIns="0" bIns="0" rtlCol="0" anchor="t"/>
          <a:lstStyle/>
          <a:p>
            <a:pPr marL="0" indent="0" algn="ctr">
              <a:buNone/>
            </a:pPr>
            <a:r>
              <a:rPr lang="en-US" sz="1400" dirty="0">
                <a:solidFill>
                  <a:schemeClr val="tx1"/>
                </a:solidFill>
              </a:rPr>
              <a:t>Scrum template, team-managed, key SRE</a:t>
            </a:r>
            <a:endParaRPr lang="en-US" sz="1400" dirty="0"/>
          </a:p>
        </p:txBody>
      </p:sp>
      <p:sp>
        <p:nvSpPr>
          <p:cNvPr id="8" name="jira-step-1"/>
          <p:cNvSpPr/>
          <p:nvPr/>
        </p:nvSpPr>
        <p:spPr>
          <a:xfrm>
            <a:off x="2955798" y="1463040"/>
            <a:ext cx="731520" cy="731520"/>
          </a:xfrm>
          <a:prstGeom prst="ellipse">
            <a:avLst/>
          </a:prstGeom>
          <a:solidFill>
            <a:schemeClr val="accent2"/>
          </a:solidFill>
          <a:ln/>
        </p:spPr>
      </p:sp>
      <p:sp>
        <p:nvSpPr>
          <p:cNvPr id="9" name="Text 7"/>
          <p:cNvSpPr txBox="1"/>
          <p:nvPr/>
        </p:nvSpPr>
        <p:spPr>
          <a:xfrm>
            <a:off x="2955798" y="1463040"/>
            <a:ext cx="731520" cy="73152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0" name="Text 8"/>
          <p:cNvSpPr txBox="1"/>
          <p:nvPr/>
        </p:nvSpPr>
        <p:spPr>
          <a:xfrm>
            <a:off x="2488692" y="2423160"/>
            <a:ext cx="1665732" cy="457200"/>
          </a:xfrm>
          <a:prstGeom prst="rect">
            <a:avLst/>
          </a:prstGeom>
          <a:noFill/>
          <a:ln/>
        </p:spPr>
        <p:txBody>
          <a:bodyPr wrap="square" lIns="0" tIns="0" rIns="0" bIns="0" rtlCol="0" anchor="t"/>
          <a:lstStyle/>
          <a:p>
            <a:pPr marL="0" indent="0" algn="ctr">
              <a:buNone/>
            </a:pPr>
            <a:r>
              <a:rPr lang="en-US" sz="1700" b="1" dirty="0">
                <a:solidFill>
                  <a:schemeClr val="tx2"/>
                </a:solidFill>
              </a:rPr>
              <a:t>Invite people</a:t>
            </a:r>
            <a:endParaRPr lang="en-US" sz="1700" dirty="0"/>
          </a:p>
        </p:txBody>
      </p:sp>
      <p:sp>
        <p:nvSpPr>
          <p:cNvPr id="11" name="Text 9"/>
          <p:cNvSpPr txBox="1"/>
          <p:nvPr/>
        </p:nvSpPr>
        <p:spPr>
          <a:xfrm>
            <a:off x="2534412" y="2926080"/>
            <a:ext cx="1574292" cy="1188720"/>
          </a:xfrm>
          <a:prstGeom prst="rect">
            <a:avLst/>
          </a:prstGeom>
          <a:noFill/>
          <a:ln/>
        </p:spPr>
        <p:txBody>
          <a:bodyPr wrap="square" lIns="0" tIns="0" rIns="0" bIns="0" rtlCol="0" anchor="t"/>
          <a:lstStyle/>
          <a:p>
            <a:pPr marL="0" indent="0" algn="ctr">
              <a:buNone/>
            </a:pPr>
            <a:r>
              <a:rPr lang="en-US" sz="1400" dirty="0">
                <a:solidFill>
                  <a:schemeClr val="tx1"/>
                </a:solidFill>
              </a:rPr>
              <a:t>Whole team, plus the instructor as Viewer</a:t>
            </a:r>
            <a:endParaRPr lang="en-US" sz="1400" dirty="0"/>
          </a:p>
        </p:txBody>
      </p:sp>
      <p:sp>
        <p:nvSpPr>
          <p:cNvPr id="12" name="jira-step-2"/>
          <p:cNvSpPr/>
          <p:nvPr/>
        </p:nvSpPr>
        <p:spPr>
          <a:xfrm>
            <a:off x="4804410" y="1463040"/>
            <a:ext cx="731520" cy="731520"/>
          </a:xfrm>
          <a:prstGeom prst="ellipse">
            <a:avLst/>
          </a:prstGeom>
          <a:solidFill>
            <a:schemeClr val="accent2"/>
          </a:solidFill>
          <a:ln/>
        </p:spPr>
      </p:sp>
      <p:sp>
        <p:nvSpPr>
          <p:cNvPr id="13" name="Text 11"/>
          <p:cNvSpPr txBox="1"/>
          <p:nvPr/>
        </p:nvSpPr>
        <p:spPr>
          <a:xfrm>
            <a:off x="4804410" y="1463040"/>
            <a:ext cx="731520" cy="73152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4" name="Text 12"/>
          <p:cNvSpPr txBox="1"/>
          <p:nvPr/>
        </p:nvSpPr>
        <p:spPr>
          <a:xfrm>
            <a:off x="4337304" y="2423160"/>
            <a:ext cx="1665732" cy="457200"/>
          </a:xfrm>
          <a:prstGeom prst="rect">
            <a:avLst/>
          </a:prstGeom>
          <a:noFill/>
          <a:ln/>
        </p:spPr>
        <p:txBody>
          <a:bodyPr wrap="square" lIns="0" tIns="0" rIns="0" bIns="0" rtlCol="0" anchor="t"/>
          <a:lstStyle/>
          <a:p>
            <a:pPr marL="0" indent="0" algn="ctr">
              <a:buNone/>
            </a:pPr>
            <a:r>
              <a:rPr lang="en-US" sz="1700" b="1" dirty="0">
                <a:solidFill>
                  <a:schemeClr val="tx2"/>
                </a:solidFill>
              </a:rPr>
              <a:t>Turn on points</a:t>
            </a:r>
            <a:endParaRPr lang="en-US" sz="1700" dirty="0"/>
          </a:p>
        </p:txBody>
      </p:sp>
      <p:sp>
        <p:nvSpPr>
          <p:cNvPr id="15" name="Text 13"/>
          <p:cNvSpPr txBox="1"/>
          <p:nvPr/>
        </p:nvSpPr>
        <p:spPr>
          <a:xfrm>
            <a:off x="4383024" y="2926080"/>
            <a:ext cx="1574292" cy="1188720"/>
          </a:xfrm>
          <a:prstGeom prst="rect">
            <a:avLst/>
          </a:prstGeom>
          <a:noFill/>
          <a:ln/>
        </p:spPr>
        <p:txBody>
          <a:bodyPr wrap="square" lIns="0" tIns="0" rIns="0" bIns="0" rtlCol="0" anchor="t"/>
          <a:lstStyle/>
          <a:p>
            <a:pPr marL="0" indent="0" algn="ctr">
              <a:buNone/>
            </a:pPr>
            <a:r>
              <a:rPr lang="en-US" sz="1400" dirty="0">
                <a:solidFill>
                  <a:schemeClr val="tx1"/>
                </a:solidFill>
              </a:rPr>
              <a:t>Project settings → Features → Estimation</a:t>
            </a:r>
            <a:endParaRPr lang="en-US" sz="1400" dirty="0"/>
          </a:p>
        </p:txBody>
      </p:sp>
      <p:sp>
        <p:nvSpPr>
          <p:cNvPr id="16" name="jira-step-3"/>
          <p:cNvSpPr/>
          <p:nvPr/>
        </p:nvSpPr>
        <p:spPr>
          <a:xfrm>
            <a:off x="6653022" y="1463040"/>
            <a:ext cx="731520" cy="731520"/>
          </a:xfrm>
          <a:prstGeom prst="ellipse">
            <a:avLst/>
          </a:prstGeom>
          <a:solidFill>
            <a:schemeClr val="accent2"/>
          </a:solidFill>
          <a:ln/>
        </p:spPr>
      </p:sp>
      <p:sp>
        <p:nvSpPr>
          <p:cNvPr id="17" name="Text 15"/>
          <p:cNvSpPr txBox="1"/>
          <p:nvPr/>
        </p:nvSpPr>
        <p:spPr>
          <a:xfrm>
            <a:off x="6653022" y="1463040"/>
            <a:ext cx="731520" cy="731520"/>
          </a:xfrm>
          <a:prstGeom prst="rect">
            <a:avLst/>
          </a:prstGeom>
          <a:no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18" name="Text 16"/>
          <p:cNvSpPr txBox="1"/>
          <p:nvPr/>
        </p:nvSpPr>
        <p:spPr>
          <a:xfrm>
            <a:off x="6185916" y="2423160"/>
            <a:ext cx="1665732" cy="457200"/>
          </a:xfrm>
          <a:prstGeom prst="rect">
            <a:avLst/>
          </a:prstGeom>
          <a:noFill/>
          <a:ln/>
        </p:spPr>
        <p:txBody>
          <a:bodyPr wrap="square" lIns="0" tIns="0" rIns="0" bIns="0" rtlCol="0" anchor="t"/>
          <a:lstStyle/>
          <a:p>
            <a:pPr marL="0" indent="0" algn="ctr">
              <a:buNone/>
            </a:pPr>
            <a:r>
              <a:rPr lang="en-US" sz="1700" b="1" dirty="0">
                <a:solidFill>
                  <a:schemeClr val="tx2"/>
                </a:solidFill>
              </a:rPr>
              <a:t>Epics → stories</a:t>
            </a:r>
            <a:endParaRPr lang="en-US" sz="1700" dirty="0"/>
          </a:p>
        </p:txBody>
      </p:sp>
      <p:sp>
        <p:nvSpPr>
          <p:cNvPr id="19" name="Text 17"/>
          <p:cNvSpPr txBox="1"/>
          <p:nvPr/>
        </p:nvSpPr>
        <p:spPr>
          <a:xfrm>
            <a:off x="6231636" y="2926080"/>
            <a:ext cx="1574292" cy="1188720"/>
          </a:xfrm>
          <a:prstGeom prst="rect">
            <a:avLst/>
          </a:prstGeom>
          <a:noFill/>
          <a:ln/>
        </p:spPr>
        <p:txBody>
          <a:bodyPr wrap="square" lIns="0" tIns="0" rIns="0" bIns="0" rtlCol="0" anchor="t"/>
          <a:lstStyle/>
          <a:p>
            <a:pPr marL="0" indent="0" algn="ctr">
              <a:buNone/>
            </a:pPr>
            <a:r>
              <a:rPr lang="en-US" sz="1400" dirty="0">
                <a:solidFill>
                  <a:schemeClr val="tx1"/>
                </a:solidFill>
              </a:rPr>
              <a:t>Summary, Given/When/Then, points, labels</a:t>
            </a:r>
            <a:endParaRPr lang="en-US" sz="1400" dirty="0"/>
          </a:p>
        </p:txBody>
      </p:sp>
      <p:sp>
        <p:nvSpPr>
          <p:cNvPr id="20" name="jira-step-4"/>
          <p:cNvSpPr/>
          <p:nvPr/>
        </p:nvSpPr>
        <p:spPr>
          <a:xfrm>
            <a:off x="8501634" y="1463040"/>
            <a:ext cx="731520" cy="731520"/>
          </a:xfrm>
          <a:prstGeom prst="ellipse">
            <a:avLst/>
          </a:prstGeom>
          <a:solidFill>
            <a:schemeClr val="accent1"/>
          </a:solidFill>
          <a:ln/>
        </p:spPr>
      </p:sp>
      <p:sp>
        <p:nvSpPr>
          <p:cNvPr id="21" name="Text 19"/>
          <p:cNvSpPr txBox="1"/>
          <p:nvPr/>
        </p:nvSpPr>
        <p:spPr>
          <a:xfrm>
            <a:off x="8501634" y="1463040"/>
            <a:ext cx="731520" cy="731520"/>
          </a:xfrm>
          <a:prstGeom prst="rect">
            <a:avLst/>
          </a:prstGeom>
          <a:noFill/>
          <a:ln/>
        </p:spPr>
        <p:txBody>
          <a:bodyPr wrap="square" lIns="0" tIns="0" rIns="0" bIns="0" rtlCol="0" anchor="ctr"/>
          <a:lstStyle/>
          <a:p>
            <a:pPr marL="0" indent="0" algn="ctr">
              <a:buNone/>
            </a:pPr>
            <a:r>
              <a:rPr lang="en-US" sz="2200" b="1" dirty="0">
                <a:solidFill>
                  <a:schemeClr val="bg1"/>
                </a:solidFill>
              </a:rPr>
              <a:t>5</a:t>
            </a:r>
            <a:endParaRPr lang="en-US" sz="2200" dirty="0"/>
          </a:p>
        </p:txBody>
      </p:sp>
      <p:sp>
        <p:nvSpPr>
          <p:cNvPr id="22" name="Text 20"/>
          <p:cNvSpPr txBox="1"/>
          <p:nvPr/>
        </p:nvSpPr>
        <p:spPr>
          <a:xfrm>
            <a:off x="8034528" y="2423160"/>
            <a:ext cx="1665732" cy="457200"/>
          </a:xfrm>
          <a:prstGeom prst="rect">
            <a:avLst/>
          </a:prstGeom>
          <a:noFill/>
          <a:ln/>
        </p:spPr>
        <p:txBody>
          <a:bodyPr wrap="square" lIns="0" tIns="0" rIns="0" bIns="0" rtlCol="0" anchor="t"/>
          <a:lstStyle/>
          <a:p>
            <a:pPr marL="0" indent="0" algn="ctr">
              <a:buNone/>
            </a:pPr>
            <a:r>
              <a:rPr lang="en-US" sz="1700" b="1" dirty="0">
                <a:solidFill>
                  <a:schemeClr val="tx2"/>
                </a:solidFill>
              </a:rPr>
              <a:t>Order and start</a:t>
            </a:r>
            <a:endParaRPr lang="en-US" sz="1700" dirty="0"/>
          </a:p>
        </p:txBody>
      </p:sp>
      <p:sp>
        <p:nvSpPr>
          <p:cNvPr id="23" name="Text 21"/>
          <p:cNvSpPr txBox="1"/>
          <p:nvPr/>
        </p:nvSpPr>
        <p:spPr>
          <a:xfrm>
            <a:off x="8080248" y="2926080"/>
            <a:ext cx="1574292" cy="1188720"/>
          </a:xfrm>
          <a:prstGeom prst="rect">
            <a:avLst/>
          </a:prstGeom>
          <a:noFill/>
          <a:ln/>
        </p:spPr>
        <p:txBody>
          <a:bodyPr wrap="square" lIns="0" tIns="0" rIns="0" bIns="0" rtlCol="0" anchor="t"/>
          <a:lstStyle/>
          <a:p>
            <a:pPr marL="0" indent="0" algn="ctr">
              <a:buNone/>
            </a:pPr>
            <a:r>
              <a:rPr lang="en-US" sz="1400" dirty="0">
                <a:solidFill>
                  <a:schemeClr val="tx1"/>
                </a:solidFill>
              </a:rPr>
              <a:t>PO orders backlog; start sprint with a goal</a:t>
            </a:r>
            <a:endParaRPr lang="en-US" sz="1400" dirty="0"/>
          </a:p>
        </p:txBody>
      </p:sp>
      <p:sp>
        <p:nvSpPr>
          <p:cNvPr id="24" name="jira-step-5"/>
          <p:cNvSpPr/>
          <p:nvPr/>
        </p:nvSpPr>
        <p:spPr>
          <a:xfrm>
            <a:off x="10350246" y="1463040"/>
            <a:ext cx="731520" cy="731520"/>
          </a:xfrm>
          <a:prstGeom prst="ellipse">
            <a:avLst/>
          </a:prstGeom>
          <a:solidFill>
            <a:schemeClr val="accent2"/>
          </a:solidFill>
          <a:ln/>
        </p:spPr>
      </p:sp>
      <p:sp>
        <p:nvSpPr>
          <p:cNvPr id="25" name="Text 23"/>
          <p:cNvSpPr txBox="1"/>
          <p:nvPr/>
        </p:nvSpPr>
        <p:spPr>
          <a:xfrm>
            <a:off x="10350246" y="1463040"/>
            <a:ext cx="731520" cy="731520"/>
          </a:xfrm>
          <a:prstGeom prst="rect">
            <a:avLst/>
          </a:prstGeom>
          <a:noFill/>
          <a:ln/>
        </p:spPr>
        <p:txBody>
          <a:bodyPr wrap="square" lIns="0" tIns="0" rIns="0" bIns="0" rtlCol="0" anchor="ctr"/>
          <a:lstStyle/>
          <a:p>
            <a:pPr marL="0" indent="0" algn="ctr">
              <a:buNone/>
            </a:pPr>
            <a:r>
              <a:rPr lang="en-US" sz="2200" b="1" dirty="0">
                <a:solidFill>
                  <a:schemeClr val="bg1"/>
                </a:solidFill>
              </a:rPr>
              <a:t>6</a:t>
            </a:r>
            <a:endParaRPr lang="en-US" sz="2200" dirty="0"/>
          </a:p>
        </p:txBody>
      </p:sp>
      <p:sp>
        <p:nvSpPr>
          <p:cNvPr id="26" name="Text 24"/>
          <p:cNvSpPr txBox="1"/>
          <p:nvPr/>
        </p:nvSpPr>
        <p:spPr>
          <a:xfrm>
            <a:off x="9883140" y="2423160"/>
            <a:ext cx="1665732" cy="457200"/>
          </a:xfrm>
          <a:prstGeom prst="rect">
            <a:avLst/>
          </a:prstGeom>
          <a:noFill/>
          <a:ln/>
        </p:spPr>
        <p:txBody>
          <a:bodyPr wrap="square" lIns="0" tIns="0" rIns="0" bIns="0" rtlCol="0" anchor="t"/>
          <a:lstStyle/>
          <a:p>
            <a:pPr marL="0" indent="0" algn="ctr">
              <a:buNone/>
            </a:pPr>
            <a:r>
              <a:rPr lang="en-US" sz="1700" b="1" dirty="0">
                <a:solidFill>
                  <a:schemeClr val="tx2"/>
                </a:solidFill>
              </a:rPr>
              <a:t>Run and report</a:t>
            </a:r>
            <a:endParaRPr lang="en-US" sz="1700" dirty="0"/>
          </a:p>
        </p:txBody>
      </p:sp>
      <p:sp>
        <p:nvSpPr>
          <p:cNvPr id="27" name="Text 25"/>
          <p:cNvSpPr txBox="1"/>
          <p:nvPr/>
        </p:nvSpPr>
        <p:spPr>
          <a:xfrm>
            <a:off x="9928860" y="2926080"/>
            <a:ext cx="1574292" cy="1188720"/>
          </a:xfrm>
          <a:prstGeom prst="rect">
            <a:avLst/>
          </a:prstGeom>
          <a:noFill/>
          <a:ln/>
        </p:spPr>
        <p:txBody>
          <a:bodyPr wrap="square" lIns="0" tIns="0" rIns="0" bIns="0" rtlCol="0" anchor="t"/>
          <a:lstStyle/>
          <a:p>
            <a:pPr marL="0" indent="0" algn="ctr">
              <a:buNone/>
            </a:pPr>
            <a:r>
              <a:rPr lang="en-US" sz="1400" dirty="0">
                <a:solidFill>
                  <a:schemeClr val="tx1"/>
                </a:solidFill>
              </a:rPr>
              <a:t>Board, stand-up comments, burndown, velocity</a:t>
            </a:r>
            <a:endParaRPr lang="en-US" sz="1400" dirty="0"/>
          </a:p>
        </p:txBody>
      </p:sp>
      <p:sp>
        <p:nvSpPr>
          <p:cNvPr id="28" name="standup"/>
          <p:cNvSpPr/>
          <p:nvPr/>
        </p:nvSpPr>
        <p:spPr>
          <a:xfrm>
            <a:off x="548640" y="4526280"/>
            <a:ext cx="11091672" cy="1325880"/>
          </a:xfrm>
          <a:prstGeom prst="roundRect">
            <a:avLst>
              <a:gd name="adj" fmla="val 8276"/>
            </a:avLst>
          </a:prstGeom>
          <a:solidFill>
            <a:schemeClr val="bg2"/>
          </a:solidFill>
          <a:ln/>
        </p:spPr>
      </p:sp>
      <p:sp>
        <p:nvSpPr>
          <p:cNvPr id="29" name="icon-bg-FaCommentDots"/>
          <p:cNvSpPr/>
          <p:nvPr/>
        </p:nvSpPr>
        <p:spPr>
          <a:xfrm>
            <a:off x="868680" y="4800600"/>
            <a:ext cx="777240" cy="777240"/>
          </a:xfrm>
          <a:prstGeom prst="ellipse">
            <a:avLst/>
          </a:prstGeom>
          <a:solidFill>
            <a:schemeClr val="accent2"/>
          </a:solidFill>
          <a:ln/>
        </p:spPr>
      </p:sp>
      <p:pic>
        <p:nvPicPr>
          <p:cNvPr id="30" name="Image 0" descr="CommentDots icon"/>
          <p:cNvPicPr>
            <a:picLocks noChangeAspect="1"/>
          </p:cNvPicPr>
          <p:nvPr/>
        </p:nvPicPr>
        <p:blipFill>
          <a:blip r:embed="rId3"/>
          <a:stretch>
            <a:fillRect/>
          </a:stretch>
        </p:blipFill>
        <p:spPr>
          <a:xfrm>
            <a:off x="1055218" y="4987138"/>
            <a:ext cx="404165" cy="404165"/>
          </a:xfrm>
          <a:prstGeom prst="rect">
            <a:avLst/>
          </a:prstGeom>
        </p:spPr>
      </p:pic>
      <p:sp>
        <p:nvSpPr>
          <p:cNvPr id="31" name="Text 28"/>
          <p:cNvSpPr txBox="1"/>
          <p:nvPr/>
        </p:nvSpPr>
        <p:spPr>
          <a:xfrm>
            <a:off x="1874520" y="4709160"/>
            <a:ext cx="9445752" cy="960120"/>
          </a:xfrm>
          <a:prstGeom prst="rect">
            <a:avLst/>
          </a:prstGeom>
          <a:noFill/>
          <a:ln/>
        </p:spPr>
        <p:txBody>
          <a:bodyPr wrap="square" lIns="0" tIns="0" rIns="0" bIns="0" rtlCol="0" anchor="ctr"/>
          <a:lstStyle/>
          <a:p>
            <a:pPr marL="0" indent="0">
              <a:spcAft>
                <a:spcPts val="600"/>
              </a:spcAft>
              <a:buNone/>
            </a:pPr>
            <a:r>
              <a:rPr lang="en-US" sz="1700" b="1" dirty="0">
                <a:solidFill>
                  <a:schemeClr val="tx2"/>
                </a:solidFill>
              </a:rPr>
              <a:t>Stand-up comment, twice a week on your active issue</a:t>
            </a:r>
            <a:endParaRPr lang="en-US" sz="1700" dirty="0"/>
          </a:p>
          <a:p>
            <a:pPr marL="0" indent="0">
              <a:spcAft>
                <a:spcPts val="600"/>
              </a:spcAft>
              <a:buNone/>
            </a:pPr>
            <a:r>
              <a:rPr lang="en-US" sz="1400" dirty="0">
                <a:solidFill>
                  <a:schemeClr val="tx1"/>
                </a:solidFill>
                <a:latin typeface="Courier New" pitchFamily="34" charset="0"/>
                <a:ea typeface="Courier New" pitchFamily="34" charset="-122"/>
                <a:cs typeface="Courier New" pitchFamily="34" charset="-120"/>
              </a:rPr>
              <a:t>Done: extracted StudentDAO (SRE-15)  ·  Next: DAO unit tests  ·  Blockers: MySQL 5 dump fails on MySQL 8</a:t>
            </a:r>
            <a:endParaRPr lang="en-US" sz="1700" dirty="0"/>
          </a:p>
        </p:txBody>
      </p:sp>
      <p:sp>
        <p:nvSpPr>
          <p:cNvPr id="32"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The semester in sprints</a:t>
            </a:r>
            <a:endParaRPr lang="en-US" sz="3600" dirty="0"/>
          </a:p>
        </p:txBody>
      </p:sp>
      <p:sp>
        <p:nvSpPr>
          <p:cNvPr id="3" name="band-0"/>
          <p:cNvSpPr/>
          <p:nvPr/>
        </p:nvSpPr>
        <p:spPr>
          <a:xfrm>
            <a:off x="585216" y="1463040"/>
            <a:ext cx="2699766" cy="1920240"/>
          </a:xfrm>
          <a:prstGeom prst="roundRect">
            <a:avLst>
              <a:gd name="adj" fmla="val 5714"/>
            </a:avLst>
          </a:prstGeom>
          <a:solidFill>
            <a:schemeClr val="bg2"/>
          </a:solidFill>
          <a:ln/>
        </p:spPr>
      </p:sp>
      <p:sp>
        <p:nvSpPr>
          <p:cNvPr id="4" name="Text 2"/>
          <p:cNvSpPr txBox="1"/>
          <p:nvPr/>
        </p:nvSpPr>
        <p:spPr>
          <a:xfrm>
            <a:off x="658368" y="1645920"/>
            <a:ext cx="2553462" cy="411480"/>
          </a:xfrm>
          <a:prstGeom prst="rect">
            <a:avLst/>
          </a:prstGeom>
          <a:noFill/>
          <a:ln/>
        </p:spPr>
        <p:txBody>
          <a:bodyPr wrap="square" lIns="0" tIns="0" rIns="0" bIns="0" rtlCol="0" anchor="t"/>
          <a:lstStyle/>
          <a:p>
            <a:pPr marL="0" indent="0" algn="ctr">
              <a:buNone/>
            </a:pPr>
            <a:r>
              <a:rPr lang="en-US" sz="1600" b="1" dirty="0">
                <a:solidFill>
                  <a:schemeClr val="tx2"/>
                </a:solidFill>
              </a:rPr>
              <a:t>Discovery + backlog</a:t>
            </a:r>
            <a:endParaRPr lang="en-US" sz="1600" dirty="0"/>
          </a:p>
        </p:txBody>
      </p:sp>
      <p:sp>
        <p:nvSpPr>
          <p:cNvPr id="5" name="Text 3"/>
          <p:cNvSpPr txBox="1"/>
          <p:nvPr/>
        </p:nvSpPr>
        <p:spPr>
          <a:xfrm>
            <a:off x="658368" y="2057400"/>
            <a:ext cx="2553462" cy="320040"/>
          </a:xfrm>
          <a:prstGeom prst="rect">
            <a:avLst/>
          </a:prstGeom>
          <a:noFill/>
          <a:ln/>
        </p:spPr>
        <p:txBody>
          <a:bodyPr wrap="square" lIns="0" tIns="0" rIns="0" bIns="0" rtlCol="0" anchor="t"/>
          <a:lstStyle/>
          <a:p>
            <a:pPr marL="0" indent="0" algn="ctr">
              <a:buNone/>
            </a:pPr>
            <a:r>
              <a:rPr lang="en-US" sz="1400" dirty="0">
                <a:solidFill>
                  <a:schemeClr val="accent6"/>
                </a:solidFill>
              </a:rPr>
              <a:t>Weeks 1–4</a:t>
            </a:r>
            <a:endParaRPr lang="en-US" sz="1400" dirty="0"/>
          </a:p>
        </p:txBody>
      </p:sp>
      <p:sp>
        <p:nvSpPr>
          <p:cNvPr id="6" name="Text 4"/>
          <p:cNvSpPr txBox="1"/>
          <p:nvPr/>
        </p:nvSpPr>
        <p:spPr>
          <a:xfrm>
            <a:off x="658368" y="2606040"/>
            <a:ext cx="2553462" cy="548640"/>
          </a:xfrm>
          <a:prstGeom prst="rect">
            <a:avLst/>
          </a:prstGeom>
          <a:noFill/>
          <a:ln/>
        </p:spPr>
        <p:txBody>
          <a:bodyPr wrap="square" lIns="0" tIns="0" rIns="0" bIns="0" rtlCol="0" anchor="t"/>
          <a:lstStyle/>
          <a:p>
            <a:pPr marL="0" indent="0" algn="ctr">
              <a:buNone/>
            </a:pPr>
            <a:r>
              <a:rPr lang="en-US" sz="1400" dirty="0">
                <a:solidFill>
                  <a:schemeClr val="tx1"/>
                </a:solidFill>
              </a:rPr>
              <a:t>25+ stories, A0–A3</a:t>
            </a:r>
            <a:endParaRPr lang="en-US" sz="1400" dirty="0"/>
          </a:p>
        </p:txBody>
      </p:sp>
      <p:sp>
        <p:nvSpPr>
          <p:cNvPr id="7" name="band-1"/>
          <p:cNvSpPr/>
          <p:nvPr/>
        </p:nvSpPr>
        <p:spPr>
          <a:xfrm>
            <a:off x="3358134" y="1463040"/>
            <a:ext cx="1313307" cy="1920240"/>
          </a:xfrm>
          <a:prstGeom prst="roundRect">
            <a:avLst>
              <a:gd name="adj" fmla="val 8355"/>
            </a:avLst>
          </a:prstGeom>
          <a:solidFill>
            <a:schemeClr val="bg1"/>
          </a:solidFill>
          <a:ln w="15875">
            <a:solidFill>
              <a:schemeClr val="accent2"/>
            </a:solidFill>
            <a:prstDash val="solid"/>
          </a:ln>
        </p:spPr>
      </p:sp>
      <p:sp>
        <p:nvSpPr>
          <p:cNvPr id="8" name="Text 6"/>
          <p:cNvSpPr txBox="1"/>
          <p:nvPr/>
        </p:nvSpPr>
        <p:spPr>
          <a:xfrm>
            <a:off x="3431286" y="1645920"/>
            <a:ext cx="1167003" cy="411480"/>
          </a:xfrm>
          <a:prstGeom prst="rect">
            <a:avLst/>
          </a:prstGeom>
          <a:noFill/>
          <a:ln/>
        </p:spPr>
        <p:txBody>
          <a:bodyPr wrap="square" lIns="0" tIns="0" rIns="0" bIns="0" rtlCol="0" anchor="t"/>
          <a:lstStyle/>
          <a:p>
            <a:pPr marL="0" indent="0" algn="ctr">
              <a:buNone/>
            </a:pPr>
            <a:r>
              <a:rPr lang="en-US" sz="1600" b="1" dirty="0">
                <a:solidFill>
                  <a:schemeClr val="tx2"/>
                </a:solidFill>
              </a:rPr>
              <a:t>Sprint 1</a:t>
            </a:r>
            <a:endParaRPr lang="en-US" sz="1600" dirty="0"/>
          </a:p>
        </p:txBody>
      </p:sp>
      <p:sp>
        <p:nvSpPr>
          <p:cNvPr id="9" name="Text 7"/>
          <p:cNvSpPr txBox="1"/>
          <p:nvPr/>
        </p:nvSpPr>
        <p:spPr>
          <a:xfrm>
            <a:off x="3431286" y="2057400"/>
            <a:ext cx="1167003" cy="320040"/>
          </a:xfrm>
          <a:prstGeom prst="rect">
            <a:avLst/>
          </a:prstGeom>
          <a:noFill/>
          <a:ln/>
        </p:spPr>
        <p:txBody>
          <a:bodyPr wrap="square" lIns="0" tIns="0" rIns="0" bIns="0" rtlCol="0" anchor="t"/>
          <a:lstStyle/>
          <a:p>
            <a:pPr marL="0" indent="0" algn="ctr">
              <a:buNone/>
            </a:pPr>
            <a:r>
              <a:rPr lang="en-US" sz="1400" dirty="0">
                <a:solidFill>
                  <a:schemeClr val="accent6"/>
                </a:solidFill>
              </a:rPr>
              <a:t>Weeks 5–6</a:t>
            </a:r>
            <a:endParaRPr lang="en-US" sz="1400" dirty="0"/>
          </a:p>
        </p:txBody>
      </p:sp>
      <p:sp>
        <p:nvSpPr>
          <p:cNvPr id="10" name="Text 8"/>
          <p:cNvSpPr txBox="1"/>
          <p:nvPr/>
        </p:nvSpPr>
        <p:spPr>
          <a:xfrm>
            <a:off x="3431286" y="2606040"/>
            <a:ext cx="1167003" cy="548640"/>
          </a:xfrm>
          <a:prstGeom prst="rect">
            <a:avLst/>
          </a:prstGeom>
          <a:noFill/>
          <a:ln/>
        </p:spPr>
        <p:txBody>
          <a:bodyPr wrap="square" lIns="0" tIns="0" rIns="0" bIns="0" rtlCol="0" anchor="t"/>
          <a:lstStyle/>
          <a:p>
            <a:pPr marL="0" indent="0" algn="ctr">
              <a:buNone/>
            </a:pPr>
            <a:r>
              <a:rPr lang="en-US" sz="1400" dirty="0">
                <a:solidFill>
                  <a:schemeClr val="tx1"/>
                </a:solidFill>
              </a:rPr>
              <a:t>Reverse UML</a:t>
            </a:r>
            <a:endParaRPr lang="en-US" sz="1400" dirty="0"/>
          </a:p>
        </p:txBody>
      </p:sp>
      <p:sp>
        <p:nvSpPr>
          <p:cNvPr id="11" name="band-2"/>
          <p:cNvSpPr/>
          <p:nvPr/>
        </p:nvSpPr>
        <p:spPr>
          <a:xfrm>
            <a:off x="4744593" y="1463040"/>
            <a:ext cx="1313307" cy="1920240"/>
          </a:xfrm>
          <a:prstGeom prst="roundRect">
            <a:avLst>
              <a:gd name="adj" fmla="val 8355"/>
            </a:avLst>
          </a:prstGeom>
          <a:solidFill>
            <a:schemeClr val="bg1"/>
          </a:solidFill>
          <a:ln w="15875">
            <a:solidFill>
              <a:schemeClr val="accent2"/>
            </a:solidFill>
            <a:prstDash val="solid"/>
          </a:ln>
        </p:spPr>
      </p:sp>
      <p:sp>
        <p:nvSpPr>
          <p:cNvPr id="12" name="Text 10"/>
          <p:cNvSpPr txBox="1"/>
          <p:nvPr/>
        </p:nvSpPr>
        <p:spPr>
          <a:xfrm>
            <a:off x="4817745" y="1645920"/>
            <a:ext cx="1167003" cy="411480"/>
          </a:xfrm>
          <a:prstGeom prst="rect">
            <a:avLst/>
          </a:prstGeom>
          <a:noFill/>
          <a:ln/>
        </p:spPr>
        <p:txBody>
          <a:bodyPr wrap="square" lIns="0" tIns="0" rIns="0" bIns="0" rtlCol="0" anchor="t"/>
          <a:lstStyle/>
          <a:p>
            <a:pPr marL="0" indent="0" algn="ctr">
              <a:buNone/>
            </a:pPr>
            <a:r>
              <a:rPr lang="en-US" sz="1600" b="1" dirty="0">
                <a:solidFill>
                  <a:schemeClr val="tx2"/>
                </a:solidFill>
              </a:rPr>
              <a:t>Sprint 2</a:t>
            </a:r>
            <a:endParaRPr lang="en-US" sz="1600" dirty="0"/>
          </a:p>
        </p:txBody>
      </p:sp>
      <p:sp>
        <p:nvSpPr>
          <p:cNvPr id="13" name="Text 11"/>
          <p:cNvSpPr txBox="1"/>
          <p:nvPr/>
        </p:nvSpPr>
        <p:spPr>
          <a:xfrm>
            <a:off x="4817745" y="2057400"/>
            <a:ext cx="1167003" cy="320040"/>
          </a:xfrm>
          <a:prstGeom prst="rect">
            <a:avLst/>
          </a:prstGeom>
          <a:noFill/>
          <a:ln/>
        </p:spPr>
        <p:txBody>
          <a:bodyPr wrap="square" lIns="0" tIns="0" rIns="0" bIns="0" rtlCol="0" anchor="t"/>
          <a:lstStyle/>
          <a:p>
            <a:pPr marL="0" indent="0" algn="ctr">
              <a:buNone/>
            </a:pPr>
            <a:r>
              <a:rPr lang="en-US" sz="1400" dirty="0">
                <a:solidFill>
                  <a:schemeClr val="accent6"/>
                </a:solidFill>
              </a:rPr>
              <a:t>Weeks 7–8</a:t>
            </a:r>
            <a:endParaRPr lang="en-US" sz="1400" dirty="0"/>
          </a:p>
        </p:txBody>
      </p:sp>
      <p:sp>
        <p:nvSpPr>
          <p:cNvPr id="14" name="Text 12"/>
          <p:cNvSpPr txBox="1"/>
          <p:nvPr/>
        </p:nvSpPr>
        <p:spPr>
          <a:xfrm>
            <a:off x="4817745" y="2606040"/>
            <a:ext cx="1167003" cy="548640"/>
          </a:xfrm>
          <a:prstGeom prst="rect">
            <a:avLst/>
          </a:prstGeom>
          <a:noFill/>
          <a:ln/>
        </p:spPr>
        <p:txBody>
          <a:bodyPr wrap="square" lIns="0" tIns="0" rIns="0" bIns="0" rtlCol="0" anchor="t"/>
          <a:lstStyle/>
          <a:p>
            <a:pPr marL="0" indent="0" algn="ctr">
              <a:buNone/>
            </a:pPr>
            <a:r>
              <a:rPr lang="en-US" sz="1400" dirty="0">
                <a:solidFill>
                  <a:schemeClr val="tx1"/>
                </a:solidFill>
              </a:rPr>
              <a:t>Architecture</a:t>
            </a:r>
            <a:endParaRPr lang="en-US" sz="1400" dirty="0"/>
          </a:p>
        </p:txBody>
      </p:sp>
      <p:sp>
        <p:nvSpPr>
          <p:cNvPr id="15" name="band-3"/>
          <p:cNvSpPr/>
          <p:nvPr/>
        </p:nvSpPr>
        <p:spPr>
          <a:xfrm>
            <a:off x="6824282" y="1463040"/>
            <a:ext cx="1313307" cy="1920240"/>
          </a:xfrm>
          <a:prstGeom prst="roundRect">
            <a:avLst>
              <a:gd name="adj" fmla="val 8355"/>
            </a:avLst>
          </a:prstGeom>
          <a:solidFill>
            <a:schemeClr val="bg1"/>
          </a:solidFill>
          <a:ln w="15875">
            <a:solidFill>
              <a:schemeClr val="accent2"/>
            </a:solidFill>
            <a:prstDash val="solid"/>
          </a:ln>
        </p:spPr>
      </p:sp>
      <p:sp>
        <p:nvSpPr>
          <p:cNvPr id="16" name="Text 14"/>
          <p:cNvSpPr txBox="1"/>
          <p:nvPr/>
        </p:nvSpPr>
        <p:spPr>
          <a:xfrm>
            <a:off x="6897434" y="1645920"/>
            <a:ext cx="1167003" cy="411480"/>
          </a:xfrm>
          <a:prstGeom prst="rect">
            <a:avLst/>
          </a:prstGeom>
          <a:noFill/>
          <a:ln/>
        </p:spPr>
        <p:txBody>
          <a:bodyPr wrap="square" lIns="0" tIns="0" rIns="0" bIns="0" rtlCol="0" anchor="t"/>
          <a:lstStyle/>
          <a:p>
            <a:pPr marL="0" indent="0" algn="ctr">
              <a:buNone/>
            </a:pPr>
            <a:r>
              <a:rPr lang="en-US" sz="1600" b="1" dirty="0">
                <a:solidFill>
                  <a:schemeClr val="tx2"/>
                </a:solidFill>
              </a:rPr>
              <a:t>Sprint 3</a:t>
            </a:r>
            <a:endParaRPr lang="en-US" sz="1600" dirty="0"/>
          </a:p>
        </p:txBody>
      </p:sp>
      <p:sp>
        <p:nvSpPr>
          <p:cNvPr id="17" name="Text 15"/>
          <p:cNvSpPr txBox="1"/>
          <p:nvPr/>
        </p:nvSpPr>
        <p:spPr>
          <a:xfrm>
            <a:off x="6897434" y="2057400"/>
            <a:ext cx="1167003" cy="320040"/>
          </a:xfrm>
          <a:prstGeom prst="rect">
            <a:avLst/>
          </a:prstGeom>
          <a:noFill/>
          <a:ln/>
        </p:spPr>
        <p:txBody>
          <a:bodyPr wrap="square" lIns="0" tIns="0" rIns="0" bIns="0" rtlCol="0" anchor="t"/>
          <a:lstStyle/>
          <a:p>
            <a:pPr marL="0" indent="0" algn="ctr">
              <a:buNone/>
            </a:pPr>
            <a:r>
              <a:rPr lang="en-US" sz="1400" dirty="0">
                <a:solidFill>
                  <a:schemeClr val="accent6"/>
                </a:solidFill>
              </a:rPr>
              <a:t>Weeks 10–11</a:t>
            </a:r>
            <a:endParaRPr lang="en-US" sz="1400" dirty="0"/>
          </a:p>
        </p:txBody>
      </p:sp>
      <p:sp>
        <p:nvSpPr>
          <p:cNvPr id="18" name="Text 16"/>
          <p:cNvSpPr txBox="1"/>
          <p:nvPr/>
        </p:nvSpPr>
        <p:spPr>
          <a:xfrm>
            <a:off x="6897434" y="2606040"/>
            <a:ext cx="1167003" cy="548640"/>
          </a:xfrm>
          <a:prstGeom prst="rect">
            <a:avLst/>
          </a:prstGeom>
          <a:noFill/>
          <a:ln/>
        </p:spPr>
        <p:txBody>
          <a:bodyPr wrap="square" lIns="0" tIns="0" rIns="0" bIns="0" rtlCol="0" anchor="t"/>
          <a:lstStyle/>
          <a:p>
            <a:pPr marL="0" indent="0" algn="ctr">
              <a:buNone/>
            </a:pPr>
            <a:r>
              <a:rPr lang="en-US" sz="1400" dirty="0">
                <a:solidFill>
                  <a:schemeClr val="tx1"/>
                </a:solidFill>
              </a:rPr>
              <a:t>ERD + API</a:t>
            </a:r>
            <a:endParaRPr lang="en-US" sz="1400" dirty="0"/>
          </a:p>
        </p:txBody>
      </p:sp>
      <p:sp>
        <p:nvSpPr>
          <p:cNvPr id="19" name="band-4"/>
          <p:cNvSpPr/>
          <p:nvPr/>
        </p:nvSpPr>
        <p:spPr>
          <a:xfrm>
            <a:off x="8210740" y="1463040"/>
            <a:ext cx="1313307" cy="1920240"/>
          </a:xfrm>
          <a:prstGeom prst="roundRect">
            <a:avLst>
              <a:gd name="adj" fmla="val 8355"/>
            </a:avLst>
          </a:prstGeom>
          <a:solidFill>
            <a:schemeClr val="bg1"/>
          </a:solidFill>
          <a:ln w="15875">
            <a:solidFill>
              <a:schemeClr val="accent2"/>
            </a:solidFill>
            <a:prstDash val="solid"/>
          </a:ln>
        </p:spPr>
      </p:sp>
      <p:sp>
        <p:nvSpPr>
          <p:cNvPr id="20" name="Text 18"/>
          <p:cNvSpPr txBox="1"/>
          <p:nvPr/>
        </p:nvSpPr>
        <p:spPr>
          <a:xfrm>
            <a:off x="8283892" y="1645920"/>
            <a:ext cx="1167003" cy="411480"/>
          </a:xfrm>
          <a:prstGeom prst="rect">
            <a:avLst/>
          </a:prstGeom>
          <a:noFill/>
          <a:ln/>
        </p:spPr>
        <p:txBody>
          <a:bodyPr wrap="square" lIns="0" tIns="0" rIns="0" bIns="0" rtlCol="0" anchor="t"/>
          <a:lstStyle/>
          <a:p>
            <a:pPr marL="0" indent="0" algn="ctr">
              <a:buNone/>
            </a:pPr>
            <a:r>
              <a:rPr lang="en-US" sz="1600" b="1" dirty="0">
                <a:solidFill>
                  <a:schemeClr val="tx2"/>
                </a:solidFill>
              </a:rPr>
              <a:t>Sprint 4</a:t>
            </a:r>
            <a:endParaRPr lang="en-US" sz="1600" dirty="0"/>
          </a:p>
        </p:txBody>
      </p:sp>
      <p:sp>
        <p:nvSpPr>
          <p:cNvPr id="21" name="Text 19"/>
          <p:cNvSpPr txBox="1"/>
          <p:nvPr/>
        </p:nvSpPr>
        <p:spPr>
          <a:xfrm>
            <a:off x="8283892" y="2057400"/>
            <a:ext cx="1167003" cy="320040"/>
          </a:xfrm>
          <a:prstGeom prst="rect">
            <a:avLst/>
          </a:prstGeom>
          <a:noFill/>
          <a:ln/>
        </p:spPr>
        <p:txBody>
          <a:bodyPr wrap="square" lIns="0" tIns="0" rIns="0" bIns="0" rtlCol="0" anchor="t"/>
          <a:lstStyle/>
          <a:p>
            <a:pPr marL="0" indent="0" algn="ctr">
              <a:buNone/>
            </a:pPr>
            <a:r>
              <a:rPr lang="en-US" sz="1400" dirty="0">
                <a:solidFill>
                  <a:schemeClr val="accent6"/>
                </a:solidFill>
              </a:rPr>
              <a:t>Weeks 12–13</a:t>
            </a:r>
            <a:endParaRPr lang="en-US" sz="1400" dirty="0"/>
          </a:p>
        </p:txBody>
      </p:sp>
      <p:sp>
        <p:nvSpPr>
          <p:cNvPr id="22" name="Text 20"/>
          <p:cNvSpPr txBox="1"/>
          <p:nvPr/>
        </p:nvSpPr>
        <p:spPr>
          <a:xfrm>
            <a:off x="8283892" y="2606040"/>
            <a:ext cx="1167003" cy="548640"/>
          </a:xfrm>
          <a:prstGeom prst="rect">
            <a:avLst/>
          </a:prstGeom>
          <a:noFill/>
          <a:ln/>
        </p:spPr>
        <p:txBody>
          <a:bodyPr wrap="square" lIns="0" tIns="0" rIns="0" bIns="0" rtlCol="0" anchor="t"/>
          <a:lstStyle/>
          <a:p>
            <a:pPr marL="0" indent="0" algn="ctr">
              <a:buNone/>
            </a:pPr>
            <a:r>
              <a:rPr lang="en-US" sz="1400" dirty="0">
                <a:solidFill>
                  <a:schemeClr val="tx1"/>
                </a:solidFill>
              </a:rPr>
              <a:t>AI + refactor</a:t>
            </a:r>
            <a:endParaRPr lang="en-US" sz="1400" dirty="0"/>
          </a:p>
        </p:txBody>
      </p:sp>
      <p:sp>
        <p:nvSpPr>
          <p:cNvPr id="23" name="band-5"/>
          <p:cNvSpPr/>
          <p:nvPr/>
        </p:nvSpPr>
        <p:spPr>
          <a:xfrm>
            <a:off x="9597199" y="1463040"/>
            <a:ext cx="1313307" cy="1920240"/>
          </a:xfrm>
          <a:prstGeom prst="roundRect">
            <a:avLst>
              <a:gd name="adj" fmla="val 8355"/>
            </a:avLst>
          </a:prstGeom>
          <a:solidFill>
            <a:schemeClr val="bg1"/>
          </a:solidFill>
          <a:ln w="15875">
            <a:solidFill>
              <a:schemeClr val="accent2"/>
            </a:solidFill>
            <a:prstDash val="solid"/>
          </a:ln>
        </p:spPr>
      </p:sp>
      <p:sp>
        <p:nvSpPr>
          <p:cNvPr id="24" name="Text 22"/>
          <p:cNvSpPr txBox="1"/>
          <p:nvPr/>
        </p:nvSpPr>
        <p:spPr>
          <a:xfrm>
            <a:off x="9670351" y="1645920"/>
            <a:ext cx="1167003" cy="411480"/>
          </a:xfrm>
          <a:prstGeom prst="rect">
            <a:avLst/>
          </a:prstGeom>
          <a:noFill/>
          <a:ln/>
        </p:spPr>
        <p:txBody>
          <a:bodyPr wrap="square" lIns="0" tIns="0" rIns="0" bIns="0" rtlCol="0" anchor="t"/>
          <a:lstStyle/>
          <a:p>
            <a:pPr marL="0" indent="0" algn="ctr">
              <a:buNone/>
            </a:pPr>
            <a:r>
              <a:rPr lang="en-US" sz="1600" b="1" dirty="0">
                <a:solidFill>
                  <a:schemeClr val="tx2"/>
                </a:solidFill>
              </a:rPr>
              <a:t>Sprint 5</a:t>
            </a:r>
            <a:endParaRPr lang="en-US" sz="1600" dirty="0"/>
          </a:p>
        </p:txBody>
      </p:sp>
      <p:sp>
        <p:nvSpPr>
          <p:cNvPr id="25" name="Text 23"/>
          <p:cNvSpPr txBox="1"/>
          <p:nvPr/>
        </p:nvSpPr>
        <p:spPr>
          <a:xfrm>
            <a:off x="9670351" y="2057400"/>
            <a:ext cx="1167003" cy="320040"/>
          </a:xfrm>
          <a:prstGeom prst="rect">
            <a:avLst/>
          </a:prstGeom>
          <a:noFill/>
          <a:ln/>
        </p:spPr>
        <p:txBody>
          <a:bodyPr wrap="square" lIns="0" tIns="0" rIns="0" bIns="0" rtlCol="0" anchor="t"/>
          <a:lstStyle/>
          <a:p>
            <a:pPr marL="0" indent="0" algn="ctr">
              <a:buNone/>
            </a:pPr>
            <a:r>
              <a:rPr lang="en-US" sz="1400" dirty="0">
                <a:solidFill>
                  <a:schemeClr val="accent6"/>
                </a:solidFill>
              </a:rPr>
              <a:t>Weeks 14–15</a:t>
            </a:r>
            <a:endParaRPr lang="en-US" sz="1400" dirty="0"/>
          </a:p>
        </p:txBody>
      </p:sp>
      <p:sp>
        <p:nvSpPr>
          <p:cNvPr id="26" name="Text 24"/>
          <p:cNvSpPr txBox="1"/>
          <p:nvPr/>
        </p:nvSpPr>
        <p:spPr>
          <a:xfrm>
            <a:off x="9670351" y="2606040"/>
            <a:ext cx="1167003" cy="548640"/>
          </a:xfrm>
          <a:prstGeom prst="rect">
            <a:avLst/>
          </a:prstGeom>
          <a:noFill/>
          <a:ln/>
        </p:spPr>
        <p:txBody>
          <a:bodyPr wrap="square" lIns="0" tIns="0" rIns="0" bIns="0" rtlCol="0" anchor="t"/>
          <a:lstStyle/>
          <a:p>
            <a:pPr marL="0" indent="0" algn="ctr">
              <a:buNone/>
            </a:pPr>
            <a:r>
              <a:rPr lang="en-US" sz="1400" dirty="0">
                <a:solidFill>
                  <a:schemeClr val="tx1"/>
                </a:solidFill>
              </a:rPr>
              <a:t>Go live</a:t>
            </a:r>
            <a:endParaRPr lang="en-US" sz="1400" dirty="0"/>
          </a:p>
        </p:txBody>
      </p:sp>
      <p:sp>
        <p:nvSpPr>
          <p:cNvPr id="27" name="midterm"/>
          <p:cNvSpPr/>
          <p:nvPr/>
        </p:nvSpPr>
        <p:spPr>
          <a:xfrm>
            <a:off x="6131052" y="1463040"/>
            <a:ext cx="620078" cy="1920240"/>
          </a:xfrm>
          <a:prstGeom prst="roundRect">
            <a:avLst>
              <a:gd name="adj" fmla="val 17696"/>
            </a:avLst>
          </a:prstGeom>
          <a:solidFill>
            <a:schemeClr val="bg2"/>
          </a:solidFill>
          <a:ln/>
        </p:spPr>
      </p:sp>
      <p:sp>
        <p:nvSpPr>
          <p:cNvPr id="28" name="Text 26"/>
          <p:cNvSpPr txBox="1"/>
          <p:nvPr/>
        </p:nvSpPr>
        <p:spPr>
          <a:xfrm rot="16200000">
            <a:off x="5911596" y="2240280"/>
            <a:ext cx="1058990" cy="365760"/>
          </a:xfrm>
          <a:prstGeom prst="rect">
            <a:avLst/>
          </a:prstGeom>
          <a:noFill/>
          <a:ln/>
        </p:spPr>
        <p:txBody>
          <a:bodyPr wrap="square" lIns="0" tIns="0" rIns="0" bIns="0" rtlCol="0" anchor="t"/>
          <a:lstStyle/>
          <a:p>
            <a:pPr marL="0" indent="0" algn="ctr">
              <a:buNone/>
            </a:pPr>
            <a:r>
              <a:rPr lang="en-US" sz="1200" b="1" dirty="0">
                <a:solidFill>
                  <a:schemeClr val="accent6"/>
                </a:solidFill>
              </a:rPr>
              <a:t>Mid-term</a:t>
            </a:r>
            <a:endParaRPr lang="en-US" sz="1200" dirty="0"/>
          </a:p>
        </p:txBody>
      </p:sp>
      <p:sp>
        <p:nvSpPr>
          <p:cNvPr id="29" name="release"/>
          <p:cNvSpPr/>
          <p:nvPr/>
        </p:nvSpPr>
        <p:spPr>
          <a:xfrm>
            <a:off x="10983659" y="1463040"/>
            <a:ext cx="620078" cy="1920240"/>
          </a:xfrm>
          <a:prstGeom prst="roundRect">
            <a:avLst>
              <a:gd name="adj" fmla="val 17696"/>
            </a:avLst>
          </a:prstGeom>
          <a:solidFill>
            <a:schemeClr val="tx2"/>
          </a:solidFill>
          <a:ln/>
        </p:spPr>
      </p:sp>
      <p:sp>
        <p:nvSpPr>
          <p:cNvPr id="30" name="Text 28"/>
          <p:cNvSpPr txBox="1"/>
          <p:nvPr/>
        </p:nvSpPr>
        <p:spPr>
          <a:xfrm>
            <a:off x="10947083" y="1645920"/>
            <a:ext cx="693230" cy="365760"/>
          </a:xfrm>
          <a:prstGeom prst="rect">
            <a:avLst/>
          </a:prstGeom>
          <a:noFill/>
          <a:ln/>
        </p:spPr>
        <p:txBody>
          <a:bodyPr wrap="square" lIns="0" tIns="0" rIns="0" bIns="0" rtlCol="0" anchor="t"/>
          <a:lstStyle/>
          <a:p>
            <a:pPr marL="0" indent="0" algn="ctr">
              <a:buNone/>
            </a:pPr>
            <a:r>
              <a:rPr lang="en-US" sz="1400" b="1" dirty="0">
                <a:solidFill>
                  <a:schemeClr val="bg1"/>
                </a:solidFill>
              </a:rPr>
              <a:t>v2.0</a:t>
            </a:r>
            <a:endParaRPr lang="en-US" sz="1400" dirty="0"/>
          </a:p>
        </p:txBody>
      </p:sp>
      <p:sp>
        <p:nvSpPr>
          <p:cNvPr id="31" name="Text 29"/>
          <p:cNvSpPr txBox="1"/>
          <p:nvPr/>
        </p:nvSpPr>
        <p:spPr>
          <a:xfrm>
            <a:off x="10947083" y="2057400"/>
            <a:ext cx="693230" cy="320040"/>
          </a:xfrm>
          <a:prstGeom prst="rect">
            <a:avLst/>
          </a:prstGeom>
          <a:noFill/>
          <a:ln/>
        </p:spPr>
        <p:txBody>
          <a:bodyPr wrap="square" lIns="0" tIns="0" rIns="0" bIns="0" rtlCol="0" anchor="t"/>
          <a:lstStyle/>
          <a:p>
            <a:pPr marL="0" indent="0" algn="ctr">
              <a:buNone/>
            </a:pPr>
            <a:r>
              <a:rPr lang="en-US" sz="1200" dirty="0">
                <a:solidFill>
                  <a:schemeClr val="accent5"/>
                </a:solidFill>
              </a:rPr>
              <a:t>Wk 16</a:t>
            </a:r>
            <a:endParaRPr lang="en-US" sz="1200" dirty="0"/>
          </a:p>
        </p:txBody>
      </p:sp>
      <p:sp>
        <p:nvSpPr>
          <p:cNvPr id="32" name="Text 30"/>
          <p:cNvSpPr txBox="1"/>
          <p:nvPr/>
        </p:nvSpPr>
        <p:spPr>
          <a:xfrm>
            <a:off x="10947083" y="2606040"/>
            <a:ext cx="693230" cy="320040"/>
          </a:xfrm>
          <a:prstGeom prst="rect">
            <a:avLst/>
          </a:prstGeom>
          <a:noFill/>
          <a:ln/>
        </p:spPr>
        <p:txBody>
          <a:bodyPr wrap="square" lIns="0" tIns="0" rIns="0" bIns="0" rtlCol="0" anchor="t"/>
          <a:lstStyle/>
          <a:p>
            <a:pPr marL="0" indent="0" algn="ctr">
              <a:buNone/>
            </a:pPr>
            <a:r>
              <a:rPr lang="en-US" sz="1200" dirty="0">
                <a:solidFill>
                  <a:schemeClr val="bg1"/>
                </a:solidFill>
              </a:rPr>
              <a:t>Demo</a:t>
            </a:r>
            <a:endParaRPr lang="en-US" sz="1200" dirty="0"/>
          </a:p>
        </p:txBody>
      </p:sp>
      <p:sp>
        <p:nvSpPr>
          <p:cNvPr id="33" name="Shape 31"/>
          <p:cNvSpPr/>
          <p:nvPr/>
        </p:nvSpPr>
        <p:spPr>
          <a:xfrm>
            <a:off x="548640" y="4114800"/>
            <a:ext cx="11091672" cy="914"/>
          </a:xfrm>
          <a:prstGeom prst="line">
            <a:avLst/>
          </a:prstGeom>
          <a:noFill/>
          <a:ln w="22225">
            <a:solidFill>
              <a:schemeClr val="accent5"/>
            </a:solidFill>
            <a:prstDash val="solid"/>
          </a:ln>
        </p:spPr>
      </p:sp>
      <p:sp>
        <p:nvSpPr>
          <p:cNvPr id="34" name="gate-0"/>
          <p:cNvSpPr/>
          <p:nvPr/>
        </p:nvSpPr>
        <p:spPr>
          <a:xfrm>
            <a:off x="3138678" y="3931920"/>
            <a:ext cx="365760" cy="365760"/>
          </a:xfrm>
          <a:prstGeom prst="diamond">
            <a:avLst/>
          </a:prstGeom>
          <a:solidFill>
            <a:schemeClr val="accent1"/>
          </a:solidFill>
          <a:ln w="15875">
            <a:solidFill>
              <a:schemeClr val="accent1"/>
            </a:solidFill>
            <a:prstDash val="solid"/>
          </a:ln>
        </p:spPr>
      </p:sp>
      <p:sp>
        <p:nvSpPr>
          <p:cNvPr id="35" name="Text 33"/>
          <p:cNvSpPr txBox="1"/>
          <p:nvPr/>
        </p:nvSpPr>
        <p:spPr>
          <a:xfrm>
            <a:off x="2132838" y="4434840"/>
            <a:ext cx="2377440" cy="365760"/>
          </a:xfrm>
          <a:prstGeom prst="rect">
            <a:avLst/>
          </a:prstGeom>
          <a:noFill/>
          <a:ln/>
        </p:spPr>
        <p:txBody>
          <a:bodyPr wrap="square" lIns="0" tIns="0" rIns="0" bIns="0" rtlCol="0" anchor="t"/>
          <a:lstStyle/>
          <a:p>
            <a:pPr marL="0" indent="0" algn="ctr">
              <a:buNone/>
            </a:pPr>
            <a:r>
              <a:rPr lang="en-US" sz="1500" b="1" dirty="0">
                <a:solidFill>
                  <a:schemeClr val="tx1"/>
                </a:solidFill>
              </a:rPr>
              <a:t>Backlog ready</a:t>
            </a:r>
            <a:endParaRPr lang="en-US" sz="1500" dirty="0"/>
          </a:p>
        </p:txBody>
      </p:sp>
      <p:sp>
        <p:nvSpPr>
          <p:cNvPr id="36" name="gate-1"/>
          <p:cNvSpPr/>
          <p:nvPr/>
        </p:nvSpPr>
        <p:spPr>
          <a:xfrm>
            <a:off x="5911596" y="3931920"/>
            <a:ext cx="365760" cy="365760"/>
          </a:xfrm>
          <a:prstGeom prst="diamond">
            <a:avLst/>
          </a:prstGeom>
          <a:solidFill>
            <a:schemeClr val="bg1"/>
          </a:solidFill>
          <a:ln w="15875">
            <a:solidFill>
              <a:schemeClr val="accent6"/>
            </a:solidFill>
            <a:prstDash val="solid"/>
          </a:ln>
        </p:spPr>
      </p:sp>
      <p:sp>
        <p:nvSpPr>
          <p:cNvPr id="37" name="Text 35"/>
          <p:cNvSpPr txBox="1"/>
          <p:nvPr/>
        </p:nvSpPr>
        <p:spPr>
          <a:xfrm>
            <a:off x="4905756" y="4434840"/>
            <a:ext cx="2377440" cy="365760"/>
          </a:xfrm>
          <a:prstGeom prst="rect">
            <a:avLst/>
          </a:prstGeom>
          <a:noFill/>
          <a:ln/>
        </p:spPr>
        <p:txBody>
          <a:bodyPr wrap="square" lIns="0" tIns="0" rIns="0" bIns="0" rtlCol="0" anchor="t"/>
          <a:lstStyle/>
          <a:p>
            <a:pPr marL="0" indent="0" algn="ctr">
              <a:buNone/>
            </a:pPr>
            <a:r>
              <a:rPr lang="en-US" sz="1500" dirty="0">
                <a:solidFill>
                  <a:schemeClr val="tx1"/>
                </a:solidFill>
              </a:rPr>
              <a:t>Mid project review</a:t>
            </a:r>
            <a:endParaRPr lang="en-US" sz="1500" dirty="0"/>
          </a:p>
        </p:txBody>
      </p:sp>
      <p:sp>
        <p:nvSpPr>
          <p:cNvPr id="38" name="gate-2"/>
          <p:cNvSpPr/>
          <p:nvPr/>
        </p:nvSpPr>
        <p:spPr>
          <a:xfrm>
            <a:off x="10764203" y="3931920"/>
            <a:ext cx="365760" cy="365760"/>
          </a:xfrm>
          <a:prstGeom prst="diamond">
            <a:avLst/>
          </a:prstGeom>
          <a:solidFill>
            <a:schemeClr val="bg1"/>
          </a:solidFill>
          <a:ln w="15875">
            <a:solidFill>
              <a:schemeClr val="accent6"/>
            </a:solidFill>
            <a:prstDash val="solid"/>
          </a:ln>
        </p:spPr>
      </p:sp>
      <p:sp>
        <p:nvSpPr>
          <p:cNvPr id="39" name="Text 37"/>
          <p:cNvSpPr txBox="1"/>
          <p:nvPr/>
        </p:nvSpPr>
        <p:spPr>
          <a:xfrm>
            <a:off x="8843963" y="4434840"/>
            <a:ext cx="1920240" cy="365760"/>
          </a:xfrm>
          <a:prstGeom prst="rect">
            <a:avLst/>
          </a:prstGeom>
          <a:noFill/>
          <a:ln/>
        </p:spPr>
        <p:txBody>
          <a:bodyPr wrap="square" lIns="0" tIns="0" rIns="0" bIns="0" rtlCol="0" anchor="t"/>
          <a:lstStyle/>
          <a:p>
            <a:pPr marL="0" indent="0" algn="r">
              <a:buNone/>
            </a:pPr>
            <a:r>
              <a:rPr lang="en-US" sz="1500" dirty="0">
                <a:solidFill>
                  <a:schemeClr val="tx1"/>
                </a:solidFill>
              </a:rPr>
              <a:t>v2.0 live</a:t>
            </a:r>
            <a:endParaRPr lang="en-US" sz="1500" dirty="0"/>
          </a:p>
        </p:txBody>
      </p:sp>
      <p:sp>
        <p:nvSpPr>
          <p:cNvPr id="40" name="gate-3"/>
          <p:cNvSpPr/>
          <p:nvPr/>
        </p:nvSpPr>
        <p:spPr>
          <a:xfrm>
            <a:off x="11110817" y="3931920"/>
            <a:ext cx="365760" cy="365760"/>
          </a:xfrm>
          <a:prstGeom prst="diamond">
            <a:avLst/>
          </a:prstGeom>
          <a:solidFill>
            <a:schemeClr val="bg1"/>
          </a:solidFill>
          <a:ln w="15875">
            <a:solidFill>
              <a:schemeClr val="accent6"/>
            </a:solidFill>
            <a:prstDash val="solid"/>
          </a:ln>
        </p:spPr>
      </p:sp>
      <p:sp>
        <p:nvSpPr>
          <p:cNvPr id="41" name="Text 39"/>
          <p:cNvSpPr txBox="1"/>
          <p:nvPr/>
        </p:nvSpPr>
        <p:spPr>
          <a:xfrm>
            <a:off x="8001857" y="4800600"/>
            <a:ext cx="3429000" cy="365760"/>
          </a:xfrm>
          <a:prstGeom prst="rect">
            <a:avLst/>
          </a:prstGeom>
          <a:noFill/>
          <a:ln/>
        </p:spPr>
        <p:txBody>
          <a:bodyPr wrap="square" lIns="0" tIns="0" rIns="0" bIns="0" rtlCol="0" anchor="t"/>
          <a:lstStyle/>
          <a:p>
            <a:pPr marL="0" indent="0" algn="r">
              <a:buNone/>
            </a:pPr>
            <a:r>
              <a:rPr lang="en-US" sz="1500" dirty="0">
                <a:solidFill>
                  <a:schemeClr val="tx1"/>
                </a:solidFill>
              </a:rPr>
              <a:t>Peer redeploy + final demo</a:t>
            </a:r>
            <a:endParaRPr lang="en-US" sz="1500" dirty="0"/>
          </a:p>
        </p:txBody>
      </p:sp>
      <p:sp>
        <p:nvSpPr>
          <p:cNvPr id="42" name="calendar-rule"/>
          <p:cNvSpPr/>
          <p:nvPr/>
        </p:nvSpPr>
        <p:spPr>
          <a:xfrm>
            <a:off x="548640" y="5166360"/>
            <a:ext cx="11091672" cy="777240"/>
          </a:xfrm>
          <a:prstGeom prst="roundRect">
            <a:avLst>
              <a:gd name="adj" fmla="val 14118"/>
            </a:avLst>
          </a:prstGeom>
          <a:solidFill>
            <a:schemeClr val="bg2"/>
          </a:solidFill>
          <a:ln/>
        </p:spPr>
      </p:sp>
      <p:sp>
        <p:nvSpPr>
          <p:cNvPr id="43" name="Text 41"/>
          <p:cNvSpPr txBox="1"/>
          <p:nvPr/>
        </p:nvSpPr>
        <p:spPr>
          <a:xfrm>
            <a:off x="914400" y="5166360"/>
            <a:ext cx="10360152" cy="777240"/>
          </a:xfrm>
          <a:prstGeom prst="rect">
            <a:avLst/>
          </a:prstGeom>
          <a:noFill/>
          <a:ln/>
        </p:spPr>
        <p:txBody>
          <a:bodyPr wrap="square" lIns="0" tIns="0" rIns="0" bIns="0" rtlCol="0" anchor="ctr"/>
          <a:lstStyle/>
          <a:p>
            <a:pPr marL="0" indent="0">
              <a:buNone/>
            </a:pPr>
            <a:r>
              <a:rPr lang="en-US" sz="1700" dirty="0">
                <a:solidFill>
                  <a:schemeClr val="tx1"/>
                </a:solidFill>
              </a:rPr>
              <a:t>Each sprint: planning in its first week, review + retrospective in its second. No sprint in mid-term Week 9.</a:t>
            </a:r>
            <a:endParaRPr lang="en-US" sz="1700" dirty="0"/>
          </a:p>
        </p:txBody>
      </p:sp>
      <p:sp>
        <p:nvSpPr>
          <p:cNvPr id="44"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6858000" cy="548640"/>
          </a:xfrm>
          <a:prstGeom prst="rect">
            <a:avLst/>
          </a:prstGeom>
          <a:noFill/>
          <a:ln/>
        </p:spPr>
        <p:txBody>
          <a:bodyPr wrap="square" lIns="0" tIns="0" rIns="0" bIns="0" rtlCol="0"/>
          <a:lstStyle/>
          <a:p>
            <a:pPr marL="0" indent="0">
              <a:buNone/>
            </a:pPr>
            <a:r>
              <a:rPr lang="en-US" sz="1800" b="1" dirty="0">
                <a:solidFill>
                  <a:schemeClr val="accent4"/>
                </a:solidFill>
              </a:rPr>
              <a:t>PART 3  ·  CASE STUDY</a:t>
            </a:r>
            <a:endParaRPr lang="en-US" sz="1800" dirty="0"/>
          </a:p>
        </p:txBody>
      </p:sp>
      <p:sp>
        <p:nvSpPr>
          <p:cNvPr id="3" name="Text 0"/>
          <p:cNvSpPr>
            <a:spLocks noGrp="1"/>
          </p:cNvSpPr>
          <p:nvPr>
            <p:ph type="title" idx="101" hasCustomPrompt="1"/>
          </p:nvPr>
        </p:nvSpPr>
        <p:spPr>
          <a:xfrm>
            <a:off x="731520" y="2377440"/>
            <a:ext cx="6858000" cy="1463040"/>
          </a:xfrm>
          <a:prstGeom prst="rect">
            <a:avLst/>
          </a:prstGeom>
          <a:noFill/>
          <a:ln/>
        </p:spPr>
        <p:txBody>
          <a:bodyPr wrap="square" lIns="0" tIns="0" rIns="0" bIns="0" rtlCol="0" anchor="t"/>
          <a:lstStyle/>
          <a:p>
            <a:pPr marL="0" indent="0" algn="l">
              <a:buNone/>
            </a:pPr>
            <a:r>
              <a:rPr lang="en-US" sz="4400" b="1" dirty="0">
                <a:solidFill>
                  <a:schemeClr val="bg1"/>
                </a:solidFill>
              </a:rPr>
              <a:t>Student Result Management System</a:t>
            </a:r>
            <a:endParaRPr lang="en-US" sz="4400" dirty="0"/>
          </a:p>
        </p:txBody>
      </p:sp>
      <p:sp>
        <p:nvSpPr>
          <p:cNvPr id="4" name="icon-bg-FaDatabase"/>
          <p:cNvSpPr/>
          <p:nvPr/>
        </p:nvSpPr>
        <p:spPr>
          <a:xfrm>
            <a:off x="8778240" y="2011680"/>
            <a:ext cx="2194560" cy="2194560"/>
          </a:xfrm>
          <a:prstGeom prst="ellipse">
            <a:avLst/>
          </a:prstGeom>
          <a:solidFill>
            <a:schemeClr val="accent1"/>
          </a:solidFill>
          <a:ln/>
        </p:spPr>
      </p:sp>
      <p:pic>
        <p:nvPicPr>
          <p:cNvPr id="5" name="Image 0" descr="Database icon"/>
          <p:cNvPicPr>
            <a:picLocks noChangeAspect="1"/>
          </p:cNvPicPr>
          <p:nvPr/>
        </p:nvPicPr>
        <p:blipFill>
          <a:blip r:embed="rId3"/>
          <a:stretch>
            <a:fillRect/>
          </a:stretch>
        </p:blipFill>
        <p:spPr>
          <a:xfrm>
            <a:off x="9304934" y="2538374"/>
            <a:ext cx="1141171" cy="1141171"/>
          </a:xfrm>
          <a:prstGeom prst="rect">
            <a:avLst/>
          </a:prstGeom>
        </p:spPr>
      </p:pic>
      <p:sp>
        <p:nvSpPr>
          <p:cNvPr id="6" name="Text 3"/>
          <p:cNvSpPr txBox="1"/>
          <p:nvPr/>
        </p:nvSpPr>
        <p:spPr>
          <a:xfrm>
            <a:off x="7772400" y="4434840"/>
            <a:ext cx="3840480" cy="822960"/>
          </a:xfrm>
          <a:prstGeom prst="rect">
            <a:avLst/>
          </a:prstGeom>
          <a:noFill/>
          <a:ln/>
        </p:spPr>
        <p:txBody>
          <a:bodyPr wrap="square" lIns="0" tIns="0" rIns="0" bIns="0" rtlCol="0" anchor="t"/>
          <a:lstStyle/>
          <a:p>
            <a:pPr marL="0" indent="0" algn="ctr">
              <a:buNone/>
            </a:pPr>
            <a:r>
              <a:rPr lang="en-US" sz="1800" dirty="0">
                <a:solidFill>
                  <a:schemeClr val="accent5"/>
                </a:solidFill>
              </a:rPr>
              <a:t>Java Swing + MySQL v1.0 → web v2.0</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SRMS v1.0 today, v2.0 target</a:t>
            </a:r>
            <a:endParaRPr lang="en-US" sz="3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3950208"/>
        </p:xfrm>
        <a:graphic>
          <a:graphicData uri="http://schemas.openxmlformats.org/drawingml/2006/table">
            <a:tbl>
              <a:tblPr/>
              <a:tblGrid>
                <a:gridCol w="21945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599432">
                  <a:extLst>
                    <a:ext uri="{9D8B030D-6E8A-4147-A177-3AD203B41FA5}">
                      <a16:colId xmlns:a16="http://schemas.microsoft.com/office/drawing/2014/main" val="20002"/>
                    </a:ext>
                  </a:extLst>
                </a:gridCol>
              </a:tblGrid>
              <a:tr h="658368">
                <a:tc>
                  <a:txBody>
                    <a:bodyPr/>
                    <a:lstStyle/>
                    <a:p>
                      <a:pPr marL="0" indent="0">
                        <a:buNone/>
                      </a:pPr>
                      <a:r>
                        <a:rPr lang="en-US" sz="1600" b="1" dirty="0">
                          <a:solidFill>
                            <a:schemeClr val="bg1"/>
                          </a:solidFill>
                          <a:latin typeface="Calibri" pitchFamily="34" charset="0"/>
                          <a:ea typeface="Calibri" pitchFamily="34" charset="-122"/>
                          <a:cs typeface="Calibri" pitchFamily="34" charset="-120"/>
                        </a:rPr>
                        <a:t>Aspect</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latin typeface="Calibri" pitchFamily="34" charset="0"/>
                          <a:ea typeface="Calibri" pitchFamily="34" charset="-122"/>
                          <a:cs typeface="Calibri" pitchFamily="34" charset="-120"/>
                        </a:rPr>
                        <a:t>v1.0 today</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latin typeface="Calibri" pitchFamily="34" charset="0"/>
                          <a:ea typeface="Calibri" pitchFamily="34" charset="-122"/>
                          <a:cs typeface="Calibri" pitchFamily="34" charset="-120"/>
                        </a:rPr>
                        <a:t>v2.0 target</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buNone/>
                      </a:pPr>
                      <a:r>
                        <a:rPr lang="en-US" sz="1600" b="1" dirty="0">
                          <a:solidFill>
                            <a:schemeClr val="tx1"/>
                          </a:solidFill>
                          <a:latin typeface="Calibri" pitchFamily="34" charset="0"/>
                          <a:ea typeface="Calibri" pitchFamily="34" charset="-122"/>
                          <a:cs typeface="Calibri" pitchFamily="34" charset="-120"/>
                        </a:rPr>
                        <a:t>Platform</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Calibri" pitchFamily="34" charset="0"/>
                          <a:ea typeface="Calibri" pitchFamily="34" charset="-122"/>
                          <a:cs typeface="Calibri" pitchFamily="34" charset="-120"/>
                        </a:rPr>
                        <a:t>Java Swing desktop on exam-office PCs</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2"/>
                    </a:solidFill>
                  </a:tcPr>
                </a:tc>
                <a:tc>
                  <a:txBody>
                    <a:bodyPr/>
                    <a:lstStyle/>
                    <a:p>
                      <a:pPr marL="0" indent="0">
                        <a:buNone/>
                      </a:pPr>
                      <a:r>
                        <a:rPr lang="en-US" sz="1600" b="1" dirty="0">
                          <a:solidFill>
                            <a:schemeClr val="tx2"/>
                          </a:solidFill>
                          <a:latin typeface="Calibri" pitchFamily="34" charset="0"/>
                          <a:ea typeface="Calibri" pitchFamily="34" charset="-122"/>
                          <a:cs typeface="Calibri" pitchFamily="34" charset="-120"/>
                        </a:rPr>
                        <a:t>Web app at a live URL</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58368">
                <a:tc>
                  <a:txBody>
                    <a:bodyPr/>
                    <a:lstStyle/>
                    <a:p>
                      <a:pPr marL="0" indent="0">
                        <a:buNone/>
                      </a:pPr>
                      <a:r>
                        <a:rPr lang="en-US" sz="1600" b="1" dirty="0">
                          <a:solidFill>
                            <a:schemeClr val="tx1"/>
                          </a:solidFill>
                          <a:latin typeface="Calibri" pitchFamily="34" charset="0"/>
                          <a:ea typeface="Calibri" pitchFamily="34" charset="-122"/>
                          <a:cs typeface="Calibri" pitchFamily="34" charset="-120"/>
                        </a:rPr>
                        <a:t>Data</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Calibri" pitchFamily="34" charset="0"/>
                          <a:ea typeface="Calibri" pitchFamily="34" charset="-122"/>
                          <a:cs typeface="Calibri" pitchFamily="34" charset="-120"/>
                        </a:rPr>
                        <a:t>MySQL 5; SQL inside form classes</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1"/>
                    </a:solidFill>
                  </a:tcPr>
                </a:tc>
                <a:tc>
                  <a:txBody>
                    <a:bodyPr/>
                    <a:lstStyle/>
                    <a:p>
                      <a:pPr marL="0" indent="0">
                        <a:buNone/>
                      </a:pPr>
                      <a:r>
                        <a:rPr lang="en-US" sz="1600" b="1" dirty="0">
                          <a:solidFill>
                            <a:schemeClr val="tx2"/>
                          </a:solidFill>
                          <a:latin typeface="Calibri" pitchFamily="34" charset="0"/>
                          <a:ea typeface="Calibri" pitchFamily="34" charset="-122"/>
                          <a:cs typeface="Calibri" pitchFamily="34" charset="-120"/>
                        </a:rPr>
                        <a:t>DAO layer + REST API on MySQL 8</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58368">
                <a:tc>
                  <a:txBody>
                    <a:bodyPr/>
                    <a:lstStyle/>
                    <a:p>
                      <a:pPr marL="0" indent="0">
                        <a:buNone/>
                      </a:pPr>
                      <a:r>
                        <a:rPr lang="en-US" sz="1600" b="1" dirty="0">
                          <a:solidFill>
                            <a:schemeClr val="tx1"/>
                          </a:solidFill>
                          <a:latin typeface="Calibri" pitchFamily="34" charset="0"/>
                          <a:ea typeface="Calibri" pitchFamily="34" charset="-122"/>
                          <a:cs typeface="Calibri" pitchFamily="34" charset="-120"/>
                        </a:rPr>
                        <a:t>Users</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Calibri" pitchFamily="34" charset="0"/>
                          <a:ea typeface="Calibri" pitchFamily="34" charset="-122"/>
                          <a:cs typeface="Calibri" pitchFamily="34" charset="-120"/>
                        </a:rPr>
                        <a:t>Exam office staff only</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2"/>
                    </a:solidFill>
                  </a:tcPr>
                </a:tc>
                <a:tc>
                  <a:txBody>
                    <a:bodyPr/>
                    <a:lstStyle/>
                    <a:p>
                      <a:pPr marL="0" indent="0">
                        <a:buNone/>
                      </a:pPr>
                      <a:r>
                        <a:rPr lang="en-US" sz="1600" b="1" dirty="0">
                          <a:solidFill>
                            <a:schemeClr val="tx2"/>
                          </a:solidFill>
                          <a:latin typeface="Calibri" pitchFamily="34" charset="0"/>
                          <a:ea typeface="Calibri" pitchFamily="34" charset="-122"/>
                          <a:cs typeface="Calibri" pitchFamily="34" charset="-120"/>
                        </a:rPr>
                        <a:t>Students, teachers and exam office</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58368">
                <a:tc>
                  <a:txBody>
                    <a:bodyPr/>
                    <a:lstStyle/>
                    <a:p>
                      <a:pPr marL="0" indent="0">
                        <a:buNone/>
                      </a:pPr>
                      <a:r>
                        <a:rPr lang="en-US" sz="1600" b="1" dirty="0">
                          <a:solidFill>
                            <a:schemeClr val="tx1"/>
                          </a:solidFill>
                          <a:latin typeface="Calibri" pitchFamily="34" charset="0"/>
                          <a:ea typeface="Calibri" pitchFamily="34" charset="-122"/>
                          <a:cs typeface="Calibri" pitchFamily="34" charset="-120"/>
                        </a:rPr>
                        <a:t>Tests</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latin typeface="Calibri" pitchFamily="34" charset="0"/>
                          <a:ea typeface="Calibri" pitchFamily="34" charset="-122"/>
                          <a:cs typeface="Calibri" pitchFamily="34" charset="-120"/>
                        </a:rPr>
                        <a:t>None</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1"/>
                    </a:solidFill>
                  </a:tcPr>
                </a:tc>
                <a:tc>
                  <a:txBody>
                    <a:bodyPr/>
                    <a:lstStyle/>
                    <a:p>
                      <a:pPr marL="0" indent="0">
                        <a:buNone/>
                      </a:pPr>
                      <a:r>
                        <a:rPr lang="en-US" sz="1600" b="1" dirty="0">
                          <a:solidFill>
                            <a:schemeClr val="tx2"/>
                          </a:solidFill>
                          <a:latin typeface="Calibri" pitchFamily="34" charset="0"/>
                          <a:ea typeface="Calibri" pitchFamily="34" charset="-122"/>
                          <a:cs typeface="Calibri" pitchFamily="34" charset="-120"/>
                        </a:rPr>
                        <a:t>Unit tests + Postman collection</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58368">
                <a:tc>
                  <a:txBody>
                    <a:bodyPr/>
                    <a:lstStyle/>
                    <a:p>
                      <a:pPr marL="0" indent="0">
                        <a:buNone/>
                      </a:pPr>
                      <a:r>
                        <a:rPr lang="en-US" sz="1600" b="1" dirty="0">
                          <a:solidFill>
                            <a:schemeClr val="tx1"/>
                          </a:solidFill>
                          <a:latin typeface="Calibri" pitchFamily="34" charset="0"/>
                          <a:ea typeface="Calibri" pitchFamily="34" charset="-122"/>
                          <a:cs typeface="Calibri" pitchFamily="34" charset="-120"/>
                        </a:rPr>
                        <a:t>Documentation</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Calibri" pitchFamily="34" charset="0"/>
                          <a:ea typeface="Calibri" pitchFamily="34" charset="-122"/>
                          <a:cs typeface="Calibri" pitchFamily="34" charset="-120"/>
                        </a:rPr>
                        <a:t>None; original developer left</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2"/>
                    </a:solidFill>
                  </a:tcPr>
                </a:tc>
                <a:tc>
                  <a:txBody>
                    <a:bodyPr/>
                    <a:lstStyle/>
                    <a:p>
                      <a:pPr marL="0" indent="0">
                        <a:buNone/>
                      </a:pPr>
                      <a:r>
                        <a:rPr lang="en-US" sz="1600" b="1" dirty="0">
                          <a:solidFill>
                            <a:schemeClr val="tx2"/>
                          </a:solidFill>
                          <a:latin typeface="Calibri" pitchFamily="34" charset="0"/>
                          <a:ea typeface="Calibri" pitchFamily="34" charset="-122"/>
                          <a:cs typeface="Calibri" pitchFamily="34" charset="-120"/>
                        </a:rPr>
                        <a:t>UML, ERD and a deployment README</a:t>
                      </a:r>
                      <a:endParaRPr lang="en-US" sz="1600" dirty="0">
                        <a:latin typeface="Calibri" charset="0"/>
                        <a:ea typeface="Calibri" charset="0"/>
                        <a:cs typeface="Calibri" charset="0"/>
                      </a:endParaRPr>
                    </a:p>
                  </a:txBody>
                  <a:tcPr marL="137160" marR="137160" marT="0" marB="0" anchor="ctr">
                    <a:lnL w="9525" cap="flat" cmpd="sng" algn="ctr">
                      <a:solidFill>
                        <a:srgbClr val="8FC1B5"/>
                      </a:solidFill>
                      <a:prstDash val="solid"/>
                      <a:round/>
                      <a:headEnd type="none" w="med" len="med"/>
                      <a:tailEnd type="none" w="med" len="med"/>
                    </a:lnL>
                    <a:lnR w="9525" cap="flat" cmpd="sng" algn="ctr">
                      <a:solidFill>
                        <a:srgbClr val="8FC1B5"/>
                      </a:solidFill>
                      <a:prstDash val="solid"/>
                      <a:round/>
                      <a:headEnd type="none" w="med" len="med"/>
                      <a:tailEnd type="none" w="med" len="med"/>
                    </a:lnR>
                    <a:lnT w="9525" cap="flat" cmpd="sng" algn="ctr">
                      <a:solidFill>
                        <a:srgbClr val="8FC1B5"/>
                      </a:solidFill>
                      <a:prstDash val="solid"/>
                      <a:round/>
                      <a:headEnd type="none" w="med" len="med"/>
                      <a:tailEnd type="none" w="med" len="med"/>
                    </a:lnT>
                    <a:lnB w="9525" cap="flat" cmpd="sng" algn="ctr">
                      <a:solidFill>
                        <a:srgbClr val="8FC1B5"/>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669280"/>
            <a:ext cx="11091672" cy="320040"/>
          </a:xfrm>
          <a:prstGeom prst="rect">
            <a:avLst/>
          </a:prstGeom>
          <a:noFill/>
          <a:ln/>
        </p:spPr>
        <p:txBody>
          <a:bodyPr wrap="square" lIns="0" tIns="0" rIns="0" bIns="0" rtlCol="0" anchor="t"/>
          <a:lstStyle/>
          <a:p>
            <a:pPr marL="0" indent="0">
              <a:buNone/>
            </a:pPr>
            <a:r>
              <a:rPr lang="en-US" sz="1200" i="1" dirty="0">
                <a:solidFill>
                  <a:schemeClr val="accent6"/>
                </a:solidFill>
              </a:rPr>
              <a:t>Illustrative case study based on the outline's SRMS v1.0 example (Java Swing and MySQL).</a:t>
            </a:r>
            <a:endParaRPr lang="en-US" sz="1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26 stories, 86 points, six epics</a:t>
            </a:r>
            <a:endParaRPr lang="en-US" sz="3600" dirty="0"/>
          </a:p>
        </p:txBody>
      </p:sp>
      <p:graphicFrame>
        <p:nvGraphicFramePr>
          <p:cNvPr id="3" name="Chart 0"/>
          <p:cNvGraphicFramePr/>
          <p:nvPr/>
        </p:nvGraphicFramePr>
        <p:xfrm>
          <a:off x="548640" y="1371600"/>
          <a:ext cx="704088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epic-callout"/>
          <p:cNvSpPr/>
          <p:nvPr/>
        </p:nvSpPr>
        <p:spPr>
          <a:xfrm>
            <a:off x="8001000" y="1463040"/>
            <a:ext cx="3639312" cy="4480560"/>
          </a:xfrm>
          <a:prstGeom prst="roundRect">
            <a:avLst>
              <a:gd name="adj" fmla="val 3015"/>
            </a:avLst>
          </a:prstGeom>
          <a:solidFill>
            <a:schemeClr val="bg2"/>
          </a:solidFill>
          <a:ln/>
        </p:spPr>
      </p:sp>
      <p:sp>
        <p:nvSpPr>
          <p:cNvPr id="5" name="Text 2"/>
          <p:cNvSpPr txBox="1"/>
          <p:nvPr/>
        </p:nvSpPr>
        <p:spPr>
          <a:xfrm>
            <a:off x="8321040" y="1737360"/>
            <a:ext cx="3017520" cy="1097280"/>
          </a:xfrm>
          <a:prstGeom prst="rect">
            <a:avLst/>
          </a:prstGeom>
          <a:noFill/>
          <a:ln/>
        </p:spPr>
        <p:txBody>
          <a:bodyPr wrap="square" lIns="0" tIns="0" rIns="0" bIns="0" rtlCol="0" anchor="t"/>
          <a:lstStyle/>
          <a:p>
            <a:pPr marL="0" indent="0">
              <a:buNone/>
            </a:pPr>
            <a:r>
              <a:rPr lang="en-US" sz="6400" b="1" dirty="0">
                <a:solidFill>
                  <a:schemeClr val="accent1"/>
                </a:solidFill>
                <a:latin typeface="Cambria" pitchFamily="34" charset="0"/>
                <a:ea typeface="Cambria" pitchFamily="34" charset="-122"/>
                <a:cs typeface="Cambria" pitchFamily="34" charset="-120"/>
              </a:rPr>
              <a:t>21</a:t>
            </a:r>
            <a:endParaRPr lang="en-US" sz="6400" dirty="0"/>
          </a:p>
        </p:txBody>
      </p:sp>
      <p:sp>
        <p:nvSpPr>
          <p:cNvPr id="6" name="Text 3"/>
          <p:cNvSpPr txBox="1"/>
          <p:nvPr/>
        </p:nvSpPr>
        <p:spPr>
          <a:xfrm>
            <a:off x="8321040" y="2880360"/>
            <a:ext cx="3017520" cy="914400"/>
          </a:xfrm>
          <a:prstGeom prst="rect">
            <a:avLst/>
          </a:prstGeom>
          <a:noFill/>
          <a:ln/>
        </p:spPr>
        <p:txBody>
          <a:bodyPr wrap="square" lIns="0" tIns="0" rIns="0" bIns="0" rtlCol="0" anchor="t"/>
          <a:lstStyle/>
          <a:p>
            <a:pPr marL="0" indent="0">
              <a:buNone/>
            </a:pPr>
            <a:r>
              <a:rPr lang="en-US" sz="1700" b="1" dirty="0">
                <a:solidFill>
                  <a:schemeClr val="tx2"/>
                </a:solidFill>
              </a:rPr>
              <a:t>points in E5, the tech-debt epic: the largest in the backlog</a:t>
            </a:r>
            <a:endParaRPr lang="en-US" sz="1700" dirty="0"/>
          </a:p>
        </p:txBody>
      </p:sp>
      <p:sp>
        <p:nvSpPr>
          <p:cNvPr id="7" name="Text 4"/>
          <p:cNvSpPr txBox="1"/>
          <p:nvPr/>
        </p:nvSpPr>
        <p:spPr>
          <a:xfrm>
            <a:off x="8321040" y="4023360"/>
            <a:ext cx="3017520" cy="1280160"/>
          </a:xfrm>
          <a:prstGeom prst="rect">
            <a:avLst/>
          </a:prstGeom>
          <a:noFill/>
          <a:ln/>
        </p:spPr>
        <p:txBody>
          <a:bodyPr wrap="square" lIns="0" tIns="0" rIns="0" bIns="0" rtlCol="0" anchor="t"/>
          <a:lstStyle/>
          <a:p>
            <a:pPr marL="0" indent="0">
              <a:buNone/>
            </a:pPr>
            <a:r>
              <a:rPr lang="en-US" sz="1600" dirty="0">
                <a:solidFill>
                  <a:schemeClr val="tx1"/>
                </a:solidFill>
              </a:rPr>
              <a:t>Re-engineering work is backlog work. Plan it, size it and demo it like any feature.</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A tech-debt story drives Claude Code</a:t>
            </a:r>
            <a:endParaRPr lang="en-US" sz="3600" dirty="0"/>
          </a:p>
        </p:txBody>
      </p:sp>
      <p:sp>
        <p:nvSpPr>
          <p:cNvPr id="3" name="sre15"/>
          <p:cNvSpPr/>
          <p:nvPr/>
        </p:nvSpPr>
        <p:spPr>
          <a:xfrm>
            <a:off x="548640" y="1417320"/>
            <a:ext cx="5394960" cy="4526280"/>
          </a:xfrm>
          <a:prstGeom prst="roundRect">
            <a:avLst>
              <a:gd name="adj" fmla="val 2424"/>
            </a:avLst>
          </a:prstGeom>
          <a:solidFill>
            <a:schemeClr val="bg2"/>
          </a:solidFill>
          <a:ln/>
        </p:spPr>
      </p:sp>
      <p:sp>
        <p:nvSpPr>
          <p:cNvPr id="4" name="Text 2"/>
          <p:cNvSpPr txBox="1"/>
          <p:nvPr/>
        </p:nvSpPr>
        <p:spPr>
          <a:xfrm>
            <a:off x="868680" y="1600200"/>
            <a:ext cx="4754880" cy="365760"/>
          </a:xfrm>
          <a:prstGeom prst="rect">
            <a:avLst/>
          </a:prstGeom>
          <a:noFill/>
          <a:ln/>
        </p:spPr>
        <p:txBody>
          <a:bodyPr wrap="square" lIns="0" tIns="0" rIns="0" bIns="0" rtlCol="0" anchor="t"/>
          <a:lstStyle/>
          <a:p>
            <a:pPr marL="0" indent="0">
              <a:buNone/>
            </a:pPr>
            <a:r>
              <a:rPr lang="en-US" sz="1400" b="1" kern="0" spc="100" dirty="0">
                <a:solidFill>
                  <a:schemeClr val="accent2"/>
                </a:solidFill>
              </a:rPr>
              <a:t>SRE-15  ·  8 points  ·  tech-debt</a:t>
            </a:r>
            <a:endParaRPr lang="en-US" sz="1400" dirty="0"/>
          </a:p>
        </p:txBody>
      </p:sp>
      <p:sp>
        <p:nvSpPr>
          <p:cNvPr id="5" name="Text 3"/>
          <p:cNvSpPr txBox="1"/>
          <p:nvPr/>
        </p:nvSpPr>
        <p:spPr>
          <a:xfrm>
            <a:off x="868680" y="2011680"/>
            <a:ext cx="4754880" cy="1280160"/>
          </a:xfrm>
          <a:prstGeom prst="rect">
            <a:avLst/>
          </a:prstGeom>
          <a:noFill/>
          <a:ln/>
        </p:spPr>
        <p:txBody>
          <a:bodyPr wrap="square" lIns="0" tIns="0" rIns="0" bIns="0" rtlCol="0" anchor="t"/>
          <a:lstStyle/>
          <a:p>
            <a:pPr marL="0" indent="0">
              <a:buNone/>
            </a:pPr>
            <a:r>
              <a:rPr lang="en-US" sz="1800" b="1" dirty="0">
                <a:solidFill>
                  <a:schemeClr val="tx2"/>
                </a:solidFill>
              </a:rPr>
              <a:t>As a maintainer, I want SQL moved out of Swing forms into DAO classes so that the database can change without UI edits.</a:t>
            </a:r>
            <a:endParaRPr lang="en-US" sz="1800" dirty="0"/>
          </a:p>
        </p:txBody>
      </p:sp>
      <p:sp>
        <p:nvSpPr>
          <p:cNvPr id="6" name="Text 4"/>
          <p:cNvSpPr txBox="1"/>
          <p:nvPr/>
        </p:nvSpPr>
        <p:spPr>
          <a:xfrm>
            <a:off x="868680" y="3474720"/>
            <a:ext cx="4754880" cy="2286000"/>
          </a:xfrm>
          <a:prstGeom prst="rect">
            <a:avLst/>
          </a:prstGeom>
          <a:noFill/>
          <a:ln/>
        </p:spPr>
        <p:txBody>
          <a:bodyPr wrap="square" lIns="0" tIns="0" rIns="0" bIns="0" rtlCol="0" anchor="t"/>
          <a:lstStyle/>
          <a:p>
            <a:pPr marL="0" indent="0">
              <a:spcAft>
                <a:spcPts val="800"/>
              </a:spcAft>
              <a:buNone/>
            </a:pPr>
            <a:r>
              <a:rPr lang="en-US" sz="1600" b="1" dirty="0">
                <a:solidFill>
                  <a:schemeClr val="accent2"/>
                </a:solidFill>
              </a:rPr>
              <a:t>Given </a:t>
            </a:r>
            <a:r>
              <a:rPr lang="en-US" sz="1600" dirty="0">
                <a:solidFill>
                  <a:schemeClr val="tx1"/>
                </a:solidFill>
              </a:rPr>
              <a:t>the legacy ResultForm and StudentForm</a:t>
            </a:r>
            <a:endParaRPr lang="en-US" sz="1600" dirty="0"/>
          </a:p>
          <a:p>
            <a:pPr marL="0" indent="0">
              <a:spcAft>
                <a:spcPts val="800"/>
              </a:spcAft>
              <a:buNone/>
            </a:pPr>
            <a:r>
              <a:rPr lang="en-US" sz="1600" b="1" dirty="0">
                <a:solidFill>
                  <a:schemeClr val="accent1"/>
                </a:solidFill>
              </a:rPr>
              <a:t>When </a:t>
            </a:r>
            <a:r>
              <a:rPr lang="en-US" sz="1600" dirty="0">
                <a:solidFill>
                  <a:schemeClr val="tx1"/>
                </a:solidFill>
              </a:rPr>
              <a:t>the DAO refactoring is merged</a:t>
            </a:r>
            <a:endParaRPr lang="en-US" sz="1600" dirty="0"/>
          </a:p>
          <a:p>
            <a:pPr marL="0" indent="0">
              <a:spcAft>
                <a:spcPts val="800"/>
              </a:spcAft>
              <a:buNone/>
            </a:pPr>
            <a:r>
              <a:rPr lang="en-US" sz="1600" b="1" dirty="0">
                <a:solidFill>
                  <a:schemeClr val="tx2"/>
                </a:solidFill>
              </a:rPr>
              <a:t>Then </a:t>
            </a:r>
            <a:r>
              <a:rPr lang="en-US" sz="1600" dirty="0">
                <a:solidFill>
                  <a:schemeClr val="tx1"/>
                </a:solidFill>
              </a:rPr>
              <a:t>neither form contains an SQL string</a:t>
            </a:r>
            <a:endParaRPr lang="en-US" sz="1600" dirty="0"/>
          </a:p>
          <a:p>
            <a:pPr marL="0" indent="0">
              <a:spcAft>
                <a:spcPts val="800"/>
              </a:spcAft>
              <a:buNone/>
            </a:pPr>
            <a:r>
              <a:rPr lang="en-US" sz="1600" b="1" dirty="0">
                <a:solidFill>
                  <a:schemeClr val="tx2"/>
                </a:solidFill>
              </a:rPr>
              <a:t>And </a:t>
            </a:r>
            <a:r>
              <a:rPr lang="en-US" sz="1600" dirty="0">
                <a:solidFill>
                  <a:schemeClr val="tx1"/>
                </a:solidFill>
              </a:rPr>
              <a:t>every v1.0 screen saves and loads the same data</a:t>
            </a:r>
            <a:endParaRPr lang="en-US" sz="1600" dirty="0"/>
          </a:p>
        </p:txBody>
      </p:sp>
      <p:sp>
        <p:nvSpPr>
          <p:cNvPr id="7" name="prompt"/>
          <p:cNvSpPr/>
          <p:nvPr/>
        </p:nvSpPr>
        <p:spPr>
          <a:xfrm>
            <a:off x="6245352" y="1417320"/>
            <a:ext cx="5394960" cy="4526280"/>
          </a:xfrm>
          <a:prstGeom prst="roundRect">
            <a:avLst>
              <a:gd name="adj" fmla="val 2424"/>
            </a:avLst>
          </a:prstGeom>
          <a:solidFill>
            <a:schemeClr val="tx2"/>
          </a:solidFill>
          <a:ln/>
        </p:spPr>
      </p:sp>
      <p:sp>
        <p:nvSpPr>
          <p:cNvPr id="8" name="Text 6"/>
          <p:cNvSpPr txBox="1"/>
          <p:nvPr/>
        </p:nvSpPr>
        <p:spPr>
          <a:xfrm>
            <a:off x="6565392" y="1600200"/>
            <a:ext cx="4754880" cy="411480"/>
          </a:xfrm>
          <a:prstGeom prst="rect">
            <a:avLst/>
          </a:prstGeom>
          <a:noFill/>
          <a:ln/>
        </p:spPr>
        <p:txBody>
          <a:bodyPr wrap="square" lIns="0" tIns="0" rIns="0" bIns="0" rtlCol="0" anchor="t"/>
          <a:lstStyle/>
          <a:p>
            <a:pPr marL="0" indent="0">
              <a:buNone/>
            </a:pPr>
            <a:r>
              <a:rPr lang="en-US" sz="1800" b="1" dirty="0">
                <a:solidFill>
                  <a:schemeClr val="accent4"/>
                </a:solidFill>
              </a:rPr>
              <a:t>Claude Code prompt</a:t>
            </a:r>
            <a:endParaRPr lang="en-US" sz="1800" dirty="0"/>
          </a:p>
        </p:txBody>
      </p:sp>
      <p:sp>
        <p:nvSpPr>
          <p:cNvPr id="9" name="Text 7"/>
          <p:cNvSpPr txBox="1"/>
          <p:nvPr/>
        </p:nvSpPr>
        <p:spPr>
          <a:xfrm>
            <a:off x="6565392" y="2194560"/>
            <a:ext cx="4846320" cy="2743200"/>
          </a:xfrm>
          <a:prstGeom prst="rect">
            <a:avLst/>
          </a:prstGeom>
          <a:noFill/>
          <a:ln/>
        </p:spPr>
        <p:txBody>
          <a:bodyPr wrap="square" lIns="0" tIns="0" rIns="0" bIns="0" rtlCol="0" anchor="t"/>
          <a:lstStyle/>
          <a:p>
            <a:pPr marL="0" indent="0">
              <a:spcAft>
                <a:spcPts val="600"/>
              </a:spcAft>
              <a:buNone/>
            </a:pPr>
            <a:r>
              <a:rPr lang="en-US" sz="1400" dirty="0">
                <a:solidFill>
                  <a:schemeClr val="bg1"/>
                </a:solidFill>
                <a:latin typeface="Courier New" pitchFamily="34" charset="0"/>
                <a:ea typeface="Courier New" pitchFamily="34" charset="-122"/>
                <a:cs typeface="Courier New" pitchFamily="34" charset="-120"/>
              </a:rPr>
              <a:t>Story SRE-15 (paste the story text)</a:t>
            </a:r>
            <a:endParaRPr lang="en-US" sz="1400" dirty="0"/>
          </a:p>
          <a:p>
            <a:pPr marL="0" indent="0">
              <a:spcAft>
                <a:spcPts val="600"/>
              </a:spcAft>
              <a:buNone/>
            </a:pPr>
            <a:r>
              <a:rPr lang="en-US" sz="1400" dirty="0">
                <a:solidFill>
                  <a:schemeClr val="bg1"/>
                </a:solidFill>
                <a:latin typeface="Courier New" pitchFamily="34" charset="0"/>
                <a:ea typeface="Courier New" pitchFamily="34" charset="-122"/>
                <a:cs typeface="Courier New" pitchFamily="34" charset="-120"/>
              </a:rPr>
              <a:t>Acceptance criteria (paste Given/When/Then)</a:t>
            </a:r>
            <a:endParaRPr lang="en-US" sz="1400" dirty="0"/>
          </a:p>
          <a:p>
            <a:pPr marL="0" indent="0">
              <a:spcAft>
                <a:spcPts val="600"/>
              </a:spcAft>
              <a:buNone/>
            </a:pPr>
            <a:r>
              <a:rPr lang="en-US" sz="1400" dirty="0">
                <a:solidFill>
                  <a:schemeClr val="bg1"/>
                </a:solidFill>
                <a:latin typeface="Courier New" pitchFamily="34" charset="0"/>
                <a:ea typeface="Courier New" pitchFamily="34" charset="-122"/>
                <a:cs typeface="Courier New" pitchFamily="34" charset="-120"/>
              </a:rPr>
              <a:t>First list every SQL string in src/forms</a:t>
            </a:r>
            <a:endParaRPr lang="en-US" sz="1400" dirty="0"/>
          </a:p>
          <a:p>
            <a:pPr marL="0" indent="0">
              <a:spcAft>
                <a:spcPts val="600"/>
              </a:spcAft>
              <a:buNone/>
            </a:pPr>
            <a:r>
              <a:rPr lang="en-US" sz="1400" dirty="0">
                <a:solidFill>
                  <a:schemeClr val="bg1"/>
                </a:solidFill>
                <a:latin typeface="Courier New" pitchFamily="34" charset="0"/>
                <a:ea typeface="Courier New" pitchFamily="34" charset="-122"/>
                <a:cs typeface="Courier New" pitchFamily="34" charset="-120"/>
              </a:rPr>
              <a:t>and propose a DAO design.</a:t>
            </a:r>
            <a:endParaRPr lang="en-US" sz="1400" dirty="0"/>
          </a:p>
          <a:p>
            <a:pPr marL="0" indent="0">
              <a:spcAft>
                <a:spcPts val="600"/>
              </a:spcAft>
              <a:buNone/>
            </a:pPr>
            <a:r>
              <a:rPr lang="en-US" sz="1400" dirty="0">
                <a:solidFill>
                  <a:schemeClr val="bg1"/>
                </a:solidFill>
                <a:latin typeface="Courier New" pitchFamily="34" charset="0"/>
                <a:ea typeface="Courier New" pitchFamily="34" charset="-122"/>
                <a:cs typeface="Courier New" pitchFamily="34" charset="-120"/>
              </a:rPr>
              <a:t>Wait for my approval, then refactor</a:t>
            </a:r>
            <a:endParaRPr lang="en-US" sz="1400" dirty="0"/>
          </a:p>
          <a:p>
            <a:pPr marL="0" indent="0">
              <a:spcAft>
                <a:spcPts val="600"/>
              </a:spcAft>
              <a:buNone/>
            </a:pPr>
            <a:r>
              <a:rPr lang="en-US" sz="1400" dirty="0">
                <a:solidFill>
                  <a:schemeClr val="bg1"/>
                </a:solidFill>
                <a:latin typeface="Courier New" pitchFamily="34" charset="0"/>
                <a:ea typeface="Courier New" pitchFamily="34" charset="-122"/>
                <a:cs typeface="Courier New" pitchFamily="34" charset="-120"/>
              </a:rPr>
              <a:t>one form at a time.</a:t>
            </a:r>
            <a:endParaRPr lang="en-US" sz="1400" dirty="0"/>
          </a:p>
          <a:p>
            <a:pPr marL="0" indent="0">
              <a:spcAft>
                <a:spcPts val="600"/>
              </a:spcAft>
              <a:buNone/>
            </a:pPr>
            <a:r>
              <a:rPr lang="en-US" sz="1400" dirty="0">
                <a:solidFill>
                  <a:schemeClr val="bg1"/>
                </a:solidFill>
                <a:latin typeface="Courier New" pitchFamily="34" charset="0"/>
                <a:ea typeface="Courier New" pitchFamily="34" charset="-122"/>
                <a:cs typeface="Courier New" pitchFamily="34" charset="-120"/>
              </a:rPr>
              <a:t>Start every commit message with SRE-15.</a:t>
            </a:r>
            <a:endParaRPr lang="en-US" sz="1400" dirty="0"/>
          </a:p>
        </p:txBody>
      </p:sp>
      <p:sp>
        <p:nvSpPr>
          <p:cNvPr id="10" name="Text 8"/>
          <p:cNvSpPr txBox="1"/>
          <p:nvPr/>
        </p:nvSpPr>
        <p:spPr>
          <a:xfrm>
            <a:off x="6565392" y="5029200"/>
            <a:ext cx="4754880" cy="731520"/>
          </a:xfrm>
          <a:prstGeom prst="rect">
            <a:avLst/>
          </a:prstGeom>
          <a:noFill/>
          <a:ln/>
        </p:spPr>
        <p:txBody>
          <a:bodyPr wrap="square" lIns="0" tIns="0" rIns="0" bIns="0" rtlCol="0" anchor="t"/>
          <a:lstStyle/>
          <a:p>
            <a:pPr marL="0" indent="0">
              <a:buNone/>
            </a:pPr>
            <a:r>
              <a:rPr lang="en-US" sz="1400" i="1" dirty="0">
                <a:solidFill>
                  <a:schemeClr val="accent5"/>
                </a:solidFill>
              </a:rPr>
              <a:t>Review every change in a pull request: each student explains this code in the Week 16 viva.</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Sprint 1 review and retrospective</a:t>
            </a:r>
            <a:endParaRPr lang="en-US" sz="3600" dirty="0"/>
          </a:p>
        </p:txBody>
      </p:sp>
      <p:sp>
        <p:nvSpPr>
          <p:cNvPr id="3" name="review"/>
          <p:cNvSpPr/>
          <p:nvPr/>
        </p:nvSpPr>
        <p:spPr>
          <a:xfrm>
            <a:off x="548640" y="1417320"/>
            <a:ext cx="11091672" cy="914400"/>
          </a:xfrm>
          <a:prstGeom prst="roundRect">
            <a:avLst>
              <a:gd name="adj" fmla="val 12000"/>
            </a:avLst>
          </a:prstGeom>
          <a:solidFill>
            <a:schemeClr val="tx2"/>
          </a:solidFill>
          <a:ln/>
        </p:spPr>
      </p:sp>
      <p:sp>
        <p:nvSpPr>
          <p:cNvPr id="4" name="Text 2"/>
          <p:cNvSpPr txBox="1"/>
          <p:nvPr/>
        </p:nvSpPr>
        <p:spPr>
          <a:xfrm>
            <a:off x="914400" y="1417320"/>
            <a:ext cx="10360152" cy="914400"/>
          </a:xfrm>
          <a:prstGeom prst="rect">
            <a:avLst/>
          </a:prstGeom>
          <a:noFill/>
          <a:ln/>
        </p:spPr>
        <p:txBody>
          <a:bodyPr wrap="square" lIns="0" tIns="0" rIns="0" bIns="0" rtlCol="0" anchor="ctr"/>
          <a:lstStyle/>
          <a:p>
            <a:pPr marL="0" indent="0">
              <a:buNone/>
            </a:pPr>
            <a:r>
              <a:rPr lang="en-US" sz="1700" b="1" dirty="0">
                <a:solidFill>
                  <a:schemeClr val="accent4"/>
                </a:solidFill>
              </a:rPr>
              <a:t>Review: </a:t>
            </a:r>
            <a:r>
              <a:rPr lang="en-US" sz="1700" dirty="0">
                <a:solidFill>
                  <a:schemeClr val="bg1"/>
                </a:solidFill>
              </a:rPr>
              <a:t>demoed the Mermaid class diagram and the DAO layer. The instructor asked for a sequence diagram of result entry, so the PO added SRE-31.</a:t>
            </a:r>
            <a:endParaRPr lang="en-US" sz="1700" dirty="0"/>
          </a:p>
        </p:txBody>
      </p:sp>
      <p:sp>
        <p:nvSpPr>
          <p:cNvPr id="5" name="retro-0"/>
          <p:cNvSpPr/>
          <p:nvPr/>
        </p:nvSpPr>
        <p:spPr>
          <a:xfrm>
            <a:off x="548640" y="2606040"/>
            <a:ext cx="3514344" cy="2743200"/>
          </a:xfrm>
          <a:prstGeom prst="roundRect">
            <a:avLst>
              <a:gd name="adj" fmla="val 4000"/>
            </a:avLst>
          </a:prstGeom>
          <a:solidFill>
            <a:schemeClr val="bg2"/>
          </a:solidFill>
          <a:ln/>
        </p:spPr>
      </p:sp>
      <p:sp>
        <p:nvSpPr>
          <p:cNvPr id="6" name="icon-bg-FaThumbsUp"/>
          <p:cNvSpPr/>
          <p:nvPr/>
        </p:nvSpPr>
        <p:spPr>
          <a:xfrm>
            <a:off x="868680" y="2834640"/>
            <a:ext cx="685800" cy="685800"/>
          </a:xfrm>
          <a:prstGeom prst="ellipse">
            <a:avLst/>
          </a:prstGeom>
          <a:solidFill>
            <a:schemeClr val="accent2"/>
          </a:solidFill>
          <a:ln/>
        </p:spPr>
      </p:sp>
      <p:pic>
        <p:nvPicPr>
          <p:cNvPr id="7" name="Image 0" descr="ThumbsUp icon"/>
          <p:cNvPicPr>
            <a:picLocks noChangeAspect="1"/>
          </p:cNvPicPr>
          <p:nvPr/>
        </p:nvPicPr>
        <p:blipFill>
          <a:blip r:embed="rId3"/>
          <a:stretch>
            <a:fillRect/>
          </a:stretch>
        </p:blipFill>
        <p:spPr>
          <a:xfrm>
            <a:off x="1033272" y="2999232"/>
            <a:ext cx="356616" cy="356616"/>
          </a:xfrm>
          <a:prstGeom prst="rect">
            <a:avLst/>
          </a:prstGeom>
        </p:spPr>
      </p:pic>
      <p:sp>
        <p:nvSpPr>
          <p:cNvPr id="8" name="Text 5"/>
          <p:cNvSpPr txBox="1"/>
          <p:nvPr/>
        </p:nvSpPr>
        <p:spPr>
          <a:xfrm>
            <a:off x="1691640" y="2834640"/>
            <a:ext cx="2142744" cy="685800"/>
          </a:xfrm>
          <a:prstGeom prst="rect">
            <a:avLst/>
          </a:prstGeom>
          <a:noFill/>
          <a:ln/>
        </p:spPr>
        <p:txBody>
          <a:bodyPr wrap="square" lIns="0" tIns="0" rIns="0" bIns="0" rtlCol="0" anchor="ctr"/>
          <a:lstStyle/>
          <a:p>
            <a:pPr marL="0" indent="0">
              <a:buNone/>
            </a:pPr>
            <a:r>
              <a:rPr lang="en-US" sz="2100" b="1" dirty="0">
                <a:solidFill>
                  <a:schemeClr val="tx2"/>
                </a:solidFill>
                <a:latin typeface="Cambria" pitchFamily="34" charset="0"/>
                <a:ea typeface="Cambria" pitchFamily="34" charset="-122"/>
                <a:cs typeface="Cambria" pitchFamily="34" charset="-120"/>
              </a:rPr>
              <a:t>Went well</a:t>
            </a:r>
            <a:endParaRPr lang="en-US" sz="2100" dirty="0"/>
          </a:p>
        </p:txBody>
      </p:sp>
      <p:sp>
        <p:nvSpPr>
          <p:cNvPr id="9" name="Text 6"/>
          <p:cNvSpPr txBox="1"/>
          <p:nvPr/>
        </p:nvSpPr>
        <p:spPr>
          <a:xfrm>
            <a:off x="868680" y="3749040"/>
            <a:ext cx="2874264" cy="1463040"/>
          </a:xfrm>
          <a:prstGeom prst="rect">
            <a:avLst/>
          </a:prstGeom>
          <a:noFill/>
          <a:ln/>
        </p:spPr>
        <p:txBody>
          <a:bodyPr wrap="square" lIns="0" tIns="0" rIns="0" bIns="0" rtlCol="0" anchor="t"/>
          <a:lstStyle/>
          <a:p>
            <a:pPr marL="0" indent="0">
              <a:buNone/>
            </a:pPr>
            <a:r>
              <a:rPr lang="en-US" sz="1800" dirty="0">
                <a:solidFill>
                  <a:schemeClr val="tx1"/>
                </a:solidFill>
              </a:rPr>
              <a:t>Every commit carried its Jira key. Claude Code mapped all 40 legacy classes in one session.</a:t>
            </a:r>
            <a:endParaRPr lang="en-US" sz="1800" dirty="0"/>
          </a:p>
        </p:txBody>
      </p:sp>
      <p:sp>
        <p:nvSpPr>
          <p:cNvPr id="10" name="retro-1"/>
          <p:cNvSpPr/>
          <p:nvPr/>
        </p:nvSpPr>
        <p:spPr>
          <a:xfrm>
            <a:off x="4337304" y="2606040"/>
            <a:ext cx="3514344" cy="2743200"/>
          </a:xfrm>
          <a:prstGeom prst="roundRect">
            <a:avLst>
              <a:gd name="adj" fmla="val 4000"/>
            </a:avLst>
          </a:prstGeom>
          <a:solidFill>
            <a:schemeClr val="bg2"/>
          </a:solidFill>
          <a:ln/>
        </p:spPr>
      </p:sp>
      <p:sp>
        <p:nvSpPr>
          <p:cNvPr id="11" name="icon-bg-FaThumbsDown"/>
          <p:cNvSpPr/>
          <p:nvPr/>
        </p:nvSpPr>
        <p:spPr>
          <a:xfrm>
            <a:off x="4657344" y="2834640"/>
            <a:ext cx="685800" cy="685800"/>
          </a:xfrm>
          <a:prstGeom prst="ellipse">
            <a:avLst/>
          </a:prstGeom>
          <a:solidFill>
            <a:schemeClr val="accent1"/>
          </a:solidFill>
          <a:ln/>
        </p:spPr>
      </p:sp>
      <p:pic>
        <p:nvPicPr>
          <p:cNvPr id="12" name="Image 1" descr="ThumbsDown icon"/>
          <p:cNvPicPr>
            <a:picLocks noChangeAspect="1"/>
          </p:cNvPicPr>
          <p:nvPr/>
        </p:nvPicPr>
        <p:blipFill>
          <a:blip r:embed="rId4"/>
          <a:stretch>
            <a:fillRect/>
          </a:stretch>
        </p:blipFill>
        <p:spPr>
          <a:xfrm>
            <a:off x="4821936" y="2999232"/>
            <a:ext cx="356616" cy="356616"/>
          </a:xfrm>
          <a:prstGeom prst="rect">
            <a:avLst/>
          </a:prstGeom>
        </p:spPr>
      </p:pic>
      <p:sp>
        <p:nvSpPr>
          <p:cNvPr id="13" name="Text 9"/>
          <p:cNvSpPr txBox="1"/>
          <p:nvPr/>
        </p:nvSpPr>
        <p:spPr>
          <a:xfrm>
            <a:off x="5480304" y="2834640"/>
            <a:ext cx="2142744" cy="685800"/>
          </a:xfrm>
          <a:prstGeom prst="rect">
            <a:avLst/>
          </a:prstGeom>
          <a:noFill/>
          <a:ln/>
        </p:spPr>
        <p:txBody>
          <a:bodyPr wrap="square" lIns="0" tIns="0" rIns="0" bIns="0" rtlCol="0" anchor="ctr"/>
          <a:lstStyle/>
          <a:p>
            <a:pPr marL="0" indent="0">
              <a:buNone/>
            </a:pPr>
            <a:r>
              <a:rPr lang="en-US" sz="2100" b="1" dirty="0">
                <a:solidFill>
                  <a:schemeClr val="tx2"/>
                </a:solidFill>
                <a:latin typeface="Cambria" pitchFamily="34" charset="0"/>
                <a:ea typeface="Cambria" pitchFamily="34" charset="-122"/>
                <a:cs typeface="Cambria" pitchFamily="34" charset="-120"/>
              </a:rPr>
              <a:t>Didn't go well</a:t>
            </a:r>
            <a:endParaRPr lang="en-US" sz="2100" dirty="0"/>
          </a:p>
        </p:txBody>
      </p:sp>
      <p:sp>
        <p:nvSpPr>
          <p:cNvPr id="14" name="Text 10"/>
          <p:cNvSpPr txBox="1"/>
          <p:nvPr/>
        </p:nvSpPr>
        <p:spPr>
          <a:xfrm>
            <a:off x="4657344" y="3749040"/>
            <a:ext cx="2874264" cy="1463040"/>
          </a:xfrm>
          <a:prstGeom prst="rect">
            <a:avLst/>
          </a:prstGeom>
          <a:noFill/>
          <a:ln/>
        </p:spPr>
        <p:txBody>
          <a:bodyPr wrap="square" lIns="0" tIns="0" rIns="0" bIns="0" rtlCol="0" anchor="t"/>
          <a:lstStyle/>
          <a:p>
            <a:pPr marL="0" indent="0">
              <a:buNone/>
            </a:pPr>
            <a:r>
              <a:rPr lang="en-US" sz="1800" dirty="0">
                <a:solidFill>
                  <a:schemeClr val="tx1"/>
                </a:solidFill>
              </a:rPr>
              <a:t>The database blocker sat in one person's head for a day before reaching a stand-up comment.</a:t>
            </a:r>
            <a:endParaRPr lang="en-US" sz="1800" dirty="0"/>
          </a:p>
        </p:txBody>
      </p:sp>
      <p:sp>
        <p:nvSpPr>
          <p:cNvPr id="15" name="retro-2"/>
          <p:cNvSpPr/>
          <p:nvPr/>
        </p:nvSpPr>
        <p:spPr>
          <a:xfrm>
            <a:off x="8125968" y="2606040"/>
            <a:ext cx="3514344" cy="2743200"/>
          </a:xfrm>
          <a:prstGeom prst="roundRect">
            <a:avLst>
              <a:gd name="adj" fmla="val 4000"/>
            </a:avLst>
          </a:prstGeom>
          <a:solidFill>
            <a:schemeClr val="bg2"/>
          </a:solidFill>
          <a:ln/>
        </p:spPr>
      </p:sp>
      <p:sp>
        <p:nvSpPr>
          <p:cNvPr id="16" name="icon-bg-FaWrench"/>
          <p:cNvSpPr/>
          <p:nvPr/>
        </p:nvSpPr>
        <p:spPr>
          <a:xfrm>
            <a:off x="8446008" y="2834640"/>
            <a:ext cx="685800" cy="685800"/>
          </a:xfrm>
          <a:prstGeom prst="ellipse">
            <a:avLst/>
          </a:prstGeom>
          <a:solidFill>
            <a:schemeClr val="tx2"/>
          </a:solidFill>
          <a:ln/>
        </p:spPr>
      </p:sp>
      <p:pic>
        <p:nvPicPr>
          <p:cNvPr id="17" name="Image 2" descr="Wrench icon"/>
          <p:cNvPicPr>
            <a:picLocks noChangeAspect="1"/>
          </p:cNvPicPr>
          <p:nvPr/>
        </p:nvPicPr>
        <p:blipFill>
          <a:blip r:embed="rId5"/>
          <a:stretch>
            <a:fillRect/>
          </a:stretch>
        </p:blipFill>
        <p:spPr>
          <a:xfrm>
            <a:off x="8610600" y="2999232"/>
            <a:ext cx="356616" cy="356616"/>
          </a:xfrm>
          <a:prstGeom prst="rect">
            <a:avLst/>
          </a:prstGeom>
        </p:spPr>
      </p:pic>
      <p:sp>
        <p:nvSpPr>
          <p:cNvPr id="18" name="Text 13"/>
          <p:cNvSpPr txBox="1"/>
          <p:nvPr/>
        </p:nvSpPr>
        <p:spPr>
          <a:xfrm>
            <a:off x="9268968" y="2834640"/>
            <a:ext cx="2142744" cy="685800"/>
          </a:xfrm>
          <a:prstGeom prst="rect">
            <a:avLst/>
          </a:prstGeom>
          <a:noFill/>
          <a:ln/>
        </p:spPr>
        <p:txBody>
          <a:bodyPr wrap="square" lIns="0" tIns="0" rIns="0" bIns="0" rtlCol="0" anchor="ctr"/>
          <a:lstStyle/>
          <a:p>
            <a:pPr marL="0" indent="0">
              <a:buNone/>
            </a:pPr>
            <a:r>
              <a:rPr lang="en-US" sz="2100" b="1" dirty="0">
                <a:solidFill>
                  <a:schemeClr val="tx2"/>
                </a:solidFill>
                <a:latin typeface="Cambria" pitchFamily="34" charset="0"/>
                <a:ea typeface="Cambria" pitchFamily="34" charset="-122"/>
                <a:cs typeface="Cambria" pitchFamily="34" charset="-120"/>
              </a:rPr>
              <a:t>We will change</a:t>
            </a:r>
            <a:endParaRPr lang="en-US" sz="2100" dirty="0"/>
          </a:p>
        </p:txBody>
      </p:sp>
      <p:sp>
        <p:nvSpPr>
          <p:cNvPr id="19" name="Text 14"/>
          <p:cNvSpPr txBox="1"/>
          <p:nvPr/>
        </p:nvSpPr>
        <p:spPr>
          <a:xfrm>
            <a:off x="8446008" y="3749040"/>
            <a:ext cx="2874264" cy="1463040"/>
          </a:xfrm>
          <a:prstGeom prst="rect">
            <a:avLst/>
          </a:prstGeom>
          <a:noFill/>
          <a:ln/>
        </p:spPr>
        <p:txBody>
          <a:bodyPr wrap="square" lIns="0" tIns="0" rIns="0" bIns="0" rtlCol="0" anchor="t"/>
          <a:lstStyle/>
          <a:p>
            <a:pPr marL="0" indent="0">
              <a:buNone/>
            </a:pPr>
            <a:r>
              <a:rPr lang="en-US" sz="1800" dirty="0">
                <a:solidFill>
                  <a:schemeClr val="tx1"/>
                </a:solidFill>
              </a:rPr>
              <a:t>Raise any blocker in Jira the same day. Plan 18 points for Sprint 2, not 21.</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2"/>
                </a:solidFill>
              </a:rPr>
              <a:t>Your turn: a 20-minute mini backlog</a:t>
            </a:r>
            <a:endParaRPr lang="en-US" sz="3600" dirty="0"/>
          </a:p>
        </p:txBody>
      </p:sp>
      <p:sp>
        <p:nvSpPr>
          <p:cNvPr id="3" name="timer"/>
          <p:cNvSpPr/>
          <p:nvPr/>
        </p:nvSpPr>
        <p:spPr>
          <a:xfrm>
            <a:off x="822960" y="1737360"/>
            <a:ext cx="2926080" cy="2926080"/>
          </a:xfrm>
          <a:prstGeom prst="ellipse">
            <a:avLst/>
          </a:prstGeom>
          <a:solidFill>
            <a:schemeClr val="accent1"/>
          </a:solidFill>
          <a:ln/>
        </p:spPr>
      </p:sp>
      <p:sp>
        <p:nvSpPr>
          <p:cNvPr id="4" name="Text 2"/>
          <p:cNvSpPr txBox="1"/>
          <p:nvPr/>
        </p:nvSpPr>
        <p:spPr>
          <a:xfrm>
            <a:off x="822960" y="2148840"/>
            <a:ext cx="2926080" cy="1371600"/>
          </a:xfrm>
          <a:prstGeom prst="rect">
            <a:avLst/>
          </a:prstGeom>
          <a:noFill/>
          <a:ln/>
        </p:spPr>
        <p:txBody>
          <a:bodyPr wrap="square" lIns="0" tIns="0" rIns="0" bIns="0" rtlCol="0" anchor="ctr"/>
          <a:lstStyle/>
          <a:p>
            <a:pPr marL="0" indent="0" algn="ctr">
              <a:buNone/>
            </a:pPr>
            <a:r>
              <a:rPr lang="en-US" sz="8000" b="1" dirty="0">
                <a:solidFill>
                  <a:schemeClr val="bg1"/>
                </a:solidFill>
                <a:latin typeface="Cambria" pitchFamily="34" charset="0"/>
                <a:ea typeface="Cambria" pitchFamily="34" charset="-122"/>
                <a:cs typeface="Cambria" pitchFamily="34" charset="-120"/>
              </a:rPr>
              <a:t>20</a:t>
            </a:r>
            <a:endParaRPr lang="en-US" sz="8000" dirty="0"/>
          </a:p>
        </p:txBody>
      </p:sp>
      <p:sp>
        <p:nvSpPr>
          <p:cNvPr id="5" name="Text 3"/>
          <p:cNvSpPr txBox="1"/>
          <p:nvPr/>
        </p:nvSpPr>
        <p:spPr>
          <a:xfrm>
            <a:off x="822960" y="3429000"/>
            <a:ext cx="2926080" cy="457200"/>
          </a:xfrm>
          <a:prstGeom prst="rect">
            <a:avLst/>
          </a:prstGeom>
          <a:noFill/>
          <a:ln/>
        </p:spPr>
        <p:txBody>
          <a:bodyPr wrap="square" lIns="0" tIns="0" rIns="0" bIns="0" rtlCol="0" anchor="t"/>
          <a:lstStyle/>
          <a:p>
            <a:pPr marL="0" indent="0" algn="ctr">
              <a:buNone/>
            </a:pPr>
            <a:r>
              <a:rPr lang="en-US" sz="2000" dirty="0">
                <a:solidFill>
                  <a:schemeClr val="bg1"/>
                </a:solidFill>
              </a:rPr>
              <a:t>minutes</a:t>
            </a:r>
            <a:endParaRPr lang="en-US" sz="2000" dirty="0"/>
          </a:p>
        </p:txBody>
      </p:sp>
      <p:sp>
        <p:nvSpPr>
          <p:cNvPr id="6" name="min-0"/>
          <p:cNvSpPr/>
          <p:nvPr/>
        </p:nvSpPr>
        <p:spPr>
          <a:xfrm>
            <a:off x="4297680" y="1572768"/>
            <a:ext cx="1188720" cy="502920"/>
          </a:xfrm>
          <a:prstGeom prst="roundRect">
            <a:avLst>
              <a:gd name="adj" fmla="val 49091"/>
            </a:avLst>
          </a:prstGeom>
          <a:solidFill>
            <a:schemeClr val="bg2"/>
          </a:solidFill>
          <a:ln/>
        </p:spPr>
      </p:sp>
      <p:sp>
        <p:nvSpPr>
          <p:cNvPr id="7" name="Text 5"/>
          <p:cNvSpPr txBox="1"/>
          <p:nvPr/>
        </p:nvSpPr>
        <p:spPr>
          <a:xfrm>
            <a:off x="4297680" y="1572768"/>
            <a:ext cx="1188720" cy="502920"/>
          </a:xfrm>
          <a:prstGeom prst="rect">
            <a:avLst/>
          </a:prstGeom>
          <a:noFill/>
          <a:ln/>
        </p:spPr>
        <p:txBody>
          <a:bodyPr wrap="square" lIns="0" tIns="0" rIns="0" bIns="0" rtlCol="0" anchor="ctr"/>
          <a:lstStyle/>
          <a:p>
            <a:pPr marL="0" indent="0" algn="ctr">
              <a:buNone/>
            </a:pPr>
            <a:r>
              <a:rPr lang="en-US" sz="1500" b="1" dirty="0">
                <a:solidFill>
                  <a:schemeClr val="tx2"/>
                </a:solidFill>
              </a:rPr>
              <a:t>2 min</a:t>
            </a:r>
            <a:endParaRPr lang="en-US" sz="1500" dirty="0"/>
          </a:p>
        </p:txBody>
      </p:sp>
      <p:sp>
        <p:nvSpPr>
          <p:cNvPr id="8" name="Text 6"/>
          <p:cNvSpPr txBox="1"/>
          <p:nvPr/>
        </p:nvSpPr>
        <p:spPr>
          <a:xfrm>
            <a:off x="5715000" y="1463040"/>
            <a:ext cx="5897880" cy="731520"/>
          </a:xfrm>
          <a:prstGeom prst="rect">
            <a:avLst/>
          </a:prstGeom>
          <a:noFill/>
          <a:ln/>
        </p:spPr>
        <p:txBody>
          <a:bodyPr wrap="square" lIns="0" tIns="0" rIns="0" bIns="0" rtlCol="0" anchor="ctr"/>
          <a:lstStyle/>
          <a:p>
            <a:pPr marL="0" indent="0">
              <a:buNone/>
            </a:pPr>
            <a:r>
              <a:rPr lang="en-US" sz="1800" dirty="0">
                <a:solidFill>
                  <a:schemeClr val="tx1"/>
                </a:solidFill>
              </a:rPr>
              <a:t>Choose the main user of your team's legacy system.</a:t>
            </a:r>
            <a:endParaRPr lang="en-US" sz="1800" dirty="0"/>
          </a:p>
        </p:txBody>
      </p:sp>
      <p:sp>
        <p:nvSpPr>
          <p:cNvPr id="9" name="min-1"/>
          <p:cNvSpPr/>
          <p:nvPr/>
        </p:nvSpPr>
        <p:spPr>
          <a:xfrm>
            <a:off x="4297680" y="2487168"/>
            <a:ext cx="1188720" cy="502920"/>
          </a:xfrm>
          <a:prstGeom prst="roundRect">
            <a:avLst>
              <a:gd name="adj" fmla="val 49091"/>
            </a:avLst>
          </a:prstGeom>
          <a:solidFill>
            <a:schemeClr val="bg2"/>
          </a:solidFill>
          <a:ln/>
        </p:spPr>
      </p:sp>
      <p:sp>
        <p:nvSpPr>
          <p:cNvPr id="10" name="Text 8"/>
          <p:cNvSpPr txBox="1"/>
          <p:nvPr/>
        </p:nvSpPr>
        <p:spPr>
          <a:xfrm>
            <a:off x="4297680" y="2487168"/>
            <a:ext cx="1188720" cy="502920"/>
          </a:xfrm>
          <a:prstGeom prst="rect">
            <a:avLst/>
          </a:prstGeom>
          <a:noFill/>
          <a:ln/>
        </p:spPr>
        <p:txBody>
          <a:bodyPr wrap="square" lIns="0" tIns="0" rIns="0" bIns="0" rtlCol="0" anchor="ctr"/>
          <a:lstStyle/>
          <a:p>
            <a:pPr marL="0" indent="0" algn="ctr">
              <a:buNone/>
            </a:pPr>
            <a:r>
              <a:rPr lang="en-US" sz="1500" b="1" dirty="0">
                <a:solidFill>
                  <a:schemeClr val="tx2"/>
                </a:solidFill>
              </a:rPr>
              <a:t>8 min</a:t>
            </a:r>
            <a:endParaRPr lang="en-US" sz="1500" dirty="0"/>
          </a:p>
        </p:txBody>
      </p:sp>
      <p:sp>
        <p:nvSpPr>
          <p:cNvPr id="11" name="Text 9"/>
          <p:cNvSpPr txBox="1"/>
          <p:nvPr/>
        </p:nvSpPr>
        <p:spPr>
          <a:xfrm>
            <a:off x="5715000" y="2377440"/>
            <a:ext cx="5897880" cy="731520"/>
          </a:xfrm>
          <a:prstGeom prst="rect">
            <a:avLst/>
          </a:prstGeom>
          <a:noFill/>
          <a:ln/>
        </p:spPr>
        <p:txBody>
          <a:bodyPr wrap="square" lIns="0" tIns="0" rIns="0" bIns="0" rtlCol="0" anchor="ctr"/>
          <a:lstStyle/>
          <a:p>
            <a:pPr marL="0" indent="0">
              <a:buNone/>
            </a:pPr>
            <a:r>
              <a:rPr lang="en-US" sz="1800" dirty="0">
                <a:solidFill>
                  <a:schemeClr val="tx1"/>
                </a:solidFill>
              </a:rPr>
              <a:t>Write three user stories using the template.</a:t>
            </a:r>
            <a:endParaRPr lang="en-US" sz="1800" dirty="0"/>
          </a:p>
        </p:txBody>
      </p:sp>
      <p:sp>
        <p:nvSpPr>
          <p:cNvPr id="12" name="min-2"/>
          <p:cNvSpPr/>
          <p:nvPr/>
        </p:nvSpPr>
        <p:spPr>
          <a:xfrm>
            <a:off x="4297680" y="3401568"/>
            <a:ext cx="1188720" cy="502920"/>
          </a:xfrm>
          <a:prstGeom prst="roundRect">
            <a:avLst>
              <a:gd name="adj" fmla="val 49091"/>
            </a:avLst>
          </a:prstGeom>
          <a:solidFill>
            <a:schemeClr val="bg2"/>
          </a:solidFill>
          <a:ln/>
        </p:spPr>
      </p:sp>
      <p:sp>
        <p:nvSpPr>
          <p:cNvPr id="13" name="Text 11"/>
          <p:cNvSpPr txBox="1"/>
          <p:nvPr/>
        </p:nvSpPr>
        <p:spPr>
          <a:xfrm>
            <a:off x="4297680" y="3401568"/>
            <a:ext cx="1188720" cy="502920"/>
          </a:xfrm>
          <a:prstGeom prst="rect">
            <a:avLst/>
          </a:prstGeom>
          <a:noFill/>
          <a:ln/>
        </p:spPr>
        <p:txBody>
          <a:bodyPr wrap="square" lIns="0" tIns="0" rIns="0" bIns="0" rtlCol="0" anchor="ctr"/>
          <a:lstStyle/>
          <a:p>
            <a:pPr marL="0" indent="0" algn="ctr">
              <a:buNone/>
            </a:pPr>
            <a:r>
              <a:rPr lang="en-US" sz="1500" b="1" dirty="0">
                <a:solidFill>
                  <a:schemeClr val="tx2"/>
                </a:solidFill>
              </a:rPr>
              <a:t>5 min</a:t>
            </a:r>
            <a:endParaRPr lang="en-US" sz="1500" dirty="0"/>
          </a:p>
        </p:txBody>
      </p:sp>
      <p:sp>
        <p:nvSpPr>
          <p:cNvPr id="14" name="Text 12"/>
          <p:cNvSpPr txBox="1"/>
          <p:nvPr/>
        </p:nvSpPr>
        <p:spPr>
          <a:xfrm>
            <a:off x="5715000" y="3291840"/>
            <a:ext cx="5897880" cy="731520"/>
          </a:xfrm>
          <a:prstGeom prst="rect">
            <a:avLst/>
          </a:prstGeom>
          <a:noFill/>
          <a:ln/>
        </p:spPr>
        <p:txBody>
          <a:bodyPr wrap="square" lIns="0" tIns="0" rIns="0" bIns="0" rtlCol="0" anchor="ctr"/>
          <a:lstStyle/>
          <a:p>
            <a:pPr marL="0" indent="0">
              <a:buNone/>
            </a:pPr>
            <a:r>
              <a:rPr lang="en-US" sz="1800" dirty="0">
                <a:solidFill>
                  <a:schemeClr val="tx1"/>
                </a:solidFill>
              </a:rPr>
              <a:t>Add Given / When / Then, with one unhappy path each.</a:t>
            </a:r>
            <a:endParaRPr lang="en-US" sz="1800" dirty="0"/>
          </a:p>
        </p:txBody>
      </p:sp>
      <p:sp>
        <p:nvSpPr>
          <p:cNvPr id="15" name="min-3"/>
          <p:cNvSpPr/>
          <p:nvPr/>
        </p:nvSpPr>
        <p:spPr>
          <a:xfrm>
            <a:off x="4297680" y="4315968"/>
            <a:ext cx="1188720" cy="502920"/>
          </a:xfrm>
          <a:prstGeom prst="roundRect">
            <a:avLst>
              <a:gd name="adj" fmla="val 49091"/>
            </a:avLst>
          </a:prstGeom>
          <a:solidFill>
            <a:schemeClr val="bg2"/>
          </a:solidFill>
          <a:ln/>
        </p:spPr>
      </p:sp>
      <p:sp>
        <p:nvSpPr>
          <p:cNvPr id="16" name="Text 14"/>
          <p:cNvSpPr txBox="1"/>
          <p:nvPr/>
        </p:nvSpPr>
        <p:spPr>
          <a:xfrm>
            <a:off x="4297680" y="4315968"/>
            <a:ext cx="1188720" cy="502920"/>
          </a:xfrm>
          <a:prstGeom prst="rect">
            <a:avLst/>
          </a:prstGeom>
          <a:noFill/>
          <a:ln/>
        </p:spPr>
        <p:txBody>
          <a:bodyPr wrap="square" lIns="0" tIns="0" rIns="0" bIns="0" rtlCol="0" anchor="ctr"/>
          <a:lstStyle/>
          <a:p>
            <a:pPr marL="0" indent="0" algn="ctr">
              <a:buNone/>
            </a:pPr>
            <a:r>
              <a:rPr lang="en-US" sz="1500" b="1" dirty="0">
                <a:solidFill>
                  <a:schemeClr val="tx2"/>
                </a:solidFill>
              </a:rPr>
              <a:t>5 min</a:t>
            </a:r>
            <a:endParaRPr lang="en-US" sz="1500" dirty="0"/>
          </a:p>
        </p:txBody>
      </p:sp>
      <p:sp>
        <p:nvSpPr>
          <p:cNvPr id="17" name="Text 15"/>
          <p:cNvSpPr txBox="1"/>
          <p:nvPr/>
        </p:nvSpPr>
        <p:spPr>
          <a:xfrm>
            <a:off x="5715000" y="4206240"/>
            <a:ext cx="5897880" cy="731520"/>
          </a:xfrm>
          <a:prstGeom prst="rect">
            <a:avLst/>
          </a:prstGeom>
          <a:noFill/>
          <a:ln/>
        </p:spPr>
        <p:txBody>
          <a:bodyPr wrap="square" lIns="0" tIns="0" rIns="0" bIns="0" rtlCol="0" anchor="ctr"/>
          <a:lstStyle/>
          <a:p>
            <a:pPr marL="0" indent="0">
              <a:buNone/>
            </a:pPr>
            <a:r>
              <a:rPr lang="en-US" sz="1800" dirty="0">
                <a:solidFill>
                  <a:schemeClr val="tx1"/>
                </a:solidFill>
              </a:rPr>
              <a:t>Planning poker with the team next to you.</a:t>
            </a:r>
            <a:endParaRPr lang="en-US" sz="1800" dirty="0"/>
          </a:p>
        </p:txBody>
      </p:sp>
      <p:sp>
        <p:nvSpPr>
          <p:cNvPr id="18" name="homework"/>
          <p:cNvSpPr/>
          <p:nvPr/>
        </p:nvSpPr>
        <p:spPr>
          <a:xfrm>
            <a:off x="4297680" y="5257800"/>
            <a:ext cx="7342632" cy="731520"/>
          </a:xfrm>
          <a:prstGeom prst="roundRect">
            <a:avLst>
              <a:gd name="adj" fmla="val 15000"/>
            </a:avLst>
          </a:prstGeom>
          <a:solidFill>
            <a:schemeClr val="bg2"/>
          </a:solidFill>
          <a:ln/>
        </p:spPr>
      </p:sp>
      <p:sp>
        <p:nvSpPr>
          <p:cNvPr id="19" name="Text 17"/>
          <p:cNvSpPr txBox="1"/>
          <p:nvPr/>
        </p:nvSpPr>
        <p:spPr>
          <a:xfrm>
            <a:off x="4526280" y="5257800"/>
            <a:ext cx="6949440" cy="731520"/>
          </a:xfrm>
          <a:prstGeom prst="rect">
            <a:avLst/>
          </a:prstGeom>
          <a:noFill/>
          <a:ln/>
        </p:spPr>
        <p:txBody>
          <a:bodyPr wrap="square" lIns="0" tIns="0" rIns="0" bIns="0" rtlCol="0" anchor="ctr"/>
          <a:lstStyle/>
          <a:p>
            <a:pPr marL="0" indent="0">
              <a:buNone/>
            </a:pPr>
            <a:r>
              <a:rPr lang="en-US" sz="1700" b="1" dirty="0">
                <a:solidFill>
                  <a:schemeClr val="tx2"/>
                </a:solidFill>
              </a:rPr>
              <a:t>Then enter them in Jira tonight: they count toward your 25+.</a:t>
            </a:r>
            <a:endParaRPr lang="en-US" sz="17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bg1"/>
                </a:solidFill>
              </a:rPr>
              <a:t>Before Week 4: your backlog checklist</a:t>
            </a:r>
            <a:endParaRPr lang="en-US" sz="3600" dirty="0"/>
          </a:p>
        </p:txBody>
      </p:sp>
      <p:sp>
        <p:nvSpPr>
          <p:cNvPr id="3" name="icon-bg-FaCheck"/>
          <p:cNvSpPr/>
          <p:nvPr/>
        </p:nvSpPr>
        <p:spPr>
          <a:xfrm>
            <a:off x="548640" y="1508760"/>
            <a:ext cx="502920" cy="502920"/>
          </a:xfrm>
          <a:prstGeom prst="ellipse">
            <a:avLst/>
          </a:prstGeom>
          <a:solidFill>
            <a:schemeClr val="accent2"/>
          </a:solidFill>
          <a:ln/>
        </p:spPr>
      </p:sp>
      <p:pic>
        <p:nvPicPr>
          <p:cNvPr id="4" name="Image 0" descr="Check icon"/>
          <p:cNvPicPr>
            <a:picLocks noChangeAspect="1"/>
          </p:cNvPicPr>
          <p:nvPr/>
        </p:nvPicPr>
        <p:blipFill>
          <a:blip r:embed="rId3"/>
          <a:stretch>
            <a:fillRect/>
          </a:stretch>
        </p:blipFill>
        <p:spPr>
          <a:xfrm>
            <a:off x="669341" y="1629461"/>
            <a:ext cx="261518" cy="261518"/>
          </a:xfrm>
          <a:prstGeom prst="rect">
            <a:avLst/>
          </a:prstGeom>
        </p:spPr>
      </p:pic>
      <p:sp>
        <p:nvSpPr>
          <p:cNvPr id="5" name="Text 2"/>
          <p:cNvSpPr txBox="1"/>
          <p:nvPr/>
        </p:nvSpPr>
        <p:spPr>
          <a:xfrm>
            <a:off x="1280160" y="1463040"/>
            <a:ext cx="4754880" cy="594360"/>
          </a:xfrm>
          <a:prstGeom prst="rect">
            <a:avLst/>
          </a:prstGeom>
          <a:noFill/>
          <a:ln/>
        </p:spPr>
        <p:txBody>
          <a:bodyPr wrap="square" lIns="0" tIns="0" rIns="0" bIns="0" rtlCol="0" anchor="ctr"/>
          <a:lstStyle/>
          <a:p>
            <a:pPr marL="0" indent="0">
              <a:buNone/>
            </a:pPr>
            <a:r>
              <a:rPr lang="en-US" sz="1800" dirty="0">
                <a:solidFill>
                  <a:schemeClr val="bg1"/>
                </a:solidFill>
              </a:rPr>
              <a:t>Jira Scrum project; team and instructor invited</a:t>
            </a:r>
            <a:endParaRPr lang="en-US" sz="1800" dirty="0"/>
          </a:p>
        </p:txBody>
      </p:sp>
      <p:sp>
        <p:nvSpPr>
          <p:cNvPr id="6" name="icon-bg-FaCheck"/>
          <p:cNvSpPr/>
          <p:nvPr/>
        </p:nvSpPr>
        <p:spPr>
          <a:xfrm>
            <a:off x="6245352" y="1508760"/>
            <a:ext cx="502920" cy="502920"/>
          </a:xfrm>
          <a:prstGeom prst="ellipse">
            <a:avLst/>
          </a:prstGeom>
          <a:solidFill>
            <a:schemeClr val="accent2"/>
          </a:solidFill>
          <a:ln/>
        </p:spPr>
      </p:sp>
      <p:pic>
        <p:nvPicPr>
          <p:cNvPr id="7" name="Image 1" descr="Check icon"/>
          <p:cNvPicPr>
            <a:picLocks noChangeAspect="1"/>
          </p:cNvPicPr>
          <p:nvPr/>
        </p:nvPicPr>
        <p:blipFill>
          <a:blip r:embed="rId3"/>
          <a:stretch>
            <a:fillRect/>
          </a:stretch>
        </p:blipFill>
        <p:spPr>
          <a:xfrm>
            <a:off x="6366053" y="1629461"/>
            <a:ext cx="261518" cy="261518"/>
          </a:xfrm>
          <a:prstGeom prst="rect">
            <a:avLst/>
          </a:prstGeom>
        </p:spPr>
      </p:pic>
      <p:sp>
        <p:nvSpPr>
          <p:cNvPr id="8" name="Text 4"/>
          <p:cNvSpPr txBox="1"/>
          <p:nvPr/>
        </p:nvSpPr>
        <p:spPr>
          <a:xfrm>
            <a:off x="6976872" y="1463040"/>
            <a:ext cx="4754880" cy="594360"/>
          </a:xfrm>
          <a:prstGeom prst="rect">
            <a:avLst/>
          </a:prstGeom>
          <a:noFill/>
          <a:ln/>
        </p:spPr>
        <p:txBody>
          <a:bodyPr wrap="square" lIns="0" tIns="0" rIns="0" bIns="0" rtlCol="0" anchor="ctr"/>
          <a:lstStyle/>
          <a:p>
            <a:pPr marL="0" indent="0">
              <a:buNone/>
            </a:pPr>
            <a:r>
              <a:rPr lang="en-US" sz="1800" dirty="0">
                <a:solidFill>
                  <a:schemeClr val="bg1"/>
                </a:solidFill>
              </a:rPr>
              <a:t>5–8 epics, each tied to a stakeholder</a:t>
            </a:r>
            <a:endParaRPr lang="en-US" sz="1800" dirty="0"/>
          </a:p>
        </p:txBody>
      </p:sp>
      <p:sp>
        <p:nvSpPr>
          <p:cNvPr id="9" name="icon-bg-FaCheck"/>
          <p:cNvSpPr/>
          <p:nvPr/>
        </p:nvSpPr>
        <p:spPr>
          <a:xfrm>
            <a:off x="548640" y="2423160"/>
            <a:ext cx="502920" cy="502920"/>
          </a:xfrm>
          <a:prstGeom prst="ellipse">
            <a:avLst/>
          </a:prstGeom>
          <a:solidFill>
            <a:schemeClr val="accent2"/>
          </a:solidFill>
          <a:ln/>
        </p:spPr>
      </p:sp>
      <p:pic>
        <p:nvPicPr>
          <p:cNvPr id="10" name="Image 2" descr="Check icon"/>
          <p:cNvPicPr>
            <a:picLocks noChangeAspect="1"/>
          </p:cNvPicPr>
          <p:nvPr/>
        </p:nvPicPr>
        <p:blipFill>
          <a:blip r:embed="rId3"/>
          <a:stretch>
            <a:fillRect/>
          </a:stretch>
        </p:blipFill>
        <p:spPr>
          <a:xfrm>
            <a:off x="669341" y="2543861"/>
            <a:ext cx="261518" cy="261518"/>
          </a:xfrm>
          <a:prstGeom prst="rect">
            <a:avLst/>
          </a:prstGeom>
        </p:spPr>
      </p:pic>
      <p:sp>
        <p:nvSpPr>
          <p:cNvPr id="11" name="Text 6"/>
          <p:cNvSpPr txBox="1"/>
          <p:nvPr/>
        </p:nvSpPr>
        <p:spPr>
          <a:xfrm>
            <a:off x="1280160" y="2377440"/>
            <a:ext cx="4754880" cy="594360"/>
          </a:xfrm>
          <a:prstGeom prst="rect">
            <a:avLst/>
          </a:prstGeom>
          <a:noFill/>
          <a:ln/>
        </p:spPr>
        <p:txBody>
          <a:bodyPr wrap="square" lIns="0" tIns="0" rIns="0" bIns="0" rtlCol="0" anchor="ctr"/>
          <a:lstStyle/>
          <a:p>
            <a:pPr marL="0" indent="0">
              <a:buNone/>
            </a:pPr>
            <a:r>
              <a:rPr lang="en-US" sz="1800" dirty="0">
                <a:solidFill>
                  <a:schemeClr val="bg1"/>
                </a:solidFill>
              </a:rPr>
              <a:t>25+ stories in the As a / I want / so that form</a:t>
            </a:r>
            <a:endParaRPr lang="en-US" sz="1800" dirty="0"/>
          </a:p>
        </p:txBody>
      </p:sp>
      <p:sp>
        <p:nvSpPr>
          <p:cNvPr id="12" name="icon-bg-FaCheck"/>
          <p:cNvSpPr/>
          <p:nvPr/>
        </p:nvSpPr>
        <p:spPr>
          <a:xfrm>
            <a:off x="6245352" y="2423160"/>
            <a:ext cx="502920" cy="502920"/>
          </a:xfrm>
          <a:prstGeom prst="ellipse">
            <a:avLst/>
          </a:prstGeom>
          <a:solidFill>
            <a:schemeClr val="accent2"/>
          </a:solidFill>
          <a:ln/>
        </p:spPr>
      </p:sp>
      <p:pic>
        <p:nvPicPr>
          <p:cNvPr id="13" name="Image 3" descr="Check icon"/>
          <p:cNvPicPr>
            <a:picLocks noChangeAspect="1"/>
          </p:cNvPicPr>
          <p:nvPr/>
        </p:nvPicPr>
        <p:blipFill>
          <a:blip r:embed="rId3"/>
          <a:stretch>
            <a:fillRect/>
          </a:stretch>
        </p:blipFill>
        <p:spPr>
          <a:xfrm>
            <a:off x="6366053" y="2543861"/>
            <a:ext cx="261518" cy="261518"/>
          </a:xfrm>
          <a:prstGeom prst="rect">
            <a:avLst/>
          </a:prstGeom>
        </p:spPr>
      </p:pic>
      <p:sp>
        <p:nvSpPr>
          <p:cNvPr id="14" name="Text 8"/>
          <p:cNvSpPr txBox="1"/>
          <p:nvPr/>
        </p:nvSpPr>
        <p:spPr>
          <a:xfrm>
            <a:off x="6976872" y="2377440"/>
            <a:ext cx="4754880" cy="594360"/>
          </a:xfrm>
          <a:prstGeom prst="rect">
            <a:avLst/>
          </a:prstGeom>
          <a:noFill/>
          <a:ln/>
        </p:spPr>
        <p:txBody>
          <a:bodyPr wrap="square" lIns="0" tIns="0" rIns="0" bIns="0" rtlCol="0" anchor="ctr"/>
          <a:lstStyle/>
          <a:p>
            <a:pPr marL="0" indent="0">
              <a:buNone/>
            </a:pPr>
            <a:r>
              <a:rPr lang="en-US" sz="1800" dirty="0">
                <a:solidFill>
                  <a:schemeClr val="bg1"/>
                </a:solidFill>
              </a:rPr>
              <a:t>2–4 Given/When/Then criteria per story</a:t>
            </a:r>
            <a:endParaRPr lang="en-US" sz="1800" dirty="0"/>
          </a:p>
        </p:txBody>
      </p:sp>
      <p:sp>
        <p:nvSpPr>
          <p:cNvPr id="15" name="icon-bg-FaCheck"/>
          <p:cNvSpPr/>
          <p:nvPr/>
        </p:nvSpPr>
        <p:spPr>
          <a:xfrm>
            <a:off x="548640" y="3337560"/>
            <a:ext cx="502920" cy="502920"/>
          </a:xfrm>
          <a:prstGeom prst="ellipse">
            <a:avLst/>
          </a:prstGeom>
          <a:solidFill>
            <a:schemeClr val="accent2"/>
          </a:solidFill>
          <a:ln/>
        </p:spPr>
      </p:sp>
      <p:pic>
        <p:nvPicPr>
          <p:cNvPr id="16" name="Image 4" descr="Check icon"/>
          <p:cNvPicPr>
            <a:picLocks noChangeAspect="1"/>
          </p:cNvPicPr>
          <p:nvPr/>
        </p:nvPicPr>
        <p:blipFill>
          <a:blip r:embed="rId3"/>
          <a:stretch>
            <a:fillRect/>
          </a:stretch>
        </p:blipFill>
        <p:spPr>
          <a:xfrm>
            <a:off x="669341" y="3458261"/>
            <a:ext cx="261518" cy="261518"/>
          </a:xfrm>
          <a:prstGeom prst="rect">
            <a:avLst/>
          </a:prstGeom>
        </p:spPr>
      </p:pic>
      <p:sp>
        <p:nvSpPr>
          <p:cNvPr id="17" name="Text 10"/>
          <p:cNvSpPr txBox="1"/>
          <p:nvPr/>
        </p:nvSpPr>
        <p:spPr>
          <a:xfrm>
            <a:off x="1280160" y="3291840"/>
            <a:ext cx="4754880" cy="594360"/>
          </a:xfrm>
          <a:prstGeom prst="rect">
            <a:avLst/>
          </a:prstGeom>
          <a:noFill/>
          <a:ln/>
        </p:spPr>
        <p:txBody>
          <a:bodyPr wrap="square" lIns="0" tIns="0" rIns="0" bIns="0" rtlCol="0" anchor="ctr"/>
          <a:lstStyle/>
          <a:p>
            <a:pPr marL="0" indent="0">
              <a:buNone/>
            </a:pPr>
            <a:r>
              <a:rPr lang="en-US" sz="1800" dirty="0">
                <a:solidFill>
                  <a:schemeClr val="bg1"/>
                </a:solidFill>
              </a:rPr>
              <a:t>Story points on every story; none above 8</a:t>
            </a:r>
            <a:endParaRPr lang="en-US" sz="1800" dirty="0"/>
          </a:p>
        </p:txBody>
      </p:sp>
      <p:sp>
        <p:nvSpPr>
          <p:cNvPr id="18" name="icon-bg-FaCheck"/>
          <p:cNvSpPr/>
          <p:nvPr/>
        </p:nvSpPr>
        <p:spPr>
          <a:xfrm>
            <a:off x="6245352" y="3337560"/>
            <a:ext cx="502920" cy="502920"/>
          </a:xfrm>
          <a:prstGeom prst="ellipse">
            <a:avLst/>
          </a:prstGeom>
          <a:solidFill>
            <a:schemeClr val="accent2"/>
          </a:solidFill>
          <a:ln/>
        </p:spPr>
      </p:sp>
      <p:pic>
        <p:nvPicPr>
          <p:cNvPr id="19" name="Image 5" descr="Check icon"/>
          <p:cNvPicPr>
            <a:picLocks noChangeAspect="1"/>
          </p:cNvPicPr>
          <p:nvPr/>
        </p:nvPicPr>
        <p:blipFill>
          <a:blip r:embed="rId3"/>
          <a:stretch>
            <a:fillRect/>
          </a:stretch>
        </p:blipFill>
        <p:spPr>
          <a:xfrm>
            <a:off x="6366053" y="3458261"/>
            <a:ext cx="261518" cy="261518"/>
          </a:xfrm>
          <a:prstGeom prst="rect">
            <a:avLst/>
          </a:prstGeom>
        </p:spPr>
      </p:pic>
      <p:sp>
        <p:nvSpPr>
          <p:cNvPr id="20" name="Text 12"/>
          <p:cNvSpPr txBox="1"/>
          <p:nvPr/>
        </p:nvSpPr>
        <p:spPr>
          <a:xfrm>
            <a:off x="6976872" y="3291840"/>
            <a:ext cx="4754880" cy="594360"/>
          </a:xfrm>
          <a:prstGeom prst="rect">
            <a:avLst/>
          </a:prstGeom>
          <a:noFill/>
          <a:ln/>
        </p:spPr>
        <p:txBody>
          <a:bodyPr wrap="square" lIns="0" tIns="0" rIns="0" bIns="0" rtlCol="0" anchor="ctr"/>
          <a:lstStyle/>
          <a:p>
            <a:pPr marL="0" indent="0">
              <a:buNone/>
            </a:pPr>
            <a:r>
              <a:rPr lang="en-US" sz="1800" dirty="0">
                <a:solidFill>
                  <a:schemeClr val="bg1"/>
                </a:solidFill>
              </a:rPr>
              <a:t>Labels: tech-debt and nfr where they apply</a:t>
            </a:r>
            <a:endParaRPr lang="en-US" sz="1800" dirty="0"/>
          </a:p>
        </p:txBody>
      </p:sp>
      <p:sp>
        <p:nvSpPr>
          <p:cNvPr id="21" name="icon-bg-FaCheck"/>
          <p:cNvSpPr/>
          <p:nvPr/>
        </p:nvSpPr>
        <p:spPr>
          <a:xfrm>
            <a:off x="548640" y="4251960"/>
            <a:ext cx="502920" cy="502920"/>
          </a:xfrm>
          <a:prstGeom prst="ellipse">
            <a:avLst/>
          </a:prstGeom>
          <a:solidFill>
            <a:schemeClr val="accent2"/>
          </a:solidFill>
          <a:ln/>
        </p:spPr>
      </p:sp>
      <p:pic>
        <p:nvPicPr>
          <p:cNvPr id="22" name="Image 6" descr="Check icon"/>
          <p:cNvPicPr>
            <a:picLocks noChangeAspect="1"/>
          </p:cNvPicPr>
          <p:nvPr/>
        </p:nvPicPr>
        <p:blipFill>
          <a:blip r:embed="rId3"/>
          <a:stretch>
            <a:fillRect/>
          </a:stretch>
        </p:blipFill>
        <p:spPr>
          <a:xfrm>
            <a:off x="669341" y="4372661"/>
            <a:ext cx="261518" cy="261518"/>
          </a:xfrm>
          <a:prstGeom prst="rect">
            <a:avLst/>
          </a:prstGeom>
        </p:spPr>
      </p:pic>
      <p:sp>
        <p:nvSpPr>
          <p:cNvPr id="23" name="Text 14"/>
          <p:cNvSpPr txBox="1"/>
          <p:nvPr/>
        </p:nvSpPr>
        <p:spPr>
          <a:xfrm>
            <a:off x="1280160" y="4206240"/>
            <a:ext cx="4754880" cy="594360"/>
          </a:xfrm>
          <a:prstGeom prst="rect">
            <a:avLst/>
          </a:prstGeom>
          <a:noFill/>
          <a:ln/>
        </p:spPr>
        <p:txBody>
          <a:bodyPr wrap="square" lIns="0" tIns="0" rIns="0" bIns="0" rtlCol="0" anchor="ctr"/>
          <a:lstStyle/>
          <a:p>
            <a:pPr marL="0" indent="0">
              <a:buNone/>
            </a:pPr>
            <a:r>
              <a:rPr lang="en-US" sz="1800" dirty="0">
                <a:solidFill>
                  <a:schemeClr val="bg1"/>
                </a:solidFill>
              </a:rPr>
              <a:t>Backlog ordered; Sprint 1 PO and SM named</a:t>
            </a:r>
            <a:endParaRPr lang="en-US" sz="1800" dirty="0"/>
          </a:p>
        </p:txBody>
      </p:sp>
      <p:sp>
        <p:nvSpPr>
          <p:cNvPr id="24" name="icon-bg-FaCheck"/>
          <p:cNvSpPr/>
          <p:nvPr/>
        </p:nvSpPr>
        <p:spPr>
          <a:xfrm>
            <a:off x="6245352" y="4251960"/>
            <a:ext cx="502920" cy="502920"/>
          </a:xfrm>
          <a:prstGeom prst="ellipse">
            <a:avLst/>
          </a:prstGeom>
          <a:solidFill>
            <a:schemeClr val="accent2"/>
          </a:solidFill>
          <a:ln/>
        </p:spPr>
      </p:sp>
      <p:pic>
        <p:nvPicPr>
          <p:cNvPr id="25" name="Image 7" descr="Check icon"/>
          <p:cNvPicPr>
            <a:picLocks noChangeAspect="1"/>
          </p:cNvPicPr>
          <p:nvPr/>
        </p:nvPicPr>
        <p:blipFill>
          <a:blip r:embed="rId3"/>
          <a:stretch>
            <a:fillRect/>
          </a:stretch>
        </p:blipFill>
        <p:spPr>
          <a:xfrm>
            <a:off x="6366053" y="4372661"/>
            <a:ext cx="261518" cy="261518"/>
          </a:xfrm>
          <a:prstGeom prst="rect">
            <a:avLst/>
          </a:prstGeom>
        </p:spPr>
      </p:pic>
      <p:sp>
        <p:nvSpPr>
          <p:cNvPr id="26" name="Text 16"/>
          <p:cNvSpPr txBox="1"/>
          <p:nvPr/>
        </p:nvSpPr>
        <p:spPr>
          <a:xfrm>
            <a:off x="6976872" y="4206240"/>
            <a:ext cx="4754880" cy="594360"/>
          </a:xfrm>
          <a:prstGeom prst="rect">
            <a:avLst/>
          </a:prstGeom>
          <a:noFill/>
          <a:ln/>
        </p:spPr>
        <p:txBody>
          <a:bodyPr wrap="square" lIns="0" tIns="0" rIns="0" bIns="0" rtlCol="0" anchor="ctr"/>
          <a:lstStyle/>
          <a:p>
            <a:pPr marL="0" indent="0">
              <a:buNone/>
            </a:pPr>
            <a:r>
              <a:rPr lang="en-US" sz="1800" dirty="0">
                <a:solidFill>
                  <a:schemeClr val="bg1"/>
                </a:solidFill>
              </a:rPr>
              <a:t>GitHub linked; a test commit shows in Jira</a:t>
            </a:r>
            <a:endParaRPr lang="en-US" sz="1800" dirty="0"/>
          </a:p>
        </p:txBody>
      </p:sp>
      <p:sp>
        <p:nvSpPr>
          <p:cNvPr id="27" name="next"/>
          <p:cNvSpPr/>
          <p:nvPr/>
        </p:nvSpPr>
        <p:spPr>
          <a:xfrm>
            <a:off x="548640" y="5349240"/>
            <a:ext cx="11091672" cy="731520"/>
          </a:xfrm>
          <a:prstGeom prst="roundRect">
            <a:avLst>
              <a:gd name="adj" fmla="val 15000"/>
            </a:avLst>
          </a:prstGeom>
          <a:solidFill>
            <a:schemeClr val="accent1"/>
          </a:solidFill>
          <a:ln/>
        </p:spPr>
      </p:sp>
      <p:sp>
        <p:nvSpPr>
          <p:cNvPr id="28" name="Text 18"/>
          <p:cNvSpPr txBox="1"/>
          <p:nvPr/>
        </p:nvSpPr>
        <p:spPr>
          <a:xfrm>
            <a:off x="914400" y="5349240"/>
            <a:ext cx="10360152" cy="731520"/>
          </a:xfrm>
          <a:prstGeom prst="rect">
            <a:avLst/>
          </a:prstGeom>
          <a:noFill/>
          <a:ln/>
        </p:spPr>
        <p:txBody>
          <a:bodyPr wrap="square" lIns="0" tIns="0" rIns="0" bIns="0" rtlCol="0" anchor="ctr"/>
          <a:lstStyle/>
          <a:p>
            <a:pPr marL="0" indent="0">
              <a:buNone/>
            </a:pPr>
            <a:r>
              <a:rPr lang="en-US" sz="2000" b="1" dirty="0">
                <a:solidFill>
                  <a:schemeClr val="bg1"/>
                </a:solidFill>
              </a:rPr>
              <a:t>Next class: Sprint 1 planning. Bring your ordered backlog.</a:t>
            </a:r>
            <a:endParaRPr lang="en-US" sz="2000" dirty="0"/>
          </a:p>
        </p:txBody>
      </p:sp>
      <p:sp>
        <p:nvSpPr>
          <p:cNvPr id="29"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Sprint Teal">
  <a:themeElements>
    <a:clrScheme name="Sprint Teal">
      <a:dk1>
        <a:srgbClr val="1B2A2F"/>
      </a:dk1>
      <a:lt1>
        <a:srgbClr val="FFFFFF"/>
      </a:lt1>
      <a:dk2>
        <a:srgbClr val="0F3D3E"/>
      </a:dk2>
      <a:lt2>
        <a:srgbClr val="EAF3F1"/>
      </a:lt2>
      <a:accent1>
        <a:srgbClr val="E4572E"/>
      </a:accent1>
      <a:accent2>
        <a:srgbClr val="2A9D8F"/>
      </a:accent2>
      <a:accent3>
        <a:srgbClr val="0F3D3E"/>
      </a:accent3>
      <a:accent4>
        <a:srgbClr val="F4A261"/>
      </a:accent4>
      <a:accent5>
        <a:srgbClr val="8FC1B5"/>
      </a:accent5>
      <a:accent6>
        <a:srgbClr val="5C6B70"/>
      </a:accent6>
      <a:hlink>
        <a:srgbClr val="2A9D8F"/>
      </a:hlink>
      <a:folHlink>
        <a:srgbClr val="5C6B70"/>
      </a:folHlink>
    </a:clrScheme>
    <a:fontScheme name="Sprint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3082</Words>
  <Application>Microsoft Office PowerPoint</Application>
  <PresentationFormat>Widescreen</PresentationFormat>
  <Paragraphs>379</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Courier New</vt:lpstr>
      <vt:lpstr>Sprint Teal</vt:lpstr>
      <vt:lpstr>Agile Scrum in Jira</vt:lpstr>
      <vt:lpstr>Milestone 1 at a glance</vt:lpstr>
      <vt:lpstr>Why Agile suits legacy re-engineering</vt:lpstr>
      <vt:lpstr>The Agile Manifesto: four values</vt:lpstr>
      <vt:lpstr>The Scrum framework</vt:lpstr>
      <vt:lpstr>Three roles, rotating every sprint</vt:lpstr>
      <vt:lpstr>The 2-week sprint cycle</vt:lpstr>
      <vt:lpstr>Three artifacts, three commitments</vt:lpstr>
      <vt:lpstr>Building the backlog</vt:lpstr>
      <vt:lpstr>Anatomy of a user story</vt:lpstr>
      <vt:lpstr>INVEST: test every story</vt:lpstr>
      <vt:lpstr>Acceptance criteria: Given / When / Then</vt:lpstr>
      <vt:lpstr>Story points: relative, not hours</vt:lpstr>
      <vt:lpstr>Velocity and the Definition of Done</vt:lpstr>
      <vt:lpstr>Every commit carries its Jira key</vt:lpstr>
      <vt:lpstr>Jira setup in six steps</vt:lpstr>
      <vt:lpstr>The semester in sprints</vt:lpstr>
      <vt:lpstr>Student Result Management System</vt:lpstr>
      <vt:lpstr>SRMS v1.0 today, v2.0 target</vt:lpstr>
      <vt:lpstr>26 stories, 86 points, six epics</vt:lpstr>
      <vt:lpstr>A tech-debt story drives Claude Code</vt:lpstr>
      <vt:lpstr>Sprint 1 review and retrospective</vt:lpstr>
      <vt:lpstr>Your turn: a 20-minute mini backlog</vt:lpstr>
      <vt:lpstr>Before Week 4: your backlog checklist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Scrum in Jira: Milestone 1</dc:title>
  <dc:subject>SESE4143 Software Re-engineering</dc:subject>
  <dc:creator>Taimoor Hassan</dc:creator>
  <cp:lastModifiedBy>Saira Latif</cp:lastModifiedBy>
  <cp:revision>2</cp:revision>
  <dcterms:created xsi:type="dcterms:W3CDTF">2026-10-03T01:25:10Z</dcterms:created>
  <dcterms:modified xsi:type="dcterms:W3CDTF">2026-10-06T04:59:16Z</dcterms:modified>
</cp:coreProperties>
</file>