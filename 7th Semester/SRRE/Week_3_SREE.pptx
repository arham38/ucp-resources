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329184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TAXONOMY OF MAINTENANCE &amp; EVOLUTION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Perfective &amp; Preventive Change, and Classifying Maintenance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intention-based taxonomy, then activity- and evidence-based views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 (3-0), BSSE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431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Latif · Lecturer (SE), FOIT 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saira.latif@ucp.edu.pk · Office Hours: 1:00–2:00 PM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035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Punjab · Faculty of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Intention-Based Groups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2 — fixing discovered faults.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2 — adapting to a changed environment.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improving what already works.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heading off future problems.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Perfective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“Modification undertaken to expand the existing requirements of a system — enhancement or withdrawal of functionality.”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1219-1994 / 610.12-1994 — performed to improve performance or maintainability.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Perfective Maintenance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user experience, processing efficiency, and maintainability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outputs made more readable — better user experience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3697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modified to run faster — higher processing efficiency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867912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82219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restructured for readability — higher maintainability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53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407408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“reengineering” in some classifications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Perfective Changes Are “Enhancements”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made to accommodate the needs of users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wasn't in the original design and the user wants it added, it's perfective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user requirements fall into this category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Perfective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cuts metal evenly is enhanced to cut uneven pieces.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pancake-only system is enhanced to also bake muffins.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cycle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one-hour cutting job is enhanced to run in half an hour.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functionality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pancake feature is removed once no longer needed.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Preventive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2743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“Modification undertaken to prevent malfunctions, or to improve maintainability, before problems occur.”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610.12-1994 — note IEEE Std 1219-1994 offers no separate definition for this category.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Preventive Maintenance?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complexity as the system ages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Deteriorated internal structure from years of patching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documentation that no longer matches the code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common on safety-critical and high-availability systems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Rejuvenation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preventive measure to postpone crashes from long-running processes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terminate the application, clean its internal state, and restart it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rejuvenation may raise downtime, but it prevents more severe failures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Preventive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systems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shuttle or aircraft software: prevention is critical.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convertible's top up before it rains.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an overly complex system so it's easier to understand.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a long-running system off and on to reset strange behaviour.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Kitchenham's Two Categories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defects: a discrepancy between expected and actual behavior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— effect changes to the system, in three subcategories: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implemented requirements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24281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system requirements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82803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implementation without changing requirements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by Observable Evidence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maintenance-activity types grouped into four clusters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criteria — modifications to four aspects of the system: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software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1129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documentation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09651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properties of the program code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681728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functionality the customer experiences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Evidence Is Gathered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relevant parts of the software before the activity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...with the same parts after the activity is executed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the evidence used to classify the activity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Activity Types (1 of 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stakeholders on the system's implementation.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728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836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cost/time, running a help desk, sharing expertise.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8576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2584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692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code and docs, examining ripple effects, testing.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documentation readability and consistency.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720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9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179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0728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6836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out-of-date documentation with current versions.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8576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035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15035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2584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Groomative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692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more efficient components and algorithms.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Activity Types (2 of 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that enhance maintainability for the future.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179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179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728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836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up-time and replacing slow components.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85760" y="169164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035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35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25840" y="179222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6928" y="229514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to a new platform, increasing COTS use.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unneeded data inputs or outputs.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720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9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179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0728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6836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bugs and improving exception handling.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85760" y="4069080"/>
            <a:ext cx="344424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035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15035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25840" y="4169664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6928" y="4672584"/>
            <a:ext cx="3041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modifying business rules and data flows.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CLASSIFICATION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Evidence Is Ambiguous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objective evidence for an activity is ambiguous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has a designated default type for these cases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default, when ambiguity remains, is “evaluative”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Maintenance, Restated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software from failing to deliver its intended functionality through bug fixing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involve major architectural change — keeps a running system running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bug fixing is a planned activity, not an architectural overhaul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Hierarchical View of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eliminate discrepancies between expected and actual behavior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— implement a change to system behavior or implementation: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existing requirement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24281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system requirement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82803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implementation without changing requirements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Maintained Product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a coherent collection of artifacts; source code is the key one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upgrade — a change relative to a baseline configuration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— textual/graphical documents, COTS parts, object code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elements: size, age, application type, composition, quality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Maintenance Activity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impact of a proposed change.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37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29514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system's implementation.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 and process management.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421538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169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7648" y="467258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changes don't damage system integrity.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ORGANIZATION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Levels of Maintenance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Individual-level — followed by staff to implement one change request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Organization-level — manages change requests from staff, users and customers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elements: event management, configuration management, change control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ORGANIZATION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Support Levels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55520" y="1600200"/>
            <a:ext cx="7376160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9488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99948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413760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313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problem reports and routes them to the right support person.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87568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68756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36720" y="2103120"/>
            <a:ext cx="3413760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3880" y="224028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73880" y="2880360"/>
            <a:ext cx="313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who analyze problems and recommend quick fixes.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5648" y="13441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37564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24800" y="2103120"/>
            <a:ext cx="3413760" cy="2926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1960" y="2240280"/>
            <a:ext cx="313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61960" y="2880360"/>
            <a:ext cx="313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who make the actual software changes.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Element of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a human-intensive activity — people matter as much as process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organization — maintains the product(s)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organization — uses the maintained system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— personnel from both organizations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“Evolution” Came From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Halpern coined the term circa 1965 for the dynamic growth of software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Meir Lehman's eight laws of software evolution drew wider attention in the 1980s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&amp; Rajlich found no single widely accepted definition of the term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researchers use “evolution” simply as a substitute for “maintenance”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vs. Evolution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120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(Arthur)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Preserving software from decline or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Bennett &amp; Xu: all post-delivery support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5120640" cy="420624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737360"/>
            <a:ext cx="5120640" cy="5029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(Arthur)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242316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Continuously changing from a worse to a better state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429000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Bennett &amp; Xu: perfective, requirements-driven change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Study Software Evolution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(what/why)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causes, processes and effects — a scientific viewpoint.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(how)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better methods and tools — design, maintenance, refactoring, reengineering.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Categorise Software Changes?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acquire knowledge about the different maintenance tasks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priorities: serious problems outrank enhancements, which outrank minor issues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estimate the cost of different modification tasks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estimate the quality and reliability of the system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1 (Urgent) &amp; 2 (Critical)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change to continue operations — e.g. tax-table changes required by law.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 known defect seriously degrading function or performance — CCB reviews at its next meeting.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3 (Major) &amp; 4 (Minor)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made, but delay is tolerable — e.g. a slow filtering algorithm that still works.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880360"/>
            <a:ext cx="5303520" cy="21031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3026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980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3483864"/>
            <a:ext cx="4901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when time and resources allow — e.g. reformatting untidy reports.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Maintenance in the LLM Era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modernization tools now auto-classify commits as corrective, adaptive or perfective at scale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51592" y="1645920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buNone/>
            </a:pPr>
            <a:r>
              <a:rPr lang="en-US" sz="17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are being evaluated directly against Kitchenham-style enhancement/correction taxonomies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602736"/>
            <a:ext cx="9418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surveys map today's modernization drivers onto this same intention-based taxonomy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451592" y="3602736"/>
            <a:ext cx="1188720" cy="292608"/>
          </a:xfrm>
          <a:prstGeom prst="rect">
            <a:avLst/>
          </a:prstGeom>
          <a:solidFill>
            <a:srgbClr val="E887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608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prioritization logic from slides 28–29 still governs how teams triage AI-suggested changes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Week 1, slide 7 for full citations — Assunção et al. 2024–25; Diggs et al. 2024.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-1188720"/>
            <a:ext cx="3108960" cy="3108960"/>
          </a:xfrm>
          <a:prstGeom prst="ellipse">
            <a:avLst/>
          </a:prstGeom>
          <a:solidFill>
            <a:srgbClr val="CFE8F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Built Across Weeks 1–3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maintenance basics, the reengineering process and cost drivers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legacy systems, impact analysis, refactoring, reuse, and taxonomy's starting point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the full intention-, activity- and evidence-based classification of maintenance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applying this taxonomy to real legacy code, ahead of the mid-term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SESE4143 · Software Re-engineering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2026-09-27T07:29:55Z</dcterms:created>
  <dcterms:modified xsi:type="dcterms:W3CDTF">2026-09-27T07:29:55Z</dcterms:modified>
</cp:coreProperties>
</file>