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5912" y="329184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LECTURES 3–4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Systems, Impact Analysis &amp; Refactoring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what to keep, what to change, and how to change it safely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 (3-0), BSSE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431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Latif · Lecturer (SE), FOIT 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42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saira.latif@ucp.edu.pk · Office Hours: 1:00–2:00 PM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035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Central Punjab · Faculty of Information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Will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systems: definition, risks and assessment strategies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analysis: traceability, dependency and ripple-effect techniques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Refactoring: origins, benefits, problems, and when to apply it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comprehension: how engineers build mental models of code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5720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reuse: motivations, artifact types and component qualities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5778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software maintenance and evolution — general idea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Re-engineering, Revisited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examination and alteration of a subject system to reconstitute it in a new form, and the subsequent implementation of the new form.”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Chikofsky &amp; Cross II — the same definition anchors this week's legacy-system and refactoring material.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Legacy System?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old or obsolete system which is valuable for the company that often developed and owns it.”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Corresponds to the phase-out stage of the software evolution model introduced in Week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of Replacing a Legacy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is difficult — existing documentation is typically incomplete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business processes already adjusted to the system can be costly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but important business rules may be embedded in the system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system may be delivered late, cost more, or not function properly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Legacy Changes Expensive?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systems were built by different teams with inconsistent style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hard to find staff who know the obsolete languages used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source code is the only documentation — and even that may be missing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2976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updates over the years make the system hard to understand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itself can be obsolete, redundant, or hard to interpret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System Assessment: Four Strategies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business practice no longer depends on it, or COTS can replace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maintaining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works well, is stable, and change requests are 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has degraded but changes are still needed — reengineer.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Obsolete hardware blocks operation, or a rebuild is affordable.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System Management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work is performed on the system.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179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179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728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836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support to a specialist organization.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8576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035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35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2584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692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maintenance for another period.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&amp; redevelop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it away and rebuild from scratch.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6720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179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43179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0728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6836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the system behind a new interface layer.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8576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035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15035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2584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692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new platform with minimal disruption.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Impact Analysis?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which parts of the software are affected by a proposed change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analysis — links requirements, design, code and tests so affected pieces can be located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0273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(source-code) analysis — assesses effects via syntactic dependencies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99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5537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dependency techniques: call-graph analysis and dependency-graph analysis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Impact Analysis Techniques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Ripple-effect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likely a change to one module is to cause problems elsewhere.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propagation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 change in one component is properly propagated through the system.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Refactoring? Where the Word Comes From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“Refactoring” borrows from mathematical factoring — decomposing an object into simpler factors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15 factors into primes as 3 × 5; x² − 4 factors as (x − 2)(x + 2)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369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code, changing the visible structure reveals the “hidden” internal structure — just as factoring x² − 1 reveals its zeroes at +1 and −1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Refactoring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process of making a change to the internal structure of software to make it easier to understand and cheaper to modify, without changing its observable behavior.”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object-oriented equivalent of restructuring — achieved by removing duplication, simplifying, and clarifying code.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Refactoring: Benefits vs. Problems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120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Improves the design of the 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Makes software easier to understand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Helps in finding bugs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Helps you program faster, long term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737360"/>
            <a:ext cx="512064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Doesn't guarantee software quality improvement on its 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34290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Refactoring tools can be unreliable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on Definitions: Is This Refactoring?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functionality — no, that changes observable behavior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correctness bugs — no, that's corrective maintenance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performance — usually not refactoring in the strict sense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security holes — no, that's a corrective change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is defined precisely by what it preserves: behavior. Anything that changes what the system does falls outside the definition.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Apply Refactoring: Bad Code Smells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and feature envy across the codebase.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control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methods, deep conditionals and loops.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parameter lists, data clumps.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OO-specific smells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class, switch statements, parallel inheritance, temporary fields.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COMPREHENSION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Program Comprehension?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task of building mental models of an underlying software system at various abstraction levels — for maintenance, evolution and re-engineering purposes.”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from models of the code itself to models of the application domain.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COMPREHENSION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for Building Understanding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— starting from the code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— starting from a high-level goal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Opportunistic — combining both as needed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creates higher-level abstractions from lower-level structures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15137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Cross-referencing links elements across different abstraction levels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 Reuse?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industry of reusable source-code components, and industrializing application production from off-the-shelf parts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families — sets of programs whose shared properties justify studying commonalities first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0273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analysis — identifying objects and operations common to a problem domain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Software Reuse?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120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Cost, Reduce Effort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Software is expensive to create but nearly free to copy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Frees engineers to focus on more creative tasks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737360"/>
            <a:ext cx="512064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Bugs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Proven legacy code beats writing from scratch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42900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Goal: replace creation with recycling to cut cost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Hampers Software Reuse?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units of reusable knowledge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that knowledge in a shared “knowledge base”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the knowledge base for what you need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reusable knowledge to fit the new situation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reused knowledge with your own project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Prieto-Diaz, “Status Report: Software Reusability,” IEEE Software 10(3), 1993.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Reusable Artifacts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data formats across systems.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reuse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design and programming conventions.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reuse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designs for common business applications.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reuse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executable code directly.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Component Reusable?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Environment-independent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regardless of its original capture context.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179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179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728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836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one operation or a tightly related set.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8576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035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35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2584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692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links to other components.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to similar situations.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6720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179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43179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0728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6836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quickly interpret its function.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8576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035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15035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2584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&amp; portable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692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Error-free, and not tied to one environment.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Reuse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reliability and standards compliance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process risk and accelerated development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productivity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maintainability, with less maintenance time and effort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Taxonomy of Software Maintenance &amp; Evolution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— GENERAL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Field Started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 — R.G. Canning's “The Maintenance 'Iceberg'” surfaced the scale of the problem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practitioners saw maintenance narrowly: correcting errors and enhancing functionality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14764 broadened it: “the totality of activities required to provide cost-effective support,” spanning pre- and post-delivery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Post-delivery includes changing software, training, and running a help desk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— INTENTION-BASED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Groups of Maintenance Activity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processing and performance failures.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a changed data or processing environment.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user experience, efficiency, maintainability.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problems from occurring in the first place.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Corrective Change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“Reactive modification of a software product performed after delivery to correct discovered faults.”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1219-1994; IEEE Std 610.12-1994 — no program is ever fully correct.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Corrective Maintenance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operate as designed or advertised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locate the original spec to know what it should do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wrong output (processing failure), missed real-time deadlines (performance failure)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process — performed after defects are detected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Adaptive Change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“Modification of a software product after delivery to make it usable in a changed environment.”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1219-1994 / 610.12-1994 — environment: everything outside the system that acts upon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Adaptive Change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must be adapted to a new OS or hardware configuration.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must be adapted to changed development process steps.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change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money-handling software must be modified for a new currency.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users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rarely see the change directly, but maintainers must still do the work.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2026-09-27T07:29:55Z</dcterms:created>
  <dcterms:modified xsi:type="dcterms:W3CDTF">2026-09-27T07:29:55Z</dcterms:modified>
</cp:coreProperties>
</file>