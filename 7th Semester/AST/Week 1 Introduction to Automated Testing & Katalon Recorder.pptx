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24"/>
  </p:notesMasterIdLst>
  <p:sldIdLst>
    <p:sldId id="256" r:id="rId2"/>
    <p:sldId id="258" r:id="rId3"/>
    <p:sldId id="270" r:id="rId4"/>
    <p:sldId id="259" r:id="rId5"/>
    <p:sldId id="260" r:id="rId6"/>
    <p:sldId id="271" r:id="rId7"/>
    <p:sldId id="261" r:id="rId8"/>
    <p:sldId id="268" r:id="rId9"/>
    <p:sldId id="269" r:id="rId10"/>
    <p:sldId id="272" r:id="rId11"/>
    <p:sldId id="257" r:id="rId12"/>
    <p:sldId id="266" r:id="rId13"/>
    <p:sldId id="267" r:id="rId14"/>
    <p:sldId id="273" r:id="rId15"/>
    <p:sldId id="274" r:id="rId16"/>
    <p:sldId id="275" r:id="rId17"/>
    <p:sldId id="276" r:id="rId18"/>
    <p:sldId id="277" r:id="rId19"/>
    <p:sldId id="278" r:id="rId20"/>
    <p:sldId id="279" r:id="rId21"/>
    <p:sldId id="280" r:id="rId22"/>
    <p:sldId id="28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390" autoAdjust="0"/>
  </p:normalViewPr>
  <p:slideViewPr>
    <p:cSldViewPr snapToGrid="0">
      <p:cViewPr varScale="1">
        <p:scale>
          <a:sx n="75" d="100"/>
          <a:sy n="75" d="100"/>
        </p:scale>
        <p:origin x="9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3A48F7-5749-461F-98AA-6E54CDD4E73C}" type="datetimeFigureOut">
              <a:rPr lang="en-PK" smtClean="0"/>
              <a:t>20/08/2026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19C4D4-2E71-4DF4-8D06-B457A9CBD81C}" type="slidenum">
              <a:rPr lang="en-PK" smtClean="0"/>
              <a:t>‹#›</a:t>
            </a:fld>
            <a:endParaRPr lang="en-PK"/>
          </a:p>
        </p:txBody>
      </p:sp>
    </p:spTree>
    <p:extLst>
      <p:ext uri="{BB962C8B-B14F-4D97-AF65-F5344CB8AC3E}">
        <p14:creationId xmlns:p14="http://schemas.microsoft.com/office/powerpoint/2010/main" val="1961267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919C4D4-2E71-4DF4-8D06-B457A9CBD81C}" type="slidenum">
              <a:rPr lang="en-PK" smtClean="0"/>
              <a:t>7</a:t>
            </a:fld>
            <a:endParaRPr lang="en-PK"/>
          </a:p>
        </p:txBody>
      </p:sp>
    </p:spTree>
    <p:extLst>
      <p:ext uri="{BB962C8B-B14F-4D97-AF65-F5344CB8AC3E}">
        <p14:creationId xmlns:p14="http://schemas.microsoft.com/office/powerpoint/2010/main" val="4092947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62C0C73-AA23-4D1E-B2AB-D99647BD5534}" type="slidenum">
              <a:rPr lang="en-PK" smtClean="0"/>
              <a:t>13</a:t>
            </a:fld>
            <a:endParaRPr lang="en-PK"/>
          </a:p>
        </p:txBody>
      </p:sp>
    </p:spTree>
    <p:extLst>
      <p:ext uri="{BB962C8B-B14F-4D97-AF65-F5344CB8AC3E}">
        <p14:creationId xmlns:p14="http://schemas.microsoft.com/office/powerpoint/2010/main" val="3122039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8/20/2026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8/20/2026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8/20/2026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8/20/2026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8/20/2026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8/20/2026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8/20/2026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8/20/2026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8/20/2026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8/20/2026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mailto:sample@user.com" TargetMode="External"/><Relationship Id="rId2" Type="http://schemas.openxmlformats.org/officeDocument/2006/relationships/hyperlink" Target="https://automationexercise.co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automationexercise.com/"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B2956-0DEA-4CB1-9B1E-A6273EC9BD44}"/>
              </a:ext>
            </a:extLst>
          </p:cNvPr>
          <p:cNvSpPr>
            <a:spLocks noGrp="1"/>
          </p:cNvSpPr>
          <p:nvPr>
            <p:ph type="ctrTitle"/>
          </p:nvPr>
        </p:nvSpPr>
        <p:spPr/>
        <p:txBody>
          <a:bodyPr>
            <a:normAutofit fontScale="90000"/>
          </a:bodyPr>
          <a:lstStyle/>
          <a:p>
            <a:r>
              <a:rPr lang="en-PK" b="1" dirty="0"/>
              <a:t>Introduction to </a:t>
            </a:r>
            <a:r>
              <a:rPr lang="en-US" b="1" dirty="0"/>
              <a:t>Automated </a:t>
            </a:r>
            <a:r>
              <a:rPr lang="en-PK" b="1" dirty="0"/>
              <a:t>Testing</a:t>
            </a:r>
            <a:r>
              <a:rPr lang="en-US" b="1" dirty="0"/>
              <a:t> &amp; </a:t>
            </a:r>
            <a:r>
              <a:rPr lang="en-US" b="1" dirty="0" err="1"/>
              <a:t>Katalon</a:t>
            </a:r>
            <a:r>
              <a:rPr lang="en-US" b="1" dirty="0"/>
              <a:t> Recorder</a:t>
            </a:r>
            <a:endParaRPr lang="en-PK" b="1" dirty="0"/>
          </a:p>
        </p:txBody>
      </p:sp>
    </p:spTree>
    <p:extLst>
      <p:ext uri="{BB962C8B-B14F-4D97-AF65-F5344CB8AC3E}">
        <p14:creationId xmlns:p14="http://schemas.microsoft.com/office/powerpoint/2010/main" val="3692501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4646E-5E98-42D9-A894-7BACDEE072FF}"/>
              </a:ext>
            </a:extLst>
          </p:cNvPr>
          <p:cNvSpPr>
            <a:spLocks noGrp="1"/>
          </p:cNvSpPr>
          <p:nvPr>
            <p:ph type="title"/>
          </p:nvPr>
        </p:nvSpPr>
        <p:spPr>
          <a:xfrm>
            <a:off x="2231136" y="253492"/>
            <a:ext cx="7729728" cy="1188720"/>
          </a:xfrm>
        </p:spPr>
        <p:txBody>
          <a:bodyPr>
            <a:normAutofit/>
          </a:bodyPr>
          <a:lstStyle/>
          <a:p>
            <a:r>
              <a:rPr lang="en-US" b="1" dirty="0"/>
              <a:t>Learning Objectives</a:t>
            </a:r>
            <a:endParaRPr lang="en-PK" dirty="0"/>
          </a:p>
        </p:txBody>
      </p:sp>
      <p:sp>
        <p:nvSpPr>
          <p:cNvPr id="3" name="Content Placeholder 2">
            <a:extLst>
              <a:ext uri="{FF2B5EF4-FFF2-40B4-BE49-F238E27FC236}">
                <a16:creationId xmlns:a16="http://schemas.microsoft.com/office/drawing/2014/main" id="{974F53A6-A716-4978-8B41-7052929C304D}"/>
              </a:ext>
            </a:extLst>
          </p:cNvPr>
          <p:cNvSpPr>
            <a:spLocks noGrp="1"/>
          </p:cNvSpPr>
          <p:nvPr>
            <p:ph idx="1"/>
          </p:nvPr>
        </p:nvSpPr>
        <p:spPr>
          <a:xfrm>
            <a:off x="2231136" y="1666240"/>
            <a:ext cx="7729728" cy="4761454"/>
          </a:xfrm>
        </p:spPr>
        <p:txBody>
          <a:bodyPr>
            <a:normAutofit/>
          </a:bodyPr>
          <a:lstStyle/>
          <a:p>
            <a:pPr marL="0" indent="0" algn="just">
              <a:buNone/>
            </a:pPr>
            <a:r>
              <a:rPr lang="en-US" sz="2000" b="1" dirty="0"/>
              <a:t>By the end of this lecture, you should be able to:</a:t>
            </a:r>
            <a:endParaRPr lang="en-US" sz="2000" dirty="0"/>
          </a:p>
          <a:p>
            <a:pPr algn="just"/>
            <a:r>
              <a:rPr lang="en-US" sz="2000" dirty="0"/>
              <a:t>Explain what </a:t>
            </a:r>
            <a:r>
              <a:rPr lang="en-US" sz="2000" b="1" dirty="0"/>
              <a:t>test automation</a:t>
            </a:r>
            <a:r>
              <a:rPr lang="en-US" sz="2000" dirty="0"/>
              <a:t> means. </a:t>
            </a:r>
          </a:p>
          <a:p>
            <a:pPr algn="just"/>
            <a:r>
              <a:rPr lang="en-US" sz="2000" dirty="0"/>
              <a:t>Describe the basic </a:t>
            </a:r>
            <a:r>
              <a:rPr lang="en-US" sz="2000" b="1" dirty="0"/>
              <a:t>automation workflow</a:t>
            </a:r>
            <a:r>
              <a:rPr lang="en-US" sz="2000" dirty="0"/>
              <a:t>.</a:t>
            </a:r>
          </a:p>
          <a:p>
            <a:pPr algn="just"/>
            <a:r>
              <a:rPr lang="en-US" sz="2000" dirty="0"/>
              <a:t>Identify a few </a:t>
            </a:r>
            <a:r>
              <a:rPr lang="en-US" sz="2000" b="1" dirty="0"/>
              <a:t>benefits and challenges</a:t>
            </a:r>
            <a:r>
              <a:rPr lang="en-US" sz="2000" dirty="0"/>
              <a:t> of automation. </a:t>
            </a:r>
          </a:p>
          <a:p>
            <a:pPr algn="just"/>
            <a:r>
              <a:rPr lang="en-US" sz="2000" dirty="0"/>
              <a:t>Recognize the main purpose of </a:t>
            </a:r>
            <a:r>
              <a:rPr lang="en-US" sz="2000" b="1" dirty="0" err="1"/>
              <a:t>Katalon</a:t>
            </a:r>
            <a:r>
              <a:rPr lang="en-US" sz="2000" b="1" dirty="0"/>
              <a:t> Recorder</a:t>
            </a:r>
            <a:r>
              <a:rPr lang="en-US" sz="2000" dirty="0"/>
              <a:t>. </a:t>
            </a:r>
          </a:p>
          <a:p>
            <a:pPr algn="just"/>
            <a:r>
              <a:rPr lang="en-US" sz="2000" dirty="0"/>
              <a:t>Create and execute a </a:t>
            </a:r>
            <a:r>
              <a:rPr lang="en-US" sz="2000" b="1" dirty="0"/>
              <a:t>simple web test</a:t>
            </a:r>
            <a:r>
              <a:rPr lang="en-US" sz="2000" dirty="0"/>
              <a:t> using recording. </a:t>
            </a:r>
          </a:p>
          <a:p>
            <a:pPr algn="just"/>
            <a:r>
              <a:rPr lang="en-US" sz="2000" dirty="0"/>
              <a:t>Identify whether a test execution </a:t>
            </a:r>
            <a:r>
              <a:rPr lang="en-US" sz="2000" b="1" dirty="0"/>
              <a:t>passed or failed</a:t>
            </a:r>
            <a:r>
              <a:rPr lang="en-US" sz="2000" dirty="0"/>
              <a:t>.</a:t>
            </a:r>
          </a:p>
        </p:txBody>
      </p:sp>
    </p:spTree>
    <p:extLst>
      <p:ext uri="{BB962C8B-B14F-4D97-AF65-F5344CB8AC3E}">
        <p14:creationId xmlns:p14="http://schemas.microsoft.com/office/powerpoint/2010/main" val="2418341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4646E-5E98-42D9-A894-7BACDEE072FF}"/>
              </a:ext>
            </a:extLst>
          </p:cNvPr>
          <p:cNvSpPr>
            <a:spLocks noGrp="1"/>
          </p:cNvSpPr>
          <p:nvPr>
            <p:ph type="title"/>
          </p:nvPr>
        </p:nvSpPr>
        <p:spPr>
          <a:xfrm>
            <a:off x="2231136" y="253492"/>
            <a:ext cx="7729728" cy="1188720"/>
          </a:xfrm>
        </p:spPr>
        <p:txBody>
          <a:bodyPr>
            <a:normAutofit/>
          </a:bodyPr>
          <a:lstStyle/>
          <a:p>
            <a:r>
              <a:rPr lang="en-PK" b="1" dirty="0"/>
              <a:t>Introduction to Software Testing</a:t>
            </a:r>
            <a:endParaRPr lang="en-PK" dirty="0"/>
          </a:p>
        </p:txBody>
      </p:sp>
      <p:sp>
        <p:nvSpPr>
          <p:cNvPr id="3" name="Content Placeholder 2">
            <a:extLst>
              <a:ext uri="{FF2B5EF4-FFF2-40B4-BE49-F238E27FC236}">
                <a16:creationId xmlns:a16="http://schemas.microsoft.com/office/drawing/2014/main" id="{974F53A6-A716-4978-8B41-7052929C304D}"/>
              </a:ext>
            </a:extLst>
          </p:cNvPr>
          <p:cNvSpPr>
            <a:spLocks noGrp="1"/>
          </p:cNvSpPr>
          <p:nvPr>
            <p:ph idx="1"/>
          </p:nvPr>
        </p:nvSpPr>
        <p:spPr>
          <a:xfrm>
            <a:off x="2231136" y="1666240"/>
            <a:ext cx="7729728" cy="4761454"/>
          </a:xfrm>
        </p:spPr>
        <p:txBody>
          <a:bodyPr>
            <a:normAutofit/>
          </a:bodyPr>
          <a:lstStyle/>
          <a:p>
            <a:pPr lvl="0" algn="just"/>
            <a:r>
              <a:rPr lang="en-PK" sz="2000" b="1" dirty="0"/>
              <a:t>Definition:</a:t>
            </a:r>
            <a:r>
              <a:rPr lang="en-PK" sz="2000" dirty="0"/>
              <a:t> Software testing is the process of </a:t>
            </a:r>
            <a:r>
              <a:rPr lang="en-PK" sz="2000" u="sng" dirty="0"/>
              <a:t>evaluating</a:t>
            </a:r>
            <a:r>
              <a:rPr lang="en-PK" sz="2000" dirty="0"/>
              <a:t> and </a:t>
            </a:r>
            <a:r>
              <a:rPr lang="en-PK" sz="2000" u="sng" dirty="0"/>
              <a:t>verifying</a:t>
            </a:r>
            <a:r>
              <a:rPr lang="en-PK" sz="2000" dirty="0"/>
              <a:t> that a software application or system </a:t>
            </a:r>
            <a:r>
              <a:rPr lang="en-PK" sz="2000" u="sng" dirty="0"/>
              <a:t>meets the specified requirements</a:t>
            </a:r>
            <a:r>
              <a:rPr lang="en-PK" sz="2000" dirty="0"/>
              <a:t>. </a:t>
            </a:r>
            <a:r>
              <a:rPr lang="en-PK" sz="2000" dirty="0">
                <a:solidFill>
                  <a:schemeClr val="accent3"/>
                </a:solidFill>
              </a:rPr>
              <a:t>It involves executing the software </a:t>
            </a:r>
            <a:r>
              <a:rPr lang="en-PK" sz="2000" u="sng" dirty="0">
                <a:solidFill>
                  <a:schemeClr val="accent3"/>
                </a:solidFill>
              </a:rPr>
              <a:t>to find defects</a:t>
            </a:r>
            <a:r>
              <a:rPr lang="en-PK" sz="2000" dirty="0">
                <a:solidFill>
                  <a:schemeClr val="accent3"/>
                </a:solidFill>
              </a:rPr>
              <a:t>, ensuring it performs as expected</a:t>
            </a:r>
            <a:r>
              <a:rPr lang="en-PK" sz="2000" dirty="0"/>
              <a:t>.</a:t>
            </a:r>
          </a:p>
          <a:p>
            <a:pPr algn="just"/>
            <a:r>
              <a:rPr lang="en-PK" sz="2000" b="1" dirty="0"/>
              <a:t>Example:</a:t>
            </a:r>
            <a:r>
              <a:rPr lang="en-PK" sz="2000" dirty="0"/>
              <a:t> </a:t>
            </a:r>
            <a:r>
              <a:rPr lang="en-US" sz="2000" dirty="0"/>
              <a:t>Testing the checkout feature of an online shopping website to ensure customers can add products to their cart, place an order successfully, and receive appropriate messages when required information is missing or invalid.</a:t>
            </a:r>
          </a:p>
          <a:p>
            <a:pPr lvl="0" algn="just"/>
            <a:r>
              <a:rPr lang="en-PK" sz="2000" b="1" dirty="0"/>
              <a:t>Purpose:</a:t>
            </a:r>
            <a:r>
              <a:rPr lang="en-PK" sz="2000" dirty="0"/>
              <a:t> Identify bugs, ensure quality, and verify that the software is functioning as intended.</a:t>
            </a:r>
            <a:endParaRPr lang="en-PK" dirty="0"/>
          </a:p>
          <a:p>
            <a:pPr lvl="0" algn="just"/>
            <a:r>
              <a:rPr lang="en-PK" sz="2000" b="1" dirty="0"/>
              <a:t>Types of Testing:</a:t>
            </a:r>
            <a:endParaRPr lang="en-PK" dirty="0"/>
          </a:p>
          <a:p>
            <a:pPr lvl="1" algn="just"/>
            <a:r>
              <a:rPr lang="en-PK" sz="1800" b="1" dirty="0"/>
              <a:t>Manual Testing</a:t>
            </a:r>
            <a:endParaRPr lang="en-PK" dirty="0"/>
          </a:p>
          <a:p>
            <a:pPr lvl="1" algn="just"/>
            <a:r>
              <a:rPr lang="en-PK" sz="1800" b="1" dirty="0"/>
              <a:t>Automation Testing</a:t>
            </a:r>
            <a:endParaRPr lang="en-PK" dirty="0"/>
          </a:p>
          <a:p>
            <a:pPr algn="just"/>
            <a:endParaRPr lang="en-PK" sz="2000" dirty="0"/>
          </a:p>
        </p:txBody>
      </p:sp>
    </p:spTree>
    <p:extLst>
      <p:ext uri="{BB962C8B-B14F-4D97-AF65-F5344CB8AC3E}">
        <p14:creationId xmlns:p14="http://schemas.microsoft.com/office/powerpoint/2010/main" val="3522591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4F5A4-C4CB-4079-965C-954E849EFB80}"/>
              </a:ext>
            </a:extLst>
          </p:cNvPr>
          <p:cNvSpPr>
            <a:spLocks noGrp="1"/>
          </p:cNvSpPr>
          <p:nvPr>
            <p:ph type="title"/>
          </p:nvPr>
        </p:nvSpPr>
        <p:spPr>
          <a:xfrm>
            <a:off x="2231136" y="446532"/>
            <a:ext cx="7729728" cy="1188720"/>
          </a:xfrm>
        </p:spPr>
        <p:txBody>
          <a:bodyPr/>
          <a:lstStyle/>
          <a:p>
            <a:r>
              <a:rPr lang="en-PK" b="1" dirty="0"/>
              <a:t>What is Manual Testing?</a:t>
            </a:r>
            <a:endParaRPr lang="en-PK" dirty="0"/>
          </a:p>
        </p:txBody>
      </p:sp>
      <p:sp>
        <p:nvSpPr>
          <p:cNvPr id="3" name="Content Placeholder 2">
            <a:extLst>
              <a:ext uri="{FF2B5EF4-FFF2-40B4-BE49-F238E27FC236}">
                <a16:creationId xmlns:a16="http://schemas.microsoft.com/office/drawing/2014/main" id="{DD6076CD-D96E-43E2-85DC-0E7633629410}"/>
              </a:ext>
            </a:extLst>
          </p:cNvPr>
          <p:cNvSpPr>
            <a:spLocks noGrp="1"/>
          </p:cNvSpPr>
          <p:nvPr>
            <p:ph idx="1"/>
          </p:nvPr>
        </p:nvSpPr>
        <p:spPr>
          <a:xfrm>
            <a:off x="2231136" y="1879600"/>
            <a:ext cx="7729728" cy="3860427"/>
          </a:xfrm>
        </p:spPr>
        <p:txBody>
          <a:bodyPr>
            <a:normAutofit/>
          </a:bodyPr>
          <a:lstStyle/>
          <a:p>
            <a:pPr lvl="0" algn="just"/>
            <a:r>
              <a:rPr lang="en-PK" sz="2000" b="1" dirty="0"/>
              <a:t>Definition:</a:t>
            </a:r>
            <a:r>
              <a:rPr lang="en-PK" sz="2000" dirty="0"/>
              <a:t> Manual testing is the process of manually executing test cases </a:t>
            </a:r>
            <a:r>
              <a:rPr lang="en-PK" sz="2000" dirty="0">
                <a:solidFill>
                  <a:srgbClr val="FF0000"/>
                </a:solidFill>
              </a:rPr>
              <a:t>without</a:t>
            </a:r>
            <a:r>
              <a:rPr lang="en-PK" sz="2000" dirty="0"/>
              <a:t> the use of automation tools. Testers follow predefined test cases and use the software like an end-user to identify bugs.</a:t>
            </a:r>
            <a:endParaRPr lang="en-PK" dirty="0"/>
          </a:p>
          <a:p>
            <a:pPr lvl="0" algn="just"/>
            <a:r>
              <a:rPr lang="en-PK" sz="2000" b="1" dirty="0"/>
              <a:t>Example:</a:t>
            </a:r>
            <a:endParaRPr lang="en-PK" dirty="0"/>
          </a:p>
          <a:p>
            <a:pPr lvl="1" algn="just"/>
            <a:r>
              <a:rPr lang="en-US" sz="1800" b="1" dirty="0"/>
              <a:t>Gmail Compose Email:</a:t>
            </a:r>
            <a:r>
              <a:rPr lang="en-US" sz="1800" dirty="0"/>
              <a:t> Composing an email, entering a recipient, adding a subject and message, and clicking </a:t>
            </a:r>
            <a:r>
              <a:rPr lang="en-US" sz="1800" b="1" dirty="0"/>
              <a:t>Send</a:t>
            </a:r>
            <a:r>
              <a:rPr lang="en-US" sz="1800" dirty="0"/>
              <a:t> to verify that the email is sent successfully and appears in the </a:t>
            </a:r>
            <a:r>
              <a:rPr lang="en-US" sz="1800" b="1" dirty="0"/>
              <a:t>Sent</a:t>
            </a:r>
            <a:r>
              <a:rPr lang="en-US" sz="1800" dirty="0"/>
              <a:t> folder.</a:t>
            </a:r>
            <a:endParaRPr lang="en-PK" dirty="0"/>
          </a:p>
          <a:p>
            <a:pPr lvl="1" algn="just"/>
            <a:r>
              <a:rPr lang="en-PK" sz="1800" b="1" dirty="0"/>
              <a:t>Testing a Form on a Website:</a:t>
            </a:r>
            <a:r>
              <a:rPr lang="en-PK" sz="1800" dirty="0"/>
              <a:t> A tester manually fills out and submits a form on an e-commerce site like Amazon to ensure the data is processed correctly.</a:t>
            </a:r>
            <a:endParaRPr lang="en-PK" dirty="0"/>
          </a:p>
          <a:p>
            <a:pPr algn="just"/>
            <a:endParaRPr lang="en-PK" sz="2000" dirty="0"/>
          </a:p>
        </p:txBody>
      </p:sp>
    </p:spTree>
    <p:extLst>
      <p:ext uri="{BB962C8B-B14F-4D97-AF65-F5344CB8AC3E}">
        <p14:creationId xmlns:p14="http://schemas.microsoft.com/office/powerpoint/2010/main" val="1583317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EC7B5-DD0F-4590-9948-C191A85119AA}"/>
              </a:ext>
            </a:extLst>
          </p:cNvPr>
          <p:cNvSpPr>
            <a:spLocks noGrp="1"/>
          </p:cNvSpPr>
          <p:nvPr>
            <p:ph type="title"/>
          </p:nvPr>
        </p:nvSpPr>
        <p:spPr>
          <a:xfrm>
            <a:off x="2231136" y="295836"/>
            <a:ext cx="7729728" cy="1188720"/>
          </a:xfrm>
        </p:spPr>
        <p:txBody>
          <a:bodyPr/>
          <a:lstStyle/>
          <a:p>
            <a:r>
              <a:rPr lang="en-PK" b="1" dirty="0"/>
              <a:t>What is Automation Testing?</a:t>
            </a:r>
            <a:endParaRPr lang="en-PK" dirty="0"/>
          </a:p>
        </p:txBody>
      </p:sp>
      <p:sp>
        <p:nvSpPr>
          <p:cNvPr id="3" name="Content Placeholder 2">
            <a:extLst>
              <a:ext uri="{FF2B5EF4-FFF2-40B4-BE49-F238E27FC236}">
                <a16:creationId xmlns:a16="http://schemas.microsoft.com/office/drawing/2014/main" id="{1E1CA65D-7B0A-440C-BA84-0B5A4B0CC406}"/>
              </a:ext>
            </a:extLst>
          </p:cNvPr>
          <p:cNvSpPr>
            <a:spLocks noGrp="1"/>
          </p:cNvSpPr>
          <p:nvPr>
            <p:ph idx="1"/>
          </p:nvPr>
        </p:nvSpPr>
        <p:spPr>
          <a:xfrm>
            <a:off x="2231136" y="1828801"/>
            <a:ext cx="7729728" cy="4733364"/>
          </a:xfrm>
        </p:spPr>
        <p:txBody>
          <a:bodyPr>
            <a:normAutofit fontScale="92500" lnSpcReduction="10000"/>
          </a:bodyPr>
          <a:lstStyle/>
          <a:p>
            <a:pPr lvl="0" algn="just">
              <a:lnSpc>
                <a:spcPct val="110000"/>
              </a:lnSpc>
            </a:pPr>
            <a:r>
              <a:rPr lang="en-PK" sz="2000" b="1" dirty="0"/>
              <a:t>Definition:</a:t>
            </a:r>
            <a:r>
              <a:rPr lang="en-PK" sz="2000" dirty="0"/>
              <a:t> </a:t>
            </a:r>
            <a:r>
              <a:rPr lang="en-US" sz="2000" dirty="0"/>
              <a:t>Automation testing is the use of software tools and scripts to automatically execute test cases, compare actual results with expected results, and report test outcomes. Tools such as </a:t>
            </a:r>
            <a:r>
              <a:rPr lang="en-US" sz="2000" b="1" dirty="0"/>
              <a:t>Selenium, Cypress, and </a:t>
            </a:r>
            <a:r>
              <a:rPr lang="en-US" sz="2000" b="1" dirty="0" err="1"/>
              <a:t>Katalon</a:t>
            </a:r>
            <a:r>
              <a:rPr lang="en-US" sz="2000" b="1" dirty="0"/>
              <a:t> Studio</a:t>
            </a:r>
            <a:r>
              <a:rPr lang="en-US" sz="2000" dirty="0"/>
              <a:t> can automate repetitive, time-consuming, and regression testing activities.</a:t>
            </a:r>
            <a:endParaRPr lang="en-PK" dirty="0"/>
          </a:p>
          <a:p>
            <a:pPr lvl="0" algn="just">
              <a:lnSpc>
                <a:spcPct val="110000"/>
              </a:lnSpc>
            </a:pPr>
            <a:r>
              <a:rPr lang="en-PK" sz="2000" b="1" dirty="0"/>
              <a:t>Example:</a:t>
            </a:r>
            <a:endParaRPr lang="en-PK" dirty="0"/>
          </a:p>
          <a:p>
            <a:pPr lvl="1" algn="just">
              <a:lnSpc>
                <a:spcPct val="110000"/>
              </a:lnSpc>
            </a:pPr>
            <a:r>
              <a:rPr lang="en-US" sz="1800" b="1" dirty="0" err="1"/>
              <a:t>Daraz</a:t>
            </a:r>
            <a:r>
              <a:rPr lang="en-US" sz="1800" b="1" dirty="0"/>
              <a:t> Product Search: </a:t>
            </a:r>
            <a:r>
              <a:rPr lang="en-US" sz="1800" dirty="0"/>
              <a:t>Automatically searching for a product, applying price and category filters, and verifying that the displayed products match the selected criteria.</a:t>
            </a:r>
          </a:p>
          <a:p>
            <a:pPr lvl="1" algn="just">
              <a:lnSpc>
                <a:spcPct val="110000"/>
              </a:lnSpc>
            </a:pPr>
            <a:r>
              <a:rPr lang="en-US" sz="1800" b="1" dirty="0" err="1"/>
              <a:t>Foodpanda</a:t>
            </a:r>
            <a:r>
              <a:rPr lang="en-US" sz="1800" b="1" dirty="0"/>
              <a:t> Order: </a:t>
            </a:r>
            <a:r>
              <a:rPr lang="en-US" sz="1800" dirty="0"/>
              <a:t>Automatically selecting a restaurant, adding food items to the cart, changing quantities, and verifying that the order total is calculated correctly.</a:t>
            </a:r>
          </a:p>
          <a:p>
            <a:pPr lvl="1" algn="just">
              <a:lnSpc>
                <a:spcPct val="110000"/>
              </a:lnSpc>
            </a:pPr>
            <a:r>
              <a:rPr lang="en-US" sz="1800" b="1" dirty="0" err="1"/>
              <a:t>Yango</a:t>
            </a:r>
            <a:r>
              <a:rPr lang="en-US" sz="1800" b="1" dirty="0"/>
              <a:t> Ride Booking: </a:t>
            </a:r>
            <a:r>
              <a:rPr lang="en-US" sz="1800" dirty="0"/>
              <a:t>Automatically entering pickup and destination locations and verifying that available ride options and estimated fares are displayed correctly.</a:t>
            </a:r>
            <a:endParaRPr lang="en-PK" sz="1800" dirty="0"/>
          </a:p>
        </p:txBody>
      </p:sp>
    </p:spTree>
    <p:extLst>
      <p:ext uri="{BB962C8B-B14F-4D97-AF65-F5344CB8AC3E}">
        <p14:creationId xmlns:p14="http://schemas.microsoft.com/office/powerpoint/2010/main" val="2679408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EC7B5-DD0F-4590-9948-C191A85119AA}"/>
              </a:ext>
            </a:extLst>
          </p:cNvPr>
          <p:cNvSpPr>
            <a:spLocks noGrp="1"/>
          </p:cNvSpPr>
          <p:nvPr>
            <p:ph type="title"/>
          </p:nvPr>
        </p:nvSpPr>
        <p:spPr>
          <a:xfrm>
            <a:off x="2231136" y="295836"/>
            <a:ext cx="7729728" cy="1188720"/>
          </a:xfrm>
        </p:spPr>
        <p:txBody>
          <a:bodyPr/>
          <a:lstStyle/>
          <a:p>
            <a:r>
              <a:rPr lang="en-US" b="1" dirty="0"/>
              <a:t>Automation testing workflow</a:t>
            </a:r>
            <a:endParaRPr lang="en-PK" dirty="0"/>
          </a:p>
        </p:txBody>
      </p:sp>
      <p:sp>
        <p:nvSpPr>
          <p:cNvPr id="5" name="Content Placeholder 4">
            <a:extLst>
              <a:ext uri="{FF2B5EF4-FFF2-40B4-BE49-F238E27FC236}">
                <a16:creationId xmlns:a16="http://schemas.microsoft.com/office/drawing/2014/main" id="{1E01F1B7-8B08-49DF-A476-EB7300FA8E59}"/>
              </a:ext>
            </a:extLst>
          </p:cNvPr>
          <p:cNvSpPr>
            <a:spLocks noGrp="1"/>
          </p:cNvSpPr>
          <p:nvPr>
            <p:ph idx="1"/>
          </p:nvPr>
        </p:nvSpPr>
        <p:spPr/>
        <p:txBody>
          <a:bodyPr/>
          <a:lstStyle/>
          <a:p>
            <a:endParaRPr lang="en-PK"/>
          </a:p>
        </p:txBody>
      </p:sp>
      <p:pic>
        <p:nvPicPr>
          <p:cNvPr id="7" name="Picture 6">
            <a:extLst>
              <a:ext uri="{FF2B5EF4-FFF2-40B4-BE49-F238E27FC236}">
                <a16:creationId xmlns:a16="http://schemas.microsoft.com/office/drawing/2014/main" id="{89300D99-4D53-4058-B420-D5BBF530E614}"/>
              </a:ext>
            </a:extLst>
          </p:cNvPr>
          <p:cNvPicPr>
            <a:picLocks noChangeAspect="1"/>
          </p:cNvPicPr>
          <p:nvPr/>
        </p:nvPicPr>
        <p:blipFill rotWithShape="1">
          <a:blip r:embed="rId2"/>
          <a:srcRect t="3673" b="5809"/>
          <a:stretch/>
        </p:blipFill>
        <p:spPr>
          <a:xfrm>
            <a:off x="1971040" y="1686559"/>
            <a:ext cx="8249920" cy="4978401"/>
          </a:xfrm>
          <a:prstGeom prst="rect">
            <a:avLst/>
          </a:prstGeom>
        </p:spPr>
      </p:pic>
    </p:spTree>
    <p:extLst>
      <p:ext uri="{BB962C8B-B14F-4D97-AF65-F5344CB8AC3E}">
        <p14:creationId xmlns:p14="http://schemas.microsoft.com/office/powerpoint/2010/main" val="432831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4AF7A-B169-4B12-9613-9C0817381977}"/>
              </a:ext>
            </a:extLst>
          </p:cNvPr>
          <p:cNvSpPr>
            <a:spLocks noGrp="1"/>
          </p:cNvSpPr>
          <p:nvPr>
            <p:ph type="title"/>
          </p:nvPr>
        </p:nvSpPr>
        <p:spPr>
          <a:xfrm>
            <a:off x="2231136" y="314452"/>
            <a:ext cx="7729728" cy="1188720"/>
          </a:xfrm>
        </p:spPr>
        <p:txBody>
          <a:bodyPr/>
          <a:lstStyle/>
          <a:p>
            <a:r>
              <a:rPr lang="en-PK" b="1" dirty="0"/>
              <a:t>Manual vs. Automation Testing</a:t>
            </a:r>
            <a:endParaRPr lang="en-PK" dirty="0"/>
          </a:p>
        </p:txBody>
      </p:sp>
      <p:graphicFrame>
        <p:nvGraphicFramePr>
          <p:cNvPr id="6" name="Content Placeholder 5">
            <a:extLst>
              <a:ext uri="{FF2B5EF4-FFF2-40B4-BE49-F238E27FC236}">
                <a16:creationId xmlns:a16="http://schemas.microsoft.com/office/drawing/2014/main" id="{F7BF91A0-D843-4A23-A69A-6EA3100BE13A}"/>
              </a:ext>
            </a:extLst>
          </p:cNvPr>
          <p:cNvGraphicFramePr>
            <a:graphicFrameLocks noGrp="1"/>
          </p:cNvGraphicFramePr>
          <p:nvPr>
            <p:ph idx="1"/>
            <p:extLst>
              <p:ext uri="{D42A27DB-BD31-4B8C-83A1-F6EECF244321}">
                <p14:modId xmlns:p14="http://schemas.microsoft.com/office/powerpoint/2010/main" val="562083774"/>
              </p:ext>
            </p:extLst>
          </p:nvPr>
        </p:nvGraphicFramePr>
        <p:xfrm>
          <a:off x="2231136" y="1583102"/>
          <a:ext cx="7729728" cy="5075462"/>
        </p:xfrm>
        <a:graphic>
          <a:graphicData uri="http://schemas.openxmlformats.org/drawingml/2006/table">
            <a:tbl>
              <a:tblPr>
                <a:tableStyleId>{8A107856-5554-42FB-B03E-39F5DBC370BA}</a:tableStyleId>
              </a:tblPr>
              <a:tblGrid>
                <a:gridCol w="1274064">
                  <a:extLst>
                    <a:ext uri="{9D8B030D-6E8A-4147-A177-3AD203B41FA5}">
                      <a16:colId xmlns:a16="http://schemas.microsoft.com/office/drawing/2014/main" val="1778195025"/>
                    </a:ext>
                  </a:extLst>
                </a:gridCol>
                <a:gridCol w="2854960">
                  <a:extLst>
                    <a:ext uri="{9D8B030D-6E8A-4147-A177-3AD203B41FA5}">
                      <a16:colId xmlns:a16="http://schemas.microsoft.com/office/drawing/2014/main" val="2584162949"/>
                    </a:ext>
                  </a:extLst>
                </a:gridCol>
                <a:gridCol w="3600704">
                  <a:extLst>
                    <a:ext uri="{9D8B030D-6E8A-4147-A177-3AD203B41FA5}">
                      <a16:colId xmlns:a16="http://schemas.microsoft.com/office/drawing/2014/main" val="1335738705"/>
                    </a:ext>
                  </a:extLst>
                </a:gridCol>
              </a:tblGrid>
              <a:tr h="157062">
                <a:tc>
                  <a:txBody>
                    <a:bodyPr/>
                    <a:lstStyle/>
                    <a:p>
                      <a:pPr algn="ctr"/>
                      <a:r>
                        <a:rPr lang="en-US" sz="1500" b="1"/>
                        <a:t>Aspect</a:t>
                      </a:r>
                    </a:p>
                  </a:txBody>
                  <a:tcPr marL="39266" marR="39266" marT="19633" marB="19633" anchor="ctr"/>
                </a:tc>
                <a:tc>
                  <a:txBody>
                    <a:bodyPr/>
                    <a:lstStyle/>
                    <a:p>
                      <a:pPr algn="ctr"/>
                      <a:r>
                        <a:rPr lang="en-US" sz="1500" b="1"/>
                        <a:t>Manual Testing</a:t>
                      </a:r>
                    </a:p>
                  </a:txBody>
                  <a:tcPr marL="39266" marR="39266" marT="19633" marB="19633" anchor="ctr"/>
                </a:tc>
                <a:tc>
                  <a:txBody>
                    <a:bodyPr/>
                    <a:lstStyle/>
                    <a:p>
                      <a:pPr algn="ctr"/>
                      <a:r>
                        <a:rPr lang="en-US" sz="1500" b="1" dirty="0"/>
                        <a:t>Automation Testing</a:t>
                      </a:r>
                    </a:p>
                  </a:txBody>
                  <a:tcPr marL="39266" marR="39266" marT="19633" marB="19633" anchor="ctr"/>
                </a:tc>
                <a:extLst>
                  <a:ext uri="{0D108BD9-81ED-4DB2-BD59-A6C34878D82A}">
                    <a16:rowId xmlns:a16="http://schemas.microsoft.com/office/drawing/2014/main" val="3686660055"/>
                  </a:ext>
                </a:extLst>
              </a:tr>
              <a:tr h="510452">
                <a:tc>
                  <a:txBody>
                    <a:bodyPr/>
                    <a:lstStyle/>
                    <a:p>
                      <a:pPr algn="ctr"/>
                      <a:r>
                        <a:rPr lang="en-US" sz="1500" b="1" dirty="0"/>
                        <a:t>Execution</a:t>
                      </a:r>
                    </a:p>
                  </a:txBody>
                  <a:tcPr marL="39266" marR="39266" marT="19633" marB="19633" anchor="ctr"/>
                </a:tc>
                <a:tc>
                  <a:txBody>
                    <a:bodyPr/>
                    <a:lstStyle/>
                    <a:p>
                      <a:pPr algn="just"/>
                      <a:r>
                        <a:rPr lang="en-US" sz="1500" dirty="0"/>
                        <a:t>Tester performs steps manually. </a:t>
                      </a:r>
                      <a:r>
                        <a:rPr lang="en-US" sz="1500" b="1" dirty="0">
                          <a:solidFill>
                            <a:schemeClr val="tx1"/>
                          </a:solidFill>
                        </a:rPr>
                        <a:t>Example:</a:t>
                      </a:r>
                      <a:r>
                        <a:rPr lang="en-US" sz="1500" dirty="0"/>
                        <a:t> Checking a </a:t>
                      </a:r>
                      <a:r>
                        <a:rPr lang="en-US" sz="1500" dirty="0" err="1"/>
                        <a:t>Daraz</a:t>
                      </a:r>
                      <a:r>
                        <a:rPr lang="en-US" sz="1500" dirty="0"/>
                        <a:t> search manually.</a:t>
                      </a:r>
                    </a:p>
                  </a:txBody>
                  <a:tcPr marL="39266" marR="39266" marT="19633" marB="19633" anchor="ctr"/>
                </a:tc>
                <a:tc>
                  <a:txBody>
                    <a:bodyPr/>
                    <a:lstStyle/>
                    <a:p>
                      <a:pPr algn="just"/>
                      <a:r>
                        <a:rPr lang="en-US" sz="1500" dirty="0"/>
                        <a:t>Scripts perform the steps automatically. </a:t>
                      </a:r>
                      <a:r>
                        <a:rPr lang="en-US" sz="1500" b="1" dirty="0"/>
                        <a:t>Example: </a:t>
                      </a:r>
                      <a:r>
                        <a:rPr lang="en-US" sz="1500" dirty="0"/>
                        <a:t>Repeating the same </a:t>
                      </a:r>
                      <a:r>
                        <a:rPr lang="en-US" sz="1500" dirty="0" err="1"/>
                        <a:t>Daraz</a:t>
                      </a:r>
                      <a:r>
                        <a:rPr lang="en-US" sz="1500" dirty="0"/>
                        <a:t> search automatically.</a:t>
                      </a:r>
                    </a:p>
                  </a:txBody>
                  <a:tcPr marL="39266" marR="39266" marT="19633" marB="19633" anchor="ctr"/>
                </a:tc>
                <a:extLst>
                  <a:ext uri="{0D108BD9-81ED-4DB2-BD59-A6C34878D82A}">
                    <a16:rowId xmlns:a16="http://schemas.microsoft.com/office/drawing/2014/main" val="2326442375"/>
                  </a:ext>
                </a:extLst>
              </a:tr>
              <a:tr h="392655">
                <a:tc>
                  <a:txBody>
                    <a:bodyPr/>
                    <a:lstStyle/>
                    <a:p>
                      <a:pPr algn="ctr"/>
                      <a:r>
                        <a:rPr lang="en-US" sz="1500" b="1" dirty="0"/>
                        <a:t>Time</a:t>
                      </a:r>
                    </a:p>
                  </a:txBody>
                  <a:tcPr marL="39266" marR="39266" marT="19633" marB="19633" anchor="ctr"/>
                </a:tc>
                <a:tc>
                  <a:txBody>
                    <a:bodyPr/>
                    <a:lstStyle/>
                    <a:p>
                      <a:pPr algn="just"/>
                      <a:r>
                        <a:rPr lang="en-US" sz="1500" dirty="0"/>
                        <a:t>Slower for repeated tests. </a:t>
                      </a:r>
                      <a:r>
                        <a:rPr lang="en-US" sz="1500" b="1" dirty="0"/>
                        <a:t>Example: </a:t>
                      </a:r>
                      <a:r>
                        <a:rPr lang="en-US" sz="1500" dirty="0"/>
                        <a:t>Checking 100 products one by one.</a:t>
                      </a:r>
                    </a:p>
                  </a:txBody>
                  <a:tcPr marL="39266" marR="39266" marT="19633" marB="19633" anchor="ctr"/>
                </a:tc>
                <a:tc>
                  <a:txBody>
                    <a:bodyPr/>
                    <a:lstStyle/>
                    <a:p>
                      <a:pPr algn="just"/>
                      <a:r>
                        <a:rPr lang="en-US" sz="1500" dirty="0"/>
                        <a:t>Faster for repeated tests. </a:t>
                      </a:r>
                    </a:p>
                    <a:p>
                      <a:pPr algn="just"/>
                      <a:r>
                        <a:rPr lang="en-US" sz="1500" b="1" dirty="0"/>
                        <a:t>Example:</a:t>
                      </a:r>
                      <a:r>
                        <a:rPr lang="en-US" sz="1500" dirty="0"/>
                        <a:t> Checking 100 products automatically.</a:t>
                      </a:r>
                    </a:p>
                  </a:txBody>
                  <a:tcPr marL="39266" marR="39266" marT="19633" marB="19633" anchor="ctr"/>
                </a:tc>
                <a:extLst>
                  <a:ext uri="{0D108BD9-81ED-4DB2-BD59-A6C34878D82A}">
                    <a16:rowId xmlns:a16="http://schemas.microsoft.com/office/drawing/2014/main" val="3349080123"/>
                  </a:ext>
                </a:extLst>
              </a:tr>
              <a:tr h="510452">
                <a:tc>
                  <a:txBody>
                    <a:bodyPr/>
                    <a:lstStyle/>
                    <a:p>
                      <a:pPr algn="ctr"/>
                      <a:r>
                        <a:rPr lang="en-US" sz="1500" b="1" dirty="0"/>
                        <a:t>Cost</a:t>
                      </a:r>
                    </a:p>
                  </a:txBody>
                  <a:tcPr marL="39266" marR="39266" marT="19633" marB="19633" anchor="ctr"/>
                </a:tc>
                <a:tc>
                  <a:txBody>
                    <a:bodyPr/>
                    <a:lstStyle/>
                    <a:p>
                      <a:pPr algn="just"/>
                      <a:r>
                        <a:rPr lang="en-US" sz="1500" dirty="0"/>
                        <a:t>Lower initial cost.</a:t>
                      </a:r>
                    </a:p>
                    <a:p>
                      <a:pPr algn="just"/>
                      <a:r>
                        <a:rPr lang="en-US" sz="1500" b="1" dirty="0"/>
                        <a:t>Example: </a:t>
                      </a:r>
                      <a:r>
                        <a:rPr lang="en-US" sz="1500" dirty="0"/>
                        <a:t>No automation setup required.</a:t>
                      </a:r>
                    </a:p>
                  </a:txBody>
                  <a:tcPr marL="39266" marR="39266" marT="19633" marB="19633" anchor="ctr"/>
                </a:tc>
                <a:tc>
                  <a:txBody>
                    <a:bodyPr/>
                    <a:lstStyle/>
                    <a:p>
                      <a:pPr algn="just"/>
                      <a:r>
                        <a:rPr lang="en-US" sz="1500" dirty="0"/>
                        <a:t>Higher initial cost. </a:t>
                      </a:r>
                    </a:p>
                    <a:p>
                      <a:pPr algn="just"/>
                      <a:r>
                        <a:rPr lang="en-US" sz="1500" b="1" dirty="0"/>
                        <a:t>Example:</a:t>
                      </a:r>
                      <a:r>
                        <a:rPr lang="en-US" sz="1500" dirty="0"/>
                        <a:t> Time and resources needed to create scripts.</a:t>
                      </a:r>
                    </a:p>
                  </a:txBody>
                  <a:tcPr marL="39266" marR="39266" marT="19633" marB="19633" anchor="ctr"/>
                </a:tc>
                <a:extLst>
                  <a:ext uri="{0D108BD9-81ED-4DB2-BD59-A6C34878D82A}">
                    <a16:rowId xmlns:a16="http://schemas.microsoft.com/office/drawing/2014/main" val="797943641"/>
                  </a:ext>
                </a:extLst>
              </a:tr>
              <a:tr h="510452">
                <a:tc>
                  <a:txBody>
                    <a:bodyPr/>
                    <a:lstStyle/>
                    <a:p>
                      <a:pPr algn="ctr"/>
                      <a:r>
                        <a:rPr lang="en-US" sz="1500" b="1" dirty="0"/>
                        <a:t>Flexibility</a:t>
                      </a:r>
                    </a:p>
                  </a:txBody>
                  <a:tcPr marL="39266" marR="39266" marT="19633" marB="19633" anchor="ctr"/>
                </a:tc>
                <a:tc>
                  <a:txBody>
                    <a:bodyPr/>
                    <a:lstStyle/>
                    <a:p>
                      <a:pPr algn="just"/>
                      <a:r>
                        <a:rPr lang="en-US" sz="1500" dirty="0"/>
                        <a:t>Easy to change and explore. </a:t>
                      </a:r>
                      <a:r>
                        <a:rPr lang="en-US" sz="1500" b="1" dirty="0"/>
                        <a:t>Example: </a:t>
                      </a:r>
                      <a:r>
                        <a:rPr lang="en-US" sz="1500" dirty="0"/>
                        <a:t>Testing a newly added </a:t>
                      </a:r>
                      <a:r>
                        <a:rPr lang="en-US" sz="1500" dirty="0" err="1"/>
                        <a:t>Foodpanda</a:t>
                      </a:r>
                      <a:r>
                        <a:rPr lang="en-US" sz="1500" dirty="0"/>
                        <a:t> feature.</a:t>
                      </a:r>
                    </a:p>
                  </a:txBody>
                  <a:tcPr marL="39266" marR="39266" marT="19633" marB="19633" anchor="ctr"/>
                </a:tc>
                <a:tc>
                  <a:txBody>
                    <a:bodyPr/>
                    <a:lstStyle/>
                    <a:p>
                      <a:pPr algn="just"/>
                      <a:r>
                        <a:rPr lang="en-US" sz="1500" dirty="0"/>
                        <a:t>Changes may require script updates. </a:t>
                      </a:r>
                      <a:r>
                        <a:rPr lang="en-US" sz="1500" b="1" dirty="0"/>
                        <a:t>Example: </a:t>
                      </a:r>
                      <a:r>
                        <a:rPr lang="en-US" sz="1500" dirty="0"/>
                        <a:t>Updating a script after a checkout redesign.</a:t>
                      </a:r>
                    </a:p>
                  </a:txBody>
                  <a:tcPr marL="39266" marR="39266" marT="19633" marB="19633" anchor="ctr"/>
                </a:tc>
                <a:extLst>
                  <a:ext uri="{0D108BD9-81ED-4DB2-BD59-A6C34878D82A}">
                    <a16:rowId xmlns:a16="http://schemas.microsoft.com/office/drawing/2014/main" val="333814183"/>
                  </a:ext>
                </a:extLst>
              </a:tr>
              <a:tr h="510452">
                <a:tc>
                  <a:txBody>
                    <a:bodyPr/>
                    <a:lstStyle/>
                    <a:p>
                      <a:pPr algn="ctr"/>
                      <a:r>
                        <a:rPr lang="en-US" sz="1500" b="1" dirty="0"/>
                        <a:t>Human Error</a:t>
                      </a:r>
                    </a:p>
                  </a:txBody>
                  <a:tcPr marL="39266" marR="39266" marT="19633" marB="19633" anchor="ctr"/>
                </a:tc>
                <a:tc>
                  <a:txBody>
                    <a:bodyPr/>
                    <a:lstStyle/>
                    <a:p>
                      <a:pPr algn="just"/>
                      <a:r>
                        <a:rPr lang="en-US" sz="1500" dirty="0"/>
                        <a:t>More likely during repetitive tasks. </a:t>
                      </a:r>
                    </a:p>
                    <a:p>
                      <a:pPr algn="just"/>
                      <a:r>
                        <a:rPr lang="en-US" sz="1500" b="1" dirty="0"/>
                        <a:t>Example:</a:t>
                      </a:r>
                      <a:r>
                        <a:rPr lang="en-US" sz="1500" dirty="0"/>
                        <a:t> Missing a field while checking many forms.</a:t>
                      </a:r>
                    </a:p>
                  </a:txBody>
                  <a:tcPr marL="39266" marR="39266" marT="19633" marB="19633" anchor="ctr"/>
                </a:tc>
                <a:tc>
                  <a:txBody>
                    <a:bodyPr/>
                    <a:lstStyle/>
                    <a:p>
                      <a:pPr algn="just"/>
                      <a:r>
                        <a:rPr lang="en-US" sz="1500" dirty="0"/>
                        <a:t>Fewer repetitive mistakes.</a:t>
                      </a:r>
                    </a:p>
                    <a:p>
                      <a:pPr algn="just"/>
                      <a:r>
                        <a:rPr lang="en-US" sz="1500" b="1" dirty="0"/>
                        <a:t>Example:</a:t>
                      </a:r>
                      <a:r>
                        <a:rPr lang="en-US" sz="1500" dirty="0"/>
                        <a:t> Checking the same form fields consistently.</a:t>
                      </a:r>
                    </a:p>
                  </a:txBody>
                  <a:tcPr marL="39266" marR="39266" marT="19633" marB="19633" anchor="ctr"/>
                </a:tc>
                <a:extLst>
                  <a:ext uri="{0D108BD9-81ED-4DB2-BD59-A6C34878D82A}">
                    <a16:rowId xmlns:a16="http://schemas.microsoft.com/office/drawing/2014/main" val="3840935546"/>
                  </a:ext>
                </a:extLst>
              </a:tr>
              <a:tr h="510452">
                <a:tc>
                  <a:txBody>
                    <a:bodyPr/>
                    <a:lstStyle/>
                    <a:p>
                      <a:pPr algn="ctr"/>
                      <a:r>
                        <a:rPr lang="en-US" sz="1500" b="1" dirty="0"/>
                        <a:t>Reusability</a:t>
                      </a:r>
                    </a:p>
                  </a:txBody>
                  <a:tcPr marL="39266" marR="39266" marT="19633" marB="19633" anchor="ctr"/>
                </a:tc>
                <a:tc>
                  <a:txBody>
                    <a:bodyPr/>
                    <a:lstStyle/>
                    <a:p>
                      <a:pPr algn="just"/>
                      <a:r>
                        <a:rPr lang="en-US" sz="1500" dirty="0"/>
                        <a:t>Tests are repeated manually for each release.</a:t>
                      </a:r>
                    </a:p>
                    <a:p>
                      <a:pPr algn="just"/>
                      <a:r>
                        <a:rPr lang="en-US" sz="1500" b="1" dirty="0"/>
                        <a:t>Example:</a:t>
                      </a:r>
                      <a:r>
                        <a:rPr lang="en-US" sz="1500" dirty="0"/>
                        <a:t> Rechecking the checkout process after every update.</a:t>
                      </a:r>
                    </a:p>
                  </a:txBody>
                  <a:tcPr marL="39266" marR="39266" marT="19633" marB="19633" anchor="ctr"/>
                </a:tc>
                <a:tc>
                  <a:txBody>
                    <a:bodyPr/>
                    <a:lstStyle/>
                    <a:p>
                      <a:pPr algn="just"/>
                      <a:r>
                        <a:rPr lang="en-US" sz="1500" dirty="0"/>
                        <a:t>Scripts can be reused for every release. </a:t>
                      </a:r>
                      <a:r>
                        <a:rPr lang="en-US" sz="1500" b="1" dirty="0"/>
                        <a:t>Example: </a:t>
                      </a:r>
                      <a:r>
                        <a:rPr lang="en-US" sz="1500" dirty="0"/>
                        <a:t>Running checkout tests scripts after each update.</a:t>
                      </a:r>
                    </a:p>
                  </a:txBody>
                  <a:tcPr marL="39266" marR="39266" marT="19633" marB="19633" anchor="ctr"/>
                </a:tc>
                <a:extLst>
                  <a:ext uri="{0D108BD9-81ED-4DB2-BD59-A6C34878D82A}">
                    <a16:rowId xmlns:a16="http://schemas.microsoft.com/office/drawing/2014/main" val="239834479"/>
                  </a:ext>
                </a:extLst>
              </a:tr>
            </a:tbl>
          </a:graphicData>
        </a:graphic>
      </p:graphicFrame>
    </p:spTree>
    <p:extLst>
      <p:ext uri="{BB962C8B-B14F-4D97-AF65-F5344CB8AC3E}">
        <p14:creationId xmlns:p14="http://schemas.microsoft.com/office/powerpoint/2010/main" val="3134507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26AA3-485D-4C64-B590-D51BEA496170}"/>
              </a:ext>
            </a:extLst>
          </p:cNvPr>
          <p:cNvSpPr>
            <a:spLocks noGrp="1"/>
          </p:cNvSpPr>
          <p:nvPr>
            <p:ph type="title"/>
          </p:nvPr>
        </p:nvSpPr>
        <p:spPr>
          <a:xfrm>
            <a:off x="2238248" y="314452"/>
            <a:ext cx="7729728" cy="1188720"/>
          </a:xfrm>
        </p:spPr>
        <p:txBody>
          <a:bodyPr/>
          <a:lstStyle/>
          <a:p>
            <a:r>
              <a:rPr lang="en-US" b="1" dirty="0"/>
              <a:t>Benefits of Automated Testing</a:t>
            </a:r>
            <a:endParaRPr lang="en-PK" b="1" dirty="0"/>
          </a:p>
        </p:txBody>
      </p:sp>
      <p:sp>
        <p:nvSpPr>
          <p:cNvPr id="3" name="Content Placeholder 2">
            <a:extLst>
              <a:ext uri="{FF2B5EF4-FFF2-40B4-BE49-F238E27FC236}">
                <a16:creationId xmlns:a16="http://schemas.microsoft.com/office/drawing/2014/main" id="{A33A3325-2A28-4D35-8A12-863A040E391A}"/>
              </a:ext>
            </a:extLst>
          </p:cNvPr>
          <p:cNvSpPr>
            <a:spLocks noGrp="1"/>
          </p:cNvSpPr>
          <p:nvPr>
            <p:ph idx="1"/>
          </p:nvPr>
        </p:nvSpPr>
        <p:spPr>
          <a:xfrm>
            <a:off x="2245360" y="1696720"/>
            <a:ext cx="7715504" cy="5029200"/>
          </a:xfrm>
        </p:spPr>
        <p:txBody>
          <a:bodyPr>
            <a:normAutofit fontScale="92500" lnSpcReduction="10000"/>
          </a:bodyPr>
          <a:lstStyle/>
          <a:p>
            <a:pPr algn="just"/>
            <a:r>
              <a:rPr lang="en-US" sz="2000" b="1" dirty="0"/>
              <a:t>Faster Execution</a:t>
            </a:r>
          </a:p>
          <a:p>
            <a:pPr lvl="1" algn="just"/>
            <a:r>
              <a:rPr lang="en-US" sz="1800" i="1" dirty="0"/>
              <a:t>Example:</a:t>
            </a:r>
            <a:r>
              <a:rPr lang="en-US" sz="1800" dirty="0"/>
              <a:t> Running 200 regression tests on </a:t>
            </a:r>
            <a:r>
              <a:rPr lang="en-US" sz="1800" dirty="0" err="1"/>
              <a:t>Daraz</a:t>
            </a:r>
            <a:r>
              <a:rPr lang="en-US" sz="1800" dirty="0"/>
              <a:t> in minutes instead of spending hours testing them manually.</a:t>
            </a:r>
          </a:p>
          <a:p>
            <a:pPr algn="just"/>
            <a:r>
              <a:rPr lang="en-US" sz="2000" b="1" dirty="0"/>
              <a:t>Increased Coverage</a:t>
            </a:r>
          </a:p>
          <a:p>
            <a:pPr lvl="1" algn="just"/>
            <a:r>
              <a:rPr lang="en-US" sz="1800" i="1" dirty="0"/>
              <a:t>Example:</a:t>
            </a:r>
            <a:r>
              <a:rPr lang="en-US" sz="1800" dirty="0"/>
              <a:t> Testing </a:t>
            </a:r>
            <a:r>
              <a:rPr lang="en-US" sz="1800" dirty="0" err="1"/>
              <a:t>Foodpanda</a:t>
            </a:r>
            <a:r>
              <a:rPr lang="en-US" sz="1800" dirty="0"/>
              <a:t> website across multiple browsers and screen sizes in a single test run.</a:t>
            </a:r>
          </a:p>
          <a:p>
            <a:pPr algn="just"/>
            <a:r>
              <a:rPr lang="en-US" sz="2000" b="1" dirty="0"/>
              <a:t>Reusability</a:t>
            </a:r>
          </a:p>
          <a:p>
            <a:pPr lvl="1" algn="just"/>
            <a:r>
              <a:rPr lang="en-US" sz="1800" i="1" dirty="0"/>
              <a:t>Example:</a:t>
            </a:r>
            <a:r>
              <a:rPr lang="en-US" sz="1800" dirty="0"/>
              <a:t> Reusing the same </a:t>
            </a:r>
            <a:r>
              <a:rPr lang="en-US" sz="1800" dirty="0" err="1"/>
              <a:t>Daraz</a:t>
            </a:r>
            <a:r>
              <a:rPr lang="en-US" sz="1800" dirty="0"/>
              <a:t> checkout test script after every new application release.</a:t>
            </a:r>
          </a:p>
          <a:p>
            <a:pPr algn="just"/>
            <a:r>
              <a:rPr lang="en-US" sz="2000" b="1" dirty="0"/>
              <a:t>Reliability</a:t>
            </a:r>
          </a:p>
          <a:p>
            <a:pPr lvl="1" algn="just"/>
            <a:r>
              <a:rPr lang="en-US" sz="1800" i="1" dirty="0"/>
              <a:t>Example:</a:t>
            </a:r>
            <a:r>
              <a:rPr lang="en-US" sz="1800" dirty="0"/>
              <a:t> Automatically verifying the </a:t>
            </a:r>
            <a:r>
              <a:rPr lang="en-US" sz="1800" dirty="0" err="1"/>
              <a:t>Yango</a:t>
            </a:r>
            <a:r>
              <a:rPr lang="en-US" sz="1800" dirty="0"/>
              <a:t> fare calculations every time without missing a step.</a:t>
            </a:r>
          </a:p>
          <a:p>
            <a:pPr algn="just"/>
            <a:r>
              <a:rPr lang="en-US" sz="2000" b="1" dirty="0"/>
              <a:t>Cost-Effective</a:t>
            </a:r>
          </a:p>
          <a:p>
            <a:pPr lvl="1" algn="just"/>
            <a:r>
              <a:rPr lang="en-US" sz="1800" i="1" dirty="0"/>
              <a:t>Example: </a:t>
            </a:r>
            <a:r>
              <a:rPr lang="en-US" sz="1800" dirty="0"/>
              <a:t>Creating a </a:t>
            </a:r>
            <a:r>
              <a:rPr lang="en-US" sz="1800" dirty="0" err="1"/>
              <a:t>JazzCash</a:t>
            </a:r>
            <a:r>
              <a:rPr lang="en-US" sz="1800" dirty="0"/>
              <a:t> transaction test once and reusing it for hundreds of test runs without repeating the manual effort.</a:t>
            </a:r>
          </a:p>
        </p:txBody>
      </p:sp>
    </p:spTree>
    <p:extLst>
      <p:ext uri="{BB962C8B-B14F-4D97-AF65-F5344CB8AC3E}">
        <p14:creationId xmlns:p14="http://schemas.microsoft.com/office/powerpoint/2010/main" val="1530828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26AA3-485D-4C64-B590-D51BEA496170}"/>
              </a:ext>
            </a:extLst>
          </p:cNvPr>
          <p:cNvSpPr>
            <a:spLocks noGrp="1"/>
          </p:cNvSpPr>
          <p:nvPr>
            <p:ph type="title"/>
          </p:nvPr>
        </p:nvSpPr>
        <p:spPr>
          <a:xfrm>
            <a:off x="2231136" y="375412"/>
            <a:ext cx="7729728" cy="1188720"/>
          </a:xfrm>
        </p:spPr>
        <p:txBody>
          <a:bodyPr/>
          <a:lstStyle/>
          <a:p>
            <a:r>
              <a:rPr lang="en-US" b="1" dirty="0"/>
              <a:t>Challenges of Automated Testing</a:t>
            </a:r>
            <a:endParaRPr lang="en-PK" b="1" dirty="0"/>
          </a:p>
        </p:txBody>
      </p:sp>
      <p:sp>
        <p:nvSpPr>
          <p:cNvPr id="3" name="Content Placeholder 2">
            <a:extLst>
              <a:ext uri="{FF2B5EF4-FFF2-40B4-BE49-F238E27FC236}">
                <a16:creationId xmlns:a16="http://schemas.microsoft.com/office/drawing/2014/main" id="{A33A3325-2A28-4D35-8A12-863A040E391A}"/>
              </a:ext>
            </a:extLst>
          </p:cNvPr>
          <p:cNvSpPr>
            <a:spLocks noGrp="1"/>
          </p:cNvSpPr>
          <p:nvPr>
            <p:ph idx="1"/>
          </p:nvPr>
        </p:nvSpPr>
        <p:spPr>
          <a:xfrm>
            <a:off x="2245360" y="1869440"/>
            <a:ext cx="8026400" cy="4856480"/>
          </a:xfrm>
        </p:spPr>
        <p:txBody>
          <a:bodyPr>
            <a:normAutofit fontScale="92500" lnSpcReduction="20000"/>
          </a:bodyPr>
          <a:lstStyle/>
          <a:p>
            <a:pPr algn="just"/>
            <a:r>
              <a:rPr lang="en-US" sz="2000" b="1" dirty="0"/>
              <a:t>Initial Setup Time and Cost</a:t>
            </a:r>
          </a:p>
          <a:p>
            <a:pPr lvl="1" algn="just"/>
            <a:r>
              <a:rPr lang="en-US" sz="1800" dirty="0"/>
              <a:t>Example: Setting up a Selenium framework can take days before actual testing begins.</a:t>
            </a:r>
          </a:p>
          <a:p>
            <a:pPr algn="just"/>
            <a:r>
              <a:rPr lang="en-US" sz="2000" b="1" dirty="0"/>
              <a:t>Maintenance Overhead</a:t>
            </a:r>
          </a:p>
          <a:p>
            <a:pPr lvl="1" algn="just"/>
            <a:r>
              <a:rPr lang="en-US" sz="1800" dirty="0"/>
              <a:t>Example: When a login button's location changes, all related test scripts must be updated.</a:t>
            </a:r>
          </a:p>
          <a:p>
            <a:pPr algn="just"/>
            <a:r>
              <a:rPr lang="en-US" sz="2000" b="1" dirty="0"/>
              <a:t>Not Suitable for UI/UX Testing</a:t>
            </a:r>
          </a:p>
          <a:p>
            <a:pPr lvl="1" algn="just"/>
            <a:r>
              <a:rPr lang="en-US" sz="1800" dirty="0"/>
              <a:t>Example: Automation can't test how "user-friendly" a design feels or how intuitive navigation is.</a:t>
            </a:r>
          </a:p>
          <a:p>
            <a:pPr algn="just"/>
            <a:r>
              <a:rPr lang="en-US" sz="2000" b="1" dirty="0"/>
              <a:t>Skilled Workforce Required</a:t>
            </a:r>
          </a:p>
          <a:p>
            <a:pPr lvl="1" algn="just"/>
            <a:r>
              <a:rPr lang="en-US" sz="1800" dirty="0"/>
              <a:t>Example: Test automation tools like Selenium require knowledge of programming languages like Java or Python.</a:t>
            </a:r>
          </a:p>
          <a:p>
            <a:pPr algn="just"/>
            <a:r>
              <a:rPr lang="en-US" sz="2000" b="1" dirty="0"/>
              <a:t>False Positives and Negatives</a:t>
            </a:r>
          </a:p>
          <a:p>
            <a:pPr lvl="1" algn="just"/>
            <a:r>
              <a:rPr lang="en-US" sz="1800" dirty="0"/>
              <a:t>Example: A test might fail due to slow internet, not because of a real bug in the application.</a:t>
            </a:r>
            <a:endParaRPr lang="en-PK" sz="1800" dirty="0"/>
          </a:p>
        </p:txBody>
      </p:sp>
    </p:spTree>
    <p:extLst>
      <p:ext uri="{BB962C8B-B14F-4D97-AF65-F5344CB8AC3E}">
        <p14:creationId xmlns:p14="http://schemas.microsoft.com/office/powerpoint/2010/main" val="136416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AEC60-4CC5-48C7-A3F4-6F71314B912D}"/>
              </a:ext>
            </a:extLst>
          </p:cNvPr>
          <p:cNvSpPr>
            <a:spLocks noGrp="1"/>
          </p:cNvSpPr>
          <p:nvPr>
            <p:ph type="ctrTitle"/>
          </p:nvPr>
        </p:nvSpPr>
        <p:spPr/>
        <p:txBody>
          <a:bodyPr>
            <a:normAutofit fontScale="90000"/>
          </a:bodyPr>
          <a:lstStyle/>
          <a:p>
            <a:r>
              <a:rPr lang="en-PK" b="1" dirty="0"/>
              <a:t>Getting started with Automation using KATALON </a:t>
            </a:r>
            <a:r>
              <a:rPr lang="en-US" b="1" dirty="0"/>
              <a:t>Recorder</a:t>
            </a:r>
            <a:endParaRPr lang="en-PK" dirty="0"/>
          </a:p>
        </p:txBody>
      </p:sp>
    </p:spTree>
    <p:extLst>
      <p:ext uri="{BB962C8B-B14F-4D97-AF65-F5344CB8AC3E}">
        <p14:creationId xmlns:p14="http://schemas.microsoft.com/office/powerpoint/2010/main" val="3960235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602B2-5CEB-49F6-9BBC-D6100A8F488A}"/>
              </a:ext>
            </a:extLst>
          </p:cNvPr>
          <p:cNvSpPr>
            <a:spLocks noGrp="1"/>
          </p:cNvSpPr>
          <p:nvPr>
            <p:ph type="title"/>
          </p:nvPr>
        </p:nvSpPr>
        <p:spPr>
          <a:xfrm>
            <a:off x="2231136" y="283374"/>
            <a:ext cx="7729728" cy="1188720"/>
          </a:xfrm>
        </p:spPr>
        <p:txBody>
          <a:bodyPr/>
          <a:lstStyle/>
          <a:p>
            <a:r>
              <a:rPr lang="en-US" b="1" dirty="0"/>
              <a:t>Overview of </a:t>
            </a:r>
            <a:r>
              <a:rPr lang="en-US" b="1" dirty="0" err="1"/>
              <a:t>Katalon</a:t>
            </a:r>
            <a:r>
              <a:rPr lang="en-US" b="1" dirty="0"/>
              <a:t> Recorder Extension</a:t>
            </a:r>
            <a:endParaRPr lang="en-PK" dirty="0"/>
          </a:p>
        </p:txBody>
      </p:sp>
      <p:sp>
        <p:nvSpPr>
          <p:cNvPr id="3" name="Content Placeholder 2">
            <a:extLst>
              <a:ext uri="{FF2B5EF4-FFF2-40B4-BE49-F238E27FC236}">
                <a16:creationId xmlns:a16="http://schemas.microsoft.com/office/drawing/2014/main" id="{9ADA7F0D-2E4C-4C87-A7BD-A9C2733ACB45}"/>
              </a:ext>
            </a:extLst>
          </p:cNvPr>
          <p:cNvSpPr>
            <a:spLocks noGrp="1"/>
          </p:cNvSpPr>
          <p:nvPr>
            <p:ph idx="1"/>
          </p:nvPr>
        </p:nvSpPr>
        <p:spPr>
          <a:xfrm>
            <a:off x="2231136" y="1730188"/>
            <a:ext cx="7729728" cy="4554071"/>
          </a:xfrm>
        </p:spPr>
        <p:txBody>
          <a:bodyPr>
            <a:normAutofit/>
          </a:bodyPr>
          <a:lstStyle/>
          <a:p>
            <a:pPr algn="just"/>
            <a:r>
              <a:rPr lang="en-US" sz="2400" b="1" dirty="0"/>
              <a:t>What is </a:t>
            </a:r>
            <a:r>
              <a:rPr lang="en-US" sz="2400" b="1" dirty="0" err="1"/>
              <a:t>Katalon</a:t>
            </a:r>
            <a:r>
              <a:rPr lang="en-US" sz="2400" b="1" dirty="0"/>
              <a:t> Recorder?</a:t>
            </a:r>
            <a:endParaRPr lang="en-US" sz="2400" dirty="0"/>
          </a:p>
          <a:p>
            <a:pPr lvl="1" algn="just"/>
            <a:r>
              <a:rPr lang="en-US" sz="2000" dirty="0"/>
              <a:t>A lightweight browser extension for record-and-playback testing.</a:t>
            </a:r>
          </a:p>
          <a:p>
            <a:pPr lvl="1" algn="just"/>
            <a:r>
              <a:rPr lang="en-US" sz="2000" dirty="0"/>
              <a:t>Supports </a:t>
            </a:r>
            <a:r>
              <a:rPr lang="en-US" sz="2000" b="1" dirty="0"/>
              <a:t>Chrome</a:t>
            </a:r>
            <a:r>
              <a:rPr lang="en-US" sz="2000" dirty="0"/>
              <a:t>, </a:t>
            </a:r>
            <a:r>
              <a:rPr lang="en-US" sz="2000" b="1" dirty="0"/>
              <a:t>Firefox</a:t>
            </a:r>
            <a:r>
              <a:rPr lang="en-US" sz="2000" dirty="0"/>
              <a:t>, and </a:t>
            </a:r>
            <a:r>
              <a:rPr lang="en-US" sz="2000" b="1" dirty="0"/>
              <a:t>Edge</a:t>
            </a:r>
            <a:r>
              <a:rPr lang="en-US" sz="2000" dirty="0"/>
              <a:t>.</a:t>
            </a:r>
          </a:p>
          <a:p>
            <a:pPr lvl="1" algn="just"/>
            <a:r>
              <a:rPr lang="en-US" sz="2000" dirty="0"/>
              <a:t>Easy to use, even for beginners.</a:t>
            </a:r>
          </a:p>
          <a:p>
            <a:pPr algn="just"/>
            <a:r>
              <a:rPr lang="en-US" sz="2400" b="1" dirty="0"/>
              <a:t>Why Use </a:t>
            </a:r>
            <a:r>
              <a:rPr lang="en-US" sz="2400" b="1" dirty="0" err="1"/>
              <a:t>Katalon</a:t>
            </a:r>
            <a:r>
              <a:rPr lang="en-US" sz="2400" b="1" dirty="0"/>
              <a:t> Recorder?</a:t>
            </a:r>
            <a:endParaRPr lang="en-US" sz="2400" dirty="0"/>
          </a:p>
          <a:p>
            <a:pPr lvl="1" algn="just"/>
            <a:r>
              <a:rPr lang="en-US" sz="2000" dirty="0"/>
              <a:t>No need for complex programming.</a:t>
            </a:r>
          </a:p>
          <a:p>
            <a:pPr lvl="1" algn="just"/>
            <a:r>
              <a:rPr lang="en-US" sz="2000" dirty="0"/>
              <a:t>Record and export test scripts to Selenium, </a:t>
            </a:r>
            <a:r>
              <a:rPr lang="en-US" sz="2000" dirty="0" err="1"/>
              <a:t>Katalon</a:t>
            </a:r>
            <a:r>
              <a:rPr lang="en-US" sz="2000" dirty="0"/>
              <a:t> Studio, etc.</a:t>
            </a:r>
          </a:p>
          <a:p>
            <a:pPr lvl="1" algn="just"/>
            <a:r>
              <a:rPr lang="en-US" sz="2000" dirty="0"/>
              <a:t>Supports multiple commands for element interaction.</a:t>
            </a:r>
          </a:p>
        </p:txBody>
      </p:sp>
    </p:spTree>
    <p:extLst>
      <p:ext uri="{BB962C8B-B14F-4D97-AF65-F5344CB8AC3E}">
        <p14:creationId xmlns:p14="http://schemas.microsoft.com/office/powerpoint/2010/main" val="4214650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602B2-5CEB-49F6-9BBC-D6100A8F488A}"/>
              </a:ext>
            </a:extLst>
          </p:cNvPr>
          <p:cNvSpPr>
            <a:spLocks noGrp="1"/>
          </p:cNvSpPr>
          <p:nvPr>
            <p:ph type="title"/>
          </p:nvPr>
        </p:nvSpPr>
        <p:spPr>
          <a:xfrm>
            <a:off x="2231136" y="283374"/>
            <a:ext cx="7729728" cy="1188720"/>
          </a:xfrm>
        </p:spPr>
        <p:txBody>
          <a:bodyPr/>
          <a:lstStyle/>
          <a:p>
            <a:r>
              <a:rPr lang="en-US" b="1" dirty="0"/>
              <a:t>Installing </a:t>
            </a:r>
            <a:r>
              <a:rPr lang="en-US" b="1" dirty="0" err="1"/>
              <a:t>Katalon</a:t>
            </a:r>
            <a:r>
              <a:rPr lang="en-US" b="1" dirty="0"/>
              <a:t> Recorder</a:t>
            </a:r>
          </a:p>
        </p:txBody>
      </p:sp>
      <p:sp>
        <p:nvSpPr>
          <p:cNvPr id="3" name="Content Placeholder 2">
            <a:extLst>
              <a:ext uri="{FF2B5EF4-FFF2-40B4-BE49-F238E27FC236}">
                <a16:creationId xmlns:a16="http://schemas.microsoft.com/office/drawing/2014/main" id="{9ADA7F0D-2E4C-4C87-A7BD-A9C2733ACB45}"/>
              </a:ext>
            </a:extLst>
          </p:cNvPr>
          <p:cNvSpPr>
            <a:spLocks noGrp="1"/>
          </p:cNvSpPr>
          <p:nvPr>
            <p:ph idx="1"/>
          </p:nvPr>
        </p:nvSpPr>
        <p:spPr>
          <a:xfrm>
            <a:off x="2231136" y="1730188"/>
            <a:ext cx="7729728" cy="4554071"/>
          </a:xfrm>
        </p:spPr>
        <p:txBody>
          <a:bodyPr>
            <a:normAutofit/>
          </a:bodyPr>
          <a:lstStyle/>
          <a:p>
            <a:r>
              <a:rPr lang="en-US" sz="2400" b="1" dirty="0"/>
              <a:t>Step-by-Step Guide:</a:t>
            </a:r>
            <a:endParaRPr lang="en-US" sz="2400" dirty="0"/>
          </a:p>
          <a:p>
            <a:r>
              <a:rPr lang="en-US" sz="2400" dirty="0"/>
              <a:t>Open Chrome or Firefox.</a:t>
            </a:r>
          </a:p>
          <a:p>
            <a:r>
              <a:rPr lang="en-US" sz="2400" dirty="0"/>
              <a:t>Go to the Web Store or Add-ons page.</a:t>
            </a:r>
          </a:p>
          <a:p>
            <a:r>
              <a:rPr lang="en-US" sz="2400" dirty="0"/>
              <a:t>Search for </a:t>
            </a:r>
            <a:r>
              <a:rPr lang="en-US" sz="2400" b="1" dirty="0" err="1"/>
              <a:t>Katalon</a:t>
            </a:r>
            <a:r>
              <a:rPr lang="en-US" sz="2400" b="1" dirty="0"/>
              <a:t> Recorder</a:t>
            </a:r>
            <a:r>
              <a:rPr lang="en-US" sz="2400" dirty="0"/>
              <a:t> and click </a:t>
            </a:r>
            <a:r>
              <a:rPr lang="en-US" sz="2400" b="1" dirty="0"/>
              <a:t>Add to Browser</a:t>
            </a:r>
            <a:r>
              <a:rPr lang="en-US" sz="2400" dirty="0"/>
              <a:t>.</a:t>
            </a:r>
          </a:p>
          <a:p>
            <a:r>
              <a:rPr lang="en-US" sz="2400" dirty="0"/>
              <a:t>Pin the extension for easy access.</a:t>
            </a:r>
          </a:p>
          <a:p>
            <a:endParaRPr lang="en-US" sz="2400" dirty="0"/>
          </a:p>
        </p:txBody>
      </p:sp>
      <p:pic>
        <p:nvPicPr>
          <p:cNvPr id="4" name="Picture 3">
            <a:extLst>
              <a:ext uri="{FF2B5EF4-FFF2-40B4-BE49-F238E27FC236}">
                <a16:creationId xmlns:a16="http://schemas.microsoft.com/office/drawing/2014/main" id="{A11E8A8B-56EA-48D3-9938-7F6195E90E50}"/>
              </a:ext>
            </a:extLst>
          </p:cNvPr>
          <p:cNvPicPr>
            <a:picLocks noChangeAspect="1"/>
          </p:cNvPicPr>
          <p:nvPr/>
        </p:nvPicPr>
        <p:blipFill>
          <a:blip r:embed="rId2"/>
          <a:stretch>
            <a:fillRect/>
          </a:stretch>
        </p:blipFill>
        <p:spPr>
          <a:xfrm>
            <a:off x="8864229" y="1730188"/>
            <a:ext cx="2582760" cy="4365812"/>
          </a:xfrm>
          <a:prstGeom prst="rect">
            <a:avLst/>
          </a:prstGeom>
        </p:spPr>
      </p:pic>
    </p:spTree>
    <p:extLst>
      <p:ext uri="{BB962C8B-B14F-4D97-AF65-F5344CB8AC3E}">
        <p14:creationId xmlns:p14="http://schemas.microsoft.com/office/powerpoint/2010/main" val="615951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602B2-5CEB-49F6-9BBC-D6100A8F488A}"/>
              </a:ext>
            </a:extLst>
          </p:cNvPr>
          <p:cNvSpPr>
            <a:spLocks noGrp="1"/>
          </p:cNvSpPr>
          <p:nvPr>
            <p:ph type="title"/>
          </p:nvPr>
        </p:nvSpPr>
        <p:spPr>
          <a:xfrm>
            <a:off x="2231136" y="283374"/>
            <a:ext cx="7729728" cy="1188720"/>
          </a:xfrm>
        </p:spPr>
        <p:txBody>
          <a:bodyPr/>
          <a:lstStyle/>
          <a:p>
            <a:r>
              <a:rPr lang="en-US" b="1" dirty="0"/>
              <a:t>Features of </a:t>
            </a:r>
            <a:r>
              <a:rPr lang="en-US" b="1" dirty="0" err="1"/>
              <a:t>Katalon</a:t>
            </a:r>
            <a:r>
              <a:rPr lang="en-US" b="1" dirty="0"/>
              <a:t> Recorder</a:t>
            </a:r>
          </a:p>
        </p:txBody>
      </p:sp>
      <p:sp>
        <p:nvSpPr>
          <p:cNvPr id="3" name="Content Placeholder 2">
            <a:extLst>
              <a:ext uri="{FF2B5EF4-FFF2-40B4-BE49-F238E27FC236}">
                <a16:creationId xmlns:a16="http://schemas.microsoft.com/office/drawing/2014/main" id="{9ADA7F0D-2E4C-4C87-A7BD-A9C2733ACB45}"/>
              </a:ext>
            </a:extLst>
          </p:cNvPr>
          <p:cNvSpPr>
            <a:spLocks noGrp="1"/>
          </p:cNvSpPr>
          <p:nvPr>
            <p:ph idx="1"/>
          </p:nvPr>
        </p:nvSpPr>
        <p:spPr>
          <a:xfrm>
            <a:off x="2231136" y="1730188"/>
            <a:ext cx="7729728" cy="4554071"/>
          </a:xfrm>
        </p:spPr>
        <p:txBody>
          <a:bodyPr>
            <a:normAutofit/>
          </a:bodyPr>
          <a:lstStyle/>
          <a:p>
            <a:pPr algn="just"/>
            <a:r>
              <a:rPr lang="en-US" sz="2400" b="1" dirty="0"/>
              <a:t>Record-and-Playback:</a:t>
            </a:r>
            <a:endParaRPr lang="en-US" sz="2400" dirty="0"/>
          </a:p>
          <a:p>
            <a:pPr lvl="1" algn="just"/>
            <a:r>
              <a:rPr lang="en-US" sz="2000" dirty="0"/>
              <a:t>Captures user actions for automated testing.</a:t>
            </a:r>
          </a:p>
          <a:p>
            <a:pPr algn="just"/>
            <a:r>
              <a:rPr lang="en-US" sz="2400" b="1" dirty="0"/>
              <a:t>Assertions:</a:t>
            </a:r>
            <a:endParaRPr lang="en-US" sz="2400" dirty="0"/>
          </a:p>
          <a:p>
            <a:pPr lvl="1" algn="just"/>
            <a:r>
              <a:rPr lang="en-US" sz="2000" dirty="0"/>
              <a:t>Verify elements or page states.</a:t>
            </a:r>
          </a:p>
          <a:p>
            <a:pPr algn="just"/>
            <a:r>
              <a:rPr lang="en-US" sz="2400" b="1" dirty="0"/>
              <a:t>Multiple Export Options:</a:t>
            </a:r>
            <a:endParaRPr lang="en-US" sz="2400" dirty="0"/>
          </a:p>
          <a:p>
            <a:pPr lvl="1" algn="just"/>
            <a:r>
              <a:rPr lang="en-US" sz="2000" dirty="0"/>
              <a:t>Export to Selenium WebDriver, </a:t>
            </a:r>
            <a:r>
              <a:rPr lang="en-US" sz="2000" dirty="0" err="1"/>
              <a:t>Katalon</a:t>
            </a:r>
            <a:r>
              <a:rPr lang="en-US" sz="2000" dirty="0"/>
              <a:t> Studio, etc.</a:t>
            </a:r>
          </a:p>
          <a:p>
            <a:pPr algn="just"/>
            <a:r>
              <a:rPr lang="en-US" sz="2400" b="1" dirty="0"/>
              <a:t>Execution of Test Suites:</a:t>
            </a:r>
            <a:endParaRPr lang="en-US" sz="2400" dirty="0"/>
          </a:p>
          <a:p>
            <a:pPr lvl="1" algn="just"/>
            <a:r>
              <a:rPr lang="en-US" sz="2000" dirty="0"/>
              <a:t>Combine multiple test cases into a test suite for execution.</a:t>
            </a:r>
          </a:p>
        </p:txBody>
      </p:sp>
    </p:spTree>
    <p:extLst>
      <p:ext uri="{BB962C8B-B14F-4D97-AF65-F5344CB8AC3E}">
        <p14:creationId xmlns:p14="http://schemas.microsoft.com/office/powerpoint/2010/main" val="1223689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602B2-5CEB-49F6-9BBC-D6100A8F488A}"/>
              </a:ext>
            </a:extLst>
          </p:cNvPr>
          <p:cNvSpPr>
            <a:spLocks noGrp="1"/>
          </p:cNvSpPr>
          <p:nvPr>
            <p:ph type="title"/>
          </p:nvPr>
        </p:nvSpPr>
        <p:spPr>
          <a:xfrm>
            <a:off x="2231136" y="283374"/>
            <a:ext cx="7729728" cy="1188720"/>
          </a:xfrm>
        </p:spPr>
        <p:txBody>
          <a:bodyPr/>
          <a:lstStyle/>
          <a:p>
            <a:r>
              <a:rPr lang="en-US" b="1" dirty="0"/>
              <a:t>Using </a:t>
            </a:r>
            <a:r>
              <a:rPr lang="en-US" b="1" dirty="0" err="1"/>
              <a:t>Katalon</a:t>
            </a:r>
            <a:r>
              <a:rPr lang="en-US" b="1" dirty="0"/>
              <a:t> Recorder - Example</a:t>
            </a:r>
          </a:p>
        </p:txBody>
      </p:sp>
      <p:sp>
        <p:nvSpPr>
          <p:cNvPr id="3" name="Content Placeholder 2">
            <a:extLst>
              <a:ext uri="{FF2B5EF4-FFF2-40B4-BE49-F238E27FC236}">
                <a16:creationId xmlns:a16="http://schemas.microsoft.com/office/drawing/2014/main" id="{9ADA7F0D-2E4C-4C87-A7BD-A9C2733ACB45}"/>
              </a:ext>
            </a:extLst>
          </p:cNvPr>
          <p:cNvSpPr>
            <a:spLocks noGrp="1"/>
          </p:cNvSpPr>
          <p:nvPr>
            <p:ph idx="1"/>
          </p:nvPr>
        </p:nvSpPr>
        <p:spPr>
          <a:xfrm>
            <a:off x="2231136" y="1730188"/>
            <a:ext cx="7729728" cy="4554071"/>
          </a:xfrm>
        </p:spPr>
        <p:txBody>
          <a:bodyPr>
            <a:normAutofit/>
          </a:bodyPr>
          <a:lstStyle/>
          <a:p>
            <a:r>
              <a:rPr lang="en-US" sz="2000" b="1" dirty="0"/>
              <a:t>Example:  Test Steps for Automating a Simple Login Test</a:t>
            </a:r>
            <a:endParaRPr lang="en-US" sz="2000" dirty="0"/>
          </a:p>
          <a:p>
            <a:pPr marL="457200" indent="-457200">
              <a:buFont typeface="+mj-lt"/>
              <a:buAutoNum type="arabicPeriod"/>
            </a:pPr>
            <a:r>
              <a:rPr lang="en-US" sz="2000" dirty="0"/>
              <a:t>Navigate to </a:t>
            </a:r>
            <a:r>
              <a:rPr lang="en-US" sz="2000" dirty="0">
                <a:hlinkClick r:id="rId2"/>
              </a:rPr>
              <a:t>Automation Exercise</a:t>
            </a:r>
            <a:r>
              <a:rPr lang="en-US" sz="2000" dirty="0"/>
              <a:t>.</a:t>
            </a:r>
          </a:p>
          <a:p>
            <a:pPr marL="457200" indent="-457200">
              <a:buFont typeface="+mj-lt"/>
              <a:buAutoNum type="arabicPeriod"/>
            </a:pPr>
            <a:r>
              <a:rPr lang="en-US" sz="2000" dirty="0"/>
              <a:t>Start recording.</a:t>
            </a:r>
          </a:p>
          <a:p>
            <a:pPr marL="457200" indent="-457200">
              <a:buFont typeface="+mj-lt"/>
              <a:buAutoNum type="arabicPeriod"/>
            </a:pPr>
            <a:r>
              <a:rPr lang="en-US" sz="2000" dirty="0"/>
              <a:t>Click "Login".</a:t>
            </a:r>
          </a:p>
          <a:p>
            <a:pPr marL="457200" indent="-457200">
              <a:buFont typeface="+mj-lt"/>
              <a:buAutoNum type="arabicPeriod"/>
            </a:pPr>
            <a:r>
              <a:rPr lang="en-US" sz="2000" dirty="0"/>
              <a:t>Enter test credentials.</a:t>
            </a:r>
          </a:p>
          <a:p>
            <a:pPr lvl="1"/>
            <a:r>
              <a:rPr lang="en-US" sz="1800" dirty="0"/>
              <a:t>E-mail: </a:t>
            </a:r>
            <a:r>
              <a:rPr lang="en-US" sz="1800" dirty="0">
                <a:hlinkClick r:id="rId3"/>
              </a:rPr>
              <a:t>sample@user.com</a:t>
            </a:r>
            <a:endParaRPr lang="en-US" sz="1800" dirty="0"/>
          </a:p>
          <a:p>
            <a:pPr lvl="1"/>
            <a:r>
              <a:rPr lang="en-US" sz="1800" dirty="0"/>
              <a:t>Password: 123456789</a:t>
            </a:r>
          </a:p>
          <a:p>
            <a:pPr marL="457200" indent="-457200">
              <a:buFont typeface="+mj-lt"/>
              <a:buAutoNum type="arabicPeriod"/>
            </a:pPr>
            <a:r>
              <a:rPr lang="en-US" sz="2000" dirty="0"/>
              <a:t>Submit the form.</a:t>
            </a:r>
          </a:p>
          <a:p>
            <a:pPr marL="457200" indent="-457200">
              <a:buFont typeface="+mj-lt"/>
              <a:buAutoNum type="arabicPeriod"/>
            </a:pPr>
            <a:r>
              <a:rPr lang="en-US" sz="2000" dirty="0"/>
              <a:t>Stop recording.</a:t>
            </a:r>
          </a:p>
          <a:p>
            <a:pPr marL="457200" indent="-457200">
              <a:buFont typeface="+mj-lt"/>
              <a:buAutoNum type="arabicPeriod"/>
            </a:pPr>
            <a:r>
              <a:rPr lang="en-US" sz="2000" dirty="0"/>
              <a:t>Save the test case.</a:t>
            </a:r>
          </a:p>
        </p:txBody>
      </p:sp>
    </p:spTree>
    <p:extLst>
      <p:ext uri="{BB962C8B-B14F-4D97-AF65-F5344CB8AC3E}">
        <p14:creationId xmlns:p14="http://schemas.microsoft.com/office/powerpoint/2010/main" val="3706630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602B2-5CEB-49F6-9BBC-D6100A8F488A}"/>
              </a:ext>
            </a:extLst>
          </p:cNvPr>
          <p:cNvSpPr>
            <a:spLocks noGrp="1"/>
          </p:cNvSpPr>
          <p:nvPr>
            <p:ph type="title"/>
          </p:nvPr>
        </p:nvSpPr>
        <p:spPr>
          <a:xfrm>
            <a:off x="2231136" y="283374"/>
            <a:ext cx="7729728" cy="1188720"/>
          </a:xfrm>
        </p:spPr>
        <p:txBody>
          <a:bodyPr/>
          <a:lstStyle/>
          <a:p>
            <a:r>
              <a:rPr lang="en-US" b="1" dirty="0"/>
              <a:t>Practice Activity #1</a:t>
            </a:r>
          </a:p>
        </p:txBody>
      </p:sp>
      <p:sp>
        <p:nvSpPr>
          <p:cNvPr id="3" name="Content Placeholder 2">
            <a:extLst>
              <a:ext uri="{FF2B5EF4-FFF2-40B4-BE49-F238E27FC236}">
                <a16:creationId xmlns:a16="http://schemas.microsoft.com/office/drawing/2014/main" id="{9ADA7F0D-2E4C-4C87-A7BD-A9C2733ACB45}"/>
              </a:ext>
            </a:extLst>
          </p:cNvPr>
          <p:cNvSpPr>
            <a:spLocks noGrp="1"/>
          </p:cNvSpPr>
          <p:nvPr>
            <p:ph idx="1"/>
          </p:nvPr>
        </p:nvSpPr>
        <p:spPr>
          <a:xfrm>
            <a:off x="1971040" y="1730188"/>
            <a:ext cx="8382000" cy="4844438"/>
          </a:xfrm>
        </p:spPr>
        <p:txBody>
          <a:bodyPr>
            <a:normAutofit/>
          </a:bodyPr>
          <a:lstStyle/>
          <a:p>
            <a:pPr algn="just"/>
            <a:r>
              <a:rPr lang="en-US" sz="2800" b="1" dirty="0"/>
              <a:t>Objective: </a:t>
            </a:r>
            <a:r>
              <a:rPr lang="en-US" sz="2800" dirty="0"/>
              <a:t>Create a test case that automates the search functionality of a website.</a:t>
            </a:r>
          </a:p>
          <a:p>
            <a:pPr algn="just"/>
            <a:r>
              <a:rPr lang="en-US" sz="2800" b="1" dirty="0"/>
              <a:t>Test Steps:</a:t>
            </a:r>
          </a:p>
          <a:p>
            <a:pPr marL="685800" lvl="1" indent="-457200" algn="just">
              <a:buFont typeface="+mj-lt"/>
              <a:buAutoNum type="arabicPeriod"/>
            </a:pPr>
            <a:r>
              <a:rPr lang="en-US" sz="2400" dirty="0"/>
              <a:t>Open </a:t>
            </a:r>
            <a:r>
              <a:rPr lang="en-US" sz="2400" dirty="0">
                <a:hlinkClick r:id="rId2"/>
              </a:rPr>
              <a:t>Automation Exercise</a:t>
            </a:r>
            <a:r>
              <a:rPr lang="en-US" sz="2400" dirty="0"/>
              <a:t>.</a:t>
            </a:r>
          </a:p>
          <a:p>
            <a:pPr marL="685800" lvl="1" indent="-457200" algn="just">
              <a:buFont typeface="+mj-lt"/>
              <a:buAutoNum type="arabicPeriod"/>
            </a:pPr>
            <a:r>
              <a:rPr lang="en-US" sz="2400" dirty="0"/>
              <a:t>Use </a:t>
            </a:r>
            <a:r>
              <a:rPr lang="en-US" sz="2400" dirty="0" err="1"/>
              <a:t>Katalon</a:t>
            </a:r>
            <a:r>
              <a:rPr lang="en-US" sz="2400" dirty="0"/>
              <a:t> Recorder to record searching for a product.</a:t>
            </a:r>
          </a:p>
          <a:p>
            <a:pPr marL="685800" lvl="1" indent="-457200" algn="just">
              <a:buFont typeface="+mj-lt"/>
              <a:buAutoNum type="arabicPeriod"/>
            </a:pPr>
            <a:r>
              <a:rPr lang="en-US" sz="2400" dirty="0"/>
              <a:t>Save the test case.</a:t>
            </a:r>
            <a:endParaRPr lang="en-PK" sz="2400" dirty="0"/>
          </a:p>
        </p:txBody>
      </p:sp>
    </p:spTree>
    <p:extLst>
      <p:ext uri="{BB962C8B-B14F-4D97-AF65-F5344CB8AC3E}">
        <p14:creationId xmlns:p14="http://schemas.microsoft.com/office/powerpoint/2010/main" val="2188966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79658-3F64-461F-B5F2-1E4A18778AD9}"/>
              </a:ext>
            </a:extLst>
          </p:cNvPr>
          <p:cNvSpPr>
            <a:spLocks noGrp="1"/>
          </p:cNvSpPr>
          <p:nvPr>
            <p:ph type="title"/>
          </p:nvPr>
        </p:nvSpPr>
        <p:spPr>
          <a:xfrm>
            <a:off x="2231136" y="365252"/>
            <a:ext cx="7729728" cy="1188720"/>
          </a:xfrm>
        </p:spPr>
        <p:txBody>
          <a:bodyPr/>
          <a:lstStyle/>
          <a:p>
            <a:r>
              <a:rPr lang="en-US" b="1" dirty="0"/>
              <a:t>Practice Activity #2</a:t>
            </a:r>
            <a:endParaRPr lang="en-PK" dirty="0"/>
          </a:p>
        </p:txBody>
      </p:sp>
      <p:sp>
        <p:nvSpPr>
          <p:cNvPr id="3" name="Content Placeholder 2">
            <a:extLst>
              <a:ext uri="{FF2B5EF4-FFF2-40B4-BE49-F238E27FC236}">
                <a16:creationId xmlns:a16="http://schemas.microsoft.com/office/drawing/2014/main" id="{63F33969-A886-482E-8264-F2B7610BE381}"/>
              </a:ext>
            </a:extLst>
          </p:cNvPr>
          <p:cNvSpPr>
            <a:spLocks noGrp="1"/>
          </p:cNvSpPr>
          <p:nvPr>
            <p:ph idx="1"/>
          </p:nvPr>
        </p:nvSpPr>
        <p:spPr>
          <a:xfrm>
            <a:off x="2231136" y="1899920"/>
            <a:ext cx="7729728" cy="3840107"/>
          </a:xfrm>
        </p:spPr>
        <p:txBody>
          <a:bodyPr>
            <a:normAutofit/>
          </a:bodyPr>
          <a:lstStyle/>
          <a:p>
            <a:pPr algn="just"/>
            <a:r>
              <a:rPr lang="en-US" sz="2400" b="1" dirty="0"/>
              <a:t>Objective: </a:t>
            </a:r>
            <a:r>
              <a:rPr lang="en-US" sz="2400" dirty="0"/>
              <a:t>Create a test suite combining two test cases:</a:t>
            </a:r>
          </a:p>
          <a:p>
            <a:pPr marL="457200" indent="-457200" algn="just">
              <a:buFont typeface="+mj-lt"/>
              <a:buAutoNum type="arabicPeriod"/>
            </a:pPr>
            <a:r>
              <a:rPr lang="en-US" sz="2400" b="1" dirty="0"/>
              <a:t>Login Test:</a:t>
            </a:r>
            <a:r>
              <a:rPr lang="en-US" sz="2400" dirty="0"/>
              <a:t> Automate login functionality.</a:t>
            </a:r>
          </a:p>
          <a:p>
            <a:pPr marL="457200" indent="-457200" algn="just">
              <a:buFont typeface="+mj-lt"/>
              <a:buAutoNum type="arabicPeriod"/>
            </a:pPr>
            <a:r>
              <a:rPr lang="en-US" sz="2400" b="1" dirty="0"/>
              <a:t>Product Search Test:</a:t>
            </a:r>
            <a:r>
              <a:rPr lang="en-US" sz="2400" dirty="0"/>
              <a:t> Automate product search.</a:t>
            </a:r>
          </a:p>
          <a:p>
            <a:pPr algn="just"/>
            <a:r>
              <a:rPr lang="en-US" sz="2400" b="1" dirty="0"/>
              <a:t>Task:</a:t>
            </a:r>
            <a:r>
              <a:rPr lang="en-US" sz="2400" dirty="0"/>
              <a:t> Record both test cases, combine them into a suite, and run the suite.</a:t>
            </a:r>
            <a:endParaRPr lang="en-PK" sz="2400" dirty="0"/>
          </a:p>
        </p:txBody>
      </p:sp>
    </p:spTree>
    <p:extLst>
      <p:ext uri="{BB962C8B-B14F-4D97-AF65-F5344CB8AC3E}">
        <p14:creationId xmlns:p14="http://schemas.microsoft.com/office/powerpoint/2010/main" val="2962718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5A887-7DEB-4C18-AE4F-8EA20944FF74}"/>
              </a:ext>
            </a:extLst>
          </p:cNvPr>
          <p:cNvSpPr>
            <a:spLocks noGrp="1"/>
          </p:cNvSpPr>
          <p:nvPr>
            <p:ph type="title"/>
          </p:nvPr>
        </p:nvSpPr>
        <p:spPr>
          <a:xfrm>
            <a:off x="2231136" y="365252"/>
            <a:ext cx="7729728" cy="1188720"/>
          </a:xfrm>
        </p:spPr>
        <p:txBody>
          <a:bodyPr>
            <a:normAutofit/>
          </a:bodyPr>
          <a:lstStyle/>
          <a:p>
            <a:r>
              <a:rPr lang="en-US" b="1" dirty="0"/>
              <a:t>Debugging in </a:t>
            </a:r>
            <a:r>
              <a:rPr lang="en-US" b="1" dirty="0" err="1"/>
              <a:t>Katalon</a:t>
            </a:r>
            <a:r>
              <a:rPr lang="en-US" b="1" dirty="0"/>
              <a:t> Recorder</a:t>
            </a:r>
          </a:p>
        </p:txBody>
      </p:sp>
      <p:sp>
        <p:nvSpPr>
          <p:cNvPr id="3" name="Content Placeholder 2">
            <a:extLst>
              <a:ext uri="{FF2B5EF4-FFF2-40B4-BE49-F238E27FC236}">
                <a16:creationId xmlns:a16="http://schemas.microsoft.com/office/drawing/2014/main" id="{B6F919E0-3DEC-48A3-92E6-994BFAE61403}"/>
              </a:ext>
            </a:extLst>
          </p:cNvPr>
          <p:cNvSpPr>
            <a:spLocks noGrp="1"/>
          </p:cNvSpPr>
          <p:nvPr>
            <p:ph idx="1"/>
          </p:nvPr>
        </p:nvSpPr>
        <p:spPr>
          <a:xfrm>
            <a:off x="2231136" y="2072640"/>
            <a:ext cx="7729728" cy="3667387"/>
          </a:xfrm>
        </p:spPr>
        <p:txBody>
          <a:bodyPr>
            <a:normAutofit/>
          </a:bodyPr>
          <a:lstStyle/>
          <a:p>
            <a:pPr algn="just"/>
            <a:r>
              <a:rPr lang="en-US" sz="2800" b="1" dirty="0"/>
              <a:t>Common Errors:</a:t>
            </a:r>
          </a:p>
          <a:p>
            <a:pPr lvl="1" algn="just"/>
            <a:r>
              <a:rPr lang="en-US" sz="2400" dirty="0"/>
              <a:t>Unrecognized elements or commands.</a:t>
            </a:r>
          </a:p>
          <a:p>
            <a:pPr lvl="1" algn="just"/>
            <a:r>
              <a:rPr lang="en-US" sz="2400" dirty="0"/>
              <a:t>Incorrect XPath or CSS locators.</a:t>
            </a:r>
          </a:p>
          <a:p>
            <a:pPr algn="just"/>
            <a:r>
              <a:rPr lang="en-US" sz="2800" b="1" dirty="0"/>
              <a:t>Debugging Tools:</a:t>
            </a:r>
          </a:p>
          <a:p>
            <a:pPr lvl="1" algn="just"/>
            <a:r>
              <a:rPr lang="en-US" sz="2400" dirty="0"/>
              <a:t>Pause, resume, and step through test cases.</a:t>
            </a:r>
          </a:p>
          <a:p>
            <a:pPr lvl="1" algn="just"/>
            <a:r>
              <a:rPr lang="en-US" sz="2400" dirty="0"/>
              <a:t>Modify recorded steps to correct errors.</a:t>
            </a:r>
            <a:endParaRPr lang="en-PK" sz="2400" dirty="0"/>
          </a:p>
        </p:txBody>
      </p:sp>
    </p:spTree>
    <p:extLst>
      <p:ext uri="{BB962C8B-B14F-4D97-AF65-F5344CB8AC3E}">
        <p14:creationId xmlns:p14="http://schemas.microsoft.com/office/powerpoint/2010/main" val="3178395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79658-3F64-461F-B5F2-1E4A18778AD9}"/>
              </a:ext>
            </a:extLst>
          </p:cNvPr>
          <p:cNvSpPr>
            <a:spLocks noGrp="1"/>
          </p:cNvSpPr>
          <p:nvPr>
            <p:ph type="title"/>
          </p:nvPr>
        </p:nvSpPr>
        <p:spPr>
          <a:xfrm>
            <a:off x="2231136" y="365252"/>
            <a:ext cx="7729728" cy="1188720"/>
          </a:xfrm>
        </p:spPr>
        <p:txBody>
          <a:bodyPr/>
          <a:lstStyle/>
          <a:p>
            <a:r>
              <a:rPr lang="en-US" b="1" dirty="0"/>
              <a:t>Explore Sample Projects</a:t>
            </a:r>
            <a:endParaRPr lang="en-PK" dirty="0"/>
          </a:p>
        </p:txBody>
      </p:sp>
      <p:sp>
        <p:nvSpPr>
          <p:cNvPr id="3" name="Content Placeholder 2">
            <a:extLst>
              <a:ext uri="{FF2B5EF4-FFF2-40B4-BE49-F238E27FC236}">
                <a16:creationId xmlns:a16="http://schemas.microsoft.com/office/drawing/2014/main" id="{63F33969-A886-482E-8264-F2B7610BE381}"/>
              </a:ext>
            </a:extLst>
          </p:cNvPr>
          <p:cNvSpPr>
            <a:spLocks noGrp="1"/>
          </p:cNvSpPr>
          <p:nvPr>
            <p:ph idx="1"/>
          </p:nvPr>
        </p:nvSpPr>
        <p:spPr>
          <a:xfrm>
            <a:off x="2231136" y="1899920"/>
            <a:ext cx="7729728" cy="3840107"/>
          </a:xfrm>
        </p:spPr>
        <p:txBody>
          <a:bodyPr>
            <a:normAutofit/>
          </a:bodyPr>
          <a:lstStyle/>
          <a:p>
            <a:pPr algn="just"/>
            <a:r>
              <a:rPr lang="en-US" sz="2400" dirty="0"/>
              <a:t>From the </a:t>
            </a:r>
            <a:r>
              <a:rPr lang="en-US" sz="2400" b="1" dirty="0"/>
              <a:t>sample projects</a:t>
            </a:r>
            <a:r>
              <a:rPr lang="en-US" sz="2400" dirty="0"/>
              <a:t>, practice the already recorded test cases and debug them if you encounter any errors.</a:t>
            </a:r>
            <a:endParaRPr lang="en-PK" sz="2400" dirty="0"/>
          </a:p>
        </p:txBody>
      </p:sp>
    </p:spTree>
    <p:extLst>
      <p:ext uri="{BB962C8B-B14F-4D97-AF65-F5344CB8AC3E}">
        <p14:creationId xmlns:p14="http://schemas.microsoft.com/office/powerpoint/2010/main" val="597279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5A887-7DEB-4C18-AE4F-8EA20944FF74}"/>
              </a:ext>
            </a:extLst>
          </p:cNvPr>
          <p:cNvSpPr>
            <a:spLocks noGrp="1"/>
          </p:cNvSpPr>
          <p:nvPr>
            <p:ph type="title"/>
          </p:nvPr>
        </p:nvSpPr>
        <p:spPr>
          <a:xfrm>
            <a:off x="2231136" y="365252"/>
            <a:ext cx="7729728" cy="1188720"/>
          </a:xfrm>
        </p:spPr>
        <p:txBody>
          <a:bodyPr/>
          <a:lstStyle/>
          <a:p>
            <a:r>
              <a:rPr lang="en-US" b="1" dirty="0">
                <a:solidFill>
                  <a:srgbClr val="FF0000"/>
                </a:solidFill>
              </a:rPr>
              <a:t>Limitations of </a:t>
            </a:r>
            <a:r>
              <a:rPr lang="en-US" b="1" dirty="0" err="1">
                <a:solidFill>
                  <a:srgbClr val="FF0000"/>
                </a:solidFill>
              </a:rPr>
              <a:t>Katalon</a:t>
            </a:r>
            <a:r>
              <a:rPr lang="en-US" b="1" dirty="0">
                <a:solidFill>
                  <a:srgbClr val="FF0000"/>
                </a:solidFill>
              </a:rPr>
              <a:t> Recorder</a:t>
            </a:r>
            <a:endParaRPr lang="en-PK" dirty="0">
              <a:solidFill>
                <a:srgbClr val="FF0000"/>
              </a:solidFill>
            </a:endParaRPr>
          </a:p>
        </p:txBody>
      </p:sp>
      <p:sp>
        <p:nvSpPr>
          <p:cNvPr id="3" name="Content Placeholder 2">
            <a:extLst>
              <a:ext uri="{FF2B5EF4-FFF2-40B4-BE49-F238E27FC236}">
                <a16:creationId xmlns:a16="http://schemas.microsoft.com/office/drawing/2014/main" id="{B6F919E0-3DEC-48A3-92E6-994BFAE61403}"/>
              </a:ext>
            </a:extLst>
          </p:cNvPr>
          <p:cNvSpPr>
            <a:spLocks noGrp="1"/>
          </p:cNvSpPr>
          <p:nvPr>
            <p:ph idx="1"/>
          </p:nvPr>
        </p:nvSpPr>
        <p:spPr>
          <a:xfrm>
            <a:off x="2231136" y="2072640"/>
            <a:ext cx="7729728" cy="3667387"/>
          </a:xfrm>
        </p:spPr>
        <p:txBody>
          <a:bodyPr>
            <a:normAutofit/>
          </a:bodyPr>
          <a:lstStyle/>
          <a:p>
            <a:pPr algn="just"/>
            <a:r>
              <a:rPr lang="en-US" sz="2400" b="1" dirty="0"/>
              <a:t>1. Limited Scripting Flexibility</a:t>
            </a:r>
          </a:p>
          <a:p>
            <a:pPr lvl="1" algn="just"/>
            <a:r>
              <a:rPr lang="en-US" sz="2000" b="1" dirty="0"/>
              <a:t>Example:</a:t>
            </a:r>
            <a:r>
              <a:rPr lang="en-US" sz="2000" dirty="0"/>
              <a:t> Cannot handle complex logic like loops or conditions.</a:t>
            </a:r>
          </a:p>
          <a:p>
            <a:pPr lvl="1" algn="just"/>
            <a:r>
              <a:rPr lang="en-US" sz="2000" b="1" dirty="0"/>
              <a:t>Selenium Benefit:</a:t>
            </a:r>
            <a:r>
              <a:rPr lang="en-US" sz="2000" dirty="0"/>
              <a:t> Write custom test logic using programming languages like Java or Python.</a:t>
            </a:r>
          </a:p>
          <a:p>
            <a:pPr algn="just"/>
            <a:r>
              <a:rPr lang="en-US" sz="2400" b="1" dirty="0"/>
              <a:t>2. Basic Support for Complex Test Scenarios</a:t>
            </a:r>
          </a:p>
          <a:p>
            <a:pPr lvl="1" algn="just"/>
            <a:r>
              <a:rPr lang="en-US" sz="2000" b="1" dirty="0"/>
              <a:t>Example:</a:t>
            </a:r>
            <a:r>
              <a:rPr lang="en-US" sz="2000" dirty="0"/>
              <a:t> Difficult to automate file uploads, multi-window, or pop-ups.</a:t>
            </a:r>
          </a:p>
          <a:p>
            <a:pPr lvl="1" algn="just"/>
            <a:r>
              <a:rPr lang="en-US" sz="2000" b="1" dirty="0"/>
              <a:t>Selenium Benefit:</a:t>
            </a:r>
            <a:r>
              <a:rPr lang="en-US" sz="2000" dirty="0"/>
              <a:t> Handle complex scenarios like file downloads, multi-window switching.</a:t>
            </a:r>
          </a:p>
          <a:p>
            <a:pPr algn="just"/>
            <a:endParaRPr lang="en-US" sz="2400" dirty="0"/>
          </a:p>
        </p:txBody>
      </p:sp>
    </p:spTree>
    <p:extLst>
      <p:ext uri="{BB962C8B-B14F-4D97-AF65-F5344CB8AC3E}">
        <p14:creationId xmlns:p14="http://schemas.microsoft.com/office/powerpoint/2010/main" val="2310024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5A887-7DEB-4C18-AE4F-8EA20944FF74}"/>
              </a:ext>
            </a:extLst>
          </p:cNvPr>
          <p:cNvSpPr>
            <a:spLocks noGrp="1"/>
          </p:cNvSpPr>
          <p:nvPr>
            <p:ph type="title"/>
          </p:nvPr>
        </p:nvSpPr>
        <p:spPr>
          <a:xfrm>
            <a:off x="2231136" y="365252"/>
            <a:ext cx="7729728" cy="1188720"/>
          </a:xfrm>
        </p:spPr>
        <p:txBody>
          <a:bodyPr/>
          <a:lstStyle/>
          <a:p>
            <a:r>
              <a:rPr lang="en-US" b="1" dirty="0">
                <a:solidFill>
                  <a:srgbClr val="FF0000"/>
                </a:solidFill>
              </a:rPr>
              <a:t>Limitations of </a:t>
            </a:r>
            <a:r>
              <a:rPr lang="en-US" b="1" dirty="0" err="1">
                <a:solidFill>
                  <a:srgbClr val="FF0000"/>
                </a:solidFill>
              </a:rPr>
              <a:t>Katalon</a:t>
            </a:r>
            <a:r>
              <a:rPr lang="en-US" b="1" dirty="0">
                <a:solidFill>
                  <a:srgbClr val="FF0000"/>
                </a:solidFill>
              </a:rPr>
              <a:t> Recorder</a:t>
            </a:r>
            <a:endParaRPr lang="en-PK" dirty="0">
              <a:solidFill>
                <a:srgbClr val="FF0000"/>
              </a:solidFill>
            </a:endParaRPr>
          </a:p>
        </p:txBody>
      </p:sp>
      <p:sp>
        <p:nvSpPr>
          <p:cNvPr id="3" name="Content Placeholder 2">
            <a:extLst>
              <a:ext uri="{FF2B5EF4-FFF2-40B4-BE49-F238E27FC236}">
                <a16:creationId xmlns:a16="http://schemas.microsoft.com/office/drawing/2014/main" id="{B6F919E0-3DEC-48A3-92E6-994BFAE61403}"/>
              </a:ext>
            </a:extLst>
          </p:cNvPr>
          <p:cNvSpPr>
            <a:spLocks noGrp="1"/>
          </p:cNvSpPr>
          <p:nvPr>
            <p:ph idx="1"/>
          </p:nvPr>
        </p:nvSpPr>
        <p:spPr>
          <a:xfrm>
            <a:off x="2231136" y="2072640"/>
            <a:ext cx="7729728" cy="3667387"/>
          </a:xfrm>
        </p:spPr>
        <p:txBody>
          <a:bodyPr>
            <a:normAutofit/>
          </a:bodyPr>
          <a:lstStyle/>
          <a:p>
            <a:pPr algn="just"/>
            <a:r>
              <a:rPr lang="en-US" sz="2400" b="1" dirty="0"/>
              <a:t>3. No Parallel Execution</a:t>
            </a:r>
          </a:p>
          <a:p>
            <a:pPr lvl="1" algn="just"/>
            <a:r>
              <a:rPr lang="en-US" sz="2000" b="1" dirty="0"/>
              <a:t>Example:</a:t>
            </a:r>
            <a:r>
              <a:rPr lang="en-US" sz="2000" dirty="0"/>
              <a:t> Test cases run one after another.</a:t>
            </a:r>
          </a:p>
          <a:p>
            <a:pPr lvl="1" algn="just"/>
            <a:r>
              <a:rPr lang="en-US" sz="2000" b="1" dirty="0"/>
              <a:t>Selenium Benefit:</a:t>
            </a:r>
            <a:r>
              <a:rPr lang="en-US" sz="2000" dirty="0"/>
              <a:t> Use </a:t>
            </a:r>
            <a:r>
              <a:rPr lang="en-US" sz="2000" b="1" dirty="0"/>
              <a:t>Selenium Grid</a:t>
            </a:r>
            <a:r>
              <a:rPr lang="en-US" sz="2000" dirty="0"/>
              <a:t> to run tests simultaneously across multiple browsers and platforms.</a:t>
            </a:r>
          </a:p>
          <a:p>
            <a:pPr algn="just"/>
            <a:r>
              <a:rPr lang="en-US" sz="2400" b="1" dirty="0"/>
              <a:t>4. Basic Reporting</a:t>
            </a:r>
          </a:p>
          <a:p>
            <a:pPr lvl="1" algn="just"/>
            <a:r>
              <a:rPr lang="en-US" sz="2000" b="1" dirty="0"/>
              <a:t>Example:</a:t>
            </a:r>
            <a:r>
              <a:rPr lang="en-US" sz="2000" dirty="0"/>
              <a:t> Minimal logs and no detailed screenshots of failures.</a:t>
            </a:r>
          </a:p>
          <a:p>
            <a:pPr lvl="1" algn="just"/>
            <a:r>
              <a:rPr lang="en-US" sz="2000" b="1" dirty="0"/>
              <a:t>Selenium Benefit:</a:t>
            </a:r>
            <a:r>
              <a:rPr lang="en-US" sz="2000" dirty="0"/>
              <a:t> Integrate with reporting frameworks like Extent Reports for detailed test metrics and screenshots.</a:t>
            </a:r>
          </a:p>
          <a:p>
            <a:pPr algn="just"/>
            <a:endParaRPr lang="en-US" sz="2400" dirty="0"/>
          </a:p>
        </p:txBody>
      </p:sp>
    </p:spTree>
    <p:extLst>
      <p:ext uri="{BB962C8B-B14F-4D97-AF65-F5344CB8AC3E}">
        <p14:creationId xmlns:p14="http://schemas.microsoft.com/office/powerpoint/2010/main" val="3213227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5A887-7DEB-4C18-AE4F-8EA20944FF74}"/>
              </a:ext>
            </a:extLst>
          </p:cNvPr>
          <p:cNvSpPr>
            <a:spLocks noGrp="1"/>
          </p:cNvSpPr>
          <p:nvPr>
            <p:ph type="title"/>
          </p:nvPr>
        </p:nvSpPr>
        <p:spPr>
          <a:xfrm>
            <a:off x="2231136" y="365252"/>
            <a:ext cx="7729728" cy="1188720"/>
          </a:xfrm>
        </p:spPr>
        <p:txBody>
          <a:bodyPr/>
          <a:lstStyle/>
          <a:p>
            <a:r>
              <a:rPr lang="en-US" b="1" dirty="0"/>
              <a:t>Conclusion</a:t>
            </a:r>
            <a:endParaRPr lang="en-PK" dirty="0"/>
          </a:p>
        </p:txBody>
      </p:sp>
      <p:sp>
        <p:nvSpPr>
          <p:cNvPr id="3" name="Content Placeholder 2">
            <a:extLst>
              <a:ext uri="{FF2B5EF4-FFF2-40B4-BE49-F238E27FC236}">
                <a16:creationId xmlns:a16="http://schemas.microsoft.com/office/drawing/2014/main" id="{B6F919E0-3DEC-48A3-92E6-994BFAE61403}"/>
              </a:ext>
            </a:extLst>
          </p:cNvPr>
          <p:cNvSpPr>
            <a:spLocks noGrp="1"/>
          </p:cNvSpPr>
          <p:nvPr>
            <p:ph idx="1"/>
          </p:nvPr>
        </p:nvSpPr>
        <p:spPr>
          <a:xfrm>
            <a:off x="2231136" y="2072640"/>
            <a:ext cx="7729728" cy="3667387"/>
          </a:xfrm>
        </p:spPr>
        <p:txBody>
          <a:bodyPr>
            <a:normAutofit/>
          </a:bodyPr>
          <a:lstStyle/>
          <a:p>
            <a:pPr algn="just"/>
            <a:r>
              <a:rPr lang="en-US" sz="2400" b="1" dirty="0"/>
              <a:t>Summary</a:t>
            </a:r>
          </a:p>
          <a:p>
            <a:pPr lvl="1" algn="just"/>
            <a:r>
              <a:rPr lang="en-US" sz="2000" dirty="0" err="1"/>
              <a:t>Katalon</a:t>
            </a:r>
            <a:r>
              <a:rPr lang="en-US" sz="2000" dirty="0"/>
              <a:t> Recorder is an easy-to-use tool for quick web testing automation.</a:t>
            </a:r>
          </a:p>
          <a:p>
            <a:pPr lvl="1" algn="just"/>
            <a:r>
              <a:rPr lang="en-US" sz="2000" dirty="0"/>
              <a:t>It simplifies the process for beginners, offering recording, exporting, and playback options.</a:t>
            </a:r>
          </a:p>
          <a:p>
            <a:pPr algn="just"/>
            <a:r>
              <a:rPr lang="en-US" sz="2400" b="1" dirty="0"/>
              <a:t>Next Steps:</a:t>
            </a:r>
          </a:p>
          <a:p>
            <a:pPr lvl="1" algn="just"/>
            <a:r>
              <a:rPr lang="en-US" sz="2000" dirty="0"/>
              <a:t>Apply your recorded tests to real-world scenarios.</a:t>
            </a:r>
          </a:p>
        </p:txBody>
      </p:sp>
    </p:spTree>
    <p:extLst>
      <p:ext uri="{BB962C8B-B14F-4D97-AF65-F5344CB8AC3E}">
        <p14:creationId xmlns:p14="http://schemas.microsoft.com/office/powerpoint/2010/main" val="2404457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5A887-7DEB-4C18-AE4F-8EA20944FF74}"/>
              </a:ext>
            </a:extLst>
          </p:cNvPr>
          <p:cNvSpPr>
            <a:spLocks noGrp="1"/>
          </p:cNvSpPr>
          <p:nvPr>
            <p:ph type="title"/>
          </p:nvPr>
        </p:nvSpPr>
        <p:spPr>
          <a:xfrm>
            <a:off x="2231136" y="365252"/>
            <a:ext cx="7729728" cy="1188720"/>
          </a:xfrm>
        </p:spPr>
        <p:txBody>
          <a:bodyPr/>
          <a:lstStyle/>
          <a:p>
            <a:r>
              <a:rPr lang="en-US" b="1" dirty="0"/>
              <a:t>Class Takeaways</a:t>
            </a:r>
            <a:endParaRPr lang="en-PK" dirty="0"/>
          </a:p>
        </p:txBody>
      </p:sp>
      <p:sp>
        <p:nvSpPr>
          <p:cNvPr id="3" name="Content Placeholder 2">
            <a:extLst>
              <a:ext uri="{FF2B5EF4-FFF2-40B4-BE49-F238E27FC236}">
                <a16:creationId xmlns:a16="http://schemas.microsoft.com/office/drawing/2014/main" id="{B6F919E0-3DEC-48A3-92E6-994BFAE61403}"/>
              </a:ext>
            </a:extLst>
          </p:cNvPr>
          <p:cNvSpPr>
            <a:spLocks noGrp="1"/>
          </p:cNvSpPr>
          <p:nvPr>
            <p:ph idx="1"/>
          </p:nvPr>
        </p:nvSpPr>
        <p:spPr>
          <a:xfrm>
            <a:off x="2231136" y="2072640"/>
            <a:ext cx="7729728" cy="3667387"/>
          </a:xfrm>
        </p:spPr>
        <p:txBody>
          <a:bodyPr>
            <a:normAutofit/>
          </a:bodyPr>
          <a:lstStyle/>
          <a:p>
            <a:pPr algn="just"/>
            <a:r>
              <a:rPr lang="en-US" sz="2000" dirty="0"/>
              <a:t>Practice more examples from the sample projects and try to know about more commands as we did during the lecture.</a:t>
            </a:r>
          </a:p>
          <a:p>
            <a:pPr algn="just"/>
            <a:r>
              <a:rPr lang="en-US" sz="2000" dirty="0"/>
              <a:t>Don’t forget to practice the </a:t>
            </a:r>
            <a:r>
              <a:rPr lang="en-US" sz="2000" dirty="0" err="1"/>
              <a:t>xpath</a:t>
            </a:r>
            <a:r>
              <a:rPr lang="en-US" sz="2000" dirty="0"/>
              <a:t> examples as discussed during the class.</a:t>
            </a:r>
          </a:p>
          <a:p>
            <a:pPr algn="just"/>
            <a:r>
              <a:rPr lang="en-US" sz="2000" dirty="0"/>
              <a:t>Do explore, practice and debug the sample projects.</a:t>
            </a:r>
            <a:endParaRPr lang="en-US" sz="1800" dirty="0"/>
          </a:p>
        </p:txBody>
      </p:sp>
    </p:spTree>
    <p:extLst>
      <p:ext uri="{BB962C8B-B14F-4D97-AF65-F5344CB8AC3E}">
        <p14:creationId xmlns:p14="http://schemas.microsoft.com/office/powerpoint/2010/main" val="227929049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141</TotalTime>
  <Words>1412</Words>
  <Application>Microsoft Office PowerPoint</Application>
  <PresentationFormat>Widescreen</PresentationFormat>
  <Paragraphs>160</Paragraphs>
  <Slides>22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Gill Sans MT</vt:lpstr>
      <vt:lpstr>Parcel</vt:lpstr>
      <vt:lpstr>Introduction to Automated Testing &amp; Katalon Recorder</vt:lpstr>
      <vt:lpstr>Learning Objectives</vt:lpstr>
      <vt:lpstr>Introduction to Software Testing</vt:lpstr>
      <vt:lpstr>What is Manual Testing?</vt:lpstr>
      <vt:lpstr>What is Automation Testing?</vt:lpstr>
      <vt:lpstr>Automation testing workflow</vt:lpstr>
      <vt:lpstr>Manual vs. Automation Testing</vt:lpstr>
      <vt:lpstr>Benefits of Automated Testing</vt:lpstr>
      <vt:lpstr>Challenges of Automated Testing</vt:lpstr>
      <vt:lpstr>Getting started with Automation using KATALON Recorder</vt:lpstr>
      <vt:lpstr>Overview of Katalon Recorder Extension</vt:lpstr>
      <vt:lpstr>Installing Katalon Recorder</vt:lpstr>
      <vt:lpstr>Features of Katalon Recorder</vt:lpstr>
      <vt:lpstr>Using Katalon Recorder - Example</vt:lpstr>
      <vt:lpstr>Practice Activity #1</vt:lpstr>
      <vt:lpstr>Practice Activity #2</vt:lpstr>
      <vt:lpstr>Debugging in Katalon Recorder</vt:lpstr>
      <vt:lpstr>Explore Sample Projects</vt:lpstr>
      <vt:lpstr>Limitations of Katalon Recorder</vt:lpstr>
      <vt:lpstr>Limitations of Katalon Recorder</vt:lpstr>
      <vt:lpstr>Conclusion</vt:lpstr>
      <vt:lpstr>Class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Testing: Manual vs. Automation</dc:title>
  <dc:creator>Hira Asim</dc:creator>
  <cp:lastModifiedBy>Hira Asim</cp:lastModifiedBy>
  <cp:revision>46</cp:revision>
  <dcterms:created xsi:type="dcterms:W3CDTF">2024-08-08T09:13:30Z</dcterms:created>
  <dcterms:modified xsi:type="dcterms:W3CDTF">2026-08-20T08:13:45Z</dcterms:modified>
</cp:coreProperties>
</file>