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notesMasterIdLst>
    <p:notesMasterId r:id="rId14"/>
  </p:notesMasterIdLst>
  <p:sldIdLst>
    <p:sldId id="256" r:id="rId2"/>
    <p:sldId id="304" r:id="rId3"/>
    <p:sldId id="270" r:id="rId4"/>
    <p:sldId id="305" r:id="rId5"/>
    <p:sldId id="306" r:id="rId6"/>
    <p:sldId id="307" r:id="rId7"/>
    <p:sldId id="308" r:id="rId8"/>
    <p:sldId id="309" r:id="rId9"/>
    <p:sldId id="310" r:id="rId10"/>
    <p:sldId id="259" r:id="rId11"/>
    <p:sldId id="260" r:id="rId12"/>
    <p:sldId id="271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60" autoAdjust="0"/>
    <p:restoredTop sz="88525" autoAdjust="0"/>
  </p:normalViewPr>
  <p:slideViewPr>
    <p:cSldViewPr snapToGrid="0">
      <p:cViewPr varScale="1">
        <p:scale>
          <a:sx n="75" d="100"/>
          <a:sy n="75" d="100"/>
        </p:scale>
        <p:origin x="112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6CEF81-A314-4B13-B336-40390483412D}" type="datetimeFigureOut">
              <a:rPr lang="en-PK" smtClean="0"/>
              <a:t>31/08/2026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33BB13-38F9-44C4-BA01-5EDF818FBD08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5940186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3BB13-38F9-44C4-BA01-5EDF818FBD08}" type="slidenum">
              <a:rPr lang="en-PK" smtClean="0"/>
              <a:t>9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1806320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8/31/2026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8/31/2026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8/31/2026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8/31/2026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8/31/2026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8/31/2026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8/31/2026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8/31/2026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8/31/2026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8/31/2026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8/31/2026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8/31/2026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AEC60-4CC5-48C7-A3F4-6F71314B91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DOM &amp;web element locators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9602350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4646E-5E98-42D9-A894-7BACDEE07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53492"/>
            <a:ext cx="7729728" cy="1188720"/>
          </a:xfrm>
        </p:spPr>
        <p:txBody>
          <a:bodyPr>
            <a:normAutofit/>
          </a:bodyPr>
          <a:lstStyle/>
          <a:p>
            <a:r>
              <a:rPr lang="en-US" b="1" dirty="0"/>
              <a:t>Learning Objectives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4F53A6-A716-4978-8B41-7052929C30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1666240"/>
            <a:ext cx="7729728" cy="476145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000" b="1" dirty="0"/>
              <a:t>By the end of this lecture, you should be able to:</a:t>
            </a:r>
            <a:endParaRPr lang="en-US" sz="2000" dirty="0"/>
          </a:p>
          <a:p>
            <a:pPr algn="just"/>
            <a:r>
              <a:rPr lang="en-US" sz="2000" dirty="0"/>
              <a:t>Explain the DOM structure and its relationship with HTML web pages.</a:t>
            </a:r>
          </a:p>
          <a:p>
            <a:pPr algn="just"/>
            <a:r>
              <a:rPr lang="en-US" sz="2000" dirty="0"/>
              <a:t>Inspect web elements and their attributes using browser Developer Tools.</a:t>
            </a:r>
          </a:p>
          <a:p>
            <a:pPr algn="just"/>
            <a:r>
              <a:rPr lang="en-US" sz="2000" dirty="0"/>
              <a:t>Identify and apply ID, Name, Class, Link Text, XPath, and CSS Selectors.</a:t>
            </a:r>
          </a:p>
          <a:p>
            <a:pPr algn="just"/>
            <a:r>
              <a:rPr lang="en-US" sz="2000" dirty="0"/>
              <a:t>Construct reliable locators for Selenium WebDriver automation.</a:t>
            </a:r>
          </a:p>
          <a:p>
            <a:pPr algn="just"/>
            <a:r>
              <a:rPr lang="en-US" sz="2000" dirty="0"/>
              <a:t>Debug and resolve common web element locator issues.</a:t>
            </a:r>
          </a:p>
        </p:txBody>
      </p:sp>
    </p:spTree>
    <p:extLst>
      <p:ext uri="{BB962C8B-B14F-4D97-AF65-F5344CB8AC3E}">
        <p14:creationId xmlns:p14="http://schemas.microsoft.com/office/powerpoint/2010/main" val="2418341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4646E-5E98-42D9-A894-7BACDEE07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53492"/>
            <a:ext cx="7729728" cy="1188720"/>
          </a:xfrm>
        </p:spPr>
        <p:txBody>
          <a:bodyPr>
            <a:normAutofit/>
          </a:bodyPr>
          <a:lstStyle/>
          <a:p>
            <a:r>
              <a:rPr lang="en-US" b="1" dirty="0"/>
              <a:t>Understanding the DOM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4F53A6-A716-4978-8B41-7052929C30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1666240"/>
            <a:ext cx="7729728" cy="5090160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sz="2000" b="1" dirty="0"/>
              <a:t>DOM = </a:t>
            </a:r>
            <a:r>
              <a:rPr lang="en-US" sz="2000" dirty="0"/>
              <a:t>Document Object Model</a:t>
            </a:r>
          </a:p>
          <a:p>
            <a:pPr lvl="0" algn="just"/>
            <a:r>
              <a:rPr lang="en-US" sz="2000" b="1" dirty="0"/>
              <a:t>DOM: </a:t>
            </a:r>
            <a:r>
              <a:rPr lang="en-US" sz="2000" dirty="0"/>
              <a:t>The Structure Behind Every Web Page</a:t>
            </a:r>
            <a:endParaRPr lang="en-US" sz="2000" b="1" dirty="0"/>
          </a:p>
          <a:p>
            <a:pPr lvl="0" algn="just"/>
            <a:r>
              <a:rPr lang="en-US" sz="2000" dirty="0"/>
              <a:t>The DOM is a programmatic representation of an HTML page that allows tools like Selenium to find and interact with elements.</a:t>
            </a:r>
            <a:endParaRPr lang="en-US" sz="2000" b="1" dirty="0"/>
          </a:p>
          <a:p>
            <a:pPr lvl="0" algn="just"/>
            <a:r>
              <a:rPr lang="en-US" sz="2000" dirty="0"/>
              <a:t>Think of it as</a:t>
            </a:r>
            <a:r>
              <a:rPr lang="en-US" sz="2000" b="1" dirty="0"/>
              <a:t>:</a:t>
            </a:r>
          </a:p>
          <a:p>
            <a:pPr lvl="1" algn="just"/>
            <a:r>
              <a:rPr lang="en-US" sz="1800" b="1" dirty="0"/>
              <a:t>HTML Code → DOM → Web Page</a:t>
            </a:r>
          </a:p>
          <a:p>
            <a:pPr algn="just"/>
            <a:r>
              <a:rPr lang="en-US" sz="2000" dirty="0"/>
              <a:t>Imagine a university building</a:t>
            </a:r>
            <a:r>
              <a:rPr lang="en-US" sz="2000" b="1" dirty="0"/>
              <a:t>:</a:t>
            </a:r>
          </a:p>
          <a:p>
            <a:pPr lvl="1" algn="just"/>
            <a:r>
              <a:rPr lang="en-US" sz="1800" dirty="0"/>
              <a:t>Building → </a:t>
            </a:r>
            <a:r>
              <a:rPr lang="en-US" sz="1800" b="1" dirty="0"/>
              <a:t>Web page</a:t>
            </a:r>
          </a:p>
          <a:p>
            <a:pPr lvl="1" algn="just"/>
            <a:r>
              <a:rPr lang="en-US" sz="1800" dirty="0"/>
              <a:t>Rooms → </a:t>
            </a:r>
            <a:r>
              <a:rPr lang="en-US" sz="1800" b="1" dirty="0"/>
              <a:t>HTML elements</a:t>
            </a:r>
          </a:p>
          <a:p>
            <a:pPr lvl="1" algn="just"/>
            <a:r>
              <a:rPr lang="en-US" sz="1800" dirty="0"/>
              <a:t>Room numbers/names → </a:t>
            </a:r>
            <a:r>
              <a:rPr lang="en-US" sz="1800" b="1" dirty="0"/>
              <a:t>Attributes such as id, name, class</a:t>
            </a:r>
          </a:p>
          <a:p>
            <a:pPr lvl="1" algn="just"/>
            <a:r>
              <a:rPr lang="en-US" sz="1800" dirty="0"/>
              <a:t>Connections between rooms → </a:t>
            </a:r>
            <a:r>
              <a:rPr lang="en-US" sz="1800" b="1" dirty="0"/>
              <a:t>Parent-child relationships</a:t>
            </a:r>
          </a:p>
          <a:p>
            <a:pPr marL="0" indent="0" algn="ctr">
              <a:buNone/>
            </a:pPr>
            <a:endParaRPr lang="en-US" sz="2000" b="1" dirty="0"/>
          </a:p>
          <a:p>
            <a:pPr marL="0" indent="0" algn="ctr">
              <a:buNone/>
            </a:pPr>
            <a:r>
              <a:rPr lang="en-US" sz="2000" b="1" dirty="0"/>
              <a:t>Selenium doesn't "see" the page like a human. It interacts with the DOM.</a:t>
            </a:r>
          </a:p>
        </p:txBody>
      </p:sp>
    </p:spTree>
    <p:extLst>
      <p:ext uri="{BB962C8B-B14F-4D97-AF65-F5344CB8AC3E}">
        <p14:creationId xmlns:p14="http://schemas.microsoft.com/office/powerpoint/2010/main" val="35225919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4646E-5E98-42D9-A894-7BACDEE07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53492"/>
            <a:ext cx="7729728" cy="1188720"/>
          </a:xfrm>
        </p:spPr>
        <p:txBody>
          <a:bodyPr>
            <a:normAutofit/>
          </a:bodyPr>
          <a:lstStyle/>
          <a:p>
            <a:r>
              <a:rPr lang="en-US" b="1" dirty="0"/>
              <a:t>HTML → DOM → Web Page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4F53A6-A716-4978-8B41-7052929C30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8563" y="1666240"/>
            <a:ext cx="4729928" cy="5090160"/>
          </a:xfrm>
        </p:spPr>
        <p:txBody>
          <a:bodyPr>
            <a:normAutofit/>
          </a:bodyPr>
          <a:lstStyle/>
          <a:p>
            <a:pPr algn="just"/>
            <a:r>
              <a:rPr lang="en-US" sz="2000" dirty="0"/>
              <a:t>Consider this HTML:</a:t>
            </a:r>
          </a:p>
          <a:p>
            <a:pPr algn="just"/>
            <a:endParaRPr lang="en-US" sz="20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399052-72F5-419D-9EAD-72B57947CF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776" y="2152711"/>
            <a:ext cx="4473328" cy="3360711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C18B19EB-70D8-4B7D-A6CF-51E0450175EF}"/>
              </a:ext>
            </a:extLst>
          </p:cNvPr>
          <p:cNvSpPr txBox="1">
            <a:spLocks/>
          </p:cNvSpPr>
          <p:nvPr/>
        </p:nvSpPr>
        <p:spPr>
          <a:xfrm>
            <a:off x="5246624" y="1656080"/>
            <a:ext cx="6325616" cy="5090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000" dirty="0"/>
              <a:t>The browser reads this HTML and creates a </a:t>
            </a:r>
            <a:r>
              <a:rPr lang="en-US" sz="2000" b="1" dirty="0"/>
              <a:t>DOM tree</a:t>
            </a:r>
            <a:r>
              <a:rPr lang="en-US" sz="2000" dirty="0"/>
              <a:t>:</a:t>
            </a:r>
            <a:endParaRPr lang="en-US" sz="2000" b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7ECE09B-55DB-47B0-A188-549F4357FF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0878" y="2323986"/>
            <a:ext cx="3513124" cy="263674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16F5388-C93B-4715-9806-D837809DA386}"/>
              </a:ext>
            </a:extLst>
          </p:cNvPr>
          <p:cNvSpPr txBox="1"/>
          <p:nvPr/>
        </p:nvSpPr>
        <p:spPr>
          <a:xfrm>
            <a:off x="2753360" y="5671233"/>
            <a:ext cx="62219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HTML is the </a:t>
            </a:r>
            <a:r>
              <a:rPr lang="en-US" b="1" dirty="0"/>
              <a:t>source structure</a:t>
            </a:r>
            <a:r>
              <a:rPr lang="en-US" dirty="0"/>
              <a:t>, while the DOM is the </a:t>
            </a:r>
            <a:r>
              <a:rPr lang="en-US" b="1" dirty="0"/>
              <a:t>browser's structured representation</a:t>
            </a:r>
            <a:r>
              <a:rPr lang="en-US" dirty="0"/>
              <a:t> of that document.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4828983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4646E-5E98-42D9-A894-7BACDEE07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53492"/>
            <a:ext cx="7729728" cy="1188720"/>
          </a:xfrm>
        </p:spPr>
        <p:txBody>
          <a:bodyPr>
            <a:normAutofit/>
          </a:bodyPr>
          <a:lstStyle/>
          <a:p>
            <a:r>
              <a:rPr lang="en-US" b="1" dirty="0"/>
              <a:t>What is an HTML Element?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4F53A6-A716-4978-8B41-7052929C30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1666240"/>
            <a:ext cx="7729728" cy="5090160"/>
          </a:xfrm>
        </p:spPr>
        <p:txBody>
          <a:bodyPr>
            <a:normAutofit/>
          </a:bodyPr>
          <a:lstStyle/>
          <a:p>
            <a:pPr algn="just"/>
            <a:r>
              <a:rPr lang="en-US" sz="2000" dirty="0"/>
              <a:t>An </a:t>
            </a:r>
            <a:r>
              <a:rPr lang="en-US" sz="2000" b="1" dirty="0"/>
              <a:t>element</a:t>
            </a:r>
            <a:r>
              <a:rPr lang="en-US" sz="2000" dirty="0"/>
              <a:t> is a component of a webpage.</a:t>
            </a:r>
          </a:p>
          <a:p>
            <a:pPr algn="just"/>
            <a:r>
              <a:rPr lang="en-US" sz="2000" dirty="0"/>
              <a:t>Consider this HTML:</a:t>
            </a:r>
          </a:p>
          <a:p>
            <a:pPr algn="just"/>
            <a:r>
              <a:rPr lang="en-US" sz="2000" dirty="0">
                <a:cs typeface="Courier New" panose="02070309020205020404" pitchFamily="49" charset="0"/>
              </a:rPr>
              <a:t>Here: </a:t>
            </a:r>
          </a:p>
          <a:p>
            <a:pPr lvl="1" algn="just"/>
            <a:r>
              <a:rPr lang="en-US" sz="1800" b="1" dirty="0">
                <a:cs typeface="Courier New" panose="02070309020205020404" pitchFamily="49" charset="0"/>
              </a:rPr>
              <a:t>Tag / Element Type: 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button</a:t>
            </a:r>
          </a:p>
          <a:p>
            <a:pPr lvl="2" algn="just"/>
            <a:r>
              <a:rPr lang="en-US" sz="1800" dirty="0">
                <a:cs typeface="Courier New" panose="02070309020205020404" pitchFamily="49" charset="0"/>
              </a:rPr>
              <a:t>Defines what type of HTML element it is</a:t>
            </a:r>
          </a:p>
          <a:p>
            <a:pPr lvl="1" algn="just"/>
            <a:r>
              <a:rPr lang="en-US" sz="1800" b="1" dirty="0">
                <a:cs typeface="Courier New" panose="02070309020205020404" pitchFamily="49" charset="0"/>
              </a:rPr>
              <a:t>Attribute: 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id="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loginBtn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pPr lvl="2" algn="just"/>
            <a:r>
              <a:rPr lang="en-US" sz="1800" dirty="0">
                <a:cs typeface="Courier New" panose="02070309020205020404" pitchFamily="49" charset="0"/>
              </a:rPr>
              <a:t>Provides additional information that can help identify the element</a:t>
            </a:r>
          </a:p>
          <a:p>
            <a:pPr lvl="1" algn="just"/>
            <a:r>
              <a:rPr lang="en-US" sz="1800" b="1" dirty="0">
                <a:cs typeface="Courier New" panose="02070309020205020404" pitchFamily="49" charset="0"/>
              </a:rPr>
              <a:t>Text / Content: 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Login</a:t>
            </a:r>
          </a:p>
          <a:p>
            <a:pPr lvl="2" algn="just"/>
            <a:r>
              <a:rPr lang="en-US" sz="1800" dirty="0">
                <a:cs typeface="Courier New" panose="02070309020205020404" pitchFamily="49" charset="0"/>
              </a:rPr>
              <a:t>The visible text contained within the element</a:t>
            </a:r>
          </a:p>
          <a:p>
            <a:pPr lvl="1" algn="just"/>
            <a:r>
              <a:rPr lang="en-US" sz="1800" b="1" dirty="0">
                <a:cs typeface="Courier New" panose="02070309020205020404" pitchFamily="49" charset="0"/>
              </a:rPr>
              <a:t>Complete Element: 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&lt;button&gt;Login&lt;/button&gt;</a:t>
            </a:r>
          </a:p>
          <a:p>
            <a:pPr lvl="2" algn="just"/>
            <a:r>
              <a:rPr lang="en-US" sz="1800" dirty="0">
                <a:cs typeface="Courier New" panose="02070309020205020404" pitchFamily="49" charset="0"/>
              </a:rPr>
              <a:t>Consists of the opening tag, content, and closing tag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AF3496-D3C2-46F6-AC5A-7DE4B7BC5B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6641" y="2087869"/>
            <a:ext cx="4724400" cy="40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2645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4646E-5E98-42D9-A894-7BACDEE07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53492"/>
            <a:ext cx="7729728" cy="1188720"/>
          </a:xfrm>
        </p:spPr>
        <p:txBody>
          <a:bodyPr>
            <a:normAutofit/>
          </a:bodyPr>
          <a:lstStyle/>
          <a:p>
            <a:r>
              <a:rPr lang="en-US" b="1" dirty="0"/>
              <a:t>Common HTML Elements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4F53A6-A716-4978-8B41-7052929C30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1666240"/>
            <a:ext cx="7729728" cy="5090160"/>
          </a:xfrm>
        </p:spPr>
        <p:txBody>
          <a:bodyPr>
            <a:normAutofit/>
          </a:bodyPr>
          <a:lstStyle/>
          <a:p>
            <a:pPr algn="just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&lt;input&gt; </a:t>
            </a:r>
          </a:p>
          <a:p>
            <a:pPr algn="just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&lt;button&gt; </a:t>
            </a:r>
          </a:p>
          <a:p>
            <a:pPr algn="just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&lt;a&gt; </a:t>
            </a:r>
          </a:p>
          <a:p>
            <a:pPr algn="just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&lt;h1&gt;</a:t>
            </a:r>
          </a:p>
          <a:p>
            <a:pPr algn="just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&lt;p&gt;</a:t>
            </a:r>
          </a:p>
          <a:p>
            <a:pPr algn="just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img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</a:p>
          <a:p>
            <a:pPr algn="just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&lt;form&gt;</a:t>
            </a:r>
          </a:p>
          <a:p>
            <a:pPr algn="just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&lt;div&gt;</a:t>
            </a:r>
          </a:p>
          <a:p>
            <a:pPr algn="just"/>
            <a:endParaRPr lang="en-US" sz="2000" dirty="0">
              <a:cs typeface="Courier New" panose="02070309020205020404" pitchFamily="49" charset="0"/>
            </a:endParaRPr>
          </a:p>
          <a:p>
            <a:pPr marL="0" indent="0" algn="ctr">
              <a:buNone/>
            </a:pPr>
            <a:r>
              <a:rPr lang="en-US" sz="2400" dirty="0"/>
              <a:t>Selenium locates these elements and performs actions on them.</a:t>
            </a:r>
            <a:endParaRPr lang="en-US" sz="2400" dirty="0"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03449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4646E-5E98-42D9-A894-7BACDEE07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04431"/>
            <a:ext cx="7729728" cy="1188720"/>
          </a:xfrm>
        </p:spPr>
        <p:txBody>
          <a:bodyPr>
            <a:normAutofit/>
          </a:bodyPr>
          <a:lstStyle/>
          <a:p>
            <a:r>
              <a:rPr lang="en-US" b="1" dirty="0"/>
              <a:t>Elements Have Attributes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4F53A6-A716-4978-8B41-7052929C30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1666240"/>
            <a:ext cx="7729728" cy="5090160"/>
          </a:xfrm>
        </p:spPr>
        <p:txBody>
          <a:bodyPr>
            <a:normAutofit/>
          </a:bodyPr>
          <a:lstStyle/>
          <a:p>
            <a:pPr algn="just"/>
            <a:r>
              <a:rPr lang="en-US" sz="2000" dirty="0"/>
              <a:t>Attributes provide </a:t>
            </a:r>
            <a:r>
              <a:rPr lang="en-US" sz="2000" b="1" dirty="0"/>
              <a:t>additional information</a:t>
            </a:r>
            <a:r>
              <a:rPr lang="en-US" sz="2000" dirty="0"/>
              <a:t> about an element.</a:t>
            </a:r>
          </a:p>
          <a:p>
            <a:pPr algn="just"/>
            <a:endParaRPr lang="en-US" sz="2000" dirty="0"/>
          </a:p>
          <a:p>
            <a:pPr algn="just"/>
            <a:endParaRPr lang="en-US" sz="2000" dirty="0"/>
          </a:p>
          <a:p>
            <a:pPr algn="just"/>
            <a:endParaRPr lang="en-US" sz="2000" dirty="0"/>
          </a:p>
          <a:p>
            <a:pPr algn="just"/>
            <a:endParaRPr lang="en-US" sz="2000" dirty="0"/>
          </a:p>
          <a:p>
            <a:pPr algn="just"/>
            <a:endParaRPr lang="en-US" sz="2000" dirty="0"/>
          </a:p>
          <a:p>
            <a:pPr algn="just"/>
            <a:r>
              <a:rPr lang="en-US" sz="2000" dirty="0"/>
              <a:t>This element has:</a:t>
            </a:r>
          </a:p>
          <a:p>
            <a:pPr algn="just"/>
            <a:endParaRPr lang="en-US" sz="2000" dirty="0">
              <a:cs typeface="Courier New" panose="02070309020205020404" pitchFamily="49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92EEDF-016F-4783-B2BC-4B67D31F9C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8269" y="2146221"/>
            <a:ext cx="3171331" cy="176762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C53EF14-98A7-40F8-B526-D7D2423040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7389" y="4720904"/>
            <a:ext cx="2917331" cy="16907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7D452A2-0992-422B-A8A9-CBF29BFB3848}"/>
              </a:ext>
            </a:extLst>
          </p:cNvPr>
          <p:cNvSpPr txBox="1"/>
          <p:nvPr/>
        </p:nvSpPr>
        <p:spPr>
          <a:xfrm>
            <a:off x="5898896" y="3611155"/>
            <a:ext cx="6197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Why do testers care?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Because attributes can help us create </a:t>
            </a:r>
            <a:r>
              <a:rPr lang="en-US" b="1" dirty="0"/>
              <a:t>locators</a:t>
            </a:r>
            <a:r>
              <a:rPr lang="en-US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For example: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driver.findElement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(By.id("email"));</a:t>
            </a:r>
          </a:p>
        </p:txBody>
      </p:sp>
    </p:spTree>
    <p:extLst>
      <p:ext uri="{BB962C8B-B14F-4D97-AF65-F5344CB8AC3E}">
        <p14:creationId xmlns:p14="http://schemas.microsoft.com/office/powerpoint/2010/main" val="25771471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4646E-5E98-42D9-A894-7BACDEE07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53492"/>
            <a:ext cx="7729728" cy="1188720"/>
          </a:xfrm>
        </p:spPr>
        <p:txBody>
          <a:bodyPr>
            <a:normAutofit/>
          </a:bodyPr>
          <a:lstStyle/>
          <a:p>
            <a:r>
              <a:rPr lang="en-US" b="1" dirty="0"/>
              <a:t>Why Does DOM Matter in Selenium?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4F53A6-A716-4978-8B41-7052929C30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1666240"/>
            <a:ext cx="7729728" cy="5090160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2000" dirty="0"/>
              <a:t>Suppose a user sees:</a:t>
            </a:r>
          </a:p>
          <a:p>
            <a:pPr algn="just"/>
            <a:endParaRPr lang="en-US" sz="2000" dirty="0">
              <a:cs typeface="Courier New" panose="02070309020205020404" pitchFamily="49" charset="0"/>
            </a:endParaRPr>
          </a:p>
          <a:p>
            <a:pPr algn="just"/>
            <a:endParaRPr lang="en-US" sz="2000" dirty="0">
              <a:cs typeface="Courier New" panose="02070309020205020404" pitchFamily="49" charset="0"/>
            </a:endParaRPr>
          </a:p>
          <a:p>
            <a:pPr marL="0" indent="0" algn="just">
              <a:buNone/>
            </a:pPr>
            <a:endParaRPr lang="en-US" sz="2000" dirty="0">
              <a:cs typeface="Courier New" panose="02070309020205020404" pitchFamily="49" charset="0"/>
            </a:endParaRPr>
          </a:p>
          <a:p>
            <a:pPr algn="just"/>
            <a:r>
              <a:rPr lang="en-US" sz="2000" dirty="0">
                <a:cs typeface="Courier New" panose="02070309020205020404" pitchFamily="49" charset="0"/>
              </a:rPr>
              <a:t>A human simply thinks: </a:t>
            </a:r>
            <a:r>
              <a:rPr lang="en-US" sz="2000" b="1" dirty="0">
                <a:cs typeface="Courier New" panose="02070309020205020404" pitchFamily="49" charset="0"/>
              </a:rPr>
              <a:t>"Click Login."</a:t>
            </a:r>
          </a:p>
          <a:p>
            <a:r>
              <a:rPr lang="en-US" sz="2000" dirty="0">
                <a:cs typeface="Courier New" panose="02070309020205020404" pitchFamily="49" charset="0"/>
              </a:rPr>
              <a:t>Selenium needs something more precise: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driver.findElement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(By.id("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loginBtn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")).click();</a:t>
            </a:r>
          </a:p>
          <a:p>
            <a:r>
              <a:rPr lang="en-US" sz="2000" dirty="0">
                <a:cs typeface="Courier New" panose="02070309020205020404" pitchFamily="49" charset="0"/>
              </a:rPr>
              <a:t>So Selenium needs to answer: </a:t>
            </a:r>
            <a:r>
              <a:rPr lang="en-US" sz="2000" b="1" dirty="0">
                <a:cs typeface="Courier New" panose="02070309020205020404" pitchFamily="49" charset="0"/>
              </a:rPr>
              <a:t>"Which exact element do you mean?"</a:t>
            </a:r>
          </a:p>
          <a:p>
            <a:r>
              <a:rPr lang="en-US" sz="2000" dirty="0">
                <a:cs typeface="Courier New" panose="02070309020205020404" pitchFamily="49" charset="0"/>
              </a:rPr>
              <a:t>That's why we need Web Element Locators.</a:t>
            </a:r>
          </a:p>
          <a:p>
            <a:pPr marL="0" indent="0" algn="ctr">
              <a:buNone/>
            </a:pPr>
            <a:endParaRPr lang="en-US" sz="2000" dirty="0">
              <a:cs typeface="Courier New" panose="02070309020205020404" pitchFamily="49" charset="0"/>
            </a:endParaRPr>
          </a:p>
          <a:p>
            <a:pPr marL="0" indent="0" algn="ctr">
              <a:buNone/>
            </a:pPr>
            <a:r>
              <a:rPr lang="en-US" sz="2000" b="1" dirty="0">
                <a:cs typeface="Courier New" panose="02070309020205020404" pitchFamily="49" charset="0"/>
              </a:rPr>
              <a:t>DOM</a:t>
            </a:r>
            <a:r>
              <a:rPr lang="en-US" sz="2000" dirty="0">
                <a:cs typeface="Courier New" panose="02070309020205020404" pitchFamily="49" charset="0"/>
              </a:rPr>
              <a:t> tells us what exists.</a:t>
            </a:r>
          </a:p>
          <a:p>
            <a:pPr marL="0" indent="0" algn="ctr">
              <a:buNone/>
            </a:pPr>
            <a:r>
              <a:rPr lang="en-US" sz="2000" b="1" dirty="0">
                <a:cs typeface="Courier New" panose="02070309020205020404" pitchFamily="49" charset="0"/>
              </a:rPr>
              <a:t>Locators </a:t>
            </a:r>
            <a:r>
              <a:rPr lang="en-US" sz="2000" dirty="0">
                <a:cs typeface="Courier New" panose="02070309020205020404" pitchFamily="49" charset="0"/>
              </a:rPr>
              <a:t>tell Selenium how to find it.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7CDEDA6-41B8-4F6A-A1C5-0B01BC64B6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579290" y="2059826"/>
            <a:ext cx="1851820" cy="1318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7780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4646E-5E98-42D9-A894-7BACDEE07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53492"/>
            <a:ext cx="7729728" cy="1188720"/>
          </a:xfrm>
        </p:spPr>
        <p:txBody>
          <a:bodyPr>
            <a:normAutofit/>
          </a:bodyPr>
          <a:lstStyle/>
          <a:p>
            <a:r>
              <a:rPr lang="en-US" b="1" dirty="0"/>
              <a:t>Developer Tools: See What Selenium Sees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4F53A6-A716-4978-8B41-7052929C30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1666240"/>
            <a:ext cx="7729728" cy="5090160"/>
          </a:xfrm>
        </p:spPr>
        <p:txBody>
          <a:bodyPr>
            <a:normAutofit/>
          </a:bodyPr>
          <a:lstStyle/>
          <a:p>
            <a:pPr algn="just"/>
            <a:r>
              <a:rPr lang="en-US" sz="2000" b="1" dirty="0"/>
              <a:t>Try it yourself </a:t>
            </a:r>
          </a:p>
          <a:p>
            <a:pPr lvl="1" algn="just"/>
            <a:r>
              <a:rPr lang="en-US" sz="1800" dirty="0"/>
              <a:t>Open a webpage.</a:t>
            </a:r>
          </a:p>
          <a:p>
            <a:pPr lvl="1" algn="just"/>
            <a:r>
              <a:rPr lang="en-US" sz="1800" dirty="0"/>
              <a:t>Right-click a button.</a:t>
            </a:r>
          </a:p>
          <a:p>
            <a:pPr lvl="1" algn="just"/>
            <a:r>
              <a:rPr lang="en-US" sz="1800" dirty="0"/>
              <a:t>Select Inspect.</a:t>
            </a:r>
          </a:p>
          <a:p>
            <a:pPr lvl="1" algn="just"/>
            <a:r>
              <a:rPr lang="en-US" sz="1800" dirty="0"/>
              <a:t>Find the corresponding HTML element.</a:t>
            </a:r>
          </a:p>
          <a:p>
            <a:pPr lvl="1" algn="just"/>
            <a:r>
              <a:rPr lang="en-US" sz="1800" b="1" dirty="0"/>
              <a:t>Identify:</a:t>
            </a:r>
          </a:p>
          <a:p>
            <a:pPr lvl="2" algn="just"/>
            <a:r>
              <a:rPr lang="en-US" sz="1800" dirty="0"/>
              <a:t>Tags 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(&lt;p&gt;, &lt;div&gt;, &lt;a&gt;, etc.)</a:t>
            </a:r>
          </a:p>
          <a:p>
            <a:pPr lvl="2" algn="just"/>
            <a:r>
              <a:rPr lang="en-US" sz="1800" dirty="0"/>
              <a:t>Attributes 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id, class,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href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etc.)</a:t>
            </a:r>
          </a:p>
          <a:p>
            <a:pPr lvl="2" algn="just"/>
            <a:r>
              <a:rPr lang="en-US" sz="1800" dirty="0"/>
              <a:t>Text</a:t>
            </a:r>
          </a:p>
          <a:p>
            <a:pPr algn="just"/>
            <a:r>
              <a:rPr lang="en-US" sz="2000" b="1" dirty="0"/>
              <a:t>Key question?</a:t>
            </a:r>
          </a:p>
          <a:p>
            <a:pPr lvl="1" algn="just"/>
            <a:r>
              <a:rPr lang="en-US" sz="1800" dirty="0"/>
              <a:t>If I want Selenium to click this button, what information could I use to identify it?</a:t>
            </a:r>
            <a:endParaRPr lang="en-US" sz="1800" dirty="0"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61294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602B2-5CEB-49F6-9BBC-D6100A8F4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83374"/>
            <a:ext cx="7729728" cy="1188720"/>
          </a:xfrm>
        </p:spPr>
        <p:txBody>
          <a:bodyPr/>
          <a:lstStyle/>
          <a:p>
            <a:r>
              <a:rPr lang="en-US" b="1" dirty="0"/>
              <a:t>Selenium </a:t>
            </a:r>
            <a:r>
              <a:rPr lang="en-US" b="1" dirty="0" err="1"/>
              <a:t>Webdriver</a:t>
            </a:r>
            <a:r>
              <a:rPr lang="en-US" b="1" dirty="0"/>
              <a:t> and DOM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DA7F0D-2E4C-4C87-A7BD-A9C2733ACB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1730188"/>
            <a:ext cx="7729728" cy="4554071"/>
          </a:xfrm>
        </p:spPr>
        <p:txBody>
          <a:bodyPr>
            <a:normAutofit/>
          </a:bodyPr>
          <a:lstStyle/>
          <a:p>
            <a:pPr algn="just"/>
            <a:r>
              <a:rPr lang="en-US" sz="2400" dirty="0"/>
              <a:t>The role of the Selenium WebDriver is </a:t>
            </a:r>
            <a:r>
              <a:rPr lang="en-US" sz="2400" dirty="0">
                <a:solidFill>
                  <a:schemeClr val="accent1"/>
                </a:solidFill>
              </a:rPr>
              <a:t>a two-way-communication</a:t>
            </a:r>
            <a:r>
              <a:rPr lang="en-US" sz="2400" dirty="0"/>
              <a:t> with the </a:t>
            </a:r>
            <a:r>
              <a:rPr lang="en-US" sz="2400" u="sng" dirty="0"/>
              <a:t>browser DOM</a:t>
            </a:r>
            <a:r>
              <a:rPr lang="en-US" sz="2400" dirty="0"/>
              <a:t>, i.e. WebDriver passes commands to the browser and receives information back. This is done via the browser-specific driver (e.g. </a:t>
            </a:r>
            <a:r>
              <a:rPr lang="en-US" sz="2400" dirty="0" err="1"/>
              <a:t>ChromeDriver</a:t>
            </a:r>
            <a:r>
              <a:rPr lang="en-US" sz="2400" dirty="0"/>
              <a:t>).</a:t>
            </a:r>
          </a:p>
          <a:p>
            <a:pPr algn="just"/>
            <a:r>
              <a:rPr lang="en-US" sz="2400" dirty="0"/>
              <a:t>Web elements in the DOM are type cast to </a:t>
            </a:r>
            <a:r>
              <a:rPr lang="en-US" sz="2400" dirty="0" err="1"/>
              <a:t>WebElement</a:t>
            </a:r>
            <a:r>
              <a:rPr lang="en-US" sz="2400" dirty="0"/>
              <a:t> objects by the WebDriver and located using the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findElement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sz="2400" dirty="0"/>
              <a:t> method.</a:t>
            </a:r>
          </a:p>
          <a:p>
            <a:pPr lvl="1" algn="just"/>
            <a:r>
              <a:rPr lang="en-US" sz="2200" b="1" dirty="0">
                <a:solidFill>
                  <a:schemeClr val="accent1"/>
                </a:solidFill>
              </a:rPr>
              <a:t>This method takes a locator as its argument and searches through the DOM until a match is found. If no match is found a null value is returned.</a:t>
            </a:r>
          </a:p>
        </p:txBody>
      </p:sp>
    </p:spTree>
    <p:extLst>
      <p:ext uri="{BB962C8B-B14F-4D97-AF65-F5344CB8AC3E}">
        <p14:creationId xmlns:p14="http://schemas.microsoft.com/office/powerpoint/2010/main" val="14583399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602B2-5CEB-49F6-9BBC-D6100A8F4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83374"/>
            <a:ext cx="7729728" cy="1188720"/>
          </a:xfrm>
        </p:spPr>
        <p:txBody>
          <a:bodyPr/>
          <a:lstStyle/>
          <a:p>
            <a:r>
              <a:rPr lang="en-US" b="1" dirty="0"/>
              <a:t>Locating Web Elements in Selenium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DA7F0D-2E4C-4C87-A7BD-A9C2733ACB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1730188"/>
            <a:ext cx="7729728" cy="4554071"/>
          </a:xfrm>
        </p:spPr>
        <p:txBody>
          <a:bodyPr>
            <a:normAutofit/>
          </a:bodyPr>
          <a:lstStyle/>
          <a:p>
            <a:pPr algn="just"/>
            <a:r>
              <a:rPr lang="en-US" sz="2800" b="1" dirty="0"/>
              <a:t>How to Locate Web Elements: </a:t>
            </a:r>
            <a:r>
              <a:rPr lang="en-US" sz="2800" dirty="0"/>
              <a:t>Selenium uses different methods to find and interact with web elements.</a:t>
            </a:r>
          </a:p>
          <a:p>
            <a:pPr algn="just"/>
            <a:r>
              <a:rPr lang="en-US" sz="2800" b="1" dirty="0"/>
              <a:t>Locator: </a:t>
            </a:r>
            <a:r>
              <a:rPr lang="en-US" sz="2800" dirty="0">
                <a:cs typeface="Arial" panose="020B0604020202020204" pitchFamily="34" charset="0"/>
              </a:rPr>
              <a:t>A locator can be an ID, name, class name, CSS selector, or XPath expression. </a:t>
            </a:r>
          </a:p>
          <a:p>
            <a:pPr lvl="1" algn="just"/>
            <a:r>
              <a:rPr lang="en-US" sz="2400" dirty="0">
                <a:cs typeface="Arial" panose="020B0604020202020204" pitchFamily="34" charset="0"/>
              </a:rPr>
              <a:t>Using a locator, you can instruct Selenium to find a web element and perform an action on it, such as clicking a button, filling out a form, or selecting an option from a drop-down menu.</a:t>
            </a:r>
            <a:endParaRPr lang="en-PK" sz="2400" dirty="0"/>
          </a:p>
          <a:p>
            <a:pPr algn="just"/>
            <a:endParaRPr lang="en-PK" sz="2800" b="1" dirty="0"/>
          </a:p>
        </p:txBody>
      </p:sp>
    </p:spTree>
    <p:extLst>
      <p:ext uri="{BB962C8B-B14F-4D97-AF65-F5344CB8AC3E}">
        <p14:creationId xmlns:p14="http://schemas.microsoft.com/office/powerpoint/2010/main" val="22135838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602B2-5CEB-49F6-9BBC-D6100A8F4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83374"/>
            <a:ext cx="7729728" cy="1188720"/>
          </a:xfrm>
        </p:spPr>
        <p:txBody>
          <a:bodyPr/>
          <a:lstStyle/>
          <a:p>
            <a:r>
              <a:rPr lang="en-US" b="1" dirty="0"/>
              <a:t>Types of Locators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DA7F0D-2E4C-4C87-A7BD-A9C2733ACB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1730188"/>
            <a:ext cx="7729728" cy="455407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dirty="0">
                <a:cs typeface="Arial" panose="020B0604020202020204" pitchFamily="34" charset="0"/>
              </a:rPr>
              <a:t>Refer to the MS Word Document </a:t>
            </a:r>
            <a:r>
              <a:rPr lang="en-US" sz="2400" b="1" dirty="0">
                <a:cs typeface="Arial" panose="020B0604020202020204" pitchFamily="34" charset="0"/>
              </a:rPr>
              <a:t>“Types of Locators” </a:t>
            </a:r>
            <a:r>
              <a:rPr lang="en-US" sz="2400" dirty="0">
                <a:cs typeface="Arial" panose="020B0604020202020204" pitchFamily="34" charset="0"/>
              </a:rPr>
              <a:t>for detailed explanation and practice.</a:t>
            </a:r>
          </a:p>
        </p:txBody>
      </p:sp>
    </p:spTree>
    <p:extLst>
      <p:ext uri="{BB962C8B-B14F-4D97-AF65-F5344CB8AC3E}">
        <p14:creationId xmlns:p14="http://schemas.microsoft.com/office/powerpoint/2010/main" val="1866726771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675</TotalTime>
  <Words>733</Words>
  <Application>Microsoft Office PowerPoint</Application>
  <PresentationFormat>Widescreen</PresentationFormat>
  <Paragraphs>95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Courier New</vt:lpstr>
      <vt:lpstr>Gill Sans MT</vt:lpstr>
      <vt:lpstr>Parcel</vt:lpstr>
      <vt:lpstr>DOM &amp;web element locators</vt:lpstr>
      <vt:lpstr>Learning Objectives</vt:lpstr>
      <vt:lpstr>Understanding the DOM</vt:lpstr>
      <vt:lpstr>HTML → DOM → Web Page</vt:lpstr>
      <vt:lpstr>What is an HTML Element?</vt:lpstr>
      <vt:lpstr>Common HTML Elements</vt:lpstr>
      <vt:lpstr>Elements Have Attributes</vt:lpstr>
      <vt:lpstr>Why Does DOM Matter in Selenium?</vt:lpstr>
      <vt:lpstr>Developer Tools: See What Selenium Sees</vt:lpstr>
      <vt:lpstr>Selenium Webdriver and DOM</vt:lpstr>
      <vt:lpstr>Locating Web Elements in Selenium</vt:lpstr>
      <vt:lpstr>Types of Locators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Getting started with Automation using KATALON Studio</dc:title>
  <dc:creator>Hira Asim</dc:creator>
  <cp:lastModifiedBy>Hira Asim</cp:lastModifiedBy>
  <cp:revision>215</cp:revision>
  <dcterms:created xsi:type="dcterms:W3CDTF">2024-08-09T13:17:40Z</dcterms:created>
  <dcterms:modified xsi:type="dcterms:W3CDTF">2026-08-31T07:13:43Z</dcterms:modified>
</cp:coreProperties>
</file>