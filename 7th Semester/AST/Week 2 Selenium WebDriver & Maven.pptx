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21"/>
  </p:notesMasterIdLst>
  <p:sldIdLst>
    <p:sldId id="256" r:id="rId2"/>
    <p:sldId id="258" r:id="rId3"/>
    <p:sldId id="257" r:id="rId4"/>
    <p:sldId id="269" r:id="rId5"/>
    <p:sldId id="270" r:id="rId6"/>
    <p:sldId id="259" r:id="rId7"/>
    <p:sldId id="260" r:id="rId8"/>
    <p:sldId id="261" r:id="rId9"/>
    <p:sldId id="262" r:id="rId10"/>
    <p:sldId id="271" r:id="rId11"/>
    <p:sldId id="272" r:id="rId12"/>
    <p:sldId id="273" r:id="rId13"/>
    <p:sldId id="276" r:id="rId14"/>
    <p:sldId id="274" r:id="rId15"/>
    <p:sldId id="264" r:id="rId16"/>
    <p:sldId id="265" r:id="rId17"/>
    <p:sldId id="266" r:id="rId18"/>
    <p:sldId id="275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390" autoAdjust="0"/>
  </p:normalViewPr>
  <p:slideViewPr>
    <p:cSldViewPr snapToGrid="0">
      <p:cViewPr varScale="1">
        <p:scale>
          <a:sx n="48" d="100"/>
          <a:sy n="48" d="100"/>
        </p:scale>
        <p:origin x="67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A48F7-5749-461F-98AA-6E54CDD4E73C}" type="datetimeFigureOut">
              <a:rPr lang="en-PK" smtClean="0"/>
              <a:t>17/09/2026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9C4D4-2E71-4DF4-8D06-B457A9CBD8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126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C4D4-2E71-4DF4-8D06-B457A9CBD81C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8418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2956-0DEA-4CB1-9B1E-A6273EC9BD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Selenium WebDriver &amp; Maven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369250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646E-5E98-42D9-A894-7BACDEE0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3492"/>
            <a:ext cx="7729728" cy="118872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53A6-A716-4978-8B41-7052929C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6240"/>
            <a:ext cx="7729728" cy="47614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/>
              <a:t>By the end of this lecture, you should be able to:</a:t>
            </a:r>
            <a:endParaRPr lang="en-US" sz="2000" dirty="0"/>
          </a:p>
          <a:p>
            <a:pPr algn="just"/>
            <a:r>
              <a:rPr lang="en-US" sz="2000" dirty="0"/>
              <a:t>Set up a Maven-based Selenium project in IntelliJ IDEA.</a:t>
            </a:r>
          </a:p>
          <a:p>
            <a:pPr algn="just"/>
            <a:r>
              <a:rPr lang="en-US" sz="2000" dirty="0"/>
              <a:t>Configure Selenium WebDriver and TestNG dependencies using pom.xml.</a:t>
            </a:r>
          </a:p>
          <a:p>
            <a:pPr algn="just"/>
            <a:r>
              <a:rPr lang="en-US" sz="2000" dirty="0"/>
              <a:t>Launch and control web browsers using Selenium WebDriver.</a:t>
            </a:r>
          </a:p>
          <a:p>
            <a:pPr algn="just"/>
            <a:r>
              <a:rPr lang="en-US" sz="2000" dirty="0"/>
              <a:t>Locate and interact with web elements using basic Selenium commands.</a:t>
            </a:r>
          </a:p>
          <a:p>
            <a:pPr algn="just"/>
            <a:r>
              <a:rPr lang="en-US" sz="2000" dirty="0"/>
              <a:t>Create, execute, and verify automated tests using TestNG.</a:t>
            </a:r>
          </a:p>
        </p:txBody>
      </p:sp>
    </p:spTree>
    <p:extLst>
      <p:ext uri="{BB962C8B-B14F-4D97-AF65-F5344CB8AC3E}">
        <p14:creationId xmlns:p14="http://schemas.microsoft.com/office/powerpoint/2010/main" val="241834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What is Selenium?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Selenium is an </a:t>
            </a:r>
            <a:r>
              <a:rPr lang="en-US" sz="2000" u="sng" dirty="0"/>
              <a:t>automation tool</a:t>
            </a:r>
            <a:r>
              <a:rPr lang="en-US" sz="2000" dirty="0"/>
              <a:t> used mainly for creating automation tests for web based applications. </a:t>
            </a:r>
          </a:p>
          <a:p>
            <a:pPr algn="just"/>
            <a:r>
              <a:rPr lang="en-US" sz="2000" dirty="0"/>
              <a:t>It comes </a:t>
            </a:r>
            <a:r>
              <a:rPr lang="en-US" sz="2000" u="sng" dirty="0"/>
              <a:t>without any licensing cost </a:t>
            </a:r>
            <a:r>
              <a:rPr lang="en-US" sz="2000" dirty="0"/>
              <a:t>and used to automate tests on various operating systems, devices, and browsers. </a:t>
            </a:r>
          </a:p>
          <a:p>
            <a:pPr algn="just"/>
            <a:r>
              <a:rPr lang="en-US" sz="2000" dirty="0"/>
              <a:t>Selenium tests can be developed </a:t>
            </a:r>
            <a:r>
              <a:rPr lang="en-US" sz="2000" u="sng" dirty="0"/>
              <a:t>using languages</a:t>
            </a:r>
            <a:r>
              <a:rPr lang="en-US" sz="2000" dirty="0"/>
              <a:t> like Java, Python, Kotlin, JavaScript, and so on.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Example:</a:t>
            </a:r>
            <a:r>
              <a:rPr lang="en-US" sz="2000" dirty="0"/>
              <a:t> Automate the process of logging into a website (e.g., entering a username and password, then clicking "Login").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421465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Why use Selenium with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Java is widely used with Selenium for web automation because of its flexibility, strong IDE support, and large community.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781904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2734"/>
            <a:ext cx="7729728" cy="1188720"/>
          </a:xfrm>
        </p:spPr>
        <p:txBody>
          <a:bodyPr/>
          <a:lstStyle/>
          <a:p>
            <a:r>
              <a:rPr lang="en-US" b="1" dirty="0"/>
              <a:t>What is Selenium </a:t>
            </a:r>
            <a:r>
              <a:rPr lang="en-US" b="1" dirty="0" err="1"/>
              <a:t>Webdriver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WebDriver is a </a:t>
            </a:r>
            <a:r>
              <a:rPr lang="en-US" sz="2400" u="sng" dirty="0"/>
              <a:t>web automation tool</a:t>
            </a:r>
            <a:r>
              <a:rPr lang="en-US" sz="2400" dirty="0"/>
              <a:t> that interacts with </a:t>
            </a:r>
            <a:r>
              <a:rPr lang="en-US" sz="2400" b="1" u="sng" dirty="0"/>
              <a:t>web elements </a:t>
            </a:r>
            <a:r>
              <a:rPr lang="en-US" sz="2400" dirty="0"/>
              <a:t>like buttons, text boxes, links, etc.</a:t>
            </a:r>
          </a:p>
          <a:p>
            <a:pPr algn="just"/>
            <a:r>
              <a:rPr lang="en-US" sz="2400" dirty="0"/>
              <a:t>It provides a </a:t>
            </a:r>
            <a:r>
              <a:rPr lang="en-US" sz="2400" u="sng" dirty="0"/>
              <a:t>platform-independent framework</a:t>
            </a:r>
            <a:r>
              <a:rPr lang="en-US" sz="2400" dirty="0"/>
              <a:t> to automate web applications across different browsers (Chrome, Firefox, etc.).</a:t>
            </a:r>
          </a:p>
          <a:p>
            <a:pPr algn="just"/>
            <a:r>
              <a:rPr lang="en-US" sz="2400" dirty="0">
                <a:solidFill>
                  <a:srgbClr val="00B050"/>
                </a:solidFill>
              </a:rPr>
              <a:t>Selenium WebDriver is a component of the Selenium suite used for automating web applications for testing purposes.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It provides a programming interface to create and execute test scripts that interact with web browsers.</a:t>
            </a:r>
          </a:p>
          <a:p>
            <a:pPr algn="just"/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77007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Key Feature of Selenium </a:t>
            </a:r>
            <a:r>
              <a:rPr lang="en-US" b="1" dirty="0" err="1"/>
              <a:t>Webdriver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r>
              <a:rPr lang="en-US" b="1" dirty="0"/>
              <a:t>1. Browser Automation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Automate navigation and interactions within the Daraz.pk web application.</a:t>
            </a:r>
          </a:p>
          <a:p>
            <a:pPr algn="just"/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42FAFF-DF09-4375-819C-ED1AB882D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941447"/>
              </p:ext>
            </p:extLst>
          </p:nvPr>
        </p:nvGraphicFramePr>
        <p:xfrm>
          <a:off x="2617216" y="2975186"/>
          <a:ext cx="7729728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29728">
                  <a:extLst>
                    <a:ext uri="{9D8B030D-6E8A-4147-A177-3AD203B41FA5}">
                      <a16:colId xmlns:a16="http://schemas.microsoft.com/office/drawing/2014/main" val="3903454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WebDriver driver = new 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ChromeDriver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(); // Instantiate 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ChromeDriver</a:t>
                      </a:r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driver.get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("https://www.daraz.pk"); // Open Daraz.pk</a:t>
                      </a:r>
                    </a:p>
                    <a:p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driver.findElement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By.linkText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("Mobiles &amp; Tablets")).click(); // Click on "Mobiles &amp; Tablets"</a:t>
                      </a:r>
                    </a:p>
                    <a:p>
                      <a:endParaRPr lang="en-PK" sz="1800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94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33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Key Feature of Selenium </a:t>
            </a:r>
            <a:r>
              <a:rPr lang="en-US" b="1" dirty="0" err="1"/>
              <a:t>Webdriver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r>
              <a:rPr lang="en-US" b="1" dirty="0"/>
              <a:t>2. Cross-Browser Support</a:t>
            </a:r>
            <a:r>
              <a:rPr lang="en-US" dirty="0"/>
              <a:t>:</a:t>
            </a:r>
          </a:p>
          <a:p>
            <a:r>
              <a:rPr lang="en-US" b="1" dirty="0"/>
              <a:t>Example</a:t>
            </a:r>
            <a:r>
              <a:rPr lang="en-US" dirty="0"/>
              <a:t>: Run the same test script on different browsers.</a:t>
            </a:r>
          </a:p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42FAFF-DF09-4375-819C-ED1AB882DD0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07056" y="2682539"/>
          <a:ext cx="7729728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29728">
                  <a:extLst>
                    <a:ext uri="{9D8B030D-6E8A-4147-A177-3AD203B41FA5}">
                      <a16:colId xmlns:a16="http://schemas.microsoft.com/office/drawing/2014/main" val="3903454579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WebDriver driver; // Declare WebDriver variable</a:t>
                      </a:r>
                    </a:p>
                    <a:p>
                      <a:pPr algn="just"/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String browser = "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firefox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"; // Set the desired browser</a:t>
                      </a:r>
                    </a:p>
                    <a:p>
                      <a:pPr algn="just"/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if (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browser.equals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("chrome")) {</a:t>
                      </a:r>
                    </a:p>
                    <a:p>
                      <a:pPr algn="just"/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    driver = new 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ChromeDriver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(); // Use 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ChromeDriver</a:t>
                      </a:r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} else if (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browser.equals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("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firefox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")) {</a:t>
                      </a:r>
                    </a:p>
                    <a:p>
                      <a:pPr algn="just"/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    driver = new 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FirefoxDriver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(); // Use </a:t>
                      </a:r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FirefoxDriver</a:t>
                      </a:r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}</a:t>
                      </a:r>
                    </a:p>
                    <a:p>
                      <a:pPr algn="just"/>
                      <a:endParaRPr lang="en-US" sz="18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r>
                        <a:rPr lang="en-US" sz="1800" dirty="0" err="1">
                          <a:latin typeface="+mn-lt"/>
                          <a:cs typeface="Courier New" panose="02070309020205020404" pitchFamily="49" charset="0"/>
                        </a:rPr>
                        <a:t>driver.get</a:t>
                      </a:r>
                      <a:r>
                        <a:rPr lang="en-US" sz="1800" dirty="0">
                          <a:latin typeface="+mn-lt"/>
                          <a:cs typeface="Courier New" panose="02070309020205020404" pitchFamily="49" charset="0"/>
                        </a:rPr>
                        <a:t>("https://www.daraz.pk"); // Open Daraz.pk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94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58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Key Feature of Selenium </a:t>
            </a:r>
            <a:r>
              <a:rPr lang="en-US" b="1" dirty="0" err="1"/>
              <a:t>Webdriver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r>
              <a:rPr lang="en-US" b="1" dirty="0"/>
              <a:t>3. Language Support:</a:t>
            </a:r>
          </a:p>
          <a:p>
            <a:r>
              <a:rPr lang="en-US" b="1" dirty="0"/>
              <a:t>Example: </a:t>
            </a:r>
            <a:r>
              <a:rPr lang="en-US" dirty="0"/>
              <a:t>Write tests in different programming languages.</a:t>
            </a:r>
          </a:p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42FAFF-DF09-4375-819C-ED1AB882D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887364"/>
              </p:ext>
            </p:extLst>
          </p:nvPr>
        </p:nvGraphicFramePr>
        <p:xfrm>
          <a:off x="2586736" y="2742302"/>
          <a:ext cx="7729728" cy="31403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29728">
                  <a:extLst>
                    <a:ext uri="{9D8B030D-6E8A-4147-A177-3AD203B41FA5}">
                      <a16:colId xmlns:a16="http://schemas.microsoft.com/office/drawing/2014/main" val="3903454579"/>
                    </a:ext>
                  </a:extLst>
                </a:gridCol>
              </a:tblGrid>
              <a:tr h="3140337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// Java Example</a:t>
                      </a:r>
                    </a:p>
                    <a:p>
                      <a:pPr algn="just"/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WebDriver driver = new </a:t>
                      </a:r>
                      <a:r>
                        <a:rPr lang="en-US" sz="2000" dirty="0" err="1">
                          <a:latin typeface="+mn-lt"/>
                          <a:cs typeface="Courier New" panose="02070309020205020404" pitchFamily="49" charset="0"/>
                        </a:rPr>
                        <a:t>ChromeDriver</a:t>
                      </a:r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();</a:t>
                      </a:r>
                    </a:p>
                    <a:p>
                      <a:pPr algn="just"/>
                      <a:r>
                        <a:rPr lang="en-US" sz="2000" dirty="0" err="1">
                          <a:latin typeface="+mn-lt"/>
                          <a:cs typeface="Courier New" panose="02070309020205020404" pitchFamily="49" charset="0"/>
                        </a:rPr>
                        <a:t>driver.get</a:t>
                      </a:r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("https://www.daraz.pk"); // Open Daraz.pk</a:t>
                      </a:r>
                    </a:p>
                    <a:p>
                      <a:pPr algn="just"/>
                      <a:endParaRPr lang="en-US" sz="20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// Python Example</a:t>
                      </a:r>
                    </a:p>
                    <a:p>
                      <a:pPr algn="just"/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from selenium import </a:t>
                      </a:r>
                      <a:r>
                        <a:rPr lang="en-US" sz="2000" dirty="0" err="1">
                          <a:latin typeface="+mn-lt"/>
                          <a:cs typeface="Courier New" panose="02070309020205020404" pitchFamily="49" charset="0"/>
                        </a:rPr>
                        <a:t>webdriver</a:t>
                      </a:r>
                      <a:endParaRPr lang="en-US" sz="2000" dirty="0">
                        <a:latin typeface="+mn-lt"/>
                        <a:cs typeface="Courier New" panose="02070309020205020404" pitchFamily="49" charset="0"/>
                      </a:endParaRPr>
                    </a:p>
                    <a:p>
                      <a:pPr algn="just"/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driver = </a:t>
                      </a:r>
                      <a:r>
                        <a:rPr lang="en-US" sz="2000" dirty="0" err="1">
                          <a:latin typeface="+mn-lt"/>
                          <a:cs typeface="Courier New" panose="02070309020205020404" pitchFamily="49" charset="0"/>
                        </a:rPr>
                        <a:t>webdriver.Chrome</a:t>
                      </a:r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algn="just"/>
                      <a:r>
                        <a:rPr lang="en-US" sz="2000" dirty="0" err="1">
                          <a:latin typeface="+mn-lt"/>
                          <a:cs typeface="Courier New" panose="02070309020205020404" pitchFamily="49" charset="0"/>
                        </a:rPr>
                        <a:t>driver.get</a:t>
                      </a:r>
                      <a:r>
                        <a:rPr lang="en-US" sz="2000" dirty="0">
                          <a:latin typeface="+mn-lt"/>
                          <a:cs typeface="Courier New" panose="02070309020205020404" pitchFamily="49" charset="0"/>
                        </a:rPr>
                        <a:t>("https://www.daraz.pk")  # Open Daraz.pk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94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329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Why Use WebDriver?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Selenium WebDriver is essential for automating tests, </a:t>
            </a:r>
            <a:r>
              <a:rPr lang="en-US" sz="2800" dirty="0">
                <a:solidFill>
                  <a:srgbClr val="0070C0"/>
                </a:solidFill>
              </a:rPr>
              <a:t>ensuring that web applications function correctly</a:t>
            </a:r>
            <a:r>
              <a:rPr lang="en-US" sz="2800" dirty="0"/>
              <a:t> after updates or changes, and facilitating continuous integration and delivery in software development.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96335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What is Maven?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lvl="1" algn="just"/>
            <a:r>
              <a:rPr lang="en-PK" sz="2400" b="1" dirty="0"/>
              <a:t>Maven</a:t>
            </a:r>
            <a:r>
              <a:rPr lang="en-PK" sz="2400" dirty="0"/>
              <a:t> is a build automation and project management tool primarily for Java projects. </a:t>
            </a:r>
            <a:endParaRPr lang="en-US" sz="2400" dirty="0"/>
          </a:p>
          <a:p>
            <a:pPr lvl="1" algn="just"/>
            <a:r>
              <a:rPr lang="en-PK" sz="2400" dirty="0"/>
              <a:t>In Selenium automation, Maven </a:t>
            </a:r>
            <a:r>
              <a:rPr lang="en-PK" sz="2400" b="1" dirty="0"/>
              <a:t>simplifies project setup by handling dependencies and libraries</a:t>
            </a:r>
            <a:r>
              <a:rPr lang="en-PK" sz="2400" dirty="0"/>
              <a:t>, which are essential for a well-functioning automation project. </a:t>
            </a:r>
            <a:endParaRPr lang="en-US" sz="2400" dirty="0"/>
          </a:p>
          <a:p>
            <a:pPr lvl="1" algn="just"/>
            <a:r>
              <a:rPr lang="en-PK" sz="2400" b="1" dirty="0">
                <a:solidFill>
                  <a:srgbClr val="00B050"/>
                </a:solidFill>
              </a:rPr>
              <a:t>Using Maven, we can specify dependencies (such as Selenium and TestNG) in a single file (pom.xml), and Maven will download and manage them automatically.</a:t>
            </a:r>
            <a:endParaRPr lang="en-PK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24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PK" b="1" dirty="0"/>
              <a:t>What is TestNG?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lvl="1" algn="just"/>
            <a:r>
              <a:rPr lang="en-PK" sz="2800" b="1" dirty="0"/>
              <a:t>TestNG</a:t>
            </a:r>
            <a:r>
              <a:rPr lang="en-PK" sz="2800" dirty="0"/>
              <a:t> is a testing framework </a:t>
            </a:r>
            <a:r>
              <a:rPr lang="en-US" sz="2800" dirty="0"/>
              <a:t>used to organize and execute automated tests</a:t>
            </a:r>
            <a:r>
              <a:rPr lang="en-PK" sz="2800" dirty="0"/>
              <a:t>. </a:t>
            </a:r>
            <a:endParaRPr lang="en-US" sz="2800" dirty="0"/>
          </a:p>
          <a:p>
            <a:pPr lvl="1" algn="just"/>
            <a:r>
              <a:rPr lang="en-PK" sz="2800" dirty="0"/>
              <a:t>TestNG allows you to design a structured, reusable test automation framework and </a:t>
            </a:r>
            <a:r>
              <a:rPr lang="en-PK" sz="2800" b="1" dirty="0"/>
              <a:t>easily organize test cases</a:t>
            </a:r>
            <a:r>
              <a:rPr lang="en-US" sz="2800" b="1" dirty="0"/>
              <a:t>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95649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What are Annotations in TestNG?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33F486-7EFC-4069-8A37-1E7F4C093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9686"/>
            <a:ext cx="7729728" cy="48349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dirty="0"/>
              <a:t>Annotations are metadata tags used to control test execution. They indicate methods that will run before or after tests, setup and teardown actions, and more.</a:t>
            </a:r>
          </a:p>
          <a:p>
            <a:pPr algn="just"/>
            <a:endParaRPr lang="en-US" sz="2600" dirty="0"/>
          </a:p>
          <a:p>
            <a:pPr algn="just"/>
            <a:r>
              <a:rPr lang="en-US" sz="2600" b="1" dirty="0"/>
              <a:t>Common Annotations in TestNG</a:t>
            </a:r>
          </a:p>
          <a:p>
            <a:pPr marL="571500" lvl="1" indent="-342900" algn="just">
              <a:buFont typeface="+mj-lt"/>
              <a:buAutoNum type="arabicPeriod"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BeforeClass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300" dirty="0"/>
              <a:t>Runs once before any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r>
              <a:rPr lang="en-US" sz="2300" dirty="0"/>
              <a:t> method in the class.</a:t>
            </a:r>
          </a:p>
          <a:p>
            <a:pPr marL="571500" lvl="1" indent="-342900" algn="just">
              <a:buFont typeface="+mj-lt"/>
              <a:buAutoNum type="arabicPeriod"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AfterClass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300" dirty="0"/>
              <a:t>Runs once after all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r>
              <a:rPr lang="en-US" sz="2300" dirty="0"/>
              <a:t> methods in the class.</a:t>
            </a:r>
          </a:p>
          <a:p>
            <a:pPr marL="571500" lvl="1" indent="-342900" algn="just">
              <a:buFont typeface="+mj-lt"/>
              <a:buAutoNum type="arabicPeriod"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BeforeMethod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300" dirty="0"/>
              <a:t>Runs before each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r>
              <a:rPr lang="en-US" sz="2300" dirty="0"/>
              <a:t> method.</a:t>
            </a:r>
          </a:p>
          <a:p>
            <a:pPr marL="571500" lvl="1" indent="-342900" algn="just">
              <a:buFont typeface="+mj-lt"/>
              <a:buAutoNum type="arabicPeriod"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AfterMethod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300" dirty="0"/>
              <a:t>Runs after each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r>
              <a:rPr lang="en-US" sz="2300" dirty="0"/>
              <a:t> method.</a:t>
            </a:r>
          </a:p>
          <a:p>
            <a:pPr marL="571500" lvl="1" indent="-342900" algn="just">
              <a:buFont typeface="+mj-lt"/>
              <a:buAutoNum type="arabicPeriod"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@Test: </a:t>
            </a:r>
            <a:r>
              <a:rPr lang="en-US" sz="2300" dirty="0"/>
              <a:t>Marks a method as a test case.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93426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Example: Annotations in TestNG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33F486-7EFC-4069-8A37-1E7F4C093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9686"/>
            <a:ext cx="7729728" cy="483494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("Setup");</a:t>
            </a: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("Test");</a:t>
            </a: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tearDown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("Cleanup");</a:t>
            </a:r>
          </a:p>
          <a:p>
            <a:pPr marL="0" indent="0" algn="just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P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BD8AE-4466-4600-BFB8-5AAA0F26DADF}"/>
              </a:ext>
            </a:extLst>
          </p:cNvPr>
          <p:cNvSpPr txBox="1"/>
          <p:nvPr/>
        </p:nvSpPr>
        <p:spPr>
          <a:xfrm>
            <a:off x="8871284" y="2614863"/>
            <a:ext cx="2406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Execution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1CC39-BF9F-4661-BBB6-F2DB2313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667" y="3145300"/>
            <a:ext cx="1916394" cy="202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27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Step-by-Step Guide to Creating a Maven Project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lvl="1" algn="just"/>
            <a:r>
              <a:rPr lang="en-US" sz="2800" dirty="0">
                <a:solidFill>
                  <a:schemeClr val="tx1"/>
                </a:solidFill>
              </a:rPr>
              <a:t>For detailed guidance, refer to the MS Word document </a:t>
            </a:r>
            <a:r>
              <a:rPr lang="en-US" sz="2800" b="1" dirty="0">
                <a:solidFill>
                  <a:schemeClr val="tx1"/>
                </a:solidFill>
              </a:rPr>
              <a:t>“Create a Maven Project with TestNG in Selenium”</a:t>
            </a:r>
            <a:endParaRPr lang="en-PK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424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Basic Selenium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r>
              <a:rPr lang="en-US" sz="2000" b="1" dirty="0"/>
              <a:t>Common Selenium Commands</a:t>
            </a:r>
            <a:r>
              <a:rPr lang="en-US" sz="2000" dirty="0"/>
              <a:t>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800" dirty="0"/>
              <a:t>get("URL"): 		Opens a website.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800" dirty="0" err="1"/>
              <a:t>findElement</a:t>
            </a:r>
            <a:r>
              <a:rPr lang="en-US" sz="1800" dirty="0"/>
              <a:t>(By): 	Finds an element (by ID, class, etc.).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800" dirty="0"/>
              <a:t>click(): 		Clicks on an element (like a button).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800" dirty="0" err="1"/>
              <a:t>sendKeys</a:t>
            </a:r>
            <a:r>
              <a:rPr lang="en-US" sz="1800" dirty="0"/>
              <a:t>(): 		Inputs text into a field.</a:t>
            </a:r>
          </a:p>
          <a:p>
            <a:r>
              <a:rPr lang="en-US" sz="2000" b="1" dirty="0"/>
              <a:t>Example</a:t>
            </a:r>
            <a:r>
              <a:rPr lang="en-US" sz="2000" dirty="0"/>
              <a:t>: Automating login: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394760-2E3B-4C3D-83AB-A94B77729A7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479040" y="4295986"/>
          <a:ext cx="81280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373835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driver.get</a:t>
                      </a:r>
                      <a:r>
                        <a:rPr lang="en-US" dirty="0"/>
                        <a:t>("https://example.com");</a:t>
                      </a:r>
                    </a:p>
                    <a:p>
                      <a:r>
                        <a:rPr lang="en-US" dirty="0" err="1"/>
                        <a:t>driver.findElement</a:t>
                      </a:r>
                      <a:r>
                        <a:rPr lang="en-US" dirty="0"/>
                        <a:t>(By.id("username")).</a:t>
                      </a:r>
                      <a:r>
                        <a:rPr lang="en-US" dirty="0" err="1"/>
                        <a:t>sendKeys</a:t>
                      </a:r>
                      <a:r>
                        <a:rPr lang="en-US" dirty="0"/>
                        <a:t>("user123");</a:t>
                      </a:r>
                    </a:p>
                    <a:p>
                      <a:r>
                        <a:rPr lang="en-US" dirty="0" err="1"/>
                        <a:t>driver.findElement</a:t>
                      </a:r>
                      <a:r>
                        <a:rPr lang="en-US" dirty="0"/>
                        <a:t>(By.id("password")).</a:t>
                      </a:r>
                      <a:r>
                        <a:rPr lang="en-US" dirty="0" err="1"/>
                        <a:t>sendKeys</a:t>
                      </a:r>
                      <a:r>
                        <a:rPr lang="en-US" dirty="0"/>
                        <a:t>("password");</a:t>
                      </a:r>
                    </a:p>
                    <a:p>
                      <a:r>
                        <a:rPr lang="en-US" dirty="0" err="1"/>
                        <a:t>driver.findElement</a:t>
                      </a:r>
                      <a:r>
                        <a:rPr lang="en-US" dirty="0"/>
                        <a:t>(By.id("login")).click();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81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49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Working with </a:t>
            </a:r>
            <a:r>
              <a:rPr lang="en-US" b="1" dirty="0" err="1"/>
              <a:t>WebDrivers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What is WebDriver?</a:t>
            </a:r>
          </a:p>
          <a:p>
            <a:pPr lvl="1" algn="just"/>
            <a:r>
              <a:rPr lang="en-US" sz="1800" dirty="0"/>
              <a:t>A browser automation tool that interacts with web pages.</a:t>
            </a:r>
          </a:p>
          <a:p>
            <a:pPr algn="just"/>
            <a:r>
              <a:rPr lang="en-US" sz="2000" b="1" dirty="0"/>
              <a:t>Types of </a:t>
            </a:r>
            <a:r>
              <a:rPr lang="en-US" sz="2000" b="1" dirty="0" err="1"/>
              <a:t>WebDrivers</a:t>
            </a:r>
            <a:r>
              <a:rPr lang="en-US" sz="2000" b="1" dirty="0"/>
              <a:t>:</a:t>
            </a:r>
          </a:p>
          <a:p>
            <a:pPr lvl="1" algn="just"/>
            <a:r>
              <a:rPr lang="en-US" sz="1800" dirty="0" err="1"/>
              <a:t>ChromeDriver</a:t>
            </a:r>
            <a:r>
              <a:rPr lang="en-US" sz="1800" dirty="0"/>
              <a:t>: Controls Chrome.</a:t>
            </a:r>
          </a:p>
          <a:p>
            <a:pPr lvl="1" algn="just"/>
            <a:r>
              <a:rPr lang="en-US" sz="1800" dirty="0" err="1"/>
              <a:t>FirefoxDriver</a:t>
            </a:r>
            <a:r>
              <a:rPr lang="en-US" sz="1800" dirty="0"/>
              <a:t>: Controls Firefox.</a:t>
            </a:r>
          </a:p>
          <a:p>
            <a:pPr algn="just"/>
            <a:r>
              <a:rPr lang="en-US" sz="2000" b="1" dirty="0"/>
              <a:t>Browser Setup:</a:t>
            </a:r>
          </a:p>
          <a:p>
            <a:pPr lvl="1" algn="just"/>
            <a:r>
              <a:rPr lang="en-US" sz="1800" dirty="0"/>
              <a:t>You need browser drivers like </a:t>
            </a:r>
            <a:r>
              <a:rPr lang="en-US" sz="1800" dirty="0" err="1"/>
              <a:t>ChromeDriver</a:t>
            </a:r>
            <a:r>
              <a:rPr lang="en-US" sz="1800" dirty="0"/>
              <a:t> or </a:t>
            </a:r>
            <a:r>
              <a:rPr lang="en-US" sz="1800" dirty="0" err="1"/>
              <a:t>GeckoDriver</a:t>
            </a:r>
            <a:r>
              <a:rPr lang="en-US" sz="1800" dirty="0"/>
              <a:t> to interact with browsers.</a:t>
            </a:r>
          </a:p>
          <a:p>
            <a:pPr algn="just"/>
            <a:r>
              <a:rPr lang="en-US" sz="2000" b="1" dirty="0"/>
              <a:t>Example: </a:t>
            </a:r>
            <a:r>
              <a:rPr lang="en-US" sz="2000" dirty="0"/>
              <a:t>Launch Chrome and open a website:</a:t>
            </a:r>
          </a:p>
          <a:p>
            <a:pPr algn="just"/>
            <a:endParaRPr lang="en-US" sz="2000" dirty="0"/>
          </a:p>
          <a:p>
            <a:pPr algn="just"/>
            <a:endParaRPr lang="en-PK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6A37B1-59A8-437C-A412-EA0D3403B6B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50160" y="5464386"/>
          <a:ext cx="81280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017965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n-NO" dirty="0"/>
                        <a:t>WebDriver driver = new ChromeDriver();</a:t>
                      </a:r>
                    </a:p>
                    <a:p>
                      <a:r>
                        <a:rPr lang="nn-NO" dirty="0"/>
                        <a:t>driver.get("https://www.wikipedia.org");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75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54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Learning WebDriver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0" y="1730188"/>
            <a:ext cx="8148320" cy="5005892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Key WebDriver Functions:</a:t>
            </a:r>
            <a:endParaRPr lang="en-US" dirty="0"/>
          </a:p>
          <a:p>
            <a:pPr lvl="1" algn="just"/>
            <a:r>
              <a:rPr lang="en-US" dirty="0" err="1"/>
              <a:t>getTitle</a:t>
            </a:r>
            <a:r>
              <a:rPr lang="en-US" dirty="0"/>
              <a:t>(): 		Retrieves the title of the webpage.</a:t>
            </a:r>
          </a:p>
          <a:p>
            <a:pPr lvl="1" algn="just"/>
            <a:r>
              <a:rPr lang="en-US" dirty="0" err="1"/>
              <a:t>getCurrentUrl</a:t>
            </a:r>
            <a:r>
              <a:rPr lang="en-US" dirty="0"/>
              <a:t>(): 	Gets the current page’s URL.</a:t>
            </a:r>
          </a:p>
          <a:p>
            <a:pPr lvl="1" algn="just"/>
            <a:r>
              <a:rPr lang="en-US" dirty="0"/>
              <a:t>close(): 		Closes the current window.</a:t>
            </a:r>
          </a:p>
          <a:p>
            <a:pPr lvl="1" algn="just"/>
            <a:r>
              <a:rPr lang="en-US" dirty="0"/>
              <a:t>quit(): 		Closes all browser windows and ends the session.</a:t>
            </a:r>
          </a:p>
          <a:p>
            <a:pPr algn="just"/>
            <a:endParaRPr lang="en-US" sz="1800" dirty="0"/>
          </a:p>
          <a:p>
            <a:pPr algn="just"/>
            <a:r>
              <a:rPr lang="en-US" sz="2000" b="1" dirty="0"/>
              <a:t>Example: </a:t>
            </a:r>
            <a:r>
              <a:rPr lang="en-US" sz="2000" dirty="0"/>
              <a:t>Retrieve page title and close the browser: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PK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6A37B1-59A8-437C-A412-EA0D3403B6B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489200" y="4529666"/>
          <a:ext cx="601472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14720">
                  <a:extLst>
                    <a:ext uri="{9D8B030D-6E8A-4147-A177-3AD203B41FA5}">
                      <a16:colId xmlns:a16="http://schemas.microsoft.com/office/drawing/2014/main" val="3017965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n-NO" dirty="0"/>
                        <a:t>String title = driver.getTitle();</a:t>
                      </a:r>
                    </a:p>
                    <a:p>
                      <a:r>
                        <a:rPr lang="nn-NO" dirty="0"/>
                        <a:t>System.out.println("Page Title: " + title);</a:t>
                      </a:r>
                    </a:p>
                    <a:p>
                      <a:r>
                        <a:rPr lang="nn-NO" dirty="0"/>
                        <a:t>driver.quit();</a:t>
                      </a:r>
                    </a:p>
                    <a:p>
                      <a:endParaRPr lang="nn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75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587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Selenium basic commands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lvl="1" algn="just"/>
            <a:r>
              <a:rPr lang="en-US" sz="2800" dirty="0">
                <a:solidFill>
                  <a:schemeClr val="tx1"/>
                </a:solidFill>
              </a:rPr>
              <a:t>For detailed guidance, refer to the MS Word document </a:t>
            </a:r>
            <a:r>
              <a:rPr lang="en-US" sz="2800" b="1" dirty="0">
                <a:solidFill>
                  <a:schemeClr val="tx1"/>
                </a:solidFill>
              </a:rPr>
              <a:t>“Selenium </a:t>
            </a:r>
            <a:r>
              <a:rPr lang="en-US" sz="2800" b="1">
                <a:solidFill>
                  <a:schemeClr val="tx1"/>
                </a:solidFill>
              </a:rPr>
              <a:t>Basic Commands”</a:t>
            </a:r>
            <a:endParaRPr lang="en-PK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651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02B2-5CEB-49F6-9BBC-D6100A8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374"/>
            <a:ext cx="7729728" cy="1188720"/>
          </a:xfrm>
        </p:spPr>
        <p:txBody>
          <a:bodyPr/>
          <a:lstStyle/>
          <a:p>
            <a:r>
              <a:rPr lang="en-US" b="1" dirty="0"/>
              <a:t>Selenium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7F0D-2E4C-4C87-A7BD-A9C2733AC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30188"/>
            <a:ext cx="7729728" cy="4554071"/>
          </a:xfrm>
        </p:spPr>
        <p:txBody>
          <a:bodyPr>
            <a:normAutofit/>
          </a:bodyPr>
          <a:lstStyle/>
          <a:p>
            <a:pPr lvl="1" algn="just"/>
            <a:r>
              <a:rPr lang="en-US" sz="2400" dirty="0"/>
              <a:t>Automates browser interactions.</a:t>
            </a:r>
          </a:p>
          <a:p>
            <a:pPr lvl="1" algn="just"/>
            <a:r>
              <a:rPr lang="en-US" sz="2400" dirty="0"/>
              <a:t>Supports Java with IntelliJ setup.</a:t>
            </a:r>
          </a:p>
          <a:p>
            <a:pPr lvl="1" algn="just"/>
            <a:r>
              <a:rPr lang="en-US" sz="2400" dirty="0"/>
              <a:t>Easy-to-learn basic commands for web testing.</a:t>
            </a:r>
          </a:p>
          <a:p>
            <a:pPr lvl="1" algn="just"/>
            <a:r>
              <a:rPr lang="en-US" sz="2400" dirty="0"/>
              <a:t>Best practices ensure maintainable and scalable test automation.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54232074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160</TotalTime>
  <Words>1148</Words>
  <Application>Microsoft Office PowerPoint</Application>
  <PresentationFormat>Widescreen</PresentationFormat>
  <Paragraphs>137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 New</vt:lpstr>
      <vt:lpstr>Gill Sans MT</vt:lpstr>
      <vt:lpstr>Parcel</vt:lpstr>
      <vt:lpstr>Selenium WebDriver &amp; Maven</vt:lpstr>
      <vt:lpstr>Learning Objectives</vt:lpstr>
      <vt:lpstr>What is Selenium?</vt:lpstr>
      <vt:lpstr>Why use Selenium with Java?</vt:lpstr>
      <vt:lpstr>What is Selenium Webdriver?</vt:lpstr>
      <vt:lpstr>Key Feature of Selenium Webdriver</vt:lpstr>
      <vt:lpstr>Key Feature of Selenium Webdriver</vt:lpstr>
      <vt:lpstr>Key Feature of Selenium Webdriver</vt:lpstr>
      <vt:lpstr>Why Use WebDriver?</vt:lpstr>
      <vt:lpstr>What is Maven?</vt:lpstr>
      <vt:lpstr>What is TestNG?</vt:lpstr>
      <vt:lpstr>What are Annotations in TestNG?</vt:lpstr>
      <vt:lpstr>Example: Annotations in TestNG</vt:lpstr>
      <vt:lpstr>Step-by-Step Guide to Creating a Maven Project</vt:lpstr>
      <vt:lpstr>Basic Selenium Commands</vt:lpstr>
      <vt:lpstr>Working with WebDrivers</vt:lpstr>
      <vt:lpstr>Learning WebDriver Functions</vt:lpstr>
      <vt:lpstr>Selenium basic commands</vt:lpstr>
      <vt:lpstr>Selenium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Testing: Manual vs. Automation</dc:title>
  <dc:creator>Hira Asim</dc:creator>
  <cp:lastModifiedBy>Hira Asim</cp:lastModifiedBy>
  <cp:revision>51</cp:revision>
  <dcterms:created xsi:type="dcterms:W3CDTF">2024-08-08T09:13:30Z</dcterms:created>
  <dcterms:modified xsi:type="dcterms:W3CDTF">2026-09-17T07:54:11Z</dcterms:modified>
</cp:coreProperties>
</file>