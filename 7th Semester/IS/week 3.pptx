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20.fntdata" ContentType="application/x-fontdata"/>
  <Override PartName="/ppt/fonts/font21.fntdata" ContentType="application/x-fontdata"/>
  <Override PartName="/ppt/fonts/font22.fntdata" ContentType="application/x-fontdata"/>
  <Override PartName="/ppt/fonts/font23.fntdata" ContentType="application/x-fontdata"/>
  <Override PartName="/ppt/fonts/font24.fntdata" ContentType="application/x-fontdata"/>
  <Override PartName="/ppt/fonts/font25.fntdata" ContentType="application/x-fontdata"/>
  <Override PartName="/ppt/fonts/font26.fntdata" ContentType="application/x-fontdata"/>
  <Override PartName="/ppt/fonts/font27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4.svg" ContentType="image/svg+xml"/>
  <Override PartName="/ppt/media/image17.svg" ContentType="image/svg+xml"/>
  <Override PartName="/ppt/media/image25.svg" ContentType="image/svg+xml"/>
  <Override PartName="/ppt/media/image27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66" r:id="rId3"/>
    <p:sldId id="267" r:id="rId5"/>
    <p:sldId id="256" r:id="rId6"/>
    <p:sldId id="269" r:id="rId7"/>
    <p:sldId id="268" r:id="rId8"/>
    <p:sldId id="258" r:id="rId9"/>
    <p:sldId id="259" r:id="rId10"/>
    <p:sldId id="260" r:id="rId11"/>
    <p:sldId id="261" r:id="rId12"/>
    <p:sldId id="270" r:id="rId13"/>
    <p:sldId id="271" r:id="rId14"/>
    <p:sldId id="262" r:id="rId15"/>
    <p:sldId id="263" r:id="rId16"/>
    <p:sldId id="272" r:id="rId17"/>
    <p:sldId id="273" r:id="rId18"/>
    <p:sldId id="264" r:id="rId19"/>
    <p:sldId id="265" r:id="rId20"/>
  </p:sldIdLst>
  <p:sldSz cx="12192000" cy="6858000"/>
  <p:notesSz cx="6858000" cy="12192000"/>
  <p:embeddedFontLst>
    <p:embeddedFont>
      <p:font typeface="Calibri" panose="020F0502020204030204"/>
      <p:regular r:id="rId24"/>
      <p:bold r:id="rId25"/>
      <p:italic r:id="rId26"/>
      <p:boldItalic r:id="rId27"/>
    </p:embeddedFont>
    <p:embeddedFont>
      <p:font typeface="Inter" panose="02000503000000020004"/>
      <p:regular r:id="rId28"/>
    </p:embeddedFont>
    <p:embeddedFont>
      <p:font typeface="Inter Bold" panose="02000503000000020004" pitchFamily="34" charset="0"/>
      <p:bold r:id="rId29"/>
    </p:embeddedFont>
    <p:embeddedFont>
      <p:font typeface="Inter Bold" panose="02000503000000020004" pitchFamily="34" charset="-122"/>
      <p:bold r:id="rId30"/>
    </p:embeddedFont>
    <p:embeddedFont>
      <p:font typeface="Inter Bold" panose="02000503000000020004" pitchFamily="34" charset="-120"/>
      <p:bold r:id="rId31"/>
    </p:embeddedFont>
    <p:embeddedFont>
      <p:font typeface="Inter" panose="02000503000000020004" pitchFamily="34" charset="0"/>
      <p:regular r:id="rId32"/>
    </p:embeddedFont>
    <p:embeddedFont>
      <p:font typeface="Inter" panose="02000503000000020004" pitchFamily="34" charset="-122"/>
      <p:regular r:id="rId33"/>
    </p:embeddedFont>
    <p:embeddedFont>
      <p:font typeface="Inter" panose="02000503000000020004" pitchFamily="34" charset="-120"/>
      <p:regular r:id="rId34"/>
    </p:embeddedFont>
    <p:embeddedFont>
      <p:font typeface="Consolas" panose="020B0609020204030204" pitchFamily="34" charset="0"/>
      <p:regular r:id="rId35"/>
      <p:bold r:id="rId36"/>
      <p:italic r:id="rId37"/>
      <p:boldItalic r:id="rId38"/>
    </p:embeddedFont>
    <p:embeddedFont>
      <p:font typeface="Consolas" panose="020B0609020204030204" pitchFamily="34" charset="-122"/>
      <p:regular r:id="rId39"/>
      <p:bold r:id="rId40"/>
      <p:italic r:id="rId41"/>
      <p:boldItalic r:id="rId42"/>
    </p:embeddedFont>
    <p:embeddedFont>
      <p:font typeface="Consolas" panose="020B0609020204030204" pitchFamily="34" charset="-120"/>
      <p:regular r:id="rId43"/>
      <p:bold r:id="rId44"/>
      <p:italic r:id="rId45"/>
      <p:boldItalic r:id="rId46"/>
    </p:embeddedFont>
    <p:embeddedFont>
      <p:font typeface="Calibri" panose="020F0502020204030204" pitchFamily="34" charset="0"/>
      <p:regular r:id="rId47"/>
      <p:bold r:id="rId48"/>
      <p:italic r:id="rId49"/>
      <p:boldItalic r:id="rId5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0" Type="http://schemas.openxmlformats.org/officeDocument/2006/relationships/font" Target="fonts/font27.fntdata"/><Relationship Id="rId5" Type="http://schemas.openxmlformats.org/officeDocument/2006/relationships/slide" Target="slides/slide2.xml"/><Relationship Id="rId49" Type="http://schemas.openxmlformats.org/officeDocument/2006/relationships/font" Target="fonts/font26.fntdata"/><Relationship Id="rId48" Type="http://schemas.openxmlformats.org/officeDocument/2006/relationships/font" Target="fonts/font25.fntdata"/><Relationship Id="rId47" Type="http://schemas.openxmlformats.org/officeDocument/2006/relationships/font" Target="fonts/font24.fntdata"/><Relationship Id="rId46" Type="http://schemas.openxmlformats.org/officeDocument/2006/relationships/font" Target="fonts/font23.fntdata"/><Relationship Id="rId45" Type="http://schemas.openxmlformats.org/officeDocument/2006/relationships/font" Target="fonts/font22.fntdata"/><Relationship Id="rId44" Type="http://schemas.openxmlformats.org/officeDocument/2006/relationships/font" Target="fonts/font21.fntdata"/><Relationship Id="rId43" Type="http://schemas.openxmlformats.org/officeDocument/2006/relationships/font" Target="fonts/font20.fntdata"/><Relationship Id="rId42" Type="http://schemas.openxmlformats.org/officeDocument/2006/relationships/font" Target="fonts/font19.fntdata"/><Relationship Id="rId41" Type="http://schemas.openxmlformats.org/officeDocument/2006/relationships/font" Target="fonts/font18.fntdata"/><Relationship Id="rId40" Type="http://schemas.openxmlformats.org/officeDocument/2006/relationships/font" Target="fonts/font17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16.fntdata"/><Relationship Id="rId38" Type="http://schemas.openxmlformats.org/officeDocument/2006/relationships/font" Target="fonts/font15.fntdata"/><Relationship Id="rId37" Type="http://schemas.openxmlformats.org/officeDocument/2006/relationships/font" Target="fonts/font14.fntdata"/><Relationship Id="rId36" Type="http://schemas.openxmlformats.org/officeDocument/2006/relationships/font" Target="fonts/font13.fntdata"/><Relationship Id="rId35" Type="http://schemas.openxmlformats.org/officeDocument/2006/relationships/font" Target="fonts/font12.fntdata"/><Relationship Id="rId34" Type="http://schemas.openxmlformats.org/officeDocument/2006/relationships/font" Target="fonts/font11.fntdata"/><Relationship Id="rId33" Type="http://schemas.openxmlformats.org/officeDocument/2006/relationships/font" Target="fonts/font10.fntdata"/><Relationship Id="rId32" Type="http://schemas.openxmlformats.org/officeDocument/2006/relationships/font" Target="fonts/font9.fntdata"/><Relationship Id="rId31" Type="http://schemas.openxmlformats.org/officeDocument/2006/relationships/font" Target="fonts/font8.fntdata"/><Relationship Id="rId30" Type="http://schemas.openxmlformats.org/officeDocument/2006/relationships/font" Target="fonts/font7.fntdata"/><Relationship Id="rId3" Type="http://schemas.openxmlformats.org/officeDocument/2006/relationships/slide" Target="slides/slide1.xml"/><Relationship Id="rId29" Type="http://schemas.openxmlformats.org/officeDocument/2006/relationships/font" Target="fonts/font6.fntdata"/><Relationship Id="rId28" Type="http://schemas.openxmlformats.org/officeDocument/2006/relationships/font" Target="fonts/font5.fntdata"/><Relationship Id="rId27" Type="http://schemas.openxmlformats.org/officeDocument/2006/relationships/font" Target="fonts/font4.fntdata"/><Relationship Id="rId26" Type="http://schemas.openxmlformats.org/officeDocument/2006/relationships/font" Target="fonts/font3.fntdata"/><Relationship Id="rId25" Type="http://schemas.openxmlformats.org/officeDocument/2006/relationships/font" Target="fonts/font2.fntdata"/><Relationship Id="rId24" Type="http://schemas.openxmlformats.org/officeDocument/2006/relationships/font" Target="fonts/font1.fntdata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" name="Google Shape;1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" name="Google Shape;1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" name="Google Shape;2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" name="Google Shape;2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" name="Google Shape;4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" name="Google Shape;4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5.png"/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7.svg"/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661475" y="2655292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>
              <a:lnSpc>
                <a:spcPct val="104000"/>
              </a:lnSpc>
              <a:buClr>
                <a:srgbClr val="000000"/>
              </a:buClr>
              <a:buSzPts val="3700"/>
            </a:pPr>
            <a:r>
              <a:rPr lang="en-US" sz="4000" dirty="0"/>
              <a:t>Information Security 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week 3</a:t>
            </a:r>
            <a:endParaRPr sz="37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999694" y="6535270"/>
            <a:ext cx="1183341" cy="3137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10128885" y="28352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661475" y="1117302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Inter" panose="02000503000000020004"/>
              <a:buNone/>
            </a:pPr>
            <a:r>
              <a:rPr lang="en-US" sz="3700" b="1" i="0" u="none" strike="noStrike" cap="none" dirty="0">
                <a:solidFill>
                  <a:srgbClr val="00000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Learning Objectives</a:t>
            </a:r>
            <a:endParaRPr sz="370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5" name="Google Shape;25;p5"/>
          <p:cNvSpPr/>
          <p:nvPr/>
        </p:nvSpPr>
        <p:spPr>
          <a:xfrm>
            <a:off x="661475" y="2085975"/>
            <a:ext cx="11478330" cy="302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 panose="02000503000000020004"/>
              <a:buNone/>
            </a:pPr>
            <a:r>
              <a:rPr lang="en-US" sz="1450" b="0" i="0" u="none" strike="noStrike" cap="none" dirty="0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By the end of this lecture you should be able to:</a:t>
            </a:r>
            <a:endParaRPr sz="1450" b="0" i="0" u="none" strike="noStrike" cap="none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" name="Google Shape;26;p5"/>
          <p:cNvSpPr/>
          <p:nvPr/>
        </p:nvSpPr>
        <p:spPr>
          <a:xfrm>
            <a:off x="661475" y="2601020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9525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" name="Google Shape;27;p5"/>
          <p:cNvSpPr/>
          <p:nvPr/>
        </p:nvSpPr>
        <p:spPr>
          <a:xfrm>
            <a:off x="732365" y="2636441"/>
            <a:ext cx="283461" cy="354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 panose="02000503000000020004"/>
              <a:buNone/>
            </a:pPr>
            <a:r>
              <a:rPr lang="en-US" sz="2200" b="1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1</a:t>
            </a:r>
            <a:endParaRPr sz="2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" name="Google Shape;28;p5"/>
          <p:cNvSpPr/>
          <p:nvPr/>
        </p:nvSpPr>
        <p:spPr>
          <a:xfrm>
            <a:off x="1275723" y="2665909"/>
            <a:ext cx="4701958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Inter" panose="02000503000000020004"/>
              <a:buNone/>
            </a:pPr>
            <a:r>
              <a:rPr lang="en-US" sz="1850" b="1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Classify ciphers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" name="Google Shape;29;p5"/>
          <p:cNvSpPr/>
          <p:nvPr/>
        </p:nvSpPr>
        <p:spPr>
          <a:xfrm>
            <a:off x="1275723" y="3074591"/>
            <a:ext cx="4701958" cy="907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 panose="02000503000000020004"/>
              <a:buNone/>
            </a:pPr>
            <a:r>
              <a:rPr lang="en-US" sz="1450" b="0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Distinguish monoalphabetic, polygraphic, and polyalphabetic substitution ciphers and explain when each category applies.</a:t>
            </a:r>
            <a:endParaRPr sz="14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6213915" y="2601020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9525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" name="Google Shape;31;p5"/>
          <p:cNvSpPr/>
          <p:nvPr/>
        </p:nvSpPr>
        <p:spPr>
          <a:xfrm>
            <a:off x="6284805" y="2636441"/>
            <a:ext cx="283461" cy="354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 panose="02000503000000020004"/>
              <a:buNone/>
            </a:pPr>
            <a:r>
              <a:rPr lang="en-US" sz="2200" b="1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2</a:t>
            </a:r>
            <a:endParaRPr sz="2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6828163" y="2665909"/>
            <a:ext cx="4702057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Inter" panose="02000503000000020004"/>
              <a:buNone/>
            </a:pPr>
            <a:r>
              <a:rPr lang="en-US" sz="1850" b="1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Apply encryption formulas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6828163" y="3074591"/>
            <a:ext cx="4702057" cy="907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 panose="02000503000000020004"/>
              <a:buNone/>
            </a:pPr>
            <a:r>
              <a:rPr lang="en-US" sz="1450" b="0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Use the mathematical formulas for Caesar and Vigenère encryption and decryption, working correctly with modular arithmetic.</a:t>
            </a:r>
            <a:endParaRPr sz="14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661475" y="4359870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9525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" name="Google Shape;35;p5"/>
          <p:cNvSpPr/>
          <p:nvPr/>
        </p:nvSpPr>
        <p:spPr>
          <a:xfrm>
            <a:off x="732365" y="4395291"/>
            <a:ext cx="283461" cy="354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 panose="02000503000000020004"/>
              <a:buNone/>
            </a:pPr>
            <a:r>
              <a:rPr lang="en-US" sz="2200" b="1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3</a:t>
            </a:r>
            <a:endParaRPr sz="2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1275723" y="4424759"/>
            <a:ext cx="4701958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Inter" panose="02000503000000020004"/>
              <a:buNone/>
            </a:pPr>
            <a:r>
              <a:rPr lang="en-US" sz="1850" b="1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Construct worked examples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1275723" y="4833441"/>
            <a:ext cx="4701958" cy="907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 panose="02000503000000020004"/>
              <a:buNone/>
            </a:pPr>
            <a:r>
              <a:rPr lang="en-US" sz="1450" b="0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Encrypt and decrypt messages using Caesar, Simple Substitution, Playfair, Vigenère, and Auto-key Vigenère — step by step.</a:t>
            </a:r>
            <a:endParaRPr sz="14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6213915" y="4359870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9525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" name="Google Shape;39;p5"/>
          <p:cNvSpPr/>
          <p:nvPr/>
        </p:nvSpPr>
        <p:spPr>
          <a:xfrm>
            <a:off x="6284805" y="4395291"/>
            <a:ext cx="283461" cy="354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 panose="02000503000000020004"/>
              <a:buNone/>
            </a:pPr>
            <a:r>
              <a:rPr lang="en-US" sz="2200" b="1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4</a:t>
            </a:r>
            <a:endParaRPr sz="2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6828163" y="4424759"/>
            <a:ext cx="4702057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50"/>
              <a:buFont typeface="Inter" panose="02000503000000020004"/>
              <a:buNone/>
            </a:pPr>
            <a:r>
              <a:rPr lang="en-US" sz="1850" b="1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Identify weaknesses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6828163" y="4833441"/>
            <a:ext cx="4702057" cy="907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 panose="02000503000000020004"/>
              <a:buNone/>
            </a:pPr>
            <a:r>
              <a:rPr lang="en-US" sz="1450" b="0" i="0" u="none" strike="noStrike" cap="none">
                <a:solidFill>
                  <a:srgbClr val="27252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Explain the primary cryptanalytic attack against each cipher — brute force, frequency analysis, digraph analysis, Kasiski examination.</a:t>
            </a:r>
            <a:endParaRPr sz="14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999694" y="6535270"/>
            <a:ext cx="1183341" cy="3137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8973"/>
            <a:ext cx="10868745" cy="5906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b="1" kern="100" spc="-112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Classical Ciphers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1888678"/>
            <a:ext cx="10868745" cy="81746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kern="100" spc="-3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Caesar, Substitution, Playfair, Vigenère, and Auto-key Vigenère.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kern="100" spc="-30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Teaching goal:</a:t>
            </a:r>
            <a:r>
              <a:rPr lang="en-US" sz="1450" kern="100" spc="-3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Understand how early encryption methods hide plaintext and why they are no longer secure today.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3327499"/>
            <a:ext cx="3496877" cy="1410593"/>
          </a:xfrm>
          <a:prstGeom prst="roundRect">
            <a:avLst>
              <a:gd name="adj" fmla="val 5628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6832" y="3522861"/>
            <a:ext cx="3106164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100" spc="-56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Plaintext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56832" y="3931543"/>
            <a:ext cx="3106164" cy="6111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100" spc="-3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Original readable message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100" spc="-3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e.g., </a:t>
            </a:r>
            <a:r>
              <a:rPr lang="en-US" sz="1450" kern="100" spc="-30" dirty="0">
                <a:solidFill>
                  <a:srgbClr val="272525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HELLO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47359" y="3327499"/>
            <a:ext cx="3496877" cy="1410593"/>
          </a:xfrm>
          <a:prstGeom prst="roundRect">
            <a:avLst>
              <a:gd name="adj" fmla="val 5628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42716" y="3522861"/>
            <a:ext cx="3106164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100" spc="-56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Ciphertext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4542716" y="3931543"/>
            <a:ext cx="3106164" cy="6111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100" spc="-3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Encrypted hidden message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100" spc="-3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e.g., </a:t>
            </a:r>
            <a:r>
              <a:rPr lang="en-US" sz="1450" kern="100" spc="-30" dirty="0">
                <a:solidFill>
                  <a:srgbClr val="272525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KHOOR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033244" y="3327499"/>
            <a:ext cx="3496877" cy="1410593"/>
          </a:xfrm>
          <a:prstGeom prst="roundRect">
            <a:avLst>
              <a:gd name="adj" fmla="val 5628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8600" y="3522861"/>
            <a:ext cx="3106164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100" spc="-56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Encryption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228600" y="3931543"/>
            <a:ext cx="3106164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100" spc="-3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Plaintext → Ciphertext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61475" y="4927104"/>
            <a:ext cx="5339820" cy="1101824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56832" y="5122466"/>
            <a:ext cx="4949106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100" spc="-56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Decryption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856832" y="5531148"/>
            <a:ext cx="4949106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100" spc="-3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Ciphertext → Plaintext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190301" y="4927104"/>
            <a:ext cx="5339820" cy="1101824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85658" y="5122466"/>
            <a:ext cx="4949106" cy="29527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100" spc="-56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Key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6385658" y="5531148"/>
            <a:ext cx="4949106" cy="30241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100" spc="-30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Secret value or word that controls encryption</a:t>
            </a:r>
            <a:endParaRPr lang="en-US" sz="1450" dirty="0"/>
          </a:p>
        </p:txBody>
      </p:sp>
      <p:sp>
        <p:nvSpPr>
          <p:cNvPr id="3" name="Rectangle 2"/>
          <p:cNvSpPr/>
          <p:nvPr/>
        </p:nvSpPr>
        <p:spPr>
          <a:xfrm>
            <a:off x="10999694" y="6535270"/>
            <a:ext cx="1183341" cy="3137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0225" y="1081088"/>
            <a:ext cx="8591550" cy="469582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999694" y="6535270"/>
            <a:ext cx="1183341" cy="3137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/>
          <p:nvPr/>
        </p:nvSpPr>
        <p:spPr>
          <a:xfrm>
            <a:off x="661475" y="528241"/>
            <a:ext cx="1086874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Inter" panose="02000503000000020004"/>
              <a:buNone/>
            </a:pPr>
            <a:r>
              <a:rPr lang="en-US" sz="2450" b="1" i="0" u="none" strike="noStrike" cap="none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0"/>
                <a:cs typeface="Inter" panose="02000503000000020004"/>
                <a:sym typeface="Inter" panose="02000503000000020004"/>
              </a:rPr>
              <a:t>Classical Cipher Classification</a:t>
            </a:r>
            <a:endParaRPr sz="2450" b="0" i="0" u="none" strike="noStrike" cap="none" dirty="0">
              <a:solidFill>
                <a:schemeClr val="dk1"/>
              </a:solidFill>
              <a:latin typeface="Inter Bold" panose="02000503000000020004" pitchFamily="34" charset="0"/>
              <a:ea typeface="Inter Bold" panose="02000503000000020004" pitchFamily="34" charset="0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821442" y="1154412"/>
            <a:ext cx="10217346" cy="676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950"/>
              <a:buFont typeface="Inter" panose="02000503000000020004"/>
              <a:buNone/>
            </a:pPr>
            <a:r>
              <a:rPr lang="en-US" sz="1800" i="0" u="none" strike="noStrike" cap="none" dirty="0">
                <a:solidFill>
                  <a:srgbClr val="27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Inter" panose="02000503000000020004"/>
              </a:rPr>
              <a:t>Classical ciphers are organized by how many letters are substituted at once and whether the substitution alphabet changes across the message.</a:t>
            </a:r>
            <a:endParaRPr sz="1800" i="0" u="none" strike="noStrike" cap="none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 panose="020F0502020204030204"/>
            </a:endParaRPr>
          </a:p>
        </p:txBody>
      </p:sp>
      <p:pic>
        <p:nvPicPr>
          <p:cNvPr id="49" name="Google Shape;49;p6" descr="preencoded.png"/>
          <p:cNvPicPr preferRelativeResize="0"/>
          <p:nvPr/>
        </p:nvPicPr>
        <p:blipFill rotWithShape="1">
          <a:blip r:embed="rId1"/>
          <a:srcRect l="1514" t="6832" r="885" b="3399"/>
          <a:stretch>
            <a:fillRect/>
          </a:stretch>
        </p:blipFill>
        <p:spPr>
          <a:xfrm>
            <a:off x="2672815" y="1933012"/>
            <a:ext cx="9519185" cy="4924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2986"/>
            <a:ext cx="10868745" cy="44301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100" spc="-84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Caesar Cipher: Step-by-Step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368623"/>
            <a:ext cx="11478330" cy="1984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kern="100" spc="-22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The Caesar cipher shifts every letter by the same number of positions.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1792883"/>
            <a:ext cx="5261439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100" spc="-42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Example: Shift key = 3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661475" y="2133898"/>
          <a:ext cx="5261440" cy="1080266"/>
        </p:xfrm>
        <a:graphic>
          <a:graphicData uri="http://schemas.openxmlformats.org/drawingml/2006/table">
            <a:tbl>
              <a:tblPr/>
              <a:tblGrid>
                <a:gridCol w="526144"/>
                <a:gridCol w="526144"/>
                <a:gridCol w="526144"/>
                <a:gridCol w="526144"/>
                <a:gridCol w="526144"/>
                <a:gridCol w="526144"/>
                <a:gridCol w="526144"/>
                <a:gridCol w="526144"/>
                <a:gridCol w="526144"/>
                <a:gridCol w="526144"/>
              </a:tblGrid>
              <a:tr h="5401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Plain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A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B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C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D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E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...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X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Y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Z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1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Cipher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D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E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F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G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H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...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A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B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C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61475" y="3346450"/>
            <a:ext cx="5261439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100" spc="-42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Worked Example: HELLO</a:t>
            </a:r>
            <a:endParaRPr lang="en-US" sz="135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/>
        </p:nvGraphicFramePr>
        <p:xfrm>
          <a:off x="661475" y="3687465"/>
          <a:ext cx="5261439" cy="2031156"/>
        </p:xfrm>
        <a:graphic>
          <a:graphicData uri="http://schemas.openxmlformats.org/drawingml/2006/table">
            <a:tbl>
              <a:tblPr/>
              <a:tblGrid>
                <a:gridCol w="1753813"/>
                <a:gridCol w="1753813"/>
                <a:gridCol w="1753813"/>
              </a:tblGrid>
              <a:tr h="3385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Letter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Shift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Result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3385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H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+ 3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K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3385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E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+ 3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H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3385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L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+ 3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O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3385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L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+ 3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O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3385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O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+ 3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R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61475" y="5850930"/>
            <a:ext cx="5871023" cy="1984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kern="100" spc="-22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Ciphertext: </a:t>
            </a:r>
            <a:r>
              <a:rPr lang="en-US" sz="1600" b="1" kern="100" spc="-22" dirty="0">
                <a:solidFill>
                  <a:srgbClr val="272525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KHOOR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275131" y="1792883"/>
            <a:ext cx="5261439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100" spc="-42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Formula</a:t>
            </a:r>
            <a:endParaRPr lang="en-US" sz="13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5131" y="2148880"/>
            <a:ext cx="5261439" cy="244277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131" y="2527697"/>
            <a:ext cx="5261439" cy="24427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75131" y="2906514"/>
            <a:ext cx="5871023" cy="1984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100" spc="-22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Where: A = 0, B = 1, … Z = 25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6275131" y="3224510"/>
            <a:ext cx="5261439" cy="659011"/>
          </a:xfrm>
          <a:prstGeom prst="roundRect">
            <a:avLst>
              <a:gd name="adj" fmla="val 9035"/>
            </a:avLst>
          </a:prstGeom>
          <a:solidFill>
            <a:srgbClr val="FCF2B5"/>
          </a:solidFill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812" y="3394571"/>
            <a:ext cx="177200" cy="14168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735693" y="3355578"/>
            <a:ext cx="4659196" cy="3968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kern="100" spc="-22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Weakness:</a:t>
            </a:r>
            <a:r>
              <a:rPr lang="en-US" sz="1100" kern="100" spc="-22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Only 25 useful shifts exist, so a brute-force attack is very easy.</a:t>
            </a:r>
            <a:endParaRPr lang="en-US" sz="1100" dirty="0"/>
          </a:p>
        </p:txBody>
      </p:sp>
      <p:sp>
        <p:nvSpPr>
          <p:cNvPr id="9" name="Rectangle 8"/>
          <p:cNvSpPr/>
          <p:nvPr/>
        </p:nvSpPr>
        <p:spPr>
          <a:xfrm>
            <a:off x="11000279" y="6535270"/>
            <a:ext cx="1183341" cy="3137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84423"/>
            <a:ext cx="10868745" cy="4724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kern="100" spc="-89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Simple Substitution Cipher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498798"/>
            <a:ext cx="11478330" cy="2176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kern="100" spc="-24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 simple substitution cipher replaces each letter using a fixed arbitrary mapping.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1897856"/>
            <a:ext cx="10868745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100" spc="-45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Example: Reverse Alphabet Substitution</a:t>
            </a:r>
            <a:endParaRPr lang="en-US" sz="14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661475" y="2315468"/>
          <a:ext cx="10868748" cy="757218"/>
        </p:xfrm>
        <a:graphic>
          <a:graphicData uri="http://schemas.openxmlformats.org/drawingml/2006/table">
            <a:tbl>
              <a:tblPr/>
              <a:tblGrid>
                <a:gridCol w="988068"/>
                <a:gridCol w="988068"/>
                <a:gridCol w="988068"/>
                <a:gridCol w="988068"/>
                <a:gridCol w="988068"/>
                <a:gridCol w="988068"/>
                <a:gridCol w="988068"/>
                <a:gridCol w="988068"/>
                <a:gridCol w="988068"/>
                <a:gridCol w="988068"/>
                <a:gridCol w="988068"/>
              </a:tblGrid>
              <a:tr h="3786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Plain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A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B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C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D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E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...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W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X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Y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Z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6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Cipher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Z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Y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X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W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V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...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D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C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B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A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61475" y="3342382"/>
            <a:ext cx="5249930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100" spc="-45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Encrypt:  DATA</a:t>
            </a:r>
            <a:endParaRPr lang="en-US" sz="14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/>
        </p:nvGraphicFramePr>
        <p:xfrm>
          <a:off x="661475" y="3714651"/>
          <a:ext cx="5249930" cy="1877170"/>
        </p:xfrm>
        <a:graphic>
          <a:graphicData uri="http://schemas.openxmlformats.org/drawingml/2006/table">
            <a:tbl>
              <a:tblPr/>
              <a:tblGrid>
                <a:gridCol w="2624965"/>
                <a:gridCol w="2624965"/>
              </a:tblGrid>
              <a:tr h="3754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Letter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Maps to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3754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D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W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3754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A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Z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3754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T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G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37543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A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Z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61475" y="5740598"/>
            <a:ext cx="5859514" cy="22403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kern="100" spc="-24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DATA → </a:t>
            </a:r>
            <a:r>
              <a:rPr lang="en-US" sz="1600" b="1" kern="100" spc="-24" dirty="0">
                <a:solidFill>
                  <a:srgbClr val="272525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WZGZ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286640" y="3342382"/>
            <a:ext cx="5249930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100" spc="-45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Caesar vs. Simple Substitution</a:t>
            </a:r>
            <a:endParaRPr lang="en-US" sz="14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86640" y="3714651"/>
            <a:ext cx="2564443" cy="113307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33094" y="3884910"/>
            <a:ext cx="2147735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100" spc="-45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Caesar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6533094" y="4242098"/>
            <a:ext cx="2147735" cy="4353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100" spc="-24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Regular shift, e.g., +3. Only 25 possible keys.</a:t>
            </a:r>
            <a:endParaRPr lang="en-US" sz="11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72028" y="3714651"/>
            <a:ext cx="2564542" cy="113307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218481" y="3884910"/>
            <a:ext cx="2147834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100" spc="-45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Simple Substitution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9218481" y="4242098"/>
            <a:ext cx="2147834" cy="4353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100" spc="-24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Any fixed scrambled alphabet. Far more possible keys.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6286640" y="4983758"/>
            <a:ext cx="5249930" cy="946348"/>
          </a:xfrm>
          <a:prstGeom prst="roundRect">
            <a:avLst>
              <a:gd name="adj" fmla="val 6711"/>
            </a:avLst>
          </a:prstGeom>
          <a:solidFill>
            <a:srgbClr val="DADBF1"/>
          </a:solidFill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846" y="5168900"/>
            <a:ext cx="189007" cy="15120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778059" y="5130403"/>
            <a:ext cx="4607306" cy="65305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kern="100" spc="-24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Remember:</a:t>
            </a:r>
            <a:r>
              <a:rPr lang="en-US" sz="1150" kern="100" spc="-24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More possible keys does not guarantee real security if language patterns remain visible. Both ciphers leak letter-frequency patterns.</a:t>
            </a:r>
            <a:endParaRPr lang="en-US" sz="1150" dirty="0"/>
          </a:p>
        </p:txBody>
      </p:sp>
      <p:sp>
        <p:nvSpPr>
          <p:cNvPr id="7" name="Rectangle 6"/>
          <p:cNvSpPr/>
          <p:nvPr/>
        </p:nvSpPr>
        <p:spPr>
          <a:xfrm>
            <a:off x="10999694" y="6535270"/>
            <a:ext cx="1183341" cy="3137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0784"/>
            <a:ext cx="10868745" cy="4724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kern="100" spc="-89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Playfair Cipher: Matrix and Text Preparation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275159"/>
            <a:ext cx="10868745" cy="43537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kern="100" spc="-24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Playfair encrypts </a:t>
            </a:r>
            <a:r>
              <a:rPr lang="en-US" sz="1400" b="1" kern="100" spc="-24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two letters at a time</a:t>
            </a:r>
            <a:r>
              <a:rPr lang="en-US" sz="1400" kern="100" spc="-24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. This makes it stronger than single-letter substitution because it hides simple letter frequencies better. It uses a </a:t>
            </a:r>
            <a:r>
              <a:rPr lang="en-US" sz="1400" b="1" kern="100" spc="-24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5×5 matrix</a:t>
            </a:r>
            <a:r>
              <a:rPr lang="en-US" sz="1400" kern="100" spc="-24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. Since English has 26 letters but the matrix has 25 cells, </a:t>
            </a:r>
            <a:r>
              <a:rPr lang="en-US" sz="1400" b="1" kern="100" spc="-24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I and J are usually combined</a:t>
            </a:r>
            <a:r>
              <a:rPr lang="en-US" sz="1400" kern="100" spc="-24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61475" y="1967508"/>
            <a:ext cx="5249930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100" spc="-45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Key: MONARCHY — The 5×5 Matrix</a:t>
            </a:r>
            <a:endParaRPr lang="en-US" sz="14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661475" y="2339777"/>
          <a:ext cx="5249930" cy="1902570"/>
        </p:xfrm>
        <a:graphic>
          <a:graphicData uri="http://schemas.openxmlformats.org/drawingml/2006/table">
            <a:tbl>
              <a:tblPr/>
              <a:tblGrid>
                <a:gridCol w="1049986"/>
                <a:gridCol w="1049986"/>
                <a:gridCol w="1049986"/>
                <a:gridCol w="1049986"/>
                <a:gridCol w="1049986"/>
              </a:tblGrid>
              <a:tr h="3786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M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O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N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A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R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7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C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H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Y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B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D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7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E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F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G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I/J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K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7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L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P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Q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S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T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6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U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V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W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X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4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Z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6286640" y="1967508"/>
            <a:ext cx="5249930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100" spc="-45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Preparing Plaintext — 4 Rules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286640" y="2339777"/>
            <a:ext cx="302411" cy="1890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kern="100" spc="-36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86640" y="2577703"/>
            <a:ext cx="5249930" cy="19050"/>
          </a:xfrm>
          <a:prstGeom prst="rect">
            <a:avLst/>
          </a:prstGeom>
          <a:solidFill>
            <a:srgbClr val="4950BC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286640" y="2691408"/>
            <a:ext cx="5249930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100" spc="-45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Remove spaces and punctuation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286640" y="3162002"/>
            <a:ext cx="302411" cy="1890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kern="100" spc="-36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86640" y="3399929"/>
            <a:ext cx="5249930" cy="19050"/>
          </a:xfrm>
          <a:prstGeom prst="rect">
            <a:avLst/>
          </a:prstGeom>
          <a:solidFill>
            <a:srgbClr val="4950BC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286640" y="3513634"/>
            <a:ext cx="5249930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100" spc="-45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Split into pairs (digraphs)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286640" y="3984228"/>
            <a:ext cx="302411" cy="1890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kern="100" spc="-36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286640" y="4222155"/>
            <a:ext cx="5249930" cy="19050"/>
          </a:xfrm>
          <a:prstGeom prst="rect">
            <a:avLst/>
          </a:prstGeom>
          <a:solidFill>
            <a:srgbClr val="4950BC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286640" y="4335859"/>
            <a:ext cx="5249930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100" spc="-45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If a pair has repeated letters, insert X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286640" y="4806454"/>
            <a:ext cx="302411" cy="18901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kern="100" spc="-36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286640" y="5044380"/>
            <a:ext cx="5249930" cy="19050"/>
          </a:xfrm>
          <a:prstGeom prst="rect">
            <a:avLst/>
          </a:prstGeom>
          <a:solidFill>
            <a:srgbClr val="4950BC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286640" y="5158085"/>
            <a:ext cx="5249930" cy="2362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100" spc="-45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If one letter remains at the end, add X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286640" y="5643761"/>
            <a:ext cx="5249930" cy="517327"/>
          </a:xfrm>
          <a:prstGeom prst="roundRect">
            <a:avLst>
              <a:gd name="adj" fmla="val 12277"/>
            </a:avLst>
          </a:prstGeom>
          <a:solidFill>
            <a:srgbClr val="B6D6FC"/>
          </a:solidFill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846" y="5828903"/>
            <a:ext cx="189007" cy="151209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778059" y="5790406"/>
            <a:ext cx="5216891" cy="22403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kern="100" spc="-24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Example:</a:t>
            </a:r>
            <a:r>
              <a:rPr lang="en-US" sz="1150" kern="100" spc="-24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HELLO → HE LL O → </a:t>
            </a:r>
            <a:r>
              <a:rPr lang="en-US" sz="1150" kern="100" spc="-24" dirty="0">
                <a:solidFill>
                  <a:srgbClr val="000000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HE LX LO</a:t>
            </a:r>
            <a:endParaRPr lang="en-US" sz="1150" dirty="0"/>
          </a:p>
        </p:txBody>
      </p:sp>
      <p:sp>
        <p:nvSpPr>
          <p:cNvPr id="22" name="Rectangle 21"/>
          <p:cNvSpPr/>
          <p:nvPr/>
        </p:nvSpPr>
        <p:spPr>
          <a:xfrm>
            <a:off x="10999694" y="6535270"/>
            <a:ext cx="1183341" cy="3137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7949"/>
            <a:ext cx="10868745" cy="4651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kern="100" spc="-88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Playfair Encryption Rules and Example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61475" y="1277441"/>
            <a:ext cx="3544799" cy="1038721"/>
          </a:xfrm>
          <a:prstGeom prst="roundRect">
            <a:avLst>
              <a:gd name="adj" fmla="val 601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16649" y="1432620"/>
            <a:ext cx="3234450" cy="2324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100" spc="-44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Rule 1: Same Row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16649" y="1735336"/>
            <a:ext cx="3234450" cy="4256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kern="100" spc="-23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Move each letter </a:t>
            </a:r>
            <a:r>
              <a:rPr lang="en-US" sz="1150" b="1" kern="100" spc="-23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one step to the right</a:t>
            </a:r>
            <a:r>
              <a:rPr lang="en-US" sz="1150" kern="100" spc="-23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. Wrap around if needed.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323448" y="1277441"/>
            <a:ext cx="3544799" cy="1038721"/>
          </a:xfrm>
          <a:prstGeom prst="roundRect">
            <a:avLst>
              <a:gd name="adj" fmla="val 601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478622" y="1432620"/>
            <a:ext cx="3234450" cy="2324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100" spc="-44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Rule 2: Same Column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478622" y="1735336"/>
            <a:ext cx="3234450" cy="4256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kern="100" spc="-23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Move each letter </a:t>
            </a:r>
            <a:r>
              <a:rPr lang="en-US" sz="1150" b="1" kern="100" spc="-23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one step downward</a:t>
            </a:r>
            <a:r>
              <a:rPr lang="en-US" sz="1150" kern="100" spc="-23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. Wrap around if needed.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985421" y="1277441"/>
            <a:ext cx="3544799" cy="1038721"/>
          </a:xfrm>
          <a:prstGeom prst="roundRect">
            <a:avLst>
              <a:gd name="adj" fmla="val 601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140596" y="1432620"/>
            <a:ext cx="3234450" cy="2324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100" spc="-44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Rule 3: Rectangle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140596" y="1735336"/>
            <a:ext cx="3234450" cy="4256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kern="100" spc="-23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Each letter stays in its own row but </a:t>
            </a:r>
            <a:r>
              <a:rPr lang="en-US" sz="1150" b="1" kern="100" spc="-23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takes the other letter's column</a:t>
            </a:r>
            <a:r>
              <a:rPr lang="en-US" sz="1150" kern="100" spc="-23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61475" y="2565202"/>
            <a:ext cx="5252807" cy="2324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100" spc="-44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Example: Pair HI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61475" y="2914848"/>
            <a:ext cx="5252807" cy="9567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kern="100" spc="-23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H is row 2, column 2.</a:t>
            </a:r>
            <a:endParaRPr lang="en-US" sz="11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150" kern="100" spc="-23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I is row 3, column 4.</a:t>
            </a:r>
            <a:endParaRPr lang="en-US" sz="1150" dirty="0"/>
          </a:p>
          <a:p>
            <a:pPr marL="0" indent="0" algn="l">
              <a:lnSpc>
                <a:spcPct val="119000"/>
              </a:lnSpc>
              <a:spcAft>
                <a:spcPts val="800"/>
              </a:spcAft>
              <a:buNone/>
            </a:pPr>
            <a:r>
              <a:rPr lang="en-US" sz="1150" kern="100" spc="-23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Rectangle rule applies: H → B and I → F.</a:t>
            </a:r>
            <a:endParaRPr lang="en-US" sz="11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1200" b="1" kern="100" spc="-23" dirty="0">
                <a:solidFill>
                  <a:srgbClr val="272525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HI → BF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1475" y="3988792"/>
            <a:ext cx="5252807" cy="2324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100" spc="-44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Full HELLO Example</a:t>
            </a:r>
            <a:endParaRPr lang="en-US" sz="14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661475" y="4353123"/>
          <a:ext cx="5252808" cy="1464036"/>
        </p:xfrm>
        <a:graphic>
          <a:graphicData uri="http://schemas.openxmlformats.org/drawingml/2006/table">
            <a:tbl>
              <a:tblPr/>
              <a:tblGrid>
                <a:gridCol w="1750936"/>
                <a:gridCol w="1750936"/>
                <a:gridCol w="1750936"/>
              </a:tblGrid>
              <a:tr h="3660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3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Prepared Pair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3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Rule Applied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3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Ciphertext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3660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3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HE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3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Rectangle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kern="100" spc="-23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CF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3660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3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LX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3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Rectangle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kern="100" spc="-23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SU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36600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3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LO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kern="100" spc="-23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Rectangle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kern="100" spc="-23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PM</a:t>
                      </a:r>
                      <a:endParaRPr lang="en-US" sz="11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661475" y="5961757"/>
            <a:ext cx="5862392" cy="2128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b="1" kern="100" spc="-23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Ciphertext: </a:t>
            </a:r>
            <a:r>
              <a:rPr lang="en-US" sz="1150" b="1" kern="100" spc="-23" dirty="0">
                <a:solidFill>
                  <a:srgbClr val="272525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CFSUPM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1474056" y="5961757"/>
            <a:ext cx="601846" cy="203200"/>
          </a:xfrm>
          <a:prstGeom prst="roundRect">
            <a:avLst>
              <a:gd name="adj" fmla="val 10988"/>
            </a:avLst>
          </a:prstGeom>
          <a:solidFill>
            <a:srgbClr val="F2F2F2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283763" y="2579886"/>
            <a:ext cx="5252807" cy="923826"/>
          </a:xfrm>
          <a:prstGeom prst="roundRect">
            <a:avLst>
              <a:gd name="adj" fmla="val 6767"/>
            </a:avLst>
          </a:prstGeom>
          <a:solidFill>
            <a:srgbClr val="FCF2B5"/>
          </a:solidFill>
        </p:spPr>
        <p:txBody>
          <a:bodyPr/>
          <a:lstStyle/>
          <a:p>
            <a:endParaRPr lang="en-US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2588" y="2762746"/>
            <a:ext cx="186031" cy="14882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767442" y="2722563"/>
            <a:ext cx="4620303" cy="63847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b="1" kern="100" spc="-23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Weakness:</a:t>
            </a:r>
            <a:r>
              <a:rPr lang="en-US" sz="1150" kern="100" spc="-23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Playfair can still be attacked using </a:t>
            </a:r>
            <a:r>
              <a:rPr lang="en-US" sz="1150" b="1" kern="100" spc="-23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digraph frequency analysis</a:t>
            </a:r>
            <a:r>
              <a:rPr lang="en-US" sz="1150" kern="100" spc="-23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, since common letter pairs in English (like TH, HE) may reveal patterns.</a:t>
            </a:r>
            <a:endParaRPr lang="en-US" sz="1150" dirty="0"/>
          </a:p>
        </p:txBody>
      </p:sp>
      <p:sp>
        <p:nvSpPr>
          <p:cNvPr id="14" name="Rectangle 13"/>
          <p:cNvSpPr/>
          <p:nvPr/>
        </p:nvSpPr>
        <p:spPr>
          <a:xfrm>
            <a:off x="10999694" y="6535270"/>
            <a:ext cx="1183341" cy="3137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70848" y="563887"/>
            <a:ext cx="6096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Examples for Playfair Cipher </a:t>
            </a:r>
            <a:endParaRPr lang="en-US" b="1" dirty="0"/>
          </a:p>
          <a:p>
            <a:r>
              <a:rPr lang="en-US" b="1" dirty="0"/>
              <a:t>Example 1: </a:t>
            </a:r>
            <a:endParaRPr lang="en-US" b="1" dirty="0"/>
          </a:p>
          <a:p>
            <a:r>
              <a:rPr lang="en-US" dirty="0"/>
              <a:t>Key = MONARCHY</a:t>
            </a:r>
            <a:endParaRPr lang="en-US" dirty="0"/>
          </a:p>
          <a:p>
            <a:r>
              <a:rPr lang="en-US" dirty="0"/>
              <a:t>Plaintext = INSTRUMENTS     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Example 2: Repeated letters </a:t>
            </a:r>
            <a:endParaRPr lang="en-US" b="1" dirty="0"/>
          </a:p>
          <a:p>
            <a:r>
              <a:rPr lang="en-US" dirty="0"/>
              <a:t>Key = MONARCHY</a:t>
            </a:r>
            <a:endParaRPr lang="en-US" dirty="0"/>
          </a:p>
          <a:p>
            <a:r>
              <a:rPr lang="en-US" dirty="0"/>
              <a:t> Plaintext = BALLOON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Example 3: </a:t>
            </a:r>
            <a:endParaRPr lang="en-US" b="1" dirty="0"/>
          </a:p>
          <a:p>
            <a:r>
              <a:rPr lang="en-US" dirty="0"/>
              <a:t>Key = PLAYFIREXM</a:t>
            </a:r>
            <a:endParaRPr lang="en-US" dirty="0"/>
          </a:p>
          <a:p>
            <a:r>
              <a:rPr lang="en-US" dirty="0"/>
              <a:t> Plaintext = HIDE THE GOLD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Example 4: Decryption </a:t>
            </a:r>
            <a:endParaRPr lang="en-US" b="1" dirty="0"/>
          </a:p>
          <a:p>
            <a:r>
              <a:rPr lang="en-US" b="1" dirty="0"/>
              <a:t>Reverse the rules: 1-</a:t>
            </a:r>
            <a:r>
              <a:rPr lang="en-US" dirty="0"/>
              <a:t>same row → letter to the </a:t>
            </a:r>
            <a:r>
              <a:rPr lang="en-US" b="1" dirty="0"/>
              <a:t>left</a:t>
            </a:r>
            <a:endParaRPr lang="en-US" b="1" dirty="0"/>
          </a:p>
          <a:p>
            <a:r>
              <a:rPr lang="en-US" b="1" dirty="0"/>
              <a:t>2-</a:t>
            </a:r>
            <a:r>
              <a:rPr lang="en-US" dirty="0"/>
              <a:t> same column → letter </a:t>
            </a:r>
            <a:r>
              <a:rPr lang="en-US" b="1" dirty="0"/>
              <a:t>above</a:t>
            </a:r>
            <a:endParaRPr lang="en-US" b="1" dirty="0"/>
          </a:p>
          <a:p>
            <a:r>
              <a:rPr lang="en-US" b="1" dirty="0"/>
              <a:t>3-</a:t>
            </a:r>
            <a:r>
              <a:rPr lang="en-US" dirty="0"/>
              <a:t>rectangle → same as encryption.</a:t>
            </a:r>
            <a:endParaRPr lang="en-US" b="1" dirty="0"/>
          </a:p>
          <a:p>
            <a:r>
              <a:rPr lang="en-US" dirty="0"/>
              <a:t>Key = MONARCHY</a:t>
            </a:r>
            <a:endParaRPr lang="en-US" dirty="0"/>
          </a:p>
          <a:p>
            <a:r>
              <a:rPr lang="en-US" dirty="0"/>
              <a:t>Ciphertext = GATLMZCLRQXA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92188" y="1065910"/>
            <a:ext cx="6096000" cy="3169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Solution to the Examples:</a:t>
            </a:r>
            <a:endParaRPr lang="en-US" sz="2000" b="1" dirty="0"/>
          </a:p>
          <a:p>
            <a:endParaRPr lang="en-US" dirty="0"/>
          </a:p>
          <a:p>
            <a:r>
              <a:rPr lang="en-US" b="1" dirty="0"/>
              <a:t>1-Ciphertext: </a:t>
            </a:r>
            <a:r>
              <a:rPr lang="en-US" dirty="0"/>
              <a:t>GATLMZCLRQXA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2-Ciphertext: </a:t>
            </a:r>
            <a:r>
              <a:rPr lang="en-US" dirty="0"/>
              <a:t>IBSUPMNA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3-Ciphertext: </a:t>
            </a:r>
            <a:r>
              <a:rPr lang="en-US" dirty="0"/>
              <a:t>BMODZBXDNAGE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4-Plaintext: </a:t>
            </a:r>
            <a:r>
              <a:rPr lang="en-US" dirty="0"/>
              <a:t>INSTRUMENTSX </a:t>
            </a:r>
            <a:endParaRPr lang="en-US" dirty="0"/>
          </a:p>
          <a:p>
            <a:r>
              <a:rPr lang="en-US" dirty="0"/>
              <a:t>(drop the padding X → INSTRUMENTS)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2547"/>
            <a:ext cx="10868745" cy="3839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100" spc="-73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Vigenère Cipher: Changing Shifts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236166"/>
            <a:ext cx="11478330" cy="16212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100" spc="-19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Vigenère is </a:t>
            </a:r>
            <a:r>
              <a:rPr lang="en-US" sz="950" b="1" kern="100" spc="-19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polyalphabetic</a:t>
            </a:r>
            <a:r>
              <a:rPr lang="en-US" sz="950" kern="100" spc="-19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. It does not use one fixed shift like Caesar. Instead, it uses a </a:t>
            </a:r>
            <a:r>
              <a:rPr lang="en-US" sz="950" b="1" kern="100" spc="-19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keyword</a:t>
            </a:r>
            <a:r>
              <a:rPr lang="en-US" sz="950" kern="100" spc="-19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to decide a different shift for each letter.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1567855"/>
            <a:ext cx="5284556" cy="1919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-36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Worked Example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661475" y="1849636"/>
          <a:ext cx="5284552" cy="2931642"/>
        </p:xfrm>
        <a:graphic>
          <a:graphicData uri="http://schemas.openxmlformats.org/drawingml/2006/table">
            <a:tbl>
              <a:tblPr/>
              <a:tblGrid>
                <a:gridCol w="406504"/>
                <a:gridCol w="406504"/>
                <a:gridCol w="406504"/>
                <a:gridCol w="406504"/>
                <a:gridCol w="406504"/>
                <a:gridCol w="406504"/>
                <a:gridCol w="406504"/>
                <a:gridCol w="406504"/>
                <a:gridCol w="406504"/>
                <a:gridCol w="406504"/>
                <a:gridCol w="406504"/>
                <a:gridCol w="406504"/>
                <a:gridCol w="406504"/>
              </a:tblGrid>
              <a:tr h="9221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Plaintext</a:t>
                      </a:r>
                      <a:endParaRPr lang="en-US" sz="9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A</a:t>
                      </a:r>
                      <a:endParaRPr lang="en-US" sz="9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T</a:t>
                      </a:r>
                      <a:endParaRPr lang="en-US" sz="9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T</a:t>
                      </a:r>
                      <a:endParaRPr lang="en-US" sz="9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A</a:t>
                      </a:r>
                      <a:endParaRPr lang="en-US" sz="9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C</a:t>
                      </a:r>
                      <a:endParaRPr lang="en-US" sz="9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K</a:t>
                      </a:r>
                      <a:endParaRPr lang="en-US" sz="9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A</a:t>
                      </a:r>
                      <a:endParaRPr lang="en-US" sz="9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T</a:t>
                      </a:r>
                      <a:endParaRPr lang="en-US" sz="9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D</a:t>
                      </a:r>
                      <a:endParaRPr lang="en-US" sz="9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A</a:t>
                      </a:r>
                      <a:endParaRPr lang="en-US" sz="9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W</a:t>
                      </a:r>
                      <a:endParaRPr lang="en-US" sz="9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N</a:t>
                      </a:r>
                      <a:endParaRPr lang="en-US" sz="9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874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Repeated Key</a:t>
                      </a:r>
                      <a:endParaRPr lang="en-US" sz="9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L</a:t>
                      </a:r>
                      <a:endParaRPr lang="en-US" sz="9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E</a:t>
                      </a:r>
                      <a:endParaRPr lang="en-US" sz="9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M</a:t>
                      </a:r>
                      <a:endParaRPr lang="en-US" sz="9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O</a:t>
                      </a:r>
                      <a:endParaRPr lang="en-US" sz="9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N</a:t>
                      </a:r>
                      <a:endParaRPr lang="en-US" sz="9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L</a:t>
                      </a:r>
                      <a:endParaRPr lang="en-US" sz="9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E</a:t>
                      </a:r>
                      <a:endParaRPr lang="en-US" sz="9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M</a:t>
                      </a:r>
                      <a:endParaRPr lang="en-US" sz="9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O</a:t>
                      </a:r>
                      <a:endParaRPr lang="en-US" sz="9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N</a:t>
                      </a:r>
                      <a:endParaRPr lang="en-US" sz="9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L</a:t>
                      </a:r>
                      <a:endParaRPr lang="en-US" sz="9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E</a:t>
                      </a:r>
                      <a:endParaRPr lang="en-US" sz="9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21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Ciphertext</a:t>
                      </a:r>
                      <a:endParaRPr lang="en-US" sz="9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L</a:t>
                      </a:r>
                      <a:endParaRPr lang="en-US" sz="9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X</a:t>
                      </a:r>
                      <a:endParaRPr lang="en-US" sz="9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F</a:t>
                      </a:r>
                      <a:endParaRPr lang="en-US" sz="9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O</a:t>
                      </a:r>
                      <a:endParaRPr lang="en-US" sz="9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P</a:t>
                      </a:r>
                      <a:endParaRPr lang="en-US" sz="9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V</a:t>
                      </a:r>
                      <a:endParaRPr lang="en-US" sz="9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E</a:t>
                      </a:r>
                      <a:endParaRPr lang="en-US" sz="9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F</a:t>
                      </a:r>
                      <a:endParaRPr lang="en-US" sz="9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R</a:t>
                      </a:r>
                      <a:endParaRPr lang="en-US" sz="9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N</a:t>
                      </a:r>
                      <a:endParaRPr lang="en-US" sz="9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H</a:t>
                      </a:r>
                      <a:endParaRPr lang="en-US" sz="9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R</a:t>
                      </a:r>
                      <a:endParaRPr lang="en-US" sz="9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61475" y="4883845"/>
            <a:ext cx="5284556" cy="1919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-36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Formula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5176838"/>
            <a:ext cx="5284556" cy="213420"/>
          </a:xfrm>
          <a:prstGeom prst="rect">
            <a:avLst/>
          </a:prstGeom>
        </p:spPr>
      </p:pic>
      <p:sp>
        <p:nvSpPr>
          <p:cNvPr id="5" name="Text 4"/>
          <p:cNvSpPr/>
          <p:nvPr/>
        </p:nvSpPr>
        <p:spPr>
          <a:xfrm>
            <a:off x="661475" y="5491262"/>
            <a:ext cx="5284556" cy="1919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-36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First Letter Worked Out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61475" y="5763022"/>
            <a:ext cx="5284556" cy="33059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100" spc="-19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 = 0, L = 11</a:t>
            </a:r>
            <a:endParaRPr lang="en-US" sz="9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950" kern="100" spc="-19" dirty="0">
                <a:solidFill>
                  <a:srgbClr val="272525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 = (0 + 11) mod 26 = 11 = L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6252014" y="1567855"/>
            <a:ext cx="5284556" cy="1919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-36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Why It Is Better Than Caesar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2014" y="1849636"/>
            <a:ext cx="2602343" cy="86707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38342" y="1985169"/>
            <a:ext cx="2280486" cy="1919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-36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Variable Shifts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438342" y="2256929"/>
            <a:ext cx="2280486" cy="32424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100" spc="-19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The same plaintext letter can encrypt differently in different positions.</a:t>
            </a:r>
            <a:endParaRPr lang="en-US" sz="9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34127" y="1849636"/>
            <a:ext cx="2602443" cy="86707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120455" y="1985169"/>
            <a:ext cx="2280585" cy="1919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-36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Keyword: LEMON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9120455" y="2256929"/>
            <a:ext cx="2280585" cy="32424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100" spc="-19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Each letter of the keyword provides a different shift value.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6252014" y="2806502"/>
            <a:ext cx="5284556" cy="529233"/>
          </a:xfrm>
          <a:prstGeom prst="roundRect">
            <a:avLst>
              <a:gd name="adj" fmla="val 9750"/>
            </a:avLst>
          </a:prstGeom>
          <a:solidFill>
            <a:srgbClr val="FCF2B5"/>
          </a:solidFill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4844" y="2930029"/>
            <a:ext cx="153488" cy="12283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651161" y="2908995"/>
            <a:ext cx="4762579" cy="32424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kern="100" spc="-19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Weakness:</a:t>
            </a:r>
            <a:r>
              <a:rPr lang="en-US" sz="950" kern="100" spc="-19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The repeated keyword creates repeated patterns, which can be attacked using </a:t>
            </a:r>
            <a:r>
              <a:rPr lang="en-US" sz="950" b="1" kern="100" spc="-19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Kasiski examination</a:t>
            </a:r>
            <a:r>
              <a:rPr lang="en-US" sz="950" kern="100" spc="-19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and </a:t>
            </a:r>
            <a:r>
              <a:rPr lang="en-US" sz="950" b="1" kern="100" spc="-19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frequency analysis</a:t>
            </a:r>
            <a:r>
              <a:rPr lang="en-US" sz="950" kern="100" spc="-19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.</a:t>
            </a:r>
            <a:endParaRPr lang="en-US" sz="950" dirty="0"/>
          </a:p>
        </p:txBody>
      </p:sp>
      <p:sp>
        <p:nvSpPr>
          <p:cNvPr id="20" name="Rectangle 19"/>
          <p:cNvSpPr/>
          <p:nvPr/>
        </p:nvSpPr>
        <p:spPr>
          <a:xfrm>
            <a:off x="10999694" y="6535270"/>
            <a:ext cx="1183341" cy="3137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31962"/>
            <a:ext cx="10868745" cy="4134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kern="100" spc="-78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Auto-key Vigenère Cipher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530648"/>
            <a:ext cx="11478330" cy="1799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kern="100" spc="-21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Auto-key Vigenère tries to reduce the repeated-key problem of regular Vigenère.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907381"/>
            <a:ext cx="6615939" cy="2066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100" spc="-39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Regular Vigenère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2206625"/>
            <a:ext cx="7225524" cy="1799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kern="100" spc="-21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Keyword repeats again and again in a short cycle.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2479179"/>
            <a:ext cx="6615939" cy="2066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100" spc="-39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Plaintext-Autokey Version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1475" y="2778423"/>
            <a:ext cx="7225524" cy="1799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kern="100" spc="-21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Start with an initial key, then </a:t>
            </a:r>
            <a:r>
              <a:rPr lang="en-US" sz="1000" b="1" kern="100" spc="-21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append plaintext letters</a:t>
            </a:r>
            <a:r>
              <a:rPr lang="en-US" sz="1000" kern="100" spc="-21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to extend the key.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61475" y="3050977"/>
            <a:ext cx="6615939" cy="2066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100" spc="-39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Worked Example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661475" y="3361829"/>
          <a:ext cx="6615934" cy="2183949"/>
        </p:xfrm>
        <a:graphic>
          <a:graphicData uri="http://schemas.openxmlformats.org/drawingml/2006/table">
            <a:tbl>
              <a:tblPr/>
              <a:tblGrid>
                <a:gridCol w="508918"/>
                <a:gridCol w="508918"/>
                <a:gridCol w="508918"/>
                <a:gridCol w="508918"/>
                <a:gridCol w="508918"/>
                <a:gridCol w="508918"/>
                <a:gridCol w="508918"/>
                <a:gridCol w="508918"/>
                <a:gridCol w="508918"/>
                <a:gridCol w="508918"/>
                <a:gridCol w="508918"/>
                <a:gridCol w="508918"/>
                <a:gridCol w="508918"/>
              </a:tblGrid>
              <a:tr h="6669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00" spc="-21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Plaintext</a:t>
                      </a:r>
                      <a:endParaRPr lang="en-US" sz="10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00" spc="-21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A</a:t>
                      </a:r>
                      <a:endParaRPr lang="en-US" sz="10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00" spc="-21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T</a:t>
                      </a:r>
                      <a:endParaRPr lang="en-US" sz="10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00" spc="-21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T</a:t>
                      </a:r>
                      <a:endParaRPr lang="en-US" sz="10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00" spc="-21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A</a:t>
                      </a:r>
                      <a:endParaRPr lang="en-US" sz="10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00" spc="-21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C</a:t>
                      </a:r>
                      <a:endParaRPr lang="en-US" sz="10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00" spc="-21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K</a:t>
                      </a:r>
                      <a:endParaRPr lang="en-US" sz="10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00" spc="-21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A</a:t>
                      </a:r>
                      <a:endParaRPr lang="en-US" sz="10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00" spc="-21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T</a:t>
                      </a:r>
                      <a:endParaRPr lang="en-US" sz="10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00" spc="-21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D</a:t>
                      </a:r>
                      <a:endParaRPr lang="en-US" sz="10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00" spc="-21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A</a:t>
                      </a:r>
                      <a:endParaRPr lang="en-US" sz="10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00" spc="-21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W</a:t>
                      </a:r>
                      <a:endParaRPr lang="en-US" sz="10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00" spc="-21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N</a:t>
                      </a:r>
                      <a:endParaRPr lang="en-US" sz="10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008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00" spc="-21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Extended Key</a:t>
                      </a:r>
                      <a:endParaRPr lang="en-US" sz="10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00" spc="-21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Q</a:t>
                      </a:r>
                      <a:endParaRPr lang="en-US" sz="10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00" spc="-21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U</a:t>
                      </a:r>
                      <a:endParaRPr lang="en-US" sz="10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00" spc="-21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E</a:t>
                      </a:r>
                      <a:endParaRPr lang="en-US" sz="10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00" spc="-21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E</a:t>
                      </a:r>
                      <a:endParaRPr lang="en-US" sz="10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00" spc="-21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N</a:t>
                      </a:r>
                      <a:endParaRPr lang="en-US" sz="10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00" spc="-21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L</a:t>
                      </a:r>
                      <a:endParaRPr lang="en-US" sz="10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00" spc="-21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Y</a:t>
                      </a:r>
                      <a:endParaRPr lang="en-US" sz="10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00" spc="-21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A</a:t>
                      </a:r>
                      <a:endParaRPr lang="en-US" sz="10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00" spc="-21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T</a:t>
                      </a:r>
                      <a:endParaRPr lang="en-US" sz="10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00" spc="-21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T</a:t>
                      </a:r>
                      <a:endParaRPr lang="en-US" sz="10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00" spc="-21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A</a:t>
                      </a:r>
                      <a:endParaRPr lang="en-US" sz="10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00" spc="-21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C</a:t>
                      </a:r>
                      <a:endParaRPr lang="en-US" sz="10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69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kern="100" spc="-21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Ciphertext</a:t>
                      </a:r>
                      <a:endParaRPr lang="en-US" sz="10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100" spc="-21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Q</a:t>
                      </a:r>
                      <a:endParaRPr lang="en-US" sz="10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100" spc="-21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N</a:t>
                      </a:r>
                      <a:endParaRPr lang="en-US" sz="10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100" spc="-21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X</a:t>
                      </a:r>
                      <a:endParaRPr lang="en-US" sz="10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100" spc="-21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E</a:t>
                      </a:r>
                      <a:endParaRPr lang="en-US" sz="10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100" spc="-21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P</a:t>
                      </a:r>
                      <a:endParaRPr lang="en-US" sz="10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100" spc="-21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V</a:t>
                      </a:r>
                      <a:endParaRPr lang="en-US" sz="10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100" spc="-21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Y</a:t>
                      </a:r>
                      <a:endParaRPr lang="en-US" sz="10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100" spc="-21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T</a:t>
                      </a:r>
                      <a:endParaRPr lang="en-US" sz="10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100" spc="-21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W</a:t>
                      </a:r>
                      <a:endParaRPr lang="en-US" sz="10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100" spc="-21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T</a:t>
                      </a:r>
                      <a:endParaRPr lang="en-US" sz="10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100" spc="-21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W</a:t>
                      </a:r>
                      <a:endParaRPr lang="en-US" sz="10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100" spc="-21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P</a:t>
                      </a:r>
                      <a:endParaRPr lang="en-US" sz="10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61475" y="5662712"/>
            <a:ext cx="7225524" cy="1799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i="1" kern="100" spc="-21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Initial key: QUEENLY — then plaintext letters A, T, T, A, C extend the key.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606415" y="1907381"/>
            <a:ext cx="3930056" cy="2066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100" spc="-39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Why It Helps</a:t>
            </a:r>
            <a:endParaRPr lang="en-US" sz="13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06415" y="2218234"/>
            <a:ext cx="3930056" cy="96182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833918" y="2369542"/>
            <a:ext cx="3551248" cy="2066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100" spc="-39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No Short Cycle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833918" y="2668786"/>
            <a:ext cx="3551248" cy="3599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kern="100" spc="-21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The key does not repeat in a simple short cycle, making pattern detection harder.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606415" y="3284240"/>
            <a:ext cx="3930056" cy="772716"/>
          </a:xfrm>
          <a:prstGeom prst="roundRect">
            <a:avLst>
              <a:gd name="adj" fmla="val 7192"/>
            </a:avLst>
          </a:prstGeom>
          <a:solidFill>
            <a:srgbClr val="FCF2B5"/>
          </a:solidFill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8670" y="3427413"/>
            <a:ext cx="165294" cy="1322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36220" y="3400623"/>
            <a:ext cx="3367995" cy="5399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kern="100" spc="-2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Weakness:</a:t>
            </a:r>
            <a:r>
              <a:rPr lang="en-US" sz="1000" kern="100" spc="-21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Still not secure by modern standards. It can be attacked using </a:t>
            </a:r>
            <a:r>
              <a:rPr lang="en-US" sz="1000" b="1" kern="100" spc="-2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statistical methods</a:t>
            </a:r>
            <a:r>
              <a:rPr lang="en-US" sz="1000" kern="100" spc="-21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or </a:t>
            </a:r>
            <a:r>
              <a:rPr lang="en-US" sz="1000" b="1" kern="100" spc="-2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known-plaintext attacks</a:t>
            </a:r>
            <a:r>
              <a:rPr lang="en-US" sz="1000" kern="100" spc="-21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7606415" y="4161135"/>
            <a:ext cx="3930056" cy="592733"/>
          </a:xfrm>
          <a:prstGeom prst="roundRect">
            <a:avLst>
              <a:gd name="adj" fmla="val 9375"/>
            </a:avLst>
          </a:prstGeom>
          <a:solidFill>
            <a:srgbClr val="DADBF1"/>
          </a:solidFill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8670" y="4304308"/>
            <a:ext cx="165294" cy="13225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036220" y="4277519"/>
            <a:ext cx="3367995" cy="3599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kern="100" spc="-2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Note:</a:t>
            </a:r>
            <a:r>
              <a:rPr lang="en-US" sz="1000" kern="100" spc="-21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Some historical autokey variants extend the key using </a:t>
            </a:r>
            <a:r>
              <a:rPr lang="en-US" sz="1000" b="1" kern="100" spc="-21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ciphertext</a:t>
            </a:r>
            <a:r>
              <a:rPr lang="en-US" sz="1000" kern="100" spc="-21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instead of plaintext.</a:t>
            </a:r>
            <a:endParaRPr lang="en-US" sz="1000" dirty="0"/>
          </a:p>
        </p:txBody>
      </p:sp>
      <p:sp>
        <p:nvSpPr>
          <p:cNvPr id="21" name="Rectangle 20"/>
          <p:cNvSpPr/>
          <p:nvPr/>
        </p:nvSpPr>
        <p:spPr>
          <a:xfrm>
            <a:off x="10999694" y="6535270"/>
            <a:ext cx="1183341" cy="3137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23999" y="949370"/>
            <a:ext cx="780825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Decryption:</a:t>
            </a:r>
            <a:endParaRPr lang="en-US" b="1" dirty="0"/>
          </a:p>
          <a:p>
            <a:r>
              <a:rPr lang="en-US" dirty="0"/>
              <a:t> </a:t>
            </a:r>
            <a:r>
              <a:rPr lang="en-US" b="1" dirty="0"/>
              <a:t>Key </a:t>
            </a:r>
            <a:r>
              <a:rPr lang="en-US" dirty="0"/>
              <a:t>= LEMON</a:t>
            </a:r>
            <a:endParaRPr lang="en-US" dirty="0"/>
          </a:p>
          <a:p>
            <a:r>
              <a:rPr lang="en-US" b="1" dirty="0"/>
              <a:t>Ciphertext </a:t>
            </a:r>
            <a:r>
              <a:rPr lang="en-US" dirty="0"/>
              <a:t>= LXFOPVEFRNHR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874856"/>
            <a:ext cx="7064352" cy="26062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76400" y="47772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Plaintext</a:t>
            </a:r>
            <a:r>
              <a:rPr lang="en-US" dirty="0"/>
              <a:t>: ATTACKATDAWN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61882" y="1290028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Some more examples </a:t>
            </a:r>
            <a:r>
              <a:rPr lang="en-US" b="1"/>
              <a:t>for Activity :</a:t>
            </a:r>
            <a:endParaRPr lang="en-US" b="1"/>
          </a:p>
          <a:p>
            <a:endParaRPr lang="en-US" b="1"/>
          </a:p>
          <a:p>
            <a:r>
              <a:rPr lang="en-US" b="1" dirty="0"/>
              <a:t>Example 2:</a:t>
            </a:r>
            <a:endParaRPr lang="en-US" b="1" dirty="0"/>
          </a:p>
          <a:p>
            <a:r>
              <a:rPr lang="en-US" dirty="0"/>
              <a:t> Key = KEY</a:t>
            </a:r>
            <a:endParaRPr lang="en-US" dirty="0"/>
          </a:p>
          <a:p>
            <a:r>
              <a:rPr lang="en-US" dirty="0"/>
              <a:t>Plaintext = HELLO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Example 3:</a:t>
            </a:r>
            <a:endParaRPr lang="en-US" b="1" dirty="0"/>
          </a:p>
          <a:p>
            <a:r>
              <a:rPr lang="en-US" dirty="0"/>
              <a:t> Key = SECRET</a:t>
            </a:r>
            <a:endParaRPr lang="en-US" dirty="0"/>
          </a:p>
          <a:p>
            <a:r>
              <a:rPr lang="en-US" dirty="0"/>
              <a:t> Plaintext = MEET AT NOON (spaces must be removed or ignored removed)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6936"/>
            <a:ext cx="10868745" cy="3839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100" spc="-73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Comparison of Classical Ciphers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661475" y="1110555"/>
          <a:ext cx="10868744" cy="1654528"/>
        </p:xfrm>
        <a:graphic>
          <a:graphicData uri="http://schemas.openxmlformats.org/drawingml/2006/table">
            <a:tbl>
              <a:tblPr/>
              <a:tblGrid>
                <a:gridCol w="2717186"/>
                <a:gridCol w="2717186"/>
                <a:gridCol w="2717186"/>
                <a:gridCol w="2717186"/>
              </a:tblGrid>
              <a:tr h="2736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Cipher</a:t>
                      </a:r>
                      <a:endParaRPr lang="en-US" sz="10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Unit Encrypted</a:t>
                      </a:r>
                      <a:endParaRPr lang="en-US" sz="10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Key Method</a:t>
                      </a:r>
                      <a:endParaRPr lang="en-US" sz="10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Main Weakness</a:t>
                      </a:r>
                      <a:endParaRPr lang="en-US" sz="10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68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Caesar</a:t>
                      </a:r>
                      <a:endParaRPr lang="en-US" sz="10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One letter</a:t>
                      </a:r>
                      <a:endParaRPr lang="en-US" sz="10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Constant shift</a:t>
                      </a:r>
                      <a:endParaRPr lang="en-US" sz="10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Brute force (only 25 keys)</a:t>
                      </a:r>
                      <a:endParaRPr lang="en-US" sz="10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68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Simple Substitution</a:t>
                      </a:r>
                      <a:endParaRPr lang="en-US" sz="10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One letter</a:t>
                      </a:r>
                      <a:endParaRPr lang="en-US" sz="10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Fixed arbitrary mapping</a:t>
                      </a:r>
                      <a:endParaRPr lang="en-US" sz="10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Letter frequency analysis</a:t>
                      </a:r>
                      <a:endParaRPr lang="en-US" sz="10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68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Playfair</a:t>
                      </a:r>
                      <a:endParaRPr lang="en-US" sz="10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Two-letter pairs</a:t>
                      </a:r>
                      <a:endParaRPr lang="en-US" sz="10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5×5 matrix</a:t>
                      </a:r>
                      <a:endParaRPr lang="en-US" sz="10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Digraph frequency analysis</a:t>
                      </a:r>
                      <a:endParaRPr lang="en-US" sz="10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68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Vigenère</a:t>
                      </a:r>
                      <a:endParaRPr lang="en-US" sz="10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One letter</a:t>
                      </a:r>
                      <a:endParaRPr lang="en-US" sz="10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Repeated keyword</a:t>
                      </a:r>
                      <a:endParaRPr lang="en-US" sz="10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Key periodicity (Kasiski)</a:t>
                      </a:r>
                      <a:endParaRPr lang="en-US" sz="10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363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Auto-key Vigenère</a:t>
                      </a:r>
                      <a:endParaRPr lang="en-US" sz="10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One letter</a:t>
                      </a:r>
                      <a:endParaRPr lang="en-US" sz="10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Initial key + plaintext</a:t>
                      </a:r>
                      <a:endParaRPr lang="en-US" sz="10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kern="100" spc="-19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Statistical / known-plaintext attacks</a:t>
                      </a:r>
                      <a:endParaRPr lang="en-US" sz="105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61475" y="2957413"/>
            <a:ext cx="5284556" cy="691356"/>
          </a:xfrm>
          <a:prstGeom prst="roundRect">
            <a:avLst>
              <a:gd name="adj" fmla="val 7464"/>
            </a:avLst>
          </a:prstGeom>
          <a:solidFill>
            <a:srgbClr val="DADBF1"/>
          </a:solidFill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305" y="3080941"/>
            <a:ext cx="153488" cy="12283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60622" y="3059906"/>
            <a:ext cx="4762579" cy="4863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kern="100" spc="-19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Big idea:</a:t>
            </a:r>
            <a:r>
              <a:rPr lang="en-US" sz="950" kern="100" spc="-19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Classical ciphers are weak because </a:t>
            </a:r>
            <a:r>
              <a:rPr lang="en-US" sz="950" b="1" kern="100" spc="-19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language patterns leak through encryption</a:t>
            </a:r>
            <a:r>
              <a:rPr lang="en-US" sz="950" kern="100" spc="-19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. No matter how complex the key, if the structure of the language survives, the cipher can be broken.</a:t>
            </a:r>
            <a:endParaRPr lang="en-US" sz="950" dirty="0"/>
          </a:p>
        </p:txBody>
      </p:sp>
      <p:sp>
        <p:nvSpPr>
          <p:cNvPr id="7" name="Shape 3"/>
          <p:cNvSpPr/>
          <p:nvPr/>
        </p:nvSpPr>
        <p:spPr>
          <a:xfrm>
            <a:off x="6252014" y="2957413"/>
            <a:ext cx="5284556" cy="691356"/>
          </a:xfrm>
          <a:prstGeom prst="roundRect">
            <a:avLst>
              <a:gd name="adj" fmla="val 7464"/>
            </a:avLst>
          </a:prstGeom>
          <a:solidFill>
            <a:srgbClr val="B6D6FC"/>
          </a:solidFill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844" y="3080941"/>
            <a:ext cx="153488" cy="12283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651161" y="3059906"/>
            <a:ext cx="4762579" cy="4863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kern="100" spc="-19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Teaching takeaway:</a:t>
            </a:r>
            <a:r>
              <a:rPr lang="en-US" sz="950" kern="100" spc="-19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These ciphers are invaluable for learning the core concepts of </a:t>
            </a:r>
            <a:r>
              <a:rPr lang="en-US" sz="950" b="1" kern="100" spc="-19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confidentiality, keys, substitution, encryption, decryption, and cryptanalysis</a:t>
            </a:r>
            <a:r>
              <a:rPr lang="en-US" sz="950" kern="100" spc="-19" dirty="0">
                <a:solidFill>
                  <a:srgbClr val="00000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— the foundations of all modern security.</a:t>
            </a:r>
            <a:endParaRPr lang="en-US" sz="950" dirty="0"/>
          </a:p>
        </p:txBody>
      </p:sp>
      <p:pic>
        <p:nvPicPr>
          <p:cNvPr id="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1136" y="3828355"/>
            <a:ext cx="4149324" cy="246270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909131" y="5719825"/>
            <a:ext cx="1031432" cy="1986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kern="100" spc="-38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Modern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5609245" y="5620476"/>
            <a:ext cx="1031432" cy="3973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kern="100" spc="-38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Polyalphabetic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4288165" y="5719825"/>
            <a:ext cx="1031432" cy="1986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kern="100" spc="-38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Classical</a:t>
            </a:r>
            <a:endParaRPr lang="en-US" sz="1250" dirty="0"/>
          </a:p>
        </p:txBody>
      </p:sp>
      <p:sp>
        <p:nvSpPr>
          <p:cNvPr id="14" name="Rectangle 13"/>
          <p:cNvSpPr/>
          <p:nvPr/>
        </p:nvSpPr>
        <p:spPr>
          <a:xfrm>
            <a:off x="10999694" y="6535270"/>
            <a:ext cx="1183341" cy="3137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9495"/>
            <a:ext cx="10868745" cy="44301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100" spc="-84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Classroom Practice + Answer Key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268214"/>
            <a:ext cx="5261439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100" spc="-42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Practice Questions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609229"/>
            <a:ext cx="2577539" cy="14523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65167" y="1715492"/>
            <a:ext cx="170057" cy="21262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kern="100" spc="-33" dirty="0">
                <a:solidFill>
                  <a:srgbClr val="FFFFFF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205" y="2176264"/>
            <a:ext cx="2256079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100" spc="-42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Caesar Cipher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22205" y="2503984"/>
            <a:ext cx="2256079" cy="3968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100" spc="-22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Encrypt </a:t>
            </a:r>
            <a:r>
              <a:rPr lang="en-US" sz="1100" kern="100" spc="-22" dirty="0">
                <a:solidFill>
                  <a:srgbClr val="272525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SECURITY</a:t>
            </a:r>
            <a:r>
              <a:rPr lang="en-US" sz="1100" kern="100" spc="-22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using Caesar cipher with key 4.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45275" y="1609229"/>
            <a:ext cx="2577639" cy="14523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49066" y="1715492"/>
            <a:ext cx="170057" cy="21262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kern="100" spc="-33" dirty="0">
                <a:solidFill>
                  <a:srgbClr val="FFFFFF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506005" y="2176264"/>
            <a:ext cx="2256178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100" spc="-42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Substitution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506005" y="2503984"/>
            <a:ext cx="2256178" cy="3968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100" spc="-22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Encrypt </a:t>
            </a:r>
            <a:r>
              <a:rPr lang="en-US" sz="1100" kern="100" spc="-22" dirty="0">
                <a:solidFill>
                  <a:srgbClr val="272525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DATA</a:t>
            </a:r>
            <a:r>
              <a:rPr lang="en-US" sz="1100" kern="100" spc="-22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using reverse alphabet substitution.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167856"/>
            <a:ext cx="2577539" cy="145236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865167" y="3274120"/>
            <a:ext cx="170057" cy="21262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kern="100" spc="-33" dirty="0">
                <a:solidFill>
                  <a:srgbClr val="FFFFFF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822205" y="3734891"/>
            <a:ext cx="2256079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100" spc="-42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Playfair Matrix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822205" y="4062611"/>
            <a:ext cx="2256079" cy="3968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100" spc="-22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Why does traditional Playfair use a 5×5 matrix?</a:t>
            </a:r>
            <a:endParaRPr lang="en-US" sz="11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45275" y="3167856"/>
            <a:ext cx="2577639" cy="145236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549066" y="3274120"/>
            <a:ext cx="170057" cy="21262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kern="100" spc="-33" dirty="0">
                <a:solidFill>
                  <a:srgbClr val="FFFFFF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3506005" y="3734891"/>
            <a:ext cx="2256178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100" spc="-42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Vigenère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3506005" y="4062611"/>
            <a:ext cx="2256178" cy="3968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100" spc="-22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Encrypt </a:t>
            </a:r>
            <a:r>
              <a:rPr lang="en-US" sz="1100" kern="100" spc="-22" dirty="0">
                <a:solidFill>
                  <a:srgbClr val="272525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HELLO</a:t>
            </a:r>
            <a:r>
              <a:rPr lang="en-US" sz="1100" kern="100" spc="-22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using Vigenère cipher with key </a:t>
            </a:r>
            <a:r>
              <a:rPr lang="en-US" sz="1100" kern="100" spc="-22" dirty="0">
                <a:solidFill>
                  <a:srgbClr val="272525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KEY</a:t>
            </a:r>
            <a:r>
              <a:rPr lang="en-US" sz="1100" kern="100" spc="-22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.</a:t>
            </a:r>
            <a:endParaRPr lang="en-US" sz="11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726484"/>
            <a:ext cx="5261439" cy="145236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207166" y="4832747"/>
            <a:ext cx="170057" cy="21262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kern="100" spc="-33" dirty="0">
                <a:solidFill>
                  <a:srgbClr val="FFFFFF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822205" y="5293519"/>
            <a:ext cx="4939978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100" spc="-42" dirty="0">
                <a:solidFill>
                  <a:srgbClr val="272525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Auto-key vs. Vigenère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822205" y="5621238"/>
            <a:ext cx="4939978" cy="39687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100" spc="-22" dirty="0">
                <a:solidFill>
                  <a:srgbClr val="272525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What is the main difference between regular Vigenère and Auto-key Vigenère?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6275131" y="1268214"/>
            <a:ext cx="5261439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100" spc="-42" dirty="0">
                <a:solidFill>
                  <a:srgbClr val="000000"/>
                </a:solidFill>
                <a:latin typeface="Inter Bold" panose="02000503000000020004" pitchFamily="34" charset="0"/>
                <a:ea typeface="Inter Bold" panose="02000503000000020004" pitchFamily="34" charset="-122"/>
                <a:cs typeface="Inter Bold" panose="02000503000000020004" pitchFamily="34" charset="-120"/>
              </a:rPr>
              <a:t>Answer Key</a:t>
            </a:r>
            <a:endParaRPr lang="en-US" sz="13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/>
        </p:nvGraphicFramePr>
        <p:xfrm>
          <a:off x="6275131" y="1609229"/>
          <a:ext cx="5261438" cy="2824886"/>
        </p:xfrm>
        <a:graphic>
          <a:graphicData uri="http://schemas.openxmlformats.org/drawingml/2006/table">
            <a:tbl>
              <a:tblPr/>
              <a:tblGrid>
                <a:gridCol w="2630719"/>
                <a:gridCol w="2630719"/>
              </a:tblGrid>
              <a:tr h="3385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#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Answer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3385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1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SECURITY → </a:t>
                      </a:r>
                      <a:r>
                        <a:rPr lang="en-US" sz="1100" kern="100" spc="-22" dirty="0">
                          <a:solidFill>
                            <a:srgbClr val="272525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WIGYVMXC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3385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2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DATA → </a:t>
                      </a:r>
                      <a:r>
                        <a:rPr lang="en-US" sz="1100" kern="100" spc="-22" dirty="0">
                          <a:solidFill>
                            <a:srgbClr val="272525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WZGZ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53695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3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5×5 has 25 cells, so I/J are usually combined to fit 26 letters.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3385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4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HELLO + KEYKE → </a:t>
                      </a:r>
                      <a:r>
                        <a:rPr lang="en-US" sz="1100" kern="100" spc="-22" dirty="0">
                          <a:solidFill>
                            <a:srgbClr val="272525"/>
                          </a:solidFill>
                          <a:latin typeface="Consolas" panose="020B0609020204030204" pitchFamily="34" charset="0"/>
                          <a:ea typeface="Consolas" panose="020B0609020204030204" pitchFamily="34" charset="-122"/>
                          <a:cs typeface="Consolas" panose="020B0609020204030204" pitchFamily="34" charset="-120"/>
                        </a:rPr>
                        <a:t>RIJVS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9338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5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kern="100" spc="-22" dirty="0">
                          <a:solidFill>
                            <a:srgbClr val="272525"/>
                          </a:solidFill>
                          <a:latin typeface="Inter" panose="02000503000000020004" pitchFamily="34" charset="0"/>
                          <a:ea typeface="Inter" panose="02000503000000020004" pitchFamily="34" charset="-122"/>
                          <a:cs typeface="Inter" panose="02000503000000020004" pitchFamily="34" charset="-120"/>
                        </a:rPr>
                        <a:t>Regular Vigenère repeats the keyword; Auto-key starts with an initial key and extends using plaintext.</a:t>
                      </a:r>
                      <a:endParaRPr lang="en-US" sz="1100" dirty="0">
                        <a:latin typeface="Inter" panose="02000503000000020004" pitchFamily="34" charset="0"/>
                        <a:ea typeface="Inter" panose="02000503000000020004" pitchFamily="34" charset="0"/>
                        <a:cs typeface="Inter" panose="02000503000000020004" pitchFamily="34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10999694" y="6535270"/>
            <a:ext cx="1183341" cy="3137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6934</Words>
  <Application>WPS Presentation</Application>
  <PresentationFormat>Widescreen</PresentationFormat>
  <Paragraphs>746</Paragraphs>
  <Slides>17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40" baseType="lpstr">
      <vt:lpstr>Arial</vt:lpstr>
      <vt:lpstr>SimSun</vt:lpstr>
      <vt:lpstr>Wingdings</vt:lpstr>
      <vt:lpstr>Calibri</vt:lpstr>
      <vt:lpstr>Inter</vt:lpstr>
      <vt:lpstr>Inter Bold</vt:lpstr>
      <vt:lpstr>Inter Bold</vt:lpstr>
      <vt:lpstr>Inter Bold</vt:lpstr>
      <vt:lpstr>Inter</vt:lpstr>
      <vt:lpstr>Inter</vt:lpstr>
      <vt:lpstr>Inter</vt:lpstr>
      <vt:lpstr>Consolas</vt:lpstr>
      <vt:lpstr>Consolas</vt:lpstr>
      <vt:lpstr>Consolas</vt:lpstr>
      <vt:lpstr>Calibri</vt:lpstr>
      <vt:lpstr>Inter Light</vt:lpstr>
      <vt:lpstr>Segoe Print</vt:lpstr>
      <vt:lpstr>Inter Light</vt:lpstr>
      <vt:lpstr>Inter Light</vt:lpstr>
      <vt:lpstr>Microsoft YaHei</vt:lpstr>
      <vt:lpstr>Arial Unicode MS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ushna khalil</cp:lastModifiedBy>
  <cp:revision>13</cp:revision>
  <dcterms:created xsi:type="dcterms:W3CDTF">2026-10-04T23:29:00Z</dcterms:created>
  <dcterms:modified xsi:type="dcterms:W3CDTF">2026-10-09T07:02:13Z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7BF7EE7B3BF643A2A600138305C75ECB_13</vt:lpwstr>
  </property>
  <property fmtid="{D5CDD505-2E9C-101B-9397-08002B2CF9AE}" pid="3" name="KSOProductBuildVer">
    <vt:lpwstr>1033-12.1.0.28485</vt:lpwstr>
  </property>
</Properties>
</file>