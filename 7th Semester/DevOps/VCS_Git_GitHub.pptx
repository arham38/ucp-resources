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86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0535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7997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17821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44274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0834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37560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73648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07540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40342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95277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1842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342900"/>
              <a:t>9/30/2026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3429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8698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05979"/>
            <a:ext cx="6172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200151"/>
            <a:ext cx="61722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05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457200"/>
            <a:ext cx="1645920" cy="1645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2377440"/>
            <a:ext cx="1188720" cy="1188720"/>
          </a:xfrm>
          <a:prstGeom prst="ellipse">
            <a:avLst/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3108960"/>
            <a:ext cx="914400" cy="9144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3931920"/>
            <a:ext cx="640080" cy="640080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VCS, Git &amp; GitHub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60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related tools, explained simply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a VCS?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System: a tool that tracks changes to files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658368"/>
          </a:xfrm>
          <a:prstGeom prst="roundRect">
            <a:avLst>
              <a:gd name="adj" fmla="val 208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55648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55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45920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 full history: what changed, who, when and why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50592"/>
            <a:ext cx="8229600" cy="658368"/>
          </a:xfrm>
          <a:prstGeom prst="roundRect">
            <a:avLst>
              <a:gd name="adj" fmla="val 208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560320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450592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 to any earlier version at any time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255264"/>
            <a:ext cx="8229600" cy="658368"/>
          </a:xfrm>
          <a:prstGeom prst="roundRect">
            <a:avLst>
              <a:gd name="adj" fmla="val 208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364992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364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255264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many people work together without overwriting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4059936"/>
            <a:ext cx="8229600" cy="658368"/>
          </a:xfrm>
          <a:prstGeom prst="roundRect">
            <a:avLst>
              <a:gd name="adj" fmla="val 208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169664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169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059936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Git, Subversion (SVN), Mercurial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is Git?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popular VCS, free and runs on your computer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658368"/>
          </a:xfrm>
          <a:prstGeom prst="roundRect">
            <a:avLst>
              <a:gd name="adj" fmla="val 20833"/>
            </a:avLst>
          </a:prstGeom>
          <a:solidFill>
            <a:srgbClr val="FFE4DE"/>
          </a:solidFill>
          <a:ln w="12700">
            <a:solidFill>
              <a:srgbClr val="FFE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55648"/>
            <a:ext cx="438912" cy="438912"/>
          </a:xfrm>
          <a:prstGeom prst="ellipse">
            <a:avLst/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55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45920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Linus Torvalds (creator of Linux) in 2005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50592"/>
            <a:ext cx="8229600" cy="658368"/>
          </a:xfrm>
          <a:prstGeom prst="roundRect">
            <a:avLst>
              <a:gd name="adj" fmla="val 20833"/>
            </a:avLst>
          </a:prstGeom>
          <a:solidFill>
            <a:srgbClr val="FFE4DE"/>
          </a:solidFill>
          <a:ln w="12700">
            <a:solidFill>
              <a:srgbClr val="FFE4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560320"/>
            <a:ext cx="438912" cy="438912"/>
          </a:xfrm>
          <a:prstGeom prst="ellipse">
            <a:avLst/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450592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Commits: saved snapshots of your project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255264"/>
            <a:ext cx="8229600" cy="658368"/>
          </a:xfrm>
          <a:prstGeom prst="roundRect">
            <a:avLst>
              <a:gd name="adj" fmla="val 20833"/>
            </a:avLst>
          </a:prstGeom>
          <a:solidFill>
            <a:srgbClr val="FFE4DE"/>
          </a:solidFill>
          <a:ln w="12700">
            <a:solidFill>
              <a:srgbClr val="FFE4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364992"/>
            <a:ext cx="438912" cy="438912"/>
          </a:xfrm>
          <a:prstGeom prst="ellipse">
            <a:avLst/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364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255264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Branches: safe space to try new features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4059936"/>
            <a:ext cx="8229600" cy="658368"/>
          </a:xfrm>
          <a:prstGeom prst="roundRect">
            <a:avLst>
              <a:gd name="adj" fmla="val 20833"/>
            </a:avLst>
          </a:prstGeom>
          <a:solidFill>
            <a:srgbClr val="FFE4DE"/>
          </a:solidFill>
          <a:ln w="12700">
            <a:solidFill>
              <a:srgbClr val="FFE4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169664"/>
            <a:ext cx="438912" cy="438912"/>
          </a:xfrm>
          <a:prstGeom prst="ellipse">
            <a:avLst/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169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059936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Merge: combine branches when the work is ready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4864608"/>
            <a:ext cx="8229600" cy="658368"/>
          </a:xfrm>
          <a:prstGeom prst="roundRect">
            <a:avLst>
              <a:gd name="adj" fmla="val 20833"/>
            </a:avLst>
          </a:prstGeom>
          <a:solidFill>
            <a:srgbClr val="FFE4DE"/>
          </a:solidFill>
          <a:ln w="12700">
            <a:solidFill>
              <a:srgbClr val="FFE4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974336"/>
            <a:ext cx="438912" cy="438912"/>
          </a:xfrm>
          <a:prstGeom prst="ellipse">
            <a:avLst/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9743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864608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Distributed: full history stored locally, works offline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is GitHub?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service that hosts Git repositories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658368"/>
          </a:xfrm>
          <a:prstGeom prst="roundRect">
            <a:avLst>
              <a:gd name="adj" fmla="val 208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55648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55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45920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backup and sharing of your code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50592"/>
            <a:ext cx="8229600" cy="658368"/>
          </a:xfrm>
          <a:prstGeom prst="roundRect">
            <a:avLst>
              <a:gd name="adj" fmla="val 208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56032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450592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code review and issue tracking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255264"/>
            <a:ext cx="8229600" cy="658368"/>
          </a:xfrm>
          <a:prstGeom prst="roundRect">
            <a:avLst>
              <a:gd name="adj" fmla="val 208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364992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364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255264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profiles and open-source projects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4059936"/>
            <a:ext cx="8229600" cy="658368"/>
          </a:xfrm>
          <a:prstGeom prst="roundRect">
            <a:avLst>
              <a:gd name="adj" fmla="val 208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169664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169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059936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for automation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4864608"/>
            <a:ext cx="8229600" cy="658368"/>
          </a:xfrm>
          <a:prstGeom prst="roundRect">
            <a:avLst>
              <a:gd name="adj" fmla="val 208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974336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9743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864608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Alternatives: GitLab, Bitbucket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Easy Analogy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3017520"/>
          </a:xfrm>
          <a:prstGeom prst="roundRect">
            <a:avLst>
              <a:gd name="adj" fmla="val 71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645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"word processor"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560320" cy="3017520"/>
          </a:xfrm>
          <a:prstGeom prst="roundRect">
            <a:avLst>
              <a:gd name="adj" fmla="val 7143"/>
            </a:avLst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645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560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Microsoft Word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560320" cy="3017520"/>
          </a:xfrm>
          <a:prstGeom prst="roundRect">
            <a:avLst>
              <a:gd name="adj" fmla="val 714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645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560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online home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Google Drive + teamwork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Typical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1874520" cy="2377440"/>
          </a:xfrm>
          <a:prstGeom prst="roundRect">
            <a:avLst>
              <a:gd name="adj" fmla="val 975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691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8803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code on your computer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1554480"/>
            <a:ext cx="1874520" cy="2377440"/>
          </a:xfrm>
          <a:prstGeom prst="roundRect">
            <a:avLst>
              <a:gd name="adj" fmla="val 9756"/>
            </a:avLst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691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8803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changes with Git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1874520" cy="2377440"/>
          </a:xfrm>
          <a:prstGeom prst="roundRect">
            <a:avLst>
              <a:gd name="adj" fmla="val 975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691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8803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commits to GitHub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66560" y="1554480"/>
            <a:ext cx="1874520" cy="2377440"/>
          </a:xfrm>
          <a:prstGeom prst="roundRect">
            <a:avLst>
              <a:gd name="adj" fmla="val 975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1691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8803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Teammates pull or open a pull request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86250" y="3696890"/>
            <a:ext cx="571500" cy="42863"/>
          </a:xfrm>
          <a:prstGeom prst="roundRect">
            <a:avLst>
              <a:gd name="adj" fmla="val 50000"/>
            </a:avLst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sz="135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816" y="1403747"/>
            <a:ext cx="664369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3103" y="2318147"/>
            <a:ext cx="4117795" cy="6232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defTabSz="342900"/>
            <a:r>
              <a:rPr sz="4050" b="1">
                <a:solidFill>
                  <a:srgbClr val="FFFFFF"/>
                </a:solidFill>
                <a:latin typeface="Inter"/>
              </a:rPr>
              <a:t>Git &amp; GitHub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70656" y="3111103"/>
            <a:ext cx="4202690" cy="24237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defTabSz="342900"/>
            <a:r>
              <a:rPr sz="1575">
                <a:solidFill>
                  <a:srgbClr val="8B949E"/>
                </a:solidFill>
                <a:latin typeface="Inter"/>
              </a:rPr>
              <a:t>Essential commands to link your local environment.</a:t>
            </a:r>
          </a:p>
        </p:txBody>
      </p:sp>
    </p:spTree>
    <p:extLst>
      <p:ext uri="{BB962C8B-B14F-4D97-AF65-F5344CB8AC3E}">
        <p14:creationId xmlns:p14="http://schemas.microsoft.com/office/powerpoint/2010/main" val="3691641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1500" y="1950244"/>
            <a:ext cx="2514600" cy="2328863"/>
          </a:xfrm>
          <a:prstGeom prst="roundRect">
            <a:avLst>
              <a:gd name="adj" fmla="val 4907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314700" y="1950244"/>
            <a:ext cx="2514600" cy="2328863"/>
          </a:xfrm>
          <a:prstGeom prst="roundRect">
            <a:avLst>
              <a:gd name="adj" fmla="val 4907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57900" y="1950244"/>
            <a:ext cx="2514600" cy="2328863"/>
          </a:xfrm>
          <a:prstGeom prst="roundRect">
            <a:avLst>
              <a:gd name="adj" fmla="val 4907"/>
            </a:avLst>
          </a:prstGeom>
          <a:solidFill>
            <a:srgbClr val="F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0100" y="3107531"/>
            <a:ext cx="2057400" cy="885825"/>
          </a:xfrm>
          <a:prstGeom prst="roundRect">
            <a:avLst>
              <a:gd name="adj" fmla="val 9677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543300" y="3107531"/>
            <a:ext cx="2057400" cy="885825"/>
          </a:xfrm>
          <a:prstGeom prst="roundRect">
            <a:avLst>
              <a:gd name="adj" fmla="val 9677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86500" y="3107531"/>
            <a:ext cx="2057400" cy="885825"/>
          </a:xfrm>
          <a:prstGeom prst="roundRect">
            <a:avLst>
              <a:gd name="adj" fmla="val 9677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sz="135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1" y="2235994"/>
            <a:ext cx="250031" cy="285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300" y="2235994"/>
            <a:ext cx="285750" cy="285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1" y="2235994"/>
            <a:ext cx="250031" cy="285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57200"/>
            <a:ext cx="2280624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342900"/>
            <a:r>
              <a:rPr sz="2700" b="1">
                <a:solidFill>
                  <a:srgbClr val="24292F"/>
                </a:solidFill>
                <a:latin typeface="Inter"/>
              </a:rPr>
              <a:t>1. Local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992982"/>
            <a:ext cx="295728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342900"/>
            <a:r>
              <a:rPr sz="1350">
                <a:solidFill>
                  <a:srgbClr val="57606A"/>
                </a:solidFill>
                <a:latin typeface="Inter"/>
              </a:rPr>
              <a:t>Define author details and branch defaults.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1" y="2693194"/>
            <a:ext cx="857607" cy="24237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342900"/>
            <a:r>
              <a:rPr sz="1575" b="1">
                <a:solidFill>
                  <a:srgbClr val="24292F"/>
                </a:solidFill>
                <a:latin typeface="Inter"/>
              </a:rPr>
              <a:t>Username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2975" y="3250407"/>
            <a:ext cx="1843088" cy="401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342900">
              <a:lnSpc>
                <a:spcPts val="1575"/>
              </a:lnSpc>
            </a:pPr>
            <a:r>
              <a:rPr sz="1125">
                <a:solidFill>
                  <a:srgbClr val="E6EDF3"/>
                </a:solidFill>
                <a:latin typeface="Fira Code"/>
              </a:rPr>
              <a:t>git config --global user.name "Your Name"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3301" y="2693194"/>
            <a:ext cx="1175963" cy="24237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342900"/>
            <a:r>
              <a:rPr sz="1575" b="1">
                <a:solidFill>
                  <a:srgbClr val="24292F"/>
                </a:solidFill>
                <a:latin typeface="Inter"/>
              </a:rPr>
              <a:t>Email Address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6175" y="3250407"/>
            <a:ext cx="1843088" cy="6067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342900">
              <a:lnSpc>
                <a:spcPts val="1575"/>
              </a:lnSpc>
            </a:pPr>
            <a:r>
              <a:rPr sz="1125">
                <a:solidFill>
                  <a:srgbClr val="E6EDF3"/>
                </a:solidFill>
                <a:latin typeface="Fira Code"/>
              </a:rPr>
              <a:t>git config --global user.email "you@ext.com"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0" y="2693194"/>
            <a:ext cx="1244380" cy="24237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342900"/>
            <a:r>
              <a:rPr sz="1575" b="1">
                <a:solidFill>
                  <a:srgbClr val="24292F"/>
                </a:solidFill>
                <a:latin typeface="Inter"/>
              </a:rPr>
              <a:t>Default Branch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3250407"/>
            <a:ext cx="1843088" cy="6067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342900">
              <a:lnSpc>
                <a:spcPts val="1575"/>
              </a:lnSpc>
            </a:pPr>
            <a:r>
              <a:rPr sz="1125">
                <a:solidFill>
                  <a:srgbClr val="E6EDF3"/>
                </a:solidFill>
                <a:latin typeface="Fira Code"/>
              </a:rPr>
              <a:t>git config --global init.defaultBranch main</a:t>
            </a:r>
          </a:p>
        </p:txBody>
      </p:sp>
    </p:spTree>
    <p:extLst>
      <p:ext uri="{BB962C8B-B14F-4D97-AF65-F5344CB8AC3E}">
        <p14:creationId xmlns:p14="http://schemas.microsoft.com/office/powerpoint/2010/main" val="3714411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1500" y="1543050"/>
            <a:ext cx="3857625" cy="3143250"/>
          </a:xfrm>
          <a:prstGeom prst="roundRect">
            <a:avLst>
              <a:gd name="adj" fmla="val 3636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714875" y="1543050"/>
            <a:ext cx="3857625" cy="3143250"/>
          </a:xfrm>
          <a:prstGeom prst="roundRect">
            <a:avLst>
              <a:gd name="adj" fmla="val 3636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14400" y="3396853"/>
            <a:ext cx="3171825" cy="742950"/>
          </a:xfrm>
          <a:prstGeom prst="roundRect">
            <a:avLst>
              <a:gd name="adj" fmla="val 11538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57775" y="3496865"/>
            <a:ext cx="3171825" cy="542925"/>
          </a:xfrm>
          <a:prstGeom prst="roundRect">
            <a:avLst>
              <a:gd name="adj" fmla="val 15789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sz="135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89547"/>
            <a:ext cx="3171825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775" y="2189559"/>
            <a:ext cx="3171825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57200"/>
            <a:ext cx="3139962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342900"/>
            <a:r>
              <a:rPr sz="2700" b="1">
                <a:solidFill>
                  <a:srgbClr val="24292F"/>
                </a:solidFill>
                <a:latin typeface="Inter"/>
              </a:rPr>
              <a:t>2. Remote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1" y="992982"/>
            <a:ext cx="277723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342900"/>
            <a:r>
              <a:rPr sz="1350">
                <a:solidFill>
                  <a:srgbClr val="57606A"/>
                </a:solidFill>
                <a:latin typeface="Inter"/>
              </a:rPr>
              <a:t>Link local repository and verify settings.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3897"/>
            <a:ext cx="147014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342900"/>
            <a:r>
              <a:rPr b="1">
                <a:solidFill>
                  <a:srgbClr val="24292F"/>
                </a:solidFill>
                <a:latin typeface="Inter"/>
              </a:rPr>
              <a:t>Link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96803"/>
            <a:ext cx="2314736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342900"/>
            <a:r>
              <a:rPr sz="1125">
                <a:solidFill>
                  <a:srgbClr val="57606A"/>
                </a:solidFill>
                <a:latin typeface="Inter"/>
              </a:rPr>
              <a:t>Connect local tracking to remote origin.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" y="3568303"/>
            <a:ext cx="2900363" cy="401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342900">
              <a:lnSpc>
                <a:spcPts val="1575"/>
              </a:lnSpc>
            </a:pPr>
            <a:r>
              <a:rPr sz="1125">
                <a:solidFill>
                  <a:srgbClr val="E6EDF3"/>
                </a:solidFill>
                <a:latin typeface="Fira Code"/>
              </a:rPr>
              <a:t>git remote add origin https://github.com/User/Repo.git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7775" y="2703910"/>
            <a:ext cx="191571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342900"/>
            <a:r>
              <a:rPr b="1">
                <a:solidFill>
                  <a:srgbClr val="24292F"/>
                </a:solidFill>
                <a:latin typeface="Inter"/>
              </a:rPr>
              <a:t>Verify Configuration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7775" y="3096815"/>
            <a:ext cx="2369238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342900"/>
            <a:r>
              <a:rPr sz="1125">
                <a:solidFill>
                  <a:srgbClr val="57606A"/>
                </a:solidFill>
                <a:latin typeface="Inter"/>
              </a:rPr>
              <a:t>Confirm saved identity and branch rules.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9225" y="3668315"/>
            <a:ext cx="2900363" cy="19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342900">
              <a:lnSpc>
                <a:spcPts val="1575"/>
              </a:lnSpc>
            </a:pPr>
            <a:r>
              <a:rPr sz="1125">
                <a:solidFill>
                  <a:srgbClr val="E6EDF3"/>
                </a:solidFill>
                <a:latin typeface="Fira Code"/>
              </a:rPr>
              <a:t>git config --global --list</a:t>
            </a:r>
          </a:p>
        </p:txBody>
      </p:sp>
    </p:spTree>
    <p:extLst>
      <p:ext uri="{BB962C8B-B14F-4D97-AF65-F5344CB8AC3E}">
        <p14:creationId xmlns:p14="http://schemas.microsoft.com/office/powerpoint/2010/main" val="449192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832497" y="2836069"/>
            <a:ext cx="3479006" cy="607219"/>
          </a:xfrm>
          <a:prstGeom prst="roundRect">
            <a:avLst>
              <a:gd name="adj" fmla="val 14117"/>
            </a:avLst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sz="135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813" y="1264444"/>
            <a:ext cx="714375" cy="571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12412" y="2121694"/>
            <a:ext cx="3319178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defTabSz="342900"/>
            <a:r>
              <a:rPr sz="3150" b="1">
                <a:solidFill>
                  <a:srgbClr val="FFFFFF"/>
                </a:solidFill>
                <a:latin typeface="Inter"/>
              </a:rPr>
              <a:t>Ready for First Push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0522" y="3007519"/>
            <a:ext cx="3662957" cy="242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defTabSz="342900"/>
            <a:r>
              <a:rPr sz="1575">
                <a:solidFill>
                  <a:srgbClr val="E6EDF3"/>
                </a:solidFill>
                <a:latin typeface="Fira Code"/>
              </a:rPr>
              <a:t>git push -u origin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24506" y="3671888"/>
            <a:ext cx="369498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defTabSz="342900"/>
            <a:r>
              <a:rPr sz="1350">
                <a:solidFill>
                  <a:srgbClr val="8B949E"/>
                </a:solidFill>
                <a:latin typeface="Inter"/>
              </a:rPr>
              <a:t>Browser authentication prompted on first execution.</a:t>
            </a:r>
          </a:p>
        </p:txBody>
      </p:sp>
    </p:spTree>
    <p:extLst>
      <p:ext uri="{BB962C8B-B14F-4D97-AF65-F5344CB8AC3E}">
        <p14:creationId xmlns:p14="http://schemas.microsoft.com/office/powerpoint/2010/main" val="292719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365760"/>
            <a:ext cx="1828800" cy="1828800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2103120"/>
            <a:ext cx="1280160" cy="12801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3017520"/>
            <a:ext cx="1005840" cy="10058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3749040"/>
            <a:ext cx="731520" cy="73152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9601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128016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Git Workflow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7D2F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your code travels from your computer to GitHub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8837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1B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Life of a File in Git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moves through four states before it is safely saved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74520" cy="2834640"/>
          </a:xfrm>
          <a:prstGeom prst="roundRect">
            <a:avLst>
              <a:gd name="adj" fmla="val 975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78308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9659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743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Untracked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40080" y="324612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brand-new file that Git does not know about yet.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2331720" y="237744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560320" y="1554480"/>
            <a:ext cx="1874520" cy="2834640"/>
          </a:xfrm>
          <a:prstGeom prst="roundRect">
            <a:avLst>
              <a:gd name="adj" fmla="val 9756"/>
            </a:avLst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08960" y="178308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9659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560320" y="2743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Tracked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2743200" y="324612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Git is watching this file and notices every change.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4434840" y="237744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4663440" y="1554480"/>
            <a:ext cx="1874520" cy="2834640"/>
          </a:xfrm>
          <a:prstGeom prst="roundRect">
            <a:avLst>
              <a:gd name="adj" fmla="val 975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212080" y="178308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196596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663440" y="2743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Staged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4846320" y="324612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Marked and ready to be included in the next commit.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6537960" y="237744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6766560" y="1554480"/>
            <a:ext cx="1874520" cy="2834640"/>
          </a:xfrm>
          <a:prstGeom prst="roundRect">
            <a:avLst>
              <a:gd name="adj" fmla="val 9756"/>
            </a:avLst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315200" y="178308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96596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766560" y="2743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Committed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0"/>
          <p:cNvSpPr txBox="1"/>
          <p:nvPr/>
        </p:nvSpPr>
        <p:spPr>
          <a:xfrm>
            <a:off x="6949440" y="324612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Saved permanently in the project history.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713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926080" cy="4206240"/>
          </a:xfrm>
          <a:prstGeom prst="roundRect">
            <a:avLst>
              <a:gd name="adj" fmla="val 7813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0" y="1097280"/>
            <a:ext cx="1463040" cy="1463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5087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548640" y="3200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3749040" y="4572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1B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Repository?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749040" y="1280160"/>
            <a:ext cx="4937760" cy="1005840"/>
          </a:xfrm>
          <a:prstGeom prst="roundRect">
            <a:avLst>
              <a:gd name="adj" fmla="val 13636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977640" y="13716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Storage for your code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3977640" y="16916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repository (repo) holds your project files and their full history.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749040" y="2423160"/>
            <a:ext cx="4937760" cy="1005840"/>
          </a:xfrm>
          <a:prstGeom prst="roundRect">
            <a:avLst>
              <a:gd name="adj" fmla="val 13636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77640" y="25146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Local or remote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3977640" y="28346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It can live on your computer, on a site like GitHub, or both.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749040" y="3566160"/>
            <a:ext cx="4937760" cy="1005840"/>
          </a:xfrm>
          <a:prstGeom prst="roundRect">
            <a:avLst>
              <a:gd name="adj" fmla="val 13636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77640" y="36576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Tracks every change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3977640" y="39776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Git records who changed what and when, so you can always go back.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3657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926080" cy="4206240"/>
          </a:xfrm>
          <a:prstGeom prst="roundRect">
            <a:avLst>
              <a:gd name="adj" fmla="val 7813"/>
            </a:avLst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0" y="1097280"/>
            <a:ext cx="1463040" cy="1463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5087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548640" y="3200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3749040" y="4572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4361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Directory?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749040" y="1280160"/>
            <a:ext cx="4937760" cy="1005840"/>
          </a:xfrm>
          <a:prstGeom prst="roundRect">
            <a:avLst>
              <a:gd name="adj" fmla="val 1363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977640" y="13716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Where you work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3977640" y="16916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project folder on your computer where you write and edit code.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749040" y="2423160"/>
            <a:ext cx="4937760" cy="1005840"/>
          </a:xfrm>
          <a:prstGeom prst="roundRect">
            <a:avLst>
              <a:gd name="adj" fmla="val 1363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77640" y="25146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Changes are not saved yet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3977640" y="28346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Edits here are not in Git's history until you stage and commit them.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749040" y="3566160"/>
            <a:ext cx="4937760" cy="1005840"/>
          </a:xfrm>
          <a:prstGeom prst="roundRect">
            <a:avLst>
              <a:gd name="adj" fmla="val 1363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77640" y="36576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desk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3977640" y="39776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Your messy workspace, where ideas are still being shaped.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3577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926080" cy="4206240"/>
          </a:xfrm>
          <a:prstGeom prst="roundRect">
            <a:avLst>
              <a:gd name="adj" fmla="val 781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0" y="1097280"/>
            <a:ext cx="1463040" cy="1463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5087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548640" y="3200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3749040" y="4572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Area?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749040" y="1280160"/>
            <a:ext cx="4937760" cy="1005840"/>
          </a:xfrm>
          <a:prstGeom prst="roundRect">
            <a:avLst>
              <a:gd name="adj" fmla="val 13636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977640" y="13716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waiting room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3977640" y="16916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Files you want in the next commit are placed here using git add.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749040" y="2423160"/>
            <a:ext cx="4937760" cy="1005840"/>
          </a:xfrm>
          <a:prstGeom prst="roundRect">
            <a:avLst>
              <a:gd name="adj" fmla="val 13636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77640" y="25146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what to save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3977640" y="28346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Pick only related changes, so each commit stays clean and meaningful.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749040" y="3566160"/>
            <a:ext cx="4937760" cy="1005840"/>
          </a:xfrm>
          <a:prstGeom prst="roundRect">
            <a:avLst>
              <a:gd name="adj" fmla="val 13636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77640" y="36576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box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3977640" y="39776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 pack the items first, then seal the box with a commit.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4751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926080" cy="4206240"/>
          </a:xfrm>
          <a:prstGeom prst="roundRect">
            <a:avLst>
              <a:gd name="adj" fmla="val 781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0" y="1097280"/>
            <a:ext cx="1463040" cy="1463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5087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548640" y="3200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Local Repository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3749040" y="4572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Local Repository?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749040" y="1280160"/>
            <a:ext cx="4937760" cy="1005840"/>
          </a:xfrm>
          <a:prstGeom prst="roundRect">
            <a:avLst>
              <a:gd name="adj" fmla="val 13636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977640" y="13716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Lives on your computer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3977640" y="16916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copy of the repository stored on your own machine.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749040" y="2423160"/>
            <a:ext cx="4937760" cy="1005840"/>
          </a:xfrm>
          <a:prstGeom prst="roundRect">
            <a:avLst>
              <a:gd name="adj" fmla="val 13636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77640" y="25146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Where commits are made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3977640" y="28346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saves your staged changes as a permanent snapshot.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749040" y="3566160"/>
            <a:ext cx="4937760" cy="1005840"/>
          </a:xfrm>
          <a:prstGeom prst="roundRect">
            <a:avLst>
              <a:gd name="adj" fmla="val 13636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77640" y="36576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Full version history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3977640" y="39776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Browse or restore older versions, even without internet.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048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926080" cy="4206240"/>
          </a:xfrm>
          <a:prstGeom prst="roundRect">
            <a:avLst>
              <a:gd name="adj" fmla="val 7813"/>
            </a:avLst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0" y="1097280"/>
            <a:ext cx="1463040" cy="1463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5087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548640" y="3200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Remote Repository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3749040" y="4572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9333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Remote Repository?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749040" y="1280160"/>
            <a:ext cx="4937760" cy="1005840"/>
          </a:xfrm>
          <a:prstGeom prst="roundRect">
            <a:avLst>
              <a:gd name="adj" fmla="val 13636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977640" y="13716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Lives online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3977640" y="16916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copy stored on platforms like GitHub, GitLab or Bitbucket.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749040" y="2423160"/>
            <a:ext cx="4937760" cy="1005840"/>
          </a:xfrm>
          <a:prstGeom prst="roundRect">
            <a:avLst>
              <a:gd name="adj" fmla="val 13636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77640" y="25146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Share and collaborate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3977640" y="28346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Teammates can download your work and add their own changes.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749040" y="3566160"/>
            <a:ext cx="4937760" cy="1005840"/>
          </a:xfrm>
          <a:prstGeom prst="roundRect">
            <a:avLst>
              <a:gd name="adj" fmla="val 13636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77640" y="36576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Also a backup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3977640" y="39776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If your computer breaks, your code is still safe in the cloud.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1424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1B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Git Workflow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737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38100">
            <a:solidFill>
              <a:srgbClr val="4361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4361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4361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417320" y="1920240"/>
            <a:ext cx="0" cy="2743200"/>
          </a:xfrm>
          <a:prstGeom prst="line">
            <a:avLst/>
          </a:prstGeom>
          <a:noFill/>
          <a:ln w="38100">
            <a:solidFill>
              <a:srgbClr val="4361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1097280"/>
            <a:ext cx="1737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381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0972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11880" y="1920240"/>
            <a:ext cx="0" cy="274320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1097280"/>
            <a:ext cx="1737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381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0972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806440" y="1920240"/>
            <a:ext cx="0" cy="27432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1097280"/>
            <a:ext cx="1737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38100">
            <a:solidFill>
              <a:srgbClr val="9333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0" y="10972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9333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9333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01000" y="1920240"/>
            <a:ext cx="0" cy="2743200"/>
          </a:xfrm>
          <a:prstGeom prst="line">
            <a:avLst/>
          </a:prstGeom>
          <a:noFill/>
          <a:ln w="38100">
            <a:solidFill>
              <a:srgbClr val="933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7320" y="2377440"/>
            <a:ext cx="2148840" cy="548640"/>
          </a:xfrm>
          <a:prstGeom prst="rightArrow">
            <a:avLst/>
          </a:prstGeom>
          <a:solidFill>
            <a:srgbClr val="E2E8F0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17320" y="2377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git add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11880" y="3108960"/>
            <a:ext cx="2148840" cy="548640"/>
          </a:xfrm>
          <a:prstGeom prst="rightArrow">
            <a:avLst/>
          </a:prstGeom>
          <a:solidFill>
            <a:srgbClr val="E2E8F0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11880" y="3108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git commit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806440" y="3840480"/>
            <a:ext cx="2148840" cy="548640"/>
          </a:xfrm>
          <a:prstGeom prst="rightArrow">
            <a:avLst/>
          </a:prstGeom>
          <a:solidFill>
            <a:srgbClr val="E2E8F0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06440" y="3840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7634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3 Commands to Remember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96012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53312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53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600200" y="129844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DE68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600200" y="17190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Move your changes to the staging area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96012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496312"/>
            <a:ext cx="64008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96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600200" y="244144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DE68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"message"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600200" y="28620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Save a snapshot with a short description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96012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639312"/>
            <a:ext cx="640080" cy="64008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639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600200" y="358444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DE68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600200" y="40050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commits to GitHub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0295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383280"/>
            <a:ext cx="1371600" cy="1371600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3931920"/>
            <a:ext cx="822960" cy="8229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365760"/>
            <a:ext cx="1005840" cy="10058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914400"/>
            <a:ext cx="640080" cy="64008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91440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0" y="2286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0" y="3200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7D2F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Happy committing!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5541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808</Words>
  <Application>Microsoft Office PowerPoint</Application>
  <PresentationFormat>On-screen Show (16:9)</PresentationFormat>
  <Paragraphs>180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Consolas</vt:lpstr>
      <vt:lpstr>Fira Code</vt:lpstr>
      <vt:lpstr>Inter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Salah-U-Din Ayubi</cp:lastModifiedBy>
  <cp:revision>2</cp:revision>
  <dcterms:created xsi:type="dcterms:W3CDTF">2026-09-30T01:40:22Z</dcterms:created>
  <dcterms:modified xsi:type="dcterms:W3CDTF">2026-09-30T01:59:29Z</dcterms:modified>
</cp:coreProperties>
</file>