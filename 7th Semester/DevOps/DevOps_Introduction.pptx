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7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00" b="1" i="0">
                <a:solidFill>
                  <a:srgbClr val="0E456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800" b="1" i="0">
                <a:solidFill>
                  <a:srgbClr val="0E456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5675" y="398200"/>
            <a:ext cx="2776649" cy="756285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5675" y="398200"/>
            <a:ext cx="2776649" cy="756285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72751" y="1819710"/>
            <a:ext cx="13542497" cy="699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00" b="1" i="0">
                <a:solidFill>
                  <a:srgbClr val="0E456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05850" y="4027931"/>
            <a:ext cx="12430125" cy="19202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400" b="1" spc="275" dirty="0">
                <a:solidFill>
                  <a:srgbClr val="0E4561"/>
                </a:solidFill>
                <a:latin typeface="Arial"/>
                <a:cs typeface="Arial"/>
              </a:rPr>
              <a:t>What</a:t>
            </a:r>
            <a:r>
              <a:rPr sz="12400" b="1" spc="-5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2400" b="1" spc="-765" dirty="0">
                <a:solidFill>
                  <a:srgbClr val="0E4561"/>
                </a:solidFill>
                <a:latin typeface="Arial"/>
                <a:cs typeface="Arial"/>
              </a:rPr>
              <a:t>is</a:t>
            </a:r>
            <a:r>
              <a:rPr sz="12400" b="1" spc="-5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2400" b="1" spc="-470" dirty="0">
                <a:solidFill>
                  <a:srgbClr val="0E4561"/>
                </a:solidFill>
                <a:latin typeface="Arial"/>
                <a:cs typeface="Arial"/>
              </a:rPr>
              <a:t>DevOps?</a:t>
            </a:r>
            <a:endParaRPr sz="1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6070" y="3839145"/>
            <a:ext cx="16015969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18535">
              <a:lnSpc>
                <a:spcPct val="116700"/>
              </a:lnSpc>
              <a:spcBef>
                <a:spcPts val="95"/>
              </a:spcBef>
            </a:pPr>
            <a:r>
              <a:rPr sz="8300" b="1" spc="-180" dirty="0">
                <a:solidFill>
                  <a:srgbClr val="0E4561"/>
                </a:solidFill>
                <a:latin typeface="Arial"/>
                <a:cs typeface="Arial"/>
              </a:rPr>
              <a:t>DevOps</a:t>
            </a:r>
            <a:r>
              <a:rPr sz="83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420" dirty="0">
                <a:solidFill>
                  <a:srgbClr val="0E4561"/>
                </a:solidFill>
                <a:latin typeface="Arial"/>
                <a:cs typeface="Arial"/>
              </a:rPr>
              <a:t>combines </a:t>
            </a:r>
            <a:r>
              <a:rPr sz="8300" b="1" spc="-220" dirty="0">
                <a:solidFill>
                  <a:srgbClr val="0E4561"/>
                </a:solidFill>
                <a:latin typeface="Arial"/>
                <a:cs typeface="Arial"/>
              </a:rPr>
              <a:t>"Development"</a:t>
            </a:r>
            <a:r>
              <a:rPr sz="8300" b="1" spc="-3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6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8300" b="1" spc="-3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95" dirty="0">
                <a:solidFill>
                  <a:srgbClr val="0E4561"/>
                </a:solidFill>
                <a:latin typeface="Arial"/>
                <a:cs typeface="Arial"/>
              </a:rPr>
              <a:t>"Operations."</a:t>
            </a:r>
            <a:endParaRPr sz="8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7755675" y="398200"/>
            <a:ext cx="2776649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90"/>
              </a:spcBef>
            </a:pPr>
            <a:r>
              <a:rPr spc="-135" dirty="0"/>
              <a:t>TechZeen</a:t>
            </a:r>
          </a:p>
        </p:txBody>
      </p:sp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7123" y="2973573"/>
            <a:ext cx="16176625" cy="445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6700"/>
              </a:lnSpc>
              <a:spcBef>
                <a:spcPts val="95"/>
              </a:spcBef>
            </a:pPr>
            <a:r>
              <a:rPr sz="8300" b="1" spc="280" dirty="0">
                <a:solidFill>
                  <a:srgbClr val="0E4561"/>
                </a:solidFill>
                <a:latin typeface="Arial"/>
                <a:cs typeface="Arial"/>
              </a:rPr>
              <a:t>It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555" dirty="0">
                <a:solidFill>
                  <a:srgbClr val="0E4561"/>
                </a:solidFill>
                <a:latin typeface="Arial"/>
                <a:cs typeface="Arial"/>
              </a:rPr>
              <a:t>is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70" dirty="0">
                <a:solidFill>
                  <a:srgbClr val="0E4561"/>
                </a:solidFill>
                <a:latin typeface="Arial"/>
                <a:cs typeface="Arial"/>
              </a:rPr>
              <a:t>a</a:t>
            </a:r>
            <a:r>
              <a:rPr sz="8300" b="1" spc="-32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00" dirty="0">
                <a:solidFill>
                  <a:srgbClr val="0E4561"/>
                </a:solidFill>
                <a:latin typeface="Arial"/>
                <a:cs typeface="Arial"/>
              </a:rPr>
              <a:t>culture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6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50" dirty="0">
                <a:solidFill>
                  <a:srgbClr val="0E4561"/>
                </a:solidFill>
                <a:latin typeface="Arial"/>
                <a:cs typeface="Arial"/>
              </a:rPr>
              <a:t>practice</a:t>
            </a:r>
            <a:r>
              <a:rPr sz="8300" b="1" spc="-32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0" dirty="0">
                <a:solidFill>
                  <a:srgbClr val="0E4561"/>
                </a:solidFill>
                <a:latin typeface="Arial"/>
                <a:cs typeface="Arial"/>
              </a:rPr>
              <a:t>that </a:t>
            </a:r>
            <a:r>
              <a:rPr sz="8300" b="1" spc="-395" dirty="0">
                <a:solidFill>
                  <a:srgbClr val="0E4561"/>
                </a:solidFill>
                <a:latin typeface="Arial"/>
                <a:cs typeface="Arial"/>
              </a:rPr>
              <a:t>bridges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dirty="0">
                <a:solidFill>
                  <a:srgbClr val="0E4561"/>
                </a:solidFill>
                <a:latin typeface="Arial"/>
                <a:cs typeface="Arial"/>
              </a:rPr>
              <a:t>the</a:t>
            </a:r>
            <a:r>
              <a:rPr sz="8300" b="1" spc="-54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465" dirty="0">
                <a:solidFill>
                  <a:srgbClr val="0E4561"/>
                </a:solidFill>
                <a:latin typeface="Arial"/>
                <a:cs typeface="Arial"/>
              </a:rPr>
              <a:t>gap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75" dirty="0">
                <a:solidFill>
                  <a:srgbClr val="0E4561"/>
                </a:solidFill>
                <a:latin typeface="Arial"/>
                <a:cs typeface="Arial"/>
              </a:rPr>
              <a:t>between</a:t>
            </a:r>
            <a:r>
              <a:rPr sz="8300" b="1" spc="-40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40" dirty="0">
                <a:solidFill>
                  <a:srgbClr val="0E4561"/>
                </a:solidFill>
                <a:latin typeface="Arial"/>
                <a:cs typeface="Arial"/>
              </a:rPr>
              <a:t>software </a:t>
            </a:r>
            <a:r>
              <a:rPr sz="8300" b="1" spc="-210" dirty="0">
                <a:solidFill>
                  <a:srgbClr val="0E4561"/>
                </a:solidFill>
                <a:latin typeface="Arial"/>
                <a:cs typeface="Arial"/>
              </a:rPr>
              <a:t>development</a:t>
            </a:r>
            <a:r>
              <a:rPr sz="8300" b="1" spc="-32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6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75" dirty="0">
                <a:solidFill>
                  <a:srgbClr val="0E4561"/>
                </a:solidFill>
                <a:latin typeface="Arial"/>
                <a:cs typeface="Arial"/>
              </a:rPr>
              <a:t>IT</a:t>
            </a:r>
            <a:r>
              <a:rPr sz="8300" b="1" spc="-32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90" dirty="0">
                <a:solidFill>
                  <a:srgbClr val="0E4561"/>
                </a:solidFill>
                <a:latin typeface="Arial"/>
                <a:cs typeface="Arial"/>
              </a:rPr>
              <a:t>operations.</a:t>
            </a:r>
            <a:endParaRPr sz="8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54538" y="3713319"/>
            <a:ext cx="133788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0" marR="5080" indent="-349885">
              <a:lnSpc>
                <a:spcPct val="116700"/>
              </a:lnSpc>
              <a:spcBef>
                <a:spcPts val="95"/>
              </a:spcBef>
            </a:pPr>
            <a:r>
              <a:rPr sz="8300" b="1" spc="-175" dirty="0">
                <a:solidFill>
                  <a:srgbClr val="0E4561"/>
                </a:solidFill>
                <a:latin typeface="Arial"/>
                <a:cs typeface="Arial"/>
              </a:rPr>
              <a:t>The</a:t>
            </a:r>
            <a:r>
              <a:rPr sz="8300" b="1" spc="-40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80" dirty="0">
                <a:solidFill>
                  <a:srgbClr val="0E4561"/>
                </a:solidFill>
                <a:latin typeface="Arial"/>
                <a:cs typeface="Arial"/>
              </a:rPr>
              <a:t>goal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555" dirty="0">
                <a:solidFill>
                  <a:srgbClr val="0E4561"/>
                </a:solidFill>
                <a:latin typeface="Arial"/>
                <a:cs typeface="Arial"/>
              </a:rPr>
              <a:t>is</a:t>
            </a:r>
            <a:r>
              <a:rPr sz="8300" b="1" spc="-33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155" dirty="0">
                <a:solidFill>
                  <a:srgbClr val="0E4561"/>
                </a:solidFill>
                <a:latin typeface="Arial"/>
                <a:cs typeface="Arial"/>
              </a:rPr>
              <a:t>faster</a:t>
            </a:r>
            <a:r>
              <a:rPr sz="8300" b="1" spc="-40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185" dirty="0">
                <a:solidFill>
                  <a:srgbClr val="0E4561"/>
                </a:solidFill>
                <a:latin typeface="Arial"/>
                <a:cs typeface="Arial"/>
              </a:rPr>
              <a:t>delivery</a:t>
            </a:r>
            <a:r>
              <a:rPr sz="8300" b="1" spc="-3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25" dirty="0">
                <a:solidFill>
                  <a:srgbClr val="0E4561"/>
                </a:solidFill>
                <a:latin typeface="Arial"/>
                <a:cs typeface="Arial"/>
              </a:rPr>
              <a:t>of </a:t>
            </a:r>
            <a:r>
              <a:rPr sz="8300" b="1" spc="-120" dirty="0">
                <a:solidFill>
                  <a:srgbClr val="0E4561"/>
                </a:solidFill>
                <a:latin typeface="Arial"/>
                <a:cs typeface="Arial"/>
              </a:rPr>
              <a:t>software</a:t>
            </a:r>
            <a:r>
              <a:rPr sz="8300" b="1" spc="-32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dirty="0">
                <a:solidFill>
                  <a:srgbClr val="0E4561"/>
                </a:solidFill>
                <a:latin typeface="Arial"/>
                <a:cs typeface="Arial"/>
              </a:rPr>
              <a:t>with</a:t>
            </a:r>
            <a:r>
              <a:rPr sz="8300" b="1" spc="-3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80" dirty="0">
                <a:solidFill>
                  <a:srgbClr val="0E4561"/>
                </a:solidFill>
                <a:latin typeface="Arial"/>
                <a:cs typeface="Arial"/>
              </a:rPr>
              <a:t>high</a:t>
            </a:r>
            <a:r>
              <a:rPr sz="8300" b="1" spc="-32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8300" b="1" spc="-30" dirty="0">
                <a:solidFill>
                  <a:srgbClr val="0E4561"/>
                </a:solidFill>
                <a:latin typeface="Arial"/>
                <a:cs typeface="Arial"/>
              </a:rPr>
              <a:t>quality.</a:t>
            </a:r>
            <a:endParaRPr sz="8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536" y="2142420"/>
            <a:ext cx="12706349" cy="71151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A1098B-1209-43DE-99D7-ADEB23E71FE7}"/>
              </a:ext>
            </a:extLst>
          </p:cNvPr>
          <p:cNvSpPr txBox="1"/>
          <p:nvPr/>
        </p:nvSpPr>
        <p:spPr>
          <a:xfrm>
            <a:off x="762000" y="419100"/>
            <a:ext cx="17068800" cy="7417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600" dirty="0"/>
              <a:t>In software engineering, the </a:t>
            </a:r>
            <a:r>
              <a:rPr lang="en-US" sz="3600" b="1" dirty="0"/>
              <a:t>Development (Dev)</a:t>
            </a:r>
            <a:r>
              <a:rPr lang="en-US" sz="3600" dirty="0"/>
              <a:t> and </a:t>
            </a:r>
            <a:r>
              <a:rPr lang="en-US" sz="3600" b="1" dirty="0"/>
              <a:t>Operations (Ops)</a:t>
            </a:r>
            <a:r>
              <a:rPr lang="en-US" sz="3600" dirty="0"/>
              <a:t> teams have entirely different roles, mindsets, and goals.</a:t>
            </a:r>
          </a:p>
          <a:p>
            <a:pPr algn="l"/>
            <a:endParaRPr lang="en-US" sz="3600" dirty="0"/>
          </a:p>
          <a:p>
            <a:pPr algn="l"/>
            <a:r>
              <a:rPr lang="en-US" sz="3600" b="1" dirty="0"/>
              <a:t>Development Team (Dev):</a:t>
            </a:r>
          </a:p>
          <a:p>
            <a:pPr algn="l"/>
            <a:endParaRPr lang="en-US" sz="3600" dirty="0"/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Core Task:</a:t>
            </a:r>
            <a:r>
              <a:rPr lang="en-US" sz="2400" dirty="0"/>
              <a:t> Writing new code, designing applications and features, and fixing bugs.</a:t>
            </a:r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Main Goal:</a:t>
            </a:r>
            <a:r>
              <a:rPr lang="en-US" sz="2400" dirty="0"/>
              <a:t> Releasing new features and updates to the market as quickly as possible (Speed and Innovation).</a:t>
            </a:r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Mindset:</a:t>
            </a:r>
            <a:r>
              <a:rPr lang="en-US" sz="2400" dirty="0"/>
              <a:t> Pushing changes rapidly to deliver continuous updates.</a:t>
            </a:r>
          </a:p>
          <a:p>
            <a:pPr lvl="4" algn="l"/>
            <a:endParaRPr lang="en-US" sz="3200" dirty="0"/>
          </a:p>
          <a:p>
            <a:pPr algn="l"/>
            <a:r>
              <a:rPr lang="en-US" sz="3600" b="1" dirty="0"/>
              <a:t>Operations Team (Ops):</a:t>
            </a:r>
          </a:p>
          <a:p>
            <a:pPr algn="l"/>
            <a:endParaRPr lang="en-US" sz="3600" dirty="0"/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Core Task: </a:t>
            </a:r>
            <a:r>
              <a:rPr lang="en-US" sz="2400" dirty="0"/>
              <a:t>Deploying the software built by the Dev team onto live servers, managing infrastructure (servers, databases, networks), and monitoring application health.</a:t>
            </a:r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Main Goal</a:t>
            </a:r>
            <a:r>
              <a:rPr lang="en-US" sz="2400" dirty="0"/>
              <a:t>: Maintaining system stability, security, and uptime (Reliability).</a:t>
            </a:r>
          </a:p>
          <a:p>
            <a:pPr marL="342900" lvl="6" indent="-342900" algn="l">
              <a:buFont typeface="Wingdings" panose="05000000000000000000" pitchFamily="2" charset="2"/>
              <a:buChar char="q"/>
            </a:pPr>
            <a:r>
              <a:rPr lang="en-US" sz="2400" b="1" dirty="0"/>
              <a:t>Mindset: </a:t>
            </a:r>
            <a:r>
              <a:rPr lang="en-US" sz="2400" dirty="0"/>
              <a:t>Viewing new changes as a potential risk, since deploying new code to a live environment can introduce bugs or cause server crashes.</a:t>
            </a:r>
          </a:p>
        </p:txBody>
      </p:sp>
    </p:spTree>
    <p:extLst>
      <p:ext uri="{BB962C8B-B14F-4D97-AF65-F5344CB8AC3E}">
        <p14:creationId xmlns:p14="http://schemas.microsoft.com/office/powerpoint/2010/main" val="227060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19138" y="3533925"/>
            <a:ext cx="9149715" cy="3663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58595" marR="5080" indent="-1446530">
              <a:lnSpc>
                <a:spcPct val="117000"/>
              </a:lnSpc>
              <a:spcBef>
                <a:spcPts val="95"/>
              </a:spcBef>
            </a:pPr>
            <a:r>
              <a:rPr sz="10200" b="1" spc="210" dirty="0">
                <a:solidFill>
                  <a:srgbClr val="0E4561"/>
                </a:solidFill>
                <a:latin typeface="Arial"/>
                <a:cs typeface="Arial"/>
              </a:rPr>
              <a:t>Why</a:t>
            </a:r>
            <a:r>
              <a:rPr sz="10200" b="1" spc="-4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0200" b="1" spc="-630" dirty="0">
                <a:solidFill>
                  <a:srgbClr val="0E4561"/>
                </a:solidFill>
                <a:latin typeface="Arial"/>
                <a:cs typeface="Arial"/>
              </a:rPr>
              <a:t>is</a:t>
            </a:r>
            <a:r>
              <a:rPr sz="10200" b="1" spc="-4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0200" b="1" spc="-155" dirty="0">
                <a:solidFill>
                  <a:srgbClr val="0E4561"/>
                </a:solidFill>
                <a:latin typeface="Arial"/>
                <a:cs typeface="Arial"/>
              </a:rPr>
              <a:t>DevOps </a:t>
            </a:r>
            <a:r>
              <a:rPr sz="10200" b="1" spc="-100" dirty="0">
                <a:solidFill>
                  <a:srgbClr val="0E4561"/>
                </a:solidFill>
                <a:latin typeface="Arial"/>
                <a:cs typeface="Arial"/>
              </a:rPr>
              <a:t>Important?</a:t>
            </a:r>
            <a:endParaRPr sz="10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E9D3B0-52A9-4DC9-B7B5-FDCD2D725EC1}"/>
              </a:ext>
            </a:extLst>
          </p:cNvPr>
          <p:cNvSpPr txBox="1"/>
          <p:nvPr/>
        </p:nvSpPr>
        <p:spPr>
          <a:xfrm>
            <a:off x="685800" y="342900"/>
            <a:ext cx="174498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The Problem and the DevOps Solution:</a:t>
            </a:r>
            <a:r>
              <a:rPr lang="en-US" sz="4000" dirty="0"/>
              <a:t> Historically, software development and IT operations existed in </a:t>
            </a:r>
            <a:r>
              <a:rPr lang="en-US" sz="4000" b="1" dirty="0"/>
              <a:t>isolated silos</a:t>
            </a:r>
            <a:r>
              <a:rPr lang="en-US" sz="4000" dirty="0"/>
              <a:t>, which caused massive </a:t>
            </a:r>
            <a:r>
              <a:rPr lang="en-US" sz="4000" b="1" dirty="0"/>
              <a:t>bottlenecks, finger-pointing, and delayed releases</a:t>
            </a:r>
            <a:r>
              <a:rPr lang="en-US" sz="4000" dirty="0"/>
              <a:t>. A classic symptom of this disconnect was a developer claiming,</a:t>
            </a:r>
          </a:p>
          <a:p>
            <a:endParaRPr lang="en-US" sz="4000" dirty="0"/>
          </a:p>
          <a:p>
            <a:r>
              <a:rPr lang="en-US" sz="4000" dirty="0"/>
              <a:t> </a:t>
            </a:r>
            <a:r>
              <a:rPr lang="en-US" sz="4000" b="1" dirty="0"/>
              <a:t>"Well, it works on my machine!" when an application completely crashed in production</a:t>
            </a:r>
            <a:r>
              <a:rPr lang="en-US" sz="4000" dirty="0"/>
              <a:t>.</a:t>
            </a:r>
          </a:p>
          <a:p>
            <a:endParaRPr lang="en-US" sz="4000" dirty="0"/>
          </a:p>
          <a:p>
            <a:r>
              <a:rPr lang="en-US" sz="4000" dirty="0"/>
              <a:t>DevOps is a cultural shift and a set of practices designed to integrate development and operations. It </a:t>
            </a:r>
            <a:r>
              <a:rPr lang="en-US" sz="4000" b="1" dirty="0"/>
              <a:t>solves traditional deployment headaches </a:t>
            </a:r>
            <a:r>
              <a:rPr lang="en-US" sz="4000" dirty="0"/>
              <a:t>by fostering collaboration, automation, and agility. </a:t>
            </a:r>
          </a:p>
          <a:p>
            <a:r>
              <a:rPr lang="en-US" sz="4000" dirty="0"/>
              <a:t>By leveraging tools like continuous integration and delivery (CI/CD) pipelines and containerization, developers can write and test code rapidly, while operations can seamlessly deploy it. This alignment ensures both a fast release cycle and a highly stable system.</a:t>
            </a:r>
          </a:p>
        </p:txBody>
      </p:sp>
    </p:spTree>
    <p:extLst>
      <p:ext uri="{BB962C8B-B14F-4D97-AF65-F5344CB8AC3E}">
        <p14:creationId xmlns:p14="http://schemas.microsoft.com/office/powerpoint/2010/main" val="20951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8700" y="3514609"/>
            <a:ext cx="13176885" cy="351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4184" marR="5080" indent="-452120">
              <a:lnSpc>
                <a:spcPct val="116700"/>
              </a:lnSpc>
              <a:spcBef>
                <a:spcPts val="95"/>
              </a:spcBef>
            </a:pPr>
            <a:r>
              <a:rPr sz="9800" b="1" spc="-605" dirty="0">
                <a:solidFill>
                  <a:srgbClr val="0E4561"/>
                </a:solidFill>
                <a:latin typeface="Arial"/>
                <a:cs typeface="Arial"/>
              </a:rPr>
              <a:t>Speeds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25" dirty="0">
                <a:solidFill>
                  <a:srgbClr val="0E4561"/>
                </a:solidFill>
                <a:latin typeface="Arial"/>
                <a:cs typeface="Arial"/>
              </a:rPr>
              <a:t>up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dirty="0">
                <a:solidFill>
                  <a:srgbClr val="0E4561"/>
                </a:solidFill>
                <a:latin typeface="Arial"/>
                <a:cs typeface="Arial"/>
              </a:rPr>
              <a:t>the</a:t>
            </a:r>
            <a:r>
              <a:rPr sz="9800" b="1" spc="-60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85" dirty="0">
                <a:solidFill>
                  <a:srgbClr val="0E4561"/>
                </a:solidFill>
                <a:latin typeface="Arial"/>
                <a:cs typeface="Arial"/>
              </a:rPr>
              <a:t>software </a:t>
            </a:r>
            <a:r>
              <a:rPr sz="9800" b="1" spc="-254" dirty="0">
                <a:solidFill>
                  <a:srgbClr val="0E4561"/>
                </a:solidFill>
                <a:latin typeface="Arial"/>
                <a:cs typeface="Arial"/>
              </a:rPr>
              <a:t>development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580" dirty="0">
                <a:solidFill>
                  <a:srgbClr val="0E4561"/>
                </a:solidFill>
                <a:latin typeface="Arial"/>
                <a:cs typeface="Arial"/>
              </a:rPr>
              <a:t>process.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71585" y="3514609"/>
            <a:ext cx="12914630" cy="351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635" marR="5080" indent="-2147570">
              <a:lnSpc>
                <a:spcPct val="116700"/>
              </a:lnSpc>
              <a:spcBef>
                <a:spcPts val="95"/>
              </a:spcBef>
            </a:pPr>
            <a:r>
              <a:rPr sz="9800" b="1" spc="-340" dirty="0">
                <a:solidFill>
                  <a:srgbClr val="0E4561"/>
                </a:solidFill>
                <a:latin typeface="Arial"/>
                <a:cs typeface="Arial"/>
              </a:rPr>
              <a:t>Improves</a:t>
            </a:r>
            <a:r>
              <a:rPr sz="9800" b="1" spc="-3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15" dirty="0">
                <a:solidFill>
                  <a:srgbClr val="0E4561"/>
                </a:solidFill>
                <a:latin typeface="Arial"/>
                <a:cs typeface="Arial"/>
              </a:rPr>
              <a:t>collaboration </a:t>
            </a:r>
            <a:r>
              <a:rPr sz="9800" b="1" spc="-90" dirty="0">
                <a:solidFill>
                  <a:srgbClr val="0E4561"/>
                </a:solidFill>
                <a:latin typeface="Arial"/>
                <a:cs typeface="Arial"/>
              </a:rPr>
              <a:t>between</a:t>
            </a:r>
            <a:r>
              <a:rPr sz="9800" b="1" spc="-55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teams.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97526" y="2582453"/>
            <a:ext cx="12861925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9800" b="1" spc="-630" dirty="0">
                <a:solidFill>
                  <a:srgbClr val="0E4561"/>
                </a:solidFill>
                <a:latin typeface="Arial"/>
                <a:cs typeface="Arial"/>
              </a:rPr>
              <a:t>Ensures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dirty="0">
                <a:solidFill>
                  <a:srgbClr val="0E4561"/>
                </a:solidFill>
                <a:latin typeface="Arial"/>
                <a:cs typeface="Arial"/>
              </a:rPr>
              <a:t>better</a:t>
            </a:r>
            <a:r>
              <a:rPr sz="9800" b="1" spc="-53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05" dirty="0">
                <a:solidFill>
                  <a:srgbClr val="0E4561"/>
                </a:solidFill>
                <a:latin typeface="Arial"/>
                <a:cs typeface="Arial"/>
              </a:rPr>
              <a:t>product </a:t>
            </a:r>
            <a:r>
              <a:rPr sz="9800" b="1" spc="-220" dirty="0">
                <a:solidFill>
                  <a:srgbClr val="0E4561"/>
                </a:solidFill>
                <a:latin typeface="Arial"/>
                <a:cs typeface="Arial"/>
              </a:rPr>
              <a:t>quality</a:t>
            </a:r>
            <a:r>
              <a:rPr sz="9800" b="1" spc="-434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3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10" dirty="0">
                <a:solidFill>
                  <a:srgbClr val="0E4561"/>
                </a:solidFill>
                <a:latin typeface="Arial"/>
                <a:cs typeface="Arial"/>
              </a:rPr>
              <a:t>faster </a:t>
            </a:r>
            <a:r>
              <a:rPr sz="9800" b="1" spc="-630" dirty="0">
                <a:solidFill>
                  <a:srgbClr val="0E4561"/>
                </a:solidFill>
                <a:latin typeface="Arial"/>
                <a:cs typeface="Arial"/>
              </a:rPr>
              <a:t>issue</a:t>
            </a:r>
            <a:r>
              <a:rPr sz="9800" b="1" spc="-38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30" dirty="0">
                <a:solidFill>
                  <a:srgbClr val="0E4561"/>
                </a:solidFill>
                <a:latin typeface="Arial"/>
                <a:cs typeface="Arial"/>
              </a:rPr>
              <a:t>resolution.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35117" y="4459630"/>
            <a:ext cx="14083665" cy="1584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200" b="1" spc="-200" dirty="0">
                <a:solidFill>
                  <a:srgbClr val="0E4561"/>
                </a:solidFill>
                <a:latin typeface="Arial"/>
                <a:cs typeface="Arial"/>
              </a:rPr>
              <a:t>DevOps</a:t>
            </a:r>
            <a:r>
              <a:rPr sz="10200" b="1" spc="-509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0200" b="1" spc="-135" dirty="0">
                <a:solidFill>
                  <a:srgbClr val="0E4561"/>
                </a:solidFill>
                <a:latin typeface="Arial"/>
                <a:cs typeface="Arial"/>
              </a:rPr>
              <a:t>Key</a:t>
            </a:r>
            <a:r>
              <a:rPr sz="10200" b="1" spc="-52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0200" b="1" spc="-484" dirty="0">
                <a:solidFill>
                  <a:srgbClr val="0E4561"/>
                </a:solidFill>
                <a:latin typeface="Arial"/>
                <a:cs typeface="Arial"/>
              </a:rPr>
              <a:t>Principles?</a:t>
            </a:r>
            <a:endParaRPr sz="10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2432" y="2582453"/>
            <a:ext cx="13892530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295910" algn="ctr">
              <a:lnSpc>
                <a:spcPct val="116700"/>
              </a:lnSpc>
              <a:spcBef>
                <a:spcPts val="95"/>
              </a:spcBef>
            </a:pPr>
            <a:r>
              <a:rPr sz="9800" b="1" spc="-340" dirty="0">
                <a:solidFill>
                  <a:srgbClr val="0E4561"/>
                </a:solidFill>
                <a:latin typeface="Arial"/>
                <a:cs typeface="Arial"/>
              </a:rPr>
              <a:t>Collaboration: </a:t>
            </a:r>
            <a:r>
              <a:rPr sz="9800" b="1" spc="-285" dirty="0">
                <a:solidFill>
                  <a:srgbClr val="0E4561"/>
                </a:solidFill>
                <a:latin typeface="Arial"/>
                <a:cs typeface="Arial"/>
              </a:rPr>
              <a:t>Developers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3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90" dirty="0">
                <a:solidFill>
                  <a:srgbClr val="0E4561"/>
                </a:solidFill>
                <a:latin typeface="Arial"/>
                <a:cs typeface="Arial"/>
              </a:rPr>
              <a:t>IT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teams </a:t>
            </a:r>
            <a:r>
              <a:rPr sz="9800" b="1" spc="-10" dirty="0">
                <a:solidFill>
                  <a:srgbClr val="0E4561"/>
                </a:solidFill>
                <a:latin typeface="Arial"/>
                <a:cs typeface="Arial"/>
              </a:rPr>
              <a:t>work</a:t>
            </a:r>
            <a:r>
              <a:rPr sz="9800" b="1" spc="-64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55" dirty="0">
                <a:solidFill>
                  <a:srgbClr val="0E4561"/>
                </a:solidFill>
                <a:latin typeface="Arial"/>
                <a:cs typeface="Arial"/>
              </a:rPr>
              <a:t>together.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7755675" y="398200"/>
            <a:ext cx="2776649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90"/>
              </a:spcBef>
            </a:pPr>
            <a:r>
              <a:rPr spc="-135" dirty="0"/>
              <a:t>TechZeen</a:t>
            </a:r>
          </a:p>
        </p:txBody>
      </p:sp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4335780" indent="-775970">
              <a:lnSpc>
                <a:spcPct val="100000"/>
              </a:lnSpc>
              <a:spcBef>
                <a:spcPts val="2055"/>
              </a:spcBef>
            </a:pPr>
            <a:r>
              <a:rPr spc="-265" dirty="0"/>
              <a:t>Automation:</a:t>
            </a:r>
          </a:p>
          <a:p>
            <a:pPr marL="314960" marR="5080" indent="4020820">
              <a:lnSpc>
                <a:spcPct val="116700"/>
              </a:lnSpc>
              <a:spcBef>
                <a:spcPts val="5"/>
              </a:spcBef>
            </a:pPr>
            <a:r>
              <a:rPr spc="-585" dirty="0"/>
              <a:t>Tasks</a:t>
            </a:r>
            <a:r>
              <a:rPr spc="-380" dirty="0"/>
              <a:t> </a:t>
            </a:r>
            <a:r>
              <a:rPr spc="-20" dirty="0"/>
              <a:t>like </a:t>
            </a:r>
            <a:r>
              <a:rPr spc="-280" dirty="0"/>
              <a:t>testing</a:t>
            </a:r>
            <a:r>
              <a:rPr spc="-375" dirty="0"/>
              <a:t> </a:t>
            </a:r>
            <a:r>
              <a:rPr spc="-430" dirty="0"/>
              <a:t>and</a:t>
            </a:r>
            <a:r>
              <a:rPr spc="-375" dirty="0"/>
              <a:t> </a:t>
            </a:r>
            <a:r>
              <a:rPr spc="-275" dirty="0"/>
              <a:t>deployment</a:t>
            </a:r>
          </a:p>
          <a:p>
            <a:pPr marL="2840990">
              <a:lnSpc>
                <a:spcPct val="100000"/>
              </a:lnSpc>
              <a:spcBef>
                <a:spcPts val="1965"/>
              </a:spcBef>
            </a:pPr>
            <a:r>
              <a:rPr spc="-260" dirty="0"/>
              <a:t>are</a:t>
            </a:r>
            <a:r>
              <a:rPr spc="-390" dirty="0"/>
              <a:t> </a:t>
            </a:r>
            <a:r>
              <a:rPr spc="-110" dirty="0"/>
              <a:t>automated.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77553" y="2552118"/>
            <a:ext cx="14665960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sz="9800" b="1" spc="-400" dirty="0">
                <a:solidFill>
                  <a:srgbClr val="0E4561"/>
                </a:solidFill>
                <a:latin typeface="Arial"/>
                <a:cs typeface="Arial"/>
              </a:rPr>
              <a:t>Continuous</a:t>
            </a:r>
            <a:r>
              <a:rPr sz="9800" b="1" spc="-38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195" dirty="0">
                <a:solidFill>
                  <a:srgbClr val="0E4561"/>
                </a:solidFill>
                <a:latin typeface="Arial"/>
                <a:cs typeface="Arial"/>
              </a:rPr>
              <a:t>Improvement: 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Regularly</a:t>
            </a:r>
            <a:r>
              <a:rPr sz="9800" b="1" spc="-37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09" dirty="0">
                <a:solidFill>
                  <a:srgbClr val="0E4561"/>
                </a:solidFill>
                <a:latin typeface="Arial"/>
                <a:cs typeface="Arial"/>
              </a:rPr>
              <a:t>enhance</a:t>
            </a:r>
            <a:r>
              <a:rPr sz="9800" b="1" spc="-3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55" dirty="0">
                <a:solidFill>
                  <a:srgbClr val="0E4561"/>
                </a:solidFill>
                <a:latin typeface="Arial"/>
                <a:cs typeface="Arial"/>
              </a:rPr>
              <a:t>and </a:t>
            </a:r>
            <a:r>
              <a:rPr sz="9800" b="1" spc="-220" dirty="0">
                <a:solidFill>
                  <a:srgbClr val="0E4561"/>
                </a:solidFill>
                <a:latin typeface="Arial"/>
                <a:cs typeface="Arial"/>
              </a:rPr>
              <a:t>optimize</a:t>
            </a:r>
            <a:r>
              <a:rPr sz="9800" b="1" spc="-45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605" dirty="0">
                <a:solidFill>
                  <a:srgbClr val="0E4561"/>
                </a:solidFill>
                <a:latin typeface="Arial"/>
                <a:cs typeface="Arial"/>
              </a:rPr>
              <a:t>processes.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3445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2055"/>
              </a:spcBef>
            </a:pPr>
            <a:r>
              <a:rPr spc="-180" dirty="0"/>
              <a:t>Development</a:t>
            </a:r>
            <a:r>
              <a:rPr spc="-434" dirty="0"/>
              <a:t> </a:t>
            </a:r>
            <a:r>
              <a:rPr spc="65" dirty="0"/>
              <a:t>Without</a:t>
            </a:r>
          </a:p>
          <a:p>
            <a:pPr marL="532130" algn="ctr">
              <a:lnSpc>
                <a:spcPct val="100000"/>
              </a:lnSpc>
              <a:spcBef>
                <a:spcPts val="1964"/>
              </a:spcBef>
            </a:pPr>
            <a:r>
              <a:rPr spc="-35" dirty="0"/>
              <a:t>DevOps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35775" y="3142170"/>
            <a:ext cx="15148560" cy="351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70150">
              <a:lnSpc>
                <a:spcPct val="116700"/>
              </a:lnSpc>
              <a:spcBef>
                <a:spcPts val="95"/>
              </a:spcBef>
            </a:pPr>
            <a:r>
              <a:rPr sz="9800" b="1" spc="-150" dirty="0">
                <a:solidFill>
                  <a:srgbClr val="0E4561"/>
                </a:solidFill>
                <a:latin typeface="Arial"/>
                <a:cs typeface="Arial"/>
              </a:rPr>
              <a:t>Software</a:t>
            </a:r>
            <a:r>
              <a:rPr sz="9800" b="1" spc="-509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95" dirty="0">
                <a:solidFill>
                  <a:srgbClr val="0E4561"/>
                </a:solidFill>
                <a:latin typeface="Arial"/>
                <a:cs typeface="Arial"/>
              </a:rPr>
              <a:t>updates </a:t>
            </a:r>
            <a:r>
              <a:rPr sz="9800" b="1" spc="-50" dirty="0">
                <a:solidFill>
                  <a:srgbClr val="0E4561"/>
                </a:solidFill>
                <a:latin typeface="Arial"/>
                <a:cs typeface="Arial"/>
              </a:rPr>
              <a:t>took</a:t>
            </a:r>
            <a:r>
              <a:rPr sz="9800" b="1" spc="-6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40" dirty="0">
                <a:solidFill>
                  <a:srgbClr val="0E4561"/>
                </a:solidFill>
                <a:latin typeface="Arial"/>
                <a:cs typeface="Arial"/>
              </a:rPr>
              <a:t>a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55" dirty="0">
                <a:solidFill>
                  <a:srgbClr val="0E4561"/>
                </a:solidFill>
                <a:latin typeface="Arial"/>
                <a:cs typeface="Arial"/>
              </a:rPr>
              <a:t>long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55" dirty="0">
                <a:solidFill>
                  <a:srgbClr val="0E4561"/>
                </a:solidFill>
                <a:latin typeface="Arial"/>
                <a:cs typeface="Arial"/>
              </a:rPr>
              <a:t>time</a:t>
            </a:r>
            <a:r>
              <a:rPr sz="9800" b="1" spc="-4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dirty="0">
                <a:solidFill>
                  <a:srgbClr val="0E4561"/>
                </a:solidFill>
                <a:latin typeface="Arial"/>
                <a:cs typeface="Arial"/>
              </a:rPr>
              <a:t>to</a:t>
            </a:r>
            <a:r>
              <a:rPr sz="9800" b="1" spc="-4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release.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5723" y="2742675"/>
            <a:ext cx="13892530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9800" b="1" spc="-285" dirty="0">
                <a:solidFill>
                  <a:srgbClr val="0E4561"/>
                </a:solidFill>
                <a:latin typeface="Arial"/>
                <a:cs typeface="Arial"/>
              </a:rPr>
              <a:t>Developers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3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90" dirty="0">
                <a:solidFill>
                  <a:srgbClr val="0E4561"/>
                </a:solidFill>
                <a:latin typeface="Arial"/>
                <a:cs typeface="Arial"/>
              </a:rPr>
              <a:t>IT</a:t>
            </a:r>
            <a:r>
              <a:rPr sz="9800" b="1" spc="-3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teams </a:t>
            </a:r>
            <a:r>
              <a:rPr sz="9800" b="1" spc="-135" dirty="0">
                <a:solidFill>
                  <a:srgbClr val="0E4561"/>
                </a:solidFill>
                <a:latin typeface="Arial"/>
                <a:cs typeface="Arial"/>
              </a:rPr>
              <a:t>worked</a:t>
            </a:r>
            <a:r>
              <a:rPr sz="9800" b="1" spc="-49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10" dirty="0">
                <a:solidFill>
                  <a:srgbClr val="0E4561"/>
                </a:solidFill>
                <a:latin typeface="Arial"/>
                <a:cs typeface="Arial"/>
              </a:rPr>
              <a:t>in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590" dirty="0">
                <a:solidFill>
                  <a:srgbClr val="0E4561"/>
                </a:solidFill>
                <a:latin typeface="Arial"/>
                <a:cs typeface="Arial"/>
              </a:rPr>
              <a:t>silos,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600" dirty="0">
                <a:solidFill>
                  <a:srgbClr val="0E4561"/>
                </a:solidFill>
                <a:latin typeface="Arial"/>
                <a:cs typeface="Arial"/>
              </a:rPr>
              <a:t>causing </a:t>
            </a:r>
            <a:r>
              <a:rPr sz="9800" b="1" spc="-420" dirty="0">
                <a:solidFill>
                  <a:srgbClr val="0E4561"/>
                </a:solidFill>
                <a:latin typeface="Arial"/>
                <a:cs typeface="Arial"/>
              </a:rPr>
              <a:t>miscommunication.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0364" y="2576219"/>
            <a:ext cx="12023090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sz="9800" b="1" spc="-114" dirty="0">
                <a:solidFill>
                  <a:srgbClr val="0E4561"/>
                </a:solidFill>
                <a:latin typeface="Arial"/>
                <a:cs typeface="Arial"/>
              </a:rPr>
              <a:t>Manual</a:t>
            </a:r>
            <a:r>
              <a:rPr sz="9800" b="1" spc="-5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615" dirty="0">
                <a:solidFill>
                  <a:srgbClr val="0E4561"/>
                </a:solidFill>
                <a:latin typeface="Arial"/>
                <a:cs typeface="Arial"/>
              </a:rPr>
              <a:t>processes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25" dirty="0">
                <a:solidFill>
                  <a:srgbClr val="0E4561"/>
                </a:solidFill>
                <a:latin typeface="Arial"/>
                <a:cs typeface="Arial"/>
              </a:rPr>
              <a:t>led </a:t>
            </a:r>
            <a:r>
              <a:rPr sz="9800" b="1" dirty="0">
                <a:solidFill>
                  <a:srgbClr val="0E4561"/>
                </a:solidFill>
                <a:latin typeface="Arial"/>
                <a:cs typeface="Arial"/>
              </a:rPr>
              <a:t>to</a:t>
            </a:r>
            <a:r>
              <a:rPr sz="9800" b="1" spc="-3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290" dirty="0">
                <a:solidFill>
                  <a:srgbClr val="0E4561"/>
                </a:solidFill>
                <a:latin typeface="Arial"/>
                <a:cs typeface="Arial"/>
              </a:rPr>
              <a:t>more</a:t>
            </a:r>
            <a:r>
              <a:rPr sz="9800" b="1" spc="-36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695" dirty="0">
                <a:solidFill>
                  <a:srgbClr val="0E4561"/>
                </a:solidFill>
                <a:latin typeface="Arial"/>
                <a:cs typeface="Arial"/>
              </a:rPr>
              <a:t>bugs</a:t>
            </a:r>
            <a:r>
              <a:rPr sz="9800" b="1" spc="-36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55" dirty="0">
                <a:solidFill>
                  <a:srgbClr val="0E4561"/>
                </a:solidFill>
                <a:latin typeface="Arial"/>
                <a:cs typeface="Arial"/>
              </a:rPr>
              <a:t>and </a:t>
            </a:r>
            <a:r>
              <a:rPr sz="9800" b="1" spc="-265" dirty="0">
                <a:solidFill>
                  <a:srgbClr val="0E4561"/>
                </a:solidFill>
                <a:latin typeface="Arial"/>
                <a:cs typeface="Arial"/>
              </a:rPr>
              <a:t>deployment</a:t>
            </a:r>
            <a:r>
              <a:rPr sz="9800" b="1" spc="-3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35" dirty="0">
                <a:solidFill>
                  <a:srgbClr val="0E4561"/>
                </a:solidFill>
                <a:latin typeface="Arial"/>
                <a:cs typeface="Arial"/>
              </a:rPr>
              <a:t>failures.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2783" y="2576219"/>
            <a:ext cx="11666855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248920" algn="ctr">
              <a:lnSpc>
                <a:spcPct val="116700"/>
              </a:lnSpc>
              <a:spcBef>
                <a:spcPts val="95"/>
              </a:spcBef>
            </a:pPr>
            <a:r>
              <a:rPr sz="9800" b="1" spc="-500" dirty="0">
                <a:solidFill>
                  <a:srgbClr val="0E4561"/>
                </a:solidFill>
                <a:latin typeface="Arial"/>
                <a:cs typeface="Arial"/>
              </a:rPr>
              <a:t>Users’</a:t>
            </a:r>
            <a:r>
              <a:rPr sz="9800" b="1" spc="-37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285" dirty="0">
                <a:solidFill>
                  <a:srgbClr val="0E4561"/>
                </a:solidFill>
                <a:latin typeface="Arial"/>
                <a:cs typeface="Arial"/>
              </a:rPr>
              <a:t>feedback</a:t>
            </a:r>
            <a:r>
              <a:rPr sz="9800" b="1" spc="-37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455" dirty="0">
                <a:solidFill>
                  <a:srgbClr val="0E4561"/>
                </a:solidFill>
                <a:latin typeface="Arial"/>
                <a:cs typeface="Arial"/>
              </a:rPr>
              <a:t>was </a:t>
            </a:r>
            <a:r>
              <a:rPr sz="9800" b="1" spc="-40" dirty="0">
                <a:solidFill>
                  <a:srgbClr val="0E4561"/>
                </a:solidFill>
                <a:latin typeface="Arial"/>
                <a:cs typeface="Arial"/>
              </a:rPr>
              <a:t>not</a:t>
            </a:r>
            <a:r>
              <a:rPr sz="9800" b="1" spc="-63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80" dirty="0">
                <a:solidFill>
                  <a:srgbClr val="0E4561"/>
                </a:solidFill>
                <a:latin typeface="Arial"/>
                <a:cs typeface="Arial"/>
              </a:rPr>
              <a:t>integrated </a:t>
            </a:r>
            <a:r>
              <a:rPr sz="9800" b="1" spc="-345" dirty="0">
                <a:solidFill>
                  <a:srgbClr val="0E4561"/>
                </a:solidFill>
                <a:latin typeface="Arial"/>
                <a:cs typeface="Arial"/>
              </a:rPr>
              <a:t>quickly</a:t>
            </a:r>
            <a:r>
              <a:rPr sz="9800" b="1" spc="-39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90" dirty="0">
                <a:solidFill>
                  <a:srgbClr val="0E4561"/>
                </a:solidFill>
                <a:latin typeface="Arial"/>
                <a:cs typeface="Arial"/>
              </a:rPr>
              <a:t>into</a:t>
            </a:r>
            <a:r>
              <a:rPr sz="9800" b="1" spc="-5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95" dirty="0">
                <a:solidFill>
                  <a:srgbClr val="0E4561"/>
                </a:solidFill>
                <a:latin typeface="Arial"/>
                <a:cs typeface="Arial"/>
              </a:rPr>
              <a:t>updates.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45988" y="2083976"/>
            <a:ext cx="12983845" cy="6264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7000"/>
              </a:lnSpc>
              <a:spcBef>
                <a:spcPts val="90"/>
              </a:spcBef>
            </a:pPr>
            <a:r>
              <a:rPr sz="7000" b="1" spc="-335" dirty="0">
                <a:solidFill>
                  <a:srgbClr val="0E4561"/>
                </a:solidFill>
                <a:latin typeface="Arial"/>
                <a:cs typeface="Arial"/>
              </a:rPr>
              <a:t>Companies</a:t>
            </a:r>
            <a:r>
              <a:rPr sz="7000" b="1" spc="-28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125" dirty="0">
                <a:solidFill>
                  <a:srgbClr val="0E4561"/>
                </a:solidFill>
                <a:latin typeface="Arial"/>
                <a:cs typeface="Arial"/>
              </a:rPr>
              <a:t>like</a:t>
            </a:r>
            <a:r>
              <a:rPr sz="7000" b="1" spc="-35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0E4561"/>
                </a:solidFill>
                <a:latin typeface="Arial"/>
                <a:cs typeface="Arial"/>
              </a:rPr>
              <a:t>Netflix,</a:t>
            </a:r>
            <a:r>
              <a:rPr sz="7000" b="1" spc="-31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280" dirty="0">
                <a:solidFill>
                  <a:srgbClr val="0E4561"/>
                </a:solidFill>
                <a:latin typeface="Arial"/>
                <a:cs typeface="Arial"/>
              </a:rPr>
              <a:t>Amazon, </a:t>
            </a:r>
            <a:r>
              <a:rPr sz="7000" b="1" spc="-31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7000" b="1" spc="-2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290" dirty="0">
                <a:solidFill>
                  <a:srgbClr val="0E4561"/>
                </a:solidFill>
                <a:latin typeface="Arial"/>
                <a:cs typeface="Arial"/>
              </a:rPr>
              <a:t>Google</a:t>
            </a:r>
            <a:r>
              <a:rPr sz="7000" b="1" spc="-2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415" dirty="0">
                <a:solidFill>
                  <a:srgbClr val="0E4561"/>
                </a:solidFill>
                <a:latin typeface="Arial"/>
                <a:cs typeface="Arial"/>
              </a:rPr>
              <a:t>use</a:t>
            </a:r>
            <a:r>
              <a:rPr sz="7000" b="1" spc="-27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0E4561"/>
                </a:solidFill>
                <a:latin typeface="Arial"/>
                <a:cs typeface="Arial"/>
              </a:rPr>
              <a:t>DevOps</a:t>
            </a:r>
            <a:endParaRPr sz="7000">
              <a:latin typeface="Arial"/>
              <a:cs typeface="Arial"/>
            </a:endParaRPr>
          </a:p>
          <a:p>
            <a:pPr marL="746125" marR="738505" algn="ctr">
              <a:lnSpc>
                <a:spcPts val="9830"/>
              </a:lnSpc>
              <a:spcBef>
                <a:spcPts val="360"/>
              </a:spcBef>
            </a:pPr>
            <a:r>
              <a:rPr sz="7000" b="1" spc="50" dirty="0">
                <a:solidFill>
                  <a:srgbClr val="0E4561"/>
                </a:solidFill>
                <a:latin typeface="Arial"/>
                <a:cs typeface="Arial"/>
              </a:rPr>
              <a:t>to</a:t>
            </a:r>
            <a:r>
              <a:rPr sz="7000" b="1" spc="-31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165" dirty="0">
                <a:solidFill>
                  <a:srgbClr val="0E4561"/>
                </a:solidFill>
                <a:latin typeface="Arial"/>
                <a:cs typeface="Arial"/>
              </a:rPr>
              <a:t>deliver</a:t>
            </a:r>
            <a:r>
              <a:rPr sz="7000" b="1" spc="-30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95" dirty="0">
                <a:solidFill>
                  <a:srgbClr val="0E4561"/>
                </a:solidFill>
                <a:latin typeface="Arial"/>
                <a:cs typeface="Arial"/>
              </a:rPr>
              <a:t>software</a:t>
            </a:r>
            <a:r>
              <a:rPr sz="7000" b="1" spc="-31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275" dirty="0">
                <a:solidFill>
                  <a:srgbClr val="0E4561"/>
                </a:solidFill>
                <a:latin typeface="Arial"/>
                <a:cs typeface="Arial"/>
              </a:rPr>
              <a:t>updates </a:t>
            </a:r>
            <a:r>
              <a:rPr sz="7000" b="1" spc="-110" dirty="0">
                <a:solidFill>
                  <a:srgbClr val="0E4561"/>
                </a:solidFill>
                <a:latin typeface="Arial"/>
                <a:cs typeface="Arial"/>
              </a:rPr>
              <a:t>frequently</a:t>
            </a:r>
            <a:r>
              <a:rPr sz="7000" b="1" spc="-29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310" dirty="0">
                <a:solidFill>
                  <a:srgbClr val="0E4561"/>
                </a:solidFill>
                <a:latin typeface="Arial"/>
                <a:cs typeface="Arial"/>
              </a:rPr>
              <a:t>and</a:t>
            </a:r>
            <a:r>
              <a:rPr sz="7000" b="1" spc="-28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190" dirty="0">
                <a:solidFill>
                  <a:srgbClr val="0E4561"/>
                </a:solidFill>
                <a:latin typeface="Arial"/>
                <a:cs typeface="Arial"/>
              </a:rPr>
              <a:t>maintain</a:t>
            </a:r>
            <a:r>
              <a:rPr sz="7000" b="1" spc="-2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350" dirty="0">
                <a:solidFill>
                  <a:srgbClr val="0E4561"/>
                </a:solidFill>
                <a:latin typeface="Arial"/>
                <a:cs typeface="Arial"/>
              </a:rPr>
              <a:t>high </a:t>
            </a:r>
            <a:r>
              <a:rPr sz="7000" b="1" spc="-170" dirty="0">
                <a:solidFill>
                  <a:srgbClr val="0E4561"/>
                </a:solidFill>
                <a:latin typeface="Arial"/>
                <a:cs typeface="Arial"/>
              </a:rPr>
              <a:t>availability</a:t>
            </a:r>
            <a:r>
              <a:rPr sz="7000" b="1" spc="-28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0E4561"/>
                </a:solidFill>
                <a:latin typeface="Arial"/>
                <a:cs typeface="Arial"/>
              </a:rPr>
              <a:t>of</a:t>
            </a:r>
            <a:r>
              <a:rPr sz="7000" b="1" spc="-27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7000" b="1" spc="-355" dirty="0">
                <a:solidFill>
                  <a:srgbClr val="0E4561"/>
                </a:solidFill>
                <a:latin typeface="Arial"/>
                <a:cs typeface="Arial"/>
              </a:rPr>
              <a:t>services.</a:t>
            </a:r>
            <a:endParaRPr sz="7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58426" y="4234247"/>
            <a:ext cx="9836785" cy="1737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200" b="1" dirty="0">
                <a:solidFill>
                  <a:srgbClr val="0E4561"/>
                </a:solidFill>
                <a:latin typeface="Arial"/>
                <a:cs typeface="Arial"/>
              </a:rPr>
              <a:t>In</a:t>
            </a:r>
            <a:r>
              <a:rPr sz="11200" b="1" spc="-615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1200" b="1" spc="-470" dirty="0">
                <a:solidFill>
                  <a:srgbClr val="0E4561"/>
                </a:solidFill>
                <a:latin typeface="Arial"/>
                <a:cs typeface="Arial"/>
              </a:rPr>
              <a:t>This</a:t>
            </a:r>
            <a:r>
              <a:rPr sz="11200" b="1" spc="-52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11200" b="1" spc="-680" dirty="0">
                <a:solidFill>
                  <a:srgbClr val="0E4561"/>
                </a:solidFill>
                <a:latin typeface="Arial"/>
                <a:cs typeface="Arial"/>
              </a:rPr>
              <a:t>Course?</a:t>
            </a:r>
            <a:endParaRPr sz="1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06658" y="377131"/>
            <a:ext cx="593090" cy="552450"/>
          </a:xfrm>
          <a:custGeom>
            <a:avLst/>
            <a:gdLst/>
            <a:ahLst/>
            <a:cxnLst/>
            <a:rect l="l" t="t" r="r" b="b"/>
            <a:pathLst>
              <a:path w="593090" h="552450">
                <a:moveTo>
                  <a:pt x="144489" y="463711"/>
                </a:moveTo>
                <a:lnTo>
                  <a:pt x="142107" y="461595"/>
                </a:lnTo>
                <a:lnTo>
                  <a:pt x="141284" y="460391"/>
                </a:lnTo>
                <a:lnTo>
                  <a:pt x="140872" y="459078"/>
                </a:lnTo>
                <a:lnTo>
                  <a:pt x="140175" y="457197"/>
                </a:lnTo>
                <a:lnTo>
                  <a:pt x="140047" y="455032"/>
                </a:lnTo>
                <a:lnTo>
                  <a:pt x="140693" y="453238"/>
                </a:lnTo>
                <a:lnTo>
                  <a:pt x="141046" y="452131"/>
                </a:lnTo>
                <a:lnTo>
                  <a:pt x="141486" y="451102"/>
                </a:lnTo>
                <a:lnTo>
                  <a:pt x="142358" y="450299"/>
                </a:lnTo>
                <a:lnTo>
                  <a:pt x="145188" y="445869"/>
                </a:lnTo>
                <a:lnTo>
                  <a:pt x="148106" y="441518"/>
                </a:lnTo>
                <a:lnTo>
                  <a:pt x="150936" y="437088"/>
                </a:lnTo>
                <a:lnTo>
                  <a:pt x="205876" y="352336"/>
                </a:lnTo>
                <a:lnTo>
                  <a:pt x="330182" y="160144"/>
                </a:lnTo>
                <a:lnTo>
                  <a:pt x="336519" y="150242"/>
                </a:lnTo>
                <a:lnTo>
                  <a:pt x="342904" y="140337"/>
                </a:lnTo>
                <a:lnTo>
                  <a:pt x="382855" y="78638"/>
                </a:lnTo>
                <a:lnTo>
                  <a:pt x="388223" y="77568"/>
                </a:lnTo>
                <a:lnTo>
                  <a:pt x="393280" y="81113"/>
                </a:lnTo>
                <a:lnTo>
                  <a:pt x="397122" y="83895"/>
                </a:lnTo>
                <a:lnTo>
                  <a:pt x="401130" y="86666"/>
                </a:lnTo>
                <a:lnTo>
                  <a:pt x="491801" y="151582"/>
                </a:lnTo>
                <a:lnTo>
                  <a:pt x="492215" y="158577"/>
                </a:lnTo>
                <a:lnTo>
                  <a:pt x="489041" y="161439"/>
                </a:lnTo>
                <a:lnTo>
                  <a:pt x="488483" y="161890"/>
                </a:lnTo>
                <a:lnTo>
                  <a:pt x="484291" y="165899"/>
                </a:lnTo>
                <a:lnTo>
                  <a:pt x="481471" y="168286"/>
                </a:lnTo>
                <a:lnTo>
                  <a:pt x="467749" y="156097"/>
                </a:lnTo>
                <a:lnTo>
                  <a:pt x="465926" y="154952"/>
                </a:lnTo>
                <a:lnTo>
                  <a:pt x="465721" y="154769"/>
                </a:lnTo>
                <a:lnTo>
                  <a:pt x="389828" y="100455"/>
                </a:lnTo>
                <a:lnTo>
                  <a:pt x="385949" y="106320"/>
                </a:lnTo>
                <a:lnTo>
                  <a:pt x="330746" y="191470"/>
                </a:lnTo>
                <a:lnTo>
                  <a:pt x="237677" y="335348"/>
                </a:lnTo>
                <a:lnTo>
                  <a:pt x="229902" y="347405"/>
                </a:lnTo>
                <a:lnTo>
                  <a:pt x="214688" y="370893"/>
                </a:lnTo>
                <a:lnTo>
                  <a:pt x="192584" y="405123"/>
                </a:lnTo>
                <a:lnTo>
                  <a:pt x="205813" y="416874"/>
                </a:lnTo>
                <a:lnTo>
                  <a:pt x="189076" y="431990"/>
                </a:lnTo>
                <a:lnTo>
                  <a:pt x="183003" y="437392"/>
                </a:lnTo>
                <a:lnTo>
                  <a:pt x="176932" y="442841"/>
                </a:lnTo>
                <a:lnTo>
                  <a:pt x="164796" y="453818"/>
                </a:lnTo>
                <a:lnTo>
                  <a:pt x="161867" y="456582"/>
                </a:lnTo>
                <a:lnTo>
                  <a:pt x="155642" y="462098"/>
                </a:lnTo>
                <a:lnTo>
                  <a:pt x="155197" y="462492"/>
                </a:lnTo>
                <a:lnTo>
                  <a:pt x="153747" y="463414"/>
                </a:lnTo>
                <a:lnTo>
                  <a:pt x="151338" y="465060"/>
                </a:lnTo>
                <a:lnTo>
                  <a:pt x="148428" y="465316"/>
                </a:lnTo>
                <a:lnTo>
                  <a:pt x="145341" y="463995"/>
                </a:lnTo>
                <a:lnTo>
                  <a:pt x="144489" y="463711"/>
                </a:lnTo>
                <a:close/>
              </a:path>
              <a:path w="593090" h="552450">
                <a:moveTo>
                  <a:pt x="205813" y="416874"/>
                </a:moveTo>
                <a:lnTo>
                  <a:pt x="192584" y="405123"/>
                </a:lnTo>
                <a:lnTo>
                  <a:pt x="199846" y="398649"/>
                </a:lnTo>
                <a:lnTo>
                  <a:pt x="207098" y="392136"/>
                </a:lnTo>
                <a:lnTo>
                  <a:pt x="278779" y="327476"/>
                </a:lnTo>
                <a:lnTo>
                  <a:pt x="302993" y="305668"/>
                </a:lnTo>
                <a:lnTo>
                  <a:pt x="373788" y="241744"/>
                </a:lnTo>
                <a:lnTo>
                  <a:pt x="395685" y="222010"/>
                </a:lnTo>
                <a:lnTo>
                  <a:pt x="448570" y="174253"/>
                </a:lnTo>
                <a:lnTo>
                  <a:pt x="466770" y="157910"/>
                </a:lnTo>
                <a:lnTo>
                  <a:pt x="467328" y="157459"/>
                </a:lnTo>
                <a:lnTo>
                  <a:pt x="468278" y="156567"/>
                </a:lnTo>
                <a:lnTo>
                  <a:pt x="481471" y="168286"/>
                </a:lnTo>
                <a:lnTo>
                  <a:pt x="480471" y="169133"/>
                </a:lnTo>
                <a:lnTo>
                  <a:pt x="479925" y="169596"/>
                </a:lnTo>
                <a:lnTo>
                  <a:pt x="476166" y="173041"/>
                </a:lnTo>
                <a:lnTo>
                  <a:pt x="328573" y="306060"/>
                </a:lnTo>
                <a:lnTo>
                  <a:pt x="257778" y="369984"/>
                </a:lnTo>
                <a:lnTo>
                  <a:pt x="235880" y="389717"/>
                </a:lnTo>
                <a:lnTo>
                  <a:pt x="205813" y="416874"/>
                </a:lnTo>
                <a:close/>
              </a:path>
              <a:path w="593090" h="552450">
                <a:moveTo>
                  <a:pt x="234921" y="552299"/>
                </a:moveTo>
                <a:lnTo>
                  <a:pt x="225129" y="543601"/>
                </a:lnTo>
                <a:lnTo>
                  <a:pt x="225230" y="543003"/>
                </a:lnTo>
                <a:lnTo>
                  <a:pt x="225210" y="542670"/>
                </a:lnTo>
                <a:lnTo>
                  <a:pt x="229421" y="536153"/>
                </a:lnTo>
                <a:lnTo>
                  <a:pt x="229979" y="535702"/>
                </a:lnTo>
                <a:lnTo>
                  <a:pt x="230714" y="535408"/>
                </a:lnTo>
                <a:lnTo>
                  <a:pt x="231037" y="535222"/>
                </a:lnTo>
                <a:lnTo>
                  <a:pt x="231860" y="535006"/>
                </a:lnTo>
                <a:lnTo>
                  <a:pt x="236366" y="533486"/>
                </a:lnTo>
                <a:lnTo>
                  <a:pt x="240961" y="532044"/>
                </a:lnTo>
                <a:lnTo>
                  <a:pt x="245467" y="530524"/>
                </a:lnTo>
                <a:lnTo>
                  <a:pt x="508923" y="443731"/>
                </a:lnTo>
                <a:lnTo>
                  <a:pt x="527770" y="437591"/>
                </a:lnTo>
                <a:lnTo>
                  <a:pt x="571964" y="423035"/>
                </a:lnTo>
                <a:lnTo>
                  <a:pt x="575157" y="421927"/>
                </a:lnTo>
                <a:lnTo>
                  <a:pt x="586472" y="418249"/>
                </a:lnTo>
                <a:lnTo>
                  <a:pt x="593048" y="422038"/>
                </a:lnTo>
                <a:lnTo>
                  <a:pt x="592971" y="427809"/>
                </a:lnTo>
                <a:lnTo>
                  <a:pt x="592885" y="431993"/>
                </a:lnTo>
                <a:lnTo>
                  <a:pt x="592965" y="436166"/>
                </a:lnTo>
                <a:lnTo>
                  <a:pt x="592878" y="440350"/>
                </a:lnTo>
                <a:lnTo>
                  <a:pt x="592797" y="456216"/>
                </a:lnTo>
                <a:lnTo>
                  <a:pt x="575350" y="440719"/>
                </a:lnTo>
                <a:lnTo>
                  <a:pt x="574449" y="441023"/>
                </a:lnTo>
                <a:lnTo>
                  <a:pt x="573626" y="441239"/>
                </a:lnTo>
                <a:lnTo>
                  <a:pt x="305007" y="529758"/>
                </a:lnTo>
                <a:lnTo>
                  <a:pt x="300579" y="531190"/>
                </a:lnTo>
                <a:lnTo>
                  <a:pt x="296318" y="532612"/>
                </a:lnTo>
                <a:lnTo>
                  <a:pt x="315019" y="549224"/>
                </a:lnTo>
                <a:lnTo>
                  <a:pt x="234921" y="552299"/>
                </a:lnTo>
                <a:close/>
              </a:path>
              <a:path w="593090" h="552450">
                <a:moveTo>
                  <a:pt x="315019" y="549224"/>
                </a:moveTo>
                <a:lnTo>
                  <a:pt x="296318" y="532612"/>
                </a:lnTo>
                <a:lnTo>
                  <a:pt x="303068" y="532296"/>
                </a:lnTo>
                <a:lnTo>
                  <a:pt x="574154" y="522186"/>
                </a:lnTo>
                <a:lnTo>
                  <a:pt x="574576" y="522245"/>
                </a:lnTo>
                <a:lnTo>
                  <a:pt x="574909" y="522225"/>
                </a:lnTo>
                <a:lnTo>
                  <a:pt x="574937" y="519884"/>
                </a:lnTo>
                <a:lnTo>
                  <a:pt x="575350" y="440719"/>
                </a:lnTo>
                <a:lnTo>
                  <a:pt x="592797" y="456216"/>
                </a:lnTo>
                <a:lnTo>
                  <a:pt x="592438" y="526926"/>
                </a:lnTo>
                <a:lnTo>
                  <a:pt x="581399" y="539353"/>
                </a:lnTo>
                <a:lnTo>
                  <a:pt x="578854" y="539458"/>
                </a:lnTo>
                <a:lnTo>
                  <a:pt x="574347" y="539557"/>
                </a:lnTo>
                <a:lnTo>
                  <a:pt x="569762" y="539745"/>
                </a:lnTo>
                <a:lnTo>
                  <a:pt x="315019" y="549224"/>
                </a:lnTo>
                <a:close/>
              </a:path>
              <a:path w="593090" h="552450">
                <a:moveTo>
                  <a:pt x="45388" y="383947"/>
                </a:moveTo>
                <a:lnTo>
                  <a:pt x="34899" y="374630"/>
                </a:lnTo>
                <a:lnTo>
                  <a:pt x="1435" y="27670"/>
                </a:lnTo>
                <a:lnTo>
                  <a:pt x="1081" y="24515"/>
                </a:lnTo>
                <a:lnTo>
                  <a:pt x="806" y="21273"/>
                </a:lnTo>
                <a:lnTo>
                  <a:pt x="452" y="18118"/>
                </a:lnTo>
                <a:lnTo>
                  <a:pt x="0" y="13298"/>
                </a:lnTo>
                <a:lnTo>
                  <a:pt x="4181" y="9122"/>
                </a:lnTo>
                <a:lnTo>
                  <a:pt x="111560" y="511"/>
                </a:lnTo>
                <a:lnTo>
                  <a:pt x="117380" y="0"/>
                </a:lnTo>
                <a:lnTo>
                  <a:pt x="121889" y="5583"/>
                </a:lnTo>
                <a:lnTo>
                  <a:pt x="120803" y="11246"/>
                </a:lnTo>
                <a:lnTo>
                  <a:pt x="120745" y="11667"/>
                </a:lnTo>
                <a:lnTo>
                  <a:pt x="116868" y="32525"/>
                </a:lnTo>
                <a:lnTo>
                  <a:pt x="101446" y="18826"/>
                </a:lnTo>
                <a:lnTo>
                  <a:pt x="101034" y="18934"/>
                </a:lnTo>
                <a:lnTo>
                  <a:pt x="100613" y="18876"/>
                </a:lnTo>
                <a:lnTo>
                  <a:pt x="100202" y="18984"/>
                </a:lnTo>
                <a:lnTo>
                  <a:pt x="44974" y="23422"/>
                </a:lnTo>
                <a:lnTo>
                  <a:pt x="38545" y="23893"/>
                </a:lnTo>
                <a:lnTo>
                  <a:pt x="19187" y="25450"/>
                </a:lnTo>
                <a:lnTo>
                  <a:pt x="19472" y="27438"/>
                </a:lnTo>
                <a:lnTo>
                  <a:pt x="19591" y="29437"/>
                </a:lnTo>
                <a:lnTo>
                  <a:pt x="45739" y="300410"/>
                </a:lnTo>
                <a:lnTo>
                  <a:pt x="46044" y="304153"/>
                </a:lnTo>
                <a:lnTo>
                  <a:pt x="46831" y="311794"/>
                </a:lnTo>
                <a:lnTo>
                  <a:pt x="62293" y="325529"/>
                </a:lnTo>
                <a:lnTo>
                  <a:pt x="54532" y="367080"/>
                </a:lnTo>
                <a:lnTo>
                  <a:pt x="52889" y="376035"/>
                </a:lnTo>
                <a:lnTo>
                  <a:pt x="52782" y="377044"/>
                </a:lnTo>
                <a:lnTo>
                  <a:pt x="52508" y="378063"/>
                </a:lnTo>
                <a:lnTo>
                  <a:pt x="51979" y="379014"/>
                </a:lnTo>
                <a:lnTo>
                  <a:pt x="51010" y="380993"/>
                </a:lnTo>
                <a:lnTo>
                  <a:pt x="49256" y="382434"/>
                </a:lnTo>
                <a:lnTo>
                  <a:pt x="46249" y="383866"/>
                </a:lnTo>
                <a:lnTo>
                  <a:pt x="45388" y="383947"/>
                </a:lnTo>
                <a:close/>
              </a:path>
              <a:path w="593090" h="552450">
                <a:moveTo>
                  <a:pt x="62293" y="325529"/>
                </a:moveTo>
                <a:lnTo>
                  <a:pt x="46831" y="311794"/>
                </a:lnTo>
                <a:lnTo>
                  <a:pt x="63374" y="223588"/>
                </a:lnTo>
                <a:lnTo>
                  <a:pt x="77575" y="147075"/>
                </a:lnTo>
                <a:lnTo>
                  <a:pt x="96820" y="43753"/>
                </a:lnTo>
                <a:lnTo>
                  <a:pt x="98336" y="35474"/>
                </a:lnTo>
                <a:lnTo>
                  <a:pt x="99930" y="27106"/>
                </a:lnTo>
                <a:lnTo>
                  <a:pt x="101446" y="18826"/>
                </a:lnTo>
                <a:lnTo>
                  <a:pt x="116868" y="32525"/>
                </a:lnTo>
                <a:lnTo>
                  <a:pt x="92954" y="160563"/>
                </a:lnTo>
                <a:lnTo>
                  <a:pt x="75781" y="253087"/>
                </a:lnTo>
                <a:lnTo>
                  <a:pt x="73513" y="265128"/>
                </a:lnTo>
                <a:lnTo>
                  <a:pt x="62293" y="325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12505" y="4258309"/>
            <a:ext cx="6062980" cy="1524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800" b="1" spc="-295" dirty="0">
                <a:solidFill>
                  <a:srgbClr val="0E4561"/>
                </a:solidFill>
                <a:latin typeface="Arial"/>
                <a:cs typeface="Arial"/>
              </a:rPr>
              <a:t>Thank</a:t>
            </a:r>
            <a:r>
              <a:rPr sz="9800" b="1" spc="-380" dirty="0">
                <a:solidFill>
                  <a:srgbClr val="0E4561"/>
                </a:solidFill>
                <a:latin typeface="Arial"/>
                <a:cs typeface="Arial"/>
              </a:rPr>
              <a:t> </a:t>
            </a:r>
            <a:r>
              <a:rPr sz="9800" b="1" spc="-335" dirty="0">
                <a:solidFill>
                  <a:srgbClr val="0E4561"/>
                </a:solidFill>
                <a:latin typeface="Arial"/>
                <a:cs typeface="Arial"/>
              </a:rPr>
              <a:t>You</a:t>
            </a:r>
            <a:endParaRPr sz="9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458</Words>
  <Application>Microsoft Office PowerPoint</Application>
  <PresentationFormat>Custom</PresentationFormat>
  <Paragraphs>45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TechZeen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TechZeen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Introduction</dc:title>
  <dc:creator>Farzeen Ali</dc:creator>
  <cp:keywords>DAGcEkN0RyI,BAEjnxlyQi0</cp:keywords>
  <cp:lastModifiedBy>Salah-U-Din Ayubi</cp:lastModifiedBy>
  <cp:revision>5</cp:revision>
  <dcterms:created xsi:type="dcterms:W3CDTF">2026-09-26T18:25:08Z</dcterms:created>
  <dcterms:modified xsi:type="dcterms:W3CDTF">2026-09-27T19:08:16Z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2025-01-13T00:00:00Z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2026-09-26T00:00:00Z</vt:filetime>
  </property>
  <property fmtid="{D5CDD505-2E9C-101B-9397-08002B2CF9AE}" pid="6" name="Producer">
    <vt:lpwstr>Canva</vt:lpwstr>
  </property>
</Properties>
</file>