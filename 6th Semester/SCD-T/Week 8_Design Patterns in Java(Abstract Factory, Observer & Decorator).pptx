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92" r:id="rId2"/>
    <p:sldId id="276" r:id="rId3"/>
    <p:sldId id="277" r:id="rId4"/>
    <p:sldId id="278" r:id="rId5"/>
    <p:sldId id="307" r:id="rId6"/>
    <p:sldId id="262" r:id="rId7"/>
    <p:sldId id="263" r:id="rId8"/>
    <p:sldId id="264" r:id="rId9"/>
    <p:sldId id="298" r:id="rId10"/>
    <p:sldId id="314" r:id="rId11"/>
    <p:sldId id="283" r:id="rId12"/>
    <p:sldId id="320" r:id="rId13"/>
    <p:sldId id="313" r:id="rId14"/>
    <p:sldId id="319" r:id="rId15"/>
    <p:sldId id="321" r:id="rId16"/>
    <p:sldId id="316" r:id="rId17"/>
    <p:sldId id="322" r:id="rId18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23" autoAdjust="0"/>
    <p:restoredTop sz="93360" autoAdjust="0"/>
  </p:normalViewPr>
  <p:slideViewPr>
    <p:cSldViewPr snapToGrid="0">
      <p:cViewPr varScale="1">
        <p:scale>
          <a:sx n="79" d="100"/>
          <a:sy n="79" d="100"/>
        </p:scale>
        <p:origin x="76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7B6E5C-CA73-49EA-B977-7FDF79DA2889}" type="datetimeFigureOut">
              <a:rPr lang="en-PK" smtClean="0"/>
              <a:t>08/04/2026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B543A7-06A9-436F-9A8A-6188F114FF7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88875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61A43-6C58-32BD-BAB2-4CCD00DD8F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D4F7C4-C851-8B52-74E1-C5AF2E97D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B0687-A7C8-7148-E934-1813C2A77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ACC23-53C6-4C8A-AFA4-A537C1F1E1B3}" type="datetimeFigureOut">
              <a:rPr lang="en-PK" smtClean="0"/>
              <a:t>08/04/2026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FE0D5-25EC-84CF-E02D-E8C9042AF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9171B-0879-2AAC-823B-CB20B4413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38C3A-B4D6-44AC-B54F-B3F83341F71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20034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C5924-AB85-25C5-A396-A2A569FCF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4BD96-88E9-BCBD-33AD-0A34C2F511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FEAA1F-9590-1CBB-B0B1-A67E92B4A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ACC23-53C6-4C8A-AFA4-A537C1F1E1B3}" type="datetimeFigureOut">
              <a:rPr lang="en-PK" smtClean="0"/>
              <a:t>08/04/2026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0A2FC-4F54-E182-6613-8812AE1B3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B3E32-391E-1D78-CA67-FFE0407DC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38C3A-B4D6-44AC-B54F-B3F83341F71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21063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E0C06-70DC-F499-FF42-FC5CC0550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122B92-482C-0BB7-BACB-C32D3F3F7A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559D5-4BC6-493F-3D28-E19F0F0D2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ACC23-53C6-4C8A-AFA4-A537C1F1E1B3}" type="datetimeFigureOut">
              <a:rPr lang="en-PK" smtClean="0"/>
              <a:t>08/04/2026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9F126-D266-773E-A7AD-1066223B9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411C8-18FF-8B8B-1F48-D2E5DA167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38C3A-B4D6-44AC-B54F-B3F83341F71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92968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ADBBB-B87F-7746-0E58-E875B546D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AC43D-C6BB-BDE1-E8A0-BFE0CCA873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E4FCBD-E329-1FE5-C635-854441BB13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838864-F776-3BF5-939A-1AB962ECB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ACC23-53C6-4C8A-AFA4-A537C1F1E1B3}" type="datetimeFigureOut">
              <a:rPr lang="en-PK" smtClean="0"/>
              <a:t>08/04/2026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A9C99F-D390-C465-702C-41D6A6A9E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38C708-2FDB-0FC1-37A5-E41615830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38C3A-B4D6-44AC-B54F-B3F83341F71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70040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05591-AE23-CCD4-0FEC-8CE08FD4B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0C9483-B129-E51E-BF2B-AB5535824D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9AB122-3729-BC54-D65A-9EF0913F02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32DA59-4884-8AFB-E691-11D43E164B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EEBDAC-2FB8-B741-63F6-5D042590AD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15F4A3-87BD-C3B8-087E-3277135F4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ACC23-53C6-4C8A-AFA4-A537C1F1E1B3}" type="datetimeFigureOut">
              <a:rPr lang="en-PK" smtClean="0"/>
              <a:t>08/04/2026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FA43F7-EFDB-71D8-ECC9-42A529567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F19BE7-D478-8FEB-A69F-AEE695D28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38C3A-B4D6-44AC-B54F-B3F83341F71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0763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9EAF4-6D63-D971-227D-A1738F15C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68EDEA-97A9-4111-4DC5-37B412ABE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ACC23-53C6-4C8A-AFA4-A537C1F1E1B3}" type="datetimeFigureOut">
              <a:rPr lang="en-PK" smtClean="0"/>
              <a:t>08/04/2026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F950C0-09FB-E9F0-B50C-5EC539C0A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F1594F-B2A8-B63A-341A-B1FA3A65C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38C3A-B4D6-44AC-B54F-B3F83341F71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14496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47BB15-6242-76F4-C04F-1E59B515C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ACC23-53C6-4C8A-AFA4-A537C1F1E1B3}" type="datetimeFigureOut">
              <a:rPr lang="en-PK" smtClean="0"/>
              <a:t>08/04/2026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176FEF-10E6-3286-BFE5-D98D83766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EA1C91-2A27-3FFB-51FF-0430C7218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38C3A-B4D6-44AC-B54F-B3F83341F71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61899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B4F4D-03DA-E9E2-5053-632B2B2F5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01DE2-81E9-EF8D-863D-1DF9E881D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C68B8C-D86A-1EB4-8D81-665FB1DFED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8B31CA-C8B3-ABFE-A550-FBC151488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ACC23-53C6-4C8A-AFA4-A537C1F1E1B3}" type="datetimeFigureOut">
              <a:rPr lang="en-PK" smtClean="0"/>
              <a:t>08/04/2026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808715-E80C-6898-FEFF-0B9F21DD4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B38AA5-DE7E-7F9C-D9F7-CA6870B78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38C3A-B4D6-44AC-B54F-B3F83341F71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5455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B3973-ED0F-9BA6-DE4E-855C4E4C4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A531DD-95FA-8C7C-FA21-DA95403D53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1A6B86-0B96-9DA3-9C46-CEDE07AEA0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4F6AAB-12FB-2256-A50C-D4EC12D5B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ACC23-53C6-4C8A-AFA4-A537C1F1E1B3}" type="datetimeFigureOut">
              <a:rPr lang="en-PK" smtClean="0"/>
              <a:t>08/04/2026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262C42-894B-9C5A-72D4-EF68B8725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56D6B6-8B2D-6B3A-F606-B54817B34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38C3A-B4D6-44AC-B54F-B3F83341F71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84219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E5878-4E89-63AD-6CF0-3DF166521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391872-BD1A-D8AA-3460-5D836FAD31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78CBDF-199E-CB89-2D3D-3010BCC8F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ACC23-53C6-4C8A-AFA4-A537C1F1E1B3}" type="datetimeFigureOut">
              <a:rPr lang="en-PK" smtClean="0"/>
              <a:t>08/04/2026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0F7DC-6ACF-A399-D574-3CFFEB621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B65BB-D76E-727C-7419-CC1677BE8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38C3A-B4D6-44AC-B54F-B3F83341F71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15919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6D3745-76FB-B86F-8C1A-7CBB2EAB31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CC194D-332A-F96D-3EA9-9DADFC2C73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66F74D-0E95-83CD-1538-12ED42ADE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ACC23-53C6-4C8A-AFA4-A537C1F1E1B3}" type="datetimeFigureOut">
              <a:rPr lang="en-PK" smtClean="0"/>
              <a:t>08/04/2026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3CB79-56BC-2F81-8DC1-96B224F5F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0638C-1CAF-2E3D-0EF1-23B9BDC9B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38C3A-B4D6-44AC-B54F-B3F83341F71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20983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7DBE7D-FF28-40B9-5CD5-F5A34E322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F2CD66-731A-353A-610C-E75688353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830BFB-A60C-0432-94A4-1DE8A37A64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DACC23-53C6-4C8A-AFA4-A537C1F1E1B3}" type="datetimeFigureOut">
              <a:rPr lang="en-PK" smtClean="0"/>
              <a:t>08/04/2026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62B0C9-1029-B54D-610C-40A1DCC672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A980D5-6F1E-0DB7-DE89-88B3D94529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038C3A-B4D6-44AC-B54F-B3F83341F71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24905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aria.kiran@ucp.edu.pk" TargetMode="Externa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object 2">
            <a:extLst>
              <a:ext uri="{FF2B5EF4-FFF2-40B4-BE49-F238E27FC236}">
                <a16:creationId xmlns:a16="http://schemas.microsoft.com/office/drawing/2014/main" id="{7ACF4AEC-E7D2-A999-74F2-F727DF2522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81250" y="1316039"/>
            <a:ext cx="7200900" cy="1247775"/>
          </a:xfrm>
        </p:spPr>
        <p:txBody>
          <a:bodyPr vert="horz" lIns="0" tIns="87154" rIns="0" bIns="0" rtlCol="0" anchor="ctr">
            <a:spAutoFit/>
          </a:bodyPr>
          <a:lstStyle/>
          <a:p>
            <a:pPr marL="7938" algn="ctr">
              <a:lnSpc>
                <a:spcPts val="4863"/>
              </a:lnSpc>
              <a:spcBef>
                <a:spcPts val="688"/>
              </a:spcBef>
            </a:pPr>
            <a:r>
              <a:rPr lang="en-PK" altLang="en-PK" sz="3000" b="1" dirty="0">
                <a:cs typeface="Calibri Light" panose="020F0302020204030204" pitchFamily="34" charset="0"/>
              </a:rPr>
              <a:t>Software Construction and Development</a:t>
            </a:r>
            <a:br>
              <a:rPr lang="en-US" altLang="en-PK" sz="3000" b="1" dirty="0">
                <a:cs typeface="Calibri Light" panose="020F0302020204030204" pitchFamily="34" charset="0"/>
              </a:rPr>
            </a:br>
            <a:r>
              <a:rPr lang="en-US" altLang="en-PK" sz="1800" b="1" dirty="0">
                <a:cs typeface="Calibri Light" panose="020F0302020204030204" pitchFamily="34" charset="0"/>
              </a:rPr>
              <a:t>Design Patterns in Java</a:t>
            </a:r>
            <a:endParaRPr lang="en-PK" altLang="en-PK" sz="21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387" name="Subtitle 2">
            <a:extLst>
              <a:ext uri="{FF2B5EF4-FFF2-40B4-BE49-F238E27FC236}">
                <a16:creationId xmlns:a16="http://schemas.microsoft.com/office/drawing/2014/main" id="{125D9625-AE77-D6B5-CAC7-79B6FFBE34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4322764"/>
            <a:ext cx="5753100" cy="168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None/>
            </a:pPr>
            <a:r>
              <a:rPr lang="en-US" altLang="en-PK" sz="1600">
                <a:cs typeface="Calibri" panose="020F0502020204030204" pitchFamily="34" charset="0"/>
              </a:rPr>
              <a:t>Maria Kiran</a:t>
            </a:r>
          </a:p>
          <a:p>
            <a:pPr algn="ctr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None/>
            </a:pPr>
            <a:r>
              <a:rPr lang="en-US" altLang="en-PK" sz="1600">
                <a:solidFill>
                  <a:srgbClr val="0070C0"/>
                </a:solidFill>
                <a:cs typeface="Calibri" panose="020F0502020204030204" pitchFamily="34" charset="0"/>
                <a:hlinkClick r:id="rId2"/>
              </a:rPr>
              <a:t>Email: maria.kiran@ucp.edu.pk</a:t>
            </a:r>
            <a:endParaRPr lang="en-US" altLang="en-PK" sz="1600">
              <a:solidFill>
                <a:srgbClr val="0070C0"/>
              </a:solidFill>
              <a:cs typeface="Calibri" panose="020F0502020204030204" pitchFamily="34" charset="0"/>
            </a:endParaRPr>
          </a:p>
          <a:p>
            <a:pPr algn="ctr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None/>
            </a:pPr>
            <a:r>
              <a:rPr lang="en-US" altLang="en-PK" sz="1600" b="1">
                <a:cs typeface="Calibri" panose="020F0502020204030204" pitchFamily="34" charset="0"/>
              </a:rPr>
              <a:t>Office:</a:t>
            </a:r>
            <a:r>
              <a:rPr lang="en-US" altLang="en-PK" sz="1600">
                <a:cs typeface="Calibri" panose="020F0502020204030204" pitchFamily="34" charset="0"/>
              </a:rPr>
              <a:t> Building A, Faculty Hall F202</a:t>
            </a:r>
          </a:p>
          <a:p>
            <a:pPr algn="ctr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None/>
            </a:pPr>
            <a:r>
              <a:rPr lang="en-US" altLang="en-PK" sz="1600" b="1">
                <a:cs typeface="Calibri" panose="020F0502020204030204" pitchFamily="34" charset="0"/>
              </a:rPr>
              <a:t>OFFICE HOURS: </a:t>
            </a:r>
            <a:r>
              <a:rPr lang="en-US" altLang="en-PK" sz="1600">
                <a:cs typeface="Calibri" panose="020F0502020204030204" pitchFamily="34" charset="0"/>
              </a:rPr>
              <a:t>Tue, Wed, Thu  (9:00 to 11:00)</a:t>
            </a:r>
          </a:p>
          <a:p>
            <a:pPr algn="ctr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None/>
            </a:pPr>
            <a:endParaRPr lang="en-PK" altLang="en-PK" sz="1400"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 spd="med">
    <p:pull dir="r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90FB9-B06C-947A-5C49-940DB1FDC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Design Pattern</a:t>
            </a:r>
            <a:endParaRPr lang="en-PK" sz="40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5318E-4734-0549-BB51-F25B1B557A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313" y="1883991"/>
            <a:ext cx="11078183" cy="4351338"/>
          </a:xfrm>
        </p:spPr>
        <p:txBody>
          <a:bodyPr>
            <a:normAutofit/>
          </a:bodyPr>
          <a:lstStyle/>
          <a:p>
            <a:pPr marL="114300" indent="0">
              <a:lnSpc>
                <a:spcPct val="150000"/>
              </a:lnSpc>
              <a:buNone/>
            </a:pPr>
            <a:r>
              <a:rPr lang="en-US" b="1" dirty="0"/>
              <a:t>Definition: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A </a:t>
            </a:r>
            <a:r>
              <a:rPr lang="en-US" b="1" dirty="0"/>
              <a:t>design pattern</a:t>
            </a:r>
            <a:r>
              <a:rPr lang="en-US" dirty="0"/>
              <a:t> is a reusable solution to a common problem in software design.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It provides a standard way to solve recurring design issues.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US" b="1" dirty="0"/>
              <a:t>Key Points: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Not a finished design or code, but a guideline.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A blueprint to help structure and organize code effectively.</a:t>
            </a:r>
          </a:p>
          <a:p>
            <a:pPr>
              <a:lnSpc>
                <a:spcPct val="150000"/>
              </a:lnSpc>
            </a:pPr>
            <a:endParaRPr lang="en-P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C04557-4EB6-25BB-BAE4-E78D0292D2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3021" y="147039"/>
            <a:ext cx="4280475" cy="2374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228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58A1A-F7E2-122A-2A67-001FC7BFE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latin typeface="+mn-lt"/>
              </a:rPr>
              <a:t>Why Are Design Patterns Important?</a:t>
            </a:r>
            <a:br>
              <a:rPr lang="en-US" sz="3200" b="1" dirty="0">
                <a:latin typeface="+mn-lt"/>
              </a:rPr>
            </a:br>
            <a:endParaRPr lang="en-PK" sz="32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8ECA2-1361-2BD4-0879-8204AB0495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Improves Code Reusability</a:t>
            </a:r>
            <a:endParaRPr lang="en-US" dirty="0"/>
          </a:p>
          <a:p>
            <a:pPr marL="800100" lvl="1" indent="-342900">
              <a:lnSpc>
                <a:spcPct val="150000"/>
              </a:lnSpc>
            </a:pPr>
            <a:r>
              <a:rPr lang="en-US" dirty="0"/>
              <a:t>Saves time and effort by reusing proven solutions.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Enhances Communication</a:t>
            </a:r>
            <a:endParaRPr lang="en-US" dirty="0"/>
          </a:p>
          <a:p>
            <a:pPr marL="800100" lvl="1" indent="-342900">
              <a:lnSpc>
                <a:spcPct val="150000"/>
              </a:lnSpc>
            </a:pPr>
            <a:r>
              <a:rPr lang="en-US" dirty="0"/>
              <a:t>Creates a shared vocabulary for developers.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Provides Best Practices</a:t>
            </a:r>
            <a:endParaRPr lang="en-US" dirty="0"/>
          </a:p>
          <a:p>
            <a:pPr marL="800100" lvl="1" indent="-342900">
              <a:lnSpc>
                <a:spcPct val="150000"/>
              </a:lnSpc>
            </a:pPr>
            <a:r>
              <a:rPr lang="en-US" dirty="0"/>
              <a:t>Offers tried-and-tested solutions.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Eases Maintenance</a:t>
            </a:r>
            <a:endParaRPr lang="en-US" dirty="0"/>
          </a:p>
          <a:p>
            <a:pPr marL="800100" lvl="1" indent="-342900">
              <a:lnSpc>
                <a:spcPct val="150000"/>
              </a:lnSpc>
            </a:pPr>
            <a:r>
              <a:rPr lang="en-US" dirty="0"/>
              <a:t>Helps create flexible and maintainable designs.</a:t>
            </a:r>
          </a:p>
          <a:p>
            <a:pPr>
              <a:lnSpc>
                <a:spcPct val="150000"/>
              </a:lnSpc>
            </a:pP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331643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9493EC-88CD-D80C-7ADA-B7CE0BDDBA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3520" y="358220"/>
            <a:ext cx="3782438" cy="896647"/>
          </a:xfrm>
        </p:spPr>
        <p:txBody>
          <a:bodyPr>
            <a:normAutofit/>
          </a:bodyPr>
          <a:lstStyle/>
          <a:p>
            <a:r>
              <a:rPr lang="en-US" sz="2800" dirty="0"/>
              <a:t>Advantages of Design Patterns</a:t>
            </a:r>
            <a:endParaRPr lang="en-PK" sz="2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3B527E-EEF6-00C3-40BE-40CD1A7DAA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68358" y="1606690"/>
            <a:ext cx="3657600" cy="4724400"/>
          </a:xfrm>
        </p:spPr>
        <p:txBody>
          <a:bodyPr>
            <a:normAutofit fontScale="92500"/>
          </a:bodyPr>
          <a:lstStyle/>
          <a:p>
            <a:pPr>
              <a:buFont typeface="+mj-lt"/>
              <a:buAutoNum type="arabicPeriod"/>
            </a:pPr>
            <a:r>
              <a:rPr lang="en-US" b="1" dirty="0"/>
              <a:t>Reusability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Saves development time and effort.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Consistency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Promotes uniform coding practices.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Efficiency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Offers optimized solutions to common issues.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Readability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Makes code easier to understand for others.</a:t>
            </a:r>
          </a:p>
          <a:p>
            <a:endParaRPr lang="en-PK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A44F11-C077-1A4C-6BAD-E8320BC3D3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89775" y="358221"/>
            <a:ext cx="3657600" cy="1431668"/>
          </a:xfrm>
        </p:spPr>
        <p:txBody>
          <a:bodyPr>
            <a:normAutofit/>
          </a:bodyPr>
          <a:lstStyle/>
          <a:p>
            <a:r>
              <a:rPr lang="en-US" sz="3000" dirty="0"/>
              <a:t>Dis-Advantages of Design Patterns</a:t>
            </a:r>
            <a:endParaRPr lang="en-PK" sz="3000" dirty="0"/>
          </a:p>
          <a:p>
            <a:endParaRPr lang="en-PK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DFDC9C-FF84-F8EA-7004-ADA82F26B5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9775" y="1562916"/>
            <a:ext cx="3657600" cy="4936863"/>
          </a:xfrm>
        </p:spPr>
        <p:txBody>
          <a:bodyPr>
            <a:normAutofit fontScale="92500"/>
          </a:bodyPr>
          <a:lstStyle/>
          <a:p>
            <a:pPr>
              <a:buFont typeface="+mj-lt"/>
              <a:buAutoNum type="arabicPeriod"/>
            </a:pPr>
            <a:r>
              <a:rPr lang="en-US" b="1" dirty="0"/>
              <a:t>Complexity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Can add unnecessary complexity if not used correctly.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Learning Curve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Requires understanding of the pattern before use.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Overuse Risk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Applying patterns unnecessarily may complicate the design.</a:t>
            </a:r>
          </a:p>
          <a:p>
            <a:pPr marL="114300" indent="0">
              <a:buNone/>
            </a:pPr>
            <a:endParaRPr lang="en-US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718476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D352B-31E7-D918-DF2C-266C5689A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Classification</a:t>
            </a:r>
            <a:endParaRPr lang="en-PK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415186-1D97-234F-F1FB-67C6F02C70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8401" y="1828800"/>
            <a:ext cx="6911939" cy="3673158"/>
          </a:xfrm>
        </p:spPr>
      </p:pic>
    </p:spTree>
    <p:extLst>
      <p:ext uri="{BB962C8B-B14F-4D97-AF65-F5344CB8AC3E}">
        <p14:creationId xmlns:p14="http://schemas.microsoft.com/office/powerpoint/2010/main" val="4990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987020"/>
          </a:xfrm>
        </p:spPr>
        <p:txBody>
          <a:bodyPr>
            <a:normAutofit fontScale="90000"/>
          </a:bodyPr>
          <a:lstStyle/>
          <a:p>
            <a:pPr marL="411480" lvl="1" algn="ctr"/>
            <a:r>
              <a:rPr lang="en-US" sz="4000" b="1" dirty="0"/>
              <a:t>Creational Design Pattern</a:t>
            </a:r>
            <a:br>
              <a:rPr lang="en-US" sz="4000" b="1" dirty="0"/>
            </a:b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0" indent="-457200">
              <a:buFont typeface="+mj-lt"/>
              <a:buAutoNum type="arabicPeriod"/>
            </a:pPr>
            <a:r>
              <a:rPr lang="en-US" b="1" dirty="0"/>
              <a:t>Factory Pattern</a:t>
            </a:r>
          </a:p>
          <a:p>
            <a:pPr marL="571500" indent="-457200">
              <a:buFont typeface="+mj-lt"/>
              <a:buAutoNum type="arabicPeriod"/>
            </a:pPr>
            <a:r>
              <a:rPr lang="en-US" b="1" dirty="0"/>
              <a:t>Abstract Factory Pattern</a:t>
            </a:r>
          </a:p>
          <a:p>
            <a:pPr marL="571500" indent="-457200">
              <a:buFont typeface="+mj-lt"/>
              <a:buAutoNum type="arabicPeriod"/>
            </a:pPr>
            <a:r>
              <a:rPr lang="en-US" b="1" dirty="0"/>
              <a:t>Singleton Pattern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/>
              <a:t>Prototype Pattern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/>
              <a:t>Builder Pattern.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5681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79246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+mn-lt"/>
              </a:rPr>
              <a:t>Structural Design Pattern</a:t>
            </a:r>
            <a:br>
              <a:rPr lang="en-US" b="1" dirty="0">
                <a:latin typeface="+mn-lt"/>
              </a:rPr>
            </a:b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0" indent="-457200">
              <a:buFont typeface="+mj-lt"/>
              <a:buAutoNum type="arabicPeriod"/>
            </a:pPr>
            <a:r>
              <a:rPr lang="en-US" dirty="0"/>
              <a:t>Adapter Pattern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/>
              <a:t>Bridge Pattern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/>
              <a:t>Composite Pattern</a:t>
            </a:r>
          </a:p>
          <a:p>
            <a:pPr marL="571500" indent="-457200">
              <a:buFont typeface="+mj-lt"/>
              <a:buAutoNum type="arabicPeriod"/>
            </a:pPr>
            <a:r>
              <a:rPr lang="en-US" b="1" dirty="0"/>
              <a:t>Decorator Pattern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/>
              <a:t>Facade Pattern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/>
              <a:t>Flyweight Pattern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/>
              <a:t>Proxy Pattern</a:t>
            </a:r>
          </a:p>
          <a:p>
            <a:pPr marL="571500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70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n-US" b="1" dirty="0">
                <a:latin typeface="+mn-lt"/>
              </a:rPr>
            </a:br>
            <a:r>
              <a:rPr lang="en-US" b="1" dirty="0">
                <a:latin typeface="+mn-lt"/>
              </a:rPr>
              <a:t>Behavioral Design Pattern</a:t>
            </a:r>
            <a:br>
              <a:rPr lang="en-US" b="1" dirty="0">
                <a:latin typeface="+mn-lt"/>
              </a:rPr>
            </a:b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571500" indent="-457200">
              <a:buFont typeface="+mj-lt"/>
              <a:buAutoNum type="arabicPeriod"/>
            </a:pPr>
            <a:r>
              <a:rPr lang="en-US" dirty="0"/>
              <a:t>Chain Of Responsibility Pattern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/>
              <a:t>Command Pattern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/>
              <a:t>Interpreter Pattern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/>
              <a:t>Iterator Pattern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/>
              <a:t>Mediator Pattern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/>
              <a:t>Memento Pattern</a:t>
            </a:r>
          </a:p>
          <a:p>
            <a:pPr marL="571500" indent="-457200">
              <a:buFont typeface="+mj-lt"/>
              <a:buAutoNum type="arabicPeriod"/>
            </a:pPr>
            <a:r>
              <a:rPr lang="en-US" b="1" dirty="0"/>
              <a:t>Observer Pattern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/>
              <a:t>State Pattern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/>
              <a:t>Strategy Pattern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/>
              <a:t>Template Pattern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/>
              <a:t>Visitor Pattern</a:t>
            </a:r>
          </a:p>
          <a:p>
            <a:pPr marL="571500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752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75BC3-B53F-4894-9079-812D10DBE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+mn-lt"/>
              </a:rPr>
              <a:t>Abstract Factory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F7355-3756-4CB7-9C70-E4BD04B8B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/>
              <a:t>Abstract Factory design pattern</a:t>
            </a:r>
            <a:r>
              <a:rPr lang="en-US" sz="2400" dirty="0"/>
              <a:t> is one of the Creational </a:t>
            </a:r>
            <a:r>
              <a:rPr lang="en-US" sz="2400" b="1" dirty="0"/>
              <a:t>pattern</a:t>
            </a:r>
            <a:r>
              <a:rPr lang="en-US" sz="2400" dirty="0"/>
              <a:t>. </a:t>
            </a:r>
          </a:p>
          <a:p>
            <a:pPr algn="just">
              <a:lnSpc>
                <a:spcPct val="150000"/>
              </a:lnSpc>
            </a:pPr>
            <a:r>
              <a:rPr lang="en-US" sz="2400" b="1" dirty="0"/>
              <a:t>Abstract Factory pattern</a:t>
            </a:r>
            <a:r>
              <a:rPr lang="en-US" sz="2400" dirty="0"/>
              <a:t> is almost similar to </a:t>
            </a:r>
            <a:r>
              <a:rPr lang="en-US" sz="2400" b="1" dirty="0"/>
              <a:t>Factory Pattern</a:t>
            </a:r>
            <a:r>
              <a:rPr lang="en-US" sz="2400" dirty="0"/>
              <a:t> is considered as another layer of </a:t>
            </a:r>
            <a:r>
              <a:rPr lang="en-US" sz="2400" b="1" dirty="0"/>
              <a:t>abstraction</a:t>
            </a:r>
            <a:r>
              <a:rPr lang="en-US" sz="2400" dirty="0"/>
              <a:t> over </a:t>
            </a:r>
            <a:r>
              <a:rPr lang="en-US" sz="2400" b="1" dirty="0"/>
              <a:t>factory pattern</a:t>
            </a:r>
            <a:r>
              <a:rPr lang="en-US" sz="2400" dirty="0"/>
              <a:t>. </a:t>
            </a:r>
          </a:p>
          <a:p>
            <a:pPr algn="just">
              <a:lnSpc>
                <a:spcPct val="150000"/>
              </a:lnSpc>
            </a:pPr>
            <a:r>
              <a:rPr lang="en-US" sz="2400" b="1" dirty="0"/>
              <a:t>Abstract Factory patterns</a:t>
            </a:r>
            <a:r>
              <a:rPr lang="en-US" sz="2400" dirty="0"/>
              <a:t> work around a </a:t>
            </a:r>
            <a:r>
              <a:rPr lang="en-US" sz="2400" b="1" dirty="0"/>
              <a:t>super-factory</a:t>
            </a:r>
            <a:r>
              <a:rPr lang="en-US" sz="2400" dirty="0"/>
              <a:t> which creates other </a:t>
            </a:r>
            <a:r>
              <a:rPr lang="en-US" sz="2400" b="1" dirty="0"/>
              <a:t>factories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95673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+mn-lt"/>
              </a:rPr>
              <a:t>Elements of Abstract Factory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 err="1"/>
              <a:t>AbstractFactory</a:t>
            </a:r>
            <a:r>
              <a:rPr lang="en-US" sz="2400" dirty="0"/>
              <a:t> - an interface that is used to create concrete factories. 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/>
              <a:t>Client interact with this interface  to access instances of </a:t>
            </a:r>
            <a:r>
              <a:rPr lang="en-US" sz="2000" dirty="0" err="1"/>
              <a:t>ConcreteFactory</a:t>
            </a:r>
            <a:r>
              <a:rPr lang="en-US" sz="2000" dirty="0"/>
              <a:t> concrete subclasses.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 err="1"/>
              <a:t>ConcreteFactory</a:t>
            </a:r>
            <a:r>
              <a:rPr lang="en-US" sz="2400" b="1" dirty="0"/>
              <a:t> </a:t>
            </a:r>
            <a:r>
              <a:rPr lang="en-US" sz="2400" dirty="0"/>
              <a:t>- A subclass of the Abstract factory, these concrete classes implement the operations/methods which are used to create concrete product objects.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 err="1"/>
              <a:t>AbstractProduct</a:t>
            </a:r>
            <a:r>
              <a:rPr lang="en-US" sz="2400" b="1" dirty="0"/>
              <a:t> </a:t>
            </a:r>
            <a:r>
              <a:rPr lang="en-US" sz="2400" dirty="0"/>
              <a:t>- The </a:t>
            </a:r>
            <a:r>
              <a:rPr lang="en-US" sz="2400" dirty="0" err="1"/>
              <a:t>AbstractProduct</a:t>
            </a:r>
            <a:r>
              <a:rPr lang="en-US" sz="2400" dirty="0"/>
              <a:t> class is used to declare an interface for a specific type of product object. 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/>
              <a:t>It return the product subclass in relation to the </a:t>
            </a:r>
            <a:r>
              <a:rPr lang="en-US" sz="2000" dirty="0" err="1"/>
              <a:t>ConcreteFactory</a:t>
            </a:r>
            <a:r>
              <a:rPr lang="en-US" sz="2000" dirty="0"/>
              <a:t> which is currently being used to handle product instantiation.</a:t>
            </a:r>
          </a:p>
          <a:p>
            <a:pPr algn="just">
              <a:lnSpc>
                <a:spcPct val="15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5101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+mn-lt"/>
              </a:rPr>
              <a:t>Elements of Abstract Factory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 err="1"/>
              <a:t>ConcreteProduct</a:t>
            </a:r>
            <a:r>
              <a:rPr lang="en-US" b="1" dirty="0"/>
              <a:t> - </a:t>
            </a:r>
            <a:r>
              <a:rPr lang="en-US" dirty="0"/>
              <a:t>The concrete product is provided by it’s </a:t>
            </a:r>
            <a:r>
              <a:rPr lang="en-US" dirty="0" err="1"/>
              <a:t>ConcreteFactory</a:t>
            </a:r>
            <a:r>
              <a:rPr lang="en-US" dirty="0"/>
              <a:t> and defines the individual implementation details for the specified product through the implementation of its </a:t>
            </a:r>
            <a:r>
              <a:rPr lang="en-US" dirty="0" err="1"/>
              <a:t>AbstractProduct</a:t>
            </a:r>
            <a:r>
              <a:rPr lang="en-US" dirty="0"/>
              <a:t> interface.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/>
              <a:t>Client</a:t>
            </a:r>
            <a:r>
              <a:rPr lang="en-US" dirty="0"/>
              <a:t> - Only uses and has access to the </a:t>
            </a:r>
            <a:r>
              <a:rPr lang="en-US" dirty="0" err="1"/>
              <a:t>AbstractFactory</a:t>
            </a:r>
            <a:r>
              <a:rPr lang="en-US" dirty="0"/>
              <a:t> and </a:t>
            </a:r>
            <a:r>
              <a:rPr lang="en-US" dirty="0" err="1"/>
              <a:t>AbstractProduct</a:t>
            </a:r>
            <a:r>
              <a:rPr lang="en-US" dirty="0"/>
              <a:t> classes, making it completely unaware of the implementation details of the system.</a:t>
            </a:r>
          </a:p>
          <a:p>
            <a:pPr algn="just">
              <a:lnSpc>
                <a:spcPct val="150000"/>
              </a:lnSpc>
            </a:pPr>
            <a:endParaRPr lang="en-US" dirty="0"/>
          </a:p>
          <a:p>
            <a:pPr algn="just"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2616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C49A5-3C20-21A5-9273-401382FD8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latin typeface="+mn-lt"/>
              </a:rPr>
              <a:t>Real-Life Example</a:t>
            </a:r>
            <a:endParaRPr lang="en-PK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0BD05-19C0-6485-CD49-592D48CB8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302" y="1536970"/>
            <a:ext cx="11089532" cy="5068111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Scenario: Ride Booking Application </a:t>
            </a:r>
          </a:p>
          <a:p>
            <a:r>
              <a:rPr lang="en-US" dirty="0"/>
              <a:t>Imagine you are developing a ride booking application for multiple cities.</a:t>
            </a:r>
          </a:p>
          <a:p>
            <a:r>
              <a:rPr lang="en-US" dirty="0"/>
              <a:t>When a user selects a city, the system automatically provides a </a:t>
            </a:r>
            <a:r>
              <a:rPr lang="en-US" b="1" dirty="0"/>
              <a:t>complete ride package</a:t>
            </a:r>
            <a:r>
              <a:rPr lang="en-US" dirty="0"/>
              <a:t>, </a:t>
            </a:r>
          </a:p>
          <a:p>
            <a:pPr marL="0" indent="0">
              <a:buNone/>
            </a:pPr>
            <a:r>
              <a:rPr lang="en-US" b="1" dirty="0"/>
              <a:t>including:</a:t>
            </a:r>
          </a:p>
          <a:p>
            <a:pPr lvl="1"/>
            <a:r>
              <a:rPr lang="en-US" dirty="0"/>
              <a:t>the type of ride </a:t>
            </a:r>
          </a:p>
          <a:p>
            <a:pPr lvl="1"/>
            <a:r>
              <a:rPr lang="en-US" dirty="0"/>
              <a:t>the payment method </a:t>
            </a:r>
          </a:p>
          <a:p>
            <a:pPr marL="0" indent="0">
              <a:buNone/>
            </a:pPr>
            <a:r>
              <a:rPr lang="en-US" b="1" dirty="0"/>
              <a:t>For example:</a:t>
            </a:r>
          </a:p>
          <a:p>
            <a:pPr lvl="1"/>
            <a:r>
              <a:rPr lang="en-US" dirty="0"/>
              <a:t>In </a:t>
            </a:r>
            <a:r>
              <a:rPr lang="en-US" b="1" dirty="0"/>
              <a:t>Karachi</a:t>
            </a:r>
            <a:r>
              <a:rPr lang="en-US" dirty="0"/>
              <a:t>, most users prefer </a:t>
            </a:r>
            <a:r>
              <a:rPr lang="en-US" b="1" dirty="0"/>
              <a:t>bike rides</a:t>
            </a:r>
            <a:r>
              <a:rPr lang="en-US" dirty="0"/>
              <a:t> due to heavy traffic and usually pay via </a:t>
            </a:r>
            <a:r>
              <a:rPr lang="en-US" b="1" dirty="0"/>
              <a:t>cash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In </a:t>
            </a:r>
            <a:r>
              <a:rPr lang="en-US" b="1" dirty="0"/>
              <a:t>Lahore</a:t>
            </a:r>
            <a:r>
              <a:rPr lang="en-US" dirty="0"/>
              <a:t>, users prefer </a:t>
            </a:r>
            <a:r>
              <a:rPr lang="en-US" b="1" dirty="0"/>
              <a:t>car rides</a:t>
            </a:r>
            <a:r>
              <a:rPr lang="en-US" dirty="0"/>
              <a:t> for comfort and mostly pay via </a:t>
            </a:r>
            <a:r>
              <a:rPr lang="en-US" b="1" dirty="0"/>
              <a:t>card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/>
              <a:t>So, when a user selects a city, The system does not ask separately for ride type or payment method </a:t>
            </a:r>
          </a:p>
          <a:p>
            <a:pPr marL="0" indent="0">
              <a:buNone/>
            </a:pPr>
            <a:r>
              <a:rPr lang="en-US" dirty="0"/>
              <a:t>Instead, it uses a </a:t>
            </a:r>
            <a:r>
              <a:rPr lang="en-US" b="1" dirty="0"/>
              <a:t>factory</a:t>
            </a:r>
            <a:r>
              <a:rPr lang="en-US" dirty="0"/>
              <a:t> for that city to create a </a:t>
            </a:r>
            <a:r>
              <a:rPr lang="en-US" b="1" dirty="0"/>
              <a:t>matching set of objects (Ride + Payment)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Karachi Factory → </a:t>
            </a:r>
            <a:r>
              <a:rPr lang="en-US" dirty="0" err="1"/>
              <a:t>BikeRide</a:t>
            </a:r>
            <a:r>
              <a:rPr lang="en-US" dirty="0"/>
              <a:t> + </a:t>
            </a:r>
            <a:r>
              <a:rPr lang="en-US" dirty="0" err="1"/>
              <a:t>CashPayment</a:t>
            </a:r>
            <a:endParaRPr lang="en-US" dirty="0"/>
          </a:p>
          <a:p>
            <a:pPr lvl="1"/>
            <a:r>
              <a:rPr lang="en-US" dirty="0"/>
              <a:t>Lahore Factory → </a:t>
            </a:r>
            <a:r>
              <a:rPr lang="en-US" dirty="0" err="1"/>
              <a:t>CarRide</a:t>
            </a:r>
            <a:r>
              <a:rPr lang="en-US" dirty="0"/>
              <a:t> + </a:t>
            </a:r>
            <a:r>
              <a:rPr lang="en-US" dirty="0" err="1"/>
              <a:t>CardPayment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This ensures that the system always provides </a:t>
            </a:r>
            <a:r>
              <a:rPr lang="en-US" b="1" dirty="0"/>
              <a:t>compatible and city-specific services</a:t>
            </a:r>
            <a:r>
              <a:rPr lang="en-US" dirty="0"/>
              <a:t> without exposing creation logic to the user.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3833942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624580C-AB8C-49C3-7B0F-66AE420B6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9039" y="927609"/>
            <a:ext cx="6513276" cy="4469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8208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0BE58-EB9B-EED8-D46B-0A545B786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Decorator Pattern</a:t>
            </a:r>
            <a:endParaRPr lang="en-P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CACA9-D2CE-56B7-DCA1-C9CEE8A8F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to </a:t>
            </a:r>
            <a:r>
              <a:rPr lang="en-US" b="1" dirty="0"/>
              <a:t>add new behavior dynamically</a:t>
            </a:r>
            <a:r>
              <a:rPr lang="en-US" dirty="0"/>
              <a:t> without modifying the class.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Wraps the original object with additional functionality.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Follows </a:t>
            </a:r>
            <a:r>
              <a:rPr lang="en-US" b="1" dirty="0"/>
              <a:t>“composition over inheritance”</a:t>
            </a:r>
            <a:r>
              <a:rPr lang="en-US" dirty="0"/>
              <a:t>. </a:t>
            </a:r>
          </a:p>
          <a:p>
            <a:r>
              <a:rPr lang="en-US" dirty="0"/>
              <a:t>Example: Coffee + Milk + Sugar (adding features)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5339089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83A9D0-DBA4-3635-D126-804C8C334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0146" y="1402734"/>
            <a:ext cx="6286032" cy="405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5964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E8A19-05A1-BC43-8814-6D74C3B36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Observer Pattern</a:t>
            </a:r>
            <a:endParaRPr lang="en-P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60965-96B8-8B84-92ED-87AD9B9ED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Defines a </a:t>
            </a:r>
            <a:r>
              <a:rPr lang="en-US" b="1" dirty="0"/>
              <a:t>one-to-many relationship</a:t>
            </a:r>
            <a:r>
              <a:rPr lang="en-US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When one object (subject) changes, all dependents (observers) are notified.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in </a:t>
            </a:r>
            <a:r>
              <a:rPr lang="en-US" b="1" dirty="0"/>
              <a:t>event systems</a:t>
            </a:r>
            <a:r>
              <a:rPr lang="en-US" dirty="0"/>
              <a:t> (e.g., notifications, subscriptions). </a:t>
            </a:r>
          </a:p>
          <a:p>
            <a:r>
              <a:rPr lang="en-US" dirty="0"/>
              <a:t>👉 Example: Teacher notifies all students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6589338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44CEDC-011C-EAEB-BE30-AC4BAE007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6608" y="1502450"/>
            <a:ext cx="3378783" cy="4050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190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4523</TotalTime>
  <Words>707</Words>
  <Application>Microsoft Office PowerPoint</Application>
  <PresentationFormat>Widescreen</PresentationFormat>
  <Paragraphs>102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Software Construction and Development Design Patterns in Java</vt:lpstr>
      <vt:lpstr>Design Pattern</vt:lpstr>
      <vt:lpstr>Why Are Design Patterns Important? </vt:lpstr>
      <vt:lpstr>PowerPoint Presentation</vt:lpstr>
      <vt:lpstr>Classification</vt:lpstr>
      <vt:lpstr>Creational Design Pattern </vt:lpstr>
      <vt:lpstr>Structural Design Pattern </vt:lpstr>
      <vt:lpstr> Behavioral Design Pattern </vt:lpstr>
      <vt:lpstr>Abstract Factory Pattern</vt:lpstr>
      <vt:lpstr>Elements of Abstract Factory Pattern</vt:lpstr>
      <vt:lpstr>Elements of Abstract Factory Pattern</vt:lpstr>
      <vt:lpstr>Real-Life Example</vt:lpstr>
      <vt:lpstr>PowerPoint Presentation</vt:lpstr>
      <vt:lpstr>Decorator Pattern</vt:lpstr>
      <vt:lpstr>PowerPoint Presentation</vt:lpstr>
      <vt:lpstr>Observer Pattern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Principals in Java</dc:title>
  <dc:creator>Ushna Khalil</dc:creator>
  <cp:lastModifiedBy>Hafiza Maria Kiran</cp:lastModifiedBy>
  <cp:revision>120</cp:revision>
  <dcterms:created xsi:type="dcterms:W3CDTF">2025-04-15T08:18:43Z</dcterms:created>
  <dcterms:modified xsi:type="dcterms:W3CDTF">2026-04-08T04:02:53Z</dcterms:modified>
</cp:coreProperties>
</file>