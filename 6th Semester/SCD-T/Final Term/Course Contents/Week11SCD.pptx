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Software Construction and Development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ym typeface="+mn-ea"/>
              </a:rPr>
              <a:t>Week 11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  <a:sym typeface="+mn-ea"/>
              </a:rPr>
              <a:t>Instructor :M </a:t>
            </a:r>
            <a:r>
              <a:rPr lang="en-US" b="1">
                <a:solidFill>
                  <a:srgbClr val="FF0000"/>
                </a:solidFill>
                <a:sym typeface="+mn-ea"/>
              </a:rPr>
              <a:t>Khizar Hayat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i="1"/>
              <a:t>Version Control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8805"/>
          </a:xfrm>
        </p:spPr>
        <p:txBody>
          <a:bodyPr/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Version Control System (VCS) </a:t>
            </a:r>
            <a:r>
              <a:rPr lang="en-US" altLang="en-US"/>
              <a:t>is a tool that records changes to files over time.</a:t>
            </a:r>
          </a:p>
          <a:p>
            <a:pPr algn="just"/>
            <a:r>
              <a:rPr lang="en-US" altLang="en-US"/>
              <a:t>It allows developers to track modifications in source code.</a:t>
            </a:r>
          </a:p>
          <a:p>
            <a:pPr algn="just"/>
            <a:r>
              <a:rPr lang="en-US" altLang="en-US"/>
              <a:t>Helps in reverting back to previous working versions when needed.</a:t>
            </a:r>
          </a:p>
          <a:p>
            <a:pPr algn="just"/>
            <a:r>
              <a:rPr lang="en-US" altLang="en-US"/>
              <a:t>Essential for both small and large software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Importance of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Keeps complete history of project changes</a:t>
            </a:r>
          </a:p>
          <a:p>
            <a:r>
              <a:rPr lang="en-US" altLang="en-US"/>
              <a:t>Prevents accidental loss of code</a:t>
            </a:r>
          </a:p>
          <a:p>
            <a:r>
              <a:rPr lang="en-US" altLang="en-US"/>
              <a:t>Enables teamwork on same project</a:t>
            </a:r>
          </a:p>
          <a:p>
            <a:r>
              <a:rPr lang="en-US" altLang="en-US"/>
              <a:t>Helps in debugging and identifying issues</a:t>
            </a:r>
          </a:p>
          <a:p>
            <a:r>
              <a:rPr lang="en-US" altLang="en-US"/>
              <a:t>Improves software quality and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Types of 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Centralized Version Control System (CVCS):</a:t>
            </a:r>
          </a:p>
          <a:p>
            <a:pPr marL="0" indent="0" algn="just">
              <a:buNone/>
            </a:pPr>
            <a:r>
              <a:rPr lang="en-US" altLang="en-US"/>
              <a:t>In CVCS, there is a single central server that stores all versions of the code. Developers must connect to this server to access or update files.</a:t>
            </a:r>
          </a:p>
          <a:p>
            <a:pPr mar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Example:</a:t>
            </a:r>
            <a:r>
              <a:rPr lang="en-US" altLang="en-US"/>
              <a:t> SVN (Subversion)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Distributed Version Control System (DVCS):</a:t>
            </a:r>
          </a:p>
          <a:p>
            <a:pPr marL="0" indent="0" algn="just">
              <a:buNone/>
            </a:pPr>
            <a:r>
              <a:rPr lang="en-US" altLang="en-US"/>
              <a:t>In DVCS, every developer has a full copy of the entire repository, including its history. Work can continue even without the main server.</a:t>
            </a:r>
          </a:p>
          <a:p>
            <a:pPr mar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Example:</a:t>
            </a:r>
            <a:r>
              <a:rPr lang="en-US" altLang="en-US"/>
              <a:t>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916305"/>
            <a:ext cx="10515600" cy="52863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Introduction to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Git is a distributed Version Control System (VCS).</a:t>
            </a:r>
          </a:p>
          <a:p>
            <a:pPr algn="just"/>
            <a:r>
              <a:rPr lang="en-US" altLang="en-US"/>
              <a:t>It was created by Linus Torvalds in 2005.</a:t>
            </a:r>
          </a:p>
          <a:p>
            <a:pPr algn="just"/>
            <a:r>
              <a:rPr lang="en-US" altLang="en-US"/>
              <a:t>In Git, every developer has a complete copy of the repository and its history on their local system.</a:t>
            </a:r>
          </a:p>
          <a:p>
            <a:pPr algn="just"/>
            <a:r>
              <a:rPr lang="en-US" altLang="en-US"/>
              <a:t>Developers can work offline and sync changes later when internet is available.</a:t>
            </a:r>
          </a:p>
          <a:p>
            <a:pPr algn="just"/>
            <a:r>
              <a:rPr lang="en-US" altLang="en-US"/>
              <a:t>Git is fast, efficient, and suitable for handling large software projects.</a:t>
            </a:r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Git Architecture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00530" y="1691005"/>
            <a:ext cx="8791575" cy="43313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34720"/>
            <a:ext cx="10515600" cy="5242560"/>
          </a:xfrm>
        </p:spPr>
        <p:txBody>
          <a:bodyPr>
            <a:normAutofit lnSpcReduction="20000"/>
          </a:bodyPr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Working Directory:</a:t>
            </a:r>
            <a:r>
              <a:rPr lang="en-US" altLang="en-US"/>
              <a:t> Area where developers create and edit files</a:t>
            </a:r>
          </a:p>
          <a:p>
            <a:pPr marL="0" indent="0" algn="just">
              <a:buNone/>
            </a:pPr>
            <a:endParaRPr lang="en-US" altLang="en-US"/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Staging Area:</a:t>
            </a:r>
            <a:r>
              <a:rPr lang="en-US" altLang="en-US"/>
              <a:t> Temporary area where selected changes are prepared before commit</a:t>
            </a:r>
          </a:p>
          <a:p>
            <a:pPr marL="0" indent="0" algn="just">
              <a:buNone/>
            </a:pPr>
            <a:endParaRPr lang="en-US" altLang="en-US"/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Repository:</a:t>
            </a:r>
            <a:r>
              <a:rPr lang="en-US" altLang="en-US"/>
              <a:t> Stores committed changes permanently with complete history</a:t>
            </a:r>
          </a:p>
          <a:p>
            <a:pPr marL="0" indent="0" algn="just">
              <a:buNone/>
            </a:pPr>
            <a:endParaRPr lang="en-US" altLang="en-US"/>
          </a:p>
          <a:p>
            <a:pPr marL="0" indent="0" algn="just">
              <a:buNone/>
            </a:pPr>
            <a:r>
              <a:rPr lang="en-US" altLang="en-US"/>
              <a:t>Git architecture helps separate unfinished work from finalized code changes.</a:t>
            </a:r>
          </a:p>
          <a:p>
            <a:pPr algn="just"/>
            <a:endParaRPr lang="en-US" altLang="en-US"/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Basic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>
                <a:solidFill>
                  <a:srgbClr val="FF0000"/>
                </a:solidFill>
              </a:rPr>
              <a:t>git init:</a:t>
            </a:r>
            <a:r>
              <a:rPr lang="en-US" altLang="en-US"/>
              <a:t> Create new repository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add:</a:t>
            </a:r>
            <a:r>
              <a:rPr lang="en-US" altLang="en-US"/>
              <a:t> Add files to staging area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commit:</a:t>
            </a:r>
            <a:r>
              <a:rPr lang="en-US" altLang="en-US"/>
              <a:t> Save snapshot of changes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status: </a:t>
            </a:r>
            <a:r>
              <a:rPr lang="en-US" altLang="en-US"/>
              <a:t>Check current state of files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log:</a:t>
            </a:r>
            <a:r>
              <a:rPr lang="en-US" altLang="en-US"/>
              <a:t> View commit history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push: </a:t>
            </a:r>
            <a:r>
              <a:rPr lang="en-US" altLang="en-US"/>
              <a:t>Upload changes to remote repository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git pull:</a:t>
            </a:r>
            <a:r>
              <a:rPr lang="en-US" altLang="en-US"/>
              <a:t> Download latest changes from remote repository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Remote Repositories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GitHub</a:t>
            </a:r>
            <a:r>
              <a:rPr lang="en-US" altLang="en-US"/>
              <a:t> is an online platform used to host Git repositories and manage software projects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GitLab</a:t>
            </a:r>
            <a:r>
              <a:rPr lang="en-US" altLang="en-US"/>
              <a:t> is a platform that provides Git repository hosting along with DevOps and CI/CD tools</a:t>
            </a:r>
          </a:p>
          <a:p>
            <a:pPr algn="just"/>
            <a:r>
              <a:rPr lang="en-US" altLang="en-US" b="1">
                <a:solidFill>
                  <a:srgbClr val="FF0000"/>
                </a:solidFill>
              </a:rPr>
              <a:t>Remote repositories</a:t>
            </a:r>
            <a:r>
              <a:rPr lang="en-US" altLang="en-US"/>
              <a:t> allow developers to collaborate from different locations.</a:t>
            </a:r>
          </a:p>
          <a:p>
            <a:pPr algn="just"/>
            <a:r>
              <a:rPr lang="en-US" altLang="en-US"/>
              <a:t>Developers can easily push and pull code changes between local and remote repositories.</a:t>
            </a:r>
          </a:p>
          <a:p>
            <a:pPr marL="0" indent="0" algn="just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Cloning and Forking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Clone: </a:t>
            </a:r>
            <a:r>
              <a:rPr lang="en-US" altLang="en-US"/>
              <a:t>Copy a repository from GitHub/GitLab to your computer so you can work on it locally.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Fork:</a:t>
            </a:r>
            <a:r>
              <a:rPr lang="en-US" altLang="en-US"/>
              <a:t> Create your own copy of someone else’s repository on GitHub/GitLab.</a:t>
            </a:r>
          </a:p>
          <a:p>
            <a:pPr algn="just"/>
            <a:r>
              <a:rPr lang="en-US" altLang="en-US"/>
              <a:t>Cloning is mainly used when working on a project as a team member.</a:t>
            </a:r>
          </a:p>
          <a:p>
            <a:pPr algn="just"/>
            <a:r>
              <a:rPr lang="en-US" altLang="en-US"/>
              <a:t>Forking is commonly used in open-source projects to make changes without affecting the original project.</a:t>
            </a:r>
          </a:p>
          <a:p>
            <a:pPr algn="just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Branching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Branching allows multiple lines of development</a:t>
            </a:r>
          </a:p>
          <a:p>
            <a:pPr algn="just"/>
            <a:r>
              <a:rPr lang="en-US" altLang="en-US"/>
              <a:t>Main branch contains stable production code</a:t>
            </a:r>
          </a:p>
          <a:p>
            <a:pPr algn="just"/>
            <a:r>
              <a:rPr lang="en-US" altLang="en-US"/>
              <a:t>Feature branches are created for new features</a:t>
            </a:r>
          </a:p>
          <a:p>
            <a:pPr algn="just"/>
            <a:r>
              <a:rPr lang="en-US" altLang="en-US"/>
              <a:t>Developers work independently without affecting main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Main Types of Branches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7815"/>
            <a:ext cx="10515600" cy="4944745"/>
          </a:xfrm>
        </p:spPr>
        <p:txBody>
          <a:bodyPr>
            <a:normAutofit fontScale="70000"/>
          </a:bodyPr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Main Branch (master/main):</a:t>
            </a:r>
          </a:p>
          <a:p>
            <a:pPr marL="0" indent="0" algn="just">
              <a:buNone/>
            </a:pPr>
            <a:r>
              <a:rPr lang="en-US" altLang="en-US"/>
              <a:t>Contains the stable and final version of the project.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Development (Dev) Branch:</a:t>
            </a:r>
          </a:p>
          <a:p>
            <a:pPr marL="0" indent="0" algn="just">
              <a:buNone/>
            </a:pPr>
            <a:r>
              <a:rPr lang="en-US" altLang="en-US"/>
              <a:t>Used for ongoing development and integration of features before merging into main.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Feature Branch:</a:t>
            </a:r>
          </a:p>
          <a:p>
            <a:pPr marL="0" indent="0" algn="just">
              <a:buNone/>
            </a:pPr>
            <a:r>
              <a:rPr lang="en-US" altLang="en-US"/>
              <a:t>Used for developing new features separately.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Bugfix Branch:</a:t>
            </a:r>
          </a:p>
          <a:p>
            <a:pPr marL="0" indent="0" algn="just">
              <a:buNone/>
            </a:pPr>
            <a:r>
              <a:rPr lang="en-US" altLang="en-US"/>
              <a:t>Used to fix errors or bugs in the project.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Release Branch:</a:t>
            </a:r>
          </a:p>
          <a:p>
            <a:pPr marL="0" indent="0" algn="just">
              <a:buNone/>
            </a:pPr>
            <a:r>
              <a:rPr lang="en-US" altLang="en-US"/>
              <a:t>Prepared when the software is ready for testing and deployment.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Hotfix Branch:</a:t>
            </a:r>
          </a:p>
          <a:p>
            <a:pPr marL="0" indent="0" algn="just">
              <a:buNone/>
            </a:pPr>
            <a:r>
              <a:rPr lang="en-US" altLang="en-US"/>
              <a:t>Used to quickly fix urgent issues in the live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Merging in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>
                <a:solidFill>
                  <a:srgbClr val="002060"/>
                </a:solidFill>
              </a:rPr>
              <a:t>Merging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2060"/>
                </a:solidFill>
              </a:rPr>
              <a:t>in Git</a:t>
            </a:r>
            <a:r>
              <a:rPr lang="en-US" altLang="en-US"/>
              <a:t> is the process of combining changes from one branch into another branch (usually into the </a:t>
            </a:r>
            <a:r>
              <a:rPr lang="en-US" altLang="en-US" b="1">
                <a:solidFill>
                  <a:srgbClr val="FF0000"/>
                </a:solidFill>
              </a:rPr>
              <a:t>main</a:t>
            </a:r>
            <a:r>
              <a:rPr lang="en-US" altLang="en-US"/>
              <a:t> branch)</a:t>
            </a:r>
          </a:p>
          <a:p>
            <a:pPr algn="just"/>
            <a:r>
              <a:rPr lang="en-US" altLang="en-US"/>
              <a:t>It is used to integrate completed features, bug fixes, or updates into a single project</a:t>
            </a:r>
          </a:p>
          <a:p>
            <a:pPr algn="just"/>
            <a:r>
              <a:rPr lang="en-US" altLang="en-US"/>
              <a:t>After merging, both branches changes become part of one unified codebase</a:t>
            </a:r>
          </a:p>
          <a:p>
            <a:pPr algn="just"/>
            <a:r>
              <a:rPr lang="en-US" altLang="en-US"/>
              <a:t>Merging is commonly done after a Pull Request is reviewed and approved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6405"/>
            <a:ext cx="10515600" cy="57308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</a:rPr>
              <a:t>Core Merge Types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Fast-Forward Merge:</a:t>
            </a:r>
            <a:r>
              <a:rPr lang="en-US" altLang="en-US"/>
              <a:t> Occurs when there is a direct linear path between branches; Git simply moves the branch pointer forward without creating a new commit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Three-Way (Recursive) Merge: </a:t>
            </a:r>
            <a:r>
              <a:rPr lang="en-US" altLang="en-US"/>
              <a:t>Used when branches have diverged; Git finds a common base commit and creates a new merge commit combining both branches</a:t>
            </a:r>
          </a:p>
          <a:p>
            <a:pPr marL="0" indent="0" algn="just">
              <a:buNone/>
            </a:pPr>
            <a:r>
              <a:rPr lang="en-US" altLang="en-US" b="1">
                <a:solidFill>
                  <a:srgbClr val="FF0000"/>
                </a:solidFill>
              </a:rPr>
              <a:t>Merge Strategies (Used in GitHub/GitLab Tools)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Squash and Merge:</a:t>
            </a:r>
            <a:r>
              <a:rPr lang="en-US" altLang="en-US" b="1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Combines all commits from a feature branch into a single commit before merging for a clean history.</a:t>
            </a:r>
          </a:p>
          <a:p>
            <a:pPr algn="just"/>
            <a:r>
              <a:rPr lang="en-US" altLang="en-US" b="1">
                <a:solidFill>
                  <a:srgbClr val="002060"/>
                </a:solidFill>
              </a:rPr>
              <a:t>Rebase and Merge:</a:t>
            </a:r>
            <a:r>
              <a:rPr lang="en-US" altLang="en-US">
                <a:solidFill>
                  <a:schemeClr val="tx1"/>
                </a:solidFill>
              </a:rPr>
              <a:t> Re-applies commits on top of another branch to maintain a linear project history.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Merge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Occur when same file is modified in different branches</a:t>
            </a:r>
          </a:p>
          <a:p>
            <a:pPr algn="just"/>
            <a:r>
              <a:rPr lang="en-US" altLang="en-US"/>
              <a:t>Git cannot automatically decide which change to keep</a:t>
            </a:r>
          </a:p>
          <a:p>
            <a:pPr algn="just"/>
            <a:r>
              <a:rPr lang="en-US" altLang="en-US"/>
              <a:t>Developers must manually resolve conflicts</a:t>
            </a:r>
          </a:p>
          <a:p>
            <a:pPr algn="just"/>
            <a:r>
              <a:rPr lang="en-US" altLang="en-US"/>
              <a:t>Conflict markers show differences in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Pull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/>
              <a:t>A </a:t>
            </a:r>
            <a:r>
              <a:rPr lang="en-US" altLang="en-US" b="1">
                <a:solidFill>
                  <a:srgbClr val="002060"/>
                </a:solidFill>
              </a:rPr>
              <a:t>Pull Request (PR)</a:t>
            </a:r>
            <a:r>
              <a:rPr lang="en-US" altLang="en-US"/>
              <a:t> is a request to merge code from one branch into the main branch.</a:t>
            </a:r>
          </a:p>
          <a:p>
            <a:pPr algn="just"/>
            <a:r>
              <a:rPr lang="en-US" altLang="en-US"/>
              <a:t>It allows team members to discuss, review, and approve changes before merging</a:t>
            </a:r>
          </a:p>
          <a:p>
            <a:pPr algn="just"/>
            <a:r>
              <a:rPr lang="en-US" altLang="en-US"/>
              <a:t>It helps improve code quality by identifying bugs and suggesting improvements</a:t>
            </a:r>
          </a:p>
          <a:p>
            <a:pPr algn="just"/>
            <a:r>
              <a:rPr lang="en-US" altLang="en-US"/>
              <a:t>It supports collaboration among multiple developers working on the same project</a:t>
            </a:r>
          </a:p>
          <a:p>
            <a:pPr algn="just"/>
            <a:r>
              <a:rPr lang="en-US" altLang="en-US"/>
              <a:t>PRs are commonly used in platforms like </a:t>
            </a:r>
            <a:r>
              <a:rPr lang="en-US" altLang="en-US" b="1">
                <a:solidFill>
                  <a:srgbClr val="FF0000"/>
                </a:solidFill>
              </a:rPr>
              <a:t>GitHub</a:t>
            </a:r>
            <a:r>
              <a:rPr lang="en-US" altLang="en-US"/>
              <a:t> and GitLab.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Code Review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Team members review code changes</a:t>
            </a:r>
          </a:p>
          <a:p>
            <a:r>
              <a:rPr lang="en-US" altLang="en-US"/>
              <a:t>Check for bugs and improvements</a:t>
            </a:r>
          </a:p>
          <a:p>
            <a:r>
              <a:rPr lang="en-US" altLang="en-US"/>
              <a:t>Ensure coding standards are followed</a:t>
            </a:r>
          </a:p>
          <a:p>
            <a:r>
              <a:rPr lang="en-US" altLang="en-US"/>
              <a:t>Helps maintain clean and efficient codebase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/>
              <a:t>Collaborative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altLang="en-US"/>
              <a:t>Developers start by </a:t>
            </a:r>
            <a:r>
              <a:rPr lang="en-US" altLang="en-US" b="1">
                <a:solidFill>
                  <a:srgbClr val="FF0000"/>
                </a:solidFill>
              </a:rPr>
              <a:t>cloning the repository</a:t>
            </a:r>
            <a:r>
              <a:rPr lang="en-US" altLang="en-US"/>
              <a:t> from a remote platform</a:t>
            </a:r>
          </a:p>
          <a:p>
            <a:pPr algn="just"/>
            <a:r>
              <a:rPr lang="en-US" altLang="en-US"/>
              <a:t>Each developer creates a </a:t>
            </a:r>
            <a:r>
              <a:rPr lang="en-US" altLang="en-US" b="1">
                <a:solidFill>
                  <a:srgbClr val="FF0000"/>
                </a:solidFill>
              </a:rPr>
              <a:t>separate branch</a:t>
            </a:r>
            <a:r>
              <a:rPr lang="en-US" altLang="en-US"/>
              <a:t> for their task or feature</a:t>
            </a:r>
          </a:p>
          <a:p>
            <a:pPr algn="just"/>
            <a:r>
              <a:rPr lang="en-US" altLang="en-US"/>
              <a:t>Code is written, tested, and changes are saved using </a:t>
            </a:r>
            <a:r>
              <a:rPr lang="en-US" altLang="en-US" b="1">
                <a:solidFill>
                  <a:srgbClr val="FF0000"/>
                </a:solidFill>
              </a:rPr>
              <a:t>commits</a:t>
            </a:r>
          </a:p>
          <a:p>
            <a:pPr algn="just"/>
            <a:r>
              <a:rPr lang="en-US" altLang="en-US"/>
              <a:t>Changes are sent to the remote repository using </a:t>
            </a:r>
            <a:r>
              <a:rPr lang="en-US" altLang="en-US" b="1">
                <a:solidFill>
                  <a:srgbClr val="FF0000"/>
                </a:solidFill>
              </a:rPr>
              <a:t>push</a:t>
            </a:r>
            <a:endParaRPr lang="en-US" altLang="en-US"/>
          </a:p>
          <a:p>
            <a:pPr algn="just"/>
            <a:r>
              <a:rPr lang="en-US" altLang="en-US"/>
              <a:t>A </a:t>
            </a:r>
            <a:r>
              <a:rPr lang="en-US" altLang="en-US" b="1">
                <a:solidFill>
                  <a:srgbClr val="FF0000"/>
                </a:solidFill>
              </a:rPr>
              <a:t>Pull Request (PR)</a:t>
            </a:r>
            <a:r>
              <a:rPr lang="en-US" altLang="en-US"/>
              <a:t> is created to propose merging changes</a:t>
            </a:r>
          </a:p>
          <a:p>
            <a:pPr algn="just"/>
            <a:r>
              <a:rPr lang="en-US" altLang="en-US"/>
              <a:t>Team members perform </a:t>
            </a:r>
            <a:r>
              <a:rPr lang="en-US" altLang="en-US" b="1">
                <a:solidFill>
                  <a:srgbClr val="FF0000"/>
                </a:solidFill>
              </a:rPr>
              <a:t>code review</a:t>
            </a:r>
            <a:r>
              <a:rPr lang="en-US" altLang="en-US"/>
              <a:t> and give feedback</a:t>
            </a:r>
          </a:p>
          <a:p>
            <a:pPr algn="just"/>
            <a:r>
              <a:rPr lang="en-US" altLang="en-US"/>
              <a:t>After approval, changes are </a:t>
            </a:r>
            <a:r>
              <a:rPr lang="en-US" altLang="en-US" b="1">
                <a:solidFill>
                  <a:srgbClr val="FF0000"/>
                </a:solidFill>
              </a:rPr>
              <a:t>merged</a:t>
            </a:r>
            <a:r>
              <a:rPr lang="en-US" altLang="en-US"/>
              <a:t> into the main branch</a:t>
            </a:r>
          </a:p>
          <a:p>
            <a:pPr marL="0" indent="0" algn="just">
              <a:buNone/>
            </a:pPr>
            <a:r>
              <a:rPr lang="en-US" altLang="en-US"/>
              <a:t>This workflow ensures safe teamwork, better code quality, and organized development</a:t>
            </a:r>
          </a:p>
          <a:p>
            <a:pPr marL="0" indent="0" algn="just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88e65d81-23c4-4d93-8ae7-e41cddc9986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735" y="481330"/>
            <a:ext cx="8581390" cy="5904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GitHub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Issue tracking for bug reporting</a:t>
            </a:r>
          </a:p>
          <a:p>
            <a:r>
              <a:rPr lang="en-US" altLang="en-US"/>
              <a:t>Pull requests for collaboration</a:t>
            </a:r>
          </a:p>
          <a:p>
            <a:r>
              <a:rPr lang="en-US" altLang="en-US"/>
              <a:t>GitHub Actions for automation and CI/CD</a:t>
            </a:r>
          </a:p>
          <a:p>
            <a:r>
              <a:rPr lang="en-US" altLang="en-US"/>
              <a:t>Repository hosting for open-source projects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/>
              <a:t>CI/CD (Continuous Integration &amp; Continuous Delivery or Deployment)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  <a:sym typeface="+mn-ea"/>
              </a:rPr>
              <a:t>CI (Continuous Integration):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Developers frequently push code to a shared repository where it is automatically built and tested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2060"/>
                </a:solidFill>
                <a:sym typeface="+mn-ea"/>
              </a:rPr>
              <a:t>CD (Continuous Deployment/Delivery): </a:t>
            </a:r>
          </a:p>
          <a:p>
            <a:pPr marL="0" indent="0">
              <a:buNone/>
            </a:pPr>
            <a:r>
              <a:rPr lang="en-US" altLang="en-US">
                <a:sym typeface="+mn-ea"/>
              </a:rPr>
              <a:t>Tested code is automatically or manually deployed to staging or production servers</a:t>
            </a:r>
            <a:endParaRPr lang="en-US" altLang="en-US">
              <a:solidFill>
                <a:schemeClr val="tx1"/>
              </a:solidFill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GitHub CI/CD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Automated build and testing using </a:t>
            </a:r>
            <a:r>
              <a:rPr lang="en-US" altLang="en-US" b="1">
                <a:solidFill>
                  <a:srgbClr val="FF0000"/>
                </a:solidFill>
              </a:rPr>
              <a:t>GitHub Actions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Continuous Integration of code changes</a:t>
            </a:r>
          </a:p>
          <a:p>
            <a:r>
              <a:rPr lang="en-US" altLang="en-US">
                <a:solidFill>
                  <a:schemeClr val="tx1"/>
                </a:solidFill>
              </a:rPr>
              <a:t>Automated deployment to staging and production</a:t>
            </a:r>
          </a:p>
          <a:p>
            <a:r>
              <a:rPr lang="en-US" altLang="en-US">
                <a:solidFill>
                  <a:schemeClr val="tx1"/>
                </a:solidFill>
              </a:rPr>
              <a:t>Code quality checks on every push</a:t>
            </a:r>
          </a:p>
          <a:p>
            <a:r>
              <a:rPr lang="en-US" altLang="en-US">
                <a:solidFill>
                  <a:schemeClr val="tx1"/>
                </a:solidFill>
              </a:rPr>
              <a:t>Monitoring and feedback through logs and alerts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Best Practices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Commit code frequently with clear messages</a:t>
            </a:r>
          </a:p>
          <a:p>
            <a:r>
              <a:rPr lang="en-US" altLang="en-US"/>
              <a:t>Use branches for separate features</a:t>
            </a:r>
          </a:p>
          <a:p>
            <a:r>
              <a:rPr lang="en-US" altLang="en-US"/>
              <a:t>Always review code before merging</a:t>
            </a:r>
          </a:p>
          <a:p>
            <a:r>
              <a:rPr lang="en-US" altLang="en-US"/>
              <a:t>Avoid working directly on main branch</a:t>
            </a:r>
          </a:p>
          <a:p>
            <a:r>
              <a:rPr lang="en-US" altLang="en-US"/>
              <a:t>Version control is essential for modern software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8780"/>
            <a:ext cx="10515600" cy="5778500"/>
          </a:xfrm>
        </p:spPr>
        <p:txBody>
          <a:bodyPr/>
          <a:lstStyle/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                                           </a:t>
            </a:r>
            <a:r>
              <a:rPr lang="en-US" sz="5400">
                <a:sym typeface="+mn-ea"/>
              </a:rPr>
              <a:t>  </a:t>
            </a:r>
            <a:r>
              <a:rPr lang="en-US" sz="5400" b="1">
                <a:sym typeface="+mn-ea"/>
              </a:rPr>
              <a:t>Thank You!</a:t>
            </a:r>
            <a:endParaRPr lang="en-US" b="1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Microsoft Office PowerPoint</Application>
  <PresentationFormat>Widescreen</PresentationFormat>
  <Paragraphs>136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Software Construction and Development</vt:lpstr>
      <vt:lpstr>Introduction to Version Control Systems</vt:lpstr>
      <vt:lpstr>Importance of Version Control</vt:lpstr>
      <vt:lpstr>Types of VCS</vt:lpstr>
      <vt:lpstr>PowerPoint Presentation</vt:lpstr>
      <vt:lpstr>Introduction to Git</vt:lpstr>
      <vt:lpstr>Git Architecture</vt:lpstr>
      <vt:lpstr>PowerPoint Presentation</vt:lpstr>
      <vt:lpstr>Basic Git Commands</vt:lpstr>
      <vt:lpstr>Remote Repositories</vt:lpstr>
      <vt:lpstr>Cloning and Forking</vt:lpstr>
      <vt:lpstr>Branching in Git</vt:lpstr>
      <vt:lpstr>Main Types of Branches in Git</vt:lpstr>
      <vt:lpstr>Merging in Git</vt:lpstr>
      <vt:lpstr>PowerPoint Presentation</vt:lpstr>
      <vt:lpstr>Merge Conflicts</vt:lpstr>
      <vt:lpstr>Pull Requests</vt:lpstr>
      <vt:lpstr>Code Review in PR</vt:lpstr>
      <vt:lpstr>Collaborative Workflow</vt:lpstr>
      <vt:lpstr>PowerPoint Presentation</vt:lpstr>
      <vt:lpstr>GitHub Features</vt:lpstr>
      <vt:lpstr>CI/CD (Continuous Integration &amp; Continuous Delivery or Deployment)</vt:lpstr>
      <vt:lpstr>GitHub CI/CD Features</vt:lpstr>
      <vt:lpstr>Best Practices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khizar hayat</dc:creator>
  <cp:lastModifiedBy>Muhammad Khizar Hayat</cp:lastModifiedBy>
  <cp:revision>4</cp:revision>
  <dcterms:created xsi:type="dcterms:W3CDTF">2025-07-23T00:59:00Z</dcterms:created>
  <dcterms:modified xsi:type="dcterms:W3CDTF">2026-05-16T06:11:29Z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54F92AB5757A44B5BE947161AC5F4D0A_11</vt:lpwstr>
  </property>
  <property fmtid="{D5CDD505-2E9C-101B-9397-08002B2CF9AE}" pid="3" name="KSOProductBuildVer">
    <vt:lpwstr>1033-12.1.0.25862</vt:lpwstr>
  </property>
</Properties>
</file>