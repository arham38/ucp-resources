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64" r:id="rId4"/>
    <p:sldId id="265" r:id="rId5"/>
    <p:sldId id="266" r:id="rId6"/>
    <p:sldId id="267" r:id="rId7"/>
    <p:sldId id="258" r:id="rId8"/>
    <p:sldId id="268" r:id="rId9"/>
    <p:sldId id="259" r:id="rId10"/>
    <p:sldId id="260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7" y="53"/>
      </p:cViewPr>
      <p:guideLst>
        <p:guide orient="horz" pos="221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Software Construction and Development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r>
              <a:rPr lang="en-US" b="1" dirty="0">
                <a:sym typeface="+mn-ea"/>
              </a:rPr>
              <a:t>Week 10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  <a:sym typeface="+mn-ea"/>
              </a:rPr>
              <a:t>Instructor :M </a:t>
            </a:r>
            <a:r>
              <a:rPr lang="en-US" b="1">
                <a:solidFill>
                  <a:srgbClr val="FF0000"/>
                </a:solidFill>
                <a:sym typeface="+mn-ea"/>
              </a:rPr>
              <a:t>Khizar Hayat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altLang="en-US" i="1"/>
              <a:t>Common Bugs and Debugging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Exception Handling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lvl="0" indent="0" algn="just">
              <a:buFont typeface="Wingdings" panose="05000000000000000000" charset="0"/>
              <a:buNone/>
            </a:pPr>
            <a:r>
              <a:rPr lang="en-US" b="1">
                <a:solidFill>
                  <a:srgbClr val="002060"/>
                </a:solidFill>
              </a:rPr>
              <a:t>Exception Handling</a:t>
            </a:r>
          </a:p>
          <a:p>
            <a:pPr lvl="0" algn="just"/>
            <a:r>
              <a:rPr lang="en-US">
                <a:solidFill>
                  <a:schemeClr val="tx1"/>
                </a:solidFill>
              </a:rPr>
              <a:t>Exception Handling is a mechanism to handle runtime errors</a:t>
            </a:r>
          </a:p>
          <a:p>
            <a:pPr lvl="0" algn="just"/>
            <a:r>
              <a:rPr lang="en-US">
                <a:solidFill>
                  <a:schemeClr val="tx1"/>
                </a:solidFill>
              </a:rPr>
              <a:t>Normal flow of the application can be maintained</a:t>
            </a:r>
          </a:p>
          <a:p>
            <a:pPr lvl="0" algn="just"/>
            <a:r>
              <a:rPr lang="en-US">
                <a:solidFill>
                  <a:schemeClr val="tx1"/>
                </a:solidFill>
              </a:rPr>
              <a:t>It is an object which is thrown at runtime</a:t>
            </a:r>
          </a:p>
          <a:p>
            <a:pPr lvl="0" algn="just"/>
            <a:r>
              <a:rPr lang="en-US">
                <a:solidFill>
                  <a:schemeClr val="tx1"/>
                </a:solidFill>
              </a:rPr>
              <a:t>Exception Handling done with the </a:t>
            </a:r>
            <a:r>
              <a:rPr lang="en-US" b="1">
                <a:solidFill>
                  <a:srgbClr val="FF0000"/>
                </a:solidFill>
              </a:rPr>
              <a:t>exception object</a:t>
            </a:r>
          </a:p>
          <a:p>
            <a:pPr marL="0" lvl="0" indent="0" algn="just">
              <a:buNone/>
            </a:pPr>
            <a:endParaRPr lang="en-US" b="1">
              <a:solidFill>
                <a:srgbClr val="FF0000"/>
              </a:solidFill>
            </a:endParaRPr>
          </a:p>
          <a:p>
            <a:pPr marL="0" lvl="0" indent="0" algn="just">
              <a:buNone/>
            </a:pPr>
            <a:r>
              <a:rPr lang="en-US" altLang="en-US" b="1">
                <a:solidFill>
                  <a:srgbClr val="FF0000"/>
                </a:solidFill>
              </a:rPr>
              <a:t>Real-Life Example</a:t>
            </a:r>
            <a:endParaRPr lang="en-US" altLang="en-US">
              <a:solidFill>
                <a:schemeClr val="tx1"/>
              </a:solidFill>
            </a:endParaRPr>
          </a:p>
          <a:p>
            <a:pPr marL="0" lvl="0" indent="0" algn="just">
              <a:buNone/>
            </a:pPr>
            <a:r>
              <a:rPr lang="en-US" altLang="en-US">
                <a:solidFill>
                  <a:schemeClr val="tx1"/>
                </a:solidFill>
              </a:rPr>
              <a:t>If an ATM machine temporarily loses internet connection, it should display an error message instead of shutting down completely.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What is an Exception?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rgbClr val="002060"/>
                </a:solidFill>
              </a:rPr>
              <a:t>Exception</a:t>
            </a:r>
          </a:p>
          <a:p>
            <a:r>
              <a:rPr lang="en-US" altLang="en-US">
                <a:solidFill>
                  <a:schemeClr val="tx1"/>
                </a:solidFill>
              </a:rPr>
              <a:t>An exception is an abnormal event that occurs during program execution </a:t>
            </a:r>
          </a:p>
          <a:p>
            <a:r>
              <a:rPr lang="en-US" altLang="en-US">
                <a:solidFill>
                  <a:schemeClr val="tx1"/>
                </a:solidFill>
              </a:rPr>
              <a:t>It interrupts the normal flow of instructions</a:t>
            </a:r>
          </a:p>
          <a:p>
            <a:r>
              <a:rPr lang="en-US" altLang="en-US">
                <a:solidFill>
                  <a:schemeClr val="tx1"/>
                </a:solidFill>
              </a:rPr>
              <a:t>Occurs at runtime</a:t>
            </a:r>
          </a:p>
          <a:p>
            <a:r>
              <a:rPr lang="en-US" altLang="en-US">
                <a:solidFill>
                  <a:schemeClr val="tx1"/>
                </a:solidFill>
              </a:rPr>
              <a:t>Generated automatically by JVM or manually by programmer</a:t>
            </a:r>
          </a:p>
          <a:p>
            <a:r>
              <a:rPr lang="en-US" altLang="en-US">
                <a:solidFill>
                  <a:schemeClr val="tx1"/>
                </a:solidFill>
              </a:rPr>
              <a:t>Can be handled using exception handling mechanisms</a:t>
            </a:r>
          </a:p>
          <a:p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Common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Division by zero</a:t>
            </a:r>
          </a:p>
          <a:p>
            <a:r>
              <a:rPr lang="en-US" altLang="en-US"/>
              <a:t>File not found</a:t>
            </a:r>
          </a:p>
          <a:p>
            <a:r>
              <a:rPr lang="en-US" altLang="en-US"/>
              <a:t>Invalid array index</a:t>
            </a:r>
          </a:p>
          <a:p>
            <a:r>
              <a:rPr lang="en-US" altLang="en-US"/>
              <a:t>Database connection failure</a:t>
            </a:r>
          </a:p>
          <a:p>
            <a:r>
              <a:rPr lang="en-US" altLang="en-US"/>
              <a:t>Invalid user input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 algn="l">
              <a:buNone/>
            </a:pPr>
            <a:r>
              <a:rPr lang="en-US" altLang="en-US">
                <a:solidFill>
                  <a:schemeClr val="tx1"/>
                </a:solidFill>
              </a:rPr>
              <a:t>int result = 10 / 0;</a:t>
            </a:r>
          </a:p>
          <a:p>
            <a:pPr marL="0" indent="0" algn="l">
              <a:buNone/>
            </a:pPr>
            <a:r>
              <a:rPr lang="en-US" altLang="en-US">
                <a:solidFill>
                  <a:schemeClr val="tx1"/>
                </a:solidFill>
              </a:rPr>
              <a:t>This causes an </a:t>
            </a:r>
            <a:r>
              <a:rPr lang="en-US" altLang="en-US" b="1">
                <a:solidFill>
                  <a:schemeClr val="accent2">
                    <a:lumMod val="75000"/>
                  </a:schemeClr>
                </a:solidFill>
              </a:rPr>
              <a:t>ArithmeticException</a:t>
            </a:r>
            <a:r>
              <a:rPr lang="en-US" altLang="en-US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Need for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Why Exception Handling is Important?</a:t>
            </a:r>
          </a:p>
          <a:p>
            <a:pPr marL="0" indent="0">
              <a:buNone/>
            </a:pPr>
            <a:r>
              <a:rPr lang="en-US" altLang="en-US"/>
              <a:t>Without exception handling, programs may terminate abruptly when an error occurs.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Benefits</a:t>
            </a:r>
          </a:p>
          <a:p>
            <a:r>
              <a:rPr lang="en-US" altLang="en-US"/>
              <a:t>Prevents application crashes</a:t>
            </a:r>
          </a:p>
          <a:p>
            <a:r>
              <a:rPr lang="en-US" altLang="en-US"/>
              <a:t>Enhances user experience</a:t>
            </a:r>
          </a:p>
          <a:p>
            <a:r>
              <a:rPr lang="en-US" altLang="en-US"/>
              <a:t>Makes applications more secure</a:t>
            </a:r>
          </a:p>
          <a:p>
            <a:r>
              <a:rPr lang="en-US" altLang="en-US"/>
              <a:t>Simplifies debugging and maintenance</a:t>
            </a:r>
          </a:p>
          <a:p>
            <a:r>
              <a:rPr lang="en-US" altLang="en-US"/>
              <a:t>Allows graceful recovery from errors</a:t>
            </a:r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2085"/>
            <a:ext cx="10515600" cy="5088890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An online shopping application should </a:t>
            </a:r>
            <a:r>
              <a:rPr lang="en-US" altLang="en-US" b="1">
                <a:solidFill>
                  <a:srgbClr val="FF0000"/>
                </a:solidFill>
              </a:rPr>
              <a:t>notify</a:t>
            </a:r>
            <a:r>
              <a:rPr lang="en-US" altLang="en-US"/>
              <a:t> the user if payment fails rather than closing the entire system.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 descr="ChatGPT Image May 7, 2026, 08_48_09 AM"/>
          <p:cNvPicPr>
            <a:picLocks noChangeAspect="1"/>
          </p:cNvPicPr>
          <p:nvPr/>
        </p:nvPicPr>
        <p:blipFill>
          <a:blip r:embed="rId2"/>
          <a:srcRect t="18981"/>
          <a:stretch>
            <a:fillRect/>
          </a:stretch>
        </p:blipFill>
        <p:spPr>
          <a:xfrm>
            <a:off x="2279650" y="2593340"/>
            <a:ext cx="7213600" cy="36182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Types of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3730"/>
            <a:ext cx="10515600" cy="48285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/>
              <a:t>There are </a:t>
            </a:r>
            <a:r>
              <a:rPr lang="en-US" altLang="en-US" sz="2800" b="1">
                <a:solidFill>
                  <a:srgbClr val="FF0000"/>
                </a:solidFill>
              </a:rPr>
              <a:t>three</a:t>
            </a:r>
            <a:r>
              <a:rPr lang="en-US" altLang="en-US" sz="2800"/>
              <a:t> categories of errors:</a:t>
            </a:r>
          </a:p>
          <a:p>
            <a:pPr lvl="1" algn="just"/>
            <a:r>
              <a:rPr lang="en-US" altLang="en-US" sz="2800" b="1">
                <a:solidFill>
                  <a:schemeClr val="accent5">
                    <a:lumMod val="50000"/>
                  </a:schemeClr>
                </a:solidFill>
              </a:rPr>
              <a:t>Syntax errors</a:t>
            </a:r>
            <a:r>
              <a:rPr lang="en-US" altLang="en-US" sz="2800"/>
              <a:t> – arise because the rules of the language have not been followed. They are detected by the compiler </a:t>
            </a:r>
          </a:p>
          <a:p>
            <a:pPr lvl="1" algn="just"/>
            <a:r>
              <a:rPr lang="en-US" altLang="en-US" sz="2800" b="1">
                <a:solidFill>
                  <a:schemeClr val="accent5">
                    <a:lumMod val="50000"/>
                  </a:schemeClr>
                </a:solidFill>
              </a:rPr>
              <a:t>Runtime errors – </a:t>
            </a:r>
            <a:r>
              <a:rPr lang="en-US" altLang="en-US" sz="2800"/>
              <a:t>occur while the program is running if the environment detects an operation that is impossible to carry out </a:t>
            </a:r>
          </a:p>
          <a:p>
            <a:pPr lvl="1" algn="just"/>
            <a:r>
              <a:rPr lang="en-US" altLang="en-US" sz="2800" b="1">
                <a:solidFill>
                  <a:schemeClr val="accent5">
                    <a:lumMod val="50000"/>
                  </a:schemeClr>
                </a:solidFill>
              </a:rPr>
              <a:t>Logic errors – </a:t>
            </a:r>
            <a:r>
              <a:rPr lang="en-US" altLang="en-US" sz="2800"/>
              <a:t>occur when a program doesn't perform the way it was intended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Java Exception Hierarchy</a:t>
            </a:r>
          </a:p>
        </p:txBody>
      </p:sp>
      <p:pic>
        <p:nvPicPr>
          <p:cNvPr id="5" name="Content Placeholder 4" descr="hierar"/>
          <p:cNvPicPr>
            <a:picLocks noGrp="1" noChangeAspect="1"/>
          </p:cNvPicPr>
          <p:nvPr>
            <p:ph idx="1"/>
          </p:nvPr>
        </p:nvPicPr>
        <p:blipFill>
          <a:blip r:embed="rId2"/>
          <a:srcRect t="9018"/>
          <a:stretch>
            <a:fillRect/>
          </a:stretch>
        </p:blipFill>
        <p:spPr>
          <a:xfrm>
            <a:off x="1588770" y="1532890"/>
            <a:ext cx="8994775" cy="4914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ym typeface="+mn-ea"/>
              </a:rPr>
              <a:t>Types of Exception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>
                <a:sym typeface="+mn-ea"/>
              </a:rPr>
              <a:t>There are mainly 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two</a:t>
            </a:r>
            <a:r>
              <a:rPr lang="en-US" altLang="en-US">
                <a:sym typeface="+mn-ea"/>
              </a:rPr>
              <a:t> types of exceptions:</a:t>
            </a:r>
            <a:endParaRPr lang="en-US" altLang="en-US"/>
          </a:p>
          <a:p>
            <a:r>
              <a:rPr lang="en-US"/>
              <a:t>Checked</a:t>
            </a:r>
          </a:p>
          <a:p>
            <a:r>
              <a:rPr lang="en-US"/>
              <a:t>Unchecked </a:t>
            </a:r>
            <a:r>
              <a:rPr lang="en-US" altLang="en-US">
                <a:sym typeface="+mn-ea"/>
              </a:rPr>
              <a:t>– Eg. error</a:t>
            </a:r>
          </a:p>
          <a:p>
            <a:pPr marL="0" indent="0">
              <a:buNone/>
            </a:pPr>
            <a:r>
              <a:rPr lang="en-US"/>
              <a:t>The sun microsystem says there are three types of exceptions:</a:t>
            </a:r>
          </a:p>
          <a:p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Checked Exception </a:t>
            </a:r>
            <a:r>
              <a:rPr lang="en-US" altLang="en-US" b="1">
                <a:solidFill>
                  <a:schemeClr val="accent5">
                    <a:lumMod val="50000"/>
                  </a:schemeClr>
                </a:solidFill>
                <a:sym typeface="+mn-ea"/>
              </a:rPr>
              <a:t>–</a:t>
            </a:r>
            <a:r>
              <a:rPr lang="en-US" altLang="en-US">
                <a:sym typeface="+mn-ea"/>
              </a:rPr>
              <a:t> are checked at compile-time</a:t>
            </a:r>
          </a:p>
          <a:p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Unchecked Exception </a:t>
            </a:r>
            <a:r>
              <a:rPr lang="en-US" altLang="en-US" b="1">
                <a:solidFill>
                  <a:schemeClr val="accent5">
                    <a:lumMod val="50000"/>
                  </a:schemeClr>
                </a:solidFill>
                <a:sym typeface="+mn-ea"/>
              </a:rPr>
              <a:t>–</a:t>
            </a:r>
            <a:r>
              <a:rPr lang="en-US" altLang="en-US">
                <a:sym typeface="+mn-ea"/>
              </a:rPr>
              <a:t> are not checked at compile-time rather they are checked at runtime</a:t>
            </a:r>
          </a:p>
          <a:p>
            <a:r>
              <a:rPr lang="en-US" b="1">
                <a:solidFill>
                  <a:schemeClr val="accent5">
                    <a:lumMod val="50000"/>
                  </a:schemeClr>
                </a:solidFill>
              </a:rPr>
              <a:t>Error </a:t>
            </a:r>
            <a:r>
              <a:rPr lang="en-US" altLang="en-US">
                <a:sym typeface="+mn-ea"/>
              </a:rPr>
              <a:t>– </a:t>
            </a:r>
            <a:r>
              <a:rPr lang="en-US" altLang="en-US">
                <a:solidFill>
                  <a:schemeClr val="tx1"/>
                </a:solidFill>
              </a:rPr>
              <a:t>are not checked at compile-time and occur at runtime due to serious system problems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8045"/>
            <a:ext cx="10515600" cy="5309235"/>
          </a:xfrm>
        </p:spPr>
        <p:txBody>
          <a:bodyPr/>
          <a:lstStyle/>
          <a:p>
            <a:pPr algn="just"/>
            <a:r>
              <a:rPr lang="en-US" b="1">
                <a:solidFill>
                  <a:schemeClr val="accent5">
                    <a:lumMod val="50000"/>
                  </a:schemeClr>
                </a:solidFill>
                <a:sym typeface="+mn-ea"/>
              </a:rPr>
              <a:t>Checked Exception </a:t>
            </a:r>
            <a:r>
              <a:rPr lang="en-US" altLang="en-US" b="1">
                <a:solidFill>
                  <a:schemeClr val="accent5">
                    <a:lumMod val="50000"/>
                  </a:schemeClr>
                </a:solidFill>
                <a:sym typeface="+mn-ea"/>
              </a:rPr>
              <a:t>–</a:t>
            </a:r>
            <a:r>
              <a:rPr lang="en-US" altLang="en-US">
                <a:sym typeface="+mn-ea"/>
              </a:rPr>
              <a:t> Classes that extend Throwable class except Runtime Exception and error are known as </a:t>
            </a:r>
            <a:r>
              <a:rPr lang="en-US" altLang="en-US" b="1">
                <a:solidFill>
                  <a:schemeClr val="accent2">
                    <a:lumMod val="75000"/>
                  </a:schemeClr>
                </a:solidFill>
                <a:sym typeface="+mn-ea"/>
              </a:rPr>
              <a:t>checked exceptions</a:t>
            </a:r>
            <a:r>
              <a:rPr lang="en-US" altLang="en-US">
                <a:sym typeface="+mn-ea"/>
              </a:rPr>
              <a:t>. Checked Exceptions means that compiler forces the programmer to check and deal with the exceptions 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e.g.</a:t>
            </a:r>
            <a:r>
              <a:rPr lang="en-US" altLang="en-US">
                <a:sym typeface="+mn-ea"/>
              </a:rPr>
              <a:t> IOException, SQLException etc.</a:t>
            </a:r>
          </a:p>
          <a:p>
            <a:pPr algn="just"/>
            <a:r>
              <a:rPr lang="en-US" b="1">
                <a:solidFill>
                  <a:schemeClr val="accent5">
                    <a:lumMod val="50000"/>
                  </a:schemeClr>
                </a:solidFill>
                <a:sym typeface="+mn-ea"/>
              </a:rPr>
              <a:t>Unchecked Exception </a:t>
            </a:r>
            <a:r>
              <a:rPr lang="en-US" altLang="en-US" b="1">
                <a:solidFill>
                  <a:schemeClr val="accent5">
                    <a:lumMod val="50000"/>
                  </a:schemeClr>
                </a:solidFill>
                <a:sym typeface="+mn-ea"/>
              </a:rPr>
              <a:t>– 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Classes that extends RuntimeException, Error and their subclasses are known as </a:t>
            </a:r>
            <a:r>
              <a:rPr lang="en-US" altLang="en-US" b="1">
                <a:solidFill>
                  <a:schemeClr val="accent2">
                    <a:lumMod val="75000"/>
                  </a:schemeClr>
                </a:solidFill>
                <a:sym typeface="+mn-ea"/>
              </a:rPr>
              <a:t>unchecked exceptions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e.g.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 ArithmeticException,NullPointerException,ArrayIndexOutOfBounds Exception etc.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  <a:sym typeface="+mn-ea"/>
              </a:rPr>
              <a:t>Error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 is irrecoverable should not try to catch </a:t>
            </a:r>
            <a:r>
              <a:rPr lang="en-US" altLang="en-US" b="1">
                <a:solidFill>
                  <a:srgbClr val="FF0000"/>
                </a:solidFill>
                <a:sym typeface="+mn-ea"/>
              </a:rPr>
              <a:t>e.g.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 OutOfMemoryError, VirtualMachineError, AssertionError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Exception Handling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Keyword                               Description</a:t>
            </a:r>
          </a:p>
          <a:p>
            <a:r>
              <a:rPr lang="en-US" altLang="en-US"/>
              <a:t>try                                       Contains risky code</a:t>
            </a:r>
          </a:p>
          <a:p>
            <a:r>
              <a:rPr lang="en-US" altLang="en-US"/>
              <a:t>catch                                   Handles exceptions</a:t>
            </a:r>
          </a:p>
          <a:p>
            <a:r>
              <a:rPr lang="en-US" altLang="en-US"/>
              <a:t>finally                                  Executes regardless of exception</a:t>
            </a:r>
          </a:p>
          <a:p>
            <a:r>
              <a:rPr lang="en-US" altLang="en-US"/>
              <a:t>throw                                  Used to manually throw exception</a:t>
            </a:r>
          </a:p>
          <a:p>
            <a:r>
              <a:rPr lang="en-US" altLang="en-US"/>
              <a:t>throws                                 Declares possible exceptions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These keywords form the core of Java exception handling.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Try-Catch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Try-Catch Mechanism</a:t>
            </a:r>
          </a:p>
          <a:p>
            <a:r>
              <a:rPr lang="en-US" altLang="en-US"/>
              <a:t>The </a:t>
            </a:r>
            <a:r>
              <a:rPr lang="en-US" altLang="en-US" b="1">
                <a:solidFill>
                  <a:srgbClr val="FF0000"/>
                </a:solidFill>
              </a:rPr>
              <a:t>try</a:t>
            </a:r>
            <a:r>
              <a:rPr lang="en-US" altLang="en-US"/>
              <a:t> block contains code that may generate an exception</a:t>
            </a:r>
          </a:p>
          <a:p>
            <a:r>
              <a:rPr lang="en-US" altLang="en-US"/>
              <a:t>While the </a:t>
            </a:r>
            <a:r>
              <a:rPr lang="en-US" altLang="en-US" b="1">
                <a:solidFill>
                  <a:srgbClr val="FF0000"/>
                </a:solidFill>
              </a:rPr>
              <a:t>catch</a:t>
            </a:r>
            <a:r>
              <a:rPr lang="en-US" altLang="en-US"/>
              <a:t> block handles the exception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Syntax</a:t>
            </a:r>
          </a:p>
          <a:p>
            <a:pPr marL="0" indent="0">
              <a:buNone/>
            </a:pPr>
            <a:endParaRPr lang="en-US" altLang="en-US" b="1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090" t="4726" r="2073" b="8117"/>
          <a:stretch>
            <a:fillRect/>
          </a:stretch>
        </p:blipFill>
        <p:spPr>
          <a:xfrm>
            <a:off x="2005965" y="4079240"/>
            <a:ext cx="7504430" cy="15341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b="1"/>
              <a:t>Multiple Catch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Handling Multiple Exceptions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 single </a:t>
            </a:r>
            <a:r>
              <a:rPr lang="en-US" altLang="en-US" b="1">
                <a:solidFill>
                  <a:schemeClr val="tx1"/>
                </a:solidFill>
              </a:rPr>
              <a:t>try</a:t>
            </a:r>
            <a:r>
              <a:rPr lang="en-US" altLang="en-US">
                <a:solidFill>
                  <a:schemeClr val="tx1"/>
                </a:solidFill>
              </a:rPr>
              <a:t> block may generate different exceptions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145" y="3429635"/>
            <a:ext cx="8890635" cy="27476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Finally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Finally Keyword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The finally block always executes whether an exception occurs or not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Common Uses</a:t>
            </a:r>
          </a:p>
          <a:p>
            <a:r>
              <a:rPr lang="en-US" altLang="en-US">
                <a:solidFill>
                  <a:schemeClr val="tx1"/>
                </a:solidFill>
              </a:rPr>
              <a:t>Closing files</a:t>
            </a:r>
          </a:p>
          <a:p>
            <a:r>
              <a:rPr lang="en-US" altLang="en-US">
                <a:solidFill>
                  <a:schemeClr val="tx1"/>
                </a:solidFill>
              </a:rPr>
              <a:t>Releasing resources</a:t>
            </a:r>
          </a:p>
          <a:p>
            <a:r>
              <a:rPr lang="en-US" altLang="en-US">
                <a:solidFill>
                  <a:schemeClr val="tx1"/>
                </a:solidFill>
              </a:rPr>
              <a:t>Closing database connections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finally {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System.out.println("</a:t>
            </a:r>
            <a:r>
              <a:rPr lang="en-US" altLang="en-US" b="1">
                <a:solidFill>
                  <a:schemeClr val="tx1"/>
                </a:solidFill>
              </a:rPr>
              <a:t>Execution completed</a:t>
            </a:r>
            <a:r>
              <a:rPr lang="en-US" altLang="en-US">
                <a:solidFill>
                  <a:schemeClr val="tx1"/>
                </a:solidFill>
              </a:rPr>
              <a:t>");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Throw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Throwing Exceptions Manually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The throw keyword is used to generate exceptions explicitly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throw new ArithmeticException("</a:t>
            </a:r>
            <a:r>
              <a:rPr lang="en-US" altLang="en-US" b="1">
                <a:solidFill>
                  <a:schemeClr val="tx1"/>
                </a:solidFill>
              </a:rPr>
              <a:t>Invalid operation</a:t>
            </a:r>
            <a:r>
              <a:rPr lang="en-US" altLang="en-US">
                <a:solidFill>
                  <a:schemeClr val="tx1"/>
                </a:solidFill>
              </a:rPr>
              <a:t>");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Uses</a:t>
            </a:r>
          </a:p>
          <a:p>
            <a:r>
              <a:rPr lang="en-US" altLang="en-US">
                <a:solidFill>
                  <a:schemeClr val="tx1"/>
                </a:solidFill>
              </a:rPr>
              <a:t>Input validation</a:t>
            </a:r>
          </a:p>
          <a:p>
            <a:r>
              <a:rPr lang="en-US" altLang="en-US">
                <a:solidFill>
                  <a:schemeClr val="tx1"/>
                </a:solidFill>
              </a:rPr>
              <a:t>Business rules enforcement</a:t>
            </a:r>
          </a:p>
          <a:p>
            <a:r>
              <a:rPr lang="en-US" altLang="en-US">
                <a:solidFill>
                  <a:schemeClr val="tx1"/>
                </a:solidFill>
              </a:rPr>
              <a:t>Custom error generation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Throws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chemeClr val="accent5">
                    <a:lumMod val="50000"/>
                  </a:schemeClr>
                </a:solidFill>
              </a:rPr>
              <a:t>Declaring Exceptions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The </a:t>
            </a:r>
            <a:r>
              <a:rPr lang="en-US" altLang="en-US" b="1">
                <a:solidFill>
                  <a:schemeClr val="tx1"/>
                </a:solidFill>
              </a:rPr>
              <a:t>throws </a:t>
            </a:r>
            <a:r>
              <a:rPr lang="en-US" altLang="en-US">
                <a:solidFill>
                  <a:schemeClr val="tx1"/>
                </a:solidFill>
              </a:rPr>
              <a:t>keyword informs the caller that a method may generate exceptions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sym typeface="+mn-ea"/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public void readFile() throws </a:t>
            </a:r>
            <a:r>
              <a:rPr lang="en-US" altLang="en-US" b="1">
                <a:solidFill>
                  <a:schemeClr val="tx1"/>
                </a:solidFill>
              </a:rPr>
              <a:t>IOException</a:t>
            </a:r>
            <a:r>
              <a:rPr lang="en-US" altLang="en-US">
                <a:solidFill>
                  <a:schemeClr val="tx1"/>
                </a:solidFill>
              </a:rPr>
              <a:t> {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Advantages</a:t>
            </a:r>
          </a:p>
          <a:p>
            <a:r>
              <a:rPr lang="en-US" altLang="en-US">
                <a:solidFill>
                  <a:schemeClr val="tx1"/>
                </a:solidFill>
              </a:rPr>
              <a:t>Better exception propagation</a:t>
            </a:r>
          </a:p>
          <a:p>
            <a:r>
              <a:rPr lang="en-US" altLang="en-US">
                <a:solidFill>
                  <a:schemeClr val="tx1"/>
                </a:solidFill>
              </a:rPr>
              <a:t>Improves code readability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Custom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User Defined Exceptions</a:t>
            </a:r>
          </a:p>
          <a:p>
            <a:r>
              <a:rPr lang="en-US" altLang="en-US">
                <a:solidFill>
                  <a:schemeClr val="tx1"/>
                </a:solidFill>
              </a:rPr>
              <a:t>Developers can create their own exceptions for application-specific problems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457"/>
          <a:stretch>
            <a:fillRect/>
          </a:stretch>
        </p:blipFill>
        <p:spPr>
          <a:xfrm>
            <a:off x="1918970" y="3846195"/>
            <a:ext cx="8178165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Best Practices in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chemeClr val="accent5">
                    <a:lumMod val="50000"/>
                  </a:schemeClr>
                </a:solidFill>
              </a:rPr>
              <a:t>Recommended Practices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Guidelines</a:t>
            </a:r>
          </a:p>
          <a:p>
            <a:r>
              <a:rPr lang="en-US" altLang="en-US">
                <a:solidFill>
                  <a:schemeClr val="tx1"/>
                </a:solidFill>
              </a:rPr>
              <a:t>Catch specific exceptions</a:t>
            </a:r>
          </a:p>
          <a:p>
            <a:r>
              <a:rPr lang="en-US" altLang="en-US">
                <a:solidFill>
                  <a:schemeClr val="tx1"/>
                </a:solidFill>
              </a:rPr>
              <a:t>Avoid empty catch blocks</a:t>
            </a:r>
          </a:p>
          <a:p>
            <a:r>
              <a:rPr lang="en-US" altLang="en-US">
                <a:solidFill>
                  <a:schemeClr val="tx1"/>
                </a:solidFill>
              </a:rPr>
              <a:t>Use meaningful exception messages</a:t>
            </a:r>
          </a:p>
          <a:p>
            <a:r>
              <a:rPr lang="en-US" altLang="en-US">
                <a:solidFill>
                  <a:schemeClr val="tx1"/>
                </a:solidFill>
              </a:rPr>
              <a:t>Do not overuse exceptions</a:t>
            </a:r>
          </a:p>
          <a:p>
            <a:r>
              <a:rPr lang="en-US" altLang="en-US">
                <a:solidFill>
                  <a:schemeClr val="tx1"/>
                </a:solidFill>
              </a:rPr>
              <a:t>Always clean resources</a:t>
            </a:r>
          </a:p>
          <a:p>
            <a:r>
              <a:rPr lang="en-US" altLang="en-US">
                <a:solidFill>
                  <a:schemeClr val="tx1"/>
                </a:solidFill>
              </a:rPr>
              <a:t>Log exceptions properly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fferenvce"/>
          <p:cNvPicPr>
            <a:picLocks noGrp="1" noChangeAspect="1"/>
          </p:cNvPicPr>
          <p:nvPr>
            <p:ph idx="1"/>
          </p:nvPr>
        </p:nvPicPr>
        <p:blipFill>
          <a:blip r:embed="rId2"/>
          <a:srcRect t="11410"/>
          <a:stretch>
            <a:fillRect/>
          </a:stretch>
        </p:blipFill>
        <p:spPr>
          <a:xfrm>
            <a:off x="1023620" y="437515"/>
            <a:ext cx="9999345" cy="61188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Introduction to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735"/>
            <a:ext cx="10515600" cy="4360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Logging</a:t>
            </a:r>
            <a:r>
              <a:rPr lang="en-US" altLang="en-US"/>
              <a:t> is the process of recording application events, warnings, and errors into files or consoles</a:t>
            </a:r>
          </a:p>
          <a:p>
            <a:r>
              <a:rPr lang="en-US" altLang="en-US"/>
              <a:t>Monitor application behavior</a:t>
            </a:r>
          </a:p>
          <a:p>
            <a:r>
              <a:rPr lang="en-US" altLang="en-US"/>
              <a:t>Identify system issues</a:t>
            </a:r>
          </a:p>
          <a:p>
            <a:r>
              <a:rPr lang="en-US" altLang="en-US"/>
              <a:t>Support debugging</a:t>
            </a:r>
          </a:p>
          <a:p>
            <a:r>
              <a:rPr lang="en-US" altLang="en-US"/>
              <a:t>Maintain application history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Logged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Errors</a:t>
            </a:r>
          </a:p>
          <a:p>
            <a:r>
              <a:rPr lang="en-US" altLang="en-US"/>
              <a:t>User actions</a:t>
            </a:r>
          </a:p>
          <a:p>
            <a:r>
              <a:rPr lang="en-US" altLang="en-US"/>
              <a:t>System events</a:t>
            </a:r>
          </a:p>
          <a:p>
            <a:r>
              <a:rPr lang="en-US" altLang="en-US"/>
              <a:t>Security events</a:t>
            </a:r>
          </a:p>
        </p:txBody>
      </p:sp>
      <p:pic>
        <p:nvPicPr>
          <p:cNvPr id="6" name="Picture 5" descr="ser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90" y="1479550"/>
            <a:ext cx="6950710" cy="46285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Importance of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Why Logging is Important?</a:t>
            </a:r>
          </a:p>
          <a:p>
            <a:r>
              <a:rPr lang="en-US" altLang="en-US">
                <a:solidFill>
                  <a:schemeClr val="tx1"/>
                </a:solidFill>
              </a:rPr>
              <a:t>Detects issues quickly</a:t>
            </a:r>
          </a:p>
          <a:p>
            <a:r>
              <a:rPr lang="en-US" altLang="en-US">
                <a:solidFill>
                  <a:schemeClr val="tx1"/>
                </a:solidFill>
              </a:rPr>
              <a:t>Assists troubleshooting</a:t>
            </a:r>
          </a:p>
          <a:p>
            <a:r>
              <a:rPr lang="en-US" altLang="en-US">
                <a:solidFill>
                  <a:schemeClr val="tx1"/>
                </a:solidFill>
              </a:rPr>
              <a:t>Provides system monitoring</a:t>
            </a:r>
          </a:p>
          <a:p>
            <a:r>
              <a:rPr lang="en-US" altLang="en-US">
                <a:solidFill>
                  <a:schemeClr val="tx1"/>
                </a:solidFill>
              </a:rPr>
              <a:t>Improves maintenance</a:t>
            </a:r>
          </a:p>
          <a:p>
            <a:r>
              <a:rPr lang="en-US" altLang="en-US">
                <a:solidFill>
                  <a:schemeClr val="tx1"/>
                </a:solidFill>
              </a:rPr>
              <a:t>Supports auditing and security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Banking systems maintain logs for every transaction for security and tracking.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Introduction to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SLF4J (Simple Logging Facade for Java)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SLF4J is a popular Java logging </a:t>
            </a:r>
            <a:r>
              <a:rPr lang="en-US" altLang="en-US" b="1">
                <a:solidFill>
                  <a:schemeClr val="tx1"/>
                </a:solidFill>
              </a:rPr>
              <a:t>framework</a:t>
            </a:r>
            <a:r>
              <a:rPr lang="en-US" altLang="en-US">
                <a:solidFill>
                  <a:schemeClr val="tx1"/>
                </a:solidFill>
              </a:rPr>
              <a:t> that provides abstraction for different logging libraries.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Features</a:t>
            </a:r>
          </a:p>
          <a:p>
            <a:r>
              <a:rPr lang="en-US" altLang="en-US">
                <a:solidFill>
                  <a:schemeClr val="tx1"/>
                </a:solidFill>
              </a:rPr>
              <a:t>Lightweight</a:t>
            </a:r>
          </a:p>
          <a:p>
            <a:r>
              <a:rPr lang="en-US" altLang="en-US">
                <a:solidFill>
                  <a:schemeClr val="tx1"/>
                </a:solidFill>
              </a:rPr>
              <a:t>Flexible</a:t>
            </a:r>
          </a:p>
          <a:p>
            <a:r>
              <a:rPr lang="en-US" altLang="en-US">
                <a:solidFill>
                  <a:schemeClr val="tx1"/>
                </a:solidFill>
              </a:rPr>
              <a:t>Easy integration</a:t>
            </a:r>
          </a:p>
          <a:p>
            <a:r>
              <a:rPr lang="en-US" altLang="en-US">
                <a:solidFill>
                  <a:schemeClr val="tx1"/>
                </a:solidFill>
              </a:rPr>
              <a:t>Supports multiple logging frameworks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0235"/>
            <a:ext cx="10515600" cy="556704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Supported Frameworks</a:t>
            </a:r>
          </a:p>
          <a:p>
            <a:r>
              <a:rPr lang="en-US" altLang="en-US">
                <a:solidFill>
                  <a:schemeClr val="tx1"/>
                </a:solidFill>
              </a:rPr>
              <a:t>Logback</a:t>
            </a:r>
          </a:p>
          <a:p>
            <a:r>
              <a:rPr lang="en-US" altLang="en-US">
                <a:solidFill>
                  <a:schemeClr val="tx1"/>
                </a:solidFill>
              </a:rPr>
              <a:t>Log4j</a:t>
            </a:r>
          </a:p>
          <a:p>
            <a:r>
              <a:rPr lang="en-US" altLang="en-US">
                <a:solidFill>
                  <a:schemeClr val="tx1"/>
                </a:solidFill>
              </a:rPr>
              <a:t>java.util.logging</a:t>
            </a: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4" name="Picture 3" descr="ChatGPT Image May 7, 2026, 10_34_39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090" y="2129155"/>
            <a:ext cx="6397625" cy="4265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Creating Logger Using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27740" cy="467741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Logger Initialization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Purpose</a:t>
            </a:r>
            <a:endParaRPr lang="en-US" altLang="en-US" b="1">
              <a:solidFill>
                <a:srgbClr val="FF0000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Creates a logger object to record messages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908935"/>
            <a:ext cx="10732135" cy="15989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Logging Levels in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Level                                  Purpose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TRACE                                Very detailed information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DEBUG                               Debugging details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INFO                                   General information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WARN                                 Warning situations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ERROR                                 Serious issues</a:t>
            </a: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Importance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</a:rPr>
              <a:t>Helps categorize messages according to severity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85"/>
          </a:xfrm>
        </p:spPr>
        <p:txBody>
          <a:bodyPr/>
          <a:lstStyle/>
          <a:p>
            <a:pPr algn="ctr"/>
            <a:r>
              <a:rPr lang="en-US" b="1"/>
              <a:t>Pictorial Representation</a:t>
            </a:r>
          </a:p>
        </p:txBody>
      </p:sp>
      <p:pic>
        <p:nvPicPr>
          <p:cNvPr id="4" name="Content Placeholder 3" descr="ChatGPT Image May 7, 2026, 10_53_31 AM"/>
          <p:cNvPicPr>
            <a:picLocks noGrp="1" noChangeAspect="1"/>
          </p:cNvPicPr>
          <p:nvPr>
            <p:ph idx="1"/>
          </p:nvPr>
        </p:nvPicPr>
        <p:blipFill>
          <a:blip r:embed="rId2"/>
          <a:srcRect t="13454" b="19174"/>
          <a:stretch>
            <a:fillRect/>
          </a:stretch>
        </p:blipFill>
        <p:spPr>
          <a:xfrm>
            <a:off x="2027555" y="1507490"/>
            <a:ext cx="8021320" cy="46158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SLF4J Logging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chemeClr val="accent5">
                    <a:lumMod val="50000"/>
                  </a:schemeClr>
                </a:solidFill>
              </a:rPr>
              <a:t>Logging Messages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logger.info("Application started");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logger.debug("Debugging mode enabled");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logger.error("Database connection failed");</a:t>
            </a: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Introduction to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What is Debugging?</a:t>
            </a:r>
          </a:p>
          <a:p>
            <a:r>
              <a:rPr lang="en-US" altLang="en-US">
                <a:solidFill>
                  <a:schemeClr val="tx1"/>
                </a:solidFill>
              </a:rPr>
              <a:t>Process of identifying, analyzing, and fixing software bugs</a:t>
            </a:r>
          </a:p>
          <a:p>
            <a:r>
              <a:rPr lang="en-US" altLang="en-US">
                <a:solidFill>
                  <a:schemeClr val="tx1"/>
                </a:solidFill>
              </a:rPr>
              <a:t>Remove software defects</a:t>
            </a:r>
          </a:p>
          <a:p>
            <a:r>
              <a:rPr lang="en-US" altLang="en-US">
                <a:solidFill>
                  <a:schemeClr val="tx1"/>
                </a:solidFill>
              </a:rPr>
              <a:t>Improve code quality</a:t>
            </a:r>
          </a:p>
          <a:p>
            <a:r>
              <a:rPr lang="en-US" altLang="en-US">
                <a:solidFill>
                  <a:schemeClr val="tx1"/>
                </a:solidFill>
              </a:rPr>
              <a:t>Ensure correct program behavior</a:t>
            </a: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Debugging is essential for producing reliable software systems.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Common Types of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0000"/>
                </a:solidFill>
              </a:rPr>
              <a:t>Syntax Bugs : </a:t>
            </a:r>
            <a:r>
              <a:rPr lang="en-US" altLang="en-US">
                <a:solidFill>
                  <a:schemeClr val="tx1"/>
                </a:solidFill>
              </a:rPr>
              <a:t>Violations of programming language rules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Runtime Bugs: </a:t>
            </a:r>
            <a:r>
              <a:rPr lang="en-US" altLang="en-US">
                <a:solidFill>
                  <a:schemeClr val="tx1"/>
                </a:solidFill>
              </a:rPr>
              <a:t>Occur during execution</a:t>
            </a:r>
            <a:endParaRPr lang="en-US" altLang="en-US" b="1">
              <a:solidFill>
                <a:srgbClr val="FF0000"/>
              </a:solidFill>
            </a:endParaRPr>
          </a:p>
          <a:p>
            <a:r>
              <a:rPr lang="en-US" altLang="en-US" b="1">
                <a:solidFill>
                  <a:srgbClr val="FF0000"/>
                </a:solidFill>
              </a:rPr>
              <a:t>Logical Bugs: </a:t>
            </a:r>
            <a:r>
              <a:rPr lang="en-US" altLang="en-US">
                <a:solidFill>
                  <a:schemeClr val="tx1"/>
                </a:solidFill>
              </a:rPr>
              <a:t>Program runs but produces incorrect results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Integration Bugs: </a:t>
            </a:r>
            <a:r>
              <a:rPr lang="en-US" altLang="en-US">
                <a:solidFill>
                  <a:schemeClr val="tx1"/>
                </a:solidFill>
              </a:rPr>
              <a:t>Occur when multiple modules interact incorrectly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chemeClr val="tx1"/>
                </a:solidFill>
              </a:rPr>
              <a:t>Debugging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73456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1. Print Statement Debugging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Displays variable values at different points in the program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int a = 10;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int b = 20;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System.out.println("Value of a: " + a);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System.out.println("Value of b: " + b);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System.out.println("Sum: " + (a + b));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Use:</a:t>
            </a:r>
          </a:p>
          <a:p>
            <a:r>
              <a:rPr lang="en-US" altLang="en-US">
                <a:solidFill>
                  <a:schemeClr val="tx1"/>
                </a:solidFill>
              </a:rPr>
              <a:t>Helps check if values are correct</a:t>
            </a:r>
          </a:p>
          <a:p>
            <a:r>
              <a:rPr lang="en-US" altLang="en-US">
                <a:solidFill>
                  <a:schemeClr val="tx1"/>
                </a:solidFill>
              </a:rPr>
              <a:t>Simple and quick debugging method</a:t>
            </a: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0700"/>
            <a:ext cx="10515600" cy="5817235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2. Step-by-Step Execution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Run code line by line using a debugger tool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int x = 5;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int y = x * 2;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int z = y + 10;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System.out.println(z);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How it works: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Step 1:</a:t>
            </a:r>
            <a:r>
              <a:rPr lang="en-US" altLang="en-US">
                <a:solidFill>
                  <a:schemeClr val="tx1"/>
                </a:solidFill>
              </a:rPr>
              <a:t> x = 5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Step 2:</a:t>
            </a:r>
            <a:r>
              <a:rPr lang="en-US" altLang="en-US">
                <a:solidFill>
                  <a:schemeClr val="tx1"/>
                </a:solidFill>
              </a:rPr>
              <a:t> y = 10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Step 3:</a:t>
            </a:r>
            <a:r>
              <a:rPr lang="en-US" altLang="en-US">
                <a:solidFill>
                  <a:schemeClr val="tx1"/>
                </a:solidFill>
              </a:rPr>
              <a:t> z = 20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Use:</a:t>
            </a:r>
          </a:p>
          <a:p>
            <a:r>
              <a:rPr lang="en-US" altLang="en-US">
                <a:solidFill>
                  <a:schemeClr val="tx1"/>
                </a:solidFill>
              </a:rPr>
              <a:t>Helps understand program flow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7385"/>
            <a:ext cx="10515600" cy="550989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3. Code Review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Other developers check code to find mistakes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Developer A writes: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if(age = 18)   </a:t>
            </a:r>
            <a:r>
              <a:rPr lang="en-US" altLang="en-US" b="1">
                <a:solidFill>
                  <a:schemeClr val="tx1"/>
                </a:solidFill>
              </a:rPr>
              <a:t>// mistake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Developer B corrects it: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if(age == 18)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Use:</a:t>
            </a:r>
          </a:p>
          <a:p>
            <a:r>
              <a:rPr lang="en-US" altLang="en-US">
                <a:solidFill>
                  <a:schemeClr val="tx1"/>
                </a:solidFill>
              </a:rPr>
              <a:t>Finds logical and syntax errors</a:t>
            </a:r>
          </a:p>
          <a:p>
            <a:r>
              <a:rPr lang="en-US" altLang="en-US">
                <a:solidFill>
                  <a:schemeClr val="tx1"/>
                </a:solidFill>
              </a:rPr>
              <a:t>Improves code quality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4085"/>
            <a:ext cx="10515600" cy="524319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4. Unit Testing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Testing small parts (functions) individually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int add(int a, int b){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return a + b;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accent2">
                    <a:lumMod val="50000"/>
                  </a:schemeClr>
                </a:solidFill>
              </a:rPr>
              <a:t>Test Case: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Input:</a:t>
            </a:r>
            <a:r>
              <a:rPr lang="en-US" altLang="en-US">
                <a:solidFill>
                  <a:schemeClr val="tx1"/>
                </a:solidFill>
              </a:rPr>
              <a:t> 2, 3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Expected Output:</a:t>
            </a:r>
            <a:r>
              <a:rPr lang="en-US" altLang="en-US">
                <a:solidFill>
                  <a:schemeClr val="tx1"/>
                </a:solidFill>
              </a:rPr>
              <a:t> 5</a:t>
            </a: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algn="l">
              <a:buFont typeface="Wingdings" panose="05000000000000000000" charset="0"/>
              <a:buChar char="ü"/>
            </a:pPr>
            <a:r>
              <a:rPr lang="en-US" altLang="en-US" b="1">
                <a:solidFill>
                  <a:srgbClr val="FF0000"/>
                </a:solidFill>
              </a:rPr>
              <a:t>Ensures each function works correctly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8490"/>
            <a:ext cx="10515600" cy="555879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chemeClr val="accent5">
                    <a:lumMod val="50000"/>
                  </a:schemeClr>
                </a:solidFill>
              </a:rPr>
              <a:t>5. Log Analysis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Study system logs to find errors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INFO:</a:t>
            </a:r>
            <a:r>
              <a:rPr lang="en-US" altLang="en-US">
                <a:solidFill>
                  <a:schemeClr val="tx1"/>
                </a:solidFill>
              </a:rPr>
              <a:t> Application started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ERROR: </a:t>
            </a:r>
            <a:r>
              <a:rPr lang="en-US" altLang="en-US">
                <a:solidFill>
                  <a:schemeClr val="tx1"/>
                </a:solidFill>
              </a:rPr>
              <a:t>Database connection failed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WARN:</a:t>
            </a:r>
            <a:r>
              <a:rPr lang="en-US" altLang="en-US">
                <a:solidFill>
                  <a:schemeClr val="tx1"/>
                </a:solidFill>
              </a:rPr>
              <a:t> Low memory detected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Use:</a:t>
            </a:r>
          </a:p>
          <a:p>
            <a:r>
              <a:rPr lang="en-US" altLang="en-US">
                <a:solidFill>
                  <a:schemeClr val="tx1"/>
                </a:solidFill>
              </a:rPr>
              <a:t>Helps trace real system issues</a:t>
            </a:r>
          </a:p>
          <a:p>
            <a:r>
              <a:rPr lang="en-US" altLang="en-US">
                <a:solidFill>
                  <a:schemeClr val="tx1"/>
                </a:solidFill>
              </a:rPr>
              <a:t>Useful in production systems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Popular Debugging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/>
              <a:t>IntelliJ IDEA Debugger</a:t>
            </a:r>
          </a:p>
          <a:p>
            <a:r>
              <a:rPr lang="en-US" altLang="en-US"/>
              <a:t>Eclipse Debugger</a:t>
            </a:r>
          </a:p>
          <a:p>
            <a:r>
              <a:rPr lang="en-US" altLang="en-US"/>
              <a:t>Java Debugger (JDB)</a:t>
            </a:r>
          </a:p>
          <a:p>
            <a:r>
              <a:rPr lang="en-US" altLang="en-US"/>
              <a:t>VisualVM</a:t>
            </a:r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648200" y="1691005"/>
            <a:ext cx="6910705" cy="47739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Error Handling and 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Error Handling</a:t>
            </a:r>
          </a:p>
          <a:p>
            <a:r>
              <a:rPr lang="en-US" altLang="en-US">
                <a:solidFill>
                  <a:schemeClr val="tx1"/>
                </a:solidFill>
              </a:rPr>
              <a:t>Refers to detecting and responding properly to software errors</a:t>
            </a:r>
          </a:p>
          <a:p>
            <a:r>
              <a:rPr lang="en-US" altLang="en-US">
                <a:solidFill>
                  <a:schemeClr val="tx1"/>
                </a:solidFill>
              </a:rPr>
              <a:t>Prevent system failure</a:t>
            </a:r>
          </a:p>
          <a:p>
            <a:r>
              <a:rPr lang="en-US" altLang="en-US">
                <a:solidFill>
                  <a:schemeClr val="tx1"/>
                </a:solidFill>
              </a:rPr>
              <a:t>Maintain smooth execution</a:t>
            </a:r>
          </a:p>
          <a:p>
            <a:r>
              <a:rPr lang="en-US" altLang="en-US">
                <a:solidFill>
                  <a:schemeClr val="tx1"/>
                </a:solidFill>
              </a:rPr>
              <a:t>Provide user-friendly messages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Fault Tolerance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Ability of a system to continue functioning even after failures occur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Examples</a:t>
            </a:r>
          </a:p>
          <a:p>
            <a:r>
              <a:rPr lang="en-US" altLang="en-US">
                <a:solidFill>
                  <a:schemeClr val="tx1"/>
                </a:solidFill>
              </a:rPr>
              <a:t>Backup servers</a:t>
            </a:r>
          </a:p>
          <a:p>
            <a:r>
              <a:rPr lang="en-US" altLang="en-US">
                <a:solidFill>
                  <a:schemeClr val="tx1"/>
                </a:solidFill>
              </a:rPr>
              <a:t>Retry mechanisms</a:t>
            </a:r>
          </a:p>
          <a:p>
            <a:r>
              <a:rPr lang="en-US" altLang="en-US">
                <a:solidFill>
                  <a:schemeClr val="tx1"/>
                </a:solidFill>
              </a:rPr>
              <a:t>Redundant databases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Fault Tolerance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Techniques for Fault Tolerance</a:t>
            </a:r>
          </a:p>
          <a:p>
            <a:r>
              <a:rPr lang="en-US" altLang="en-US">
                <a:solidFill>
                  <a:schemeClr val="tx1"/>
                </a:solidFill>
              </a:rPr>
              <a:t>Retry Mechanism (Retry failed operations automatically)</a:t>
            </a:r>
          </a:p>
          <a:p>
            <a:r>
              <a:rPr lang="en-US" altLang="en-US">
                <a:solidFill>
                  <a:schemeClr val="tx1"/>
                </a:solidFill>
              </a:rPr>
              <a:t>Redundancy (Maintain backup systems)</a:t>
            </a:r>
          </a:p>
          <a:p>
            <a:r>
              <a:rPr lang="en-US" altLang="en-US">
                <a:solidFill>
                  <a:schemeClr val="tx1"/>
                </a:solidFill>
              </a:rPr>
              <a:t>Graceful Degradation (Reduce functionality instead of complete shutdown)</a:t>
            </a:r>
          </a:p>
          <a:p>
            <a:r>
              <a:rPr lang="en-US" altLang="en-US">
                <a:solidFill>
                  <a:schemeClr val="tx1"/>
                </a:solidFill>
              </a:rPr>
              <a:t>Failover Systems (Switch to backup systems automatically)</a:t>
            </a:r>
          </a:p>
          <a:p>
            <a:r>
              <a:rPr lang="en-US" altLang="en-US">
                <a:solidFill>
                  <a:schemeClr val="tx1"/>
                </a:solidFill>
              </a:rPr>
              <a:t>Data Backup and Recovery (Protect important information)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4350"/>
            <a:ext cx="10515600" cy="566293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                                                  </a:t>
            </a:r>
          </a:p>
          <a:p>
            <a:pPr marL="0" indent="0">
              <a:buNone/>
            </a:pPr>
            <a:r>
              <a:rPr lang="en-US"/>
              <a:t>                                                </a:t>
            </a:r>
            <a:r>
              <a:rPr lang="en-US" sz="4800" b="1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</Words>
  <Application>Microsoft Office PowerPoint</Application>
  <PresentationFormat>Widescreen</PresentationFormat>
  <Paragraphs>273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Theme</vt:lpstr>
      <vt:lpstr>Software Construction and Development</vt:lpstr>
      <vt:lpstr>Exception Handling in Java</vt:lpstr>
      <vt:lpstr>What is an Exception?</vt:lpstr>
      <vt:lpstr>Common Examples</vt:lpstr>
      <vt:lpstr>Need for Exception Handling</vt:lpstr>
      <vt:lpstr>Example Scenario</vt:lpstr>
      <vt:lpstr>Types of Errors</vt:lpstr>
      <vt:lpstr>Java Exception Hierarchy</vt:lpstr>
      <vt:lpstr>Types of Exception</vt:lpstr>
      <vt:lpstr>PowerPoint Presentation</vt:lpstr>
      <vt:lpstr>Exception Handling Keywords</vt:lpstr>
      <vt:lpstr>Try-Catch Block</vt:lpstr>
      <vt:lpstr>Multiple Catch Blocks</vt:lpstr>
      <vt:lpstr>Finally Block</vt:lpstr>
      <vt:lpstr>Throw Keyword</vt:lpstr>
      <vt:lpstr>Throws Keyword</vt:lpstr>
      <vt:lpstr>Custom Exceptions</vt:lpstr>
      <vt:lpstr>Best Practices in Exception Handling</vt:lpstr>
      <vt:lpstr>PowerPoint Presentation</vt:lpstr>
      <vt:lpstr>Introduction to Logging</vt:lpstr>
      <vt:lpstr>Logged Information</vt:lpstr>
      <vt:lpstr>Importance of Logging</vt:lpstr>
      <vt:lpstr>Introduction to SLF4J</vt:lpstr>
      <vt:lpstr>PowerPoint Presentation</vt:lpstr>
      <vt:lpstr>Creating Logger Using SLF4J</vt:lpstr>
      <vt:lpstr>Logging Levels in SLF4J</vt:lpstr>
      <vt:lpstr>Pictorial Representation</vt:lpstr>
      <vt:lpstr>SLF4J Logging Example</vt:lpstr>
      <vt:lpstr>Introduction to Debugging</vt:lpstr>
      <vt:lpstr>Common Types of Bugs</vt:lpstr>
      <vt:lpstr>Debugging Techniques</vt:lpstr>
      <vt:lpstr>PowerPoint Presentation</vt:lpstr>
      <vt:lpstr>PowerPoint Presentation</vt:lpstr>
      <vt:lpstr>PowerPoint Presentation</vt:lpstr>
      <vt:lpstr>PowerPoint Presentation</vt:lpstr>
      <vt:lpstr>Popular Debugging Tools</vt:lpstr>
      <vt:lpstr>Error Handling and Fault Tolerance</vt:lpstr>
      <vt:lpstr>Fault Tolerance Strategies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khizar hayat</dc:creator>
  <cp:lastModifiedBy>Muhammad Khizar Hayat</cp:lastModifiedBy>
  <cp:revision>3</cp:revision>
  <dcterms:created xsi:type="dcterms:W3CDTF">2025-07-23T00:59:00Z</dcterms:created>
  <dcterms:modified xsi:type="dcterms:W3CDTF">2026-05-08T17:21:26Z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E8097257EC2C4E91B2C3FD295F8AFB9C_11</vt:lpwstr>
  </property>
  <property fmtid="{D5CDD505-2E9C-101B-9397-08002B2CF9AE}" pid="3" name="KSOProductBuildVer">
    <vt:lpwstr>1033-12.1.0.25862</vt:lpwstr>
  </property>
</Properties>
</file>