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85" d="100"/>
          <a:sy n="85" d="100"/>
        </p:scale>
        <p:origin x="547"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4/27/2026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sym typeface="+mn-ea"/>
              </a:rPr>
              <a:t>Software Construction and Development</a:t>
            </a:r>
            <a:endParaRPr lang="en-US" dirty="0"/>
          </a:p>
        </p:txBody>
      </p:sp>
      <p:sp>
        <p:nvSpPr>
          <p:cNvPr id="3" name="Subtitle 2"/>
          <p:cNvSpPr>
            <a:spLocks noGrp="1"/>
          </p:cNvSpPr>
          <p:nvPr>
            <p:ph type="subTitle" idx="1"/>
          </p:nvPr>
        </p:nvSpPr>
        <p:spPr/>
        <p:txBody>
          <a:bodyPr>
            <a:normAutofit lnSpcReduction="10000"/>
          </a:bodyPr>
          <a:lstStyle/>
          <a:p>
            <a:r>
              <a:rPr lang="en-US" b="1" dirty="0">
                <a:sym typeface="+mn-ea"/>
              </a:rPr>
              <a:t>Week 9 </a:t>
            </a:r>
            <a:endParaRPr lang="en-US" b="1" dirty="0"/>
          </a:p>
          <a:p>
            <a:r>
              <a:rPr lang="en-US" b="1" dirty="0">
                <a:solidFill>
                  <a:srgbClr val="FF0000"/>
                </a:solidFill>
                <a:sym typeface="+mn-ea"/>
              </a:rPr>
              <a:t>Instructor :M Khizar Hayat</a:t>
            </a:r>
            <a:endParaRPr lang="en-US" b="1" dirty="0">
              <a:solidFill>
                <a:srgbClr val="FF0000"/>
              </a:solidFill>
            </a:endParaRPr>
          </a:p>
          <a:p>
            <a:r>
              <a:rPr lang="en-US" altLang="en-US" i="1" dirty="0"/>
              <a:t>Chapters 23, Code Complete</a:t>
            </a:r>
          </a:p>
          <a:p>
            <a:r>
              <a:rPr lang="en-US" altLang="en-US" i="1" dirty="0"/>
              <a:t>Chapter 7, Clean Code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Event Handling</a:t>
            </a:r>
          </a:p>
        </p:txBody>
      </p:sp>
      <p:sp>
        <p:nvSpPr>
          <p:cNvPr id="3" name="Content Placeholder 2"/>
          <p:cNvSpPr>
            <a:spLocks noGrp="1"/>
          </p:cNvSpPr>
          <p:nvPr>
            <p:ph idx="1"/>
          </p:nvPr>
        </p:nvSpPr>
        <p:spPr/>
        <p:txBody>
          <a:bodyPr/>
          <a:lstStyle/>
          <a:p>
            <a:pPr algn="just"/>
            <a:r>
              <a:rPr lang="en-US"/>
              <a:t>Event Handling is fundamental to java programming because it is used to create event driven programs e.g </a:t>
            </a:r>
            <a:r>
              <a:rPr lang="en-US" b="1">
                <a:solidFill>
                  <a:srgbClr val="FF0000"/>
                </a:solidFill>
              </a:rPr>
              <a:t>GUI based windows applications, Web Application etc.</a:t>
            </a:r>
          </a:p>
          <a:p>
            <a:pPr algn="just"/>
            <a:r>
              <a:rPr lang="en-US"/>
              <a:t>Event handling mechanism have been chaged significantly between the original version of Java(1.0) and all subsequent versions of Java, beginning with version 1.1.</a:t>
            </a:r>
          </a:p>
          <a:p>
            <a:pPr algn="just"/>
            <a:r>
              <a:rPr lang="en-US"/>
              <a:t>The modern approach of handling events is based on the </a:t>
            </a:r>
            <a:r>
              <a:rPr lang="en-US" b="1">
                <a:solidFill>
                  <a:srgbClr val="002060"/>
                </a:solidFill>
              </a:rPr>
              <a:t>delegation event model.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What is an Event?</a:t>
            </a:r>
          </a:p>
        </p:txBody>
      </p:sp>
      <p:sp>
        <p:nvSpPr>
          <p:cNvPr id="3" name="Content Placeholder 2"/>
          <p:cNvSpPr>
            <a:spLocks noGrp="1"/>
          </p:cNvSpPr>
          <p:nvPr>
            <p:ph idx="1"/>
          </p:nvPr>
        </p:nvSpPr>
        <p:spPr/>
        <p:txBody>
          <a:bodyPr/>
          <a:lstStyle/>
          <a:p>
            <a:pPr algn="just"/>
            <a:r>
              <a:rPr lang="en-US"/>
              <a:t>Change in the state of an object is known as </a:t>
            </a:r>
            <a:r>
              <a:rPr lang="en-US" b="1">
                <a:solidFill>
                  <a:srgbClr val="002060"/>
                </a:solidFill>
              </a:rPr>
              <a:t>event</a:t>
            </a:r>
            <a:r>
              <a:rPr lang="en-US"/>
              <a:t> i.e event describes the change in state of source</a:t>
            </a:r>
          </a:p>
          <a:p>
            <a:pPr algn="just"/>
            <a:r>
              <a:rPr lang="en-US"/>
              <a:t>Events are generated as result of user interaction with the graphical user interface components</a:t>
            </a:r>
          </a:p>
          <a:p>
            <a:pPr algn="just"/>
            <a:r>
              <a:rPr lang="en-US" b="1">
                <a:solidFill>
                  <a:srgbClr val="FF0000"/>
                </a:solidFill>
              </a:rPr>
              <a:t>For example,</a:t>
            </a:r>
            <a:r>
              <a:rPr lang="en-US"/>
              <a:t> clicking on a button, moving the mouse, entering a character through keyboard, selecting an item from list, scrolling the page are the activities that causes an event to happen</a:t>
            </a: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Types of Event</a:t>
            </a:r>
          </a:p>
        </p:txBody>
      </p:sp>
      <p:sp>
        <p:nvSpPr>
          <p:cNvPr id="3" name="Content Placeholder 2"/>
          <p:cNvSpPr>
            <a:spLocks noGrp="1"/>
          </p:cNvSpPr>
          <p:nvPr>
            <p:ph idx="1"/>
          </p:nvPr>
        </p:nvSpPr>
        <p:spPr/>
        <p:txBody>
          <a:bodyPr>
            <a:normAutofit fontScale="90000"/>
          </a:bodyPr>
          <a:lstStyle/>
          <a:p>
            <a:pPr algn="just"/>
            <a:r>
              <a:rPr lang="en-US"/>
              <a:t>The events can be broadly classified into two categories:</a:t>
            </a:r>
          </a:p>
          <a:p>
            <a:pPr algn="just"/>
            <a:r>
              <a:rPr lang="en-US" b="1">
                <a:solidFill>
                  <a:srgbClr val="002060"/>
                </a:solidFill>
              </a:rPr>
              <a:t>Foreground Events -</a:t>
            </a:r>
            <a:r>
              <a:rPr lang="en-US"/>
              <a:t> Those events which require the direct interaction of user</a:t>
            </a:r>
          </a:p>
          <a:p>
            <a:pPr algn="just"/>
            <a:r>
              <a:rPr lang="en-US"/>
              <a:t>They are generated as consequences of a person interacting with the graphical components in Graphical User Interface</a:t>
            </a:r>
          </a:p>
          <a:p>
            <a:pPr algn="just"/>
            <a:r>
              <a:rPr lang="en-US" b="1">
                <a:solidFill>
                  <a:srgbClr val="FF0000"/>
                </a:solidFill>
              </a:rPr>
              <a:t>For example,</a:t>
            </a:r>
            <a:r>
              <a:rPr lang="en-US"/>
              <a:t> </a:t>
            </a:r>
            <a:r>
              <a:rPr lang="en-US">
                <a:sym typeface="+mn-ea"/>
              </a:rPr>
              <a:t>clicking on a button, moving the mouse, entering a character through keyboard, selecting an item from list, scrolling the page etc</a:t>
            </a:r>
          </a:p>
          <a:p>
            <a:pPr algn="just"/>
            <a:r>
              <a:rPr lang="en-US" b="1">
                <a:solidFill>
                  <a:srgbClr val="002060"/>
                </a:solidFill>
              </a:rPr>
              <a:t>Background Events -</a:t>
            </a:r>
            <a:r>
              <a:rPr lang="en-US"/>
              <a:t> Those events that don’t require interactions of user to generate</a:t>
            </a:r>
          </a:p>
          <a:p>
            <a:pPr algn="just"/>
            <a:r>
              <a:rPr lang="en-US" b="1">
                <a:solidFill>
                  <a:srgbClr val="FF0000"/>
                </a:solidFill>
              </a:rPr>
              <a:t>For example,</a:t>
            </a:r>
            <a:r>
              <a:rPr lang="en-US"/>
              <a:t> operating system interrupts, hardware or software failure, timer expires, an operation completion 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What is an Event Handling?</a:t>
            </a:r>
            <a:endParaRPr lang="en-US"/>
          </a:p>
        </p:txBody>
      </p:sp>
      <p:sp>
        <p:nvSpPr>
          <p:cNvPr id="3" name="Content Placeholder 2"/>
          <p:cNvSpPr>
            <a:spLocks noGrp="1"/>
          </p:cNvSpPr>
          <p:nvPr>
            <p:ph idx="1"/>
          </p:nvPr>
        </p:nvSpPr>
        <p:spPr/>
        <p:txBody>
          <a:bodyPr/>
          <a:lstStyle/>
          <a:p>
            <a:pPr algn="just"/>
            <a:r>
              <a:rPr lang="en-US" b="1">
                <a:solidFill>
                  <a:srgbClr val="002060"/>
                </a:solidFill>
              </a:rPr>
              <a:t>Event Handling</a:t>
            </a:r>
            <a:r>
              <a:rPr lang="en-US"/>
              <a:t> is the mechanism that controls the event and decides what should happen if an event occurs</a:t>
            </a:r>
          </a:p>
          <a:p>
            <a:pPr algn="just"/>
            <a:r>
              <a:rPr lang="en-US"/>
              <a:t>This mechanism have the code which is known as </a:t>
            </a:r>
            <a:r>
              <a:rPr lang="en-US" b="1">
                <a:solidFill>
                  <a:srgbClr val="FF0000"/>
                </a:solidFill>
              </a:rPr>
              <a:t>event handler</a:t>
            </a:r>
            <a:r>
              <a:rPr lang="en-US"/>
              <a:t> that is executed when an event occurs</a:t>
            </a:r>
          </a:p>
          <a:p>
            <a:pPr algn="just"/>
            <a:r>
              <a:rPr lang="en-US"/>
              <a:t>Java uses the </a:t>
            </a:r>
            <a:r>
              <a:rPr lang="en-US" b="1">
                <a:solidFill>
                  <a:srgbClr val="FF0000"/>
                </a:solidFill>
              </a:rPr>
              <a:t>Delegation Event Model</a:t>
            </a:r>
            <a:r>
              <a:rPr lang="en-US"/>
              <a:t> to handle the events</a:t>
            </a:r>
          </a:p>
          <a:p>
            <a:pPr algn="just"/>
            <a:r>
              <a:rPr lang="en-US"/>
              <a:t>This model defines the standard mechanism to generate and handle the events. Let’s have a brief introduction to this model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Source &amp; Listener</a:t>
            </a:r>
          </a:p>
        </p:txBody>
      </p:sp>
      <p:sp>
        <p:nvSpPr>
          <p:cNvPr id="3" name="Content Placeholder 2"/>
          <p:cNvSpPr>
            <a:spLocks noGrp="1"/>
          </p:cNvSpPr>
          <p:nvPr>
            <p:ph idx="1"/>
          </p:nvPr>
        </p:nvSpPr>
        <p:spPr/>
        <p:txBody>
          <a:bodyPr>
            <a:normAutofit lnSpcReduction="20000"/>
          </a:bodyPr>
          <a:lstStyle/>
          <a:p>
            <a:pPr algn="just"/>
            <a:r>
              <a:rPr lang="en-US"/>
              <a:t>The Delegation Event Model has the following key participants namely:</a:t>
            </a:r>
          </a:p>
          <a:p>
            <a:pPr algn="just"/>
            <a:r>
              <a:rPr lang="en-US" b="1">
                <a:solidFill>
                  <a:srgbClr val="002060"/>
                </a:solidFill>
              </a:rPr>
              <a:t>Source -</a:t>
            </a:r>
            <a:r>
              <a:rPr lang="en-US"/>
              <a:t> The source is an object on which event occurs</a:t>
            </a:r>
          </a:p>
          <a:p>
            <a:pPr algn="just"/>
            <a:r>
              <a:rPr lang="en-US"/>
              <a:t>Source is responsible for providing information of the occurred event to it’s handler. Java provides classes for source object</a:t>
            </a:r>
          </a:p>
          <a:p>
            <a:pPr algn="just"/>
            <a:r>
              <a:rPr lang="en-US" b="1">
                <a:solidFill>
                  <a:srgbClr val="002060"/>
                </a:solidFill>
              </a:rPr>
              <a:t>Listener -</a:t>
            </a:r>
            <a:r>
              <a:rPr lang="en-US"/>
              <a:t> It is also known as event handler</a:t>
            </a:r>
          </a:p>
          <a:p>
            <a:pPr algn="just"/>
            <a:r>
              <a:rPr lang="en-US">
                <a:sym typeface="+mn-ea"/>
              </a:rPr>
              <a:t>Listener is responsible for generating response to an event. From java  implementation point of view the listener is also an object.Listener waits until it receives an event. Once the event is received, the listener process the event and then returns </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Source &amp; Listener</a:t>
            </a:r>
            <a:endParaRPr lang="en-US"/>
          </a:p>
        </p:txBody>
      </p:sp>
      <p:sp>
        <p:nvSpPr>
          <p:cNvPr id="3" name="Content Placeholder 2"/>
          <p:cNvSpPr>
            <a:spLocks noGrp="1"/>
          </p:cNvSpPr>
          <p:nvPr>
            <p:ph idx="1"/>
          </p:nvPr>
        </p:nvSpPr>
        <p:spPr/>
        <p:txBody>
          <a:bodyPr/>
          <a:lstStyle/>
          <a:p>
            <a:pPr algn="just"/>
            <a:r>
              <a:rPr lang="en-US">
                <a:solidFill>
                  <a:schemeClr val="tx1"/>
                </a:solidFill>
              </a:rPr>
              <a:t>Its concept is quite simple: a source generates an event and sends it to one or more listeners. In this scheme, the listener simply waits until it receives an event</a:t>
            </a:r>
          </a:p>
          <a:p>
            <a:pPr algn="just"/>
            <a:r>
              <a:rPr lang="en-US">
                <a:solidFill>
                  <a:schemeClr val="tx1"/>
                </a:solidFill>
              </a:rPr>
              <a:t>Once an event is received, the listener processes the event and then returns</a:t>
            </a:r>
          </a:p>
          <a:p>
            <a:pPr algn="just"/>
            <a:r>
              <a:rPr lang="en-US">
                <a:solidFill>
                  <a:schemeClr val="tx1"/>
                </a:solidFill>
              </a:rPr>
              <a:t>This provides an </a:t>
            </a:r>
            <a:r>
              <a:rPr lang="en-US" b="1">
                <a:solidFill>
                  <a:srgbClr val="FF0000"/>
                </a:solidFill>
              </a:rPr>
              <a:t>example</a:t>
            </a:r>
            <a:r>
              <a:rPr lang="en-US">
                <a:solidFill>
                  <a:schemeClr val="tx1"/>
                </a:solidFill>
              </a:rPr>
              <a:t> benefit: notifications are sent only to listeners that want to receive them </a:t>
            </a:r>
          </a:p>
          <a:p>
            <a:pPr algn="just"/>
            <a:r>
              <a:rPr lang="en-US">
                <a:solidFill>
                  <a:schemeClr val="tx1"/>
                </a:solidFill>
              </a:rPr>
              <a:t>To perform Event Handling, we need to register the source with the listener</a:t>
            </a:r>
          </a:p>
          <a:p>
            <a:pPr algn="just"/>
            <a:endParaRPr lang="en-US">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olidFill>
                  <a:schemeClr val="tx1"/>
                </a:solidFill>
              </a:rPr>
              <a:t>Registering Listener</a:t>
            </a:r>
          </a:p>
        </p:txBody>
      </p:sp>
      <p:sp>
        <p:nvSpPr>
          <p:cNvPr id="3" name="Content Placeholder 2"/>
          <p:cNvSpPr>
            <a:spLocks noGrp="1"/>
          </p:cNvSpPr>
          <p:nvPr>
            <p:ph idx="1"/>
          </p:nvPr>
        </p:nvSpPr>
        <p:spPr/>
        <p:txBody>
          <a:bodyPr/>
          <a:lstStyle/>
          <a:p>
            <a:pPr algn="just"/>
            <a:r>
              <a:rPr lang="en-US"/>
              <a:t>A source must register listeners in order for the listeners to receive notifications about a specific type of event. Each type of event has its own registration method. Here is the general form:</a:t>
            </a:r>
          </a:p>
          <a:p>
            <a:pPr marL="0" indent="0" algn="ctr">
              <a:buNone/>
            </a:pPr>
            <a:r>
              <a:rPr lang="en-US" b="1">
                <a:solidFill>
                  <a:srgbClr val="FF0000"/>
                </a:solidFill>
              </a:rPr>
              <a:t>public void addTypeListener (TypeListener el)</a:t>
            </a:r>
          </a:p>
          <a:p>
            <a:pPr algn="just"/>
            <a:r>
              <a:rPr lang="en-US">
                <a:solidFill>
                  <a:schemeClr val="tx1"/>
                </a:solidFill>
              </a:rPr>
              <a:t>Type is the name of the event , and el is the refernce to the event listener</a:t>
            </a:r>
          </a:p>
          <a:p>
            <a:pPr algn="just"/>
            <a:r>
              <a:rPr lang="en-US" b="1">
                <a:solidFill>
                  <a:srgbClr val="FF0000"/>
                </a:solidFill>
              </a:rPr>
              <a:t>For example, </a:t>
            </a:r>
            <a:r>
              <a:rPr lang="en-US">
                <a:solidFill>
                  <a:schemeClr val="tx1"/>
                </a:solidFill>
              </a:rPr>
              <a:t>the method that registers a keyboard event listener is called </a:t>
            </a:r>
            <a:r>
              <a:rPr lang="en-US" b="1">
                <a:solidFill>
                  <a:srgbClr val="002060"/>
                </a:solidFill>
              </a:rPr>
              <a:t>addKeyListener( )</a:t>
            </a:r>
            <a:r>
              <a:rPr lang="en-US">
                <a:solidFill>
                  <a:schemeClr val="tx1"/>
                </a:solidFill>
              </a:rPr>
              <a:t>. The method that registers a mouse event listener is called </a:t>
            </a:r>
            <a:r>
              <a:rPr lang="en-US" b="1">
                <a:solidFill>
                  <a:srgbClr val="002060"/>
                </a:solidFill>
              </a:rPr>
              <a:t>addMouseMotionListener( )</a:t>
            </a:r>
            <a:endParaRPr lang="en-US">
              <a:solidFill>
                <a:schemeClr val="tx1"/>
              </a:solidFill>
            </a:endParaRPr>
          </a:p>
          <a:p>
            <a:pPr marL="0" indent="0" algn="ctr">
              <a:buNone/>
            </a:pPr>
            <a:endParaRPr lang="en-US">
              <a:solidFill>
                <a:schemeClr val="tx1"/>
              </a:solidFill>
            </a:endParaRPr>
          </a:p>
          <a:p>
            <a:pPr marL="0" indent="0" algn="ctr">
              <a:buNone/>
            </a:pPr>
            <a:endParaRPr lang="en-US">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Delegation Event Model   </a:t>
            </a:r>
          </a:p>
        </p:txBody>
      </p:sp>
      <p:pic>
        <p:nvPicPr>
          <p:cNvPr id="4" name="Content Placeholder 3"/>
          <p:cNvPicPr>
            <a:picLocks noGrp="1" noChangeAspect="1"/>
          </p:cNvPicPr>
          <p:nvPr>
            <p:ph idx="1"/>
          </p:nvPr>
        </p:nvPicPr>
        <p:blipFill>
          <a:blip r:embed="rId2"/>
          <a:stretch>
            <a:fillRect/>
          </a:stretch>
        </p:blipFill>
        <p:spPr>
          <a:xfrm>
            <a:off x="3110230" y="1567815"/>
            <a:ext cx="5284470" cy="4278630"/>
          </a:xfrm>
          <a:prstGeom prst="rect">
            <a:avLst/>
          </a:prstGeom>
          <a:ln w="19050">
            <a:solidFill>
              <a:srgbClr val="002060"/>
            </a:solid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Event Classes in Java</a:t>
            </a:r>
          </a:p>
        </p:txBody>
      </p:sp>
      <p:pic>
        <p:nvPicPr>
          <p:cNvPr id="4" name="Content Placeholder 3"/>
          <p:cNvPicPr>
            <a:picLocks noGrp="1" noChangeAspect="1"/>
          </p:cNvPicPr>
          <p:nvPr>
            <p:ph idx="1"/>
          </p:nvPr>
        </p:nvPicPr>
        <p:blipFill>
          <a:blip r:embed="rId2"/>
          <a:stretch>
            <a:fillRect/>
          </a:stretch>
        </p:blipFill>
        <p:spPr>
          <a:xfrm>
            <a:off x="1460500" y="1398270"/>
            <a:ext cx="9434195" cy="453199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Event Classes in Java</a:t>
            </a:r>
            <a:endParaRPr lang="en-US"/>
          </a:p>
        </p:txBody>
      </p:sp>
      <p:pic>
        <p:nvPicPr>
          <p:cNvPr id="4" name="Content Placeholder 3"/>
          <p:cNvPicPr>
            <a:picLocks noGrp="1" noChangeAspect="1"/>
          </p:cNvPicPr>
          <p:nvPr>
            <p:ph idx="1"/>
          </p:nvPr>
        </p:nvPicPr>
        <p:blipFill>
          <a:blip r:embed="rId2"/>
          <a:stretch>
            <a:fillRect/>
          </a:stretch>
        </p:blipFill>
        <p:spPr>
          <a:xfrm>
            <a:off x="1569085" y="1690370"/>
            <a:ext cx="8927465" cy="416496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Event Classes in Java</a:t>
            </a:r>
            <a:endParaRPr lang="en-US"/>
          </a:p>
        </p:txBody>
      </p:sp>
      <p:pic>
        <p:nvPicPr>
          <p:cNvPr id="4" name="Content Placeholder 3"/>
          <p:cNvPicPr>
            <a:picLocks noGrp="1" noChangeAspect="1"/>
          </p:cNvPicPr>
          <p:nvPr>
            <p:ph idx="1"/>
          </p:nvPr>
        </p:nvPicPr>
        <p:blipFill>
          <a:blip r:embed="rId2"/>
          <a:stretch>
            <a:fillRect/>
          </a:stretch>
        </p:blipFill>
        <p:spPr>
          <a:xfrm>
            <a:off x="1969135" y="1842770"/>
            <a:ext cx="8242935" cy="419163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Event Listener Interfaces</a:t>
            </a:r>
          </a:p>
        </p:txBody>
      </p:sp>
      <p:sp>
        <p:nvSpPr>
          <p:cNvPr id="3" name="Content Placeholder 2"/>
          <p:cNvSpPr>
            <a:spLocks noGrp="1"/>
          </p:cNvSpPr>
          <p:nvPr>
            <p:ph idx="1"/>
          </p:nvPr>
        </p:nvSpPr>
        <p:spPr/>
        <p:txBody>
          <a:bodyPr/>
          <a:lstStyle/>
          <a:p>
            <a:pPr algn="just"/>
            <a:r>
              <a:rPr lang="en-US"/>
              <a:t>As explained, the delegation event model has two parts: sources and listeners</a:t>
            </a:r>
          </a:p>
          <a:p>
            <a:pPr algn="just"/>
            <a:r>
              <a:rPr lang="en-US"/>
              <a:t>Listeners are created by implementing one or more of the interfaces defined by the </a:t>
            </a:r>
            <a:r>
              <a:rPr lang="en-US">
                <a:solidFill>
                  <a:srgbClr val="FF0000"/>
                </a:solidFill>
              </a:rPr>
              <a:t>java.awt.event</a:t>
            </a:r>
            <a:r>
              <a:rPr lang="en-US"/>
              <a:t> package</a:t>
            </a:r>
          </a:p>
          <a:p>
            <a:pPr algn="just"/>
            <a:r>
              <a:rPr lang="en-US"/>
              <a:t>When an event occurs, the event source invokes the appropriate method defined by the listener and provides an event object as its argument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Event Listener Interfaces</a:t>
            </a:r>
            <a:endParaRPr lang="en-US"/>
          </a:p>
        </p:txBody>
      </p:sp>
      <p:pic>
        <p:nvPicPr>
          <p:cNvPr id="4" name="Content Placeholder 3"/>
          <p:cNvPicPr>
            <a:picLocks noGrp="1" noChangeAspect="1"/>
          </p:cNvPicPr>
          <p:nvPr>
            <p:ph idx="1"/>
          </p:nvPr>
        </p:nvPicPr>
        <p:blipFill>
          <a:blip r:embed="rId2"/>
          <a:stretch>
            <a:fillRect/>
          </a:stretch>
        </p:blipFill>
        <p:spPr>
          <a:xfrm>
            <a:off x="2077085" y="1498600"/>
            <a:ext cx="8045450" cy="47542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sym typeface="+mn-ea"/>
              </a:rPr>
              <a:t>Event Listener Interfaces</a:t>
            </a:r>
            <a:endParaRPr lang="en-US"/>
          </a:p>
        </p:txBody>
      </p:sp>
      <p:pic>
        <p:nvPicPr>
          <p:cNvPr id="4" name="Content Placeholder 3"/>
          <p:cNvPicPr>
            <a:picLocks noGrp="1" noChangeAspect="1"/>
          </p:cNvPicPr>
          <p:nvPr>
            <p:ph idx="1"/>
          </p:nvPr>
        </p:nvPicPr>
        <p:blipFill>
          <a:blip r:embed="rId2"/>
          <a:stretch>
            <a:fillRect/>
          </a:stretch>
        </p:blipFill>
        <p:spPr>
          <a:xfrm>
            <a:off x="2258060" y="1623695"/>
            <a:ext cx="6910705" cy="47066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Java MouseListener Interface</a:t>
            </a:r>
          </a:p>
        </p:txBody>
      </p:sp>
      <p:sp>
        <p:nvSpPr>
          <p:cNvPr id="3" name="Content Placeholder 2"/>
          <p:cNvSpPr>
            <a:spLocks noGrp="1"/>
          </p:cNvSpPr>
          <p:nvPr>
            <p:ph idx="1"/>
          </p:nvPr>
        </p:nvSpPr>
        <p:spPr/>
        <p:txBody>
          <a:bodyPr/>
          <a:lstStyle/>
          <a:p>
            <a:pPr algn="just"/>
            <a:r>
              <a:rPr lang="en-US"/>
              <a:t>The Java MouseListener Interface is notified whenever you change the state of mouse. It is notified against MouseEvent</a:t>
            </a:r>
          </a:p>
          <a:p>
            <a:pPr algn="just"/>
            <a:r>
              <a:rPr lang="en-US"/>
              <a:t>The MouseListener interface is found in </a:t>
            </a:r>
            <a:r>
              <a:rPr lang="en-US" b="1">
                <a:solidFill>
                  <a:srgbClr val="FF0000"/>
                </a:solidFill>
              </a:rPr>
              <a:t>java.awt.event </a:t>
            </a:r>
            <a:r>
              <a:rPr lang="en-US"/>
              <a:t>package. It has five methods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Methods of MouseListener Interface</a:t>
            </a:r>
          </a:p>
        </p:txBody>
      </p:sp>
      <p:sp>
        <p:nvSpPr>
          <p:cNvPr id="3" name="Content Placeholder 2"/>
          <p:cNvSpPr>
            <a:spLocks noGrp="1"/>
          </p:cNvSpPr>
          <p:nvPr>
            <p:ph idx="1"/>
          </p:nvPr>
        </p:nvSpPr>
        <p:spPr/>
        <p:txBody>
          <a:bodyPr/>
          <a:lstStyle/>
          <a:p>
            <a:pPr algn="just"/>
            <a:r>
              <a:rPr lang="en-US"/>
              <a:t>The signature of 5 methods found in MouseListener interface are given below:</a:t>
            </a:r>
          </a:p>
          <a:p>
            <a:pPr algn="just"/>
            <a:r>
              <a:rPr lang="en-US" b="1">
                <a:solidFill>
                  <a:srgbClr val="FF0000"/>
                </a:solidFill>
              </a:rPr>
              <a:t>public abstract void </a:t>
            </a:r>
            <a:r>
              <a:rPr lang="en-US">
                <a:solidFill>
                  <a:srgbClr val="FF0000"/>
                </a:solidFill>
              </a:rPr>
              <a:t>mouseClicked(MouseEvent e);</a:t>
            </a:r>
            <a:endParaRPr lang="en-US" b="1">
              <a:solidFill>
                <a:srgbClr val="FF0000"/>
              </a:solidFill>
            </a:endParaRPr>
          </a:p>
          <a:p>
            <a:pPr algn="just"/>
            <a:r>
              <a:rPr lang="en-US" b="1">
                <a:solidFill>
                  <a:srgbClr val="FF0000"/>
                </a:solidFill>
                <a:sym typeface="+mn-ea"/>
              </a:rPr>
              <a:t>public abstract void </a:t>
            </a:r>
            <a:r>
              <a:rPr lang="en-US">
                <a:solidFill>
                  <a:srgbClr val="FF0000"/>
                </a:solidFill>
                <a:sym typeface="+mn-ea"/>
              </a:rPr>
              <a:t>mouseEntered(MouseEvent e);</a:t>
            </a:r>
            <a:endParaRPr lang="en-US" b="1">
              <a:solidFill>
                <a:srgbClr val="FF0000"/>
              </a:solidFill>
              <a:sym typeface="+mn-ea"/>
            </a:endParaRPr>
          </a:p>
          <a:p>
            <a:pPr algn="just"/>
            <a:r>
              <a:rPr lang="en-US" b="1">
                <a:solidFill>
                  <a:srgbClr val="FF0000"/>
                </a:solidFill>
                <a:sym typeface="+mn-ea"/>
              </a:rPr>
              <a:t>public abstract void </a:t>
            </a:r>
            <a:r>
              <a:rPr lang="en-US">
                <a:solidFill>
                  <a:srgbClr val="FF0000"/>
                </a:solidFill>
                <a:sym typeface="+mn-ea"/>
              </a:rPr>
              <a:t>mouseExited(MouseEvent e);</a:t>
            </a:r>
          </a:p>
          <a:p>
            <a:pPr algn="just"/>
            <a:r>
              <a:rPr lang="en-US" b="1">
                <a:solidFill>
                  <a:srgbClr val="FF0000"/>
                </a:solidFill>
                <a:sym typeface="+mn-ea"/>
              </a:rPr>
              <a:t>public abstract void </a:t>
            </a:r>
            <a:r>
              <a:rPr lang="en-US">
                <a:solidFill>
                  <a:srgbClr val="FF0000"/>
                </a:solidFill>
                <a:sym typeface="+mn-ea"/>
              </a:rPr>
              <a:t>mousePressed(MouseEvent e);</a:t>
            </a:r>
          </a:p>
          <a:p>
            <a:pPr algn="just"/>
            <a:r>
              <a:rPr lang="en-US" b="1">
                <a:solidFill>
                  <a:srgbClr val="FF0000"/>
                </a:solidFill>
                <a:sym typeface="+mn-ea"/>
              </a:rPr>
              <a:t>public abstract void </a:t>
            </a:r>
            <a:r>
              <a:rPr lang="en-US">
                <a:solidFill>
                  <a:srgbClr val="FF0000"/>
                </a:solidFill>
                <a:sym typeface="+mn-ea"/>
              </a:rPr>
              <a:t>mouseReleased(MouseEvent e);</a:t>
            </a:r>
            <a:endParaRPr lang="en-US" b="1">
              <a:solidFill>
                <a:srgbClr val="FF0000"/>
              </a:solidFill>
            </a:endParaRPr>
          </a:p>
          <a:p>
            <a:endParaRPr lang="en-US"/>
          </a:p>
          <a:p>
            <a:endParaRPr lang="en-US"/>
          </a:p>
          <a:p>
            <a:endParaRPr lang="en-US"/>
          </a:p>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MouseListener Sample Code</a:t>
            </a:r>
          </a:p>
        </p:txBody>
      </p:sp>
      <p:sp>
        <p:nvSpPr>
          <p:cNvPr id="3" name="Content Placeholder 2"/>
          <p:cNvSpPr>
            <a:spLocks noGrp="1"/>
          </p:cNvSpPr>
          <p:nvPr>
            <p:ph idx="1"/>
          </p:nvPr>
        </p:nvSpPr>
        <p:spPr>
          <a:xfrm>
            <a:off x="838200" y="1604645"/>
            <a:ext cx="10515600" cy="4687570"/>
          </a:xfrm>
        </p:spPr>
        <p:txBody>
          <a:bodyPr>
            <a:noAutofit/>
          </a:bodyPr>
          <a:lstStyle/>
          <a:p>
            <a:pPr marL="0" indent="0">
              <a:buNone/>
            </a:pPr>
            <a:r>
              <a:rPr lang="en-US" sz="1700" b="1">
                <a:solidFill>
                  <a:srgbClr val="002060"/>
                </a:solidFill>
              </a:rPr>
              <a:t>import </a:t>
            </a:r>
            <a:r>
              <a:rPr lang="en-US" sz="1700"/>
              <a:t>java.awt.*;</a:t>
            </a:r>
          </a:p>
          <a:p>
            <a:pPr marL="0" indent="0">
              <a:buNone/>
            </a:pPr>
            <a:r>
              <a:rPr lang="en-US" sz="1700" b="1">
                <a:solidFill>
                  <a:srgbClr val="002060"/>
                </a:solidFill>
              </a:rPr>
              <a:t>import</a:t>
            </a:r>
            <a:r>
              <a:rPr lang="en-US" sz="1700"/>
              <a:t> java.awt.event.*;</a:t>
            </a:r>
          </a:p>
          <a:p>
            <a:pPr marL="0" indent="0">
              <a:buNone/>
            </a:pPr>
            <a:r>
              <a:rPr lang="en-US" sz="1700" b="1">
                <a:solidFill>
                  <a:srgbClr val="002060"/>
                </a:solidFill>
              </a:rPr>
              <a:t>public class</a:t>
            </a:r>
            <a:r>
              <a:rPr lang="en-US" sz="1700"/>
              <a:t> MouseListenerExample </a:t>
            </a:r>
            <a:r>
              <a:rPr lang="en-US" sz="1700" b="1">
                <a:solidFill>
                  <a:srgbClr val="002060"/>
                </a:solidFill>
              </a:rPr>
              <a:t>extends</a:t>
            </a:r>
            <a:r>
              <a:rPr lang="en-US" sz="1700"/>
              <a:t> Frame </a:t>
            </a:r>
            <a:r>
              <a:rPr lang="en-US" sz="1700" b="1">
                <a:solidFill>
                  <a:srgbClr val="002060"/>
                </a:solidFill>
              </a:rPr>
              <a:t>implements</a:t>
            </a:r>
            <a:endParaRPr lang="en-US" sz="1700"/>
          </a:p>
          <a:p>
            <a:pPr marL="0" indent="0">
              <a:buNone/>
            </a:pPr>
            <a:r>
              <a:rPr lang="en-US" sz="1700"/>
              <a:t>MouseListener{</a:t>
            </a:r>
          </a:p>
          <a:p>
            <a:pPr marL="0" indent="0">
              <a:buNone/>
            </a:pPr>
            <a:r>
              <a:rPr lang="en-US" sz="1700"/>
              <a:t>Label l;</a:t>
            </a:r>
          </a:p>
          <a:p>
            <a:pPr marL="0" indent="0">
              <a:buNone/>
            </a:pPr>
            <a:r>
              <a:rPr lang="en-US" sz="1700"/>
              <a:t>MouseListenerExample(){</a:t>
            </a:r>
          </a:p>
          <a:p>
            <a:pPr marL="0" indent="0" algn="l">
              <a:buNone/>
            </a:pPr>
            <a:r>
              <a:rPr lang="en-US" sz="1700"/>
              <a:t>addMouseListener(</a:t>
            </a:r>
            <a:r>
              <a:rPr lang="en-US" sz="1700" b="1">
                <a:solidFill>
                  <a:srgbClr val="002060"/>
                </a:solidFill>
              </a:rPr>
              <a:t>this</a:t>
            </a:r>
            <a:r>
              <a:rPr lang="en-US" sz="1700"/>
              <a:t>);</a:t>
            </a:r>
          </a:p>
          <a:p>
            <a:pPr marL="0" indent="0" algn="l">
              <a:buNone/>
            </a:pPr>
            <a:r>
              <a:rPr lang="en-US" sz="1700"/>
              <a:t>l=</a:t>
            </a:r>
            <a:r>
              <a:rPr lang="en-US" sz="1700" b="1">
                <a:solidFill>
                  <a:srgbClr val="002060"/>
                </a:solidFill>
              </a:rPr>
              <a:t>new</a:t>
            </a:r>
            <a:r>
              <a:rPr lang="en-US" sz="1700">
                <a:solidFill>
                  <a:srgbClr val="002060"/>
                </a:solidFill>
              </a:rPr>
              <a:t> </a:t>
            </a:r>
            <a:r>
              <a:rPr lang="en-US" sz="1700"/>
              <a:t>Label();</a:t>
            </a:r>
          </a:p>
          <a:p>
            <a:pPr marL="0" indent="0" algn="l">
              <a:buNone/>
            </a:pPr>
            <a:r>
              <a:rPr lang="en-US" sz="1700"/>
              <a:t>l.setBounds(</a:t>
            </a:r>
            <a:r>
              <a:rPr lang="en-US" sz="1700" b="1">
                <a:solidFill>
                  <a:srgbClr val="FF0000"/>
                </a:solidFill>
              </a:rPr>
              <a:t>20,50,100,20</a:t>
            </a:r>
            <a:r>
              <a:rPr lang="en-US" sz="1700"/>
              <a:t>);</a:t>
            </a:r>
          </a:p>
          <a:p>
            <a:pPr marL="0" indent="0" algn="l">
              <a:buNone/>
            </a:pPr>
            <a:r>
              <a:rPr lang="en-US" sz="1700"/>
              <a:t>add(l);</a:t>
            </a:r>
          </a:p>
          <a:p>
            <a:pPr marL="0" indent="0" algn="l">
              <a:buNone/>
            </a:pPr>
            <a:r>
              <a:rPr lang="en-US" sz="1700"/>
              <a:t>setSize(</a:t>
            </a:r>
            <a:r>
              <a:rPr lang="en-US" sz="1700" b="1">
                <a:solidFill>
                  <a:srgbClr val="FF0000"/>
                </a:solidFill>
              </a:rPr>
              <a:t>300,300</a:t>
            </a:r>
            <a:r>
              <a:rPr lang="en-US" sz="1700"/>
              <a:t>);</a:t>
            </a:r>
          </a:p>
          <a:p>
            <a:pPr marL="0" indent="0" algn="l">
              <a:buNone/>
            </a:pPr>
            <a:r>
              <a:rPr lang="en-US" sz="1700"/>
              <a:t>setVisible(true);</a:t>
            </a:r>
          </a:p>
          <a:p>
            <a:pPr marL="0" indent="0" algn="l">
              <a:buNone/>
            </a:pPr>
            <a:r>
              <a:rPr lang="en-US" sz="1700"/>
              <a:t>}</a:t>
            </a:r>
          </a:p>
          <a:p>
            <a:endParaRPr lang="en-US" sz="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68655"/>
            <a:ext cx="11080750" cy="5807710"/>
          </a:xfrm>
        </p:spPr>
        <p:txBody>
          <a:bodyPr>
            <a:normAutofit fontScale="25000"/>
          </a:bodyPr>
          <a:lstStyle/>
          <a:p>
            <a:pPr marL="0" indent="0">
              <a:buNone/>
            </a:pPr>
            <a:r>
              <a:rPr lang="en-US" sz="5000" b="1">
                <a:solidFill>
                  <a:srgbClr val="002060"/>
                </a:solidFill>
                <a:sym typeface="+mn-ea"/>
              </a:rPr>
              <a:t>public void </a:t>
            </a:r>
            <a:r>
              <a:rPr lang="en-US" sz="5000">
                <a:solidFill>
                  <a:schemeClr val="tx1"/>
                </a:solidFill>
                <a:sym typeface="+mn-ea"/>
              </a:rPr>
              <a:t>mouseClicked(MouseEvent e)</a:t>
            </a:r>
            <a:r>
              <a:rPr lang="en-US" sz="5000">
                <a:sym typeface="+mn-ea"/>
              </a:rPr>
              <a:t> {</a:t>
            </a:r>
          </a:p>
          <a:p>
            <a:pPr marL="0" indent="0">
              <a:buNone/>
            </a:pPr>
            <a:r>
              <a:rPr lang="en-US" sz="5000">
                <a:sym typeface="+mn-ea"/>
              </a:rPr>
              <a:t>               l.setText(</a:t>
            </a:r>
            <a:r>
              <a:rPr lang="en-US" sz="5000" b="1">
                <a:solidFill>
                  <a:srgbClr val="0070C0"/>
                </a:solidFill>
                <a:sym typeface="+mn-ea"/>
              </a:rPr>
              <a:t>“Mouse clicked!”</a:t>
            </a:r>
            <a:r>
              <a:rPr lang="en-US" sz="5000">
                <a:sym typeface="+mn-ea"/>
              </a:rPr>
              <a:t>);</a:t>
            </a:r>
          </a:p>
          <a:p>
            <a:pPr marL="0" indent="0">
              <a:buNone/>
            </a:pPr>
            <a:r>
              <a:rPr lang="en-US" sz="5000">
                <a:sym typeface="+mn-ea"/>
              </a:rPr>
              <a:t>}</a:t>
            </a:r>
          </a:p>
          <a:p>
            <a:pPr marL="0" indent="0">
              <a:buNone/>
            </a:pPr>
            <a:r>
              <a:rPr lang="en-US" sz="5000" b="1">
                <a:solidFill>
                  <a:srgbClr val="002060"/>
                </a:solidFill>
                <a:sym typeface="+mn-ea"/>
              </a:rPr>
              <a:t>public void </a:t>
            </a:r>
            <a:r>
              <a:rPr lang="en-US" sz="5000">
                <a:sym typeface="+mn-ea"/>
              </a:rPr>
              <a:t>mouseEntered(MouseEvent e) {</a:t>
            </a:r>
          </a:p>
          <a:p>
            <a:pPr marL="0" indent="0">
              <a:buNone/>
            </a:pPr>
            <a:r>
              <a:rPr lang="en-US" sz="5000">
                <a:sym typeface="+mn-ea"/>
              </a:rPr>
              <a:t>               l.setText(</a:t>
            </a:r>
            <a:r>
              <a:rPr lang="en-US" sz="5000" b="1">
                <a:solidFill>
                  <a:srgbClr val="0070C0"/>
                </a:solidFill>
                <a:sym typeface="+mn-ea"/>
              </a:rPr>
              <a:t>“Mouse entered!”</a:t>
            </a:r>
            <a:r>
              <a:rPr lang="en-US" sz="5000">
                <a:sym typeface="+mn-ea"/>
              </a:rPr>
              <a:t>);</a:t>
            </a:r>
          </a:p>
          <a:p>
            <a:pPr marL="0" indent="0">
              <a:buNone/>
            </a:pPr>
            <a:r>
              <a:rPr lang="en-US" sz="5000">
                <a:sym typeface="+mn-ea"/>
              </a:rPr>
              <a:t>}</a:t>
            </a:r>
          </a:p>
          <a:p>
            <a:pPr marL="0" indent="0">
              <a:buNone/>
            </a:pPr>
            <a:r>
              <a:rPr lang="en-US" sz="5000" b="1">
                <a:solidFill>
                  <a:srgbClr val="002060"/>
                </a:solidFill>
                <a:sym typeface="+mn-ea"/>
              </a:rPr>
              <a:t>public void </a:t>
            </a:r>
            <a:r>
              <a:rPr lang="en-US" sz="5000">
                <a:sym typeface="+mn-ea"/>
              </a:rPr>
              <a:t>mouseExited(MouseEvent e) {</a:t>
            </a:r>
          </a:p>
          <a:p>
            <a:pPr marL="0" indent="0">
              <a:buNone/>
            </a:pPr>
            <a:r>
              <a:rPr lang="en-US" sz="5000">
                <a:sym typeface="+mn-ea"/>
              </a:rPr>
              <a:t>               l.setText(</a:t>
            </a:r>
            <a:r>
              <a:rPr lang="en-US" sz="5000" b="1">
                <a:solidFill>
                  <a:srgbClr val="0070C0"/>
                </a:solidFill>
                <a:sym typeface="+mn-ea"/>
              </a:rPr>
              <a:t>“Mouse exited!”</a:t>
            </a:r>
            <a:r>
              <a:rPr lang="en-US" sz="5000">
                <a:sym typeface="+mn-ea"/>
              </a:rPr>
              <a:t>);</a:t>
            </a:r>
          </a:p>
          <a:p>
            <a:pPr marL="0" indent="0">
              <a:buNone/>
            </a:pPr>
            <a:r>
              <a:rPr lang="en-US" sz="5000">
                <a:sym typeface="+mn-ea"/>
              </a:rPr>
              <a:t>}</a:t>
            </a:r>
          </a:p>
          <a:p>
            <a:pPr marL="0" indent="0">
              <a:buNone/>
            </a:pPr>
            <a:r>
              <a:rPr lang="en-US" sz="5000" b="1">
                <a:solidFill>
                  <a:srgbClr val="002060"/>
                </a:solidFill>
                <a:sym typeface="+mn-ea"/>
              </a:rPr>
              <a:t>public void </a:t>
            </a:r>
            <a:r>
              <a:rPr lang="en-US" sz="5000">
                <a:sym typeface="+mn-ea"/>
              </a:rPr>
              <a:t>mousePressed(MouseEvent e) {</a:t>
            </a:r>
          </a:p>
          <a:p>
            <a:pPr marL="0" indent="0">
              <a:buNone/>
            </a:pPr>
            <a:r>
              <a:rPr lang="en-US" sz="5000">
                <a:sym typeface="+mn-ea"/>
              </a:rPr>
              <a:t>               l.setText(</a:t>
            </a:r>
            <a:r>
              <a:rPr lang="en-US" sz="5000" b="1">
                <a:solidFill>
                  <a:srgbClr val="0070C0"/>
                </a:solidFill>
                <a:sym typeface="+mn-ea"/>
              </a:rPr>
              <a:t>“Mouse pressed!”</a:t>
            </a:r>
            <a:r>
              <a:rPr lang="en-US" sz="5000">
                <a:sym typeface="+mn-ea"/>
              </a:rPr>
              <a:t>);</a:t>
            </a:r>
          </a:p>
          <a:p>
            <a:pPr marL="0" indent="0">
              <a:buNone/>
            </a:pPr>
            <a:r>
              <a:rPr lang="en-US" sz="5000">
                <a:sym typeface="+mn-ea"/>
              </a:rPr>
              <a:t>}</a:t>
            </a:r>
          </a:p>
          <a:p>
            <a:pPr marL="0" indent="0">
              <a:buNone/>
            </a:pPr>
            <a:r>
              <a:rPr lang="en-US" sz="5000" b="1">
                <a:solidFill>
                  <a:srgbClr val="002060"/>
                </a:solidFill>
                <a:sym typeface="+mn-ea"/>
              </a:rPr>
              <a:t>public void </a:t>
            </a:r>
            <a:r>
              <a:rPr lang="en-US" sz="5000">
                <a:sym typeface="+mn-ea"/>
              </a:rPr>
              <a:t>mouseReleased(MouseEvent e) {</a:t>
            </a:r>
          </a:p>
          <a:p>
            <a:pPr marL="0" indent="0">
              <a:buNone/>
            </a:pPr>
            <a:r>
              <a:rPr lang="en-US" sz="5000">
                <a:sym typeface="+mn-ea"/>
              </a:rPr>
              <a:t>               l.setText(</a:t>
            </a:r>
            <a:r>
              <a:rPr lang="en-US" sz="5000" b="1">
                <a:solidFill>
                  <a:srgbClr val="0070C0"/>
                </a:solidFill>
                <a:sym typeface="+mn-ea"/>
              </a:rPr>
              <a:t>“Mouse released!”</a:t>
            </a:r>
            <a:r>
              <a:rPr lang="en-US" sz="5000">
                <a:sym typeface="+mn-ea"/>
              </a:rPr>
              <a:t>);</a:t>
            </a:r>
          </a:p>
          <a:p>
            <a:pPr marL="0" indent="0">
              <a:buNone/>
            </a:pPr>
            <a:r>
              <a:rPr lang="en-US" sz="5000">
                <a:sym typeface="+mn-ea"/>
              </a:rPr>
              <a:t>}</a:t>
            </a:r>
          </a:p>
          <a:p>
            <a:pPr marL="0" indent="0">
              <a:buNone/>
            </a:pPr>
            <a:r>
              <a:rPr lang="en-US" sz="5000" b="1">
                <a:solidFill>
                  <a:srgbClr val="002060"/>
                </a:solidFill>
                <a:sym typeface="+mn-ea"/>
              </a:rPr>
              <a:t>public static void  </a:t>
            </a:r>
            <a:r>
              <a:rPr lang="en-US" sz="5000">
                <a:solidFill>
                  <a:schemeClr val="tx1"/>
                </a:solidFill>
                <a:sym typeface="+mn-ea"/>
              </a:rPr>
              <a:t>main (String[] args)</a:t>
            </a:r>
            <a:r>
              <a:rPr lang="en-US" sz="5000">
                <a:sym typeface="+mn-ea"/>
              </a:rPr>
              <a:t> {</a:t>
            </a:r>
          </a:p>
          <a:p>
            <a:pPr marL="0" indent="0">
              <a:buNone/>
            </a:pPr>
            <a:r>
              <a:rPr lang="en-US" sz="5000">
                <a:sym typeface="+mn-ea"/>
              </a:rPr>
              <a:t>               </a:t>
            </a:r>
            <a:r>
              <a:rPr lang="en-US" sz="5000" b="1">
                <a:solidFill>
                  <a:srgbClr val="002060"/>
                </a:solidFill>
                <a:sym typeface="+mn-ea"/>
              </a:rPr>
              <a:t>new</a:t>
            </a:r>
            <a:r>
              <a:rPr lang="en-US" sz="5000">
                <a:sym typeface="+mn-ea"/>
              </a:rPr>
              <a:t> MouseListenerExample();</a:t>
            </a:r>
          </a:p>
          <a:p>
            <a:pPr marL="0" indent="0">
              <a:buNone/>
            </a:pPr>
            <a:r>
              <a:rPr lang="en-US" sz="5000">
                <a:sym typeface="+mn-ea"/>
              </a:rPr>
              <a:t>}</a:t>
            </a:r>
          </a:p>
          <a:p>
            <a:pPr marL="0" indent="0">
              <a:buNone/>
            </a:pPr>
            <a:r>
              <a:rPr lang="en-US" sz="5000">
                <a:sym typeface="+mn-ea"/>
              </a:rPr>
              <a:t>}</a:t>
            </a:r>
          </a:p>
          <a:p>
            <a:pPr marL="0" indent="0">
              <a:buNone/>
            </a:pPr>
            <a:endParaRPr lang="en-US">
              <a:sym typeface="+mn-ea"/>
            </a:endParaRPr>
          </a:p>
          <a:p>
            <a:pPr marL="0" indent="0">
              <a:buNone/>
            </a:pPr>
            <a:endParaRPr lang="en-US">
              <a:sym typeface="+mn-ea"/>
            </a:endParaRPr>
          </a:p>
          <a:p>
            <a:pPr marL="0" indent="0">
              <a:buNone/>
            </a:pPr>
            <a:endParaRPr lang="en-US">
              <a:sym typeface="+mn-ea"/>
            </a:endParaRPr>
          </a:p>
          <a:p>
            <a:pPr marL="0" indent="0">
              <a:buNone/>
            </a:pPr>
            <a:endParaRPr lang="en-US">
              <a:sym typeface="+mn-ea"/>
            </a:endParaRPr>
          </a:p>
          <a:p>
            <a:endParaRPr lang="en-US"/>
          </a:p>
        </p:txBody>
      </p:sp>
      <p:pic>
        <p:nvPicPr>
          <p:cNvPr id="4" name="Picture 3"/>
          <p:cNvPicPr>
            <a:picLocks noChangeAspect="1"/>
          </p:cNvPicPr>
          <p:nvPr/>
        </p:nvPicPr>
        <p:blipFill>
          <a:blip r:embed="rId3"/>
          <a:stretch>
            <a:fillRect/>
          </a:stretch>
        </p:blipFill>
        <p:spPr>
          <a:xfrm>
            <a:off x="4935220" y="849630"/>
            <a:ext cx="5638800" cy="5158740"/>
          </a:xfrm>
          <a:prstGeom prst="rect">
            <a:avLst/>
          </a:prstGeom>
          <a:ln w="19050">
            <a:solidFill>
              <a:srgbClr val="002060"/>
            </a:solid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a:t>Java KeyListener Interface</a:t>
            </a:r>
          </a:p>
        </p:txBody>
      </p:sp>
      <p:sp>
        <p:nvSpPr>
          <p:cNvPr id="3" name="Content Placeholder 2"/>
          <p:cNvSpPr>
            <a:spLocks noGrp="1"/>
          </p:cNvSpPr>
          <p:nvPr>
            <p:ph idx="1"/>
          </p:nvPr>
        </p:nvSpPr>
        <p:spPr/>
        <p:txBody>
          <a:bodyPr/>
          <a:lstStyle/>
          <a:p>
            <a:pPr algn="just"/>
            <a:r>
              <a:rPr lang="en-US"/>
              <a:t>The Java KeyListener is notified whenever you change the state of key</a:t>
            </a:r>
          </a:p>
          <a:p>
            <a:pPr algn="just"/>
            <a:r>
              <a:rPr lang="en-US"/>
              <a:t>It is notified against KeyEvent. The KeyListener interface is found in </a:t>
            </a:r>
            <a:r>
              <a:rPr lang="en-US" b="1">
                <a:solidFill>
                  <a:srgbClr val="FF0000"/>
                </a:solidFill>
              </a:rPr>
              <a:t>java.awt.event</a:t>
            </a:r>
            <a:r>
              <a:rPr lang="en-US"/>
              <a:t> package, and it has three methods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4425"/>
          </a:xfrm>
        </p:spPr>
        <p:txBody>
          <a:bodyPr/>
          <a:lstStyle/>
          <a:p>
            <a:r>
              <a:rPr lang="en-US" b="1"/>
              <a:t>Interface Declaration</a:t>
            </a:r>
          </a:p>
        </p:txBody>
      </p:sp>
      <p:sp>
        <p:nvSpPr>
          <p:cNvPr id="3" name="Content Placeholder 2"/>
          <p:cNvSpPr>
            <a:spLocks noGrp="1"/>
          </p:cNvSpPr>
          <p:nvPr>
            <p:ph idx="1"/>
          </p:nvPr>
        </p:nvSpPr>
        <p:spPr>
          <a:xfrm>
            <a:off x="838200" y="1383665"/>
            <a:ext cx="10515600" cy="5121910"/>
          </a:xfrm>
        </p:spPr>
        <p:txBody>
          <a:bodyPr/>
          <a:lstStyle/>
          <a:p>
            <a:r>
              <a:rPr lang="en-US"/>
              <a:t>Following is the declaration</a:t>
            </a:r>
          </a:p>
          <a:p>
            <a:pPr marL="0" indent="0">
              <a:buNone/>
            </a:pPr>
            <a:r>
              <a:rPr lang="en-US"/>
              <a:t>   for </a:t>
            </a:r>
            <a:r>
              <a:rPr lang="en-US">
                <a:solidFill>
                  <a:srgbClr val="FF0000"/>
                </a:solidFill>
              </a:rPr>
              <a:t>java.awt.event.KeyListener</a:t>
            </a:r>
            <a:r>
              <a:rPr lang="en-US"/>
              <a:t> interface:</a:t>
            </a:r>
          </a:p>
          <a:p>
            <a:r>
              <a:rPr lang="en-US" b="1">
                <a:solidFill>
                  <a:srgbClr val="FF0000"/>
                </a:solidFill>
              </a:rPr>
              <a:t>public interface KeyListener extends EventListener</a:t>
            </a:r>
          </a:p>
          <a:p>
            <a:endParaRPr lang="en-US" b="1">
              <a:solidFill>
                <a:srgbClr val="FF0000"/>
              </a:solidFill>
            </a:endParaRPr>
          </a:p>
        </p:txBody>
      </p:sp>
      <p:pic>
        <p:nvPicPr>
          <p:cNvPr id="4" name="Picture 3"/>
          <p:cNvPicPr>
            <a:picLocks noChangeAspect="1"/>
          </p:cNvPicPr>
          <p:nvPr/>
        </p:nvPicPr>
        <p:blipFill>
          <a:blip r:embed="rId2"/>
          <a:srcRect t="2512"/>
          <a:stretch>
            <a:fillRect/>
          </a:stretch>
        </p:blipFill>
        <p:spPr>
          <a:xfrm>
            <a:off x="1579245" y="2988945"/>
            <a:ext cx="8550910" cy="303339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8620"/>
            <a:ext cx="10515600" cy="5788660"/>
          </a:xfrm>
        </p:spPr>
        <p:txBody>
          <a:bodyPr/>
          <a:lstStyle/>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endParaRPr lang="en-US"/>
          </a:p>
          <a:p>
            <a:pPr marL="0" indent="0" algn="ctr">
              <a:buNone/>
            </a:pPr>
            <a:r>
              <a:rPr lang="en-US" sz="4800"/>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TotalTime>
  <Words>1015</Words>
  <Application>Microsoft Office PowerPoint</Application>
  <PresentationFormat>Widescreen</PresentationFormat>
  <Paragraphs>112</Paragraphs>
  <Slides>22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Calibri</vt:lpstr>
      <vt:lpstr>Calibri Light</vt:lpstr>
      <vt:lpstr>Office Theme</vt:lpstr>
      <vt:lpstr>Software Construction and Development</vt:lpstr>
      <vt:lpstr>Event Handling</vt:lpstr>
      <vt:lpstr>What is an Event?</vt:lpstr>
      <vt:lpstr>Types of Event</vt:lpstr>
      <vt:lpstr>What is an Event Handling?</vt:lpstr>
      <vt:lpstr>Source &amp; Listener</vt:lpstr>
      <vt:lpstr>Source &amp; Listener</vt:lpstr>
      <vt:lpstr>Registering Listener</vt:lpstr>
      <vt:lpstr>Delegation Event Model   </vt:lpstr>
      <vt:lpstr>Event Classes in Java</vt:lpstr>
      <vt:lpstr>Event Classes in Java</vt:lpstr>
      <vt:lpstr>Event Classes in Java</vt:lpstr>
      <vt:lpstr>Event Listener Interfaces</vt:lpstr>
      <vt:lpstr>Event Listener Interfaces</vt:lpstr>
      <vt:lpstr>Event Listener Interfaces</vt:lpstr>
      <vt:lpstr>Java MouseListener Interface</vt:lpstr>
      <vt:lpstr>Methods of MouseListener Interface</vt:lpstr>
      <vt:lpstr>MouseListener Sample Code</vt:lpstr>
      <vt:lpstr>PowerPoint Presentation</vt:lpstr>
      <vt:lpstr>Java KeyListener Interface</vt:lpstr>
      <vt:lpstr>Interface Declaration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Khizar Hayat</dc:creator>
  <cp:lastModifiedBy>Muhammad Khizar Hayat</cp:lastModifiedBy>
  <cp:revision>6</cp:revision>
  <dcterms:created xsi:type="dcterms:W3CDTF">2025-07-23T00:59:00Z</dcterms:created>
  <dcterms:modified xsi:type="dcterms:W3CDTF">2026-04-27T11:38:43Z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4FB213102B3342E598C0A90C6A2985F1_13</vt:lpwstr>
  </property>
  <property fmtid="{D5CDD505-2E9C-101B-9397-08002B2CF9AE}" pid="3" name="KSOProductBuildVer">
    <vt:lpwstr>1033-12.2.0.23196</vt:lpwstr>
  </property>
</Properties>
</file>