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7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CA542-68AC-4966-9319-5506D3A4A5A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82518-0D69-4563-A235-0B1556305F9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Software Construction and Development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707005"/>
          </a:xfrm>
        </p:spPr>
        <p:txBody>
          <a:bodyPr>
            <a:noAutofit/>
          </a:bodyPr>
          <a:lstStyle/>
          <a:p>
            <a:r>
              <a:rPr lang="en-US" sz="3200" b="1" dirty="0">
                <a:sym typeface="+mn-ea"/>
              </a:rPr>
              <a:t>Week 14</a:t>
            </a:r>
            <a:endParaRPr lang="en-US" sz="3200" b="1" dirty="0"/>
          </a:p>
          <a:p>
            <a:r>
              <a:rPr lang="en-US" sz="3200" b="1" dirty="0">
                <a:solidFill>
                  <a:srgbClr val="FF0000"/>
                </a:solidFill>
                <a:sym typeface="+mn-ea"/>
              </a:rPr>
              <a:t>Instructor :M </a:t>
            </a:r>
            <a:r>
              <a:rPr lang="en-US" sz="3200" b="1">
                <a:solidFill>
                  <a:srgbClr val="FF0000"/>
                </a:solidFill>
                <a:sym typeface="+mn-ea"/>
              </a:rPr>
              <a:t>Khizar Hayat</a:t>
            </a:r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altLang="en-US" sz="3200" i="1"/>
              <a:t>Performance Optimization and Code Efficiency</a:t>
            </a:r>
          </a:p>
          <a:p>
            <a:r>
              <a:rPr lang="en-US" altLang="en-US" sz="3200" i="1"/>
              <a:t>Chapter 13 Clean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Introduction to 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en-US" b="1">
                <a:solidFill>
                  <a:srgbClr val="002060"/>
                </a:solidFill>
              </a:rPr>
              <a:t>Performance optimization </a:t>
            </a:r>
            <a:r>
              <a:rPr lang="en-US" altLang="en-US"/>
              <a:t>is the process of improving software so it executes tasks faster, consumes fewer resources, and provides a better user experience.</a:t>
            </a:r>
          </a:p>
          <a:p>
            <a:pPr marL="0" indent="0" algn="just">
              <a:buNone/>
            </a:pPr>
            <a:r>
              <a:rPr lang="en-US" altLang="en-US" b="1">
                <a:solidFill>
                  <a:srgbClr val="FF0000"/>
                </a:solidFill>
              </a:rPr>
              <a:t>Objectives</a:t>
            </a:r>
          </a:p>
          <a:p>
            <a:pPr algn="just"/>
            <a:r>
              <a:rPr lang="en-US" altLang="en-US">
                <a:solidFill>
                  <a:schemeClr val="tx1"/>
                </a:solidFill>
              </a:rPr>
              <a:t>Reduce execution time</a:t>
            </a:r>
          </a:p>
          <a:p>
            <a:pPr algn="just"/>
            <a:r>
              <a:rPr lang="en-US" altLang="en-US">
                <a:solidFill>
                  <a:schemeClr val="tx1"/>
                </a:solidFill>
              </a:rPr>
              <a:t>Minimize memory consumption</a:t>
            </a:r>
          </a:p>
          <a:p>
            <a:pPr algn="just"/>
            <a:r>
              <a:rPr lang="en-US" altLang="en-US">
                <a:solidFill>
                  <a:schemeClr val="tx1"/>
                </a:solidFill>
              </a:rPr>
              <a:t>Improve responsiveness</a:t>
            </a:r>
          </a:p>
          <a:p>
            <a:pPr algn="just"/>
            <a:r>
              <a:rPr lang="en-US" altLang="en-US">
                <a:solidFill>
                  <a:schemeClr val="tx1"/>
                </a:solidFill>
              </a:rPr>
              <a:t>Increase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Faster applications</a:t>
            </a:r>
          </a:p>
          <a:p>
            <a:r>
              <a:rPr lang="en-US" altLang="en-US"/>
              <a:t>Better customer satisfaction</a:t>
            </a:r>
          </a:p>
          <a:p>
            <a:r>
              <a:rPr lang="en-US" altLang="en-US"/>
              <a:t>Lower infrastructure costs</a:t>
            </a:r>
          </a:p>
          <a:p>
            <a:r>
              <a:rPr lang="en-US" altLang="en-US"/>
              <a:t>Efficient use of hardware resources</a:t>
            </a:r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ChatGPT Image Jun 3, 2026, 02_30_40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950" y="1070610"/>
            <a:ext cx="4548505" cy="30327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Factors Affecting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5910"/>
            <a:ext cx="10515600" cy="4784725"/>
          </a:xfrm>
        </p:spPr>
        <p:txBody>
          <a:bodyPr>
            <a:normAutofit fontScale="90000"/>
          </a:bodyPr>
          <a:lstStyle/>
          <a:p>
            <a:r>
              <a:rPr lang="en-US" altLang="en-US" b="1"/>
              <a:t>Algorithm Efficiency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The choice of algorithm significantly affects execution speed.</a:t>
            </a:r>
          </a:p>
          <a:p>
            <a:r>
              <a:rPr lang="en-US" altLang="en-US" b="1">
                <a:sym typeface="+mn-ea"/>
              </a:rPr>
              <a:t>Memory Usage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Excessive memory usage can slow down applications.</a:t>
            </a:r>
          </a:p>
          <a:p>
            <a:r>
              <a:rPr lang="en-US" altLang="en-US" b="1">
                <a:sym typeface="+mn-ea"/>
              </a:rPr>
              <a:t>CPU Utilization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High CPU consumption may reduce overall system performance.</a:t>
            </a:r>
          </a:p>
          <a:p>
            <a:r>
              <a:rPr lang="en-US" altLang="en-US" b="1">
                <a:sym typeface="+mn-ea"/>
              </a:rPr>
              <a:t>Disk and Network I/O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Frequent reading/writing operations increase response time.</a:t>
            </a:r>
          </a:p>
          <a:p>
            <a:r>
              <a:rPr lang="en-US" altLang="en-US" b="1">
                <a:sym typeface="+mn-ea"/>
              </a:rPr>
              <a:t>Concurrency Management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Improper thread management can create bottlenecks.</a:t>
            </a:r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endParaRPr lang="en-US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Performance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075"/>
            <a:ext cx="105156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Performance = Work Done / Time Taken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Example 1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Suppose a program processes 1000 records in 10 seconds.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Performance= 1000/10 =</a:t>
            </a:r>
            <a:r>
              <a:rPr lang="en-US" altLang="en-US" b="1">
                <a:solidFill>
                  <a:schemeClr val="tx1"/>
                </a:solidFill>
              </a:rPr>
              <a:t>100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Result: </a:t>
            </a:r>
            <a:r>
              <a:rPr lang="en-US" altLang="en-US">
                <a:solidFill>
                  <a:schemeClr val="tx1"/>
                </a:solidFill>
              </a:rPr>
              <a:t>The program processes 100 records per second.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Example 2 (After Optimization)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The same program now processes 1000 records in 5 seconds.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Performance= 1000/5 = </a:t>
            </a:r>
            <a:r>
              <a:rPr lang="en-US" altLang="en-US" b="1">
                <a:solidFill>
                  <a:schemeClr val="tx1"/>
                </a:solidFill>
              </a:rPr>
              <a:t>200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Result:</a:t>
            </a:r>
            <a:r>
              <a:rPr lang="en-US" altLang="en-US">
                <a:solidFill>
                  <a:schemeClr val="tx1"/>
                </a:solidFill>
              </a:rPr>
              <a:t> The program processes 200 records per second.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/>
              <a:t>Code 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ym typeface="+mn-ea"/>
              </a:rPr>
              <a:t>Eliminate Dead 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+mn-ea"/>
              </a:rPr>
              <a:t>Avoid Repeated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+mn-ea"/>
              </a:rPr>
              <a:t>Use Efficient Data Structures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+mn-ea"/>
              </a:rPr>
              <a:t>Cache Results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+mn-ea"/>
              </a:rPr>
              <a:t>Minimize Object Creation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+mn-ea"/>
              </a:rPr>
              <a:t>Loop Optimization</a:t>
            </a:r>
            <a:endParaRPr lang="en-US" dirty="0"/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Eliminate Dead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363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1900" b="1">
                <a:solidFill>
                  <a:srgbClr val="002060"/>
                </a:solidFill>
              </a:rPr>
              <a:t>Dead code</a:t>
            </a:r>
            <a:r>
              <a:rPr lang="en-US" altLang="en-US" sz="1900"/>
              <a:t> is code that never executes or whose result is never used. Removing it reduces code size and improves readability.</a:t>
            </a:r>
          </a:p>
          <a:p>
            <a:pPr marL="0" indent="0" algn="just">
              <a:buNone/>
            </a:pPr>
            <a:r>
              <a:rPr lang="en-US" altLang="en-US" sz="1900" b="1">
                <a:solidFill>
                  <a:srgbClr val="FF0000"/>
                </a:solidFill>
              </a:rPr>
              <a:t>Example: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public class DeadCodeExample {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    public static void main(String[] args) {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int age = 20;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</a:t>
            </a:r>
            <a:r>
              <a:rPr lang="en-US" altLang="en-US" sz="1900" b="1">
                <a:solidFill>
                  <a:schemeClr val="tx1"/>
                </a:solidFill>
              </a:rPr>
              <a:t> // Dead code: never executes</a:t>
            </a:r>
            <a:endParaRPr lang="en-US" altLang="en-US" sz="19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if(false){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    System.out.println("Never Executes");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}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System.out.println("Age = " + age);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    }</a:t>
            </a:r>
          </a:p>
          <a:p>
            <a:pPr marL="0" indent="0" algn="just">
              <a:buNone/>
            </a:pPr>
            <a:r>
              <a:rPr lang="en-US" altLang="en-US" sz="190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5775"/>
            <a:ext cx="10515600" cy="569150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/>
              <a:t>After Eliminating Dead Code(Optimized Version)</a:t>
            </a:r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r>
              <a:rPr lang="en-US" altLang="en-US"/>
              <a:t>public class DeadCodeExample {</a:t>
            </a:r>
          </a:p>
          <a:p>
            <a:pPr marL="0" indent="0">
              <a:buNone/>
            </a:pPr>
            <a:r>
              <a:rPr lang="en-US" altLang="en-US"/>
              <a:t>    public static void main(String[] args) {</a:t>
            </a:r>
          </a:p>
          <a:p>
            <a:pPr marL="0" indent="0">
              <a:buNone/>
            </a:pPr>
            <a:r>
              <a:rPr lang="en-US" altLang="en-US"/>
              <a:t>        int age = 20;</a:t>
            </a:r>
          </a:p>
          <a:p>
            <a:pPr marL="0" indent="0" algn="l">
              <a:buNone/>
            </a:pPr>
            <a:r>
              <a:rPr lang="en-US" altLang="en-US"/>
              <a:t> </a:t>
            </a:r>
            <a:r>
              <a:rPr lang="en-US" altLang="en-US" b="1"/>
              <a:t>// Unnecessary code removed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System.out.println("Age = " + age);</a:t>
            </a:r>
          </a:p>
          <a:p>
            <a:pPr marL="0" indent="0">
              <a:buNone/>
            </a:pPr>
            <a:r>
              <a:rPr lang="en-US" altLang="en-US"/>
              <a:t>    }</a:t>
            </a:r>
          </a:p>
          <a:p>
            <a:pPr marL="0" indent="0">
              <a:buNone/>
            </a:pPr>
            <a:r>
              <a:rPr lang="en-US" altLang="en-US"/>
              <a:t>}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Benefit:</a:t>
            </a:r>
            <a:r>
              <a:rPr lang="en-US" altLang="en-US"/>
              <a:t> Cleaner and more maintainable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Avoid Repeated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45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/>
              <a:t>Avoid performing the same calculation repeatedly</a:t>
            </a:r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  <a:sym typeface="+mn-ea"/>
              </a:rPr>
              <a:t>Example:</a:t>
            </a:r>
            <a:endParaRPr lang="en-US" altLang="en-US" sz="24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sz="2400"/>
              <a:t>public class RepeatedWorkExample {</a:t>
            </a:r>
          </a:p>
          <a:p>
            <a:pPr marL="0" indent="0">
              <a:buNone/>
            </a:pPr>
            <a:r>
              <a:rPr lang="en-US" altLang="en-US" sz="2400"/>
              <a:t>    public static void main(String[] args) {</a:t>
            </a:r>
          </a:p>
          <a:p>
            <a:pPr marL="0" indent="0">
              <a:buNone/>
            </a:pPr>
            <a:r>
              <a:rPr lang="en-US" altLang="en-US" sz="2400"/>
              <a:t>        double radius = 5;</a:t>
            </a:r>
          </a:p>
          <a:p>
            <a:pPr marL="0" indent="0">
              <a:buNone/>
            </a:pPr>
            <a:r>
              <a:rPr lang="en-US" altLang="en-US" sz="2400"/>
              <a:t>        for(int i = 0; i &lt; 1000; i++) {</a:t>
            </a:r>
          </a:p>
          <a:p>
            <a:pPr marL="0" indent="0">
              <a:buNone/>
            </a:pPr>
            <a:r>
              <a:rPr lang="en-US" altLang="en-US" sz="2400" b="1"/>
              <a:t>      // Same calculation performed 1000 times</a:t>
            </a:r>
          </a:p>
          <a:p>
            <a:pPr marL="0" indent="0">
              <a:buNone/>
            </a:pPr>
            <a:r>
              <a:rPr lang="en-US" altLang="en-US" sz="2400"/>
              <a:t>            double area = Math.PI * radius * radius;</a:t>
            </a:r>
          </a:p>
          <a:p>
            <a:pPr marL="0" indent="0">
              <a:buNone/>
            </a:pPr>
            <a:r>
              <a:rPr lang="en-US" altLang="en-US" sz="2400"/>
              <a:t>            System.out.println(area);</a:t>
            </a:r>
          </a:p>
          <a:p>
            <a:pPr marL="0" indent="0">
              <a:buNone/>
            </a:pPr>
            <a:r>
              <a:rPr lang="en-US" altLang="en-US" sz="2400"/>
              <a:t>        }</a:t>
            </a:r>
          </a:p>
          <a:p>
            <a:pPr marL="0" indent="0">
              <a:buNone/>
            </a:pPr>
            <a:r>
              <a:rPr lang="en-US" altLang="en-US" sz="2400"/>
              <a:t>    } }</a:t>
            </a:r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7515"/>
            <a:ext cx="10515600" cy="6352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/>
              <a:t>Optimized Version</a:t>
            </a:r>
          </a:p>
          <a:p>
            <a:pPr marL="0" indent="0">
              <a:buNone/>
            </a:pPr>
            <a:r>
              <a:rPr lang="en-US" altLang="en-US"/>
              <a:t>public class RepeatedWorkExample {</a:t>
            </a:r>
          </a:p>
          <a:p>
            <a:pPr marL="0" indent="0">
              <a:buNone/>
            </a:pPr>
            <a:r>
              <a:rPr lang="en-US" altLang="en-US"/>
              <a:t>    public static void main(String[] args) {</a:t>
            </a:r>
          </a:p>
          <a:p>
            <a:pPr marL="0" indent="0">
              <a:buNone/>
            </a:pPr>
            <a:r>
              <a:rPr lang="en-US" altLang="en-US"/>
              <a:t>        double radius = 5;</a:t>
            </a:r>
          </a:p>
          <a:p>
            <a:pPr marL="0" indent="0">
              <a:buNone/>
            </a:pPr>
            <a:r>
              <a:rPr lang="en-US" altLang="en-US"/>
              <a:t>        </a:t>
            </a:r>
            <a:r>
              <a:rPr lang="en-US" altLang="en-US" b="1"/>
              <a:t>// Calculate once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double area = Math.PI * radius * radius;</a:t>
            </a:r>
          </a:p>
          <a:p>
            <a:pPr marL="0" indent="0">
              <a:buNone/>
            </a:pPr>
            <a:r>
              <a:rPr lang="en-US" altLang="en-US"/>
              <a:t>        for(int i = 0; i &lt; 1000; i++) {</a:t>
            </a:r>
          </a:p>
          <a:p>
            <a:pPr marL="0" indent="0">
              <a:buNone/>
            </a:pPr>
            <a:r>
              <a:rPr lang="en-US" altLang="en-US"/>
              <a:t>      </a:t>
            </a:r>
            <a:r>
              <a:rPr lang="en-US" altLang="en-US" b="1"/>
              <a:t>// Reuse calculated value</a:t>
            </a:r>
          </a:p>
          <a:p>
            <a:pPr marL="0" indent="0">
              <a:buNone/>
            </a:pPr>
            <a:r>
              <a:rPr lang="en-US" altLang="en-US"/>
              <a:t>            System.out.println(area);</a:t>
            </a:r>
          </a:p>
          <a:p>
            <a:pPr marL="0" indent="0">
              <a:buNone/>
            </a:pPr>
            <a:r>
              <a:rPr lang="en-US" altLang="en-US"/>
              <a:t>        }</a:t>
            </a:r>
          </a:p>
          <a:p>
            <a:pPr marL="0" indent="0">
              <a:buNone/>
            </a:pPr>
            <a:r>
              <a:rPr lang="en-US" altLang="en-US"/>
              <a:t>    } }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Benefit:</a:t>
            </a:r>
            <a:r>
              <a:rPr lang="en-US" altLang="en-US"/>
              <a:t> Reduces CPU usage.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Use Efficient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0505"/>
            <a:ext cx="10515600" cy="527050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altLang="en-US" sz="7200"/>
              <a:t>Select the data structure best suited for the operation.</a:t>
            </a:r>
          </a:p>
          <a:p>
            <a:pPr marL="0" indent="0">
              <a:buNone/>
            </a:pPr>
            <a:r>
              <a:rPr lang="en-US" altLang="en-US" sz="7200" b="1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import java.util.ArrayList;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import java.util.List;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public class DataStructureExample {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public static void main(String[] args) {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</a:t>
            </a:r>
            <a:r>
              <a:rPr lang="en-US" altLang="en-US" sz="7200" b="1">
                <a:solidFill>
                  <a:schemeClr val="tx1"/>
                </a:solidFill>
              </a:rPr>
              <a:t>  // Searching in ArrayList can be slower</a:t>
            </a:r>
            <a:endParaRPr lang="en-US" altLang="en-US" sz="7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List&lt;String&gt; names = new ArrayList&lt;&gt;();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names.add("Ali");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names.add("Ahmed");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names.add("Sara");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if(names.contains("Ali")) {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    System.out.println("Found");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} } }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22605"/>
            <a:ext cx="10515600" cy="60369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/>
              <a:t>Optimized Version</a:t>
            </a:r>
          </a:p>
          <a:p>
            <a:pPr marL="0" indent="0">
              <a:buNone/>
            </a:pPr>
            <a:r>
              <a:rPr lang="en-US" altLang="en-US" sz="1700"/>
              <a:t>import java.util.HashSet;</a:t>
            </a:r>
          </a:p>
          <a:p>
            <a:pPr marL="0" indent="0">
              <a:buNone/>
            </a:pPr>
            <a:r>
              <a:rPr lang="en-US" altLang="en-US" sz="1700"/>
              <a:t>import java.util.Set;</a:t>
            </a:r>
          </a:p>
          <a:p>
            <a:pPr marL="0" indent="0">
              <a:buNone/>
            </a:pPr>
            <a:r>
              <a:rPr lang="en-US" altLang="en-US" sz="1700"/>
              <a:t>public class DataStructureExample {</a:t>
            </a:r>
          </a:p>
          <a:p>
            <a:pPr marL="0" indent="0">
              <a:buNone/>
            </a:pPr>
            <a:r>
              <a:rPr lang="en-US" altLang="en-US" sz="1700"/>
              <a:t>    public static void main(String[] args) {</a:t>
            </a:r>
          </a:p>
          <a:p>
            <a:pPr marL="0" indent="0">
              <a:buNone/>
            </a:pPr>
            <a:r>
              <a:rPr lang="en-US" altLang="en-US" sz="1700"/>
              <a:t>       </a:t>
            </a:r>
            <a:r>
              <a:rPr lang="en-US" altLang="en-US" sz="1700" b="1"/>
              <a:t>// HashSet provides faster lookups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        Set&lt;String&gt; names = new HashSet&lt;&gt;();</a:t>
            </a:r>
          </a:p>
          <a:p>
            <a:pPr marL="0" indent="0">
              <a:buNone/>
            </a:pPr>
            <a:r>
              <a:rPr lang="en-US" altLang="en-US" sz="1700"/>
              <a:t>        names.add("Ali");</a:t>
            </a:r>
          </a:p>
          <a:p>
            <a:pPr marL="0" indent="0">
              <a:buNone/>
            </a:pPr>
            <a:r>
              <a:rPr lang="en-US" altLang="en-US" sz="1700"/>
              <a:t>        names.add("Ahmed");</a:t>
            </a:r>
          </a:p>
          <a:p>
            <a:pPr marL="0" indent="0">
              <a:buNone/>
            </a:pPr>
            <a:r>
              <a:rPr lang="en-US" altLang="en-US" sz="1700"/>
              <a:t>        names.add("Sara");</a:t>
            </a:r>
          </a:p>
          <a:p>
            <a:pPr marL="0" indent="0">
              <a:buNone/>
            </a:pPr>
            <a:r>
              <a:rPr lang="en-US" altLang="en-US" sz="1700"/>
              <a:t>        if(names.contains("Ali")) {</a:t>
            </a:r>
          </a:p>
          <a:p>
            <a:pPr marL="0" indent="0">
              <a:buNone/>
            </a:pPr>
            <a:r>
              <a:rPr lang="en-US" altLang="en-US" sz="1700"/>
              <a:t>            System.out.println("Found");</a:t>
            </a:r>
          </a:p>
          <a:p>
            <a:pPr marL="0" indent="0">
              <a:buNone/>
            </a:pPr>
            <a:r>
              <a:rPr lang="en-US" altLang="en-US" sz="1700"/>
              <a:t>        }</a:t>
            </a:r>
          </a:p>
          <a:p>
            <a:pPr marL="0" indent="0">
              <a:buNone/>
            </a:pPr>
            <a:r>
              <a:rPr lang="en-US" altLang="en-US" sz="1700"/>
              <a:t>    }</a:t>
            </a:r>
          </a:p>
          <a:p>
            <a:pPr marL="0" indent="0">
              <a:buNone/>
            </a:pPr>
            <a:r>
              <a:rPr lang="en-US" altLang="en-US" sz="1700"/>
              <a:t>}</a:t>
            </a:r>
          </a:p>
          <a:p>
            <a:pPr marL="0" indent="0">
              <a:buNone/>
            </a:pPr>
            <a:r>
              <a:rPr lang="en-US" altLang="en-US" sz="1700" b="1">
                <a:solidFill>
                  <a:srgbClr val="FF0000"/>
                </a:solidFill>
              </a:rPr>
              <a:t>Benefit:</a:t>
            </a:r>
            <a:r>
              <a:rPr lang="en-US" altLang="en-US" sz="1700"/>
              <a:t> Faster search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Cache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2085"/>
            <a:ext cx="10515600" cy="51949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/>
              <a:t>Store previously computed values for reuse.</a:t>
            </a:r>
          </a:p>
          <a:p>
            <a:pPr marL="0" indent="0"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public class CacheExample {</a:t>
            </a:r>
          </a:p>
          <a:p>
            <a:pPr marL="0" indent="0">
              <a:buNone/>
            </a:pPr>
            <a:r>
              <a:rPr lang="en-US" altLang="en-US" sz="1800" b="1">
                <a:solidFill>
                  <a:schemeClr val="tx1"/>
                </a:solidFill>
              </a:rPr>
              <a:t>// Calculates square every time method is called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    public static int getSquare(int n) {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return n * n;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    public static void main(String[] args) {</a:t>
            </a:r>
          </a:p>
          <a:p>
            <a:pPr marL="0" indent="0">
              <a:buNone/>
            </a:pPr>
            <a:endParaRPr lang="en-US" altLang="en-US" sz="18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System.out.println(getSquare(5));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System.out.println(getSquare(5));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        System.out.println(getSquare(5));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695"/>
            <a:ext cx="10515600" cy="6630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>
                <a:sym typeface="+mn-ea"/>
              </a:rPr>
              <a:t>Optimized Version</a:t>
            </a:r>
            <a:endParaRPr lang="en-US" sz="2000" b="1"/>
          </a:p>
          <a:p>
            <a:pPr marL="0" indent="0">
              <a:buNone/>
            </a:pPr>
            <a:r>
              <a:rPr lang="en-US" altLang="en-US" sz="1600"/>
              <a:t>import java.util.HashMap;</a:t>
            </a:r>
          </a:p>
          <a:p>
            <a:pPr marL="0" indent="0">
              <a:buNone/>
            </a:pPr>
            <a:r>
              <a:rPr lang="en-US" altLang="en-US" sz="1600"/>
              <a:t>import java.util.Map;</a:t>
            </a:r>
          </a:p>
          <a:p>
            <a:pPr marL="0" indent="0">
              <a:buNone/>
            </a:pPr>
            <a:r>
              <a:rPr lang="en-US" altLang="en-US" sz="1600"/>
              <a:t>public class CacheExample {</a:t>
            </a:r>
          </a:p>
          <a:p>
            <a:pPr marL="0" indent="0">
              <a:buNone/>
            </a:pPr>
            <a:r>
              <a:rPr lang="en-US" altLang="en-US" sz="1600"/>
              <a:t>    static Map&lt;Integer,Integer&gt; cache = new HashMap&lt;&gt;();</a:t>
            </a:r>
          </a:p>
          <a:p>
            <a:pPr marL="0" indent="0">
              <a:buNone/>
            </a:pPr>
            <a:r>
              <a:rPr lang="en-US" altLang="en-US" sz="1600"/>
              <a:t>    public static int getSquare(int n) {</a:t>
            </a:r>
          </a:p>
          <a:p>
            <a:pPr marL="0" indent="0">
              <a:buNone/>
            </a:pPr>
            <a:r>
              <a:rPr lang="en-US" altLang="en-US" sz="1600" b="1"/>
              <a:t>// Calculate only if result not already stored</a:t>
            </a:r>
          </a:p>
          <a:p>
            <a:pPr marL="0" indent="0">
              <a:buNone/>
            </a:pPr>
            <a:r>
              <a:rPr lang="en-US" altLang="en-US" sz="1600"/>
              <a:t>        if(!cache.containsKey(n)) {</a:t>
            </a:r>
          </a:p>
          <a:p>
            <a:pPr marL="0" indent="0">
              <a:buNone/>
            </a:pPr>
            <a:r>
              <a:rPr lang="en-US" altLang="en-US" sz="1600"/>
              <a:t>            cache.put(n, n * n);</a:t>
            </a:r>
          </a:p>
          <a:p>
            <a:pPr marL="0" indent="0">
              <a:buNone/>
            </a:pPr>
            <a:r>
              <a:rPr lang="en-US" altLang="en-US" sz="1600"/>
              <a:t>        }</a:t>
            </a:r>
          </a:p>
          <a:p>
            <a:pPr marL="0" indent="0">
              <a:buNone/>
            </a:pPr>
            <a:r>
              <a:rPr lang="en-US" altLang="en-US" sz="1600" b="1"/>
              <a:t>// Return cached value</a:t>
            </a:r>
          </a:p>
          <a:p>
            <a:pPr marL="0" indent="0">
              <a:buNone/>
            </a:pPr>
            <a:r>
              <a:rPr lang="en-US" altLang="en-US" sz="1600"/>
              <a:t>        return cache.get(n);</a:t>
            </a:r>
          </a:p>
          <a:p>
            <a:pPr marL="0" indent="0">
              <a:buNone/>
            </a:pPr>
            <a:r>
              <a:rPr lang="en-US" altLang="en-US" sz="1600"/>
              <a:t>    }</a:t>
            </a:r>
          </a:p>
          <a:p>
            <a:pPr marL="0" indent="0">
              <a:buNone/>
            </a:pPr>
            <a:r>
              <a:rPr lang="en-US" altLang="en-US" sz="1600"/>
              <a:t>    public static void main(String[] args) {</a:t>
            </a:r>
          </a:p>
          <a:p>
            <a:pPr marL="0" indent="0">
              <a:buNone/>
            </a:pPr>
            <a:r>
              <a:rPr lang="en-US" altLang="en-US" sz="1600"/>
              <a:t>        System.out.println(getSquare(5));</a:t>
            </a:r>
          </a:p>
          <a:p>
            <a:pPr marL="0" indent="0">
              <a:buNone/>
            </a:pPr>
            <a:r>
              <a:rPr lang="en-US" altLang="en-US" sz="1600"/>
              <a:t>        System.out.println(getSquare(5));</a:t>
            </a:r>
          </a:p>
          <a:p>
            <a:pPr marL="0" indent="0">
              <a:buNone/>
            </a:pPr>
            <a:r>
              <a:rPr lang="en-US" altLang="en-US" sz="1600"/>
              <a:t>        System.out.println(getSquare(5));</a:t>
            </a:r>
          </a:p>
          <a:p>
            <a:pPr marL="0" indent="0">
              <a:buNone/>
            </a:pPr>
            <a:r>
              <a:rPr lang="en-US" altLang="en-US" sz="1600"/>
              <a:t>    }}</a:t>
            </a:r>
          </a:p>
          <a:p>
            <a:pPr marL="0" indent="0"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Benefit: </a:t>
            </a:r>
            <a:r>
              <a:rPr lang="en-US" altLang="en-US" sz="1600"/>
              <a:t>Avoids repeated computations.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Minimize Object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1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900"/>
              <a:t>Reduce unnecessary object creation.</a:t>
            </a:r>
          </a:p>
          <a:p>
            <a:pPr marL="0" indent="0">
              <a:buNone/>
            </a:pPr>
            <a:r>
              <a:rPr lang="en-US" altLang="en-US" sz="1900" b="1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public class ObjectCreationExample {</a:t>
            </a: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    public static void main(String[] args) {</a:t>
            </a: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for(int i = 0; i &lt; 1000; i++) {</a:t>
            </a: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</a:t>
            </a:r>
            <a:r>
              <a:rPr lang="en-US" altLang="en-US" sz="1900" b="1">
                <a:solidFill>
                  <a:schemeClr val="tx1"/>
                </a:solidFill>
              </a:rPr>
              <a:t>// New object created each iteration</a:t>
            </a:r>
            <a:endParaRPr lang="en-US" altLang="en-US" sz="19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    String message = new String("Hello");</a:t>
            </a:r>
          </a:p>
          <a:p>
            <a:pPr marL="0" indent="0">
              <a:buNone/>
            </a:pPr>
            <a:endParaRPr lang="en-US" altLang="en-US" sz="19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    System.out.println(message);</a:t>
            </a: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        }</a:t>
            </a: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altLang="en-US" sz="190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7355"/>
            <a:ext cx="10515600" cy="62763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/>
              <a:t>Optimized Version</a:t>
            </a:r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r>
              <a:rPr lang="en-US" altLang="en-US" sz="2400"/>
              <a:t>public class ObjectCreationExample {</a:t>
            </a:r>
          </a:p>
          <a:p>
            <a:pPr marL="0" indent="0">
              <a:buNone/>
            </a:pPr>
            <a:r>
              <a:rPr lang="en-US" altLang="en-US" sz="2400"/>
              <a:t>    public static void main(String[] args) {</a:t>
            </a:r>
          </a:p>
          <a:p>
            <a:pPr marL="0" indent="0">
              <a:buNone/>
            </a:pPr>
            <a:r>
              <a:rPr lang="en-US" altLang="en-US" sz="2400"/>
              <a:t>   </a:t>
            </a:r>
            <a:r>
              <a:rPr lang="en-US" altLang="en-US" sz="2400" b="1"/>
              <a:t> // Single object reused</a:t>
            </a:r>
          </a:p>
          <a:p>
            <a:pPr marL="0" indent="0">
              <a:buNone/>
            </a:pPr>
            <a:r>
              <a:rPr lang="en-US" altLang="en-US" sz="2400"/>
              <a:t>        String message = "Hello";</a:t>
            </a:r>
          </a:p>
          <a:p>
            <a:pPr marL="0" indent="0">
              <a:buNone/>
            </a:pPr>
            <a:r>
              <a:rPr lang="en-US" altLang="en-US" sz="2400"/>
              <a:t>        for(int i = 0; i &lt; 1000; i++) {</a:t>
            </a:r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            System.out.println(message);</a:t>
            </a:r>
          </a:p>
          <a:p>
            <a:pPr marL="0" indent="0">
              <a:buNone/>
            </a:pPr>
            <a:r>
              <a:rPr lang="en-US" altLang="en-US" sz="2400"/>
              <a:t>        }</a:t>
            </a:r>
          </a:p>
          <a:p>
            <a:pPr marL="0" indent="0">
              <a:buNone/>
            </a:pPr>
            <a:r>
              <a:rPr lang="en-US" altLang="en-US" sz="2400"/>
              <a:t>    }</a:t>
            </a:r>
          </a:p>
          <a:p>
            <a:pPr marL="0" indent="0">
              <a:buNone/>
            </a:pPr>
            <a:r>
              <a:rPr lang="en-US" altLang="en-US" sz="2400"/>
              <a:t>}</a:t>
            </a:r>
          </a:p>
          <a:p>
            <a:pPr marL="0" indent="0"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Benefit: </a:t>
            </a:r>
            <a:r>
              <a:rPr lang="en-US" altLang="en-US" sz="2400"/>
              <a:t>Reduces memory allocation and garbage collection.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Loop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0030"/>
            <a:ext cx="10515600" cy="521208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altLang="en-US" sz="7200"/>
              <a:t>Avoid unnecessary operations inside loops.</a:t>
            </a:r>
          </a:p>
          <a:p>
            <a:pPr marL="0" indent="0">
              <a:buNone/>
            </a:pPr>
            <a:r>
              <a:rPr lang="en-US" altLang="en-US" sz="7200" b="1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import java.util.ArrayList;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import java.util.List;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public class LoopOptimizationExample {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public static void main(String[] args) {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List&lt;String&gt; list = new ArrayList&lt;&gt;();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list.add("Java");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list.add("Python");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list.add("C++");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for(int i = 0; i &lt; list.size(); i++) {</a:t>
            </a:r>
          </a:p>
          <a:p>
            <a:pPr marL="0" indent="0">
              <a:buNone/>
            </a:pPr>
            <a:r>
              <a:rPr lang="en-US" altLang="en-US" sz="7200" b="1">
                <a:solidFill>
                  <a:schemeClr val="tx1"/>
                </a:solidFill>
              </a:rPr>
              <a:t>        // size() called every iteration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    System.out.println(list.get(i));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    } } }</a:t>
            </a:r>
          </a:p>
          <a:p>
            <a:pPr marL="0" indent="0">
              <a:buNone/>
            </a:pPr>
            <a:r>
              <a:rPr lang="en-US" altLang="en-US" sz="7200">
                <a:solidFill>
                  <a:schemeClr val="tx1"/>
                </a:solidFill>
              </a:rPr>
              <a:t>    </a:t>
            </a:r>
          </a:p>
          <a:p>
            <a:pPr marL="0" indent="0">
              <a:buNone/>
            </a:pPr>
            <a:endParaRPr lang="en-US" altLang="en-US" sz="7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665"/>
            <a:ext cx="10515600" cy="62471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/>
              <a:t>Optimized Version</a:t>
            </a:r>
          </a:p>
          <a:p>
            <a:pPr marL="0" indent="0">
              <a:buNone/>
            </a:pPr>
            <a:r>
              <a:rPr lang="en-US" altLang="en-US" sz="1600"/>
              <a:t>import java.util.ArrayList;</a:t>
            </a:r>
          </a:p>
          <a:p>
            <a:pPr marL="0" indent="0">
              <a:buNone/>
            </a:pPr>
            <a:r>
              <a:rPr lang="en-US" altLang="en-US" sz="1600"/>
              <a:t>import java.util.List;</a:t>
            </a:r>
          </a:p>
          <a:p>
            <a:pPr marL="0" indent="0">
              <a:buNone/>
            </a:pPr>
            <a:r>
              <a:rPr lang="en-US" altLang="en-US" sz="1600"/>
              <a:t>public class LoopOptimizationExample {</a:t>
            </a:r>
          </a:p>
          <a:p>
            <a:pPr marL="0" indent="0">
              <a:buNone/>
            </a:pPr>
            <a:r>
              <a:rPr lang="en-US" altLang="en-US" sz="1600"/>
              <a:t>    public static void main(String[] args) {</a:t>
            </a:r>
          </a:p>
          <a:p>
            <a:pPr marL="0" indent="0">
              <a:buNone/>
            </a:pPr>
            <a:r>
              <a:rPr lang="en-US" altLang="en-US" sz="1600"/>
              <a:t>        List&lt;String&gt; list = new ArrayList&lt;&gt;();</a:t>
            </a:r>
          </a:p>
          <a:p>
            <a:pPr marL="0" indent="0">
              <a:buNone/>
            </a:pPr>
            <a:r>
              <a:rPr lang="en-US" altLang="en-US" sz="1600"/>
              <a:t>        list.add("Java");</a:t>
            </a:r>
          </a:p>
          <a:p>
            <a:pPr marL="0" indent="0">
              <a:buNone/>
            </a:pPr>
            <a:r>
              <a:rPr lang="en-US" altLang="en-US" sz="1600"/>
              <a:t>        list.add("Python");</a:t>
            </a:r>
          </a:p>
          <a:p>
            <a:pPr marL="0" indent="0">
              <a:buNone/>
            </a:pPr>
            <a:r>
              <a:rPr lang="en-US" altLang="en-US" sz="1600"/>
              <a:t>        list.add("C++");</a:t>
            </a:r>
          </a:p>
          <a:p>
            <a:pPr marL="0" indent="0">
              <a:buNone/>
            </a:pPr>
            <a:r>
              <a:rPr lang="en-US" altLang="en-US" sz="1600" b="1"/>
              <a:t>      // Store size once</a:t>
            </a:r>
          </a:p>
          <a:p>
            <a:pPr marL="0" indent="0">
              <a:buNone/>
            </a:pPr>
            <a:r>
              <a:rPr lang="en-US" altLang="en-US" sz="1600"/>
              <a:t>        int size = list.size();</a:t>
            </a:r>
          </a:p>
          <a:p>
            <a:pPr marL="0" indent="0">
              <a:buNone/>
            </a:pPr>
            <a:r>
              <a:rPr lang="en-US" altLang="en-US" sz="1600"/>
              <a:t>        for(int i = 0; i &lt; size; i++) {</a:t>
            </a:r>
          </a:p>
          <a:p>
            <a:pPr marL="0" indent="0">
              <a:buNone/>
            </a:pPr>
            <a:r>
              <a:rPr lang="en-US" altLang="en-US" sz="1600"/>
              <a:t>     </a:t>
            </a:r>
            <a:r>
              <a:rPr lang="en-US" altLang="en-US" sz="1600" b="1"/>
              <a:t>// Reuse stored value</a:t>
            </a:r>
          </a:p>
          <a:p>
            <a:pPr marL="0" indent="0">
              <a:buNone/>
            </a:pPr>
            <a:r>
              <a:rPr lang="en-US" altLang="en-US" sz="1600"/>
              <a:t>            System.out.println(list.get(i));</a:t>
            </a:r>
          </a:p>
          <a:p>
            <a:pPr marL="0" indent="0">
              <a:buNone/>
            </a:pPr>
            <a:r>
              <a:rPr lang="en-US" altLang="en-US" sz="1600"/>
              <a:t>        }</a:t>
            </a:r>
          </a:p>
          <a:p>
            <a:pPr marL="0" indent="0">
              <a:buNone/>
            </a:pPr>
            <a:r>
              <a:rPr lang="en-US" altLang="en-US" sz="1600"/>
              <a:t>    } }</a:t>
            </a:r>
          </a:p>
          <a:p>
            <a:pPr marL="0" indent="0"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Benefit:</a:t>
            </a:r>
            <a:r>
              <a:rPr lang="en-US" altLang="en-US" sz="1600"/>
              <a:t> Improves loop efficiency, especially for large collections.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6775"/>
          </a:xfrm>
        </p:spPr>
        <p:txBody>
          <a:bodyPr/>
          <a:lstStyle/>
          <a:p>
            <a:r>
              <a:rPr lang="en-US" altLang="en-US"/>
              <a:t>Managing memory allocation and deallocation efficiently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Goals:</a:t>
            </a:r>
          </a:p>
          <a:p>
            <a:r>
              <a:rPr lang="en-US" altLang="en-US">
                <a:solidFill>
                  <a:schemeClr val="tx1"/>
                </a:solidFill>
              </a:rPr>
              <a:t>Reduce memory consumption</a:t>
            </a:r>
          </a:p>
          <a:p>
            <a:r>
              <a:rPr lang="en-US" altLang="en-US">
                <a:solidFill>
                  <a:schemeClr val="tx1"/>
                </a:solidFill>
              </a:rPr>
              <a:t>Prevent memory leaks</a:t>
            </a:r>
          </a:p>
          <a:p>
            <a:r>
              <a:rPr lang="en-US" altLang="en-US">
                <a:solidFill>
                  <a:schemeClr val="tx1"/>
                </a:solidFill>
              </a:rPr>
              <a:t>Improve application stability</a:t>
            </a: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Memory Leak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5885"/>
            <a:ext cx="10515600" cy="539559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Problem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List&lt;String&gt; data = new ArrayList&lt;&gt;();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while(true){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data.add("test");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Memory keeps growing.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B050"/>
                </a:solidFill>
              </a:rPr>
              <a:t>Solution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data.clear();</a:t>
            </a: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or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data = null;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Garbage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Automatic removal of unused objects from memory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Student s = new Student();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 = null;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highlight>
                  <a:srgbClr val="FFFF00"/>
                </a:highlight>
              </a:rPr>
              <a:t>Object becomes eligible for garbage collection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Benefits</a:t>
            </a:r>
          </a:p>
          <a:p>
            <a:r>
              <a:rPr lang="en-US" altLang="en-US">
                <a:solidFill>
                  <a:schemeClr val="tx1"/>
                </a:solidFill>
              </a:rPr>
              <a:t>Automatic cleanup</a:t>
            </a:r>
          </a:p>
          <a:p>
            <a:r>
              <a:rPr lang="en-US" altLang="en-US">
                <a:solidFill>
                  <a:schemeClr val="tx1"/>
                </a:solidFill>
              </a:rPr>
              <a:t>Better memory usage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Performance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Purpose</a:t>
            </a:r>
          </a:p>
          <a:p>
            <a:pPr marL="0" indent="0">
              <a:buNone/>
            </a:pPr>
            <a:r>
              <a:rPr lang="en-US" altLang="en-US"/>
              <a:t>Identify bottlenecks in applications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B050"/>
                </a:solidFill>
              </a:rPr>
              <a:t>Measures</a:t>
            </a:r>
          </a:p>
          <a:p>
            <a:r>
              <a:rPr lang="en-US" altLang="en-US"/>
              <a:t>CPU Usage</a:t>
            </a:r>
          </a:p>
          <a:p>
            <a:r>
              <a:rPr lang="en-US" altLang="en-US"/>
              <a:t>Memory Usage</a:t>
            </a:r>
          </a:p>
          <a:p>
            <a:r>
              <a:rPr lang="en-US" altLang="en-US"/>
              <a:t>Execution Time</a:t>
            </a:r>
          </a:p>
          <a:p>
            <a:r>
              <a:rPr lang="en-US" altLang="en-US"/>
              <a:t>Thread Activity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GPT Image Jun 3, 2026, 04_10_25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531495"/>
            <a:ext cx="10418445" cy="56007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Profiling Tools</a:t>
            </a:r>
          </a:p>
        </p:txBody>
      </p:sp>
      <p:pic>
        <p:nvPicPr>
          <p:cNvPr id="4" name="Picture 3" descr="ChatGPT Image Jun 3, 2026, 04_15_43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065" y="1691005"/>
            <a:ext cx="9333865" cy="44729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Multi-threading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/>
              <a:t>Executing multiple tasks simultaneously.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/>
              <a:t>Thread t1=new Thread(() -&gt; task1());</a:t>
            </a:r>
          </a:p>
          <a:p>
            <a:pPr marL="0" indent="0">
              <a:buNone/>
            </a:pPr>
            <a:r>
              <a:rPr lang="en-US" altLang="en-US"/>
              <a:t>Thread t2=new Thread(() -&gt; task2());</a:t>
            </a:r>
          </a:p>
          <a:p>
            <a:pPr marL="0" indent="0">
              <a:buNone/>
            </a:pPr>
            <a:r>
              <a:rPr lang="en-US" altLang="en-US"/>
              <a:t>t1.start();</a:t>
            </a:r>
          </a:p>
          <a:p>
            <a:pPr marL="0" indent="0">
              <a:buNone/>
            </a:pPr>
            <a:r>
              <a:rPr lang="en-US" altLang="en-US"/>
              <a:t>t2.start();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00B050"/>
                </a:solidFill>
              </a:rPr>
              <a:t>Benefits</a:t>
            </a:r>
          </a:p>
          <a:p>
            <a:r>
              <a:rPr lang="en-US" altLang="en-US"/>
              <a:t>Faster execution</a:t>
            </a:r>
          </a:p>
          <a:p>
            <a:r>
              <a:rPr lang="en-US" altLang="en-US"/>
              <a:t>Better responsiveness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GPT Image Jun 3, 2026, 04_21_02 AM"/>
          <p:cNvPicPr>
            <a:picLocks noChangeAspect="1"/>
          </p:cNvPicPr>
          <p:nvPr/>
        </p:nvPicPr>
        <p:blipFill>
          <a:blip r:embed="rId2"/>
          <a:srcRect b="16802"/>
          <a:stretch>
            <a:fillRect/>
          </a:stretch>
        </p:blipFill>
        <p:spPr>
          <a:xfrm>
            <a:off x="1647190" y="462915"/>
            <a:ext cx="8877935" cy="55645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/>
              <a:t>Concurrency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>
                <a:highlight>
                  <a:srgbClr val="FFFF00"/>
                </a:highlight>
              </a:rPr>
              <a:t>Common Issues</a:t>
            </a:r>
          </a:p>
          <a:p>
            <a:r>
              <a:rPr lang="en-US" altLang="en-US"/>
              <a:t>Race Condition</a:t>
            </a:r>
          </a:p>
          <a:p>
            <a:r>
              <a:rPr lang="en-US" altLang="en-US"/>
              <a:t>Deadlock</a:t>
            </a:r>
          </a:p>
          <a:p>
            <a:r>
              <a:rPr lang="en-US" altLang="en-US"/>
              <a:t>Starvation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altLang="en-US"/>
              <a:t>count++;</a:t>
            </a:r>
          </a:p>
          <a:p>
            <a:pPr marL="0" indent="0">
              <a:buNone/>
            </a:pPr>
            <a:r>
              <a:rPr lang="en-US" altLang="en-US">
                <a:highlight>
                  <a:srgbClr val="00FFFF"/>
                </a:highlight>
              </a:rPr>
              <a:t>Multiple threads may update simultaneously.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Synchronization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305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b="1"/>
              <a:t>Without Synchronization</a:t>
            </a:r>
          </a:p>
          <a:p>
            <a:pPr marL="0" indent="0">
              <a:buNone/>
            </a:pPr>
            <a:r>
              <a:rPr lang="en-US" altLang="en-US"/>
              <a:t>count++;</a:t>
            </a:r>
          </a:p>
          <a:p>
            <a:pPr marL="0" indent="0">
              <a:buNone/>
            </a:pPr>
            <a:r>
              <a:rPr lang="en-US" altLang="en-US">
                <a:highlight>
                  <a:srgbClr val="FFFF00"/>
                </a:highlight>
              </a:rPr>
              <a:t>May produce incorrect results</a:t>
            </a:r>
          </a:p>
          <a:p>
            <a:pPr marL="0" indent="0">
              <a:buNone/>
            </a:pPr>
            <a:r>
              <a:rPr lang="en-US" altLang="en-US" b="1"/>
              <a:t>With Synchronization</a:t>
            </a:r>
          </a:p>
          <a:p>
            <a:pPr marL="0" indent="0">
              <a:buNone/>
            </a:pPr>
            <a:r>
              <a:rPr lang="en-US" altLang="en-US"/>
              <a:t>synchronized(lock){</a:t>
            </a:r>
          </a:p>
          <a:p>
            <a:pPr marL="0" indent="0">
              <a:buNone/>
            </a:pPr>
            <a:r>
              <a:rPr lang="en-US" altLang="en-US"/>
              <a:t>    count++;</a:t>
            </a:r>
          </a:p>
          <a:p>
            <a:pPr marL="0" indent="0">
              <a:buNone/>
            </a:pPr>
            <a:r>
              <a:rPr lang="en-US" altLang="en-US"/>
              <a:t>}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Result: </a:t>
            </a:r>
            <a:r>
              <a:rPr lang="en-US" altLang="en-US"/>
              <a:t>Ensures thread safety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Conclusion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7340"/>
            <a:ext cx="10515600" cy="486854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2000"/>
              <a:t>✔ Use efficient algorithms</a:t>
            </a: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✔ Select appropriate data structures</a:t>
            </a: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✔ Manage memory carefully</a:t>
            </a: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✔ Profile before optimizing</a:t>
            </a: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✔ Use multi-threading wisely</a:t>
            </a: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✔ Handle concurrency safely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1980"/>
            <a:ext cx="10515600" cy="5575300"/>
          </a:xfrm>
        </p:spPr>
        <p:txBody>
          <a:bodyPr/>
          <a:lstStyle/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 altLang="en-US" b="1">
                <a:highlight>
                  <a:srgbClr val="FFFF00"/>
                </a:highlight>
                <a:sym typeface="+mn-ea"/>
              </a:rPr>
              <a:t>Quote</a:t>
            </a:r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sym typeface="+mn-ea"/>
              </a:rPr>
              <a:t>"Premature optimization is the root of all evil."</a:t>
            </a:r>
            <a:r>
              <a:rPr lang="en-US" altLang="en-US" b="1">
                <a:sym typeface="+mn-ea"/>
              </a:rPr>
              <a:t> — Donald Knuth</a:t>
            </a: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                                          </a:t>
            </a:r>
            <a:r>
              <a:rPr lang="en-US" sz="4800">
                <a:sym typeface="+mn-ea"/>
              </a:rPr>
              <a:t>  </a:t>
            </a:r>
            <a:r>
              <a:rPr lang="en-US" sz="4800">
                <a:solidFill>
                  <a:srgbClr val="0070C0"/>
                </a:solidFill>
                <a:sym typeface="+mn-ea"/>
              </a:rPr>
              <a:t> </a:t>
            </a:r>
            <a:r>
              <a:rPr lang="en-US" sz="4800" b="1">
                <a:solidFill>
                  <a:srgbClr val="0070C0"/>
                </a:solidFill>
                <a:sym typeface="+mn-ea"/>
              </a:rPr>
              <a:t>Thank You!</a:t>
            </a:r>
            <a:endParaRPr lang="en-US" sz="4800" b="1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1569</Words>
  <Application>Microsoft Office PowerPoint</Application>
  <PresentationFormat>Widescreen</PresentationFormat>
  <Paragraphs>299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Software Construction and Development</vt:lpstr>
      <vt:lpstr>Introduction to Performance Optimization</vt:lpstr>
      <vt:lpstr>Benefits</vt:lpstr>
      <vt:lpstr>Factors Affecting Performance</vt:lpstr>
      <vt:lpstr>Performance Formula</vt:lpstr>
      <vt:lpstr>Code Optimization Techniques</vt:lpstr>
      <vt:lpstr>Eliminate Dead Code</vt:lpstr>
      <vt:lpstr>PowerPoint Presentation</vt:lpstr>
      <vt:lpstr>Avoid Repeated Work</vt:lpstr>
      <vt:lpstr>PowerPoint Presentation</vt:lpstr>
      <vt:lpstr>Use Efficient Data Structures</vt:lpstr>
      <vt:lpstr>PowerPoint Presentation</vt:lpstr>
      <vt:lpstr>Cache Results</vt:lpstr>
      <vt:lpstr>PowerPoint Presentation</vt:lpstr>
      <vt:lpstr>Minimize Object Creation</vt:lpstr>
      <vt:lpstr>PowerPoint Presentation</vt:lpstr>
      <vt:lpstr>Loop Optimization</vt:lpstr>
      <vt:lpstr>PowerPoint Presentation</vt:lpstr>
      <vt:lpstr>Memory Management</vt:lpstr>
      <vt:lpstr>Memory Leak Example</vt:lpstr>
      <vt:lpstr>Garbage Collection</vt:lpstr>
      <vt:lpstr>Performance Profiling</vt:lpstr>
      <vt:lpstr>PowerPoint Presentation</vt:lpstr>
      <vt:lpstr>Profiling Tools</vt:lpstr>
      <vt:lpstr>Multi-threading</vt:lpstr>
      <vt:lpstr>PowerPoint Presentation</vt:lpstr>
      <vt:lpstr>Concurrency Challenges</vt:lpstr>
      <vt:lpstr>Synchronization Example</vt:lpstr>
      <vt:lpstr>Conclusion &amp; Best Practices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Khizar Hayat</dc:creator>
  <cp:lastModifiedBy>Muhammad Khizar Hayat</cp:lastModifiedBy>
  <cp:revision>13</cp:revision>
  <dcterms:created xsi:type="dcterms:W3CDTF">2026-05-19T09:18:00Z</dcterms:created>
  <dcterms:modified xsi:type="dcterms:W3CDTF">2026-06-03T13:37:16Z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4B7C9D690D2F41ACA80564C94DFBCC4B_13</vt:lpwstr>
  </property>
</Properties>
</file>