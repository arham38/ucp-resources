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71" r:id="rId11"/>
    <p:sldId id="272" r:id="rId12"/>
    <p:sldId id="273" r:id="rId13"/>
    <p:sldId id="274" r:id="rId14"/>
    <p:sldId id="265" r:id="rId15"/>
    <p:sldId id="266" r:id="rId16"/>
    <p:sldId id="270" r:id="rId17"/>
    <p:sldId id="267" r:id="rId18"/>
    <p:sldId id="268" r:id="rId19"/>
    <p:sldId id="269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CA542-68AC-4966-9319-5506D3A4A5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ym typeface="+mn-ea"/>
              </a:rPr>
              <a:t>Software Construction and Development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2707005"/>
          </a:xfrm>
        </p:spPr>
        <p:txBody>
          <a:bodyPr>
            <a:noAutofit/>
          </a:bodyPr>
          <a:lstStyle/>
          <a:p>
            <a:r>
              <a:rPr lang="en-US" sz="2300" b="1" dirty="0">
                <a:sym typeface="+mn-ea"/>
              </a:rPr>
              <a:t>Week 12</a:t>
            </a:r>
            <a:endParaRPr lang="en-US" sz="2300" b="1" dirty="0"/>
          </a:p>
          <a:p>
            <a:r>
              <a:rPr lang="en-US" sz="2300" b="1" dirty="0">
                <a:solidFill>
                  <a:srgbClr val="FF0000"/>
                </a:solidFill>
                <a:sym typeface="+mn-ea"/>
              </a:rPr>
              <a:t>Instructor :M </a:t>
            </a:r>
            <a:r>
              <a:rPr lang="en-US" sz="2300" b="1">
                <a:solidFill>
                  <a:srgbClr val="FF0000"/>
                </a:solidFill>
                <a:sym typeface="+mn-ea"/>
              </a:rPr>
              <a:t>Khizar Hayat</a:t>
            </a:r>
            <a:endParaRPr lang="en-US" sz="2300" b="1" dirty="0">
              <a:solidFill>
                <a:srgbClr val="FF0000"/>
              </a:solidFill>
            </a:endParaRPr>
          </a:p>
          <a:p>
            <a:r>
              <a:rPr lang="en-US" altLang="en-US" sz="2300" i="1"/>
              <a:t>Unit Testing and Software Quality Assurance</a:t>
            </a:r>
          </a:p>
          <a:p>
            <a:r>
              <a:rPr lang="en-US" altLang="en-US" sz="2300" i="1"/>
              <a:t>Chapter 22, Code Complete</a:t>
            </a:r>
          </a:p>
          <a:p>
            <a:r>
              <a:rPr lang="en-US" altLang="en-US" sz="2300" i="1"/>
              <a:t>Chapters 8,9,15 Clean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Importance of Testing in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Detects bugs early, reducing future costs</a:t>
            </a:r>
          </a:p>
          <a:p>
            <a:r>
              <a:rPr lang="en-US" dirty="0"/>
              <a:t>Supports safe refactoring and feature extension</a:t>
            </a:r>
          </a:p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maintainability and readability</a:t>
            </a:r>
          </a:p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software reliability and correctness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“Code without tests is not clean. It’s not even code.”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Without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maintenance cost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Increased risk of software failure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Hard to scale or modify code safely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Reduced developer confidence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Principles of Good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Tests should be </a:t>
            </a:r>
            <a:r>
              <a:rPr lang="en-US" b="1" dirty="0">
                <a:solidFill>
                  <a:srgbClr val="FF0000"/>
                </a:solidFill>
              </a:rPr>
              <a:t>readable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well-structured</a:t>
            </a:r>
            <a:r>
              <a:rPr lang="en-US" dirty="0"/>
              <a:t>, and </a:t>
            </a:r>
            <a:r>
              <a:rPr lang="en-US" b="1" dirty="0">
                <a:solidFill>
                  <a:srgbClr val="FF0000"/>
                </a:solidFill>
              </a:rPr>
              <a:t>maintainable</a:t>
            </a:r>
          </a:p>
          <a:p>
            <a:r>
              <a:rPr lang="en-US" dirty="0"/>
              <a:t>Fast execution and independent tests</a:t>
            </a:r>
          </a:p>
          <a:p>
            <a:r>
              <a:rPr lang="en-US" dirty="0"/>
              <a:t>Predictable and automated tests</a:t>
            </a:r>
          </a:p>
          <a:p>
            <a:r>
              <a:rPr lang="en-US" dirty="0"/>
              <a:t>Descriptive test names for clarity</a:t>
            </a:r>
          </a:p>
          <a:p>
            <a:r>
              <a:rPr lang="en-US" dirty="0"/>
              <a:t>Provides fast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Unit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Tests individual components (methods/classes)</a:t>
            </a:r>
          </a:p>
          <a:p>
            <a:r>
              <a:rPr lang="en-US" dirty="0"/>
              <a:t>Validates expected behavior</a:t>
            </a:r>
          </a:p>
          <a:p>
            <a:r>
              <a:rPr lang="en-US" dirty="0"/>
              <a:t>Catches errors in isolation</a:t>
            </a:r>
          </a:p>
          <a:p>
            <a:r>
              <a:rPr lang="en-US" b="1" dirty="0">
                <a:solidFill>
                  <a:srgbClr val="FF0000"/>
                </a:solidFill>
              </a:rPr>
              <a:t>Example: </a:t>
            </a:r>
            <a:r>
              <a:rPr lang="en-US" dirty="0" err="1"/>
              <a:t>BankAccount</a:t>
            </a:r>
            <a:r>
              <a:rPr lang="en-US" dirty="0"/>
              <a:t> class testing deposits, withdrawals, and invalid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9176" y="466724"/>
            <a:ext cx="8588189" cy="593407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of Unit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Early bug detection</a:t>
            </a:r>
          </a:p>
          <a:p>
            <a:r>
              <a:rPr lang="en-US" dirty="0"/>
              <a:t>Easier maintenance</a:t>
            </a:r>
          </a:p>
          <a:p>
            <a:r>
              <a:rPr lang="en-US" dirty="0"/>
              <a:t>Serves as documentation</a:t>
            </a:r>
          </a:p>
          <a:p>
            <a:r>
              <a:rPr lang="en-US" dirty="0"/>
              <a:t>Faster debugging</a:t>
            </a:r>
          </a:p>
          <a:p>
            <a:r>
              <a:rPr lang="en-US" dirty="0"/>
              <a:t>Encourages modular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Test-Driven Development (TDD)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tests before writing code</a:t>
            </a:r>
          </a:p>
          <a:p>
            <a:pPr marL="0" indent="0">
              <a:buNone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Laws of TDD: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Don’t write production code without a failing test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Don’t write more of a test than needed to fail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Don’t write more production code than needed to pass</a:t>
            </a:r>
            <a:endParaRPr lang="en-US" altLang="en-US" sz="2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Encourages small, focused steps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TDD Workflow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614" y="1690687"/>
            <a:ext cx="5442772" cy="4802187"/>
          </a:xfr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b="1" dirty="0"/>
              <a:t>-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Green</a:t>
            </a:r>
            <a:r>
              <a:rPr lang="en-US" b="1" dirty="0"/>
              <a:t>-</a:t>
            </a:r>
            <a:r>
              <a:rPr lang="en-US" b="1" dirty="0">
                <a:solidFill>
                  <a:srgbClr val="0070C0"/>
                </a:solidFill>
              </a:rPr>
              <a:t>Refactor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RED: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Write a test before writing the actual code.</a:t>
            </a:r>
          </a:p>
          <a:p>
            <a:r>
              <a:rPr lang="en-US" altLang="en-US" dirty="0"/>
              <a:t>The test should fail initially because the feature is not implemented yet.</a:t>
            </a:r>
          </a:p>
          <a:p>
            <a:r>
              <a:rPr lang="en-US" altLang="en-US" dirty="0"/>
              <a:t>This ensures the test is valid and meaningful.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@Test</a:t>
            </a: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public void testWithdrawMoreThanBalance() {</a:t>
            </a: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    assertThrows(IllegalArgumentException.class, () -&gt; account.withdraw(200));</a:t>
            </a: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sym typeface="+mn-ea"/>
              </a:rPr>
              <a:t>Red</a:t>
            </a:r>
            <a:r>
              <a:rPr lang="en-US" b="1" dirty="0">
                <a:sym typeface="+mn-ea"/>
              </a:rPr>
              <a:t>-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sym typeface="+mn-ea"/>
              </a:rPr>
              <a:t>Green</a:t>
            </a:r>
            <a:r>
              <a:rPr lang="en-US" b="1" dirty="0">
                <a:sym typeface="+mn-ea"/>
              </a:rPr>
              <a:t>-</a:t>
            </a:r>
            <a:r>
              <a:rPr lang="en-US" b="1" dirty="0">
                <a:solidFill>
                  <a:srgbClr val="0070C0"/>
                </a:solidFill>
                <a:sym typeface="+mn-ea"/>
              </a:rPr>
              <a:t>Refactor 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(Cont....)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066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300" b="1">
                <a:solidFill>
                  <a:schemeClr val="accent6">
                    <a:lumMod val="50000"/>
                  </a:schemeClr>
                </a:solidFill>
              </a:rPr>
              <a:t>GREEN:</a:t>
            </a:r>
            <a:r>
              <a:rPr lang="en-US" altLang="en-US" sz="2300"/>
              <a:t> Make the Test Pass</a:t>
            </a:r>
          </a:p>
          <a:p>
            <a:r>
              <a:rPr lang="en-US" altLang="en-US" sz="2300"/>
              <a:t>Write the minimum code required to pass the failing test</a:t>
            </a:r>
          </a:p>
          <a:p>
            <a:r>
              <a:rPr lang="en-US" altLang="en-US" sz="2300"/>
              <a:t>Focus only on functionality. Don’t worry about perfect design yet</a:t>
            </a:r>
          </a:p>
          <a:p>
            <a:r>
              <a:rPr lang="en-US" altLang="en-US" sz="2300"/>
              <a:t>The goal is to turn </a:t>
            </a:r>
            <a:r>
              <a:rPr lang="en-US" altLang="en-US" sz="2300">
                <a:solidFill>
                  <a:srgbClr val="FF0000"/>
                </a:solidFill>
              </a:rPr>
              <a:t>RED</a:t>
            </a:r>
            <a:r>
              <a:rPr lang="en-US" altLang="en-US" sz="2300"/>
              <a:t> → </a:t>
            </a:r>
            <a:r>
              <a:rPr lang="en-US" altLang="en-US" sz="2300">
                <a:solidFill>
                  <a:schemeClr val="accent6">
                    <a:lumMod val="50000"/>
                  </a:schemeClr>
                </a:solidFill>
              </a:rPr>
              <a:t>GREEN</a:t>
            </a:r>
            <a:r>
              <a:rPr lang="en-US" altLang="en-US" sz="2300"/>
              <a:t>.</a:t>
            </a:r>
          </a:p>
          <a:p>
            <a:pPr marL="0" indent="0">
              <a:buNone/>
            </a:pPr>
            <a:r>
              <a:rPr lang="en-US" altLang="en-US" sz="2300" b="1">
                <a:solidFill>
                  <a:schemeClr val="accent1">
                    <a:lumMod val="50000"/>
                  </a:schemeClr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altLang="en-US" sz="2300">
                <a:solidFill>
                  <a:schemeClr val="tx1"/>
                </a:solidFill>
              </a:rPr>
              <a:t>public void withdraw(int amount) {</a:t>
            </a:r>
          </a:p>
          <a:p>
            <a:pPr marL="0" indent="0">
              <a:buNone/>
            </a:pPr>
            <a:r>
              <a:rPr lang="en-US" altLang="en-US" sz="2300">
                <a:solidFill>
                  <a:schemeClr val="tx1"/>
                </a:solidFill>
              </a:rPr>
              <a:t>    if (amount &gt; balance) {</a:t>
            </a:r>
          </a:p>
          <a:p>
            <a:pPr marL="0" indent="0">
              <a:buNone/>
            </a:pPr>
            <a:r>
              <a:rPr lang="en-US" altLang="en-US" sz="2300">
                <a:solidFill>
                  <a:schemeClr val="tx1"/>
                </a:solidFill>
              </a:rPr>
              <a:t>        throw new IllegalArgumentException();</a:t>
            </a:r>
          </a:p>
          <a:p>
            <a:pPr marL="0" indent="0">
              <a:buNone/>
            </a:pPr>
            <a:r>
              <a:rPr lang="en-US" altLang="en-US" sz="2300">
                <a:solidFill>
                  <a:schemeClr val="tx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altLang="en-US" sz="2300">
                <a:solidFill>
                  <a:schemeClr val="tx1"/>
                </a:solidFill>
              </a:rPr>
              <a:t>    balance = balance - amount;</a:t>
            </a:r>
          </a:p>
          <a:p>
            <a:pPr marL="0" indent="0">
              <a:buNone/>
            </a:pPr>
            <a:r>
              <a:rPr lang="en-US" altLang="en-US" sz="230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sym typeface="+mn-ea"/>
              </a:rPr>
              <a:t>Red</a:t>
            </a:r>
            <a:r>
              <a:rPr lang="en-US" b="1" dirty="0">
                <a:sym typeface="+mn-ea"/>
              </a:rPr>
              <a:t>-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sym typeface="+mn-ea"/>
              </a:rPr>
              <a:t>Green</a:t>
            </a:r>
            <a:r>
              <a:rPr lang="en-US" b="1" dirty="0">
                <a:sym typeface="+mn-ea"/>
              </a:rPr>
              <a:t>-</a:t>
            </a:r>
            <a:r>
              <a:rPr lang="en-US" b="1" dirty="0">
                <a:solidFill>
                  <a:srgbClr val="0070C0"/>
                </a:solidFill>
                <a:sym typeface="+mn-ea"/>
              </a:rPr>
              <a:t>Refactor </a:t>
            </a:r>
            <a:r>
              <a:rPr lang="en-US" b="1" dirty="0">
                <a:sym typeface="+mn-ea"/>
              </a:rPr>
              <a:t>(Cont....)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370"/>
            <a:ext cx="10515600" cy="51669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b="1">
                <a:solidFill>
                  <a:srgbClr val="0070C0"/>
                </a:solidFill>
              </a:rPr>
              <a:t>REFACTOR:</a:t>
            </a:r>
            <a:r>
              <a:rPr lang="en-US" altLang="en-US" sz="2000"/>
              <a:t> Improve the Code</a:t>
            </a:r>
          </a:p>
          <a:p>
            <a:r>
              <a:rPr lang="en-US" altLang="en-US" sz="2000"/>
              <a:t>Improve the code structure without changing its behavior</a:t>
            </a:r>
          </a:p>
          <a:p>
            <a:r>
              <a:rPr lang="en-US" altLang="en-US" sz="2000"/>
              <a:t>Remove duplication and improve readability</a:t>
            </a:r>
          </a:p>
          <a:p>
            <a:r>
              <a:rPr lang="en-US" altLang="en-US" sz="2000"/>
              <a:t>Ensure all tests still pass after changes</a:t>
            </a:r>
          </a:p>
          <a:p>
            <a:pPr marL="0" indent="0">
              <a:buNone/>
            </a:pPr>
            <a:r>
              <a:rPr lang="en-US" altLang="en-US" sz="2000" b="1">
                <a:solidFill>
                  <a:srgbClr val="00206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altLang="en-US" sz="2000"/>
              <a:t>public void withdraw(int amount) {</a:t>
            </a:r>
          </a:p>
          <a:p>
            <a:pPr marL="0" indent="0">
              <a:buNone/>
            </a:pPr>
            <a:r>
              <a:rPr lang="en-US" altLang="en-US" sz="2000"/>
              <a:t>    validateWithdrawal(amount);</a:t>
            </a:r>
          </a:p>
          <a:p>
            <a:pPr marL="0" indent="0">
              <a:buNone/>
            </a:pPr>
            <a:r>
              <a:rPr lang="en-US" altLang="en-US" sz="2000"/>
              <a:t>    balance -= amount;</a:t>
            </a:r>
          </a:p>
          <a:p>
            <a:pPr marL="0" indent="0">
              <a:buNone/>
            </a:pPr>
            <a:r>
              <a:rPr lang="en-US" altLang="en-US" sz="2000"/>
              <a:t>}</a:t>
            </a:r>
          </a:p>
          <a:p>
            <a:pPr marL="0" indent="0">
              <a:buNone/>
            </a:pPr>
            <a:r>
              <a:rPr lang="en-US" altLang="en-US" sz="2000"/>
              <a:t>private void validateWithdrawal(int amount) {</a:t>
            </a:r>
          </a:p>
          <a:p>
            <a:pPr marL="0" indent="0">
              <a:buNone/>
            </a:pPr>
            <a:r>
              <a:rPr lang="en-US" altLang="en-US" sz="2000"/>
              <a:t>    if (amount &gt; balance) {</a:t>
            </a:r>
          </a:p>
          <a:p>
            <a:pPr marL="0" indent="0">
              <a:buNone/>
            </a:pPr>
            <a:r>
              <a:rPr lang="en-US" altLang="en-US" sz="2000"/>
              <a:t>        throw new IllegalArgumentException();</a:t>
            </a:r>
          </a:p>
          <a:p>
            <a:pPr marL="0" indent="0">
              <a:buNone/>
            </a:pPr>
            <a:r>
              <a:rPr lang="en-US" altLang="en-US" sz="2000"/>
              <a:t>    }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Practice Question: TDD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pPr marL="0" indent="0" algn="just">
              <a:buNone/>
            </a:pPr>
            <a:r>
              <a:rPr lang="en-US" altLang="en-US"/>
              <a:t>You are required to develop a Simple Calculator System using the Test-Driven Development (TDD) approach. The system must include a method called add() which:</a:t>
            </a:r>
          </a:p>
          <a:p>
            <a:pPr algn="just"/>
            <a:r>
              <a:rPr lang="en-US" altLang="en-US"/>
              <a:t>Takes two integers as input</a:t>
            </a:r>
          </a:p>
          <a:p>
            <a:pPr algn="just"/>
            <a:r>
              <a:rPr lang="en-US" altLang="en-US"/>
              <a:t>Returns their sum</a:t>
            </a:r>
          </a:p>
          <a:p>
            <a:pPr marL="0" indent="0" algn="just">
              <a:buNone/>
            </a:pPr>
            <a:r>
              <a:rPr lang="en-US" altLang="en-US" b="1">
                <a:solidFill>
                  <a:srgbClr val="FF0000"/>
                </a:solidFill>
              </a:rPr>
              <a:t>Your task:</a:t>
            </a:r>
            <a:endParaRPr lang="en-US" altLang="en-US"/>
          </a:p>
          <a:p>
            <a:pPr marL="0" indent="0" algn="just">
              <a:buNone/>
            </a:pPr>
            <a:r>
              <a:rPr lang="en-US" altLang="en-US"/>
              <a:t>Using the </a:t>
            </a:r>
            <a:r>
              <a:rPr lang="en-US" altLang="en-US" b="1"/>
              <a:t>Red-Green-Refactor</a:t>
            </a:r>
            <a:r>
              <a:rPr lang="en-US" altLang="en-US"/>
              <a:t> cycle:</a:t>
            </a:r>
          </a:p>
          <a:p>
            <a:pPr algn="just"/>
            <a:r>
              <a:rPr lang="en-US" altLang="en-US"/>
              <a:t>Write a failing test case (Red phase) for the add() method.</a:t>
            </a:r>
          </a:p>
          <a:p>
            <a:pPr algn="just"/>
            <a:r>
              <a:rPr lang="en-US" altLang="en-US"/>
              <a:t>Write the minimum code (Green phase) to pass the test.</a:t>
            </a:r>
          </a:p>
          <a:p>
            <a:pPr algn="just"/>
            <a:r>
              <a:rPr lang="en-US" altLang="en-US"/>
              <a:t>Improve the code using Refactor phase without changing its behavior.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Unit Testing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rgbClr val="002060"/>
                </a:solidFill>
              </a:rPr>
              <a:t>JUnit (Java): </a:t>
            </a:r>
            <a:r>
              <a:rPr lang="en-US" dirty="0"/>
              <a:t>Widely used for Java applications; supports both </a:t>
            </a:r>
            <a:r>
              <a:rPr lang="en-US" b="1" dirty="0">
                <a:solidFill>
                  <a:srgbClr val="00B050"/>
                </a:solidFill>
              </a:rPr>
              <a:t>JUnit 4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&amp; 5</a:t>
            </a:r>
            <a:r>
              <a:rPr lang="en-US" dirty="0"/>
              <a:t>; allows annotations like </a:t>
            </a:r>
            <a:r>
              <a:rPr lang="en-US" b="1" dirty="0">
                <a:solidFill>
                  <a:srgbClr val="FF0000"/>
                </a:solidFill>
              </a:rPr>
              <a:t>@Test, @Before, @After</a:t>
            </a:r>
            <a:r>
              <a:rPr lang="en-US" dirty="0"/>
              <a:t>; integrates easily with CI/CD pipelines.</a:t>
            </a:r>
          </a:p>
          <a:p>
            <a:pPr algn="just"/>
            <a:r>
              <a:rPr lang="en-US" b="1" dirty="0" err="1">
                <a:solidFill>
                  <a:srgbClr val="002060"/>
                </a:solidFill>
              </a:rPr>
              <a:t>PyTest</a:t>
            </a:r>
            <a:r>
              <a:rPr lang="en-US" b="1" dirty="0">
                <a:solidFill>
                  <a:srgbClr val="002060"/>
                </a:solidFill>
              </a:rPr>
              <a:t> (Python): </a:t>
            </a:r>
            <a:r>
              <a:rPr lang="en-US" dirty="0"/>
              <a:t>Flexible Python testing framework; supports fixtures, parameterized testing, and plugins; easy syntax for writing simple to complex tests.</a:t>
            </a:r>
          </a:p>
          <a:p>
            <a:pPr algn="just"/>
            <a:r>
              <a:rPr lang="en-US" b="1" dirty="0" err="1">
                <a:solidFill>
                  <a:srgbClr val="002060"/>
                </a:solidFill>
              </a:rPr>
              <a:t>NUnit</a:t>
            </a:r>
            <a:r>
              <a:rPr lang="en-US" b="1" dirty="0">
                <a:solidFill>
                  <a:srgbClr val="002060"/>
                </a:solidFill>
              </a:rPr>
              <a:t> (.NET): </a:t>
            </a:r>
            <a:r>
              <a:rPr lang="en-US" dirty="0"/>
              <a:t>Framework for .NET applications; similar to JUnit; provides test runners and rich assertions; integrates with Visual Studio and build pipelines.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Principles of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Clean Tests: Easy to read, understand, and maintain</a:t>
            </a:r>
          </a:p>
          <a:p>
            <a:pPr algn="just"/>
            <a:r>
              <a:rPr lang="en-US" dirty="0"/>
              <a:t>Fast Execution: Quick feedback for developers</a:t>
            </a:r>
          </a:p>
          <a:p>
            <a:pPr algn="just"/>
            <a:r>
              <a:rPr lang="en-US" dirty="0"/>
              <a:t>Independent Tests: Each test should run in isolation without dependencies</a:t>
            </a:r>
          </a:p>
          <a:p>
            <a:pPr algn="just"/>
            <a:r>
              <a:rPr lang="en-US" dirty="0"/>
              <a:t>Readable and Descriptive: Test names and assertions should document expected behavior</a:t>
            </a:r>
          </a:p>
          <a:p>
            <a:pPr algn="just"/>
            <a:r>
              <a:rPr lang="en-US" dirty="0"/>
              <a:t>Automation-Friendly: Integrates with build systems and CI/CD for continuous testing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JUnit 4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Released in 2006, widely adopted</a:t>
            </a:r>
          </a:p>
          <a:p>
            <a:r>
              <a:rPr lang="en-US" dirty="0"/>
              <a:t>Uses </a:t>
            </a:r>
            <a:r>
              <a:rPr lang="en-US" b="1" dirty="0">
                <a:solidFill>
                  <a:srgbClr val="FF0000"/>
                </a:solidFill>
              </a:rPr>
              <a:t>@Test, @Before, @After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annotations</a:t>
            </a:r>
          </a:p>
          <a:p>
            <a:r>
              <a:rPr lang="en-US" dirty="0"/>
              <a:t>Runs all tests in a single engine</a:t>
            </a:r>
          </a:p>
          <a:p>
            <a:r>
              <a:rPr lang="en-US" dirty="0"/>
              <a:t>Simple setup for unit tests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JUnit Testing – Example (JUnit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dirty="0"/>
              <a:t>import static </a:t>
            </a:r>
            <a:r>
              <a:rPr lang="en-US" dirty="0" err="1"/>
              <a:t>org.junit.Assert</a:t>
            </a:r>
            <a:r>
              <a:rPr lang="en-US" dirty="0"/>
              <a:t>.*;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org.junit.Before;import</a:t>
            </a:r>
            <a:r>
              <a:rPr lang="en-US" dirty="0"/>
              <a:t> </a:t>
            </a:r>
            <a:r>
              <a:rPr lang="en-US" dirty="0" err="1"/>
              <a:t>org.junit.Test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BankAccountTest</a:t>
            </a:r>
            <a:r>
              <a:rPr lang="en-US" dirty="0"/>
              <a:t> {    </a:t>
            </a:r>
          </a:p>
          <a:p>
            <a:pPr marL="0" indent="0">
              <a:buNone/>
            </a:pPr>
            <a:r>
              <a:rPr lang="en-US" dirty="0"/>
              <a:t>private </a:t>
            </a:r>
            <a:r>
              <a:rPr lang="en-US" dirty="0" err="1"/>
              <a:t>BankAccount</a:t>
            </a:r>
            <a:r>
              <a:rPr lang="en-US" dirty="0"/>
              <a:t> account;    </a:t>
            </a:r>
          </a:p>
          <a:p>
            <a:pPr marL="0" indent="0">
              <a:buNone/>
            </a:pPr>
            <a:r>
              <a:rPr lang="en-US" b="1" dirty="0"/>
              <a:t>@Before</a:t>
            </a: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public void </a:t>
            </a:r>
            <a:r>
              <a:rPr lang="en-US" dirty="0" err="1"/>
              <a:t>setUp</a:t>
            </a:r>
            <a:r>
              <a:rPr lang="en-US" dirty="0"/>
              <a:t>() </a:t>
            </a:r>
          </a:p>
          <a:p>
            <a:pPr marL="0" indent="0">
              <a:buNone/>
            </a:pPr>
            <a:r>
              <a:rPr lang="en-US" dirty="0"/>
              <a:t>{        </a:t>
            </a:r>
          </a:p>
          <a:p>
            <a:pPr marL="0" indent="0">
              <a:buNone/>
            </a:pPr>
            <a:r>
              <a:rPr lang="en-US" dirty="0"/>
              <a:t>account = new </a:t>
            </a:r>
            <a:r>
              <a:rPr lang="en-US" dirty="0" err="1"/>
              <a:t>BankAccount</a:t>
            </a:r>
            <a:r>
              <a:rPr lang="en-US" dirty="0"/>
              <a:t>(100.0);   </a:t>
            </a:r>
          </a:p>
          <a:p>
            <a:pPr marL="0" indent="0">
              <a:buNone/>
            </a:pPr>
            <a:r>
              <a:rPr lang="en-US" dirty="0"/>
              <a:t> }    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58800"/>
            <a:ext cx="10515600" cy="56181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@Test</a:t>
            </a:r>
            <a:br>
              <a:rPr lang="en-US" dirty="0"/>
            </a:br>
            <a:r>
              <a:rPr lang="en-US" dirty="0"/>
              <a:t>public void </a:t>
            </a:r>
            <a:r>
              <a:rPr lang="en-US" dirty="0" err="1"/>
              <a:t>depositShouldIncreaseBalance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 err="1"/>
              <a:t>account.deposit</a:t>
            </a:r>
            <a:r>
              <a:rPr lang="en-US" dirty="0"/>
              <a:t>(50.0);</a:t>
            </a:r>
            <a:br>
              <a:rPr lang="en-US" dirty="0"/>
            </a:br>
            <a:r>
              <a:rPr lang="en-US" dirty="0" err="1"/>
              <a:t>assertEquals</a:t>
            </a:r>
            <a:r>
              <a:rPr lang="en-US" dirty="0"/>
              <a:t>(150.0, </a:t>
            </a:r>
            <a:r>
              <a:rPr lang="en-US" dirty="0" err="1"/>
              <a:t>account.getBalance</a:t>
            </a:r>
            <a:r>
              <a:rPr lang="en-US" dirty="0"/>
              <a:t>(), 0.001);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@Test</a:t>
            </a:r>
            <a:r>
              <a:rPr lang="en-US" dirty="0"/>
              <a:t>(expected = </a:t>
            </a:r>
            <a:r>
              <a:rPr lang="en-US" dirty="0" err="1"/>
              <a:t>IllegalArgumentException.class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public void </a:t>
            </a:r>
            <a:r>
              <a:rPr lang="en-US" dirty="0" err="1"/>
              <a:t>shouldNotDepositNegativeAmount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 err="1"/>
              <a:t>account.deposit</a:t>
            </a:r>
            <a:r>
              <a:rPr lang="en-US" dirty="0"/>
              <a:t>(-10.0);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Focus: small, independent, clear tests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Practice Example – Student Grading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15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b="1"/>
              <a:t>Student Class:</a:t>
            </a:r>
          </a:p>
          <a:p>
            <a:pPr marL="0" indent="0">
              <a:buNone/>
            </a:pPr>
            <a:r>
              <a:rPr lang="en-US" altLang="en-US" sz="2000"/>
              <a:t>public class Student {</a:t>
            </a:r>
          </a:p>
          <a:p>
            <a:pPr marL="0" indent="0">
              <a:buNone/>
            </a:pPr>
            <a:r>
              <a:rPr lang="en-US" altLang="en-US" sz="2000"/>
              <a:t>    private int marks;</a:t>
            </a:r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US" altLang="en-US" sz="2000" i="1">
                <a:solidFill>
                  <a:srgbClr val="0070C0"/>
                </a:solidFill>
              </a:rPr>
              <a:t> // constructor to set marks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public Student(int marks) {</a:t>
            </a:r>
          </a:p>
          <a:p>
            <a:pPr marL="0" indent="0">
              <a:buNone/>
            </a:pPr>
            <a:r>
              <a:rPr lang="en-US" altLang="en-US" sz="2000"/>
              <a:t>        this.marks = marks;</a:t>
            </a:r>
          </a:p>
          <a:p>
            <a:pPr marL="0" indent="0">
              <a:buNone/>
            </a:pPr>
            <a:r>
              <a:rPr lang="en-US" altLang="en-US" sz="2000"/>
              <a:t>    }</a:t>
            </a:r>
          </a:p>
          <a:p>
            <a:pPr marL="0" indent="0">
              <a:buNone/>
            </a:pPr>
            <a:r>
              <a:rPr lang="en-US" altLang="en-US" sz="2000" i="1">
                <a:solidFill>
                  <a:srgbClr val="0070C0"/>
                </a:solidFill>
              </a:rPr>
              <a:t>// returns grade based on marks</a:t>
            </a:r>
          </a:p>
          <a:p>
            <a:pPr marL="0" indent="0">
              <a:buNone/>
            </a:pPr>
            <a:r>
              <a:rPr lang="en-US" altLang="en-US" sz="2000"/>
              <a:t>    public String getGrade() {</a:t>
            </a:r>
          </a:p>
          <a:p>
            <a:pPr marL="0" indent="0">
              <a:buNone/>
            </a:pPr>
            <a:r>
              <a:rPr lang="en-US" altLang="en-US" sz="2000"/>
              <a:t>        if (marks &gt;= 80) {</a:t>
            </a:r>
          </a:p>
          <a:p>
            <a:pPr marL="0" indent="0">
              <a:buNone/>
            </a:pPr>
            <a:r>
              <a:rPr lang="en-US" altLang="en-US" sz="2000"/>
              <a:t>            return "A";</a:t>
            </a:r>
          </a:p>
          <a:p>
            <a:pPr marL="0" indent="0">
              <a:buNone/>
            </a:pPr>
            <a:r>
              <a:rPr lang="en-US" altLang="en-US" sz="2000"/>
              <a:t>        }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5325"/>
            <a:ext cx="10515600" cy="5481955"/>
          </a:xfrm>
        </p:spPr>
        <p:txBody>
          <a:bodyPr>
            <a:normAutofit fontScale="90000" lnSpcReduction="20000"/>
          </a:bodyPr>
          <a:lstStyle/>
          <a:p>
            <a:pPr marL="0" indent="0">
              <a:buNone/>
            </a:pPr>
            <a:r>
              <a:rPr lang="en-US" altLang="en-US"/>
              <a:t>else if (marks &gt;= 60) {</a:t>
            </a:r>
          </a:p>
          <a:p>
            <a:pPr marL="0" indent="0">
              <a:buNone/>
            </a:pPr>
            <a:r>
              <a:rPr lang="en-US" altLang="en-US"/>
              <a:t>            return "B";</a:t>
            </a:r>
          </a:p>
          <a:p>
            <a:pPr marL="0" indent="0">
              <a:buNone/>
            </a:pPr>
            <a:r>
              <a:rPr lang="en-US" altLang="en-US"/>
              <a:t>        } else if (marks &gt;= 40) {</a:t>
            </a:r>
          </a:p>
          <a:p>
            <a:pPr marL="0" indent="0">
              <a:buNone/>
            </a:pPr>
            <a:r>
              <a:rPr lang="en-US" altLang="en-US"/>
              <a:t>            return "C";</a:t>
            </a:r>
          </a:p>
          <a:p>
            <a:pPr marL="0" indent="0">
              <a:buNone/>
            </a:pPr>
            <a:r>
              <a:rPr lang="en-US" altLang="en-US"/>
              <a:t>        } else {</a:t>
            </a:r>
          </a:p>
          <a:p>
            <a:pPr marL="0" indent="0">
              <a:buNone/>
            </a:pPr>
            <a:r>
              <a:rPr lang="en-US" altLang="en-US"/>
              <a:t>            return "F";</a:t>
            </a:r>
          </a:p>
          <a:p>
            <a:pPr marL="0" indent="0">
              <a:buNone/>
            </a:pPr>
            <a:r>
              <a:rPr lang="en-US" altLang="en-US"/>
              <a:t>        }</a:t>
            </a:r>
          </a:p>
          <a:p>
            <a:pPr marL="0" indent="0">
              <a:buNone/>
            </a:pPr>
            <a:r>
              <a:rPr lang="en-US" altLang="en-US"/>
              <a:t>    }</a:t>
            </a:r>
          </a:p>
          <a:p>
            <a:pPr marL="0" indent="0">
              <a:buNone/>
            </a:pPr>
            <a:r>
              <a:rPr lang="en-US" altLang="en-US" i="1">
                <a:solidFill>
                  <a:srgbClr val="0070C0"/>
                </a:solidFill>
              </a:rPr>
              <a:t>// checks if student is passed</a:t>
            </a:r>
          </a:p>
          <a:p>
            <a:pPr marL="0" indent="0">
              <a:buNone/>
            </a:pPr>
            <a:r>
              <a:rPr lang="en-US" altLang="en-US"/>
              <a:t>    public boolean isPassed() {</a:t>
            </a:r>
          </a:p>
          <a:p>
            <a:pPr marL="0" indent="0">
              <a:buNone/>
            </a:pPr>
            <a:r>
              <a:rPr lang="en-US" altLang="en-US"/>
              <a:t>        return marks &gt;= 40;</a:t>
            </a:r>
          </a:p>
          <a:p>
            <a:pPr marL="0" indent="0">
              <a:buNone/>
            </a:pPr>
            <a:r>
              <a:rPr lang="en-US" altLang="en-US"/>
              <a:t>    }</a:t>
            </a:r>
          </a:p>
          <a:p>
            <a:pPr marL="0" indent="0">
              <a:buNone/>
            </a:pPr>
            <a:r>
              <a:rPr lang="en-US" altLang="en-US"/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Writing Unit Tests Using JUnit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3135"/>
          </a:xfrm>
        </p:spPr>
        <p:txBody>
          <a:bodyPr>
            <a:normAutofit fontScale="90000" lnSpcReduction="20000"/>
          </a:bodyPr>
          <a:lstStyle/>
          <a:p>
            <a:pPr marL="0" indent="0">
              <a:buNone/>
            </a:pPr>
            <a:r>
              <a:rPr lang="en-US" altLang="en-US"/>
              <a:t>import static org.junit.Assert.*;</a:t>
            </a:r>
          </a:p>
          <a:p>
            <a:pPr marL="0" indent="0">
              <a:buNone/>
            </a:pPr>
            <a:r>
              <a:rPr lang="en-US" altLang="en-US"/>
              <a:t>import org.junit.Before;</a:t>
            </a:r>
          </a:p>
          <a:p>
            <a:pPr marL="0" indent="0">
              <a:buNone/>
            </a:pPr>
            <a:r>
              <a:rPr lang="en-US" altLang="en-US"/>
              <a:t>import org.junit.Test;</a:t>
            </a: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public class StudentTest {</a:t>
            </a:r>
          </a:p>
          <a:p>
            <a:pPr marL="0" indent="0">
              <a:buNone/>
            </a:pPr>
            <a:r>
              <a:rPr lang="en-US" altLang="en-US"/>
              <a:t>    private Student student;</a:t>
            </a:r>
          </a:p>
          <a:p>
            <a:pPr marL="0" indent="0">
              <a:buNone/>
            </a:pPr>
            <a:r>
              <a:rPr lang="en-US" altLang="en-US"/>
              <a:t>   </a:t>
            </a:r>
            <a:r>
              <a:rPr lang="en-US" altLang="en-US" i="1">
                <a:solidFill>
                  <a:srgbClr val="0070C0"/>
                </a:solidFill>
              </a:rPr>
              <a:t> // used to create common test setup</a:t>
            </a:r>
            <a:endParaRPr lang="en-US" altLang="en-US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en-US"/>
              <a:t>    @Before</a:t>
            </a:r>
          </a:p>
          <a:p>
            <a:pPr marL="0" indent="0">
              <a:buNone/>
            </a:pPr>
            <a:r>
              <a:rPr lang="en-US" altLang="en-US"/>
              <a:t>    public void setUp() {</a:t>
            </a:r>
          </a:p>
          <a:p>
            <a:pPr marL="0" indent="0">
              <a:buNone/>
            </a:pPr>
            <a:r>
              <a:rPr lang="en-US" altLang="en-US"/>
              <a:t>        student = new Student(75); </a:t>
            </a:r>
            <a:r>
              <a:rPr lang="en-US" altLang="en-US" i="1">
                <a:solidFill>
                  <a:srgbClr val="0070C0"/>
                </a:solidFill>
              </a:rPr>
              <a:t>// default marks for testing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32765"/>
            <a:ext cx="10515600" cy="5644515"/>
          </a:xfrm>
        </p:spPr>
        <p:txBody>
          <a:bodyPr>
            <a:normAutofit fontScale="85000"/>
          </a:bodyPr>
          <a:lstStyle/>
          <a:p>
            <a:pPr marL="0" indent="0">
              <a:buNone/>
            </a:pPr>
            <a:r>
              <a:rPr lang="en-US" altLang="en-US"/>
              <a:t> </a:t>
            </a:r>
            <a:r>
              <a:rPr lang="en-US" altLang="en-US" i="1">
                <a:solidFill>
                  <a:srgbClr val="0070C0"/>
                </a:solidFill>
              </a:rPr>
              <a:t>// Test 1: grade for high marks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    @Test</a:t>
            </a:r>
          </a:p>
          <a:p>
            <a:pPr marL="0" indent="0">
              <a:buNone/>
            </a:pPr>
            <a:r>
              <a:rPr lang="en-US" altLang="en-US"/>
              <a:t>    public void shouldReturnGradeAForHighMarks() {</a:t>
            </a:r>
          </a:p>
          <a:p>
            <a:pPr marL="0" indent="0">
              <a:buNone/>
            </a:pPr>
            <a:r>
              <a:rPr lang="en-US" altLang="en-US"/>
              <a:t>        student = new Student(85); // override default</a:t>
            </a:r>
          </a:p>
          <a:p>
            <a:pPr marL="0" indent="0">
              <a:buNone/>
            </a:pPr>
            <a:r>
              <a:rPr lang="en-US" altLang="en-US"/>
              <a:t>        assertEquals("A", student.getGrade());</a:t>
            </a:r>
          </a:p>
          <a:p>
            <a:pPr marL="0" indent="0">
              <a:buNone/>
            </a:pPr>
            <a:r>
              <a:rPr lang="en-US" altLang="en-US"/>
              <a:t>    }</a:t>
            </a:r>
          </a:p>
          <a:p>
            <a:pPr marL="0" indent="0">
              <a:buNone/>
            </a:pPr>
            <a:r>
              <a:rPr lang="en-US" altLang="en-US"/>
              <a:t> </a:t>
            </a:r>
            <a:r>
              <a:rPr lang="en-US" altLang="en-US" i="1">
                <a:solidFill>
                  <a:srgbClr val="0070C0"/>
                </a:solidFill>
              </a:rPr>
              <a:t> // Test 2: grade for medium marks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</a:t>
            </a:r>
            <a:r>
              <a:rPr lang="en-US" altLang="en-US" b="1"/>
              <a:t>@Test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public void shouldReturnGradeBForMediumMarks() {</a:t>
            </a:r>
          </a:p>
          <a:p>
            <a:pPr marL="0" indent="0">
              <a:buNone/>
            </a:pPr>
            <a:r>
              <a:rPr lang="en-US" altLang="en-US"/>
              <a:t>        student = new Student(70);</a:t>
            </a:r>
          </a:p>
          <a:p>
            <a:pPr marL="0" indent="0">
              <a:buNone/>
            </a:pPr>
            <a:r>
              <a:rPr lang="en-US" altLang="en-US"/>
              <a:t>        assertEquals("B", student.getGrade());</a:t>
            </a:r>
          </a:p>
          <a:p>
            <a:pPr marL="0" indent="0">
              <a:buNone/>
            </a:pPr>
            <a:r>
              <a:rPr lang="en-US" altLang="en-US"/>
              <a:t>    }</a:t>
            </a:r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66090"/>
            <a:ext cx="10515600" cy="6285865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endParaRPr lang="en-US" altLang="en-US" sz="5600"/>
          </a:p>
          <a:p>
            <a:pPr marL="0" indent="0">
              <a:buNone/>
            </a:pPr>
            <a:r>
              <a:rPr lang="en-US" altLang="en-US" sz="5600"/>
              <a:t> </a:t>
            </a:r>
            <a:r>
              <a:rPr lang="en-US" altLang="en-US" sz="5600" i="1">
                <a:solidFill>
                  <a:srgbClr val="0070C0"/>
                </a:solidFill>
              </a:rPr>
              <a:t>   // Test 3: grade for low marks</a:t>
            </a:r>
            <a:endParaRPr lang="en-US" altLang="en-US" sz="5600"/>
          </a:p>
          <a:p>
            <a:pPr marL="0" indent="0">
              <a:buNone/>
            </a:pPr>
            <a:r>
              <a:rPr lang="en-US" altLang="en-US" sz="5600"/>
              <a:t>  </a:t>
            </a:r>
            <a:r>
              <a:rPr lang="en-US" altLang="en-US" sz="5600" b="1"/>
              <a:t>  @Test</a:t>
            </a:r>
            <a:endParaRPr lang="en-US" altLang="en-US" sz="5600"/>
          </a:p>
          <a:p>
            <a:pPr marL="0" indent="0">
              <a:buNone/>
            </a:pPr>
            <a:r>
              <a:rPr lang="en-US" altLang="en-US" sz="5600"/>
              <a:t>    public void shouldReturnGradeFForLowMarks() {</a:t>
            </a:r>
          </a:p>
          <a:p>
            <a:pPr marL="0" indent="0">
              <a:buNone/>
            </a:pPr>
            <a:r>
              <a:rPr lang="en-US" altLang="en-US" sz="5600"/>
              <a:t>        student = new Student(30);</a:t>
            </a:r>
          </a:p>
          <a:p>
            <a:pPr marL="0" indent="0">
              <a:buNone/>
            </a:pPr>
            <a:r>
              <a:rPr lang="en-US" altLang="en-US" sz="5600"/>
              <a:t>        assertEquals("F", student.getGrade());</a:t>
            </a:r>
          </a:p>
          <a:p>
            <a:pPr marL="0" indent="0">
              <a:buNone/>
            </a:pPr>
            <a:r>
              <a:rPr lang="en-US" altLang="en-US" sz="5600"/>
              <a:t>    }</a:t>
            </a:r>
          </a:p>
          <a:p>
            <a:pPr marL="0" indent="0">
              <a:buNone/>
            </a:pPr>
            <a:r>
              <a:rPr lang="en-US" altLang="en-US" sz="5600"/>
              <a:t>  </a:t>
            </a:r>
            <a:r>
              <a:rPr lang="en-US" altLang="en-US" sz="5600" i="1">
                <a:solidFill>
                  <a:srgbClr val="0070C0"/>
                </a:solidFill>
              </a:rPr>
              <a:t>  // Test 4: student passes</a:t>
            </a:r>
            <a:endParaRPr lang="en-US" altLang="en-US" sz="5600"/>
          </a:p>
          <a:p>
            <a:pPr marL="0" indent="0">
              <a:buNone/>
            </a:pPr>
            <a:r>
              <a:rPr lang="en-US" altLang="en-US" sz="5600"/>
              <a:t>    </a:t>
            </a:r>
            <a:r>
              <a:rPr lang="en-US" altLang="en-US" sz="5600" b="1"/>
              <a:t>@Test</a:t>
            </a:r>
            <a:endParaRPr lang="en-US" altLang="en-US" sz="5600"/>
          </a:p>
          <a:p>
            <a:pPr marL="0" indent="0">
              <a:buNone/>
            </a:pPr>
            <a:r>
              <a:rPr lang="en-US" altLang="en-US" sz="5600"/>
              <a:t>    public void shouldReturnTrueWhenStudentPasses() {</a:t>
            </a:r>
          </a:p>
          <a:p>
            <a:pPr marL="0" indent="0">
              <a:buNone/>
            </a:pPr>
            <a:r>
              <a:rPr lang="en-US" altLang="en-US" sz="5600"/>
              <a:t>        student = new Student(60);</a:t>
            </a:r>
          </a:p>
          <a:p>
            <a:pPr marL="0" indent="0">
              <a:buNone/>
            </a:pPr>
            <a:r>
              <a:rPr lang="en-US" altLang="en-US" sz="5600"/>
              <a:t>        assertTrue(student.isPassed());</a:t>
            </a:r>
          </a:p>
          <a:p>
            <a:pPr marL="0" indent="0">
              <a:buNone/>
            </a:pPr>
            <a:r>
              <a:rPr lang="en-US" altLang="en-US" sz="5600"/>
              <a:t>    }</a:t>
            </a:r>
          </a:p>
          <a:p>
            <a:pPr marL="0" indent="0">
              <a:buNone/>
            </a:pPr>
            <a:r>
              <a:rPr lang="en-US" altLang="en-US" sz="5600" i="1">
                <a:solidFill>
                  <a:srgbClr val="0070C0"/>
                </a:solidFill>
              </a:rPr>
              <a:t>    // Test 5: student fails</a:t>
            </a:r>
          </a:p>
          <a:p>
            <a:pPr marL="0" indent="0">
              <a:buNone/>
            </a:pPr>
            <a:r>
              <a:rPr lang="en-US" altLang="en-US" sz="5600"/>
              <a:t>   </a:t>
            </a:r>
            <a:r>
              <a:rPr lang="en-US" altLang="en-US" sz="5600" b="1"/>
              <a:t> @Test</a:t>
            </a:r>
            <a:endParaRPr lang="en-US" altLang="en-US" sz="5600"/>
          </a:p>
          <a:p>
            <a:pPr marL="0" indent="0">
              <a:buNone/>
            </a:pPr>
            <a:r>
              <a:rPr lang="en-US" altLang="en-US" sz="5600"/>
              <a:t>    public void shouldReturnFalseWhenStudentFails() {</a:t>
            </a:r>
          </a:p>
          <a:p>
            <a:pPr marL="0" indent="0">
              <a:buNone/>
            </a:pPr>
            <a:r>
              <a:rPr lang="en-US" altLang="en-US" sz="5600"/>
              <a:t>        student = new Student(20);</a:t>
            </a:r>
          </a:p>
          <a:p>
            <a:pPr marL="0" indent="0">
              <a:buNone/>
            </a:pPr>
            <a:r>
              <a:rPr lang="en-US" altLang="en-US" sz="5600"/>
              <a:t>        assertFalse(student.isPassed());</a:t>
            </a:r>
          </a:p>
          <a:p>
            <a:pPr marL="0" indent="0">
              <a:buNone/>
            </a:pPr>
            <a:r>
              <a:rPr lang="en-US" altLang="en-US" sz="5600"/>
              <a:t>    }</a:t>
            </a:r>
          </a:p>
          <a:p>
            <a:pPr marL="0" indent="0">
              <a:buNone/>
            </a:pPr>
            <a:r>
              <a:rPr lang="en-US" altLang="en-US" sz="5600"/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ym typeface="+mn-ea"/>
              </a:rPr>
              <a:t>JUnit 5 Overview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Released in 2017, modern replacement of JUnit 4</a:t>
            </a:r>
          </a:p>
          <a:p>
            <a:r>
              <a:rPr lang="en-US" altLang="en-US"/>
              <a:t>Uses </a:t>
            </a:r>
            <a:r>
              <a:rPr lang="en-US" altLang="en-US" b="1">
                <a:solidFill>
                  <a:srgbClr val="FF0000"/>
                </a:solidFill>
              </a:rPr>
              <a:t>@Test, @BeforeEach, @AfterEach</a:t>
            </a:r>
            <a:r>
              <a:rPr lang="en-US" altLang="en-US"/>
              <a:t> annotations</a:t>
            </a:r>
          </a:p>
          <a:p>
            <a:r>
              <a:rPr lang="en-US" altLang="en-US"/>
              <a:t>Supports modular testing architecture (JUnit Platform, Jupiter, Vintage)</a:t>
            </a:r>
          </a:p>
          <a:p>
            <a:r>
              <a:rPr lang="en-US" altLang="en-US"/>
              <a:t>Better extension model and improved flexibility</a:t>
            </a:r>
          </a:p>
          <a:p>
            <a:r>
              <a:rPr lang="en-US" altLang="en-US"/>
              <a:t>Works well with Maven, Gradle, and CI/CD tools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ym typeface="+mn-ea"/>
              </a:rPr>
              <a:t>JUnit Testing – Example (JUnit 5)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/>
              <a:t>Student Class (Already Defined)</a:t>
            </a:r>
          </a:p>
          <a:p>
            <a:r>
              <a:rPr lang="en-US" altLang="en-US"/>
              <a:t>The Student class is already implemented (</a:t>
            </a:r>
            <a:r>
              <a:rPr lang="en-US" altLang="en-US" b="1">
                <a:solidFill>
                  <a:srgbClr val="FF0000"/>
                </a:solidFill>
              </a:rPr>
              <a:t>see Slide 19-20</a:t>
            </a:r>
            <a:r>
              <a:rPr lang="en-US" altLang="en-US"/>
              <a:t>)</a:t>
            </a:r>
          </a:p>
          <a:p>
            <a:r>
              <a:rPr lang="en-US" altLang="en-US"/>
              <a:t>It contains logic to calculate grade based on marks</a:t>
            </a:r>
          </a:p>
          <a:p>
            <a:r>
              <a:rPr lang="en-US" altLang="en-US"/>
              <a:t>It also checks whether a student has passed or failed</a:t>
            </a:r>
          </a:p>
          <a:p>
            <a:pPr marL="0" indent="0">
              <a:buNone/>
            </a:pPr>
            <a:r>
              <a:rPr lang="en-US" altLang="en-US"/>
              <a:t>Now Test cases are written separately using </a:t>
            </a:r>
            <a:r>
              <a:rPr lang="en-US" altLang="en-US" b="1">
                <a:solidFill>
                  <a:srgbClr val="002060"/>
                </a:solidFill>
              </a:rPr>
              <a:t>JUnit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ym typeface="+mn-ea"/>
              </a:rPr>
              <a:t>JUnit Testing – Example (JUnit 5)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3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/>
              <a:t>import static org.junit.jupiter.api.Assertions.*;</a:t>
            </a:r>
          </a:p>
          <a:p>
            <a:pPr marL="0" indent="0">
              <a:buNone/>
            </a:pPr>
            <a:r>
              <a:rPr lang="en-US" altLang="en-US" sz="2000"/>
              <a:t>import org.junit.jupiter.api.BeforeEach;</a:t>
            </a:r>
          </a:p>
          <a:p>
            <a:pPr marL="0" indent="0">
              <a:buNone/>
            </a:pPr>
            <a:r>
              <a:rPr lang="en-US" altLang="en-US" sz="2000"/>
              <a:t>import org.junit.jupiter.api.Test;</a:t>
            </a:r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public class StudentTest {</a:t>
            </a:r>
          </a:p>
          <a:p>
            <a:pPr marL="0" indent="0">
              <a:buNone/>
            </a:pPr>
            <a:r>
              <a:rPr lang="en-US" altLang="en-US" sz="2000"/>
              <a:t>    private Student student;</a:t>
            </a:r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US" altLang="en-US" sz="2000" i="1">
                <a:solidFill>
                  <a:srgbClr val="0070C0"/>
                </a:solidFill>
              </a:rPr>
              <a:t> // runs before each test case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US" altLang="en-US" sz="2000" b="1"/>
              <a:t>@BeforeEach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public void setUp() {</a:t>
            </a:r>
          </a:p>
          <a:p>
            <a:pPr marL="0" indent="0">
              <a:buNone/>
            </a:pPr>
            <a:r>
              <a:rPr lang="en-US" altLang="en-US" sz="2000"/>
              <a:t>        student = new Student(75);</a:t>
            </a:r>
          </a:p>
          <a:p>
            <a:pPr marL="0" indent="0">
              <a:buNone/>
            </a:pPr>
            <a:r>
              <a:rPr lang="en-US" altLang="en-US" sz="2000"/>
              <a:t>    }</a:t>
            </a:r>
          </a:p>
          <a:p>
            <a:pPr marL="0" indent="0">
              <a:buNone/>
            </a:pPr>
            <a:r>
              <a:rPr lang="en-US" altLang="en-US" sz="2000"/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385"/>
            <a:ext cx="10515600" cy="66274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i="1">
                <a:solidFill>
                  <a:srgbClr val="0070C0"/>
                </a:solidFill>
              </a:rPr>
              <a:t>// Test Case: Grade A</a:t>
            </a:r>
          </a:p>
          <a:p>
            <a:pPr marL="0" indent="0">
              <a:buNone/>
            </a:pPr>
            <a:r>
              <a:rPr lang="en-US" altLang="en-US" sz="1800" b="1"/>
              <a:t>@Test</a:t>
            </a:r>
          </a:p>
          <a:p>
            <a:pPr marL="0" indent="0">
              <a:buNone/>
            </a:pPr>
            <a:r>
              <a:rPr lang="en-US" altLang="en-US" sz="1800"/>
              <a:t>public void shouldReturnGradeAForHighMarks() {</a:t>
            </a:r>
          </a:p>
          <a:p>
            <a:pPr marL="0" indent="0">
              <a:buNone/>
            </a:pPr>
            <a:r>
              <a:rPr lang="en-US" altLang="en-US" sz="1800"/>
              <a:t>    student = new Student(90);</a:t>
            </a:r>
          </a:p>
          <a:p>
            <a:pPr marL="0" indent="0">
              <a:buNone/>
            </a:pPr>
            <a:r>
              <a:rPr lang="en-US" altLang="en-US" sz="1800"/>
              <a:t>    assertEquals("A", student.getGrade());</a:t>
            </a:r>
          </a:p>
          <a:p>
            <a:pPr marL="0" indent="0">
              <a:buNone/>
            </a:pPr>
            <a:r>
              <a:rPr lang="en-US" altLang="en-US" sz="1800"/>
              <a:t>}</a:t>
            </a:r>
          </a:p>
          <a:p>
            <a:pPr marL="0" indent="0">
              <a:buNone/>
            </a:pPr>
            <a:r>
              <a:rPr lang="en-US" altLang="en-US" sz="1800" i="1">
                <a:solidFill>
                  <a:srgbClr val="0070C0"/>
                </a:solidFill>
              </a:rPr>
              <a:t>// Test Case: Grade B</a:t>
            </a:r>
          </a:p>
          <a:p>
            <a:pPr marL="0" indent="0">
              <a:buNone/>
            </a:pPr>
            <a:r>
              <a:rPr lang="en-US" altLang="en-US" sz="1800" b="1"/>
              <a:t>@Test</a:t>
            </a:r>
          </a:p>
          <a:p>
            <a:pPr marL="0" indent="0">
              <a:buNone/>
            </a:pPr>
            <a:r>
              <a:rPr lang="en-US" altLang="en-US" sz="1800"/>
              <a:t>public void shouldReturnGradeBForMediumMarks() {</a:t>
            </a:r>
          </a:p>
          <a:p>
            <a:pPr marL="0" indent="0">
              <a:buNone/>
            </a:pPr>
            <a:r>
              <a:rPr lang="en-US" altLang="en-US" sz="1800"/>
              <a:t>    student = new Student(70);</a:t>
            </a:r>
          </a:p>
          <a:p>
            <a:pPr marL="0" indent="0">
              <a:buNone/>
            </a:pPr>
            <a:r>
              <a:rPr lang="en-US" altLang="en-US" sz="1800"/>
              <a:t>    assertEquals("B", student.getGrade());</a:t>
            </a:r>
          </a:p>
          <a:p>
            <a:pPr marL="0" indent="0">
              <a:buNone/>
            </a:pPr>
            <a:r>
              <a:rPr lang="en-US" altLang="en-US" sz="1800"/>
              <a:t>}</a:t>
            </a:r>
          </a:p>
          <a:p>
            <a:pPr marL="0" indent="0">
              <a:buNone/>
            </a:pPr>
            <a:r>
              <a:rPr lang="en-US" altLang="en-US" sz="1800" i="1">
                <a:solidFill>
                  <a:srgbClr val="0070C0"/>
                </a:solidFill>
              </a:rPr>
              <a:t>// Test Case: Fail Grade</a:t>
            </a:r>
          </a:p>
          <a:p>
            <a:pPr marL="0" indent="0">
              <a:buNone/>
            </a:pPr>
            <a:r>
              <a:rPr lang="en-US" altLang="en-US" sz="1800" b="1"/>
              <a:t>@Test</a:t>
            </a:r>
          </a:p>
          <a:p>
            <a:pPr marL="0" indent="0">
              <a:buNone/>
            </a:pPr>
            <a:r>
              <a:rPr lang="en-US" altLang="en-US" sz="1800"/>
              <a:t>public void shouldReturnGradeFForLowMarks() {</a:t>
            </a:r>
          </a:p>
          <a:p>
            <a:pPr marL="0" indent="0">
              <a:buNone/>
            </a:pPr>
            <a:r>
              <a:rPr lang="en-US" altLang="en-US" sz="1800"/>
              <a:t>    student = new Student(30);</a:t>
            </a:r>
          </a:p>
          <a:p>
            <a:pPr marL="0" indent="0">
              <a:buNone/>
            </a:pPr>
            <a:r>
              <a:rPr lang="en-US" altLang="en-US" sz="1800"/>
              <a:t>    assertEquals("F", student.getGrade());</a:t>
            </a:r>
          </a:p>
          <a:p>
            <a:pPr marL="0" indent="0">
              <a:buNone/>
            </a:pPr>
            <a:r>
              <a:rPr lang="en-US" altLang="en-US" sz="1800"/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2295"/>
            <a:ext cx="10515600" cy="55949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i="1">
                <a:solidFill>
                  <a:srgbClr val="0070C0"/>
                </a:solidFill>
              </a:rPr>
              <a:t>// Test Case: Pass / Fail Check</a:t>
            </a:r>
          </a:p>
          <a:p>
            <a:pPr marL="0" indent="0">
              <a:buNone/>
            </a:pPr>
            <a:r>
              <a:rPr lang="en-US" altLang="en-US" b="1"/>
              <a:t>@Test</a:t>
            </a:r>
          </a:p>
          <a:p>
            <a:pPr marL="0" indent="0">
              <a:buNone/>
            </a:pPr>
            <a:r>
              <a:rPr lang="en-US" altLang="en-US"/>
              <a:t>public void shouldReturnTrueWhenStudentPasses() {</a:t>
            </a:r>
          </a:p>
          <a:p>
            <a:pPr marL="0" indent="0">
              <a:buNone/>
            </a:pPr>
            <a:r>
              <a:rPr lang="en-US" altLang="en-US"/>
              <a:t>    student = new Student(60);</a:t>
            </a:r>
          </a:p>
          <a:p>
            <a:pPr marL="0" indent="0">
              <a:buNone/>
            </a:pPr>
            <a:r>
              <a:rPr lang="en-US" altLang="en-US"/>
              <a:t>    assertTrue(student.isPassed());</a:t>
            </a:r>
          </a:p>
          <a:p>
            <a:pPr marL="0" indent="0">
              <a:buNone/>
            </a:pPr>
            <a:r>
              <a:rPr lang="en-US" altLang="en-US"/>
              <a:t>}</a:t>
            </a:r>
          </a:p>
          <a:p>
            <a:pPr marL="0" indent="0">
              <a:buNone/>
            </a:pPr>
            <a:r>
              <a:rPr lang="en-US" altLang="en-US" b="1"/>
              <a:t>@Test</a:t>
            </a:r>
          </a:p>
          <a:p>
            <a:pPr marL="0" indent="0">
              <a:buNone/>
            </a:pPr>
            <a:r>
              <a:rPr lang="en-US" altLang="en-US"/>
              <a:t>public void shouldReturnFalseWhenStudentFails() {</a:t>
            </a:r>
          </a:p>
          <a:p>
            <a:pPr marL="0" indent="0">
              <a:buNone/>
            </a:pPr>
            <a:r>
              <a:rPr lang="en-US" altLang="en-US"/>
              <a:t>    student = new Student(20);</a:t>
            </a:r>
          </a:p>
          <a:p>
            <a:pPr marL="0" indent="0">
              <a:buNone/>
            </a:pPr>
            <a:r>
              <a:rPr lang="en-US" altLang="en-US"/>
              <a:t>    assertFalse(student.isPassed());</a:t>
            </a:r>
          </a:p>
          <a:p>
            <a:pPr marL="0" indent="0">
              <a:buNone/>
            </a:pPr>
            <a:r>
              <a:rPr lang="en-US" altLang="en-US"/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Best Practices for Unit Testing (JUnit)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Write small, single-purpose tests</a:t>
            </a:r>
          </a:p>
          <a:p>
            <a:r>
              <a:rPr lang="en-US" altLang="en-US"/>
              <a:t>Use clear and descriptive test names</a:t>
            </a:r>
          </a:p>
          <a:p>
            <a:r>
              <a:rPr lang="en-US" altLang="en-US"/>
              <a:t>Keep tests independent from each other</a:t>
            </a:r>
          </a:p>
          <a:p>
            <a:r>
              <a:rPr lang="en-US" altLang="en-US"/>
              <a:t>Use setup methods (@Before / @BeforeEach) to avoid repetition</a:t>
            </a:r>
          </a:p>
          <a:p>
            <a:r>
              <a:rPr lang="en-US" altLang="en-US"/>
              <a:t>Test normal, edge, and invalid cases</a:t>
            </a:r>
          </a:p>
          <a:p>
            <a:r>
              <a:rPr lang="en-US" altLang="en-US"/>
              <a:t>Keep tests simple and fast</a:t>
            </a:r>
          </a:p>
          <a:p>
            <a:r>
              <a:rPr lang="en-US" altLang="en-US"/>
              <a:t>Follow Arrange–Act–Assert (AAA) pattern</a:t>
            </a:r>
          </a:p>
          <a:p>
            <a:r>
              <a:rPr lang="en-US" altLang="en-US"/>
              <a:t>Use appropriate assertions (assertEquals, assertTrue, etc.)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01980"/>
            <a:ext cx="10515600" cy="5575300"/>
          </a:xfrm>
        </p:spPr>
        <p:txBody>
          <a:bodyPr/>
          <a:lstStyle/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>
                <a:sym typeface="+mn-ea"/>
              </a:rPr>
              <a:t>                                          </a:t>
            </a:r>
            <a:r>
              <a:rPr lang="en-US" sz="4800">
                <a:sym typeface="+mn-ea"/>
              </a:rPr>
              <a:t>   </a:t>
            </a:r>
            <a:r>
              <a:rPr lang="en-US" sz="4800" b="1">
                <a:sym typeface="+mn-ea"/>
              </a:rPr>
              <a:t>Thank You!</a:t>
            </a:r>
            <a:endParaRPr lang="en-US" sz="4800" b="1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1598</Words>
  <Application>Microsoft Office PowerPoint</Application>
  <PresentationFormat>Widescreen</PresentationFormat>
  <Paragraphs>254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Wingdings</vt:lpstr>
      <vt:lpstr>Office Theme</vt:lpstr>
      <vt:lpstr>Software Construction and Development</vt:lpstr>
      <vt:lpstr>Importance of Testing in Software Development</vt:lpstr>
      <vt:lpstr>Challenges Without Testing</vt:lpstr>
      <vt:lpstr>Principles of Good Testing</vt:lpstr>
      <vt:lpstr>What is Unit Testing?</vt:lpstr>
      <vt:lpstr>PowerPoint Presentation</vt:lpstr>
      <vt:lpstr>Benefits of Unit Testing</vt:lpstr>
      <vt:lpstr>Test-Driven Development (TDD) Overview</vt:lpstr>
      <vt:lpstr>TDD Workflow</vt:lpstr>
      <vt:lpstr>Red-Green-Refactor </vt:lpstr>
      <vt:lpstr>Red-Green-Refactor (Cont....)</vt:lpstr>
      <vt:lpstr>Red-Green-Refactor (Cont....)</vt:lpstr>
      <vt:lpstr>Practice Question: TDD Cycle</vt:lpstr>
      <vt:lpstr>Unit Testing Frameworks</vt:lpstr>
      <vt:lpstr>Key Principles of Frameworks</vt:lpstr>
      <vt:lpstr>JUnit 4 Overview</vt:lpstr>
      <vt:lpstr>JUnit Testing – Example (JUnit 4)</vt:lpstr>
      <vt:lpstr>PowerPoint Presentation</vt:lpstr>
      <vt:lpstr>Practice Example – Student Grading System</vt:lpstr>
      <vt:lpstr>PowerPoint Presentation</vt:lpstr>
      <vt:lpstr>Writing Unit Tests Using JUnit 4</vt:lpstr>
      <vt:lpstr>PowerPoint Presentation</vt:lpstr>
      <vt:lpstr>PowerPoint Presentation</vt:lpstr>
      <vt:lpstr>JUnit 5 Overview</vt:lpstr>
      <vt:lpstr>JUnit Testing – Example (JUnit 5)</vt:lpstr>
      <vt:lpstr>JUnit Testing – Example (JUnit 5)</vt:lpstr>
      <vt:lpstr>PowerPoint Presentation</vt:lpstr>
      <vt:lpstr>PowerPoint Presentation</vt:lpstr>
      <vt:lpstr>Best Practices for Unit Testing (JUnit)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Khizar Hayat</dc:creator>
  <cp:lastModifiedBy>Muhammad Khizar Hayat</cp:lastModifiedBy>
  <cp:revision>8</cp:revision>
  <dcterms:created xsi:type="dcterms:W3CDTF">2026-05-19T09:18:00Z</dcterms:created>
  <dcterms:modified xsi:type="dcterms:W3CDTF">2026-05-20T13:56:55Z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F55A7AE48EB740E8AE801CFF58D8D3EF_13</vt:lpwstr>
  </property>
</Properties>
</file>