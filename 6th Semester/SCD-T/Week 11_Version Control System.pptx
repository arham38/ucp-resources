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63" r:id="rId10"/>
    <p:sldId id="291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69" r:id="rId19"/>
    <p:sldId id="270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bject 2">
            <a:extLst>
              <a:ext uri="{FF2B5EF4-FFF2-40B4-BE49-F238E27FC236}">
                <a16:creationId xmlns:a16="http://schemas.microsoft.com/office/drawing/2014/main" id="{7ACF4AEC-E7D2-A999-74F2-F727DF252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5938" y="1852377"/>
            <a:ext cx="5400675" cy="919636"/>
          </a:xfrm>
        </p:spPr>
        <p:txBody>
          <a:bodyPr vert="horz" lIns="0" tIns="65366" rIns="0" bIns="0" rtlCol="0" anchor="ctr">
            <a:spAutoFit/>
          </a:bodyPr>
          <a:lstStyle/>
          <a:p>
            <a:pPr marL="5954">
              <a:lnSpc>
                <a:spcPts val="3647"/>
              </a:lnSpc>
              <a:spcBef>
                <a:spcPts val="516"/>
              </a:spcBef>
            </a:pPr>
            <a:r>
              <a:rPr lang="en-PK" altLang="en-PK" sz="2250" b="1" dirty="0">
                <a:cs typeface="Calibri Light" panose="020F0302020204030204" pitchFamily="34" charset="0"/>
              </a:rPr>
              <a:t>Software Construction and Development</a:t>
            </a:r>
            <a:br>
              <a:rPr lang="en-US" altLang="en-PK" sz="2250" b="1" dirty="0">
                <a:cs typeface="Calibri Light" panose="020F0302020204030204" pitchFamily="34" charset="0"/>
              </a:rPr>
            </a:br>
            <a:r>
              <a:rPr lang="en-US" altLang="en-PK" sz="1350" b="1" dirty="0">
                <a:cs typeface="Calibri Light" panose="020F0302020204030204" pitchFamily="34" charset="0"/>
              </a:rPr>
              <a:t>Version Control Systems (Git&amp; GitHub)</a:t>
            </a:r>
            <a:endParaRPr lang="en-PK" altLang="en-PK" sz="1575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Subtitle 2">
            <a:extLst>
              <a:ext uri="{FF2B5EF4-FFF2-40B4-BE49-F238E27FC236}">
                <a16:creationId xmlns:a16="http://schemas.microsoft.com/office/drawing/2014/main" id="{125D9625-AE77-D6B5-CAC7-79B6FFBE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4099323"/>
            <a:ext cx="4314825" cy="1264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en-PK" sz="1200">
                <a:cs typeface="Calibri" panose="020F0502020204030204" pitchFamily="34" charset="0"/>
              </a:rPr>
              <a:t>Maria Kiran</a:t>
            </a:r>
          </a:p>
          <a:p>
            <a:pPr algn="ctr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en-PK" sz="1200">
                <a:solidFill>
                  <a:srgbClr val="0070C0"/>
                </a:solidFill>
                <a:cs typeface="Calibri" panose="020F0502020204030204" pitchFamily="34" charset="0"/>
                <a:hlinkClick r:id="rId2"/>
              </a:rPr>
              <a:t>Email: maria.kiran@ucp.edu.pk</a:t>
            </a:r>
            <a:endParaRPr lang="en-US" altLang="en-PK" sz="120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en-PK" sz="1200" b="1">
                <a:cs typeface="Calibri" panose="020F0502020204030204" pitchFamily="34" charset="0"/>
              </a:rPr>
              <a:t>Office:</a:t>
            </a:r>
            <a:r>
              <a:rPr lang="en-US" altLang="en-PK" sz="1200">
                <a:cs typeface="Calibri" panose="020F0502020204030204" pitchFamily="34" charset="0"/>
              </a:rPr>
              <a:t> Building A, Faculty Hall F202</a:t>
            </a:r>
          </a:p>
          <a:p>
            <a:pPr algn="ctr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en-PK" sz="1200" b="1">
                <a:cs typeface="Calibri" panose="020F0502020204030204" pitchFamily="34" charset="0"/>
              </a:rPr>
              <a:t>OFFICE HOURS: </a:t>
            </a:r>
            <a:r>
              <a:rPr lang="en-US" altLang="en-PK" sz="1200">
                <a:cs typeface="Calibri" panose="020F0502020204030204" pitchFamily="34" charset="0"/>
              </a:rPr>
              <a:t>Tue, Wed, Thu  (9:00 to 11:00)</a:t>
            </a:r>
          </a:p>
          <a:p>
            <a:pPr algn="ctr">
              <a:lnSpc>
                <a:spcPct val="120000"/>
              </a:lnSpc>
              <a:buClr>
                <a:schemeClr val="accent1"/>
              </a:buClr>
              <a:buNone/>
            </a:pPr>
            <a:endParaRPr lang="en-PK" altLang="en-PK" sz="1050"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Understand Version Control Systems (VCS)</a:t>
            </a:r>
          </a:p>
          <a:p>
            <a:r>
              <a:rPr sz="2400" dirty="0"/>
              <a:t>Learn Git basics and commands</a:t>
            </a:r>
          </a:p>
          <a:p>
            <a:r>
              <a:rPr sz="2400" dirty="0"/>
              <a:t>Understand GitHu</a:t>
            </a:r>
            <a:r>
              <a:rPr lang="en-US" sz="2400" dirty="0"/>
              <a:t>b</a:t>
            </a:r>
            <a:r>
              <a:rPr sz="2400" dirty="0"/>
              <a:t> repositories</a:t>
            </a:r>
          </a:p>
          <a:p>
            <a:r>
              <a:rPr sz="2400" dirty="0"/>
              <a:t>Perform branching and merging</a:t>
            </a:r>
          </a:p>
          <a:p>
            <a:r>
              <a:rPr sz="2400" dirty="0"/>
              <a:t>Understand Pull Requests</a:t>
            </a:r>
          </a:p>
          <a:p>
            <a:r>
              <a:rPr sz="2400" dirty="0"/>
              <a:t>Learn collaborative development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What is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system that tracks changes in source code</a:t>
            </a:r>
          </a:p>
          <a:p>
            <a:r>
              <a:rPr sz="2400" dirty="0"/>
              <a:t>Allows multiple developers to work together</a:t>
            </a:r>
          </a:p>
          <a:p>
            <a:r>
              <a:rPr sz="2400" dirty="0"/>
              <a:t>Stores previous versions of files</a:t>
            </a:r>
          </a:p>
          <a:p>
            <a:r>
              <a:rPr sz="2400" dirty="0"/>
              <a:t>Helps recover older versions when needed</a:t>
            </a:r>
            <a:endParaRPr lang="en-US" sz="2400" dirty="0"/>
          </a:p>
          <a:p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Problems Without 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870" y="145298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File duplication: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project_final.java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project_final2.java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project_latest_final.java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Overwriting teammate work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backup/history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Difficult collaboration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Benefits of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Tracks project history</a:t>
            </a:r>
          </a:p>
          <a:p>
            <a:r>
              <a:rPr sz="2400" dirty="0"/>
              <a:t>Supports teamwork</a:t>
            </a:r>
          </a:p>
          <a:p>
            <a:r>
              <a:rPr sz="2400" dirty="0"/>
              <a:t>Easy backup and recovery</a:t>
            </a:r>
          </a:p>
          <a:p>
            <a:r>
              <a:rPr sz="2400" dirty="0"/>
              <a:t>Supports experimentation using branches</a:t>
            </a:r>
          </a:p>
          <a:p>
            <a:r>
              <a:rPr sz="2400" dirty="0"/>
              <a:t>Improves software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Types of Version Control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72DE58-6AB9-128C-EE3F-5C5544F0A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675594"/>
              </p:ext>
            </p:extLst>
          </p:nvPr>
        </p:nvGraphicFramePr>
        <p:xfrm>
          <a:off x="457200" y="20343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158177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47112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Centralized VCS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Distributed VCS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4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Single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user has complete 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07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Example: SVN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Example: 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46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Internet usually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work offline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78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Less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828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13617-5B60-030C-189A-E4B74C1BC97C}"/>
              </a:ext>
            </a:extLst>
          </p:cNvPr>
          <p:cNvSpPr txBox="1"/>
          <p:nvPr/>
        </p:nvSpPr>
        <p:spPr>
          <a:xfrm>
            <a:off x="570321" y="4673760"/>
            <a:ext cx="7178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is a Distributed Version Control System (DVCS).</a:t>
            </a:r>
            <a:endParaRPr lang="en-P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Introduction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is a popular version control system.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 was created by Linus Torvalds in 2005, and has been maintained by Junio Hamano since then.</a:t>
            </a:r>
          </a:p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 is used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Tracking code changes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Tracking who made changes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Coding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4AA0-F95A-0D93-4D2A-3B972266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Git Concepts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8662-48B3-D456-465B-40798CC5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Repository: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 folder where Git tracks your project and its history.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Clone: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Make a copy of a remote repository on your computer.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Stage: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Tell Git which changes you want to save next.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Commit: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Save a snapshot of your staged changes.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Branch: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Work on different versions or features at the same time.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Merge: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Combine changes from different branches.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Pull: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Get/download the latest changes from a remote repository.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Push: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Send/upload your changes to a remote repository.</a:t>
            </a:r>
          </a:p>
          <a:p>
            <a:pPr>
              <a:lnSpc>
                <a:spcPct val="150000"/>
              </a:lnSpc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63198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</a:t>
            </a:r>
            <a:r>
              <a:rPr b="1" dirty="0"/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Initialize Git on a folder, making it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Repository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now creates a hidden folder to keep track of changes in that folder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a file is changed, added or deleted, it is considered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modified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select the modified files you want to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Stage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Staged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files are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Committed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which prompts Git to store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permanent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snapshot of the files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allows you to see the full history of every commit.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revert back to any previous commit.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does not store a separate copy of every file in every commit, but keeps track of changes made in each commit!</a:t>
            </a:r>
          </a:p>
          <a:p>
            <a:pPr algn="just"/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CBC5-B5A1-5CB7-B66C-F16B1ABD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Git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9C521-AFB2-2C10-C3C9-86592DBA7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20726"/>
            <a:ext cx="8229600" cy="2484911"/>
          </a:xfrm>
        </p:spPr>
      </p:pic>
    </p:spTree>
    <p:extLst>
      <p:ext uri="{BB962C8B-B14F-4D97-AF65-F5344CB8AC3E}">
        <p14:creationId xmlns:p14="http://schemas.microsoft.com/office/powerpoint/2010/main" val="316691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F62C-48AF-B09B-9A21-1CE1B4C7E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7513"/>
            <a:ext cx="8229600" cy="705750"/>
          </a:xfrm>
        </p:spPr>
        <p:txBody>
          <a:bodyPr>
            <a:noAutofit/>
          </a:bodyPr>
          <a:lstStyle/>
          <a:p>
            <a:r>
              <a:rPr lang="en-US" sz="3200" b="1" dirty="0"/>
              <a:t>Basic Git Commands (Step-by-Step)</a:t>
            </a:r>
            <a:br>
              <a:rPr lang="en-US" sz="3200" b="1" dirty="0"/>
            </a:br>
            <a:endParaRPr lang="en-PK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86B76E-35A8-577A-055D-7CD0C31D0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807473"/>
              </p:ext>
            </p:extLst>
          </p:nvPr>
        </p:nvGraphicFramePr>
        <p:xfrm>
          <a:off x="1662453" y="1560778"/>
          <a:ext cx="6699122" cy="4537315"/>
        </p:xfrm>
        <a:graphic>
          <a:graphicData uri="http://schemas.openxmlformats.org/drawingml/2006/table">
            <a:tbl>
              <a:tblPr/>
              <a:tblGrid>
                <a:gridCol w="734125">
                  <a:extLst>
                    <a:ext uri="{9D8B030D-6E8A-4147-A177-3AD203B41FA5}">
                      <a16:colId xmlns:a16="http://schemas.microsoft.com/office/drawing/2014/main" val="1288789111"/>
                    </a:ext>
                  </a:extLst>
                </a:gridCol>
                <a:gridCol w="3255729">
                  <a:extLst>
                    <a:ext uri="{9D8B030D-6E8A-4147-A177-3AD203B41FA5}">
                      <a16:colId xmlns:a16="http://schemas.microsoft.com/office/drawing/2014/main" val="378672642"/>
                    </a:ext>
                  </a:extLst>
                </a:gridCol>
                <a:gridCol w="2709268">
                  <a:extLst>
                    <a:ext uri="{9D8B030D-6E8A-4147-A177-3AD203B41FA5}">
                      <a16:colId xmlns:a16="http://schemas.microsoft.com/office/drawing/2014/main" val="3115435181"/>
                    </a:ext>
                  </a:extLst>
                </a:gridCol>
              </a:tblGrid>
              <a:tr h="25761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812642"/>
                  </a:ext>
                </a:extLst>
              </a:tr>
              <a:tr h="633865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mkdir StudentManagementSystem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project folder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003711"/>
                  </a:ext>
                </a:extLst>
              </a:tr>
              <a:tr h="633865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 StudentManagementSystem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into project directory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979720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init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Initialize Git repository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641884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status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repository status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377915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touch index.html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new file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080048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add index.html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file to staging area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774220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add .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all files to staging area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746168"/>
                  </a:ext>
                </a:extLst>
              </a:tr>
              <a:tr h="443705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commit -m "Added homepage"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snapshot of changes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141973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log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commit history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406548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clone &lt;repository-link&gt;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Copy remote repository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184912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pull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 latest updates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626580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r>
                        <a:rPr lang="en-PK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push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local changes to GitHub/GitLab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4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83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9166-E783-827B-0F56-1725F9D0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Branching?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6982-8856-43B7-68AE-5EEDA1A93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branch is a separate line of development in Git.</a:t>
            </a:r>
          </a:p>
          <a:p>
            <a:pPr lvl="1"/>
            <a:r>
              <a:rPr lang="en-US" sz="2000" dirty="0"/>
              <a:t>It allows developers to:</a:t>
            </a:r>
          </a:p>
          <a:p>
            <a:pPr lvl="1"/>
            <a:r>
              <a:rPr lang="en-US" sz="2000" dirty="0"/>
              <a:t>Work on new features safely </a:t>
            </a:r>
          </a:p>
          <a:p>
            <a:pPr lvl="1"/>
            <a:r>
              <a:rPr lang="en-US" sz="2000" dirty="0"/>
              <a:t>Fix bugs independently </a:t>
            </a:r>
          </a:p>
          <a:p>
            <a:pPr lvl="1"/>
            <a:r>
              <a:rPr lang="en-US" sz="2000" dirty="0"/>
              <a:t>Experiment without affecting the main project</a:t>
            </a:r>
          </a:p>
          <a:p>
            <a:r>
              <a:rPr lang="en-US" sz="1600" b="1" dirty="0"/>
              <a:t>Real-World Example</a:t>
            </a:r>
          </a:p>
          <a:p>
            <a:pPr lvl="1"/>
            <a:r>
              <a:rPr lang="en-US" sz="1600" dirty="0"/>
              <a:t>Suppose a team is developing a </a:t>
            </a:r>
            <a:r>
              <a:rPr lang="en-US" sz="1600" b="1" dirty="0"/>
              <a:t>Library Management System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endParaRPr lang="en-US" sz="2000" dirty="0"/>
          </a:p>
          <a:p>
            <a:endParaRPr lang="en-PK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912407-6879-5D24-5922-BFCE9A83E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54694"/>
              </p:ext>
            </p:extLst>
          </p:nvPr>
        </p:nvGraphicFramePr>
        <p:xfrm>
          <a:off x="457200" y="4215743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2042670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4908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Developer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433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02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Dashboard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36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Ahmed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987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F4269B-AA99-C340-5E28-E1DEAE672F35}"/>
              </a:ext>
            </a:extLst>
          </p:cNvPr>
          <p:cNvSpPr txBox="1"/>
          <p:nvPr/>
        </p:nvSpPr>
        <p:spPr>
          <a:xfrm>
            <a:off x="579749" y="60127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developer works on a separate branch.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8399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ABBD-CECA-AAB8-BA62-85469C9F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Why use Branches?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BF5B-D6AD-1451-EAA5-F505A177B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Without Branches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The main project may break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Team members overwrite each other’s work </a:t>
            </a:r>
          </a:p>
          <a:p>
            <a:r>
              <a:rPr lang="en-US" sz="2800" b="1" dirty="0"/>
              <a:t>With Branches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Safer development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Better collaboration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Easier testing 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44509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EE92-E104-A535-E456-B3D255E4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6869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Branching Commands</a:t>
            </a:r>
            <a:endParaRPr lang="en-PK" sz="40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1458C9-7928-E067-629B-24424644F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193057"/>
              </p:ext>
            </p:extLst>
          </p:nvPr>
        </p:nvGraphicFramePr>
        <p:xfrm>
          <a:off x="457200" y="2040037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15522721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95741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25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git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View all branches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97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git branch login-feature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new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565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git switch login-feature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3617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2C8C56-CCD9-EE95-BD29-21D2AB54BC3D}"/>
              </a:ext>
            </a:extLst>
          </p:cNvPr>
          <p:cNvSpPr txBox="1"/>
          <p:nvPr/>
        </p:nvSpPr>
        <p:spPr>
          <a:xfrm>
            <a:off x="457200" y="4585296"/>
            <a:ext cx="725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Learn Git Branching: </a:t>
            </a:r>
            <a:r>
              <a:rPr lang="en-PK" dirty="0"/>
              <a:t>https://learngitbranching.js.org/</a:t>
            </a:r>
          </a:p>
        </p:txBody>
      </p:sp>
    </p:spTree>
    <p:extLst>
      <p:ext uri="{BB962C8B-B14F-4D97-AF65-F5344CB8AC3E}">
        <p14:creationId xmlns:p14="http://schemas.microsoft.com/office/powerpoint/2010/main" val="328331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FB97-05F8-4AC8-DCFF-CBD168CF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What is Merging?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55FE-1BB6-72DD-B461-0670AE05C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Merging combines changes from one branch into another branch.</a:t>
            </a:r>
          </a:p>
          <a:p>
            <a:r>
              <a:rPr lang="en-US" sz="1600" dirty="0"/>
              <a:t>Usually:</a:t>
            </a:r>
          </a:p>
          <a:p>
            <a:pPr lvl="1"/>
            <a:r>
              <a:rPr lang="en-US" sz="1600" dirty="0"/>
              <a:t>feature branch → main branch</a:t>
            </a:r>
          </a:p>
          <a:p>
            <a:pPr marL="0" indent="0">
              <a:buNone/>
            </a:pPr>
            <a:r>
              <a:rPr lang="en-US" sz="1600" b="1" dirty="0"/>
              <a:t>Why Merge?</a:t>
            </a:r>
          </a:p>
          <a:p>
            <a:r>
              <a:rPr lang="en-US" sz="1600" dirty="0"/>
              <a:t>After completing and testing a feature, developers merge it into the main project.</a:t>
            </a:r>
          </a:p>
          <a:p>
            <a:pPr marL="0" indent="0">
              <a:buNone/>
            </a:pPr>
            <a:r>
              <a:rPr lang="en-US" sz="1600" b="1" dirty="0"/>
              <a:t>Merge Commands</a:t>
            </a:r>
          </a:p>
          <a:p>
            <a:pPr marL="400050" lvl="1" indent="0">
              <a:buNone/>
            </a:pPr>
            <a:r>
              <a:rPr lang="en-US" sz="1600" b="1" dirty="0"/>
              <a:t>git checkout main</a:t>
            </a:r>
          </a:p>
          <a:p>
            <a:pPr marL="400050" lvl="1" indent="0">
              <a:buNone/>
            </a:pPr>
            <a:r>
              <a:rPr lang="en-US" sz="1600" b="1" dirty="0"/>
              <a:t>git merge login-feature</a:t>
            </a:r>
          </a:p>
          <a:p>
            <a:pPr marL="0" indent="0">
              <a:buNone/>
            </a:pPr>
            <a:r>
              <a:rPr lang="en-US" sz="1600" b="1" dirty="0"/>
              <a:t>What Happens?</a:t>
            </a:r>
          </a:p>
          <a:p>
            <a:pPr lvl="1"/>
            <a:r>
              <a:rPr lang="en-US" sz="1400" dirty="0"/>
              <a:t>Git combines:</a:t>
            </a:r>
          </a:p>
          <a:p>
            <a:pPr lvl="1"/>
            <a:r>
              <a:rPr lang="en-US" sz="1400" dirty="0"/>
              <a:t>files </a:t>
            </a:r>
          </a:p>
          <a:p>
            <a:pPr lvl="1"/>
            <a:r>
              <a:rPr lang="en-US" sz="1400" dirty="0"/>
              <a:t>code changes </a:t>
            </a:r>
          </a:p>
          <a:p>
            <a:pPr lvl="1"/>
            <a:r>
              <a:rPr lang="en-US" sz="1400" dirty="0"/>
              <a:t>commits </a:t>
            </a:r>
          </a:p>
          <a:p>
            <a:pPr lvl="1"/>
            <a:r>
              <a:rPr lang="en-US" sz="1400" dirty="0"/>
              <a:t>from: login-feature into main</a:t>
            </a:r>
          </a:p>
          <a:p>
            <a:pPr marL="400050" lvl="1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06297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8C49-4B7E-9EDB-9A55-C1CB36EA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Merge Conflicts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50B9-98F0-34EF-AA05-1A71A998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Occurs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developers edit the same 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 cannot decide which version to keep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lvl="1"/>
            <a:r>
              <a:rPr lang="en-US" b="1" dirty="0"/>
              <a:t>Developer A: </a:t>
            </a:r>
            <a:r>
              <a:rPr lang="en-US" dirty="0"/>
              <a:t>&lt;h1&gt;Library System&lt;/h1&gt;</a:t>
            </a:r>
          </a:p>
          <a:p>
            <a:pPr lvl="1"/>
            <a:r>
              <a:rPr lang="en-US" b="1" dirty="0"/>
              <a:t>Developer B: </a:t>
            </a:r>
            <a:r>
              <a:rPr lang="en-US" dirty="0"/>
              <a:t>&lt;h1&gt;Online Library&lt;/h1&gt;</a:t>
            </a:r>
          </a:p>
          <a:p>
            <a:pPr marL="0" indent="0">
              <a:buNone/>
            </a:pPr>
            <a:r>
              <a:rPr lang="en-US" b="1" dirty="0"/>
              <a:t>Git Conflict Markers</a:t>
            </a:r>
          </a:p>
          <a:p>
            <a:pPr marL="400050" lvl="1" indent="0">
              <a:buNone/>
            </a:pPr>
            <a:r>
              <a:rPr lang="en-US" dirty="0"/>
              <a:t>&lt;&lt;&lt;&lt;&lt;&lt;&lt; HEAD</a:t>
            </a:r>
          </a:p>
          <a:p>
            <a:pPr marL="400050" lvl="1" indent="0">
              <a:buNone/>
            </a:pPr>
            <a:r>
              <a:rPr lang="en-US" dirty="0"/>
              <a:t>Library System</a:t>
            </a:r>
          </a:p>
          <a:p>
            <a:pPr marL="400050" lvl="1" indent="0">
              <a:buNone/>
            </a:pPr>
            <a:r>
              <a:rPr lang="en-US" dirty="0"/>
              <a:t>=======</a:t>
            </a:r>
          </a:p>
          <a:p>
            <a:pPr marL="400050" lvl="1" indent="0">
              <a:buNone/>
            </a:pPr>
            <a:r>
              <a:rPr lang="en-US" dirty="0"/>
              <a:t>Online Library</a:t>
            </a:r>
          </a:p>
          <a:p>
            <a:pPr marL="400050" lvl="1" indent="0">
              <a:buNone/>
            </a:pPr>
            <a:r>
              <a:rPr lang="en-US" dirty="0"/>
              <a:t>&gt;&gt;&gt;&gt;&gt;&gt;&gt; login-feature</a:t>
            </a:r>
          </a:p>
          <a:p>
            <a:pPr marL="0" indent="0">
              <a:buNone/>
            </a:pPr>
            <a:r>
              <a:rPr lang="en-US" b="1" dirty="0"/>
              <a:t>Solution</a:t>
            </a:r>
          </a:p>
          <a:p>
            <a:pPr lvl="1"/>
            <a:r>
              <a:rPr lang="en-US" dirty="0"/>
              <a:t>Developer manually: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chooses correct code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removes conflict markers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commits resolved version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65752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BBA3-6F8A-82FE-5381-3C86B6B9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Pull Requests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2098-D3D6-28FD-DD10-A0DCE9867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54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Pull Request is a request to merge code into another branch.</a:t>
            </a:r>
          </a:p>
          <a:p>
            <a:pPr marL="0" indent="0">
              <a:buNone/>
            </a:pPr>
            <a:r>
              <a:rPr lang="en-US" sz="2400" b="1" dirty="0"/>
              <a:t>Mostly used 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GitHub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GitLab</a:t>
            </a:r>
          </a:p>
          <a:p>
            <a:pPr marL="0" indent="0">
              <a:buNone/>
            </a:pPr>
            <a:r>
              <a:rPr lang="en-US" sz="2400" b="1" dirty="0"/>
              <a:t>Industry Importance</a:t>
            </a:r>
          </a:p>
          <a:p>
            <a:r>
              <a:rPr lang="en-US" sz="2400" dirty="0"/>
              <a:t>Almost every software company uses Pull Requests for teamwork and review process for:</a:t>
            </a:r>
          </a:p>
          <a:p>
            <a:pPr marL="800100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review </a:t>
            </a:r>
          </a:p>
          <a:p>
            <a:pPr marL="800100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discussion </a:t>
            </a:r>
          </a:p>
          <a:p>
            <a:pPr marL="800100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bugs </a:t>
            </a:r>
          </a:p>
          <a:p>
            <a:pPr marL="800100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code quality </a:t>
            </a:r>
          </a:p>
          <a:p>
            <a:endParaRPr lang="en-US" sz="2400" dirty="0"/>
          </a:p>
          <a:p>
            <a:pPr marL="0" indent="0">
              <a:buNone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69889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Introduction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Cloud platforms for hosting repositories</a:t>
            </a:r>
          </a:p>
          <a:p>
            <a:r>
              <a:rPr sz="2800" dirty="0"/>
              <a:t>Enable collaboration between developers</a:t>
            </a:r>
          </a:p>
          <a:p>
            <a:r>
              <a:rPr sz="2800" dirty="0"/>
              <a:t>Provide Pull Requests and issue tracking</a:t>
            </a:r>
          </a:p>
          <a:p>
            <a:r>
              <a:rPr sz="2800" dirty="0"/>
              <a:t>Used in industry-level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Git = Version Control Tool</a:t>
            </a:r>
          </a:p>
          <a:p>
            <a:r>
              <a:rPr sz="2800" dirty="0"/>
              <a:t>GitHub = Cloud Hosting Platform</a:t>
            </a:r>
          </a:p>
          <a:p>
            <a:r>
              <a:rPr sz="2800" dirty="0"/>
              <a:t>Git works locally</a:t>
            </a:r>
          </a:p>
          <a:p>
            <a:r>
              <a:rPr sz="2800" dirty="0"/>
              <a:t>GitHub enables collaboration online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Collaborative 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Clone repository</a:t>
            </a:r>
          </a:p>
          <a:p>
            <a:r>
              <a:rPr sz="2800" dirty="0"/>
              <a:t>Create </a:t>
            </a:r>
            <a:r>
              <a:rPr lang="en-US" sz="2800" dirty="0"/>
              <a:t>a </a:t>
            </a:r>
            <a:r>
              <a:rPr sz="2800" dirty="0"/>
              <a:t>branch</a:t>
            </a:r>
          </a:p>
          <a:p>
            <a:r>
              <a:rPr sz="2800" dirty="0"/>
              <a:t>Write code</a:t>
            </a:r>
          </a:p>
          <a:p>
            <a:r>
              <a:rPr sz="2800" dirty="0"/>
              <a:t>Commit changes</a:t>
            </a:r>
          </a:p>
          <a:p>
            <a:r>
              <a:rPr sz="2800" dirty="0"/>
              <a:t>Push branch</a:t>
            </a:r>
          </a:p>
          <a:p>
            <a:r>
              <a:rPr sz="2800" dirty="0"/>
              <a:t>Create Pull Request</a:t>
            </a:r>
          </a:p>
          <a:p>
            <a:r>
              <a:rPr sz="2800" dirty="0"/>
              <a:t>Review and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925</Words>
  <Application>Microsoft Office PowerPoint</Application>
  <PresentationFormat>On-screen Show (4:3)</PresentationFormat>
  <Paragraphs>207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</vt:lpstr>
      <vt:lpstr>Times New Roman</vt:lpstr>
      <vt:lpstr>Office Theme</vt:lpstr>
      <vt:lpstr>Software Construction and Development Version Control Systems (Git&amp; GitHub)</vt:lpstr>
      <vt:lpstr>Learning Outcomes</vt:lpstr>
      <vt:lpstr>What is Version Control?</vt:lpstr>
      <vt:lpstr>Problems Without VCS</vt:lpstr>
      <vt:lpstr>Benefits of Version Control</vt:lpstr>
      <vt:lpstr>Types of Version Control Systems</vt:lpstr>
      <vt:lpstr>Introduction to Git</vt:lpstr>
      <vt:lpstr>Key Git Concepts</vt:lpstr>
      <vt:lpstr>Working with Git</vt:lpstr>
      <vt:lpstr>Working with Git</vt:lpstr>
      <vt:lpstr>Basic Git Commands (Step-by-Step) </vt:lpstr>
      <vt:lpstr>What is Branching?</vt:lpstr>
      <vt:lpstr>Why use Branches?</vt:lpstr>
      <vt:lpstr>Branching Commands</vt:lpstr>
      <vt:lpstr>What is Merging?</vt:lpstr>
      <vt:lpstr>Merge Conflicts</vt:lpstr>
      <vt:lpstr>Pull Requests</vt:lpstr>
      <vt:lpstr>Introduction to GitHub</vt:lpstr>
      <vt:lpstr>Git vs GitHub</vt:lpstr>
      <vt:lpstr>Collaborative Development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 Systems</dc:title>
  <dc:subject/>
  <dc:creator>Hafiza Maria Kiran</dc:creator>
  <cp:keywords/>
  <dc:description>generated using python-pptx</dc:description>
  <cp:lastModifiedBy>Hafiza Maria Kiran</cp:lastModifiedBy>
  <cp:revision>43</cp:revision>
  <dcterms:created xsi:type="dcterms:W3CDTF">2013-01-27T09:14:16Z</dcterms:created>
  <dcterms:modified xsi:type="dcterms:W3CDTF">2026-05-13T06:46:48Z</dcterms:modified>
  <cp:category/>
</cp:coreProperties>
</file>