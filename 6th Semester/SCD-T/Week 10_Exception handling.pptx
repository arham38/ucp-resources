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0"/>
  </p:notesMasterIdLst>
  <p:sldIdLst>
    <p:sldId id="292" r:id="rId2"/>
    <p:sldId id="257" r:id="rId3"/>
    <p:sldId id="296" r:id="rId4"/>
    <p:sldId id="260" r:id="rId5"/>
    <p:sldId id="268" r:id="rId6"/>
    <p:sldId id="295" r:id="rId7"/>
    <p:sldId id="261" r:id="rId8"/>
    <p:sldId id="266" r:id="rId9"/>
    <p:sldId id="262" r:id="rId10"/>
    <p:sldId id="279" r:id="rId11"/>
    <p:sldId id="263" r:id="rId12"/>
    <p:sldId id="264" r:id="rId13"/>
    <p:sldId id="281" r:id="rId14"/>
    <p:sldId id="289" r:id="rId15"/>
    <p:sldId id="291" r:id="rId16"/>
    <p:sldId id="294" r:id="rId17"/>
    <p:sldId id="305" r:id="rId18"/>
    <p:sldId id="306" r:id="rId19"/>
    <p:sldId id="307" r:id="rId20"/>
    <p:sldId id="269" r:id="rId21"/>
    <p:sldId id="297" r:id="rId22"/>
    <p:sldId id="273" r:id="rId23"/>
    <p:sldId id="299" r:id="rId24"/>
    <p:sldId id="300" r:id="rId25"/>
    <p:sldId id="301" r:id="rId26"/>
    <p:sldId id="302" r:id="rId27"/>
    <p:sldId id="303" r:id="rId28"/>
    <p:sldId id="304" r:id="rId29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7C5F4-E544-4735-B75C-C0780C6453E5}" type="datetimeFigureOut">
              <a:rPr lang="en-PK" smtClean="0"/>
              <a:t>08/05/2026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E9BE42-D35C-4B5C-A988-8BB53FCAC3A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61324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Explanation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Class.forName</a:t>
            </a:r>
            <a:r>
              <a:rPr lang="en-US" dirty="0"/>
              <a:t>() is used to load a class dynamically at runtime.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"</a:t>
            </a:r>
            <a:r>
              <a:rPr lang="en-US" dirty="0" err="1"/>
              <a:t>TestClass</a:t>
            </a:r>
            <a:r>
              <a:rPr lang="en-US" dirty="0"/>
              <a:t>" is the name of the class Java is trying to find.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the class exists, Java loads it successfully.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the class does not exist, Java throws </a:t>
            </a:r>
            <a:r>
              <a:rPr lang="en-US" dirty="0" err="1"/>
              <a:t>ClassNotFoundException</a:t>
            </a:r>
            <a:r>
              <a:rPr lang="en-US" dirty="0"/>
              <a:t>.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E9BE42-D35C-4B5C-A988-8BB53FCAC3AB}" type="slidenum">
              <a:rPr lang="en-PK" smtClean="0"/>
              <a:t>17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717509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Pauses the program for 3000 milliseconds (3 seconds)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During sleep, if another thread interrupts the current thread, Java throws </a:t>
            </a:r>
            <a:r>
              <a:rPr lang="en-US" dirty="0" err="1"/>
              <a:t>InterruptedException</a:t>
            </a:r>
            <a:r>
              <a:rPr lang="en-US" dirty="0"/>
              <a:t> 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E9BE42-D35C-4B5C-A988-8BB53FCAC3AB}" type="slidenum">
              <a:rPr lang="en-PK" smtClean="0"/>
              <a:t>19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96919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GC: Garbage Collector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E9BE42-D35C-4B5C-A988-8BB53FCAC3AB}" type="slidenum">
              <a:rPr lang="en-PK" smtClean="0"/>
              <a:t>21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96444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E26C9-9C7F-4279-AB8E-C9B50CFBA2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25D111-15B3-E3A2-E50D-9FC324E448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DF38E-237B-433D-AC0A-EA408F114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10335-6867-4017-A73B-B64240607648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72D27-BEC8-E775-B886-ED595F6EF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BF2C9-2C1D-0E85-6430-4FF606EB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A3534-9DFA-4543-A968-7CE58BFBE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415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52D20-CD5F-D468-BC5F-B7EA8E55D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0085E-454E-6B3C-C0CA-3EE9B9BFF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6B5A4-A167-F95C-819F-28C308C7C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10335-6867-4017-A73B-B64240607648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6EDE0-4035-C2AE-2B19-E754D3A66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6CF43-EFAD-E74D-A2AA-5A12ABD6B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A3534-9DFA-4543-A968-7CE58BFBE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182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B8D44-129F-6FD5-DCA8-0504DB11F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9DF96-7C06-DF40-40E8-55CA41A32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3CEF0-D9BF-6765-0C01-D7E380DB6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10335-6867-4017-A73B-B64240607648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9907A-3F54-50EC-593B-322314DFF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97923-EA91-FE12-3703-CAF080BDF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A3534-9DFA-4543-A968-7CE58BFBE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315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5E09A-AC0F-5C0B-3804-73DCA02FE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0C221-1263-CED6-03B8-43F39A2A4B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DF6F5C-2E68-8EC1-C767-B759EC0DF3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8E548-0CF7-DFEE-075D-260181994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10335-6867-4017-A73B-B64240607648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C7409-3017-D42A-3BA7-D0CB77C2B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9CF8-B1F5-606C-EC6F-D72E7460A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A3534-9DFA-4543-A968-7CE58BFBE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348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E46F-D464-06A6-67C9-CED9BC7B6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F43F67-6640-FC05-837B-06EEC05ED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73E96-5393-B2D5-783E-423DE7771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67B5C9-A80E-C26F-E2D5-880FB0B051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F53BF6-CF3E-61B3-4FE9-6E66A1205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2A6584-1FCD-D8B8-7C64-177D84518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10335-6867-4017-A73B-B64240607648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113E40-020A-6497-35ED-1B4C116FC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4F039D-0742-EA5C-976C-DE7E5BB3E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A3534-9DFA-4543-A968-7CE58BFBE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5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900A5-25A0-B79F-4541-E5AFCC4A7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EC0E59-AC56-F213-D6BF-027AF9AED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10335-6867-4017-A73B-B64240607648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A53A5D-E912-704A-E7FD-165113C2B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D1739D-B01C-9F9E-7532-4AD694065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A3534-9DFA-4543-A968-7CE58BFBE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725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9DA0C3-100B-8342-F516-7DB9A9494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10335-6867-4017-A73B-B64240607648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AD0AC-5CA6-3873-7652-91B686281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EC407-DB11-CC06-4231-9C0EFAD30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A3534-9DFA-4543-A968-7CE58BFBE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276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8AE17-EBA8-3672-B324-1408BF719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AC10E-A5A1-821D-9252-ABDC0B8ED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7D3F63-9564-3000-D819-91CDF1E746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94FBE-C94D-FD8F-C70E-D0A966D0D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10335-6867-4017-A73B-B64240607648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A1D54-FCBC-B837-AA4E-77AA7DBC7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C7DC9-A21D-31CC-97C3-503B56D53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A3534-9DFA-4543-A968-7CE58BFBE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270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98802-764B-1ABD-42C5-36BC80F21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C34EC0-EFE6-2DE4-2E0D-D84E2621B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A01104-187F-B1DE-DC00-8C182B854B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314578-DC97-14B7-C52F-D40A39853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10335-6867-4017-A73B-B64240607648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F7B43-72AA-7643-F165-EE2BF75FF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990DDB-3C7B-9C11-1FDE-C37F7B185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A3534-9DFA-4543-A968-7CE58BFBE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180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CF758-BCE6-85DE-E0D0-9E24C29BB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24B9CF-D9EB-DE1A-1CFA-9DE4F6E55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7903C-522B-8948-8F8A-2254B350B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10335-6867-4017-A73B-B64240607648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686BA-FD7D-6C6F-6344-638C76312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5DE43-345F-C49E-7D32-F2FF63788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A3534-9DFA-4543-A968-7CE58BFBE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496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DD1222-F7D8-7220-2243-BEEF508C32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C0972-5EF0-369B-DF78-C533B9486A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4A9CC-08B3-84DB-3C32-1D4405888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10335-6867-4017-A73B-B64240607648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11364-991D-2EF6-40D0-07AF3693F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B7F69-8A5C-2803-68B5-C2256B06D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A3534-9DFA-4543-A968-7CE58BFBE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151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E3B46-B7C5-154B-E829-4A31BAF39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E4E1B-A927-AA0B-3C9F-EB8514514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8EA2A-2D7D-1840-2FF8-36F5F7EB3C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10335-6867-4017-A73B-B64240607648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A8182-9ED7-A5C8-131D-5D53373125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138AC-805F-6778-5971-9913B924E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A3534-9DFA-4543-A968-7CE58BFBE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459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aria.kiran@ucp.edu.pk" TargetMode="Externa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object 2">
            <a:extLst>
              <a:ext uri="{FF2B5EF4-FFF2-40B4-BE49-F238E27FC236}">
                <a16:creationId xmlns:a16="http://schemas.microsoft.com/office/drawing/2014/main" id="{7ACF4AEC-E7D2-A999-74F2-F727DF2522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81250" y="1316039"/>
            <a:ext cx="7200900" cy="1247775"/>
          </a:xfrm>
        </p:spPr>
        <p:txBody>
          <a:bodyPr vert="horz" lIns="0" tIns="87154" rIns="0" bIns="0" rtlCol="0" anchor="ctr">
            <a:spAutoFit/>
          </a:bodyPr>
          <a:lstStyle/>
          <a:p>
            <a:pPr marL="7938" algn="ctr">
              <a:lnSpc>
                <a:spcPts val="4863"/>
              </a:lnSpc>
              <a:spcBef>
                <a:spcPts val="688"/>
              </a:spcBef>
            </a:pPr>
            <a:r>
              <a:rPr lang="en-PK" altLang="en-PK" sz="3000" b="1" dirty="0">
                <a:cs typeface="Calibri Light" panose="020F0302020204030204" pitchFamily="34" charset="0"/>
              </a:rPr>
              <a:t>Software Construction and Development</a:t>
            </a:r>
            <a:br>
              <a:rPr lang="en-US" altLang="en-PK" sz="3000" b="1" dirty="0">
                <a:cs typeface="Calibri Light" panose="020F0302020204030204" pitchFamily="34" charset="0"/>
              </a:rPr>
            </a:br>
            <a:r>
              <a:rPr lang="en-US" altLang="en-PK" sz="1800" b="1" dirty="0">
                <a:cs typeface="Calibri Light" panose="020F0302020204030204" pitchFamily="34" charset="0"/>
              </a:rPr>
              <a:t>Exception Handling</a:t>
            </a:r>
            <a:endParaRPr lang="en-PK" altLang="en-PK" sz="21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87" name="Subtitle 2">
            <a:extLst>
              <a:ext uri="{FF2B5EF4-FFF2-40B4-BE49-F238E27FC236}">
                <a16:creationId xmlns:a16="http://schemas.microsoft.com/office/drawing/2014/main" id="{125D9625-AE77-D6B5-CAC7-79B6FFBE3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322764"/>
            <a:ext cx="5753100" cy="168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None/>
            </a:pPr>
            <a:r>
              <a:rPr lang="en-US" altLang="en-PK" sz="1600">
                <a:cs typeface="Calibri" panose="020F0502020204030204" pitchFamily="34" charset="0"/>
              </a:rPr>
              <a:t>Maria Kiran</a:t>
            </a:r>
          </a:p>
          <a:p>
            <a:pPr algn="ctr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None/>
            </a:pPr>
            <a:r>
              <a:rPr lang="en-US" altLang="en-PK" sz="1600">
                <a:solidFill>
                  <a:srgbClr val="0070C0"/>
                </a:solidFill>
                <a:cs typeface="Calibri" panose="020F0502020204030204" pitchFamily="34" charset="0"/>
                <a:hlinkClick r:id="rId2"/>
              </a:rPr>
              <a:t>Email: maria.kiran@ucp.edu.pk</a:t>
            </a:r>
            <a:endParaRPr lang="en-US" altLang="en-PK" sz="1600">
              <a:solidFill>
                <a:srgbClr val="0070C0"/>
              </a:solidFill>
              <a:cs typeface="Calibri" panose="020F0502020204030204" pitchFamily="34" charset="0"/>
            </a:endParaRPr>
          </a:p>
          <a:p>
            <a:pPr algn="ctr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None/>
            </a:pPr>
            <a:r>
              <a:rPr lang="en-US" altLang="en-PK" sz="1600" b="1">
                <a:cs typeface="Calibri" panose="020F0502020204030204" pitchFamily="34" charset="0"/>
              </a:rPr>
              <a:t>Office:</a:t>
            </a:r>
            <a:r>
              <a:rPr lang="en-US" altLang="en-PK" sz="1600">
                <a:cs typeface="Calibri" panose="020F0502020204030204" pitchFamily="34" charset="0"/>
              </a:rPr>
              <a:t> Building A, Faculty Hall F202</a:t>
            </a:r>
          </a:p>
          <a:p>
            <a:pPr algn="ctr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None/>
            </a:pPr>
            <a:r>
              <a:rPr lang="en-US" altLang="en-PK" sz="1600" b="1">
                <a:cs typeface="Calibri" panose="020F0502020204030204" pitchFamily="34" charset="0"/>
              </a:rPr>
              <a:t>OFFICE HOURS: </a:t>
            </a:r>
            <a:r>
              <a:rPr lang="en-US" altLang="en-PK" sz="1600">
                <a:cs typeface="Calibri" panose="020F0502020204030204" pitchFamily="34" charset="0"/>
              </a:rPr>
              <a:t>Tue, Wed, Thu  (9:00 to 11:00)</a:t>
            </a:r>
          </a:p>
          <a:p>
            <a:pPr algn="ctr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None/>
            </a:pPr>
            <a:endParaRPr lang="en-PK" altLang="en-PK" sz="1400"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pull dir="r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76" y="362190"/>
            <a:ext cx="11081993" cy="5971701"/>
          </a:xfrm>
        </p:spPr>
      </p:pic>
    </p:spTree>
    <p:extLst>
      <p:ext uri="{BB962C8B-B14F-4D97-AF65-F5344CB8AC3E}">
        <p14:creationId xmlns:p14="http://schemas.microsoft.com/office/powerpoint/2010/main" val="2544634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16E824-F0FC-7C9A-CBAC-B0D1199E8E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466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73" y="390293"/>
            <a:ext cx="10504450" cy="5898995"/>
          </a:xfrm>
        </p:spPr>
      </p:pic>
    </p:spTree>
    <p:extLst>
      <p:ext uri="{BB962C8B-B14F-4D97-AF65-F5344CB8AC3E}">
        <p14:creationId xmlns:p14="http://schemas.microsoft.com/office/powerpoint/2010/main" val="3422713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76" y="585216"/>
            <a:ext cx="10705170" cy="5681769"/>
          </a:xfrm>
        </p:spPr>
      </p:pic>
    </p:spTree>
    <p:extLst>
      <p:ext uri="{BB962C8B-B14F-4D97-AF65-F5344CB8AC3E}">
        <p14:creationId xmlns:p14="http://schemas.microsoft.com/office/powerpoint/2010/main" val="1248920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CEC4E-11B4-3288-90FC-0B8141F73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177596"/>
          </a:xfrm>
        </p:spPr>
        <p:txBody>
          <a:bodyPr/>
          <a:lstStyle/>
          <a:p>
            <a:r>
              <a:rPr lang="en-US" dirty="0"/>
              <a:t>Assertion &amp; Assertion Error in Java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AE7FA-7D66-6807-5AC2-054E8356B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078610"/>
            <a:ext cx="6168525" cy="402336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Assertion is a statement in java. It can be used to test your assumptions about the program.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While executing assertion, it is believed to be true. If it fails, JVM will throw an error named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AssertionError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 It is mainly used for testing purpose.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It provides an effective way to detect and correct programming errors.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D95B50-F1DF-BB8A-F127-9AF209273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505" y="1846328"/>
            <a:ext cx="3284505" cy="386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838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15" y="490654"/>
            <a:ext cx="10905892" cy="5932447"/>
          </a:xfrm>
        </p:spPr>
      </p:pic>
    </p:spTree>
    <p:extLst>
      <p:ext uri="{BB962C8B-B14F-4D97-AF65-F5344CB8AC3E}">
        <p14:creationId xmlns:p14="http://schemas.microsoft.com/office/powerpoint/2010/main" val="953665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76" y="585216"/>
            <a:ext cx="10560204" cy="5692921"/>
          </a:xfrm>
        </p:spPr>
      </p:pic>
    </p:spTree>
    <p:extLst>
      <p:ext uri="{BB962C8B-B14F-4D97-AF65-F5344CB8AC3E}">
        <p14:creationId xmlns:p14="http://schemas.microsoft.com/office/powerpoint/2010/main" val="3456974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260" y="585217"/>
            <a:ext cx="10671716" cy="5570256"/>
          </a:xfrm>
        </p:spPr>
      </p:pic>
    </p:spTree>
    <p:extLst>
      <p:ext uri="{BB962C8B-B14F-4D97-AF65-F5344CB8AC3E}">
        <p14:creationId xmlns:p14="http://schemas.microsoft.com/office/powerpoint/2010/main" val="3326198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A527-C3BC-C1E1-E5EC-12F306B44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738" y="105656"/>
            <a:ext cx="9720072" cy="1499616"/>
          </a:xfrm>
        </p:spPr>
        <p:txBody>
          <a:bodyPr/>
          <a:lstStyle/>
          <a:p>
            <a:r>
              <a:rPr lang="en-US" dirty="0"/>
              <a:t>Example of Exception 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951C2D-513B-0C0C-AFBA-C23E12533A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822" y="1352132"/>
            <a:ext cx="5052498" cy="219475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7E0A37-C1D9-0C21-28DC-275EB9B76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01" y="3734097"/>
            <a:ext cx="5137339" cy="5715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E36BAD-4437-EA7B-FD4E-999FC7A5EA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114" y="3078720"/>
            <a:ext cx="5235394" cy="24538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7CB4AC-2B71-372E-5623-3116BDE861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2522" y="5752928"/>
            <a:ext cx="6950042" cy="73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07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ACEFEB4-F8E5-1312-C228-49AA8D366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734537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Null Pointer Exception</a:t>
            </a:r>
            <a:endParaRPr lang="en-PK" b="1" dirty="0">
              <a:latin typeface="+mn-lt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3CF4A8C-733C-D6D1-8A0D-759CA16D6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876" y="2669364"/>
            <a:ext cx="4124847" cy="1750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happens?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 is null (it does not point to any object)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Calling length() on it throws a </a:t>
            </a:r>
            <a:r>
              <a:rPr kumimoji="0" lang="en-PK" altLang="en-PK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NullPointerException</a:t>
            </a:r>
            <a:endParaRPr kumimoji="0" lang="en-PK" altLang="en-PK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EF7858-FD19-3F29-384F-A49A61C6C9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7936" y="2484245"/>
            <a:ext cx="4308725" cy="2120524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84A1BA-2DA6-47D0-2267-0EA228932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184" y="2294718"/>
            <a:ext cx="3942164" cy="268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052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6449" y="570699"/>
            <a:ext cx="9720072" cy="66421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+mn-lt"/>
              </a:rPr>
              <a:t>Arithmetic Exception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CF54D78-12BC-CCD8-20CC-DCCB18274E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0743" y="1650944"/>
            <a:ext cx="4390923" cy="263228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632DAF-2E15-7AFC-F82E-561AB29191A5}"/>
              </a:ext>
            </a:extLst>
          </p:cNvPr>
          <p:cNvSpPr txBox="1"/>
          <p:nvPr/>
        </p:nvSpPr>
        <p:spPr>
          <a:xfrm>
            <a:off x="530743" y="4911613"/>
            <a:ext cx="42957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happens?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are dividing by </a:t>
            </a:r>
            <a:r>
              <a:rPr lang="en-US" b="1" dirty="0"/>
              <a:t>zero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Java throws an </a:t>
            </a:r>
            <a:r>
              <a:rPr lang="en-US" b="1" dirty="0" err="1"/>
              <a:t>ArithmeticException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64A4C7-C2F0-ED56-927E-055214A37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5598" y="2574769"/>
            <a:ext cx="4390923" cy="314425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1C6EA1A-DF5B-EEB1-E4B0-75DC74515627}"/>
              </a:ext>
            </a:extLst>
          </p:cNvPr>
          <p:cNvSpPr txBox="1"/>
          <p:nvPr/>
        </p:nvSpPr>
        <p:spPr>
          <a:xfrm>
            <a:off x="6236025" y="1779870"/>
            <a:ext cx="4590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ArithmeticException</a:t>
            </a:r>
            <a:r>
              <a:rPr lang="en-US" b="1" dirty="0"/>
              <a:t> handling using try catch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738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BDCFB-CBB9-4BC0-96BD-0DE45796F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275" y="641777"/>
            <a:ext cx="9720072" cy="875939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Number format Error</a:t>
            </a:r>
            <a:endParaRPr lang="en-PK" b="1" dirty="0">
              <a:latin typeface="+mn-lt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FDBD804-8A96-04A9-7937-BEDCE0FB27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52732" y="2433575"/>
            <a:ext cx="4611400" cy="323839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CFCBCD-63B2-438B-5038-828B31038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275" y="2552624"/>
            <a:ext cx="3614030" cy="236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153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AC067-46A0-4B7F-A246-1C868E3C1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+mn-lt"/>
              </a:rPr>
              <a:t>Exception: Arithmetic </a:t>
            </a:r>
            <a:endParaRPr lang="en-PK" b="1" dirty="0">
              <a:latin typeface="+mn-lt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0997BC3-7E65-493D-AC8A-D8A9A3E702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93" y="1560992"/>
            <a:ext cx="9231013" cy="4505954"/>
          </a:xfrm>
        </p:spPr>
      </p:pic>
    </p:spTree>
    <p:extLst>
      <p:ext uri="{BB962C8B-B14F-4D97-AF65-F5344CB8AC3E}">
        <p14:creationId xmlns:p14="http://schemas.microsoft.com/office/powerpoint/2010/main" val="2440746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238D1-71D7-4A79-AA38-806BC4F4C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5456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Array index out of bound</a:t>
            </a:r>
            <a:endParaRPr lang="en-PK" b="1" dirty="0">
              <a:latin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0215D4-EA01-5599-7C06-3D6265463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305" y="2493838"/>
            <a:ext cx="3738272" cy="22666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9AF3BE2-0692-3F71-7FC2-AC9B74297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680" y="2459097"/>
            <a:ext cx="5088730" cy="283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466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5521A-874A-4004-B8C3-BFA85D6B7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007" y="264705"/>
            <a:ext cx="9720072" cy="1499616"/>
          </a:xfrm>
        </p:spPr>
        <p:txBody>
          <a:bodyPr/>
          <a:lstStyle/>
          <a:p>
            <a:pPr algn="ctr"/>
            <a:r>
              <a:rPr lang="en-US" b="1" dirty="0"/>
              <a:t>String index out of bound</a:t>
            </a:r>
            <a:endParaRPr lang="en-PK" b="1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AD92CA9-054B-EFBE-82E0-780D458226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92425" y="2498709"/>
            <a:ext cx="5831533" cy="311966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12380A-E4DB-B872-7B1B-14D7AC491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07" y="2668740"/>
            <a:ext cx="4384050" cy="2393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4494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4D798-0B32-B3EF-388D-063C119BF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No Class Found Exception</a:t>
            </a:r>
            <a:endParaRPr lang="en-PK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44B81C-B745-7D2D-C11C-46EBD8C969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97103" y="1690688"/>
            <a:ext cx="5398897" cy="170548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ACFFB1-7990-6243-5F66-859BF32C39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606" y="3242821"/>
            <a:ext cx="5106291" cy="2877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924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8684D-C434-187A-AB27-623C8790E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I/O Exception</a:t>
            </a:r>
            <a:endParaRPr lang="en-PK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2DFC73-01A0-CBCA-000D-B01FB75E7C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328" y="2242782"/>
            <a:ext cx="4282563" cy="185787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BB47E4-0F1D-F066-7DA0-EC3FFD006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3467" y="1887772"/>
            <a:ext cx="5391052" cy="398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4969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0B0B9-F60D-EAD3-E07A-BBDE22CC4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Interrupted Exception</a:t>
            </a:r>
            <a:endParaRPr lang="en-PK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8E2C71-235D-D9B8-EB45-DBDED0EDF9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5469" y="2474468"/>
            <a:ext cx="4473676" cy="207867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8A6D37-FA24-D5DA-BA01-5F660EF69C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7450" y="2129875"/>
            <a:ext cx="4434564" cy="3130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7175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Try-catch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81" y="1824037"/>
            <a:ext cx="10560204" cy="448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444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2A10648-EC8A-F72F-F385-788BB8864F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2247339"/>
              </p:ext>
            </p:extLst>
          </p:nvPr>
        </p:nvGraphicFramePr>
        <p:xfrm>
          <a:off x="772212" y="1668544"/>
          <a:ext cx="10333503" cy="4663056"/>
        </p:xfrm>
        <a:graphic>
          <a:graphicData uri="http://schemas.openxmlformats.org/drawingml/2006/table">
            <a:tbl>
              <a:tblPr/>
              <a:tblGrid>
                <a:gridCol w="1279843">
                  <a:extLst>
                    <a:ext uri="{9D8B030D-6E8A-4147-A177-3AD203B41FA5}">
                      <a16:colId xmlns:a16="http://schemas.microsoft.com/office/drawing/2014/main" val="371038789"/>
                    </a:ext>
                  </a:extLst>
                </a:gridCol>
                <a:gridCol w="2177592">
                  <a:extLst>
                    <a:ext uri="{9D8B030D-6E8A-4147-A177-3AD203B41FA5}">
                      <a16:colId xmlns:a16="http://schemas.microsoft.com/office/drawing/2014/main" val="1863811418"/>
                    </a:ext>
                  </a:extLst>
                </a:gridCol>
                <a:gridCol w="3827283">
                  <a:extLst>
                    <a:ext uri="{9D8B030D-6E8A-4147-A177-3AD203B41FA5}">
                      <a16:colId xmlns:a16="http://schemas.microsoft.com/office/drawing/2014/main" val="2223371856"/>
                    </a:ext>
                  </a:extLst>
                </a:gridCol>
                <a:gridCol w="3048785">
                  <a:extLst>
                    <a:ext uri="{9D8B030D-6E8A-4147-A177-3AD203B41FA5}">
                      <a16:colId xmlns:a16="http://schemas.microsoft.com/office/drawing/2014/main" val="168562063"/>
                    </a:ext>
                  </a:extLst>
                </a:gridCol>
              </a:tblGrid>
              <a:tr h="525684">
                <a:tc>
                  <a:txBody>
                    <a:bodyPr/>
                    <a:lstStyle/>
                    <a:p>
                      <a:r>
                        <a:rPr lang="en-US" b="1" dirty="0">
                          <a:highlight>
                            <a:srgbClr val="FFFF00"/>
                          </a:highlight>
                        </a:rPr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highlight>
                            <a:srgbClr val="FFFF00"/>
                          </a:highlight>
                        </a:rPr>
                        <a:t>final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highlight>
                            <a:srgbClr val="FFFF00"/>
                          </a:highlight>
                        </a:rPr>
                        <a:t>finally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highlight>
                            <a:srgbClr val="FFFF00"/>
                          </a:highlight>
                        </a:rPr>
                        <a:t>finalize()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6139923"/>
                  </a:ext>
                </a:extLst>
              </a:tr>
              <a:tr h="525684">
                <a:tc>
                  <a:txBody>
                    <a:bodyPr/>
                    <a:lstStyle/>
                    <a:p>
                      <a:r>
                        <a:rPr lang="en-US" b="1">
                          <a:highlight>
                            <a:srgbClr val="FFFF00"/>
                          </a:highlight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Keyword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Block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7391902"/>
                  </a:ext>
                </a:extLst>
              </a:tr>
              <a:tr h="525684">
                <a:tc>
                  <a:txBody>
                    <a:bodyPr/>
                    <a:lstStyle/>
                    <a:p>
                      <a:r>
                        <a:rPr lang="en-US" b="1">
                          <a:highlight>
                            <a:srgbClr val="FFFF00"/>
                          </a:highlight>
                        </a:rPr>
                        <a:t>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Restrict changes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Cleanup after try-catch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Cleanup before GC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260664"/>
                  </a:ext>
                </a:extLst>
              </a:tr>
              <a:tr h="525684">
                <a:tc>
                  <a:txBody>
                    <a:bodyPr/>
                    <a:lstStyle/>
                    <a:p>
                      <a:r>
                        <a:rPr lang="en-US" b="1" dirty="0">
                          <a:highlight>
                            <a:srgbClr val="FFFF00"/>
                          </a:highlight>
                        </a:rPr>
                        <a:t>Runs when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At compile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Always after try-catch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Before object is destroyed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7453820"/>
                  </a:ext>
                </a:extLst>
              </a:tr>
              <a:tr h="525684">
                <a:tc>
                  <a:txBody>
                    <a:bodyPr/>
                    <a:lstStyle/>
                    <a:p>
                      <a:r>
                        <a:rPr lang="en-US" b="1" dirty="0">
                          <a:highlight>
                            <a:srgbClr val="FFFF00"/>
                          </a:highlight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final</a:t>
                      </a:r>
                      <a:r>
                        <a:rPr lang="es-ES" dirty="0"/>
                        <a:t> </a:t>
                      </a:r>
                      <a:r>
                        <a:rPr lang="es-ES" dirty="0" err="1"/>
                        <a:t>int</a:t>
                      </a:r>
                      <a:r>
                        <a:rPr lang="es-ES" dirty="0"/>
                        <a:t> x = 10;</a:t>
                      </a:r>
                      <a:br>
                        <a:rPr lang="es-ES" dirty="0"/>
                      </a:br>
                      <a:r>
                        <a:rPr lang="es-ES" dirty="0"/>
                        <a:t>// x = 20; ❌ error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try {</a:t>
                      </a:r>
                      <a:br>
                        <a:rPr lang="en-US" dirty="0"/>
                      </a:br>
                      <a:r>
                        <a:rPr lang="en-US" dirty="0"/>
                        <a:t>int a = 10 / 0;</a:t>
                      </a:r>
                      <a:br>
                        <a:rPr lang="en-US" dirty="0"/>
                      </a:br>
                      <a:r>
                        <a:rPr lang="en-US" dirty="0"/>
                        <a:t>} </a:t>
                      </a:r>
                    </a:p>
                    <a:p>
                      <a:r>
                        <a:rPr lang="en-US" dirty="0"/>
                        <a:t>catch (</a:t>
                      </a:r>
                      <a:r>
                        <a:rPr lang="en-US" dirty="0" err="1"/>
                        <a:t>ArithmeticException</a:t>
                      </a:r>
                      <a:r>
                        <a:rPr lang="en-US" dirty="0"/>
                        <a:t> e) {</a:t>
                      </a:r>
                      <a:br>
                        <a:rPr lang="en-US" dirty="0"/>
                      </a:br>
                      <a:r>
                        <a:rPr lang="en-US" dirty="0" err="1"/>
                        <a:t>System.out.println</a:t>
                      </a:r>
                      <a:r>
                        <a:rPr lang="en-US" dirty="0"/>
                        <a:t>("Error");</a:t>
                      </a:r>
                      <a:br>
                        <a:rPr lang="en-US" dirty="0"/>
                      </a:br>
                      <a:r>
                        <a:rPr lang="en-US" dirty="0"/>
                        <a:t>} </a:t>
                      </a:r>
                    </a:p>
                    <a:p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finally</a:t>
                      </a:r>
                      <a:r>
                        <a:rPr lang="en-US" dirty="0"/>
                        <a:t> {</a:t>
                      </a:r>
                      <a:br>
                        <a:rPr lang="en-US" dirty="0"/>
                      </a:br>
                      <a:r>
                        <a:rPr lang="en-US" dirty="0" err="1"/>
                        <a:t>System.out.println</a:t>
                      </a:r>
                      <a:r>
                        <a:rPr lang="en-US" dirty="0"/>
                        <a:t>("Always runs");</a:t>
                      </a:r>
                      <a:br>
                        <a:rPr lang="en-US" dirty="0"/>
                      </a:br>
                      <a:r>
                        <a:rPr lang="en-US" dirty="0"/>
                        <a:t>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 Test {</a:t>
                      </a:r>
                      <a:br>
                        <a:rPr lang="en-US" dirty="0"/>
                      </a:br>
                      <a:r>
                        <a:rPr lang="en-US" dirty="0"/>
                        <a:t>protected void </a:t>
                      </a:r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finalize</a:t>
                      </a:r>
                      <a:r>
                        <a:rPr lang="en-US" dirty="0"/>
                        <a:t>() {</a:t>
                      </a:r>
                      <a:br>
                        <a:rPr lang="en-US" dirty="0"/>
                      </a:br>
                      <a:r>
                        <a:rPr lang="en-US" dirty="0" err="1"/>
                        <a:t>System.out.println</a:t>
                      </a:r>
                      <a:r>
                        <a:rPr lang="en-US" dirty="0"/>
                        <a:t>("Object destroyed");</a:t>
                      </a:r>
                      <a:br>
                        <a:rPr lang="en-US" dirty="0"/>
                      </a:br>
                      <a:r>
                        <a:rPr lang="en-US" dirty="0"/>
                        <a:t>}</a:t>
                      </a:r>
                      <a:br>
                        <a:rPr lang="en-US" dirty="0"/>
                      </a:br>
                      <a:r>
                        <a:rPr lang="en-US" dirty="0"/>
                        <a:t>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060267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0E8796A-2B93-681F-1D17-7C729D869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126" y="800720"/>
            <a:ext cx="3711262" cy="48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7660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Throw vs Throws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ECCDCCD-6C6B-2AA1-6E8A-AC2632A341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9116137"/>
              </p:ext>
            </p:extLst>
          </p:nvPr>
        </p:nvGraphicFramePr>
        <p:xfrm>
          <a:off x="706224" y="1028080"/>
          <a:ext cx="10515600" cy="4968240"/>
        </p:xfrm>
        <a:graphic>
          <a:graphicData uri="http://schemas.openxmlformats.org/drawingml/2006/table">
            <a:tbl>
              <a:tblPr/>
              <a:tblGrid>
                <a:gridCol w="1829586">
                  <a:extLst>
                    <a:ext uri="{9D8B030D-6E8A-4147-A177-3AD203B41FA5}">
                      <a16:colId xmlns:a16="http://schemas.microsoft.com/office/drawing/2014/main" val="3101465301"/>
                    </a:ext>
                  </a:extLst>
                </a:gridCol>
                <a:gridCol w="4251489">
                  <a:extLst>
                    <a:ext uri="{9D8B030D-6E8A-4147-A177-3AD203B41FA5}">
                      <a16:colId xmlns:a16="http://schemas.microsoft.com/office/drawing/2014/main" val="805974572"/>
                    </a:ext>
                  </a:extLst>
                </a:gridCol>
                <a:gridCol w="4434525">
                  <a:extLst>
                    <a:ext uri="{9D8B030D-6E8A-4147-A177-3AD203B41FA5}">
                      <a16:colId xmlns:a16="http://schemas.microsoft.com/office/drawing/2014/main" val="25120397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highlight>
                            <a:srgbClr val="FFFF00"/>
                          </a:highlight>
                        </a:rPr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highlight>
                            <a:srgbClr val="FFFF00"/>
                          </a:highlight>
                        </a:rPr>
                        <a:t>throw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highlight>
                            <a:srgbClr val="FFFF00"/>
                          </a:highlight>
                        </a:rPr>
                        <a:t>throws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8669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highlight>
                            <a:srgbClr val="FFFF00"/>
                          </a:highlight>
                        </a:rPr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To actually throw an exception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declare an exception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8217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highlight>
                            <a:srgbClr val="FFFF00"/>
                          </a:highlight>
                        </a:rPr>
                        <a:t>Usage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Inside method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method signature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6696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highlight>
                            <a:srgbClr val="FFFF00"/>
                          </a:highlight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Single exception object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One or multiple exceptions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6660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highlight>
                            <a:srgbClr val="FFFF00"/>
                          </a:highlight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public class </a:t>
                      </a:r>
                      <a:r>
                        <a:rPr lang="en-US" sz="1600" dirty="0" err="1"/>
                        <a:t>ThrowExample</a:t>
                      </a:r>
                      <a:r>
                        <a:rPr lang="en-US" sz="1600" dirty="0"/>
                        <a:t> {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public static void main(String[] </a:t>
                      </a:r>
                      <a:r>
                        <a:rPr lang="en-US" sz="1600" dirty="0" err="1"/>
                        <a:t>args</a:t>
                      </a:r>
                      <a:r>
                        <a:rPr lang="en-US" sz="1600" dirty="0"/>
                        <a:t>) {</a:t>
                      </a:r>
                      <a:br>
                        <a:rPr lang="en-US" sz="1600" dirty="0"/>
                      </a:br>
                      <a:br>
                        <a:rPr lang="en-US" sz="1600" dirty="0"/>
                      </a:br>
                      <a:r>
                        <a:rPr lang="en-US" sz="1600" dirty="0"/>
                        <a:t>int age = 16;</a:t>
                      </a:r>
                      <a:br>
                        <a:rPr lang="en-US" sz="1600" dirty="0"/>
                      </a:br>
                      <a:br>
                        <a:rPr lang="en-US" sz="1600" dirty="0"/>
                      </a:br>
                      <a:r>
                        <a:rPr lang="en-US" sz="1600" dirty="0"/>
                        <a:t>if (age &lt; 18) {</a:t>
                      </a:r>
                      <a:br>
                        <a:rPr lang="en-US" sz="1600" dirty="0"/>
                      </a:br>
                      <a:r>
                        <a:rPr lang="en-US" sz="16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throw</a:t>
                      </a:r>
                      <a:r>
                        <a:rPr lang="en-US" sz="1600" dirty="0"/>
                        <a:t> new </a:t>
                      </a:r>
                      <a:r>
                        <a:rPr lang="en-US" sz="1600" dirty="0" err="1"/>
                        <a:t>ArithmeticException</a:t>
                      </a:r>
                      <a:r>
                        <a:rPr lang="en-US" sz="1600" dirty="0"/>
                        <a:t>("Not eligible");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}</a:t>
                      </a:r>
                      <a:br>
                        <a:rPr lang="en-US" sz="1600" dirty="0"/>
                      </a:br>
                      <a:br>
                        <a:rPr lang="en-US" sz="1600" dirty="0"/>
                      </a:br>
                      <a:r>
                        <a:rPr lang="en-US" sz="1600" dirty="0" err="1"/>
                        <a:t>System.out.println</a:t>
                      </a:r>
                      <a:r>
                        <a:rPr lang="en-US" sz="1600" dirty="0"/>
                        <a:t>("Eligible");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}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public class </a:t>
                      </a:r>
                      <a:r>
                        <a:rPr lang="en-US" sz="1600" dirty="0" err="1"/>
                        <a:t>ThrowsExample</a:t>
                      </a:r>
                      <a:r>
                        <a:rPr lang="en-US" sz="1600" dirty="0"/>
                        <a:t> {</a:t>
                      </a:r>
                      <a:br>
                        <a:rPr lang="en-US" sz="1600" dirty="0"/>
                      </a:br>
                      <a:br>
                        <a:rPr lang="en-US" sz="1600" dirty="0"/>
                      </a:br>
                      <a:r>
                        <a:rPr lang="en-US" sz="1600" dirty="0"/>
                        <a:t>static void check() </a:t>
                      </a:r>
                      <a:r>
                        <a:rPr lang="en-US" sz="16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throws</a:t>
                      </a:r>
                      <a:r>
                        <a:rPr lang="en-US" sz="1600" dirty="0"/>
                        <a:t> Exception {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       throw new Exception("Error occurred");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}</a:t>
                      </a:r>
                      <a:br>
                        <a:rPr lang="en-US" sz="1600" dirty="0"/>
                      </a:br>
                      <a:br>
                        <a:rPr lang="en-US" sz="1600" dirty="0"/>
                      </a:br>
                      <a:r>
                        <a:rPr lang="en-US" sz="1600" dirty="0"/>
                        <a:t>public static void main(String[] </a:t>
                      </a:r>
                      <a:r>
                        <a:rPr lang="en-US" sz="1600" dirty="0" err="1"/>
                        <a:t>args</a:t>
                      </a:r>
                      <a:r>
                        <a:rPr lang="en-US" sz="1600" dirty="0"/>
                        <a:t>) {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try {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        check();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       } catch (Exception e) {</a:t>
                      </a:r>
                      <a:br>
                        <a:rPr lang="en-US" sz="1600" dirty="0"/>
                      </a:br>
                      <a:r>
                        <a:rPr lang="en-US" sz="1600" dirty="0" err="1"/>
                        <a:t>System.out.println</a:t>
                      </a:r>
                      <a:r>
                        <a:rPr lang="en-US" sz="1600" dirty="0"/>
                        <a:t>(</a:t>
                      </a:r>
                      <a:r>
                        <a:rPr lang="en-US" sz="1600" dirty="0" err="1"/>
                        <a:t>e.getMessage</a:t>
                      </a:r>
                      <a:r>
                        <a:rPr lang="en-US" sz="1600" dirty="0"/>
                        <a:t>());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}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}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3668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46729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7F5FF-D2CF-4128-B0C6-4D9B92A09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Introduction to Logging</a:t>
            </a:r>
            <a:endParaRPr lang="en-P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4A27D-6601-CC3F-7474-EEEBF0F1B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Logging?</a:t>
            </a:r>
          </a:p>
          <a:p>
            <a:pPr lvl="1"/>
            <a:r>
              <a:rPr lang="en-US" dirty="0"/>
              <a:t>Logging means </a:t>
            </a:r>
            <a:r>
              <a:rPr lang="en-US" b="1" dirty="0"/>
              <a:t>recording program activities/messages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track: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Errors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System behavior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Debugging info </a:t>
            </a:r>
          </a:p>
          <a:p>
            <a:r>
              <a:rPr lang="en-US" b="1" dirty="0"/>
              <a:t> Example</a:t>
            </a:r>
          </a:p>
          <a:p>
            <a:pPr marL="457200" lvl="1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("Program started");</a:t>
            </a:r>
          </a:p>
          <a:p>
            <a:pPr marL="457200" lvl="1" indent="0">
              <a:buNone/>
            </a:pPr>
            <a:r>
              <a:rPr lang="en-US" dirty="0"/>
              <a:t>❌ Not recommended for real applications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9383517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AB96F-1D3F-46A0-1889-20F9FF188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Logging is Important?</a:t>
            </a:r>
            <a:endParaRPr lang="en-P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F0B14-E974-AF32-58B3-5C78CB6A6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PK" b="1" dirty="0"/>
              <a:t> </a:t>
            </a:r>
            <a:r>
              <a:rPr lang="en-US" b="1" dirty="0"/>
              <a:t>Problems with </a:t>
            </a:r>
            <a:r>
              <a:rPr lang="en-US" b="1" dirty="0" err="1"/>
              <a:t>System.out.println</a:t>
            </a:r>
            <a:r>
              <a:rPr lang="en-US" b="1" dirty="0"/>
              <a:t>()</a:t>
            </a:r>
          </a:p>
          <a:p>
            <a:pPr lvl="1"/>
            <a:r>
              <a:rPr lang="en-US" dirty="0"/>
              <a:t>No control over output </a:t>
            </a:r>
          </a:p>
          <a:p>
            <a:pPr lvl="1"/>
            <a:r>
              <a:rPr lang="en-US" dirty="0"/>
              <a:t>Cannot manage levels </a:t>
            </a:r>
          </a:p>
          <a:p>
            <a:pPr lvl="1"/>
            <a:r>
              <a:rPr lang="en-US" dirty="0"/>
              <a:t>Not suitable for large systems </a:t>
            </a:r>
          </a:p>
          <a:p>
            <a:r>
              <a:rPr lang="en-US" b="1" dirty="0"/>
              <a:t>Benefits of Logging</a:t>
            </a:r>
          </a:p>
          <a:p>
            <a:pPr lvl="1"/>
            <a:r>
              <a:rPr lang="en-US" dirty="0"/>
              <a:t>Different log levels (INFO, ERROR, etc.) </a:t>
            </a:r>
          </a:p>
          <a:p>
            <a:pPr lvl="1"/>
            <a:r>
              <a:rPr lang="en-US" dirty="0"/>
              <a:t>Can save logs in files </a:t>
            </a:r>
          </a:p>
          <a:p>
            <a:pPr lvl="1"/>
            <a:r>
              <a:rPr lang="en-US" dirty="0"/>
              <a:t>Helps in debugging &amp; maintenance </a:t>
            </a:r>
          </a:p>
          <a:p>
            <a:pPr lvl="1"/>
            <a:r>
              <a:rPr lang="en-US" dirty="0"/>
              <a:t>Used in real-world applications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9613062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F7DA7-55DF-6A43-E7B7-20036773F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SLF4J?</a:t>
            </a:r>
            <a:endParaRPr lang="en-P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C6F79-DC70-8B52-69E6-33481BE76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SLF4J (Simple Logging Facade for Java)</a:t>
            </a:r>
            <a:r>
              <a:rPr lang="en-US" dirty="0"/>
              <a:t> is a </a:t>
            </a:r>
            <a:r>
              <a:rPr lang="en-US" b="1" dirty="0"/>
              <a:t>logging interface</a:t>
            </a:r>
            <a:endParaRPr lang="en-US" dirty="0"/>
          </a:p>
          <a:p>
            <a:pPr lvl="1"/>
            <a:r>
              <a:rPr lang="en-US" dirty="0"/>
              <a:t>It provides a </a:t>
            </a:r>
            <a:r>
              <a:rPr lang="en-US" b="1" dirty="0"/>
              <a:t>standard way to log messages</a:t>
            </a:r>
            <a:endParaRPr lang="en-US" dirty="0"/>
          </a:p>
          <a:p>
            <a:r>
              <a:rPr lang="en-PK" b="1" dirty="0"/>
              <a:t> </a:t>
            </a:r>
            <a:r>
              <a:rPr lang="en-US" b="1" dirty="0"/>
              <a:t>Important Point</a:t>
            </a:r>
          </a:p>
          <a:p>
            <a:pPr lvl="1"/>
            <a:r>
              <a:rPr lang="en-US" dirty="0"/>
              <a:t>SLF4J </a:t>
            </a:r>
            <a:r>
              <a:rPr lang="en-US" b="1" dirty="0"/>
              <a:t>does not log itself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It works with backends like: </a:t>
            </a:r>
          </a:p>
          <a:p>
            <a:pPr marL="1200150" lvl="2" indent="-285750"/>
            <a:r>
              <a:rPr lang="en-US" dirty="0" err="1"/>
              <a:t>Logback</a:t>
            </a:r>
            <a:r>
              <a:rPr lang="en-US" dirty="0"/>
              <a:t> </a:t>
            </a:r>
          </a:p>
          <a:p>
            <a:pPr marL="1200150" lvl="2" indent="-285750"/>
            <a:r>
              <a:rPr lang="en-US" dirty="0"/>
              <a:t>Log4j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033614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8ED2C-47FE-4D8C-339D-4B7962D2B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Log Levels in SLF4J</a:t>
            </a:r>
            <a:endParaRPr lang="en-PK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8D918EC-CD25-1C17-9EF9-1154F10AFF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9739711"/>
              </p:ext>
            </p:extLst>
          </p:nvPr>
        </p:nvGraphicFramePr>
        <p:xfrm>
          <a:off x="1715678" y="2237452"/>
          <a:ext cx="9308184" cy="2194560"/>
        </p:xfrm>
        <a:graphic>
          <a:graphicData uri="http://schemas.openxmlformats.org/drawingml/2006/table">
            <a:tbl>
              <a:tblPr/>
              <a:tblGrid>
                <a:gridCol w="2950590">
                  <a:extLst>
                    <a:ext uri="{9D8B030D-6E8A-4147-A177-3AD203B41FA5}">
                      <a16:colId xmlns:a16="http://schemas.microsoft.com/office/drawing/2014/main" val="599236624"/>
                    </a:ext>
                  </a:extLst>
                </a:gridCol>
                <a:gridCol w="6357594">
                  <a:extLst>
                    <a:ext uri="{9D8B030D-6E8A-4147-A177-3AD203B41FA5}">
                      <a16:colId xmlns:a16="http://schemas.microsoft.com/office/drawing/2014/main" val="1572840586"/>
                    </a:ext>
                  </a:extLst>
                </a:gridCol>
              </a:tblGrid>
              <a:tr h="354526">
                <a:tc>
                  <a:txBody>
                    <a:bodyPr/>
                    <a:lstStyle/>
                    <a:p>
                      <a:r>
                        <a:rPr lang="en-US" b="1" dirty="0">
                          <a:highlight>
                            <a:srgbClr val="FFFF00"/>
                          </a:highlight>
                        </a:rPr>
                        <a:t>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highlight>
                            <a:srgbClr val="FFFF00"/>
                          </a:highlight>
                        </a:rPr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0697731"/>
                  </a:ext>
                </a:extLst>
              </a:tr>
              <a:tr h="354526">
                <a:tc>
                  <a:txBody>
                    <a:bodyPr/>
                    <a:lstStyle/>
                    <a:p>
                      <a:r>
                        <a:rPr lang="en-US"/>
                        <a:t>TRACE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Detailed debugging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2509265"/>
                  </a:ext>
                </a:extLst>
              </a:tr>
              <a:tr h="354526">
                <a:tc>
                  <a:txBody>
                    <a:bodyPr/>
                    <a:lstStyle/>
                    <a:p>
                      <a:r>
                        <a:rPr lang="en-US"/>
                        <a:t>DEBUG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Developer debugging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8558813"/>
                  </a:ext>
                </a:extLst>
              </a:tr>
              <a:tr h="354526">
                <a:tc>
                  <a:txBody>
                    <a:bodyPr/>
                    <a:lstStyle/>
                    <a:p>
                      <a:r>
                        <a:rPr lang="en-US"/>
                        <a:t>INFO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General information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6001806"/>
                  </a:ext>
                </a:extLst>
              </a:tr>
              <a:tr h="354526">
                <a:tc>
                  <a:txBody>
                    <a:bodyPr/>
                    <a:lstStyle/>
                    <a:p>
                      <a:r>
                        <a:rPr lang="en-US"/>
                        <a:t>WARN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Warning message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1778503"/>
                  </a:ext>
                </a:extLst>
              </a:tr>
              <a:tr h="354526">
                <a:tc>
                  <a:txBody>
                    <a:bodyPr/>
                    <a:lstStyle/>
                    <a:p>
                      <a:r>
                        <a:rPr lang="en-US"/>
                        <a:t>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Serious issue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4979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16045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ADC34-D1D4-ECD6-4FBC-698DB5848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308"/>
            <a:ext cx="10515600" cy="1325563"/>
          </a:xfrm>
        </p:spPr>
        <p:txBody>
          <a:bodyPr/>
          <a:lstStyle/>
          <a:p>
            <a:r>
              <a:rPr lang="en-US" b="1" dirty="0"/>
              <a:t>Log Levels in SLF4J (Code Example)</a:t>
            </a:r>
            <a:endParaRPr lang="en-PK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7EB6A3-B6B5-1120-E642-99DCC61FF2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55565" y="1316746"/>
            <a:ext cx="3829938" cy="5017929"/>
          </a:xfrm>
        </p:spPr>
      </p:pic>
    </p:spTree>
    <p:extLst>
      <p:ext uri="{BB962C8B-B14F-4D97-AF65-F5344CB8AC3E}">
        <p14:creationId xmlns:p14="http://schemas.microsoft.com/office/powerpoint/2010/main" val="21504105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9E2C4-A651-1D8B-FD30-A6E9B3616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SLF4J Setup in Eclipse (Step-by-Step Guide)</a:t>
            </a:r>
            <a:endParaRPr lang="en-PK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3C864B2-8EC0-2878-47A9-29A5D8C2A5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3932" y="1798410"/>
            <a:ext cx="3903482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1: Download Required JAR Files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Download these two files: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PK" altLang="en-PK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slf4j-api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PK" altLang="en-PK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slf4j-simple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(this is the logging backend)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 files: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slf4j-api-2.x.jar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slf4j-simple-2.x.jar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488A4AD-4CD5-27A0-E871-98BBDAF87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32" y="4125335"/>
            <a:ext cx="411245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2: Create Java Project in Eclipse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 Eclipse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 to </a:t>
            </a:r>
            <a:r>
              <a:rPr kumimoji="0" lang="en-PK" altLang="en-PK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File → New → Java Project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Enter project name (e.g., </a:t>
            </a:r>
            <a:r>
              <a:rPr kumimoji="0" lang="en-PK" altLang="en-PK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LoggingDemo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Click </a:t>
            </a:r>
            <a:r>
              <a:rPr kumimoji="0" lang="en-PK" altLang="en-PK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Finish</a:t>
            </a:r>
            <a:endParaRPr kumimoji="0" lang="en-PK" altLang="en-P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8ECA06-1F77-6330-CBBA-6B46CE6753D5}"/>
              </a:ext>
            </a:extLst>
          </p:cNvPr>
          <p:cNvSpPr txBox="1"/>
          <p:nvPr/>
        </p:nvSpPr>
        <p:spPr>
          <a:xfrm>
            <a:off x="5981308" y="1809335"/>
            <a:ext cx="640080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Add JAR Files to Project</a:t>
            </a:r>
          </a:p>
          <a:p>
            <a:pPr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Right-click on your project </a:t>
            </a:r>
          </a:p>
          <a:p>
            <a:pPr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Path → Configure Build Path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 to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tab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External JARs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both downloaded JAR files </a:t>
            </a:r>
          </a:p>
          <a:p>
            <a:pPr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and Close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8AAEAF73-6FDE-3EDA-8CF8-11AD2D842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1308" y="4125335"/>
            <a:ext cx="600958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4: Create Java Class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Right-click on </a:t>
            </a:r>
            <a:r>
              <a:rPr kumimoji="0" lang="en-PK" altLang="en-PK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Click </a:t>
            </a:r>
            <a:r>
              <a:rPr kumimoji="0" lang="en-PK" altLang="en-PK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 → Class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 it </a:t>
            </a:r>
            <a:r>
              <a:rPr kumimoji="0" lang="en-PK" altLang="en-PK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LogExample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Click </a:t>
            </a:r>
            <a:r>
              <a:rPr kumimoji="0" lang="en-PK" altLang="en-PK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Finish</a:t>
            </a:r>
            <a:endParaRPr kumimoji="0" lang="en-PK" altLang="en-P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251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</TotalTime>
  <Words>820</Words>
  <Application>Microsoft Office PowerPoint</Application>
  <PresentationFormat>Widescreen</PresentationFormat>
  <Paragraphs>143</Paragraphs>
  <Slides>28</Slides>
  <Notes>3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Calibri Light</vt:lpstr>
      <vt:lpstr>inter-regular</vt:lpstr>
      <vt:lpstr>Times New Roman</vt:lpstr>
      <vt:lpstr>Wingdings</vt:lpstr>
      <vt:lpstr>Office Theme</vt:lpstr>
      <vt:lpstr>Software Construction and Development Exception Handling</vt:lpstr>
      <vt:lpstr>PowerPoint Presentation</vt:lpstr>
      <vt:lpstr>PowerPoint Presentation</vt:lpstr>
      <vt:lpstr>PowerPoint Presentation</vt:lpstr>
      <vt:lpstr>PowerPoint Presentation</vt:lpstr>
      <vt:lpstr>Assertion &amp; Assertion Error in Java</vt:lpstr>
      <vt:lpstr>PowerPoint Presentation</vt:lpstr>
      <vt:lpstr>PowerPoint Presentation</vt:lpstr>
      <vt:lpstr>PowerPoint Presentation</vt:lpstr>
      <vt:lpstr>Example of Exception </vt:lpstr>
      <vt:lpstr>Null Pointer Exception</vt:lpstr>
      <vt:lpstr>Arithmetic Exception</vt:lpstr>
      <vt:lpstr>Number format Error</vt:lpstr>
      <vt:lpstr>Exception: Arithmetic </vt:lpstr>
      <vt:lpstr>Array index out of bound</vt:lpstr>
      <vt:lpstr>String index out of bound</vt:lpstr>
      <vt:lpstr>No Class Found Exception</vt:lpstr>
      <vt:lpstr>I/O Exception</vt:lpstr>
      <vt:lpstr>Interrupted Exception</vt:lpstr>
      <vt:lpstr>Try-catch</vt:lpstr>
      <vt:lpstr>PowerPoint Presentation</vt:lpstr>
      <vt:lpstr>Throw vs Throws</vt:lpstr>
      <vt:lpstr>Introduction to Logging</vt:lpstr>
      <vt:lpstr>Why Logging is Important?</vt:lpstr>
      <vt:lpstr>What is SLF4J?</vt:lpstr>
      <vt:lpstr>Log Levels in SLF4J</vt:lpstr>
      <vt:lpstr>Log Levels in SLF4J (Code Example)</vt:lpstr>
      <vt:lpstr>SLF4J Setup in Eclipse (Step-by-Step Guide)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Asis</dc:creator>
  <cp:lastModifiedBy>Hafiza Maria Kiran</cp:lastModifiedBy>
  <cp:revision>68</cp:revision>
  <dcterms:created xsi:type="dcterms:W3CDTF">2022-04-22T08:54:06Z</dcterms:created>
  <dcterms:modified xsi:type="dcterms:W3CDTF">2026-05-08T05:17:39Z</dcterms:modified>
</cp:coreProperties>
</file>