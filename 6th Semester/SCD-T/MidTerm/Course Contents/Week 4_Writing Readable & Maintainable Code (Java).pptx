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83" r:id="rId11"/>
    <p:sldId id="284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85" r:id="rId21"/>
    <p:sldId id="278" r:id="rId22"/>
    <p:sldId id="286" r:id="rId23"/>
    <p:sldId id="287" r:id="rId24"/>
    <p:sldId id="279" r:id="rId25"/>
    <p:sldId id="28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3200" dirty="0"/>
              <a:t>Writing Readable &amp; Maintainable Code (Java)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0F1D0EF-AD09-1503-0DB4-31C92B9880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Reference: Text Book Clean Code</a:t>
            </a:r>
            <a:endParaRPr lang="en-PK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Understand </a:t>
            </a:r>
            <a:r>
              <a:rPr lang="en-US" sz="2800" dirty="0"/>
              <a:t>the </a:t>
            </a:r>
            <a:r>
              <a:rPr sz="2800" dirty="0"/>
              <a:t>philosophy of Clean Code</a:t>
            </a:r>
          </a:p>
          <a:p>
            <a:pPr lvl="1"/>
            <a:r>
              <a:rPr sz="2400" dirty="0"/>
              <a:t>Write intention-revealing names</a:t>
            </a:r>
          </a:p>
          <a:p>
            <a:pPr lvl="1"/>
            <a:r>
              <a:rPr sz="2400" dirty="0"/>
              <a:t>Design small, focused functions</a:t>
            </a:r>
          </a:p>
          <a:p>
            <a:pPr lvl="1"/>
            <a:r>
              <a:rPr sz="2400" dirty="0"/>
              <a:t>Write meaningful comments</a:t>
            </a:r>
          </a:p>
          <a:p>
            <a:pPr lvl="1"/>
            <a:r>
              <a:rPr sz="2400" dirty="0"/>
              <a:t>Perform structured code reviews</a:t>
            </a:r>
          </a:p>
          <a:p>
            <a:pPr lvl="1"/>
            <a:r>
              <a:rPr sz="2400" dirty="0"/>
              <a:t>Refactor bad code into clean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The Cost of Bad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Technical debt slows development</a:t>
            </a:r>
          </a:p>
          <a:p>
            <a:pPr lvl="1"/>
            <a:r>
              <a:rPr sz="2400" dirty="0"/>
              <a:t>Quick fixes accumulate complexity</a:t>
            </a:r>
          </a:p>
          <a:p>
            <a:pPr lvl="1"/>
            <a:r>
              <a:rPr sz="2400" dirty="0"/>
              <a:t>Messy code increases bug probability</a:t>
            </a:r>
          </a:p>
          <a:p>
            <a:pPr lvl="1"/>
            <a:r>
              <a:rPr sz="2400" dirty="0"/>
              <a:t>Maintenance cost &gt; Development cost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B0C76C-A43E-862B-20BD-7906A99A0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101" y="5150385"/>
            <a:ext cx="6149873" cy="115834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C97DAE4-BA27-53B4-D50C-EA8C456CC31C}"/>
              </a:ext>
            </a:extLst>
          </p:cNvPr>
          <p:cNvSpPr txBox="1">
            <a:spLocks/>
          </p:cNvSpPr>
          <p:nvPr/>
        </p:nvSpPr>
        <p:spPr>
          <a:xfrm>
            <a:off x="0" y="394098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+mn-lt"/>
              </a:rPr>
              <a:t>    Clean Code Mindset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+mn-lt"/>
              </a:rPr>
              <a:t>Clean Code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800" dirty="0"/>
              <a:t>Readable and simple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sz="2800" dirty="0"/>
              <a:t>Focused and minimal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sz="2800" dirty="0"/>
              <a:t>No duplication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sz="2800" dirty="0"/>
              <a:t>Clear intent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sz="2800" dirty="0"/>
              <a:t>Testable and maintainable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22203-B9BC-1746-8B8A-273646EF8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775" y="2354345"/>
            <a:ext cx="4438455" cy="21493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800" b="1" dirty="0">
                <a:latin typeface="+mn-lt"/>
              </a:rPr>
              <a:t>Bad Code Example – Hard to Understand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0263"/>
            <a:ext cx="8229600" cy="2057400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public void p(int t){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if(t==1){</a:t>
            </a:r>
            <a:r>
              <a:rPr sz="2000" dirty="0" err="1">
                <a:latin typeface="Consolas" panose="020B0609020204030204" pitchFamily="49" charset="0"/>
              </a:rPr>
              <a:t>System.out.println</a:t>
            </a:r>
            <a:r>
              <a:rPr sz="2000" dirty="0">
                <a:latin typeface="Consolas" panose="020B0609020204030204" pitchFamily="49" charset="0"/>
              </a:rPr>
              <a:t>("Approved");}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else{</a:t>
            </a:r>
            <a:r>
              <a:rPr sz="2000" dirty="0" err="1">
                <a:latin typeface="Consolas" panose="020B0609020204030204" pitchFamily="49" charset="0"/>
              </a:rPr>
              <a:t>System.out.println</a:t>
            </a:r>
            <a:r>
              <a:rPr sz="2000" dirty="0">
                <a:latin typeface="Consolas" panose="020B0609020204030204" pitchFamily="49" charset="0"/>
              </a:rPr>
              <a:t>("Rejected");}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EF90FC-C77F-01C1-243A-76642E70B029}"/>
              </a:ext>
            </a:extLst>
          </p:cNvPr>
          <p:cNvSpPr txBox="1">
            <a:spLocks/>
          </p:cNvSpPr>
          <p:nvPr/>
        </p:nvSpPr>
        <p:spPr>
          <a:xfrm>
            <a:off x="128833" y="303826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+mn-lt"/>
              </a:rPr>
              <a:t>Refactored Version – Clear Intent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EF2372-D30A-6BD5-6B5C-EEEB59B540E6}"/>
              </a:ext>
            </a:extLst>
          </p:cNvPr>
          <p:cNvSpPr txBox="1">
            <a:spLocks/>
          </p:cNvSpPr>
          <p:nvPr/>
        </p:nvSpPr>
        <p:spPr>
          <a:xfrm>
            <a:off x="457200" y="3910325"/>
            <a:ext cx="8229600" cy="294767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public void </a:t>
            </a:r>
            <a:r>
              <a:rPr lang="en-US" sz="2000" dirty="0" err="1">
                <a:latin typeface="Consolas" panose="020B0609020204030204" pitchFamily="49" charset="0"/>
              </a:rPr>
              <a:t>printApplicationStatus</a:t>
            </a:r>
            <a:r>
              <a:rPr lang="en-US" sz="2000" dirty="0">
                <a:latin typeface="Consolas" panose="020B0609020204030204" pitchFamily="49" charset="0"/>
              </a:rPr>
              <a:t>(int </a:t>
            </a:r>
            <a:r>
              <a:rPr lang="en-US" sz="2000" dirty="0" err="1">
                <a:latin typeface="Consolas" panose="020B0609020204030204" pitchFamily="49" charset="0"/>
              </a:rPr>
              <a:t>statusCode</a:t>
            </a:r>
            <a:r>
              <a:rPr lang="en-US" sz="2000" dirty="0"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  if (</a:t>
            </a:r>
            <a:r>
              <a:rPr lang="en-US" sz="2000" dirty="0" err="1">
                <a:latin typeface="Consolas" panose="020B0609020204030204" pitchFamily="49" charset="0"/>
              </a:rPr>
              <a:t>statusCode</a:t>
            </a:r>
            <a:r>
              <a:rPr lang="en-US" sz="2000" dirty="0">
                <a:latin typeface="Consolas" panose="020B0609020204030204" pitchFamily="49" charset="0"/>
              </a:rPr>
              <a:t> == APPROVED) {</a:t>
            </a:r>
          </a:p>
          <a:p>
            <a:pPr marL="0" indent="0">
              <a:lnSpc>
                <a:spcPct val="110000"/>
              </a:lnSpc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System.out.println</a:t>
            </a:r>
            <a:r>
              <a:rPr lang="en-US" sz="2000" dirty="0">
                <a:latin typeface="Consolas" panose="020B0609020204030204" pitchFamily="49" charset="0"/>
              </a:rPr>
              <a:t>("Approved");</a:t>
            </a:r>
          </a:p>
          <a:p>
            <a:pPr marL="0" indent="0">
              <a:lnSpc>
                <a:spcPct val="110000"/>
              </a:lnSpc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  } else {</a:t>
            </a:r>
          </a:p>
          <a:p>
            <a:pPr marL="0" indent="0">
              <a:lnSpc>
                <a:spcPct val="110000"/>
              </a:lnSpc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      </a:t>
            </a:r>
            <a:r>
              <a:rPr lang="en-US" sz="2000" dirty="0" err="1">
                <a:latin typeface="Consolas" panose="020B0609020204030204" pitchFamily="49" charset="0"/>
              </a:rPr>
              <a:t>System.out.println</a:t>
            </a:r>
            <a:r>
              <a:rPr lang="en-US" sz="2000" dirty="0">
                <a:latin typeface="Consolas" panose="020B0609020204030204" pitchFamily="49" charset="0"/>
              </a:rPr>
              <a:t>("Rejected");</a:t>
            </a:r>
          </a:p>
          <a:p>
            <a:pPr marL="0" indent="0">
              <a:lnSpc>
                <a:spcPct val="110000"/>
              </a:lnSpc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10000"/>
              </a:lnSpc>
              <a:buFont typeface="Arial"/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Discussion Question</a:t>
            </a:r>
            <a:endParaRPr sz="36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Which version is easier to maintain?</a:t>
            </a:r>
          </a:p>
          <a:p>
            <a:pPr lvl="1"/>
            <a:r>
              <a:rPr dirty="0"/>
              <a:t>What happens if we add more statuses?</a:t>
            </a:r>
          </a:p>
          <a:p>
            <a:pPr lvl="1"/>
            <a:r>
              <a:rPr dirty="0"/>
              <a:t>How would testing differ?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Meaningful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b="1" dirty="0"/>
              <a:t>Names should reveal intent</a:t>
            </a:r>
            <a:endParaRPr lang="en-US" sz="2800" b="1" dirty="0"/>
          </a:p>
          <a:p>
            <a:pPr lvl="1"/>
            <a:r>
              <a:rPr sz="2000" dirty="0"/>
              <a:t>Avoid vague names (data, temp, value)</a:t>
            </a:r>
            <a:endParaRPr lang="en-US" sz="2000" dirty="0"/>
          </a:p>
          <a:p>
            <a:pPr lvl="1"/>
            <a:r>
              <a:rPr sz="2000" dirty="0"/>
              <a:t>Avoid misleading names</a:t>
            </a:r>
            <a:endParaRPr lang="en-US" sz="2000" dirty="0"/>
          </a:p>
          <a:p>
            <a:pPr lvl="1"/>
            <a:r>
              <a:rPr sz="2000" dirty="0"/>
              <a:t>Use searchable names</a:t>
            </a:r>
            <a:endParaRPr lang="en-US" sz="2000" dirty="0"/>
          </a:p>
          <a:p>
            <a:pPr lvl="1"/>
            <a:r>
              <a:rPr sz="2000" dirty="0"/>
              <a:t>Use consistent naming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041" y="585722"/>
            <a:ext cx="8229600" cy="1143000"/>
          </a:xfrm>
        </p:spPr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Poor </a:t>
            </a:r>
            <a:r>
              <a:rPr lang="en-US" sz="3600" b="1" dirty="0">
                <a:latin typeface="+mn-lt"/>
              </a:rPr>
              <a:t>vs Improved </a:t>
            </a:r>
            <a:r>
              <a:rPr sz="3600" b="1" dirty="0">
                <a:latin typeface="+mn-lt"/>
              </a:rPr>
              <a:t>Naming Example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3DF6B9-8012-57EC-64FE-C2553F86B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284704"/>
              </p:ext>
            </p:extLst>
          </p:nvPr>
        </p:nvGraphicFramePr>
        <p:xfrm>
          <a:off x="1137500" y="2445209"/>
          <a:ext cx="732777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885">
                  <a:extLst>
                    <a:ext uri="{9D8B030D-6E8A-4147-A177-3AD203B41FA5}">
                      <a16:colId xmlns:a16="http://schemas.microsoft.com/office/drawing/2014/main" val="1417687589"/>
                    </a:ext>
                  </a:extLst>
                </a:gridCol>
                <a:gridCol w="3663885">
                  <a:extLst>
                    <a:ext uri="{9D8B030D-6E8A-4147-A177-3AD203B41FA5}">
                      <a16:colId xmlns:a16="http://schemas.microsoft.com/office/drawing/2014/main" val="389705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Poor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Improved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653412"/>
                  </a:ext>
                </a:extLst>
              </a:tr>
              <a:tr h="57225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sv-SE" dirty="0"/>
                        <a:t>int d;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sv-SE" dirty="0"/>
                        <a:t>int m;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sv-SE" dirty="0"/>
                        <a:t>List list1;</a:t>
                      </a:r>
                    </a:p>
                    <a:p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 </a:t>
                      </a:r>
                      <a:r>
                        <a:rPr lang="en-US" dirty="0" err="1"/>
                        <a:t>elapsedTimeInDays</a:t>
                      </a:r>
                      <a:r>
                        <a:rPr lang="en-US" dirty="0"/>
                        <a:t>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 </a:t>
                      </a:r>
                      <a:r>
                        <a:rPr lang="en-US" dirty="0" err="1"/>
                        <a:t>monthlyInterestRate</a:t>
                      </a:r>
                      <a:r>
                        <a:rPr lang="en-US" dirty="0"/>
                        <a:t>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List&lt;Student&gt; </a:t>
                      </a:r>
                      <a:r>
                        <a:rPr lang="en-US" dirty="0" err="1"/>
                        <a:t>registeredStudents</a:t>
                      </a:r>
                      <a:r>
                        <a:rPr lang="en-US" dirty="0"/>
                        <a:t>;</a:t>
                      </a:r>
                    </a:p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31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018"/>
            <a:ext cx="8229600" cy="1143000"/>
          </a:xfrm>
        </p:spPr>
        <p:txBody>
          <a:bodyPr>
            <a:normAutofit/>
          </a:bodyPr>
          <a:lstStyle/>
          <a:p>
            <a:r>
              <a:rPr sz="3200" b="1" dirty="0">
                <a:latin typeface="+mn-lt"/>
              </a:rPr>
              <a:t>Advanced Naming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51" y="1279688"/>
            <a:ext cx="8229600" cy="4525963"/>
          </a:xfrm>
        </p:spPr>
        <p:txBody>
          <a:bodyPr>
            <a:normAutofit/>
          </a:bodyPr>
          <a:lstStyle/>
          <a:p>
            <a:r>
              <a:rPr sz="2400" b="1" dirty="0"/>
              <a:t>Avoid mental mapping (</a:t>
            </a:r>
            <a:r>
              <a:rPr sz="2400" b="1" dirty="0" err="1"/>
              <a:t>i</a:t>
            </a:r>
            <a:r>
              <a:rPr sz="2400" b="1" dirty="0"/>
              <a:t>, j, x)</a:t>
            </a:r>
            <a:endParaRPr lang="en-US" sz="2400" b="1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PK" sz="2800" dirty="0"/>
          </a:p>
          <a:p>
            <a:pPr marL="514350" indent="-457200"/>
            <a:r>
              <a:rPr sz="2400" b="1" dirty="0"/>
              <a:t>Use domain terminology</a:t>
            </a:r>
            <a:r>
              <a:rPr lang="en-US" sz="2400" b="1" dirty="0"/>
              <a:t> (Domain – Banking System)</a:t>
            </a:r>
          </a:p>
          <a:p>
            <a:pPr marL="514350" indent="-457200"/>
            <a:endParaRPr sz="24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BB6255A-166D-3425-821B-C54F9A2C5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432784"/>
              </p:ext>
            </p:extLst>
          </p:nvPr>
        </p:nvGraphicFramePr>
        <p:xfrm>
          <a:off x="794994" y="1830633"/>
          <a:ext cx="755401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7006">
                  <a:extLst>
                    <a:ext uri="{9D8B030D-6E8A-4147-A177-3AD203B41FA5}">
                      <a16:colId xmlns:a16="http://schemas.microsoft.com/office/drawing/2014/main" val="417083013"/>
                    </a:ext>
                  </a:extLst>
                </a:gridCol>
                <a:gridCol w="3777006">
                  <a:extLst>
                    <a:ext uri="{9D8B030D-6E8A-4147-A177-3AD203B41FA5}">
                      <a16:colId xmlns:a16="http://schemas.microsoft.com/office/drawing/2014/main" val="1578446538"/>
                    </a:ext>
                  </a:extLst>
                </a:gridCol>
              </a:tblGrid>
              <a:tr h="328245">
                <a:tc>
                  <a:txBody>
                    <a:bodyPr/>
                    <a:lstStyle/>
                    <a:p>
                      <a:r>
                        <a:rPr lang="en-US" dirty="0"/>
                        <a:t>Mental Mapping Required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Intent-Revealing Name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563477"/>
                  </a:ext>
                </a:extLst>
              </a:tr>
              <a:tr h="1734392">
                <a:tc>
                  <a:txBody>
                    <a:bodyPr/>
                    <a:lstStyle/>
                    <a:p>
                      <a:r>
                        <a:rPr lang="en-US" dirty="0"/>
                        <a:t>int d;  </a:t>
                      </a:r>
                    </a:p>
                    <a:p>
                      <a:r>
                        <a:rPr lang="en-US" dirty="0"/>
                        <a:t>d = 30;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if (d &gt; 18) {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("Eligible");</a:t>
                      </a:r>
                    </a:p>
                    <a:p>
                      <a:r>
                        <a:rPr lang="en-US" dirty="0"/>
                        <a:t>}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</a:t>
                      </a:r>
                      <a:r>
                        <a:rPr lang="en-US" dirty="0" err="1"/>
                        <a:t>userAge</a:t>
                      </a:r>
                      <a:r>
                        <a:rPr lang="en-US" dirty="0"/>
                        <a:t> = 30;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if (</a:t>
                      </a:r>
                      <a:r>
                        <a:rPr lang="en-US" dirty="0" err="1"/>
                        <a:t>userAge</a:t>
                      </a:r>
                      <a:r>
                        <a:rPr lang="en-US" dirty="0"/>
                        <a:t> &gt; 18) {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("Eligible");</a:t>
                      </a:r>
                    </a:p>
                    <a:p>
                      <a:r>
                        <a:rPr lang="en-US" dirty="0"/>
                        <a:t>}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54906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0E13F0D-E12C-D9A6-5758-BFF02689F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101817"/>
              </p:ext>
            </p:extLst>
          </p:nvPr>
        </p:nvGraphicFramePr>
        <p:xfrm>
          <a:off x="794994" y="4836632"/>
          <a:ext cx="7651422" cy="1356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899">
                  <a:extLst>
                    <a:ext uri="{9D8B030D-6E8A-4147-A177-3AD203B41FA5}">
                      <a16:colId xmlns:a16="http://schemas.microsoft.com/office/drawing/2014/main" val="440979240"/>
                    </a:ext>
                  </a:extLst>
                </a:gridCol>
                <a:gridCol w="4826523">
                  <a:extLst>
                    <a:ext uri="{9D8B030D-6E8A-4147-A177-3AD203B41FA5}">
                      <a16:colId xmlns:a16="http://schemas.microsoft.com/office/drawing/2014/main" val="4061833538"/>
                    </a:ext>
                  </a:extLst>
                </a:gridCol>
              </a:tblGrid>
              <a:tr h="678389">
                <a:tc>
                  <a:txBody>
                    <a:bodyPr/>
                    <a:lstStyle/>
                    <a:p>
                      <a:r>
                        <a:rPr lang="en-US" dirty="0"/>
                        <a:t>Generic Naming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Domain Language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872663"/>
                  </a:ext>
                </a:extLst>
              </a:tr>
              <a:tr h="678389">
                <a:tc>
                  <a:txBody>
                    <a:bodyPr/>
                    <a:lstStyle/>
                    <a:p>
                      <a:r>
                        <a:rPr lang="en-US" dirty="0"/>
                        <a:t>double value = calculate(x);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 </a:t>
                      </a:r>
                      <a:r>
                        <a:rPr lang="en-US" dirty="0" err="1"/>
                        <a:t>monthlyInterest</a:t>
                      </a:r>
                      <a:r>
                        <a:rPr lang="en-US" dirty="0"/>
                        <a:t> = </a:t>
                      </a:r>
                      <a:r>
                        <a:rPr lang="en-US" dirty="0" err="1"/>
                        <a:t>calculateMonthlyInterest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accountBalance</a:t>
                      </a:r>
                      <a:r>
                        <a:rPr lang="en-US" dirty="0"/>
                        <a:t>);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1751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018"/>
            <a:ext cx="8229600" cy="1143000"/>
          </a:xfrm>
        </p:spPr>
        <p:txBody>
          <a:bodyPr>
            <a:normAutofit/>
          </a:bodyPr>
          <a:lstStyle/>
          <a:p>
            <a:r>
              <a:rPr sz="3200" b="1" dirty="0">
                <a:latin typeface="+mn-lt"/>
              </a:rPr>
              <a:t>Advanced Naming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36" y="1044018"/>
            <a:ext cx="8229600" cy="4525963"/>
          </a:xfrm>
        </p:spPr>
        <p:txBody>
          <a:bodyPr>
            <a:normAutofit/>
          </a:bodyPr>
          <a:lstStyle/>
          <a:p>
            <a:pPr marL="514350" indent="-457200"/>
            <a:r>
              <a:rPr lang="en-US" sz="2400" b="1" dirty="0"/>
              <a:t>Be consistent across project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514350" indent="-457200"/>
            <a:r>
              <a:rPr sz="2400" b="1" dirty="0"/>
              <a:t>Replace magic numbers with constants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BB6255A-166D-3425-821B-C54F9A2C5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721401"/>
              </p:ext>
            </p:extLst>
          </p:nvPr>
        </p:nvGraphicFramePr>
        <p:xfrm>
          <a:off x="794994" y="1830633"/>
          <a:ext cx="7554012" cy="1602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7006">
                  <a:extLst>
                    <a:ext uri="{9D8B030D-6E8A-4147-A177-3AD203B41FA5}">
                      <a16:colId xmlns:a16="http://schemas.microsoft.com/office/drawing/2014/main" val="417083013"/>
                    </a:ext>
                  </a:extLst>
                </a:gridCol>
                <a:gridCol w="3777006">
                  <a:extLst>
                    <a:ext uri="{9D8B030D-6E8A-4147-A177-3AD203B41FA5}">
                      <a16:colId xmlns:a16="http://schemas.microsoft.com/office/drawing/2014/main" val="1578446538"/>
                    </a:ext>
                  </a:extLst>
                </a:gridCol>
              </a:tblGrid>
              <a:tr h="260721">
                <a:tc>
                  <a:txBody>
                    <a:bodyPr/>
                    <a:lstStyle/>
                    <a:p>
                      <a:r>
                        <a:rPr lang="en-US" dirty="0"/>
                        <a:t>Inconsistent Naming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Consistent Naming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563477"/>
                  </a:ext>
                </a:extLst>
              </a:tr>
              <a:tr h="1236308">
                <a:tc>
                  <a:txBody>
                    <a:bodyPr/>
                    <a:lstStyle/>
                    <a:p>
                      <a:r>
                        <a:rPr lang="en-US" dirty="0"/>
                        <a:t>int </a:t>
                      </a:r>
                      <a:r>
                        <a:rPr lang="en-US" dirty="0" err="1"/>
                        <a:t>userAge</a:t>
                      </a:r>
                      <a:r>
                        <a:rPr lang="en-US" dirty="0"/>
                        <a:t>;</a:t>
                      </a:r>
                    </a:p>
                    <a:p>
                      <a:r>
                        <a:rPr lang="en-US" dirty="0"/>
                        <a:t>int </a:t>
                      </a:r>
                      <a:r>
                        <a:rPr lang="en-US" dirty="0" err="1"/>
                        <a:t>customer_age</a:t>
                      </a:r>
                      <a:r>
                        <a:rPr lang="en-US" dirty="0"/>
                        <a:t>;</a:t>
                      </a:r>
                    </a:p>
                    <a:p>
                      <a:r>
                        <a:rPr lang="en-US" dirty="0"/>
                        <a:t>int </a:t>
                      </a:r>
                      <a:r>
                        <a:rPr lang="en-US" dirty="0" err="1"/>
                        <a:t>ClientAge</a:t>
                      </a:r>
                      <a:r>
                        <a:rPr lang="en-US" dirty="0"/>
                        <a:t>;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 </a:t>
                      </a:r>
                      <a:r>
                        <a:rPr lang="en-US" dirty="0" err="1"/>
                        <a:t>userAge</a:t>
                      </a:r>
                      <a:r>
                        <a:rPr lang="en-US" dirty="0"/>
                        <a:t>;</a:t>
                      </a:r>
                    </a:p>
                    <a:p>
                      <a:r>
                        <a:rPr lang="en-US" dirty="0"/>
                        <a:t>int </a:t>
                      </a:r>
                      <a:r>
                        <a:rPr lang="en-US" dirty="0" err="1"/>
                        <a:t>customerAge</a:t>
                      </a:r>
                      <a:r>
                        <a:rPr lang="en-US" dirty="0"/>
                        <a:t>;</a:t>
                      </a:r>
                    </a:p>
                    <a:p>
                      <a:r>
                        <a:rPr lang="en-US" dirty="0"/>
                        <a:t>int </a:t>
                      </a:r>
                      <a:r>
                        <a:rPr lang="en-US" dirty="0" err="1"/>
                        <a:t>clientAge</a:t>
                      </a:r>
                      <a:r>
                        <a:rPr lang="en-US" dirty="0"/>
                        <a:t>;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5490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4EE876-DBED-21B0-5A96-6DB1D55B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977262"/>
              </p:ext>
            </p:extLst>
          </p:nvPr>
        </p:nvGraphicFramePr>
        <p:xfrm>
          <a:off x="794994" y="4127773"/>
          <a:ext cx="7554012" cy="2409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7006">
                  <a:extLst>
                    <a:ext uri="{9D8B030D-6E8A-4147-A177-3AD203B41FA5}">
                      <a16:colId xmlns:a16="http://schemas.microsoft.com/office/drawing/2014/main" val="417083013"/>
                    </a:ext>
                  </a:extLst>
                </a:gridCol>
                <a:gridCol w="3777006">
                  <a:extLst>
                    <a:ext uri="{9D8B030D-6E8A-4147-A177-3AD203B41FA5}">
                      <a16:colId xmlns:a16="http://schemas.microsoft.com/office/drawing/2014/main" val="1578446538"/>
                    </a:ext>
                  </a:extLst>
                </a:gridCol>
              </a:tblGrid>
              <a:tr h="367819">
                <a:tc>
                  <a:txBody>
                    <a:bodyPr/>
                    <a:lstStyle/>
                    <a:p>
                      <a:r>
                        <a:rPr lang="en-US" dirty="0"/>
                        <a:t>Magic Number Problem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Using Constant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563477"/>
                  </a:ext>
                </a:extLst>
              </a:tr>
              <a:tr h="1236308">
                <a:tc>
                  <a:txBody>
                    <a:bodyPr/>
                    <a:lstStyle/>
                    <a:p>
                      <a:r>
                        <a:rPr lang="en-US" dirty="0"/>
                        <a:t>if (</a:t>
                      </a:r>
                      <a:r>
                        <a:rPr lang="en-US" dirty="0" err="1"/>
                        <a:t>passwordLength</a:t>
                      </a:r>
                      <a:r>
                        <a:rPr lang="en-US" dirty="0"/>
                        <a:t> &lt; 8) {</a:t>
                      </a:r>
                    </a:p>
                    <a:p>
                      <a:r>
                        <a:rPr lang="en-US" dirty="0"/>
                        <a:t>    </a:t>
                      </a:r>
                      <a:r>
                        <a:rPr lang="en-US" dirty="0" err="1"/>
                        <a:t>System.out.println</a:t>
                      </a:r>
                      <a:r>
                        <a:rPr lang="en-US" dirty="0"/>
                        <a:t>("Password too short");</a:t>
                      </a:r>
                    </a:p>
                    <a:p>
                      <a:r>
                        <a:rPr lang="en-US" dirty="0"/>
                        <a:t>}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private static final int MIN_PASSWORD_LENGTH = 8;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dirty="0"/>
                        <a:t>if (</a:t>
                      </a:r>
                      <a:r>
                        <a:rPr lang="en-US" sz="1600" b="0" dirty="0" err="1"/>
                        <a:t>passwordLength</a:t>
                      </a:r>
                      <a:r>
                        <a:rPr lang="en-US" sz="1600" b="0" dirty="0"/>
                        <a:t> &lt; MIN_PASSWORD_LENGTH) {</a:t>
                      </a:r>
                    </a:p>
                    <a:p>
                      <a:r>
                        <a:rPr lang="en-US" sz="1600" b="0" dirty="0"/>
                        <a:t>    </a:t>
                      </a:r>
                      <a:r>
                        <a:rPr lang="en-US" sz="1600" b="0" dirty="0" err="1"/>
                        <a:t>System.out.println</a:t>
                      </a:r>
                      <a:r>
                        <a:rPr lang="en-US" sz="1600" b="0" dirty="0"/>
                        <a:t>("Password too short");</a:t>
                      </a:r>
                    </a:p>
                    <a:p>
                      <a:r>
                        <a:rPr lang="en-US" sz="1600" b="0" dirty="0"/>
                        <a:t>}</a:t>
                      </a:r>
                      <a:endParaRPr lang="en-PK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354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495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Java Naming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/>
              <a:t>Class:</a:t>
            </a:r>
            <a:r>
              <a:rPr sz="1600" dirty="0"/>
              <a:t> </a:t>
            </a:r>
            <a:r>
              <a:rPr sz="2000" dirty="0" err="1"/>
              <a:t>PascalCase</a:t>
            </a:r>
            <a:r>
              <a:rPr sz="2000" dirty="0"/>
              <a:t> (</a:t>
            </a:r>
            <a:r>
              <a:rPr sz="2000" dirty="0" err="1"/>
              <a:t>StudentRecord</a:t>
            </a:r>
            <a:r>
              <a:rPr sz="2000" dirty="0"/>
              <a:t>)</a:t>
            </a:r>
            <a:endParaRPr lang="en-US" sz="20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/>
              <a:t>Method: camelCase (</a:t>
            </a:r>
            <a:r>
              <a:rPr sz="2000" dirty="0" err="1"/>
              <a:t>calculateTotal</a:t>
            </a:r>
            <a:r>
              <a:rPr sz="2000" dirty="0"/>
              <a:t>)</a:t>
            </a:r>
            <a:endParaRPr lang="en-US" sz="20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/>
              <a:t>Variable: camelCase (</a:t>
            </a:r>
            <a:r>
              <a:rPr sz="2000" dirty="0" err="1"/>
              <a:t>totalMarks</a:t>
            </a:r>
            <a:r>
              <a:rPr sz="2000" dirty="0"/>
              <a:t>)</a:t>
            </a:r>
            <a:endParaRPr lang="en-US" sz="20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 dirty="0"/>
              <a:t>Constant: UPPER_CASE (MAX_LIMIT)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+mn-lt"/>
              </a:rP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b="1" dirty="0"/>
              <a:t>Functions should be small</a:t>
            </a:r>
          </a:p>
          <a:p>
            <a:pPr lvl="1"/>
            <a:r>
              <a:rPr sz="2400" dirty="0"/>
              <a:t>Do one thing only</a:t>
            </a:r>
          </a:p>
          <a:p>
            <a:pPr lvl="1"/>
            <a:r>
              <a:rPr sz="2400" dirty="0"/>
              <a:t>Reduce nesting</a:t>
            </a:r>
          </a:p>
          <a:p>
            <a:pPr lvl="1"/>
            <a:r>
              <a:rPr sz="2400" dirty="0"/>
              <a:t>Use descriptive names</a:t>
            </a:r>
          </a:p>
          <a:p>
            <a:pPr lvl="1"/>
            <a:r>
              <a:rPr sz="2400" dirty="0"/>
              <a:t>Limit number of parameters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b="1" dirty="0">
                <a:latin typeface="+mn-lt"/>
              </a:rPr>
              <a:t>Bad Function – Multiple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public void </a:t>
            </a:r>
            <a:r>
              <a:rPr sz="2000" dirty="0" err="1">
                <a:latin typeface="Consolas" panose="020B0609020204030204" pitchFamily="49" charset="0"/>
              </a:rPr>
              <a:t>processOrder</a:t>
            </a:r>
            <a:r>
              <a:rPr sz="2000" dirty="0">
                <a:latin typeface="Consolas" panose="020B0609020204030204" pitchFamily="49" charset="0"/>
              </a:rPr>
              <a:t>(Order o){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validate(o);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</a:t>
            </a:r>
            <a:r>
              <a:rPr sz="2000" dirty="0" err="1">
                <a:latin typeface="Consolas" panose="020B0609020204030204" pitchFamily="49" charset="0"/>
              </a:rPr>
              <a:t>calculateTotal</a:t>
            </a:r>
            <a:r>
              <a:rPr sz="2000" dirty="0">
                <a:latin typeface="Consolas" panose="020B0609020204030204" pitchFamily="49" charset="0"/>
              </a:rPr>
              <a:t>(o);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</a:t>
            </a:r>
            <a:r>
              <a:rPr sz="2000" dirty="0" err="1">
                <a:latin typeface="Consolas" panose="020B0609020204030204" pitchFamily="49" charset="0"/>
              </a:rPr>
              <a:t>printInvoice</a:t>
            </a:r>
            <a:r>
              <a:rPr sz="2000" dirty="0">
                <a:latin typeface="Consolas" panose="020B0609020204030204" pitchFamily="49" charset="0"/>
              </a:rPr>
              <a:t>(o);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</a:t>
            </a:r>
            <a:r>
              <a:rPr sz="2000" dirty="0" err="1">
                <a:latin typeface="Consolas" panose="020B0609020204030204" pitchFamily="49" charset="0"/>
              </a:rPr>
              <a:t>saveToDatabase</a:t>
            </a:r>
            <a:r>
              <a:rPr sz="2000" dirty="0">
                <a:latin typeface="Consolas" panose="020B0609020204030204" pitchFamily="49" charset="0"/>
              </a:rPr>
              <a:t>(o);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Problem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 to test individually</a:t>
            </a:r>
          </a:p>
          <a:p>
            <a:pPr lvl="1"/>
            <a:r>
              <a:t>Tightly coupled responsibilities</a:t>
            </a:r>
          </a:p>
          <a:p>
            <a:pPr lvl="1"/>
            <a:r>
              <a:t>Difficult to reuse components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Refactored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public void </a:t>
            </a:r>
            <a:r>
              <a:rPr sz="2000" dirty="0" err="1">
                <a:latin typeface="Consolas" panose="020B0609020204030204" pitchFamily="49" charset="0"/>
              </a:rPr>
              <a:t>processOrder</a:t>
            </a:r>
            <a:r>
              <a:rPr sz="2000" dirty="0">
                <a:latin typeface="Consolas" panose="020B0609020204030204" pitchFamily="49" charset="0"/>
              </a:rPr>
              <a:t>(Order order) {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   </a:t>
            </a:r>
            <a:r>
              <a:rPr sz="2000" dirty="0" err="1">
                <a:latin typeface="Consolas" panose="020B0609020204030204" pitchFamily="49" charset="0"/>
              </a:rPr>
              <a:t>validateOrder</a:t>
            </a:r>
            <a:r>
              <a:rPr sz="2000" dirty="0">
                <a:latin typeface="Consolas" panose="020B0609020204030204" pitchFamily="49" charset="0"/>
              </a:rPr>
              <a:t>(order);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   double total = </a:t>
            </a:r>
            <a:r>
              <a:rPr sz="2000" dirty="0" err="1">
                <a:latin typeface="Consolas" panose="020B0609020204030204" pitchFamily="49" charset="0"/>
              </a:rPr>
              <a:t>calculateOrderTotal</a:t>
            </a:r>
            <a:r>
              <a:rPr sz="2000" dirty="0">
                <a:latin typeface="Consolas" panose="020B0609020204030204" pitchFamily="49" charset="0"/>
              </a:rPr>
              <a:t>(order);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   </a:t>
            </a:r>
            <a:r>
              <a:rPr sz="2000" dirty="0" err="1">
                <a:latin typeface="Consolas" panose="020B0609020204030204" pitchFamily="49" charset="0"/>
              </a:rPr>
              <a:t>generateInvoice</a:t>
            </a:r>
            <a:r>
              <a:rPr sz="2000" dirty="0">
                <a:latin typeface="Consolas" panose="020B0609020204030204" pitchFamily="49" charset="0"/>
              </a:rPr>
              <a:t>(order, total);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    </a:t>
            </a:r>
            <a:r>
              <a:rPr sz="2000" dirty="0" err="1">
                <a:latin typeface="Consolas" panose="020B0609020204030204" pitchFamily="49" charset="0"/>
              </a:rPr>
              <a:t>saveOrder</a:t>
            </a:r>
            <a:r>
              <a:rPr sz="2000" dirty="0">
                <a:latin typeface="Consolas" panose="020B0609020204030204" pitchFamily="49" charset="0"/>
              </a:rPr>
              <a:t>(order);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+mn-lt"/>
              </a:rPr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800" dirty="0"/>
              <a:t>Good code reduces </a:t>
            </a:r>
            <a:r>
              <a:rPr lang="en-US" sz="2800" dirty="0"/>
              <a:t>the </a:t>
            </a:r>
            <a:r>
              <a:rPr sz="2800" dirty="0"/>
              <a:t>need for comments</a:t>
            </a:r>
          </a:p>
          <a:p>
            <a:pPr lvl="1">
              <a:lnSpc>
                <a:spcPct val="150000"/>
              </a:lnSpc>
            </a:pPr>
            <a:r>
              <a:rPr sz="2400" dirty="0"/>
              <a:t>Explain WHY, not WHAT</a:t>
            </a:r>
          </a:p>
          <a:p>
            <a:pPr lvl="1">
              <a:lnSpc>
                <a:spcPct val="150000"/>
              </a:lnSpc>
            </a:pPr>
            <a:r>
              <a:rPr sz="2400" dirty="0"/>
              <a:t>Avoid redundant comments</a:t>
            </a:r>
          </a:p>
          <a:p>
            <a:pPr lvl="1">
              <a:lnSpc>
                <a:spcPct val="150000"/>
              </a:lnSpc>
            </a:pPr>
            <a:r>
              <a:rPr sz="2400" dirty="0"/>
              <a:t>Remove outdated comments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Bad Comment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int count = 5; // assign 5 to count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Good Comment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800" dirty="0"/>
              <a:t>// Maximum retry attempts before locking account</a:t>
            </a:r>
          </a:p>
          <a:p>
            <a:r>
              <a:rPr sz="2800" dirty="0"/>
              <a:t>private static final int MAX_RETRY_ATTEMPTS = 3;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Types of Useful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Legal comments</a:t>
            </a:r>
          </a:p>
          <a:p>
            <a:pPr lvl="1"/>
            <a:r>
              <a:rPr dirty="0"/>
              <a:t>Warning comments</a:t>
            </a:r>
          </a:p>
          <a:p>
            <a:pPr lvl="1"/>
            <a:r>
              <a:rPr dirty="0"/>
              <a:t>TODO comments</a:t>
            </a:r>
          </a:p>
          <a:p>
            <a:pPr lvl="1"/>
            <a:r>
              <a:rPr dirty="0"/>
              <a:t>Clarification of complex algorithms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91FD-B14D-0217-91DD-7DEFD5CA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What is Code Review?</a:t>
            </a:r>
            <a:endParaRPr lang="en-PK" sz="3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87623-0694-3963-EBAD-0E70E087F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Process of examining code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Detect bugs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Improve quality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Improve readability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Ensure standards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10322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Code Review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Are names meaningful?</a:t>
            </a:r>
          </a:p>
          <a:p>
            <a:pPr lvl="1"/>
            <a:r>
              <a:rPr sz="2400" dirty="0"/>
              <a:t>Are functions small?</a:t>
            </a:r>
          </a:p>
          <a:p>
            <a:pPr lvl="1"/>
            <a:r>
              <a:rPr sz="2400" dirty="0"/>
              <a:t>Any duplication?</a:t>
            </a:r>
          </a:p>
          <a:p>
            <a:pPr lvl="1"/>
            <a:r>
              <a:rPr sz="2400" dirty="0"/>
              <a:t>Any magic numbers?</a:t>
            </a:r>
          </a:p>
          <a:p>
            <a:pPr lvl="1"/>
            <a:r>
              <a:rPr sz="2400" dirty="0"/>
              <a:t>Comments useful and minimal?</a:t>
            </a:r>
          </a:p>
          <a:p>
            <a:pPr lvl="1"/>
            <a:r>
              <a:rPr sz="2400" dirty="0"/>
              <a:t>Formatting consistent?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382E5-429B-7E21-343D-1CC8A828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Personal Review</a:t>
            </a:r>
            <a:endParaRPr lang="en-PK" sz="3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753BC-1969-9E53-58DF-52BF1020B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✔ Developer reviews own code</a:t>
            </a:r>
            <a:br>
              <a:rPr lang="en-US" sz="2800" dirty="0"/>
            </a:br>
            <a:r>
              <a:rPr lang="en-US" sz="2800" dirty="0"/>
              <a:t>✔ Checks logic</a:t>
            </a:r>
            <a:br>
              <a:rPr lang="en-US" sz="2800" dirty="0"/>
            </a:br>
            <a:r>
              <a:rPr lang="en-US" sz="2800" dirty="0"/>
              <a:t>✔ Removes unused variables</a:t>
            </a:r>
            <a:br>
              <a:rPr lang="en-US" sz="2800" dirty="0"/>
            </a:br>
            <a:r>
              <a:rPr lang="en-US" sz="2800" dirty="0"/>
              <a:t>✔ Fixes formatting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Example Checklist: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Are variable names meaningful?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Any duplicate code?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Edge cases handled?</a:t>
            </a:r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622926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6F80-E2D6-E910-1D50-51CF1C2D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Peer Review</a:t>
            </a:r>
            <a:endParaRPr lang="en-PK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CE0DF-EE4A-D848-656D-05E72DB7F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36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✔ Another developer reviews your code</a:t>
            </a:r>
            <a:br>
              <a:rPr lang="en-US" sz="2800" dirty="0"/>
            </a:br>
            <a:r>
              <a:rPr lang="en-US" sz="2800" dirty="0"/>
              <a:t>✔ Fresh perspective</a:t>
            </a:r>
            <a:br>
              <a:rPr lang="en-US" sz="2800" dirty="0"/>
            </a:br>
            <a:r>
              <a:rPr lang="en-US" sz="2800" dirty="0"/>
              <a:t>✔ Finds hidden mistakes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Benefits: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Knowledge sharing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Team consistency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Better quality</a:t>
            </a:r>
          </a:p>
          <a:p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4246322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+mn-lt"/>
              </a:rPr>
              <a:t>Code Review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491" y="3998223"/>
            <a:ext cx="3946689" cy="3836080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000" dirty="0"/>
              <a:t>public class test{</a:t>
            </a:r>
          </a:p>
          <a:p>
            <a:pPr marL="0" indent="0">
              <a:buNone/>
            </a:pPr>
            <a:r>
              <a:rPr sz="2000" dirty="0"/>
              <a:t>public static void main(String[]</a:t>
            </a:r>
            <a:r>
              <a:rPr sz="2000" dirty="0" err="1"/>
              <a:t>args</a:t>
            </a:r>
            <a:r>
              <a:rPr sz="2000" dirty="0"/>
              <a:t>){</a:t>
            </a:r>
          </a:p>
          <a:p>
            <a:pPr marL="0" indent="0">
              <a:buNone/>
            </a:pPr>
            <a:r>
              <a:rPr sz="2000" dirty="0"/>
              <a:t>int a=100;</a:t>
            </a:r>
          </a:p>
          <a:p>
            <a:pPr marL="0" indent="0">
              <a:buNone/>
            </a:pPr>
            <a:r>
              <a:rPr sz="2000" dirty="0"/>
              <a:t>int b=0;</a:t>
            </a:r>
          </a:p>
          <a:p>
            <a:pPr marL="0" indent="0">
              <a:buNone/>
            </a:pPr>
            <a:r>
              <a:rPr sz="2000" dirty="0" err="1"/>
              <a:t>System.out.println</a:t>
            </a:r>
            <a:r>
              <a:rPr sz="2000" dirty="0"/>
              <a:t>(a/b);}}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B654EF-79E6-2932-D6F8-94BDF02536A0}"/>
              </a:ext>
            </a:extLst>
          </p:cNvPr>
          <p:cNvSpPr txBox="1">
            <a:spLocks/>
          </p:cNvSpPr>
          <p:nvPr/>
        </p:nvSpPr>
        <p:spPr>
          <a:xfrm>
            <a:off x="457200" y="1506639"/>
            <a:ext cx="8229600" cy="2109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Identify the following on the given code:</a:t>
            </a:r>
          </a:p>
          <a:p>
            <a:r>
              <a:rPr lang="en-US" sz="2400" dirty="0"/>
              <a:t>Naming issues</a:t>
            </a:r>
          </a:p>
          <a:p>
            <a:pPr lvl="1"/>
            <a:r>
              <a:rPr lang="en-US" sz="2000" dirty="0"/>
              <a:t>Formatting problems</a:t>
            </a:r>
          </a:p>
          <a:p>
            <a:pPr lvl="1"/>
            <a:r>
              <a:rPr lang="en-US" sz="2000" dirty="0"/>
              <a:t>Runtime error (Division by zero)</a:t>
            </a:r>
          </a:p>
          <a:p>
            <a:pPr lvl="1"/>
            <a:r>
              <a:rPr lang="en-US" sz="2000" dirty="0"/>
              <a:t>Refactoring suggestions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Final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Clean code is </a:t>
            </a:r>
            <a:r>
              <a:rPr lang="en-US" sz="2800" dirty="0"/>
              <a:t>a </a:t>
            </a:r>
            <a:r>
              <a:rPr sz="2800" dirty="0"/>
              <a:t>professional responsibility</a:t>
            </a:r>
          </a:p>
          <a:p>
            <a:pPr lvl="1"/>
            <a:r>
              <a:rPr sz="2400" dirty="0"/>
              <a:t>Good names improve readability instantly</a:t>
            </a:r>
          </a:p>
          <a:p>
            <a:pPr lvl="1"/>
            <a:r>
              <a:rPr sz="2400" dirty="0"/>
              <a:t>Small functions reduce complexity</a:t>
            </a:r>
          </a:p>
          <a:p>
            <a:pPr lvl="1"/>
            <a:r>
              <a:rPr sz="2400" dirty="0"/>
              <a:t>Comments should add value</a:t>
            </a:r>
          </a:p>
          <a:p>
            <a:pPr lvl="1"/>
            <a:r>
              <a:rPr sz="2400" dirty="0"/>
              <a:t>Code review prevents future bugs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822</Words>
  <Application>Microsoft Office PowerPoint</Application>
  <PresentationFormat>On-screen Show (4:3)</PresentationFormat>
  <Paragraphs>191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Writing Readable &amp; Maintainable Code (Java)</vt:lpstr>
      <vt:lpstr>Learning Objectives</vt:lpstr>
      <vt:lpstr>The Cost of Bad Code</vt:lpstr>
      <vt:lpstr>Clean Code Definition</vt:lpstr>
      <vt:lpstr>Bad Code Example – Hard to Understand</vt:lpstr>
      <vt:lpstr>Discussion Question</vt:lpstr>
      <vt:lpstr>Meaningful Names</vt:lpstr>
      <vt:lpstr>Poor vs Improved Naming Example</vt:lpstr>
      <vt:lpstr>Advanced Naming Principle</vt:lpstr>
      <vt:lpstr>Advanced Naming Principle</vt:lpstr>
      <vt:lpstr>Java Naming Conventions</vt:lpstr>
      <vt:lpstr>Functions</vt:lpstr>
      <vt:lpstr>Bad Function – Multiple Responsibilities</vt:lpstr>
      <vt:lpstr>Problem Analysis</vt:lpstr>
      <vt:lpstr>Refactored Version</vt:lpstr>
      <vt:lpstr>Comments</vt:lpstr>
      <vt:lpstr>Bad Comment Example</vt:lpstr>
      <vt:lpstr>Good Comment Example</vt:lpstr>
      <vt:lpstr>Types of Useful Comments</vt:lpstr>
      <vt:lpstr>What is Code Review?</vt:lpstr>
      <vt:lpstr>Code Review Checklist</vt:lpstr>
      <vt:lpstr>Personal Review</vt:lpstr>
      <vt:lpstr>Peer Review</vt:lpstr>
      <vt:lpstr>Code Review Activity</vt:lpstr>
      <vt:lpstr>Final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Readable &amp; Maintainable Code (Java)</dc:title>
  <dc:subject/>
  <dc:creator>Hafiza Maria Kiran</dc:creator>
  <cp:keywords/>
  <dc:description>generated using python-pptx</dc:description>
  <cp:lastModifiedBy>Hafiza Maria Kiran</cp:lastModifiedBy>
  <cp:revision>66</cp:revision>
  <dcterms:created xsi:type="dcterms:W3CDTF">2013-01-27T09:14:16Z</dcterms:created>
  <dcterms:modified xsi:type="dcterms:W3CDTF">2026-02-26T05:01:35Z</dcterms:modified>
  <cp:category/>
</cp:coreProperties>
</file>