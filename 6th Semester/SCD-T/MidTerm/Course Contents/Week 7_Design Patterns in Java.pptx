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92" r:id="rId2"/>
    <p:sldId id="276" r:id="rId3"/>
    <p:sldId id="277" r:id="rId4"/>
    <p:sldId id="259" r:id="rId5"/>
    <p:sldId id="278" r:id="rId6"/>
    <p:sldId id="307" r:id="rId7"/>
    <p:sldId id="294" r:id="rId8"/>
    <p:sldId id="262" r:id="rId9"/>
    <p:sldId id="263" r:id="rId10"/>
    <p:sldId id="264" r:id="rId11"/>
    <p:sldId id="308" r:id="rId12"/>
    <p:sldId id="309" r:id="rId13"/>
    <p:sldId id="310" r:id="rId14"/>
    <p:sldId id="258" r:id="rId15"/>
    <p:sldId id="260" r:id="rId16"/>
    <p:sldId id="280" r:id="rId17"/>
    <p:sldId id="311" r:id="rId18"/>
    <p:sldId id="312" r:id="rId19"/>
    <p:sldId id="298" r:id="rId20"/>
    <p:sldId id="314" r:id="rId21"/>
    <p:sldId id="283" r:id="rId22"/>
    <p:sldId id="313" r:id="rId23"/>
    <p:sldId id="315" r:id="rId24"/>
    <p:sldId id="316" r:id="rId25"/>
    <p:sldId id="317" r:id="rId26"/>
    <p:sldId id="319" r:id="rId27"/>
    <p:sldId id="318" r:id="rId28"/>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23" autoAdjust="0"/>
    <p:restoredTop sz="93360" autoAdjust="0"/>
  </p:normalViewPr>
  <p:slideViewPr>
    <p:cSldViewPr snapToGrid="0">
      <p:cViewPr varScale="1">
        <p:scale>
          <a:sx n="79" d="100"/>
          <a:sy n="79" d="100"/>
        </p:scale>
        <p:origin x="76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7B6E5C-CA73-49EA-B977-7FDF79DA2889}" type="datetimeFigureOut">
              <a:rPr lang="en-PK" smtClean="0"/>
              <a:t>30/03/2026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B543A7-06A9-436F-9A8A-6188F114FF72}" type="slidenum">
              <a:rPr lang="en-PK" smtClean="0"/>
              <a:t>‹#›</a:t>
            </a:fld>
            <a:endParaRPr lang="en-PK"/>
          </a:p>
        </p:txBody>
      </p:sp>
    </p:spTree>
    <p:extLst>
      <p:ext uri="{BB962C8B-B14F-4D97-AF65-F5344CB8AC3E}">
        <p14:creationId xmlns:p14="http://schemas.microsoft.com/office/powerpoint/2010/main" val="3488875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61A43-6C58-32BD-BAB2-4CCD00DD8F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39D4F7C4-C851-8B52-74E1-C5AF2E97DD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B34B0687-A7C8-7148-E934-1813C2A77F4C}"/>
              </a:ext>
            </a:extLst>
          </p:cNvPr>
          <p:cNvSpPr>
            <a:spLocks noGrp="1"/>
          </p:cNvSpPr>
          <p:nvPr>
            <p:ph type="dt" sz="half" idx="10"/>
          </p:nvPr>
        </p:nvSpPr>
        <p:spPr/>
        <p:txBody>
          <a:bodyPr/>
          <a:lstStyle/>
          <a:p>
            <a:fld id="{25DACC23-53C6-4C8A-AFA4-A537C1F1E1B3}" type="datetimeFigureOut">
              <a:rPr lang="en-PK" smtClean="0"/>
              <a:t>30/03/2026</a:t>
            </a:fld>
            <a:endParaRPr lang="en-PK"/>
          </a:p>
        </p:txBody>
      </p:sp>
      <p:sp>
        <p:nvSpPr>
          <p:cNvPr id="5" name="Footer Placeholder 4">
            <a:extLst>
              <a:ext uri="{FF2B5EF4-FFF2-40B4-BE49-F238E27FC236}">
                <a16:creationId xmlns:a16="http://schemas.microsoft.com/office/drawing/2014/main" id="{EF1FE0D5-25EC-84CF-E02D-E8C9042AF92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859171B-0879-2AAC-823B-CB20B4413B59}"/>
              </a:ext>
            </a:extLst>
          </p:cNvPr>
          <p:cNvSpPr>
            <a:spLocks noGrp="1"/>
          </p:cNvSpPr>
          <p:nvPr>
            <p:ph type="sldNum" sz="quarter" idx="12"/>
          </p:nvPr>
        </p:nvSpPr>
        <p:spPr/>
        <p:txBody>
          <a:bodyPr/>
          <a:lstStyle/>
          <a:p>
            <a:fld id="{70038C3A-B4D6-44AC-B54F-B3F83341F717}" type="slidenum">
              <a:rPr lang="en-PK" smtClean="0"/>
              <a:t>‹#›</a:t>
            </a:fld>
            <a:endParaRPr lang="en-PK"/>
          </a:p>
        </p:txBody>
      </p:sp>
    </p:spTree>
    <p:extLst>
      <p:ext uri="{BB962C8B-B14F-4D97-AF65-F5344CB8AC3E}">
        <p14:creationId xmlns:p14="http://schemas.microsoft.com/office/powerpoint/2010/main" val="620034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C5924-AB85-25C5-A396-A2A569FCFF7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D304BD96-88E9-BCBD-33AD-0A34C2F511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DFEAA1F-9590-1CBB-B0B1-A67E92B4A981}"/>
              </a:ext>
            </a:extLst>
          </p:cNvPr>
          <p:cNvSpPr>
            <a:spLocks noGrp="1"/>
          </p:cNvSpPr>
          <p:nvPr>
            <p:ph type="dt" sz="half" idx="10"/>
          </p:nvPr>
        </p:nvSpPr>
        <p:spPr/>
        <p:txBody>
          <a:bodyPr/>
          <a:lstStyle/>
          <a:p>
            <a:fld id="{25DACC23-53C6-4C8A-AFA4-A537C1F1E1B3}" type="datetimeFigureOut">
              <a:rPr lang="en-PK" smtClean="0"/>
              <a:t>30/03/2026</a:t>
            </a:fld>
            <a:endParaRPr lang="en-PK"/>
          </a:p>
        </p:txBody>
      </p:sp>
      <p:sp>
        <p:nvSpPr>
          <p:cNvPr id="5" name="Footer Placeholder 4">
            <a:extLst>
              <a:ext uri="{FF2B5EF4-FFF2-40B4-BE49-F238E27FC236}">
                <a16:creationId xmlns:a16="http://schemas.microsoft.com/office/drawing/2014/main" id="{FF80A2FC-4F54-E182-6613-8812AE1B3C63}"/>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35B3E32-391E-1D78-CA67-FFE0407DC2FE}"/>
              </a:ext>
            </a:extLst>
          </p:cNvPr>
          <p:cNvSpPr>
            <a:spLocks noGrp="1"/>
          </p:cNvSpPr>
          <p:nvPr>
            <p:ph type="sldNum" sz="quarter" idx="12"/>
          </p:nvPr>
        </p:nvSpPr>
        <p:spPr/>
        <p:txBody>
          <a:bodyPr/>
          <a:lstStyle/>
          <a:p>
            <a:fld id="{70038C3A-B4D6-44AC-B54F-B3F83341F717}" type="slidenum">
              <a:rPr lang="en-PK" smtClean="0"/>
              <a:t>‹#›</a:t>
            </a:fld>
            <a:endParaRPr lang="en-PK"/>
          </a:p>
        </p:txBody>
      </p:sp>
    </p:spTree>
    <p:extLst>
      <p:ext uri="{BB962C8B-B14F-4D97-AF65-F5344CB8AC3E}">
        <p14:creationId xmlns:p14="http://schemas.microsoft.com/office/powerpoint/2010/main" val="2621063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E0C06-70DC-F499-FF42-FC5CC0550C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A1122B92-482C-0BB7-BACB-C32D3F3F7A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8559D5-4BC6-493F-3D28-E19F0F0D2AC4}"/>
              </a:ext>
            </a:extLst>
          </p:cNvPr>
          <p:cNvSpPr>
            <a:spLocks noGrp="1"/>
          </p:cNvSpPr>
          <p:nvPr>
            <p:ph type="dt" sz="half" idx="10"/>
          </p:nvPr>
        </p:nvSpPr>
        <p:spPr/>
        <p:txBody>
          <a:bodyPr/>
          <a:lstStyle/>
          <a:p>
            <a:fld id="{25DACC23-53C6-4C8A-AFA4-A537C1F1E1B3}" type="datetimeFigureOut">
              <a:rPr lang="en-PK" smtClean="0"/>
              <a:t>30/03/2026</a:t>
            </a:fld>
            <a:endParaRPr lang="en-PK"/>
          </a:p>
        </p:txBody>
      </p:sp>
      <p:sp>
        <p:nvSpPr>
          <p:cNvPr id="5" name="Footer Placeholder 4">
            <a:extLst>
              <a:ext uri="{FF2B5EF4-FFF2-40B4-BE49-F238E27FC236}">
                <a16:creationId xmlns:a16="http://schemas.microsoft.com/office/drawing/2014/main" id="{F1B9F126-D266-773E-A7AD-1066223B94C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5D411C8-18FF-8B8B-1F48-D2E5DA1674EF}"/>
              </a:ext>
            </a:extLst>
          </p:cNvPr>
          <p:cNvSpPr>
            <a:spLocks noGrp="1"/>
          </p:cNvSpPr>
          <p:nvPr>
            <p:ph type="sldNum" sz="quarter" idx="12"/>
          </p:nvPr>
        </p:nvSpPr>
        <p:spPr/>
        <p:txBody>
          <a:bodyPr/>
          <a:lstStyle/>
          <a:p>
            <a:fld id="{70038C3A-B4D6-44AC-B54F-B3F83341F717}" type="slidenum">
              <a:rPr lang="en-PK" smtClean="0"/>
              <a:t>‹#›</a:t>
            </a:fld>
            <a:endParaRPr lang="en-PK"/>
          </a:p>
        </p:txBody>
      </p:sp>
    </p:spTree>
    <p:extLst>
      <p:ext uri="{BB962C8B-B14F-4D97-AF65-F5344CB8AC3E}">
        <p14:creationId xmlns:p14="http://schemas.microsoft.com/office/powerpoint/2010/main" val="792968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ADBBB-B87F-7746-0E58-E875B546DB2F}"/>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276AC43D-C6BB-BDE1-E8A0-BFE0CCA873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AE4FCBD-E329-1FE5-C635-854441BB13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CE838864-F776-3BF5-939A-1AB962ECBFCA}"/>
              </a:ext>
            </a:extLst>
          </p:cNvPr>
          <p:cNvSpPr>
            <a:spLocks noGrp="1"/>
          </p:cNvSpPr>
          <p:nvPr>
            <p:ph type="dt" sz="half" idx="10"/>
          </p:nvPr>
        </p:nvSpPr>
        <p:spPr/>
        <p:txBody>
          <a:bodyPr/>
          <a:lstStyle/>
          <a:p>
            <a:fld id="{25DACC23-53C6-4C8A-AFA4-A537C1F1E1B3}" type="datetimeFigureOut">
              <a:rPr lang="en-PK" smtClean="0"/>
              <a:t>30/03/2026</a:t>
            </a:fld>
            <a:endParaRPr lang="en-PK"/>
          </a:p>
        </p:txBody>
      </p:sp>
      <p:sp>
        <p:nvSpPr>
          <p:cNvPr id="6" name="Footer Placeholder 5">
            <a:extLst>
              <a:ext uri="{FF2B5EF4-FFF2-40B4-BE49-F238E27FC236}">
                <a16:creationId xmlns:a16="http://schemas.microsoft.com/office/drawing/2014/main" id="{42A9C99F-D390-C465-702C-41D6A6A9E03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838C708-2FDB-0FC1-37A5-E41615830B5C}"/>
              </a:ext>
            </a:extLst>
          </p:cNvPr>
          <p:cNvSpPr>
            <a:spLocks noGrp="1"/>
          </p:cNvSpPr>
          <p:nvPr>
            <p:ph type="sldNum" sz="quarter" idx="12"/>
          </p:nvPr>
        </p:nvSpPr>
        <p:spPr/>
        <p:txBody>
          <a:bodyPr/>
          <a:lstStyle/>
          <a:p>
            <a:fld id="{70038C3A-B4D6-44AC-B54F-B3F83341F717}" type="slidenum">
              <a:rPr lang="en-PK" smtClean="0"/>
              <a:t>‹#›</a:t>
            </a:fld>
            <a:endParaRPr lang="en-PK"/>
          </a:p>
        </p:txBody>
      </p:sp>
    </p:spTree>
    <p:extLst>
      <p:ext uri="{BB962C8B-B14F-4D97-AF65-F5344CB8AC3E}">
        <p14:creationId xmlns:p14="http://schemas.microsoft.com/office/powerpoint/2010/main" val="470040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05591-AE23-CCD4-0FEC-8CE08FD4B65C}"/>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50C9483-B129-E51E-BF2B-AB5535824D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9AB122-3729-BC54-D65A-9EF0913F02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2932DA59-4884-8AFB-E691-11D43E164B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EEBDAC-2FB8-B741-63F6-5D042590AD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915F4A3-87BD-C3B8-087E-3277135F4259}"/>
              </a:ext>
            </a:extLst>
          </p:cNvPr>
          <p:cNvSpPr>
            <a:spLocks noGrp="1"/>
          </p:cNvSpPr>
          <p:nvPr>
            <p:ph type="dt" sz="half" idx="10"/>
          </p:nvPr>
        </p:nvSpPr>
        <p:spPr/>
        <p:txBody>
          <a:bodyPr/>
          <a:lstStyle/>
          <a:p>
            <a:fld id="{25DACC23-53C6-4C8A-AFA4-A537C1F1E1B3}" type="datetimeFigureOut">
              <a:rPr lang="en-PK" smtClean="0"/>
              <a:t>30/03/2026</a:t>
            </a:fld>
            <a:endParaRPr lang="en-PK"/>
          </a:p>
        </p:txBody>
      </p:sp>
      <p:sp>
        <p:nvSpPr>
          <p:cNvPr id="8" name="Footer Placeholder 7">
            <a:extLst>
              <a:ext uri="{FF2B5EF4-FFF2-40B4-BE49-F238E27FC236}">
                <a16:creationId xmlns:a16="http://schemas.microsoft.com/office/drawing/2014/main" id="{75FA43F7-EFDB-71D8-ECC9-42A52956740B}"/>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15F19BE7-D478-8FEB-A69F-AEE695D28454}"/>
              </a:ext>
            </a:extLst>
          </p:cNvPr>
          <p:cNvSpPr>
            <a:spLocks noGrp="1"/>
          </p:cNvSpPr>
          <p:nvPr>
            <p:ph type="sldNum" sz="quarter" idx="12"/>
          </p:nvPr>
        </p:nvSpPr>
        <p:spPr/>
        <p:txBody>
          <a:bodyPr/>
          <a:lstStyle/>
          <a:p>
            <a:fld id="{70038C3A-B4D6-44AC-B54F-B3F83341F717}" type="slidenum">
              <a:rPr lang="en-PK" smtClean="0"/>
              <a:t>‹#›</a:t>
            </a:fld>
            <a:endParaRPr lang="en-PK"/>
          </a:p>
        </p:txBody>
      </p:sp>
    </p:spTree>
    <p:extLst>
      <p:ext uri="{BB962C8B-B14F-4D97-AF65-F5344CB8AC3E}">
        <p14:creationId xmlns:p14="http://schemas.microsoft.com/office/powerpoint/2010/main" val="330763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EAF4-6D63-D971-227D-A1738F15C246}"/>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6468EDEA-97A9-4111-4DC5-37B412ABE4E7}"/>
              </a:ext>
            </a:extLst>
          </p:cNvPr>
          <p:cNvSpPr>
            <a:spLocks noGrp="1"/>
          </p:cNvSpPr>
          <p:nvPr>
            <p:ph type="dt" sz="half" idx="10"/>
          </p:nvPr>
        </p:nvSpPr>
        <p:spPr/>
        <p:txBody>
          <a:bodyPr/>
          <a:lstStyle/>
          <a:p>
            <a:fld id="{25DACC23-53C6-4C8A-AFA4-A537C1F1E1B3}" type="datetimeFigureOut">
              <a:rPr lang="en-PK" smtClean="0"/>
              <a:t>30/03/2026</a:t>
            </a:fld>
            <a:endParaRPr lang="en-PK"/>
          </a:p>
        </p:txBody>
      </p:sp>
      <p:sp>
        <p:nvSpPr>
          <p:cNvPr id="4" name="Footer Placeholder 3">
            <a:extLst>
              <a:ext uri="{FF2B5EF4-FFF2-40B4-BE49-F238E27FC236}">
                <a16:creationId xmlns:a16="http://schemas.microsoft.com/office/drawing/2014/main" id="{EDF950C0-09FB-E9F0-B50C-5EC539C0A3AE}"/>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29F1594F-B2A8-B63A-341A-B1FA3A65C4EF}"/>
              </a:ext>
            </a:extLst>
          </p:cNvPr>
          <p:cNvSpPr>
            <a:spLocks noGrp="1"/>
          </p:cNvSpPr>
          <p:nvPr>
            <p:ph type="sldNum" sz="quarter" idx="12"/>
          </p:nvPr>
        </p:nvSpPr>
        <p:spPr/>
        <p:txBody>
          <a:bodyPr/>
          <a:lstStyle/>
          <a:p>
            <a:fld id="{70038C3A-B4D6-44AC-B54F-B3F83341F717}" type="slidenum">
              <a:rPr lang="en-PK" smtClean="0"/>
              <a:t>‹#›</a:t>
            </a:fld>
            <a:endParaRPr lang="en-PK"/>
          </a:p>
        </p:txBody>
      </p:sp>
    </p:spTree>
    <p:extLst>
      <p:ext uri="{BB962C8B-B14F-4D97-AF65-F5344CB8AC3E}">
        <p14:creationId xmlns:p14="http://schemas.microsoft.com/office/powerpoint/2010/main" val="3514496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7BB15-6242-76F4-C04F-1E59B515CA6D}"/>
              </a:ext>
            </a:extLst>
          </p:cNvPr>
          <p:cNvSpPr>
            <a:spLocks noGrp="1"/>
          </p:cNvSpPr>
          <p:nvPr>
            <p:ph type="dt" sz="half" idx="10"/>
          </p:nvPr>
        </p:nvSpPr>
        <p:spPr/>
        <p:txBody>
          <a:bodyPr/>
          <a:lstStyle/>
          <a:p>
            <a:fld id="{25DACC23-53C6-4C8A-AFA4-A537C1F1E1B3}" type="datetimeFigureOut">
              <a:rPr lang="en-PK" smtClean="0"/>
              <a:t>30/03/2026</a:t>
            </a:fld>
            <a:endParaRPr lang="en-PK"/>
          </a:p>
        </p:txBody>
      </p:sp>
      <p:sp>
        <p:nvSpPr>
          <p:cNvPr id="3" name="Footer Placeholder 2">
            <a:extLst>
              <a:ext uri="{FF2B5EF4-FFF2-40B4-BE49-F238E27FC236}">
                <a16:creationId xmlns:a16="http://schemas.microsoft.com/office/drawing/2014/main" id="{0B176FEF-10E6-3286-BFE5-D98D837660E8}"/>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66EA1C91-2A27-3FFB-51FF-0430C7218DEF}"/>
              </a:ext>
            </a:extLst>
          </p:cNvPr>
          <p:cNvSpPr>
            <a:spLocks noGrp="1"/>
          </p:cNvSpPr>
          <p:nvPr>
            <p:ph type="sldNum" sz="quarter" idx="12"/>
          </p:nvPr>
        </p:nvSpPr>
        <p:spPr/>
        <p:txBody>
          <a:bodyPr/>
          <a:lstStyle/>
          <a:p>
            <a:fld id="{70038C3A-B4D6-44AC-B54F-B3F83341F717}" type="slidenum">
              <a:rPr lang="en-PK" smtClean="0"/>
              <a:t>‹#›</a:t>
            </a:fld>
            <a:endParaRPr lang="en-PK"/>
          </a:p>
        </p:txBody>
      </p:sp>
    </p:spTree>
    <p:extLst>
      <p:ext uri="{BB962C8B-B14F-4D97-AF65-F5344CB8AC3E}">
        <p14:creationId xmlns:p14="http://schemas.microsoft.com/office/powerpoint/2010/main" val="3761899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B4F4D-03DA-E9E2-5053-632B2B2F53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4AB01DE2-81E9-EF8D-863D-1DF9E881DB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30C68B8C-D86A-1EB4-8D81-665FB1DFED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8B31CA-C8B3-ABFE-A550-FBC151488F15}"/>
              </a:ext>
            </a:extLst>
          </p:cNvPr>
          <p:cNvSpPr>
            <a:spLocks noGrp="1"/>
          </p:cNvSpPr>
          <p:nvPr>
            <p:ph type="dt" sz="half" idx="10"/>
          </p:nvPr>
        </p:nvSpPr>
        <p:spPr/>
        <p:txBody>
          <a:bodyPr/>
          <a:lstStyle/>
          <a:p>
            <a:fld id="{25DACC23-53C6-4C8A-AFA4-A537C1F1E1B3}" type="datetimeFigureOut">
              <a:rPr lang="en-PK" smtClean="0"/>
              <a:t>30/03/2026</a:t>
            </a:fld>
            <a:endParaRPr lang="en-PK"/>
          </a:p>
        </p:txBody>
      </p:sp>
      <p:sp>
        <p:nvSpPr>
          <p:cNvPr id="6" name="Footer Placeholder 5">
            <a:extLst>
              <a:ext uri="{FF2B5EF4-FFF2-40B4-BE49-F238E27FC236}">
                <a16:creationId xmlns:a16="http://schemas.microsoft.com/office/drawing/2014/main" id="{B3808715-E80C-6898-FEFF-0B9F21DD43B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02B38AA5-DE7E-7F9C-D9F7-CA6870B782B4}"/>
              </a:ext>
            </a:extLst>
          </p:cNvPr>
          <p:cNvSpPr>
            <a:spLocks noGrp="1"/>
          </p:cNvSpPr>
          <p:nvPr>
            <p:ph type="sldNum" sz="quarter" idx="12"/>
          </p:nvPr>
        </p:nvSpPr>
        <p:spPr/>
        <p:txBody>
          <a:bodyPr/>
          <a:lstStyle/>
          <a:p>
            <a:fld id="{70038C3A-B4D6-44AC-B54F-B3F83341F717}" type="slidenum">
              <a:rPr lang="en-PK" smtClean="0"/>
              <a:t>‹#›</a:t>
            </a:fld>
            <a:endParaRPr lang="en-PK"/>
          </a:p>
        </p:txBody>
      </p:sp>
    </p:spTree>
    <p:extLst>
      <p:ext uri="{BB962C8B-B14F-4D97-AF65-F5344CB8AC3E}">
        <p14:creationId xmlns:p14="http://schemas.microsoft.com/office/powerpoint/2010/main" val="3854556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B3973-ED0F-9BA6-DE4E-855C4E4C4A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6BA531DD-95FA-8C7C-FA21-DA95403D53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8C1A6B86-0B96-9DA3-9C46-CEDE07AEA0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4F6AAB-12FB-2256-A50C-D4EC12D5B374}"/>
              </a:ext>
            </a:extLst>
          </p:cNvPr>
          <p:cNvSpPr>
            <a:spLocks noGrp="1"/>
          </p:cNvSpPr>
          <p:nvPr>
            <p:ph type="dt" sz="half" idx="10"/>
          </p:nvPr>
        </p:nvSpPr>
        <p:spPr/>
        <p:txBody>
          <a:bodyPr/>
          <a:lstStyle/>
          <a:p>
            <a:fld id="{25DACC23-53C6-4C8A-AFA4-A537C1F1E1B3}" type="datetimeFigureOut">
              <a:rPr lang="en-PK" smtClean="0"/>
              <a:t>30/03/2026</a:t>
            </a:fld>
            <a:endParaRPr lang="en-PK"/>
          </a:p>
        </p:txBody>
      </p:sp>
      <p:sp>
        <p:nvSpPr>
          <p:cNvPr id="6" name="Footer Placeholder 5">
            <a:extLst>
              <a:ext uri="{FF2B5EF4-FFF2-40B4-BE49-F238E27FC236}">
                <a16:creationId xmlns:a16="http://schemas.microsoft.com/office/drawing/2014/main" id="{4E262C42-894B-9C5A-72D4-EF68B8725696}"/>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2F56D6B6-8B2D-6B3A-F606-B54817B34C74}"/>
              </a:ext>
            </a:extLst>
          </p:cNvPr>
          <p:cNvSpPr>
            <a:spLocks noGrp="1"/>
          </p:cNvSpPr>
          <p:nvPr>
            <p:ph type="sldNum" sz="quarter" idx="12"/>
          </p:nvPr>
        </p:nvSpPr>
        <p:spPr/>
        <p:txBody>
          <a:bodyPr/>
          <a:lstStyle/>
          <a:p>
            <a:fld id="{70038C3A-B4D6-44AC-B54F-B3F83341F717}" type="slidenum">
              <a:rPr lang="en-PK" smtClean="0"/>
              <a:t>‹#›</a:t>
            </a:fld>
            <a:endParaRPr lang="en-PK"/>
          </a:p>
        </p:txBody>
      </p:sp>
    </p:spTree>
    <p:extLst>
      <p:ext uri="{BB962C8B-B14F-4D97-AF65-F5344CB8AC3E}">
        <p14:creationId xmlns:p14="http://schemas.microsoft.com/office/powerpoint/2010/main" val="984219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E5878-4E89-63AD-6CF0-3DF166521633}"/>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A391872-BD1A-D8AA-3460-5D836FAD31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78CBDF-199E-CB89-2D3D-3010BCC8FA0B}"/>
              </a:ext>
            </a:extLst>
          </p:cNvPr>
          <p:cNvSpPr>
            <a:spLocks noGrp="1"/>
          </p:cNvSpPr>
          <p:nvPr>
            <p:ph type="dt" sz="half" idx="10"/>
          </p:nvPr>
        </p:nvSpPr>
        <p:spPr/>
        <p:txBody>
          <a:bodyPr/>
          <a:lstStyle/>
          <a:p>
            <a:fld id="{25DACC23-53C6-4C8A-AFA4-A537C1F1E1B3}" type="datetimeFigureOut">
              <a:rPr lang="en-PK" smtClean="0"/>
              <a:t>30/03/2026</a:t>
            </a:fld>
            <a:endParaRPr lang="en-PK"/>
          </a:p>
        </p:txBody>
      </p:sp>
      <p:sp>
        <p:nvSpPr>
          <p:cNvPr id="5" name="Footer Placeholder 4">
            <a:extLst>
              <a:ext uri="{FF2B5EF4-FFF2-40B4-BE49-F238E27FC236}">
                <a16:creationId xmlns:a16="http://schemas.microsoft.com/office/drawing/2014/main" id="{A340F7DC-6ACF-A399-D574-3CFFEB6212A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72B65BB-D76E-727C-7419-CC1677BE80DB}"/>
              </a:ext>
            </a:extLst>
          </p:cNvPr>
          <p:cNvSpPr>
            <a:spLocks noGrp="1"/>
          </p:cNvSpPr>
          <p:nvPr>
            <p:ph type="sldNum" sz="quarter" idx="12"/>
          </p:nvPr>
        </p:nvSpPr>
        <p:spPr/>
        <p:txBody>
          <a:bodyPr/>
          <a:lstStyle/>
          <a:p>
            <a:fld id="{70038C3A-B4D6-44AC-B54F-B3F83341F717}" type="slidenum">
              <a:rPr lang="en-PK" smtClean="0"/>
              <a:t>‹#›</a:t>
            </a:fld>
            <a:endParaRPr lang="en-PK"/>
          </a:p>
        </p:txBody>
      </p:sp>
    </p:spTree>
    <p:extLst>
      <p:ext uri="{BB962C8B-B14F-4D97-AF65-F5344CB8AC3E}">
        <p14:creationId xmlns:p14="http://schemas.microsoft.com/office/powerpoint/2010/main" val="3815919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6D3745-76FB-B86F-8C1A-7CBB2EAB31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3ECC194D-332A-F96D-3EA9-9DADFC2C73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C66F74D-0E95-83CD-1538-12ED42ADEB3F}"/>
              </a:ext>
            </a:extLst>
          </p:cNvPr>
          <p:cNvSpPr>
            <a:spLocks noGrp="1"/>
          </p:cNvSpPr>
          <p:nvPr>
            <p:ph type="dt" sz="half" idx="10"/>
          </p:nvPr>
        </p:nvSpPr>
        <p:spPr/>
        <p:txBody>
          <a:bodyPr/>
          <a:lstStyle/>
          <a:p>
            <a:fld id="{25DACC23-53C6-4C8A-AFA4-A537C1F1E1B3}" type="datetimeFigureOut">
              <a:rPr lang="en-PK" smtClean="0"/>
              <a:t>30/03/2026</a:t>
            </a:fld>
            <a:endParaRPr lang="en-PK"/>
          </a:p>
        </p:txBody>
      </p:sp>
      <p:sp>
        <p:nvSpPr>
          <p:cNvPr id="5" name="Footer Placeholder 4">
            <a:extLst>
              <a:ext uri="{FF2B5EF4-FFF2-40B4-BE49-F238E27FC236}">
                <a16:creationId xmlns:a16="http://schemas.microsoft.com/office/drawing/2014/main" id="{BE93CB79-56BC-2F81-8DC1-96B224F5F91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420638C-1CAF-2E3D-0EF1-23B9BDC9BACB}"/>
              </a:ext>
            </a:extLst>
          </p:cNvPr>
          <p:cNvSpPr>
            <a:spLocks noGrp="1"/>
          </p:cNvSpPr>
          <p:nvPr>
            <p:ph type="sldNum" sz="quarter" idx="12"/>
          </p:nvPr>
        </p:nvSpPr>
        <p:spPr/>
        <p:txBody>
          <a:bodyPr/>
          <a:lstStyle/>
          <a:p>
            <a:fld id="{70038C3A-B4D6-44AC-B54F-B3F83341F717}" type="slidenum">
              <a:rPr lang="en-PK" smtClean="0"/>
              <a:t>‹#›</a:t>
            </a:fld>
            <a:endParaRPr lang="en-PK"/>
          </a:p>
        </p:txBody>
      </p:sp>
    </p:spTree>
    <p:extLst>
      <p:ext uri="{BB962C8B-B14F-4D97-AF65-F5344CB8AC3E}">
        <p14:creationId xmlns:p14="http://schemas.microsoft.com/office/powerpoint/2010/main" val="820983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7DBE7D-FF28-40B9-5CD5-F5A34E3222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86F2CD66-731A-353A-610C-E756883533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3830BFB-A60C-0432-94A4-1DE8A37A64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ACC23-53C6-4C8A-AFA4-A537C1F1E1B3}" type="datetimeFigureOut">
              <a:rPr lang="en-PK" smtClean="0"/>
              <a:t>30/03/2026</a:t>
            </a:fld>
            <a:endParaRPr lang="en-PK"/>
          </a:p>
        </p:txBody>
      </p:sp>
      <p:sp>
        <p:nvSpPr>
          <p:cNvPr id="5" name="Footer Placeholder 4">
            <a:extLst>
              <a:ext uri="{FF2B5EF4-FFF2-40B4-BE49-F238E27FC236}">
                <a16:creationId xmlns:a16="http://schemas.microsoft.com/office/drawing/2014/main" id="{6C62B0C9-1029-B54D-610C-40A1DCC672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71A980D5-6F1E-0DB7-DE89-88B3D94529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038C3A-B4D6-44AC-B54F-B3F83341F717}" type="slidenum">
              <a:rPr lang="en-PK" smtClean="0"/>
              <a:t>‹#›</a:t>
            </a:fld>
            <a:endParaRPr lang="en-PK"/>
          </a:p>
        </p:txBody>
      </p:sp>
    </p:spTree>
    <p:extLst>
      <p:ext uri="{BB962C8B-B14F-4D97-AF65-F5344CB8AC3E}">
        <p14:creationId xmlns:p14="http://schemas.microsoft.com/office/powerpoint/2010/main" val="2924905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aria.kiran@ucp.edu.pk" TargetMode="Externa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javarevisited.blogspot.com/2012/03/what-is-encapsulation-in-java-and-oops.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object 2">
            <a:extLst>
              <a:ext uri="{FF2B5EF4-FFF2-40B4-BE49-F238E27FC236}">
                <a16:creationId xmlns:a16="http://schemas.microsoft.com/office/drawing/2014/main" id="{7ACF4AEC-E7D2-A999-74F2-F727DF25227B}"/>
              </a:ext>
            </a:extLst>
          </p:cNvPr>
          <p:cNvSpPr>
            <a:spLocks noGrp="1" noChangeArrowheads="1"/>
          </p:cNvSpPr>
          <p:nvPr>
            <p:ph type="title"/>
          </p:nvPr>
        </p:nvSpPr>
        <p:spPr>
          <a:xfrm>
            <a:off x="2381250" y="1316039"/>
            <a:ext cx="7200900" cy="1247775"/>
          </a:xfrm>
        </p:spPr>
        <p:txBody>
          <a:bodyPr vert="horz" lIns="0" tIns="87154" rIns="0" bIns="0" rtlCol="0" anchor="ctr">
            <a:spAutoFit/>
          </a:bodyPr>
          <a:lstStyle/>
          <a:p>
            <a:pPr marL="7938" algn="ctr">
              <a:lnSpc>
                <a:spcPts val="4863"/>
              </a:lnSpc>
              <a:spcBef>
                <a:spcPts val="688"/>
              </a:spcBef>
            </a:pPr>
            <a:r>
              <a:rPr lang="en-PK" altLang="en-PK" sz="3000" b="1" dirty="0">
                <a:cs typeface="Calibri Light" panose="020F0302020204030204" pitchFamily="34" charset="0"/>
              </a:rPr>
              <a:t>Software Construction and Development</a:t>
            </a:r>
            <a:br>
              <a:rPr lang="en-US" altLang="en-PK" sz="3000" b="1" dirty="0">
                <a:cs typeface="Calibri Light" panose="020F0302020204030204" pitchFamily="34" charset="0"/>
              </a:rPr>
            </a:br>
            <a:r>
              <a:rPr lang="en-US" altLang="en-PK" sz="1800" b="1" dirty="0">
                <a:cs typeface="Calibri Light" panose="020F0302020204030204" pitchFamily="34" charset="0"/>
              </a:rPr>
              <a:t>Design Patterns in Java</a:t>
            </a:r>
            <a:endParaRPr lang="en-PK" altLang="en-PK" sz="2100" b="1" dirty="0">
              <a:latin typeface="Calibri" panose="020F0502020204030204" pitchFamily="34" charset="0"/>
              <a:cs typeface="Calibri" panose="020F0502020204030204" pitchFamily="34" charset="0"/>
            </a:endParaRPr>
          </a:p>
        </p:txBody>
      </p:sp>
      <p:sp>
        <p:nvSpPr>
          <p:cNvPr id="16387" name="Subtitle 2">
            <a:extLst>
              <a:ext uri="{FF2B5EF4-FFF2-40B4-BE49-F238E27FC236}">
                <a16:creationId xmlns:a16="http://schemas.microsoft.com/office/drawing/2014/main" id="{125D9625-AE77-D6B5-CAC7-79B6FFBE3410}"/>
              </a:ext>
            </a:extLst>
          </p:cNvPr>
          <p:cNvSpPr txBox="1">
            <a:spLocks noChangeArrowheads="1"/>
          </p:cNvSpPr>
          <p:nvPr/>
        </p:nvSpPr>
        <p:spPr bwMode="auto">
          <a:xfrm>
            <a:off x="2895600" y="4322764"/>
            <a:ext cx="5753100"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685800" indent="-22860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a:lnSpc>
                <a:spcPct val="120000"/>
              </a:lnSpc>
              <a:spcBef>
                <a:spcPts val="1000"/>
              </a:spcBef>
              <a:buClr>
                <a:schemeClr val="accent1"/>
              </a:buClr>
              <a:buNone/>
            </a:pPr>
            <a:r>
              <a:rPr lang="en-US" altLang="en-PK" sz="1600" dirty="0">
                <a:cs typeface="Calibri" panose="020F0502020204030204" pitchFamily="34" charset="0"/>
              </a:rPr>
              <a:t>Khizar Hayat</a:t>
            </a:r>
          </a:p>
          <a:p>
            <a:pPr algn="ctr">
              <a:lnSpc>
                <a:spcPct val="120000"/>
              </a:lnSpc>
              <a:spcBef>
                <a:spcPts val="1000"/>
              </a:spcBef>
              <a:buClr>
                <a:schemeClr val="accent1"/>
              </a:buClr>
              <a:buNone/>
            </a:pPr>
            <a:r>
              <a:rPr lang="en-US" altLang="en-PK" sz="1600" dirty="0">
                <a:solidFill>
                  <a:srgbClr val="0070C0"/>
                </a:solidFill>
                <a:cs typeface="Calibri" panose="020F0502020204030204" pitchFamily="34" charset="0"/>
                <a:hlinkClick r:id="rId2"/>
              </a:rPr>
              <a:t>Email: Khizer.hayat@ucp.edu.pk</a:t>
            </a:r>
            <a:endParaRPr lang="en-US" altLang="en-PK" sz="1600" dirty="0">
              <a:solidFill>
                <a:srgbClr val="0070C0"/>
              </a:solidFill>
              <a:cs typeface="Calibri" panose="020F0502020204030204" pitchFamily="34" charset="0"/>
            </a:endParaRPr>
          </a:p>
          <a:p>
            <a:pPr algn="ctr">
              <a:lnSpc>
                <a:spcPct val="120000"/>
              </a:lnSpc>
              <a:spcBef>
                <a:spcPts val="1000"/>
              </a:spcBef>
              <a:buClr>
                <a:schemeClr val="accent1"/>
              </a:buClr>
              <a:buNone/>
            </a:pPr>
            <a:r>
              <a:rPr lang="en-US" altLang="en-PK" sz="1600" b="1" dirty="0">
                <a:cs typeface="Calibri" panose="020F0502020204030204" pitchFamily="34" charset="0"/>
              </a:rPr>
              <a:t>Office:</a:t>
            </a:r>
            <a:r>
              <a:rPr lang="en-US" altLang="en-PK" sz="1600" dirty="0">
                <a:cs typeface="Calibri" panose="020F0502020204030204" pitchFamily="34" charset="0"/>
              </a:rPr>
              <a:t> Building D, 2</a:t>
            </a:r>
            <a:r>
              <a:rPr lang="en-US" altLang="en-PK" sz="1600" baseline="30000" dirty="0">
                <a:cs typeface="Calibri" panose="020F0502020204030204" pitchFamily="34" charset="0"/>
              </a:rPr>
              <a:t>nd  Floor </a:t>
            </a:r>
            <a:endParaRPr lang="en-US" altLang="en-PK" sz="1600" dirty="0">
              <a:cs typeface="Calibri" panose="020F0502020204030204" pitchFamily="34" charset="0"/>
            </a:endParaRPr>
          </a:p>
          <a:p>
            <a:pPr algn="ctr">
              <a:lnSpc>
                <a:spcPct val="120000"/>
              </a:lnSpc>
              <a:spcBef>
                <a:spcPts val="1000"/>
              </a:spcBef>
              <a:buClr>
                <a:schemeClr val="accent1"/>
              </a:buClr>
              <a:buNone/>
            </a:pPr>
            <a:r>
              <a:rPr lang="en-US" altLang="en-PK" sz="1600" b="1">
                <a:cs typeface="Calibri" panose="020F0502020204030204" pitchFamily="34" charset="0"/>
              </a:rPr>
              <a:t>OFFICE HOURS: </a:t>
            </a:r>
            <a:r>
              <a:rPr lang="en-US" altLang="en-PK" sz="1600">
                <a:cs typeface="Calibri" panose="020F0502020204030204" pitchFamily="34" charset="0"/>
              </a:rPr>
              <a:t>Friday  (9:00 to 11:00)</a:t>
            </a:r>
          </a:p>
          <a:p>
            <a:pPr algn="ctr">
              <a:lnSpc>
                <a:spcPct val="120000"/>
              </a:lnSpc>
              <a:spcBef>
                <a:spcPts val="1000"/>
              </a:spcBef>
              <a:buClr>
                <a:schemeClr val="accent1"/>
              </a:buClr>
              <a:buNone/>
            </a:pPr>
            <a:endParaRPr lang="en-PK" altLang="en-PK" sz="1400" dirty="0">
              <a:cs typeface="Calibri" panose="020F0502020204030204" pitchFamily="34" charset="0"/>
            </a:endParaRPr>
          </a:p>
        </p:txBody>
      </p:sp>
    </p:spTree>
  </p:cSld>
  <p:clrMapOvr>
    <a:masterClrMapping/>
  </p:clrMapOvr>
  <p:transition spd="med">
    <p:pull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90FB9-B06C-947A-5C49-940DB1FDC8CF}"/>
              </a:ext>
            </a:extLst>
          </p:cNvPr>
          <p:cNvSpPr>
            <a:spLocks noGrp="1"/>
          </p:cNvSpPr>
          <p:nvPr>
            <p:ph type="title"/>
          </p:nvPr>
        </p:nvSpPr>
        <p:spPr/>
        <p:txBody>
          <a:bodyPr/>
          <a:lstStyle/>
          <a:p>
            <a:r>
              <a:rPr lang="en-US" b="1" dirty="0">
                <a:latin typeface="+mn-lt"/>
              </a:rPr>
              <a:t>Design Pattern:</a:t>
            </a:r>
            <a:endParaRPr lang="en-PK" b="1" dirty="0">
              <a:latin typeface="+mn-lt"/>
            </a:endParaRPr>
          </a:p>
        </p:txBody>
      </p:sp>
      <p:sp>
        <p:nvSpPr>
          <p:cNvPr id="3" name="Content Placeholder 2">
            <a:extLst>
              <a:ext uri="{FF2B5EF4-FFF2-40B4-BE49-F238E27FC236}">
                <a16:creationId xmlns:a16="http://schemas.microsoft.com/office/drawing/2014/main" id="{9FE5318E-4734-0549-BB51-F25B1B557AEF}"/>
              </a:ext>
            </a:extLst>
          </p:cNvPr>
          <p:cNvSpPr>
            <a:spLocks noGrp="1"/>
          </p:cNvSpPr>
          <p:nvPr>
            <p:ph idx="1"/>
          </p:nvPr>
        </p:nvSpPr>
        <p:spPr/>
        <p:txBody>
          <a:bodyPr>
            <a:normAutofit fontScale="92500" lnSpcReduction="20000"/>
          </a:bodyPr>
          <a:lstStyle/>
          <a:p>
            <a:pPr marL="114300" indent="0">
              <a:lnSpc>
                <a:spcPct val="150000"/>
              </a:lnSpc>
              <a:buNone/>
            </a:pPr>
            <a:r>
              <a:rPr lang="en-US" b="1" dirty="0"/>
              <a:t>Definition:</a:t>
            </a:r>
          </a:p>
          <a:p>
            <a:pPr>
              <a:lnSpc>
                <a:spcPct val="150000"/>
              </a:lnSpc>
              <a:buFont typeface="Arial" panose="020B0604020202020204" pitchFamily="34" charset="0"/>
              <a:buChar char="•"/>
            </a:pPr>
            <a:r>
              <a:rPr lang="en-US" dirty="0"/>
              <a:t>A </a:t>
            </a:r>
            <a:r>
              <a:rPr lang="en-US" b="1" dirty="0"/>
              <a:t>design pattern</a:t>
            </a:r>
            <a:r>
              <a:rPr lang="en-US" dirty="0"/>
              <a:t> is a reusable solution to a common problem in software design.</a:t>
            </a:r>
          </a:p>
          <a:p>
            <a:pPr>
              <a:lnSpc>
                <a:spcPct val="150000"/>
              </a:lnSpc>
              <a:buFont typeface="Arial" panose="020B0604020202020204" pitchFamily="34" charset="0"/>
              <a:buChar char="•"/>
            </a:pPr>
            <a:r>
              <a:rPr lang="en-US" dirty="0"/>
              <a:t>It provides a standard way to solve recurring design issues.</a:t>
            </a:r>
          </a:p>
          <a:p>
            <a:pPr marL="114300" indent="0">
              <a:lnSpc>
                <a:spcPct val="150000"/>
              </a:lnSpc>
              <a:buNone/>
            </a:pPr>
            <a:r>
              <a:rPr lang="en-US" b="1" dirty="0"/>
              <a:t>Key Points:</a:t>
            </a:r>
          </a:p>
          <a:p>
            <a:pPr>
              <a:lnSpc>
                <a:spcPct val="150000"/>
              </a:lnSpc>
              <a:buFont typeface="Arial" panose="020B0604020202020204" pitchFamily="34" charset="0"/>
              <a:buChar char="•"/>
            </a:pPr>
            <a:r>
              <a:rPr lang="en-US" dirty="0"/>
              <a:t>Not a finished design or code, but a guideline.</a:t>
            </a:r>
          </a:p>
          <a:p>
            <a:pPr>
              <a:lnSpc>
                <a:spcPct val="150000"/>
              </a:lnSpc>
              <a:buFont typeface="Arial" panose="020B0604020202020204" pitchFamily="34" charset="0"/>
              <a:buChar char="•"/>
            </a:pPr>
            <a:r>
              <a:rPr lang="en-US" dirty="0"/>
              <a:t>A blueprint to help structure and organize code effectively.</a:t>
            </a:r>
          </a:p>
          <a:p>
            <a:pPr>
              <a:lnSpc>
                <a:spcPct val="150000"/>
              </a:lnSpc>
            </a:pPr>
            <a:endParaRPr lang="en-PK" dirty="0"/>
          </a:p>
        </p:txBody>
      </p:sp>
    </p:spTree>
    <p:extLst>
      <p:ext uri="{BB962C8B-B14F-4D97-AF65-F5344CB8AC3E}">
        <p14:creationId xmlns:p14="http://schemas.microsoft.com/office/powerpoint/2010/main" val="2141228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58A1A-F7E2-122A-2A67-001FC7BFE664}"/>
              </a:ext>
            </a:extLst>
          </p:cNvPr>
          <p:cNvSpPr>
            <a:spLocks noGrp="1"/>
          </p:cNvSpPr>
          <p:nvPr>
            <p:ph type="title"/>
          </p:nvPr>
        </p:nvSpPr>
        <p:spPr/>
        <p:txBody>
          <a:bodyPr/>
          <a:lstStyle/>
          <a:p>
            <a:r>
              <a:rPr lang="en-US" sz="3200" b="1" dirty="0">
                <a:latin typeface="+mn-lt"/>
              </a:rPr>
              <a:t>Why Are Design Patterns Important?</a:t>
            </a:r>
            <a:br>
              <a:rPr lang="en-US" sz="3200" b="1" dirty="0">
                <a:latin typeface="+mn-lt"/>
              </a:rPr>
            </a:br>
            <a:endParaRPr lang="en-PK" sz="3200" b="1" dirty="0">
              <a:latin typeface="+mn-lt"/>
            </a:endParaRPr>
          </a:p>
        </p:txBody>
      </p:sp>
      <p:sp>
        <p:nvSpPr>
          <p:cNvPr id="3" name="Content Placeholder 2">
            <a:extLst>
              <a:ext uri="{FF2B5EF4-FFF2-40B4-BE49-F238E27FC236}">
                <a16:creationId xmlns:a16="http://schemas.microsoft.com/office/drawing/2014/main" id="{CCA8ECA2-1361-2BD4-0879-8204AB0495A1}"/>
              </a:ext>
            </a:extLst>
          </p:cNvPr>
          <p:cNvSpPr>
            <a:spLocks noGrp="1"/>
          </p:cNvSpPr>
          <p:nvPr>
            <p:ph idx="1"/>
          </p:nvPr>
        </p:nvSpPr>
        <p:spPr/>
        <p:txBody>
          <a:bodyPr>
            <a:normAutofit fontScale="85000" lnSpcReduction="20000"/>
          </a:bodyPr>
          <a:lstStyle/>
          <a:p>
            <a:pPr>
              <a:lnSpc>
                <a:spcPct val="150000"/>
              </a:lnSpc>
              <a:buFont typeface="+mj-lt"/>
              <a:buAutoNum type="arabicPeriod"/>
            </a:pPr>
            <a:r>
              <a:rPr lang="en-US" b="1" dirty="0"/>
              <a:t>Improves Code Reusability</a:t>
            </a:r>
            <a:endParaRPr lang="en-US" dirty="0"/>
          </a:p>
          <a:p>
            <a:pPr marL="800100" lvl="1" indent="-342900">
              <a:lnSpc>
                <a:spcPct val="150000"/>
              </a:lnSpc>
            </a:pPr>
            <a:r>
              <a:rPr lang="en-US" dirty="0"/>
              <a:t>Saves time and effort by reusing proven solutions.</a:t>
            </a:r>
          </a:p>
          <a:p>
            <a:pPr>
              <a:lnSpc>
                <a:spcPct val="150000"/>
              </a:lnSpc>
              <a:buFont typeface="+mj-lt"/>
              <a:buAutoNum type="arabicPeriod"/>
            </a:pPr>
            <a:r>
              <a:rPr lang="en-US" b="1" dirty="0"/>
              <a:t>Enhances Communication</a:t>
            </a:r>
            <a:endParaRPr lang="en-US" dirty="0"/>
          </a:p>
          <a:p>
            <a:pPr marL="800100" lvl="1" indent="-342900">
              <a:lnSpc>
                <a:spcPct val="150000"/>
              </a:lnSpc>
            </a:pPr>
            <a:r>
              <a:rPr lang="en-US" dirty="0"/>
              <a:t>Creates a shared vocabulary for developers.</a:t>
            </a:r>
          </a:p>
          <a:p>
            <a:pPr>
              <a:lnSpc>
                <a:spcPct val="150000"/>
              </a:lnSpc>
              <a:buFont typeface="+mj-lt"/>
              <a:buAutoNum type="arabicPeriod"/>
            </a:pPr>
            <a:r>
              <a:rPr lang="en-US" b="1" dirty="0"/>
              <a:t>Provides Best Practices</a:t>
            </a:r>
            <a:endParaRPr lang="en-US" dirty="0"/>
          </a:p>
          <a:p>
            <a:pPr marL="800100" lvl="1" indent="-342900">
              <a:lnSpc>
                <a:spcPct val="150000"/>
              </a:lnSpc>
            </a:pPr>
            <a:r>
              <a:rPr lang="en-US" dirty="0"/>
              <a:t>Offers tried-and-tested solutions.</a:t>
            </a:r>
          </a:p>
          <a:p>
            <a:pPr>
              <a:lnSpc>
                <a:spcPct val="150000"/>
              </a:lnSpc>
              <a:buFont typeface="+mj-lt"/>
              <a:buAutoNum type="arabicPeriod"/>
            </a:pPr>
            <a:r>
              <a:rPr lang="en-US" b="1" dirty="0"/>
              <a:t>Eases Maintenance</a:t>
            </a:r>
            <a:endParaRPr lang="en-US" dirty="0"/>
          </a:p>
          <a:p>
            <a:pPr marL="800100" lvl="1" indent="-342900">
              <a:lnSpc>
                <a:spcPct val="150000"/>
              </a:lnSpc>
            </a:pPr>
            <a:r>
              <a:rPr lang="en-US" dirty="0"/>
              <a:t>Helps create flexible and maintainable designs.</a:t>
            </a:r>
          </a:p>
          <a:p>
            <a:pPr>
              <a:lnSpc>
                <a:spcPct val="150000"/>
              </a:lnSpc>
            </a:pPr>
            <a:endParaRPr lang="en-PK" dirty="0"/>
          </a:p>
        </p:txBody>
      </p:sp>
    </p:spTree>
    <p:extLst>
      <p:ext uri="{BB962C8B-B14F-4D97-AF65-F5344CB8AC3E}">
        <p14:creationId xmlns:p14="http://schemas.microsoft.com/office/powerpoint/2010/main" val="2331643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patterns Usability</a:t>
            </a:r>
          </a:p>
        </p:txBody>
      </p:sp>
      <p:sp>
        <p:nvSpPr>
          <p:cNvPr id="3" name="Content Placeholder 2"/>
          <p:cNvSpPr>
            <a:spLocks noGrp="1"/>
          </p:cNvSpPr>
          <p:nvPr>
            <p:ph idx="1"/>
          </p:nvPr>
        </p:nvSpPr>
        <p:spPr/>
        <p:txBody>
          <a:bodyPr/>
          <a:lstStyle/>
          <a:p>
            <a:pPr algn="just"/>
            <a:r>
              <a:rPr lang="en-US" dirty="0"/>
              <a:t>Design patterns are programming language independent strategies for solving the common object-oriented design problems. </a:t>
            </a:r>
          </a:p>
          <a:p>
            <a:pPr lvl="1" algn="just"/>
            <a:r>
              <a:rPr lang="en-US" dirty="0"/>
              <a:t>That means, a design pattern represents an idea, not a particular implementation.</a:t>
            </a:r>
          </a:p>
          <a:p>
            <a:pPr algn="just"/>
            <a:r>
              <a:rPr lang="en-US" dirty="0"/>
              <a:t>By using the design patterns you can make your code more flexible, reusable and maintainable. </a:t>
            </a:r>
          </a:p>
          <a:p>
            <a:pPr algn="just"/>
            <a:r>
              <a:rPr lang="en-US" dirty="0"/>
              <a:t>To become a professional software developer, you must know at least some popular solutions (i.e. design patterns) to the coding problems.</a:t>
            </a:r>
          </a:p>
          <a:p>
            <a:pPr algn="just"/>
            <a:endParaRPr lang="en-US" dirty="0"/>
          </a:p>
        </p:txBody>
      </p:sp>
    </p:spTree>
    <p:extLst>
      <p:ext uri="{BB962C8B-B14F-4D97-AF65-F5344CB8AC3E}">
        <p14:creationId xmlns:p14="http://schemas.microsoft.com/office/powerpoint/2010/main" val="3437174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79493EC-88CD-D80C-7ADA-B7CE0BDDBADA}"/>
              </a:ext>
            </a:extLst>
          </p:cNvPr>
          <p:cNvSpPr>
            <a:spLocks noGrp="1"/>
          </p:cNvSpPr>
          <p:nvPr>
            <p:ph type="body" idx="1"/>
          </p:nvPr>
        </p:nvSpPr>
        <p:spPr>
          <a:xfrm>
            <a:off x="1905000" y="533400"/>
            <a:ext cx="3657600" cy="639762"/>
          </a:xfrm>
        </p:spPr>
        <p:txBody>
          <a:bodyPr>
            <a:normAutofit fontScale="92500" lnSpcReduction="10000"/>
          </a:bodyPr>
          <a:lstStyle/>
          <a:p>
            <a:r>
              <a:rPr lang="en-US" dirty="0"/>
              <a:t>Advantages of Design Patterns</a:t>
            </a:r>
            <a:endParaRPr lang="en-PK" dirty="0"/>
          </a:p>
        </p:txBody>
      </p:sp>
      <p:sp>
        <p:nvSpPr>
          <p:cNvPr id="4" name="Content Placeholder 3">
            <a:extLst>
              <a:ext uri="{FF2B5EF4-FFF2-40B4-BE49-F238E27FC236}">
                <a16:creationId xmlns:a16="http://schemas.microsoft.com/office/drawing/2014/main" id="{893B527E-EEF6-00C3-40BE-40CD1A7DAAEC}"/>
              </a:ext>
            </a:extLst>
          </p:cNvPr>
          <p:cNvSpPr>
            <a:spLocks noGrp="1"/>
          </p:cNvSpPr>
          <p:nvPr>
            <p:ph sz="half" idx="2"/>
          </p:nvPr>
        </p:nvSpPr>
        <p:spPr>
          <a:xfrm>
            <a:off x="1981200" y="1562916"/>
            <a:ext cx="3657600" cy="4724400"/>
          </a:xfrm>
        </p:spPr>
        <p:txBody>
          <a:bodyPr>
            <a:normAutofit fontScale="92500"/>
          </a:bodyPr>
          <a:lstStyle/>
          <a:p>
            <a:pPr>
              <a:buFont typeface="+mj-lt"/>
              <a:buAutoNum type="arabicPeriod"/>
            </a:pPr>
            <a:r>
              <a:rPr lang="en-US" b="1" dirty="0"/>
              <a:t>Reusability</a:t>
            </a:r>
            <a:endParaRPr lang="en-US" dirty="0"/>
          </a:p>
          <a:p>
            <a:pPr marL="457200" lvl="1" indent="0">
              <a:buNone/>
            </a:pPr>
            <a:r>
              <a:rPr lang="en-US" dirty="0"/>
              <a:t>Saves development time and effort.</a:t>
            </a:r>
          </a:p>
          <a:p>
            <a:pPr>
              <a:buFont typeface="+mj-lt"/>
              <a:buAutoNum type="arabicPeriod"/>
            </a:pPr>
            <a:r>
              <a:rPr lang="en-US" b="1" dirty="0"/>
              <a:t>Consistency</a:t>
            </a:r>
            <a:endParaRPr lang="en-US" dirty="0"/>
          </a:p>
          <a:p>
            <a:pPr marL="457200" lvl="1" indent="0">
              <a:buNone/>
            </a:pPr>
            <a:r>
              <a:rPr lang="en-US" dirty="0"/>
              <a:t>Promotes uniform coding practices.</a:t>
            </a:r>
          </a:p>
          <a:p>
            <a:pPr>
              <a:buFont typeface="+mj-lt"/>
              <a:buAutoNum type="arabicPeriod"/>
            </a:pPr>
            <a:r>
              <a:rPr lang="en-US" b="1" dirty="0"/>
              <a:t>Efficiency</a:t>
            </a:r>
            <a:endParaRPr lang="en-US" dirty="0"/>
          </a:p>
          <a:p>
            <a:pPr marL="457200" lvl="1" indent="0">
              <a:buNone/>
            </a:pPr>
            <a:r>
              <a:rPr lang="en-US" dirty="0"/>
              <a:t>Offers optimized solutions to common issues.</a:t>
            </a:r>
          </a:p>
          <a:p>
            <a:pPr>
              <a:buFont typeface="+mj-lt"/>
              <a:buAutoNum type="arabicPeriod"/>
            </a:pPr>
            <a:r>
              <a:rPr lang="en-US" b="1" dirty="0"/>
              <a:t>Readability</a:t>
            </a:r>
            <a:endParaRPr lang="en-US" dirty="0"/>
          </a:p>
          <a:p>
            <a:pPr marL="457200" lvl="1" indent="0">
              <a:buNone/>
            </a:pPr>
            <a:r>
              <a:rPr lang="en-US" dirty="0"/>
              <a:t>Makes code easier to understand for others.</a:t>
            </a:r>
          </a:p>
          <a:p>
            <a:endParaRPr lang="en-PK" dirty="0"/>
          </a:p>
        </p:txBody>
      </p:sp>
      <p:sp>
        <p:nvSpPr>
          <p:cNvPr id="5" name="Text Placeholder 4">
            <a:extLst>
              <a:ext uri="{FF2B5EF4-FFF2-40B4-BE49-F238E27FC236}">
                <a16:creationId xmlns:a16="http://schemas.microsoft.com/office/drawing/2014/main" id="{38A44F11-C077-1A4C-6BAD-E8320BC3D388}"/>
              </a:ext>
            </a:extLst>
          </p:cNvPr>
          <p:cNvSpPr>
            <a:spLocks noGrp="1"/>
          </p:cNvSpPr>
          <p:nvPr>
            <p:ph type="body" sz="quarter" idx="3"/>
          </p:nvPr>
        </p:nvSpPr>
        <p:spPr>
          <a:xfrm>
            <a:off x="5929460" y="533401"/>
            <a:ext cx="3657600" cy="1108075"/>
          </a:xfrm>
        </p:spPr>
        <p:txBody>
          <a:bodyPr>
            <a:normAutofit fontScale="92500" lnSpcReduction="10000"/>
          </a:bodyPr>
          <a:lstStyle/>
          <a:p>
            <a:r>
              <a:rPr lang="en-US" dirty="0"/>
              <a:t>Dis-Advantages of Design Patterns</a:t>
            </a:r>
            <a:endParaRPr lang="en-PK" dirty="0"/>
          </a:p>
          <a:p>
            <a:endParaRPr lang="en-PK" dirty="0"/>
          </a:p>
        </p:txBody>
      </p:sp>
      <p:sp>
        <p:nvSpPr>
          <p:cNvPr id="6" name="Content Placeholder 5">
            <a:extLst>
              <a:ext uri="{FF2B5EF4-FFF2-40B4-BE49-F238E27FC236}">
                <a16:creationId xmlns:a16="http://schemas.microsoft.com/office/drawing/2014/main" id="{CBDFDC9C-FF84-F8EA-7004-ADA82F26B5B7}"/>
              </a:ext>
            </a:extLst>
          </p:cNvPr>
          <p:cNvSpPr>
            <a:spLocks noGrp="1"/>
          </p:cNvSpPr>
          <p:nvPr>
            <p:ph sz="quarter" idx="4"/>
          </p:nvPr>
        </p:nvSpPr>
        <p:spPr>
          <a:xfrm>
            <a:off x="5929460" y="1562917"/>
            <a:ext cx="3657600" cy="4936863"/>
          </a:xfrm>
        </p:spPr>
        <p:txBody>
          <a:bodyPr>
            <a:normAutofit fontScale="92500"/>
          </a:bodyPr>
          <a:lstStyle/>
          <a:p>
            <a:pPr>
              <a:buFont typeface="+mj-lt"/>
              <a:buAutoNum type="arabicPeriod"/>
            </a:pPr>
            <a:r>
              <a:rPr lang="en-US" b="1" dirty="0"/>
              <a:t>Complexity</a:t>
            </a:r>
            <a:endParaRPr lang="en-US" dirty="0"/>
          </a:p>
          <a:p>
            <a:pPr marL="457200" lvl="1" indent="0">
              <a:buNone/>
            </a:pPr>
            <a:r>
              <a:rPr lang="en-US" dirty="0"/>
              <a:t>Can add unnecessary complexity if not used correctly.</a:t>
            </a:r>
          </a:p>
          <a:p>
            <a:pPr>
              <a:buFont typeface="+mj-lt"/>
              <a:buAutoNum type="arabicPeriod"/>
            </a:pPr>
            <a:r>
              <a:rPr lang="en-US" b="1" dirty="0"/>
              <a:t>Learning Curve</a:t>
            </a:r>
            <a:endParaRPr lang="en-US" dirty="0"/>
          </a:p>
          <a:p>
            <a:pPr marL="457200" lvl="1" indent="0">
              <a:buNone/>
            </a:pPr>
            <a:r>
              <a:rPr lang="en-US" dirty="0"/>
              <a:t>Requires understanding of the pattern before use.</a:t>
            </a:r>
          </a:p>
          <a:p>
            <a:pPr>
              <a:buFont typeface="+mj-lt"/>
              <a:buAutoNum type="arabicPeriod"/>
            </a:pPr>
            <a:r>
              <a:rPr lang="en-US" b="1" dirty="0"/>
              <a:t>Overuse Risk</a:t>
            </a:r>
            <a:endParaRPr lang="en-US" dirty="0"/>
          </a:p>
          <a:p>
            <a:pPr marL="457200" lvl="1" indent="0">
              <a:buNone/>
            </a:pPr>
            <a:r>
              <a:rPr lang="en-US" dirty="0"/>
              <a:t>Applying patterns unnecessarily may complicate the design.</a:t>
            </a:r>
          </a:p>
          <a:p>
            <a:pPr marL="114300" indent="0">
              <a:buNone/>
            </a:pPr>
            <a:endParaRPr lang="en-US" dirty="0"/>
          </a:p>
          <a:p>
            <a:endParaRPr lang="en-PK" dirty="0"/>
          </a:p>
        </p:txBody>
      </p:sp>
    </p:spTree>
    <p:extLst>
      <p:ext uri="{BB962C8B-B14F-4D97-AF65-F5344CB8AC3E}">
        <p14:creationId xmlns:p14="http://schemas.microsoft.com/office/powerpoint/2010/main" val="718476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D352B-31E7-D918-DF2C-266C5689A5F2}"/>
              </a:ext>
            </a:extLst>
          </p:cNvPr>
          <p:cNvSpPr>
            <a:spLocks noGrp="1"/>
          </p:cNvSpPr>
          <p:nvPr>
            <p:ph type="title"/>
          </p:nvPr>
        </p:nvSpPr>
        <p:spPr/>
        <p:txBody>
          <a:bodyPr/>
          <a:lstStyle/>
          <a:p>
            <a:r>
              <a:rPr lang="en-US" b="1" dirty="0"/>
              <a:t>Classification</a:t>
            </a:r>
            <a:endParaRPr lang="en-PK" b="1" dirty="0"/>
          </a:p>
        </p:txBody>
      </p:sp>
      <p:pic>
        <p:nvPicPr>
          <p:cNvPr id="5" name="Content Placeholder 4">
            <a:extLst>
              <a:ext uri="{FF2B5EF4-FFF2-40B4-BE49-F238E27FC236}">
                <a16:creationId xmlns:a16="http://schemas.microsoft.com/office/drawing/2014/main" id="{87415186-1D97-234F-F1FB-67C6F02C70C4}"/>
              </a:ext>
            </a:extLst>
          </p:cNvPr>
          <p:cNvPicPr>
            <a:picLocks noGrp="1" noChangeAspect="1"/>
          </p:cNvPicPr>
          <p:nvPr>
            <p:ph idx="1"/>
          </p:nvPr>
        </p:nvPicPr>
        <p:blipFill>
          <a:blip r:embed="rId2"/>
          <a:stretch>
            <a:fillRect/>
          </a:stretch>
        </p:blipFill>
        <p:spPr>
          <a:xfrm>
            <a:off x="2438401" y="1828800"/>
            <a:ext cx="6911939" cy="3673158"/>
          </a:xfrm>
        </p:spPr>
      </p:pic>
    </p:spTree>
    <p:extLst>
      <p:ext uri="{BB962C8B-B14F-4D97-AF65-F5344CB8AC3E}">
        <p14:creationId xmlns:p14="http://schemas.microsoft.com/office/powerpoint/2010/main" val="4990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5B0FC-2B3A-1830-1DE7-F49BA8DCE80F}"/>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FE892429-DD8A-C629-2566-EF7F0B2695E2}"/>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9B3648A6-2031-3980-632E-844717ED3424}"/>
              </a:ext>
            </a:extLst>
          </p:cNvPr>
          <p:cNvPicPr>
            <a:picLocks noChangeAspect="1"/>
          </p:cNvPicPr>
          <p:nvPr/>
        </p:nvPicPr>
        <p:blipFill>
          <a:blip r:embed="rId2"/>
          <a:stretch>
            <a:fillRect/>
          </a:stretch>
        </p:blipFill>
        <p:spPr>
          <a:xfrm>
            <a:off x="2441642" y="2212185"/>
            <a:ext cx="6598129" cy="3336507"/>
          </a:xfrm>
          <a:prstGeom prst="rect">
            <a:avLst/>
          </a:prstGeom>
        </p:spPr>
      </p:pic>
    </p:spTree>
    <p:extLst>
      <p:ext uri="{BB962C8B-B14F-4D97-AF65-F5344CB8AC3E}">
        <p14:creationId xmlns:p14="http://schemas.microsoft.com/office/powerpoint/2010/main" val="1223325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411480" lvl="1" algn="l"/>
            <a:r>
              <a:rPr lang="en-US" sz="4000" b="1" dirty="0"/>
              <a:t>Creational Design Pattern</a:t>
            </a:r>
            <a:br>
              <a:rPr lang="en-US" sz="4000" b="1" dirty="0"/>
            </a:br>
            <a:endParaRPr lang="en-US" sz="4000" dirty="0"/>
          </a:p>
        </p:txBody>
      </p:sp>
      <p:sp>
        <p:nvSpPr>
          <p:cNvPr id="3" name="Content Placeholder 2"/>
          <p:cNvSpPr>
            <a:spLocks noGrp="1"/>
          </p:cNvSpPr>
          <p:nvPr>
            <p:ph idx="1"/>
          </p:nvPr>
        </p:nvSpPr>
        <p:spPr/>
        <p:txBody>
          <a:bodyPr/>
          <a:lstStyle/>
          <a:p>
            <a:pPr marL="571500" indent="-457200">
              <a:buFont typeface="+mj-lt"/>
              <a:buAutoNum type="arabicPeriod"/>
            </a:pPr>
            <a:r>
              <a:rPr lang="en-US" dirty="0"/>
              <a:t>Factory Pattern</a:t>
            </a:r>
          </a:p>
          <a:p>
            <a:pPr marL="571500" indent="-457200">
              <a:buFont typeface="+mj-lt"/>
              <a:buAutoNum type="arabicPeriod"/>
            </a:pPr>
            <a:r>
              <a:rPr lang="en-US" dirty="0"/>
              <a:t>Abstract Factory Pattern</a:t>
            </a:r>
          </a:p>
          <a:p>
            <a:pPr marL="571500" indent="-457200">
              <a:buFont typeface="+mj-lt"/>
              <a:buAutoNum type="arabicPeriod"/>
            </a:pPr>
            <a:r>
              <a:rPr lang="en-US" dirty="0"/>
              <a:t>Singleton Pattern</a:t>
            </a:r>
          </a:p>
          <a:p>
            <a:pPr marL="571500" indent="-457200">
              <a:buFont typeface="+mj-lt"/>
              <a:buAutoNum type="arabicPeriod"/>
            </a:pPr>
            <a:r>
              <a:rPr lang="en-US" dirty="0"/>
              <a:t>Prototype Pattern</a:t>
            </a:r>
          </a:p>
          <a:p>
            <a:pPr marL="571500" indent="-457200">
              <a:buFont typeface="+mj-lt"/>
              <a:buAutoNum type="arabicPeriod"/>
            </a:pPr>
            <a:r>
              <a:rPr lang="en-US" dirty="0"/>
              <a:t>Builder Pattern.</a:t>
            </a:r>
          </a:p>
          <a:p>
            <a:endParaRPr lang="en-US" dirty="0"/>
          </a:p>
        </p:txBody>
      </p:sp>
    </p:spTree>
    <p:extLst>
      <p:ext uri="{BB962C8B-B14F-4D97-AF65-F5344CB8AC3E}">
        <p14:creationId xmlns:p14="http://schemas.microsoft.com/office/powerpoint/2010/main" val="2135681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Structural Design Pattern</a:t>
            </a:r>
            <a:br>
              <a:rPr lang="en-US" b="1" dirty="0"/>
            </a:br>
            <a:endParaRPr lang="en-US" dirty="0"/>
          </a:p>
        </p:txBody>
      </p:sp>
      <p:sp>
        <p:nvSpPr>
          <p:cNvPr id="3" name="Content Placeholder 2"/>
          <p:cNvSpPr>
            <a:spLocks noGrp="1"/>
          </p:cNvSpPr>
          <p:nvPr>
            <p:ph idx="1"/>
          </p:nvPr>
        </p:nvSpPr>
        <p:spPr/>
        <p:txBody>
          <a:bodyPr/>
          <a:lstStyle/>
          <a:p>
            <a:pPr marL="571500" indent="-457200">
              <a:buFont typeface="+mj-lt"/>
              <a:buAutoNum type="arabicPeriod"/>
            </a:pPr>
            <a:r>
              <a:rPr lang="en-US" dirty="0"/>
              <a:t>Adapter Pattern</a:t>
            </a:r>
          </a:p>
          <a:p>
            <a:pPr marL="571500" indent="-457200">
              <a:buFont typeface="+mj-lt"/>
              <a:buAutoNum type="arabicPeriod"/>
            </a:pPr>
            <a:r>
              <a:rPr lang="en-US" dirty="0"/>
              <a:t>Bridge Pattern</a:t>
            </a:r>
          </a:p>
          <a:p>
            <a:pPr marL="571500" indent="-457200">
              <a:buFont typeface="+mj-lt"/>
              <a:buAutoNum type="arabicPeriod"/>
            </a:pPr>
            <a:r>
              <a:rPr lang="en-US" dirty="0"/>
              <a:t>Composite Pattern</a:t>
            </a:r>
          </a:p>
          <a:p>
            <a:pPr marL="571500" indent="-457200">
              <a:buFont typeface="+mj-lt"/>
              <a:buAutoNum type="arabicPeriod"/>
            </a:pPr>
            <a:r>
              <a:rPr lang="en-US" dirty="0"/>
              <a:t>Decorator Pattern</a:t>
            </a:r>
          </a:p>
          <a:p>
            <a:pPr marL="571500" indent="-457200">
              <a:buFont typeface="+mj-lt"/>
              <a:buAutoNum type="arabicPeriod"/>
            </a:pPr>
            <a:r>
              <a:rPr lang="en-US" dirty="0"/>
              <a:t>Facade Pattern</a:t>
            </a:r>
          </a:p>
          <a:p>
            <a:pPr marL="571500" indent="-457200">
              <a:buFont typeface="+mj-lt"/>
              <a:buAutoNum type="arabicPeriod"/>
            </a:pPr>
            <a:r>
              <a:rPr lang="en-US" dirty="0"/>
              <a:t>Flyweight Pattern</a:t>
            </a:r>
          </a:p>
          <a:p>
            <a:pPr marL="571500" indent="-457200">
              <a:buFont typeface="+mj-lt"/>
              <a:buAutoNum type="arabicPeriod"/>
            </a:pPr>
            <a:r>
              <a:rPr lang="en-US" dirty="0"/>
              <a:t>Proxy Pattern</a:t>
            </a:r>
          </a:p>
          <a:p>
            <a:pPr marL="571500" indent="-457200">
              <a:buFont typeface="+mj-lt"/>
              <a:buAutoNum type="arabicPeriod"/>
            </a:pPr>
            <a:endParaRPr lang="en-US" dirty="0"/>
          </a:p>
        </p:txBody>
      </p:sp>
    </p:spTree>
    <p:extLst>
      <p:ext uri="{BB962C8B-B14F-4D97-AF65-F5344CB8AC3E}">
        <p14:creationId xmlns:p14="http://schemas.microsoft.com/office/powerpoint/2010/main" val="219270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Behavioral Design Pattern</a:t>
            </a:r>
            <a:br>
              <a:rPr lang="en-US" b="1" dirty="0"/>
            </a:br>
            <a:endParaRPr lang="en-US" dirty="0"/>
          </a:p>
        </p:txBody>
      </p:sp>
      <p:sp>
        <p:nvSpPr>
          <p:cNvPr id="3" name="Content Placeholder 2"/>
          <p:cNvSpPr>
            <a:spLocks noGrp="1"/>
          </p:cNvSpPr>
          <p:nvPr>
            <p:ph idx="1"/>
          </p:nvPr>
        </p:nvSpPr>
        <p:spPr/>
        <p:txBody>
          <a:bodyPr>
            <a:normAutofit fontScale="85000" lnSpcReduction="20000"/>
          </a:bodyPr>
          <a:lstStyle/>
          <a:p>
            <a:pPr marL="571500" indent="-457200">
              <a:buFont typeface="+mj-lt"/>
              <a:buAutoNum type="arabicPeriod"/>
            </a:pPr>
            <a:r>
              <a:rPr lang="en-US" dirty="0"/>
              <a:t>Chain Of Responsibility Pattern</a:t>
            </a:r>
          </a:p>
          <a:p>
            <a:pPr marL="571500" indent="-457200">
              <a:buFont typeface="+mj-lt"/>
              <a:buAutoNum type="arabicPeriod"/>
            </a:pPr>
            <a:r>
              <a:rPr lang="en-US" dirty="0"/>
              <a:t>Command Pattern</a:t>
            </a:r>
          </a:p>
          <a:p>
            <a:pPr marL="571500" indent="-457200">
              <a:buFont typeface="+mj-lt"/>
              <a:buAutoNum type="arabicPeriod"/>
            </a:pPr>
            <a:r>
              <a:rPr lang="en-US" dirty="0"/>
              <a:t>Interpreter Pattern</a:t>
            </a:r>
          </a:p>
          <a:p>
            <a:pPr marL="571500" indent="-457200">
              <a:buFont typeface="+mj-lt"/>
              <a:buAutoNum type="arabicPeriod"/>
            </a:pPr>
            <a:r>
              <a:rPr lang="en-US" dirty="0"/>
              <a:t>Iterator Pattern</a:t>
            </a:r>
          </a:p>
          <a:p>
            <a:pPr marL="571500" indent="-457200">
              <a:buFont typeface="+mj-lt"/>
              <a:buAutoNum type="arabicPeriod"/>
            </a:pPr>
            <a:r>
              <a:rPr lang="en-US" dirty="0"/>
              <a:t>Mediator Pattern</a:t>
            </a:r>
          </a:p>
          <a:p>
            <a:pPr marL="571500" indent="-457200">
              <a:buFont typeface="+mj-lt"/>
              <a:buAutoNum type="arabicPeriod"/>
            </a:pPr>
            <a:r>
              <a:rPr lang="en-US" dirty="0"/>
              <a:t>Memento Pattern</a:t>
            </a:r>
          </a:p>
          <a:p>
            <a:pPr marL="571500" indent="-457200">
              <a:buFont typeface="+mj-lt"/>
              <a:buAutoNum type="arabicPeriod"/>
            </a:pPr>
            <a:r>
              <a:rPr lang="en-US" dirty="0"/>
              <a:t>Observer Pattern</a:t>
            </a:r>
          </a:p>
          <a:p>
            <a:pPr marL="571500" indent="-457200">
              <a:buFont typeface="+mj-lt"/>
              <a:buAutoNum type="arabicPeriod"/>
            </a:pPr>
            <a:r>
              <a:rPr lang="en-US" dirty="0"/>
              <a:t>State Pattern</a:t>
            </a:r>
          </a:p>
          <a:p>
            <a:pPr marL="571500" indent="-457200">
              <a:buFont typeface="+mj-lt"/>
              <a:buAutoNum type="arabicPeriod"/>
            </a:pPr>
            <a:r>
              <a:rPr lang="en-US" dirty="0"/>
              <a:t>Strategy Pattern</a:t>
            </a:r>
          </a:p>
          <a:p>
            <a:pPr marL="571500" indent="-457200">
              <a:buFont typeface="+mj-lt"/>
              <a:buAutoNum type="arabicPeriod"/>
            </a:pPr>
            <a:r>
              <a:rPr lang="en-US" dirty="0"/>
              <a:t>Template Pattern</a:t>
            </a:r>
          </a:p>
          <a:p>
            <a:pPr marL="571500" indent="-457200">
              <a:buFont typeface="+mj-lt"/>
              <a:buAutoNum type="arabicPeriod"/>
            </a:pPr>
            <a:r>
              <a:rPr lang="en-US" dirty="0"/>
              <a:t>Visitor Pattern</a:t>
            </a:r>
          </a:p>
          <a:p>
            <a:pPr marL="571500" indent="-457200">
              <a:buFont typeface="+mj-lt"/>
              <a:buAutoNum type="arabicPeriod"/>
            </a:pPr>
            <a:endParaRPr lang="en-US" dirty="0"/>
          </a:p>
        </p:txBody>
      </p:sp>
    </p:spTree>
    <p:extLst>
      <p:ext uri="{BB962C8B-B14F-4D97-AF65-F5344CB8AC3E}">
        <p14:creationId xmlns:p14="http://schemas.microsoft.com/office/powerpoint/2010/main" val="46752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F3628-67D6-320D-210D-E9F5ED15E65F}"/>
              </a:ext>
            </a:extLst>
          </p:cNvPr>
          <p:cNvSpPr>
            <a:spLocks noGrp="1"/>
          </p:cNvSpPr>
          <p:nvPr>
            <p:ph type="title"/>
          </p:nvPr>
        </p:nvSpPr>
        <p:spPr>
          <a:xfrm>
            <a:off x="283723" y="243021"/>
            <a:ext cx="10515600" cy="1325563"/>
          </a:xfrm>
        </p:spPr>
        <p:txBody>
          <a:bodyPr/>
          <a:lstStyle/>
          <a:p>
            <a:r>
              <a:rPr lang="en-US" b="1" i="0" dirty="0">
                <a:effectLst/>
                <a:latin typeface="+mn-lt"/>
              </a:rPr>
              <a:t>Singleton Design Pattern</a:t>
            </a:r>
            <a:endParaRPr lang="en-PK" b="1" dirty="0">
              <a:latin typeface="+mn-lt"/>
            </a:endParaRPr>
          </a:p>
        </p:txBody>
      </p:sp>
      <p:sp>
        <p:nvSpPr>
          <p:cNvPr id="3" name="Content Placeholder 2">
            <a:extLst>
              <a:ext uri="{FF2B5EF4-FFF2-40B4-BE49-F238E27FC236}">
                <a16:creationId xmlns:a16="http://schemas.microsoft.com/office/drawing/2014/main" id="{DDD49C71-4D64-C64B-2CDA-1EB235803A2B}"/>
              </a:ext>
            </a:extLst>
          </p:cNvPr>
          <p:cNvSpPr>
            <a:spLocks noGrp="1"/>
          </p:cNvSpPr>
          <p:nvPr>
            <p:ph idx="1"/>
          </p:nvPr>
        </p:nvSpPr>
        <p:spPr>
          <a:xfrm>
            <a:off x="429638" y="1690688"/>
            <a:ext cx="7284396" cy="4351338"/>
          </a:xfrm>
        </p:spPr>
        <p:txBody>
          <a:bodyPr>
            <a:normAutofit/>
          </a:bodyPr>
          <a:lstStyle/>
          <a:p>
            <a:pPr marL="0" indent="0" algn="just" rtl="0" fontAlgn="base">
              <a:buNone/>
            </a:pPr>
            <a:r>
              <a:rPr lang="en-US" sz="2400" b="0" i="0" dirty="0">
                <a:effectLst/>
              </a:rPr>
              <a:t>The Singleton Design Pattern ensures that:</a:t>
            </a:r>
          </a:p>
          <a:p>
            <a:pPr algn="just" rtl="0" fontAlgn="base"/>
            <a:r>
              <a:rPr lang="en-US" sz="2400" b="0" i="0" dirty="0">
                <a:effectLst/>
              </a:rPr>
              <a:t> A class has only one instance and provides a global access point to it. </a:t>
            </a:r>
          </a:p>
          <a:p>
            <a:pPr algn="just" rtl="0" fontAlgn="base"/>
            <a:r>
              <a:rPr lang="en-US" sz="2400" b="0" i="0" dirty="0">
                <a:effectLst/>
              </a:rPr>
              <a:t>It is used when we want centralized control of resources, such as managing database connections, configuration settings or logging.</a:t>
            </a:r>
          </a:p>
          <a:p>
            <a:pPr algn="just" fontAlgn="base">
              <a:buFont typeface="Arial" panose="020B0604020202020204" pitchFamily="34" charset="0"/>
              <a:buChar char="•"/>
            </a:pPr>
            <a:r>
              <a:rPr lang="en-US" sz="2400" b="0" i="0" dirty="0">
                <a:effectLst/>
              </a:rPr>
              <a:t>Prevents accidental creation of multiple instances.</a:t>
            </a:r>
          </a:p>
          <a:p>
            <a:pPr algn="just" fontAlgn="base">
              <a:buFont typeface="Arial" panose="020B0604020202020204" pitchFamily="34" charset="0"/>
              <a:buChar char="•"/>
            </a:pPr>
            <a:r>
              <a:rPr lang="en-US" sz="2400" b="0" i="0" dirty="0">
                <a:effectLst/>
              </a:rPr>
              <a:t>Controls resource usage efficiently (e.g., memory, connections).</a:t>
            </a:r>
          </a:p>
          <a:p>
            <a:pPr algn="just" fontAlgn="base">
              <a:buFont typeface="Arial" panose="020B0604020202020204" pitchFamily="34" charset="0"/>
              <a:buChar char="•"/>
            </a:pPr>
            <a:r>
              <a:rPr lang="en-US" sz="2400" b="0" i="0" dirty="0">
                <a:effectLst/>
              </a:rPr>
              <a:t>Can simplify coordination across different parts of an application.</a:t>
            </a:r>
          </a:p>
          <a:p>
            <a:pPr algn="just"/>
            <a:endParaRPr lang="en-PK" sz="2400" dirty="0"/>
          </a:p>
        </p:txBody>
      </p:sp>
      <p:pic>
        <p:nvPicPr>
          <p:cNvPr id="5" name="Picture 4">
            <a:extLst>
              <a:ext uri="{FF2B5EF4-FFF2-40B4-BE49-F238E27FC236}">
                <a16:creationId xmlns:a16="http://schemas.microsoft.com/office/drawing/2014/main" id="{57730050-B681-08A9-5731-7FB60A15D4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4156" y="72957"/>
            <a:ext cx="4257844" cy="2991255"/>
          </a:xfrm>
          <a:prstGeom prst="rect">
            <a:avLst/>
          </a:prstGeom>
        </p:spPr>
      </p:pic>
      <p:sp>
        <p:nvSpPr>
          <p:cNvPr id="7" name="TextBox 6">
            <a:extLst>
              <a:ext uri="{FF2B5EF4-FFF2-40B4-BE49-F238E27FC236}">
                <a16:creationId xmlns:a16="http://schemas.microsoft.com/office/drawing/2014/main" id="{9A809692-3E4F-8906-F92B-63063F493F77}"/>
              </a:ext>
            </a:extLst>
          </p:cNvPr>
          <p:cNvSpPr txBox="1"/>
          <p:nvPr/>
        </p:nvSpPr>
        <p:spPr>
          <a:xfrm>
            <a:off x="8180962" y="3671804"/>
            <a:ext cx="3754876" cy="923330"/>
          </a:xfrm>
          <a:prstGeom prst="rect">
            <a:avLst/>
          </a:prstGeom>
          <a:noFill/>
        </p:spPr>
        <p:txBody>
          <a:bodyPr wrap="square">
            <a:spAutoFit/>
          </a:bodyPr>
          <a:lstStyle/>
          <a:p>
            <a:r>
              <a:rPr lang="en-US" dirty="0"/>
              <a:t>“Singleton is like a shared resource where only one object exists but everyone can use it.”</a:t>
            </a:r>
            <a:endParaRPr lang="en-PK" dirty="0"/>
          </a:p>
        </p:txBody>
      </p:sp>
    </p:spTree>
    <p:extLst>
      <p:ext uri="{BB962C8B-B14F-4D97-AF65-F5344CB8AC3E}">
        <p14:creationId xmlns:p14="http://schemas.microsoft.com/office/powerpoint/2010/main" val="4077783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F390-1BA1-DE25-8FC9-0C155441DAAA}"/>
              </a:ext>
            </a:extLst>
          </p:cNvPr>
          <p:cNvSpPr>
            <a:spLocks noGrp="1"/>
          </p:cNvSpPr>
          <p:nvPr>
            <p:ph type="title"/>
          </p:nvPr>
        </p:nvSpPr>
        <p:spPr>
          <a:xfrm>
            <a:off x="838200" y="365126"/>
            <a:ext cx="10515600" cy="1045386"/>
          </a:xfrm>
        </p:spPr>
        <p:txBody>
          <a:bodyPr>
            <a:normAutofit fontScale="90000"/>
          </a:bodyPr>
          <a:lstStyle/>
          <a:p>
            <a:pPr algn="ctr"/>
            <a:r>
              <a:rPr lang="en-US" b="1" dirty="0">
                <a:latin typeface="+mn-lt"/>
              </a:rPr>
              <a:t>Real-Life Example: Printer in a Lab</a:t>
            </a:r>
            <a:br>
              <a:rPr lang="en-US" b="1" dirty="0">
                <a:latin typeface="+mn-lt"/>
              </a:rPr>
            </a:br>
            <a:endParaRPr lang="en-PK" dirty="0">
              <a:latin typeface="+mn-lt"/>
            </a:endParaRPr>
          </a:p>
        </p:txBody>
      </p:sp>
      <p:sp>
        <p:nvSpPr>
          <p:cNvPr id="3" name="Content Placeholder 2">
            <a:extLst>
              <a:ext uri="{FF2B5EF4-FFF2-40B4-BE49-F238E27FC236}">
                <a16:creationId xmlns:a16="http://schemas.microsoft.com/office/drawing/2014/main" id="{B5872697-C2A3-583F-2E9B-6CDE57D99589}"/>
              </a:ext>
            </a:extLst>
          </p:cNvPr>
          <p:cNvSpPr>
            <a:spLocks noGrp="1"/>
          </p:cNvSpPr>
          <p:nvPr>
            <p:ph idx="1"/>
          </p:nvPr>
        </p:nvSpPr>
        <p:spPr>
          <a:xfrm>
            <a:off x="468549" y="1410512"/>
            <a:ext cx="10515600" cy="4351338"/>
          </a:xfrm>
        </p:spPr>
        <p:txBody>
          <a:bodyPr>
            <a:normAutofit/>
          </a:bodyPr>
          <a:lstStyle/>
          <a:p>
            <a:pPr marL="0" indent="0">
              <a:buNone/>
            </a:pPr>
            <a:r>
              <a:rPr lang="en-US" sz="2000" b="1" dirty="0"/>
              <a:t>Scenario:</a:t>
            </a:r>
          </a:p>
          <a:p>
            <a:pPr>
              <a:buFont typeface="Arial" panose="020B0604020202020204" pitchFamily="34" charset="0"/>
              <a:buChar char="•"/>
            </a:pPr>
            <a:r>
              <a:rPr lang="en-US" sz="2000" dirty="0"/>
              <a:t>In a computer lab, there is </a:t>
            </a:r>
            <a:r>
              <a:rPr lang="en-US" sz="2000" b="1" dirty="0"/>
              <a:t>only one printer</a:t>
            </a:r>
            <a:r>
              <a:rPr lang="en-US" sz="2000" dirty="0"/>
              <a:t>. </a:t>
            </a:r>
          </a:p>
          <a:p>
            <a:pPr>
              <a:buFont typeface="Arial" panose="020B0604020202020204" pitchFamily="34" charset="0"/>
              <a:buChar char="•"/>
            </a:pPr>
            <a:r>
              <a:rPr lang="en-US" sz="2000" dirty="0"/>
              <a:t>All students send print requests to the </a:t>
            </a:r>
            <a:r>
              <a:rPr lang="en-US" sz="2000" b="1" dirty="0"/>
              <a:t>same printer</a:t>
            </a:r>
            <a:r>
              <a:rPr lang="en-US" sz="2000" dirty="0"/>
              <a:t>. </a:t>
            </a:r>
          </a:p>
          <a:p>
            <a:pPr>
              <a:buFont typeface="Arial" panose="020B0604020202020204" pitchFamily="34" charset="0"/>
              <a:buChar char="•"/>
            </a:pPr>
            <a:r>
              <a:rPr lang="en-US" sz="2000" dirty="0"/>
              <a:t>No matter how many students, the printer remains </a:t>
            </a:r>
            <a:r>
              <a:rPr lang="en-US" sz="2000" b="1" dirty="0"/>
              <a:t>one shared resource</a:t>
            </a:r>
            <a:r>
              <a:rPr lang="en-US" sz="2000" dirty="0"/>
              <a:t>.</a:t>
            </a:r>
          </a:p>
          <a:p>
            <a:pPr>
              <a:buFont typeface="Arial" panose="020B0604020202020204" pitchFamily="34" charset="0"/>
              <a:buChar char="•"/>
            </a:pPr>
            <a:endParaRPr lang="en-US" sz="2000" dirty="0"/>
          </a:p>
          <a:p>
            <a:endParaRPr lang="en-PK" sz="2000" dirty="0"/>
          </a:p>
        </p:txBody>
      </p:sp>
      <p:sp>
        <p:nvSpPr>
          <p:cNvPr id="5" name="Rectangle 2">
            <a:extLst>
              <a:ext uri="{FF2B5EF4-FFF2-40B4-BE49-F238E27FC236}">
                <a16:creationId xmlns:a16="http://schemas.microsoft.com/office/drawing/2014/main" id="{A15309C5-53BA-7729-0FF3-0CCE16F2F099}"/>
              </a:ext>
            </a:extLst>
          </p:cNvPr>
          <p:cNvSpPr>
            <a:spLocks noChangeArrowheads="1"/>
          </p:cNvSpPr>
          <p:nvPr/>
        </p:nvSpPr>
        <p:spPr bwMode="auto">
          <a:xfrm>
            <a:off x="468549" y="37743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1" i="0" u="none" strike="noStrike" cap="none" normalizeH="0" baseline="0" dirty="0">
                <a:ln>
                  <a:noFill/>
                </a:ln>
                <a:solidFill>
                  <a:schemeClr val="tx1"/>
                </a:solidFill>
                <a:effectLst/>
                <a:latin typeface="Arial" panose="020B0604020202020204" pitchFamily="34" charset="0"/>
              </a:rPr>
              <a:t>Only one instance</a:t>
            </a:r>
            <a:r>
              <a:rPr kumimoji="0" lang="en-PK" altLang="en-PK" sz="1800" b="0" i="0" u="none" strike="noStrike" cap="none" normalizeH="0" baseline="0" dirty="0">
                <a:ln>
                  <a:noFill/>
                </a:ln>
                <a:solidFill>
                  <a:schemeClr val="tx1"/>
                </a:solidFill>
                <a:effectLst/>
                <a:latin typeface="Arial" panose="020B0604020202020204" pitchFamily="34" charset="0"/>
              </a:rPr>
              <a:t> → Printer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1" i="0" u="none" strike="noStrike" cap="none" normalizeH="0" baseline="0" dirty="0">
                <a:ln>
                  <a:noFill/>
                </a:ln>
                <a:solidFill>
                  <a:schemeClr val="tx1"/>
                </a:solidFill>
                <a:effectLst/>
                <a:latin typeface="Arial" panose="020B0604020202020204" pitchFamily="34" charset="0"/>
              </a:rPr>
              <a:t>Global access</a:t>
            </a:r>
            <a:r>
              <a:rPr kumimoji="0" lang="en-PK" altLang="en-PK" sz="1800" b="0" i="0" u="none" strike="noStrike" cap="none" normalizeH="0" baseline="0" dirty="0">
                <a:ln>
                  <a:noFill/>
                </a:ln>
                <a:solidFill>
                  <a:schemeClr val="tx1"/>
                </a:solidFill>
                <a:effectLst/>
                <a:latin typeface="Arial" panose="020B0604020202020204" pitchFamily="34" charset="0"/>
              </a:rPr>
              <a:t> → All students can use it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1" i="0" u="none" strike="noStrike" cap="none" normalizeH="0" baseline="0" dirty="0">
                <a:ln>
                  <a:noFill/>
                </a:ln>
                <a:solidFill>
                  <a:schemeClr val="tx1"/>
                </a:solidFill>
                <a:effectLst/>
                <a:latin typeface="Arial" panose="020B0604020202020204" pitchFamily="34" charset="0"/>
              </a:rPr>
              <a:t>Controlled usage</a:t>
            </a:r>
            <a:r>
              <a:rPr kumimoji="0" lang="en-PK" altLang="en-PK" sz="1800" b="0" i="0" u="none" strike="noStrike" cap="none" normalizeH="0" baseline="0" dirty="0">
                <a:ln>
                  <a:noFill/>
                </a:ln>
                <a:solidFill>
                  <a:schemeClr val="tx1"/>
                </a:solidFill>
                <a:effectLst/>
                <a:latin typeface="Arial" panose="020B0604020202020204" pitchFamily="34" charset="0"/>
              </a:rPr>
              <a:t> → No duplicate printers created </a:t>
            </a:r>
          </a:p>
        </p:txBody>
      </p:sp>
    </p:spTree>
    <p:extLst>
      <p:ext uri="{BB962C8B-B14F-4D97-AF65-F5344CB8AC3E}">
        <p14:creationId xmlns:p14="http://schemas.microsoft.com/office/powerpoint/2010/main" val="187816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3557B-4928-326B-15CA-268A76DBC3E2}"/>
              </a:ext>
            </a:extLst>
          </p:cNvPr>
          <p:cNvSpPr>
            <a:spLocks noGrp="1"/>
          </p:cNvSpPr>
          <p:nvPr>
            <p:ph type="title"/>
          </p:nvPr>
        </p:nvSpPr>
        <p:spPr>
          <a:xfrm>
            <a:off x="838200" y="365126"/>
            <a:ext cx="10515600" cy="568730"/>
          </a:xfrm>
        </p:spPr>
        <p:txBody>
          <a:bodyPr>
            <a:normAutofit fontScale="90000"/>
          </a:bodyPr>
          <a:lstStyle/>
          <a:p>
            <a:r>
              <a:rPr lang="en-US" b="1" dirty="0"/>
              <a:t>Code Example</a:t>
            </a:r>
            <a:endParaRPr lang="en-PK" b="1" dirty="0"/>
          </a:p>
        </p:txBody>
      </p:sp>
      <p:sp>
        <p:nvSpPr>
          <p:cNvPr id="3" name="Content Placeholder 2">
            <a:extLst>
              <a:ext uri="{FF2B5EF4-FFF2-40B4-BE49-F238E27FC236}">
                <a16:creationId xmlns:a16="http://schemas.microsoft.com/office/drawing/2014/main" id="{A9FBF1A8-0C6C-8276-2729-0C10B1196932}"/>
              </a:ext>
            </a:extLst>
          </p:cNvPr>
          <p:cNvSpPr>
            <a:spLocks noGrp="1"/>
          </p:cNvSpPr>
          <p:nvPr>
            <p:ph idx="1"/>
          </p:nvPr>
        </p:nvSpPr>
        <p:spPr>
          <a:xfrm>
            <a:off x="439366" y="1329514"/>
            <a:ext cx="5825247" cy="5163360"/>
          </a:xfrm>
        </p:spPr>
        <p:txBody>
          <a:bodyPr>
            <a:normAutofit fontScale="92500" lnSpcReduction="10000"/>
          </a:bodyPr>
          <a:lstStyle/>
          <a:p>
            <a:pPr marL="0" indent="0">
              <a:lnSpc>
                <a:spcPct val="170000"/>
              </a:lnSpc>
              <a:buNone/>
            </a:pPr>
            <a:r>
              <a:rPr lang="en-US" sz="1100" dirty="0"/>
              <a:t>class Printer {</a:t>
            </a:r>
            <a:br>
              <a:rPr lang="en-US" sz="1100" dirty="0"/>
            </a:br>
            <a:r>
              <a:rPr lang="en-US" sz="1100" dirty="0"/>
              <a:t>private static Printer instance;</a:t>
            </a:r>
            <a:br>
              <a:rPr lang="en-US" sz="1100" dirty="0"/>
            </a:br>
            <a:br>
              <a:rPr lang="en-US" sz="1100" dirty="0"/>
            </a:br>
            <a:r>
              <a:rPr lang="en-US" sz="1100" dirty="0"/>
              <a:t>// private constructor (no one can create object directly)</a:t>
            </a:r>
            <a:br>
              <a:rPr lang="en-US" sz="1100" dirty="0"/>
            </a:br>
            <a:r>
              <a:rPr lang="en-US" sz="1100" dirty="0"/>
              <a:t>private Printer() {}</a:t>
            </a:r>
            <a:br>
              <a:rPr lang="en-US" sz="1100" dirty="0"/>
            </a:br>
            <a:br>
              <a:rPr lang="en-US" sz="1100" dirty="0"/>
            </a:br>
            <a:r>
              <a:rPr lang="en-US" sz="1100" dirty="0"/>
              <a:t>// method to get single printer instance</a:t>
            </a:r>
            <a:br>
              <a:rPr lang="en-US" sz="1100" dirty="0"/>
            </a:br>
            <a:r>
              <a:rPr lang="en-US" sz="1100" dirty="0"/>
              <a:t>public static Printer </a:t>
            </a:r>
            <a:r>
              <a:rPr lang="en-US" sz="1100" dirty="0" err="1"/>
              <a:t>getInstance</a:t>
            </a:r>
            <a:r>
              <a:rPr lang="en-US" sz="1100" dirty="0"/>
              <a:t>() {</a:t>
            </a:r>
            <a:br>
              <a:rPr lang="en-US" sz="1100" dirty="0"/>
            </a:br>
            <a:r>
              <a:rPr lang="en-US" sz="1100" dirty="0"/>
              <a:t>if (instance == null) {</a:t>
            </a:r>
            <a:br>
              <a:rPr lang="en-US" sz="1100" dirty="0"/>
            </a:br>
            <a:r>
              <a:rPr lang="en-US" sz="1100" dirty="0"/>
              <a:t>instance = new Printer();</a:t>
            </a:r>
            <a:br>
              <a:rPr lang="en-US" sz="1100" dirty="0"/>
            </a:br>
            <a:r>
              <a:rPr lang="en-US" sz="1100" dirty="0"/>
              <a:t>}</a:t>
            </a:r>
            <a:br>
              <a:rPr lang="en-US" sz="1100" dirty="0"/>
            </a:br>
            <a:r>
              <a:rPr lang="en-US" sz="1100" dirty="0"/>
              <a:t>return instance;</a:t>
            </a:r>
            <a:br>
              <a:rPr lang="en-US" sz="1100" dirty="0"/>
            </a:br>
            <a:r>
              <a:rPr lang="en-US" sz="1100" dirty="0"/>
              <a:t>}</a:t>
            </a:r>
            <a:br>
              <a:rPr lang="en-US" sz="1100" dirty="0"/>
            </a:br>
            <a:br>
              <a:rPr lang="en-US" sz="1100" dirty="0"/>
            </a:br>
            <a:r>
              <a:rPr lang="en-US" sz="1100" dirty="0"/>
              <a:t>// method to print document</a:t>
            </a:r>
            <a:br>
              <a:rPr lang="en-US" sz="1100" dirty="0"/>
            </a:br>
            <a:r>
              <a:rPr lang="en-US" sz="1100" dirty="0"/>
              <a:t>public void print(String </a:t>
            </a:r>
            <a:r>
              <a:rPr lang="en-US" sz="1100" dirty="0" err="1"/>
              <a:t>studentName</a:t>
            </a:r>
            <a:r>
              <a:rPr lang="en-US" sz="1100" dirty="0"/>
              <a:t>) {</a:t>
            </a:r>
            <a:br>
              <a:rPr lang="en-US" sz="1100" dirty="0"/>
            </a:br>
            <a:r>
              <a:rPr lang="en-US" sz="1100" dirty="0" err="1"/>
              <a:t>System.out.println</a:t>
            </a:r>
            <a:r>
              <a:rPr lang="en-US" sz="1100" dirty="0"/>
              <a:t>(</a:t>
            </a:r>
            <a:r>
              <a:rPr lang="en-US" sz="1100" dirty="0" err="1"/>
              <a:t>studentName</a:t>
            </a:r>
            <a:r>
              <a:rPr lang="en-US" sz="1100" dirty="0"/>
              <a:t> + " is printing document...");</a:t>
            </a:r>
            <a:br>
              <a:rPr lang="en-US" sz="1100" dirty="0"/>
            </a:br>
            <a:r>
              <a:rPr lang="en-US" sz="1100" dirty="0"/>
              <a:t>}</a:t>
            </a:r>
            <a:br>
              <a:rPr lang="en-US" sz="1100" dirty="0"/>
            </a:br>
            <a:r>
              <a:rPr lang="en-US" sz="1100" dirty="0"/>
              <a:t>}</a:t>
            </a:r>
            <a:br>
              <a:rPr lang="en-US" sz="1100" dirty="0"/>
            </a:br>
            <a:endParaRPr lang="en-PK" sz="1100" dirty="0"/>
          </a:p>
        </p:txBody>
      </p:sp>
      <p:sp>
        <p:nvSpPr>
          <p:cNvPr id="7" name="TextBox 6">
            <a:extLst>
              <a:ext uri="{FF2B5EF4-FFF2-40B4-BE49-F238E27FC236}">
                <a16:creationId xmlns:a16="http://schemas.microsoft.com/office/drawing/2014/main" id="{91DE80D6-6756-E68C-0777-FA58B76F0D01}"/>
              </a:ext>
            </a:extLst>
          </p:cNvPr>
          <p:cNvSpPr txBox="1"/>
          <p:nvPr/>
        </p:nvSpPr>
        <p:spPr>
          <a:xfrm>
            <a:off x="6695061" y="1613836"/>
            <a:ext cx="5415875" cy="3416320"/>
          </a:xfrm>
          <a:prstGeom prst="rect">
            <a:avLst/>
          </a:prstGeom>
          <a:noFill/>
        </p:spPr>
        <p:txBody>
          <a:bodyPr wrap="square">
            <a:spAutoFit/>
          </a:bodyPr>
          <a:lstStyle/>
          <a:p>
            <a:r>
              <a:rPr lang="en-US" dirty="0"/>
              <a:t>// Usage</a:t>
            </a:r>
            <a:br>
              <a:rPr lang="en-US" dirty="0"/>
            </a:br>
            <a:r>
              <a:rPr lang="en-US" dirty="0"/>
              <a:t>public class Test {</a:t>
            </a:r>
            <a:br>
              <a:rPr lang="en-US" dirty="0"/>
            </a:br>
            <a:r>
              <a:rPr lang="en-US" dirty="0"/>
              <a:t>public static void main(String[] </a:t>
            </a:r>
            <a:r>
              <a:rPr lang="en-US" dirty="0" err="1"/>
              <a:t>args</a:t>
            </a:r>
            <a:r>
              <a:rPr lang="en-US" dirty="0"/>
              <a:t>) {</a:t>
            </a:r>
            <a:br>
              <a:rPr lang="en-US" dirty="0"/>
            </a:br>
            <a:r>
              <a:rPr lang="en-US" dirty="0"/>
              <a:t>Printer p1 = </a:t>
            </a:r>
            <a:r>
              <a:rPr lang="en-US" dirty="0" err="1"/>
              <a:t>Printer.getInstance</a:t>
            </a:r>
            <a:r>
              <a:rPr lang="en-US" dirty="0"/>
              <a:t>();</a:t>
            </a:r>
            <a:br>
              <a:rPr lang="en-US" dirty="0"/>
            </a:br>
            <a:r>
              <a:rPr lang="en-US" dirty="0"/>
              <a:t>Printer p2 = </a:t>
            </a:r>
            <a:r>
              <a:rPr lang="en-US" dirty="0" err="1"/>
              <a:t>Printer.getInstance</a:t>
            </a:r>
            <a:r>
              <a:rPr lang="en-US" dirty="0"/>
              <a:t>();</a:t>
            </a:r>
            <a:br>
              <a:rPr lang="en-US" dirty="0"/>
            </a:br>
            <a:br>
              <a:rPr lang="en-US" dirty="0"/>
            </a:br>
            <a:r>
              <a:rPr lang="en-US" dirty="0"/>
              <a:t>p1.print("Ali");</a:t>
            </a:r>
            <a:br>
              <a:rPr lang="en-US" dirty="0"/>
            </a:br>
            <a:r>
              <a:rPr lang="en-US" dirty="0"/>
              <a:t>p2.print("Sara");</a:t>
            </a:r>
            <a:br>
              <a:rPr lang="en-US" dirty="0"/>
            </a:br>
            <a:br>
              <a:rPr lang="en-US" dirty="0"/>
            </a:br>
            <a:r>
              <a:rPr lang="en-US" dirty="0" err="1"/>
              <a:t>System.out.println</a:t>
            </a:r>
            <a:r>
              <a:rPr lang="en-US" dirty="0"/>
              <a:t>(p1 == p2); // true (same printer)</a:t>
            </a:r>
            <a:br>
              <a:rPr lang="en-US" dirty="0"/>
            </a:br>
            <a:r>
              <a:rPr lang="en-US" dirty="0"/>
              <a:t>}</a:t>
            </a:r>
            <a:br>
              <a:rPr lang="en-US" dirty="0"/>
            </a:br>
            <a:r>
              <a:rPr lang="en-US" dirty="0"/>
              <a:t>}</a:t>
            </a:r>
            <a:endParaRPr lang="en-PK" dirty="0"/>
          </a:p>
        </p:txBody>
      </p:sp>
    </p:spTree>
    <p:extLst>
      <p:ext uri="{BB962C8B-B14F-4D97-AF65-F5344CB8AC3E}">
        <p14:creationId xmlns:p14="http://schemas.microsoft.com/office/powerpoint/2010/main" val="1814718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Factory Pattern</a:t>
            </a:r>
          </a:p>
        </p:txBody>
      </p:sp>
      <p:sp>
        <p:nvSpPr>
          <p:cNvPr id="3" name="Content Placeholder 2"/>
          <p:cNvSpPr>
            <a:spLocks noGrp="1"/>
          </p:cNvSpPr>
          <p:nvPr>
            <p:ph idx="1"/>
          </p:nvPr>
        </p:nvSpPr>
        <p:spPr/>
        <p:txBody>
          <a:bodyPr/>
          <a:lstStyle/>
          <a:p>
            <a:r>
              <a:rPr lang="en-US" dirty="0"/>
              <a:t>Factory pattern is one of the most used design patterns in Java. </a:t>
            </a:r>
          </a:p>
          <a:p>
            <a:r>
              <a:rPr lang="en-US" dirty="0"/>
              <a:t>This type of design pattern comes under creational pattern as this pattern provides one of the best ways to </a:t>
            </a:r>
            <a:r>
              <a:rPr lang="en-US" b="1" i="1" u="sng" dirty="0"/>
              <a:t>create an object</a:t>
            </a:r>
            <a:r>
              <a:rPr lang="en-US" dirty="0"/>
              <a:t>.</a:t>
            </a:r>
          </a:p>
          <a:p>
            <a:r>
              <a:rPr lang="en-US" dirty="0"/>
              <a:t>In Factory pattern, we create object without exposing the creation logic to the client and refer to newly created object using a common interface.</a:t>
            </a:r>
          </a:p>
          <a:p>
            <a:endParaRPr lang="en-US" dirty="0"/>
          </a:p>
        </p:txBody>
      </p:sp>
    </p:spTree>
    <p:extLst>
      <p:ext uri="{BB962C8B-B14F-4D97-AF65-F5344CB8AC3E}">
        <p14:creationId xmlns:p14="http://schemas.microsoft.com/office/powerpoint/2010/main" val="2574239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Factory method Pattern</a:t>
            </a:r>
          </a:p>
        </p:txBody>
      </p:sp>
      <p:sp>
        <p:nvSpPr>
          <p:cNvPr id="3" name="Content Placeholder 2"/>
          <p:cNvSpPr>
            <a:spLocks noGrp="1"/>
          </p:cNvSpPr>
          <p:nvPr>
            <p:ph idx="1"/>
          </p:nvPr>
        </p:nvSpPr>
        <p:spPr/>
        <p:txBody>
          <a:bodyPr/>
          <a:lstStyle/>
          <a:p>
            <a:r>
              <a:rPr lang="en-US" dirty="0"/>
              <a:t>Abstract Class/ Interface</a:t>
            </a:r>
          </a:p>
          <a:p>
            <a:r>
              <a:rPr lang="en-US" dirty="0"/>
              <a:t>Concrete Classes</a:t>
            </a:r>
          </a:p>
          <a:p>
            <a:r>
              <a:rPr lang="en-US" dirty="0"/>
              <a:t>Factory Class: </a:t>
            </a:r>
            <a:r>
              <a:rPr lang="en-US" b="1" dirty="0"/>
              <a:t>Simple factory </a:t>
            </a:r>
            <a:r>
              <a:rPr lang="en-US" dirty="0"/>
              <a:t>generates an instance of an object for client without exposing any implementation to the client.</a:t>
            </a:r>
          </a:p>
          <a:p>
            <a:pPr lvl="1"/>
            <a:r>
              <a:rPr lang="en-US" dirty="0"/>
              <a:t>In OOP, a factory is an object/class/method for creating other objects.</a:t>
            </a:r>
          </a:p>
          <a:p>
            <a:r>
              <a:rPr lang="en-US" dirty="0"/>
              <a:t>Client Class</a:t>
            </a:r>
          </a:p>
          <a:p>
            <a:endParaRPr lang="en-US" dirty="0"/>
          </a:p>
        </p:txBody>
      </p:sp>
    </p:spTree>
    <p:extLst>
      <p:ext uri="{BB962C8B-B14F-4D97-AF65-F5344CB8AC3E}">
        <p14:creationId xmlns:p14="http://schemas.microsoft.com/office/powerpoint/2010/main" val="3949074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Usage of Factory Method</a:t>
            </a:r>
          </a:p>
        </p:txBody>
      </p:sp>
      <p:sp>
        <p:nvSpPr>
          <p:cNvPr id="3" name="Content Placeholder 2"/>
          <p:cNvSpPr>
            <a:spLocks noGrp="1"/>
          </p:cNvSpPr>
          <p:nvPr>
            <p:ph idx="1"/>
          </p:nvPr>
        </p:nvSpPr>
        <p:spPr/>
        <p:txBody>
          <a:bodyPr/>
          <a:lstStyle/>
          <a:p>
            <a:r>
              <a:rPr lang="en-US" dirty="0"/>
              <a:t>Factory Design pattern is based on </a:t>
            </a:r>
            <a:r>
              <a:rPr lang="en-US" b="1" dirty="0">
                <a:hlinkClick r:id="rId2"/>
              </a:rPr>
              <a:t>Encapsulation</a:t>
            </a:r>
            <a:r>
              <a:rPr lang="en-US" b="1" dirty="0"/>
              <a:t> </a:t>
            </a:r>
            <a:r>
              <a:rPr lang="en-US" dirty="0"/>
              <a:t>object oriented </a:t>
            </a:r>
            <a:r>
              <a:rPr lang="en-US" u="sng" dirty="0"/>
              <a:t>concept</a:t>
            </a:r>
            <a:r>
              <a:rPr lang="en-US" dirty="0"/>
              <a:t>.</a:t>
            </a:r>
          </a:p>
          <a:p>
            <a:r>
              <a:rPr lang="en-US" dirty="0"/>
              <a:t>Factory method is used to create different object from factory often refereed as Item and it encapsulate the creation code. So instead of having object creation code on client side we encapsulate inside </a:t>
            </a:r>
            <a:r>
              <a:rPr lang="en-US" b="1" dirty="0"/>
              <a:t>Factory method in Java</a:t>
            </a:r>
            <a:r>
              <a:rPr lang="en-US" dirty="0"/>
              <a:t>.</a:t>
            </a:r>
            <a:br>
              <a:rPr lang="en-US" dirty="0"/>
            </a:br>
            <a:br>
              <a:rPr lang="en-US" dirty="0"/>
            </a:br>
            <a:endParaRPr lang="en-US" dirty="0"/>
          </a:p>
        </p:txBody>
      </p:sp>
    </p:spTree>
    <p:extLst>
      <p:ext uri="{BB962C8B-B14F-4D97-AF65-F5344CB8AC3E}">
        <p14:creationId xmlns:p14="http://schemas.microsoft.com/office/powerpoint/2010/main" val="2546400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75ED-06BA-5FA4-3D02-B80F8333E47B}"/>
              </a:ext>
            </a:extLst>
          </p:cNvPr>
          <p:cNvSpPr>
            <a:spLocks noGrp="1"/>
          </p:cNvSpPr>
          <p:nvPr>
            <p:ph type="title"/>
          </p:nvPr>
        </p:nvSpPr>
        <p:spPr/>
        <p:txBody>
          <a:bodyPr/>
          <a:lstStyle/>
          <a:p>
            <a:r>
              <a:rPr lang="en-US" b="1" dirty="0">
                <a:latin typeface="+mn-lt"/>
              </a:rPr>
              <a:t>Real-Life Example: Drawing Application</a:t>
            </a:r>
            <a:endParaRPr lang="en-PK" b="1" dirty="0">
              <a:latin typeface="+mn-lt"/>
            </a:endParaRPr>
          </a:p>
        </p:txBody>
      </p:sp>
      <p:sp>
        <p:nvSpPr>
          <p:cNvPr id="3" name="Content Placeholder 2">
            <a:extLst>
              <a:ext uri="{FF2B5EF4-FFF2-40B4-BE49-F238E27FC236}">
                <a16:creationId xmlns:a16="http://schemas.microsoft.com/office/drawing/2014/main" id="{1BD1BB17-BBEA-E398-6948-4B627BE80B66}"/>
              </a:ext>
            </a:extLst>
          </p:cNvPr>
          <p:cNvSpPr>
            <a:spLocks noGrp="1"/>
          </p:cNvSpPr>
          <p:nvPr>
            <p:ph idx="1"/>
          </p:nvPr>
        </p:nvSpPr>
        <p:spPr/>
        <p:txBody>
          <a:bodyPr/>
          <a:lstStyle/>
          <a:p>
            <a:r>
              <a:rPr lang="en-US" b="1" dirty="0"/>
              <a:t>Scenario:</a:t>
            </a:r>
          </a:p>
          <a:p>
            <a:r>
              <a:rPr lang="en-US" dirty="0"/>
              <a:t>You are using a </a:t>
            </a:r>
            <a:r>
              <a:rPr lang="en-US" b="1" dirty="0"/>
              <a:t>drawing app</a:t>
            </a:r>
            <a:r>
              <a:rPr lang="en-US" dirty="0"/>
              <a:t> (like Paint 🎨)</a:t>
            </a:r>
          </a:p>
          <a:p>
            <a:pPr>
              <a:buFont typeface="Arial" panose="020B0604020202020204" pitchFamily="34" charset="0"/>
              <a:buChar char="•"/>
            </a:pPr>
            <a:r>
              <a:rPr lang="en-US" dirty="0"/>
              <a:t>User selects a shape from menu: </a:t>
            </a:r>
          </a:p>
          <a:p>
            <a:pPr marL="742950" lvl="1" indent="-285750">
              <a:buFont typeface="Arial" panose="020B0604020202020204" pitchFamily="34" charset="0"/>
              <a:buChar char="•"/>
            </a:pPr>
            <a:r>
              <a:rPr lang="en-US" dirty="0"/>
              <a:t>Circle </a:t>
            </a:r>
          </a:p>
          <a:p>
            <a:pPr marL="742950" lvl="1" indent="-285750">
              <a:buFont typeface="Arial" panose="020B0604020202020204" pitchFamily="34" charset="0"/>
              <a:buChar char="•"/>
            </a:pPr>
            <a:r>
              <a:rPr lang="en-US" dirty="0"/>
              <a:t>Rectangle </a:t>
            </a:r>
          </a:p>
          <a:p>
            <a:pPr>
              <a:buFont typeface="Arial" panose="020B0604020202020204" pitchFamily="34" charset="0"/>
              <a:buChar char="•"/>
            </a:pPr>
            <a:r>
              <a:rPr lang="en-US" dirty="0"/>
              <a:t>System creates the shape and draws it on screen</a:t>
            </a:r>
          </a:p>
          <a:p>
            <a:endParaRPr lang="en-PK" dirty="0"/>
          </a:p>
        </p:txBody>
      </p:sp>
    </p:spTree>
    <p:extLst>
      <p:ext uri="{BB962C8B-B14F-4D97-AF65-F5344CB8AC3E}">
        <p14:creationId xmlns:p14="http://schemas.microsoft.com/office/powerpoint/2010/main" val="2609018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5F0C1-ADBD-8E64-7201-ADABF902B717}"/>
              </a:ext>
            </a:extLst>
          </p:cNvPr>
          <p:cNvSpPr>
            <a:spLocks noGrp="1"/>
          </p:cNvSpPr>
          <p:nvPr>
            <p:ph type="title"/>
          </p:nvPr>
        </p:nvSpPr>
        <p:spPr/>
        <p:txBody>
          <a:bodyPr/>
          <a:lstStyle/>
          <a:p>
            <a:r>
              <a:rPr lang="en-US" b="1" dirty="0">
                <a:latin typeface="+mn-lt"/>
              </a:rPr>
              <a:t>Code Example</a:t>
            </a:r>
            <a:endParaRPr lang="en-PK" b="1" dirty="0">
              <a:latin typeface="+mn-lt"/>
            </a:endParaRPr>
          </a:p>
        </p:txBody>
      </p:sp>
      <p:sp>
        <p:nvSpPr>
          <p:cNvPr id="3" name="Content Placeholder 2">
            <a:extLst>
              <a:ext uri="{FF2B5EF4-FFF2-40B4-BE49-F238E27FC236}">
                <a16:creationId xmlns:a16="http://schemas.microsoft.com/office/drawing/2014/main" id="{5658EBE3-94CA-371C-D9BC-19D0EC26BC0E}"/>
              </a:ext>
            </a:extLst>
          </p:cNvPr>
          <p:cNvSpPr>
            <a:spLocks noGrp="1"/>
          </p:cNvSpPr>
          <p:nvPr>
            <p:ph sz="half" idx="1"/>
          </p:nvPr>
        </p:nvSpPr>
        <p:spPr/>
        <p:txBody>
          <a:bodyPr>
            <a:normAutofit fontScale="70000" lnSpcReduction="20000"/>
          </a:bodyPr>
          <a:lstStyle/>
          <a:p>
            <a:r>
              <a:rPr lang="en-US" dirty="0"/>
              <a:t>interface Shape {</a:t>
            </a:r>
            <a:br>
              <a:rPr lang="en-US" dirty="0"/>
            </a:br>
            <a:r>
              <a:rPr lang="en-US" dirty="0"/>
              <a:t>void draw();</a:t>
            </a:r>
            <a:br>
              <a:rPr lang="en-US" dirty="0"/>
            </a:br>
            <a:r>
              <a:rPr lang="en-US" dirty="0"/>
              <a:t>}</a:t>
            </a:r>
            <a:br>
              <a:rPr lang="en-US" dirty="0"/>
            </a:br>
            <a:br>
              <a:rPr lang="en-US" dirty="0"/>
            </a:br>
            <a:r>
              <a:rPr lang="en-US" dirty="0"/>
              <a:t>class Circle implements Shape {</a:t>
            </a:r>
            <a:br>
              <a:rPr lang="en-US" dirty="0"/>
            </a:br>
            <a:r>
              <a:rPr lang="en-US" dirty="0"/>
              <a:t>public void draw() {</a:t>
            </a:r>
            <a:br>
              <a:rPr lang="en-US" dirty="0"/>
            </a:br>
            <a:r>
              <a:rPr lang="en-US" dirty="0" err="1"/>
              <a:t>System.out.println</a:t>
            </a:r>
            <a:r>
              <a:rPr lang="en-US" dirty="0"/>
              <a:t>("Drawing Circle");</a:t>
            </a:r>
            <a:br>
              <a:rPr lang="en-US" dirty="0"/>
            </a:br>
            <a:r>
              <a:rPr lang="en-US" dirty="0"/>
              <a:t>}</a:t>
            </a:r>
            <a:br>
              <a:rPr lang="en-US" dirty="0"/>
            </a:br>
            <a:r>
              <a:rPr lang="en-US" dirty="0"/>
              <a:t>}</a:t>
            </a:r>
            <a:br>
              <a:rPr lang="en-US" dirty="0"/>
            </a:br>
            <a:br>
              <a:rPr lang="en-US" dirty="0"/>
            </a:br>
            <a:r>
              <a:rPr lang="en-US" dirty="0"/>
              <a:t>class Rectangle implements Shape {</a:t>
            </a:r>
            <a:br>
              <a:rPr lang="en-US" dirty="0"/>
            </a:br>
            <a:r>
              <a:rPr lang="en-US" dirty="0"/>
              <a:t>public void draw() {</a:t>
            </a:r>
            <a:br>
              <a:rPr lang="en-US" dirty="0"/>
            </a:br>
            <a:r>
              <a:rPr lang="en-US" dirty="0" err="1"/>
              <a:t>System.out.println</a:t>
            </a:r>
            <a:r>
              <a:rPr lang="en-US" dirty="0"/>
              <a:t>("Drawing Rectangle");</a:t>
            </a:r>
            <a:br>
              <a:rPr lang="en-US" dirty="0"/>
            </a:br>
            <a:r>
              <a:rPr lang="en-US" dirty="0"/>
              <a:t>}</a:t>
            </a:r>
            <a:br>
              <a:rPr lang="en-US" dirty="0"/>
            </a:br>
            <a:r>
              <a:rPr lang="en-US" dirty="0"/>
              <a:t>}</a:t>
            </a:r>
            <a:br>
              <a:rPr lang="en-US" dirty="0"/>
            </a:br>
            <a:endParaRPr lang="en-PK" dirty="0"/>
          </a:p>
        </p:txBody>
      </p:sp>
      <p:sp>
        <p:nvSpPr>
          <p:cNvPr id="4" name="Content Placeholder 3">
            <a:extLst>
              <a:ext uri="{FF2B5EF4-FFF2-40B4-BE49-F238E27FC236}">
                <a16:creationId xmlns:a16="http://schemas.microsoft.com/office/drawing/2014/main" id="{83EE997D-AE6D-4374-5C03-FFCF8567F830}"/>
              </a:ext>
            </a:extLst>
          </p:cNvPr>
          <p:cNvSpPr>
            <a:spLocks noGrp="1"/>
          </p:cNvSpPr>
          <p:nvPr>
            <p:ph sz="half" idx="2"/>
          </p:nvPr>
        </p:nvSpPr>
        <p:spPr/>
        <p:txBody>
          <a:bodyPr>
            <a:normAutofit fontScale="70000" lnSpcReduction="20000"/>
          </a:bodyPr>
          <a:lstStyle/>
          <a:p>
            <a:r>
              <a:rPr lang="en-US" dirty="0"/>
              <a:t>class </a:t>
            </a:r>
            <a:r>
              <a:rPr lang="en-US" dirty="0" err="1"/>
              <a:t>ShapeFactory</a:t>
            </a:r>
            <a:r>
              <a:rPr lang="en-US" dirty="0"/>
              <a:t> {</a:t>
            </a:r>
            <a:br>
              <a:rPr lang="en-US" dirty="0"/>
            </a:br>
            <a:r>
              <a:rPr lang="en-US" dirty="0"/>
              <a:t>public static Shape </a:t>
            </a:r>
            <a:r>
              <a:rPr lang="en-US" dirty="0" err="1"/>
              <a:t>getShape</a:t>
            </a:r>
            <a:r>
              <a:rPr lang="en-US" dirty="0"/>
              <a:t>(String type) {</a:t>
            </a:r>
            <a:br>
              <a:rPr lang="en-US" dirty="0"/>
            </a:br>
            <a:r>
              <a:rPr lang="en-US" dirty="0"/>
              <a:t>if (</a:t>
            </a:r>
            <a:r>
              <a:rPr lang="en-US" dirty="0" err="1"/>
              <a:t>type.equals</a:t>
            </a:r>
            <a:r>
              <a:rPr lang="en-US" dirty="0"/>
              <a:t>("circle"))</a:t>
            </a:r>
            <a:br>
              <a:rPr lang="en-US" dirty="0"/>
            </a:br>
            <a:r>
              <a:rPr lang="en-US" dirty="0"/>
              <a:t>return new Circle();</a:t>
            </a:r>
            <a:br>
              <a:rPr lang="en-US" dirty="0"/>
            </a:br>
            <a:r>
              <a:rPr lang="en-US" dirty="0"/>
              <a:t>else if (</a:t>
            </a:r>
            <a:r>
              <a:rPr lang="en-US" dirty="0" err="1"/>
              <a:t>type.equals</a:t>
            </a:r>
            <a:r>
              <a:rPr lang="en-US" dirty="0"/>
              <a:t>("rectangle"))</a:t>
            </a:r>
            <a:br>
              <a:rPr lang="en-US" dirty="0"/>
            </a:br>
            <a:r>
              <a:rPr lang="en-US" dirty="0"/>
              <a:t>return new Rectangle();</a:t>
            </a:r>
            <a:br>
              <a:rPr lang="en-US" dirty="0"/>
            </a:br>
            <a:r>
              <a:rPr lang="en-US" dirty="0"/>
              <a:t>return null;</a:t>
            </a:r>
            <a:br>
              <a:rPr lang="en-US" dirty="0"/>
            </a:br>
            <a:r>
              <a:rPr lang="en-US" dirty="0"/>
              <a:t>}</a:t>
            </a:r>
            <a:br>
              <a:rPr lang="en-US" dirty="0"/>
            </a:br>
            <a:r>
              <a:rPr lang="en-US" dirty="0"/>
              <a:t>}</a:t>
            </a:r>
            <a:br>
              <a:rPr lang="en-US" dirty="0"/>
            </a:br>
            <a:br>
              <a:rPr lang="en-US" dirty="0"/>
            </a:br>
            <a:r>
              <a:rPr lang="en-US" dirty="0"/>
              <a:t>// Usage</a:t>
            </a:r>
            <a:br>
              <a:rPr lang="en-US" dirty="0"/>
            </a:br>
            <a:r>
              <a:rPr lang="en-US" dirty="0"/>
              <a:t>public class Test {</a:t>
            </a:r>
            <a:br>
              <a:rPr lang="en-US" dirty="0"/>
            </a:br>
            <a:r>
              <a:rPr lang="en-US" dirty="0"/>
              <a:t>public static void main(String[] </a:t>
            </a:r>
            <a:r>
              <a:rPr lang="en-US" dirty="0" err="1"/>
              <a:t>args</a:t>
            </a:r>
            <a:r>
              <a:rPr lang="en-US" dirty="0"/>
              <a:t>) {</a:t>
            </a:r>
            <a:br>
              <a:rPr lang="en-US" dirty="0"/>
            </a:br>
            <a:r>
              <a:rPr lang="en-US" dirty="0"/>
              <a:t>Shape s = </a:t>
            </a:r>
            <a:r>
              <a:rPr lang="en-US" dirty="0" err="1"/>
              <a:t>ShapeFactory.getShape</a:t>
            </a:r>
            <a:r>
              <a:rPr lang="en-US" dirty="0"/>
              <a:t>("circle");</a:t>
            </a:r>
            <a:br>
              <a:rPr lang="en-US" dirty="0"/>
            </a:br>
            <a:r>
              <a:rPr lang="en-US" dirty="0" err="1"/>
              <a:t>s.draw</a:t>
            </a:r>
            <a:r>
              <a:rPr lang="en-US" dirty="0"/>
              <a:t>();</a:t>
            </a:r>
            <a:br>
              <a:rPr lang="en-US" dirty="0"/>
            </a:br>
            <a:r>
              <a:rPr lang="en-US" dirty="0"/>
              <a:t>}</a:t>
            </a:r>
            <a:br>
              <a:rPr lang="en-US" dirty="0"/>
            </a:br>
            <a:r>
              <a:rPr lang="en-US" dirty="0"/>
              <a:t>}</a:t>
            </a:r>
            <a:endParaRPr lang="en-PK" dirty="0"/>
          </a:p>
        </p:txBody>
      </p:sp>
    </p:spTree>
    <p:extLst>
      <p:ext uri="{BB962C8B-B14F-4D97-AF65-F5344CB8AC3E}">
        <p14:creationId xmlns:p14="http://schemas.microsoft.com/office/powerpoint/2010/main" val="1251081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75BC3-B53F-4894-9079-812D10DBEB0E}"/>
              </a:ext>
            </a:extLst>
          </p:cNvPr>
          <p:cNvSpPr>
            <a:spLocks noGrp="1"/>
          </p:cNvSpPr>
          <p:nvPr>
            <p:ph type="title"/>
          </p:nvPr>
        </p:nvSpPr>
        <p:spPr/>
        <p:txBody>
          <a:bodyPr/>
          <a:lstStyle/>
          <a:p>
            <a:r>
              <a:rPr lang="en-US" dirty="0"/>
              <a:t>Abstract Factory Pattern</a:t>
            </a:r>
          </a:p>
        </p:txBody>
      </p:sp>
      <p:sp>
        <p:nvSpPr>
          <p:cNvPr id="3" name="Content Placeholder 2">
            <a:extLst>
              <a:ext uri="{FF2B5EF4-FFF2-40B4-BE49-F238E27FC236}">
                <a16:creationId xmlns:a16="http://schemas.microsoft.com/office/drawing/2014/main" id="{AE2F7355-3756-4CB7-9C70-E4BD04B8BCB0}"/>
              </a:ext>
            </a:extLst>
          </p:cNvPr>
          <p:cNvSpPr>
            <a:spLocks noGrp="1"/>
          </p:cNvSpPr>
          <p:nvPr>
            <p:ph idx="1"/>
          </p:nvPr>
        </p:nvSpPr>
        <p:spPr/>
        <p:txBody>
          <a:bodyPr/>
          <a:lstStyle/>
          <a:p>
            <a:r>
              <a:rPr lang="en-US" b="1" dirty="0"/>
              <a:t>Abstract Factory design pattern</a:t>
            </a:r>
            <a:r>
              <a:rPr lang="en-US" dirty="0"/>
              <a:t> is one of the Creational </a:t>
            </a:r>
            <a:r>
              <a:rPr lang="en-US" b="1" dirty="0"/>
              <a:t>pattern</a:t>
            </a:r>
            <a:r>
              <a:rPr lang="en-US" dirty="0"/>
              <a:t>. </a:t>
            </a:r>
          </a:p>
          <a:p>
            <a:r>
              <a:rPr lang="en-US" b="1" dirty="0"/>
              <a:t>Abstract Factory pattern</a:t>
            </a:r>
            <a:r>
              <a:rPr lang="en-US" dirty="0"/>
              <a:t> is almost similar to </a:t>
            </a:r>
            <a:r>
              <a:rPr lang="en-US" b="1" dirty="0"/>
              <a:t>Factory Pattern</a:t>
            </a:r>
            <a:r>
              <a:rPr lang="en-US" dirty="0"/>
              <a:t> is considered as another layer of </a:t>
            </a:r>
            <a:r>
              <a:rPr lang="en-US" b="1" dirty="0"/>
              <a:t>abstraction</a:t>
            </a:r>
            <a:r>
              <a:rPr lang="en-US" dirty="0"/>
              <a:t> over </a:t>
            </a:r>
            <a:r>
              <a:rPr lang="en-US" b="1" dirty="0"/>
              <a:t>factory pattern</a:t>
            </a:r>
            <a:r>
              <a:rPr lang="en-US" dirty="0"/>
              <a:t>. </a:t>
            </a:r>
          </a:p>
          <a:p>
            <a:r>
              <a:rPr lang="en-US" b="1" dirty="0"/>
              <a:t>Abstract Factory patterns</a:t>
            </a:r>
            <a:r>
              <a:rPr lang="en-US" dirty="0"/>
              <a:t> work around a super-</a:t>
            </a:r>
            <a:r>
              <a:rPr lang="en-US" b="1" dirty="0"/>
              <a:t>factory</a:t>
            </a:r>
            <a:r>
              <a:rPr lang="en-US" dirty="0"/>
              <a:t> which creates other </a:t>
            </a:r>
            <a:r>
              <a:rPr lang="en-US" b="1" dirty="0"/>
              <a:t>factories</a:t>
            </a:r>
            <a:r>
              <a:rPr lang="en-US" dirty="0"/>
              <a:t>.</a:t>
            </a:r>
          </a:p>
        </p:txBody>
      </p:sp>
    </p:spTree>
    <p:extLst>
      <p:ext uri="{BB962C8B-B14F-4D97-AF65-F5344CB8AC3E}">
        <p14:creationId xmlns:p14="http://schemas.microsoft.com/office/powerpoint/2010/main" val="3595673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Abstract Factory Pattern</a:t>
            </a:r>
          </a:p>
        </p:txBody>
      </p:sp>
      <p:sp>
        <p:nvSpPr>
          <p:cNvPr id="3" name="Content Placeholder 2"/>
          <p:cNvSpPr>
            <a:spLocks noGrp="1"/>
          </p:cNvSpPr>
          <p:nvPr>
            <p:ph idx="1"/>
          </p:nvPr>
        </p:nvSpPr>
        <p:spPr/>
        <p:txBody>
          <a:bodyPr>
            <a:normAutofit lnSpcReduction="10000"/>
          </a:bodyPr>
          <a:lstStyle/>
          <a:p>
            <a:r>
              <a:rPr lang="en-US" b="1" dirty="0" err="1"/>
              <a:t>AbstractFactory</a:t>
            </a:r>
            <a:r>
              <a:rPr lang="en-US" dirty="0"/>
              <a:t> - an interface that is used to create concrete factories. </a:t>
            </a:r>
          </a:p>
          <a:p>
            <a:pPr lvl="1"/>
            <a:r>
              <a:rPr lang="en-US" dirty="0"/>
              <a:t>Client interact with this interface  to access instances of </a:t>
            </a:r>
            <a:r>
              <a:rPr lang="en-US" dirty="0" err="1"/>
              <a:t>ConcreteFactory</a:t>
            </a:r>
            <a:r>
              <a:rPr lang="en-US" dirty="0"/>
              <a:t> concrete subclasses.</a:t>
            </a:r>
          </a:p>
          <a:p>
            <a:r>
              <a:rPr lang="en-US" b="1" dirty="0" err="1"/>
              <a:t>ConcreteFactory</a:t>
            </a:r>
            <a:r>
              <a:rPr lang="en-US" b="1" dirty="0"/>
              <a:t> </a:t>
            </a:r>
            <a:r>
              <a:rPr lang="en-US" dirty="0"/>
              <a:t>- A subclass of the Abstract factory, these concrete classes implement the operations/methods which are used to create concrete product objects. </a:t>
            </a:r>
          </a:p>
          <a:p>
            <a:r>
              <a:rPr lang="en-US" b="1" dirty="0" err="1"/>
              <a:t>AbstractProduct</a:t>
            </a:r>
            <a:r>
              <a:rPr lang="en-US" b="1" dirty="0"/>
              <a:t> </a:t>
            </a:r>
            <a:r>
              <a:rPr lang="en-US" dirty="0"/>
              <a:t>- The </a:t>
            </a:r>
            <a:r>
              <a:rPr lang="en-US" dirty="0" err="1"/>
              <a:t>AbstractProduct</a:t>
            </a:r>
            <a:r>
              <a:rPr lang="en-US" dirty="0"/>
              <a:t> class is used to declare an interface for a specific type of product object. </a:t>
            </a:r>
          </a:p>
          <a:p>
            <a:pPr lvl="1"/>
            <a:r>
              <a:rPr lang="en-US" dirty="0"/>
              <a:t>It return the product subclass in relation to the </a:t>
            </a:r>
            <a:r>
              <a:rPr lang="en-US" dirty="0" err="1"/>
              <a:t>ConcreteFactory</a:t>
            </a:r>
            <a:r>
              <a:rPr lang="en-US" dirty="0"/>
              <a:t> which is currently being used to handle product instantiation.</a:t>
            </a:r>
          </a:p>
          <a:p>
            <a:endParaRPr lang="en-US" dirty="0"/>
          </a:p>
        </p:txBody>
      </p:sp>
    </p:spTree>
    <p:extLst>
      <p:ext uri="{BB962C8B-B14F-4D97-AF65-F5344CB8AC3E}">
        <p14:creationId xmlns:p14="http://schemas.microsoft.com/office/powerpoint/2010/main" val="165101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Abstract Factory Pattern</a:t>
            </a:r>
          </a:p>
        </p:txBody>
      </p:sp>
      <p:sp>
        <p:nvSpPr>
          <p:cNvPr id="3" name="Content Placeholder 2"/>
          <p:cNvSpPr>
            <a:spLocks noGrp="1"/>
          </p:cNvSpPr>
          <p:nvPr>
            <p:ph idx="1"/>
          </p:nvPr>
        </p:nvSpPr>
        <p:spPr/>
        <p:txBody>
          <a:bodyPr/>
          <a:lstStyle/>
          <a:p>
            <a:r>
              <a:rPr lang="en-US" b="1" dirty="0" err="1"/>
              <a:t>ConcreteProduct</a:t>
            </a:r>
            <a:r>
              <a:rPr lang="en-US" b="1" dirty="0"/>
              <a:t> - </a:t>
            </a:r>
            <a:r>
              <a:rPr lang="en-US" dirty="0"/>
              <a:t>The concrete product is provided by it’s </a:t>
            </a:r>
            <a:r>
              <a:rPr lang="en-US" dirty="0" err="1"/>
              <a:t>ConcreteFactory</a:t>
            </a:r>
            <a:r>
              <a:rPr lang="en-US" dirty="0"/>
              <a:t> and defines the individual implementation details for the specified product through the implementation of its </a:t>
            </a:r>
            <a:r>
              <a:rPr lang="en-US" dirty="0" err="1"/>
              <a:t>AbstractProduct</a:t>
            </a:r>
            <a:r>
              <a:rPr lang="en-US" dirty="0"/>
              <a:t> interface.</a:t>
            </a:r>
          </a:p>
          <a:p>
            <a:r>
              <a:rPr lang="en-US" b="1" dirty="0"/>
              <a:t>Client</a:t>
            </a:r>
            <a:r>
              <a:rPr lang="en-US" dirty="0"/>
              <a:t> - Only uses and has access to the </a:t>
            </a:r>
            <a:r>
              <a:rPr lang="en-US" dirty="0" err="1"/>
              <a:t>AbstractFactory</a:t>
            </a:r>
            <a:r>
              <a:rPr lang="en-US" dirty="0"/>
              <a:t> and </a:t>
            </a:r>
            <a:r>
              <a:rPr lang="en-US" dirty="0" err="1"/>
              <a:t>AbstractProduct</a:t>
            </a:r>
            <a:r>
              <a:rPr lang="en-US" dirty="0"/>
              <a:t> classes, making it completely unaware of the implementation details of the system.</a:t>
            </a:r>
          </a:p>
          <a:p>
            <a:endParaRPr lang="en-US" dirty="0"/>
          </a:p>
          <a:p>
            <a:endParaRPr lang="en-US" dirty="0"/>
          </a:p>
        </p:txBody>
      </p:sp>
    </p:spTree>
    <p:extLst>
      <p:ext uri="{BB962C8B-B14F-4D97-AF65-F5344CB8AC3E}">
        <p14:creationId xmlns:p14="http://schemas.microsoft.com/office/powerpoint/2010/main" val="1413261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5C047-D1DF-2278-3FFF-553C1BF19633}"/>
              </a:ext>
            </a:extLst>
          </p:cNvPr>
          <p:cNvSpPr>
            <a:spLocks noGrp="1"/>
          </p:cNvSpPr>
          <p:nvPr>
            <p:ph type="title"/>
          </p:nvPr>
        </p:nvSpPr>
        <p:spPr/>
        <p:txBody>
          <a:bodyPr>
            <a:normAutofit/>
          </a:bodyPr>
          <a:lstStyle/>
          <a:p>
            <a:r>
              <a:rPr lang="en-US" sz="3600" b="1" dirty="0">
                <a:latin typeface="+mn-lt"/>
              </a:rPr>
              <a:t>Real-Life Example: Operating System UI (Windows vs Mac)</a:t>
            </a:r>
          </a:p>
        </p:txBody>
      </p:sp>
      <p:sp>
        <p:nvSpPr>
          <p:cNvPr id="3" name="Content Placeholder 2">
            <a:extLst>
              <a:ext uri="{FF2B5EF4-FFF2-40B4-BE49-F238E27FC236}">
                <a16:creationId xmlns:a16="http://schemas.microsoft.com/office/drawing/2014/main" id="{755A5A64-B41D-1935-CEB8-87D297C47512}"/>
              </a:ext>
            </a:extLst>
          </p:cNvPr>
          <p:cNvSpPr>
            <a:spLocks noGrp="1"/>
          </p:cNvSpPr>
          <p:nvPr>
            <p:ph idx="1"/>
          </p:nvPr>
        </p:nvSpPr>
        <p:spPr/>
        <p:txBody>
          <a:bodyPr/>
          <a:lstStyle/>
          <a:p>
            <a:pPr marL="0" indent="0">
              <a:buNone/>
            </a:pPr>
            <a:r>
              <a:rPr lang="en-US" b="1" dirty="0"/>
              <a:t>Scenario:</a:t>
            </a:r>
          </a:p>
          <a:p>
            <a:r>
              <a:rPr lang="en-US" dirty="0"/>
              <a:t>You are developing a </a:t>
            </a:r>
            <a:r>
              <a:rPr lang="en-US" b="1" dirty="0"/>
              <a:t>software application</a:t>
            </a:r>
            <a:r>
              <a:rPr lang="en-US" dirty="0"/>
              <a:t> that runs on different operating systems:</a:t>
            </a:r>
          </a:p>
          <a:p>
            <a:pPr>
              <a:buFont typeface="Arial" panose="020B0604020202020204" pitchFamily="34" charset="0"/>
              <a:buChar char="•"/>
            </a:pPr>
            <a:r>
              <a:rPr lang="en-US" dirty="0"/>
              <a:t>Windows </a:t>
            </a:r>
          </a:p>
          <a:p>
            <a:pPr>
              <a:buFont typeface="Arial" panose="020B0604020202020204" pitchFamily="34" charset="0"/>
              <a:buChar char="•"/>
            </a:pPr>
            <a:r>
              <a:rPr lang="en-US" dirty="0"/>
              <a:t> Mac </a:t>
            </a:r>
          </a:p>
          <a:p>
            <a:r>
              <a:rPr lang="en-US" dirty="0"/>
              <a:t>Each OS has its </a:t>
            </a:r>
            <a:r>
              <a:rPr lang="en-US" b="1" dirty="0"/>
              <a:t>own style of buttons</a:t>
            </a:r>
            <a:endParaRPr lang="en-US" dirty="0"/>
          </a:p>
          <a:p>
            <a:endParaRPr lang="en-PK" dirty="0"/>
          </a:p>
        </p:txBody>
      </p:sp>
    </p:spTree>
    <p:extLst>
      <p:ext uri="{BB962C8B-B14F-4D97-AF65-F5344CB8AC3E}">
        <p14:creationId xmlns:p14="http://schemas.microsoft.com/office/powerpoint/2010/main" val="3625820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FB852-D397-52A6-2F61-F8E39F6030BD}"/>
              </a:ext>
            </a:extLst>
          </p:cNvPr>
          <p:cNvSpPr>
            <a:spLocks noGrp="1"/>
          </p:cNvSpPr>
          <p:nvPr>
            <p:ph type="title"/>
          </p:nvPr>
        </p:nvSpPr>
        <p:spPr/>
        <p:txBody>
          <a:bodyPr/>
          <a:lstStyle/>
          <a:p>
            <a:r>
              <a:rPr lang="en-US" b="1" dirty="0"/>
              <a:t>Code Example</a:t>
            </a:r>
            <a:endParaRPr lang="en-PK" b="1" dirty="0"/>
          </a:p>
        </p:txBody>
      </p:sp>
      <p:sp>
        <p:nvSpPr>
          <p:cNvPr id="3" name="Content Placeholder 2">
            <a:extLst>
              <a:ext uri="{FF2B5EF4-FFF2-40B4-BE49-F238E27FC236}">
                <a16:creationId xmlns:a16="http://schemas.microsoft.com/office/drawing/2014/main" id="{63868D9A-4AED-5C51-5A65-5F76931B71C4}"/>
              </a:ext>
            </a:extLst>
          </p:cNvPr>
          <p:cNvSpPr>
            <a:spLocks noGrp="1"/>
          </p:cNvSpPr>
          <p:nvPr>
            <p:ph sz="half" idx="1"/>
          </p:nvPr>
        </p:nvSpPr>
        <p:spPr/>
        <p:txBody>
          <a:bodyPr>
            <a:normAutofit fontScale="55000" lnSpcReduction="20000"/>
          </a:bodyPr>
          <a:lstStyle/>
          <a:p>
            <a:r>
              <a:rPr lang="en-US" dirty="0"/>
              <a:t>interface Button {</a:t>
            </a:r>
            <a:br>
              <a:rPr lang="en-US" dirty="0"/>
            </a:br>
            <a:r>
              <a:rPr lang="en-US" dirty="0"/>
              <a:t>void render();</a:t>
            </a:r>
            <a:br>
              <a:rPr lang="en-US" dirty="0"/>
            </a:br>
            <a:r>
              <a:rPr lang="en-US" dirty="0"/>
              <a:t>}</a:t>
            </a:r>
            <a:br>
              <a:rPr lang="en-US" dirty="0"/>
            </a:br>
            <a:br>
              <a:rPr lang="en-US" dirty="0"/>
            </a:br>
            <a:r>
              <a:rPr lang="en-US" dirty="0"/>
              <a:t>class </a:t>
            </a:r>
            <a:r>
              <a:rPr lang="en-US" dirty="0" err="1"/>
              <a:t>WindowsButton</a:t>
            </a:r>
            <a:r>
              <a:rPr lang="en-US" dirty="0"/>
              <a:t> implements Button {</a:t>
            </a:r>
            <a:br>
              <a:rPr lang="en-US" dirty="0"/>
            </a:br>
            <a:r>
              <a:rPr lang="en-US" dirty="0"/>
              <a:t>public void render() {</a:t>
            </a:r>
            <a:br>
              <a:rPr lang="en-US" dirty="0"/>
            </a:br>
            <a:r>
              <a:rPr lang="en-US" dirty="0" err="1"/>
              <a:t>System.out.println</a:t>
            </a:r>
            <a:r>
              <a:rPr lang="en-US" dirty="0"/>
              <a:t>("Windows Button");</a:t>
            </a:r>
            <a:br>
              <a:rPr lang="en-US" dirty="0"/>
            </a:br>
            <a:r>
              <a:rPr lang="en-US" dirty="0"/>
              <a:t>}</a:t>
            </a:r>
            <a:br>
              <a:rPr lang="en-US" dirty="0"/>
            </a:br>
            <a:r>
              <a:rPr lang="en-US" dirty="0"/>
              <a:t>}</a:t>
            </a:r>
            <a:br>
              <a:rPr lang="en-US" dirty="0"/>
            </a:br>
            <a:br>
              <a:rPr lang="en-US" dirty="0"/>
            </a:br>
            <a:r>
              <a:rPr lang="en-US" dirty="0"/>
              <a:t>class </a:t>
            </a:r>
            <a:r>
              <a:rPr lang="en-US" dirty="0" err="1"/>
              <a:t>MacButton</a:t>
            </a:r>
            <a:r>
              <a:rPr lang="en-US" dirty="0"/>
              <a:t> implements Button {</a:t>
            </a:r>
            <a:br>
              <a:rPr lang="en-US" dirty="0"/>
            </a:br>
            <a:r>
              <a:rPr lang="en-US" dirty="0"/>
              <a:t>public void render() {</a:t>
            </a:r>
            <a:br>
              <a:rPr lang="en-US" dirty="0"/>
            </a:br>
            <a:r>
              <a:rPr lang="en-US" dirty="0" err="1"/>
              <a:t>System.out.println</a:t>
            </a:r>
            <a:r>
              <a:rPr lang="en-US" dirty="0"/>
              <a:t>("Mac Button");</a:t>
            </a:r>
            <a:br>
              <a:rPr lang="en-US" dirty="0"/>
            </a:br>
            <a:r>
              <a:rPr lang="en-US" dirty="0"/>
              <a:t>}</a:t>
            </a:r>
            <a:br>
              <a:rPr lang="en-US" dirty="0"/>
            </a:br>
            <a:r>
              <a:rPr lang="en-US" dirty="0"/>
              <a:t>}</a:t>
            </a:r>
            <a:br>
              <a:rPr lang="en-US" dirty="0"/>
            </a:br>
            <a:br>
              <a:rPr lang="en-US" dirty="0"/>
            </a:br>
            <a:r>
              <a:rPr lang="en-US" dirty="0"/>
              <a:t>interface </a:t>
            </a:r>
            <a:r>
              <a:rPr lang="en-US" dirty="0" err="1"/>
              <a:t>GUIFactory</a:t>
            </a:r>
            <a:r>
              <a:rPr lang="en-US" dirty="0"/>
              <a:t> {</a:t>
            </a:r>
            <a:br>
              <a:rPr lang="en-US" dirty="0"/>
            </a:br>
            <a:r>
              <a:rPr lang="en-US" dirty="0"/>
              <a:t>Button </a:t>
            </a:r>
            <a:r>
              <a:rPr lang="en-US" dirty="0" err="1"/>
              <a:t>createButton</a:t>
            </a:r>
            <a:r>
              <a:rPr lang="en-US" dirty="0"/>
              <a:t>();</a:t>
            </a:r>
            <a:br>
              <a:rPr lang="en-US" dirty="0"/>
            </a:br>
            <a:r>
              <a:rPr lang="en-US" dirty="0"/>
              <a:t>}</a:t>
            </a:r>
            <a:br>
              <a:rPr lang="en-US" dirty="0"/>
            </a:br>
            <a:br>
              <a:rPr lang="en-US" dirty="0"/>
            </a:br>
            <a:r>
              <a:rPr lang="en-US" dirty="0"/>
              <a:t>class </a:t>
            </a:r>
            <a:r>
              <a:rPr lang="en-US" dirty="0" err="1"/>
              <a:t>WindowsFactory</a:t>
            </a:r>
            <a:r>
              <a:rPr lang="en-US" dirty="0"/>
              <a:t> implements </a:t>
            </a:r>
            <a:r>
              <a:rPr lang="en-US" dirty="0" err="1"/>
              <a:t>GUIFactory</a:t>
            </a:r>
            <a:r>
              <a:rPr lang="en-US" dirty="0"/>
              <a:t> {</a:t>
            </a:r>
            <a:br>
              <a:rPr lang="en-US" dirty="0"/>
            </a:br>
            <a:r>
              <a:rPr lang="en-US" dirty="0"/>
              <a:t>public Button </a:t>
            </a:r>
            <a:r>
              <a:rPr lang="en-US" dirty="0" err="1"/>
              <a:t>createButton</a:t>
            </a:r>
            <a:r>
              <a:rPr lang="en-US" dirty="0"/>
              <a:t>() {</a:t>
            </a:r>
            <a:br>
              <a:rPr lang="en-US" dirty="0"/>
            </a:br>
            <a:r>
              <a:rPr lang="en-US" dirty="0"/>
              <a:t>return new </a:t>
            </a:r>
            <a:r>
              <a:rPr lang="en-US" dirty="0" err="1"/>
              <a:t>WindowsButton</a:t>
            </a:r>
            <a:r>
              <a:rPr lang="en-US" dirty="0"/>
              <a:t>();</a:t>
            </a:r>
            <a:br>
              <a:rPr lang="en-US" dirty="0"/>
            </a:br>
            <a:r>
              <a:rPr lang="en-US" dirty="0"/>
              <a:t>}</a:t>
            </a:r>
            <a:br>
              <a:rPr lang="en-US" dirty="0"/>
            </a:br>
            <a:r>
              <a:rPr lang="en-US" dirty="0"/>
              <a:t>}</a:t>
            </a:r>
            <a:endParaRPr lang="en-PK" dirty="0"/>
          </a:p>
        </p:txBody>
      </p:sp>
      <p:sp>
        <p:nvSpPr>
          <p:cNvPr id="4" name="Content Placeholder 3">
            <a:extLst>
              <a:ext uri="{FF2B5EF4-FFF2-40B4-BE49-F238E27FC236}">
                <a16:creationId xmlns:a16="http://schemas.microsoft.com/office/drawing/2014/main" id="{5BFF668A-C4C9-16F7-E104-27A74AE06376}"/>
              </a:ext>
            </a:extLst>
          </p:cNvPr>
          <p:cNvSpPr>
            <a:spLocks noGrp="1"/>
          </p:cNvSpPr>
          <p:nvPr>
            <p:ph sz="half" idx="2"/>
          </p:nvPr>
        </p:nvSpPr>
        <p:spPr/>
        <p:txBody>
          <a:bodyPr>
            <a:normAutofit fontScale="55000" lnSpcReduction="20000"/>
          </a:bodyPr>
          <a:lstStyle/>
          <a:p>
            <a:r>
              <a:rPr lang="en-US" dirty="0"/>
              <a:t>class </a:t>
            </a:r>
            <a:r>
              <a:rPr lang="en-US" dirty="0" err="1"/>
              <a:t>MacFactory</a:t>
            </a:r>
            <a:r>
              <a:rPr lang="en-US" dirty="0"/>
              <a:t> implements </a:t>
            </a:r>
            <a:r>
              <a:rPr lang="en-US" dirty="0" err="1"/>
              <a:t>GUIFactory</a:t>
            </a:r>
            <a:r>
              <a:rPr lang="en-US" dirty="0"/>
              <a:t> {</a:t>
            </a:r>
            <a:br>
              <a:rPr lang="en-US" dirty="0"/>
            </a:br>
            <a:r>
              <a:rPr lang="en-US" dirty="0"/>
              <a:t>public Button </a:t>
            </a:r>
            <a:r>
              <a:rPr lang="en-US" dirty="0" err="1"/>
              <a:t>createButton</a:t>
            </a:r>
            <a:r>
              <a:rPr lang="en-US" dirty="0"/>
              <a:t>() {</a:t>
            </a:r>
            <a:br>
              <a:rPr lang="en-US" dirty="0"/>
            </a:br>
            <a:r>
              <a:rPr lang="en-US" dirty="0"/>
              <a:t>return new </a:t>
            </a:r>
            <a:r>
              <a:rPr lang="en-US" dirty="0" err="1"/>
              <a:t>MacButton</a:t>
            </a:r>
            <a:r>
              <a:rPr lang="en-US" dirty="0"/>
              <a:t>();</a:t>
            </a:r>
            <a:br>
              <a:rPr lang="en-US" dirty="0"/>
            </a:br>
            <a:r>
              <a:rPr lang="en-US" dirty="0"/>
              <a:t>}</a:t>
            </a:r>
            <a:br>
              <a:rPr lang="en-US" dirty="0"/>
            </a:br>
            <a:r>
              <a:rPr lang="en-US" dirty="0"/>
              <a:t>}</a:t>
            </a:r>
            <a:br>
              <a:rPr lang="en-US" dirty="0"/>
            </a:br>
            <a:br>
              <a:rPr lang="en-US" dirty="0"/>
            </a:br>
            <a:r>
              <a:rPr lang="en-US" dirty="0"/>
              <a:t>// Usage</a:t>
            </a:r>
            <a:br>
              <a:rPr lang="en-US" dirty="0"/>
            </a:br>
            <a:r>
              <a:rPr lang="en-US" dirty="0"/>
              <a:t>public class Test {</a:t>
            </a:r>
            <a:br>
              <a:rPr lang="en-US" dirty="0"/>
            </a:br>
            <a:r>
              <a:rPr lang="en-US" dirty="0"/>
              <a:t>public static void main(String[] </a:t>
            </a:r>
            <a:r>
              <a:rPr lang="en-US" dirty="0" err="1"/>
              <a:t>args</a:t>
            </a:r>
            <a:r>
              <a:rPr lang="en-US" dirty="0"/>
              <a:t>) {</a:t>
            </a:r>
            <a:br>
              <a:rPr lang="en-US" dirty="0"/>
            </a:br>
            <a:r>
              <a:rPr lang="en-US" dirty="0" err="1"/>
              <a:t>GUIFactory</a:t>
            </a:r>
            <a:r>
              <a:rPr lang="en-US" dirty="0"/>
              <a:t> factory = new </a:t>
            </a:r>
            <a:r>
              <a:rPr lang="en-US" dirty="0" err="1"/>
              <a:t>WindowsFactory</a:t>
            </a:r>
            <a:r>
              <a:rPr lang="en-US" dirty="0"/>
              <a:t>();</a:t>
            </a:r>
            <a:br>
              <a:rPr lang="en-US" dirty="0"/>
            </a:br>
            <a:r>
              <a:rPr lang="en-US" dirty="0"/>
              <a:t>Button </a:t>
            </a:r>
            <a:r>
              <a:rPr lang="en-US" dirty="0" err="1"/>
              <a:t>btn</a:t>
            </a:r>
            <a:r>
              <a:rPr lang="en-US" dirty="0"/>
              <a:t> = </a:t>
            </a:r>
            <a:r>
              <a:rPr lang="en-US" dirty="0" err="1"/>
              <a:t>factory.createButton</a:t>
            </a:r>
            <a:r>
              <a:rPr lang="en-US" dirty="0"/>
              <a:t>();</a:t>
            </a:r>
            <a:br>
              <a:rPr lang="en-US" dirty="0"/>
            </a:br>
            <a:r>
              <a:rPr lang="en-US" dirty="0" err="1"/>
              <a:t>btn.render</a:t>
            </a:r>
            <a:r>
              <a:rPr lang="en-US" dirty="0"/>
              <a:t>();</a:t>
            </a:r>
            <a:br>
              <a:rPr lang="en-US" dirty="0"/>
            </a:br>
            <a:r>
              <a:rPr lang="en-US" dirty="0"/>
              <a:t>}</a:t>
            </a:r>
            <a:br>
              <a:rPr lang="en-US" dirty="0"/>
            </a:br>
            <a:r>
              <a:rPr lang="en-US" dirty="0"/>
              <a:t>}</a:t>
            </a:r>
            <a:endParaRPr lang="en-PK" dirty="0"/>
          </a:p>
        </p:txBody>
      </p:sp>
    </p:spTree>
    <p:extLst>
      <p:ext uri="{BB962C8B-B14F-4D97-AF65-F5344CB8AC3E}">
        <p14:creationId xmlns:p14="http://schemas.microsoft.com/office/powerpoint/2010/main" val="550059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E8A19-05A1-BC43-8814-6D74C3B3698A}"/>
              </a:ext>
            </a:extLst>
          </p:cNvPr>
          <p:cNvSpPr>
            <a:spLocks noGrp="1"/>
          </p:cNvSpPr>
          <p:nvPr>
            <p:ph type="title"/>
          </p:nvPr>
        </p:nvSpPr>
        <p:spPr/>
        <p:txBody>
          <a:bodyPr/>
          <a:lstStyle/>
          <a:p>
            <a:r>
              <a:rPr lang="en-US" b="1" dirty="0"/>
              <a:t>Observer Pattern</a:t>
            </a:r>
            <a:endParaRPr lang="en-PK" b="1" dirty="0"/>
          </a:p>
        </p:txBody>
      </p:sp>
      <p:sp>
        <p:nvSpPr>
          <p:cNvPr id="3" name="Content Placeholder 2">
            <a:extLst>
              <a:ext uri="{FF2B5EF4-FFF2-40B4-BE49-F238E27FC236}">
                <a16:creationId xmlns:a16="http://schemas.microsoft.com/office/drawing/2014/main" id="{6A060965-96B8-8B84-92ED-87AD9B9ED2AB}"/>
              </a:ext>
            </a:extLst>
          </p:cNvPr>
          <p:cNvSpPr>
            <a:spLocks noGrp="1"/>
          </p:cNvSpPr>
          <p:nvPr>
            <p:ph idx="1"/>
          </p:nvPr>
        </p:nvSpPr>
        <p:spPr/>
        <p:txBody>
          <a:bodyPr/>
          <a:lstStyle/>
          <a:p>
            <a:pPr>
              <a:buFont typeface="Arial" panose="020B0604020202020204" pitchFamily="34" charset="0"/>
              <a:buChar char="•"/>
            </a:pPr>
            <a:r>
              <a:rPr lang="en-US" dirty="0"/>
              <a:t>Defines a </a:t>
            </a:r>
            <a:r>
              <a:rPr lang="en-US" b="1" dirty="0"/>
              <a:t>one-to-many relationship</a:t>
            </a:r>
            <a:r>
              <a:rPr lang="en-US" dirty="0"/>
              <a:t>. </a:t>
            </a:r>
          </a:p>
          <a:p>
            <a:pPr>
              <a:buFont typeface="Arial" panose="020B0604020202020204" pitchFamily="34" charset="0"/>
              <a:buChar char="•"/>
            </a:pPr>
            <a:r>
              <a:rPr lang="en-US" dirty="0"/>
              <a:t>When one object (subject) changes, all dependents (observers) are notified. </a:t>
            </a:r>
          </a:p>
          <a:p>
            <a:pPr>
              <a:buFont typeface="Arial" panose="020B0604020202020204" pitchFamily="34" charset="0"/>
              <a:buChar char="•"/>
            </a:pPr>
            <a:r>
              <a:rPr lang="en-US" dirty="0"/>
              <a:t>Used in </a:t>
            </a:r>
            <a:r>
              <a:rPr lang="en-US" b="1" dirty="0"/>
              <a:t>event systems</a:t>
            </a:r>
            <a:r>
              <a:rPr lang="en-US" dirty="0"/>
              <a:t> (e.g., notifications, subscriptions). </a:t>
            </a:r>
          </a:p>
          <a:p>
            <a:r>
              <a:rPr lang="en-US" dirty="0"/>
              <a:t>👉 Example: Teacher notifies all students</a:t>
            </a:r>
          </a:p>
          <a:p>
            <a:endParaRPr lang="en-PK" dirty="0"/>
          </a:p>
        </p:txBody>
      </p:sp>
    </p:spTree>
    <p:extLst>
      <p:ext uri="{BB962C8B-B14F-4D97-AF65-F5344CB8AC3E}">
        <p14:creationId xmlns:p14="http://schemas.microsoft.com/office/powerpoint/2010/main" val="658933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F961C-2FE5-5D35-9E10-93BBEF5B5C22}"/>
              </a:ext>
            </a:extLst>
          </p:cNvPr>
          <p:cNvSpPr>
            <a:spLocks noGrp="1"/>
          </p:cNvSpPr>
          <p:nvPr>
            <p:ph type="title"/>
          </p:nvPr>
        </p:nvSpPr>
        <p:spPr/>
        <p:txBody>
          <a:bodyPr/>
          <a:lstStyle/>
          <a:p>
            <a:r>
              <a:rPr lang="en-US" b="1" dirty="0"/>
              <a:t>Code Example</a:t>
            </a:r>
            <a:endParaRPr lang="en-PK" b="1" dirty="0"/>
          </a:p>
        </p:txBody>
      </p:sp>
      <p:sp>
        <p:nvSpPr>
          <p:cNvPr id="3" name="Content Placeholder 2">
            <a:extLst>
              <a:ext uri="{FF2B5EF4-FFF2-40B4-BE49-F238E27FC236}">
                <a16:creationId xmlns:a16="http://schemas.microsoft.com/office/drawing/2014/main" id="{768E10EC-3648-FE98-63D7-807DD97F8018}"/>
              </a:ext>
            </a:extLst>
          </p:cNvPr>
          <p:cNvSpPr>
            <a:spLocks noGrp="1"/>
          </p:cNvSpPr>
          <p:nvPr>
            <p:ph sz="half" idx="1"/>
          </p:nvPr>
        </p:nvSpPr>
        <p:spPr/>
        <p:txBody>
          <a:bodyPr>
            <a:normAutofit fontScale="55000" lnSpcReduction="20000"/>
          </a:bodyPr>
          <a:lstStyle/>
          <a:p>
            <a:r>
              <a:rPr lang="en-US" dirty="0"/>
              <a:t>import </a:t>
            </a:r>
            <a:r>
              <a:rPr lang="en-US" dirty="0" err="1"/>
              <a:t>java.util</a:t>
            </a:r>
            <a:r>
              <a:rPr lang="en-US" dirty="0"/>
              <a:t>.*;</a:t>
            </a:r>
            <a:br>
              <a:rPr lang="en-US" dirty="0"/>
            </a:br>
            <a:br>
              <a:rPr lang="en-US" dirty="0"/>
            </a:br>
            <a:r>
              <a:rPr lang="en-US" dirty="0"/>
              <a:t>interface Observer {</a:t>
            </a:r>
            <a:br>
              <a:rPr lang="en-US" dirty="0"/>
            </a:br>
            <a:r>
              <a:rPr lang="en-US" dirty="0"/>
              <a:t>void update(String message);</a:t>
            </a:r>
            <a:br>
              <a:rPr lang="en-US" dirty="0"/>
            </a:br>
            <a:r>
              <a:rPr lang="en-US" dirty="0"/>
              <a:t>}</a:t>
            </a:r>
            <a:br>
              <a:rPr lang="en-US" dirty="0"/>
            </a:br>
            <a:br>
              <a:rPr lang="en-US" dirty="0"/>
            </a:br>
            <a:r>
              <a:rPr lang="en-US" dirty="0"/>
              <a:t>class Student implements Observer {</a:t>
            </a:r>
            <a:br>
              <a:rPr lang="en-US" dirty="0"/>
            </a:br>
            <a:r>
              <a:rPr lang="en-US" dirty="0"/>
              <a:t>private String name;</a:t>
            </a:r>
            <a:br>
              <a:rPr lang="en-US" dirty="0"/>
            </a:br>
            <a:br>
              <a:rPr lang="en-US" dirty="0"/>
            </a:br>
            <a:r>
              <a:rPr lang="en-US" dirty="0"/>
              <a:t>public Student(String name) {</a:t>
            </a:r>
            <a:br>
              <a:rPr lang="en-US" dirty="0"/>
            </a:br>
            <a:r>
              <a:rPr lang="en-US" dirty="0"/>
              <a:t>this.name = name;</a:t>
            </a:r>
            <a:br>
              <a:rPr lang="en-US" dirty="0"/>
            </a:br>
            <a:r>
              <a:rPr lang="en-US" dirty="0"/>
              <a:t>}</a:t>
            </a:r>
            <a:br>
              <a:rPr lang="en-US" dirty="0"/>
            </a:br>
            <a:br>
              <a:rPr lang="en-US" dirty="0"/>
            </a:br>
            <a:r>
              <a:rPr lang="en-US" dirty="0"/>
              <a:t>public void update(String message) {</a:t>
            </a:r>
            <a:br>
              <a:rPr lang="en-US" dirty="0"/>
            </a:br>
            <a:r>
              <a:rPr lang="en-US" dirty="0" err="1"/>
              <a:t>System.out.println</a:t>
            </a:r>
            <a:r>
              <a:rPr lang="en-US" dirty="0"/>
              <a:t>(name + " received: " + message);</a:t>
            </a:r>
            <a:br>
              <a:rPr lang="en-US" dirty="0"/>
            </a:br>
            <a:r>
              <a:rPr lang="en-US" dirty="0"/>
              <a:t>}</a:t>
            </a:r>
            <a:br>
              <a:rPr lang="en-US" dirty="0"/>
            </a:br>
            <a:r>
              <a:rPr lang="en-US" dirty="0"/>
              <a:t>}</a:t>
            </a:r>
            <a:br>
              <a:rPr lang="en-US" dirty="0"/>
            </a:br>
            <a:br>
              <a:rPr lang="en-US" dirty="0"/>
            </a:br>
            <a:r>
              <a:rPr lang="en-US" dirty="0"/>
              <a:t>class Teacher {</a:t>
            </a:r>
            <a:br>
              <a:rPr lang="en-US" dirty="0"/>
            </a:br>
            <a:r>
              <a:rPr lang="en-US" dirty="0"/>
              <a:t>private List&lt;Observer&gt; students = new </a:t>
            </a:r>
            <a:r>
              <a:rPr lang="en-US" dirty="0" err="1"/>
              <a:t>ArrayList</a:t>
            </a:r>
            <a:r>
              <a:rPr lang="en-US" dirty="0"/>
              <a:t>&lt;&gt;();</a:t>
            </a:r>
            <a:br>
              <a:rPr lang="en-US" dirty="0"/>
            </a:br>
            <a:br>
              <a:rPr lang="en-US" dirty="0"/>
            </a:br>
            <a:r>
              <a:rPr lang="en-US" dirty="0"/>
              <a:t>public void </a:t>
            </a:r>
            <a:r>
              <a:rPr lang="en-US" dirty="0" err="1"/>
              <a:t>addStudent</a:t>
            </a:r>
            <a:r>
              <a:rPr lang="en-US" dirty="0"/>
              <a:t>(Observer o) {</a:t>
            </a:r>
            <a:br>
              <a:rPr lang="en-US" dirty="0"/>
            </a:br>
            <a:r>
              <a:rPr lang="en-US" dirty="0" err="1"/>
              <a:t>students.add</a:t>
            </a:r>
            <a:r>
              <a:rPr lang="en-US" dirty="0"/>
              <a:t>(o);</a:t>
            </a:r>
            <a:br>
              <a:rPr lang="en-US" dirty="0"/>
            </a:br>
            <a:r>
              <a:rPr lang="en-US" dirty="0"/>
              <a:t>}</a:t>
            </a:r>
            <a:endParaRPr lang="en-PK" dirty="0"/>
          </a:p>
        </p:txBody>
      </p:sp>
      <p:sp>
        <p:nvSpPr>
          <p:cNvPr id="4" name="Content Placeholder 3">
            <a:extLst>
              <a:ext uri="{FF2B5EF4-FFF2-40B4-BE49-F238E27FC236}">
                <a16:creationId xmlns:a16="http://schemas.microsoft.com/office/drawing/2014/main" id="{EFEB81EE-854C-32F7-74AD-A6745C52CBF0}"/>
              </a:ext>
            </a:extLst>
          </p:cNvPr>
          <p:cNvSpPr>
            <a:spLocks noGrp="1"/>
          </p:cNvSpPr>
          <p:nvPr>
            <p:ph sz="half" idx="2"/>
          </p:nvPr>
        </p:nvSpPr>
        <p:spPr/>
        <p:txBody>
          <a:bodyPr>
            <a:normAutofit fontScale="55000" lnSpcReduction="20000"/>
          </a:bodyPr>
          <a:lstStyle/>
          <a:p>
            <a:r>
              <a:rPr lang="en-US" dirty="0"/>
              <a:t>public void </a:t>
            </a:r>
            <a:r>
              <a:rPr lang="en-US" dirty="0" err="1"/>
              <a:t>notifyStudents</a:t>
            </a:r>
            <a:r>
              <a:rPr lang="en-US" dirty="0"/>
              <a:t>(String msg) {</a:t>
            </a:r>
            <a:br>
              <a:rPr lang="en-US" dirty="0"/>
            </a:br>
            <a:r>
              <a:rPr lang="en-US" dirty="0"/>
              <a:t>for (Observer o : students) {</a:t>
            </a:r>
            <a:br>
              <a:rPr lang="en-US" dirty="0"/>
            </a:br>
            <a:r>
              <a:rPr lang="en-US" dirty="0" err="1"/>
              <a:t>o.update</a:t>
            </a:r>
            <a:r>
              <a:rPr lang="en-US" dirty="0"/>
              <a:t>(msg);</a:t>
            </a:r>
            <a:br>
              <a:rPr lang="en-US" dirty="0"/>
            </a:br>
            <a:r>
              <a:rPr lang="en-US" dirty="0"/>
              <a:t>}</a:t>
            </a:r>
            <a:br>
              <a:rPr lang="en-US" dirty="0"/>
            </a:br>
            <a:r>
              <a:rPr lang="en-US" dirty="0"/>
              <a:t>}</a:t>
            </a:r>
            <a:br>
              <a:rPr lang="en-US" dirty="0"/>
            </a:br>
            <a:r>
              <a:rPr lang="en-US" dirty="0"/>
              <a:t>}</a:t>
            </a:r>
            <a:br>
              <a:rPr lang="en-US" dirty="0"/>
            </a:br>
            <a:br>
              <a:rPr lang="en-US" dirty="0"/>
            </a:br>
            <a:r>
              <a:rPr lang="en-US" dirty="0"/>
              <a:t>// Usage</a:t>
            </a:r>
            <a:br>
              <a:rPr lang="en-US" dirty="0"/>
            </a:br>
            <a:r>
              <a:rPr lang="en-US" dirty="0"/>
              <a:t>public class Test {</a:t>
            </a:r>
            <a:br>
              <a:rPr lang="en-US" dirty="0"/>
            </a:br>
            <a:r>
              <a:rPr lang="en-US" dirty="0"/>
              <a:t>public static void main(String[] </a:t>
            </a:r>
            <a:r>
              <a:rPr lang="en-US" dirty="0" err="1"/>
              <a:t>args</a:t>
            </a:r>
            <a:r>
              <a:rPr lang="en-US" dirty="0"/>
              <a:t>) {</a:t>
            </a:r>
            <a:br>
              <a:rPr lang="en-US" dirty="0"/>
            </a:br>
            <a:r>
              <a:rPr lang="en-US" dirty="0"/>
              <a:t>Teacher t = new Teacher();</a:t>
            </a:r>
            <a:br>
              <a:rPr lang="en-US" dirty="0"/>
            </a:br>
            <a:br>
              <a:rPr lang="en-US" dirty="0"/>
            </a:br>
            <a:r>
              <a:rPr lang="en-US" dirty="0" err="1"/>
              <a:t>t.addStudent</a:t>
            </a:r>
            <a:r>
              <a:rPr lang="en-US" dirty="0"/>
              <a:t>(new Student("Ali"));</a:t>
            </a:r>
            <a:br>
              <a:rPr lang="en-US" dirty="0"/>
            </a:br>
            <a:r>
              <a:rPr lang="en-US" dirty="0" err="1"/>
              <a:t>t.addStudent</a:t>
            </a:r>
            <a:r>
              <a:rPr lang="en-US" dirty="0"/>
              <a:t>(new Student("Sara"));</a:t>
            </a:r>
            <a:br>
              <a:rPr lang="en-US" dirty="0"/>
            </a:br>
            <a:br>
              <a:rPr lang="en-US" dirty="0"/>
            </a:br>
            <a:r>
              <a:rPr lang="en-US" dirty="0" err="1"/>
              <a:t>t.notifyStudents</a:t>
            </a:r>
            <a:r>
              <a:rPr lang="en-US" dirty="0"/>
              <a:t>("Assignment uploaded!");</a:t>
            </a:r>
            <a:br>
              <a:rPr lang="en-US" dirty="0"/>
            </a:br>
            <a:r>
              <a:rPr lang="en-US" dirty="0"/>
              <a:t>}</a:t>
            </a:r>
            <a:br>
              <a:rPr lang="en-US" dirty="0"/>
            </a:br>
            <a:r>
              <a:rPr lang="en-US" dirty="0"/>
              <a:t>}</a:t>
            </a:r>
            <a:endParaRPr lang="en-PK" dirty="0"/>
          </a:p>
        </p:txBody>
      </p:sp>
    </p:spTree>
    <p:extLst>
      <p:ext uri="{BB962C8B-B14F-4D97-AF65-F5344CB8AC3E}">
        <p14:creationId xmlns:p14="http://schemas.microsoft.com/office/powerpoint/2010/main" val="1762490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0BE58-EB9B-EED8-D46B-0A545B786D17}"/>
              </a:ext>
            </a:extLst>
          </p:cNvPr>
          <p:cNvSpPr>
            <a:spLocks noGrp="1"/>
          </p:cNvSpPr>
          <p:nvPr>
            <p:ph type="title"/>
          </p:nvPr>
        </p:nvSpPr>
        <p:spPr/>
        <p:txBody>
          <a:bodyPr/>
          <a:lstStyle/>
          <a:p>
            <a:r>
              <a:rPr lang="en-US" b="1" dirty="0"/>
              <a:t>Decorator Pattern</a:t>
            </a:r>
            <a:endParaRPr lang="en-PK" b="1" dirty="0"/>
          </a:p>
        </p:txBody>
      </p:sp>
      <p:sp>
        <p:nvSpPr>
          <p:cNvPr id="3" name="Content Placeholder 2">
            <a:extLst>
              <a:ext uri="{FF2B5EF4-FFF2-40B4-BE49-F238E27FC236}">
                <a16:creationId xmlns:a16="http://schemas.microsoft.com/office/drawing/2014/main" id="{A62CACA9-D2CE-56B7-DCA1-C9CEE8A8F35A}"/>
              </a:ext>
            </a:extLst>
          </p:cNvPr>
          <p:cNvSpPr>
            <a:spLocks noGrp="1"/>
          </p:cNvSpPr>
          <p:nvPr>
            <p:ph idx="1"/>
          </p:nvPr>
        </p:nvSpPr>
        <p:spPr/>
        <p:txBody>
          <a:bodyPr/>
          <a:lstStyle/>
          <a:p>
            <a:pPr>
              <a:buFont typeface="Arial" panose="020B0604020202020204" pitchFamily="34" charset="0"/>
              <a:buChar char="•"/>
            </a:pPr>
            <a:r>
              <a:rPr lang="en-US" dirty="0"/>
              <a:t>Used to </a:t>
            </a:r>
            <a:r>
              <a:rPr lang="en-US" b="1" dirty="0"/>
              <a:t>add new behavior dynamically</a:t>
            </a:r>
            <a:r>
              <a:rPr lang="en-US" dirty="0"/>
              <a:t> without modifying the class. </a:t>
            </a:r>
          </a:p>
          <a:p>
            <a:pPr>
              <a:buFont typeface="Arial" panose="020B0604020202020204" pitchFamily="34" charset="0"/>
              <a:buChar char="•"/>
            </a:pPr>
            <a:r>
              <a:rPr lang="en-US" dirty="0"/>
              <a:t>Wraps the original object with additional functionality. </a:t>
            </a:r>
          </a:p>
          <a:p>
            <a:pPr>
              <a:buFont typeface="Arial" panose="020B0604020202020204" pitchFamily="34" charset="0"/>
              <a:buChar char="•"/>
            </a:pPr>
            <a:r>
              <a:rPr lang="en-US" dirty="0"/>
              <a:t>Follows </a:t>
            </a:r>
            <a:r>
              <a:rPr lang="en-US" b="1" dirty="0"/>
              <a:t>“composition over inheritance”</a:t>
            </a:r>
            <a:r>
              <a:rPr lang="en-US" dirty="0"/>
              <a:t>. </a:t>
            </a:r>
          </a:p>
          <a:p>
            <a:r>
              <a:rPr lang="en-US" dirty="0"/>
              <a:t>👉 Example: Coffee + Milk + Sugar (adding features)</a:t>
            </a:r>
          </a:p>
          <a:p>
            <a:endParaRPr lang="en-PK" dirty="0"/>
          </a:p>
        </p:txBody>
      </p:sp>
    </p:spTree>
    <p:extLst>
      <p:ext uri="{BB962C8B-B14F-4D97-AF65-F5344CB8AC3E}">
        <p14:creationId xmlns:p14="http://schemas.microsoft.com/office/powerpoint/2010/main" val="2533908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8D5DD-ADF9-E79F-5A41-BA90CC54FAED}"/>
              </a:ext>
            </a:extLst>
          </p:cNvPr>
          <p:cNvSpPr>
            <a:spLocks noGrp="1"/>
          </p:cNvSpPr>
          <p:nvPr>
            <p:ph type="title"/>
          </p:nvPr>
        </p:nvSpPr>
        <p:spPr/>
        <p:txBody>
          <a:bodyPr/>
          <a:lstStyle/>
          <a:p>
            <a:r>
              <a:rPr lang="en-US" b="1" dirty="0"/>
              <a:t>Code Example</a:t>
            </a:r>
            <a:endParaRPr lang="en-PK" b="1" dirty="0"/>
          </a:p>
        </p:txBody>
      </p:sp>
      <p:sp>
        <p:nvSpPr>
          <p:cNvPr id="3" name="Content Placeholder 2">
            <a:extLst>
              <a:ext uri="{FF2B5EF4-FFF2-40B4-BE49-F238E27FC236}">
                <a16:creationId xmlns:a16="http://schemas.microsoft.com/office/drawing/2014/main" id="{3CF5290E-EC28-5560-2755-EB9F30F1BBC6}"/>
              </a:ext>
            </a:extLst>
          </p:cNvPr>
          <p:cNvSpPr>
            <a:spLocks noGrp="1"/>
          </p:cNvSpPr>
          <p:nvPr>
            <p:ph sz="half" idx="1"/>
          </p:nvPr>
        </p:nvSpPr>
        <p:spPr/>
        <p:txBody>
          <a:bodyPr>
            <a:normAutofit fontScale="55000" lnSpcReduction="20000"/>
          </a:bodyPr>
          <a:lstStyle/>
          <a:p>
            <a:r>
              <a:rPr lang="en-US" dirty="0"/>
              <a:t>interface Coffee {</a:t>
            </a:r>
            <a:br>
              <a:rPr lang="en-US" dirty="0"/>
            </a:br>
            <a:r>
              <a:rPr lang="en-US" dirty="0"/>
              <a:t>String </a:t>
            </a:r>
            <a:r>
              <a:rPr lang="en-US" dirty="0" err="1"/>
              <a:t>getDescription</a:t>
            </a:r>
            <a:r>
              <a:rPr lang="en-US" dirty="0"/>
              <a:t>();</a:t>
            </a:r>
            <a:br>
              <a:rPr lang="en-US" dirty="0"/>
            </a:br>
            <a:r>
              <a:rPr lang="en-US" dirty="0"/>
              <a:t>double cost();</a:t>
            </a:r>
            <a:br>
              <a:rPr lang="en-US" dirty="0"/>
            </a:br>
            <a:r>
              <a:rPr lang="en-US" dirty="0"/>
              <a:t>}</a:t>
            </a:r>
            <a:br>
              <a:rPr lang="en-US" dirty="0"/>
            </a:br>
            <a:br>
              <a:rPr lang="en-US" dirty="0"/>
            </a:br>
            <a:r>
              <a:rPr lang="en-US" dirty="0"/>
              <a:t>class </a:t>
            </a:r>
            <a:r>
              <a:rPr lang="en-US" dirty="0" err="1"/>
              <a:t>SimpleCoffee</a:t>
            </a:r>
            <a:r>
              <a:rPr lang="en-US" dirty="0"/>
              <a:t> implements Coffee {</a:t>
            </a:r>
            <a:br>
              <a:rPr lang="en-US" dirty="0"/>
            </a:br>
            <a:r>
              <a:rPr lang="en-US" dirty="0"/>
              <a:t>public String </a:t>
            </a:r>
            <a:r>
              <a:rPr lang="en-US" dirty="0" err="1"/>
              <a:t>getDescription</a:t>
            </a:r>
            <a:r>
              <a:rPr lang="en-US" dirty="0"/>
              <a:t>() {</a:t>
            </a:r>
            <a:br>
              <a:rPr lang="en-US" dirty="0"/>
            </a:br>
            <a:r>
              <a:rPr lang="en-US" dirty="0"/>
              <a:t>return "Simple Coffee";</a:t>
            </a:r>
            <a:br>
              <a:rPr lang="en-US" dirty="0"/>
            </a:br>
            <a:r>
              <a:rPr lang="en-US" dirty="0"/>
              <a:t>}</a:t>
            </a:r>
            <a:br>
              <a:rPr lang="en-US" dirty="0"/>
            </a:br>
            <a:br>
              <a:rPr lang="en-US" dirty="0"/>
            </a:br>
            <a:r>
              <a:rPr lang="en-US" dirty="0"/>
              <a:t>public double cost() {</a:t>
            </a:r>
            <a:br>
              <a:rPr lang="en-US" dirty="0"/>
            </a:br>
            <a:r>
              <a:rPr lang="en-US" dirty="0"/>
              <a:t>return 100;</a:t>
            </a:r>
            <a:br>
              <a:rPr lang="en-US" dirty="0"/>
            </a:br>
            <a:r>
              <a:rPr lang="en-US" dirty="0"/>
              <a:t>}</a:t>
            </a:r>
            <a:br>
              <a:rPr lang="en-US" dirty="0"/>
            </a:br>
            <a:r>
              <a:rPr lang="en-US" dirty="0"/>
              <a:t>}</a:t>
            </a:r>
            <a:br>
              <a:rPr lang="en-US" dirty="0"/>
            </a:br>
            <a:br>
              <a:rPr lang="en-US" dirty="0"/>
            </a:br>
            <a:r>
              <a:rPr lang="en-US" dirty="0"/>
              <a:t>class </a:t>
            </a:r>
            <a:r>
              <a:rPr lang="en-US" dirty="0" err="1"/>
              <a:t>MilkDecorator</a:t>
            </a:r>
            <a:r>
              <a:rPr lang="en-US" dirty="0"/>
              <a:t> implements Coffee {</a:t>
            </a:r>
            <a:br>
              <a:rPr lang="en-US" dirty="0"/>
            </a:br>
            <a:r>
              <a:rPr lang="en-US" dirty="0"/>
              <a:t>private Coffee </a:t>
            </a:r>
            <a:r>
              <a:rPr lang="en-US" dirty="0" err="1"/>
              <a:t>coffee</a:t>
            </a:r>
            <a:r>
              <a:rPr lang="en-US" dirty="0"/>
              <a:t>;</a:t>
            </a:r>
            <a:br>
              <a:rPr lang="en-US" dirty="0"/>
            </a:br>
            <a:br>
              <a:rPr lang="en-US" dirty="0"/>
            </a:br>
            <a:r>
              <a:rPr lang="en-US" dirty="0"/>
              <a:t>public </a:t>
            </a:r>
            <a:r>
              <a:rPr lang="en-US" dirty="0" err="1"/>
              <a:t>MilkDecorator</a:t>
            </a:r>
            <a:r>
              <a:rPr lang="en-US" dirty="0"/>
              <a:t>(Coffee coffee) {</a:t>
            </a:r>
            <a:br>
              <a:rPr lang="en-US" dirty="0"/>
            </a:br>
            <a:r>
              <a:rPr lang="en-US" dirty="0" err="1"/>
              <a:t>this.coffee</a:t>
            </a:r>
            <a:r>
              <a:rPr lang="en-US" dirty="0"/>
              <a:t> = coffee;</a:t>
            </a:r>
            <a:br>
              <a:rPr lang="en-US" dirty="0"/>
            </a:br>
            <a:r>
              <a:rPr lang="en-US" dirty="0"/>
              <a:t>}</a:t>
            </a:r>
            <a:br>
              <a:rPr lang="en-US" dirty="0"/>
            </a:br>
            <a:br>
              <a:rPr lang="en-US" dirty="0"/>
            </a:br>
            <a:r>
              <a:rPr lang="en-US" dirty="0"/>
              <a:t>public String </a:t>
            </a:r>
            <a:r>
              <a:rPr lang="en-US" dirty="0" err="1"/>
              <a:t>getDescription</a:t>
            </a:r>
            <a:r>
              <a:rPr lang="en-US" dirty="0"/>
              <a:t>() {</a:t>
            </a:r>
            <a:br>
              <a:rPr lang="en-US" dirty="0"/>
            </a:br>
            <a:r>
              <a:rPr lang="en-US" dirty="0"/>
              <a:t>return </a:t>
            </a:r>
            <a:r>
              <a:rPr lang="en-US" dirty="0" err="1"/>
              <a:t>coffee.getDescription</a:t>
            </a:r>
            <a:r>
              <a:rPr lang="en-US" dirty="0"/>
              <a:t>() + ", Milk";</a:t>
            </a:r>
            <a:br>
              <a:rPr lang="en-US" dirty="0"/>
            </a:br>
            <a:r>
              <a:rPr lang="en-US" dirty="0"/>
              <a:t>}</a:t>
            </a:r>
            <a:endParaRPr lang="en-PK" dirty="0"/>
          </a:p>
        </p:txBody>
      </p:sp>
      <p:sp>
        <p:nvSpPr>
          <p:cNvPr id="5" name="Rectangle 1">
            <a:extLst>
              <a:ext uri="{FF2B5EF4-FFF2-40B4-BE49-F238E27FC236}">
                <a16:creationId xmlns:a16="http://schemas.microsoft.com/office/drawing/2014/main" id="{7AA997DC-B303-611A-DF67-86109DA02B61}"/>
              </a:ext>
            </a:extLst>
          </p:cNvPr>
          <p:cNvSpPr>
            <a:spLocks noGrp="1" noChangeArrowheads="1"/>
          </p:cNvSpPr>
          <p:nvPr>
            <p:ph sz="half" idx="2"/>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000" b="0" i="0" u="none" strike="noStrike" cap="none" normalizeH="0" baseline="0">
                <a:ln>
                  <a:noFill/>
                </a:ln>
                <a:solidFill>
                  <a:schemeClr val="tx1"/>
                </a:solidFill>
                <a:effectLst/>
                <a:latin typeface="Arial Unicode MS"/>
              </a:rPr>
              <a:t>public double cost() {</a:t>
            </a:r>
            <a:br>
              <a:rPr kumimoji="0" lang="en-PK" altLang="en-PK" sz="1000" b="0" i="0" u="none" strike="noStrike" cap="none" normalizeH="0" baseline="0">
                <a:ln>
                  <a:noFill/>
                </a:ln>
                <a:solidFill>
                  <a:schemeClr val="tx1"/>
                </a:solidFill>
                <a:effectLst/>
                <a:latin typeface="Arial Unicode MS"/>
              </a:rPr>
            </a:br>
            <a:r>
              <a:rPr kumimoji="0" lang="en-PK" altLang="en-PK" sz="1000" b="0" i="0" u="none" strike="noStrike" cap="none" normalizeH="0" baseline="0">
                <a:ln>
                  <a:noFill/>
                </a:ln>
                <a:solidFill>
                  <a:schemeClr val="tx1"/>
                </a:solidFill>
                <a:effectLst/>
                <a:latin typeface="Arial Unicode MS"/>
              </a:rPr>
              <a:t>return coffee.cost() + 50;</a:t>
            </a:r>
            <a:br>
              <a:rPr kumimoji="0" lang="en-PK" altLang="en-PK" sz="1000" b="0" i="0" u="none" strike="noStrike" cap="none" normalizeH="0" baseline="0">
                <a:ln>
                  <a:noFill/>
                </a:ln>
                <a:solidFill>
                  <a:schemeClr val="tx1"/>
                </a:solidFill>
                <a:effectLst/>
                <a:latin typeface="Arial Unicode MS"/>
              </a:rPr>
            </a:br>
            <a:r>
              <a:rPr kumimoji="0" lang="en-PK" altLang="en-PK" sz="1000" b="0" i="0" u="none" strike="noStrike" cap="none" normalizeH="0" baseline="0">
                <a:ln>
                  <a:noFill/>
                </a:ln>
                <a:solidFill>
                  <a:schemeClr val="tx1"/>
                </a:solidFill>
                <a:effectLst/>
                <a:latin typeface="Arial Unicode MS"/>
              </a:rPr>
              <a:t>}</a:t>
            </a:r>
            <a:br>
              <a:rPr kumimoji="0" lang="en-PK" altLang="en-PK" sz="1000" b="0" i="0" u="none" strike="noStrike" cap="none" normalizeH="0" baseline="0">
                <a:ln>
                  <a:noFill/>
                </a:ln>
                <a:solidFill>
                  <a:schemeClr val="tx1"/>
                </a:solidFill>
                <a:effectLst/>
                <a:latin typeface="Arial Unicode MS"/>
              </a:rPr>
            </a:br>
            <a:r>
              <a:rPr kumimoji="0" lang="en-PK" altLang="en-PK" sz="1000" b="0" i="0" u="none" strike="noStrike" cap="none" normalizeH="0" baseline="0">
                <a:ln>
                  <a:noFill/>
                </a:ln>
                <a:solidFill>
                  <a:schemeClr val="tx1"/>
                </a:solidFill>
                <a:effectLst/>
                <a:latin typeface="Arial Unicode MS"/>
              </a:rPr>
              <a:t>}</a:t>
            </a:r>
            <a:br>
              <a:rPr kumimoji="0" lang="en-PK" altLang="en-PK" sz="1000" b="0" i="0" u="none" strike="noStrike" cap="none" normalizeH="0" baseline="0">
                <a:ln>
                  <a:noFill/>
                </a:ln>
                <a:solidFill>
                  <a:schemeClr val="tx1"/>
                </a:solidFill>
                <a:effectLst/>
                <a:latin typeface="Arial Unicode MS"/>
              </a:rPr>
            </a:br>
            <a:br>
              <a:rPr kumimoji="0" lang="en-PK" altLang="en-PK" sz="1000" b="0" i="0" u="none" strike="noStrike" cap="none" normalizeH="0" baseline="0">
                <a:ln>
                  <a:noFill/>
                </a:ln>
                <a:solidFill>
                  <a:schemeClr val="tx1"/>
                </a:solidFill>
                <a:effectLst/>
                <a:latin typeface="Arial Unicode MS"/>
              </a:rPr>
            </a:br>
            <a:r>
              <a:rPr kumimoji="0" lang="en-PK" altLang="en-PK" sz="1000" b="0" i="0" u="none" strike="noStrike" cap="none" normalizeH="0" baseline="0">
                <a:ln>
                  <a:noFill/>
                </a:ln>
                <a:solidFill>
                  <a:schemeClr val="tx1"/>
                </a:solidFill>
                <a:effectLst/>
                <a:latin typeface="Arial Unicode MS"/>
              </a:rPr>
              <a:t>// Usage</a:t>
            </a:r>
            <a:br>
              <a:rPr kumimoji="0" lang="en-PK" altLang="en-PK" sz="1000" b="0" i="0" u="none" strike="noStrike" cap="none" normalizeH="0" baseline="0">
                <a:ln>
                  <a:noFill/>
                </a:ln>
                <a:solidFill>
                  <a:schemeClr val="tx1"/>
                </a:solidFill>
                <a:effectLst/>
                <a:latin typeface="Arial Unicode MS"/>
              </a:rPr>
            </a:br>
            <a:r>
              <a:rPr kumimoji="0" lang="en-PK" altLang="en-PK" sz="1000" b="0" i="0" u="none" strike="noStrike" cap="none" normalizeH="0" baseline="0">
                <a:ln>
                  <a:noFill/>
                </a:ln>
                <a:solidFill>
                  <a:schemeClr val="tx1"/>
                </a:solidFill>
                <a:effectLst/>
                <a:latin typeface="Arial Unicode MS"/>
              </a:rPr>
              <a:t>public class Test {</a:t>
            </a:r>
            <a:br>
              <a:rPr kumimoji="0" lang="en-PK" altLang="en-PK" sz="1000" b="0" i="0" u="none" strike="noStrike" cap="none" normalizeH="0" baseline="0">
                <a:ln>
                  <a:noFill/>
                </a:ln>
                <a:solidFill>
                  <a:schemeClr val="tx1"/>
                </a:solidFill>
                <a:effectLst/>
                <a:latin typeface="Arial Unicode MS"/>
              </a:rPr>
            </a:br>
            <a:r>
              <a:rPr kumimoji="0" lang="en-PK" altLang="en-PK" sz="1000" b="0" i="0" u="none" strike="noStrike" cap="none" normalizeH="0" baseline="0">
                <a:ln>
                  <a:noFill/>
                </a:ln>
                <a:solidFill>
                  <a:schemeClr val="tx1"/>
                </a:solidFill>
                <a:effectLst/>
                <a:latin typeface="Arial Unicode MS"/>
              </a:rPr>
              <a:t>public static void main(String[] args) {</a:t>
            </a:r>
            <a:br>
              <a:rPr kumimoji="0" lang="en-PK" altLang="en-PK" sz="1000" b="0" i="0" u="none" strike="noStrike" cap="none" normalizeH="0" baseline="0">
                <a:ln>
                  <a:noFill/>
                </a:ln>
                <a:solidFill>
                  <a:schemeClr val="tx1"/>
                </a:solidFill>
                <a:effectLst/>
                <a:latin typeface="Arial Unicode MS"/>
              </a:rPr>
            </a:br>
            <a:r>
              <a:rPr kumimoji="0" lang="en-PK" altLang="en-PK" sz="1000" b="0" i="0" u="none" strike="noStrike" cap="none" normalizeH="0" baseline="0">
                <a:ln>
                  <a:noFill/>
                </a:ln>
                <a:solidFill>
                  <a:schemeClr val="tx1"/>
                </a:solidFill>
                <a:effectLst/>
                <a:latin typeface="Arial Unicode MS"/>
              </a:rPr>
              <a:t>Coffee c = new SimpleCoffee();</a:t>
            </a:r>
            <a:br>
              <a:rPr kumimoji="0" lang="en-PK" altLang="en-PK" sz="1000" b="0" i="0" u="none" strike="noStrike" cap="none" normalizeH="0" baseline="0">
                <a:ln>
                  <a:noFill/>
                </a:ln>
                <a:solidFill>
                  <a:schemeClr val="tx1"/>
                </a:solidFill>
                <a:effectLst/>
                <a:latin typeface="Arial Unicode MS"/>
              </a:rPr>
            </a:br>
            <a:r>
              <a:rPr kumimoji="0" lang="en-PK" altLang="en-PK" sz="1000" b="0" i="0" u="none" strike="noStrike" cap="none" normalizeH="0" baseline="0">
                <a:ln>
                  <a:noFill/>
                </a:ln>
                <a:solidFill>
                  <a:schemeClr val="tx1"/>
                </a:solidFill>
                <a:effectLst/>
                <a:latin typeface="Arial Unicode MS"/>
              </a:rPr>
              <a:t>c = new MilkDecorator(c);</a:t>
            </a:r>
            <a:br>
              <a:rPr kumimoji="0" lang="en-PK" altLang="en-PK" sz="1000" b="0" i="0" u="none" strike="noStrike" cap="none" normalizeH="0" baseline="0">
                <a:ln>
                  <a:noFill/>
                </a:ln>
                <a:solidFill>
                  <a:schemeClr val="tx1"/>
                </a:solidFill>
                <a:effectLst/>
                <a:latin typeface="Arial Unicode MS"/>
              </a:rPr>
            </a:br>
            <a:br>
              <a:rPr kumimoji="0" lang="en-PK" altLang="en-PK" sz="1000" b="0" i="0" u="none" strike="noStrike" cap="none" normalizeH="0" baseline="0">
                <a:ln>
                  <a:noFill/>
                </a:ln>
                <a:solidFill>
                  <a:schemeClr val="tx1"/>
                </a:solidFill>
                <a:effectLst/>
                <a:latin typeface="Arial Unicode MS"/>
              </a:rPr>
            </a:br>
            <a:r>
              <a:rPr kumimoji="0" lang="en-PK" altLang="en-PK" sz="1000" b="0" i="0" u="none" strike="noStrike" cap="none" normalizeH="0" baseline="0">
                <a:ln>
                  <a:noFill/>
                </a:ln>
                <a:solidFill>
                  <a:schemeClr val="tx1"/>
                </a:solidFill>
                <a:effectLst/>
                <a:latin typeface="Arial Unicode MS"/>
              </a:rPr>
              <a:t>System.out.println(c.getDescription());</a:t>
            </a:r>
            <a:br>
              <a:rPr kumimoji="0" lang="en-PK" altLang="en-PK" sz="1000" b="0" i="0" u="none" strike="noStrike" cap="none" normalizeH="0" baseline="0">
                <a:ln>
                  <a:noFill/>
                </a:ln>
                <a:solidFill>
                  <a:schemeClr val="tx1"/>
                </a:solidFill>
                <a:effectLst/>
                <a:latin typeface="Arial Unicode MS"/>
              </a:rPr>
            </a:br>
            <a:r>
              <a:rPr kumimoji="0" lang="en-PK" altLang="en-PK" sz="1000" b="0" i="0" u="none" strike="noStrike" cap="none" normalizeH="0" baseline="0">
                <a:ln>
                  <a:noFill/>
                </a:ln>
                <a:solidFill>
                  <a:schemeClr val="tx1"/>
                </a:solidFill>
                <a:effectLst/>
                <a:latin typeface="Arial Unicode MS"/>
              </a:rPr>
              <a:t>System.out.println(c.cost());</a:t>
            </a:r>
            <a:br>
              <a:rPr kumimoji="0" lang="en-PK" altLang="en-PK" sz="1000" b="0" i="0" u="none" strike="noStrike" cap="none" normalizeH="0" baseline="0">
                <a:ln>
                  <a:noFill/>
                </a:ln>
                <a:solidFill>
                  <a:schemeClr val="tx1"/>
                </a:solidFill>
                <a:effectLst/>
                <a:latin typeface="Arial Unicode MS"/>
              </a:rPr>
            </a:br>
            <a:r>
              <a:rPr kumimoji="0" lang="en-PK" altLang="en-PK" sz="1000" b="0" i="0" u="none" strike="noStrike" cap="none" normalizeH="0" baseline="0">
                <a:ln>
                  <a:noFill/>
                </a:ln>
                <a:solidFill>
                  <a:schemeClr val="tx1"/>
                </a:solidFill>
                <a:effectLst/>
                <a:latin typeface="Arial Unicode MS"/>
              </a:rPr>
              <a:t>}</a:t>
            </a:r>
            <a:br>
              <a:rPr kumimoji="0" lang="en-PK" altLang="en-PK" sz="1000" b="0" i="0" u="none" strike="noStrike" cap="none" normalizeH="0" baseline="0">
                <a:ln>
                  <a:noFill/>
                </a:ln>
                <a:solidFill>
                  <a:schemeClr val="tx1"/>
                </a:solidFill>
                <a:effectLst/>
                <a:latin typeface="Arial Unicode MS"/>
              </a:rPr>
            </a:br>
            <a:r>
              <a:rPr kumimoji="0" lang="en-PK" altLang="en-PK" sz="1000" b="0" i="0" u="none" strike="noStrike" cap="none" normalizeH="0" baseline="0">
                <a:ln>
                  <a:noFill/>
                </a:ln>
                <a:solidFill>
                  <a:schemeClr val="tx1"/>
                </a:solidFill>
                <a:effectLst/>
                <a:latin typeface="Arial Unicode MS"/>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6429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3012</TotalTime>
  <Words>1910</Words>
  <Application>Microsoft Office PowerPoint</Application>
  <PresentationFormat>Widescreen</PresentationFormat>
  <Paragraphs>149</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Arial Unicode MS</vt:lpstr>
      <vt:lpstr>Calibri</vt:lpstr>
      <vt:lpstr>Calibri Light</vt:lpstr>
      <vt:lpstr>Office Theme</vt:lpstr>
      <vt:lpstr>Software Construction and Development Design Patterns in Java</vt:lpstr>
      <vt:lpstr>Design Pattern:</vt:lpstr>
      <vt:lpstr>Why Are Design Patterns Important? </vt:lpstr>
      <vt:lpstr>Design patterns Usability</vt:lpstr>
      <vt:lpstr>PowerPoint Presentation</vt:lpstr>
      <vt:lpstr>Classification</vt:lpstr>
      <vt:lpstr>PowerPoint Presentation</vt:lpstr>
      <vt:lpstr>Creational Design Pattern </vt:lpstr>
      <vt:lpstr>Structural Design Pattern </vt:lpstr>
      <vt:lpstr> Behavioral Design Pattern </vt:lpstr>
      <vt:lpstr>Singleton Design Pattern</vt:lpstr>
      <vt:lpstr>Real-Life Example: Printer in a Lab </vt:lpstr>
      <vt:lpstr>Code Example</vt:lpstr>
      <vt:lpstr>Factory Pattern</vt:lpstr>
      <vt:lpstr>Elements of Factory method Pattern</vt:lpstr>
      <vt:lpstr>Usage of Factory Method</vt:lpstr>
      <vt:lpstr>Real-Life Example: Drawing Application</vt:lpstr>
      <vt:lpstr>Code Example</vt:lpstr>
      <vt:lpstr>Abstract Factory Pattern</vt:lpstr>
      <vt:lpstr>Elements of Abstract Factory Pattern</vt:lpstr>
      <vt:lpstr>Elements of Abstract Factory Pattern</vt:lpstr>
      <vt:lpstr>Real-Life Example: Operating System UI (Windows vs Mac)</vt:lpstr>
      <vt:lpstr>Code Example</vt:lpstr>
      <vt:lpstr>Observer Pattern</vt:lpstr>
      <vt:lpstr>Code Example</vt:lpstr>
      <vt:lpstr>Decorator Pattern</vt:lpstr>
      <vt:lpstr>Code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Principals in Java</dc:title>
  <dc:creator>Ushna Khalil</dc:creator>
  <cp:lastModifiedBy>Muhammad Khizar Hayat</cp:lastModifiedBy>
  <cp:revision>72</cp:revision>
  <dcterms:created xsi:type="dcterms:W3CDTF">2025-04-15T08:18:43Z</dcterms:created>
  <dcterms:modified xsi:type="dcterms:W3CDTF">2026-03-30T04:06:23Z</dcterms:modified>
</cp:coreProperties>
</file>