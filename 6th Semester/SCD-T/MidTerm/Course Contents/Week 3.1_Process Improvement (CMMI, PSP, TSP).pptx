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2"/>
  </p:notesMasterIdLst>
  <p:sldIdLst>
    <p:sldId id="272" r:id="rId2"/>
    <p:sldId id="257" r:id="rId3"/>
    <p:sldId id="258" r:id="rId4"/>
    <p:sldId id="259" r:id="rId5"/>
    <p:sldId id="260" r:id="rId6"/>
    <p:sldId id="273" r:id="rId7"/>
    <p:sldId id="261" r:id="rId8"/>
    <p:sldId id="262" r:id="rId9"/>
    <p:sldId id="263" r:id="rId10"/>
    <p:sldId id="264" r:id="rId11"/>
    <p:sldId id="265" r:id="rId12"/>
    <p:sldId id="266" r:id="rId13"/>
    <p:sldId id="269" r:id="rId14"/>
    <p:sldId id="270" r:id="rId15"/>
    <p:sldId id="271" r:id="rId16"/>
    <p:sldId id="274" r:id="rId17"/>
    <p:sldId id="303" r:id="rId18"/>
    <p:sldId id="330" r:id="rId19"/>
    <p:sldId id="325" r:id="rId20"/>
    <p:sldId id="329" r:id="rId21"/>
    <p:sldId id="327" r:id="rId22"/>
    <p:sldId id="307" r:id="rId23"/>
    <p:sldId id="309" r:id="rId24"/>
    <p:sldId id="310" r:id="rId25"/>
    <p:sldId id="314" r:id="rId26"/>
    <p:sldId id="333" r:id="rId27"/>
    <p:sldId id="341" r:id="rId28"/>
    <p:sldId id="342" r:id="rId29"/>
    <p:sldId id="337" r:id="rId30"/>
    <p:sldId id="343" r:id="rId3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0" d="100"/>
          <a:sy n="80" d="100"/>
        </p:scale>
        <p:origin x="1522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PK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1F0AFB2-21D6-4E29-BF4A-2955E346A20C}" type="datetimeFigureOut">
              <a:rPr lang="en-PK" smtClean="0"/>
              <a:t>08/03/2026</a:t>
            </a:fld>
            <a:endParaRPr lang="en-PK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PK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P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DA9B9FF-F83D-4431-BBF2-A6A92AA463A8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3322950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17ABB52F-3EAB-DE02-176A-297F40A5693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503738" y="515938"/>
            <a:ext cx="2309812" cy="1731962"/>
          </a:xfrm>
          <a:ln/>
        </p:spPr>
      </p:sp>
      <p:sp>
        <p:nvSpPr>
          <p:cNvPr id="14339" name="Rectangle 3">
            <a:extLst>
              <a:ext uri="{FF2B5EF4-FFF2-40B4-BE49-F238E27FC236}">
                <a16:creationId xmlns:a16="http://schemas.microsoft.com/office/drawing/2014/main" id="{DB9D920E-673A-AF12-914E-F065D4C6F0E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38125" y="2441575"/>
            <a:ext cx="6548438" cy="788988"/>
          </a:xfrm>
          <a:noFill/>
        </p:spPr>
        <p:txBody>
          <a:bodyPr/>
          <a:lstStyle/>
          <a:p>
            <a:endParaRPr lang="en-PK" altLang="en-PK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37EE9063-D7FF-4B12-8289-766C15C58561}" type="slidenum">
              <a:rPr lang="en-US"/>
              <a:pPr/>
              <a:t>16</a:t>
            </a:fld>
            <a:endParaRPr lang="en-US"/>
          </a:p>
        </p:txBody>
      </p:sp>
      <p:sp>
        <p:nvSpPr>
          <p:cNvPr id="4515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476375" y="611188"/>
            <a:ext cx="3694113" cy="2078037"/>
          </a:xfrm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48048236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1031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8148B16-77F5-494B-B176-C8AA12F20B6E}" type="slidenum">
              <a:rPr lang="en-US"/>
              <a:pPr/>
              <a:t>19</a:t>
            </a:fld>
            <a:endParaRPr lang="en-US"/>
          </a:p>
        </p:txBody>
      </p:sp>
      <p:sp>
        <p:nvSpPr>
          <p:cNvPr id="768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930400" y="598488"/>
            <a:ext cx="2782888" cy="2087562"/>
          </a:xfrm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</p:spTree>
    <p:extLst>
      <p:ext uri="{BB962C8B-B14F-4D97-AF65-F5344CB8AC3E}">
        <p14:creationId xmlns:p14="http://schemas.microsoft.com/office/powerpoint/2010/main" val="112543945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Where I</a:t>
            </a:r>
            <a:r>
              <a:rPr lang="en-US" baseline="0" dirty="0"/>
              <a:t> m starting… where I am… that is </a:t>
            </a:r>
            <a:r>
              <a:rPr lang="en-US" baseline="0" dirty="0" err="1"/>
              <a:t>psp</a:t>
            </a:r>
            <a:r>
              <a:rPr lang="en-US" baseline="0" dirty="0"/>
              <a:t>..</a:t>
            </a:r>
          </a:p>
          <a:p>
            <a:r>
              <a:rPr lang="en-US" baseline="0" dirty="0" err="1"/>
              <a:t>Psp</a:t>
            </a:r>
            <a:r>
              <a:rPr lang="en-US" baseline="0" dirty="0"/>
              <a:t>(0)… the initial stage..  Da </a:t>
            </a:r>
            <a:r>
              <a:rPr lang="en-US" baseline="0" dirty="0" err="1"/>
              <a:t>na</a:t>
            </a:r>
            <a:r>
              <a:rPr lang="en-US" baseline="0" dirty="0"/>
              <a:t> ye nu </a:t>
            </a:r>
            <a:r>
              <a:rPr lang="en-US" baseline="0" dirty="0" err="1"/>
              <a:t>matlb</a:t>
            </a:r>
            <a:r>
              <a:rPr lang="en-US" baseline="0" dirty="0"/>
              <a:t> u r not doing any thing…. U r not soft engineer.</a:t>
            </a:r>
          </a:p>
          <a:p>
            <a:r>
              <a:rPr lang="en-US" baseline="0" dirty="0"/>
              <a:t>Compile means to finalize the thing… or </a:t>
            </a:r>
            <a:r>
              <a:rPr lang="en-US" baseline="0" dirty="0" err="1"/>
              <a:t>erorr</a:t>
            </a:r>
            <a:r>
              <a:rPr lang="en-US" baseline="0" dirty="0"/>
              <a:t> free…..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E852D77-B589-4EA4-8F96-E4802F4C139D}" type="slidenum">
              <a:rPr lang="en-US" smtClean="0"/>
              <a:pPr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658733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Estimation never accurate …..</a:t>
            </a:r>
          </a:p>
          <a:p>
            <a:r>
              <a:rPr lang="en-US" dirty="0"/>
              <a:t>Assignment :::: Line of code estimation </a:t>
            </a:r>
            <a:r>
              <a:rPr lang="en-US" dirty="0" err="1"/>
              <a:t>mng</a:t>
            </a:r>
            <a:r>
              <a:rPr lang="en-US" dirty="0"/>
              <a:t> </a:t>
            </a:r>
            <a:r>
              <a:rPr lang="en-US" dirty="0" err="1"/>
              <a:t>sng</a:t>
            </a:r>
            <a:r>
              <a:rPr lang="en-US" dirty="0"/>
              <a:t> </a:t>
            </a:r>
            <a:r>
              <a:rPr lang="en-US" dirty="0" err="1"/>
              <a:t>kawaly</a:t>
            </a:r>
            <a:r>
              <a:rPr lang="en-US" baseline="0" dirty="0"/>
              <a:t> </a:t>
            </a:r>
            <a:r>
              <a:rPr lang="en-US" baseline="0" dirty="0" err="1"/>
              <a:t>sho</a:t>
            </a:r>
            <a:r>
              <a:rPr lang="en-US" baseline="0" dirty="0"/>
              <a:t>..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E852D77-B589-4EA4-8F96-E4802F4C139D}" type="slidenum">
              <a:rPr lang="en-US" smtClean="0"/>
              <a:pPr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921666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maria.kiran@ucp.edu.pk" TargetMode="Externa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57250" y="635113"/>
            <a:ext cx="7200900" cy="3052919"/>
          </a:xfrm>
          <a:prstGeom prst="rect">
            <a:avLst/>
          </a:prstGeom>
        </p:spPr>
        <p:txBody>
          <a:bodyPr vert="horz" wrap="square" lIns="0" tIns="87154" rIns="0" bIns="0" rtlCol="0" anchor="ctr">
            <a:spAutoFit/>
          </a:bodyPr>
          <a:lstStyle/>
          <a:p>
            <a:pPr marL="9049" marR="3810">
              <a:lnSpc>
                <a:spcPts val="4860"/>
              </a:lnSpc>
              <a:spcBef>
                <a:spcPts val="686"/>
              </a:spcBef>
            </a:pPr>
            <a:r>
              <a:rPr sz="3000" b="1" dirty="0">
                <a:latin typeface="Calibri Light"/>
                <a:cs typeface="Calibri Light"/>
              </a:rPr>
              <a:t>Software</a:t>
            </a:r>
            <a:r>
              <a:rPr sz="3000" b="1" spc="-101" dirty="0">
                <a:latin typeface="Calibri Light"/>
                <a:cs typeface="Calibri Light"/>
              </a:rPr>
              <a:t> </a:t>
            </a:r>
            <a:r>
              <a:rPr sz="3000" b="1" dirty="0">
                <a:latin typeface="Calibri Light"/>
                <a:cs typeface="Calibri Light"/>
              </a:rPr>
              <a:t>Construction</a:t>
            </a:r>
            <a:r>
              <a:rPr sz="3000" b="1" spc="-109" dirty="0">
                <a:latin typeface="Calibri Light"/>
                <a:cs typeface="Calibri Light"/>
              </a:rPr>
              <a:t> </a:t>
            </a:r>
            <a:r>
              <a:rPr sz="3000" b="1" spc="-19" dirty="0">
                <a:latin typeface="Calibri Light"/>
                <a:cs typeface="Calibri Light"/>
              </a:rPr>
              <a:t>and </a:t>
            </a:r>
            <a:r>
              <a:rPr sz="3000" b="1" spc="-8" dirty="0">
                <a:latin typeface="Calibri Light"/>
                <a:cs typeface="Calibri Light"/>
              </a:rPr>
              <a:t>Development</a:t>
            </a:r>
            <a:br>
              <a:rPr lang="en-US" sz="3000" b="1" spc="-8" dirty="0">
                <a:latin typeface="Calibri Light"/>
                <a:cs typeface="Calibri Light"/>
              </a:rPr>
            </a:br>
            <a:r>
              <a:rPr lang="en-US" sz="1800" dirty="0"/>
              <a:t>Capability Maturity Model Integration (CMMI)</a:t>
            </a:r>
            <a:br>
              <a:rPr lang="en-US" sz="1800" dirty="0"/>
            </a:br>
            <a:r>
              <a:rPr lang="en-US" sz="1800" dirty="0"/>
              <a:t>Personal Software Process (PSP)</a:t>
            </a:r>
            <a:br>
              <a:rPr lang="en-US" sz="1800" dirty="0"/>
            </a:br>
            <a:r>
              <a:rPr lang="en-US" sz="1800" dirty="0"/>
              <a:t>Team Software Process (TSP)</a:t>
            </a:r>
            <a:endParaRPr sz="1800" b="1" dirty="0">
              <a:latin typeface="Calibri Light"/>
              <a:cs typeface="Calibri Light"/>
            </a:endParaRPr>
          </a:p>
          <a:p>
            <a:pPr>
              <a:spcBef>
                <a:spcPts val="968"/>
              </a:spcBef>
            </a:pPr>
            <a:endParaRPr sz="2100" b="1" dirty="0">
              <a:latin typeface="Calibri"/>
              <a:cs typeface="Calibri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3F914AA-C8D9-828D-8ED7-755490335039}"/>
              </a:ext>
            </a:extLst>
          </p:cNvPr>
          <p:cNvSpPr txBox="1">
            <a:spLocks/>
          </p:cNvSpPr>
          <p:nvPr/>
        </p:nvSpPr>
        <p:spPr>
          <a:xfrm>
            <a:off x="1371600" y="3907820"/>
            <a:ext cx="5752428" cy="1686691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8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4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50" dirty="0">
                <a:latin typeface="Calibri" panose="020F0502020204030204" pitchFamily="34" charset="0"/>
                <a:cs typeface="Calibri" panose="020F0502020204030204" pitchFamily="34" charset="0"/>
              </a:rPr>
              <a:t>M Khizar Hayat</a:t>
            </a:r>
          </a:p>
          <a:p>
            <a:r>
              <a:rPr lang="en-US" sz="1650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Email: Khizer.hayat@ucp.edu.pk</a:t>
            </a:r>
            <a:endParaRPr lang="en-US" sz="1650" dirty="0">
              <a:solidFill>
                <a:srgbClr val="0070C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650" b="1" dirty="0">
                <a:latin typeface="Calibri" panose="020F0502020204030204" pitchFamily="34" charset="0"/>
                <a:cs typeface="Calibri" panose="020F0502020204030204" pitchFamily="34" charset="0"/>
              </a:rPr>
              <a:t>Office:</a:t>
            </a:r>
            <a:r>
              <a:rPr lang="en-US" sz="1650" dirty="0">
                <a:latin typeface="Calibri" panose="020F0502020204030204" pitchFamily="34" charset="0"/>
                <a:cs typeface="Calibri" panose="020F0502020204030204" pitchFamily="34" charset="0"/>
              </a:rPr>
              <a:t> Building D, 2</a:t>
            </a:r>
            <a:r>
              <a:rPr lang="en-US" sz="1650" baseline="30000" dirty="0">
                <a:latin typeface="Calibri" panose="020F0502020204030204" pitchFamily="34" charset="0"/>
                <a:cs typeface="Calibri" panose="020F0502020204030204" pitchFamily="34" charset="0"/>
              </a:rPr>
              <a:t>nd</a:t>
            </a:r>
            <a:r>
              <a:rPr lang="en-US" sz="1650" dirty="0">
                <a:latin typeface="Calibri" panose="020F0502020204030204" pitchFamily="34" charset="0"/>
                <a:cs typeface="Calibri" panose="020F0502020204030204" pitchFamily="34" charset="0"/>
              </a:rPr>
              <a:t> Floor</a:t>
            </a:r>
          </a:p>
          <a:p>
            <a:r>
              <a:rPr lang="en-US" sz="1650" b="1" dirty="0">
                <a:latin typeface="Calibri" panose="020F0502020204030204" pitchFamily="34" charset="0"/>
                <a:cs typeface="Calibri" panose="020F0502020204030204" pitchFamily="34" charset="0"/>
              </a:rPr>
              <a:t>OFFICE HOURS: F</a:t>
            </a:r>
            <a:r>
              <a:rPr lang="en-US" sz="1650" dirty="0">
                <a:latin typeface="Calibri" panose="020F0502020204030204" pitchFamily="34" charset="0"/>
                <a:cs typeface="Calibri" panose="020F0502020204030204" pitchFamily="34" charset="0"/>
              </a:rPr>
              <a:t>riday  (9:00 to 11:00)</a:t>
            </a:r>
          </a:p>
          <a:p>
            <a:endParaRPr lang="x-none" sz="1425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/>
              <a:t>What is CMMI?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199" y="1732175"/>
            <a:ext cx="8460557" cy="4525963"/>
          </a:xfrm>
        </p:spPr>
        <p:txBody>
          <a:bodyPr>
            <a:normAutofit/>
          </a:bodyPr>
          <a:lstStyle/>
          <a:p>
            <a:r>
              <a:rPr sz="2800" dirty="0"/>
              <a:t>A process-level improvement model</a:t>
            </a:r>
          </a:p>
          <a:p>
            <a:r>
              <a:rPr sz="2800" dirty="0"/>
              <a:t>Developed by Software Engineering Institute (SEI)</a:t>
            </a:r>
          </a:p>
          <a:p>
            <a:r>
              <a:rPr sz="2800" dirty="0"/>
              <a:t>Helps organizations improve their processes</a:t>
            </a:r>
          </a:p>
          <a:p>
            <a:r>
              <a:rPr sz="2800" dirty="0"/>
              <a:t>Used in software, hardware, and service development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/>
              <a:t>Why Use CMMI?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800" dirty="0"/>
              <a:t>Improve product quality</a:t>
            </a:r>
          </a:p>
          <a:p>
            <a:r>
              <a:rPr sz="2800" dirty="0"/>
              <a:t>Reduce costs and risks</a:t>
            </a:r>
          </a:p>
          <a:p>
            <a:r>
              <a:rPr sz="2800" dirty="0"/>
              <a:t>Increase customer satisfaction</a:t>
            </a:r>
          </a:p>
          <a:p>
            <a:r>
              <a:rPr sz="2800" dirty="0"/>
              <a:t>Enable continuous process improvement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/>
              <a:t>CMMI Models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800" dirty="0"/>
              <a:t>CMMI for Development (CMMI-DEV)</a:t>
            </a:r>
          </a:p>
          <a:p>
            <a:r>
              <a:rPr sz="2800" dirty="0"/>
              <a:t>CMMI for Services (CMMI-SVC)</a:t>
            </a:r>
          </a:p>
          <a:p>
            <a:r>
              <a:rPr sz="2800" dirty="0"/>
              <a:t>CMMI for Acquisition (CMMI-ACQ)</a:t>
            </a:r>
          </a:p>
          <a:p>
            <a:pPr marL="0" indent="0">
              <a:buNone/>
            </a:pPr>
            <a:r>
              <a:rPr sz="2800" dirty="0"/>
              <a:t>Each focuses on specific business needs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4000" b="1" dirty="0"/>
              <a:t>Maturity Levels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400" dirty="0"/>
              <a:t>Level 1 – Initial (chaotic)</a:t>
            </a:r>
          </a:p>
          <a:p>
            <a:r>
              <a:rPr sz="2400" dirty="0"/>
              <a:t>Level 2 – Managed</a:t>
            </a:r>
          </a:p>
          <a:p>
            <a:r>
              <a:rPr sz="2400" dirty="0"/>
              <a:t>Level 3 – Defined</a:t>
            </a:r>
          </a:p>
          <a:p>
            <a:r>
              <a:rPr sz="2400" dirty="0"/>
              <a:t>Level 4 – Quantitatively Managed</a:t>
            </a:r>
          </a:p>
          <a:p>
            <a:r>
              <a:rPr sz="2400" dirty="0"/>
              <a:t>Level 5 – Optimizing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Rectangle 2">
            <a:extLst>
              <a:ext uri="{FF2B5EF4-FFF2-40B4-BE49-F238E27FC236}">
                <a16:creationId xmlns:a16="http://schemas.microsoft.com/office/drawing/2014/main" id="{B1CFE59A-0164-F30B-5007-5D13BDECD9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000" y="304800"/>
            <a:ext cx="8534400" cy="53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lnSpc>
                <a:spcPct val="90000"/>
              </a:lnSpc>
              <a:spcBef>
                <a:spcPct val="20000"/>
              </a:spcBef>
              <a:spcAft>
                <a:spcPct val="20000"/>
              </a:spcAft>
              <a:buClr>
                <a:schemeClr val="accent1"/>
              </a:buClr>
              <a:buSzPct val="110000"/>
              <a:buChar char="•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ct val="20000"/>
              </a:spcBef>
              <a:spcAft>
                <a:spcPct val="20000"/>
              </a:spcAft>
              <a:buClr>
                <a:schemeClr val="accent1"/>
              </a:buClr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ct val="20000"/>
              </a:spcBef>
              <a:spcAft>
                <a:spcPct val="20000"/>
              </a:spcAft>
              <a:buClr>
                <a:schemeClr val="accent1"/>
              </a:buClr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ct val="20000"/>
              </a:spcBef>
              <a:spcAft>
                <a:spcPct val="20000"/>
              </a:spcAft>
              <a:buClr>
                <a:schemeClr val="accent1"/>
              </a:buClr>
              <a:buSzPct val="70000"/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ct val="20000"/>
              </a:spcBef>
              <a:spcAft>
                <a:spcPct val="20000"/>
              </a:spcAft>
              <a:buClr>
                <a:schemeClr val="accent1"/>
              </a:buClr>
              <a:buSzPct val="70000"/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20000"/>
              </a:spcAft>
              <a:buClr>
                <a:schemeClr val="accent1"/>
              </a:buClr>
              <a:buSzPct val="70000"/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20000"/>
              </a:spcAft>
              <a:buClr>
                <a:schemeClr val="accent1"/>
              </a:buClr>
              <a:buSzPct val="70000"/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20000"/>
              </a:spcAft>
              <a:buClr>
                <a:schemeClr val="accent1"/>
              </a:buClr>
              <a:buSzPct val="70000"/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20000"/>
              </a:spcAft>
              <a:buClr>
                <a:schemeClr val="accent1"/>
              </a:buClr>
              <a:buSzPct val="70000"/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lnSpc>
                <a:spcPts val="32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PK" sz="3200" b="1" dirty="0">
                <a:latin typeface="+mj-lt"/>
                <a:ea typeface="+mj-ea"/>
                <a:cs typeface="+mj-cs"/>
              </a:rPr>
              <a:t>CMMI Staged Representation - 5 Maturity Levels</a:t>
            </a:r>
          </a:p>
        </p:txBody>
      </p:sp>
      <p:sp>
        <p:nvSpPr>
          <p:cNvPr id="13316" name="Text Box 3">
            <a:extLst>
              <a:ext uri="{FF2B5EF4-FFF2-40B4-BE49-F238E27FC236}">
                <a16:creationId xmlns:a16="http://schemas.microsoft.com/office/drawing/2014/main" id="{2F37912E-A5A5-9F03-BAC4-3FE0C0D387E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57675" y="1263650"/>
            <a:ext cx="987425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ct val="20000"/>
              </a:spcBef>
              <a:spcAft>
                <a:spcPct val="20000"/>
              </a:spcAft>
              <a:buClr>
                <a:schemeClr val="accent1"/>
              </a:buClr>
              <a:buSzPct val="110000"/>
              <a:buChar char="•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ct val="20000"/>
              </a:spcBef>
              <a:spcAft>
                <a:spcPct val="20000"/>
              </a:spcAft>
              <a:buClr>
                <a:schemeClr val="accent1"/>
              </a:buClr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ct val="20000"/>
              </a:spcBef>
              <a:spcAft>
                <a:spcPct val="20000"/>
              </a:spcAft>
              <a:buClr>
                <a:schemeClr val="accent1"/>
              </a:buClr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ct val="20000"/>
              </a:spcBef>
              <a:spcAft>
                <a:spcPct val="20000"/>
              </a:spcAft>
              <a:buClr>
                <a:schemeClr val="accent1"/>
              </a:buClr>
              <a:buSzPct val="70000"/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ct val="20000"/>
              </a:spcBef>
              <a:spcAft>
                <a:spcPct val="20000"/>
              </a:spcAft>
              <a:buClr>
                <a:schemeClr val="accent1"/>
              </a:buClr>
              <a:buSzPct val="70000"/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20000"/>
              </a:spcAft>
              <a:buClr>
                <a:schemeClr val="accent1"/>
              </a:buClr>
              <a:buSzPct val="70000"/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20000"/>
              </a:spcAft>
              <a:buClr>
                <a:schemeClr val="accent1"/>
              </a:buClr>
              <a:buSzPct val="70000"/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20000"/>
              </a:spcAft>
              <a:buClr>
                <a:schemeClr val="accent1"/>
              </a:buClr>
              <a:buSzPct val="70000"/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20000"/>
              </a:spcAft>
              <a:buClr>
                <a:schemeClr val="accent1"/>
              </a:buClr>
              <a:buSzPct val="70000"/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PK" sz="1600" b="1"/>
              <a:t>Level  5 </a:t>
            </a:r>
          </a:p>
        </p:txBody>
      </p:sp>
      <p:sp>
        <p:nvSpPr>
          <p:cNvPr id="13317" name="AutoShape 4">
            <a:extLst>
              <a:ext uri="{FF2B5EF4-FFF2-40B4-BE49-F238E27FC236}">
                <a16:creationId xmlns:a16="http://schemas.microsoft.com/office/drawing/2014/main" id="{BD7BACC1-46F5-9762-A6EB-B0CB2698EF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7175" y="5724525"/>
            <a:ext cx="1792288" cy="701675"/>
          </a:xfrm>
          <a:prstGeom prst="cube">
            <a:avLst>
              <a:gd name="adj" fmla="val 25000"/>
            </a:avLst>
          </a:prstGeom>
          <a:gradFill rotWithShape="0">
            <a:gsLst>
              <a:gs pos="0">
                <a:srgbClr val="5E1800"/>
              </a:gs>
              <a:gs pos="100000">
                <a:srgbClr val="CC3300"/>
              </a:gs>
            </a:gsLst>
            <a:lin ang="0" scaled="1"/>
          </a:gradFill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lnSpc>
                <a:spcPct val="90000"/>
              </a:lnSpc>
              <a:spcBef>
                <a:spcPct val="20000"/>
              </a:spcBef>
              <a:spcAft>
                <a:spcPct val="20000"/>
              </a:spcAft>
              <a:buClr>
                <a:schemeClr val="accent1"/>
              </a:buClr>
              <a:buSzPct val="110000"/>
              <a:buChar char="•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ct val="20000"/>
              </a:spcBef>
              <a:spcAft>
                <a:spcPct val="20000"/>
              </a:spcAft>
              <a:buClr>
                <a:schemeClr val="accent1"/>
              </a:buClr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ct val="20000"/>
              </a:spcBef>
              <a:spcAft>
                <a:spcPct val="20000"/>
              </a:spcAft>
              <a:buClr>
                <a:schemeClr val="accent1"/>
              </a:buClr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ct val="20000"/>
              </a:spcBef>
              <a:spcAft>
                <a:spcPct val="20000"/>
              </a:spcAft>
              <a:buClr>
                <a:schemeClr val="accent1"/>
              </a:buClr>
              <a:buSzPct val="70000"/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ct val="20000"/>
              </a:spcBef>
              <a:spcAft>
                <a:spcPct val="20000"/>
              </a:spcAft>
              <a:buClr>
                <a:schemeClr val="accent1"/>
              </a:buClr>
              <a:buSzPct val="70000"/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20000"/>
              </a:spcAft>
              <a:buClr>
                <a:schemeClr val="accent1"/>
              </a:buClr>
              <a:buSzPct val="70000"/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20000"/>
              </a:spcAft>
              <a:buClr>
                <a:schemeClr val="accent1"/>
              </a:buClr>
              <a:buSzPct val="70000"/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20000"/>
              </a:spcAft>
              <a:buClr>
                <a:schemeClr val="accent1"/>
              </a:buClr>
              <a:buSzPct val="70000"/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20000"/>
              </a:spcAft>
              <a:buClr>
                <a:schemeClr val="accent1"/>
              </a:buClr>
              <a:buSzPct val="70000"/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PK" sz="1600" b="1">
                <a:solidFill>
                  <a:schemeClr val="bg1"/>
                </a:solidFill>
              </a:rPr>
              <a:t>Initial</a:t>
            </a:r>
            <a:r>
              <a:rPr lang="en-US" altLang="en-PK" sz="1600" b="1"/>
              <a:t> </a:t>
            </a:r>
          </a:p>
        </p:txBody>
      </p:sp>
      <p:sp>
        <p:nvSpPr>
          <p:cNvPr id="13318" name="Text Box 5">
            <a:extLst>
              <a:ext uri="{FF2B5EF4-FFF2-40B4-BE49-F238E27FC236}">
                <a16:creationId xmlns:a16="http://schemas.microsoft.com/office/drawing/2014/main" id="{E2703547-13CA-A3CC-1BA8-369669ABE45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" y="5429250"/>
            <a:ext cx="1044575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ct val="20000"/>
              </a:spcBef>
              <a:spcAft>
                <a:spcPct val="20000"/>
              </a:spcAft>
              <a:buClr>
                <a:schemeClr val="accent1"/>
              </a:buClr>
              <a:buSzPct val="110000"/>
              <a:buChar char="•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ct val="20000"/>
              </a:spcBef>
              <a:spcAft>
                <a:spcPct val="20000"/>
              </a:spcAft>
              <a:buClr>
                <a:schemeClr val="accent1"/>
              </a:buClr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ct val="20000"/>
              </a:spcBef>
              <a:spcAft>
                <a:spcPct val="20000"/>
              </a:spcAft>
              <a:buClr>
                <a:schemeClr val="accent1"/>
              </a:buClr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ct val="20000"/>
              </a:spcBef>
              <a:spcAft>
                <a:spcPct val="20000"/>
              </a:spcAft>
              <a:buClr>
                <a:schemeClr val="accent1"/>
              </a:buClr>
              <a:buSzPct val="70000"/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ct val="20000"/>
              </a:spcBef>
              <a:spcAft>
                <a:spcPct val="20000"/>
              </a:spcAft>
              <a:buClr>
                <a:schemeClr val="accent1"/>
              </a:buClr>
              <a:buSzPct val="70000"/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20000"/>
              </a:spcAft>
              <a:buClr>
                <a:schemeClr val="accent1"/>
              </a:buClr>
              <a:buSzPct val="70000"/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20000"/>
              </a:spcAft>
              <a:buClr>
                <a:schemeClr val="accent1"/>
              </a:buClr>
              <a:buSzPct val="70000"/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20000"/>
              </a:spcAft>
              <a:buClr>
                <a:schemeClr val="accent1"/>
              </a:buClr>
              <a:buSzPct val="70000"/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20000"/>
              </a:spcAft>
              <a:buClr>
                <a:schemeClr val="accent1"/>
              </a:buClr>
              <a:buSzPct val="70000"/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PK" sz="1600" b="1"/>
              <a:t>Level  1  </a:t>
            </a:r>
          </a:p>
        </p:txBody>
      </p:sp>
      <p:sp>
        <p:nvSpPr>
          <p:cNvPr id="13319" name="Text Box 6">
            <a:extLst>
              <a:ext uri="{FF2B5EF4-FFF2-40B4-BE49-F238E27FC236}">
                <a16:creationId xmlns:a16="http://schemas.microsoft.com/office/drawing/2014/main" id="{4BF4C5EE-7698-F0E1-148D-EF69A43D5A2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90800" y="6019800"/>
            <a:ext cx="61722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ct val="20000"/>
              </a:spcBef>
              <a:spcAft>
                <a:spcPct val="20000"/>
              </a:spcAft>
              <a:buClr>
                <a:schemeClr val="accent1"/>
              </a:buClr>
              <a:buSzPct val="110000"/>
              <a:buChar char="•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ct val="20000"/>
              </a:spcBef>
              <a:spcAft>
                <a:spcPct val="20000"/>
              </a:spcAft>
              <a:buClr>
                <a:schemeClr val="accent1"/>
              </a:buClr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ct val="20000"/>
              </a:spcBef>
              <a:spcAft>
                <a:spcPct val="20000"/>
              </a:spcAft>
              <a:buClr>
                <a:schemeClr val="accent1"/>
              </a:buClr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ct val="20000"/>
              </a:spcBef>
              <a:spcAft>
                <a:spcPct val="20000"/>
              </a:spcAft>
              <a:buClr>
                <a:schemeClr val="accent1"/>
              </a:buClr>
              <a:buSzPct val="70000"/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ct val="20000"/>
              </a:spcBef>
              <a:spcAft>
                <a:spcPct val="20000"/>
              </a:spcAft>
              <a:buClr>
                <a:schemeClr val="accent1"/>
              </a:buClr>
              <a:buSzPct val="70000"/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20000"/>
              </a:spcAft>
              <a:buClr>
                <a:schemeClr val="accent1"/>
              </a:buClr>
              <a:buSzPct val="70000"/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20000"/>
              </a:spcAft>
              <a:buClr>
                <a:schemeClr val="accent1"/>
              </a:buClr>
              <a:buSzPct val="70000"/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20000"/>
              </a:spcAft>
              <a:buClr>
                <a:schemeClr val="accent1"/>
              </a:buClr>
              <a:buSzPct val="70000"/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20000"/>
              </a:spcAft>
              <a:buClr>
                <a:schemeClr val="accent1"/>
              </a:buClr>
              <a:buSzPct val="70000"/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PK" sz="1600" b="1" dirty="0"/>
              <a:t>Processes are unpredictable, poorly controlled, reactive.  </a:t>
            </a:r>
          </a:p>
        </p:txBody>
      </p:sp>
      <p:sp>
        <p:nvSpPr>
          <p:cNvPr id="13320" name="AutoShape 7">
            <a:extLst>
              <a:ext uri="{FF2B5EF4-FFF2-40B4-BE49-F238E27FC236}">
                <a16:creationId xmlns:a16="http://schemas.microsoft.com/office/drawing/2014/main" id="{DE36721A-433E-38A8-2894-ED6116697A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17600" y="4672013"/>
            <a:ext cx="1792288" cy="701675"/>
          </a:xfrm>
          <a:prstGeom prst="cube">
            <a:avLst>
              <a:gd name="adj" fmla="val 25000"/>
            </a:avLst>
          </a:prstGeom>
          <a:gradFill rotWithShape="0">
            <a:gsLst>
              <a:gs pos="0">
                <a:srgbClr val="764700"/>
              </a:gs>
              <a:gs pos="100000">
                <a:srgbClr val="FF9900"/>
              </a:gs>
            </a:gsLst>
            <a:lin ang="0" scaled="1"/>
          </a:gradFill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lnSpc>
                <a:spcPct val="90000"/>
              </a:lnSpc>
              <a:spcBef>
                <a:spcPct val="20000"/>
              </a:spcBef>
              <a:spcAft>
                <a:spcPct val="20000"/>
              </a:spcAft>
              <a:buClr>
                <a:schemeClr val="accent1"/>
              </a:buClr>
              <a:buSzPct val="110000"/>
              <a:buChar char="•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ct val="20000"/>
              </a:spcBef>
              <a:spcAft>
                <a:spcPct val="20000"/>
              </a:spcAft>
              <a:buClr>
                <a:schemeClr val="accent1"/>
              </a:buClr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ct val="20000"/>
              </a:spcBef>
              <a:spcAft>
                <a:spcPct val="20000"/>
              </a:spcAft>
              <a:buClr>
                <a:schemeClr val="accent1"/>
              </a:buClr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ct val="20000"/>
              </a:spcBef>
              <a:spcAft>
                <a:spcPct val="20000"/>
              </a:spcAft>
              <a:buClr>
                <a:schemeClr val="accent1"/>
              </a:buClr>
              <a:buSzPct val="70000"/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ct val="20000"/>
              </a:spcBef>
              <a:spcAft>
                <a:spcPct val="20000"/>
              </a:spcAft>
              <a:buClr>
                <a:schemeClr val="accent1"/>
              </a:buClr>
              <a:buSzPct val="70000"/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20000"/>
              </a:spcAft>
              <a:buClr>
                <a:schemeClr val="accent1"/>
              </a:buClr>
              <a:buSzPct val="70000"/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20000"/>
              </a:spcAft>
              <a:buClr>
                <a:schemeClr val="accent1"/>
              </a:buClr>
              <a:buSzPct val="70000"/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20000"/>
              </a:spcAft>
              <a:buClr>
                <a:schemeClr val="accent1"/>
              </a:buClr>
              <a:buSzPct val="70000"/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20000"/>
              </a:spcAft>
              <a:buClr>
                <a:schemeClr val="accent1"/>
              </a:buClr>
              <a:buSzPct val="70000"/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PK" sz="1600" b="1">
                <a:solidFill>
                  <a:schemeClr val="bg1"/>
                </a:solidFill>
              </a:rPr>
              <a:t>Managed</a:t>
            </a:r>
            <a:r>
              <a:rPr lang="en-US" altLang="en-PK" sz="1600"/>
              <a:t> </a:t>
            </a:r>
          </a:p>
        </p:txBody>
      </p:sp>
      <p:sp>
        <p:nvSpPr>
          <p:cNvPr id="13321" name="Text Box 8">
            <a:extLst>
              <a:ext uri="{FF2B5EF4-FFF2-40B4-BE49-F238E27FC236}">
                <a16:creationId xmlns:a16="http://schemas.microsoft.com/office/drawing/2014/main" id="{CD2C7DC3-6620-E092-047C-FEA16ECAD00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63700" y="4391025"/>
            <a:ext cx="1101725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ct val="20000"/>
              </a:spcBef>
              <a:spcAft>
                <a:spcPct val="20000"/>
              </a:spcAft>
              <a:buClr>
                <a:schemeClr val="accent1"/>
              </a:buClr>
              <a:buSzPct val="110000"/>
              <a:buChar char="•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ct val="20000"/>
              </a:spcBef>
              <a:spcAft>
                <a:spcPct val="20000"/>
              </a:spcAft>
              <a:buClr>
                <a:schemeClr val="accent1"/>
              </a:buClr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ct val="20000"/>
              </a:spcBef>
              <a:spcAft>
                <a:spcPct val="20000"/>
              </a:spcAft>
              <a:buClr>
                <a:schemeClr val="accent1"/>
              </a:buClr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ct val="20000"/>
              </a:spcBef>
              <a:spcAft>
                <a:spcPct val="20000"/>
              </a:spcAft>
              <a:buClr>
                <a:schemeClr val="accent1"/>
              </a:buClr>
              <a:buSzPct val="70000"/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ct val="20000"/>
              </a:spcBef>
              <a:spcAft>
                <a:spcPct val="20000"/>
              </a:spcAft>
              <a:buClr>
                <a:schemeClr val="accent1"/>
              </a:buClr>
              <a:buSzPct val="70000"/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20000"/>
              </a:spcAft>
              <a:buClr>
                <a:schemeClr val="accent1"/>
              </a:buClr>
              <a:buSzPct val="70000"/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20000"/>
              </a:spcAft>
              <a:buClr>
                <a:schemeClr val="accent1"/>
              </a:buClr>
              <a:buSzPct val="70000"/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20000"/>
              </a:spcAft>
              <a:buClr>
                <a:schemeClr val="accent1"/>
              </a:buClr>
              <a:buSzPct val="70000"/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20000"/>
              </a:spcAft>
              <a:buClr>
                <a:schemeClr val="accent1"/>
              </a:buClr>
              <a:buSzPct val="70000"/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PK" sz="1600" b="1"/>
              <a:t>Level  2   </a:t>
            </a:r>
          </a:p>
        </p:txBody>
      </p:sp>
      <p:sp>
        <p:nvSpPr>
          <p:cNvPr id="13322" name="Text Box 9">
            <a:extLst>
              <a:ext uri="{FF2B5EF4-FFF2-40B4-BE49-F238E27FC236}">
                <a16:creationId xmlns:a16="http://schemas.microsoft.com/office/drawing/2014/main" id="{3FE81B57-D301-C7B7-81EA-9C70DB2941D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22302" y="4876800"/>
            <a:ext cx="5400675" cy="825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ct val="20000"/>
              </a:spcBef>
              <a:spcAft>
                <a:spcPct val="20000"/>
              </a:spcAft>
              <a:buClr>
                <a:schemeClr val="accent1"/>
              </a:buClr>
              <a:buSzPct val="110000"/>
              <a:buChar char="•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ct val="20000"/>
              </a:spcBef>
              <a:spcAft>
                <a:spcPct val="20000"/>
              </a:spcAft>
              <a:buClr>
                <a:schemeClr val="accent1"/>
              </a:buClr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ct val="20000"/>
              </a:spcBef>
              <a:spcAft>
                <a:spcPct val="20000"/>
              </a:spcAft>
              <a:buClr>
                <a:schemeClr val="accent1"/>
              </a:buClr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ct val="20000"/>
              </a:spcBef>
              <a:spcAft>
                <a:spcPct val="20000"/>
              </a:spcAft>
              <a:buClr>
                <a:schemeClr val="accent1"/>
              </a:buClr>
              <a:buSzPct val="70000"/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ct val="20000"/>
              </a:spcBef>
              <a:spcAft>
                <a:spcPct val="20000"/>
              </a:spcAft>
              <a:buClr>
                <a:schemeClr val="accent1"/>
              </a:buClr>
              <a:buSzPct val="70000"/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20000"/>
              </a:spcAft>
              <a:buClr>
                <a:schemeClr val="accent1"/>
              </a:buClr>
              <a:buSzPct val="70000"/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20000"/>
              </a:spcAft>
              <a:buClr>
                <a:schemeClr val="accent1"/>
              </a:buClr>
              <a:buSzPct val="70000"/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20000"/>
              </a:spcAft>
              <a:buClr>
                <a:schemeClr val="accent1"/>
              </a:buClr>
              <a:buSzPct val="70000"/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20000"/>
              </a:spcAft>
              <a:buClr>
                <a:schemeClr val="accent1"/>
              </a:buClr>
              <a:buSzPct val="70000"/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PK" sz="1600" b="1" dirty="0"/>
              <a:t>Processes are planned, documented, performed, monitored, and controlled at the </a:t>
            </a:r>
            <a:r>
              <a:rPr lang="en-US" altLang="en-PK" sz="1600" b="1" dirty="0">
                <a:solidFill>
                  <a:schemeClr val="accent1"/>
                </a:solidFill>
              </a:rPr>
              <a:t>project</a:t>
            </a:r>
            <a:r>
              <a:rPr lang="en-US" altLang="en-PK" sz="1600" b="1" dirty="0"/>
              <a:t> level.  Often reactive.</a:t>
            </a:r>
          </a:p>
        </p:txBody>
      </p:sp>
      <p:sp>
        <p:nvSpPr>
          <p:cNvPr id="13323" name="AutoShape 10">
            <a:extLst>
              <a:ext uri="{FF2B5EF4-FFF2-40B4-BE49-F238E27FC236}">
                <a16:creationId xmlns:a16="http://schemas.microsoft.com/office/drawing/2014/main" id="{D739D457-C5C1-7602-C008-3067915A75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78025" y="3690938"/>
            <a:ext cx="1790700" cy="700087"/>
          </a:xfrm>
          <a:prstGeom prst="cube">
            <a:avLst>
              <a:gd name="adj" fmla="val 25000"/>
            </a:avLst>
          </a:prstGeom>
          <a:gradFill rotWithShape="0">
            <a:gsLst>
              <a:gs pos="0">
                <a:srgbClr val="470076"/>
              </a:gs>
              <a:gs pos="100000">
                <a:srgbClr val="9900FF"/>
              </a:gs>
            </a:gsLst>
            <a:lin ang="0" scaled="1"/>
          </a:gradFill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lnSpc>
                <a:spcPct val="90000"/>
              </a:lnSpc>
              <a:spcBef>
                <a:spcPct val="20000"/>
              </a:spcBef>
              <a:spcAft>
                <a:spcPct val="20000"/>
              </a:spcAft>
              <a:buClr>
                <a:schemeClr val="accent1"/>
              </a:buClr>
              <a:buSzPct val="110000"/>
              <a:buChar char="•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ct val="20000"/>
              </a:spcBef>
              <a:spcAft>
                <a:spcPct val="20000"/>
              </a:spcAft>
              <a:buClr>
                <a:schemeClr val="accent1"/>
              </a:buClr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ct val="20000"/>
              </a:spcBef>
              <a:spcAft>
                <a:spcPct val="20000"/>
              </a:spcAft>
              <a:buClr>
                <a:schemeClr val="accent1"/>
              </a:buClr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ct val="20000"/>
              </a:spcBef>
              <a:spcAft>
                <a:spcPct val="20000"/>
              </a:spcAft>
              <a:buClr>
                <a:schemeClr val="accent1"/>
              </a:buClr>
              <a:buSzPct val="70000"/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ct val="20000"/>
              </a:spcBef>
              <a:spcAft>
                <a:spcPct val="20000"/>
              </a:spcAft>
              <a:buClr>
                <a:schemeClr val="accent1"/>
              </a:buClr>
              <a:buSzPct val="70000"/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20000"/>
              </a:spcAft>
              <a:buClr>
                <a:schemeClr val="accent1"/>
              </a:buClr>
              <a:buSzPct val="70000"/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20000"/>
              </a:spcAft>
              <a:buClr>
                <a:schemeClr val="accent1"/>
              </a:buClr>
              <a:buSzPct val="70000"/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20000"/>
              </a:spcAft>
              <a:buClr>
                <a:schemeClr val="accent1"/>
              </a:buClr>
              <a:buSzPct val="70000"/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20000"/>
              </a:spcAft>
              <a:buClr>
                <a:schemeClr val="accent1"/>
              </a:buClr>
              <a:buSzPct val="70000"/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PK" sz="1600" b="1">
                <a:solidFill>
                  <a:schemeClr val="bg1"/>
                </a:solidFill>
              </a:rPr>
              <a:t>Defined</a:t>
            </a:r>
          </a:p>
        </p:txBody>
      </p:sp>
      <p:sp>
        <p:nvSpPr>
          <p:cNvPr id="13324" name="Text Box 11">
            <a:extLst>
              <a:ext uri="{FF2B5EF4-FFF2-40B4-BE49-F238E27FC236}">
                <a16:creationId xmlns:a16="http://schemas.microsoft.com/office/drawing/2014/main" id="{087FB9FB-3B12-D23E-CCC3-D4A62E9EBA0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95550" y="3395663"/>
            <a:ext cx="987425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ct val="20000"/>
              </a:spcBef>
              <a:spcAft>
                <a:spcPct val="20000"/>
              </a:spcAft>
              <a:buClr>
                <a:schemeClr val="accent1"/>
              </a:buClr>
              <a:buSzPct val="110000"/>
              <a:buChar char="•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ct val="20000"/>
              </a:spcBef>
              <a:spcAft>
                <a:spcPct val="20000"/>
              </a:spcAft>
              <a:buClr>
                <a:schemeClr val="accent1"/>
              </a:buClr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ct val="20000"/>
              </a:spcBef>
              <a:spcAft>
                <a:spcPct val="20000"/>
              </a:spcAft>
              <a:buClr>
                <a:schemeClr val="accent1"/>
              </a:buClr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ct val="20000"/>
              </a:spcBef>
              <a:spcAft>
                <a:spcPct val="20000"/>
              </a:spcAft>
              <a:buClr>
                <a:schemeClr val="accent1"/>
              </a:buClr>
              <a:buSzPct val="70000"/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ct val="20000"/>
              </a:spcBef>
              <a:spcAft>
                <a:spcPct val="20000"/>
              </a:spcAft>
              <a:buClr>
                <a:schemeClr val="accent1"/>
              </a:buClr>
              <a:buSzPct val="70000"/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20000"/>
              </a:spcAft>
              <a:buClr>
                <a:schemeClr val="accent1"/>
              </a:buClr>
              <a:buSzPct val="70000"/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20000"/>
              </a:spcAft>
              <a:buClr>
                <a:schemeClr val="accent1"/>
              </a:buClr>
              <a:buSzPct val="70000"/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20000"/>
              </a:spcAft>
              <a:buClr>
                <a:schemeClr val="accent1"/>
              </a:buClr>
              <a:buSzPct val="70000"/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20000"/>
              </a:spcAft>
              <a:buClr>
                <a:schemeClr val="accent1"/>
              </a:buClr>
              <a:buSzPct val="70000"/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PK" sz="1600" b="1"/>
              <a:t>Level  3 </a:t>
            </a:r>
          </a:p>
        </p:txBody>
      </p:sp>
      <p:sp>
        <p:nvSpPr>
          <p:cNvPr id="13325" name="Text Box 12">
            <a:extLst>
              <a:ext uri="{FF2B5EF4-FFF2-40B4-BE49-F238E27FC236}">
                <a16:creationId xmlns:a16="http://schemas.microsoft.com/office/drawing/2014/main" id="{41503486-2F47-A131-D77A-2F3D3AB3DF2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0" y="3581400"/>
            <a:ext cx="4778375" cy="1314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ct val="20000"/>
              </a:spcBef>
              <a:spcAft>
                <a:spcPct val="20000"/>
              </a:spcAft>
              <a:buClr>
                <a:schemeClr val="accent1"/>
              </a:buClr>
              <a:buSzPct val="110000"/>
              <a:buChar char="•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ct val="20000"/>
              </a:spcBef>
              <a:spcAft>
                <a:spcPct val="20000"/>
              </a:spcAft>
              <a:buClr>
                <a:schemeClr val="accent1"/>
              </a:buClr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ct val="20000"/>
              </a:spcBef>
              <a:spcAft>
                <a:spcPct val="20000"/>
              </a:spcAft>
              <a:buClr>
                <a:schemeClr val="accent1"/>
              </a:buClr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ct val="20000"/>
              </a:spcBef>
              <a:spcAft>
                <a:spcPct val="20000"/>
              </a:spcAft>
              <a:buClr>
                <a:schemeClr val="accent1"/>
              </a:buClr>
              <a:buSzPct val="70000"/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ct val="20000"/>
              </a:spcBef>
              <a:spcAft>
                <a:spcPct val="20000"/>
              </a:spcAft>
              <a:buClr>
                <a:schemeClr val="accent1"/>
              </a:buClr>
              <a:buSzPct val="70000"/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20000"/>
              </a:spcAft>
              <a:buClr>
                <a:schemeClr val="accent1"/>
              </a:buClr>
              <a:buSzPct val="70000"/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20000"/>
              </a:spcAft>
              <a:buClr>
                <a:schemeClr val="accent1"/>
              </a:buClr>
              <a:buSzPct val="70000"/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20000"/>
              </a:spcAft>
              <a:buClr>
                <a:schemeClr val="accent1"/>
              </a:buClr>
              <a:buSzPct val="70000"/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20000"/>
              </a:spcAft>
              <a:buClr>
                <a:schemeClr val="accent1"/>
              </a:buClr>
              <a:buSzPct val="70000"/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PK" sz="1600" b="1" dirty="0"/>
              <a:t>Processes are well characterized and understood.  Processes, standards, procedures, tools, etc. are defined at the </a:t>
            </a:r>
            <a:r>
              <a:rPr lang="en-US" altLang="en-PK" sz="1600" b="1" dirty="0">
                <a:solidFill>
                  <a:schemeClr val="accent1"/>
                </a:solidFill>
              </a:rPr>
              <a:t>organizational (Organization X )</a:t>
            </a:r>
            <a:r>
              <a:rPr lang="en-US" altLang="en-PK" sz="1600" b="1" dirty="0">
                <a:solidFill>
                  <a:srgbClr val="F42E00"/>
                </a:solidFill>
              </a:rPr>
              <a:t> </a:t>
            </a:r>
            <a:r>
              <a:rPr lang="en-US" altLang="en-PK" sz="1600" b="1" dirty="0"/>
              <a:t>level.  Proactive.</a:t>
            </a:r>
          </a:p>
        </p:txBody>
      </p:sp>
      <p:sp>
        <p:nvSpPr>
          <p:cNvPr id="13326" name="AutoShape 13">
            <a:extLst>
              <a:ext uri="{FF2B5EF4-FFF2-40B4-BE49-F238E27FC236}">
                <a16:creationId xmlns:a16="http://schemas.microsoft.com/office/drawing/2014/main" id="{C5CC8B71-6F3C-96AC-C599-DD67A4E1F6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09888" y="2566988"/>
            <a:ext cx="1790700" cy="701675"/>
          </a:xfrm>
          <a:prstGeom prst="cube">
            <a:avLst>
              <a:gd name="adj" fmla="val 25000"/>
            </a:avLst>
          </a:prstGeom>
          <a:gradFill rotWithShape="0">
            <a:gsLst>
              <a:gs pos="0">
                <a:srgbClr val="181847"/>
              </a:gs>
              <a:gs pos="100000">
                <a:srgbClr val="333399"/>
              </a:gs>
            </a:gsLst>
            <a:lin ang="0" scaled="1"/>
          </a:gradFill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lnSpc>
                <a:spcPct val="90000"/>
              </a:lnSpc>
              <a:spcBef>
                <a:spcPct val="20000"/>
              </a:spcBef>
              <a:spcAft>
                <a:spcPct val="20000"/>
              </a:spcAft>
              <a:buClr>
                <a:schemeClr val="accent1"/>
              </a:buClr>
              <a:buSzPct val="110000"/>
              <a:buChar char="•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ct val="20000"/>
              </a:spcBef>
              <a:spcAft>
                <a:spcPct val="20000"/>
              </a:spcAft>
              <a:buClr>
                <a:schemeClr val="accent1"/>
              </a:buClr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ct val="20000"/>
              </a:spcBef>
              <a:spcAft>
                <a:spcPct val="20000"/>
              </a:spcAft>
              <a:buClr>
                <a:schemeClr val="accent1"/>
              </a:buClr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ct val="20000"/>
              </a:spcBef>
              <a:spcAft>
                <a:spcPct val="20000"/>
              </a:spcAft>
              <a:buClr>
                <a:schemeClr val="accent1"/>
              </a:buClr>
              <a:buSzPct val="70000"/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ct val="20000"/>
              </a:spcBef>
              <a:spcAft>
                <a:spcPct val="20000"/>
              </a:spcAft>
              <a:buClr>
                <a:schemeClr val="accent1"/>
              </a:buClr>
              <a:buSzPct val="70000"/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20000"/>
              </a:spcAft>
              <a:buClr>
                <a:schemeClr val="accent1"/>
              </a:buClr>
              <a:buSzPct val="70000"/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20000"/>
              </a:spcAft>
              <a:buClr>
                <a:schemeClr val="accent1"/>
              </a:buClr>
              <a:buSzPct val="70000"/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20000"/>
              </a:spcAft>
              <a:buClr>
                <a:schemeClr val="accent1"/>
              </a:buClr>
              <a:buSzPct val="70000"/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20000"/>
              </a:spcAft>
              <a:buClr>
                <a:schemeClr val="accent1"/>
              </a:buClr>
              <a:buSzPct val="70000"/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PK" sz="1600" b="1" dirty="0">
                <a:solidFill>
                  <a:schemeClr val="bg1"/>
                </a:solidFill>
              </a:rPr>
              <a:t>Quantitatively</a:t>
            </a:r>
            <a:r>
              <a:rPr lang="en-US" altLang="en-PK" sz="1600" b="1" dirty="0"/>
              <a:t> </a:t>
            </a:r>
          </a:p>
          <a:p>
            <a:pPr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PK" sz="1600" b="1" dirty="0">
                <a:solidFill>
                  <a:schemeClr val="bg1"/>
                </a:solidFill>
              </a:rPr>
              <a:t>Managed</a:t>
            </a:r>
            <a:r>
              <a:rPr lang="en-US" altLang="en-PK" sz="1600" dirty="0"/>
              <a:t> </a:t>
            </a:r>
          </a:p>
        </p:txBody>
      </p:sp>
      <p:sp>
        <p:nvSpPr>
          <p:cNvPr id="13327" name="Text Box 14">
            <a:extLst>
              <a:ext uri="{FF2B5EF4-FFF2-40B4-BE49-F238E27FC236}">
                <a16:creationId xmlns:a16="http://schemas.microsoft.com/office/drawing/2014/main" id="{A5824C09-03E2-6319-8C48-AD8A15C90B3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62338" y="2271713"/>
            <a:ext cx="987425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ct val="20000"/>
              </a:spcBef>
              <a:spcAft>
                <a:spcPct val="20000"/>
              </a:spcAft>
              <a:buClr>
                <a:schemeClr val="accent1"/>
              </a:buClr>
              <a:buSzPct val="110000"/>
              <a:buChar char="•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ct val="20000"/>
              </a:spcBef>
              <a:spcAft>
                <a:spcPct val="20000"/>
              </a:spcAft>
              <a:buClr>
                <a:schemeClr val="accent1"/>
              </a:buClr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ct val="20000"/>
              </a:spcBef>
              <a:spcAft>
                <a:spcPct val="20000"/>
              </a:spcAft>
              <a:buClr>
                <a:schemeClr val="accent1"/>
              </a:buClr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ct val="20000"/>
              </a:spcBef>
              <a:spcAft>
                <a:spcPct val="20000"/>
              </a:spcAft>
              <a:buClr>
                <a:schemeClr val="accent1"/>
              </a:buClr>
              <a:buSzPct val="70000"/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ct val="20000"/>
              </a:spcBef>
              <a:spcAft>
                <a:spcPct val="20000"/>
              </a:spcAft>
              <a:buClr>
                <a:schemeClr val="accent1"/>
              </a:buClr>
              <a:buSzPct val="70000"/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20000"/>
              </a:spcAft>
              <a:buClr>
                <a:schemeClr val="accent1"/>
              </a:buClr>
              <a:buSzPct val="70000"/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20000"/>
              </a:spcAft>
              <a:buClr>
                <a:schemeClr val="accent1"/>
              </a:buClr>
              <a:buSzPct val="70000"/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20000"/>
              </a:spcAft>
              <a:buClr>
                <a:schemeClr val="accent1"/>
              </a:buClr>
              <a:buSzPct val="70000"/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20000"/>
              </a:spcAft>
              <a:buClr>
                <a:schemeClr val="accent1"/>
              </a:buClr>
              <a:buSzPct val="70000"/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PK" sz="1600" b="1" dirty="0"/>
              <a:t>Level  4 </a:t>
            </a:r>
          </a:p>
        </p:txBody>
      </p:sp>
      <p:sp>
        <p:nvSpPr>
          <p:cNvPr id="13328" name="Text Box 15">
            <a:extLst>
              <a:ext uri="{FF2B5EF4-FFF2-40B4-BE49-F238E27FC236}">
                <a16:creationId xmlns:a16="http://schemas.microsoft.com/office/drawing/2014/main" id="{771CE48E-5664-DA7C-4A03-D9BF50BB7A9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78744" y="2583875"/>
            <a:ext cx="3898900" cy="825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ct val="20000"/>
              </a:spcBef>
              <a:spcAft>
                <a:spcPct val="20000"/>
              </a:spcAft>
              <a:buClr>
                <a:schemeClr val="accent1"/>
              </a:buClr>
              <a:buSzPct val="110000"/>
              <a:buChar char="•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ct val="20000"/>
              </a:spcBef>
              <a:spcAft>
                <a:spcPct val="20000"/>
              </a:spcAft>
              <a:buClr>
                <a:schemeClr val="accent1"/>
              </a:buClr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ct val="20000"/>
              </a:spcBef>
              <a:spcAft>
                <a:spcPct val="20000"/>
              </a:spcAft>
              <a:buClr>
                <a:schemeClr val="accent1"/>
              </a:buClr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ct val="20000"/>
              </a:spcBef>
              <a:spcAft>
                <a:spcPct val="20000"/>
              </a:spcAft>
              <a:buClr>
                <a:schemeClr val="accent1"/>
              </a:buClr>
              <a:buSzPct val="70000"/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ct val="20000"/>
              </a:spcBef>
              <a:spcAft>
                <a:spcPct val="20000"/>
              </a:spcAft>
              <a:buClr>
                <a:schemeClr val="accent1"/>
              </a:buClr>
              <a:buSzPct val="70000"/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20000"/>
              </a:spcAft>
              <a:buClr>
                <a:schemeClr val="accent1"/>
              </a:buClr>
              <a:buSzPct val="70000"/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20000"/>
              </a:spcAft>
              <a:buClr>
                <a:schemeClr val="accent1"/>
              </a:buClr>
              <a:buSzPct val="70000"/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20000"/>
              </a:spcAft>
              <a:buClr>
                <a:schemeClr val="accent1"/>
              </a:buClr>
              <a:buSzPct val="70000"/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20000"/>
              </a:spcAft>
              <a:buClr>
                <a:schemeClr val="accent1"/>
              </a:buClr>
              <a:buSzPct val="70000"/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PK" sz="1600" b="1" dirty="0"/>
              <a:t>Processes are controlled using statistical and other quantitative techniques.</a:t>
            </a:r>
          </a:p>
        </p:txBody>
      </p:sp>
      <p:sp>
        <p:nvSpPr>
          <p:cNvPr id="13329" name="AutoShape 16">
            <a:extLst>
              <a:ext uri="{FF2B5EF4-FFF2-40B4-BE49-F238E27FC236}">
                <a16:creationId xmlns:a16="http://schemas.microsoft.com/office/drawing/2014/main" id="{158BBD82-3C37-A357-E944-7D7AE88AE4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68725" y="1600200"/>
            <a:ext cx="1792288" cy="701675"/>
          </a:xfrm>
          <a:prstGeom prst="cube">
            <a:avLst>
              <a:gd name="adj" fmla="val 25000"/>
            </a:avLst>
          </a:prstGeom>
          <a:gradFill rotWithShape="0">
            <a:gsLst>
              <a:gs pos="0">
                <a:srgbClr val="003B00"/>
              </a:gs>
              <a:gs pos="100000">
                <a:srgbClr val="008000"/>
              </a:gs>
            </a:gsLst>
            <a:lin ang="0" scaled="1"/>
          </a:gradFill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lnSpc>
                <a:spcPct val="90000"/>
              </a:lnSpc>
              <a:spcBef>
                <a:spcPct val="20000"/>
              </a:spcBef>
              <a:spcAft>
                <a:spcPct val="20000"/>
              </a:spcAft>
              <a:buClr>
                <a:schemeClr val="accent1"/>
              </a:buClr>
              <a:buSzPct val="110000"/>
              <a:buChar char="•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ct val="20000"/>
              </a:spcBef>
              <a:spcAft>
                <a:spcPct val="20000"/>
              </a:spcAft>
              <a:buClr>
                <a:schemeClr val="accent1"/>
              </a:buClr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ct val="20000"/>
              </a:spcBef>
              <a:spcAft>
                <a:spcPct val="20000"/>
              </a:spcAft>
              <a:buClr>
                <a:schemeClr val="accent1"/>
              </a:buClr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ct val="20000"/>
              </a:spcBef>
              <a:spcAft>
                <a:spcPct val="20000"/>
              </a:spcAft>
              <a:buClr>
                <a:schemeClr val="accent1"/>
              </a:buClr>
              <a:buSzPct val="70000"/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ct val="20000"/>
              </a:spcBef>
              <a:spcAft>
                <a:spcPct val="20000"/>
              </a:spcAft>
              <a:buClr>
                <a:schemeClr val="accent1"/>
              </a:buClr>
              <a:buSzPct val="70000"/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20000"/>
              </a:spcAft>
              <a:buClr>
                <a:schemeClr val="accent1"/>
              </a:buClr>
              <a:buSzPct val="70000"/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20000"/>
              </a:spcAft>
              <a:buClr>
                <a:schemeClr val="accent1"/>
              </a:buClr>
              <a:buSzPct val="70000"/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20000"/>
              </a:spcAft>
              <a:buClr>
                <a:schemeClr val="accent1"/>
              </a:buClr>
              <a:buSzPct val="70000"/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20000"/>
              </a:spcAft>
              <a:buClr>
                <a:schemeClr val="accent1"/>
              </a:buClr>
              <a:buSzPct val="70000"/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PK" sz="1600" b="1">
                <a:solidFill>
                  <a:schemeClr val="bg1"/>
                </a:solidFill>
              </a:rPr>
              <a:t>Optimizing</a:t>
            </a:r>
            <a:r>
              <a:rPr lang="en-US" altLang="en-PK" sz="1600"/>
              <a:t> </a:t>
            </a:r>
          </a:p>
        </p:txBody>
      </p:sp>
      <p:sp>
        <p:nvSpPr>
          <p:cNvPr id="13330" name="AutoShape 17">
            <a:extLst>
              <a:ext uri="{FF2B5EF4-FFF2-40B4-BE49-F238E27FC236}">
                <a16:creationId xmlns:a16="http://schemas.microsoft.com/office/drawing/2014/main" id="{2D23C763-6A98-518E-13D2-819D63D622D6}"/>
              </a:ext>
            </a:extLst>
          </p:cNvPr>
          <p:cNvSpPr>
            <a:spLocks noChangeArrowheads="1"/>
          </p:cNvSpPr>
          <p:nvPr/>
        </p:nvSpPr>
        <p:spPr bwMode="auto">
          <a:xfrm rot="2212552">
            <a:off x="2479675" y="5499100"/>
            <a:ext cx="285750" cy="492125"/>
          </a:xfrm>
          <a:prstGeom prst="upArrow">
            <a:avLst>
              <a:gd name="adj1" fmla="val 50000"/>
              <a:gd name="adj2" fmla="val 43056"/>
            </a:avLst>
          </a:prstGeom>
          <a:solidFill>
            <a:srgbClr val="999999"/>
          </a:solidFill>
          <a:ln w="9525">
            <a:solidFill>
              <a:srgbClr val="999999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lnSpc>
                <a:spcPct val="90000"/>
              </a:lnSpc>
              <a:spcBef>
                <a:spcPct val="20000"/>
              </a:spcBef>
              <a:spcAft>
                <a:spcPct val="20000"/>
              </a:spcAft>
              <a:buClr>
                <a:schemeClr val="accent1"/>
              </a:buClr>
              <a:buSzPct val="110000"/>
              <a:buChar char="•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ct val="20000"/>
              </a:spcBef>
              <a:spcAft>
                <a:spcPct val="20000"/>
              </a:spcAft>
              <a:buClr>
                <a:schemeClr val="accent1"/>
              </a:buClr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ct val="20000"/>
              </a:spcBef>
              <a:spcAft>
                <a:spcPct val="20000"/>
              </a:spcAft>
              <a:buClr>
                <a:schemeClr val="accent1"/>
              </a:buClr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ct val="20000"/>
              </a:spcBef>
              <a:spcAft>
                <a:spcPct val="20000"/>
              </a:spcAft>
              <a:buClr>
                <a:schemeClr val="accent1"/>
              </a:buClr>
              <a:buSzPct val="70000"/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ct val="20000"/>
              </a:spcBef>
              <a:spcAft>
                <a:spcPct val="20000"/>
              </a:spcAft>
              <a:buClr>
                <a:schemeClr val="accent1"/>
              </a:buClr>
              <a:buSzPct val="70000"/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20000"/>
              </a:spcAft>
              <a:buClr>
                <a:schemeClr val="accent1"/>
              </a:buClr>
              <a:buSzPct val="70000"/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20000"/>
              </a:spcAft>
              <a:buClr>
                <a:schemeClr val="accent1"/>
              </a:buClr>
              <a:buSzPct val="70000"/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20000"/>
              </a:spcAft>
              <a:buClr>
                <a:schemeClr val="accent1"/>
              </a:buClr>
              <a:buSzPct val="70000"/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20000"/>
              </a:spcAft>
              <a:buClr>
                <a:schemeClr val="accent1"/>
              </a:buClr>
              <a:buSzPct val="70000"/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buSzTx/>
            </a:pPr>
            <a:endParaRPr lang="en-PK" altLang="en-PK" sz="1400"/>
          </a:p>
        </p:txBody>
      </p:sp>
      <p:sp>
        <p:nvSpPr>
          <p:cNvPr id="13331" name="AutoShape 18">
            <a:extLst>
              <a:ext uri="{FF2B5EF4-FFF2-40B4-BE49-F238E27FC236}">
                <a16:creationId xmlns:a16="http://schemas.microsoft.com/office/drawing/2014/main" id="{4AB5D72E-6EA5-BEC8-26C9-1650950182E1}"/>
              </a:ext>
            </a:extLst>
          </p:cNvPr>
          <p:cNvSpPr>
            <a:spLocks noChangeArrowheads="1"/>
          </p:cNvSpPr>
          <p:nvPr/>
        </p:nvSpPr>
        <p:spPr bwMode="auto">
          <a:xfrm rot="2212552">
            <a:off x="3340100" y="4518025"/>
            <a:ext cx="285750" cy="490538"/>
          </a:xfrm>
          <a:prstGeom prst="upArrow">
            <a:avLst>
              <a:gd name="adj1" fmla="val 50000"/>
              <a:gd name="adj2" fmla="val 42917"/>
            </a:avLst>
          </a:prstGeom>
          <a:solidFill>
            <a:srgbClr val="999999"/>
          </a:solidFill>
          <a:ln w="9525">
            <a:solidFill>
              <a:srgbClr val="333399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lnSpc>
                <a:spcPct val="90000"/>
              </a:lnSpc>
              <a:spcBef>
                <a:spcPct val="20000"/>
              </a:spcBef>
              <a:spcAft>
                <a:spcPct val="20000"/>
              </a:spcAft>
              <a:buClr>
                <a:schemeClr val="accent1"/>
              </a:buClr>
              <a:buSzPct val="110000"/>
              <a:buChar char="•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ct val="20000"/>
              </a:spcBef>
              <a:spcAft>
                <a:spcPct val="20000"/>
              </a:spcAft>
              <a:buClr>
                <a:schemeClr val="accent1"/>
              </a:buClr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ct val="20000"/>
              </a:spcBef>
              <a:spcAft>
                <a:spcPct val="20000"/>
              </a:spcAft>
              <a:buClr>
                <a:schemeClr val="accent1"/>
              </a:buClr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ct val="20000"/>
              </a:spcBef>
              <a:spcAft>
                <a:spcPct val="20000"/>
              </a:spcAft>
              <a:buClr>
                <a:schemeClr val="accent1"/>
              </a:buClr>
              <a:buSzPct val="70000"/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ct val="20000"/>
              </a:spcBef>
              <a:spcAft>
                <a:spcPct val="20000"/>
              </a:spcAft>
              <a:buClr>
                <a:schemeClr val="accent1"/>
              </a:buClr>
              <a:buSzPct val="70000"/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20000"/>
              </a:spcAft>
              <a:buClr>
                <a:schemeClr val="accent1"/>
              </a:buClr>
              <a:buSzPct val="70000"/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20000"/>
              </a:spcAft>
              <a:buClr>
                <a:schemeClr val="accent1"/>
              </a:buClr>
              <a:buSzPct val="70000"/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20000"/>
              </a:spcAft>
              <a:buClr>
                <a:schemeClr val="accent1"/>
              </a:buClr>
              <a:buSzPct val="70000"/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20000"/>
              </a:spcAft>
              <a:buClr>
                <a:schemeClr val="accent1"/>
              </a:buClr>
              <a:buSzPct val="70000"/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buSzTx/>
            </a:pPr>
            <a:endParaRPr lang="en-PK" altLang="en-PK" sz="1400"/>
          </a:p>
        </p:txBody>
      </p:sp>
      <p:sp>
        <p:nvSpPr>
          <p:cNvPr id="13332" name="AutoShape 19">
            <a:extLst>
              <a:ext uri="{FF2B5EF4-FFF2-40B4-BE49-F238E27FC236}">
                <a16:creationId xmlns:a16="http://schemas.microsoft.com/office/drawing/2014/main" id="{78793C62-A35B-BBD4-95B6-67EC3836C314}"/>
              </a:ext>
            </a:extLst>
          </p:cNvPr>
          <p:cNvSpPr>
            <a:spLocks noChangeArrowheads="1"/>
          </p:cNvSpPr>
          <p:nvPr/>
        </p:nvSpPr>
        <p:spPr bwMode="auto">
          <a:xfrm rot="2212552">
            <a:off x="4191000" y="3505200"/>
            <a:ext cx="285750" cy="490538"/>
          </a:xfrm>
          <a:prstGeom prst="upArrow">
            <a:avLst>
              <a:gd name="adj1" fmla="val 50000"/>
              <a:gd name="adj2" fmla="val 42917"/>
            </a:avLst>
          </a:prstGeom>
          <a:solidFill>
            <a:srgbClr val="999999"/>
          </a:solidFill>
          <a:ln w="9525">
            <a:solidFill>
              <a:srgbClr val="333399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lnSpc>
                <a:spcPct val="90000"/>
              </a:lnSpc>
              <a:spcBef>
                <a:spcPct val="20000"/>
              </a:spcBef>
              <a:spcAft>
                <a:spcPct val="20000"/>
              </a:spcAft>
              <a:buClr>
                <a:schemeClr val="accent1"/>
              </a:buClr>
              <a:buSzPct val="110000"/>
              <a:buChar char="•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ct val="20000"/>
              </a:spcBef>
              <a:spcAft>
                <a:spcPct val="20000"/>
              </a:spcAft>
              <a:buClr>
                <a:schemeClr val="accent1"/>
              </a:buClr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ct val="20000"/>
              </a:spcBef>
              <a:spcAft>
                <a:spcPct val="20000"/>
              </a:spcAft>
              <a:buClr>
                <a:schemeClr val="accent1"/>
              </a:buClr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ct val="20000"/>
              </a:spcBef>
              <a:spcAft>
                <a:spcPct val="20000"/>
              </a:spcAft>
              <a:buClr>
                <a:schemeClr val="accent1"/>
              </a:buClr>
              <a:buSzPct val="70000"/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ct val="20000"/>
              </a:spcBef>
              <a:spcAft>
                <a:spcPct val="20000"/>
              </a:spcAft>
              <a:buClr>
                <a:schemeClr val="accent1"/>
              </a:buClr>
              <a:buSzPct val="70000"/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20000"/>
              </a:spcAft>
              <a:buClr>
                <a:schemeClr val="accent1"/>
              </a:buClr>
              <a:buSzPct val="70000"/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20000"/>
              </a:spcAft>
              <a:buClr>
                <a:schemeClr val="accent1"/>
              </a:buClr>
              <a:buSzPct val="70000"/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20000"/>
              </a:spcAft>
              <a:buClr>
                <a:schemeClr val="accent1"/>
              </a:buClr>
              <a:buSzPct val="70000"/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20000"/>
              </a:spcAft>
              <a:buClr>
                <a:schemeClr val="accent1"/>
              </a:buClr>
              <a:buSzPct val="70000"/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buSzTx/>
            </a:pPr>
            <a:endParaRPr lang="en-PK" altLang="en-PK" sz="1400"/>
          </a:p>
        </p:txBody>
      </p:sp>
      <p:sp>
        <p:nvSpPr>
          <p:cNvPr id="13333" name="AutoShape 20">
            <a:extLst>
              <a:ext uri="{FF2B5EF4-FFF2-40B4-BE49-F238E27FC236}">
                <a16:creationId xmlns:a16="http://schemas.microsoft.com/office/drawing/2014/main" id="{090C2E95-E032-D7DE-7D4D-F6DE4E1468A5}"/>
              </a:ext>
            </a:extLst>
          </p:cNvPr>
          <p:cNvSpPr>
            <a:spLocks noChangeArrowheads="1"/>
          </p:cNvSpPr>
          <p:nvPr/>
        </p:nvSpPr>
        <p:spPr bwMode="auto">
          <a:xfrm rot="2212552">
            <a:off x="5203825" y="2271713"/>
            <a:ext cx="285750" cy="492125"/>
          </a:xfrm>
          <a:prstGeom prst="upArrow">
            <a:avLst>
              <a:gd name="adj1" fmla="val 50000"/>
              <a:gd name="adj2" fmla="val 43056"/>
            </a:avLst>
          </a:prstGeom>
          <a:solidFill>
            <a:srgbClr val="999999"/>
          </a:solidFill>
          <a:ln w="9525">
            <a:solidFill>
              <a:srgbClr val="333399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lnSpc>
                <a:spcPct val="90000"/>
              </a:lnSpc>
              <a:spcBef>
                <a:spcPct val="20000"/>
              </a:spcBef>
              <a:spcAft>
                <a:spcPct val="20000"/>
              </a:spcAft>
              <a:buClr>
                <a:schemeClr val="accent1"/>
              </a:buClr>
              <a:buSzPct val="110000"/>
              <a:buChar char="•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ct val="20000"/>
              </a:spcBef>
              <a:spcAft>
                <a:spcPct val="20000"/>
              </a:spcAft>
              <a:buClr>
                <a:schemeClr val="accent1"/>
              </a:buClr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ct val="20000"/>
              </a:spcBef>
              <a:spcAft>
                <a:spcPct val="20000"/>
              </a:spcAft>
              <a:buClr>
                <a:schemeClr val="accent1"/>
              </a:buClr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ct val="20000"/>
              </a:spcBef>
              <a:spcAft>
                <a:spcPct val="20000"/>
              </a:spcAft>
              <a:buClr>
                <a:schemeClr val="accent1"/>
              </a:buClr>
              <a:buSzPct val="70000"/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ct val="20000"/>
              </a:spcBef>
              <a:spcAft>
                <a:spcPct val="20000"/>
              </a:spcAft>
              <a:buClr>
                <a:schemeClr val="accent1"/>
              </a:buClr>
              <a:buSzPct val="70000"/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20000"/>
              </a:spcAft>
              <a:buClr>
                <a:schemeClr val="accent1"/>
              </a:buClr>
              <a:buSzPct val="70000"/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20000"/>
              </a:spcAft>
              <a:buClr>
                <a:schemeClr val="accent1"/>
              </a:buClr>
              <a:buSzPct val="70000"/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20000"/>
              </a:spcAft>
              <a:buClr>
                <a:schemeClr val="accent1"/>
              </a:buClr>
              <a:buSzPct val="70000"/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20000"/>
              </a:spcAft>
              <a:buClr>
                <a:schemeClr val="accent1"/>
              </a:buClr>
              <a:buSzPct val="70000"/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buSzTx/>
            </a:pPr>
            <a:endParaRPr lang="en-PK" altLang="en-PK" sz="1400"/>
          </a:p>
        </p:txBody>
      </p:sp>
      <p:sp>
        <p:nvSpPr>
          <p:cNvPr id="13334" name="Text Box 21">
            <a:extLst>
              <a:ext uri="{FF2B5EF4-FFF2-40B4-BE49-F238E27FC236}">
                <a16:creationId xmlns:a16="http://schemas.microsoft.com/office/drawing/2014/main" id="{2714F631-30C9-5152-E6BF-2E681816A09C}"/>
              </a:ext>
            </a:extLst>
          </p:cNvPr>
          <p:cNvSpPr txBox="1">
            <a:spLocks noChangeArrowheads="1"/>
          </p:cNvSpPr>
          <p:nvPr/>
        </p:nvSpPr>
        <p:spPr bwMode="auto">
          <a:xfrm rot="-3063224">
            <a:off x="1251744" y="2855119"/>
            <a:ext cx="2090737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ct val="20000"/>
              </a:spcBef>
              <a:spcAft>
                <a:spcPct val="20000"/>
              </a:spcAft>
              <a:buClr>
                <a:schemeClr val="accent1"/>
              </a:buClr>
              <a:buSzPct val="110000"/>
              <a:buChar char="•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ct val="20000"/>
              </a:spcBef>
              <a:spcAft>
                <a:spcPct val="20000"/>
              </a:spcAft>
              <a:buClr>
                <a:schemeClr val="accent1"/>
              </a:buClr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ct val="20000"/>
              </a:spcBef>
              <a:spcAft>
                <a:spcPct val="20000"/>
              </a:spcAft>
              <a:buClr>
                <a:schemeClr val="accent1"/>
              </a:buClr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ct val="20000"/>
              </a:spcBef>
              <a:spcAft>
                <a:spcPct val="20000"/>
              </a:spcAft>
              <a:buClr>
                <a:schemeClr val="accent1"/>
              </a:buClr>
              <a:buSzPct val="70000"/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ct val="20000"/>
              </a:spcBef>
              <a:spcAft>
                <a:spcPct val="20000"/>
              </a:spcAft>
              <a:buClr>
                <a:schemeClr val="accent1"/>
              </a:buClr>
              <a:buSzPct val="70000"/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20000"/>
              </a:spcAft>
              <a:buClr>
                <a:schemeClr val="accent1"/>
              </a:buClr>
              <a:buSzPct val="70000"/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20000"/>
              </a:spcAft>
              <a:buClr>
                <a:schemeClr val="accent1"/>
              </a:buClr>
              <a:buSzPct val="70000"/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20000"/>
              </a:spcAft>
              <a:buClr>
                <a:schemeClr val="accent1"/>
              </a:buClr>
              <a:buSzPct val="70000"/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20000"/>
              </a:spcAft>
              <a:buClr>
                <a:schemeClr val="accent1"/>
              </a:buClr>
              <a:buSzPct val="70000"/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PK" sz="2000" i="1"/>
              <a:t>Process Maturity</a:t>
            </a:r>
          </a:p>
        </p:txBody>
      </p:sp>
      <p:sp>
        <p:nvSpPr>
          <p:cNvPr id="13335" name="Rectangle 22">
            <a:extLst>
              <a:ext uri="{FF2B5EF4-FFF2-40B4-BE49-F238E27FC236}">
                <a16:creationId xmlns:a16="http://schemas.microsoft.com/office/drawing/2014/main" id="{41E10317-71BB-D35B-7904-A3AB644473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67400" y="1219200"/>
            <a:ext cx="3200400" cy="1069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ct val="20000"/>
              </a:spcBef>
              <a:spcAft>
                <a:spcPct val="20000"/>
              </a:spcAft>
              <a:buClr>
                <a:schemeClr val="accent1"/>
              </a:buClr>
              <a:buSzPct val="110000"/>
              <a:buChar char="•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ct val="20000"/>
              </a:spcBef>
              <a:spcAft>
                <a:spcPct val="20000"/>
              </a:spcAft>
              <a:buClr>
                <a:schemeClr val="accent1"/>
              </a:buClr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ct val="20000"/>
              </a:spcBef>
              <a:spcAft>
                <a:spcPct val="20000"/>
              </a:spcAft>
              <a:buClr>
                <a:schemeClr val="accent1"/>
              </a:buClr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ct val="20000"/>
              </a:spcBef>
              <a:spcAft>
                <a:spcPct val="20000"/>
              </a:spcAft>
              <a:buClr>
                <a:schemeClr val="accent1"/>
              </a:buClr>
              <a:buSzPct val="70000"/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ct val="20000"/>
              </a:spcBef>
              <a:spcAft>
                <a:spcPct val="20000"/>
              </a:spcAft>
              <a:buClr>
                <a:schemeClr val="accent1"/>
              </a:buClr>
              <a:buSzPct val="70000"/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20000"/>
              </a:spcAft>
              <a:buClr>
                <a:schemeClr val="accent1"/>
              </a:buClr>
              <a:buSzPct val="70000"/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20000"/>
              </a:spcAft>
              <a:buClr>
                <a:schemeClr val="accent1"/>
              </a:buClr>
              <a:buSzPct val="70000"/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20000"/>
              </a:spcAft>
              <a:buClr>
                <a:schemeClr val="accent1"/>
              </a:buClr>
              <a:buSzPct val="70000"/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20000"/>
              </a:spcAft>
              <a:buClr>
                <a:schemeClr val="accent1"/>
              </a:buClr>
              <a:buSzPct val="70000"/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PK" sz="1600" b="1" dirty="0"/>
              <a:t>Process performance continually improved through incremental and innovative technological improvements. </a:t>
            </a:r>
          </a:p>
        </p:txBody>
      </p:sp>
      <p:sp>
        <p:nvSpPr>
          <p:cNvPr id="13336" name="Line 27">
            <a:extLst>
              <a:ext uri="{FF2B5EF4-FFF2-40B4-BE49-F238E27FC236}">
                <a16:creationId xmlns:a16="http://schemas.microsoft.com/office/drawing/2014/main" id="{D1D83A28-D3FC-9FE5-9C48-800C096D4D2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000496" y="1555334"/>
            <a:ext cx="571500" cy="725488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PK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33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33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33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33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33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33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133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33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33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33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33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33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133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33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33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319" grpId="0"/>
      <p:bldP spid="13322" grpId="0"/>
      <p:bldP spid="13325" grpId="0"/>
      <p:bldP spid="13328" grpId="0"/>
      <p:bldP spid="13335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3600" b="1" dirty="0"/>
              <a:t>CMMI Level 1 – Initial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400" dirty="0"/>
              <a:t>Unpredictable process</a:t>
            </a:r>
          </a:p>
          <a:p>
            <a:r>
              <a:rPr sz="2400" dirty="0"/>
              <a:t>Success depends on individuals</a:t>
            </a:r>
          </a:p>
          <a:p>
            <a:r>
              <a:rPr sz="2400" dirty="0"/>
              <a:t>Poor control and low efficiency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3600" b="1" dirty="0"/>
              <a:t>CMMI Level 2 – Managed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400" dirty="0"/>
              <a:t>Basic project management practices</a:t>
            </a:r>
          </a:p>
          <a:p>
            <a:r>
              <a:rPr sz="2400" dirty="0"/>
              <a:t>Track cost, schedule, and functionality</a:t>
            </a:r>
          </a:p>
          <a:p>
            <a:r>
              <a:rPr sz="2400" dirty="0"/>
              <a:t>Still reactive, not proactive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3600" b="1" dirty="0"/>
              <a:t>CMMI Level 3 – Defined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400" dirty="0"/>
              <a:t>Processes are well-documented</a:t>
            </a:r>
          </a:p>
          <a:p>
            <a:r>
              <a:rPr sz="2400" dirty="0"/>
              <a:t>Organization-wide standards</a:t>
            </a:r>
          </a:p>
          <a:p>
            <a:r>
              <a:rPr sz="2400" dirty="0"/>
              <a:t>More consistent and proactive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8229600" cy="1143000"/>
          </a:xfrm>
        </p:spPr>
        <p:txBody>
          <a:bodyPr>
            <a:noAutofit/>
          </a:bodyPr>
          <a:lstStyle/>
          <a:p>
            <a:r>
              <a:rPr sz="3200" b="1" dirty="0"/>
              <a:t>CMMI Level 4 – Quantitatively Managed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400" dirty="0"/>
              <a:t>Use data and metrics to manage processes</a:t>
            </a:r>
          </a:p>
          <a:p>
            <a:r>
              <a:rPr sz="2400" dirty="0"/>
              <a:t>Performance is measurable</a:t>
            </a:r>
          </a:p>
          <a:p>
            <a:r>
              <a:rPr sz="2400" dirty="0"/>
              <a:t>Focus on predictability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3600" b="1" dirty="0"/>
              <a:t>CMMI Level 5 – Optimizing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400" dirty="0"/>
              <a:t>Focus on continuous process improvement</a:t>
            </a:r>
          </a:p>
          <a:p>
            <a:r>
              <a:rPr sz="2400" dirty="0"/>
              <a:t>Use feedback to innovate and optimize</a:t>
            </a:r>
          </a:p>
          <a:p>
            <a:r>
              <a:rPr sz="2400" dirty="0"/>
              <a:t>Stable + flexible processes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3600" b="1" dirty="0"/>
              <a:t>Benefits of CMMI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400" dirty="0"/>
              <a:t>Better process control</a:t>
            </a:r>
          </a:p>
          <a:p>
            <a:r>
              <a:rPr sz="2400" dirty="0"/>
              <a:t>Higher customer satisfaction</a:t>
            </a:r>
          </a:p>
          <a:p>
            <a:r>
              <a:rPr sz="2400" dirty="0"/>
              <a:t>Reduced defects and rework</a:t>
            </a:r>
          </a:p>
          <a:p>
            <a:r>
              <a:rPr sz="2400" dirty="0"/>
              <a:t>Improved team productivity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962D5D-4C6F-A150-29C1-E766E0D092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01901"/>
            <a:ext cx="8229600" cy="1143000"/>
          </a:xfrm>
        </p:spPr>
        <p:txBody>
          <a:bodyPr>
            <a:normAutofit/>
          </a:bodyPr>
          <a:lstStyle/>
          <a:p>
            <a:r>
              <a:rPr lang="en-US" sz="3600" b="1" dirty="0"/>
              <a:t>CMMI along with scenario </a:t>
            </a:r>
            <a:endParaRPr lang="en-PK" sz="3600" b="1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DD52C6A6-6126-CC48-5448-244E72869E1F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320832" y="1411284"/>
            <a:ext cx="8502335" cy="37856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en-PK" altLang="en-PK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Imagine you are part of a software company called </a:t>
            </a:r>
            <a:r>
              <a:rPr kumimoji="0" lang="en-PK" altLang="en-PK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SoftDevCo</a:t>
            </a:r>
            <a:r>
              <a:rPr kumimoji="0" lang="en-PK" altLang="en-PK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.The</a:t>
            </a:r>
            <a:r>
              <a:rPr kumimoji="0" lang="en-PK" altLang="en-PK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team is working on multiple projects.</a:t>
            </a:r>
            <a:endParaRPr kumimoji="0" lang="en-US" altLang="en-PK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en-PK" altLang="en-PK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endParaRPr kumimoji="0" lang="en-US" altLang="en-PK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indent="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en-PK" altLang="en-PK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You notice the following issues:</a:t>
            </a:r>
          </a:p>
          <a:p>
            <a:pPr lvl="1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kumimoji="0" lang="en-PK" altLang="en-PK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Every project team follows its </a:t>
            </a:r>
            <a:r>
              <a:rPr kumimoji="0" lang="en-PK" altLang="en-PK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own way of writing code</a:t>
            </a:r>
            <a:r>
              <a:rPr kumimoji="0" lang="en-PK" altLang="en-PK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lvl="1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kumimoji="0" lang="en-PK" altLang="en-PK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Requirements are gathered but </a:t>
            </a:r>
            <a:r>
              <a:rPr kumimoji="0" lang="en-PK" altLang="en-PK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not documented</a:t>
            </a:r>
            <a:r>
              <a:rPr kumimoji="0" lang="en-PK" altLang="en-PK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lvl="1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kumimoji="0" lang="en-PK" altLang="en-PK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Testing is done </a:t>
            </a:r>
            <a:r>
              <a:rPr kumimoji="0" lang="en-PK" altLang="en-PK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only at the end</a:t>
            </a:r>
            <a:r>
              <a:rPr kumimoji="0" lang="en-PK" altLang="en-PK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of the project.</a:t>
            </a:r>
          </a:p>
          <a:p>
            <a:pPr lvl="1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kumimoji="0" lang="en-PK" altLang="en-PK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Project delays are common, and </a:t>
            </a:r>
            <a:r>
              <a:rPr kumimoji="0" lang="en-PK" altLang="en-PK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quality is inconsistent</a:t>
            </a:r>
            <a:r>
              <a:rPr kumimoji="0" lang="en-PK" altLang="en-PK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lvl="1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kumimoji="0" lang="en-PK" altLang="en-PK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When team members leave, </a:t>
            </a:r>
            <a:r>
              <a:rPr kumimoji="0" lang="en-PK" altLang="en-PK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project knowledge is lost</a:t>
            </a:r>
            <a:r>
              <a:rPr kumimoji="0" lang="en-PK" altLang="en-PK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endParaRPr kumimoji="0" lang="en-US" altLang="en-PK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en-PK" altLang="en-PK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Your manager asks </a:t>
            </a:r>
            <a:r>
              <a:rPr kumimoji="0" lang="en-US" altLang="en-PK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you to use </a:t>
            </a:r>
            <a:r>
              <a:rPr lang="en-US" altLang="en-PK" sz="1800" dirty="0">
                <a:latin typeface="Arial" panose="020B0604020202020204" pitchFamily="34" charset="0"/>
              </a:rPr>
              <a:t>CMMI and analyze </a:t>
            </a:r>
            <a:r>
              <a:rPr kumimoji="0" lang="en-PK" altLang="en-PK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what is our current maturity level</a:t>
            </a:r>
            <a:r>
              <a:rPr kumimoji="0" lang="en-PK" altLang="en-PK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and </a:t>
            </a:r>
            <a:r>
              <a:rPr kumimoji="0" lang="en-PK" altLang="en-PK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what </a:t>
            </a:r>
            <a:r>
              <a:rPr kumimoji="0" lang="en-US" altLang="en-PK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we should</a:t>
            </a:r>
            <a:r>
              <a:rPr kumimoji="0" lang="en-PK" altLang="en-PK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do to move to the next level</a:t>
            </a:r>
            <a:r>
              <a:rPr kumimoji="0" lang="en-PK" altLang="en-PK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?”</a:t>
            </a:r>
          </a:p>
        </p:txBody>
      </p:sp>
    </p:spTree>
    <p:extLst>
      <p:ext uri="{BB962C8B-B14F-4D97-AF65-F5344CB8AC3E}">
        <p14:creationId xmlns:p14="http://schemas.microsoft.com/office/powerpoint/2010/main" val="360785339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44C30C-D55B-CCF6-6299-90007598F4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/>
              <a:t>Solution</a:t>
            </a:r>
            <a:endParaRPr lang="en-PK" sz="36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03AEDA-0376-026E-F474-A41956CF67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/>
              <a:t>Current Maturity Level: Level 1 – Initial</a:t>
            </a:r>
          </a:p>
          <a:p>
            <a:pPr marL="857250" lvl="1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000" dirty="0"/>
              <a:t>This organization is at </a:t>
            </a:r>
            <a:r>
              <a:rPr lang="en-US" sz="2000" b="1" dirty="0"/>
              <a:t>CMMI Level 1</a:t>
            </a:r>
            <a:r>
              <a:rPr lang="en-US" sz="2000" dirty="0"/>
              <a:t> because:</a:t>
            </a:r>
          </a:p>
          <a:p>
            <a:pPr marL="857250" lvl="1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000" dirty="0"/>
              <a:t>There are </a:t>
            </a:r>
            <a:r>
              <a:rPr lang="en-US" sz="2000" b="1" dirty="0"/>
              <a:t>no standard processes</a:t>
            </a:r>
            <a:r>
              <a:rPr lang="en-US" sz="2000" dirty="0"/>
              <a:t> followed.</a:t>
            </a:r>
          </a:p>
          <a:p>
            <a:pPr marL="857250" lvl="1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000" dirty="0"/>
              <a:t>Work depends heavily on individual effort.</a:t>
            </a:r>
          </a:p>
          <a:p>
            <a:pPr marL="857250" lvl="1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000" dirty="0"/>
              <a:t>Processes are </a:t>
            </a:r>
            <a:r>
              <a:rPr lang="en-US" sz="2000" b="1" dirty="0"/>
              <a:t>unpredictable and reactive</a:t>
            </a:r>
            <a:r>
              <a:rPr lang="en-US" sz="2000" dirty="0"/>
              <a:t>.</a:t>
            </a:r>
          </a:p>
          <a:p>
            <a:pPr marL="857250" lvl="1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000" dirty="0"/>
              <a:t>There's </a:t>
            </a:r>
            <a:r>
              <a:rPr lang="en-US" sz="2000" b="1" dirty="0"/>
              <a:t>no documentation or learning</a:t>
            </a:r>
            <a:r>
              <a:rPr lang="en-US" sz="2000" dirty="0"/>
              <a:t> from previous projects.</a:t>
            </a:r>
          </a:p>
          <a:p>
            <a:endParaRPr lang="en-PK" sz="2400" dirty="0"/>
          </a:p>
        </p:txBody>
      </p:sp>
    </p:spTree>
    <p:extLst>
      <p:ext uri="{BB962C8B-B14F-4D97-AF65-F5344CB8AC3E}">
        <p14:creationId xmlns:p14="http://schemas.microsoft.com/office/powerpoint/2010/main" val="46858726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14CE40-ABD9-3DDB-7886-611B86F932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/>
              <a:t>Continued……..</a:t>
            </a:r>
            <a:endParaRPr lang="en-PK" sz="36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F61F7A-9FB5-CCD6-E356-5D384F2070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sz="2800" b="1" dirty="0"/>
              <a:t>Steps to Move to Level 2 – Managed:</a:t>
            </a:r>
          </a:p>
          <a:p>
            <a:pPr marL="0" indent="0">
              <a:buNone/>
            </a:pPr>
            <a:r>
              <a:rPr lang="en-US" sz="2600" dirty="0"/>
              <a:t>To reach </a:t>
            </a:r>
            <a:r>
              <a:rPr lang="en-US" sz="2600" b="1" dirty="0"/>
              <a:t>CMMI Level 2</a:t>
            </a:r>
            <a:r>
              <a:rPr lang="en-US" sz="2600" dirty="0"/>
              <a:t>, </a:t>
            </a:r>
            <a:r>
              <a:rPr lang="en-US" sz="2600" dirty="0" err="1"/>
              <a:t>SoftDevCo</a:t>
            </a:r>
            <a:r>
              <a:rPr lang="en-US" sz="2600" dirty="0"/>
              <a:t> needs to:</a:t>
            </a:r>
          </a:p>
          <a:p>
            <a:pPr>
              <a:buFont typeface="+mj-lt"/>
              <a:buAutoNum type="arabicPeriod"/>
            </a:pPr>
            <a:r>
              <a:rPr lang="en-US" sz="2600" b="1" dirty="0"/>
              <a:t>Establish basic project management practices</a:t>
            </a:r>
            <a:r>
              <a:rPr lang="en-US" sz="2600" dirty="0"/>
              <a:t>, like: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sz="2300" dirty="0"/>
              <a:t>Requirements gathering and documentation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sz="2300" dirty="0"/>
              <a:t>Project planning and tracking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sz="2300" dirty="0"/>
              <a:t>Basic configuration management</a:t>
            </a:r>
          </a:p>
          <a:p>
            <a:pPr>
              <a:buFont typeface="+mj-lt"/>
              <a:buAutoNum type="arabicPeriod"/>
            </a:pPr>
            <a:r>
              <a:rPr lang="en-US" sz="2600" b="1" dirty="0"/>
              <a:t>Create process guidelines</a:t>
            </a:r>
            <a:r>
              <a:rPr lang="en-US" sz="2600" dirty="0"/>
              <a:t> to: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sz="2300" dirty="0"/>
              <a:t>Standardize how code is written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sz="2300" dirty="0"/>
              <a:t>Plan and document test cases earlier in the cycle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sz="2300" dirty="0"/>
              <a:t>Ensure knowledge is retained through documentation</a:t>
            </a:r>
          </a:p>
          <a:p>
            <a:pPr>
              <a:buFont typeface="+mj-lt"/>
              <a:buAutoNum type="arabicPeriod"/>
            </a:pPr>
            <a:r>
              <a:rPr lang="en-US" sz="2600" b="1" dirty="0"/>
              <a:t>Track performance metrics</a:t>
            </a:r>
            <a:r>
              <a:rPr lang="en-US" sz="2600" dirty="0"/>
              <a:t> like: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sz="2300" dirty="0"/>
              <a:t>Delivery timelines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sz="2300" dirty="0"/>
              <a:t>Defect rates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sz="2300" dirty="0"/>
              <a:t>Team effort</a:t>
            </a:r>
          </a:p>
          <a:p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173531300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62" name="Rectangle 2"/>
          <p:cNvSpPr>
            <a:spLocks noGrp="1" noChangeArrowheads="1"/>
          </p:cNvSpPr>
          <p:nvPr>
            <p:ph type="title"/>
          </p:nvPr>
        </p:nvSpPr>
        <p:spPr>
          <a:xfrm>
            <a:off x="664614" y="1428812"/>
            <a:ext cx="5906691" cy="475059"/>
          </a:xfrm>
        </p:spPr>
        <p:txBody>
          <a:bodyPr>
            <a:noAutofit/>
          </a:bodyPr>
          <a:lstStyle/>
          <a:p>
            <a:r>
              <a:rPr lang="en-US" sz="2700" b="1" dirty="0">
                <a:latin typeface="+mn-lt"/>
              </a:rPr>
              <a:t>The Personal Software Process (PSP)</a:t>
            </a:r>
            <a:br>
              <a:rPr lang="en-US" sz="2700" b="1" dirty="0">
                <a:latin typeface="+mn-lt"/>
              </a:rPr>
            </a:br>
            <a:endParaRPr lang="en-US" sz="2700" b="1" dirty="0">
              <a:latin typeface="+mn-lt"/>
            </a:endParaRPr>
          </a:p>
        </p:txBody>
      </p:sp>
      <p:sp>
        <p:nvSpPr>
          <p:cNvPr id="450563" name="Rectangle 3"/>
          <p:cNvSpPr>
            <a:spLocks noGrp="1" noChangeArrowheads="1"/>
          </p:cNvSpPr>
          <p:nvPr>
            <p:ph idx="1"/>
          </p:nvPr>
        </p:nvSpPr>
        <p:spPr>
          <a:xfrm>
            <a:off x="837850" y="1903871"/>
            <a:ext cx="7865447" cy="3444479"/>
          </a:xfrm>
        </p:spPr>
        <p:txBody>
          <a:bodyPr>
            <a:normAutofit fontScale="62500" lnSpcReduction="20000"/>
          </a:bodyPr>
          <a:lstStyle/>
          <a:p>
            <a:r>
              <a:rPr lang="en-US" sz="2400" dirty="0"/>
              <a:t>The PSP process is </a:t>
            </a:r>
            <a:r>
              <a:rPr lang="en-US" sz="2400" dirty="0">
                <a:solidFill>
                  <a:srgbClr val="FF0000"/>
                </a:solidFill>
              </a:rPr>
              <a:t>designed for individual use</a:t>
            </a:r>
            <a:r>
              <a:rPr lang="en-US" sz="2400" dirty="0"/>
              <a:t>.</a:t>
            </a:r>
          </a:p>
          <a:p>
            <a:pPr>
              <a:buNone/>
            </a:pPr>
            <a:endParaRPr lang="en-US" dirty="0"/>
          </a:p>
          <a:p>
            <a:pPr algn="just">
              <a:lnSpc>
                <a:spcPct val="150000"/>
              </a:lnSpc>
            </a:pPr>
            <a:r>
              <a:rPr lang="en-US" sz="2400" dirty="0">
                <a:cs typeface="Times New Roman" charset="0"/>
              </a:rPr>
              <a:t>To be most effective, </a:t>
            </a:r>
            <a:r>
              <a:rPr lang="en-US" sz="2400" dirty="0">
                <a:solidFill>
                  <a:srgbClr val="FF0000"/>
                </a:solidFill>
                <a:cs typeface="Times New Roman" charset="0"/>
              </a:rPr>
              <a:t>engineers must plan their work</a:t>
            </a:r>
            <a:r>
              <a:rPr lang="en-US" sz="2400" dirty="0">
                <a:cs typeface="Times New Roman" charset="0"/>
              </a:rPr>
              <a:t>.</a:t>
            </a:r>
            <a:endParaRPr lang="en-US" sz="2400" dirty="0"/>
          </a:p>
          <a:p>
            <a:pPr algn="just">
              <a:lnSpc>
                <a:spcPct val="150000"/>
              </a:lnSpc>
            </a:pPr>
            <a:r>
              <a:rPr lang="en-US" sz="2400" dirty="0">
                <a:cs typeface="Times New Roman" charset="0"/>
              </a:rPr>
              <a:t>To consistently improve their performance, </a:t>
            </a:r>
            <a:r>
              <a:rPr lang="en-US" sz="2400" dirty="0">
                <a:solidFill>
                  <a:srgbClr val="FF0000"/>
                </a:solidFill>
                <a:cs typeface="Times New Roman" charset="0"/>
              </a:rPr>
              <a:t>engineers must personally use well-defined processes.</a:t>
            </a:r>
            <a:r>
              <a:rPr lang="en-US" sz="2400" dirty="0">
                <a:solidFill>
                  <a:srgbClr val="FF0000"/>
                </a:solidFill>
              </a:rPr>
              <a:t> </a:t>
            </a:r>
          </a:p>
          <a:p>
            <a:pPr algn="just">
              <a:lnSpc>
                <a:spcPct val="150000"/>
              </a:lnSpc>
            </a:pPr>
            <a:r>
              <a:rPr lang="en-US" sz="2400" dirty="0">
                <a:cs typeface="Times New Roman" charset="0"/>
              </a:rPr>
              <a:t>To produce quality products, </a:t>
            </a:r>
            <a:r>
              <a:rPr lang="en-US" sz="2400" dirty="0">
                <a:solidFill>
                  <a:srgbClr val="FF0000"/>
                </a:solidFill>
                <a:cs typeface="Times New Roman" charset="0"/>
              </a:rPr>
              <a:t>engineers must feel personally responsible for the quality of their products</a:t>
            </a:r>
            <a:r>
              <a:rPr lang="en-US" sz="2400" dirty="0">
                <a:cs typeface="Times New Roman" charset="0"/>
              </a:rPr>
              <a:t>. 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cs typeface="Times New Roman" charset="0"/>
              </a:rPr>
              <a:t>It costs less to find and fix defects earlier in a process than later.</a:t>
            </a:r>
            <a:r>
              <a:rPr lang="en-US" sz="2400" dirty="0"/>
              <a:t>  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cs typeface="Times New Roman" charset="0"/>
              </a:rPr>
              <a:t>It is more efficient to prevent defects than to find and fix them. 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cs typeface="Times New Roman" charset="0"/>
              </a:rPr>
              <a:t>The right way is always the fastest and cheapest way to do a job. </a:t>
            </a:r>
          </a:p>
        </p:txBody>
      </p:sp>
    </p:spTree>
    <p:extLst>
      <p:ext uri="{BB962C8B-B14F-4D97-AF65-F5344CB8AC3E}">
        <p14:creationId xmlns:p14="http://schemas.microsoft.com/office/powerpoint/2010/main" val="1743852287"/>
      </p:ext>
    </p:extLst>
  </p:cSld>
  <p:clrMapOvr>
    <a:masterClrMapping/>
  </p:clrMapOvr>
  <p:transition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700" b="1" dirty="0">
                <a:latin typeface="+mn-lt"/>
                <a:cs typeface="Times New Roman" charset="0"/>
              </a:rPr>
              <a:t>Overview</a:t>
            </a:r>
            <a:r>
              <a:rPr lang="en-US" sz="2700" b="1" dirty="0">
                <a:latin typeface="+mn-lt"/>
              </a:rPr>
              <a:t> of the PSP</a:t>
            </a:r>
            <a:endParaRPr lang="en-US" sz="1350" b="1" dirty="0">
              <a:latin typeface="+mn-lt"/>
            </a:endParaRPr>
          </a:p>
        </p:txBody>
      </p:sp>
      <p:sp>
        <p:nvSpPr>
          <p:cNvPr id="20483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1800" dirty="0">
                <a:cs typeface="Times New Roman" charset="0"/>
              </a:rPr>
              <a:t>A </a:t>
            </a:r>
            <a:r>
              <a:rPr lang="en-US" sz="1800" dirty="0">
                <a:solidFill>
                  <a:srgbClr val="FF0000"/>
                </a:solidFill>
                <a:cs typeface="Times New Roman" charset="0"/>
              </a:rPr>
              <a:t>set of techniques </a:t>
            </a:r>
            <a:r>
              <a:rPr lang="en-US" sz="1800" dirty="0">
                <a:cs typeface="Times New Roman" charset="0"/>
              </a:rPr>
              <a:t>to help engineers </a:t>
            </a:r>
            <a:r>
              <a:rPr lang="en-US" sz="1800" dirty="0">
                <a:solidFill>
                  <a:srgbClr val="FF0000"/>
                </a:solidFill>
                <a:cs typeface="Times New Roman" charset="0"/>
              </a:rPr>
              <a:t>improve their performance </a:t>
            </a:r>
            <a:r>
              <a:rPr lang="en-US" sz="1800" dirty="0">
                <a:cs typeface="Times New Roman" charset="0"/>
              </a:rPr>
              <a:t>through a step-by-step, disciplined approach </a:t>
            </a:r>
            <a:r>
              <a:rPr lang="en-US" sz="1800" dirty="0">
                <a:solidFill>
                  <a:srgbClr val="FF0000"/>
                </a:solidFill>
                <a:cs typeface="Times New Roman" charset="0"/>
              </a:rPr>
              <a:t>to measuring and analyzing their work</a:t>
            </a:r>
            <a:r>
              <a:rPr lang="en-US" sz="1800" dirty="0">
                <a:cs typeface="Times New Roman" charset="0"/>
              </a:rPr>
              <a:t>. </a:t>
            </a:r>
          </a:p>
          <a:p>
            <a:pPr>
              <a:lnSpc>
                <a:spcPct val="90000"/>
              </a:lnSpc>
            </a:pPr>
            <a:r>
              <a:rPr lang="en-US" sz="1800" dirty="0">
                <a:cs typeface="Times New Roman" charset="0"/>
              </a:rPr>
              <a:t>It </a:t>
            </a:r>
            <a:r>
              <a:rPr lang="en-US" sz="1800" dirty="0">
                <a:solidFill>
                  <a:srgbClr val="FF0000"/>
                </a:solidFill>
                <a:cs typeface="Times New Roman" charset="0"/>
              </a:rPr>
              <a:t>provides detailed estimating and planning methods</a:t>
            </a:r>
            <a:r>
              <a:rPr lang="en-US" sz="1800" dirty="0">
                <a:cs typeface="Times New Roman" charset="0"/>
              </a:rPr>
              <a:t>, shows engineers how to track their performance against these plans.</a:t>
            </a:r>
          </a:p>
          <a:p>
            <a:pPr>
              <a:lnSpc>
                <a:spcPct val="90000"/>
              </a:lnSpc>
            </a:pPr>
            <a:r>
              <a:rPr lang="en-US" sz="1800" dirty="0">
                <a:cs typeface="Times New Roman" charset="0"/>
              </a:rPr>
              <a:t>It shows software engineers </a:t>
            </a:r>
            <a:r>
              <a:rPr lang="en-US" sz="1800" dirty="0">
                <a:solidFill>
                  <a:srgbClr val="FF0000"/>
                </a:solidFill>
                <a:cs typeface="Times New Roman" charset="0"/>
              </a:rPr>
              <a:t>how to apply advanced engineering methods to their daily tasks.</a:t>
            </a:r>
            <a:r>
              <a:rPr lang="en-US" sz="1800" dirty="0">
                <a:solidFill>
                  <a:srgbClr val="FF0000"/>
                </a:solidFill>
              </a:rPr>
              <a:t> </a:t>
            </a:r>
          </a:p>
          <a:p>
            <a:r>
              <a:rPr lang="en-US" sz="1800" dirty="0"/>
              <a:t>The PSP has been </a:t>
            </a:r>
            <a:r>
              <a:rPr lang="en-US" sz="1800" dirty="0">
                <a:solidFill>
                  <a:srgbClr val="FF0000"/>
                </a:solidFill>
              </a:rPr>
              <a:t>developed by the SEI to address the need for process improvement in small organizations and small project teams</a:t>
            </a:r>
            <a:r>
              <a:rPr lang="en-US" sz="1800" dirty="0"/>
              <a:t>. This work can help to increase the effectiveness of individual engineers.</a:t>
            </a:r>
          </a:p>
          <a:p>
            <a:r>
              <a:rPr lang="en-US" sz="1800" dirty="0">
                <a:cs typeface="Times New Roman" charset="0"/>
              </a:rPr>
              <a:t>The Personal Software Process </a:t>
            </a:r>
            <a:r>
              <a:rPr lang="en-US" sz="1800" dirty="0">
                <a:solidFill>
                  <a:srgbClr val="FF0000"/>
                </a:solidFill>
                <a:cs typeface="Times New Roman" charset="0"/>
              </a:rPr>
              <a:t>brings discipline to the practices of individual software engineers</a:t>
            </a:r>
            <a:r>
              <a:rPr lang="en-US" sz="1800" dirty="0">
                <a:cs typeface="Times New Roman" charset="0"/>
              </a:rPr>
              <a:t>, dramatically improving the quality, predictability, and cycle time for software-intensive systems.  </a:t>
            </a:r>
          </a:p>
          <a:p>
            <a:endParaRPr lang="en-US" sz="1800" dirty="0"/>
          </a:p>
          <a:p>
            <a:endParaRPr lang="en-PK" sz="1800" dirty="0"/>
          </a:p>
          <a:p>
            <a:pPr>
              <a:lnSpc>
                <a:spcPct val="90000"/>
              </a:lnSpc>
            </a:pPr>
            <a:endParaRPr lang="en-US" sz="1800" dirty="0">
              <a:solidFill>
                <a:srgbClr val="FF0000"/>
              </a:solidFill>
            </a:endParaRPr>
          </a:p>
          <a:p>
            <a:pPr marL="0" indent="0">
              <a:lnSpc>
                <a:spcPct val="90000"/>
              </a:lnSpc>
              <a:buNone/>
            </a:pPr>
            <a:endParaRPr lang="en-US" sz="180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372F18-D093-4392-AE94-906F17447E94}" type="slidenum">
              <a:rPr lang="en-US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227808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700" b="1" dirty="0">
                <a:latin typeface="+mn-lt"/>
                <a:cs typeface="Times New Roman" charset="0"/>
              </a:rPr>
              <a:t>The PSP Evolution -1</a:t>
            </a:r>
          </a:p>
        </p:txBody>
      </p:sp>
      <p:sp>
        <p:nvSpPr>
          <p:cNvPr id="1741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en-US" sz="1800" dirty="0">
                <a:cs typeface="Times New Roman" charset="0"/>
              </a:rPr>
              <a:t>The PSP process is enhanced through the following seven process versions.</a:t>
            </a:r>
            <a:r>
              <a:rPr lang="en-US" sz="1800" dirty="0"/>
              <a:t> </a:t>
            </a:r>
          </a:p>
          <a:p>
            <a:pPr lvl="1">
              <a:lnSpc>
                <a:spcPct val="150000"/>
              </a:lnSpc>
            </a:pPr>
            <a:r>
              <a:rPr lang="en-US" sz="1500" dirty="0"/>
              <a:t>PSP0 and PSP0.1</a:t>
            </a:r>
          </a:p>
          <a:p>
            <a:pPr lvl="1">
              <a:lnSpc>
                <a:spcPct val="150000"/>
              </a:lnSpc>
            </a:pPr>
            <a:r>
              <a:rPr lang="en-US" sz="1500" dirty="0"/>
              <a:t>PSP1 and PSP1.1</a:t>
            </a:r>
          </a:p>
          <a:p>
            <a:pPr lvl="1">
              <a:lnSpc>
                <a:spcPct val="150000"/>
              </a:lnSpc>
            </a:pPr>
            <a:r>
              <a:rPr lang="en-US" sz="1500" dirty="0"/>
              <a:t>PSP2 and PSP2.1</a:t>
            </a:r>
          </a:p>
          <a:p>
            <a:pPr lvl="1">
              <a:lnSpc>
                <a:spcPct val="150000"/>
              </a:lnSpc>
            </a:pPr>
            <a:r>
              <a:rPr lang="en-US" sz="1500" dirty="0"/>
              <a:t>PSP3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1800" dirty="0"/>
              <a:t>Each level adds planning, estimation, reviews, and control.</a:t>
            </a:r>
          </a:p>
          <a:p>
            <a:pPr lvl="1">
              <a:lnSpc>
                <a:spcPct val="150000"/>
              </a:lnSpc>
            </a:pPr>
            <a:endParaRPr lang="en-US" sz="150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F055A6-32F1-4CB6-BF94-775D6E8A348A}" type="slidenum">
              <a:rPr lang="en-US"/>
              <a:pPr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414994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2"/>
          <p:cNvSpPr>
            <a:spLocks noGrp="1" noChangeArrowheads="1"/>
          </p:cNvSpPr>
          <p:nvPr>
            <p:ph type="title"/>
          </p:nvPr>
        </p:nvSpPr>
        <p:spPr>
          <a:xfrm>
            <a:off x="490539" y="713184"/>
            <a:ext cx="7886700" cy="994172"/>
          </a:xfrm>
          <a:noFill/>
          <a:ln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spcFirstLastPara="1" vert="horz" wrap="square" lIns="87065" tIns="42863" rIns="87065" bIns="42863" rtlCol="0" anchor="t" anchorCtr="0">
            <a:noAutofit/>
          </a:bodyPr>
          <a:lstStyle/>
          <a:p>
            <a:pPr defTabSz="794147"/>
            <a:r>
              <a:rPr lang="en-US" sz="2700" b="1" dirty="0">
                <a:latin typeface="+mn-lt"/>
              </a:rPr>
              <a:t>PSP Overview  </a:t>
            </a:r>
          </a:p>
        </p:txBody>
      </p:sp>
      <p:sp>
        <p:nvSpPr>
          <p:cNvPr id="75779" name="Rectangle 3"/>
          <p:cNvSpPr>
            <a:spLocks noChangeArrowheads="1"/>
          </p:cNvSpPr>
          <p:nvPr/>
        </p:nvSpPr>
        <p:spPr bwMode="auto">
          <a:xfrm>
            <a:off x="2349105" y="4770836"/>
            <a:ext cx="1250156" cy="707231"/>
          </a:xfrm>
          <a:prstGeom prst="rect">
            <a:avLst/>
          </a:prstGeom>
          <a:noFill/>
          <a:ln w="25400">
            <a:solidFill>
              <a:schemeClr val="hlink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69652" tIns="34826" rIns="69652" bIns="34826" anchor="ctr"/>
          <a:lstStyle/>
          <a:p>
            <a:pPr algn="ctr" defTabSz="686991">
              <a:lnSpc>
                <a:spcPct val="90000"/>
              </a:lnSpc>
            </a:pPr>
            <a:r>
              <a:rPr lang="en-US" sz="1725" b="1">
                <a:latin typeface="Arial" charset="0"/>
              </a:rPr>
              <a:t>PSP0</a:t>
            </a:r>
            <a:endParaRPr lang="en-US" sz="1350" b="1">
              <a:latin typeface="Arial" charset="0"/>
            </a:endParaRPr>
          </a:p>
          <a:p>
            <a:pPr algn="ctr" defTabSz="686991">
              <a:lnSpc>
                <a:spcPct val="90000"/>
              </a:lnSpc>
            </a:pPr>
            <a:r>
              <a:rPr lang="en-US" sz="825" b="1">
                <a:latin typeface="Arial" charset="0"/>
              </a:rPr>
              <a:t>Current process</a:t>
            </a:r>
          </a:p>
          <a:p>
            <a:pPr algn="ctr" defTabSz="686991">
              <a:lnSpc>
                <a:spcPct val="90000"/>
              </a:lnSpc>
            </a:pPr>
            <a:r>
              <a:rPr lang="en-US" sz="825" b="1">
                <a:latin typeface="Arial" charset="0"/>
              </a:rPr>
              <a:t>Time recording</a:t>
            </a:r>
          </a:p>
          <a:p>
            <a:pPr algn="ctr" defTabSz="686991">
              <a:lnSpc>
                <a:spcPct val="90000"/>
              </a:lnSpc>
            </a:pPr>
            <a:r>
              <a:rPr lang="en-US" sz="825" b="1">
                <a:latin typeface="Arial" charset="0"/>
              </a:rPr>
              <a:t>Defect recording</a:t>
            </a:r>
          </a:p>
          <a:p>
            <a:pPr algn="ctr" defTabSz="686991">
              <a:lnSpc>
                <a:spcPct val="90000"/>
              </a:lnSpc>
            </a:pPr>
            <a:r>
              <a:rPr lang="en-US" sz="825" b="1">
                <a:latin typeface="Arial" charset="0"/>
              </a:rPr>
              <a:t>Defect type standard</a:t>
            </a:r>
          </a:p>
        </p:txBody>
      </p:sp>
      <p:sp>
        <p:nvSpPr>
          <p:cNvPr id="75780" name="Rectangle 4"/>
          <p:cNvSpPr>
            <a:spLocks noChangeArrowheads="1"/>
          </p:cNvSpPr>
          <p:nvPr/>
        </p:nvSpPr>
        <p:spPr bwMode="auto">
          <a:xfrm>
            <a:off x="3056336" y="3856435"/>
            <a:ext cx="1235869" cy="651272"/>
          </a:xfrm>
          <a:prstGeom prst="rect">
            <a:avLst/>
          </a:prstGeom>
          <a:noFill/>
          <a:ln w="25400">
            <a:solidFill>
              <a:srgbClr val="4747B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69652" tIns="34826" rIns="69652" bIns="34826" anchor="ctr"/>
          <a:lstStyle/>
          <a:p>
            <a:pPr algn="ctr" defTabSz="686991">
              <a:lnSpc>
                <a:spcPct val="90000"/>
              </a:lnSpc>
            </a:pPr>
            <a:r>
              <a:rPr lang="en-US" sz="1725" b="1">
                <a:latin typeface="Arial" charset="0"/>
              </a:rPr>
              <a:t>PSP1</a:t>
            </a:r>
            <a:endParaRPr lang="en-US" sz="825" b="1">
              <a:latin typeface="Arial" charset="0"/>
            </a:endParaRPr>
          </a:p>
          <a:p>
            <a:pPr algn="ctr" defTabSz="686991">
              <a:lnSpc>
                <a:spcPct val="90000"/>
              </a:lnSpc>
            </a:pPr>
            <a:r>
              <a:rPr lang="en-US" sz="825" b="1">
                <a:latin typeface="Arial" charset="0"/>
              </a:rPr>
              <a:t>Size estimating</a:t>
            </a:r>
          </a:p>
          <a:p>
            <a:pPr algn="ctr" defTabSz="686991">
              <a:lnSpc>
                <a:spcPct val="90000"/>
              </a:lnSpc>
            </a:pPr>
            <a:r>
              <a:rPr lang="en-US" sz="825" b="1">
                <a:latin typeface="Arial" charset="0"/>
              </a:rPr>
              <a:t>Test report</a:t>
            </a:r>
          </a:p>
          <a:p>
            <a:pPr algn="ctr" defTabSz="686991">
              <a:lnSpc>
                <a:spcPct val="90000"/>
              </a:lnSpc>
            </a:pPr>
            <a:endParaRPr lang="en-US" sz="825" b="1">
              <a:latin typeface="Arial" charset="0"/>
            </a:endParaRPr>
          </a:p>
        </p:txBody>
      </p:sp>
      <p:sp>
        <p:nvSpPr>
          <p:cNvPr id="75781" name="Rectangle 5"/>
          <p:cNvSpPr>
            <a:spLocks noChangeArrowheads="1"/>
          </p:cNvSpPr>
          <p:nvPr/>
        </p:nvSpPr>
        <p:spPr bwMode="auto">
          <a:xfrm>
            <a:off x="3763567" y="2884885"/>
            <a:ext cx="1207294" cy="732234"/>
          </a:xfrm>
          <a:prstGeom prst="rect">
            <a:avLst/>
          </a:prstGeom>
          <a:noFill/>
          <a:ln w="25400">
            <a:solidFill>
              <a:srgbClr val="6665B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69652" tIns="34826" rIns="69652" bIns="34826" anchor="ctr"/>
          <a:lstStyle/>
          <a:p>
            <a:pPr algn="ctr" defTabSz="686991">
              <a:lnSpc>
                <a:spcPct val="90000"/>
              </a:lnSpc>
            </a:pPr>
            <a:r>
              <a:rPr lang="en-US" sz="1725" b="1" dirty="0">
                <a:latin typeface="Arial" charset="0"/>
              </a:rPr>
              <a:t>PSP2</a:t>
            </a:r>
          </a:p>
          <a:p>
            <a:pPr algn="ctr" defTabSz="686991">
              <a:lnSpc>
                <a:spcPct val="90000"/>
              </a:lnSpc>
            </a:pPr>
            <a:r>
              <a:rPr lang="en-US" sz="825" b="1" dirty="0">
                <a:latin typeface="Arial" charset="0"/>
              </a:rPr>
              <a:t>Code reviews</a:t>
            </a:r>
          </a:p>
          <a:p>
            <a:pPr algn="ctr" defTabSz="686991">
              <a:lnSpc>
                <a:spcPct val="90000"/>
              </a:lnSpc>
            </a:pPr>
            <a:r>
              <a:rPr lang="en-US" sz="825" b="1" dirty="0">
                <a:latin typeface="Arial" charset="0"/>
              </a:rPr>
              <a:t>Design reviews</a:t>
            </a:r>
          </a:p>
        </p:txBody>
      </p:sp>
      <p:sp>
        <p:nvSpPr>
          <p:cNvPr id="75782" name="Rectangle 6"/>
          <p:cNvSpPr>
            <a:spLocks noChangeArrowheads="1"/>
          </p:cNvSpPr>
          <p:nvPr/>
        </p:nvSpPr>
        <p:spPr bwMode="auto">
          <a:xfrm>
            <a:off x="4470799" y="1970485"/>
            <a:ext cx="1326356" cy="665559"/>
          </a:xfrm>
          <a:prstGeom prst="rect">
            <a:avLst/>
          </a:prstGeom>
          <a:noFill/>
          <a:ln w="25400">
            <a:solidFill>
              <a:srgbClr val="8988B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69652" tIns="34826" rIns="69652" bIns="34826" anchor="ctr"/>
          <a:lstStyle/>
          <a:p>
            <a:pPr algn="ctr" defTabSz="686991">
              <a:lnSpc>
                <a:spcPct val="90000"/>
              </a:lnSpc>
            </a:pPr>
            <a:r>
              <a:rPr lang="en-US" sz="1725" b="1">
                <a:latin typeface="Arial" charset="0"/>
              </a:rPr>
              <a:t>PSP3</a:t>
            </a:r>
            <a:endParaRPr lang="en-US" sz="825" b="1">
              <a:latin typeface="Arial" charset="0"/>
            </a:endParaRPr>
          </a:p>
          <a:p>
            <a:pPr algn="ctr" defTabSz="686991">
              <a:lnSpc>
                <a:spcPct val="90000"/>
              </a:lnSpc>
            </a:pPr>
            <a:r>
              <a:rPr lang="en-US" sz="825" b="1">
                <a:latin typeface="Arial" charset="0"/>
              </a:rPr>
              <a:t>Cyclic development</a:t>
            </a:r>
          </a:p>
          <a:p>
            <a:pPr algn="ctr" defTabSz="686991">
              <a:lnSpc>
                <a:spcPct val="90000"/>
              </a:lnSpc>
            </a:pPr>
            <a:endParaRPr lang="en-US" sz="825" b="1">
              <a:latin typeface="Arial" charset="0"/>
            </a:endParaRPr>
          </a:p>
        </p:txBody>
      </p:sp>
      <p:sp>
        <p:nvSpPr>
          <p:cNvPr id="75783" name="Rectangle 7"/>
          <p:cNvSpPr>
            <a:spLocks noChangeArrowheads="1"/>
          </p:cNvSpPr>
          <p:nvPr/>
        </p:nvSpPr>
        <p:spPr bwMode="auto">
          <a:xfrm>
            <a:off x="4920854" y="2820591"/>
            <a:ext cx="1304925" cy="719138"/>
          </a:xfrm>
          <a:prstGeom prst="rect">
            <a:avLst/>
          </a:prstGeom>
          <a:solidFill>
            <a:srgbClr val="6665B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69652" tIns="34826" rIns="69652" bIns="34826" anchor="ctr"/>
          <a:lstStyle/>
          <a:p>
            <a:pPr algn="ctr" defTabSz="686991">
              <a:lnSpc>
                <a:spcPct val="90000"/>
              </a:lnSpc>
            </a:pPr>
            <a:r>
              <a:rPr lang="en-US" sz="1725" b="1">
                <a:latin typeface="Arial" charset="0"/>
              </a:rPr>
              <a:t>PSP2.1</a:t>
            </a:r>
            <a:endParaRPr lang="en-US" sz="825" b="1">
              <a:latin typeface="Arial" charset="0"/>
            </a:endParaRPr>
          </a:p>
          <a:p>
            <a:pPr algn="ctr" defTabSz="686991">
              <a:lnSpc>
                <a:spcPct val="90000"/>
              </a:lnSpc>
            </a:pPr>
            <a:r>
              <a:rPr lang="en-US" sz="825" b="1">
                <a:latin typeface="Arial" charset="0"/>
              </a:rPr>
              <a:t>Design templates</a:t>
            </a:r>
          </a:p>
        </p:txBody>
      </p:sp>
      <p:sp>
        <p:nvSpPr>
          <p:cNvPr id="75784" name="Rectangle 8"/>
          <p:cNvSpPr>
            <a:spLocks noChangeArrowheads="1"/>
          </p:cNvSpPr>
          <p:nvPr/>
        </p:nvSpPr>
        <p:spPr bwMode="auto">
          <a:xfrm>
            <a:off x="4224339" y="3717131"/>
            <a:ext cx="1278731" cy="704850"/>
          </a:xfrm>
          <a:prstGeom prst="rect">
            <a:avLst/>
          </a:prstGeom>
          <a:solidFill>
            <a:srgbClr val="4747B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69652" tIns="34826" rIns="69652" bIns="34826" anchor="ctr"/>
          <a:lstStyle/>
          <a:p>
            <a:pPr algn="ctr" defTabSz="686991">
              <a:lnSpc>
                <a:spcPct val="90000"/>
              </a:lnSpc>
            </a:pPr>
            <a:r>
              <a:rPr lang="en-US" sz="1725" b="1">
                <a:latin typeface="Arial" charset="0"/>
              </a:rPr>
              <a:t>PSP1.1</a:t>
            </a:r>
            <a:endParaRPr lang="en-US" sz="825" b="1">
              <a:latin typeface="Arial" charset="0"/>
            </a:endParaRPr>
          </a:p>
          <a:p>
            <a:pPr algn="ctr" defTabSz="686991">
              <a:lnSpc>
                <a:spcPct val="90000"/>
              </a:lnSpc>
            </a:pPr>
            <a:r>
              <a:rPr lang="en-US" sz="825" b="1">
                <a:latin typeface="Arial" charset="0"/>
              </a:rPr>
              <a:t>Task planning</a:t>
            </a:r>
          </a:p>
          <a:p>
            <a:pPr algn="ctr" defTabSz="686991">
              <a:lnSpc>
                <a:spcPct val="90000"/>
              </a:lnSpc>
            </a:pPr>
            <a:r>
              <a:rPr lang="en-US" sz="825" b="1">
                <a:latin typeface="Arial" charset="0"/>
              </a:rPr>
              <a:t>Schedule planning</a:t>
            </a:r>
          </a:p>
        </p:txBody>
      </p:sp>
      <p:sp>
        <p:nvSpPr>
          <p:cNvPr id="75785" name="Rectangle 9"/>
          <p:cNvSpPr>
            <a:spLocks noChangeArrowheads="1"/>
          </p:cNvSpPr>
          <p:nvPr/>
        </p:nvSpPr>
        <p:spPr bwMode="auto">
          <a:xfrm>
            <a:off x="3546872" y="4607720"/>
            <a:ext cx="1423988" cy="770335"/>
          </a:xfrm>
          <a:prstGeom prst="rect">
            <a:avLst/>
          </a:prstGeom>
          <a:solidFill>
            <a:schemeClr val="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50800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69652" tIns="34826" rIns="69652" bIns="34826" anchor="ctr"/>
          <a:lstStyle/>
          <a:p>
            <a:pPr algn="ctr" defTabSz="686991">
              <a:lnSpc>
                <a:spcPct val="90000"/>
              </a:lnSpc>
            </a:pPr>
            <a:r>
              <a:rPr lang="en-US" sz="1725" b="1">
                <a:latin typeface="Arial" charset="0"/>
              </a:rPr>
              <a:t>PSP0.1</a:t>
            </a:r>
          </a:p>
          <a:p>
            <a:pPr algn="ctr" defTabSz="686991">
              <a:lnSpc>
                <a:spcPct val="90000"/>
              </a:lnSpc>
            </a:pPr>
            <a:r>
              <a:rPr lang="en-US" sz="825" b="1">
                <a:latin typeface="Arial" charset="0"/>
              </a:rPr>
              <a:t>Coding standard</a:t>
            </a:r>
          </a:p>
          <a:p>
            <a:pPr algn="ctr" defTabSz="686991">
              <a:lnSpc>
                <a:spcPct val="90000"/>
              </a:lnSpc>
            </a:pPr>
            <a:r>
              <a:rPr lang="en-US" sz="825" b="1">
                <a:latin typeface="Arial" charset="0"/>
              </a:rPr>
              <a:t>Size  measurement</a:t>
            </a:r>
          </a:p>
          <a:p>
            <a:pPr algn="ctr" defTabSz="686991">
              <a:lnSpc>
                <a:spcPct val="90000"/>
              </a:lnSpc>
            </a:pPr>
            <a:r>
              <a:rPr lang="en-US" sz="825" b="1">
                <a:latin typeface="Arial" charset="0"/>
              </a:rPr>
              <a:t>Process improvement</a:t>
            </a:r>
          </a:p>
          <a:p>
            <a:pPr algn="ctr" defTabSz="686991">
              <a:lnSpc>
                <a:spcPct val="90000"/>
              </a:lnSpc>
            </a:pPr>
            <a:r>
              <a:rPr lang="en-US" sz="825" b="1">
                <a:latin typeface="Arial" charset="0"/>
              </a:rPr>
              <a:t>proposal (PIP)</a:t>
            </a:r>
          </a:p>
        </p:txBody>
      </p:sp>
      <p:sp>
        <p:nvSpPr>
          <p:cNvPr id="75786" name="Arc 10"/>
          <p:cNvSpPr>
            <a:spLocks/>
          </p:cNvSpPr>
          <p:nvPr/>
        </p:nvSpPr>
        <p:spPr bwMode="auto">
          <a:xfrm>
            <a:off x="2439592" y="4243388"/>
            <a:ext cx="578644" cy="514350"/>
          </a:xfrm>
          <a:custGeom>
            <a:avLst/>
            <a:gdLst>
              <a:gd name="G0" fmla="+- 21600 0 0"/>
              <a:gd name="G1" fmla="+- 21600 0 0"/>
              <a:gd name="G2" fmla="+- 21600 0 0"/>
              <a:gd name="T0" fmla="*/ 0 w 21600"/>
              <a:gd name="T1" fmla="*/ 21600 h 21600"/>
              <a:gd name="T2" fmla="*/ 21550 w 21600"/>
              <a:gd name="T3" fmla="*/ 0 h 21600"/>
              <a:gd name="T4" fmla="*/ 21600 w 21600"/>
              <a:gd name="T5" fmla="*/ 216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600" h="21600" fill="none" extrusionOk="0">
                <a:moveTo>
                  <a:pt x="0" y="21600"/>
                </a:moveTo>
                <a:cubicBezTo>
                  <a:pt x="0" y="9690"/>
                  <a:pt x="9640" y="27"/>
                  <a:pt x="21550" y="0"/>
                </a:cubicBezTo>
              </a:path>
              <a:path w="21600" h="21600" stroke="0" extrusionOk="0">
                <a:moveTo>
                  <a:pt x="0" y="21600"/>
                </a:moveTo>
                <a:cubicBezTo>
                  <a:pt x="0" y="9690"/>
                  <a:pt x="9640" y="27"/>
                  <a:pt x="21550" y="0"/>
                </a:cubicBezTo>
                <a:lnTo>
                  <a:pt x="21600" y="21600"/>
                </a:lnTo>
                <a:close/>
              </a:path>
            </a:pathLst>
          </a:custGeom>
          <a:noFill/>
          <a:ln w="50800" cap="rnd">
            <a:solidFill>
              <a:schemeClr val="folHlink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sz="1350"/>
          </a:p>
        </p:txBody>
      </p:sp>
      <p:sp>
        <p:nvSpPr>
          <p:cNvPr id="75787" name="Arc 11"/>
          <p:cNvSpPr>
            <a:spLocks/>
          </p:cNvSpPr>
          <p:nvPr/>
        </p:nvSpPr>
        <p:spPr bwMode="auto">
          <a:xfrm>
            <a:off x="3148014" y="3323035"/>
            <a:ext cx="578644" cy="514350"/>
          </a:xfrm>
          <a:custGeom>
            <a:avLst/>
            <a:gdLst>
              <a:gd name="G0" fmla="+- 21600 0 0"/>
              <a:gd name="G1" fmla="+- 21600 0 0"/>
              <a:gd name="G2" fmla="+- 21600 0 0"/>
              <a:gd name="T0" fmla="*/ 0 w 21600"/>
              <a:gd name="T1" fmla="*/ 21600 h 21600"/>
              <a:gd name="T2" fmla="*/ 21550 w 21600"/>
              <a:gd name="T3" fmla="*/ 0 h 21600"/>
              <a:gd name="T4" fmla="*/ 21600 w 21600"/>
              <a:gd name="T5" fmla="*/ 216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600" h="21600" fill="none" extrusionOk="0">
                <a:moveTo>
                  <a:pt x="0" y="21600"/>
                </a:moveTo>
                <a:cubicBezTo>
                  <a:pt x="0" y="9690"/>
                  <a:pt x="9640" y="27"/>
                  <a:pt x="21550" y="0"/>
                </a:cubicBezTo>
              </a:path>
              <a:path w="21600" h="21600" stroke="0" extrusionOk="0">
                <a:moveTo>
                  <a:pt x="0" y="21600"/>
                </a:moveTo>
                <a:cubicBezTo>
                  <a:pt x="0" y="9690"/>
                  <a:pt x="9640" y="27"/>
                  <a:pt x="21550" y="0"/>
                </a:cubicBezTo>
                <a:lnTo>
                  <a:pt x="21600" y="21600"/>
                </a:lnTo>
                <a:close/>
              </a:path>
            </a:pathLst>
          </a:custGeom>
          <a:noFill/>
          <a:ln w="50800" cap="rnd">
            <a:solidFill>
              <a:schemeClr val="folHlink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sz="1350"/>
          </a:p>
        </p:txBody>
      </p:sp>
      <p:sp>
        <p:nvSpPr>
          <p:cNvPr id="75788" name="Arc 12"/>
          <p:cNvSpPr>
            <a:spLocks/>
          </p:cNvSpPr>
          <p:nvPr/>
        </p:nvSpPr>
        <p:spPr bwMode="auto">
          <a:xfrm>
            <a:off x="3855245" y="2358629"/>
            <a:ext cx="578644" cy="514350"/>
          </a:xfrm>
          <a:custGeom>
            <a:avLst/>
            <a:gdLst>
              <a:gd name="G0" fmla="+- 21600 0 0"/>
              <a:gd name="G1" fmla="+- 21600 0 0"/>
              <a:gd name="G2" fmla="+- 21600 0 0"/>
              <a:gd name="T0" fmla="*/ 0 w 21600"/>
              <a:gd name="T1" fmla="*/ 21600 h 21600"/>
              <a:gd name="T2" fmla="*/ 21550 w 21600"/>
              <a:gd name="T3" fmla="*/ 0 h 21600"/>
              <a:gd name="T4" fmla="*/ 21600 w 21600"/>
              <a:gd name="T5" fmla="*/ 216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600" h="21600" fill="none" extrusionOk="0">
                <a:moveTo>
                  <a:pt x="0" y="21600"/>
                </a:moveTo>
                <a:cubicBezTo>
                  <a:pt x="0" y="9690"/>
                  <a:pt x="9640" y="27"/>
                  <a:pt x="21550" y="0"/>
                </a:cubicBezTo>
              </a:path>
              <a:path w="21600" h="21600" stroke="0" extrusionOk="0">
                <a:moveTo>
                  <a:pt x="0" y="21600"/>
                </a:moveTo>
                <a:cubicBezTo>
                  <a:pt x="0" y="9690"/>
                  <a:pt x="9640" y="27"/>
                  <a:pt x="21550" y="0"/>
                </a:cubicBezTo>
                <a:lnTo>
                  <a:pt x="21600" y="21600"/>
                </a:lnTo>
                <a:close/>
              </a:path>
            </a:pathLst>
          </a:custGeom>
          <a:noFill/>
          <a:ln w="50800" cap="rnd">
            <a:solidFill>
              <a:schemeClr val="folHlink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sz="1350"/>
          </a:p>
        </p:txBody>
      </p:sp>
    </p:spTree>
    <p:extLst>
      <p:ext uri="{BB962C8B-B14F-4D97-AF65-F5344CB8AC3E}">
        <p14:creationId xmlns:p14="http://schemas.microsoft.com/office/powerpoint/2010/main" val="2309272305"/>
      </p:ext>
    </p:extLst>
  </p:cSld>
  <p:clrMapOvr>
    <a:masterClrMapping/>
  </p:clrMapOvr>
  <p:transition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/>
          <p:cNvSpPr>
            <a:spLocks noGrp="1" noChangeArrowheads="1"/>
          </p:cNvSpPr>
          <p:nvPr>
            <p:ph type="title"/>
          </p:nvPr>
        </p:nvSpPr>
        <p:spPr>
          <a:xfrm>
            <a:off x="474286" y="947568"/>
            <a:ext cx="7886700" cy="751322"/>
          </a:xfrm>
        </p:spPr>
        <p:txBody>
          <a:bodyPr>
            <a:normAutofit/>
          </a:bodyPr>
          <a:lstStyle/>
          <a:p>
            <a:pPr algn="l"/>
            <a:r>
              <a:rPr lang="en-US" sz="2400" b="1" dirty="0">
                <a:latin typeface="+mn-lt"/>
                <a:cs typeface="Times New Roman" charset="0"/>
              </a:rPr>
              <a:t> PSP - 0</a:t>
            </a:r>
          </a:p>
        </p:txBody>
      </p:sp>
      <p:sp>
        <p:nvSpPr>
          <p:cNvPr id="39939" name="Rectangle 3"/>
          <p:cNvSpPr>
            <a:spLocks noGrp="1" noChangeArrowheads="1"/>
          </p:cNvSpPr>
          <p:nvPr>
            <p:ph idx="1"/>
          </p:nvPr>
        </p:nvSpPr>
        <p:spPr>
          <a:xfrm>
            <a:off x="628650" y="1933830"/>
            <a:ext cx="7886700" cy="994172"/>
          </a:xfrm>
        </p:spPr>
        <p:txBody>
          <a:bodyPr/>
          <a:lstStyle/>
          <a:p>
            <a:r>
              <a:rPr lang="en-US" sz="1350" dirty="0">
                <a:cs typeface="Times New Roman" charset="0"/>
              </a:rPr>
              <a:t>The PSP0 process is a </a:t>
            </a:r>
            <a:r>
              <a:rPr lang="en-US" sz="1350" dirty="0">
                <a:solidFill>
                  <a:srgbClr val="FF0000"/>
                </a:solidFill>
                <a:cs typeface="Times New Roman" charset="0"/>
              </a:rPr>
              <a:t>simple defined personal process</a:t>
            </a:r>
            <a:r>
              <a:rPr lang="en-US" sz="1350" dirty="0">
                <a:cs typeface="Times New Roman" charset="0"/>
              </a:rPr>
              <a:t>. </a:t>
            </a:r>
          </a:p>
          <a:p>
            <a:r>
              <a:rPr lang="en-US" sz="1350" dirty="0">
                <a:cs typeface="Times New Roman" charset="0"/>
              </a:rPr>
              <a:t>In using PSP0, your principal objective is </a:t>
            </a:r>
            <a:r>
              <a:rPr lang="en-US" sz="1350" dirty="0">
                <a:solidFill>
                  <a:srgbClr val="FF0000"/>
                </a:solidFill>
                <a:cs typeface="Times New Roman" charset="0"/>
              </a:rPr>
              <a:t>to gather and report accurate and complete data on your work</a:t>
            </a:r>
            <a:r>
              <a:rPr lang="en-US" sz="1350" dirty="0">
                <a:cs typeface="Times New Roman" charset="0"/>
              </a:rPr>
              <a:t>. </a:t>
            </a:r>
          </a:p>
          <a:p>
            <a:endParaRPr lang="en-US" sz="180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24B2-FF84-4F63-B672-006DD0FA1851}" type="slidenum">
              <a:rPr lang="en-US"/>
              <a:pPr/>
              <a:t>20</a:t>
            </a:fld>
            <a:endParaRPr lang="en-US"/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C8DBF9FC-399F-6744-5F77-782F17230917}"/>
              </a:ext>
            </a:extLst>
          </p:cNvPr>
          <p:cNvSpPr txBox="1">
            <a:spLocks noChangeArrowheads="1"/>
          </p:cNvSpPr>
          <p:nvPr/>
        </p:nvSpPr>
        <p:spPr>
          <a:xfrm>
            <a:off x="474286" y="2931319"/>
            <a:ext cx="7886700" cy="994172"/>
          </a:xfrm>
          <a:prstGeom prst="rect">
            <a:avLst/>
          </a:prstGeom>
        </p:spPr>
        <p:txBody>
          <a:bodyPr vert="horz" lIns="68580" tIns="34290" rIns="68580" bIns="3429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400" b="1" dirty="0">
                <a:latin typeface="+mn-lt"/>
                <a:cs typeface="Times New Roman" charset="0"/>
              </a:rPr>
              <a:t> PSP - 0.1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DB9F9C5-3E93-44AA-658D-63CE94194347}"/>
              </a:ext>
            </a:extLst>
          </p:cNvPr>
          <p:cNvSpPr txBox="1"/>
          <p:nvPr/>
        </p:nvSpPr>
        <p:spPr>
          <a:xfrm>
            <a:off x="783014" y="3764705"/>
            <a:ext cx="7651619" cy="11310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14313" indent="-214313">
              <a:buFont typeface="Arial" panose="020B0604020202020204" pitchFamily="34" charset="0"/>
              <a:buChar char="•"/>
            </a:pPr>
            <a:r>
              <a:rPr lang="en-US" sz="1350" dirty="0">
                <a:solidFill>
                  <a:srgbClr val="FF0000"/>
                </a:solidFill>
                <a:cs typeface="Times New Roman" charset="0"/>
              </a:rPr>
              <a:t>PSP0 is enhanced to PSP0.1 </a:t>
            </a:r>
            <a:r>
              <a:rPr lang="en-US" sz="1350" dirty="0">
                <a:cs typeface="Times New Roman" charset="0"/>
              </a:rPr>
              <a:t>by adding a coding standard, size measurement, and the </a:t>
            </a:r>
            <a:r>
              <a:rPr lang="en-US" sz="1350" dirty="0">
                <a:solidFill>
                  <a:srgbClr val="FF0000"/>
                </a:solidFill>
                <a:cs typeface="Times New Roman" charset="0"/>
              </a:rPr>
              <a:t>process improvement proposal (PIP). </a:t>
            </a:r>
          </a:p>
          <a:p>
            <a:pPr marL="214313" indent="-214313">
              <a:buFont typeface="Arial" panose="020B0604020202020204" pitchFamily="34" charset="0"/>
              <a:buChar char="•"/>
            </a:pPr>
            <a:r>
              <a:rPr lang="en-US" sz="1350" dirty="0">
                <a:cs typeface="Times New Roman" charset="0"/>
              </a:rPr>
              <a:t>The PIP </a:t>
            </a:r>
            <a:r>
              <a:rPr lang="en-US" sz="1350" dirty="0">
                <a:solidFill>
                  <a:srgbClr val="FF0000"/>
                </a:solidFill>
                <a:cs typeface="Times New Roman" charset="0"/>
              </a:rPr>
              <a:t>is used to record process improvement ideas </a:t>
            </a:r>
            <a:r>
              <a:rPr lang="en-US" sz="1350" dirty="0">
                <a:cs typeface="Times New Roman" charset="0"/>
              </a:rPr>
              <a:t>and is </a:t>
            </a:r>
            <a:r>
              <a:rPr lang="en-US" sz="1350" dirty="0">
                <a:solidFill>
                  <a:srgbClr val="FF0000"/>
                </a:solidFill>
                <a:cs typeface="Times New Roman" charset="0"/>
              </a:rPr>
              <a:t>also used to record findings and comments on each project. </a:t>
            </a:r>
          </a:p>
          <a:p>
            <a:pPr marL="214313" indent="-214313">
              <a:buFont typeface="Arial" panose="020B0604020202020204" pitchFamily="34" charset="0"/>
              <a:buChar char="•"/>
            </a:pPr>
            <a:r>
              <a:rPr lang="en-US" sz="1350" dirty="0">
                <a:solidFill>
                  <a:srgbClr val="FF0000"/>
                </a:solidFill>
                <a:cs typeface="Times New Roman" charset="0"/>
              </a:rPr>
              <a:t>Program size is calculated before development, after development and to date</a:t>
            </a:r>
            <a:r>
              <a:rPr lang="en-US" sz="1350" dirty="0">
                <a:cs typeface="Times New Roman" charset="0"/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292683659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1026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sz="2400" b="1" dirty="0">
                <a:latin typeface="+mn-lt"/>
                <a:cs typeface="Times New Roman" charset="0"/>
              </a:rPr>
              <a:t>PSP - 1</a:t>
            </a:r>
          </a:p>
        </p:txBody>
      </p:sp>
      <p:sp>
        <p:nvSpPr>
          <p:cNvPr id="41987" name="Rectangle 1027"/>
          <p:cNvSpPr>
            <a:spLocks noGrp="1" noChangeArrowheads="1"/>
          </p:cNvSpPr>
          <p:nvPr>
            <p:ph idx="1"/>
          </p:nvPr>
        </p:nvSpPr>
        <p:spPr>
          <a:xfrm>
            <a:off x="784190" y="2135764"/>
            <a:ext cx="7886700" cy="872003"/>
          </a:xfrm>
        </p:spPr>
        <p:txBody>
          <a:bodyPr>
            <a:normAutofit/>
          </a:bodyPr>
          <a:lstStyle/>
          <a:p>
            <a:r>
              <a:rPr lang="en-US" sz="1500" dirty="0">
                <a:solidFill>
                  <a:srgbClr val="FF0000"/>
                </a:solidFill>
                <a:cs typeface="Times New Roman" charset="0"/>
              </a:rPr>
              <a:t>PSP1</a:t>
            </a:r>
            <a:r>
              <a:rPr lang="en-US" sz="1500" dirty="0">
                <a:cs typeface="Times New Roman" charset="0"/>
              </a:rPr>
              <a:t> adds </a:t>
            </a:r>
            <a:r>
              <a:rPr lang="en-US" sz="1500" dirty="0">
                <a:solidFill>
                  <a:srgbClr val="FF0000"/>
                </a:solidFill>
                <a:cs typeface="Times New Roman" charset="0"/>
              </a:rPr>
              <a:t>size estimating </a:t>
            </a:r>
            <a:r>
              <a:rPr lang="en-US" sz="1500" dirty="0">
                <a:cs typeface="Times New Roman" charset="0"/>
              </a:rPr>
              <a:t>and </a:t>
            </a:r>
            <a:r>
              <a:rPr lang="en-US" sz="1500" dirty="0">
                <a:solidFill>
                  <a:srgbClr val="FF0000"/>
                </a:solidFill>
                <a:cs typeface="Times New Roman" charset="0"/>
              </a:rPr>
              <a:t>planning steps </a:t>
            </a:r>
            <a:r>
              <a:rPr lang="en-US" sz="1500" dirty="0">
                <a:cs typeface="Times New Roman" charset="0"/>
              </a:rPr>
              <a:t>to </a:t>
            </a:r>
            <a:r>
              <a:rPr lang="en-US" sz="1500" dirty="0">
                <a:solidFill>
                  <a:srgbClr val="FF0000"/>
                </a:solidFill>
                <a:cs typeface="Times New Roman" charset="0"/>
              </a:rPr>
              <a:t>PSP0.</a:t>
            </a:r>
            <a:r>
              <a:rPr lang="en-US" sz="1500" dirty="0">
                <a:cs typeface="Times New Roman" charset="0"/>
              </a:rPr>
              <a:t> </a:t>
            </a:r>
          </a:p>
          <a:p>
            <a:r>
              <a:rPr lang="en-US" sz="1500" dirty="0">
                <a:solidFill>
                  <a:srgbClr val="FF0000"/>
                </a:solidFill>
                <a:cs typeface="Times New Roman" charset="0"/>
              </a:rPr>
              <a:t>LOC/hour (line of code per hour), size estimating calculations and actual size estimates are added to the Project plan summary.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0C182B-DFE1-43F2-9B39-7639A58E3C57}" type="slidenum">
              <a:rPr lang="en-US"/>
              <a:pPr/>
              <a:t>21</a:t>
            </a:fld>
            <a:endParaRPr lang="en-US"/>
          </a:p>
        </p:txBody>
      </p:sp>
      <p:sp>
        <p:nvSpPr>
          <p:cNvPr id="2" name="Rectangle 1026">
            <a:extLst>
              <a:ext uri="{FF2B5EF4-FFF2-40B4-BE49-F238E27FC236}">
                <a16:creationId xmlns:a16="http://schemas.microsoft.com/office/drawing/2014/main" id="{AFF16B8E-D4A1-38BD-E35D-E084E2BF1AAC}"/>
              </a:ext>
            </a:extLst>
          </p:cNvPr>
          <p:cNvSpPr txBox="1">
            <a:spLocks noChangeArrowheads="1"/>
          </p:cNvSpPr>
          <p:nvPr/>
        </p:nvSpPr>
        <p:spPr>
          <a:xfrm>
            <a:off x="628650" y="2820789"/>
            <a:ext cx="7886700" cy="994172"/>
          </a:xfrm>
          <a:prstGeom prst="rect">
            <a:avLst/>
          </a:prstGeom>
        </p:spPr>
        <p:txBody>
          <a:bodyPr vert="horz" lIns="68580" tIns="34290" rIns="68580" bIns="3429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400" b="1" dirty="0">
                <a:latin typeface="+mn-lt"/>
                <a:cs typeface="Times New Roman" charset="0"/>
              </a:rPr>
              <a:t>PSP - 1.1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07927C7-D4DE-B596-53AC-0737DBE62C7C}"/>
              </a:ext>
            </a:extLst>
          </p:cNvPr>
          <p:cNvSpPr txBox="1"/>
          <p:nvPr/>
        </p:nvSpPr>
        <p:spPr>
          <a:xfrm>
            <a:off x="784192" y="3791530"/>
            <a:ext cx="7886699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14313" indent="-214313">
              <a:buFont typeface="Arial" panose="020B0604020202020204" pitchFamily="34" charset="0"/>
              <a:buChar char="•"/>
            </a:pPr>
            <a:r>
              <a:rPr lang="en-US" sz="1350" dirty="0">
                <a:cs typeface="Times New Roman" charset="0"/>
              </a:rPr>
              <a:t>In </a:t>
            </a:r>
            <a:r>
              <a:rPr lang="en-US" sz="1350" dirty="0">
                <a:solidFill>
                  <a:srgbClr val="FF0000"/>
                </a:solidFill>
                <a:cs typeface="Times New Roman" charset="0"/>
              </a:rPr>
              <a:t>PSP1.1</a:t>
            </a:r>
            <a:r>
              <a:rPr lang="en-US" sz="1350" dirty="0">
                <a:cs typeface="Times New Roman" charset="0"/>
              </a:rPr>
              <a:t>, </a:t>
            </a:r>
            <a:r>
              <a:rPr lang="en-US" sz="1350" dirty="0">
                <a:solidFill>
                  <a:srgbClr val="FF0000"/>
                </a:solidFill>
                <a:cs typeface="Times New Roman" charset="0"/>
              </a:rPr>
              <a:t>schedule planning(time </a:t>
            </a:r>
            <a:r>
              <a:rPr lang="en-US" sz="1350" dirty="0" err="1">
                <a:solidFill>
                  <a:srgbClr val="FF0000"/>
                </a:solidFill>
                <a:cs typeface="Times New Roman" charset="0"/>
              </a:rPr>
              <a:t>managment</a:t>
            </a:r>
            <a:r>
              <a:rPr lang="en-US" sz="1350" dirty="0">
                <a:solidFill>
                  <a:srgbClr val="FF0000"/>
                </a:solidFill>
                <a:cs typeface="Times New Roman" charset="0"/>
              </a:rPr>
              <a:t>) </a:t>
            </a:r>
            <a:r>
              <a:rPr lang="en-US" sz="1350" dirty="0">
                <a:cs typeface="Times New Roman" charset="0"/>
              </a:rPr>
              <a:t>are introduced. </a:t>
            </a:r>
          </a:p>
          <a:p>
            <a:pPr marL="214313" indent="-214313">
              <a:buFont typeface="Arial" panose="020B0604020202020204" pitchFamily="34" charset="0"/>
              <a:buChar char="•"/>
            </a:pPr>
            <a:r>
              <a:rPr lang="en-US" sz="1350" dirty="0">
                <a:cs typeface="Times New Roman" charset="0"/>
              </a:rPr>
              <a:t>The PSP is extended  to include resource estimating and schedule estimating. </a:t>
            </a:r>
          </a:p>
        </p:txBody>
      </p:sp>
    </p:spTree>
    <p:extLst>
      <p:ext uri="{BB962C8B-B14F-4D97-AF65-F5344CB8AC3E}">
        <p14:creationId xmlns:p14="http://schemas.microsoft.com/office/powerpoint/2010/main" val="332572546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sz="2400" b="1" dirty="0">
                <a:latin typeface="+mn-lt"/>
                <a:cs typeface="Times New Roman" charset="0"/>
              </a:rPr>
              <a:t>PSP - 2</a:t>
            </a:r>
          </a:p>
        </p:txBody>
      </p:sp>
      <p:sp>
        <p:nvSpPr>
          <p:cNvPr id="44035" name="Rectangle 3"/>
          <p:cNvSpPr>
            <a:spLocks noGrp="1" noChangeArrowheads="1"/>
          </p:cNvSpPr>
          <p:nvPr>
            <p:ph idx="1"/>
          </p:nvPr>
        </p:nvSpPr>
        <p:spPr>
          <a:xfrm>
            <a:off x="748841" y="2035576"/>
            <a:ext cx="7886700" cy="900284"/>
          </a:xfrm>
        </p:spPr>
        <p:txBody>
          <a:bodyPr>
            <a:normAutofit fontScale="85000" lnSpcReduction="10000"/>
          </a:bodyPr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FF0000"/>
                </a:solidFill>
                <a:cs typeface="Times New Roman" charset="0"/>
              </a:rPr>
              <a:t>PSP2</a:t>
            </a:r>
            <a:r>
              <a:rPr lang="en-US" sz="1500" dirty="0">
                <a:cs typeface="Times New Roman" charset="0"/>
              </a:rPr>
              <a:t> adds </a:t>
            </a:r>
            <a:r>
              <a:rPr lang="en-US" sz="1500" dirty="0">
                <a:solidFill>
                  <a:srgbClr val="FF0000"/>
                </a:solidFill>
                <a:cs typeface="Times New Roman" charset="0"/>
              </a:rPr>
              <a:t>code reviews </a:t>
            </a:r>
            <a:r>
              <a:rPr lang="en-US" sz="1500" dirty="0">
                <a:cs typeface="Times New Roman" charset="0"/>
              </a:rPr>
              <a:t>and </a:t>
            </a:r>
            <a:r>
              <a:rPr lang="en-US" sz="1500" dirty="0">
                <a:solidFill>
                  <a:srgbClr val="FF0000"/>
                </a:solidFill>
                <a:cs typeface="Times New Roman" charset="0"/>
              </a:rPr>
              <a:t>design reviews. </a:t>
            </a:r>
          </a:p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FF0000"/>
                </a:solidFill>
                <a:cs typeface="Times New Roman" charset="0"/>
              </a:rPr>
              <a:t>Design and code reviews effectively improve the quality of your programs and save development time.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879A12-B375-4070-86AE-45FEFEFCE485}" type="slidenum">
              <a:rPr lang="en-US"/>
              <a:pPr/>
              <a:t>22</a:t>
            </a:fld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D1E1C9E-C386-E519-0FBD-663126923C74}"/>
              </a:ext>
            </a:extLst>
          </p:cNvPr>
          <p:cNvSpPr txBox="1"/>
          <p:nvPr/>
        </p:nvSpPr>
        <p:spPr>
          <a:xfrm>
            <a:off x="883173" y="3438068"/>
            <a:ext cx="7632177" cy="16182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14313" indent="-214313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350" dirty="0">
                <a:cs typeface="Times New Roman" charset="0"/>
              </a:rPr>
              <a:t>PSP 2.1 addresses </a:t>
            </a:r>
            <a:r>
              <a:rPr lang="en-US" sz="1350" dirty="0">
                <a:solidFill>
                  <a:srgbClr val="FF0000"/>
                </a:solidFill>
                <a:cs typeface="Times New Roman" charset="0"/>
              </a:rPr>
              <a:t>the design process</a:t>
            </a:r>
            <a:r>
              <a:rPr lang="en-US" sz="1350" dirty="0">
                <a:cs typeface="Times New Roman" charset="0"/>
              </a:rPr>
              <a:t>. </a:t>
            </a:r>
          </a:p>
          <a:p>
            <a:pPr marL="214313" indent="-214313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350" dirty="0">
                <a:cs typeface="Times New Roman" charset="0"/>
              </a:rPr>
              <a:t>In PSP2.1, design completeness criteria are established and </a:t>
            </a:r>
            <a:r>
              <a:rPr lang="en-US" sz="1350" dirty="0">
                <a:solidFill>
                  <a:srgbClr val="FF0000"/>
                </a:solidFill>
                <a:cs typeface="Times New Roman" charset="0"/>
              </a:rPr>
              <a:t>various design verification and consistency techniques are examined</a:t>
            </a:r>
            <a:r>
              <a:rPr lang="en-US" sz="1350" dirty="0">
                <a:cs typeface="Times New Roman" charset="0"/>
              </a:rPr>
              <a:t>. </a:t>
            </a:r>
          </a:p>
          <a:p>
            <a:pPr marL="214313" indent="-214313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350" dirty="0">
                <a:cs typeface="Times New Roman" charset="0"/>
              </a:rPr>
              <a:t>Another refinement at level 2.1 is the </a:t>
            </a:r>
            <a:r>
              <a:rPr lang="en-US" sz="1350" dirty="0">
                <a:solidFill>
                  <a:srgbClr val="FF0000"/>
                </a:solidFill>
                <a:cs typeface="Times New Roman" charset="0"/>
              </a:rPr>
              <a:t>use of Design Templates for capturing the design in a systematic fashion.</a:t>
            </a: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533FFA6E-E4DA-1725-366A-1ABFE1B905A5}"/>
              </a:ext>
            </a:extLst>
          </p:cNvPr>
          <p:cNvSpPr txBox="1">
            <a:spLocks noChangeArrowheads="1"/>
          </p:cNvSpPr>
          <p:nvPr/>
        </p:nvSpPr>
        <p:spPr>
          <a:xfrm>
            <a:off x="692282" y="2987558"/>
            <a:ext cx="7886700" cy="519180"/>
          </a:xfrm>
          <a:prstGeom prst="rect">
            <a:avLst/>
          </a:prstGeom>
        </p:spPr>
        <p:txBody>
          <a:bodyPr vert="horz" lIns="68580" tIns="34290" rIns="68580" bIns="3429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100" b="1" dirty="0">
                <a:latin typeface="+mn-lt"/>
                <a:cs typeface="Times New Roman" charset="0"/>
              </a:rPr>
              <a:t>PSP – 2.1</a:t>
            </a:r>
          </a:p>
        </p:txBody>
      </p:sp>
    </p:spTree>
    <p:extLst>
      <p:ext uri="{BB962C8B-B14F-4D97-AF65-F5344CB8AC3E}">
        <p14:creationId xmlns:p14="http://schemas.microsoft.com/office/powerpoint/2010/main" val="51527079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sz="2700" b="1" dirty="0">
                <a:latin typeface="+mn-lt"/>
                <a:cs typeface="Times New Roman" charset="0"/>
              </a:rPr>
              <a:t>PSP - 3</a:t>
            </a:r>
          </a:p>
        </p:txBody>
      </p:sp>
      <p:sp>
        <p:nvSpPr>
          <p:cNvPr id="46083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en-US" sz="1800" dirty="0">
                <a:cs typeface="Times New Roman" charset="0"/>
              </a:rPr>
              <a:t>The </a:t>
            </a:r>
            <a:r>
              <a:rPr lang="en-US" sz="1800" dirty="0">
                <a:solidFill>
                  <a:srgbClr val="FF0000"/>
                </a:solidFill>
                <a:cs typeface="Times New Roman" charset="0"/>
              </a:rPr>
              <a:t>cyclic PSP </a:t>
            </a:r>
            <a:r>
              <a:rPr lang="en-US" sz="1800" dirty="0">
                <a:cs typeface="Times New Roman" charset="0"/>
              </a:rPr>
              <a:t>provides a framework for using a cyclic development strategy to develop large sized programs.</a:t>
            </a:r>
            <a:r>
              <a:rPr lang="en-US" sz="1800" dirty="0"/>
              <a:t> </a:t>
            </a:r>
          </a:p>
          <a:p>
            <a:pPr>
              <a:lnSpc>
                <a:spcPct val="150000"/>
              </a:lnSpc>
            </a:pPr>
            <a:r>
              <a:rPr lang="en-US" sz="1800" dirty="0"/>
              <a:t>Used for larger systems</a:t>
            </a:r>
          </a:p>
          <a:p>
            <a:pPr>
              <a:lnSpc>
                <a:spcPct val="150000"/>
              </a:lnSpc>
            </a:pPr>
            <a:r>
              <a:rPr lang="en-US" sz="1800" dirty="0"/>
              <a:t>Incremental builds</a:t>
            </a:r>
          </a:p>
          <a:p>
            <a:pPr>
              <a:lnSpc>
                <a:spcPct val="150000"/>
              </a:lnSpc>
            </a:pPr>
            <a:r>
              <a:rPr lang="en-US" sz="1800" dirty="0"/>
              <a:t>Each cycle: Design → Code → Test</a:t>
            </a:r>
            <a:endParaRPr lang="en-US" sz="150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48560C-12BA-4B20-BAB2-CEC2C952CDD3}" type="slidenum">
              <a:rPr lang="en-US"/>
              <a:pPr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941473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title"/>
          </p:nvPr>
        </p:nvSpPr>
        <p:spPr>
          <a:xfrm>
            <a:off x="311700" y="756379"/>
            <a:ext cx="7886700" cy="994172"/>
          </a:xfrm>
        </p:spPr>
        <p:txBody>
          <a:bodyPr>
            <a:normAutofit/>
          </a:bodyPr>
          <a:lstStyle/>
          <a:p>
            <a:r>
              <a:rPr lang="en-US" sz="2400" b="1" dirty="0">
                <a:latin typeface="+mn-lt"/>
              </a:rPr>
              <a:t>The benefits of the PSP -1</a:t>
            </a:r>
          </a:p>
        </p:txBody>
      </p:sp>
      <p:sp>
        <p:nvSpPr>
          <p:cNvPr id="23555" name="Rectangle 3"/>
          <p:cNvSpPr>
            <a:spLocks noGrp="1" noChangeArrowheads="1"/>
          </p:cNvSpPr>
          <p:nvPr>
            <p:ph idx="1"/>
          </p:nvPr>
        </p:nvSpPr>
        <p:spPr>
          <a:xfrm>
            <a:off x="311700" y="2009724"/>
            <a:ext cx="8520525" cy="3991026"/>
          </a:xfrm>
        </p:spPr>
        <p:txBody>
          <a:bodyPr>
            <a:normAutofit/>
          </a:bodyPr>
          <a:lstStyle/>
          <a:p>
            <a:pPr algn="just">
              <a:lnSpc>
                <a:spcPct val="90000"/>
              </a:lnSpc>
            </a:pPr>
            <a:r>
              <a:rPr lang="en-US" sz="1800" dirty="0">
                <a:cs typeface="Times New Roman" charset="0"/>
              </a:rPr>
              <a:t>Significantly </a:t>
            </a:r>
            <a:r>
              <a:rPr lang="en-US" sz="1800" dirty="0">
                <a:solidFill>
                  <a:srgbClr val="FF0000"/>
                </a:solidFill>
                <a:cs typeface="Times New Roman" charset="0"/>
              </a:rPr>
              <a:t>improve the estimating and planning ability of engineers</a:t>
            </a:r>
            <a:r>
              <a:rPr lang="en-US" sz="1800" dirty="0">
                <a:cs typeface="Times New Roman" charset="0"/>
              </a:rPr>
              <a:t> while significantly reducing the defects in their products.</a:t>
            </a:r>
            <a:r>
              <a:rPr lang="en-US" sz="1800" dirty="0"/>
              <a:t> </a:t>
            </a:r>
          </a:p>
          <a:p>
            <a:pPr algn="just">
              <a:lnSpc>
                <a:spcPct val="90000"/>
              </a:lnSpc>
            </a:pPr>
            <a:r>
              <a:rPr lang="en-US" sz="1800" dirty="0">
                <a:cs typeface="Times New Roman" charset="0"/>
              </a:rPr>
              <a:t>Provides you with </a:t>
            </a:r>
            <a:r>
              <a:rPr lang="en-US" sz="1800" dirty="0">
                <a:solidFill>
                  <a:srgbClr val="FF0000"/>
                </a:solidFill>
                <a:cs typeface="Times New Roman" charset="0"/>
              </a:rPr>
              <a:t>an insight</a:t>
            </a:r>
            <a:r>
              <a:rPr lang="en-US" sz="1800" dirty="0">
                <a:cs typeface="Times New Roman" charset="0"/>
              </a:rPr>
              <a:t>, to </a:t>
            </a:r>
            <a:r>
              <a:rPr lang="en-US" sz="1800" dirty="0">
                <a:solidFill>
                  <a:srgbClr val="FF0000"/>
                </a:solidFill>
                <a:cs typeface="Times New Roman" charset="0"/>
              </a:rPr>
              <a:t>understand your strengths and weaknesses.</a:t>
            </a:r>
            <a:endParaRPr lang="en-US" sz="1800" dirty="0">
              <a:solidFill>
                <a:srgbClr val="FF0000"/>
              </a:solidFill>
            </a:endParaRPr>
          </a:p>
          <a:p>
            <a:pPr algn="just">
              <a:lnSpc>
                <a:spcPct val="90000"/>
              </a:lnSpc>
            </a:pPr>
            <a:r>
              <a:rPr lang="en-US" sz="1800" dirty="0">
                <a:cs typeface="Times New Roman" charset="0"/>
              </a:rPr>
              <a:t>Gives you ideas to </a:t>
            </a:r>
            <a:r>
              <a:rPr lang="en-US" sz="1800" dirty="0">
                <a:solidFill>
                  <a:srgbClr val="FF0000"/>
                </a:solidFill>
                <a:cs typeface="Times New Roman" charset="0"/>
              </a:rPr>
              <a:t>unconsciously observe your working self </a:t>
            </a:r>
            <a:r>
              <a:rPr lang="en-US" sz="1800" dirty="0">
                <a:cs typeface="Times New Roman" charset="0"/>
              </a:rPr>
              <a:t>and will see many ways </a:t>
            </a:r>
            <a:r>
              <a:rPr lang="en-US" sz="1800" dirty="0">
                <a:solidFill>
                  <a:srgbClr val="FF0000"/>
                </a:solidFill>
                <a:cs typeface="Times New Roman" charset="0"/>
              </a:rPr>
              <a:t>to improve your process and your performance.</a:t>
            </a:r>
          </a:p>
          <a:p>
            <a:pPr algn="just">
              <a:lnSpc>
                <a:spcPct val="90000"/>
              </a:lnSpc>
            </a:pPr>
            <a:r>
              <a:rPr lang="en-US" sz="1800" dirty="0">
                <a:cs typeface="Times New Roman" charset="0"/>
              </a:rPr>
              <a:t>Gives you </a:t>
            </a:r>
            <a:r>
              <a:rPr lang="en-US" sz="1800" dirty="0">
                <a:solidFill>
                  <a:srgbClr val="FF0000"/>
                </a:solidFill>
                <a:cs typeface="Times New Roman" charset="0"/>
              </a:rPr>
              <a:t>an improvement techniques/processes </a:t>
            </a:r>
            <a:r>
              <a:rPr lang="en-US" sz="1800" dirty="0">
                <a:cs typeface="Times New Roman" charset="0"/>
              </a:rPr>
              <a:t>as a defined process provides a language for thinking about your work</a:t>
            </a:r>
          </a:p>
          <a:p>
            <a:pPr algn="just">
              <a:lnSpc>
                <a:spcPct val="90000"/>
              </a:lnSpc>
            </a:pPr>
            <a:r>
              <a:rPr lang="en-US" sz="1800" dirty="0">
                <a:cs typeface="Times New Roman" charset="0"/>
              </a:rPr>
              <a:t>Gives you </a:t>
            </a:r>
            <a:r>
              <a:rPr lang="en-US" sz="1800" dirty="0">
                <a:solidFill>
                  <a:srgbClr val="FF0000"/>
                </a:solidFill>
                <a:cs typeface="Times New Roman" charset="0"/>
              </a:rPr>
              <a:t>personal control</a:t>
            </a:r>
            <a:r>
              <a:rPr lang="en-US" sz="1800" dirty="0">
                <a:cs typeface="Times New Roman" charset="0"/>
              </a:rPr>
              <a:t>, your plans will be more reliable. You will be better able to track your status and will be better able to manage your work. </a:t>
            </a:r>
            <a:r>
              <a:rPr lang="en-US" sz="1800" dirty="0"/>
              <a:t> </a:t>
            </a:r>
          </a:p>
          <a:p>
            <a:pPr algn="just"/>
            <a:r>
              <a:rPr lang="en-US" sz="1800" dirty="0"/>
              <a:t> </a:t>
            </a:r>
            <a:r>
              <a:rPr lang="en-US" sz="1800" dirty="0">
                <a:cs typeface="Times New Roman" charset="0"/>
              </a:rPr>
              <a:t>The PSP process </a:t>
            </a:r>
            <a:r>
              <a:rPr lang="en-US" sz="1800" dirty="0">
                <a:solidFill>
                  <a:srgbClr val="FF0000"/>
                </a:solidFill>
                <a:cs typeface="Times New Roman" charset="0"/>
              </a:rPr>
              <a:t>shows your accomplishments and personal bests</a:t>
            </a:r>
            <a:r>
              <a:rPr lang="en-US" sz="1800" dirty="0">
                <a:cs typeface="Times New Roman" charset="0"/>
              </a:rPr>
              <a:t>. You will recognize your personal bests and will better understand how to repeat them.</a:t>
            </a:r>
          </a:p>
          <a:p>
            <a:pPr algn="just"/>
            <a:r>
              <a:rPr lang="en-US" sz="1800" dirty="0">
                <a:cs typeface="Times New Roman" charset="0"/>
              </a:rPr>
              <a:t>You will see </a:t>
            </a:r>
            <a:r>
              <a:rPr lang="en-US" sz="1800" dirty="0">
                <a:solidFill>
                  <a:srgbClr val="FF0000"/>
                </a:solidFill>
                <a:cs typeface="Times New Roman" charset="0"/>
              </a:rPr>
              <a:t>where and how you have improved</a:t>
            </a:r>
            <a:r>
              <a:rPr lang="en-US" sz="1800" dirty="0">
                <a:cs typeface="Times New Roman" charset="0"/>
              </a:rPr>
              <a:t>.  </a:t>
            </a:r>
          </a:p>
          <a:p>
            <a:pPr algn="just">
              <a:lnSpc>
                <a:spcPct val="90000"/>
              </a:lnSpc>
            </a:pPr>
            <a:endParaRPr lang="en-US" sz="180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7A952C-158A-4579-B381-73CD5E660AD3}" type="slidenum">
              <a:rPr lang="en-US"/>
              <a:pPr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151633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2"/>
          <p:cNvSpPr>
            <a:spLocks noGrp="1" noChangeArrowheads="1"/>
          </p:cNvSpPr>
          <p:nvPr>
            <p:ph type="title"/>
          </p:nvPr>
        </p:nvSpPr>
        <p:spPr>
          <a:xfrm>
            <a:off x="445417" y="737025"/>
            <a:ext cx="7819534" cy="857250"/>
          </a:xfrm>
        </p:spPr>
        <p:txBody>
          <a:bodyPr>
            <a:normAutofit/>
          </a:bodyPr>
          <a:lstStyle/>
          <a:p>
            <a:r>
              <a:rPr lang="en-US" sz="2400" b="1" dirty="0">
                <a:latin typeface="+mn-lt"/>
                <a:cs typeface="Times New Roman" charset="0"/>
              </a:rPr>
              <a:t>When to use / When to avoid using</a:t>
            </a:r>
            <a:r>
              <a:rPr lang="en-US" sz="2400" b="1" dirty="0">
                <a:latin typeface="+mn-lt"/>
              </a:rPr>
              <a:t> the PSP</a:t>
            </a:r>
          </a:p>
        </p:txBody>
      </p:sp>
      <p:sp>
        <p:nvSpPr>
          <p:cNvPr id="50179" name="Rectangle 3"/>
          <p:cNvSpPr>
            <a:spLocks noGrp="1" noChangeArrowheads="1"/>
          </p:cNvSpPr>
          <p:nvPr>
            <p:ph idx="1"/>
          </p:nvPr>
        </p:nvSpPr>
        <p:spPr>
          <a:xfrm>
            <a:off x="575651" y="2052268"/>
            <a:ext cx="8520525" cy="384608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100" b="1" dirty="0"/>
              <a:t>Use when:</a:t>
            </a:r>
          </a:p>
          <a:p>
            <a:pPr lvl="1"/>
            <a:r>
              <a:rPr lang="en-US" sz="2400" dirty="0"/>
              <a:t>You want disciplined improvement</a:t>
            </a:r>
          </a:p>
          <a:p>
            <a:pPr lvl="1"/>
            <a:r>
              <a:rPr lang="en-US" sz="2400" dirty="0"/>
              <a:t>Organization supports process</a:t>
            </a:r>
          </a:p>
          <a:p>
            <a:endParaRPr lang="en-US" sz="2100" dirty="0"/>
          </a:p>
          <a:p>
            <a:pPr marL="0" indent="0">
              <a:buNone/>
            </a:pPr>
            <a:r>
              <a:rPr lang="en-US" sz="2100" b="1" dirty="0"/>
              <a:t>Avoid when:</a:t>
            </a:r>
          </a:p>
          <a:p>
            <a:pPr lvl="1"/>
            <a:r>
              <a:rPr lang="en-US" sz="2400" dirty="0"/>
              <a:t>No management/peer support</a:t>
            </a:r>
            <a:endParaRPr lang="en-US" sz="1400" dirty="0">
              <a:cs typeface="Times New Roman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064104-616A-4C67-9955-C91EA87C69CF}" type="slidenum">
              <a:rPr lang="en-US"/>
              <a:pPr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329736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9264" y="1428681"/>
            <a:ext cx="8875059" cy="4740089"/>
          </a:xfrm>
        </p:spPr>
        <p:txBody>
          <a:bodyPr/>
          <a:lstStyle/>
          <a:p>
            <a:pPr marL="0" indent="0">
              <a:buNone/>
            </a:pPr>
            <a:r>
              <a:rPr lang="en-US" sz="2400" b="1" dirty="0"/>
              <a:t>Team Software Process (TSP)</a:t>
            </a:r>
          </a:p>
          <a:p>
            <a:pPr marL="0" indent="0">
              <a:buNone/>
            </a:pPr>
            <a:endParaRPr lang="en-US" sz="2400" b="1" dirty="0"/>
          </a:p>
          <a:p>
            <a:pPr marL="342900" lvl="1" indent="0">
              <a:lnSpc>
                <a:spcPct val="150000"/>
              </a:lnSpc>
              <a:buNone/>
            </a:pPr>
            <a:r>
              <a:rPr lang="en-US" sz="1200" dirty="0"/>
              <a:t>• </a:t>
            </a:r>
            <a:r>
              <a:rPr lang="en-US" sz="1350" dirty="0"/>
              <a:t>Team-level extension of PSP</a:t>
            </a:r>
          </a:p>
          <a:p>
            <a:pPr marL="342900" lvl="1" indent="0">
              <a:lnSpc>
                <a:spcPct val="150000"/>
              </a:lnSpc>
              <a:buNone/>
            </a:pPr>
            <a:r>
              <a:rPr lang="en-US" sz="1350" dirty="0"/>
              <a:t>• Requires PSP-trained engineers</a:t>
            </a:r>
          </a:p>
          <a:p>
            <a:pPr marL="342900" lvl="1" indent="0">
              <a:lnSpc>
                <a:spcPct val="150000"/>
              </a:lnSpc>
              <a:buNone/>
            </a:pPr>
            <a:r>
              <a:rPr lang="en-US" sz="1350" dirty="0"/>
              <a:t>• Structured teamwork framework</a:t>
            </a:r>
          </a:p>
          <a:p>
            <a:endParaRPr lang="en-US" sz="1350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141778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D1B1FB-2E54-A0EF-BA36-5729E8BE01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1300777"/>
            <a:ext cx="7886700" cy="772532"/>
          </a:xfrm>
        </p:spPr>
        <p:txBody>
          <a:bodyPr>
            <a:normAutofit fontScale="90000"/>
          </a:bodyPr>
          <a:lstStyle/>
          <a:p>
            <a:r>
              <a:rPr lang="en-US" sz="2700" b="1" dirty="0">
                <a:latin typeface="+mn-lt"/>
              </a:rPr>
              <a:t>The Conditions for Teamwork</a:t>
            </a:r>
            <a:br>
              <a:rPr lang="en-US" sz="3300" b="1" dirty="0">
                <a:solidFill>
                  <a:srgbClr val="FF0000"/>
                </a:solidFill>
              </a:rPr>
            </a:b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5E4CCB-4E74-BDDB-4CAC-977FE7E912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3492" y="2073308"/>
            <a:ext cx="7886700" cy="3263504"/>
          </a:xfrm>
        </p:spPr>
        <p:txBody>
          <a:bodyPr>
            <a:normAutofit/>
          </a:bodyPr>
          <a:lstStyle/>
          <a:p>
            <a:pPr indent="-257175">
              <a:lnSpc>
                <a:spcPct val="150000"/>
              </a:lnSpc>
            </a:pPr>
            <a:r>
              <a:rPr lang="en-US" sz="1800" dirty="0"/>
              <a:t>A team consists of at least two people.</a:t>
            </a:r>
          </a:p>
          <a:p>
            <a:pPr indent="-257175">
              <a:lnSpc>
                <a:spcPct val="150000"/>
              </a:lnSpc>
            </a:pPr>
            <a:r>
              <a:rPr lang="en-US" sz="1800" dirty="0"/>
              <a:t>The members are working toward a common goal.</a:t>
            </a:r>
          </a:p>
          <a:p>
            <a:pPr indent="-257175">
              <a:lnSpc>
                <a:spcPct val="150000"/>
              </a:lnSpc>
            </a:pPr>
            <a:r>
              <a:rPr lang="en-US" sz="1800" dirty="0"/>
              <a:t>Each person has a specific assigned role.</a:t>
            </a:r>
          </a:p>
          <a:p>
            <a:pPr indent="-257175">
              <a:lnSpc>
                <a:spcPct val="150000"/>
              </a:lnSpc>
            </a:pPr>
            <a:r>
              <a:rPr lang="en-US" sz="1800" dirty="0"/>
              <a:t>Completion of the mission requires some form of dependency among the group members</a:t>
            </a:r>
          </a:p>
          <a:p>
            <a:pPr>
              <a:lnSpc>
                <a:spcPct val="150000"/>
              </a:lnSpc>
            </a:pPr>
            <a:endParaRPr lang="en-PK" sz="1800" dirty="0"/>
          </a:p>
        </p:txBody>
      </p:sp>
    </p:spTree>
    <p:extLst>
      <p:ext uri="{BB962C8B-B14F-4D97-AF65-F5344CB8AC3E}">
        <p14:creationId xmlns:p14="http://schemas.microsoft.com/office/powerpoint/2010/main" val="99148104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23430"/>
            <a:ext cx="8229600" cy="1143000"/>
          </a:xfrm>
        </p:spPr>
        <p:txBody>
          <a:bodyPr>
            <a:normAutofit/>
          </a:bodyPr>
          <a:lstStyle/>
          <a:p>
            <a:r>
              <a:rPr sz="2400" b="1" dirty="0">
                <a:latin typeface="+mn-lt"/>
              </a:rPr>
              <a:t>Characteristics of Effective Teams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69033" y="2205259"/>
            <a:ext cx="7886700" cy="3263504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sz="1500" dirty="0"/>
              <a:t>• Skilled members</a:t>
            </a:r>
          </a:p>
          <a:p>
            <a:pPr marL="0" indent="0">
              <a:lnSpc>
                <a:spcPct val="150000"/>
              </a:lnSpc>
              <a:buNone/>
            </a:pPr>
            <a:r>
              <a:rPr sz="1500" dirty="0"/>
              <a:t>• Clear goals</a:t>
            </a:r>
          </a:p>
          <a:p>
            <a:pPr marL="0" indent="0">
              <a:lnSpc>
                <a:spcPct val="150000"/>
              </a:lnSpc>
              <a:buNone/>
            </a:pPr>
            <a:r>
              <a:rPr sz="1500" dirty="0"/>
              <a:t>• Discipline</a:t>
            </a:r>
          </a:p>
          <a:p>
            <a:pPr marL="0" indent="0">
              <a:lnSpc>
                <a:spcPct val="150000"/>
              </a:lnSpc>
              <a:buNone/>
            </a:pPr>
            <a:r>
              <a:rPr sz="1500" dirty="0"/>
              <a:t>• Cooperation</a:t>
            </a:r>
          </a:p>
          <a:p>
            <a:pPr marL="0" indent="0">
              <a:lnSpc>
                <a:spcPct val="150000"/>
              </a:lnSpc>
              <a:buNone/>
            </a:pPr>
            <a:r>
              <a:rPr sz="1500" dirty="0"/>
              <a:t>• Motivation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2534" y="559541"/>
            <a:ext cx="8857445" cy="4897192"/>
          </a:xfrm>
        </p:spPr>
        <p:txBody>
          <a:bodyPr/>
          <a:lstStyle/>
          <a:p>
            <a:pPr marL="0" indent="0" algn="ctr">
              <a:buNone/>
            </a:pPr>
            <a:r>
              <a:rPr lang="en-US" b="1" dirty="0"/>
              <a:t>    </a:t>
            </a:r>
            <a:r>
              <a:rPr lang="en-US" sz="2400" b="1" dirty="0"/>
              <a:t>TSP Structure</a:t>
            </a:r>
          </a:p>
          <a:p>
            <a:pPr marL="0" indent="0">
              <a:buNone/>
            </a:pPr>
            <a:endParaRPr lang="en-US" sz="2400" dirty="0">
              <a:solidFill>
                <a:srgbClr val="FF0000"/>
              </a:solidFill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9072" y="1492853"/>
            <a:ext cx="7164370" cy="421499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6384701" y="3706701"/>
            <a:ext cx="1236372" cy="11591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6" name="Rectangle 5"/>
          <p:cNvSpPr/>
          <p:nvPr/>
        </p:nvSpPr>
        <p:spPr>
          <a:xfrm>
            <a:off x="6384702" y="3542496"/>
            <a:ext cx="956257" cy="16420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</p:spTree>
    <p:extLst>
      <p:ext uri="{BB962C8B-B14F-4D97-AF65-F5344CB8AC3E}">
        <p14:creationId xmlns:p14="http://schemas.microsoft.com/office/powerpoint/2010/main" val="69240908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3A49B7-2D8E-B242-43E5-D89C8E3A9C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94710"/>
            <a:ext cx="8229600" cy="1143000"/>
          </a:xfrm>
        </p:spPr>
        <p:txBody>
          <a:bodyPr>
            <a:normAutofit/>
          </a:bodyPr>
          <a:lstStyle/>
          <a:p>
            <a:r>
              <a:rPr lang="en-US" sz="2400" b="1" dirty="0">
                <a:latin typeface="+mn-lt"/>
              </a:rPr>
              <a:t>TSP Development Cycle</a:t>
            </a:r>
            <a:endParaRPr lang="en-PK" sz="2400" b="1" dirty="0">
              <a:latin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806F1F-D50F-104A-C765-D893CB647A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5912" y="2056786"/>
            <a:ext cx="7886700" cy="3263504"/>
          </a:xfrm>
        </p:spPr>
        <p:txBody>
          <a:bodyPr/>
          <a:lstStyle/>
          <a:p>
            <a:pPr marL="0" indent="0">
              <a:buNone/>
            </a:pPr>
            <a:r>
              <a:rPr lang="en-US" sz="1800" dirty="0"/>
              <a:t>There are the following three phases in the TSP development cycle:</a:t>
            </a:r>
            <a:endParaRPr lang="en-US" dirty="0"/>
          </a:p>
          <a:p>
            <a:endParaRPr lang="en-PK" dirty="0"/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E4CD055C-276D-DAF6-F166-DD5941A4CC7D}"/>
              </a:ext>
            </a:extLst>
          </p:cNvPr>
          <p:cNvGraphicFramePr>
            <a:graphicFrameLocks noGrp="1"/>
          </p:cNvGraphicFramePr>
          <p:nvPr/>
        </p:nvGraphicFramePr>
        <p:xfrm>
          <a:off x="755912" y="2669617"/>
          <a:ext cx="7332288" cy="19772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44096">
                  <a:extLst>
                    <a:ext uri="{9D8B030D-6E8A-4147-A177-3AD203B41FA5}">
                      <a16:colId xmlns:a16="http://schemas.microsoft.com/office/drawing/2014/main" val="3007344429"/>
                    </a:ext>
                  </a:extLst>
                </a:gridCol>
                <a:gridCol w="2444096">
                  <a:extLst>
                    <a:ext uri="{9D8B030D-6E8A-4147-A177-3AD203B41FA5}">
                      <a16:colId xmlns:a16="http://schemas.microsoft.com/office/drawing/2014/main" val="1267126145"/>
                    </a:ext>
                  </a:extLst>
                </a:gridCol>
                <a:gridCol w="2444096">
                  <a:extLst>
                    <a:ext uri="{9D8B030D-6E8A-4147-A177-3AD203B41FA5}">
                      <a16:colId xmlns:a16="http://schemas.microsoft.com/office/drawing/2014/main" val="871048327"/>
                    </a:ext>
                  </a:extLst>
                </a:gridCol>
              </a:tblGrid>
              <a:tr h="399824">
                <a:tc>
                  <a:txBody>
                    <a:bodyPr/>
                    <a:lstStyle/>
                    <a:p>
                      <a:r>
                        <a:rPr lang="en-US" sz="1400" dirty="0"/>
                        <a:t>Launch Phase</a:t>
                      </a:r>
                      <a:endParaRPr lang="en-PK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Execution Phase</a:t>
                      </a:r>
                      <a:endParaRPr lang="en-PK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Post-Mortem Phase</a:t>
                      </a:r>
                      <a:endParaRPr lang="en-PK" sz="14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961945730"/>
                  </a:ext>
                </a:extLst>
              </a:tr>
              <a:tr h="1577384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1400" dirty="0"/>
                        <a:t>• Establish goals</a:t>
                      </a:r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1400" dirty="0"/>
                        <a:t>• Define roles</a:t>
                      </a:r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1400" dirty="0"/>
                        <a:t>• Estimate effort</a:t>
                      </a:r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1400" dirty="0"/>
                        <a:t>• Create team plan</a:t>
                      </a:r>
                    </a:p>
                    <a:p>
                      <a:endParaRPr lang="en-PK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1400" dirty="0"/>
                        <a:t>• Track schedule &amp; defects</a:t>
                      </a:r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1400" dirty="0"/>
                        <a:t>• Weekly meetings</a:t>
                      </a:r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1400" dirty="0"/>
                        <a:t>• Adjust plan if needed</a:t>
                      </a:r>
                    </a:p>
                    <a:p>
                      <a:endParaRPr lang="en-PK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1400" dirty="0"/>
                        <a:t>• Analyze performance</a:t>
                      </a:r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1400" dirty="0"/>
                        <a:t>• Compare planned vs actual</a:t>
                      </a:r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1400" dirty="0"/>
                        <a:t>• Capture lessons learned</a:t>
                      </a:r>
                    </a:p>
                    <a:p>
                      <a:endParaRPr lang="en-PK" sz="14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38327509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9611380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</TotalTime>
  <Words>1570</Words>
  <Application>Microsoft Office PowerPoint</Application>
  <PresentationFormat>On-screen Show (4:3)</PresentationFormat>
  <Paragraphs>241</Paragraphs>
  <Slides>30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4" baseType="lpstr">
      <vt:lpstr>Arial</vt:lpstr>
      <vt:lpstr>Calibri</vt:lpstr>
      <vt:lpstr>Calibri Light</vt:lpstr>
      <vt:lpstr>Office Theme</vt:lpstr>
      <vt:lpstr>Software Construction and Development Capability Maturity Model Integration (CMMI) Personal Software Process (PSP) Team Software Process (TSP) </vt:lpstr>
      <vt:lpstr>What is CMMI?</vt:lpstr>
      <vt:lpstr>Why Use CMMI?</vt:lpstr>
      <vt:lpstr>CMMI Models</vt:lpstr>
      <vt:lpstr>Maturity Levels</vt:lpstr>
      <vt:lpstr>PowerPoint Presentation</vt:lpstr>
      <vt:lpstr>CMMI Level 1 – Initial</vt:lpstr>
      <vt:lpstr>CMMI Level 2 – Managed</vt:lpstr>
      <vt:lpstr>CMMI Level 3 – Defined</vt:lpstr>
      <vt:lpstr>CMMI Level 4 – Quantitatively Managed</vt:lpstr>
      <vt:lpstr>CMMI Level 5 – Optimizing</vt:lpstr>
      <vt:lpstr>Benefits of CMMI</vt:lpstr>
      <vt:lpstr>CMMI along with scenario </vt:lpstr>
      <vt:lpstr>Solution</vt:lpstr>
      <vt:lpstr>Continued……..</vt:lpstr>
      <vt:lpstr>The Personal Software Process (PSP) </vt:lpstr>
      <vt:lpstr>Overview of the PSP</vt:lpstr>
      <vt:lpstr>The PSP Evolution -1</vt:lpstr>
      <vt:lpstr>PSP Overview  </vt:lpstr>
      <vt:lpstr> PSP - 0</vt:lpstr>
      <vt:lpstr>PSP - 1</vt:lpstr>
      <vt:lpstr>PSP - 2</vt:lpstr>
      <vt:lpstr>PSP - 3</vt:lpstr>
      <vt:lpstr>The benefits of the PSP -1</vt:lpstr>
      <vt:lpstr>When to use / When to avoid using the PSP</vt:lpstr>
      <vt:lpstr>  </vt:lpstr>
      <vt:lpstr>The Conditions for Teamwork </vt:lpstr>
      <vt:lpstr>Characteristics of Effective Teams</vt:lpstr>
      <vt:lpstr>  </vt:lpstr>
      <vt:lpstr>TSP Development Cycle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Capability Maturity Model Integration (CMMI)</dc:title>
  <dc:subject/>
  <dc:creator>Ushna Khalil</dc:creator>
  <cp:keywords/>
  <dc:description>generated using python-pptx</dc:description>
  <cp:lastModifiedBy>Muhammad Khizar Hayat</cp:lastModifiedBy>
  <cp:revision>43</cp:revision>
  <dcterms:created xsi:type="dcterms:W3CDTF">2013-01-27T09:14:16Z</dcterms:created>
  <dcterms:modified xsi:type="dcterms:W3CDTF">2026-03-08T09:43:04Z</dcterms:modified>
  <cp:category/>
</cp:coreProperties>
</file>