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4" r:id="rId1"/>
  </p:sldMasterIdLst>
  <p:notesMasterIdLst>
    <p:notesMasterId r:id="rId17"/>
  </p:notesMasterIdLst>
  <p:sldIdLst>
    <p:sldId id="256" r:id="rId2"/>
    <p:sldId id="277" r:id="rId3"/>
    <p:sldId id="257" r:id="rId4"/>
    <p:sldId id="278" r:id="rId5"/>
    <p:sldId id="279" r:id="rId6"/>
    <p:sldId id="259" r:id="rId7"/>
    <p:sldId id="260" r:id="rId8"/>
    <p:sldId id="280" r:id="rId9"/>
    <p:sldId id="281" r:id="rId10"/>
    <p:sldId id="282" r:id="rId11"/>
    <p:sldId id="283" r:id="rId12"/>
    <p:sldId id="284" r:id="rId13"/>
    <p:sldId id="285" r:id="rId14"/>
    <p:sldId id="258" r:id="rId15"/>
    <p:sldId id="286" r:id="rId16"/>
  </p:sldIdLst>
  <p:sldSz cx="12192000" cy="6858000"/>
  <p:notesSz cx="12192000" cy="6858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48" autoAdjust="0"/>
  </p:normalViewPr>
  <p:slideViewPr>
    <p:cSldViewPr>
      <p:cViewPr varScale="1">
        <p:scale>
          <a:sx n="75" d="100"/>
          <a:sy n="75" d="100"/>
        </p:scale>
        <p:origin x="94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E9B72-F1DD-42AC-8BB6-E6430CE35CFF}" type="datetimeFigureOut">
              <a:rPr lang="en-PK" smtClean="0"/>
              <a:t>23/02/2026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158C8-F24E-4FB1-8345-C23FBBE4F7C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889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 x;</a:t>
            </a:r>
          </a:p>
          <a:p>
            <a:r>
              <a:rPr lang="en-US" dirty="0"/>
              <a:t>int </a:t>
            </a:r>
            <a:r>
              <a:rPr lang="en-US" dirty="0" err="1"/>
              <a:t>totalStudentCount</a:t>
            </a:r>
            <a:r>
              <a:rPr lang="en-US" dirty="0"/>
              <a:t>;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158C8-F24E-4FB1-8345-C23FBBE4F7C3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275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you faced changing requirements in any of your projects?</a:t>
            </a:r>
          </a:p>
          <a:p>
            <a:r>
              <a:rPr lang="en-US" dirty="0"/>
              <a:t>What was the biggest challenge in coding your last project?</a:t>
            </a:r>
          </a:p>
          <a:p>
            <a:r>
              <a:rPr lang="en-US" dirty="0"/>
              <a:t>Did you ever redesign your code?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158C8-F24E-4FB1-8345-C23FBBE4F7C3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0479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72DB-FF1B-EC0E-27F5-50B35AA88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00D95-69EA-9C0B-6B17-88BB69ED9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1C7D2-BA32-5A23-DB4B-759B1DDF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191F5-A326-CEB3-351A-FF04F594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3E34E-483E-382C-ACA1-EACBAB7C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581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7565-FDDF-C7DE-0725-D3C6EFD4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A51F-4A82-0F1B-2025-9477F47BF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79288-6514-D410-8944-4A868823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34A25-5EA1-AE66-7D99-33E74471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B5CB-F272-3FAE-59E9-B74E756A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422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86A3-A1F7-9C00-77CA-4EEBC147C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1CCEB-FC20-D18E-2A9D-485C07BEC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9DDAF-4FF6-DF87-E6DF-B42E5743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B65B9-C535-1B0A-B765-62B9056E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BC2C-416E-886D-C925-42DFC27A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6897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23DF-8EAC-23AB-325F-242FE857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90A0C-DCCE-9C2A-B63B-A933E0E33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209BE-FD12-8F2A-61E8-B2A2C6B02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CAFAE-B052-EAB1-137E-1ED5584E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50230-40E3-F8C3-E196-EABDB5EB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FF4EB-357F-4115-C2FE-CA50D2FA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366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48AD-0C26-CB20-8071-9D9C92CC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28786-0385-1693-F5E8-082E3B373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4241D-7D04-8B56-B72F-8B70EEADC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7FEB6-C093-A313-7E55-7E414FB9C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45180-3297-41A7-29F3-9D868CCC9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91288-3A27-EF34-0AE2-399FF9B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FEB42-0619-9CE6-15DF-E230EFE0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3BA91-2A0A-7FEB-1499-9C451B60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685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EF2D-D562-87EE-9D6F-C942FCDE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CC5B9-BB78-04CA-9E58-911C86AFF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2F492-A668-B3B2-2526-4145A8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80D0D-9E98-6756-BAEA-CF4F672B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87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4C51F-71E5-B1E0-5F61-2CEA8F0F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9BAE7-4964-319C-6868-F2ADEF2C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8594-80D6-E531-BD5C-2F3AB35D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619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4488-6890-354E-3911-2F11BC74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B120F-95EA-BD64-1BED-54AFA737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1557D-047F-7A4A-A773-E5BDA3C1D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F07AE-BFD8-F028-482E-DC6F87E3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0F206-E32A-3104-D270-726A5EA0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CF5FB-0978-81CE-47B4-080A68D9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141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EFD7-C4BE-447F-C944-55CCD6A0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0A9A2-EBDD-E3CA-EFD1-851F8969A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4A59-5031-CB2C-F445-7552AACA0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F9E60-A374-FC16-E9A0-BD20FA22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670B1-2BFB-DE4A-DECE-47A036D1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E2F08-8CFF-3140-45AE-1DA16F9A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564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6248-8E55-BF78-B7E3-94607676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ED930-0E0B-8B10-CBEB-DCB92481F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9D2A6-44F2-5BCB-1E99-26B50041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B4D45-D400-B7FA-B3F2-430AF1F1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656C5-00BF-5561-83DD-401B137D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430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BA5D8-FD35-E5A7-EA40-DA99B36F5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ECE98-EEDD-D21E-040E-9DD0374A2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4AB81-8767-82ED-0516-6914EDE7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46B7-B7A2-8C08-A072-B6BFCA28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C9032-C9E1-3D93-8FFA-94ED2664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277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5E2DA-54F6-A032-9BCC-D91BB285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E9288-1AE3-3984-EDED-E3ACFE0A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6E6D2-78EE-C221-8E99-1C9564A39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9568-562A-59D4-8CD3-B30F7786B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7698F-052B-7E07-7430-AA00AA81E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7463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1483580"/>
            <a:ext cx="9601200" cy="1548501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065" marR="5080" algn="ctr">
              <a:lnSpc>
                <a:spcPts val="6480"/>
              </a:lnSpc>
              <a:spcBef>
                <a:spcPts val="915"/>
              </a:spcBef>
            </a:pPr>
            <a:r>
              <a:rPr sz="4000" b="1" dirty="0">
                <a:latin typeface="Calibri Light"/>
                <a:cs typeface="Calibri Light"/>
              </a:rPr>
              <a:t>Software</a:t>
            </a:r>
            <a:r>
              <a:rPr sz="4000" b="1" spc="-135" dirty="0">
                <a:latin typeface="Calibri Light"/>
                <a:cs typeface="Calibri Light"/>
              </a:rPr>
              <a:t> </a:t>
            </a:r>
            <a:r>
              <a:rPr sz="4000" b="1" dirty="0">
                <a:latin typeface="Calibri Light"/>
                <a:cs typeface="Calibri Light"/>
              </a:rPr>
              <a:t>Construction</a:t>
            </a:r>
            <a:r>
              <a:rPr sz="4000" b="1" spc="-145" dirty="0">
                <a:latin typeface="Calibri Light"/>
                <a:cs typeface="Calibri Light"/>
              </a:rPr>
              <a:t> </a:t>
            </a:r>
            <a:r>
              <a:rPr sz="4000" b="1" spc="-25" dirty="0">
                <a:latin typeface="Calibri Light"/>
                <a:cs typeface="Calibri Light"/>
              </a:rPr>
              <a:t>and </a:t>
            </a:r>
            <a:r>
              <a:rPr sz="4000" b="1" spc="-10" dirty="0">
                <a:latin typeface="Calibri Light"/>
                <a:cs typeface="Calibri Light"/>
              </a:rPr>
              <a:t>Development</a:t>
            </a:r>
            <a:endParaRPr sz="4000" b="1" dirty="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1290"/>
              </a:spcBef>
            </a:pPr>
            <a:endParaRPr sz="2800" b="1" dirty="0">
              <a:latin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914AA-C8D9-828D-8ED7-755490335039}"/>
              </a:ext>
            </a:extLst>
          </p:cNvPr>
          <p:cNvSpPr txBox="1">
            <a:spLocks/>
          </p:cNvSpPr>
          <p:nvPr/>
        </p:nvSpPr>
        <p:spPr>
          <a:xfrm>
            <a:off x="1828800" y="4067426"/>
            <a:ext cx="7669904" cy="224892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32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32" b="1" dirty="0">
                <a:latin typeface="Calibri" panose="020F0502020204030204" pitchFamily="34" charset="0"/>
                <a:cs typeface="Calibri" panose="020F0502020204030204" pitchFamily="34" charset="0"/>
              </a:rPr>
              <a:t>Spring 2026</a:t>
            </a: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 Khizar Hayat</a:t>
            </a:r>
          </a:p>
          <a:p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Khizerhayat@ucp.edu.pk</a:t>
            </a:r>
            <a:endParaRPr lang="en-US" sz="22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Office: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Building D, 2</a:t>
            </a:r>
            <a:r>
              <a:rPr lang="en-US" sz="22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floor </a:t>
            </a:r>
          </a:p>
          <a:p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OFFICE HOURS: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Fri  (9:00 to 11:00)</a:t>
            </a:r>
          </a:p>
          <a:p>
            <a:endParaRPr lang="x-none" sz="1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158D-FEC9-4254-1210-68BEBE8F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0"/>
            <a:ext cx="10515600" cy="1325563"/>
          </a:xfrm>
        </p:spPr>
        <p:txBody>
          <a:bodyPr/>
          <a:lstStyle/>
          <a:p>
            <a:r>
              <a:rPr lang="en-US" b="1" dirty="0"/>
              <a:t>Learning Outcomes</a:t>
            </a:r>
            <a:br>
              <a:rPr lang="en-US" b="1" dirty="0"/>
            </a:b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BDC1D-7334-3C4B-D084-704D5CA249B9}"/>
              </a:ext>
            </a:extLst>
          </p:cNvPr>
          <p:cNvSpPr txBox="1"/>
          <p:nvPr/>
        </p:nvSpPr>
        <p:spPr>
          <a:xfrm>
            <a:off x="1524000" y="1981200"/>
            <a:ext cx="83058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Define Software Construction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Differentiate between Software Construction and Software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roles of Software Engineer vs Software Developer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best practices in software construction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Understand software development process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Discuss real-world challenges</a:t>
            </a:r>
          </a:p>
        </p:txBody>
      </p:sp>
    </p:spTree>
    <p:extLst>
      <p:ext uri="{BB962C8B-B14F-4D97-AF65-F5344CB8AC3E}">
        <p14:creationId xmlns:p14="http://schemas.microsoft.com/office/powerpoint/2010/main" val="255533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2C9575-62D2-51A7-208E-9713BD21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515600" cy="1325563"/>
          </a:xfrm>
        </p:spPr>
        <p:txBody>
          <a:bodyPr/>
          <a:lstStyle/>
          <a:p>
            <a:r>
              <a:rPr lang="en-US" b="1" dirty="0"/>
              <a:t>What is Software Construction?</a:t>
            </a:r>
            <a:br>
              <a:rPr lang="en-PK" b="1" dirty="0"/>
            </a:br>
            <a:endParaRPr lang="en-PK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FEB5CC-D5C1-2ADD-9EF3-B9F7EB86C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0"/>
            <a:ext cx="11008142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According to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Complete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Construction is the detailed creation of working, meaningful software through coding, 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debugging, testing, and integration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PK" altLang="en-PK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PK" altLang="en-PK" sz="2000" dirty="0">
                <a:latin typeface="Arial" panose="020B0604020202020204" pitchFamily="34" charset="0"/>
              </a:rPr>
              <a:t>It Includes: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PK" altLang="en-PK" sz="2000" dirty="0">
                <a:latin typeface="Arial" panose="020B0604020202020204" pitchFamily="34" charset="0"/>
              </a:rPr>
              <a:t>Coding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 Reviews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85BE6CF-9890-944D-B785-608FC4332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8417" y="2590800"/>
            <a:ext cx="4244708" cy="332260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9A322E-DA75-53C9-7070-829231A7E68B}"/>
              </a:ext>
            </a:extLst>
          </p:cNvPr>
          <p:cNvSpPr txBox="1"/>
          <p:nvPr/>
        </p:nvSpPr>
        <p:spPr>
          <a:xfrm>
            <a:off x="452486" y="5756701"/>
            <a:ext cx="73961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Figure 1-1 Construction activities are shown inside the gray circle. Construction focuses on coding and debugging but also includes detailed design, unit testing, integration testing, and other activities.</a:t>
            </a:r>
            <a:endParaRPr lang="en-PK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2C9575-62D2-51A7-208E-9713BD21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515600" cy="1325563"/>
          </a:xfrm>
        </p:spPr>
        <p:txBody>
          <a:bodyPr/>
          <a:lstStyle/>
          <a:p>
            <a:r>
              <a:rPr lang="en-US" b="1" dirty="0"/>
              <a:t>What is Software Development?</a:t>
            </a:r>
            <a:br>
              <a:rPr lang="en-PK" b="1" dirty="0"/>
            </a:br>
            <a:endParaRPr lang="en-PK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FEB5CC-D5C1-2ADD-9EF3-B9F7EB86C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34259"/>
            <a:ext cx="10287000" cy="41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Software Development is the </a:t>
            </a:r>
            <a:r>
              <a:rPr lang="en-US" sz="2000" b="1" dirty="0"/>
              <a:t>entire lifecycle</a:t>
            </a:r>
            <a:r>
              <a:rPr lang="en-US" sz="2000" dirty="0"/>
              <a:t> of building software: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Requirement Gathering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System Analysis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Design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Implementation (Construction)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Testing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Deployment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Maintenance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51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65E9-7268-7CF7-62E9-C9B83B94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Example (University Portal System)</a:t>
            </a:r>
            <a:endParaRPr lang="en-PK" sz="3600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CB608F-AAB3-A0D9-07B9-B57A80ADD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137450"/>
              </p:ext>
            </p:extLst>
          </p:nvPr>
        </p:nvGraphicFramePr>
        <p:xfrm>
          <a:off x="914400" y="2561754"/>
          <a:ext cx="9677400" cy="2194560"/>
        </p:xfrm>
        <a:graphic>
          <a:graphicData uri="http://schemas.openxmlformats.org/drawingml/2006/table">
            <a:tbl>
              <a:tblPr/>
              <a:tblGrid>
                <a:gridCol w="4838700">
                  <a:extLst>
                    <a:ext uri="{9D8B030D-6E8A-4147-A177-3AD203B41FA5}">
                      <a16:colId xmlns:a16="http://schemas.microsoft.com/office/drawing/2014/main" val="2120113521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835310397"/>
                    </a:ext>
                  </a:extLst>
                </a:gridCol>
              </a:tblGrid>
              <a:tr h="354198">
                <a:tc>
                  <a:txBody>
                    <a:bodyPr/>
                    <a:lstStyle/>
                    <a:p>
                      <a:r>
                        <a:rPr lang="en-US" b="1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504140"/>
                  </a:ext>
                </a:extLst>
              </a:tr>
              <a:tr h="354198">
                <a:tc>
                  <a:txBody>
                    <a:bodyPr/>
                    <a:lstStyle/>
                    <a:p>
                      <a:r>
                        <a:rPr lang="en-US"/>
                        <a:t>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Gather requirements from registrar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028059"/>
                  </a:ext>
                </a:extLst>
              </a:tr>
              <a:tr h="354198">
                <a:tc>
                  <a:txBody>
                    <a:bodyPr/>
                    <a:lstStyle/>
                    <a:p>
                      <a:r>
                        <a:rPr lang="en-US"/>
                        <a:t>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Design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707810"/>
                  </a:ext>
                </a:extLst>
              </a:tr>
              <a:tr h="354198">
                <a:tc>
                  <a:txBody>
                    <a:bodyPr/>
                    <a:lstStyle/>
                    <a:p>
                      <a:r>
                        <a:rPr lang="en-US"/>
                        <a:t>Construction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Write code in Java/PHP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804872"/>
                  </a:ext>
                </a:extLst>
              </a:tr>
              <a:tr h="354198">
                <a:tc>
                  <a:txBody>
                    <a:bodyPr/>
                    <a:lstStyle/>
                    <a:p>
                      <a:r>
                        <a:rPr lang="en-US"/>
                        <a:t>Construction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 bugs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249202"/>
                  </a:ext>
                </a:extLst>
              </a:tr>
              <a:tr h="354198">
                <a:tc>
                  <a:txBody>
                    <a:bodyPr/>
                    <a:lstStyle/>
                    <a:p>
                      <a:r>
                        <a:rPr lang="en-US" dirty="0"/>
                        <a:t>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 on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93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17BE9B-0AA1-C950-2C53-6EF8A8D503C1}"/>
              </a:ext>
            </a:extLst>
          </p:cNvPr>
          <p:cNvSpPr txBox="1"/>
          <p:nvPr/>
        </p:nvSpPr>
        <p:spPr>
          <a:xfrm>
            <a:off x="838200" y="174335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UCP wants a </a:t>
            </a:r>
            <a:r>
              <a:rPr lang="en-US" b="1" dirty="0"/>
              <a:t>Student Portal System</a:t>
            </a:r>
            <a:r>
              <a:rPr lang="en-US" dirty="0"/>
              <a:t>: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7247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18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Calibri Light"/>
                <a:cs typeface="Calibri Light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337800" cy="1220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2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Construction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detailed</a:t>
            </a:r>
            <a:r>
              <a:rPr sz="28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creation</a:t>
            </a:r>
            <a:r>
              <a:rPr sz="28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working</a:t>
            </a:r>
            <a:r>
              <a:rPr sz="28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software 	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sz="2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combination</a:t>
            </a:r>
            <a:r>
              <a:rPr sz="2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coding,</a:t>
            </a:r>
            <a:r>
              <a:rPr sz="2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verification,</a:t>
            </a:r>
            <a:r>
              <a:rPr sz="28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unit</a:t>
            </a:r>
            <a:r>
              <a:rPr sz="2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testing,</a:t>
            </a:r>
            <a:r>
              <a:rPr sz="28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integration 	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testing</a:t>
            </a:r>
            <a:r>
              <a:rPr sz="28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8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debugging.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2639" y="3552230"/>
            <a:ext cx="7177119" cy="17406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59073" y="5872683"/>
            <a:ext cx="5779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Construction</a:t>
            </a:r>
            <a:r>
              <a:rPr sz="18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uses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output</a:t>
            </a:r>
            <a:r>
              <a:rPr sz="18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design</a:t>
            </a:r>
            <a:r>
              <a:rPr sz="18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build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therein</a:t>
            </a:r>
            <a:r>
              <a:rPr sz="18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described,</a:t>
            </a:r>
            <a:r>
              <a:rPr sz="18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provides</a:t>
            </a:r>
            <a:r>
              <a:rPr sz="18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8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output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testing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192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 Light"/>
                <a:cs typeface="Calibri Light"/>
              </a:rPr>
              <a:t>Relationship</a:t>
            </a:r>
            <a:r>
              <a:rPr b="1" spc="-105" dirty="0">
                <a:latin typeface="Calibri Light"/>
                <a:cs typeface="Calibri Light"/>
              </a:rPr>
              <a:t> </a:t>
            </a:r>
            <a:r>
              <a:rPr b="1" dirty="0">
                <a:latin typeface="Calibri Light"/>
                <a:cs typeface="Calibri Light"/>
              </a:rPr>
              <a:t>with</a:t>
            </a:r>
            <a:r>
              <a:rPr b="1" spc="-95" dirty="0">
                <a:latin typeface="Calibri Light"/>
                <a:cs typeface="Calibri Light"/>
              </a:rPr>
              <a:t> </a:t>
            </a:r>
            <a:r>
              <a:rPr b="1" dirty="0">
                <a:latin typeface="Calibri Light"/>
                <a:cs typeface="Calibri Light"/>
              </a:rPr>
              <a:t>other</a:t>
            </a:r>
            <a:r>
              <a:rPr b="1" spc="-100" dirty="0">
                <a:latin typeface="Calibri Light"/>
                <a:cs typeface="Calibri Light"/>
              </a:rPr>
              <a:t> </a:t>
            </a:r>
            <a:r>
              <a:rPr b="1" dirty="0">
                <a:latin typeface="Calibri Light"/>
                <a:cs typeface="Calibri Light"/>
              </a:rPr>
              <a:t>Knowledge</a:t>
            </a:r>
            <a:r>
              <a:rPr b="1" spc="-95" dirty="0">
                <a:latin typeface="Calibri Light"/>
                <a:cs typeface="Calibri Light"/>
              </a:rPr>
              <a:t> </a:t>
            </a:r>
            <a:r>
              <a:rPr b="1" spc="-10" dirty="0">
                <a:latin typeface="Calibri Light"/>
                <a:cs typeface="Calibri Light"/>
              </a:rPr>
              <a:t>areas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45945"/>
            <a:ext cx="10970261" cy="4295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ts val="245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Although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some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detailed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may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performed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prior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construction,</a:t>
            </a:r>
            <a:endParaRPr sz="2400" dirty="0">
              <a:latin typeface="Arial MT"/>
              <a:cs typeface="Arial MT"/>
            </a:endParaRPr>
          </a:p>
          <a:p>
            <a:pPr marL="241300" algn="just">
              <a:lnSpc>
                <a:spcPts val="2020"/>
              </a:lnSpc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much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work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performed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during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construction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activity.</a:t>
            </a:r>
            <a:r>
              <a:rPr sz="2400" spc="-10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Thus,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endParaRPr sz="2400" dirty="0">
              <a:latin typeface="Arial MT"/>
              <a:cs typeface="Arial MT"/>
            </a:endParaRPr>
          </a:p>
          <a:p>
            <a:pPr marL="241300" marR="342900" algn="just">
              <a:lnSpc>
                <a:spcPct val="70000"/>
              </a:lnSpc>
              <a:spcBef>
                <a:spcPts val="434"/>
              </a:spcBef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Construction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Knowledge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area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closely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linked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Software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Design</a:t>
            </a:r>
            <a:r>
              <a:rPr sz="2400" spc="-8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Knowledge</a:t>
            </a:r>
            <a:r>
              <a:rPr sz="2400" spc="-1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Area.</a:t>
            </a:r>
            <a:endParaRPr sz="24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395"/>
              </a:spcBef>
            </a:pPr>
            <a:endParaRPr sz="2400" dirty="0">
              <a:latin typeface="Arial MT"/>
              <a:cs typeface="Arial MT"/>
            </a:endParaRPr>
          </a:p>
          <a:p>
            <a:pPr marL="240029" indent="-227329" algn="just">
              <a:lnSpc>
                <a:spcPts val="2450"/>
              </a:lnSpc>
              <a:spcBef>
                <a:spcPts val="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Throughout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construction,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engineers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both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unit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test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integration</a:t>
            </a:r>
            <a:endParaRPr sz="2400" dirty="0">
              <a:latin typeface="Arial MT"/>
              <a:cs typeface="Arial MT"/>
            </a:endParaRPr>
          </a:p>
          <a:p>
            <a:pPr marL="241300" marR="99060" algn="just">
              <a:lnSpc>
                <a:spcPct val="70000"/>
              </a:lnSpc>
              <a:spcBef>
                <a:spcPts val="430"/>
              </a:spcBef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test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their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work.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Thus,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construction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KA</a:t>
            </a:r>
            <a:r>
              <a:rPr sz="2400" spc="-1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closely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linked</a:t>
            </a:r>
            <a:r>
              <a:rPr sz="24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10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Testing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KA</a:t>
            </a:r>
            <a:r>
              <a:rPr sz="2400" spc="-1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as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well.</a:t>
            </a:r>
            <a:endParaRPr sz="24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385"/>
              </a:spcBef>
            </a:pPr>
            <a:endParaRPr sz="2400" dirty="0">
              <a:latin typeface="Arial MT"/>
              <a:cs typeface="Arial MT"/>
            </a:endParaRPr>
          </a:p>
          <a:p>
            <a:pPr marL="240029" indent="-227329" algn="just">
              <a:lnSpc>
                <a:spcPts val="2450"/>
              </a:lnSpc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8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construction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typically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produces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highest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number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endParaRPr sz="2400" dirty="0">
              <a:latin typeface="Arial MT"/>
              <a:cs typeface="Arial MT"/>
            </a:endParaRPr>
          </a:p>
          <a:p>
            <a:pPr marL="241300" algn="just">
              <a:lnSpc>
                <a:spcPts val="2014"/>
              </a:lnSpc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configuration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items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that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need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managed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in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project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(source</a:t>
            </a:r>
            <a:endParaRPr sz="2400" dirty="0">
              <a:latin typeface="Arial MT"/>
              <a:cs typeface="Arial MT"/>
            </a:endParaRPr>
          </a:p>
          <a:p>
            <a:pPr marL="241300" algn="just">
              <a:lnSpc>
                <a:spcPts val="2014"/>
              </a:lnSpc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files,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documentation,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test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cases,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on).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Thus,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endParaRPr sz="2400" dirty="0">
              <a:latin typeface="Arial MT"/>
              <a:cs typeface="Arial MT"/>
            </a:endParaRPr>
          </a:p>
          <a:p>
            <a:pPr marL="241300" marR="905510" algn="just">
              <a:lnSpc>
                <a:spcPct val="70000"/>
              </a:lnSpc>
              <a:spcBef>
                <a:spcPts val="434"/>
              </a:spcBef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Construction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KA</a:t>
            </a:r>
            <a:r>
              <a:rPr sz="2400" spc="-1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also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closely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linked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Software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Configuration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Management</a:t>
            </a:r>
            <a:r>
              <a:rPr sz="2400" spc="-1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KA.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C2DB-9E61-58B6-D05A-B31E01E7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of Software Construction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EC6D-EC1A-15DF-F9E5-89E829233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Construction is a large part of software development</a:t>
            </a:r>
          </a:p>
          <a:p>
            <a:r>
              <a:rPr lang="en-US" sz="2400" dirty="0"/>
              <a:t>Construction is the central activity in software development</a:t>
            </a:r>
          </a:p>
          <a:p>
            <a:r>
              <a:rPr lang="en-US" sz="2400" dirty="0"/>
              <a:t>With a focus on construction, the individual programmer’s productivity can improve enormously</a:t>
            </a:r>
          </a:p>
          <a:p>
            <a:r>
              <a:rPr lang="en-US" sz="2400" dirty="0"/>
              <a:t>Construction’s product, the source code, is often the only accurate description of the software</a:t>
            </a:r>
          </a:p>
          <a:p>
            <a:r>
              <a:rPr lang="en-US" sz="2400" dirty="0"/>
              <a:t>Construction is the only activity that’s guaranteed to be done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939076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0AE6-2237-305F-F773-8618A7DC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111"/>
            <a:ext cx="10515600" cy="1325563"/>
          </a:xfrm>
        </p:spPr>
        <p:txBody>
          <a:bodyPr/>
          <a:lstStyle/>
          <a:p>
            <a:r>
              <a:rPr lang="en-US" b="1" dirty="0"/>
              <a:t>Software Engineer vs Software Developer</a:t>
            </a:r>
            <a:endParaRPr lang="en-PK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F13EF2-763B-2C88-2C92-3F3CBD1A1B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721273"/>
              </p:ext>
            </p:extLst>
          </p:nvPr>
        </p:nvGraphicFramePr>
        <p:xfrm>
          <a:off x="2095500" y="2328306"/>
          <a:ext cx="8001000" cy="2201388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3088794115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094137059"/>
                    </a:ext>
                  </a:extLst>
                </a:gridCol>
              </a:tblGrid>
              <a:tr h="366898">
                <a:tc>
                  <a:txBody>
                    <a:bodyPr/>
                    <a:lstStyle/>
                    <a:p>
                      <a:r>
                        <a:rPr lang="en-US" b="1"/>
                        <a:t>Software Engineer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Software Developer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62105"/>
                  </a:ext>
                </a:extLst>
              </a:tr>
              <a:tr h="3668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Applies engineering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Implements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888235"/>
                  </a:ext>
                </a:extLst>
              </a:tr>
              <a:tr h="3668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Works on system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Writes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413635"/>
                  </a:ext>
                </a:extLst>
              </a:tr>
              <a:tr h="3668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Focuses on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Fixes bugs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924076"/>
                  </a:ext>
                </a:extLst>
              </a:tr>
              <a:tr h="3668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Ensures quality and standards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Works on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62893"/>
                  </a:ext>
                </a:extLst>
              </a:tr>
              <a:tr h="3668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Thinks long-term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Focuses on assigned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3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57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B4D3-0987-0576-8024-2711D3F4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Responsibilities – Software Engineer vs Software Developer</a:t>
            </a:r>
            <a:endParaRPr lang="en-PK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5E6AC8-F1BE-5B2C-6C67-52F1E7290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53835"/>
              </p:ext>
            </p:extLst>
          </p:nvPr>
        </p:nvGraphicFramePr>
        <p:xfrm>
          <a:off x="1104900" y="2362200"/>
          <a:ext cx="9982200" cy="2560320"/>
        </p:xfrm>
        <a:graphic>
          <a:graphicData uri="http://schemas.openxmlformats.org/drawingml/2006/table">
            <a:tbl>
              <a:tblPr/>
              <a:tblGrid>
                <a:gridCol w="4991100">
                  <a:extLst>
                    <a:ext uri="{9D8B030D-6E8A-4147-A177-3AD203B41FA5}">
                      <a16:colId xmlns:a16="http://schemas.microsoft.com/office/drawing/2014/main" val="3173157954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4000642200"/>
                    </a:ext>
                  </a:extLst>
                </a:gridCol>
              </a:tblGrid>
              <a:tr h="340609">
                <a:tc>
                  <a:txBody>
                    <a:bodyPr/>
                    <a:lstStyle/>
                    <a:p>
                      <a:r>
                        <a:rPr lang="en-US" b="1"/>
                        <a:t>Responsibilities of Software Engineer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Responsibilities of Software Developer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41017"/>
                  </a:ext>
                </a:extLst>
              </a:tr>
              <a:tr h="34060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Requirement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Code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483218"/>
                  </a:ext>
                </a:extLst>
              </a:tr>
              <a:tr h="34060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System modeling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Debugging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92015"/>
                  </a:ext>
                </a:extLst>
              </a:tr>
              <a:tr h="34060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Architecture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Writing unit tests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38554"/>
                  </a:ext>
                </a:extLst>
              </a:tr>
              <a:tr h="34060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Technology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Code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493561"/>
                  </a:ext>
                </a:extLst>
              </a:tr>
              <a:tr h="34060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Risk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Version control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695460"/>
                  </a:ext>
                </a:extLst>
              </a:tr>
              <a:tr h="34060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Performance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Ensuring feature functionality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699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989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D31D-4341-C91F-54C1-1D078061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 for Software Engineer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C58583-156B-FF60-625C-BA74947B2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81200"/>
            <a:ext cx="9067800" cy="319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before coding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maintainability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coding standards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modular design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code reviews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 realistically</a:t>
            </a:r>
          </a:p>
        </p:txBody>
      </p:sp>
    </p:spTree>
    <p:extLst>
      <p:ext uri="{BB962C8B-B14F-4D97-AF65-F5344CB8AC3E}">
        <p14:creationId xmlns:p14="http://schemas.microsoft.com/office/powerpoint/2010/main" val="2339644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D31D-4341-C91F-54C1-1D078061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 for Software Developer</a:t>
            </a:r>
            <a:endParaRPr lang="en-PK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E1EA18-945A-9838-445B-F267BF586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1905000"/>
            <a:ext cx="8153400" cy="3345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readable code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meaningful variable names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duplicate code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small functions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 wisely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your own code</a:t>
            </a:r>
          </a:p>
        </p:txBody>
      </p:sp>
    </p:spTree>
    <p:extLst>
      <p:ext uri="{BB962C8B-B14F-4D97-AF65-F5344CB8AC3E}">
        <p14:creationId xmlns:p14="http://schemas.microsoft.com/office/powerpoint/2010/main" val="55899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C4A6-9577-05F4-C8DB-113DD2B5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8382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Challenges of Software Engineers &amp; Developers</a:t>
            </a:r>
            <a:br>
              <a:rPr lang="en-US" b="1" dirty="0"/>
            </a:b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BE745D-DB94-3F7F-6A6D-5791E69C2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601309"/>
              </p:ext>
            </p:extLst>
          </p:nvPr>
        </p:nvGraphicFramePr>
        <p:xfrm>
          <a:off x="6858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708984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27905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Technical Challenges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Human Challenges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3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Changing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Communication gaps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164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Tight deadlines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Team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895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Integration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Unrealistic expectations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18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Working with legacy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Client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902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Performance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Lack of stakeholder alignment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584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550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8555" y="0"/>
            <a:ext cx="3248025" cy="3357245"/>
          </a:xfrm>
          <a:custGeom>
            <a:avLst/>
            <a:gdLst/>
            <a:ahLst/>
            <a:cxnLst/>
            <a:rect l="l" t="t" r="r" b="b"/>
            <a:pathLst>
              <a:path w="3248025" h="3357245">
                <a:moveTo>
                  <a:pt x="3247644" y="0"/>
                </a:moveTo>
                <a:lnTo>
                  <a:pt x="0" y="0"/>
                </a:lnTo>
                <a:lnTo>
                  <a:pt x="0" y="3175254"/>
                </a:lnTo>
                <a:lnTo>
                  <a:pt x="55991" y="3195189"/>
                </a:lnTo>
                <a:lnTo>
                  <a:pt x="110696" y="3213827"/>
                </a:lnTo>
                <a:lnTo>
                  <a:pt x="164144" y="3231194"/>
                </a:lnTo>
                <a:lnTo>
                  <a:pt x="216367" y="3247316"/>
                </a:lnTo>
                <a:lnTo>
                  <a:pt x="267396" y="3262216"/>
                </a:lnTo>
                <a:lnTo>
                  <a:pt x="317260" y="3275920"/>
                </a:lnTo>
                <a:lnTo>
                  <a:pt x="365991" y="3288454"/>
                </a:lnTo>
                <a:lnTo>
                  <a:pt x="413619" y="3299842"/>
                </a:lnTo>
                <a:lnTo>
                  <a:pt x="460175" y="3310110"/>
                </a:lnTo>
                <a:lnTo>
                  <a:pt x="505689" y="3319283"/>
                </a:lnTo>
                <a:lnTo>
                  <a:pt x="550192" y="3327386"/>
                </a:lnTo>
                <a:lnTo>
                  <a:pt x="593715" y="3334444"/>
                </a:lnTo>
                <a:lnTo>
                  <a:pt x="636288" y="3340482"/>
                </a:lnTo>
                <a:lnTo>
                  <a:pt x="677942" y="3345526"/>
                </a:lnTo>
                <a:lnTo>
                  <a:pt x="718707" y="3349600"/>
                </a:lnTo>
                <a:lnTo>
                  <a:pt x="758615" y="3352731"/>
                </a:lnTo>
                <a:lnTo>
                  <a:pt x="797696" y="3354942"/>
                </a:lnTo>
                <a:lnTo>
                  <a:pt x="835980" y="3356260"/>
                </a:lnTo>
                <a:lnTo>
                  <a:pt x="873498" y="3356709"/>
                </a:lnTo>
                <a:lnTo>
                  <a:pt x="910281" y="3356315"/>
                </a:lnTo>
                <a:lnTo>
                  <a:pt x="981764" y="3353096"/>
                </a:lnTo>
                <a:lnTo>
                  <a:pt x="1050673" y="3346806"/>
                </a:lnTo>
                <a:lnTo>
                  <a:pt x="1117254" y="3337645"/>
                </a:lnTo>
                <a:lnTo>
                  <a:pt x="1181752" y="3325815"/>
                </a:lnTo>
                <a:lnTo>
                  <a:pt x="1244412" y="3311517"/>
                </a:lnTo>
                <a:lnTo>
                  <a:pt x="1305478" y="3294952"/>
                </a:lnTo>
                <a:lnTo>
                  <a:pt x="1365197" y="3276323"/>
                </a:lnTo>
                <a:lnTo>
                  <a:pt x="1423813" y="3255830"/>
                </a:lnTo>
                <a:lnTo>
                  <a:pt x="1481571" y="3233674"/>
                </a:lnTo>
                <a:lnTo>
                  <a:pt x="1538716" y="3210057"/>
                </a:lnTo>
                <a:lnTo>
                  <a:pt x="1623821" y="3172333"/>
                </a:lnTo>
                <a:lnTo>
                  <a:pt x="1680507" y="3145944"/>
                </a:lnTo>
                <a:lnTo>
                  <a:pt x="1912152" y="3034838"/>
                </a:lnTo>
                <a:lnTo>
                  <a:pt x="1972514" y="3006681"/>
                </a:lnTo>
                <a:lnTo>
                  <a:pt x="2034347" y="2978773"/>
                </a:lnTo>
                <a:lnTo>
                  <a:pt x="2097895" y="2951318"/>
                </a:lnTo>
                <a:lnTo>
                  <a:pt x="2163404" y="2924516"/>
                </a:lnTo>
                <a:lnTo>
                  <a:pt x="2231118" y="2898567"/>
                </a:lnTo>
                <a:lnTo>
                  <a:pt x="2301284" y="2873675"/>
                </a:lnTo>
                <a:lnTo>
                  <a:pt x="2374145" y="2850039"/>
                </a:lnTo>
                <a:lnTo>
                  <a:pt x="2411663" y="2838756"/>
                </a:lnTo>
                <a:lnTo>
                  <a:pt x="2449947" y="2827862"/>
                </a:lnTo>
                <a:lnTo>
                  <a:pt x="2489028" y="2817383"/>
                </a:lnTo>
                <a:lnTo>
                  <a:pt x="2528936" y="2807345"/>
                </a:lnTo>
                <a:lnTo>
                  <a:pt x="2569701" y="2797771"/>
                </a:lnTo>
                <a:lnTo>
                  <a:pt x="2611355" y="2788688"/>
                </a:lnTo>
                <a:lnTo>
                  <a:pt x="2653928" y="2780121"/>
                </a:lnTo>
                <a:lnTo>
                  <a:pt x="2697451" y="2772094"/>
                </a:lnTo>
                <a:lnTo>
                  <a:pt x="2741954" y="2764634"/>
                </a:lnTo>
                <a:lnTo>
                  <a:pt x="2787468" y="2757764"/>
                </a:lnTo>
                <a:lnTo>
                  <a:pt x="2834024" y="2751511"/>
                </a:lnTo>
                <a:lnTo>
                  <a:pt x="2881652" y="2745899"/>
                </a:lnTo>
                <a:lnTo>
                  <a:pt x="2930383" y="2740953"/>
                </a:lnTo>
                <a:lnTo>
                  <a:pt x="2980247" y="2736700"/>
                </a:lnTo>
                <a:lnTo>
                  <a:pt x="3031276" y="2733163"/>
                </a:lnTo>
                <a:lnTo>
                  <a:pt x="3083499" y="2730369"/>
                </a:lnTo>
                <a:lnTo>
                  <a:pt x="3136947" y="2728341"/>
                </a:lnTo>
                <a:lnTo>
                  <a:pt x="3191652" y="2727107"/>
                </a:lnTo>
                <a:lnTo>
                  <a:pt x="3247644" y="2726690"/>
                </a:lnTo>
                <a:lnTo>
                  <a:pt x="324764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599646"/>
            <a:ext cx="2969641" cy="141513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0" spc="-10" dirty="0">
                <a:solidFill>
                  <a:srgbClr val="FFFFFF"/>
                </a:solidFill>
                <a:latin typeface="Calibri Light"/>
                <a:cs typeface="Calibri Light"/>
              </a:rPr>
              <a:t>Software </a:t>
            </a:r>
            <a:r>
              <a:rPr sz="3200" b="0" spc="-20" dirty="0">
                <a:solidFill>
                  <a:srgbClr val="FFFFFF"/>
                </a:solidFill>
                <a:latin typeface="Calibri Light"/>
                <a:cs typeface="Calibri Light"/>
              </a:rPr>
              <a:t>Development </a:t>
            </a:r>
            <a:r>
              <a:rPr sz="3200" b="0" spc="-10" dirty="0">
                <a:solidFill>
                  <a:srgbClr val="FFFFFF"/>
                </a:solidFill>
                <a:latin typeface="Calibri Light"/>
                <a:cs typeface="Calibri Light"/>
              </a:rPr>
              <a:t>Activities</a:t>
            </a:r>
            <a:r>
              <a:rPr lang="en-US" sz="3200" b="0" spc="-10" dirty="0">
                <a:solidFill>
                  <a:srgbClr val="FFFFFF"/>
                </a:solidFill>
                <a:latin typeface="Calibri Light"/>
                <a:cs typeface="Calibri Light"/>
              </a:rPr>
              <a:t>/Process</a:t>
            </a:r>
            <a:endParaRPr sz="32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9471" y="13688"/>
            <a:ext cx="5469635" cy="684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0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77AA-09F2-6C5A-DF0A-8D5275BC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</a:t>
            </a:r>
            <a:endParaRPr lang="en-PK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29B14-9A9D-DFFE-234A-442596E5BFF8}"/>
              </a:ext>
            </a:extLst>
          </p:cNvPr>
          <p:cNvSpPr txBox="1"/>
          <p:nvPr/>
        </p:nvSpPr>
        <p:spPr>
          <a:xfrm>
            <a:off x="838200" y="1859340"/>
            <a:ext cx="108966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Software construction is the central activity in software development; construction is the only activity that’s guaranteed to happen on every project.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main activities in construction are detailed design, coding, debugging, integration, and developer testing (unit testing and integration testing).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Other common terms for construction are “coding” and “programming.”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quality of the construction substantially affects the quality of the software.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the final analysis, your understanding of how to do construction determines how good a programmer you are, and that’s the subject of the rest of the book.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29995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752</Words>
  <Application>Microsoft Office PowerPoint</Application>
  <PresentationFormat>Widescreen</PresentationFormat>
  <Paragraphs>140</Paragraphs>
  <Slides>15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Calibri Light</vt:lpstr>
      <vt:lpstr>Wingdings</vt:lpstr>
      <vt:lpstr>Office Theme</vt:lpstr>
      <vt:lpstr>Software Construction and Development </vt:lpstr>
      <vt:lpstr>Learning Outcomes </vt:lpstr>
      <vt:lpstr>What is Software Construction? </vt:lpstr>
      <vt:lpstr>What is Software Development? </vt:lpstr>
      <vt:lpstr>Example (University Portal System)</vt:lpstr>
      <vt:lpstr>Introduction</vt:lpstr>
      <vt:lpstr>Relationship with other Knowledge areas</vt:lpstr>
      <vt:lpstr>Importance of Software Construction</vt:lpstr>
      <vt:lpstr>Software Engineer vs Software Developer</vt:lpstr>
      <vt:lpstr>Responsibilities – Software Engineer vs Software Developer</vt:lpstr>
      <vt:lpstr>Best Practice for Software Engineer</vt:lpstr>
      <vt:lpstr>Best Practice for Software Developer</vt:lpstr>
      <vt:lpstr>Challenges of Software Engineers &amp; Developers </vt:lpstr>
      <vt:lpstr>Software Development Activities/Process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Construction and Development</dc:title>
  <dc:creator>Sadaf Baloch</dc:creator>
  <cp:lastModifiedBy>Muhammad Khizar Hayat</cp:lastModifiedBy>
  <cp:revision>55</cp:revision>
  <dcterms:created xsi:type="dcterms:W3CDTF">2024-03-11T10:14:07Z</dcterms:created>
  <dcterms:modified xsi:type="dcterms:W3CDTF">2026-02-23T04:13:21Z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2024-03-11T00:00:00Z</vt:filetime>
  </property>
  <property fmtid="{D5CDD505-2E9C-101B-9397-08002B2CF9AE}" pid="5" name="Producer">
    <vt:lpwstr>Microsoft® PowerPoint® 2019</vt:lpwstr>
  </property>
</Properties>
</file>