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6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ria.kiran@ucp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Java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E66A997-589D-3728-02C5-B7C294290D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M Khizar Hayat</a:t>
            </a:r>
          </a:p>
          <a:p>
            <a:r>
              <a:rPr lang="en-US" sz="32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Email: Khizer.hayat@ucp.edu.pk</a:t>
            </a:r>
            <a:endParaRPr lang="en-US" sz="32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Office: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Building D, 2</a:t>
            </a:r>
            <a:r>
              <a:rPr lang="en-US" sz="32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nd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Floor</a:t>
            </a:r>
          </a:p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OFFICE HOURS: F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riday  (9:00 to 11:00)</a:t>
            </a:r>
          </a:p>
          <a:p>
            <a:endParaRPr lang="en-PK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latin typeface="+mn-lt"/>
              </a:rPr>
              <a:t>Lecture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sz="2800" dirty="0"/>
              <a:t>Understand Java in software development</a:t>
            </a:r>
          </a:p>
          <a:p>
            <a:pPr marL="0" indent="0">
              <a:buNone/>
            </a:pPr>
            <a:r>
              <a:rPr sz="2800" dirty="0"/>
              <a:t>• Explain JDK, IDEs, Build Tools</a:t>
            </a:r>
          </a:p>
          <a:p>
            <a:pPr marL="0" indent="0">
              <a:buNone/>
            </a:pPr>
            <a:r>
              <a:rPr sz="2800" dirty="0"/>
              <a:t>• Understand Java program structure</a:t>
            </a:r>
          </a:p>
          <a:p>
            <a:pPr marL="0" indent="0">
              <a:buNone/>
            </a:pPr>
            <a:r>
              <a:rPr sz="2800" dirty="0"/>
              <a:t>• Write &amp; compile a basic Java program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latin typeface="+mn-lt"/>
              </a:rPr>
              <a:t>What is Java?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800" dirty="0"/>
              <a:t>• High-level, object-oriented language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800" dirty="0"/>
              <a:t>• Platform independent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800" dirty="0"/>
              <a:t>• Strongly typed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800" dirty="0"/>
              <a:t>• Widely used in enterprise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latin typeface="+mn-lt"/>
              </a:rPr>
              <a:t>Java in Software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800" dirty="0"/>
              <a:t>• Strong OOP support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800" dirty="0"/>
              <a:t>• Modular design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800" dirty="0"/>
              <a:t>• Secure &amp; scalable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800" dirty="0"/>
              <a:t>• Used in enterprise &amp; backend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/>
              <a:t>Java Development Kit (JDK)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400" dirty="0"/>
              <a:t>Includes: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sz="2000" dirty="0"/>
              <a:t>• JVM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sz="2000" dirty="0"/>
              <a:t>• JRE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sz="2000" dirty="0"/>
              <a:t>• </a:t>
            </a:r>
            <a:r>
              <a:rPr sz="2000" dirty="0" err="1"/>
              <a:t>javac</a:t>
            </a:r>
            <a:r>
              <a:rPr sz="2000" dirty="0"/>
              <a:t> (Compiler)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sz="2000" dirty="0"/>
              <a:t>• Standard libraries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/>
              <a:t>IDEs for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0050" lvl="1" indent="0">
              <a:lnSpc>
                <a:spcPct val="150000"/>
              </a:lnSpc>
              <a:buNone/>
            </a:pPr>
            <a:r>
              <a:rPr sz="2000" dirty="0"/>
              <a:t>• IntelliJ IDEA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sz="2000" dirty="0"/>
              <a:t>• Eclipse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sz="2000" dirty="0"/>
              <a:t>• NetBeans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sz="2000" dirty="0"/>
              <a:t>• VS Code</a:t>
            </a:r>
          </a:p>
          <a:p>
            <a:pPr lvl="1"/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/>
              <a:t>Build Tools (Overview)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871" y="1600200"/>
            <a:ext cx="8229600" cy="452596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sz="2800" dirty="0"/>
              <a:t>• Maven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800" dirty="0"/>
              <a:t>• Gradle</a:t>
            </a:r>
          </a:p>
          <a:p>
            <a:endParaRPr dirty="0"/>
          </a:p>
          <a:p>
            <a:r>
              <a:rPr dirty="0"/>
              <a:t>Used for dependency management &amp; automation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latin typeface="+mn-lt"/>
              </a:rPr>
              <a:t>Basic Java Program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dirty="0"/>
              <a:t>public class HelloWorld {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/>
              <a:t>    public static void main(String[] </a:t>
            </a:r>
            <a:r>
              <a:rPr dirty="0" err="1"/>
              <a:t>args</a:t>
            </a:r>
            <a:r>
              <a:rPr dirty="0"/>
              <a:t>) {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/>
              <a:t>        </a:t>
            </a:r>
            <a:r>
              <a:rPr dirty="0" err="1"/>
              <a:t>System.out.println</a:t>
            </a:r>
            <a:r>
              <a:rPr dirty="0"/>
              <a:t>("Hello, World!");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/>
              <a:t>    }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Syntax &amp; First Java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// </a:t>
            </a:r>
            <a:r>
              <a:rPr lang="en-US" dirty="0">
                <a:solidFill>
                  <a:schemeClr val="tx2"/>
                </a:solidFill>
              </a:rPr>
              <a:t>Package Declaration (Optional)</a:t>
            </a:r>
          </a:p>
          <a:p>
            <a:pPr marL="0" indent="0">
              <a:buNone/>
            </a:pPr>
            <a:r>
              <a:rPr lang="en-US" dirty="0"/>
              <a:t>package </a:t>
            </a:r>
            <a:r>
              <a:rPr lang="en-US" dirty="0" err="1"/>
              <a:t>mypackage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// Import Statements (Optional)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java.util.Scanner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</a:t>
            </a:r>
            <a:r>
              <a:rPr lang="en-US" dirty="0">
                <a:solidFill>
                  <a:schemeClr val="tx2"/>
                </a:solidFill>
              </a:rPr>
              <a:t>Class Declaration (Every Java program has at least one class)</a:t>
            </a:r>
          </a:p>
          <a:p>
            <a:pPr marL="0" indent="0">
              <a:buNone/>
            </a:pPr>
            <a:r>
              <a:rPr lang="en-US" dirty="0"/>
              <a:t>public class HelloWorld {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chemeClr val="tx2"/>
                </a:solidFill>
              </a:rPr>
              <a:t>// Main Method (Entry point of the program)</a:t>
            </a:r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  </a:t>
            </a:r>
          </a:p>
          <a:p>
            <a:pPr marL="0" indent="0">
              <a:buNone/>
            </a:pPr>
            <a:r>
              <a:rPr lang="en-US" dirty="0"/>
              <a:t>        // </a:t>
            </a:r>
            <a:r>
              <a:rPr lang="en-US" dirty="0">
                <a:solidFill>
                  <a:schemeClr val="tx2"/>
                </a:solidFill>
              </a:rPr>
              <a:t>Statement (Executable code)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("Hello, World!");  </a:t>
            </a:r>
          </a:p>
          <a:p>
            <a:pPr marL="0" indent="0">
              <a:buNone/>
            </a:pPr>
            <a:r>
              <a:rPr lang="en-US" dirty="0"/>
              <a:t>    } 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latin typeface="+mn-lt"/>
              </a:rPr>
              <a:t>Class Declaration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public class HelloWorld</a:t>
            </a:r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sz="2400" dirty="0"/>
              <a:t>• Every program must have a class</a:t>
            </a:r>
          </a:p>
          <a:p>
            <a:pPr marL="0" indent="0">
              <a:buNone/>
            </a:pPr>
            <a:r>
              <a:rPr sz="2400" dirty="0"/>
              <a:t>• Class name = File name</a:t>
            </a:r>
          </a:p>
          <a:p>
            <a:pPr marL="0" indent="0">
              <a:buNone/>
            </a:pPr>
            <a:r>
              <a:rPr sz="2400" dirty="0"/>
              <a:t>• Java is class-based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/>
              <a:t>Main Method (Entry Point)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public static void main(String[] </a:t>
            </a:r>
            <a:r>
              <a:rPr sz="2400" dirty="0" err="1"/>
              <a:t>args</a:t>
            </a:r>
            <a:r>
              <a:rPr sz="2400" dirty="0"/>
              <a:t>)</a:t>
            </a:r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sz="2400" dirty="0"/>
              <a:t>• Execution starts here</a:t>
            </a:r>
          </a:p>
          <a:p>
            <a:pPr marL="0" indent="0">
              <a:buNone/>
            </a:pPr>
            <a:r>
              <a:rPr sz="2400" dirty="0"/>
              <a:t>• public, static, void explained</a:t>
            </a:r>
          </a:p>
          <a:p>
            <a:pPr marL="0" indent="0">
              <a:buNone/>
            </a:pPr>
            <a:r>
              <a:rPr sz="2400" dirty="0"/>
              <a:t>• String[] </a:t>
            </a:r>
            <a:r>
              <a:rPr sz="2400" dirty="0" err="1"/>
              <a:t>args</a:t>
            </a:r>
            <a:r>
              <a:rPr sz="2400" dirty="0"/>
              <a:t> = command line arguments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/>
              <a:t>Output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 err="1"/>
              <a:t>System.out.println</a:t>
            </a:r>
            <a:r>
              <a:rPr sz="2400" dirty="0"/>
              <a:t>("Hello");</a:t>
            </a:r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sz="2400" dirty="0"/>
              <a:t>• System</a:t>
            </a:r>
            <a:r>
              <a:rPr lang="en-US" sz="2400" dirty="0"/>
              <a:t>:</a:t>
            </a:r>
            <a:r>
              <a:rPr sz="2400" dirty="0"/>
              <a:t> predefined class</a:t>
            </a:r>
          </a:p>
          <a:p>
            <a:pPr marL="0" indent="0">
              <a:buNone/>
            </a:pPr>
            <a:r>
              <a:rPr sz="2400" dirty="0"/>
              <a:t>• out</a:t>
            </a:r>
            <a:r>
              <a:rPr lang="en-US" sz="2400" dirty="0"/>
              <a:t>: </a:t>
            </a:r>
            <a:r>
              <a:rPr sz="2400" dirty="0"/>
              <a:t>output object</a:t>
            </a:r>
          </a:p>
          <a:p>
            <a:pPr marL="0" indent="0">
              <a:buNone/>
            </a:pPr>
            <a:r>
              <a:rPr sz="2400" dirty="0"/>
              <a:t>• </a:t>
            </a:r>
            <a:r>
              <a:rPr sz="2400" dirty="0" err="1"/>
              <a:t>println</a:t>
            </a:r>
            <a:r>
              <a:rPr sz="2400" dirty="0"/>
              <a:t>()</a:t>
            </a:r>
            <a:r>
              <a:rPr lang="en-US" sz="2400" dirty="0"/>
              <a:t>:</a:t>
            </a:r>
            <a:r>
              <a:rPr sz="2400" dirty="0"/>
              <a:t> prints line</a:t>
            </a:r>
          </a:p>
          <a:p>
            <a:pPr marL="0" indent="0">
              <a:buNone/>
            </a:pPr>
            <a:r>
              <a:rPr sz="2400" dirty="0"/>
              <a:t>• Statements end with 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/>
              <a:t>Compilation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Write HelloWorld.java</a:t>
            </a:r>
          </a:p>
          <a:p>
            <a:pPr marL="0" indent="0">
              <a:buNone/>
            </a:pPr>
            <a:r>
              <a:rPr dirty="0"/>
              <a:t>2. Compile: </a:t>
            </a:r>
            <a:r>
              <a:rPr dirty="0" err="1"/>
              <a:t>javac</a:t>
            </a:r>
            <a:r>
              <a:rPr dirty="0"/>
              <a:t> HelloWorld.java</a:t>
            </a:r>
          </a:p>
          <a:p>
            <a:pPr marL="0" indent="0">
              <a:buNone/>
            </a:pPr>
            <a:r>
              <a:rPr dirty="0"/>
              <a:t>3. Run: java HelloWorld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Produces </a:t>
            </a:r>
            <a:r>
              <a:rPr dirty="0" err="1"/>
              <a:t>HelloWorld.class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latin typeface="+mn-lt"/>
              </a:rPr>
              <a:t>Java Execution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Source Code (.java)</a:t>
            </a:r>
          </a:p>
          <a:p>
            <a:pPr marL="0" indent="0">
              <a:buNone/>
            </a:pPr>
            <a:r>
              <a:rPr lang="en-US" sz="2800" dirty="0"/>
              <a:t>               </a:t>
            </a:r>
            <a:r>
              <a:rPr sz="2800" dirty="0"/>
              <a:t>↓</a:t>
            </a:r>
          </a:p>
          <a:p>
            <a:r>
              <a:rPr sz="2800" dirty="0"/>
              <a:t>Compiler (</a:t>
            </a:r>
            <a:r>
              <a:rPr sz="2800" dirty="0" err="1"/>
              <a:t>javac</a:t>
            </a:r>
            <a:r>
              <a:rPr sz="2800" dirty="0"/>
              <a:t>)</a:t>
            </a:r>
          </a:p>
          <a:p>
            <a:pPr marL="0" indent="0">
              <a:buNone/>
            </a:pPr>
            <a:r>
              <a:rPr lang="en-US" sz="2800" dirty="0"/>
              <a:t>               </a:t>
            </a:r>
            <a:r>
              <a:rPr sz="2800" dirty="0"/>
              <a:t>↓</a:t>
            </a:r>
          </a:p>
          <a:p>
            <a:r>
              <a:rPr sz="2800" dirty="0"/>
              <a:t>Bytecode (.class)</a:t>
            </a:r>
          </a:p>
          <a:p>
            <a:pPr marL="0" indent="0">
              <a:buNone/>
            </a:pPr>
            <a:r>
              <a:rPr lang="en-US" sz="2800" dirty="0"/>
              <a:t>               </a:t>
            </a:r>
            <a:r>
              <a:rPr sz="2800" dirty="0"/>
              <a:t>↓</a:t>
            </a:r>
          </a:p>
          <a:p>
            <a:r>
              <a:rPr sz="2800" dirty="0"/>
              <a:t>JVM executes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Basic Syntax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800" dirty="0"/>
              <a:t>• Case sensitive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800" dirty="0"/>
              <a:t>• Statements end with ;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800" dirty="0"/>
              <a:t>• Curly braces define blocks { }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800" dirty="0"/>
              <a:t>• File name = class name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800" dirty="0"/>
              <a:t>• Must have main()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latin typeface="+mn-lt"/>
              </a:rPr>
              <a:t>Variables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400" dirty="0"/>
              <a:t>public class Test {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400" dirty="0"/>
              <a:t>  public static void main(String[] </a:t>
            </a:r>
            <a:r>
              <a:rPr sz="2400" dirty="0" err="1"/>
              <a:t>args</a:t>
            </a:r>
            <a:r>
              <a:rPr sz="2400" dirty="0"/>
              <a:t>) {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400" dirty="0"/>
              <a:t>    int age = 20;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400" dirty="0"/>
              <a:t>    String name = "Ali";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400" dirty="0"/>
              <a:t>    </a:t>
            </a:r>
            <a:r>
              <a:rPr sz="2400" dirty="0" err="1"/>
              <a:t>System.out.println</a:t>
            </a:r>
            <a:r>
              <a:rPr sz="2400" dirty="0"/>
              <a:t>(name);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400" dirty="0"/>
              <a:t>  }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400" dirty="0"/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latin typeface="+mn-lt"/>
              </a:rPr>
              <a:t>Method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400" dirty="0"/>
              <a:t>public class Calculator {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400" dirty="0"/>
              <a:t>  public static int add(int a, int b) {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400" dirty="0"/>
              <a:t>    return a + b;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400" dirty="0"/>
              <a:t>  }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400" dirty="0"/>
              <a:t>  public static void main(String[] </a:t>
            </a:r>
            <a:r>
              <a:rPr sz="2400" dirty="0" err="1"/>
              <a:t>args</a:t>
            </a:r>
            <a:r>
              <a:rPr sz="2400" dirty="0"/>
              <a:t>) {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400" dirty="0"/>
              <a:t>    </a:t>
            </a:r>
            <a:r>
              <a:rPr sz="2400" dirty="0" err="1"/>
              <a:t>System.out.println</a:t>
            </a:r>
            <a:r>
              <a:rPr sz="2400" dirty="0"/>
              <a:t>(add(5,3));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400" dirty="0"/>
              <a:t>  }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400" dirty="0"/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Class Activity</a:t>
            </a:r>
            <a:endParaRPr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400" dirty="0"/>
              <a:t>Write a Java program that: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sz="2000" dirty="0"/>
              <a:t>• Declares your name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sz="2000" dirty="0"/>
              <a:t>• Declares your age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sz="2000" dirty="0"/>
              <a:t>• Prints both values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+mn-lt"/>
              </a:rPr>
              <a:t>Class Activity</a:t>
            </a:r>
            <a:endParaRPr sz="36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400" dirty="0"/>
              <a:t>Write a program that: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sz="2000" dirty="0"/>
              <a:t>• Takes two integers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sz="2000" dirty="0"/>
              <a:t>• Prints their sum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sz="2000" dirty="0"/>
              <a:t>• Prints whether sum is even or odd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/>
              <a:t>Common Beginner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400" dirty="0"/>
              <a:t>• File name mismatch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400" dirty="0"/>
              <a:t>• Missing semicolon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400" dirty="0"/>
              <a:t>• Wrong main method syntax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400" dirty="0"/>
              <a:t>• Capitalization mistakes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400" dirty="0"/>
              <a:t>• Java ecosystem overview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400" dirty="0"/>
              <a:t>• JDK, IDEs, Build tools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400" dirty="0"/>
              <a:t>• Java program structure (main focus)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400" dirty="0"/>
              <a:t>• Compilation &amp; execution process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620</Words>
  <Application>Microsoft Office PowerPoint</Application>
  <PresentationFormat>On-screen Show (4:3)</PresentationFormat>
  <Paragraphs>134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Introduction to Java</vt:lpstr>
      <vt:lpstr>Lecture Objectives</vt:lpstr>
      <vt:lpstr>What is Java?</vt:lpstr>
      <vt:lpstr>Java in Software Development</vt:lpstr>
      <vt:lpstr>Java Development Kit (JDK)</vt:lpstr>
      <vt:lpstr>IDEs for Java</vt:lpstr>
      <vt:lpstr>Build Tools (Overview)</vt:lpstr>
      <vt:lpstr>Basic Java Program Structure</vt:lpstr>
      <vt:lpstr>Java Syntax &amp; First Java Program</vt:lpstr>
      <vt:lpstr>Class Declaration</vt:lpstr>
      <vt:lpstr>Main Method (Entry Point)</vt:lpstr>
      <vt:lpstr>Output Statement</vt:lpstr>
      <vt:lpstr>Compilation Process</vt:lpstr>
      <vt:lpstr>Java Execution Flow</vt:lpstr>
      <vt:lpstr>Basic Syntax Rules</vt:lpstr>
      <vt:lpstr>Variables Example</vt:lpstr>
      <vt:lpstr>Method Example</vt:lpstr>
      <vt:lpstr>Class Activity</vt:lpstr>
      <vt:lpstr>Class Activity</vt:lpstr>
      <vt:lpstr>Common Beginner Errors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</dc:title>
  <dc:subject/>
  <dc:creator>Hafiza Maria Kiran</dc:creator>
  <cp:keywords/>
  <dc:description>generated using python-pptx</dc:description>
  <cp:lastModifiedBy>Muhammad Khizar Hayat</cp:lastModifiedBy>
  <cp:revision>21</cp:revision>
  <dcterms:created xsi:type="dcterms:W3CDTF">2013-01-27T09:14:16Z</dcterms:created>
  <dcterms:modified xsi:type="dcterms:W3CDTF">2026-03-08T09:43:34Z</dcterms:modified>
  <cp:category/>
</cp:coreProperties>
</file>