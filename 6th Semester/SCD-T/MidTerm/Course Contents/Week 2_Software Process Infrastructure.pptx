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9"/>
  </p:notesMasterIdLst>
  <p:sldIdLst>
    <p:sldId id="256" r:id="rId2"/>
    <p:sldId id="360" r:id="rId3"/>
    <p:sldId id="348" r:id="rId4"/>
    <p:sldId id="347" r:id="rId5"/>
    <p:sldId id="350" r:id="rId6"/>
    <p:sldId id="351" r:id="rId7"/>
    <p:sldId id="352" r:id="rId8"/>
    <p:sldId id="353" r:id="rId9"/>
    <p:sldId id="354" r:id="rId10"/>
    <p:sldId id="328" r:id="rId11"/>
    <p:sldId id="367" r:id="rId12"/>
    <p:sldId id="368" r:id="rId13"/>
    <p:sldId id="369" r:id="rId14"/>
    <p:sldId id="371" r:id="rId15"/>
    <p:sldId id="373" r:id="rId16"/>
    <p:sldId id="374" r:id="rId17"/>
    <p:sldId id="375" r:id="rId18"/>
    <p:sldId id="376" r:id="rId19"/>
    <p:sldId id="377" r:id="rId20"/>
    <p:sldId id="378" r:id="rId21"/>
    <p:sldId id="379" r:id="rId22"/>
    <p:sldId id="380" r:id="rId23"/>
    <p:sldId id="386" r:id="rId24"/>
    <p:sldId id="387" r:id="rId25"/>
    <p:sldId id="388" r:id="rId26"/>
    <p:sldId id="258" r:id="rId27"/>
    <p:sldId id="259" r:id="rId28"/>
    <p:sldId id="265" r:id="rId29"/>
    <p:sldId id="260" r:id="rId30"/>
    <p:sldId id="262" r:id="rId31"/>
    <p:sldId id="263" r:id="rId32"/>
    <p:sldId id="294" r:id="rId33"/>
    <p:sldId id="295" r:id="rId34"/>
    <p:sldId id="307" r:id="rId35"/>
    <p:sldId id="308" r:id="rId36"/>
    <p:sldId id="389" r:id="rId37"/>
    <p:sldId id="390" r:id="rId38"/>
  </p:sldIdLst>
  <p:sldSz cx="12192000" cy="6858000"/>
  <p:notesSz cx="6858000" cy="9144000"/>
  <p:embeddedFontLst>
    <p:embeddedFont>
      <p:font typeface="Calibri" panose="020F0502020204030204" pitchFamily="34" charset="0"/>
      <p:regular r:id="rId40"/>
      <p:bold r:id="rId41"/>
      <p:italic r:id="rId42"/>
      <p:boldItalic r:id="rId43"/>
    </p:embeddedFont>
    <p:embeddedFont>
      <p:font typeface="Calibri Light" panose="020F0302020204030204" pitchFamily="34" charset="0"/>
      <p:regular r:id="rId44"/>
      <p:italic r:id="rId45"/>
    </p:embeddedFont>
    <p:embeddedFont>
      <p:font typeface="Lucida Console" panose="020B0609040504020204" pitchFamily="49" charset="0"/>
      <p:regular r:id="rId46"/>
    </p:embeddedFont>
    <p:embeddedFont>
      <p:font typeface="Wingdings 2" panose="05020102010507070707" pitchFamily="18" charset="2"/>
      <p:regular r:id="rId47"/>
    </p:embeddedFont>
  </p:embeddedFontLst>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84" y="1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855794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093200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1775801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2010588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799589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93218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729041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4226417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781024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02545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xfrm>
            <a:off x="381000" y="685800"/>
            <a:ext cx="6096000" cy="3429000"/>
          </a:xfrm>
          <a:ln/>
        </p:spPr>
      </p:sp>
      <p:sp>
        <p:nvSpPr>
          <p:cNvPr id="71683" name="Notes Placeholder 2"/>
          <p:cNvSpPr txBox="1">
            <a:spLocks noGrp="1"/>
          </p:cNvSpPr>
          <p:nvPr>
            <p:ph type="body" idx="1"/>
          </p:nvPr>
        </p:nvSpPr>
        <p:spPr>
          <a:noFill/>
          <a:ln/>
        </p:spPr>
        <p:txBody>
          <a:bodyPr/>
          <a:lstStyle/>
          <a:p>
            <a:endParaRPr lang="en-US"/>
          </a:p>
        </p:txBody>
      </p:sp>
    </p:spTree>
    <p:extLst>
      <p:ext uri="{BB962C8B-B14F-4D97-AF65-F5344CB8AC3E}">
        <p14:creationId xmlns:p14="http://schemas.microsoft.com/office/powerpoint/2010/main" val="3492410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3152847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2287612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4164180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1283923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21149859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Notes Placeholder"/>
          <p:cNvSpPr>
            <a:spLocks noGrp="1"/>
          </p:cNvSpPr>
          <p:nvPr>
            <p:ph type="body" idx="1"/>
          </p:nvPr>
        </p:nvSpPr>
        <p:spPr bwMode="auto">
          <a:xfrm>
            <a:off x="-1486719449"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p>
        </p:txBody>
      </p:sp>
    </p:spTree>
    <p:extLst>
      <p:ext uri="{BB962C8B-B14F-4D97-AF65-F5344CB8AC3E}">
        <p14:creationId xmlns:p14="http://schemas.microsoft.com/office/powerpoint/2010/main" val="1890624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85C6D-601F-867F-29A9-6724C6E0A5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3C6075A8-1C78-4135-428B-818BAB0C1B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63173D7-40C0-AB52-61B1-4241DE35F976}"/>
              </a:ext>
            </a:extLst>
          </p:cNvPr>
          <p:cNvSpPr>
            <a:spLocks noGrp="1"/>
          </p:cNvSpPr>
          <p:nvPr>
            <p:ph type="dt" sz="half" idx="10"/>
          </p:nvPr>
        </p:nvSpPr>
        <p:spPr/>
        <p:txBody>
          <a:bodyPr/>
          <a:lstStyle/>
          <a:p>
            <a:fld id="{43343F5B-246D-4F37-9175-C152DFACA66B}" type="datetimeFigureOut">
              <a:rPr lang="en-GB" smtClean="0"/>
              <a:t>30/03/2026</a:t>
            </a:fld>
            <a:endParaRPr lang="en-GB"/>
          </a:p>
        </p:txBody>
      </p:sp>
      <p:sp>
        <p:nvSpPr>
          <p:cNvPr id="5" name="Footer Placeholder 4">
            <a:extLst>
              <a:ext uri="{FF2B5EF4-FFF2-40B4-BE49-F238E27FC236}">
                <a16:creationId xmlns:a16="http://schemas.microsoft.com/office/drawing/2014/main" id="{B6F20634-BB17-80A5-5E87-BB037BC233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03F569-E069-4908-A5C4-E9EAB08EF340}"/>
              </a:ext>
            </a:extLst>
          </p:cNvPr>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489993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99D55-4900-0025-A31E-75316971E3B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7C9A7BE8-24FF-85EE-CD37-BBB2DDB3E2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0C9C146-0235-15DF-2253-F91D58CCF466}"/>
              </a:ext>
            </a:extLst>
          </p:cNvPr>
          <p:cNvSpPr>
            <a:spLocks noGrp="1"/>
          </p:cNvSpPr>
          <p:nvPr>
            <p:ph type="dt" sz="half" idx="10"/>
          </p:nvPr>
        </p:nvSpPr>
        <p:spPr/>
        <p:txBody>
          <a:bodyPr/>
          <a:lstStyle/>
          <a:p>
            <a:fld id="{43343F5B-246D-4F37-9175-C152DFACA66B}" type="datetimeFigureOut">
              <a:rPr lang="en-GB" smtClean="0"/>
              <a:t>30/03/2026</a:t>
            </a:fld>
            <a:endParaRPr lang="en-GB"/>
          </a:p>
        </p:txBody>
      </p:sp>
      <p:sp>
        <p:nvSpPr>
          <p:cNvPr id="5" name="Footer Placeholder 4">
            <a:extLst>
              <a:ext uri="{FF2B5EF4-FFF2-40B4-BE49-F238E27FC236}">
                <a16:creationId xmlns:a16="http://schemas.microsoft.com/office/drawing/2014/main" id="{A02186D9-A319-5CA6-C9AD-4D0DB57CF8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254381-3EB6-F636-3532-A1F09CFC9956}"/>
              </a:ext>
            </a:extLst>
          </p:cNvPr>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3940205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275F-1220-B6B9-87CE-0F8FA96322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9362E1F4-EB96-B05D-9EF5-2E254257D9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5C3336-4534-C432-39F6-48D9BE11D189}"/>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5" name="Footer Placeholder 4">
            <a:extLst>
              <a:ext uri="{FF2B5EF4-FFF2-40B4-BE49-F238E27FC236}">
                <a16:creationId xmlns:a16="http://schemas.microsoft.com/office/drawing/2014/main" id="{B291022A-9D51-B81C-E0A5-4C0143D4D7C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2FA5ABB-9002-FF3E-03DA-7743C84D8C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38177298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C137-1A13-835B-CF6F-9C93ED9EF9CE}"/>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95FF67D-4A86-F33E-85E9-9A66F62FF5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6218F343-276B-AA01-E4BD-6FB707FAB8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463183B9-8757-5819-9B55-A9D6464DDB17}"/>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6" name="Footer Placeholder 5">
            <a:extLst>
              <a:ext uri="{FF2B5EF4-FFF2-40B4-BE49-F238E27FC236}">
                <a16:creationId xmlns:a16="http://schemas.microsoft.com/office/drawing/2014/main" id="{831B4AE8-EA05-91C2-CC60-1C6F0E99708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2D94984-A780-2EA3-50D7-560EFDCBA9F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01655694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B3FA7-3707-0FEA-6990-07AE1CA8B4F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DA7BFA8-C0FB-319B-D9F9-0EE0BB033B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68DC0D-DC77-4904-FA4D-3C19185672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AA68142-7499-3EF0-B31B-470F69541A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060F8-C794-B4AE-D564-E063C32BBB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6054AD4B-6A1F-D1CC-4E28-2850F94DDAED}"/>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8" name="Footer Placeholder 7">
            <a:extLst>
              <a:ext uri="{FF2B5EF4-FFF2-40B4-BE49-F238E27FC236}">
                <a16:creationId xmlns:a16="http://schemas.microsoft.com/office/drawing/2014/main" id="{409E674E-4183-892F-92E2-AFB5796566C2}"/>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97B375A5-39D1-A048-449D-3378FDFFA7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1812482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00D18-1EBE-E3D4-F1C6-070E78EABCC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6EC20BF-F7E7-7436-D2EB-1EFCB4E17E52}"/>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4" name="Footer Placeholder 3">
            <a:extLst>
              <a:ext uri="{FF2B5EF4-FFF2-40B4-BE49-F238E27FC236}">
                <a16:creationId xmlns:a16="http://schemas.microsoft.com/office/drawing/2014/main" id="{296A0006-0C2C-8818-9949-01F1ACA72E1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A7E81AB-B717-BB13-A06A-E4F527A653A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696161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DD37BB-EDF8-A579-EC74-699956FF92B5}"/>
              </a:ext>
            </a:extLst>
          </p:cNvPr>
          <p:cNvSpPr>
            <a:spLocks noGrp="1"/>
          </p:cNvSpPr>
          <p:nvPr>
            <p:ph type="dt" sz="half" idx="10"/>
          </p:nvPr>
        </p:nvSpPr>
        <p:spPr/>
        <p:txBody>
          <a:bodyPr/>
          <a:lstStyle/>
          <a:p>
            <a:fld id="{43343F5B-246D-4F37-9175-C152DFACA66B}" type="datetimeFigureOut">
              <a:rPr lang="en-GB" smtClean="0"/>
              <a:t>30/03/2026</a:t>
            </a:fld>
            <a:endParaRPr lang="en-GB"/>
          </a:p>
        </p:txBody>
      </p:sp>
      <p:sp>
        <p:nvSpPr>
          <p:cNvPr id="3" name="Footer Placeholder 2">
            <a:extLst>
              <a:ext uri="{FF2B5EF4-FFF2-40B4-BE49-F238E27FC236}">
                <a16:creationId xmlns:a16="http://schemas.microsoft.com/office/drawing/2014/main" id="{D1637479-96C2-B9E8-5BE5-D84DC2562FC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1B7FD4E-9821-C4BF-F6E3-3F00C7294950}"/>
              </a:ext>
            </a:extLst>
          </p:cNvPr>
          <p:cNvSpPr>
            <a:spLocks noGrp="1"/>
          </p:cNvSpPr>
          <p:nvPr>
            <p:ph type="sldNum" sz="quarter" idx="12"/>
          </p:nvPr>
        </p:nvSpPr>
        <p:spPr/>
        <p:txBody>
          <a:bodyPr/>
          <a:lstStyle/>
          <a:p>
            <a:fld id="{83B8F8A4-A9E9-4D9F-8AA4-57B6F1DE9603}" type="slidenum">
              <a:rPr lang="en-GB" smtClean="0"/>
              <a:t>‹#›</a:t>
            </a:fld>
            <a:endParaRPr lang="en-GB"/>
          </a:p>
        </p:txBody>
      </p:sp>
    </p:spTree>
    <p:extLst>
      <p:ext uri="{BB962C8B-B14F-4D97-AF65-F5344CB8AC3E}">
        <p14:creationId xmlns:p14="http://schemas.microsoft.com/office/powerpoint/2010/main" val="396142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49AB1-28ED-0420-B331-2E5842A20F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6BE2C9F8-E9F9-28E1-7BC1-FA5CC1801E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D151FD2F-AA43-6707-CBFD-BE954C914C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545859-D34D-AB5E-3462-6713F7380191}"/>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6" name="Footer Placeholder 5">
            <a:extLst>
              <a:ext uri="{FF2B5EF4-FFF2-40B4-BE49-F238E27FC236}">
                <a16:creationId xmlns:a16="http://schemas.microsoft.com/office/drawing/2014/main" id="{F1636604-1D5B-6BA6-2571-2A46363B341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4016B5D2-AA3C-46E1-9F38-3B7EFB5832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40179256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038A5-2FF0-CC7D-27CA-F9AFF55CCE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BF5FAF3-716C-6573-5615-087EE1B2CC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C0F1ADCE-E4D1-11A4-2837-6A3A7A8980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28CBF0-1A94-C194-1971-BC3FB9A52F46}"/>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6" name="Footer Placeholder 5">
            <a:extLst>
              <a:ext uri="{FF2B5EF4-FFF2-40B4-BE49-F238E27FC236}">
                <a16:creationId xmlns:a16="http://schemas.microsoft.com/office/drawing/2014/main" id="{44DEF1D9-A908-2C3A-5340-B22BE3AB4EF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57097D3E-72E4-56D5-6C90-B9AB7E4131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7915553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4AE6E-B79E-3272-D0D5-1DC35B80386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8EAA00F-2416-44B8-41FE-DF207099FC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901ED77-9311-E15F-F5E5-A0E7E9863109}"/>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5" name="Footer Placeholder 4">
            <a:extLst>
              <a:ext uri="{FF2B5EF4-FFF2-40B4-BE49-F238E27FC236}">
                <a16:creationId xmlns:a16="http://schemas.microsoft.com/office/drawing/2014/main" id="{D2DEF21A-9407-518A-7D2F-873B4916D80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407C507-2956-ABAD-0BA6-F5B9767C46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39841825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1E7733-94D1-7621-3891-F81BB38992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DD0C7F5-CF4A-765D-85DC-FF105EF8B3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5E291196-2285-3A09-F9B7-A240CF0DDF11}"/>
              </a:ext>
            </a:extLst>
          </p:cNvPr>
          <p:cNvSpPr>
            <a:spLocks noGrp="1"/>
          </p:cNvSpPr>
          <p:nvPr>
            <p:ph type="dt" sz="half" idx="10"/>
          </p:nvPr>
        </p:nvSpPr>
        <p:spPr/>
        <p:txBody>
          <a:bodyPr/>
          <a:lstStyle/>
          <a:p>
            <a:fld id="{E353C002-A6F2-49A7-9D7F-728F975A8FEA}" type="datetimeFigureOut">
              <a:rPr lang="en-PK" smtClean="0"/>
              <a:t>03/30/2026</a:t>
            </a:fld>
            <a:endParaRPr lang="en-PK"/>
          </a:p>
        </p:txBody>
      </p:sp>
      <p:sp>
        <p:nvSpPr>
          <p:cNvPr id="5" name="Footer Placeholder 4">
            <a:extLst>
              <a:ext uri="{FF2B5EF4-FFF2-40B4-BE49-F238E27FC236}">
                <a16:creationId xmlns:a16="http://schemas.microsoft.com/office/drawing/2014/main" id="{663E53C0-5DC7-1957-BA07-0B5D1F809BD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8AEBB81-2538-C202-6969-88EC1336C0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0222913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6CC6FB-86A9-990D-BD1A-51A95311F3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559555F2-B386-B645-2C6A-943089FD6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BE1B496-A939-2587-7F2C-956C8B8AAF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53C002-A6F2-49A7-9D7F-728F975A8FEA}" type="datetimeFigureOut">
              <a:rPr lang="en-PK" smtClean="0"/>
              <a:t>03/30/2026</a:t>
            </a:fld>
            <a:endParaRPr lang="en-PK"/>
          </a:p>
        </p:txBody>
      </p:sp>
      <p:sp>
        <p:nvSpPr>
          <p:cNvPr id="5" name="Footer Placeholder 4">
            <a:extLst>
              <a:ext uri="{FF2B5EF4-FFF2-40B4-BE49-F238E27FC236}">
                <a16:creationId xmlns:a16="http://schemas.microsoft.com/office/drawing/2014/main" id="{33E1B65A-E3CE-C937-66E9-22A05957C9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852518F3-D9B7-7EC3-AC8D-9E41F35A73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6256927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ria.kiran@ucp.edu.pk" TargetMode="Externa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066800"/>
            <a:ext cx="9601200" cy="2382062"/>
          </a:xfrm>
          <a:prstGeom prst="rect">
            <a:avLst/>
          </a:prstGeom>
        </p:spPr>
        <p:txBody>
          <a:bodyPr vert="horz" wrap="square" lIns="0" tIns="116205" rIns="0" bIns="0" rtlCol="0">
            <a:spAutoFit/>
          </a:bodyPr>
          <a:lstStyle/>
          <a:p>
            <a:pPr marL="12065" marR="5080" algn="ctr">
              <a:lnSpc>
                <a:spcPts val="6480"/>
              </a:lnSpc>
              <a:spcBef>
                <a:spcPts val="915"/>
              </a:spcBef>
            </a:pPr>
            <a:r>
              <a:rPr sz="4000" b="1" dirty="0">
                <a:latin typeface="Calibri Light"/>
                <a:cs typeface="Calibri Light"/>
              </a:rPr>
              <a:t>Software</a:t>
            </a:r>
            <a:r>
              <a:rPr sz="4000" b="1" spc="-135" dirty="0">
                <a:latin typeface="Calibri Light"/>
                <a:cs typeface="Calibri Light"/>
              </a:rPr>
              <a:t> </a:t>
            </a:r>
            <a:r>
              <a:rPr sz="4000" b="1" dirty="0">
                <a:latin typeface="Calibri Light"/>
                <a:cs typeface="Calibri Light"/>
              </a:rPr>
              <a:t>Construction</a:t>
            </a:r>
            <a:r>
              <a:rPr sz="4000" b="1" spc="-145" dirty="0">
                <a:latin typeface="Calibri Light"/>
                <a:cs typeface="Calibri Light"/>
              </a:rPr>
              <a:t> </a:t>
            </a:r>
            <a:r>
              <a:rPr sz="4000" b="1" spc="-25" dirty="0">
                <a:latin typeface="Calibri Light"/>
                <a:cs typeface="Calibri Light"/>
              </a:rPr>
              <a:t>and </a:t>
            </a:r>
            <a:r>
              <a:rPr sz="4000" b="1" spc="-10" dirty="0">
                <a:latin typeface="Calibri Light"/>
                <a:cs typeface="Calibri Light"/>
              </a:rPr>
              <a:t>Development</a:t>
            </a:r>
            <a:br>
              <a:rPr lang="en-US" sz="4000" b="1" spc="-10" dirty="0">
                <a:latin typeface="Calibri Light"/>
                <a:cs typeface="Calibri Light"/>
              </a:rPr>
            </a:br>
            <a:r>
              <a:rPr lang="en-US" sz="2000" b="1" spc="-10" dirty="0">
                <a:latin typeface="Calibri Light"/>
                <a:cs typeface="Calibri Light"/>
              </a:rPr>
              <a:t>Software Engineering Process Infrastructure</a:t>
            </a:r>
            <a:endParaRPr sz="4000" b="1" dirty="0">
              <a:latin typeface="Calibri Light"/>
              <a:cs typeface="Calibri Light"/>
            </a:endParaRPr>
          </a:p>
          <a:p>
            <a:pPr algn="ctr">
              <a:lnSpc>
                <a:spcPct val="100000"/>
              </a:lnSpc>
              <a:spcBef>
                <a:spcPts val="1290"/>
              </a:spcBef>
            </a:pPr>
            <a:endParaRPr sz="2800" b="1" dirty="0">
              <a:latin typeface="Calibri"/>
              <a:cs typeface="Calibri"/>
            </a:endParaRPr>
          </a:p>
        </p:txBody>
      </p:sp>
      <p:sp>
        <p:nvSpPr>
          <p:cNvPr id="3" name="Subtitle 2">
            <a:extLst>
              <a:ext uri="{FF2B5EF4-FFF2-40B4-BE49-F238E27FC236}">
                <a16:creationId xmlns:a16="http://schemas.microsoft.com/office/drawing/2014/main" id="{53F914AA-C8D9-828D-8ED7-755490335039}"/>
              </a:ext>
            </a:extLst>
          </p:cNvPr>
          <p:cNvSpPr txBox="1">
            <a:spLocks/>
          </p:cNvSpPr>
          <p:nvPr/>
        </p:nvSpPr>
        <p:spPr>
          <a:xfrm>
            <a:off x="1828800" y="4067426"/>
            <a:ext cx="7669904" cy="2248921"/>
          </a:xfrm>
          <a:prstGeom prst="rect">
            <a:avLst/>
          </a:prstGeom>
        </p:spPr>
        <p:txBody>
          <a:bodyPr>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US" sz="2200" dirty="0">
                <a:latin typeface="Calibri" panose="020F0502020204030204" pitchFamily="34" charset="0"/>
                <a:cs typeface="Calibri" panose="020F0502020204030204" pitchFamily="34" charset="0"/>
              </a:rPr>
              <a:t>M Khizar Hayat</a:t>
            </a:r>
          </a:p>
          <a:p>
            <a:r>
              <a:rPr lang="en-US" sz="2200" dirty="0">
                <a:solidFill>
                  <a:srgbClr val="0070C0"/>
                </a:solidFill>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Email: Khizerhayat@ucp.edu.pk</a:t>
            </a:r>
            <a:endParaRPr lang="en-US" sz="2200" dirty="0">
              <a:solidFill>
                <a:srgbClr val="0070C0"/>
              </a:solidFill>
              <a:latin typeface="Calibri" panose="020F0502020204030204" pitchFamily="34" charset="0"/>
              <a:cs typeface="Calibri" panose="020F0502020204030204" pitchFamily="34" charset="0"/>
            </a:endParaRPr>
          </a:p>
          <a:p>
            <a:r>
              <a:rPr lang="en-US" sz="2200" b="1" dirty="0">
                <a:latin typeface="Calibri" panose="020F0502020204030204" pitchFamily="34" charset="0"/>
                <a:cs typeface="Calibri" panose="020F0502020204030204" pitchFamily="34" charset="0"/>
              </a:rPr>
              <a:t>Office:</a:t>
            </a:r>
            <a:r>
              <a:rPr lang="en-US" sz="2200" dirty="0">
                <a:latin typeface="Calibri" panose="020F0502020204030204" pitchFamily="34" charset="0"/>
                <a:cs typeface="Calibri" panose="020F0502020204030204" pitchFamily="34" charset="0"/>
              </a:rPr>
              <a:t> Building D, 2</a:t>
            </a:r>
            <a:r>
              <a:rPr lang="en-US" sz="2200" baseline="30000" dirty="0">
                <a:latin typeface="Calibri" panose="020F0502020204030204" pitchFamily="34" charset="0"/>
                <a:cs typeface="Calibri" panose="020F0502020204030204" pitchFamily="34" charset="0"/>
              </a:rPr>
              <a:t>nd</a:t>
            </a:r>
            <a:r>
              <a:rPr lang="en-US" sz="2200" dirty="0">
                <a:latin typeface="Calibri" panose="020F0502020204030204" pitchFamily="34" charset="0"/>
                <a:cs typeface="Calibri" panose="020F0502020204030204" pitchFamily="34" charset="0"/>
              </a:rPr>
              <a:t> floor </a:t>
            </a:r>
          </a:p>
          <a:p>
            <a:r>
              <a:rPr lang="en-US" sz="2200" b="1">
                <a:latin typeface="Calibri" panose="020F0502020204030204" pitchFamily="34" charset="0"/>
                <a:cs typeface="Calibri" panose="020F0502020204030204" pitchFamily="34" charset="0"/>
              </a:rPr>
              <a:t>OFFICE HOURS: </a:t>
            </a:r>
            <a:r>
              <a:rPr lang="en-US" sz="2200">
                <a:latin typeface="Calibri" panose="020F0502020204030204" pitchFamily="34" charset="0"/>
                <a:cs typeface="Calibri" panose="020F0502020204030204" pitchFamily="34" charset="0"/>
              </a:rPr>
              <a:t> Fri  (9:00 to 11:00)</a:t>
            </a:r>
            <a:endParaRPr lang="en-US" sz="2200"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3200" b="1" u="sng" dirty="0">
                <a:latin typeface="+mn-lt"/>
              </a:rPr>
              <a:t>What Do We Mean by a Process? </a:t>
            </a:r>
            <a:endParaRPr lang="en-US" sz="1800" b="1" u="sng" dirty="0">
              <a:latin typeface="+mn-lt"/>
            </a:endParaRPr>
          </a:p>
        </p:txBody>
      </p:sp>
      <p:sp>
        <p:nvSpPr>
          <p:cNvPr id="22531" name="Rectangle 3"/>
          <p:cNvSpPr>
            <a:spLocks noGrp="1" noChangeArrowheads="1"/>
          </p:cNvSpPr>
          <p:nvPr>
            <p:ph idx="1"/>
          </p:nvPr>
        </p:nvSpPr>
        <p:spPr/>
        <p:txBody>
          <a:bodyPr>
            <a:normAutofit/>
          </a:bodyPr>
          <a:lstStyle/>
          <a:p>
            <a:pPr eaLnBrk="1" hangingPunct="1"/>
            <a:r>
              <a:rPr lang="en-GB" dirty="0"/>
              <a:t>Is a series of steps involving activities, constraints, and resources to produce an intended output</a:t>
            </a:r>
          </a:p>
          <a:p>
            <a:pPr lvl="1"/>
            <a:r>
              <a:rPr lang="en-GB" dirty="0"/>
              <a:t>Prepare for exams</a:t>
            </a:r>
          </a:p>
          <a:p>
            <a:pPr lvl="1"/>
            <a:r>
              <a:rPr lang="en-GB" dirty="0"/>
              <a:t>Conduct a software competition</a:t>
            </a:r>
          </a:p>
          <a:p>
            <a:pPr lvl="1"/>
            <a:r>
              <a:rPr lang="en-GB" dirty="0"/>
              <a:t>Organize a trip</a:t>
            </a:r>
          </a:p>
          <a:p>
            <a:pPr lvl="1"/>
            <a:r>
              <a:rPr lang="en-GB" dirty="0"/>
              <a:t>Write a term project report </a:t>
            </a:r>
          </a:p>
          <a:p>
            <a:pPr eaLnBrk="1" hangingPunct="1"/>
            <a:r>
              <a:rPr lang="en-GB" dirty="0"/>
              <a:t>Involves a set of tools and techniques</a:t>
            </a:r>
          </a:p>
          <a:p>
            <a:pPr lvl="1"/>
            <a:r>
              <a:rPr lang="en-GB" dirty="0"/>
              <a:t>Block diagrams</a:t>
            </a:r>
          </a:p>
          <a:p>
            <a:pPr lvl="1"/>
            <a:r>
              <a:rPr lang="en-GB" dirty="0"/>
              <a:t>Notations</a:t>
            </a:r>
          </a:p>
          <a:p>
            <a:pPr eaLnBrk="1" hangingPunct="1"/>
            <a:endParaRPr lang="en-US" dirty="0"/>
          </a:p>
        </p:txBody>
      </p:sp>
    </p:spTree>
    <p:extLst>
      <p:ext uri="{BB962C8B-B14F-4D97-AF65-F5344CB8AC3E}">
        <p14:creationId xmlns:p14="http://schemas.microsoft.com/office/powerpoint/2010/main" val="19838359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20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fade">
                                      <p:cBhvr>
                                        <p:cTn id="12" dur="2000"/>
                                        <p:tgtEl>
                                          <p:spTgt spid="2253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animEffect transition="in" filter="fade">
                                      <p:cBhvr>
                                        <p:cTn id="15" dur="2000"/>
                                        <p:tgtEl>
                                          <p:spTgt spid="22531">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531">
                                            <p:txEl>
                                              <p:pRg st="3" end="3"/>
                                            </p:txEl>
                                          </p:spTgt>
                                        </p:tgtEl>
                                        <p:attrNameLst>
                                          <p:attrName>style.visibility</p:attrName>
                                        </p:attrNameLst>
                                      </p:cBhvr>
                                      <p:to>
                                        <p:strVal val="visible"/>
                                      </p:to>
                                    </p:set>
                                    <p:animEffect transition="in" filter="fade">
                                      <p:cBhvr>
                                        <p:cTn id="18" dur="2000"/>
                                        <p:tgtEl>
                                          <p:spTgt spid="2253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531">
                                            <p:txEl>
                                              <p:pRg st="4" end="4"/>
                                            </p:txEl>
                                          </p:spTgt>
                                        </p:tgtEl>
                                        <p:attrNameLst>
                                          <p:attrName>style.visibility</p:attrName>
                                        </p:attrNameLst>
                                      </p:cBhvr>
                                      <p:to>
                                        <p:strVal val="visible"/>
                                      </p:to>
                                    </p:set>
                                    <p:animEffect transition="in" filter="fade">
                                      <p:cBhvr>
                                        <p:cTn id="21" dur="2000"/>
                                        <p:tgtEl>
                                          <p:spTgt spid="2253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2531">
                                            <p:txEl>
                                              <p:pRg st="5" end="5"/>
                                            </p:txEl>
                                          </p:spTgt>
                                        </p:tgtEl>
                                        <p:attrNameLst>
                                          <p:attrName>style.visibility</p:attrName>
                                        </p:attrNameLst>
                                      </p:cBhvr>
                                      <p:to>
                                        <p:strVal val="visible"/>
                                      </p:to>
                                    </p:set>
                                    <p:animEffect transition="in" filter="fade">
                                      <p:cBhvr>
                                        <p:cTn id="26" dur="2000"/>
                                        <p:tgtEl>
                                          <p:spTgt spid="22531">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531">
                                            <p:txEl>
                                              <p:pRg st="6" end="6"/>
                                            </p:txEl>
                                          </p:spTgt>
                                        </p:tgtEl>
                                        <p:attrNameLst>
                                          <p:attrName>style.visibility</p:attrName>
                                        </p:attrNameLst>
                                      </p:cBhvr>
                                      <p:to>
                                        <p:strVal val="visible"/>
                                      </p:to>
                                    </p:set>
                                    <p:animEffect transition="in" filter="fade">
                                      <p:cBhvr>
                                        <p:cTn id="29" dur="2000"/>
                                        <p:tgtEl>
                                          <p:spTgt spid="22531">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531">
                                            <p:txEl>
                                              <p:pRg st="7" end="7"/>
                                            </p:txEl>
                                          </p:spTgt>
                                        </p:tgtEl>
                                        <p:attrNameLst>
                                          <p:attrName>style.visibility</p:attrName>
                                        </p:attrNameLst>
                                      </p:cBhvr>
                                      <p:to>
                                        <p:strVal val="visible"/>
                                      </p:to>
                                    </p:set>
                                    <p:animEffect transition="in" filter="fade">
                                      <p:cBhvr>
                                        <p:cTn id="32" dur="2000"/>
                                        <p:tgtEl>
                                          <p:spTgt spid="225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47973" y="1329965"/>
            <a:ext cx="7924800" cy="609600"/>
          </a:xfrm>
        </p:spPr>
        <p:txBody>
          <a:bodyPr>
            <a:noAutofit/>
          </a:bodyPr>
          <a:lstStyle/>
          <a:p>
            <a:r>
              <a:rPr lang="en-US" altLang="en-US" sz="3600" b="1" u="sng" dirty="0">
                <a:latin typeface="+mn-lt"/>
              </a:rPr>
              <a:t>System Development Phases</a:t>
            </a:r>
          </a:p>
        </p:txBody>
      </p:sp>
      <p:pic>
        <p:nvPicPr>
          <p:cNvPr id="9219" name="Picture 9" descr="fig2-1"/>
          <p:cNvPicPr>
            <a:picLocks noGrp="1" noChangeAspect="1" noChangeArrowheads="1"/>
          </p:cNvPicPr>
          <p:nvPr>
            <p:ph idx="1"/>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891731" y="3117147"/>
            <a:ext cx="6408537" cy="1768293"/>
          </a:xfrm>
          <a:noFill/>
        </p:spPr>
      </p:pic>
    </p:spTree>
    <p:extLst>
      <p:ext uri="{BB962C8B-B14F-4D97-AF65-F5344CB8AC3E}">
        <p14:creationId xmlns:p14="http://schemas.microsoft.com/office/powerpoint/2010/main" val="3325569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02468" y="740681"/>
            <a:ext cx="10480234" cy="1143000"/>
          </a:xfrm>
        </p:spPr>
        <p:txBody>
          <a:bodyPr>
            <a:noAutofit/>
          </a:bodyPr>
          <a:lstStyle/>
          <a:p>
            <a:r>
              <a:rPr lang="en-US" altLang="en-US" sz="3200" b="1" u="sng" dirty="0">
                <a:latin typeface="+mn-lt"/>
              </a:rPr>
              <a:t>Phases of the Systems Development Lifecycle (SDLC)</a:t>
            </a:r>
          </a:p>
        </p:txBody>
      </p:sp>
      <p:sp>
        <p:nvSpPr>
          <p:cNvPr id="8195" name="Rectangle 3"/>
          <p:cNvSpPr>
            <a:spLocks noGrp="1" noChangeArrowheads="1"/>
          </p:cNvSpPr>
          <p:nvPr>
            <p:ph idx="1"/>
          </p:nvPr>
        </p:nvSpPr>
        <p:spPr>
          <a:xfrm>
            <a:off x="716437" y="2057399"/>
            <a:ext cx="10666265" cy="3775841"/>
          </a:xfrm>
        </p:spPr>
        <p:txBody>
          <a:bodyPr>
            <a:normAutofit/>
          </a:bodyPr>
          <a:lstStyle/>
          <a:p>
            <a:pPr algn="just"/>
            <a:r>
              <a:rPr lang="en-US" altLang="en-US" sz="2400" b="1" i="1" dirty="0">
                <a:solidFill>
                  <a:srgbClr val="0099CC"/>
                </a:solidFill>
              </a:rPr>
              <a:t>Project planning</a:t>
            </a:r>
            <a:r>
              <a:rPr lang="en-US" altLang="en-US" dirty="0"/>
              <a:t>: initiate, ensure feasibility, plan schedule, obtain approval for project</a:t>
            </a:r>
          </a:p>
          <a:p>
            <a:pPr algn="just"/>
            <a:r>
              <a:rPr lang="en-US" altLang="en-US" sz="2400" b="1" i="1" dirty="0">
                <a:solidFill>
                  <a:srgbClr val="0099CC"/>
                </a:solidFill>
              </a:rPr>
              <a:t>Analysis</a:t>
            </a:r>
            <a:r>
              <a:rPr lang="en-US" altLang="en-US" dirty="0"/>
              <a:t>: understand business needs and processing requirements</a:t>
            </a:r>
          </a:p>
          <a:p>
            <a:pPr algn="just"/>
            <a:r>
              <a:rPr lang="en-US" altLang="en-US" sz="2400" b="1" i="1" dirty="0">
                <a:solidFill>
                  <a:srgbClr val="0099CC"/>
                </a:solidFill>
              </a:rPr>
              <a:t>Design</a:t>
            </a:r>
            <a:r>
              <a:rPr lang="en-US" altLang="en-US" dirty="0"/>
              <a:t>: define solution system based on requirements and analysis decisions</a:t>
            </a:r>
          </a:p>
          <a:p>
            <a:pPr algn="just"/>
            <a:r>
              <a:rPr lang="en-US" altLang="en-US" sz="2400" b="1" i="1" dirty="0">
                <a:solidFill>
                  <a:srgbClr val="0099CC"/>
                </a:solidFill>
              </a:rPr>
              <a:t>Implementation</a:t>
            </a:r>
            <a:r>
              <a:rPr lang="en-US" altLang="en-US" dirty="0"/>
              <a:t>: construction, testing, user training, and installation of new system</a:t>
            </a:r>
          </a:p>
          <a:p>
            <a:pPr algn="just"/>
            <a:r>
              <a:rPr lang="en-US" altLang="en-US" sz="2400" b="1" i="1" dirty="0">
                <a:solidFill>
                  <a:srgbClr val="0099CC"/>
                </a:solidFill>
              </a:rPr>
              <a:t>Support</a:t>
            </a:r>
            <a:r>
              <a:rPr lang="en-US" altLang="en-US" dirty="0"/>
              <a:t>: keep system running and improve</a:t>
            </a:r>
          </a:p>
        </p:txBody>
      </p:sp>
      <p:sp>
        <p:nvSpPr>
          <p:cNvPr id="8196" name="Rectangle 4"/>
          <p:cNvSpPr>
            <a:spLocks noChangeArrowheads="1"/>
          </p:cNvSpPr>
          <p:nvPr/>
        </p:nvSpPr>
        <p:spPr bwMode="auto">
          <a:xfrm>
            <a:off x="6005513" y="3232151"/>
            <a:ext cx="182808"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defTabSz="457200" fontAlgn="base">
              <a:spcBef>
                <a:spcPct val="0"/>
              </a:spcBef>
              <a:spcAft>
                <a:spcPct val="0"/>
              </a:spcAft>
              <a:defRPr>
                <a:solidFill>
                  <a:schemeClr val="tx1"/>
                </a:solidFill>
                <a:latin typeface="Trebuchet MS" panose="020B0603020202020204" pitchFamily="34" charset="0"/>
              </a:defRPr>
            </a:lvl6pPr>
            <a:lvl7pPr marL="2971800" indent="-228600" defTabSz="457200" fontAlgn="base">
              <a:spcBef>
                <a:spcPct val="0"/>
              </a:spcBef>
              <a:spcAft>
                <a:spcPct val="0"/>
              </a:spcAft>
              <a:defRPr>
                <a:solidFill>
                  <a:schemeClr val="tx1"/>
                </a:solidFill>
                <a:latin typeface="Trebuchet MS" panose="020B0603020202020204" pitchFamily="34" charset="0"/>
              </a:defRPr>
            </a:lvl7pPr>
            <a:lvl8pPr marL="3429000" indent="-228600" defTabSz="457200" fontAlgn="base">
              <a:spcBef>
                <a:spcPct val="0"/>
              </a:spcBef>
              <a:spcAft>
                <a:spcPct val="0"/>
              </a:spcAft>
              <a:defRPr>
                <a:solidFill>
                  <a:schemeClr val="tx1"/>
                </a:solidFill>
                <a:latin typeface="Trebuchet MS" panose="020B0603020202020204" pitchFamily="34" charset="0"/>
              </a:defRPr>
            </a:lvl8pPr>
            <a:lvl9pPr marL="3886200" indent="-228600" defTabSz="457200" fontAlgn="base">
              <a:spcBef>
                <a:spcPct val="0"/>
              </a:spcBef>
              <a:spcAft>
                <a:spcPct val="0"/>
              </a:spcAft>
              <a:defRPr>
                <a:solidFill>
                  <a:schemeClr val="tx1"/>
                </a:solidFill>
                <a:latin typeface="Trebuchet MS" panose="020B0603020202020204" pitchFamily="34" charset="0"/>
              </a:defRPr>
            </a:lvl9pPr>
          </a:lstStyle>
          <a:p>
            <a:pPr eaLnBrk="1" hangingPunct="1"/>
            <a:endParaRPr lang="en-US" altLang="en-US" sz="2000">
              <a:latin typeface="Lucida Console" panose="020B0609040504020204" pitchFamily="49" charset="0"/>
            </a:endParaRPr>
          </a:p>
        </p:txBody>
      </p:sp>
    </p:spTree>
    <p:extLst>
      <p:ext uri="{BB962C8B-B14F-4D97-AF65-F5344CB8AC3E}">
        <p14:creationId xmlns:p14="http://schemas.microsoft.com/office/powerpoint/2010/main" val="790682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39305" y="783996"/>
            <a:ext cx="7924800" cy="609600"/>
          </a:xfrm>
        </p:spPr>
        <p:txBody>
          <a:bodyPr/>
          <a:lstStyle/>
          <a:p>
            <a:r>
              <a:rPr lang="en-US" altLang="en-US" sz="2800" b="1" u="sng" dirty="0">
                <a:latin typeface="+mn-lt"/>
              </a:rPr>
              <a:t>Planning Phase of SDLC</a:t>
            </a:r>
          </a:p>
        </p:txBody>
      </p:sp>
      <p:sp>
        <p:nvSpPr>
          <p:cNvPr id="11267" name="Rectangle 3"/>
          <p:cNvSpPr>
            <a:spLocks noGrp="1" noChangeArrowheads="1"/>
          </p:cNvSpPr>
          <p:nvPr>
            <p:ph idx="1"/>
          </p:nvPr>
        </p:nvSpPr>
        <p:spPr>
          <a:xfrm>
            <a:off x="1236483" y="1943100"/>
            <a:ext cx="8382000" cy="2971800"/>
          </a:xfrm>
        </p:spPr>
        <p:txBody>
          <a:bodyPr>
            <a:normAutofit/>
          </a:bodyPr>
          <a:lstStyle/>
          <a:p>
            <a:pPr>
              <a:spcBef>
                <a:spcPct val="80000"/>
              </a:spcBef>
            </a:pPr>
            <a:r>
              <a:rPr lang="en-US" altLang="en-US" sz="2000" dirty="0"/>
              <a:t>Define business problem and scope</a:t>
            </a:r>
          </a:p>
          <a:p>
            <a:pPr>
              <a:spcBef>
                <a:spcPct val="80000"/>
              </a:spcBef>
            </a:pPr>
            <a:r>
              <a:rPr lang="en-US" altLang="en-US" sz="2000" dirty="0"/>
              <a:t>Produce detailed project schedule </a:t>
            </a:r>
          </a:p>
          <a:p>
            <a:pPr>
              <a:spcBef>
                <a:spcPct val="80000"/>
              </a:spcBef>
            </a:pPr>
            <a:r>
              <a:rPr lang="en-US" altLang="en-US" sz="2000" dirty="0"/>
              <a:t>Confirm project feasibility </a:t>
            </a:r>
          </a:p>
          <a:p>
            <a:pPr lvl="1">
              <a:spcBef>
                <a:spcPct val="80000"/>
              </a:spcBef>
            </a:pPr>
            <a:r>
              <a:rPr lang="en-US" altLang="en-US" sz="1400" dirty="0"/>
              <a:t>Economic, organizational, technical, resource, and schedule</a:t>
            </a:r>
          </a:p>
          <a:p>
            <a:pPr>
              <a:spcBef>
                <a:spcPct val="80000"/>
              </a:spcBef>
            </a:pPr>
            <a:r>
              <a:rPr lang="en-US" altLang="en-US" sz="2000" dirty="0"/>
              <a:t>Staff the project (resource management)</a:t>
            </a:r>
          </a:p>
          <a:p>
            <a:pPr>
              <a:spcBef>
                <a:spcPct val="80000"/>
              </a:spcBef>
            </a:pPr>
            <a:r>
              <a:rPr lang="en-US" altLang="en-US" sz="2000" dirty="0"/>
              <a:t>Launch project </a:t>
            </a:r>
            <a:r>
              <a:rPr lang="en-US" altLang="en-US" sz="2000" dirty="0">
                <a:sym typeface="Wingdings" panose="05000000000000000000" pitchFamily="2" charset="2"/>
              </a:rPr>
              <a:t></a:t>
            </a:r>
            <a:r>
              <a:rPr lang="en-US" altLang="en-US" sz="2000" dirty="0"/>
              <a:t> official announcement</a:t>
            </a:r>
          </a:p>
        </p:txBody>
      </p:sp>
    </p:spTree>
    <p:extLst>
      <p:ext uri="{BB962C8B-B14F-4D97-AF65-F5344CB8AC3E}">
        <p14:creationId xmlns:p14="http://schemas.microsoft.com/office/powerpoint/2010/main" val="1984398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4" name="Rectangle 4"/>
          <p:cNvSpPr>
            <a:spLocks noGrp="1" noChangeArrowheads="1"/>
          </p:cNvSpPr>
          <p:nvPr>
            <p:ph type="title"/>
          </p:nvPr>
        </p:nvSpPr>
        <p:spPr>
          <a:xfrm>
            <a:off x="1084868" y="767255"/>
            <a:ext cx="7924800" cy="457200"/>
          </a:xfrm>
        </p:spPr>
        <p:txBody>
          <a:bodyPr rtlCol="0">
            <a:normAutofit fontScale="90000"/>
          </a:bodyPr>
          <a:lstStyle/>
          <a:p>
            <a:pPr>
              <a:defRPr/>
            </a:pPr>
            <a:r>
              <a:rPr lang="en-US" altLang="en-US" sz="2800" b="1" u="sng" dirty="0">
                <a:latin typeface="+mn-lt"/>
              </a:rPr>
              <a:t>Analysis Phase of SDLC</a:t>
            </a:r>
          </a:p>
        </p:txBody>
      </p:sp>
      <p:sp>
        <p:nvSpPr>
          <p:cNvPr id="12291" name="Rectangle 5"/>
          <p:cNvSpPr>
            <a:spLocks noGrp="1" noChangeArrowheads="1"/>
          </p:cNvSpPr>
          <p:nvPr>
            <p:ph idx="1"/>
          </p:nvPr>
        </p:nvSpPr>
        <p:spPr>
          <a:xfrm>
            <a:off x="1273404" y="1749701"/>
            <a:ext cx="8382000" cy="3657600"/>
          </a:xfrm>
        </p:spPr>
        <p:txBody>
          <a:bodyPr>
            <a:normAutofit/>
          </a:bodyPr>
          <a:lstStyle/>
          <a:p>
            <a:pPr>
              <a:spcBef>
                <a:spcPct val="100000"/>
              </a:spcBef>
            </a:pPr>
            <a:r>
              <a:rPr lang="en-US" altLang="en-US" sz="2000" dirty="0"/>
              <a:t>Gather information to learn </a:t>
            </a:r>
            <a:r>
              <a:rPr lang="en-US" altLang="en-US" sz="1800" b="1" i="1" dirty="0">
                <a:solidFill>
                  <a:srgbClr val="FF3300"/>
                </a:solidFill>
              </a:rPr>
              <a:t>problem domain</a:t>
            </a:r>
          </a:p>
          <a:p>
            <a:pPr>
              <a:spcBef>
                <a:spcPct val="100000"/>
              </a:spcBef>
            </a:pPr>
            <a:r>
              <a:rPr lang="en-US" altLang="en-US" sz="2000" dirty="0"/>
              <a:t>Define system requirements</a:t>
            </a:r>
          </a:p>
          <a:p>
            <a:pPr>
              <a:spcBef>
                <a:spcPct val="100000"/>
              </a:spcBef>
            </a:pPr>
            <a:r>
              <a:rPr lang="en-US" altLang="en-US" sz="2000" dirty="0"/>
              <a:t>Build prototypes for discovery of requirements</a:t>
            </a:r>
          </a:p>
          <a:p>
            <a:pPr>
              <a:spcBef>
                <a:spcPct val="100000"/>
              </a:spcBef>
            </a:pPr>
            <a:r>
              <a:rPr lang="en-US" altLang="en-US" sz="2000" dirty="0"/>
              <a:t>Prioritize requirements</a:t>
            </a:r>
          </a:p>
          <a:p>
            <a:pPr>
              <a:spcBef>
                <a:spcPct val="100000"/>
              </a:spcBef>
            </a:pPr>
            <a:r>
              <a:rPr lang="en-US" altLang="en-US" sz="2000" dirty="0"/>
              <a:t>Generate and evaluate alternatives</a:t>
            </a:r>
          </a:p>
          <a:p>
            <a:pPr>
              <a:spcBef>
                <a:spcPct val="100000"/>
              </a:spcBef>
            </a:pPr>
            <a:r>
              <a:rPr lang="en-US" altLang="en-US" sz="2000" dirty="0"/>
              <a:t>Review recommendations with management</a:t>
            </a:r>
          </a:p>
        </p:txBody>
      </p:sp>
    </p:spTree>
    <p:extLst>
      <p:ext uri="{BB962C8B-B14F-4D97-AF65-F5344CB8AC3E}">
        <p14:creationId xmlns:p14="http://schemas.microsoft.com/office/powerpoint/2010/main" val="1725693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1047946" y="762000"/>
            <a:ext cx="7924800" cy="457200"/>
          </a:xfrm>
        </p:spPr>
        <p:txBody>
          <a:bodyPr rtlCol="0">
            <a:normAutofit fontScale="90000"/>
          </a:bodyPr>
          <a:lstStyle/>
          <a:p>
            <a:pPr>
              <a:defRPr/>
            </a:pPr>
            <a:r>
              <a:rPr lang="en-US" altLang="en-US" sz="2800" b="1" u="sng" dirty="0">
                <a:latin typeface="+mn-lt"/>
              </a:rPr>
              <a:t>Design Phase of SDLC</a:t>
            </a:r>
          </a:p>
        </p:txBody>
      </p:sp>
      <p:sp>
        <p:nvSpPr>
          <p:cNvPr id="13315" name="Rectangle 3"/>
          <p:cNvSpPr>
            <a:spLocks noGrp="1" noChangeArrowheads="1"/>
          </p:cNvSpPr>
          <p:nvPr>
            <p:ph idx="1"/>
          </p:nvPr>
        </p:nvSpPr>
        <p:spPr>
          <a:xfrm>
            <a:off x="1301685" y="1929353"/>
            <a:ext cx="8382000" cy="3200400"/>
          </a:xfrm>
        </p:spPr>
        <p:txBody>
          <a:bodyPr>
            <a:normAutofit/>
          </a:bodyPr>
          <a:lstStyle/>
          <a:p>
            <a:pPr>
              <a:lnSpc>
                <a:spcPct val="90000"/>
              </a:lnSpc>
              <a:spcBef>
                <a:spcPct val="70000"/>
              </a:spcBef>
            </a:pPr>
            <a:r>
              <a:rPr lang="en-US" altLang="en-US" sz="2000" dirty="0"/>
              <a:t>Design the </a:t>
            </a:r>
            <a:r>
              <a:rPr lang="en-US" altLang="en-US" sz="1800" b="1" i="1" dirty="0">
                <a:solidFill>
                  <a:srgbClr val="FF3300"/>
                </a:solidFill>
              </a:rPr>
              <a:t>application</a:t>
            </a:r>
            <a:r>
              <a:rPr lang="en-US" altLang="en-US" sz="2000" dirty="0"/>
              <a:t> architecture</a:t>
            </a:r>
          </a:p>
          <a:p>
            <a:pPr>
              <a:lnSpc>
                <a:spcPct val="90000"/>
              </a:lnSpc>
              <a:spcBef>
                <a:spcPct val="70000"/>
              </a:spcBef>
            </a:pPr>
            <a:r>
              <a:rPr lang="en-US" altLang="en-US" sz="2000" dirty="0"/>
              <a:t>Design the user interfaces</a:t>
            </a:r>
          </a:p>
          <a:p>
            <a:pPr>
              <a:lnSpc>
                <a:spcPct val="90000"/>
              </a:lnSpc>
              <a:spcBef>
                <a:spcPct val="70000"/>
              </a:spcBef>
            </a:pPr>
            <a:r>
              <a:rPr lang="en-US" altLang="en-US" sz="2000" dirty="0"/>
              <a:t>Design the system interfaces</a:t>
            </a:r>
          </a:p>
          <a:p>
            <a:pPr>
              <a:lnSpc>
                <a:spcPct val="90000"/>
              </a:lnSpc>
              <a:spcBef>
                <a:spcPct val="70000"/>
              </a:spcBef>
            </a:pPr>
            <a:r>
              <a:rPr lang="en-US" altLang="en-US" sz="2000" dirty="0"/>
              <a:t>Design and integrate the database</a:t>
            </a:r>
          </a:p>
          <a:p>
            <a:pPr>
              <a:lnSpc>
                <a:spcPct val="90000"/>
              </a:lnSpc>
              <a:spcBef>
                <a:spcPct val="70000"/>
              </a:spcBef>
            </a:pPr>
            <a:r>
              <a:rPr lang="en-US" altLang="en-US" sz="2000" dirty="0"/>
              <a:t>Prototype for design details</a:t>
            </a:r>
          </a:p>
          <a:p>
            <a:pPr>
              <a:lnSpc>
                <a:spcPct val="90000"/>
              </a:lnSpc>
              <a:spcBef>
                <a:spcPct val="70000"/>
              </a:spcBef>
            </a:pPr>
            <a:r>
              <a:rPr lang="en-US" altLang="en-US" sz="2000" dirty="0"/>
              <a:t>Design and integrate system controls</a:t>
            </a:r>
          </a:p>
        </p:txBody>
      </p:sp>
    </p:spTree>
    <p:extLst>
      <p:ext uri="{BB962C8B-B14F-4D97-AF65-F5344CB8AC3E}">
        <p14:creationId xmlns:p14="http://schemas.microsoft.com/office/powerpoint/2010/main" val="35804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86120" y="699154"/>
            <a:ext cx="7924800" cy="609600"/>
          </a:xfrm>
        </p:spPr>
        <p:txBody>
          <a:bodyPr/>
          <a:lstStyle/>
          <a:p>
            <a:r>
              <a:rPr lang="en-US" altLang="en-US" sz="2800" b="1" u="sng" dirty="0">
                <a:latin typeface="+mn-lt"/>
              </a:rPr>
              <a:t>Implementation Phase of SDLC</a:t>
            </a:r>
          </a:p>
        </p:txBody>
      </p:sp>
      <p:sp>
        <p:nvSpPr>
          <p:cNvPr id="14339" name="Rectangle 3"/>
          <p:cNvSpPr>
            <a:spLocks noGrp="1" noChangeArrowheads="1"/>
          </p:cNvSpPr>
          <p:nvPr>
            <p:ph idx="1"/>
          </p:nvPr>
        </p:nvSpPr>
        <p:spPr>
          <a:xfrm>
            <a:off x="1386526" y="1882219"/>
            <a:ext cx="8382000" cy="3505200"/>
          </a:xfrm>
        </p:spPr>
        <p:txBody>
          <a:bodyPr>
            <a:normAutofit/>
          </a:bodyPr>
          <a:lstStyle/>
          <a:p>
            <a:pPr>
              <a:spcBef>
                <a:spcPct val="40000"/>
              </a:spcBef>
            </a:pPr>
            <a:r>
              <a:rPr lang="en-US" altLang="en-US" sz="2000" dirty="0"/>
              <a:t>Construct software components</a:t>
            </a:r>
          </a:p>
          <a:p>
            <a:pPr lvl="4">
              <a:spcBef>
                <a:spcPct val="40000"/>
              </a:spcBef>
            </a:pPr>
            <a:endParaRPr lang="en-US" altLang="en-US" sz="1400" dirty="0"/>
          </a:p>
          <a:p>
            <a:pPr>
              <a:spcBef>
                <a:spcPct val="40000"/>
              </a:spcBef>
            </a:pPr>
            <a:r>
              <a:rPr lang="en-US" altLang="en-US" sz="2000" dirty="0"/>
              <a:t>Verify and test </a:t>
            </a:r>
          </a:p>
          <a:p>
            <a:pPr lvl="4">
              <a:spcBef>
                <a:spcPct val="40000"/>
              </a:spcBef>
            </a:pPr>
            <a:endParaRPr lang="en-US" altLang="en-US" sz="1400" dirty="0"/>
          </a:p>
          <a:p>
            <a:pPr>
              <a:spcBef>
                <a:spcPct val="40000"/>
              </a:spcBef>
            </a:pPr>
            <a:r>
              <a:rPr lang="en-US" altLang="en-US" sz="2000" dirty="0"/>
              <a:t>Convert data</a:t>
            </a:r>
          </a:p>
          <a:p>
            <a:pPr lvl="4">
              <a:spcBef>
                <a:spcPct val="40000"/>
              </a:spcBef>
            </a:pPr>
            <a:endParaRPr lang="en-US" altLang="en-US" sz="1400" dirty="0"/>
          </a:p>
          <a:p>
            <a:pPr>
              <a:spcBef>
                <a:spcPct val="40000"/>
              </a:spcBef>
            </a:pPr>
            <a:r>
              <a:rPr lang="en-US" altLang="en-US" sz="2000" dirty="0"/>
              <a:t>Train users and document the system						</a:t>
            </a:r>
          </a:p>
          <a:p>
            <a:pPr>
              <a:spcBef>
                <a:spcPct val="40000"/>
              </a:spcBef>
            </a:pPr>
            <a:r>
              <a:rPr lang="en-US" altLang="en-US" sz="2000" dirty="0"/>
              <a:t>Install the system</a:t>
            </a:r>
          </a:p>
        </p:txBody>
      </p:sp>
    </p:spTree>
    <p:extLst>
      <p:ext uri="{BB962C8B-B14F-4D97-AF65-F5344CB8AC3E}">
        <p14:creationId xmlns:p14="http://schemas.microsoft.com/office/powerpoint/2010/main" val="310716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25398" y="828773"/>
            <a:ext cx="7924800" cy="533400"/>
          </a:xfrm>
        </p:spPr>
        <p:txBody>
          <a:bodyPr/>
          <a:lstStyle/>
          <a:p>
            <a:r>
              <a:rPr lang="en-US" altLang="en-US" sz="2800" b="1" u="sng" dirty="0"/>
              <a:t>Support Phase of SDLC</a:t>
            </a:r>
          </a:p>
        </p:txBody>
      </p:sp>
      <p:sp>
        <p:nvSpPr>
          <p:cNvPr id="15363" name="Rectangle 3"/>
          <p:cNvSpPr>
            <a:spLocks noGrp="1" noChangeArrowheads="1"/>
          </p:cNvSpPr>
          <p:nvPr>
            <p:ph idx="1"/>
          </p:nvPr>
        </p:nvSpPr>
        <p:spPr>
          <a:xfrm>
            <a:off x="1286841" y="1943100"/>
            <a:ext cx="8382000" cy="2971800"/>
          </a:xfrm>
        </p:spPr>
        <p:txBody>
          <a:bodyPr/>
          <a:lstStyle/>
          <a:p>
            <a:r>
              <a:rPr lang="en-US" altLang="en-US" sz="2400" dirty="0"/>
              <a:t>Maintain system</a:t>
            </a:r>
          </a:p>
          <a:p>
            <a:pPr lvl="1"/>
            <a:r>
              <a:rPr lang="en-US" altLang="en-US" sz="1800" dirty="0"/>
              <a:t>Small patches, repairs, and updates</a:t>
            </a:r>
          </a:p>
          <a:p>
            <a:r>
              <a:rPr lang="en-US" altLang="en-US" sz="2400" dirty="0"/>
              <a:t>Enhance system</a:t>
            </a:r>
          </a:p>
          <a:p>
            <a:pPr lvl="1"/>
            <a:r>
              <a:rPr lang="en-US" altLang="en-US" sz="1800" dirty="0"/>
              <a:t>Small upgrades or enhancements to expand system capabilities</a:t>
            </a:r>
          </a:p>
          <a:p>
            <a:pPr lvl="1"/>
            <a:r>
              <a:rPr lang="en-US" altLang="en-US" sz="1800" dirty="0"/>
              <a:t>Larger enhancements may require separate development project</a:t>
            </a:r>
          </a:p>
          <a:p>
            <a:r>
              <a:rPr lang="en-US" altLang="en-US" sz="2400" dirty="0"/>
              <a:t>Support users</a:t>
            </a:r>
          </a:p>
          <a:p>
            <a:pPr lvl="1"/>
            <a:r>
              <a:rPr lang="en-US" altLang="en-US" sz="1800" dirty="0"/>
              <a:t>Help desk and/or support team</a:t>
            </a:r>
          </a:p>
        </p:txBody>
      </p:sp>
    </p:spTree>
    <p:extLst>
      <p:ext uri="{BB962C8B-B14F-4D97-AF65-F5344CB8AC3E}">
        <p14:creationId xmlns:p14="http://schemas.microsoft.com/office/powerpoint/2010/main" val="806364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3600" b="1" dirty="0">
                <a:latin typeface="+mn-lt"/>
              </a:rPr>
              <a:t>What is a Process Model?</a:t>
            </a:r>
            <a:endParaRPr lang="en-US" sz="2000" b="1" dirty="0">
              <a:latin typeface="+mn-lt"/>
            </a:endParaRPr>
          </a:p>
        </p:txBody>
      </p:sp>
      <p:sp>
        <p:nvSpPr>
          <p:cNvPr id="22531" name="Rectangle 3"/>
          <p:cNvSpPr>
            <a:spLocks noGrp="1" noChangeArrowheads="1"/>
          </p:cNvSpPr>
          <p:nvPr>
            <p:ph idx="1"/>
          </p:nvPr>
        </p:nvSpPr>
        <p:spPr/>
        <p:txBody>
          <a:bodyPr>
            <a:normAutofit/>
          </a:bodyPr>
          <a:lstStyle/>
          <a:p>
            <a:pPr marL="0" inden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Description of a process, evolved overtime, in a certain format:</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May use text, pictures, or a combination</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Contains key process features</a:t>
            </a:r>
          </a:p>
        </p:txBody>
      </p:sp>
    </p:spTree>
    <p:extLst>
      <p:ext uri="{BB962C8B-B14F-4D97-AF65-F5344CB8AC3E}">
        <p14:creationId xmlns:p14="http://schemas.microsoft.com/office/powerpoint/2010/main" val="124965744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3600" b="1" dirty="0">
                <a:latin typeface="+mn-lt"/>
              </a:rPr>
              <a:t>What is a Software Process Model?</a:t>
            </a:r>
            <a:endParaRPr lang="en-US" sz="2000" b="1" dirty="0">
              <a:latin typeface="+mn-lt"/>
            </a:endParaRPr>
          </a:p>
        </p:txBody>
      </p:sp>
      <p:sp>
        <p:nvSpPr>
          <p:cNvPr id="22531" name="Rectangle 3"/>
          <p:cNvSpPr>
            <a:spLocks noGrp="1" noChangeArrowheads="1"/>
          </p:cNvSpPr>
          <p:nvPr>
            <p:ph idx="1"/>
          </p:nvPr>
        </p:nvSpPr>
        <p:spPr>
          <a:xfrm>
            <a:off x="1029878" y="1684551"/>
            <a:ext cx="11162122" cy="4351338"/>
          </a:xfrm>
        </p:spPr>
        <p:txBody>
          <a:bodyPr>
            <a:normAutofit/>
          </a:bodyPr>
          <a:lstStyle/>
          <a:p>
            <a:pPr marL="0" indent="0">
              <a:buNone/>
            </a:pPr>
            <a:r>
              <a:rPr lang="en-US" sz="2000" dirty="0"/>
              <a:t>A </a:t>
            </a:r>
            <a:r>
              <a:rPr lang="en-US" sz="2000" b="1" dirty="0"/>
              <a:t>Software Process Model</a:t>
            </a:r>
            <a:r>
              <a:rPr lang="en-US" sz="2000" dirty="0"/>
              <a:t> is a </a:t>
            </a:r>
            <a:r>
              <a:rPr lang="en-US" sz="2000" b="1" dirty="0"/>
              <a:t>structured framework</a:t>
            </a:r>
            <a:r>
              <a:rPr lang="en-US" sz="2000" dirty="0"/>
              <a:t> that defines how software is developed step-by-step — from idea to deployment and maintenance.</a:t>
            </a:r>
          </a:p>
          <a:p>
            <a:pPr marL="0" indent="0">
              <a:buNone/>
            </a:pPr>
            <a:endParaRPr lang="en-US" sz="2000" dirty="0"/>
          </a:p>
          <a:p>
            <a:pPr marL="0" indent="0">
              <a:buNone/>
            </a:pPr>
            <a:r>
              <a:rPr lang="en-US" sz="2000" dirty="0"/>
              <a:t>It describes:</a:t>
            </a:r>
          </a:p>
          <a:p>
            <a:pPr>
              <a:buFont typeface="Arial" panose="020B0604020202020204" pitchFamily="34" charset="0"/>
              <a:buChar char="•"/>
            </a:pPr>
            <a:r>
              <a:rPr lang="en-US" sz="2000" b="1" dirty="0"/>
              <a:t>Activities</a:t>
            </a:r>
            <a:r>
              <a:rPr lang="en-US" sz="2000" dirty="0"/>
              <a:t> (what to do)</a:t>
            </a:r>
          </a:p>
          <a:p>
            <a:pPr>
              <a:buFont typeface="Arial" panose="020B0604020202020204" pitchFamily="34" charset="0"/>
              <a:buChar char="•"/>
            </a:pPr>
            <a:r>
              <a:rPr lang="en-US" sz="2000" b="1" dirty="0"/>
              <a:t>Roles</a:t>
            </a:r>
            <a:r>
              <a:rPr lang="en-US" sz="2000" dirty="0"/>
              <a:t> (who will do it)</a:t>
            </a:r>
          </a:p>
          <a:p>
            <a:pPr>
              <a:buFont typeface="Arial" panose="020B0604020202020204" pitchFamily="34" charset="0"/>
              <a:buChar char="•"/>
            </a:pPr>
            <a:r>
              <a:rPr lang="en-US" sz="2000" b="1" dirty="0"/>
              <a:t>Artifacts</a:t>
            </a:r>
            <a:r>
              <a:rPr lang="en-US" sz="2000" dirty="0"/>
              <a:t> (what documents/products are produced)</a:t>
            </a:r>
          </a:p>
          <a:p>
            <a:pPr>
              <a:buFont typeface="Arial" panose="020B0604020202020204" pitchFamily="34" charset="0"/>
              <a:buChar char="•"/>
            </a:pPr>
            <a:r>
              <a:rPr lang="en-US" sz="2000" b="1" dirty="0"/>
              <a:t>Flow of work</a:t>
            </a:r>
            <a:r>
              <a:rPr lang="en-US" sz="2000" dirty="0"/>
              <a:t> (in what order things happen)</a:t>
            </a:r>
          </a:p>
        </p:txBody>
      </p:sp>
    </p:spTree>
    <p:extLst>
      <p:ext uri="{BB962C8B-B14F-4D97-AF65-F5344CB8AC3E}">
        <p14:creationId xmlns:p14="http://schemas.microsoft.com/office/powerpoint/2010/main" val="71103653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3600" b="1" dirty="0">
                <a:latin typeface="+mn-lt"/>
              </a:rPr>
              <a:t>Waterfall Model (Contd.)</a:t>
            </a:r>
            <a:endParaRPr lang="en-US" sz="2000" b="1" dirty="0">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160" y="1559918"/>
            <a:ext cx="9089372" cy="5116769"/>
          </a:xfrm>
          <a:prstGeom prst="rect">
            <a:avLst/>
          </a:prstGeom>
        </p:spPr>
      </p:pic>
    </p:spTree>
    <p:extLst>
      <p:ext uri="{BB962C8B-B14F-4D97-AF65-F5344CB8AC3E}">
        <p14:creationId xmlns:p14="http://schemas.microsoft.com/office/powerpoint/2010/main" val="205963520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4000" b="1" dirty="0">
                <a:latin typeface="+mn-lt"/>
              </a:rPr>
              <a:t>Waterfall Model</a:t>
            </a:r>
            <a:endParaRPr lang="en-US" sz="2400" b="1" dirty="0">
              <a:latin typeface="+mn-lt"/>
            </a:endParaRPr>
          </a:p>
        </p:txBody>
      </p:sp>
      <p:sp>
        <p:nvSpPr>
          <p:cNvPr id="22531" name="Rectangle 3"/>
          <p:cNvSpPr>
            <a:spLocks noGrp="1" noChangeArrowheads="1"/>
          </p:cNvSpPr>
          <p:nvPr>
            <p:ph idx="1"/>
          </p:nvPr>
        </p:nvSpPr>
        <p:spPr>
          <a:xfrm>
            <a:off x="1017309" y="1778491"/>
            <a:ext cx="10515600" cy="4351338"/>
          </a:xfrm>
        </p:spPr>
        <p:txBody>
          <a:bodyPr>
            <a:normAutofit/>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One of the first process development models proposed</a:t>
            </a:r>
          </a:p>
          <a:p>
            <a:pPr marL="804672" lvl="1" indent="-274320">
              <a:spcBef>
                <a:spcPct val="20000"/>
              </a:spcBef>
              <a:buClr>
                <a:schemeClr val="accent3"/>
              </a:buClr>
              <a:buSzPct val="95000"/>
              <a:buFont typeface="Wingdings 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800" b="1" dirty="0"/>
              <a:t>Uncontrolled Software Development Process</a:t>
            </a:r>
          </a:p>
          <a:p>
            <a:pPr marL="804672" lvl="1" indent="-274320">
              <a:spcBef>
                <a:spcPct val="20000"/>
              </a:spcBef>
              <a:buClr>
                <a:schemeClr val="accent3"/>
              </a:buClr>
              <a:buSzPct val="95000"/>
              <a:buFont typeface="Wingdings 2"/>
              <a:buChar cha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sz="1800" b="1" dirty="0"/>
              <a:t>No Iterations in WF</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Works for well understood problems with minimal or no changes in the requirements </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Simple and easy to explain to customers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It presents </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800" dirty="0"/>
              <a:t>a very high-level view of the development process</a:t>
            </a:r>
          </a:p>
          <a:p>
            <a:pPr lvl="1">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1800" dirty="0"/>
              <a:t>sequence of process activities </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000" dirty="0"/>
              <a:t>Each major phase is marked by milestones and deliverables (artefacts)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endParaRPr lang="en-GB" sz="2000" dirty="0"/>
          </a:p>
        </p:txBody>
      </p:sp>
    </p:spTree>
    <p:extLst>
      <p:ext uri="{BB962C8B-B14F-4D97-AF65-F5344CB8AC3E}">
        <p14:creationId xmlns:p14="http://schemas.microsoft.com/office/powerpoint/2010/main" val="426527623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19346" y="337008"/>
            <a:ext cx="10251649" cy="1090448"/>
          </a:xfrm>
        </p:spPr>
        <p:txBody>
          <a:bodyPr>
            <a:normAutofit/>
          </a:bodyPr>
          <a:lstStyle/>
          <a:p>
            <a:r>
              <a:rPr lang="en-US" sz="3600" b="1" dirty="0">
                <a:latin typeface="+mn-lt"/>
              </a:rPr>
              <a:t>Advantages &amp; Dis-Advantages of Waterfall Model </a:t>
            </a:r>
            <a:endParaRPr lang="en-US" sz="3600" dirty="0">
              <a:latin typeface="+mn-lt"/>
            </a:endParaRPr>
          </a:p>
        </p:txBody>
      </p:sp>
      <p:graphicFrame>
        <p:nvGraphicFramePr>
          <p:cNvPr id="2" name="Content Placeholder 1">
            <a:extLst>
              <a:ext uri="{FF2B5EF4-FFF2-40B4-BE49-F238E27FC236}">
                <a16:creationId xmlns:a16="http://schemas.microsoft.com/office/drawing/2014/main" id="{2FD28B3C-6CC0-69A0-45DB-75EFCA1C028F}"/>
              </a:ext>
            </a:extLst>
          </p:cNvPr>
          <p:cNvGraphicFramePr>
            <a:graphicFrameLocks noGrp="1"/>
          </p:cNvGraphicFramePr>
          <p:nvPr>
            <p:ph idx="1"/>
            <p:extLst>
              <p:ext uri="{D42A27DB-BD31-4B8C-83A1-F6EECF244321}">
                <p14:modId xmlns:p14="http://schemas.microsoft.com/office/powerpoint/2010/main" val="1443755281"/>
              </p:ext>
            </p:extLst>
          </p:nvPr>
        </p:nvGraphicFramePr>
        <p:xfrm>
          <a:off x="1144570" y="1521143"/>
          <a:ext cx="9601200" cy="2337685"/>
        </p:xfrm>
        <a:graphic>
          <a:graphicData uri="http://schemas.openxmlformats.org/drawingml/2006/table">
            <a:tbl>
              <a:tblPr>
                <a:tableStyleId>{5940675A-B579-460E-94D1-54222C63F5DA}</a:tableStyleId>
              </a:tblPr>
              <a:tblGrid>
                <a:gridCol w="4800600">
                  <a:extLst>
                    <a:ext uri="{9D8B030D-6E8A-4147-A177-3AD203B41FA5}">
                      <a16:colId xmlns:a16="http://schemas.microsoft.com/office/drawing/2014/main" val="1568087755"/>
                    </a:ext>
                  </a:extLst>
                </a:gridCol>
                <a:gridCol w="4800600">
                  <a:extLst>
                    <a:ext uri="{9D8B030D-6E8A-4147-A177-3AD203B41FA5}">
                      <a16:colId xmlns:a16="http://schemas.microsoft.com/office/drawing/2014/main" val="3135258177"/>
                    </a:ext>
                  </a:extLst>
                </a:gridCol>
              </a:tblGrid>
              <a:tr h="333955">
                <a:tc>
                  <a:txBody>
                    <a:bodyPr/>
                    <a:lstStyle/>
                    <a:p>
                      <a:r>
                        <a:rPr lang="en-US" sz="1600" b="1" dirty="0"/>
                        <a:t>Advantages </a:t>
                      </a:r>
                      <a:endParaRPr lang="en-US" sz="1600" dirty="0"/>
                    </a:p>
                  </a:txBody>
                  <a:tcPr marL="83489" marR="83489" marT="41744" marB="41744" anchor="ctr"/>
                </a:tc>
                <a:tc>
                  <a:txBody>
                    <a:bodyPr/>
                    <a:lstStyle/>
                    <a:p>
                      <a:r>
                        <a:rPr lang="en-US" sz="1600" b="1" dirty="0"/>
                        <a:t>Disadvantages </a:t>
                      </a:r>
                      <a:endParaRPr lang="en-US" sz="1600" dirty="0"/>
                    </a:p>
                  </a:txBody>
                  <a:tcPr marL="83489" marR="83489" marT="41744" marB="41744" anchor="ctr"/>
                </a:tc>
                <a:extLst>
                  <a:ext uri="{0D108BD9-81ED-4DB2-BD59-A6C34878D82A}">
                    <a16:rowId xmlns:a16="http://schemas.microsoft.com/office/drawing/2014/main" val="2851251700"/>
                  </a:ext>
                </a:extLst>
              </a:tr>
              <a:tr h="333955">
                <a:tc>
                  <a:txBody>
                    <a:bodyPr/>
                    <a:lstStyle/>
                    <a:p>
                      <a:pPr marL="285750" indent="-285750">
                        <a:buFont typeface="Arial" panose="020B0604020202020204" pitchFamily="34" charset="0"/>
                        <a:buChar char="•"/>
                      </a:pPr>
                      <a:r>
                        <a:rPr lang="en-US" sz="1600" dirty="0"/>
                        <a:t>Simple and easy to understand</a:t>
                      </a:r>
                    </a:p>
                  </a:txBody>
                  <a:tcPr marL="83489" marR="83489" marT="41744" marB="41744" anchor="ctr"/>
                </a:tc>
                <a:tc>
                  <a:txBody>
                    <a:bodyPr/>
                    <a:lstStyle/>
                    <a:p>
                      <a:pPr marL="285750" indent="-285750">
                        <a:buFont typeface="Arial" panose="020B0604020202020204" pitchFamily="34" charset="0"/>
                        <a:buChar char="•"/>
                      </a:pPr>
                      <a:r>
                        <a:rPr lang="en-US" sz="1600" dirty="0"/>
                        <a:t>Difficult to accommodate requirement changes</a:t>
                      </a:r>
                    </a:p>
                  </a:txBody>
                  <a:tcPr marL="83489" marR="83489" marT="41744" marB="41744" anchor="ctr"/>
                </a:tc>
                <a:extLst>
                  <a:ext uri="{0D108BD9-81ED-4DB2-BD59-A6C34878D82A}">
                    <a16:rowId xmlns:a16="http://schemas.microsoft.com/office/drawing/2014/main" val="529944543"/>
                  </a:ext>
                </a:extLst>
              </a:tr>
              <a:tr h="333955">
                <a:tc>
                  <a:txBody>
                    <a:bodyPr/>
                    <a:lstStyle/>
                    <a:p>
                      <a:pPr marL="285750" indent="-285750">
                        <a:buFont typeface="Arial" panose="020B0604020202020204" pitchFamily="34" charset="0"/>
                        <a:buChar char="•"/>
                      </a:pPr>
                      <a:r>
                        <a:rPr lang="en-US" sz="1600" dirty="0"/>
                        <a:t>Clear structure with defined phases</a:t>
                      </a:r>
                    </a:p>
                  </a:txBody>
                  <a:tcPr marL="83489" marR="83489" marT="41744" marB="41744" anchor="ctr"/>
                </a:tc>
                <a:tc>
                  <a:txBody>
                    <a:bodyPr/>
                    <a:lstStyle/>
                    <a:p>
                      <a:pPr marL="285750" indent="-285750">
                        <a:buFont typeface="Arial" panose="020B0604020202020204" pitchFamily="34" charset="0"/>
                        <a:buChar char="•"/>
                      </a:pPr>
                      <a:r>
                        <a:rPr lang="en-US" sz="1600" dirty="0"/>
                        <a:t>No working software until late in the process</a:t>
                      </a:r>
                    </a:p>
                  </a:txBody>
                  <a:tcPr marL="83489" marR="83489" marT="41744" marB="41744" anchor="ctr"/>
                </a:tc>
                <a:extLst>
                  <a:ext uri="{0D108BD9-81ED-4DB2-BD59-A6C34878D82A}">
                    <a16:rowId xmlns:a16="http://schemas.microsoft.com/office/drawing/2014/main" val="3362181319"/>
                  </a:ext>
                </a:extLst>
              </a:tr>
              <a:tr h="333955">
                <a:tc>
                  <a:txBody>
                    <a:bodyPr/>
                    <a:lstStyle/>
                    <a:p>
                      <a:pPr marL="285750" indent="-285750">
                        <a:buFont typeface="Arial" panose="020B0604020202020204" pitchFamily="34" charset="0"/>
                        <a:buChar char="•"/>
                      </a:pPr>
                      <a:r>
                        <a:rPr lang="en-US" sz="1600" dirty="0"/>
                        <a:t>Easy to manage due to fixed milestones</a:t>
                      </a:r>
                    </a:p>
                  </a:txBody>
                  <a:tcPr marL="83489" marR="83489" marT="41744" marB="41744" anchor="ctr"/>
                </a:tc>
                <a:tc>
                  <a:txBody>
                    <a:bodyPr/>
                    <a:lstStyle/>
                    <a:p>
                      <a:pPr marL="285750" indent="-285750">
                        <a:buFont typeface="Arial" panose="020B0604020202020204" pitchFamily="34" charset="0"/>
                        <a:buChar char="•"/>
                      </a:pPr>
                      <a:r>
                        <a:rPr lang="en-US" sz="1600" dirty="0"/>
                        <a:t>High risk if requirements are wrong</a:t>
                      </a:r>
                    </a:p>
                  </a:txBody>
                  <a:tcPr marL="83489" marR="83489" marT="41744" marB="41744" anchor="ctr"/>
                </a:tc>
                <a:extLst>
                  <a:ext uri="{0D108BD9-81ED-4DB2-BD59-A6C34878D82A}">
                    <a16:rowId xmlns:a16="http://schemas.microsoft.com/office/drawing/2014/main" val="2017967861"/>
                  </a:ext>
                </a:extLst>
              </a:tr>
              <a:tr h="333955">
                <a:tc>
                  <a:txBody>
                    <a:bodyPr/>
                    <a:lstStyle/>
                    <a:p>
                      <a:pPr marL="285750" indent="-285750">
                        <a:buFont typeface="Arial" panose="020B0604020202020204" pitchFamily="34" charset="0"/>
                        <a:buChar char="•"/>
                      </a:pPr>
                      <a:r>
                        <a:rPr lang="en-US" sz="1600" dirty="0"/>
                        <a:t>Well-documented at every stage</a:t>
                      </a:r>
                    </a:p>
                  </a:txBody>
                  <a:tcPr marL="83489" marR="83489" marT="41744" marB="41744" anchor="ctr"/>
                </a:tc>
                <a:tc>
                  <a:txBody>
                    <a:bodyPr/>
                    <a:lstStyle/>
                    <a:p>
                      <a:pPr marL="285750" indent="-285750">
                        <a:buFont typeface="Arial" panose="020B0604020202020204" pitchFamily="34" charset="0"/>
                        <a:buChar char="•"/>
                      </a:pPr>
                      <a:r>
                        <a:rPr lang="en-US" sz="1600" dirty="0"/>
                        <a:t>Testing starts only after development is complete</a:t>
                      </a:r>
                    </a:p>
                  </a:txBody>
                  <a:tcPr marL="83489" marR="83489" marT="41744" marB="41744" anchor="ctr"/>
                </a:tc>
                <a:extLst>
                  <a:ext uri="{0D108BD9-81ED-4DB2-BD59-A6C34878D82A}">
                    <a16:rowId xmlns:a16="http://schemas.microsoft.com/office/drawing/2014/main" val="4087105038"/>
                  </a:ext>
                </a:extLst>
              </a:tr>
              <a:tr h="333955">
                <a:tc>
                  <a:txBody>
                    <a:bodyPr/>
                    <a:lstStyle/>
                    <a:p>
                      <a:pPr marL="285750" indent="-285750">
                        <a:buFont typeface="Arial" panose="020B0604020202020204" pitchFamily="34" charset="0"/>
                        <a:buChar char="•"/>
                      </a:pPr>
                      <a:r>
                        <a:rPr lang="en-US" sz="1600" dirty="0"/>
                        <a:t>Suitable for small and well-defined projects</a:t>
                      </a:r>
                    </a:p>
                  </a:txBody>
                  <a:tcPr marL="83489" marR="83489" marT="41744" marB="41744" anchor="ctr"/>
                </a:tc>
                <a:tc>
                  <a:txBody>
                    <a:bodyPr/>
                    <a:lstStyle/>
                    <a:p>
                      <a:pPr marL="285750" indent="-285750">
                        <a:buFont typeface="Arial" panose="020B0604020202020204" pitchFamily="34" charset="0"/>
                        <a:buChar char="•"/>
                      </a:pPr>
                      <a:r>
                        <a:rPr lang="en-US" sz="1600" dirty="0"/>
                        <a:t>Not suitable for complex or long-term projects</a:t>
                      </a:r>
                    </a:p>
                  </a:txBody>
                  <a:tcPr marL="83489" marR="83489" marT="41744" marB="41744" anchor="ctr"/>
                </a:tc>
                <a:extLst>
                  <a:ext uri="{0D108BD9-81ED-4DB2-BD59-A6C34878D82A}">
                    <a16:rowId xmlns:a16="http://schemas.microsoft.com/office/drawing/2014/main" val="2618210106"/>
                  </a:ext>
                </a:extLst>
              </a:tr>
              <a:tr h="333955">
                <a:tc>
                  <a:txBody>
                    <a:bodyPr/>
                    <a:lstStyle/>
                    <a:p>
                      <a:pPr marL="285750" indent="-285750">
                        <a:buFont typeface="Arial" panose="020B0604020202020204" pitchFamily="34" charset="0"/>
                        <a:buChar char="•"/>
                      </a:pPr>
                      <a:r>
                        <a:rPr lang="en-US" sz="1600" dirty="0"/>
                        <a:t>Easy to measure progress</a:t>
                      </a:r>
                    </a:p>
                  </a:txBody>
                  <a:tcPr marL="83489" marR="83489" marT="41744" marB="41744" anchor="ctr"/>
                </a:tc>
                <a:tc>
                  <a:txBody>
                    <a:bodyPr/>
                    <a:lstStyle/>
                    <a:p>
                      <a:pPr marL="285750" indent="-285750">
                        <a:buFont typeface="Arial" panose="020B0604020202020204" pitchFamily="34" charset="0"/>
                        <a:buChar char="•"/>
                      </a:pPr>
                      <a:r>
                        <a:rPr lang="en-US" sz="1600" dirty="0"/>
                        <a:t>Customer feedback comes very late</a:t>
                      </a:r>
                    </a:p>
                  </a:txBody>
                  <a:tcPr marL="83489" marR="83489" marT="41744" marB="41744" anchor="ctr"/>
                </a:tc>
                <a:extLst>
                  <a:ext uri="{0D108BD9-81ED-4DB2-BD59-A6C34878D82A}">
                    <a16:rowId xmlns:a16="http://schemas.microsoft.com/office/drawing/2014/main" val="2779113711"/>
                  </a:ext>
                </a:extLst>
              </a:tr>
            </a:tbl>
          </a:graphicData>
        </a:graphic>
      </p:graphicFrame>
      <p:sp>
        <p:nvSpPr>
          <p:cNvPr id="4" name="TextBox 3">
            <a:extLst>
              <a:ext uri="{FF2B5EF4-FFF2-40B4-BE49-F238E27FC236}">
                <a16:creationId xmlns:a16="http://schemas.microsoft.com/office/drawing/2014/main" id="{84B4AD1A-F7D3-C48B-5973-8C3C26A33F17}"/>
              </a:ext>
            </a:extLst>
          </p:cNvPr>
          <p:cNvSpPr txBox="1"/>
          <p:nvPr/>
        </p:nvSpPr>
        <p:spPr>
          <a:xfrm>
            <a:off x="1144570" y="4203884"/>
            <a:ext cx="8415779" cy="1754326"/>
          </a:xfrm>
          <a:prstGeom prst="rect">
            <a:avLst/>
          </a:prstGeom>
          <a:noFill/>
        </p:spPr>
        <p:txBody>
          <a:bodyPr wrap="square">
            <a:spAutoFit/>
          </a:bodyPr>
          <a:lstStyle/>
          <a:p>
            <a:r>
              <a:rPr lang="en-US" b="1" dirty="0"/>
              <a:t>When to Choose Waterfall?</a:t>
            </a:r>
          </a:p>
          <a:p>
            <a:pPr marL="742950" lvl="1" indent="-285750">
              <a:buFont typeface="Arial" panose="020B0604020202020204" pitchFamily="34" charset="0"/>
              <a:buChar char="•"/>
            </a:pPr>
            <a:r>
              <a:rPr lang="en-US" dirty="0"/>
              <a:t>Requirements are </a:t>
            </a:r>
            <a:r>
              <a:rPr lang="en-US" b="1" dirty="0"/>
              <a:t>stable</a:t>
            </a:r>
            <a:endParaRPr lang="en-US" dirty="0"/>
          </a:p>
          <a:p>
            <a:pPr marL="742950" lvl="1" indent="-285750">
              <a:buFont typeface="Arial" panose="020B0604020202020204" pitchFamily="34" charset="0"/>
              <a:buChar char="•"/>
            </a:pPr>
            <a:r>
              <a:rPr lang="en-US" dirty="0"/>
              <a:t>Technology is </a:t>
            </a:r>
            <a:r>
              <a:rPr lang="en-US" b="1" dirty="0"/>
              <a:t>well understood</a:t>
            </a:r>
            <a:endParaRPr lang="en-US" dirty="0"/>
          </a:p>
          <a:p>
            <a:pPr marL="742950" lvl="1" indent="-285750">
              <a:buFont typeface="Arial" panose="020B0604020202020204" pitchFamily="34" charset="0"/>
              <a:buChar char="•"/>
            </a:pPr>
            <a:r>
              <a:rPr lang="en-US" dirty="0"/>
              <a:t>Project scope is </a:t>
            </a:r>
            <a:r>
              <a:rPr lang="en-US" b="1" dirty="0"/>
              <a:t>small to medium</a:t>
            </a:r>
            <a:endParaRPr lang="en-US" dirty="0"/>
          </a:p>
          <a:p>
            <a:pPr marL="742950" lvl="1" indent="-285750">
              <a:buFont typeface="Arial" panose="020B0604020202020204" pitchFamily="34" charset="0"/>
              <a:buChar char="•"/>
            </a:pPr>
            <a:r>
              <a:rPr lang="en-US" dirty="0"/>
              <a:t>Strict documentation is required</a:t>
            </a:r>
          </a:p>
          <a:p>
            <a:pPr marL="742950" lvl="1" indent="-285750">
              <a:buFont typeface="Arial" panose="020B0604020202020204" pitchFamily="34" charset="0"/>
              <a:buChar char="•"/>
            </a:pPr>
            <a:r>
              <a:rPr lang="en-US" dirty="0"/>
              <a:t>Client does not expect frequent changes</a:t>
            </a:r>
          </a:p>
        </p:txBody>
      </p:sp>
    </p:spTree>
    <p:extLst>
      <p:ext uri="{BB962C8B-B14F-4D97-AF65-F5344CB8AC3E}">
        <p14:creationId xmlns:p14="http://schemas.microsoft.com/office/powerpoint/2010/main" val="32094151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b="1" dirty="0">
                <a:latin typeface="+mn-lt"/>
              </a:rPr>
              <a:t>V-Model</a:t>
            </a:r>
            <a:endParaRPr lang="en-US" sz="2800" b="1" dirty="0">
              <a:latin typeface="+mn-lt"/>
            </a:endParaRPr>
          </a:p>
        </p:txBody>
      </p:sp>
      <p:pic>
        <p:nvPicPr>
          <p:cNvPr id="5" name="Picture 11"/>
          <p:cNvPicPr>
            <a:picLocks noChangeAspect="1" noChangeArrowheads="1"/>
          </p:cNvPicPr>
          <p:nvPr/>
        </p:nvPicPr>
        <p:blipFill>
          <a:blip r:embed="rId3" cstate="print"/>
          <a:srcRect/>
          <a:stretch>
            <a:fillRect/>
          </a:stretch>
        </p:blipFill>
        <p:spPr bwMode="auto">
          <a:xfrm>
            <a:off x="2945386" y="1428750"/>
            <a:ext cx="7210425" cy="4668838"/>
          </a:xfrm>
          <a:prstGeom prst="rect">
            <a:avLst/>
          </a:prstGeom>
          <a:noFill/>
          <a:ln w="9525">
            <a:noFill/>
            <a:miter lim="800000"/>
            <a:headEnd/>
            <a:tailEnd/>
          </a:ln>
        </p:spPr>
      </p:pic>
    </p:spTree>
    <p:extLst>
      <p:ext uri="{BB962C8B-B14F-4D97-AF65-F5344CB8AC3E}">
        <p14:creationId xmlns:p14="http://schemas.microsoft.com/office/powerpoint/2010/main" val="197889726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sz="4000" b="1" dirty="0">
                <a:latin typeface="+mn-lt"/>
              </a:rPr>
              <a:t>V-Model</a:t>
            </a:r>
            <a:endParaRPr lang="en-US" sz="2400" b="1" dirty="0">
              <a:latin typeface="+mn-lt"/>
            </a:endParaRPr>
          </a:p>
        </p:txBody>
      </p:sp>
      <p:sp>
        <p:nvSpPr>
          <p:cNvPr id="22531" name="Rectangle 3"/>
          <p:cNvSpPr>
            <a:spLocks noGrp="1" noChangeArrowheads="1"/>
          </p:cNvSpPr>
          <p:nvPr>
            <p:ph idx="1"/>
          </p:nvPr>
        </p:nvSpPr>
        <p:spPr>
          <a:xfrm>
            <a:off x="1371600" y="1720392"/>
            <a:ext cx="9601200" cy="3581400"/>
          </a:xfrm>
        </p:spPr>
        <p:txBody>
          <a:bodyPr>
            <a:normAutofit/>
          </a:bodyPr>
          <a:lstStyle/>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A variant of the waterfall model</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Uses unit testing to verify procedural design</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Uses integration testing to verify architectural (system) design</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Uses acceptance testing to validate the requirements</a:t>
            </a:r>
          </a:p>
          <a:p>
            <a:pPr>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GB" sz="2400" dirty="0"/>
              <a:t>If problems are found during verification and validation, the left side of the V can be re-executed before testing on the right side is re-enacted</a:t>
            </a:r>
          </a:p>
        </p:txBody>
      </p:sp>
    </p:spTree>
    <p:extLst>
      <p:ext uri="{BB962C8B-B14F-4D97-AF65-F5344CB8AC3E}">
        <p14:creationId xmlns:p14="http://schemas.microsoft.com/office/powerpoint/2010/main" val="14083986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09686" y="582105"/>
            <a:ext cx="9601200" cy="869731"/>
          </a:xfrm>
        </p:spPr>
        <p:txBody>
          <a:bodyPr>
            <a:normAutofit/>
          </a:bodyPr>
          <a:lstStyle/>
          <a:p>
            <a:pPr eaLnBrk="1" hangingPunct="1"/>
            <a:r>
              <a:rPr lang="en-GB" sz="3600" b="1" dirty="0">
                <a:latin typeface="+mn-lt"/>
              </a:rPr>
              <a:t>Verification and Validation (V&amp;V)</a:t>
            </a:r>
            <a:endParaRPr lang="en-US" sz="2000" b="1" dirty="0">
              <a:latin typeface="+mn-lt"/>
            </a:endParaRPr>
          </a:p>
        </p:txBody>
      </p:sp>
      <p:sp>
        <p:nvSpPr>
          <p:cNvPr id="22531" name="Rectangle 3"/>
          <p:cNvSpPr>
            <a:spLocks noGrp="1" noChangeArrowheads="1"/>
          </p:cNvSpPr>
          <p:nvPr>
            <p:ph idx="1"/>
          </p:nvPr>
        </p:nvSpPr>
        <p:spPr>
          <a:xfrm>
            <a:off x="1371600" y="1720392"/>
            <a:ext cx="10200290" cy="4449180"/>
          </a:xfrm>
        </p:spPr>
        <p:txBody>
          <a:bodyPr>
            <a:normAutofit/>
          </a:bodyPr>
          <a:lstStyle/>
          <a:p>
            <a:pPr fontAlgn="base"/>
            <a:r>
              <a:rPr lang="en-US" sz="2400" b="1" dirty="0"/>
              <a:t>Verification means Are we building the product right? </a:t>
            </a:r>
          </a:p>
          <a:p>
            <a:pPr lvl="1" fontAlgn="base"/>
            <a:r>
              <a:rPr lang="en-US" sz="2000" b="1" dirty="0"/>
              <a:t>Verification</a:t>
            </a:r>
            <a:r>
              <a:rPr lang="en-US" sz="2000" dirty="0"/>
              <a:t> is the process of checking that a software achieves its goal without any bugs. </a:t>
            </a:r>
          </a:p>
          <a:p>
            <a:pPr lvl="1" fontAlgn="base"/>
            <a:r>
              <a:rPr lang="en-US" sz="2000" dirty="0"/>
              <a:t>It is the process to ensure whether the product that is developed is right or not. </a:t>
            </a:r>
          </a:p>
          <a:p>
            <a:pPr lvl="1" fontAlgn="base"/>
            <a:r>
              <a:rPr lang="en-US" sz="2000" dirty="0"/>
              <a:t>It verifies whether the developed product fulfills the requirements that we have.</a:t>
            </a:r>
          </a:p>
          <a:p>
            <a:pPr marL="457200" lvl="1" indent="0" fontAlgn="base">
              <a:buNone/>
            </a:pPr>
            <a:endParaRPr lang="en-US" sz="2000" dirty="0"/>
          </a:p>
          <a:p>
            <a:pPr fontAlgn="base"/>
            <a:r>
              <a:rPr lang="en-US" sz="2400" b="1" dirty="0"/>
              <a:t>Validation means Are we building the right product? </a:t>
            </a:r>
          </a:p>
          <a:p>
            <a:pPr lvl="1" fontAlgn="base"/>
            <a:r>
              <a:rPr lang="en-US" sz="2000" b="1" dirty="0"/>
              <a:t>Validation</a:t>
            </a:r>
            <a:r>
              <a:rPr lang="en-US" sz="2000" dirty="0"/>
              <a:t> is the process of checking whether the software product is up to the mark or in other words product has high level requirements. </a:t>
            </a:r>
          </a:p>
          <a:p>
            <a:pPr lvl="1" fontAlgn="base"/>
            <a:r>
              <a:rPr lang="en-US" sz="2000" dirty="0"/>
              <a:t>It is the process of checking the validation of product i.e. it checks what we are developing is the right product. </a:t>
            </a:r>
          </a:p>
          <a:p>
            <a:pPr lvl="1" fontAlgn="base"/>
            <a:r>
              <a:rPr lang="en-US" sz="2000" dirty="0"/>
              <a:t>it is validation of actual and expected product. </a:t>
            </a:r>
            <a:br>
              <a:rPr lang="en-US" sz="2000" dirty="0"/>
            </a:br>
            <a:endParaRPr lang="en-US" sz="2000" dirty="0"/>
          </a:p>
        </p:txBody>
      </p:sp>
    </p:spTree>
    <p:extLst>
      <p:ext uri="{BB962C8B-B14F-4D97-AF65-F5344CB8AC3E}">
        <p14:creationId xmlns:p14="http://schemas.microsoft.com/office/powerpoint/2010/main" val="186428896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9686" y="761999"/>
            <a:ext cx="9601200" cy="827690"/>
          </a:xfrm>
        </p:spPr>
        <p:txBody>
          <a:bodyPr>
            <a:noAutofit/>
          </a:bodyPr>
          <a:lstStyle/>
          <a:p>
            <a:r>
              <a:rPr lang="en-US" sz="3600" b="1" dirty="0">
                <a:latin typeface="+mn-lt"/>
              </a:rPr>
              <a:t>Use cases for the V-shaped model</a:t>
            </a:r>
            <a:br>
              <a:rPr lang="en-US" sz="3600" dirty="0">
                <a:latin typeface="+mn-lt"/>
              </a:rPr>
            </a:br>
            <a:endParaRPr lang="en-US" sz="3600" dirty="0">
              <a:latin typeface="+mn-lt"/>
            </a:endParaRPr>
          </a:p>
        </p:txBody>
      </p:sp>
      <p:sp>
        <p:nvSpPr>
          <p:cNvPr id="3" name="Content Placeholder 2"/>
          <p:cNvSpPr>
            <a:spLocks noGrp="1"/>
          </p:cNvSpPr>
          <p:nvPr>
            <p:ph idx="1"/>
          </p:nvPr>
        </p:nvSpPr>
        <p:spPr>
          <a:xfrm>
            <a:off x="1371600" y="1686911"/>
            <a:ext cx="9601200" cy="3581400"/>
          </a:xfrm>
        </p:spPr>
        <p:txBody>
          <a:bodyPr>
            <a:normAutofit/>
          </a:bodyPr>
          <a:lstStyle/>
          <a:p>
            <a:pPr>
              <a:buFont typeface="Arial" panose="020B0604020202020204" pitchFamily="34" charset="0"/>
              <a:buChar char="•"/>
            </a:pPr>
            <a:r>
              <a:rPr lang="en-US" sz="2000" dirty="0"/>
              <a:t>Requirements are </a:t>
            </a:r>
            <a:r>
              <a:rPr lang="en-US" sz="2000" b="1" dirty="0"/>
              <a:t>clear and stable</a:t>
            </a:r>
            <a:endParaRPr lang="en-US" sz="2000" dirty="0"/>
          </a:p>
          <a:p>
            <a:pPr>
              <a:buFont typeface="Arial" panose="020B0604020202020204" pitchFamily="34" charset="0"/>
              <a:buChar char="•"/>
            </a:pPr>
            <a:r>
              <a:rPr lang="en-US" sz="2000" dirty="0"/>
              <a:t>Project is </a:t>
            </a:r>
            <a:r>
              <a:rPr lang="en-US" sz="2000" b="1" dirty="0"/>
              <a:t>safety-critical</a:t>
            </a:r>
            <a:endParaRPr lang="en-US" sz="2000" dirty="0"/>
          </a:p>
          <a:p>
            <a:pPr>
              <a:buFont typeface="Arial" panose="020B0604020202020204" pitchFamily="34" charset="0"/>
              <a:buChar char="•"/>
            </a:pPr>
            <a:r>
              <a:rPr lang="en-US" sz="2000" dirty="0"/>
              <a:t>High reliability is required</a:t>
            </a:r>
          </a:p>
          <a:p>
            <a:pPr>
              <a:buFont typeface="Arial" panose="020B0604020202020204" pitchFamily="34" charset="0"/>
              <a:buChar char="•"/>
            </a:pPr>
            <a:r>
              <a:rPr lang="en-US" sz="2000" dirty="0"/>
              <a:t>Strict testing and documentation needed</a:t>
            </a:r>
          </a:p>
          <a:p>
            <a:pPr>
              <a:buFont typeface="Arial" panose="020B0604020202020204" pitchFamily="34" charset="0"/>
              <a:buChar char="•"/>
            </a:pPr>
            <a:r>
              <a:rPr lang="en-US" sz="2000" dirty="0"/>
              <a:t>Regulatory compliance is mandatory</a:t>
            </a:r>
          </a:p>
        </p:txBody>
      </p:sp>
    </p:spTree>
    <p:extLst>
      <p:ext uri="{BB962C8B-B14F-4D97-AF65-F5344CB8AC3E}">
        <p14:creationId xmlns:p14="http://schemas.microsoft.com/office/powerpoint/2010/main" val="558866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808892" y="627184"/>
            <a:ext cx="4724642" cy="1485900"/>
          </a:xfrm>
        </p:spPr>
        <p:txBody>
          <a:bodyPr>
            <a:normAutofit/>
          </a:bodyPr>
          <a:lstStyle/>
          <a:p>
            <a:pPr eaLnBrk="1" hangingPunct="1"/>
            <a:r>
              <a:rPr lang="en-GB" sz="4000" b="1" dirty="0">
                <a:latin typeface="+mn-lt"/>
              </a:rPr>
              <a:t>Prototyping Model</a:t>
            </a:r>
            <a:endParaRPr lang="en-US" sz="2400" b="1" dirty="0">
              <a:latin typeface="+mn-lt"/>
            </a:endParaRPr>
          </a:p>
        </p:txBody>
      </p:sp>
      <p:pic>
        <p:nvPicPr>
          <p:cNvPr id="3" name="Picture 2">
            <a:extLst>
              <a:ext uri="{FF2B5EF4-FFF2-40B4-BE49-F238E27FC236}">
                <a16:creationId xmlns:a16="http://schemas.microsoft.com/office/drawing/2014/main" id="{94F7BA64-06E3-06EE-1BE9-BF93F222861F}"/>
              </a:ext>
            </a:extLst>
          </p:cNvPr>
          <p:cNvPicPr>
            <a:picLocks noChangeAspect="1"/>
          </p:cNvPicPr>
          <p:nvPr/>
        </p:nvPicPr>
        <p:blipFill>
          <a:blip r:embed="rId3"/>
          <a:stretch>
            <a:fillRect/>
          </a:stretch>
        </p:blipFill>
        <p:spPr>
          <a:xfrm>
            <a:off x="5760429" y="792251"/>
            <a:ext cx="5799323" cy="5273497"/>
          </a:xfrm>
          <a:prstGeom prst="rect">
            <a:avLst/>
          </a:prstGeom>
        </p:spPr>
      </p:pic>
    </p:spTree>
    <p:extLst>
      <p:ext uri="{BB962C8B-B14F-4D97-AF65-F5344CB8AC3E}">
        <p14:creationId xmlns:p14="http://schemas.microsoft.com/office/powerpoint/2010/main" val="28459810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tIns="104765" rtlCol="0">
            <a:normAutofit/>
          </a:bodyPr>
          <a:lstStyle/>
          <a:p>
            <a:pPr marL="11430" eaLnBrk="1" fontAlgn="auto" hangingPunct="1">
              <a:spcBef>
                <a:spcPts val="0"/>
              </a:spcBef>
              <a:spcAft>
                <a:spcPts val="0"/>
              </a:spcAft>
              <a:defRPr/>
            </a:pPr>
            <a:r>
              <a:rPr sz="3600" b="1" spc="-35" dirty="0">
                <a:latin typeface="+mn-lt"/>
              </a:rPr>
              <a:t>P</a:t>
            </a:r>
            <a:r>
              <a:rPr sz="3600" b="1" spc="-5" dirty="0">
                <a:latin typeface="+mn-lt"/>
              </a:rPr>
              <a:t>RO</a:t>
            </a:r>
            <a:r>
              <a:rPr sz="3600" b="1" spc="-60" dirty="0">
                <a:latin typeface="+mn-lt"/>
              </a:rPr>
              <a:t>T</a:t>
            </a:r>
            <a:r>
              <a:rPr sz="3600" b="1" dirty="0">
                <a:latin typeface="+mn-lt"/>
              </a:rPr>
              <a:t>OTYP</a:t>
            </a:r>
            <a:r>
              <a:rPr sz="3600" b="1" spc="-15" dirty="0">
                <a:latin typeface="+mn-lt"/>
              </a:rPr>
              <a:t>I</a:t>
            </a:r>
            <a:r>
              <a:rPr sz="3600" b="1" spc="-5" dirty="0">
                <a:latin typeface="+mn-lt"/>
              </a:rPr>
              <a:t>NG</a:t>
            </a:r>
            <a:endParaRPr sz="3600" b="1" dirty="0">
              <a:latin typeface="+mn-lt"/>
            </a:endParaRPr>
          </a:p>
        </p:txBody>
      </p:sp>
      <p:sp>
        <p:nvSpPr>
          <p:cNvPr id="4099" name="object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lvl1pPr marL="74613">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E53091EA-422B-47CA-A3C1-8C5C1B3500B9}" type="slidenum">
              <a:rPr lang="en-US" smtClean="0">
                <a:solidFill>
                  <a:schemeClr val="bg1"/>
                </a:solidFill>
                <a:latin typeface="Arial" charset="0"/>
                <a:cs typeface="Arial" charset="0"/>
              </a:rPr>
              <a:pPr fontAlgn="base">
                <a:spcBef>
                  <a:spcPct val="0"/>
                </a:spcBef>
                <a:spcAft>
                  <a:spcPct val="0"/>
                </a:spcAft>
              </a:pPr>
              <a:t>20</a:t>
            </a:fld>
            <a:endParaRPr lang="en-US">
              <a:solidFill>
                <a:schemeClr val="bg1"/>
              </a:solidFill>
              <a:latin typeface="Arial" charset="0"/>
              <a:cs typeface="Arial" charset="0"/>
            </a:endParaRPr>
          </a:p>
        </p:txBody>
      </p:sp>
      <p:sp>
        <p:nvSpPr>
          <p:cNvPr id="8" name="Rectangle 7"/>
          <p:cNvSpPr/>
          <p:nvPr/>
        </p:nvSpPr>
        <p:spPr>
          <a:xfrm>
            <a:off x="1277815" y="1566952"/>
            <a:ext cx="10468708" cy="3176254"/>
          </a:xfrm>
          <a:prstGeom prst="rect">
            <a:avLst/>
          </a:prstGeom>
        </p:spPr>
        <p:txBody>
          <a:bodyPr wrap="square">
            <a:spAutoFit/>
          </a:bodyPr>
          <a:lstStyle/>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A	limited representation of a design that allows users to interact with it and to explore its suitability</a:t>
            </a:r>
          </a:p>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Allows     stakeholders     to     interact     with     the     planned product, gain some experience of using and explore imagined uses</a:t>
            </a:r>
          </a:p>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Production of an intermediary product to be used as a basis</a:t>
            </a:r>
          </a:p>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for testing</a:t>
            </a:r>
          </a:p>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Aim is to save on time and money</a:t>
            </a:r>
          </a:p>
          <a:p>
            <a:pPr marL="742950" indent="-457200" defTabSz="914400">
              <a:lnSpc>
                <a:spcPct val="94000"/>
              </a:lnSpc>
              <a:spcBef>
                <a:spcPts val="1000"/>
              </a:spcBef>
              <a:spcAft>
                <a:spcPts val="200"/>
              </a:spcAft>
              <a:buClr>
                <a:schemeClr val="tx1"/>
              </a:buClr>
              <a:buSzPct val="149000"/>
              <a:buFont typeface="Wingdings" pitchFamily="2" charset="2"/>
              <a:buChar char="§"/>
            </a:pPr>
            <a:r>
              <a:rPr lang="en-US" sz="2000" dirty="0">
                <a:solidFill>
                  <a:schemeClr val="tx1">
                    <a:lumMod val="95000"/>
                    <a:lumOff val="5000"/>
                  </a:schemeClr>
                </a:solidFill>
              </a:rPr>
              <a:t>Aim is to have something that can be tested with real users</a:t>
            </a:r>
          </a:p>
        </p:txBody>
      </p:sp>
    </p:spTree>
    <p:extLst>
      <p:ext uri="{BB962C8B-B14F-4D97-AF65-F5344CB8AC3E}">
        <p14:creationId xmlns:p14="http://schemas.microsoft.com/office/powerpoint/2010/main" val="3271850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tIns="519193" rtlCol="0">
            <a:normAutofit/>
          </a:bodyPr>
          <a:lstStyle/>
          <a:p>
            <a:pPr marL="12700" eaLnBrk="1" fontAlgn="auto" hangingPunct="1">
              <a:spcBef>
                <a:spcPts val="0"/>
              </a:spcBef>
              <a:spcAft>
                <a:spcPts val="0"/>
              </a:spcAft>
              <a:defRPr/>
            </a:pPr>
            <a:r>
              <a:rPr sz="3200" b="1" dirty="0">
                <a:solidFill>
                  <a:srgbClr val="000000"/>
                </a:solidFill>
                <a:latin typeface="+mn-lt"/>
              </a:rPr>
              <a:t>P</a:t>
            </a:r>
            <a:r>
              <a:rPr sz="3200" b="1" spc="-10" dirty="0">
                <a:solidFill>
                  <a:srgbClr val="000000"/>
                </a:solidFill>
                <a:latin typeface="+mn-lt"/>
              </a:rPr>
              <a:t>R</a:t>
            </a:r>
            <a:r>
              <a:rPr sz="3200" b="1" spc="-20" dirty="0">
                <a:solidFill>
                  <a:srgbClr val="000000"/>
                </a:solidFill>
                <a:latin typeface="+mn-lt"/>
              </a:rPr>
              <a:t>O</a:t>
            </a:r>
            <a:r>
              <a:rPr sz="3200" b="1" spc="-65" dirty="0">
                <a:solidFill>
                  <a:srgbClr val="000000"/>
                </a:solidFill>
                <a:latin typeface="+mn-lt"/>
              </a:rPr>
              <a:t>T</a:t>
            </a:r>
            <a:r>
              <a:rPr sz="3200" b="1" spc="-20" dirty="0">
                <a:solidFill>
                  <a:srgbClr val="000000"/>
                </a:solidFill>
                <a:latin typeface="+mn-lt"/>
              </a:rPr>
              <a:t>OTY</a:t>
            </a:r>
            <a:r>
              <a:rPr sz="3200" b="1" spc="-30" dirty="0">
                <a:solidFill>
                  <a:srgbClr val="000000"/>
                </a:solidFill>
                <a:latin typeface="+mn-lt"/>
              </a:rPr>
              <a:t>P</a:t>
            </a:r>
            <a:r>
              <a:rPr sz="3200" b="1" spc="-15" dirty="0">
                <a:solidFill>
                  <a:srgbClr val="000000"/>
                </a:solidFill>
                <a:latin typeface="+mn-lt"/>
              </a:rPr>
              <a:t>ING</a:t>
            </a:r>
          </a:p>
        </p:txBody>
      </p:sp>
      <p:sp>
        <p:nvSpPr>
          <p:cNvPr id="5146" name="object 2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lvl1pPr marL="74613">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335EEC14-A8F9-4703-89AE-A60AED5D47CB}" type="slidenum">
              <a:rPr lang="en-US" smtClean="0">
                <a:solidFill>
                  <a:schemeClr val="bg1"/>
                </a:solidFill>
                <a:latin typeface="Arial" charset="0"/>
                <a:cs typeface="Arial" charset="0"/>
              </a:rPr>
              <a:pPr fontAlgn="base">
                <a:spcBef>
                  <a:spcPct val="0"/>
                </a:spcBef>
                <a:spcAft>
                  <a:spcPct val="0"/>
                </a:spcAft>
              </a:pPr>
              <a:t>21</a:t>
            </a:fld>
            <a:endParaRPr lang="en-US">
              <a:solidFill>
                <a:schemeClr val="bg1"/>
              </a:solidFill>
              <a:latin typeface="Arial" charset="0"/>
              <a:cs typeface="Arial" charset="0"/>
            </a:endParaRPr>
          </a:p>
        </p:txBody>
      </p:sp>
      <p:sp>
        <p:nvSpPr>
          <p:cNvPr id="3" name="object 3"/>
          <p:cNvSpPr txBox="1"/>
          <p:nvPr/>
        </p:nvSpPr>
        <p:spPr>
          <a:xfrm>
            <a:off x="1334478" y="2092143"/>
            <a:ext cx="5314462" cy="692497"/>
          </a:xfrm>
          <a:prstGeom prst="rect">
            <a:avLst/>
          </a:prstGeom>
        </p:spPr>
        <p:txBody>
          <a:bodyPr lIns="0" tIns="0" rIns="0" bIns="0">
            <a:spAutoFit/>
          </a:bodyPr>
          <a:lstStyle/>
          <a:p>
            <a:pPr marL="355600" indent="-342900" fontAlgn="auto">
              <a:spcBef>
                <a:spcPts val="0"/>
              </a:spcBef>
              <a:spcAft>
                <a:spcPts val="0"/>
              </a:spcAft>
              <a:buClr>
                <a:schemeClr val="tx1"/>
              </a:buClr>
              <a:buSzPct val="150000"/>
              <a:buFont typeface="Wingdings" pitchFamily="2" charset="2"/>
              <a:buChar char="§"/>
              <a:tabLst>
                <a:tab pos="287020" algn="l"/>
              </a:tabLst>
              <a:defRPr/>
            </a:pPr>
            <a:r>
              <a:rPr sz="2000" spc="-240" dirty="0">
                <a:solidFill>
                  <a:schemeClr val="tx1">
                    <a:lumMod val="95000"/>
                    <a:lumOff val="5000"/>
                  </a:schemeClr>
                </a:solidFill>
                <a:cs typeface="Arial"/>
              </a:rPr>
              <a:t>Y</a:t>
            </a:r>
            <a:r>
              <a:rPr sz="2000" spc="-5" dirty="0">
                <a:solidFill>
                  <a:schemeClr val="tx1">
                    <a:lumMod val="95000"/>
                    <a:lumOff val="5000"/>
                  </a:schemeClr>
                </a:solidFill>
                <a:cs typeface="Arial"/>
              </a:rPr>
              <a:t>o</a:t>
            </a:r>
            <a:r>
              <a:rPr sz="2000" dirty="0">
                <a:solidFill>
                  <a:schemeClr val="tx1">
                    <a:lumMod val="95000"/>
                    <a:lumOff val="5000"/>
                  </a:schemeClr>
                </a:solidFill>
                <a:cs typeface="Arial"/>
              </a:rPr>
              <a:t>u</a:t>
            </a:r>
            <a:r>
              <a:rPr sz="2000" spc="55" dirty="0">
                <a:solidFill>
                  <a:schemeClr val="tx1">
                    <a:lumMod val="95000"/>
                    <a:lumOff val="5000"/>
                  </a:schemeClr>
                </a:solidFill>
                <a:cs typeface="Times New Roman"/>
              </a:rPr>
              <a:t> </a:t>
            </a:r>
            <a:r>
              <a:rPr sz="2000" spc="-5" dirty="0">
                <a:solidFill>
                  <a:schemeClr val="tx1">
                    <a:lumMod val="95000"/>
                    <a:lumOff val="5000"/>
                  </a:schemeClr>
                </a:solidFill>
                <a:cs typeface="Arial"/>
              </a:rPr>
              <a:t>nev</a:t>
            </a:r>
            <a:r>
              <a:rPr sz="2000" spc="-10" dirty="0">
                <a:solidFill>
                  <a:schemeClr val="tx1">
                    <a:lumMod val="95000"/>
                    <a:lumOff val="5000"/>
                  </a:schemeClr>
                </a:solidFill>
                <a:cs typeface="Arial"/>
              </a:rPr>
              <a:t>e</a:t>
            </a:r>
            <a:r>
              <a:rPr sz="2000" dirty="0">
                <a:solidFill>
                  <a:schemeClr val="tx1">
                    <a:lumMod val="95000"/>
                    <a:lumOff val="5000"/>
                  </a:schemeClr>
                </a:solidFill>
                <a:cs typeface="Arial"/>
              </a:rPr>
              <a:t>r</a:t>
            </a:r>
            <a:r>
              <a:rPr sz="2000" spc="70" dirty="0">
                <a:solidFill>
                  <a:schemeClr val="tx1">
                    <a:lumMod val="95000"/>
                    <a:lumOff val="5000"/>
                  </a:schemeClr>
                </a:solidFill>
                <a:cs typeface="Times New Roman"/>
              </a:rPr>
              <a:t> </a:t>
            </a:r>
            <a:r>
              <a:rPr sz="2000" spc="-5" dirty="0">
                <a:solidFill>
                  <a:schemeClr val="tx1">
                    <a:lumMod val="95000"/>
                    <a:lumOff val="5000"/>
                  </a:schemeClr>
                </a:solidFill>
                <a:cs typeface="Arial"/>
              </a:rPr>
              <a:t>ge</a:t>
            </a:r>
            <a:r>
              <a:rPr sz="2000" dirty="0">
                <a:solidFill>
                  <a:schemeClr val="tx1">
                    <a:lumMod val="95000"/>
                    <a:lumOff val="5000"/>
                  </a:schemeClr>
                </a:solidFill>
                <a:cs typeface="Arial"/>
              </a:rPr>
              <a:t>t</a:t>
            </a:r>
            <a:r>
              <a:rPr sz="2000" spc="65" dirty="0">
                <a:solidFill>
                  <a:schemeClr val="tx1">
                    <a:lumMod val="95000"/>
                    <a:lumOff val="5000"/>
                  </a:schemeClr>
                </a:solidFill>
                <a:cs typeface="Times New Roman"/>
              </a:rPr>
              <a:t> </a:t>
            </a:r>
            <a:r>
              <a:rPr sz="2000" spc="-5" dirty="0">
                <a:solidFill>
                  <a:schemeClr val="tx1">
                    <a:lumMod val="95000"/>
                    <a:lumOff val="5000"/>
                  </a:schemeClr>
                </a:solidFill>
                <a:cs typeface="Arial"/>
              </a:rPr>
              <a:t>i</a:t>
            </a:r>
            <a:r>
              <a:rPr sz="2000" dirty="0">
                <a:solidFill>
                  <a:schemeClr val="tx1">
                    <a:lumMod val="95000"/>
                    <a:lumOff val="5000"/>
                  </a:schemeClr>
                </a:solidFill>
                <a:cs typeface="Arial"/>
              </a:rPr>
              <a:t>t</a:t>
            </a:r>
            <a:r>
              <a:rPr sz="2000" spc="65" dirty="0">
                <a:solidFill>
                  <a:schemeClr val="tx1">
                    <a:lumMod val="95000"/>
                    <a:lumOff val="5000"/>
                  </a:schemeClr>
                </a:solidFill>
                <a:cs typeface="Times New Roman"/>
              </a:rPr>
              <a:t> </a:t>
            </a:r>
            <a:r>
              <a:rPr sz="2000" dirty="0">
                <a:solidFill>
                  <a:schemeClr val="tx1">
                    <a:lumMod val="95000"/>
                    <a:lumOff val="5000"/>
                  </a:schemeClr>
                </a:solidFill>
                <a:cs typeface="Arial"/>
              </a:rPr>
              <a:t>right</a:t>
            </a:r>
            <a:r>
              <a:rPr sz="2000" spc="65" dirty="0">
                <a:solidFill>
                  <a:schemeClr val="tx1">
                    <a:lumMod val="95000"/>
                    <a:lumOff val="5000"/>
                  </a:schemeClr>
                </a:solidFill>
                <a:cs typeface="Times New Roman"/>
              </a:rPr>
              <a:t> </a:t>
            </a:r>
            <a:r>
              <a:rPr sz="2000" spc="-5" dirty="0">
                <a:solidFill>
                  <a:schemeClr val="tx1">
                    <a:lumMod val="95000"/>
                    <a:lumOff val="5000"/>
                  </a:schemeClr>
                </a:solidFill>
                <a:cs typeface="Arial"/>
              </a:rPr>
              <a:t>firs</a:t>
            </a:r>
            <a:r>
              <a:rPr sz="2000" dirty="0">
                <a:solidFill>
                  <a:schemeClr val="tx1">
                    <a:lumMod val="95000"/>
                    <a:lumOff val="5000"/>
                  </a:schemeClr>
                </a:solidFill>
                <a:cs typeface="Arial"/>
              </a:rPr>
              <a:t>t</a:t>
            </a:r>
            <a:r>
              <a:rPr sz="2000" spc="55" dirty="0">
                <a:solidFill>
                  <a:schemeClr val="tx1">
                    <a:lumMod val="95000"/>
                    <a:lumOff val="5000"/>
                  </a:schemeClr>
                </a:solidFill>
                <a:cs typeface="Times New Roman"/>
              </a:rPr>
              <a:t> </a:t>
            </a:r>
            <a:r>
              <a:rPr sz="2000" dirty="0">
                <a:solidFill>
                  <a:schemeClr val="tx1">
                    <a:lumMod val="95000"/>
                    <a:lumOff val="5000"/>
                  </a:schemeClr>
                </a:solidFill>
                <a:cs typeface="Arial"/>
              </a:rPr>
              <a:t>time</a:t>
            </a:r>
          </a:p>
          <a:p>
            <a:pPr marL="355600" indent="-342900" fontAlgn="auto">
              <a:spcBef>
                <a:spcPts val="600"/>
              </a:spcBef>
              <a:spcAft>
                <a:spcPts val="0"/>
              </a:spcAft>
              <a:buClr>
                <a:schemeClr val="tx1"/>
              </a:buClr>
              <a:buSzPct val="150000"/>
              <a:buFont typeface="Wingdings" pitchFamily="2" charset="2"/>
              <a:buChar char="§"/>
              <a:tabLst>
                <a:tab pos="287020" algn="l"/>
              </a:tabLst>
              <a:defRPr/>
            </a:pPr>
            <a:r>
              <a:rPr sz="2000" spc="5" dirty="0">
                <a:solidFill>
                  <a:schemeClr val="tx1">
                    <a:lumMod val="95000"/>
                    <a:lumOff val="5000"/>
                  </a:schemeClr>
                </a:solidFill>
                <a:cs typeface="Arial"/>
              </a:rPr>
              <a:t>I</a:t>
            </a:r>
            <a:r>
              <a:rPr sz="2000" dirty="0">
                <a:solidFill>
                  <a:schemeClr val="tx1">
                    <a:lumMod val="95000"/>
                    <a:lumOff val="5000"/>
                  </a:schemeClr>
                </a:solidFill>
                <a:cs typeface="Arial"/>
              </a:rPr>
              <a:t>f</a:t>
            </a:r>
            <a:r>
              <a:rPr sz="2000" spc="40" dirty="0">
                <a:solidFill>
                  <a:schemeClr val="tx1">
                    <a:lumMod val="95000"/>
                    <a:lumOff val="5000"/>
                  </a:schemeClr>
                </a:solidFill>
                <a:cs typeface="Times New Roman"/>
              </a:rPr>
              <a:t> </a:t>
            </a:r>
            <a:r>
              <a:rPr sz="2000" dirty="0">
                <a:solidFill>
                  <a:schemeClr val="tx1">
                    <a:lumMod val="95000"/>
                    <a:lumOff val="5000"/>
                  </a:schemeClr>
                </a:solidFill>
                <a:cs typeface="Arial"/>
              </a:rPr>
              <a:t>at</a:t>
            </a:r>
            <a:r>
              <a:rPr sz="2000" spc="-20" dirty="0">
                <a:solidFill>
                  <a:schemeClr val="tx1">
                    <a:lumMod val="95000"/>
                    <a:lumOff val="5000"/>
                  </a:schemeClr>
                </a:solidFill>
                <a:cs typeface="Arial"/>
              </a:rPr>
              <a:t> </a:t>
            </a:r>
            <a:r>
              <a:rPr sz="2000" dirty="0">
                <a:solidFill>
                  <a:schemeClr val="tx1">
                    <a:lumMod val="95000"/>
                    <a:lumOff val="5000"/>
                  </a:schemeClr>
                </a:solidFill>
                <a:cs typeface="Arial"/>
              </a:rPr>
              <a:t>first you</a:t>
            </a:r>
            <a:r>
              <a:rPr sz="2000" spc="-10" dirty="0">
                <a:solidFill>
                  <a:schemeClr val="tx1">
                    <a:lumMod val="95000"/>
                    <a:lumOff val="5000"/>
                  </a:schemeClr>
                </a:solidFill>
                <a:cs typeface="Arial"/>
              </a:rPr>
              <a:t> </a:t>
            </a:r>
            <a:r>
              <a:rPr sz="2000" spc="-80" dirty="0">
                <a:solidFill>
                  <a:schemeClr val="tx1">
                    <a:lumMod val="95000"/>
                    <a:lumOff val="5000"/>
                  </a:schemeClr>
                </a:solidFill>
                <a:cs typeface="Arial"/>
              </a:rPr>
              <a:t>don</a:t>
            </a:r>
            <a:r>
              <a:rPr sz="2000" spc="-65" dirty="0">
                <a:solidFill>
                  <a:schemeClr val="tx1">
                    <a:lumMod val="95000"/>
                    <a:lumOff val="5000"/>
                  </a:schemeClr>
                </a:solidFill>
                <a:cs typeface="Arial"/>
              </a:rPr>
              <a:t>‟</a:t>
            </a:r>
            <a:r>
              <a:rPr sz="2000" dirty="0">
                <a:solidFill>
                  <a:schemeClr val="tx1">
                    <a:lumMod val="95000"/>
                    <a:lumOff val="5000"/>
                  </a:schemeClr>
                </a:solidFill>
                <a:cs typeface="Arial"/>
              </a:rPr>
              <a:t>t</a:t>
            </a:r>
            <a:r>
              <a:rPr sz="2000" spc="5" dirty="0">
                <a:solidFill>
                  <a:schemeClr val="tx1">
                    <a:lumMod val="95000"/>
                    <a:lumOff val="5000"/>
                  </a:schemeClr>
                </a:solidFill>
                <a:cs typeface="Arial"/>
              </a:rPr>
              <a:t> </a:t>
            </a:r>
            <a:r>
              <a:rPr sz="2000" dirty="0">
                <a:solidFill>
                  <a:schemeClr val="tx1">
                    <a:lumMod val="95000"/>
                    <a:lumOff val="5000"/>
                  </a:schemeClr>
                </a:solidFill>
                <a:cs typeface="Arial"/>
              </a:rPr>
              <a:t>suc</a:t>
            </a:r>
            <a:r>
              <a:rPr sz="2000" spc="-10" dirty="0">
                <a:solidFill>
                  <a:schemeClr val="tx1">
                    <a:lumMod val="95000"/>
                    <a:lumOff val="5000"/>
                  </a:schemeClr>
                </a:solidFill>
                <a:cs typeface="Arial"/>
              </a:rPr>
              <a:t>c</a:t>
            </a:r>
            <a:r>
              <a:rPr sz="2000" dirty="0">
                <a:solidFill>
                  <a:schemeClr val="tx1">
                    <a:lumMod val="95000"/>
                    <a:lumOff val="5000"/>
                  </a:schemeClr>
                </a:solidFill>
                <a:cs typeface="Arial"/>
              </a:rPr>
              <a:t>e</a:t>
            </a:r>
            <a:r>
              <a:rPr sz="2000" spc="-10" dirty="0">
                <a:solidFill>
                  <a:schemeClr val="tx1">
                    <a:lumMod val="95000"/>
                    <a:lumOff val="5000"/>
                  </a:schemeClr>
                </a:solidFill>
                <a:cs typeface="Arial"/>
              </a:rPr>
              <a:t>e</a:t>
            </a:r>
            <a:r>
              <a:rPr sz="2000" dirty="0">
                <a:solidFill>
                  <a:schemeClr val="tx1">
                    <a:lumMod val="95000"/>
                    <a:lumOff val="5000"/>
                  </a:schemeClr>
                </a:solidFill>
                <a:cs typeface="Arial"/>
              </a:rPr>
              <a:t>d</a:t>
            </a:r>
            <a:r>
              <a:rPr sz="2000" spc="10" dirty="0">
                <a:solidFill>
                  <a:schemeClr val="tx1">
                    <a:lumMod val="95000"/>
                    <a:lumOff val="5000"/>
                  </a:schemeClr>
                </a:solidFill>
                <a:cs typeface="Arial"/>
              </a:rPr>
              <a:t> </a:t>
            </a:r>
            <a:r>
              <a:rPr sz="2000" dirty="0">
                <a:solidFill>
                  <a:schemeClr val="tx1">
                    <a:lumMod val="95000"/>
                    <a:lumOff val="5000"/>
                  </a:schemeClr>
                </a:solidFill>
                <a:cs typeface="Arial"/>
              </a:rPr>
              <a:t>…</a:t>
            </a:r>
          </a:p>
        </p:txBody>
      </p:sp>
      <p:sp>
        <p:nvSpPr>
          <p:cNvPr id="5124" name="object 4"/>
          <p:cNvSpPr>
            <a:spLocks noChangeArrowheads="1"/>
          </p:cNvSpPr>
          <p:nvPr/>
        </p:nvSpPr>
        <p:spPr bwMode="auto">
          <a:xfrm>
            <a:off x="3991709" y="3698875"/>
            <a:ext cx="2278185" cy="730250"/>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25" name="object 5"/>
          <p:cNvSpPr>
            <a:spLocks noChangeArrowheads="1"/>
          </p:cNvSpPr>
          <p:nvPr/>
        </p:nvSpPr>
        <p:spPr bwMode="auto">
          <a:xfrm>
            <a:off x="4064000" y="3733800"/>
            <a:ext cx="2133600" cy="6096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6" name="object 6"/>
          <p:cNvSpPr txBox="1"/>
          <p:nvPr/>
        </p:nvSpPr>
        <p:spPr>
          <a:xfrm>
            <a:off x="4064000" y="3733800"/>
            <a:ext cx="2133600" cy="276999"/>
          </a:xfrm>
          <a:prstGeom prst="rect">
            <a:avLst/>
          </a:prstGeom>
          <a:ln w="12700">
            <a:solidFill>
              <a:srgbClr val="00A7FF"/>
            </a:solidFill>
          </a:ln>
        </p:spPr>
        <p:txBody>
          <a:bodyPr lIns="0" tIns="0" rIns="0" bIns="0">
            <a:spAutoFit/>
          </a:bodyPr>
          <a:lstStyle/>
          <a:p>
            <a:pPr marL="386080" fontAlgn="auto">
              <a:spcBef>
                <a:spcPts val="0"/>
              </a:spcBef>
              <a:spcAft>
                <a:spcPts val="0"/>
              </a:spcAft>
              <a:defRPr/>
            </a:pPr>
            <a:r>
              <a:rPr b="1" dirty="0">
                <a:latin typeface="Times New Roman"/>
                <a:cs typeface="Times New Roman"/>
              </a:rPr>
              <a:t>p</a:t>
            </a:r>
            <a:r>
              <a:rPr b="1" spc="-40" dirty="0">
                <a:latin typeface="Times New Roman"/>
                <a:cs typeface="Times New Roman"/>
              </a:rPr>
              <a:t>r</a:t>
            </a:r>
            <a:r>
              <a:rPr b="1" dirty="0">
                <a:latin typeface="Times New Roman"/>
                <a:cs typeface="Times New Roman"/>
              </a:rPr>
              <a:t>otot</a:t>
            </a:r>
            <a:r>
              <a:rPr b="1" spc="10" dirty="0">
                <a:latin typeface="Times New Roman"/>
                <a:cs typeface="Times New Roman"/>
              </a:rPr>
              <a:t>y</a:t>
            </a:r>
            <a:r>
              <a:rPr b="1" dirty="0">
                <a:latin typeface="Times New Roman"/>
                <a:cs typeface="Times New Roman"/>
              </a:rPr>
              <a:t>pe</a:t>
            </a:r>
            <a:endParaRPr>
              <a:latin typeface="Times New Roman"/>
              <a:cs typeface="Times New Roman"/>
            </a:endParaRPr>
          </a:p>
        </p:txBody>
      </p:sp>
      <p:sp>
        <p:nvSpPr>
          <p:cNvPr id="5127" name="object 7"/>
          <p:cNvSpPr>
            <a:spLocks noChangeArrowheads="1"/>
          </p:cNvSpPr>
          <p:nvPr/>
        </p:nvSpPr>
        <p:spPr bwMode="auto">
          <a:xfrm>
            <a:off x="7141309" y="3698875"/>
            <a:ext cx="2176585" cy="73025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28" name="object 8"/>
          <p:cNvSpPr>
            <a:spLocks noChangeArrowheads="1"/>
          </p:cNvSpPr>
          <p:nvPr/>
        </p:nvSpPr>
        <p:spPr bwMode="auto">
          <a:xfrm>
            <a:off x="7494954" y="3803651"/>
            <a:ext cx="1471247" cy="449263"/>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29" name="object 9"/>
          <p:cNvSpPr>
            <a:spLocks noChangeArrowheads="1"/>
          </p:cNvSpPr>
          <p:nvPr/>
        </p:nvSpPr>
        <p:spPr bwMode="auto">
          <a:xfrm>
            <a:off x="7213600" y="3733800"/>
            <a:ext cx="2032000" cy="609600"/>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30" name="object 10"/>
          <p:cNvSpPr>
            <a:spLocks/>
          </p:cNvSpPr>
          <p:nvPr/>
        </p:nvSpPr>
        <p:spPr bwMode="auto">
          <a:xfrm>
            <a:off x="7213600" y="3733800"/>
            <a:ext cx="2032000" cy="609600"/>
          </a:xfrm>
          <a:custGeom>
            <a:avLst/>
            <a:gdLst>
              <a:gd name="T0" fmla="*/ 0 w 1651000"/>
              <a:gd name="T1" fmla="*/ 304799 h 609600"/>
              <a:gd name="T2" fmla="*/ 330189 w 1651000"/>
              <a:gd name="T3" fmla="*/ 0 h 609600"/>
              <a:gd name="T4" fmla="*/ 1320789 w 1651000"/>
              <a:gd name="T5" fmla="*/ 0 h 609600"/>
              <a:gd name="T6" fmla="*/ 1650979 w 1651000"/>
              <a:gd name="T7" fmla="*/ 304799 h 609600"/>
              <a:gd name="T8" fmla="*/ 1320789 w 1651000"/>
              <a:gd name="T9" fmla="*/ 609599 h 609600"/>
              <a:gd name="T10" fmla="*/ 330189 w 1651000"/>
              <a:gd name="T11" fmla="*/ 609599 h 609600"/>
              <a:gd name="T12" fmla="*/ 0 w 1651000"/>
              <a:gd name="T13" fmla="*/ 304799 h 609600"/>
            </a:gdLst>
            <a:ahLst/>
            <a:cxnLst>
              <a:cxn ang="0">
                <a:pos x="T0" y="T1"/>
              </a:cxn>
              <a:cxn ang="0">
                <a:pos x="T2" y="T3"/>
              </a:cxn>
              <a:cxn ang="0">
                <a:pos x="T4" y="T5"/>
              </a:cxn>
              <a:cxn ang="0">
                <a:pos x="T6" y="T7"/>
              </a:cxn>
              <a:cxn ang="0">
                <a:pos x="T8" y="T9"/>
              </a:cxn>
              <a:cxn ang="0">
                <a:pos x="T10" y="T11"/>
              </a:cxn>
              <a:cxn ang="0">
                <a:pos x="T12" y="T13"/>
              </a:cxn>
            </a:cxnLst>
            <a:rect l="0" t="0" r="r" b="b"/>
            <a:pathLst>
              <a:path w="1651000" h="609600">
                <a:moveTo>
                  <a:pt x="0" y="304799"/>
                </a:moveTo>
                <a:lnTo>
                  <a:pt x="330189" y="0"/>
                </a:lnTo>
                <a:lnTo>
                  <a:pt x="1320789" y="0"/>
                </a:lnTo>
                <a:lnTo>
                  <a:pt x="1650979" y="304799"/>
                </a:lnTo>
                <a:lnTo>
                  <a:pt x="1320789" y="609599"/>
                </a:lnTo>
                <a:lnTo>
                  <a:pt x="330189" y="609599"/>
                </a:lnTo>
                <a:lnTo>
                  <a:pt x="0" y="304799"/>
                </a:lnTo>
                <a:close/>
              </a:path>
            </a:pathLst>
          </a:custGeom>
          <a:noFill/>
          <a:ln w="12700">
            <a:solidFill>
              <a:srgbClr val="00A7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 name="object 11"/>
          <p:cNvSpPr txBox="1"/>
          <p:nvPr/>
        </p:nvSpPr>
        <p:spPr>
          <a:xfrm>
            <a:off x="7715740" y="3933825"/>
            <a:ext cx="1033584" cy="276999"/>
          </a:xfrm>
          <a:prstGeom prst="rect">
            <a:avLst/>
          </a:prstGeom>
        </p:spPr>
        <p:txBody>
          <a:bodyPr lIns="0" tIns="0" rIns="0" bIns="0">
            <a:spAutoFit/>
          </a:bodyPr>
          <a:lstStyle/>
          <a:p>
            <a:pPr marL="12700" fontAlgn="auto">
              <a:spcBef>
                <a:spcPts val="0"/>
              </a:spcBef>
              <a:spcAft>
                <a:spcPts val="0"/>
              </a:spcAft>
              <a:defRPr/>
            </a:pPr>
            <a:r>
              <a:rPr b="1" dirty="0">
                <a:latin typeface="Times New Roman"/>
                <a:cs typeface="Times New Roman"/>
              </a:rPr>
              <a:t>eva</a:t>
            </a:r>
            <a:r>
              <a:rPr b="1" spc="5" dirty="0">
                <a:latin typeface="Times New Roman"/>
                <a:cs typeface="Times New Roman"/>
              </a:rPr>
              <a:t>l</a:t>
            </a:r>
            <a:r>
              <a:rPr b="1" dirty="0">
                <a:latin typeface="Times New Roman"/>
                <a:cs typeface="Times New Roman"/>
              </a:rPr>
              <a:t>uate</a:t>
            </a:r>
            <a:endParaRPr>
              <a:latin typeface="Times New Roman"/>
              <a:cs typeface="Times New Roman"/>
            </a:endParaRPr>
          </a:p>
        </p:txBody>
      </p:sp>
      <p:sp>
        <p:nvSpPr>
          <p:cNvPr id="5132" name="object 12"/>
          <p:cNvSpPr>
            <a:spLocks noChangeArrowheads="1"/>
          </p:cNvSpPr>
          <p:nvPr/>
        </p:nvSpPr>
        <p:spPr bwMode="auto">
          <a:xfrm>
            <a:off x="943709" y="3698875"/>
            <a:ext cx="2176585" cy="73025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33" name="object 13"/>
          <p:cNvSpPr>
            <a:spLocks noChangeArrowheads="1"/>
          </p:cNvSpPr>
          <p:nvPr/>
        </p:nvSpPr>
        <p:spPr bwMode="auto">
          <a:xfrm>
            <a:off x="1016000" y="3733800"/>
            <a:ext cx="2032000" cy="609600"/>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34" name="object 14"/>
          <p:cNvSpPr>
            <a:spLocks/>
          </p:cNvSpPr>
          <p:nvPr/>
        </p:nvSpPr>
        <p:spPr bwMode="auto">
          <a:xfrm>
            <a:off x="1016000" y="3733800"/>
            <a:ext cx="2032000" cy="609600"/>
          </a:xfrm>
          <a:custGeom>
            <a:avLst/>
            <a:gdLst>
              <a:gd name="T0" fmla="*/ 0 w 1651000"/>
              <a:gd name="T1" fmla="*/ 101595 h 609600"/>
              <a:gd name="T2" fmla="*/ 8945 w 1651000"/>
              <a:gd name="T3" fmla="*/ 59848 h 609600"/>
              <a:gd name="T4" fmla="*/ 33182 w 1651000"/>
              <a:gd name="T5" fmla="*/ 26487 h 609600"/>
              <a:gd name="T6" fmla="*/ 68809 w 1651000"/>
              <a:gd name="T7" fmla="*/ 5408 h 609600"/>
              <a:gd name="T8" fmla="*/ 101608 w 1651000"/>
              <a:gd name="T9" fmla="*/ 0 h 609600"/>
              <a:gd name="T10" fmla="*/ 1549408 w 1651000"/>
              <a:gd name="T11" fmla="*/ 0 h 609600"/>
              <a:gd name="T12" fmla="*/ 1564017 w 1651000"/>
              <a:gd name="T13" fmla="*/ 1041 h 609600"/>
              <a:gd name="T14" fmla="*/ 1577983 w 1651000"/>
              <a:gd name="T15" fmla="*/ 4071 h 609600"/>
              <a:gd name="T16" fmla="*/ 1614574 w 1651000"/>
              <a:gd name="T17" fmla="*/ 23641 h 609600"/>
              <a:gd name="T18" fmla="*/ 1640178 w 1651000"/>
              <a:gd name="T19" fmla="*/ 55903 h 609600"/>
              <a:gd name="T20" fmla="*/ 1650900 w 1651000"/>
              <a:gd name="T21" fmla="*/ 96959 h 609600"/>
              <a:gd name="T22" fmla="*/ 1651004 w 1651000"/>
              <a:gd name="T23" fmla="*/ 101595 h 609600"/>
              <a:gd name="T24" fmla="*/ 1651004 w 1651000"/>
              <a:gd name="T25" fmla="*/ 508004 h 609600"/>
              <a:gd name="T26" fmla="*/ 1649962 w 1651000"/>
              <a:gd name="T27" fmla="*/ 522613 h 609600"/>
              <a:gd name="T28" fmla="*/ 1646933 w 1651000"/>
              <a:gd name="T29" fmla="*/ 536579 h 609600"/>
              <a:gd name="T30" fmla="*/ 1627364 w 1651000"/>
              <a:gd name="T31" fmla="*/ 573170 h 609600"/>
              <a:gd name="T32" fmla="*/ 1595103 w 1651000"/>
              <a:gd name="T33" fmla="*/ 598774 h 609600"/>
              <a:gd name="T34" fmla="*/ 1554045 w 1651000"/>
              <a:gd name="T35" fmla="*/ 609496 h 609600"/>
              <a:gd name="T36" fmla="*/ 1549408 w 1651000"/>
              <a:gd name="T37" fmla="*/ 609599 h 609600"/>
              <a:gd name="T38" fmla="*/ 101608 w 1651000"/>
              <a:gd name="T39" fmla="*/ 609599 h 609600"/>
              <a:gd name="T40" fmla="*/ 87001 w 1651000"/>
              <a:gd name="T41" fmla="*/ 608558 h 609600"/>
              <a:gd name="T42" fmla="*/ 73038 w 1651000"/>
              <a:gd name="T43" fmla="*/ 605529 h 609600"/>
              <a:gd name="T44" fmla="*/ 36444 w 1651000"/>
              <a:gd name="T45" fmla="*/ 585963 h 609600"/>
              <a:gd name="T46" fmla="*/ 10833 w 1651000"/>
              <a:gd name="T47" fmla="*/ 553705 h 609600"/>
              <a:gd name="T48" fmla="*/ 104 w 1651000"/>
              <a:gd name="T49" fmla="*/ 512650 h 609600"/>
              <a:gd name="T50" fmla="*/ 0 w 1651000"/>
              <a:gd name="T51" fmla="*/ 508004 h 609600"/>
              <a:gd name="T52" fmla="*/ 0 w 1651000"/>
              <a:gd name="T53" fmla="*/ 101595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51000" h="609600">
                <a:moveTo>
                  <a:pt x="0" y="101595"/>
                </a:moveTo>
                <a:lnTo>
                  <a:pt x="8945" y="59848"/>
                </a:lnTo>
                <a:lnTo>
                  <a:pt x="33182" y="26487"/>
                </a:lnTo>
                <a:lnTo>
                  <a:pt x="68809" y="5408"/>
                </a:lnTo>
                <a:lnTo>
                  <a:pt x="101608" y="0"/>
                </a:lnTo>
                <a:lnTo>
                  <a:pt x="1549408" y="0"/>
                </a:lnTo>
                <a:lnTo>
                  <a:pt x="1564017" y="1041"/>
                </a:lnTo>
                <a:lnTo>
                  <a:pt x="1577983" y="4071"/>
                </a:lnTo>
                <a:lnTo>
                  <a:pt x="1614574" y="23641"/>
                </a:lnTo>
                <a:lnTo>
                  <a:pt x="1640178" y="55903"/>
                </a:lnTo>
                <a:lnTo>
                  <a:pt x="1650900" y="96959"/>
                </a:lnTo>
                <a:lnTo>
                  <a:pt x="1651004" y="101595"/>
                </a:lnTo>
                <a:lnTo>
                  <a:pt x="1651004" y="508004"/>
                </a:lnTo>
                <a:lnTo>
                  <a:pt x="1649962" y="522613"/>
                </a:lnTo>
                <a:lnTo>
                  <a:pt x="1646933" y="536579"/>
                </a:lnTo>
                <a:lnTo>
                  <a:pt x="1627364" y="573170"/>
                </a:lnTo>
                <a:lnTo>
                  <a:pt x="1595103" y="598774"/>
                </a:lnTo>
                <a:lnTo>
                  <a:pt x="1554045" y="609496"/>
                </a:lnTo>
                <a:lnTo>
                  <a:pt x="1549408" y="609599"/>
                </a:lnTo>
                <a:lnTo>
                  <a:pt x="101608" y="609599"/>
                </a:lnTo>
                <a:lnTo>
                  <a:pt x="87001" y="608558"/>
                </a:lnTo>
                <a:lnTo>
                  <a:pt x="73038" y="605529"/>
                </a:lnTo>
                <a:lnTo>
                  <a:pt x="36444" y="585963"/>
                </a:lnTo>
                <a:lnTo>
                  <a:pt x="10833" y="553705"/>
                </a:lnTo>
                <a:lnTo>
                  <a:pt x="104" y="512650"/>
                </a:lnTo>
                <a:lnTo>
                  <a:pt x="0" y="508004"/>
                </a:lnTo>
                <a:lnTo>
                  <a:pt x="0" y="101595"/>
                </a:lnTo>
                <a:close/>
              </a:path>
            </a:pathLst>
          </a:custGeom>
          <a:noFill/>
          <a:ln w="12700">
            <a:solidFill>
              <a:srgbClr val="00A7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135" name="object 15"/>
          <p:cNvSpPr txBox="1">
            <a:spLocks noChangeArrowheads="1"/>
          </p:cNvSpPr>
          <p:nvPr/>
        </p:nvSpPr>
        <p:spPr bwMode="auto">
          <a:xfrm>
            <a:off x="1633415" y="3933825"/>
            <a:ext cx="7991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design</a:t>
            </a:r>
            <a:endParaRPr lang="en-US">
              <a:latin typeface="Times New Roman" pitchFamily="18" charset="0"/>
              <a:cs typeface="Times New Roman" pitchFamily="18" charset="0"/>
            </a:endParaRPr>
          </a:p>
        </p:txBody>
      </p:sp>
      <p:sp>
        <p:nvSpPr>
          <p:cNvPr id="5136" name="object 16"/>
          <p:cNvSpPr>
            <a:spLocks noChangeArrowheads="1"/>
          </p:cNvSpPr>
          <p:nvPr/>
        </p:nvSpPr>
        <p:spPr bwMode="auto">
          <a:xfrm>
            <a:off x="4042509" y="4841875"/>
            <a:ext cx="2176585" cy="730250"/>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37" name="object 17"/>
          <p:cNvSpPr>
            <a:spLocks noChangeArrowheads="1"/>
          </p:cNvSpPr>
          <p:nvPr/>
        </p:nvSpPr>
        <p:spPr bwMode="auto">
          <a:xfrm>
            <a:off x="4114800" y="4876800"/>
            <a:ext cx="2032000" cy="609600"/>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38" name="object 18"/>
          <p:cNvSpPr>
            <a:spLocks/>
          </p:cNvSpPr>
          <p:nvPr/>
        </p:nvSpPr>
        <p:spPr bwMode="auto">
          <a:xfrm>
            <a:off x="4114800" y="4876800"/>
            <a:ext cx="2032000" cy="609600"/>
          </a:xfrm>
          <a:custGeom>
            <a:avLst/>
            <a:gdLst>
              <a:gd name="T0" fmla="*/ 0 w 1651000"/>
              <a:gd name="T1" fmla="*/ 101595 h 609600"/>
              <a:gd name="T2" fmla="*/ 8939 w 1651000"/>
              <a:gd name="T3" fmla="*/ 59842 h 609600"/>
              <a:gd name="T4" fmla="*/ 33166 w 1651000"/>
              <a:gd name="T5" fmla="*/ 26479 h 609600"/>
              <a:gd name="T6" fmla="*/ 68792 w 1651000"/>
              <a:gd name="T7" fmla="*/ 5404 h 609600"/>
              <a:gd name="T8" fmla="*/ 101589 w 1651000"/>
              <a:gd name="T9" fmla="*/ 0 h 609600"/>
              <a:gd name="T10" fmla="*/ 1549389 w 1651000"/>
              <a:gd name="T11" fmla="*/ 0 h 609600"/>
              <a:gd name="T12" fmla="*/ 1564003 w 1651000"/>
              <a:gd name="T13" fmla="*/ 1041 h 609600"/>
              <a:gd name="T14" fmla="*/ 1577971 w 1651000"/>
              <a:gd name="T15" fmla="*/ 4071 h 609600"/>
              <a:gd name="T16" fmla="*/ 1614562 w 1651000"/>
              <a:gd name="T17" fmla="*/ 23640 h 609600"/>
              <a:gd name="T18" fmla="*/ 1640160 w 1651000"/>
              <a:gd name="T19" fmla="*/ 55903 h 609600"/>
              <a:gd name="T20" fmla="*/ 1650876 w 1651000"/>
              <a:gd name="T21" fmla="*/ 96963 h 609600"/>
              <a:gd name="T22" fmla="*/ 1650979 w 1651000"/>
              <a:gd name="T23" fmla="*/ 101595 h 609600"/>
              <a:gd name="T24" fmla="*/ 1650979 w 1651000"/>
              <a:gd name="T25" fmla="*/ 508004 h 609600"/>
              <a:gd name="T26" fmla="*/ 1649938 w 1651000"/>
              <a:gd name="T27" fmla="*/ 522613 h 609600"/>
              <a:gd name="T28" fmla="*/ 1646910 w 1651000"/>
              <a:gd name="T29" fmla="*/ 536579 h 609600"/>
              <a:gd name="T30" fmla="*/ 1627347 w 1651000"/>
              <a:gd name="T31" fmla="*/ 573172 h 609600"/>
              <a:gd name="T32" fmla="*/ 1595089 w 1651000"/>
              <a:gd name="T33" fmla="*/ 598776 h 609600"/>
              <a:gd name="T34" fmla="*/ 1554023 w 1651000"/>
              <a:gd name="T35" fmla="*/ 609496 h 609600"/>
              <a:gd name="T36" fmla="*/ 1549389 w 1651000"/>
              <a:gd name="T37" fmla="*/ 609599 h 609600"/>
              <a:gd name="T38" fmla="*/ 101589 w 1651000"/>
              <a:gd name="T39" fmla="*/ 609599 h 609600"/>
              <a:gd name="T40" fmla="*/ 86976 w 1651000"/>
              <a:gd name="T41" fmla="*/ 608558 h 609600"/>
              <a:gd name="T42" fmla="*/ 73007 w 1651000"/>
              <a:gd name="T43" fmla="*/ 605528 h 609600"/>
              <a:gd name="T44" fmla="*/ 36416 w 1651000"/>
              <a:gd name="T45" fmla="*/ 585959 h 609600"/>
              <a:gd name="T46" fmla="*/ 10819 w 1651000"/>
              <a:gd name="T47" fmla="*/ 553696 h 609600"/>
              <a:gd name="T48" fmla="*/ 103 w 1651000"/>
              <a:gd name="T49" fmla="*/ 512636 h 609600"/>
              <a:gd name="T50" fmla="*/ 0 w 1651000"/>
              <a:gd name="T51" fmla="*/ 508004 h 609600"/>
              <a:gd name="T52" fmla="*/ 0 w 1651000"/>
              <a:gd name="T53" fmla="*/ 101595 h 609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51000" h="609600">
                <a:moveTo>
                  <a:pt x="0" y="101595"/>
                </a:moveTo>
                <a:lnTo>
                  <a:pt x="8939" y="59842"/>
                </a:lnTo>
                <a:lnTo>
                  <a:pt x="33166" y="26479"/>
                </a:lnTo>
                <a:lnTo>
                  <a:pt x="68792" y="5404"/>
                </a:lnTo>
                <a:lnTo>
                  <a:pt x="101589" y="0"/>
                </a:lnTo>
                <a:lnTo>
                  <a:pt x="1549389" y="0"/>
                </a:lnTo>
                <a:lnTo>
                  <a:pt x="1564003" y="1041"/>
                </a:lnTo>
                <a:lnTo>
                  <a:pt x="1577971" y="4071"/>
                </a:lnTo>
                <a:lnTo>
                  <a:pt x="1614562" y="23640"/>
                </a:lnTo>
                <a:lnTo>
                  <a:pt x="1640160" y="55903"/>
                </a:lnTo>
                <a:lnTo>
                  <a:pt x="1650876" y="96963"/>
                </a:lnTo>
                <a:lnTo>
                  <a:pt x="1650979" y="101595"/>
                </a:lnTo>
                <a:lnTo>
                  <a:pt x="1650979" y="508004"/>
                </a:lnTo>
                <a:lnTo>
                  <a:pt x="1649938" y="522613"/>
                </a:lnTo>
                <a:lnTo>
                  <a:pt x="1646910" y="536579"/>
                </a:lnTo>
                <a:lnTo>
                  <a:pt x="1627347" y="573172"/>
                </a:lnTo>
                <a:lnTo>
                  <a:pt x="1595089" y="598776"/>
                </a:lnTo>
                <a:lnTo>
                  <a:pt x="1554023" y="609496"/>
                </a:lnTo>
                <a:lnTo>
                  <a:pt x="1549389" y="609599"/>
                </a:lnTo>
                <a:lnTo>
                  <a:pt x="101589" y="609599"/>
                </a:lnTo>
                <a:lnTo>
                  <a:pt x="86976" y="608558"/>
                </a:lnTo>
                <a:lnTo>
                  <a:pt x="73007" y="605528"/>
                </a:lnTo>
                <a:lnTo>
                  <a:pt x="36416" y="585959"/>
                </a:lnTo>
                <a:lnTo>
                  <a:pt x="10819" y="553696"/>
                </a:lnTo>
                <a:lnTo>
                  <a:pt x="103" y="512636"/>
                </a:lnTo>
                <a:lnTo>
                  <a:pt x="0" y="508004"/>
                </a:lnTo>
                <a:lnTo>
                  <a:pt x="0" y="101595"/>
                </a:lnTo>
                <a:close/>
              </a:path>
            </a:pathLst>
          </a:custGeom>
          <a:noFill/>
          <a:ln w="12700">
            <a:solidFill>
              <a:srgbClr val="00A7FF"/>
            </a:solidFill>
            <a:round/>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 name="object 19"/>
          <p:cNvSpPr txBox="1"/>
          <p:nvPr/>
        </p:nvSpPr>
        <p:spPr>
          <a:xfrm>
            <a:off x="4562232" y="5076825"/>
            <a:ext cx="1137138" cy="276999"/>
          </a:xfrm>
          <a:prstGeom prst="rect">
            <a:avLst/>
          </a:prstGeom>
        </p:spPr>
        <p:txBody>
          <a:bodyPr lIns="0" tIns="0" rIns="0" bIns="0">
            <a:spAutoFit/>
          </a:bodyPr>
          <a:lstStyle/>
          <a:p>
            <a:pPr marL="12700" fontAlgn="auto">
              <a:spcBef>
                <a:spcPts val="0"/>
              </a:spcBef>
              <a:spcAft>
                <a:spcPts val="0"/>
              </a:spcAft>
              <a:defRPr/>
            </a:pPr>
            <a:r>
              <a:rPr b="1" spc="-35" dirty="0">
                <a:latin typeface="Times New Roman"/>
                <a:cs typeface="Times New Roman"/>
              </a:rPr>
              <a:t>r</a:t>
            </a:r>
            <a:r>
              <a:rPr b="1" dirty="0">
                <a:latin typeface="Times New Roman"/>
                <a:cs typeface="Times New Roman"/>
              </a:rPr>
              <a:t>e-design</a:t>
            </a:r>
            <a:endParaRPr>
              <a:latin typeface="Times New Roman"/>
              <a:cs typeface="Times New Roman"/>
            </a:endParaRPr>
          </a:p>
        </p:txBody>
      </p:sp>
      <p:sp>
        <p:nvSpPr>
          <p:cNvPr id="5140" name="object 20"/>
          <p:cNvSpPr>
            <a:spLocks/>
          </p:cNvSpPr>
          <p:nvPr/>
        </p:nvSpPr>
        <p:spPr bwMode="auto">
          <a:xfrm>
            <a:off x="6197600" y="4000500"/>
            <a:ext cx="1016000" cy="76200"/>
          </a:xfrm>
          <a:custGeom>
            <a:avLst/>
            <a:gdLst>
              <a:gd name="T0" fmla="*/ 749320 w 826135"/>
              <a:gd name="T1" fmla="*/ 0 h 76200"/>
              <a:gd name="T2" fmla="*/ 749320 w 826135"/>
              <a:gd name="T3" fmla="*/ 76199 h 76200"/>
              <a:gd name="T4" fmla="*/ 812828 w 826135"/>
              <a:gd name="T5" fmla="*/ 44446 h 76200"/>
              <a:gd name="T6" fmla="*/ 761999 w 826135"/>
              <a:gd name="T7" fmla="*/ 44446 h 76200"/>
              <a:gd name="T8" fmla="*/ 761999 w 826135"/>
              <a:gd name="T9" fmla="*/ 31754 h 76200"/>
              <a:gd name="T10" fmla="*/ 812828 w 826135"/>
              <a:gd name="T11" fmla="*/ 31754 h 76200"/>
              <a:gd name="T12" fmla="*/ 749320 w 826135"/>
              <a:gd name="T13" fmla="*/ 0 h 76200"/>
              <a:gd name="T14" fmla="*/ 749320 w 826135"/>
              <a:gd name="T15" fmla="*/ 31754 h 76200"/>
              <a:gd name="T16" fmla="*/ 0 w 826135"/>
              <a:gd name="T17" fmla="*/ 31754 h 76200"/>
              <a:gd name="T18" fmla="*/ 0 w 826135"/>
              <a:gd name="T19" fmla="*/ 44446 h 76200"/>
              <a:gd name="T20" fmla="*/ 749320 w 826135"/>
              <a:gd name="T21" fmla="*/ 44446 h 76200"/>
              <a:gd name="T22" fmla="*/ 749320 w 826135"/>
              <a:gd name="T23" fmla="*/ 31754 h 76200"/>
              <a:gd name="T24" fmla="*/ 812828 w 826135"/>
              <a:gd name="T25" fmla="*/ 31754 h 76200"/>
              <a:gd name="T26" fmla="*/ 761999 w 826135"/>
              <a:gd name="T27" fmla="*/ 31754 h 76200"/>
              <a:gd name="T28" fmla="*/ 761999 w 826135"/>
              <a:gd name="T29" fmla="*/ 44446 h 76200"/>
              <a:gd name="T30" fmla="*/ 812828 w 826135"/>
              <a:gd name="T31" fmla="*/ 44446 h 76200"/>
              <a:gd name="T32" fmla="*/ 825520 w 826135"/>
              <a:gd name="T33" fmla="*/ 38099 h 76200"/>
              <a:gd name="T34" fmla="*/ 812828 w 826135"/>
              <a:gd name="T35" fmla="*/ 31754 h 76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6135" h="76200">
                <a:moveTo>
                  <a:pt x="749320" y="0"/>
                </a:moveTo>
                <a:lnTo>
                  <a:pt x="749320" y="76199"/>
                </a:lnTo>
                <a:lnTo>
                  <a:pt x="812828" y="44446"/>
                </a:lnTo>
                <a:lnTo>
                  <a:pt x="761999" y="44446"/>
                </a:lnTo>
                <a:lnTo>
                  <a:pt x="761999" y="31754"/>
                </a:lnTo>
                <a:lnTo>
                  <a:pt x="812828" y="31754"/>
                </a:lnTo>
                <a:lnTo>
                  <a:pt x="749320" y="0"/>
                </a:lnTo>
                <a:close/>
              </a:path>
              <a:path w="826135" h="76200">
                <a:moveTo>
                  <a:pt x="749320" y="31754"/>
                </a:moveTo>
                <a:lnTo>
                  <a:pt x="0" y="31754"/>
                </a:lnTo>
                <a:lnTo>
                  <a:pt x="0" y="44446"/>
                </a:lnTo>
                <a:lnTo>
                  <a:pt x="749320" y="44446"/>
                </a:lnTo>
                <a:lnTo>
                  <a:pt x="749320" y="31754"/>
                </a:lnTo>
                <a:close/>
              </a:path>
              <a:path w="826135" h="76200">
                <a:moveTo>
                  <a:pt x="812828" y="31754"/>
                </a:moveTo>
                <a:lnTo>
                  <a:pt x="761999" y="31754"/>
                </a:lnTo>
                <a:lnTo>
                  <a:pt x="761999" y="44446"/>
                </a:lnTo>
                <a:lnTo>
                  <a:pt x="812828" y="44446"/>
                </a:lnTo>
                <a:lnTo>
                  <a:pt x="825520" y="38099"/>
                </a:lnTo>
                <a:lnTo>
                  <a:pt x="812828" y="317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141" name="object 21"/>
          <p:cNvSpPr>
            <a:spLocks/>
          </p:cNvSpPr>
          <p:nvPr/>
        </p:nvSpPr>
        <p:spPr bwMode="auto">
          <a:xfrm>
            <a:off x="3048000" y="4000500"/>
            <a:ext cx="1016000" cy="76200"/>
          </a:xfrm>
          <a:custGeom>
            <a:avLst/>
            <a:gdLst>
              <a:gd name="T0" fmla="*/ 749289 w 825500"/>
              <a:gd name="T1" fmla="*/ 0 h 76200"/>
              <a:gd name="T2" fmla="*/ 749289 w 825500"/>
              <a:gd name="T3" fmla="*/ 76199 h 76200"/>
              <a:gd name="T4" fmla="*/ 812797 w 825500"/>
              <a:gd name="T5" fmla="*/ 44446 h 76200"/>
              <a:gd name="T6" fmla="*/ 761999 w 825500"/>
              <a:gd name="T7" fmla="*/ 44446 h 76200"/>
              <a:gd name="T8" fmla="*/ 761999 w 825500"/>
              <a:gd name="T9" fmla="*/ 31754 h 76200"/>
              <a:gd name="T10" fmla="*/ 812797 w 825500"/>
              <a:gd name="T11" fmla="*/ 31754 h 76200"/>
              <a:gd name="T12" fmla="*/ 749289 w 825500"/>
              <a:gd name="T13" fmla="*/ 0 h 76200"/>
              <a:gd name="T14" fmla="*/ 749289 w 825500"/>
              <a:gd name="T15" fmla="*/ 31754 h 76200"/>
              <a:gd name="T16" fmla="*/ 0 w 825500"/>
              <a:gd name="T17" fmla="*/ 31754 h 76200"/>
              <a:gd name="T18" fmla="*/ 0 w 825500"/>
              <a:gd name="T19" fmla="*/ 44446 h 76200"/>
              <a:gd name="T20" fmla="*/ 749289 w 825500"/>
              <a:gd name="T21" fmla="*/ 44446 h 76200"/>
              <a:gd name="T22" fmla="*/ 749289 w 825500"/>
              <a:gd name="T23" fmla="*/ 31754 h 76200"/>
              <a:gd name="T24" fmla="*/ 812797 w 825500"/>
              <a:gd name="T25" fmla="*/ 31754 h 76200"/>
              <a:gd name="T26" fmla="*/ 761999 w 825500"/>
              <a:gd name="T27" fmla="*/ 31754 h 76200"/>
              <a:gd name="T28" fmla="*/ 761999 w 825500"/>
              <a:gd name="T29" fmla="*/ 44446 h 76200"/>
              <a:gd name="T30" fmla="*/ 812797 w 825500"/>
              <a:gd name="T31" fmla="*/ 44446 h 76200"/>
              <a:gd name="T32" fmla="*/ 825489 w 825500"/>
              <a:gd name="T33" fmla="*/ 38099 h 76200"/>
              <a:gd name="T34" fmla="*/ 812797 w 825500"/>
              <a:gd name="T35" fmla="*/ 31754 h 76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5500" h="76200">
                <a:moveTo>
                  <a:pt x="749289" y="0"/>
                </a:moveTo>
                <a:lnTo>
                  <a:pt x="749289" y="76199"/>
                </a:lnTo>
                <a:lnTo>
                  <a:pt x="812797" y="44446"/>
                </a:lnTo>
                <a:lnTo>
                  <a:pt x="761999" y="44446"/>
                </a:lnTo>
                <a:lnTo>
                  <a:pt x="761999" y="31754"/>
                </a:lnTo>
                <a:lnTo>
                  <a:pt x="812797" y="31754"/>
                </a:lnTo>
                <a:lnTo>
                  <a:pt x="749289" y="0"/>
                </a:lnTo>
                <a:close/>
              </a:path>
              <a:path w="825500" h="76200">
                <a:moveTo>
                  <a:pt x="749289" y="31754"/>
                </a:moveTo>
                <a:lnTo>
                  <a:pt x="0" y="31754"/>
                </a:lnTo>
                <a:lnTo>
                  <a:pt x="0" y="44446"/>
                </a:lnTo>
                <a:lnTo>
                  <a:pt x="749289" y="44446"/>
                </a:lnTo>
                <a:lnTo>
                  <a:pt x="749289" y="31754"/>
                </a:lnTo>
                <a:close/>
              </a:path>
              <a:path w="825500" h="76200">
                <a:moveTo>
                  <a:pt x="812797" y="31754"/>
                </a:moveTo>
                <a:lnTo>
                  <a:pt x="761999" y="31754"/>
                </a:lnTo>
                <a:lnTo>
                  <a:pt x="761999" y="44446"/>
                </a:lnTo>
                <a:lnTo>
                  <a:pt x="812797" y="44446"/>
                </a:lnTo>
                <a:lnTo>
                  <a:pt x="825489" y="38099"/>
                </a:lnTo>
                <a:lnTo>
                  <a:pt x="812797" y="317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142" name="object 22"/>
          <p:cNvSpPr>
            <a:spLocks/>
          </p:cNvSpPr>
          <p:nvPr/>
        </p:nvSpPr>
        <p:spPr bwMode="auto">
          <a:xfrm>
            <a:off x="6146801" y="4343401"/>
            <a:ext cx="2090615" cy="874713"/>
          </a:xfrm>
          <a:custGeom>
            <a:avLst/>
            <a:gdLst>
              <a:gd name="T0" fmla="*/ 0 w 1698625"/>
              <a:gd name="T1" fmla="*/ 838580 h 875664"/>
              <a:gd name="T2" fmla="*/ 76372 w 1698625"/>
              <a:gd name="T3" fmla="*/ 843914 h 875664"/>
              <a:gd name="T4" fmla="*/ 63520 w 1698625"/>
              <a:gd name="T5" fmla="*/ 831210 h 875664"/>
              <a:gd name="T6" fmla="*/ 75712 w 1698625"/>
              <a:gd name="T7" fmla="*/ 799337 h 875664"/>
              <a:gd name="T8" fmla="*/ 63520 w 1698625"/>
              <a:gd name="T9" fmla="*/ 831210 h 875664"/>
              <a:gd name="T10" fmla="*/ 76369 w 1698625"/>
              <a:gd name="T11" fmla="*/ 843716 h 875664"/>
              <a:gd name="T12" fmla="*/ 76369 w 1698625"/>
              <a:gd name="T13" fmla="*/ 843716 h 875664"/>
              <a:gd name="T14" fmla="*/ 76372 w 1698625"/>
              <a:gd name="T15" fmla="*/ 843914 h 875664"/>
              <a:gd name="T16" fmla="*/ 1685940 w 1698625"/>
              <a:gd name="T17" fmla="*/ 0 h 875664"/>
              <a:gd name="T18" fmla="*/ 1676278 w 1698625"/>
              <a:gd name="T19" fmla="*/ 77723 h 875664"/>
              <a:gd name="T20" fmla="*/ 1648480 w 1698625"/>
              <a:gd name="T21" fmla="*/ 154173 h 875664"/>
              <a:gd name="T22" fmla="*/ 1603369 w 1698625"/>
              <a:gd name="T23" fmla="*/ 229874 h 875664"/>
              <a:gd name="T24" fmla="*/ 1542044 w 1698625"/>
              <a:gd name="T25" fmla="*/ 303906 h 875664"/>
              <a:gd name="T26" fmla="*/ 1465966 w 1698625"/>
              <a:gd name="T27" fmla="*/ 375797 h 875664"/>
              <a:gd name="T28" fmla="*/ 1376171 w 1698625"/>
              <a:gd name="T29" fmla="*/ 444626 h 875664"/>
              <a:gd name="T30" fmla="*/ 1273942 w 1698625"/>
              <a:gd name="T31" fmla="*/ 510027 h 875664"/>
              <a:gd name="T32" fmla="*/ 1160525 w 1698625"/>
              <a:gd name="T33" fmla="*/ 570987 h 875664"/>
              <a:gd name="T34" fmla="*/ 1037203 w 1698625"/>
              <a:gd name="T35" fmla="*/ 627257 h 875664"/>
              <a:gd name="T36" fmla="*/ 905134 w 1698625"/>
              <a:gd name="T37" fmla="*/ 677930 h 875664"/>
              <a:gd name="T38" fmla="*/ 765688 w 1698625"/>
              <a:gd name="T39" fmla="*/ 722507 h 875664"/>
              <a:gd name="T40" fmla="*/ 619902 w 1698625"/>
              <a:gd name="T41" fmla="*/ 760344 h 875664"/>
              <a:gd name="T42" fmla="*/ 469270 w 1698625"/>
              <a:gd name="T43" fmla="*/ 790955 h 875664"/>
              <a:gd name="T44" fmla="*/ 314827 w 1698625"/>
              <a:gd name="T45" fmla="*/ 813434 h 875664"/>
              <a:gd name="T46" fmla="*/ 158008 w 1698625"/>
              <a:gd name="T47" fmla="*/ 827531 h 875664"/>
              <a:gd name="T48" fmla="*/ 76181 w 1698625"/>
              <a:gd name="T49" fmla="*/ 831008 h 875664"/>
              <a:gd name="T50" fmla="*/ 158892 w 1698625"/>
              <a:gd name="T51" fmla="*/ 840104 h 875664"/>
              <a:gd name="T52" fmla="*/ 316504 w 1698625"/>
              <a:gd name="T53" fmla="*/ 826007 h 875664"/>
              <a:gd name="T54" fmla="*/ 471556 w 1698625"/>
              <a:gd name="T55" fmla="*/ 803397 h 875664"/>
              <a:gd name="T56" fmla="*/ 622950 w 1698625"/>
              <a:gd name="T57" fmla="*/ 772799 h 875664"/>
              <a:gd name="T58" fmla="*/ 769376 w 1698625"/>
              <a:gd name="T59" fmla="*/ 734699 h 875664"/>
              <a:gd name="T60" fmla="*/ 909584 w 1698625"/>
              <a:gd name="T61" fmla="*/ 689859 h 875664"/>
              <a:gd name="T62" fmla="*/ 1042294 w 1698625"/>
              <a:gd name="T63" fmla="*/ 638805 h 875664"/>
              <a:gd name="T64" fmla="*/ 1166378 w 1698625"/>
              <a:gd name="T65" fmla="*/ 582299 h 875664"/>
              <a:gd name="T66" fmla="*/ 1280556 w 1698625"/>
              <a:gd name="T67" fmla="*/ 520826 h 875664"/>
              <a:gd name="T68" fmla="*/ 1383670 w 1698625"/>
              <a:gd name="T69" fmla="*/ 454913 h 875664"/>
              <a:gd name="T70" fmla="*/ 1474469 w 1698625"/>
              <a:gd name="T71" fmla="*/ 385322 h 875664"/>
              <a:gd name="T72" fmla="*/ 1551553 w 1698625"/>
              <a:gd name="T73" fmla="*/ 312288 h 875664"/>
              <a:gd name="T74" fmla="*/ 1613915 w 1698625"/>
              <a:gd name="T75" fmla="*/ 236850 h 875664"/>
              <a:gd name="T76" fmla="*/ 1660154 w 1698625"/>
              <a:gd name="T77" fmla="*/ 159126 h 875664"/>
              <a:gd name="T78" fmla="*/ 1688866 w 1698625"/>
              <a:gd name="T79" fmla="*/ 80009 h 875664"/>
              <a:gd name="T80" fmla="*/ 1698619 w 1698625"/>
              <a:gd name="T81" fmla="*/ 761 h 875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698625" h="875664">
                <a:moveTo>
                  <a:pt x="75712" y="799337"/>
                </a:moveTo>
                <a:lnTo>
                  <a:pt x="0" y="838580"/>
                </a:lnTo>
                <a:lnTo>
                  <a:pt x="76840" y="875537"/>
                </a:lnTo>
                <a:lnTo>
                  <a:pt x="76372" y="843914"/>
                </a:lnTo>
                <a:lnTo>
                  <a:pt x="63642" y="843914"/>
                </a:lnTo>
                <a:lnTo>
                  <a:pt x="63520" y="831210"/>
                </a:lnTo>
                <a:lnTo>
                  <a:pt x="76181" y="831008"/>
                </a:lnTo>
                <a:lnTo>
                  <a:pt x="75712" y="799337"/>
                </a:lnTo>
                <a:close/>
              </a:path>
              <a:path w="1698625" h="875664">
                <a:moveTo>
                  <a:pt x="76181" y="831008"/>
                </a:moveTo>
                <a:lnTo>
                  <a:pt x="63520" y="831210"/>
                </a:lnTo>
                <a:lnTo>
                  <a:pt x="63642" y="843914"/>
                </a:lnTo>
                <a:lnTo>
                  <a:pt x="76369" y="843716"/>
                </a:lnTo>
                <a:lnTo>
                  <a:pt x="76181" y="831008"/>
                </a:lnTo>
                <a:close/>
              </a:path>
              <a:path w="1698625" h="875664">
                <a:moveTo>
                  <a:pt x="76369" y="843716"/>
                </a:moveTo>
                <a:lnTo>
                  <a:pt x="63642" y="843914"/>
                </a:lnTo>
                <a:lnTo>
                  <a:pt x="76372" y="843914"/>
                </a:lnTo>
                <a:lnTo>
                  <a:pt x="76369" y="843716"/>
                </a:lnTo>
                <a:close/>
              </a:path>
              <a:path w="1698625" h="875664">
                <a:moveTo>
                  <a:pt x="1685940" y="0"/>
                </a:moveTo>
                <a:lnTo>
                  <a:pt x="1683532" y="39242"/>
                </a:lnTo>
                <a:lnTo>
                  <a:pt x="1676278" y="77723"/>
                </a:lnTo>
                <a:lnTo>
                  <a:pt x="1664604" y="116073"/>
                </a:lnTo>
                <a:lnTo>
                  <a:pt x="1648480" y="154173"/>
                </a:lnTo>
                <a:lnTo>
                  <a:pt x="1627906" y="192273"/>
                </a:lnTo>
                <a:lnTo>
                  <a:pt x="1603369" y="229874"/>
                </a:lnTo>
                <a:lnTo>
                  <a:pt x="1574688" y="267080"/>
                </a:lnTo>
                <a:lnTo>
                  <a:pt x="1542044" y="303906"/>
                </a:lnTo>
                <a:lnTo>
                  <a:pt x="1505833" y="340232"/>
                </a:lnTo>
                <a:lnTo>
                  <a:pt x="1465966" y="375797"/>
                </a:lnTo>
                <a:lnTo>
                  <a:pt x="1422775" y="410586"/>
                </a:lnTo>
                <a:lnTo>
                  <a:pt x="1376171" y="444626"/>
                </a:lnTo>
                <a:lnTo>
                  <a:pt x="1326520" y="477773"/>
                </a:lnTo>
                <a:lnTo>
                  <a:pt x="1273942" y="510027"/>
                </a:lnTo>
                <a:lnTo>
                  <a:pt x="1218559" y="541019"/>
                </a:lnTo>
                <a:lnTo>
                  <a:pt x="1160525" y="570987"/>
                </a:lnTo>
                <a:lnTo>
                  <a:pt x="1100084" y="599825"/>
                </a:lnTo>
                <a:lnTo>
                  <a:pt x="1037203" y="627257"/>
                </a:lnTo>
                <a:lnTo>
                  <a:pt x="972190" y="653283"/>
                </a:lnTo>
                <a:lnTo>
                  <a:pt x="905134" y="677930"/>
                </a:lnTo>
                <a:lnTo>
                  <a:pt x="836310" y="701039"/>
                </a:lnTo>
                <a:lnTo>
                  <a:pt x="765688" y="722507"/>
                </a:lnTo>
                <a:lnTo>
                  <a:pt x="693419" y="742319"/>
                </a:lnTo>
                <a:lnTo>
                  <a:pt x="619902" y="760344"/>
                </a:lnTo>
                <a:lnTo>
                  <a:pt x="545104" y="776609"/>
                </a:lnTo>
                <a:lnTo>
                  <a:pt x="469270" y="790955"/>
                </a:lnTo>
                <a:lnTo>
                  <a:pt x="392429" y="803279"/>
                </a:lnTo>
                <a:lnTo>
                  <a:pt x="314827" y="813434"/>
                </a:lnTo>
                <a:lnTo>
                  <a:pt x="236738" y="821567"/>
                </a:lnTo>
                <a:lnTo>
                  <a:pt x="158008" y="827531"/>
                </a:lnTo>
                <a:lnTo>
                  <a:pt x="79126" y="830960"/>
                </a:lnTo>
                <a:lnTo>
                  <a:pt x="76181" y="831008"/>
                </a:lnTo>
                <a:lnTo>
                  <a:pt x="76369" y="843716"/>
                </a:lnTo>
                <a:lnTo>
                  <a:pt x="158892" y="840104"/>
                </a:lnTo>
                <a:lnTo>
                  <a:pt x="238018" y="834258"/>
                </a:lnTo>
                <a:lnTo>
                  <a:pt x="316504" y="826007"/>
                </a:lnTo>
                <a:lnTo>
                  <a:pt x="394472" y="815852"/>
                </a:lnTo>
                <a:lnTo>
                  <a:pt x="471556" y="803397"/>
                </a:lnTo>
                <a:lnTo>
                  <a:pt x="547756" y="788919"/>
                </a:lnTo>
                <a:lnTo>
                  <a:pt x="622950" y="772799"/>
                </a:lnTo>
                <a:lnTo>
                  <a:pt x="696742" y="754629"/>
                </a:lnTo>
                <a:lnTo>
                  <a:pt x="769376" y="734699"/>
                </a:lnTo>
                <a:lnTo>
                  <a:pt x="840242" y="713100"/>
                </a:lnTo>
                <a:lnTo>
                  <a:pt x="909584" y="689859"/>
                </a:lnTo>
                <a:lnTo>
                  <a:pt x="976883" y="664976"/>
                </a:lnTo>
                <a:lnTo>
                  <a:pt x="1042294" y="638805"/>
                </a:lnTo>
                <a:lnTo>
                  <a:pt x="1105540" y="611255"/>
                </a:lnTo>
                <a:lnTo>
                  <a:pt x="1166378" y="582299"/>
                </a:lnTo>
                <a:lnTo>
                  <a:pt x="1224808" y="552068"/>
                </a:lnTo>
                <a:lnTo>
                  <a:pt x="1280556" y="520826"/>
                </a:lnTo>
                <a:lnTo>
                  <a:pt x="1333499" y="488310"/>
                </a:lnTo>
                <a:lnTo>
                  <a:pt x="1383670" y="454913"/>
                </a:lnTo>
                <a:lnTo>
                  <a:pt x="1430670" y="420492"/>
                </a:lnTo>
                <a:lnTo>
                  <a:pt x="1474469" y="385322"/>
                </a:lnTo>
                <a:lnTo>
                  <a:pt x="1514855" y="349245"/>
                </a:lnTo>
                <a:lnTo>
                  <a:pt x="1551553" y="312288"/>
                </a:lnTo>
                <a:lnTo>
                  <a:pt x="1584716" y="274832"/>
                </a:lnTo>
                <a:lnTo>
                  <a:pt x="1613915" y="236850"/>
                </a:lnTo>
                <a:lnTo>
                  <a:pt x="1639061" y="198251"/>
                </a:lnTo>
                <a:lnTo>
                  <a:pt x="1660154" y="159126"/>
                </a:lnTo>
                <a:lnTo>
                  <a:pt x="1676796" y="119765"/>
                </a:lnTo>
                <a:lnTo>
                  <a:pt x="1688866" y="80009"/>
                </a:lnTo>
                <a:lnTo>
                  <a:pt x="1696090" y="40004"/>
                </a:lnTo>
                <a:lnTo>
                  <a:pt x="1698619" y="761"/>
                </a:lnTo>
                <a:lnTo>
                  <a:pt x="16859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143" name="object 23"/>
          <p:cNvSpPr>
            <a:spLocks/>
          </p:cNvSpPr>
          <p:nvPr/>
        </p:nvSpPr>
        <p:spPr bwMode="auto">
          <a:xfrm>
            <a:off x="5083908" y="4343400"/>
            <a:ext cx="93785" cy="533400"/>
          </a:xfrm>
          <a:custGeom>
            <a:avLst/>
            <a:gdLst>
              <a:gd name="T0" fmla="*/ 44464 w 76200"/>
              <a:gd name="T1" fmla="*/ 63495 h 533400"/>
              <a:gd name="T2" fmla="*/ 31760 w 76200"/>
              <a:gd name="T3" fmla="*/ 63495 h 533400"/>
              <a:gd name="T4" fmla="*/ 31760 w 76200"/>
              <a:gd name="T5" fmla="*/ 533399 h 533400"/>
              <a:gd name="T6" fmla="*/ 44464 w 76200"/>
              <a:gd name="T7" fmla="*/ 533399 h 533400"/>
              <a:gd name="T8" fmla="*/ 44464 w 76200"/>
              <a:gd name="T9" fmla="*/ 63495 h 533400"/>
              <a:gd name="T10" fmla="*/ 38099 w 76200"/>
              <a:gd name="T11" fmla="*/ 0 h 533400"/>
              <a:gd name="T12" fmla="*/ 0 w 76200"/>
              <a:gd name="T13" fmla="*/ 76199 h 533400"/>
              <a:gd name="T14" fmla="*/ 31760 w 76200"/>
              <a:gd name="T15" fmla="*/ 76199 h 533400"/>
              <a:gd name="T16" fmla="*/ 31760 w 76200"/>
              <a:gd name="T17" fmla="*/ 63495 h 533400"/>
              <a:gd name="T18" fmla="*/ 69847 w 76200"/>
              <a:gd name="T19" fmla="*/ 63495 h 533400"/>
              <a:gd name="T20" fmla="*/ 38099 w 76200"/>
              <a:gd name="T21" fmla="*/ 0 h 533400"/>
              <a:gd name="T22" fmla="*/ 69847 w 76200"/>
              <a:gd name="T23" fmla="*/ 63495 h 533400"/>
              <a:gd name="T24" fmla="*/ 44464 w 76200"/>
              <a:gd name="T25" fmla="*/ 63495 h 533400"/>
              <a:gd name="T26" fmla="*/ 44464 w 76200"/>
              <a:gd name="T27" fmla="*/ 76199 h 533400"/>
              <a:gd name="T28" fmla="*/ 76199 w 76200"/>
              <a:gd name="T29" fmla="*/ 76199 h 533400"/>
              <a:gd name="T30" fmla="*/ 69847 w 76200"/>
              <a:gd name="T31" fmla="*/ 63495 h 533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6200" h="533400">
                <a:moveTo>
                  <a:pt x="44464" y="63495"/>
                </a:moveTo>
                <a:lnTo>
                  <a:pt x="31760" y="63495"/>
                </a:lnTo>
                <a:lnTo>
                  <a:pt x="31760" y="533399"/>
                </a:lnTo>
                <a:lnTo>
                  <a:pt x="44464" y="533399"/>
                </a:lnTo>
                <a:lnTo>
                  <a:pt x="44464" y="63495"/>
                </a:lnTo>
                <a:close/>
              </a:path>
              <a:path w="76200" h="533400">
                <a:moveTo>
                  <a:pt x="38099" y="0"/>
                </a:moveTo>
                <a:lnTo>
                  <a:pt x="0" y="76199"/>
                </a:lnTo>
                <a:lnTo>
                  <a:pt x="31760" y="76199"/>
                </a:lnTo>
                <a:lnTo>
                  <a:pt x="31760" y="63495"/>
                </a:lnTo>
                <a:lnTo>
                  <a:pt x="69847" y="63495"/>
                </a:lnTo>
                <a:lnTo>
                  <a:pt x="38099" y="0"/>
                </a:lnTo>
                <a:close/>
              </a:path>
              <a:path w="76200" h="533400">
                <a:moveTo>
                  <a:pt x="69847" y="63495"/>
                </a:moveTo>
                <a:lnTo>
                  <a:pt x="44464" y="63495"/>
                </a:lnTo>
                <a:lnTo>
                  <a:pt x="44464" y="76199"/>
                </a:lnTo>
                <a:lnTo>
                  <a:pt x="76199" y="76199"/>
                </a:lnTo>
                <a:lnTo>
                  <a:pt x="69847" y="634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5144" name="object 24"/>
          <p:cNvSpPr>
            <a:spLocks/>
          </p:cNvSpPr>
          <p:nvPr/>
        </p:nvSpPr>
        <p:spPr bwMode="auto">
          <a:xfrm>
            <a:off x="9245600" y="4000500"/>
            <a:ext cx="812800" cy="76200"/>
          </a:xfrm>
          <a:custGeom>
            <a:avLst/>
            <a:gdLst>
              <a:gd name="T0" fmla="*/ 584210 w 660400"/>
              <a:gd name="T1" fmla="*/ 0 h 76200"/>
              <a:gd name="T2" fmla="*/ 584210 w 660400"/>
              <a:gd name="T3" fmla="*/ 76199 h 76200"/>
              <a:gd name="T4" fmla="*/ 647717 w 660400"/>
              <a:gd name="T5" fmla="*/ 44446 h 76200"/>
              <a:gd name="T6" fmla="*/ 596908 w 660400"/>
              <a:gd name="T7" fmla="*/ 44446 h 76200"/>
              <a:gd name="T8" fmla="*/ 596908 w 660400"/>
              <a:gd name="T9" fmla="*/ 31754 h 76200"/>
              <a:gd name="T10" fmla="*/ 647718 w 660400"/>
              <a:gd name="T11" fmla="*/ 31754 h 76200"/>
              <a:gd name="T12" fmla="*/ 584210 w 660400"/>
              <a:gd name="T13" fmla="*/ 0 h 76200"/>
              <a:gd name="T14" fmla="*/ 584210 w 660400"/>
              <a:gd name="T15" fmla="*/ 31754 h 76200"/>
              <a:gd name="T16" fmla="*/ 0 w 660400"/>
              <a:gd name="T17" fmla="*/ 31754 h 76200"/>
              <a:gd name="T18" fmla="*/ 0 w 660400"/>
              <a:gd name="T19" fmla="*/ 44446 h 76200"/>
              <a:gd name="T20" fmla="*/ 584210 w 660400"/>
              <a:gd name="T21" fmla="*/ 44446 h 76200"/>
              <a:gd name="T22" fmla="*/ 584210 w 660400"/>
              <a:gd name="T23" fmla="*/ 31754 h 76200"/>
              <a:gd name="T24" fmla="*/ 647718 w 660400"/>
              <a:gd name="T25" fmla="*/ 31754 h 76200"/>
              <a:gd name="T26" fmla="*/ 596908 w 660400"/>
              <a:gd name="T27" fmla="*/ 31754 h 76200"/>
              <a:gd name="T28" fmla="*/ 596908 w 660400"/>
              <a:gd name="T29" fmla="*/ 44446 h 76200"/>
              <a:gd name="T30" fmla="*/ 647717 w 660400"/>
              <a:gd name="T31" fmla="*/ 44446 h 76200"/>
              <a:gd name="T32" fmla="*/ 660410 w 660400"/>
              <a:gd name="T33" fmla="*/ 38099 h 76200"/>
              <a:gd name="T34" fmla="*/ 647718 w 660400"/>
              <a:gd name="T35" fmla="*/ 31754 h 76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60400" h="76200">
                <a:moveTo>
                  <a:pt x="584210" y="0"/>
                </a:moveTo>
                <a:lnTo>
                  <a:pt x="584210" y="76199"/>
                </a:lnTo>
                <a:lnTo>
                  <a:pt x="647717" y="44446"/>
                </a:lnTo>
                <a:lnTo>
                  <a:pt x="596908" y="44446"/>
                </a:lnTo>
                <a:lnTo>
                  <a:pt x="596908" y="31754"/>
                </a:lnTo>
                <a:lnTo>
                  <a:pt x="647718" y="31754"/>
                </a:lnTo>
                <a:lnTo>
                  <a:pt x="584210" y="0"/>
                </a:lnTo>
                <a:close/>
              </a:path>
              <a:path w="660400" h="76200">
                <a:moveTo>
                  <a:pt x="584210" y="31754"/>
                </a:moveTo>
                <a:lnTo>
                  <a:pt x="0" y="31754"/>
                </a:lnTo>
                <a:lnTo>
                  <a:pt x="0" y="44446"/>
                </a:lnTo>
                <a:lnTo>
                  <a:pt x="584210" y="44446"/>
                </a:lnTo>
                <a:lnTo>
                  <a:pt x="584210" y="31754"/>
                </a:lnTo>
                <a:close/>
              </a:path>
              <a:path w="660400" h="76200">
                <a:moveTo>
                  <a:pt x="647718" y="31754"/>
                </a:moveTo>
                <a:lnTo>
                  <a:pt x="596908" y="31754"/>
                </a:lnTo>
                <a:lnTo>
                  <a:pt x="596908" y="44446"/>
                </a:lnTo>
                <a:lnTo>
                  <a:pt x="647717" y="44446"/>
                </a:lnTo>
                <a:lnTo>
                  <a:pt x="660410" y="38099"/>
                </a:lnTo>
                <a:lnTo>
                  <a:pt x="647718" y="317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en-US"/>
          </a:p>
        </p:txBody>
      </p:sp>
      <p:sp>
        <p:nvSpPr>
          <p:cNvPr id="25" name="object 25"/>
          <p:cNvSpPr txBox="1"/>
          <p:nvPr/>
        </p:nvSpPr>
        <p:spPr>
          <a:xfrm>
            <a:off x="10257692" y="3889375"/>
            <a:ext cx="703385" cy="276999"/>
          </a:xfrm>
          <a:prstGeom prst="rect">
            <a:avLst/>
          </a:prstGeom>
        </p:spPr>
        <p:txBody>
          <a:bodyPr lIns="0" tIns="0" rIns="0" bIns="0">
            <a:spAutoFit/>
          </a:bodyPr>
          <a:lstStyle/>
          <a:p>
            <a:pPr marL="12700" fontAlgn="auto">
              <a:spcBef>
                <a:spcPts val="0"/>
              </a:spcBef>
              <a:spcAft>
                <a:spcPts val="0"/>
              </a:spcAft>
              <a:defRPr/>
            </a:pPr>
            <a:r>
              <a:rPr b="1" dirty="0">
                <a:latin typeface="Times New Roman"/>
                <a:cs typeface="Times New Roman"/>
              </a:rPr>
              <a:t>do</a:t>
            </a:r>
            <a:r>
              <a:rPr b="1" spc="-10" dirty="0">
                <a:latin typeface="Times New Roman"/>
                <a:cs typeface="Times New Roman"/>
              </a:rPr>
              <a:t>n</a:t>
            </a:r>
            <a:r>
              <a:rPr b="1" dirty="0">
                <a:latin typeface="Times New Roman"/>
                <a:cs typeface="Times New Roman"/>
              </a:rPr>
              <a:t>e!</a:t>
            </a:r>
            <a:endParaRPr>
              <a:latin typeface="Times New Roman"/>
              <a:cs typeface="Times New Roman"/>
            </a:endParaRPr>
          </a:p>
        </p:txBody>
      </p:sp>
      <p:sp>
        <p:nvSpPr>
          <p:cNvPr id="5147" name="object 26"/>
          <p:cNvSpPr txBox="1">
            <a:spLocks noChangeArrowheads="1"/>
          </p:cNvSpPr>
          <p:nvPr/>
        </p:nvSpPr>
        <p:spPr bwMode="auto">
          <a:xfrm>
            <a:off x="9241693" y="3675063"/>
            <a:ext cx="61350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b="1">
                <a:latin typeface="Times New Roman" pitchFamily="18" charset="0"/>
                <a:cs typeface="Times New Roman" pitchFamily="18" charset="0"/>
              </a:rPr>
              <a:t>OK?</a:t>
            </a: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44951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bject 2"/>
          <p:cNvSpPr>
            <a:spLocks noChangeArrowheads="1"/>
          </p:cNvSpPr>
          <p:nvPr/>
        </p:nvSpPr>
        <p:spPr bwMode="auto">
          <a:xfrm>
            <a:off x="4593493" y="825500"/>
            <a:ext cx="6099908" cy="494823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6147" name="object 3"/>
          <p:cNvSpPr>
            <a:spLocks noChangeArrowheads="1"/>
          </p:cNvSpPr>
          <p:nvPr/>
        </p:nvSpPr>
        <p:spPr bwMode="auto">
          <a:xfrm>
            <a:off x="787401" y="1190626"/>
            <a:ext cx="3432907" cy="4581525"/>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6148" name="object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lvl1pPr marL="74613">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7259EC17-C4B4-49C4-9D30-671289F7F426}" type="slidenum">
              <a:rPr lang="en-US" smtClean="0">
                <a:solidFill>
                  <a:schemeClr val="bg1"/>
                </a:solidFill>
                <a:latin typeface="Arial" charset="0"/>
                <a:cs typeface="Arial" charset="0"/>
              </a:rPr>
              <a:pPr fontAlgn="base">
                <a:spcBef>
                  <a:spcPct val="0"/>
                </a:spcBef>
                <a:spcAft>
                  <a:spcPct val="0"/>
                </a:spcAft>
              </a:pPr>
              <a:t>22</a:t>
            </a:fld>
            <a:endParaRPr lang="en-US">
              <a:solidFill>
                <a:schemeClr val="bg1"/>
              </a:solidFill>
              <a:latin typeface="Arial" charset="0"/>
              <a:cs typeface="Arial" charset="0"/>
            </a:endParaRPr>
          </a:p>
        </p:txBody>
      </p:sp>
    </p:spTree>
    <p:extLst>
      <p:ext uri="{BB962C8B-B14F-4D97-AF65-F5344CB8AC3E}">
        <p14:creationId xmlns:p14="http://schemas.microsoft.com/office/powerpoint/2010/main" val="3116477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6585" y="269631"/>
            <a:ext cx="10777415" cy="934864"/>
          </a:xfrm>
        </p:spPr>
        <p:txBody>
          <a:bodyPr tIns="468623" rtlCol="0">
            <a:noAutofit/>
          </a:bodyPr>
          <a:lstStyle/>
          <a:p>
            <a:pPr marL="12700" eaLnBrk="1" fontAlgn="auto" hangingPunct="1">
              <a:lnSpc>
                <a:spcPts val="3570"/>
              </a:lnSpc>
              <a:spcBef>
                <a:spcPts val="0"/>
              </a:spcBef>
              <a:spcAft>
                <a:spcPts val="0"/>
              </a:spcAft>
              <a:defRPr/>
            </a:pPr>
            <a:r>
              <a:rPr sz="3200" b="1" spc="-20" dirty="0">
                <a:latin typeface="+mn-lt"/>
              </a:rPr>
              <a:t>T</a:t>
            </a:r>
            <a:r>
              <a:rPr sz="3200" b="1" spc="-5" dirty="0">
                <a:latin typeface="+mn-lt"/>
              </a:rPr>
              <a:t>H</a:t>
            </a:r>
            <a:r>
              <a:rPr sz="3200" b="1" spc="-10" dirty="0">
                <a:latin typeface="+mn-lt"/>
              </a:rPr>
              <a:t>R</a:t>
            </a:r>
            <a:r>
              <a:rPr sz="3200" b="1" spc="-20" dirty="0">
                <a:latin typeface="+mn-lt"/>
              </a:rPr>
              <a:t>O</a:t>
            </a:r>
            <a:r>
              <a:rPr sz="3200" b="1" spc="-105" dirty="0">
                <a:latin typeface="+mn-lt"/>
              </a:rPr>
              <a:t>W</a:t>
            </a:r>
            <a:r>
              <a:rPr sz="3200" b="1" spc="-110" dirty="0">
                <a:latin typeface="+mn-lt"/>
              </a:rPr>
              <a:t>AW</a:t>
            </a:r>
            <a:r>
              <a:rPr sz="3200" b="1" spc="-204" dirty="0">
                <a:latin typeface="+mn-lt"/>
              </a:rPr>
              <a:t>A</a:t>
            </a:r>
            <a:r>
              <a:rPr sz="3200" b="1" spc="-240" dirty="0">
                <a:latin typeface="+mn-lt"/>
              </a:rPr>
              <a:t>Y</a:t>
            </a:r>
            <a:r>
              <a:rPr lang="en-US" sz="3200" b="1" spc="-5" dirty="0">
                <a:latin typeface="+mn-lt"/>
              </a:rPr>
              <a:t> and </a:t>
            </a:r>
            <a:r>
              <a:rPr sz="3200" b="1" spc="-15" dirty="0">
                <a:latin typeface="+mn-lt"/>
              </a:rPr>
              <a:t>E</a:t>
            </a:r>
            <a:r>
              <a:rPr sz="3200" b="1" dirty="0">
                <a:latin typeface="+mn-lt"/>
              </a:rPr>
              <a:t>VOL</a:t>
            </a:r>
            <a:r>
              <a:rPr sz="3200" b="1" spc="-10" dirty="0">
                <a:latin typeface="+mn-lt"/>
              </a:rPr>
              <a:t>U</a:t>
            </a:r>
            <a:r>
              <a:rPr sz="3200" b="1" spc="-15" dirty="0">
                <a:latin typeface="+mn-lt"/>
              </a:rPr>
              <a:t>TIONA</a:t>
            </a:r>
            <a:r>
              <a:rPr sz="3200" b="1" spc="-80" dirty="0">
                <a:latin typeface="+mn-lt"/>
              </a:rPr>
              <a:t>R</a:t>
            </a:r>
            <a:r>
              <a:rPr sz="3200" b="1" spc="-240" dirty="0">
                <a:latin typeface="+mn-lt"/>
              </a:rPr>
              <a:t>Y</a:t>
            </a:r>
            <a:r>
              <a:rPr lang="en-US" sz="3200" b="1" spc="-240" dirty="0">
                <a:latin typeface="+mn-lt"/>
              </a:rPr>
              <a:t> Prototypes</a:t>
            </a:r>
            <a:endParaRPr sz="3200" b="1" dirty="0">
              <a:latin typeface="+mn-lt"/>
            </a:endParaRPr>
          </a:p>
        </p:txBody>
      </p:sp>
      <p:sp>
        <p:nvSpPr>
          <p:cNvPr id="5" name="object 5"/>
          <p:cNvSpPr txBox="1"/>
          <p:nvPr/>
        </p:nvSpPr>
        <p:spPr>
          <a:xfrm>
            <a:off x="11107616" y="5903914"/>
            <a:ext cx="275492" cy="215444"/>
          </a:xfrm>
          <a:prstGeom prst="rect">
            <a:avLst/>
          </a:prstGeom>
        </p:spPr>
        <p:txBody>
          <a:bodyPr lIns="0" tIns="0" rIns="0" bIns="0">
            <a:spAutoFit/>
          </a:bodyPr>
          <a:lstStyle/>
          <a:p>
            <a:pPr marL="12700" fontAlgn="auto">
              <a:spcBef>
                <a:spcPts val="0"/>
              </a:spcBef>
              <a:spcAft>
                <a:spcPts val="0"/>
              </a:spcAft>
              <a:defRPr/>
            </a:pPr>
            <a:r>
              <a:rPr sz="1400" b="1" spc="-5" dirty="0">
                <a:solidFill>
                  <a:srgbClr val="FFFFFF"/>
                </a:solidFill>
                <a:latin typeface="Arial"/>
                <a:cs typeface="Arial"/>
              </a:rPr>
              <a:t>31</a:t>
            </a:r>
            <a:endParaRPr sz="1400">
              <a:latin typeface="Arial"/>
              <a:cs typeface="Arial"/>
            </a:endParaRPr>
          </a:p>
        </p:txBody>
      </p:sp>
      <p:sp>
        <p:nvSpPr>
          <p:cNvPr id="3" name="object 3"/>
          <p:cNvSpPr txBox="1"/>
          <p:nvPr/>
        </p:nvSpPr>
        <p:spPr>
          <a:xfrm>
            <a:off x="1316893" y="1638301"/>
            <a:ext cx="9603154" cy="3285515"/>
          </a:xfrm>
          <a:prstGeom prst="rect">
            <a:avLst/>
          </a:prstGeom>
        </p:spPr>
        <p:txBody>
          <a:bodyPr lIns="0" tIns="0" rIns="0" bIns="0">
            <a:spAutoFit/>
          </a:bodyPr>
          <a:lstStyle>
            <a:lvl1pPr marL="285750" indent="-273050">
              <a:tabLst>
                <a:tab pos="285750" algn="l"/>
              </a:tabLst>
              <a:defRPr>
                <a:solidFill>
                  <a:schemeClr val="tx1"/>
                </a:solidFill>
                <a:latin typeface="Calibri" pitchFamily="34" charset="0"/>
              </a:defRPr>
            </a:lvl1pPr>
            <a:lvl2pPr marL="652463" indent="-273050">
              <a:tabLst>
                <a:tab pos="285750" algn="l"/>
              </a:tabLst>
              <a:defRPr>
                <a:solidFill>
                  <a:schemeClr val="tx1"/>
                </a:solidFill>
                <a:latin typeface="Calibri" pitchFamily="34" charset="0"/>
              </a:defRPr>
            </a:lvl2pPr>
            <a:lvl3pPr marL="1143000" indent="-228600">
              <a:tabLst>
                <a:tab pos="285750" algn="l"/>
              </a:tabLst>
              <a:defRPr>
                <a:solidFill>
                  <a:schemeClr val="tx1"/>
                </a:solidFill>
                <a:latin typeface="Calibri" pitchFamily="34" charset="0"/>
              </a:defRPr>
            </a:lvl3pPr>
            <a:lvl4pPr marL="1600200" indent="-228600">
              <a:tabLst>
                <a:tab pos="285750" algn="l"/>
              </a:tabLst>
              <a:defRPr>
                <a:solidFill>
                  <a:schemeClr val="tx1"/>
                </a:solidFill>
                <a:latin typeface="Calibri" pitchFamily="34" charset="0"/>
              </a:defRPr>
            </a:lvl4pPr>
            <a:lvl5pPr marL="2057400" indent="-228600">
              <a:tabLst>
                <a:tab pos="285750" algn="l"/>
              </a:tabLst>
              <a:defRPr>
                <a:solidFill>
                  <a:schemeClr val="tx1"/>
                </a:solidFill>
                <a:latin typeface="Calibri" pitchFamily="34" charset="0"/>
              </a:defRPr>
            </a:lvl5pPr>
            <a:lvl6pPr marL="2514600" indent="-228600" fontAlgn="base">
              <a:spcBef>
                <a:spcPct val="0"/>
              </a:spcBef>
              <a:spcAft>
                <a:spcPct val="0"/>
              </a:spcAft>
              <a:tabLst>
                <a:tab pos="285750" algn="l"/>
              </a:tabLst>
              <a:defRPr>
                <a:solidFill>
                  <a:schemeClr val="tx1"/>
                </a:solidFill>
                <a:latin typeface="Calibri" pitchFamily="34" charset="0"/>
              </a:defRPr>
            </a:lvl6pPr>
            <a:lvl7pPr marL="2971800" indent="-228600" fontAlgn="base">
              <a:spcBef>
                <a:spcPct val="0"/>
              </a:spcBef>
              <a:spcAft>
                <a:spcPct val="0"/>
              </a:spcAft>
              <a:tabLst>
                <a:tab pos="285750" algn="l"/>
              </a:tabLst>
              <a:defRPr>
                <a:solidFill>
                  <a:schemeClr val="tx1"/>
                </a:solidFill>
                <a:latin typeface="Calibri" pitchFamily="34" charset="0"/>
              </a:defRPr>
            </a:lvl7pPr>
            <a:lvl8pPr marL="3429000" indent="-228600" fontAlgn="base">
              <a:spcBef>
                <a:spcPct val="0"/>
              </a:spcBef>
              <a:spcAft>
                <a:spcPct val="0"/>
              </a:spcAft>
              <a:tabLst>
                <a:tab pos="285750" algn="l"/>
              </a:tabLst>
              <a:defRPr>
                <a:solidFill>
                  <a:schemeClr val="tx1"/>
                </a:solidFill>
                <a:latin typeface="Calibri" pitchFamily="34" charset="0"/>
              </a:defRPr>
            </a:lvl8pPr>
            <a:lvl9pPr marL="3886200" indent="-228600" fontAlgn="base">
              <a:spcBef>
                <a:spcPct val="0"/>
              </a:spcBef>
              <a:spcAft>
                <a:spcPct val="0"/>
              </a:spcAft>
              <a:tabLst>
                <a:tab pos="285750" algn="l"/>
              </a:tabLst>
              <a:defRPr>
                <a:solidFill>
                  <a:schemeClr val="tx1"/>
                </a:solidFill>
                <a:latin typeface="Calibri" pitchFamily="34" charset="0"/>
              </a:defRPr>
            </a:lvl9pPr>
          </a:lstStyle>
          <a:p>
            <a:pPr marL="355600" indent="-342900">
              <a:buClr>
                <a:schemeClr val="tx1"/>
              </a:buClr>
              <a:buSzPct val="130000"/>
              <a:buFont typeface="Wingdings" pitchFamily="2" charset="2"/>
              <a:buChar char="§"/>
            </a:pPr>
            <a:r>
              <a:rPr lang="en-US" sz="2200" dirty="0">
                <a:latin typeface="+mn-lt"/>
              </a:rPr>
              <a:t>Throwaway</a:t>
            </a:r>
            <a:r>
              <a:rPr lang="en-US" sz="2200" dirty="0">
                <a:latin typeface="+mn-lt"/>
                <a:cs typeface="Times New Roman" pitchFamily="18" charset="0"/>
              </a:rPr>
              <a:t> </a:t>
            </a:r>
            <a:r>
              <a:rPr lang="en-US" sz="2200" dirty="0">
                <a:latin typeface="+mn-lt"/>
              </a:rPr>
              <a:t>prototypes</a:t>
            </a:r>
          </a:p>
          <a:p>
            <a:pPr marL="722313" lvl="1" indent="-342900">
              <a:spcBef>
                <a:spcPts val="238"/>
              </a:spcBef>
              <a:buClr>
                <a:schemeClr val="tx1"/>
              </a:buClr>
              <a:buSzPct val="130000"/>
              <a:buFont typeface="Wingdings" pitchFamily="2" charset="2"/>
              <a:buChar char="§"/>
            </a:pPr>
            <a:r>
              <a:rPr lang="en-US" sz="1900" dirty="0">
                <a:latin typeface="+mn-lt"/>
              </a:rPr>
              <a:t>are</a:t>
            </a:r>
            <a:r>
              <a:rPr lang="en-US" sz="1900" dirty="0">
                <a:latin typeface="+mn-lt"/>
                <a:cs typeface="Times New Roman" pitchFamily="18" charset="0"/>
              </a:rPr>
              <a:t> </a:t>
            </a:r>
            <a:r>
              <a:rPr lang="en-US" sz="1900" dirty="0">
                <a:latin typeface="+mn-lt"/>
              </a:rPr>
              <a:t>built,</a:t>
            </a:r>
            <a:r>
              <a:rPr lang="en-US" sz="1900" dirty="0">
                <a:latin typeface="+mn-lt"/>
                <a:cs typeface="Times New Roman" pitchFamily="18" charset="0"/>
              </a:rPr>
              <a:t> </a:t>
            </a:r>
            <a:r>
              <a:rPr lang="en-US" sz="1900" dirty="0">
                <a:latin typeface="+mn-lt"/>
              </a:rPr>
              <a:t>tested</a:t>
            </a:r>
            <a:r>
              <a:rPr lang="en-US" sz="1900" dirty="0">
                <a:latin typeface="+mn-lt"/>
                <a:cs typeface="Times New Roman" pitchFamily="18" charset="0"/>
              </a:rPr>
              <a:t> </a:t>
            </a:r>
            <a:r>
              <a:rPr lang="en-US" sz="1900" dirty="0">
                <a:latin typeface="+mn-lt"/>
              </a:rPr>
              <a:t>and</a:t>
            </a:r>
            <a:r>
              <a:rPr lang="en-US" sz="1900" dirty="0">
                <a:latin typeface="+mn-lt"/>
                <a:cs typeface="Times New Roman" pitchFamily="18" charset="0"/>
              </a:rPr>
              <a:t> </a:t>
            </a:r>
            <a:r>
              <a:rPr lang="en-US" sz="1900" dirty="0">
                <a:latin typeface="+mn-lt"/>
              </a:rPr>
              <a:t>thrown</a:t>
            </a:r>
            <a:r>
              <a:rPr lang="en-US" sz="1900" dirty="0">
                <a:latin typeface="+mn-lt"/>
                <a:cs typeface="Times New Roman" pitchFamily="18" charset="0"/>
              </a:rPr>
              <a:t> </a:t>
            </a:r>
            <a:r>
              <a:rPr lang="en-US" sz="1900" dirty="0">
                <a:latin typeface="+mn-lt"/>
              </a:rPr>
              <a:t>away</a:t>
            </a:r>
            <a:r>
              <a:rPr lang="en-US" sz="1900" dirty="0">
                <a:latin typeface="+mn-lt"/>
                <a:cs typeface="Times New Roman" pitchFamily="18" charset="0"/>
              </a:rPr>
              <a:t> </a:t>
            </a:r>
            <a:r>
              <a:rPr lang="en-US" sz="1900" dirty="0">
                <a:latin typeface="+mn-lt"/>
              </a:rPr>
              <a:t>(useful</a:t>
            </a:r>
            <a:r>
              <a:rPr lang="en-US" sz="1900" dirty="0">
                <a:latin typeface="+mn-lt"/>
                <a:cs typeface="Times New Roman" pitchFamily="18" charset="0"/>
              </a:rPr>
              <a:t> </a:t>
            </a:r>
            <a:r>
              <a:rPr lang="en-US" sz="1900" dirty="0">
                <a:latin typeface="+mn-lt"/>
              </a:rPr>
              <a:t>in</a:t>
            </a:r>
            <a:r>
              <a:rPr lang="en-US" sz="1900" dirty="0">
                <a:latin typeface="+mn-lt"/>
                <a:cs typeface="Times New Roman" pitchFamily="18" charset="0"/>
              </a:rPr>
              <a:t> </a:t>
            </a:r>
            <a:r>
              <a:rPr lang="en-US" sz="1900" dirty="0">
                <a:latin typeface="+mn-lt"/>
              </a:rPr>
              <a:t>early</a:t>
            </a:r>
            <a:r>
              <a:rPr lang="en-US" sz="1900" dirty="0">
                <a:latin typeface="+mn-lt"/>
                <a:cs typeface="Times New Roman" pitchFamily="18" charset="0"/>
              </a:rPr>
              <a:t> </a:t>
            </a:r>
            <a:r>
              <a:rPr lang="en-US" sz="1900" dirty="0">
                <a:latin typeface="+mn-lt"/>
              </a:rPr>
              <a:t>stages)</a:t>
            </a:r>
          </a:p>
          <a:p>
            <a:pPr marL="722313" lvl="1" indent="-342900">
              <a:spcBef>
                <a:spcPts val="225"/>
              </a:spcBef>
              <a:buClr>
                <a:schemeClr val="tx1"/>
              </a:buClr>
              <a:buSzPct val="130000"/>
              <a:buFont typeface="Wingdings" pitchFamily="2" charset="2"/>
              <a:buChar char="§"/>
            </a:pPr>
            <a:r>
              <a:rPr lang="en-US" sz="1900" dirty="0">
                <a:latin typeface="+mn-lt"/>
              </a:rPr>
              <a:t>knowledge</a:t>
            </a:r>
            <a:r>
              <a:rPr lang="en-US" sz="1900" dirty="0">
                <a:latin typeface="+mn-lt"/>
                <a:cs typeface="Times New Roman" pitchFamily="18" charset="0"/>
              </a:rPr>
              <a:t> </a:t>
            </a:r>
            <a:r>
              <a:rPr lang="en-US" sz="1900" dirty="0">
                <a:latin typeface="+mn-lt"/>
              </a:rPr>
              <a:t>gained</a:t>
            </a:r>
            <a:r>
              <a:rPr lang="en-US" sz="1900" dirty="0">
                <a:latin typeface="+mn-lt"/>
                <a:cs typeface="Times New Roman" pitchFamily="18" charset="0"/>
              </a:rPr>
              <a:t> </a:t>
            </a:r>
            <a:r>
              <a:rPr lang="en-US" sz="1900" dirty="0">
                <a:latin typeface="+mn-lt"/>
              </a:rPr>
              <a:t>contributes</a:t>
            </a:r>
            <a:r>
              <a:rPr lang="en-US" sz="1900" dirty="0">
                <a:latin typeface="+mn-lt"/>
                <a:cs typeface="Times New Roman" pitchFamily="18" charset="0"/>
              </a:rPr>
              <a:t> </a:t>
            </a:r>
            <a:r>
              <a:rPr lang="en-US" sz="1900" dirty="0">
                <a:latin typeface="+mn-lt"/>
              </a:rPr>
              <a:t>to</a:t>
            </a:r>
            <a:r>
              <a:rPr lang="en-US" sz="1900" dirty="0">
                <a:latin typeface="+mn-lt"/>
                <a:cs typeface="Times New Roman" pitchFamily="18" charset="0"/>
              </a:rPr>
              <a:t> </a:t>
            </a:r>
            <a:r>
              <a:rPr lang="en-US" sz="1900" dirty="0">
                <a:latin typeface="+mn-lt"/>
              </a:rPr>
              <a:t>final</a:t>
            </a:r>
            <a:r>
              <a:rPr lang="en-US" sz="1900" dirty="0">
                <a:latin typeface="+mn-lt"/>
                <a:cs typeface="Times New Roman" pitchFamily="18" charset="0"/>
              </a:rPr>
              <a:t> </a:t>
            </a:r>
            <a:r>
              <a:rPr lang="en-US" sz="1900" dirty="0">
                <a:latin typeface="+mn-lt"/>
              </a:rPr>
              <a:t>system</a:t>
            </a:r>
            <a:r>
              <a:rPr lang="en-US" sz="1900" dirty="0">
                <a:latin typeface="+mn-lt"/>
                <a:cs typeface="Times New Roman" pitchFamily="18" charset="0"/>
              </a:rPr>
              <a:t> </a:t>
            </a:r>
            <a:r>
              <a:rPr lang="en-US" sz="1900" dirty="0">
                <a:latin typeface="+mn-lt"/>
              </a:rPr>
              <a:t>/</a:t>
            </a:r>
            <a:r>
              <a:rPr lang="en-US" sz="1900" dirty="0">
                <a:latin typeface="+mn-lt"/>
                <a:cs typeface="Times New Roman" pitchFamily="18" charset="0"/>
              </a:rPr>
              <a:t> </a:t>
            </a:r>
            <a:r>
              <a:rPr lang="en-US" sz="1900" dirty="0">
                <a:latin typeface="+mn-lt"/>
              </a:rPr>
              <a:t>next</a:t>
            </a:r>
            <a:r>
              <a:rPr lang="en-US" sz="1900" dirty="0">
                <a:latin typeface="+mn-lt"/>
                <a:cs typeface="Times New Roman" pitchFamily="18" charset="0"/>
              </a:rPr>
              <a:t> </a:t>
            </a:r>
            <a:r>
              <a:rPr lang="en-US" sz="1900" dirty="0">
                <a:latin typeface="+mn-lt"/>
              </a:rPr>
              <a:t>prototype</a:t>
            </a:r>
          </a:p>
          <a:p>
            <a:pPr marL="722313" lvl="1" indent="-342900">
              <a:spcBef>
                <a:spcPts val="225"/>
              </a:spcBef>
              <a:buClr>
                <a:schemeClr val="tx1"/>
              </a:buClr>
              <a:buSzPct val="130000"/>
              <a:buFont typeface="Wingdings" pitchFamily="2" charset="2"/>
              <a:buChar char="§"/>
            </a:pPr>
            <a:r>
              <a:rPr lang="en-US" sz="1900" dirty="0">
                <a:latin typeface="+mn-lt"/>
              </a:rPr>
              <a:t>can</a:t>
            </a:r>
            <a:r>
              <a:rPr lang="en-US" sz="1900" dirty="0">
                <a:latin typeface="+mn-lt"/>
                <a:cs typeface="Times New Roman" pitchFamily="18" charset="0"/>
              </a:rPr>
              <a:t> </a:t>
            </a:r>
            <a:r>
              <a:rPr lang="en-US" sz="1900" dirty="0">
                <a:latin typeface="+mn-lt"/>
              </a:rPr>
              <a:t>be</a:t>
            </a:r>
            <a:r>
              <a:rPr lang="en-US" sz="1900" dirty="0">
                <a:latin typeface="+mn-lt"/>
                <a:cs typeface="Times New Roman" pitchFamily="18" charset="0"/>
              </a:rPr>
              <a:t> </a:t>
            </a:r>
            <a:r>
              <a:rPr lang="en-US" sz="1900" dirty="0">
                <a:latin typeface="+mn-lt"/>
              </a:rPr>
              <a:t>expensive</a:t>
            </a:r>
          </a:p>
          <a:p>
            <a:pPr marL="722313" lvl="1" indent="-342900">
              <a:spcBef>
                <a:spcPts val="225"/>
              </a:spcBef>
              <a:buClr>
                <a:schemeClr val="tx1"/>
              </a:buClr>
              <a:buSzPct val="130000"/>
              <a:buFont typeface="Wingdings" pitchFamily="2" charset="2"/>
              <a:buChar char="§"/>
            </a:pPr>
            <a:r>
              <a:rPr lang="en-US" sz="1900" dirty="0">
                <a:latin typeface="+mn-lt"/>
              </a:rPr>
              <a:t>The</a:t>
            </a:r>
            <a:r>
              <a:rPr lang="en-US" sz="1900" dirty="0">
                <a:latin typeface="+mn-lt"/>
                <a:cs typeface="Times New Roman" pitchFamily="18" charset="0"/>
              </a:rPr>
              <a:t> </a:t>
            </a:r>
            <a:r>
              <a:rPr lang="en-US" sz="1900" dirty="0">
                <a:latin typeface="+mn-lt"/>
              </a:rPr>
              <a:t>prototype</a:t>
            </a:r>
            <a:r>
              <a:rPr lang="en-US" sz="1900" dirty="0">
                <a:latin typeface="+mn-lt"/>
                <a:cs typeface="Times New Roman" pitchFamily="18" charset="0"/>
              </a:rPr>
              <a:t> </a:t>
            </a:r>
            <a:r>
              <a:rPr lang="en-US" sz="1900" dirty="0">
                <a:latin typeface="+mn-lt"/>
              </a:rPr>
              <a:t>is</a:t>
            </a:r>
            <a:r>
              <a:rPr lang="en-US" sz="1900" dirty="0">
                <a:latin typeface="+mn-lt"/>
                <a:cs typeface="Times New Roman" pitchFamily="18" charset="0"/>
              </a:rPr>
              <a:t> </a:t>
            </a:r>
            <a:r>
              <a:rPr lang="en-US" sz="1900" dirty="0">
                <a:latin typeface="+mn-lt"/>
              </a:rPr>
              <a:t>used</a:t>
            </a:r>
            <a:r>
              <a:rPr lang="en-US" sz="1900" dirty="0">
                <a:latin typeface="+mn-lt"/>
                <a:cs typeface="Times New Roman" pitchFamily="18" charset="0"/>
              </a:rPr>
              <a:t> </a:t>
            </a:r>
            <a:r>
              <a:rPr lang="en-US" sz="1900" dirty="0">
                <a:latin typeface="+mn-lt"/>
              </a:rPr>
              <a:t>to</a:t>
            </a:r>
            <a:r>
              <a:rPr lang="en-US" sz="1900" dirty="0">
                <a:latin typeface="+mn-lt"/>
                <a:cs typeface="Times New Roman" pitchFamily="18" charset="0"/>
              </a:rPr>
              <a:t> </a:t>
            </a:r>
            <a:r>
              <a:rPr lang="en-US" sz="1900" dirty="0">
                <a:latin typeface="+mn-lt"/>
              </a:rPr>
              <a:t>get</a:t>
            </a:r>
            <a:r>
              <a:rPr lang="en-US" sz="1900" dirty="0">
                <a:latin typeface="+mn-lt"/>
                <a:cs typeface="Times New Roman" pitchFamily="18" charset="0"/>
              </a:rPr>
              <a:t> </a:t>
            </a:r>
            <a:r>
              <a:rPr lang="en-US" sz="1900" dirty="0">
                <a:latin typeface="+mn-lt"/>
              </a:rPr>
              <a:t>the</a:t>
            </a:r>
            <a:r>
              <a:rPr lang="en-US" sz="1900" dirty="0">
                <a:latin typeface="+mn-lt"/>
                <a:cs typeface="Times New Roman" pitchFamily="18" charset="0"/>
              </a:rPr>
              <a:t> </a:t>
            </a:r>
            <a:r>
              <a:rPr lang="en-US" sz="1900" dirty="0">
                <a:latin typeface="+mn-lt"/>
              </a:rPr>
              <a:t>specs</a:t>
            </a:r>
            <a:r>
              <a:rPr lang="en-US" sz="1900" dirty="0">
                <a:latin typeface="+mn-lt"/>
                <a:cs typeface="Times New Roman" pitchFamily="18" charset="0"/>
              </a:rPr>
              <a:t> </a:t>
            </a:r>
            <a:r>
              <a:rPr lang="en-US" sz="1900" dirty="0">
                <a:latin typeface="+mn-lt"/>
              </a:rPr>
              <a:t>right,</a:t>
            </a:r>
            <a:r>
              <a:rPr lang="en-US" sz="1900" dirty="0">
                <a:latin typeface="+mn-lt"/>
                <a:cs typeface="Times New Roman" pitchFamily="18" charset="0"/>
              </a:rPr>
              <a:t> </a:t>
            </a:r>
            <a:r>
              <a:rPr lang="en-US" sz="1900" dirty="0">
                <a:latin typeface="+mn-lt"/>
              </a:rPr>
              <a:t>then</a:t>
            </a:r>
            <a:r>
              <a:rPr lang="en-US" sz="1900" dirty="0">
                <a:latin typeface="+mn-lt"/>
                <a:cs typeface="Times New Roman" pitchFamily="18" charset="0"/>
              </a:rPr>
              <a:t> </a:t>
            </a:r>
            <a:r>
              <a:rPr lang="en-US" sz="1900" dirty="0">
                <a:latin typeface="+mn-lt"/>
              </a:rPr>
              <a:t>discarded!!</a:t>
            </a:r>
          </a:p>
          <a:p>
            <a:pPr marL="722313" lvl="1" indent="-342900">
              <a:spcBef>
                <a:spcPts val="50"/>
              </a:spcBef>
              <a:buClr>
                <a:schemeClr val="tx1"/>
              </a:buClr>
              <a:buSzPct val="130000"/>
              <a:buFont typeface="Wingdings" pitchFamily="2" charset="2"/>
              <a:buChar char="§"/>
            </a:pPr>
            <a:endParaRPr lang="en-US" sz="2400" dirty="0">
              <a:latin typeface="+mn-lt"/>
              <a:cs typeface="Times New Roman" pitchFamily="18" charset="0"/>
            </a:endParaRPr>
          </a:p>
          <a:p>
            <a:pPr marL="355600" indent="-342900">
              <a:buClr>
                <a:schemeClr val="tx1"/>
              </a:buClr>
              <a:buSzPct val="130000"/>
              <a:buFont typeface="Wingdings" pitchFamily="2" charset="2"/>
              <a:buChar char="§"/>
            </a:pPr>
            <a:r>
              <a:rPr lang="en-US" sz="2200" dirty="0">
                <a:latin typeface="+mn-lt"/>
              </a:rPr>
              <a:t>Evolutionary</a:t>
            </a:r>
            <a:r>
              <a:rPr lang="en-US" sz="2200" dirty="0">
                <a:latin typeface="+mn-lt"/>
                <a:cs typeface="Times New Roman" pitchFamily="18" charset="0"/>
              </a:rPr>
              <a:t> </a:t>
            </a:r>
            <a:r>
              <a:rPr lang="en-US" sz="2200" dirty="0">
                <a:latin typeface="+mn-lt"/>
              </a:rPr>
              <a:t>prototypes</a:t>
            </a:r>
          </a:p>
          <a:p>
            <a:pPr marL="722313" lvl="1" indent="-342900">
              <a:spcBef>
                <a:spcPts val="238"/>
              </a:spcBef>
              <a:buClr>
                <a:schemeClr val="tx1"/>
              </a:buClr>
              <a:buSzPct val="130000"/>
              <a:buFont typeface="Wingdings" pitchFamily="2" charset="2"/>
              <a:buChar char="§"/>
            </a:pPr>
            <a:r>
              <a:rPr lang="en-US" sz="1900" dirty="0">
                <a:latin typeface="+mn-lt"/>
              </a:rPr>
              <a:t>are</a:t>
            </a:r>
            <a:r>
              <a:rPr lang="en-US" sz="1900" dirty="0">
                <a:latin typeface="+mn-lt"/>
                <a:cs typeface="Times New Roman" pitchFamily="18" charset="0"/>
              </a:rPr>
              <a:t> </a:t>
            </a:r>
            <a:r>
              <a:rPr lang="en-US" sz="1900" dirty="0">
                <a:latin typeface="+mn-lt"/>
              </a:rPr>
              <a:t>not</a:t>
            </a:r>
            <a:r>
              <a:rPr lang="en-US" sz="1900" dirty="0">
                <a:latin typeface="+mn-lt"/>
                <a:cs typeface="Times New Roman" pitchFamily="18" charset="0"/>
              </a:rPr>
              <a:t> </a:t>
            </a:r>
            <a:r>
              <a:rPr lang="en-US" sz="1900" dirty="0">
                <a:latin typeface="+mn-lt"/>
              </a:rPr>
              <a:t>discarded</a:t>
            </a:r>
            <a:r>
              <a:rPr lang="en-US" sz="1900" dirty="0">
                <a:latin typeface="+mn-lt"/>
                <a:cs typeface="Times New Roman" pitchFamily="18" charset="0"/>
              </a:rPr>
              <a:t> </a:t>
            </a:r>
            <a:r>
              <a:rPr lang="en-US" sz="1900" dirty="0">
                <a:latin typeface="+mn-lt"/>
              </a:rPr>
              <a:t>but</a:t>
            </a:r>
            <a:r>
              <a:rPr lang="en-US" sz="1900" dirty="0">
                <a:latin typeface="+mn-lt"/>
                <a:cs typeface="Times New Roman" pitchFamily="18" charset="0"/>
              </a:rPr>
              <a:t> </a:t>
            </a:r>
            <a:r>
              <a:rPr lang="en-US" sz="1900" dirty="0">
                <a:latin typeface="+mn-lt"/>
              </a:rPr>
              <a:t>serve</a:t>
            </a:r>
            <a:r>
              <a:rPr lang="en-US" sz="1900" dirty="0">
                <a:latin typeface="+mn-lt"/>
                <a:cs typeface="Times New Roman" pitchFamily="18" charset="0"/>
              </a:rPr>
              <a:t> </a:t>
            </a:r>
            <a:r>
              <a:rPr lang="en-US" sz="1900" dirty="0">
                <a:latin typeface="+mn-lt"/>
              </a:rPr>
              <a:t>as</a:t>
            </a:r>
            <a:r>
              <a:rPr lang="en-US" sz="1900" dirty="0">
                <a:latin typeface="+mn-lt"/>
                <a:cs typeface="Times New Roman" pitchFamily="18" charset="0"/>
              </a:rPr>
              <a:t> </a:t>
            </a:r>
            <a:r>
              <a:rPr lang="en-US" sz="1900" dirty="0">
                <a:latin typeface="+mn-lt"/>
              </a:rPr>
              <a:t>basis</a:t>
            </a:r>
            <a:r>
              <a:rPr lang="en-US" sz="1900" dirty="0">
                <a:latin typeface="+mn-lt"/>
                <a:cs typeface="Times New Roman" pitchFamily="18" charset="0"/>
              </a:rPr>
              <a:t> </a:t>
            </a:r>
            <a:r>
              <a:rPr lang="en-US" sz="1900" dirty="0">
                <a:latin typeface="+mn-lt"/>
              </a:rPr>
              <a:t>for</a:t>
            </a:r>
            <a:r>
              <a:rPr lang="en-US" sz="1900" dirty="0">
                <a:latin typeface="+mn-lt"/>
                <a:cs typeface="Times New Roman" pitchFamily="18" charset="0"/>
              </a:rPr>
              <a:t> </a:t>
            </a:r>
            <a:r>
              <a:rPr lang="en-US" sz="1900" dirty="0">
                <a:latin typeface="+mn-lt"/>
              </a:rPr>
              <a:t>next</a:t>
            </a:r>
            <a:r>
              <a:rPr lang="en-US" sz="1900" dirty="0">
                <a:latin typeface="+mn-lt"/>
                <a:cs typeface="Times New Roman" pitchFamily="18" charset="0"/>
              </a:rPr>
              <a:t> </a:t>
            </a:r>
            <a:r>
              <a:rPr lang="en-US" sz="1900" dirty="0">
                <a:latin typeface="+mn-lt"/>
              </a:rPr>
              <a:t>iteration</a:t>
            </a:r>
            <a:r>
              <a:rPr lang="en-US" sz="1900" dirty="0">
                <a:latin typeface="+mn-lt"/>
                <a:cs typeface="Times New Roman" pitchFamily="18" charset="0"/>
              </a:rPr>
              <a:t> </a:t>
            </a:r>
            <a:r>
              <a:rPr lang="en-US" sz="1900" dirty="0">
                <a:latin typeface="+mn-lt"/>
              </a:rPr>
              <a:t>of</a:t>
            </a:r>
            <a:r>
              <a:rPr lang="en-US" sz="1900" dirty="0">
                <a:latin typeface="+mn-lt"/>
                <a:cs typeface="Times New Roman" pitchFamily="18" charset="0"/>
              </a:rPr>
              <a:t> </a:t>
            </a:r>
            <a:r>
              <a:rPr lang="en-US" sz="1900" dirty="0">
                <a:latin typeface="+mn-lt"/>
              </a:rPr>
              <a:t>the</a:t>
            </a:r>
            <a:r>
              <a:rPr lang="en-US" sz="1900" dirty="0">
                <a:latin typeface="+mn-lt"/>
                <a:cs typeface="Times New Roman" pitchFamily="18" charset="0"/>
              </a:rPr>
              <a:t> </a:t>
            </a:r>
            <a:r>
              <a:rPr lang="en-US" sz="1900" dirty="0">
                <a:latin typeface="+mn-lt"/>
              </a:rPr>
              <a:t>design</a:t>
            </a:r>
          </a:p>
          <a:p>
            <a:pPr marL="722313" lvl="1" indent="-342900">
              <a:spcBef>
                <a:spcPts val="225"/>
              </a:spcBef>
              <a:buClr>
                <a:schemeClr val="tx1"/>
              </a:buClr>
              <a:buSzPct val="130000"/>
              <a:buFont typeface="Wingdings" pitchFamily="2" charset="2"/>
              <a:buChar char="§"/>
            </a:pPr>
            <a:r>
              <a:rPr lang="en-US" sz="1900" dirty="0">
                <a:latin typeface="+mn-lt"/>
              </a:rPr>
              <a:t>danger</a:t>
            </a:r>
            <a:r>
              <a:rPr lang="en-US" sz="1900" dirty="0">
                <a:latin typeface="+mn-lt"/>
                <a:cs typeface="Times New Roman" pitchFamily="18" charset="0"/>
              </a:rPr>
              <a:t> </a:t>
            </a:r>
            <a:r>
              <a:rPr lang="en-US" sz="1900" dirty="0">
                <a:latin typeface="+mn-lt"/>
              </a:rPr>
              <a:t>of</a:t>
            </a:r>
            <a:r>
              <a:rPr lang="en-US" sz="1900" dirty="0">
                <a:latin typeface="+mn-lt"/>
                <a:cs typeface="Times New Roman" pitchFamily="18" charset="0"/>
              </a:rPr>
              <a:t> </a:t>
            </a:r>
            <a:r>
              <a:rPr lang="en-US" sz="1900" dirty="0">
                <a:latin typeface="+mn-lt"/>
              </a:rPr>
              <a:t>initially</a:t>
            </a:r>
            <a:r>
              <a:rPr lang="en-US" sz="1900" dirty="0">
                <a:latin typeface="+mn-lt"/>
                <a:cs typeface="Times New Roman" pitchFamily="18" charset="0"/>
              </a:rPr>
              <a:t> </a:t>
            </a:r>
            <a:r>
              <a:rPr lang="en-US" sz="1900" dirty="0">
                <a:latin typeface="+mn-lt"/>
              </a:rPr>
              <a:t>bad</a:t>
            </a:r>
            <a:r>
              <a:rPr lang="en-US" sz="1900" dirty="0">
                <a:latin typeface="+mn-lt"/>
                <a:cs typeface="Times New Roman" pitchFamily="18" charset="0"/>
              </a:rPr>
              <a:t> </a:t>
            </a:r>
            <a:r>
              <a:rPr lang="en-US" sz="1900" dirty="0">
                <a:latin typeface="+mn-lt"/>
              </a:rPr>
              <a:t>designs</a:t>
            </a:r>
            <a:r>
              <a:rPr lang="en-US" sz="1900" dirty="0">
                <a:latin typeface="+mn-lt"/>
                <a:cs typeface="Times New Roman" pitchFamily="18" charset="0"/>
              </a:rPr>
              <a:t> </a:t>
            </a:r>
            <a:r>
              <a:rPr lang="en-US" sz="1900" dirty="0">
                <a:latin typeface="+mn-lt"/>
              </a:rPr>
              <a:t>persisting</a:t>
            </a:r>
          </a:p>
          <a:p>
            <a:pPr marL="722313" lvl="1" indent="-342900">
              <a:spcBef>
                <a:spcPts val="225"/>
              </a:spcBef>
              <a:buClr>
                <a:schemeClr val="tx1"/>
              </a:buClr>
              <a:buSzPct val="130000"/>
              <a:buFont typeface="Wingdings" pitchFamily="2" charset="2"/>
              <a:buChar char="§"/>
            </a:pPr>
            <a:r>
              <a:rPr lang="en-US" sz="1900" spc="-15" dirty="0">
                <a:latin typeface="Arial"/>
                <a:cs typeface="Arial"/>
              </a:rPr>
              <a:t>T</a:t>
            </a:r>
            <a:r>
              <a:rPr lang="en-US" sz="1900" spc="-10" dirty="0">
                <a:latin typeface="Arial"/>
                <a:cs typeface="Arial"/>
              </a:rPr>
              <a:t>h</a:t>
            </a:r>
            <a:r>
              <a:rPr lang="en-US" sz="1900" spc="-15" dirty="0">
                <a:latin typeface="Arial"/>
                <a:cs typeface="Arial"/>
              </a:rPr>
              <a:t>e</a:t>
            </a:r>
            <a:r>
              <a:rPr lang="en-US" sz="1900" spc="50" dirty="0">
                <a:latin typeface="Times New Roman"/>
                <a:cs typeface="Times New Roman"/>
              </a:rPr>
              <a:t> </a:t>
            </a:r>
            <a:r>
              <a:rPr lang="en-US" sz="1900" spc="-20" dirty="0">
                <a:latin typeface="Arial"/>
                <a:cs typeface="Arial"/>
              </a:rPr>
              <a:t>p</a:t>
            </a:r>
            <a:r>
              <a:rPr lang="en-US" sz="1900" spc="-5" dirty="0">
                <a:latin typeface="Arial"/>
                <a:cs typeface="Arial"/>
              </a:rPr>
              <a:t>r</a:t>
            </a:r>
            <a:r>
              <a:rPr lang="en-US" sz="1900" spc="-15" dirty="0">
                <a:latin typeface="Arial"/>
                <a:cs typeface="Arial"/>
              </a:rPr>
              <a:t>ototy</a:t>
            </a:r>
            <a:r>
              <a:rPr lang="en-US" sz="1900" spc="-10" dirty="0">
                <a:latin typeface="Arial"/>
                <a:cs typeface="Arial"/>
              </a:rPr>
              <a:t>p</a:t>
            </a:r>
            <a:r>
              <a:rPr lang="en-US" sz="1900" spc="-15" dirty="0">
                <a:latin typeface="Arial"/>
                <a:cs typeface="Arial"/>
              </a:rPr>
              <a:t>e</a:t>
            </a:r>
            <a:r>
              <a:rPr lang="en-US" sz="1900" spc="75" dirty="0">
                <a:latin typeface="Times New Roman"/>
                <a:cs typeface="Times New Roman"/>
              </a:rPr>
              <a:t> </a:t>
            </a:r>
            <a:r>
              <a:rPr lang="en-US" sz="1900" spc="-20" dirty="0">
                <a:latin typeface="Arial"/>
                <a:cs typeface="Arial"/>
              </a:rPr>
              <a:t>even</a:t>
            </a:r>
            <a:r>
              <a:rPr lang="en-US" sz="1900" spc="-10" dirty="0">
                <a:latin typeface="Arial"/>
                <a:cs typeface="Arial"/>
              </a:rPr>
              <a:t>t</a:t>
            </a:r>
            <a:r>
              <a:rPr lang="en-US" sz="1900" spc="-15" dirty="0">
                <a:latin typeface="Arial"/>
                <a:cs typeface="Arial"/>
              </a:rPr>
              <a:t>uall</a:t>
            </a:r>
            <a:r>
              <a:rPr lang="en-US" sz="1900" spc="-10" dirty="0">
                <a:latin typeface="Arial"/>
                <a:cs typeface="Arial"/>
              </a:rPr>
              <a:t>y</a:t>
            </a:r>
            <a:r>
              <a:rPr lang="en-US" sz="1900" spc="85" dirty="0">
                <a:latin typeface="Times New Roman"/>
                <a:cs typeface="Times New Roman"/>
              </a:rPr>
              <a:t> </a:t>
            </a:r>
            <a:r>
              <a:rPr lang="en-US" sz="1900" spc="-20" dirty="0">
                <a:latin typeface="Arial"/>
                <a:cs typeface="Arial"/>
              </a:rPr>
              <a:t>beco</a:t>
            </a:r>
            <a:r>
              <a:rPr lang="en-US" sz="1900" spc="-15" dirty="0">
                <a:latin typeface="Arial"/>
                <a:cs typeface="Arial"/>
              </a:rPr>
              <a:t>m</a:t>
            </a:r>
            <a:r>
              <a:rPr lang="en-US" sz="1900" spc="-20" dirty="0">
                <a:latin typeface="Arial"/>
                <a:cs typeface="Arial"/>
              </a:rPr>
              <a:t>e</a:t>
            </a:r>
            <a:r>
              <a:rPr lang="en-US" sz="1900" spc="-10" dirty="0">
                <a:latin typeface="Arial"/>
                <a:cs typeface="Arial"/>
              </a:rPr>
              <a:t>s</a:t>
            </a:r>
            <a:r>
              <a:rPr lang="en-US" sz="1900" spc="85" dirty="0">
                <a:latin typeface="Times New Roman"/>
                <a:cs typeface="Times New Roman"/>
              </a:rPr>
              <a:t> </a:t>
            </a:r>
            <a:r>
              <a:rPr lang="en-US" sz="1900" spc="-10" dirty="0">
                <a:latin typeface="Arial"/>
                <a:cs typeface="Arial"/>
              </a:rPr>
              <a:t>the</a:t>
            </a:r>
            <a:r>
              <a:rPr lang="en-US" sz="1900" spc="50" dirty="0">
                <a:latin typeface="Times New Roman"/>
                <a:cs typeface="Times New Roman"/>
              </a:rPr>
              <a:t> </a:t>
            </a:r>
            <a:r>
              <a:rPr lang="en-US" sz="1900" spc="-10" dirty="0">
                <a:latin typeface="Arial"/>
                <a:cs typeface="Arial"/>
              </a:rPr>
              <a:t>pro</a:t>
            </a:r>
            <a:r>
              <a:rPr lang="en-US" sz="1900" spc="-15" dirty="0">
                <a:latin typeface="Arial"/>
                <a:cs typeface="Arial"/>
              </a:rPr>
              <a:t>duct</a:t>
            </a:r>
            <a:endParaRPr lang="en-US" sz="1900" dirty="0">
              <a:latin typeface="Arial"/>
              <a:cs typeface="Arial"/>
            </a:endParaRPr>
          </a:p>
        </p:txBody>
      </p:sp>
    </p:spTree>
    <p:extLst>
      <p:ext uri="{BB962C8B-B14F-4D97-AF65-F5344CB8AC3E}">
        <p14:creationId xmlns:p14="http://schemas.microsoft.com/office/powerpoint/2010/main" val="417507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tIns="455923" rtlCol="0">
            <a:normAutofit/>
          </a:bodyPr>
          <a:lstStyle/>
          <a:p>
            <a:pPr marL="12700" eaLnBrk="1" fontAlgn="auto" hangingPunct="1">
              <a:spcBef>
                <a:spcPts val="0"/>
              </a:spcBef>
              <a:spcAft>
                <a:spcPts val="0"/>
              </a:spcAft>
              <a:defRPr/>
            </a:pPr>
            <a:r>
              <a:rPr sz="3200" b="1" spc="-20" dirty="0">
                <a:latin typeface="+mn-lt"/>
              </a:rPr>
              <a:t>T</a:t>
            </a:r>
            <a:r>
              <a:rPr sz="3200" b="1" spc="-5" dirty="0">
                <a:latin typeface="+mn-lt"/>
              </a:rPr>
              <a:t>H</a:t>
            </a:r>
            <a:r>
              <a:rPr sz="3200" b="1" spc="-10" dirty="0">
                <a:latin typeface="+mn-lt"/>
              </a:rPr>
              <a:t>R</a:t>
            </a:r>
            <a:r>
              <a:rPr sz="3200" b="1" spc="-20" dirty="0">
                <a:latin typeface="+mn-lt"/>
              </a:rPr>
              <a:t>O</a:t>
            </a:r>
            <a:r>
              <a:rPr sz="3200" b="1" spc="-65" dirty="0">
                <a:latin typeface="+mn-lt"/>
              </a:rPr>
              <a:t>W</a:t>
            </a:r>
            <a:r>
              <a:rPr sz="3200" b="1" spc="-5" dirty="0">
                <a:latin typeface="+mn-lt"/>
              </a:rPr>
              <a:t>-</a:t>
            </a:r>
            <a:r>
              <a:rPr sz="3200" b="1" spc="-110" dirty="0">
                <a:latin typeface="+mn-lt"/>
              </a:rPr>
              <a:t>AW</a:t>
            </a:r>
            <a:r>
              <a:rPr sz="3200" b="1" spc="-204" dirty="0">
                <a:latin typeface="+mn-lt"/>
              </a:rPr>
              <a:t>A</a:t>
            </a:r>
            <a:r>
              <a:rPr sz="3200" b="1" spc="-20" dirty="0">
                <a:latin typeface="+mn-lt"/>
              </a:rPr>
              <a:t>Y</a:t>
            </a:r>
            <a:r>
              <a:rPr sz="3200" b="1" spc="190" dirty="0">
                <a:latin typeface="+mn-lt"/>
                <a:cs typeface="Times New Roman"/>
              </a:rPr>
              <a:t> </a:t>
            </a:r>
            <a:r>
              <a:rPr sz="3200" b="1" spc="-20" dirty="0">
                <a:latin typeface="+mn-lt"/>
              </a:rPr>
              <a:t>P</a:t>
            </a:r>
            <a:r>
              <a:rPr sz="3200" b="1" spc="-25" dirty="0">
                <a:latin typeface="+mn-lt"/>
              </a:rPr>
              <a:t>RO</a:t>
            </a:r>
            <a:r>
              <a:rPr sz="3200" b="1" spc="-65" dirty="0">
                <a:latin typeface="+mn-lt"/>
              </a:rPr>
              <a:t>T</a:t>
            </a:r>
            <a:r>
              <a:rPr sz="3200" b="1" spc="-20" dirty="0">
                <a:latin typeface="+mn-lt"/>
              </a:rPr>
              <a:t>OTY</a:t>
            </a:r>
            <a:r>
              <a:rPr sz="3200" b="1" spc="-30" dirty="0">
                <a:latin typeface="+mn-lt"/>
              </a:rPr>
              <a:t>P</a:t>
            </a:r>
            <a:r>
              <a:rPr sz="3200" b="1" spc="-15" dirty="0">
                <a:latin typeface="+mn-lt"/>
              </a:rPr>
              <a:t>ING</a:t>
            </a:r>
            <a:endParaRPr sz="3200" b="1" dirty="0">
              <a:latin typeface="+mn-lt"/>
              <a:cs typeface="Times New Roman"/>
            </a:endParaRPr>
          </a:p>
        </p:txBody>
      </p:sp>
      <p:sp>
        <p:nvSpPr>
          <p:cNvPr id="33796" name="object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lvl1pPr marL="254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695DB06B-9E5D-40B6-A87D-479C09014D95}" type="slidenum">
              <a:rPr lang="en-US" smtClean="0">
                <a:solidFill>
                  <a:schemeClr val="bg1"/>
                </a:solidFill>
                <a:latin typeface="Arial" charset="0"/>
                <a:cs typeface="Arial" charset="0"/>
              </a:rPr>
              <a:pPr fontAlgn="base">
                <a:spcBef>
                  <a:spcPct val="0"/>
                </a:spcBef>
                <a:spcAft>
                  <a:spcPct val="0"/>
                </a:spcAft>
              </a:pPr>
              <a:t>24</a:t>
            </a:fld>
            <a:endParaRPr lang="en-US">
              <a:solidFill>
                <a:schemeClr val="bg1"/>
              </a:solidFill>
              <a:latin typeface="Arial" charset="0"/>
              <a:cs typeface="Arial" charset="0"/>
            </a:endParaRPr>
          </a:p>
        </p:txBody>
      </p:sp>
      <p:sp>
        <p:nvSpPr>
          <p:cNvPr id="33795" name="object 3"/>
          <p:cNvSpPr>
            <a:spLocks noChangeArrowheads="1"/>
          </p:cNvSpPr>
          <p:nvPr/>
        </p:nvSpPr>
        <p:spPr bwMode="auto">
          <a:xfrm>
            <a:off x="1219200" y="1828800"/>
            <a:ext cx="8768862" cy="4027488"/>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Tree>
    <p:extLst>
      <p:ext uri="{BB962C8B-B14F-4D97-AF65-F5344CB8AC3E}">
        <p14:creationId xmlns:p14="http://schemas.microsoft.com/office/powerpoint/2010/main" val="12441102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p:txBody>
          <a:bodyPr tIns="455923" rtlCol="0">
            <a:normAutofit/>
          </a:bodyPr>
          <a:lstStyle/>
          <a:p>
            <a:pPr marL="12700" eaLnBrk="1" fontAlgn="auto" hangingPunct="1">
              <a:spcBef>
                <a:spcPts val="0"/>
              </a:spcBef>
              <a:spcAft>
                <a:spcPts val="0"/>
              </a:spcAft>
              <a:defRPr/>
            </a:pPr>
            <a:r>
              <a:rPr sz="3200" b="1" spc="-20" dirty="0">
                <a:latin typeface="+mn-lt"/>
              </a:rPr>
              <a:t>EVOL</a:t>
            </a:r>
            <a:r>
              <a:rPr sz="3200" b="1" spc="-10" dirty="0">
                <a:latin typeface="+mn-lt"/>
              </a:rPr>
              <a:t>U</a:t>
            </a:r>
            <a:r>
              <a:rPr sz="3200" b="1" spc="-15" dirty="0">
                <a:latin typeface="+mn-lt"/>
              </a:rPr>
              <a:t>TIONA</a:t>
            </a:r>
            <a:r>
              <a:rPr sz="3200" b="1" spc="-80" dirty="0">
                <a:latin typeface="+mn-lt"/>
              </a:rPr>
              <a:t>R</a:t>
            </a:r>
            <a:r>
              <a:rPr sz="3200" b="1" spc="-20" dirty="0">
                <a:latin typeface="+mn-lt"/>
              </a:rPr>
              <a:t>Y</a:t>
            </a:r>
            <a:r>
              <a:rPr sz="3200" b="1" spc="200" dirty="0">
                <a:latin typeface="+mn-lt"/>
                <a:cs typeface="Times New Roman"/>
              </a:rPr>
              <a:t> </a:t>
            </a:r>
            <a:r>
              <a:rPr sz="3200" b="1" spc="-20" dirty="0">
                <a:latin typeface="+mn-lt"/>
              </a:rPr>
              <a:t>P</a:t>
            </a:r>
            <a:r>
              <a:rPr sz="3200" b="1" spc="-25" dirty="0">
                <a:latin typeface="+mn-lt"/>
              </a:rPr>
              <a:t>RO</a:t>
            </a:r>
            <a:r>
              <a:rPr sz="3200" b="1" spc="-65" dirty="0">
                <a:latin typeface="+mn-lt"/>
              </a:rPr>
              <a:t>T</a:t>
            </a:r>
            <a:r>
              <a:rPr sz="3200" b="1" spc="-20" dirty="0">
                <a:latin typeface="+mn-lt"/>
              </a:rPr>
              <a:t>OTY</a:t>
            </a:r>
            <a:r>
              <a:rPr sz="3200" b="1" spc="-30" dirty="0">
                <a:latin typeface="+mn-lt"/>
              </a:rPr>
              <a:t>P</a:t>
            </a:r>
            <a:r>
              <a:rPr sz="3200" b="1" spc="-15" dirty="0">
                <a:latin typeface="+mn-lt"/>
              </a:rPr>
              <a:t>ING</a:t>
            </a:r>
            <a:endParaRPr sz="3200" b="1" dirty="0">
              <a:latin typeface="+mn-lt"/>
              <a:cs typeface="Times New Roman"/>
            </a:endParaRPr>
          </a:p>
        </p:txBody>
      </p:sp>
      <p:sp>
        <p:nvSpPr>
          <p:cNvPr id="35844" name="object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numCol="1" anchor="t" anchorCtr="0" compatLnSpc="1">
            <a:prstTxWarp prst="textNoShape">
              <a:avLst/>
            </a:prstTxWarp>
          </a:bodyPr>
          <a:lstStyle>
            <a:lvl1pPr marL="254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97CDDA61-6310-4405-907B-02C968E84DB5}" type="slidenum">
              <a:rPr lang="en-US" smtClean="0">
                <a:solidFill>
                  <a:schemeClr val="bg1"/>
                </a:solidFill>
                <a:latin typeface="Arial" charset="0"/>
                <a:cs typeface="Arial" charset="0"/>
              </a:rPr>
              <a:pPr fontAlgn="base">
                <a:spcBef>
                  <a:spcPct val="0"/>
                </a:spcBef>
                <a:spcAft>
                  <a:spcPct val="0"/>
                </a:spcAft>
              </a:pPr>
              <a:t>25</a:t>
            </a:fld>
            <a:endParaRPr lang="en-US">
              <a:solidFill>
                <a:schemeClr val="bg1"/>
              </a:solidFill>
              <a:latin typeface="Arial" charset="0"/>
              <a:cs typeface="Arial" charset="0"/>
            </a:endParaRPr>
          </a:p>
        </p:txBody>
      </p:sp>
      <p:sp>
        <p:nvSpPr>
          <p:cNvPr id="35843" name="object 3"/>
          <p:cNvSpPr>
            <a:spLocks noChangeArrowheads="1"/>
          </p:cNvSpPr>
          <p:nvPr/>
        </p:nvSpPr>
        <p:spPr bwMode="auto">
          <a:xfrm>
            <a:off x="1314940" y="1752601"/>
            <a:ext cx="8382000" cy="4168775"/>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Tree>
    <p:extLst>
      <p:ext uri="{BB962C8B-B14F-4D97-AF65-F5344CB8AC3E}">
        <p14:creationId xmlns:p14="http://schemas.microsoft.com/office/powerpoint/2010/main" val="1562212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965" y="576606"/>
            <a:ext cx="7772400" cy="1143000"/>
          </a:xfrm>
        </p:spPr>
        <p:txBody>
          <a:bodyPr/>
          <a:lstStyle/>
          <a:p>
            <a:r>
              <a:rPr lang="en-US" sz="3600" b="1" dirty="0">
                <a:latin typeface="+mn-lt"/>
              </a:rPr>
              <a:t>Agile methods</a:t>
            </a:r>
          </a:p>
        </p:txBody>
      </p:sp>
      <p:sp>
        <p:nvSpPr>
          <p:cNvPr id="3" name="Content Placeholder 2"/>
          <p:cNvSpPr>
            <a:spLocks noGrp="1"/>
          </p:cNvSpPr>
          <p:nvPr>
            <p:ph idx="1"/>
          </p:nvPr>
        </p:nvSpPr>
        <p:spPr>
          <a:xfrm>
            <a:off x="1194062" y="1897929"/>
            <a:ext cx="10551736" cy="4114800"/>
          </a:xfrm>
        </p:spPr>
        <p:txBody>
          <a:bodyPr/>
          <a:lstStyle/>
          <a:p>
            <a:pPr marL="0" indent="0" algn="just">
              <a:buNone/>
            </a:pPr>
            <a:r>
              <a:rPr lang="en-US" sz="2400" dirty="0"/>
              <a:t>Dissatisfaction with the overheads involved in software design methods of the 1980s and 1990s led to the creation of agile methods. </a:t>
            </a:r>
          </a:p>
          <a:p>
            <a:pPr marL="0" indent="0" algn="just">
              <a:buNone/>
            </a:pPr>
            <a:r>
              <a:rPr lang="en-US" sz="2400" dirty="0"/>
              <a:t>These methods:</a:t>
            </a:r>
          </a:p>
          <a:p>
            <a:pPr lvl="1" algn="just">
              <a:buFont typeface="Wingdings" panose="05000000000000000000" pitchFamily="2" charset="2"/>
              <a:buChar char="q"/>
            </a:pPr>
            <a:r>
              <a:rPr lang="en-US" sz="1600" dirty="0"/>
              <a:t>Focus on the code rather than the design</a:t>
            </a:r>
          </a:p>
          <a:p>
            <a:pPr lvl="1" algn="just">
              <a:buFont typeface="Wingdings" panose="05000000000000000000" pitchFamily="2" charset="2"/>
              <a:buChar char="q"/>
            </a:pPr>
            <a:r>
              <a:rPr lang="en-US" sz="1600" dirty="0"/>
              <a:t>Are based on an iterative approach to software development</a:t>
            </a:r>
          </a:p>
          <a:p>
            <a:pPr lvl="1" algn="just">
              <a:buFont typeface="Wingdings" panose="05000000000000000000" pitchFamily="2" charset="2"/>
              <a:buChar char="q"/>
            </a:pPr>
            <a:r>
              <a:rPr lang="en-US" sz="1600" dirty="0"/>
              <a:t>Are intended to deliver working software quickly and evolve this quickly to meet changing requirements.</a:t>
            </a:r>
          </a:p>
          <a:p>
            <a:pPr algn="just">
              <a:buFont typeface="Wingdings" panose="05000000000000000000" pitchFamily="2" charset="2"/>
              <a:buChar char="q"/>
            </a:pPr>
            <a:endParaRPr lang="en-US" sz="1400" dirty="0"/>
          </a:p>
        </p:txBody>
      </p:sp>
    </p:spTree>
    <p:extLst>
      <p:ext uri="{BB962C8B-B14F-4D97-AF65-F5344CB8AC3E}">
        <p14:creationId xmlns:p14="http://schemas.microsoft.com/office/powerpoint/2010/main" val="1320791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Agile manifesto </a:t>
            </a:r>
          </a:p>
        </p:txBody>
      </p:sp>
      <p:sp>
        <p:nvSpPr>
          <p:cNvPr id="3" name="Content Placeholder 2"/>
          <p:cNvSpPr>
            <a:spLocks noGrp="1"/>
          </p:cNvSpPr>
          <p:nvPr>
            <p:ph idx="1"/>
          </p:nvPr>
        </p:nvSpPr>
        <p:spPr>
          <a:xfrm>
            <a:off x="999240" y="1905000"/>
            <a:ext cx="10354559" cy="4114800"/>
          </a:xfrm>
        </p:spPr>
        <p:txBody>
          <a:bodyPr/>
          <a:lstStyle/>
          <a:p>
            <a:pPr marL="0" indent="0">
              <a:buNone/>
            </a:pPr>
            <a:r>
              <a:rPr lang="en-US" sz="2000" i="1" dirty="0"/>
              <a:t>We are finding better ways of developing software by doing it and helping others do it. Through this work we have come to value:</a:t>
            </a:r>
          </a:p>
          <a:p>
            <a:pPr marL="0" indent="0">
              <a:buNone/>
            </a:pPr>
            <a:endParaRPr lang="en-GB" sz="2000" dirty="0"/>
          </a:p>
          <a:p>
            <a:pPr lvl="1">
              <a:buFont typeface="Wingdings" panose="05000000000000000000" pitchFamily="2" charset="2"/>
              <a:buChar char="q"/>
            </a:pPr>
            <a:r>
              <a:rPr lang="en-US" sz="2000" b="1" i="1" dirty="0"/>
              <a:t>Individuals and interactions </a:t>
            </a:r>
            <a:r>
              <a:rPr lang="en-US" sz="2000" i="1" dirty="0"/>
              <a:t>over processes</a:t>
            </a:r>
          </a:p>
          <a:p>
            <a:pPr lvl="1">
              <a:buFont typeface="Wingdings" panose="05000000000000000000" pitchFamily="2" charset="2"/>
              <a:buChar char="q"/>
            </a:pPr>
            <a:r>
              <a:rPr lang="en-US" sz="2000" b="1" i="1" dirty="0"/>
              <a:t>Working software</a:t>
            </a:r>
            <a:r>
              <a:rPr lang="en-US" sz="2000" i="1" dirty="0"/>
              <a:t> over comprehensive documentation </a:t>
            </a:r>
          </a:p>
          <a:p>
            <a:pPr lvl="1">
              <a:buFont typeface="Wingdings" panose="05000000000000000000" pitchFamily="2" charset="2"/>
              <a:buChar char="q"/>
            </a:pPr>
            <a:r>
              <a:rPr lang="en-US" sz="2000" b="1" i="1" dirty="0"/>
              <a:t>Customer collaboration</a:t>
            </a:r>
            <a:r>
              <a:rPr lang="en-US" sz="2000" i="1" dirty="0"/>
              <a:t> over contract negotiation</a:t>
            </a:r>
          </a:p>
          <a:p>
            <a:pPr lvl="1">
              <a:buFont typeface="Wingdings" panose="05000000000000000000" pitchFamily="2" charset="2"/>
              <a:buChar char="q"/>
            </a:pPr>
            <a:r>
              <a:rPr lang="en-US" sz="2000" b="1" i="1" dirty="0"/>
              <a:t>Responding to change</a:t>
            </a:r>
            <a:r>
              <a:rPr lang="en-US" sz="2000" i="1" dirty="0"/>
              <a:t> over following a plan </a:t>
            </a:r>
            <a:endParaRPr lang="en-GB" sz="2000" dirty="0"/>
          </a:p>
          <a:p>
            <a:pPr>
              <a:buFont typeface="Wingdings" panose="05000000000000000000" pitchFamily="2" charset="2"/>
              <a:buChar char="q"/>
            </a:pPr>
            <a:endParaRPr lang="en-US" sz="2000" dirty="0"/>
          </a:p>
        </p:txBody>
      </p:sp>
    </p:spTree>
    <p:extLst>
      <p:ext uri="{BB962C8B-B14F-4D97-AF65-F5344CB8AC3E}">
        <p14:creationId xmlns:p14="http://schemas.microsoft.com/office/powerpoint/2010/main" val="658971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212" y="638502"/>
            <a:ext cx="10515600" cy="1325563"/>
          </a:xfrm>
        </p:spPr>
        <p:txBody>
          <a:bodyPr>
            <a:normAutofit/>
          </a:bodyPr>
          <a:lstStyle/>
          <a:p>
            <a:r>
              <a:rPr lang="en-GB" sz="3600" b="1" dirty="0">
                <a:latin typeface="+mn-lt"/>
              </a:rPr>
              <a:t>Incremental development </a:t>
            </a:r>
            <a:br>
              <a:rPr lang="en-GB" sz="3600" b="1" dirty="0">
                <a:latin typeface="+mn-lt"/>
              </a:rPr>
            </a:br>
            <a:endParaRPr lang="en-US" sz="3600" b="1" dirty="0">
              <a:latin typeface="+mn-lt"/>
            </a:endParaRPr>
          </a:p>
        </p:txBody>
      </p:sp>
      <p:pic>
        <p:nvPicPr>
          <p:cNvPr id="4" name="Picture 3" descr="2.2 Incremental-dev.eps"/>
          <p:cNvPicPr>
            <a:picLocks noChangeAspect="1"/>
          </p:cNvPicPr>
          <p:nvPr/>
        </p:nvPicPr>
        <p:blipFill>
          <a:blip r:embed="rId2" cstate="print"/>
          <a:stretch>
            <a:fillRect/>
          </a:stretch>
        </p:blipFill>
        <p:spPr>
          <a:xfrm>
            <a:off x="1943492" y="1690688"/>
            <a:ext cx="7517728" cy="4051928"/>
          </a:xfrm>
          <a:prstGeom prst="rect">
            <a:avLst/>
          </a:prstGeom>
        </p:spPr>
      </p:pic>
    </p:spTree>
    <p:extLst>
      <p:ext uri="{BB962C8B-B14F-4D97-AF65-F5344CB8AC3E}">
        <p14:creationId xmlns:p14="http://schemas.microsoft.com/office/powerpoint/2010/main" val="1294355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5787" y="286560"/>
            <a:ext cx="7772400" cy="1143000"/>
          </a:xfrm>
        </p:spPr>
        <p:txBody>
          <a:bodyPr/>
          <a:lstStyle/>
          <a:p>
            <a:r>
              <a:rPr lang="en-US" b="1" dirty="0"/>
              <a:t>The principles of agile methods</a:t>
            </a:r>
            <a:r>
              <a:rPr lang="en-GB" b="1" dirty="0"/>
              <a:t> </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2360452337"/>
              </p:ext>
            </p:extLst>
          </p:nvPr>
        </p:nvGraphicFramePr>
        <p:xfrm>
          <a:off x="1272619" y="1429560"/>
          <a:ext cx="9973558" cy="4684509"/>
        </p:xfrm>
        <a:graphic>
          <a:graphicData uri="http://schemas.openxmlformats.org/drawingml/2006/table">
            <a:tbl>
              <a:tblPr/>
              <a:tblGrid>
                <a:gridCol w="2774072">
                  <a:extLst>
                    <a:ext uri="{9D8B030D-6E8A-4147-A177-3AD203B41FA5}">
                      <a16:colId xmlns:a16="http://schemas.microsoft.com/office/drawing/2014/main" val="20000"/>
                    </a:ext>
                  </a:extLst>
                </a:gridCol>
                <a:gridCol w="7047853">
                  <a:extLst>
                    <a:ext uri="{9D8B030D-6E8A-4147-A177-3AD203B41FA5}">
                      <a16:colId xmlns:a16="http://schemas.microsoft.com/office/drawing/2014/main" val="20001"/>
                    </a:ext>
                  </a:extLst>
                </a:gridCol>
                <a:gridCol w="151633">
                  <a:extLst>
                    <a:ext uri="{9D8B030D-6E8A-4147-A177-3AD203B41FA5}">
                      <a16:colId xmlns:a16="http://schemas.microsoft.com/office/drawing/2014/main" val="20002"/>
                    </a:ext>
                  </a:extLst>
                </a:gridCol>
              </a:tblGrid>
              <a:tr h="40315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Principle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1083542">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 involvement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Customers should be closely involved throughout the development process. Their role is to provide and prioritize new system requirements and to evaluate the iterations of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1"/>
                  </a:ext>
                </a:extLst>
              </a:tr>
              <a:tr h="729977">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Incremental delivery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software is developed in increments with the customer specifying the requirements to be included in each increment.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2"/>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People not process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The skills of the development team should be recognized and exploited. Team members should be left to develop their own ways of working without prescriptive processes.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hMerge="1">
                  <a:txBody>
                    <a:bodyPr/>
                    <a:lstStyle/>
                    <a:p>
                      <a:endParaRPr lang="en-US"/>
                    </a:p>
                  </a:txBody>
                  <a:tcPr/>
                </a:tc>
                <a:extLst>
                  <a:ext uri="{0D108BD9-81ED-4DB2-BD59-A6C34878D82A}">
                    <a16:rowId xmlns:a16="http://schemas.microsoft.com/office/drawing/2014/main" val="10003"/>
                  </a:ext>
                </a:extLst>
              </a:tr>
              <a:tr h="680364">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Embrace change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Expect the system requirements to change and so design the system to accommodate these changes.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hMerge="1">
                  <a:txBody>
                    <a:bodyPr/>
                    <a:lstStyle/>
                    <a:p>
                      <a:endParaRPr lang="en-US"/>
                    </a:p>
                  </a:txBody>
                  <a:tcPr/>
                </a:tc>
                <a:extLst>
                  <a:ext uri="{0D108BD9-81ED-4DB2-BD59-A6C34878D82A}">
                    <a16:rowId xmlns:a16="http://schemas.microsoft.com/office/drawing/2014/main" val="10004"/>
                  </a:ext>
                </a:extLst>
              </a:tr>
              <a:tr h="88195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Maintain simplicity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Focus on simplicity in both the software being developed and in the development process. Wherever possible, actively work to eliminate complexity from the system.</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100" b="0" i="0" u="none" strike="noStrike" cap="none" normalizeH="0" baseline="0" dirty="0">
                          <a:ln>
                            <a:noFill/>
                          </a:ln>
                          <a:solidFill>
                            <a:srgbClr val="000000"/>
                          </a:solidFill>
                          <a:effectLst/>
                          <a:latin typeface="Times New Roman" charset="0"/>
                          <a:ea typeface="Calibri" charset="0"/>
                          <a:cs typeface="Times New Roman" charset="0"/>
                        </a:rPr>
                        <a:t> </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78028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mn-lt"/>
              </a:rPr>
              <a:t>Problems with agile methods</a:t>
            </a:r>
          </a:p>
        </p:txBody>
      </p:sp>
      <p:sp>
        <p:nvSpPr>
          <p:cNvPr id="5" name="Rectangle 3"/>
          <p:cNvSpPr>
            <a:spLocks noGrp="1" noChangeArrowheads="1"/>
          </p:cNvSpPr>
          <p:nvPr>
            <p:ph idx="1"/>
          </p:nvPr>
        </p:nvSpPr>
        <p:spPr>
          <a:xfrm>
            <a:off x="998456" y="1599414"/>
            <a:ext cx="10973586" cy="4114800"/>
          </a:xfrm>
        </p:spPr>
        <p:txBody>
          <a:bodyPr/>
          <a:lstStyle/>
          <a:p>
            <a:pPr algn="just">
              <a:lnSpc>
                <a:spcPct val="150000"/>
              </a:lnSpc>
              <a:buFont typeface="Wingdings" panose="05000000000000000000" pitchFamily="2" charset="2"/>
              <a:buChar char="q"/>
            </a:pPr>
            <a:r>
              <a:rPr lang="en-US" sz="2000" dirty="0"/>
              <a:t>It can be difficult to keep the interest of customers who are involved in the process.</a:t>
            </a:r>
          </a:p>
          <a:p>
            <a:pPr algn="just">
              <a:lnSpc>
                <a:spcPct val="150000"/>
              </a:lnSpc>
              <a:buFont typeface="Wingdings" panose="05000000000000000000" pitchFamily="2" charset="2"/>
              <a:buChar char="q"/>
            </a:pPr>
            <a:r>
              <a:rPr lang="en-US" sz="2000" dirty="0"/>
              <a:t>Team members may be unsuited to the intense involvement that characterizes agile methods.</a:t>
            </a:r>
          </a:p>
          <a:p>
            <a:pPr algn="just">
              <a:lnSpc>
                <a:spcPct val="150000"/>
              </a:lnSpc>
              <a:buFont typeface="Wingdings" panose="05000000000000000000" pitchFamily="2" charset="2"/>
              <a:buChar char="q"/>
            </a:pPr>
            <a:r>
              <a:rPr lang="en-US" sz="2000" dirty="0"/>
              <a:t>Prioritizing changes can be difficult where there are multiple stakeholders.</a:t>
            </a:r>
          </a:p>
          <a:p>
            <a:pPr algn="just">
              <a:lnSpc>
                <a:spcPct val="150000"/>
              </a:lnSpc>
              <a:buFont typeface="Wingdings" panose="05000000000000000000" pitchFamily="2" charset="2"/>
              <a:buChar char="q"/>
            </a:pPr>
            <a:r>
              <a:rPr lang="en-US" sz="2000" dirty="0"/>
              <a:t>Maintaining simplicity requires extra work.</a:t>
            </a:r>
          </a:p>
          <a:p>
            <a:pPr>
              <a:lnSpc>
                <a:spcPct val="150000"/>
              </a:lnSpc>
              <a:buFont typeface="Wingdings" pitchFamily="2" charset="2"/>
              <a:buChar char="q"/>
            </a:pPr>
            <a:r>
              <a:rPr lang="en-US" sz="2000" dirty="0"/>
              <a:t>It is difficult for organizations to move to a working model in which processes are informal and defined by development teams.</a:t>
            </a:r>
          </a:p>
        </p:txBody>
      </p:sp>
    </p:spTree>
    <p:extLst>
      <p:ext uri="{BB962C8B-B14F-4D97-AF65-F5344CB8AC3E}">
        <p14:creationId xmlns:p14="http://schemas.microsoft.com/office/powerpoint/2010/main" val="118280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mn-lt"/>
              </a:rPr>
              <a:t>Agile methods and software maintenance</a:t>
            </a:r>
          </a:p>
        </p:txBody>
      </p:sp>
      <p:sp>
        <p:nvSpPr>
          <p:cNvPr id="3" name="Content Placeholder 2"/>
          <p:cNvSpPr>
            <a:spLocks noGrp="1"/>
          </p:cNvSpPr>
          <p:nvPr>
            <p:ph idx="1"/>
          </p:nvPr>
        </p:nvSpPr>
        <p:spPr>
          <a:xfrm>
            <a:off x="960748" y="1608841"/>
            <a:ext cx="10700208" cy="4114800"/>
          </a:xfrm>
        </p:spPr>
        <p:txBody>
          <a:bodyPr/>
          <a:lstStyle/>
          <a:p>
            <a:pPr marL="0" indent="0" algn="just">
              <a:buNone/>
            </a:pPr>
            <a:r>
              <a:rPr lang="en-US" sz="2000" dirty="0"/>
              <a:t>Most organizations spend more on maintaining existing software than they do on new software development. So, if agile methods are to be successful, they have to support maintenance as well as original development.</a:t>
            </a:r>
          </a:p>
          <a:p>
            <a:pPr marL="0" indent="0" algn="just">
              <a:buNone/>
            </a:pPr>
            <a:r>
              <a:rPr lang="en-US" sz="2000" dirty="0"/>
              <a:t>Two key issues:</a:t>
            </a:r>
          </a:p>
          <a:p>
            <a:pPr lvl="1" algn="just">
              <a:buFont typeface="Wingdings" panose="05000000000000000000" pitchFamily="2" charset="2"/>
              <a:buChar char="q"/>
            </a:pPr>
            <a:r>
              <a:rPr lang="en-GB" sz="2000" dirty="0"/>
              <a:t>Are systems that are developed using an agile approach maintainable, given the emphasis in the development process of minimizing formal documentation?</a:t>
            </a:r>
          </a:p>
          <a:p>
            <a:pPr lvl="1" algn="just">
              <a:buFont typeface="Wingdings" panose="05000000000000000000" pitchFamily="2" charset="2"/>
              <a:buChar char="q"/>
            </a:pPr>
            <a:endParaRPr lang="en-GB" sz="2000" dirty="0"/>
          </a:p>
          <a:p>
            <a:pPr lvl="1" algn="just">
              <a:buFont typeface="Wingdings" panose="05000000000000000000" pitchFamily="2" charset="2"/>
              <a:buChar char="q"/>
            </a:pPr>
            <a:r>
              <a:rPr lang="en-GB" sz="2000" dirty="0"/>
              <a:t>Can agile methods be used effectively for evolving a system in response to customer change requests?</a:t>
            </a:r>
          </a:p>
          <a:p>
            <a:pPr algn="just">
              <a:buFont typeface="Wingdings" panose="05000000000000000000" pitchFamily="2" charset="2"/>
              <a:buChar char="q"/>
            </a:pPr>
            <a:endParaRPr lang="en-US" sz="2000" dirty="0"/>
          </a:p>
        </p:txBody>
      </p:sp>
    </p:spTree>
    <p:extLst>
      <p:ext uri="{BB962C8B-B14F-4D97-AF65-F5344CB8AC3E}">
        <p14:creationId xmlns:p14="http://schemas.microsoft.com/office/powerpoint/2010/main" val="398390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mn-lt"/>
              </a:rPr>
              <a:t>Agile project management</a:t>
            </a:r>
          </a:p>
        </p:txBody>
      </p:sp>
      <p:sp>
        <p:nvSpPr>
          <p:cNvPr id="3" name="Content Placeholder 2"/>
          <p:cNvSpPr>
            <a:spLocks noGrp="1"/>
          </p:cNvSpPr>
          <p:nvPr>
            <p:ph idx="1"/>
          </p:nvPr>
        </p:nvSpPr>
        <p:spPr>
          <a:xfrm>
            <a:off x="998456" y="1684551"/>
            <a:ext cx="10973586" cy="4114800"/>
          </a:xfrm>
        </p:spPr>
        <p:txBody>
          <a:bodyPr>
            <a:normAutofit/>
          </a:bodyPr>
          <a:lstStyle/>
          <a:p>
            <a:pPr marL="0" indent="0" algn="just">
              <a:buNone/>
            </a:pPr>
            <a:r>
              <a:rPr lang="en-GB" dirty="0"/>
              <a:t>The principal responsibility of software project managers </a:t>
            </a:r>
          </a:p>
          <a:p>
            <a:pPr lvl="1" algn="just">
              <a:buFont typeface="Wingdings" panose="05000000000000000000" pitchFamily="2" charset="2"/>
              <a:buChar char="q"/>
            </a:pPr>
            <a:r>
              <a:rPr lang="en-GB" sz="1600" dirty="0"/>
              <a:t>to manage the project so that the software is delivered on time and within the planned budget for the project. </a:t>
            </a:r>
          </a:p>
          <a:p>
            <a:pPr marL="0" indent="0" algn="just">
              <a:buNone/>
            </a:pPr>
            <a:r>
              <a:rPr lang="en-GB" dirty="0"/>
              <a:t>The standard approach to project management is plan-driven. </a:t>
            </a:r>
          </a:p>
          <a:p>
            <a:pPr lvl="1" algn="just">
              <a:buFont typeface="Wingdings" panose="05000000000000000000" pitchFamily="2" charset="2"/>
              <a:buChar char="q"/>
            </a:pPr>
            <a:r>
              <a:rPr lang="en-GB" sz="1600" dirty="0"/>
              <a:t>Managers draw up a plan for the project showing what should be delivered, when it should be delivered and who will work on the development of the project deliverables. </a:t>
            </a:r>
          </a:p>
          <a:p>
            <a:pPr marL="0" indent="0" algn="just">
              <a:buNone/>
            </a:pPr>
            <a:r>
              <a:rPr lang="en-GB" dirty="0"/>
              <a:t>Agile project management requires a different approach, which is adapted to incremental development and the particular strengths of agile methods. </a:t>
            </a:r>
            <a:endParaRPr lang="en-US" dirty="0"/>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929226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4464" y="452487"/>
            <a:ext cx="7772400" cy="1143000"/>
          </a:xfrm>
        </p:spPr>
        <p:txBody>
          <a:bodyPr/>
          <a:lstStyle/>
          <a:p>
            <a:r>
              <a:rPr lang="en-US" b="1" dirty="0"/>
              <a:t>Scrum</a:t>
            </a:r>
          </a:p>
        </p:txBody>
      </p:sp>
      <p:sp>
        <p:nvSpPr>
          <p:cNvPr id="3" name="Content Placeholder 2"/>
          <p:cNvSpPr>
            <a:spLocks noGrp="1"/>
          </p:cNvSpPr>
          <p:nvPr>
            <p:ph idx="1"/>
          </p:nvPr>
        </p:nvSpPr>
        <p:spPr>
          <a:xfrm>
            <a:off x="954463" y="1595486"/>
            <a:ext cx="10612225" cy="4616777"/>
          </a:xfrm>
        </p:spPr>
        <p:txBody>
          <a:bodyPr>
            <a:normAutofit/>
          </a:bodyPr>
          <a:lstStyle/>
          <a:p>
            <a:pPr algn="just">
              <a:buFont typeface="Wingdings" panose="05000000000000000000" pitchFamily="2" charset="2"/>
              <a:buChar char="q"/>
            </a:pPr>
            <a:r>
              <a:rPr lang="en-GB" sz="2400" dirty="0"/>
              <a:t>The Scrum approach is a general agile method that  focus is on managing iterative development.</a:t>
            </a:r>
          </a:p>
          <a:p>
            <a:pPr algn="just">
              <a:buFont typeface="Wingdings" panose="05000000000000000000" pitchFamily="2" charset="2"/>
              <a:buChar char="q"/>
            </a:pPr>
            <a:r>
              <a:rPr lang="en-GB" sz="2400" dirty="0"/>
              <a:t>There are three phases in Scrum. </a:t>
            </a:r>
          </a:p>
          <a:p>
            <a:pPr lvl="1" algn="just">
              <a:buFont typeface="Wingdings" panose="05000000000000000000" pitchFamily="2" charset="2"/>
              <a:buChar char="q"/>
            </a:pPr>
            <a:r>
              <a:rPr lang="en-GB" dirty="0"/>
              <a:t>The initial phase is an outline planning phase where you establish the general objectives for the project and design the software architecture. </a:t>
            </a:r>
          </a:p>
          <a:p>
            <a:pPr lvl="1" algn="just">
              <a:buFont typeface="Wingdings" panose="05000000000000000000" pitchFamily="2" charset="2"/>
              <a:buChar char="q"/>
            </a:pPr>
            <a:r>
              <a:rPr lang="en-GB" dirty="0"/>
              <a:t>This is followed by a series of </a:t>
            </a:r>
            <a:r>
              <a:rPr lang="en-GB" b="1" dirty="0"/>
              <a:t>sprint cycles</a:t>
            </a:r>
            <a:r>
              <a:rPr lang="en-GB" dirty="0"/>
              <a:t>, where each cycle develops an increment of the system. </a:t>
            </a:r>
          </a:p>
          <a:p>
            <a:pPr lvl="1" algn="just">
              <a:buFont typeface="Wingdings" panose="05000000000000000000" pitchFamily="2" charset="2"/>
              <a:buChar char="q"/>
            </a:pPr>
            <a:r>
              <a:rPr lang="en-GB" dirty="0"/>
              <a:t>The project closure phase wraps up the project, completes required documentation such as user manuals and assesses the lessons learned from the project.</a:t>
            </a:r>
          </a:p>
          <a:p>
            <a:pPr algn="just">
              <a:buFont typeface="Wingdings" panose="05000000000000000000" pitchFamily="2" charset="2"/>
              <a:buChar char="q"/>
            </a:pPr>
            <a:endParaRPr lang="en-US" dirty="0"/>
          </a:p>
        </p:txBody>
      </p:sp>
    </p:spTree>
    <p:extLst>
      <p:ext uri="{BB962C8B-B14F-4D97-AF65-F5344CB8AC3E}">
        <p14:creationId xmlns:p14="http://schemas.microsoft.com/office/powerpoint/2010/main" val="2522897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838053" y="513673"/>
            <a:ext cx="8448948" cy="5429926"/>
          </a:xfrm>
          <a:prstGeom prst="rect">
            <a:avLst/>
          </a:prstGeom>
        </p:spPr>
      </p:pic>
      <p:sp>
        <p:nvSpPr>
          <p:cNvPr id="7" name="Rectangle 6"/>
          <p:cNvSpPr/>
          <p:nvPr/>
        </p:nvSpPr>
        <p:spPr bwMode="auto">
          <a:xfrm>
            <a:off x="2971800" y="5867401"/>
            <a:ext cx="4419600" cy="68580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GB" sz="2000" dirty="0"/>
              <a:t>list of work to be done on the project.</a:t>
            </a:r>
            <a:endParaRPr lang="en-US" sz="2000" dirty="0">
              <a:solidFill>
                <a:schemeClr val="tx1"/>
              </a:solidFill>
              <a:latin typeface="Times New Roman" panose="02020603050405020304" pitchFamily="18" charset="0"/>
            </a:endParaRPr>
          </a:p>
        </p:txBody>
      </p:sp>
      <p:sp>
        <p:nvSpPr>
          <p:cNvPr id="9" name="Rectangular Callout 8"/>
          <p:cNvSpPr/>
          <p:nvPr/>
        </p:nvSpPr>
        <p:spPr bwMode="auto">
          <a:xfrm>
            <a:off x="5715000" y="76200"/>
            <a:ext cx="4953000" cy="838200"/>
          </a:xfrm>
          <a:prstGeom prst="wedgeRectCallou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GB" dirty="0"/>
              <a:t>This means that everyone on the team knows what is going on and, if problems arise, can re-plan short-term work to cope with them</a:t>
            </a:r>
            <a:endParaRPr lang="en-US" dirty="0">
              <a:solidFill>
                <a:schemeClr val="tx1"/>
              </a:solidFill>
              <a:latin typeface="Times New Roman" panose="02020603050405020304" pitchFamily="18" charset="0"/>
            </a:endParaRPr>
          </a:p>
        </p:txBody>
      </p:sp>
      <p:sp>
        <p:nvSpPr>
          <p:cNvPr id="12" name="Rectangle 11"/>
          <p:cNvSpPr/>
          <p:nvPr/>
        </p:nvSpPr>
        <p:spPr bwMode="auto">
          <a:xfrm>
            <a:off x="1524000" y="1828801"/>
            <a:ext cx="4419600" cy="91440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just"/>
            <a:r>
              <a:rPr lang="en-US" i="1" dirty="0"/>
              <a:t>Sprints</a:t>
            </a:r>
            <a:r>
              <a:rPr lang="en-US" dirty="0"/>
              <a:t>—consist of work units that are required to achieve a requirement defined</a:t>
            </a:r>
          </a:p>
          <a:p>
            <a:pPr algn="just"/>
            <a:r>
              <a:rPr lang="en-US" dirty="0"/>
              <a:t>in the backlog</a:t>
            </a:r>
            <a:endParaRPr lang="en-US"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83644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969" y="396711"/>
            <a:ext cx="7772400" cy="1143000"/>
          </a:xfrm>
        </p:spPr>
        <p:txBody>
          <a:bodyPr/>
          <a:lstStyle/>
          <a:p>
            <a:r>
              <a:rPr lang="en-US" b="1" dirty="0"/>
              <a:t>Scrum roles</a:t>
            </a:r>
          </a:p>
        </p:txBody>
      </p:sp>
      <p:sp>
        <p:nvSpPr>
          <p:cNvPr id="4" name="Content Placeholder 3"/>
          <p:cNvSpPr>
            <a:spLocks noGrp="1"/>
          </p:cNvSpPr>
          <p:nvPr>
            <p:ph idx="1"/>
          </p:nvPr>
        </p:nvSpPr>
        <p:spPr>
          <a:xfrm>
            <a:off x="1011810" y="1622982"/>
            <a:ext cx="10799976" cy="2691506"/>
          </a:xfrm>
          <a:prstGeom prst="rect">
            <a:avLst/>
          </a:prstGeom>
        </p:spPr>
        <p:txBody>
          <a:bodyPr wrap="square">
            <a:spAutoFit/>
          </a:bodyPr>
          <a:lstStyle/>
          <a:p>
            <a:pPr algn="just">
              <a:buFont typeface="Wingdings" panose="05000000000000000000" pitchFamily="2" charset="2"/>
              <a:buChar char="q"/>
            </a:pPr>
            <a:r>
              <a:rPr lang="en-GB" sz="1600" b="1" dirty="0"/>
              <a:t>Product owner</a:t>
            </a:r>
          </a:p>
          <a:p>
            <a:pPr lvl="1" algn="just">
              <a:buFont typeface="Wingdings" panose="05000000000000000000" pitchFamily="2" charset="2"/>
              <a:buChar char="q"/>
            </a:pPr>
            <a:r>
              <a:rPr lang="en-US" sz="1400" dirty="0"/>
              <a:t>ensures that the team delivers value to the business. The Product Owner writes customer-centric items (typically user stories), ranks and prioritizes them, and adds them to the product backlog.</a:t>
            </a:r>
            <a:r>
              <a:rPr lang="en-GB" sz="1400" dirty="0"/>
              <a:t> </a:t>
            </a:r>
          </a:p>
          <a:p>
            <a:pPr algn="just">
              <a:buFont typeface="Wingdings" panose="05000000000000000000" pitchFamily="2" charset="2"/>
              <a:buChar char="q"/>
            </a:pPr>
            <a:r>
              <a:rPr lang="en-GB" sz="1600" b="1" dirty="0"/>
              <a:t>Scrum master</a:t>
            </a:r>
            <a:r>
              <a:rPr lang="en-GB" sz="1600" dirty="0"/>
              <a:t> </a:t>
            </a:r>
          </a:p>
          <a:p>
            <a:pPr lvl="1" algn="just">
              <a:buFont typeface="Wingdings" panose="05000000000000000000" pitchFamily="2" charset="2"/>
              <a:buChar char="q"/>
            </a:pPr>
            <a:r>
              <a:rPr lang="en-GB" sz="1400" dirty="0"/>
              <a:t>protects the development team from external distractions.</a:t>
            </a:r>
          </a:p>
          <a:p>
            <a:pPr lvl="1" algn="just">
              <a:buFont typeface="Wingdings" panose="05000000000000000000" pitchFamily="2" charset="2"/>
              <a:buChar char="q"/>
            </a:pPr>
            <a:r>
              <a:rPr lang="en-GB" sz="1400" dirty="0"/>
              <a:t>a facilitator who arranges daily meetings, tracks the backlog of work to be done, records decisions, measures progress against the backlog and communicates with customers and management outside of the team.</a:t>
            </a:r>
          </a:p>
          <a:p>
            <a:pPr algn="just">
              <a:buFont typeface="Wingdings" panose="05000000000000000000" pitchFamily="2" charset="2"/>
              <a:buChar char="q"/>
            </a:pPr>
            <a:r>
              <a:rPr lang="en-GB" sz="1600" b="1" dirty="0"/>
              <a:t>Development team</a:t>
            </a:r>
          </a:p>
          <a:p>
            <a:pPr lvl="1" algn="just">
              <a:buFont typeface="Wingdings" panose="05000000000000000000" pitchFamily="2" charset="2"/>
              <a:buChar char="q"/>
            </a:pPr>
            <a:r>
              <a:rPr lang="en-US" sz="1400" dirty="0"/>
              <a:t>Consists of 3 to 9 software engineers from cross functional area</a:t>
            </a:r>
          </a:p>
          <a:p>
            <a:pPr lvl="1" algn="just">
              <a:buFont typeface="Wingdings" panose="05000000000000000000" pitchFamily="2" charset="2"/>
              <a:buChar char="q"/>
            </a:pPr>
            <a:r>
              <a:rPr lang="en-US" sz="1400" dirty="0"/>
              <a:t>Include architects, programmers, analysts, QA experts, testers, and UI designers. </a:t>
            </a:r>
          </a:p>
        </p:txBody>
      </p:sp>
    </p:spTree>
    <p:extLst>
      <p:ext uri="{BB962C8B-B14F-4D97-AF65-F5344CB8AC3E}">
        <p14:creationId xmlns:p14="http://schemas.microsoft.com/office/powerpoint/2010/main" val="370339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 calcmode="lin" valueType="num">
                                      <p:cBhvr additive="base">
                                        <p:cTn id="3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 calcmode="lin" valueType="num">
                                      <p:cBhvr additive="base">
                                        <p:cTn id="3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 calcmode="lin" valueType="num">
                                      <p:cBhvr additive="base">
                                        <p:cTn id="3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98FE1-3881-31A6-6C8E-B5C35A28199A}"/>
              </a:ext>
            </a:extLst>
          </p:cNvPr>
          <p:cNvSpPr>
            <a:spLocks noGrp="1"/>
          </p:cNvSpPr>
          <p:nvPr>
            <p:ph type="title"/>
          </p:nvPr>
        </p:nvSpPr>
        <p:spPr/>
        <p:txBody>
          <a:bodyPr/>
          <a:lstStyle/>
          <a:p>
            <a:r>
              <a:rPr lang="en-US" b="1" dirty="0"/>
              <a:t>Kanban</a:t>
            </a:r>
            <a:endParaRPr lang="en-PK" b="1" dirty="0"/>
          </a:p>
        </p:txBody>
      </p:sp>
      <p:sp>
        <p:nvSpPr>
          <p:cNvPr id="3" name="Content Placeholder 2">
            <a:extLst>
              <a:ext uri="{FF2B5EF4-FFF2-40B4-BE49-F238E27FC236}">
                <a16:creationId xmlns:a16="http://schemas.microsoft.com/office/drawing/2014/main" id="{4A9408EA-BEDB-E64B-45E7-6624185E6ECC}"/>
              </a:ext>
            </a:extLst>
          </p:cNvPr>
          <p:cNvSpPr>
            <a:spLocks noGrp="1"/>
          </p:cNvSpPr>
          <p:nvPr>
            <p:ph idx="1"/>
          </p:nvPr>
        </p:nvSpPr>
        <p:spPr/>
        <p:txBody>
          <a:bodyPr/>
          <a:lstStyle/>
          <a:p>
            <a:r>
              <a:rPr lang="en-US" dirty="0"/>
              <a:t>https://www.youtube.com/watch?v=LnwStpJycXk</a:t>
            </a:r>
            <a:endParaRPr lang="en-PK" dirty="0"/>
          </a:p>
        </p:txBody>
      </p:sp>
    </p:spTree>
    <p:extLst>
      <p:ext uri="{BB962C8B-B14F-4D97-AF65-F5344CB8AC3E}">
        <p14:creationId xmlns:p14="http://schemas.microsoft.com/office/powerpoint/2010/main" val="3241359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15359F-6458-4CA1-9068-F31C93C42AFE}"/>
              </a:ext>
            </a:extLst>
          </p:cNvPr>
          <p:cNvSpPr txBox="1"/>
          <p:nvPr/>
        </p:nvSpPr>
        <p:spPr>
          <a:xfrm>
            <a:off x="3048657" y="197346"/>
            <a:ext cx="6097314" cy="6555641"/>
          </a:xfrm>
          <a:prstGeom prst="rect">
            <a:avLst/>
          </a:prstGeom>
          <a:noFill/>
        </p:spPr>
        <p:txBody>
          <a:bodyPr wrap="square">
            <a:spAutoFit/>
          </a:bodyPr>
          <a:lstStyle/>
          <a:p>
            <a:r>
              <a:rPr lang="en-US" dirty="0"/>
              <a:t>Scrum </a:t>
            </a:r>
            <a:r>
              <a:rPr lang="en-US" dirty="0" err="1"/>
              <a:t>Ke</a:t>
            </a:r>
            <a:r>
              <a:rPr lang="en-US" dirty="0"/>
              <a:t> Core Elements</a:t>
            </a:r>
          </a:p>
          <a:p>
            <a:r>
              <a:rPr lang="en-US" sz="2400" b="1" dirty="0">
                <a:solidFill>
                  <a:srgbClr val="FF0000"/>
                </a:solidFill>
              </a:rPr>
              <a:t>1. Roles</a:t>
            </a:r>
          </a:p>
          <a:p>
            <a:pPr>
              <a:buFont typeface="Arial" panose="020B0604020202020204" pitchFamily="34" charset="0"/>
              <a:buChar char="•"/>
            </a:pPr>
            <a:r>
              <a:rPr lang="en-US" b="1" dirty="0"/>
              <a:t>Product Owner:</a:t>
            </a:r>
            <a:r>
              <a:rPr lang="en-US" dirty="0"/>
              <a:t> Product vision define </a:t>
            </a:r>
            <a:r>
              <a:rPr lang="en-US" dirty="0" err="1"/>
              <a:t>karta</a:t>
            </a:r>
            <a:r>
              <a:rPr lang="en-US" dirty="0"/>
              <a:t> </a:t>
            </a:r>
            <a:r>
              <a:rPr lang="en-US" dirty="0" err="1"/>
              <a:t>hai</a:t>
            </a:r>
            <a:r>
              <a:rPr lang="en-US" dirty="0"/>
              <a:t>, backlog maintain </a:t>
            </a:r>
            <a:r>
              <a:rPr lang="en-US" dirty="0" err="1"/>
              <a:t>karta</a:t>
            </a:r>
            <a:r>
              <a:rPr lang="en-US" dirty="0"/>
              <a:t> </a:t>
            </a:r>
            <a:r>
              <a:rPr lang="en-US" dirty="0" err="1"/>
              <a:t>hai</a:t>
            </a:r>
            <a:r>
              <a:rPr lang="en-US" dirty="0"/>
              <a:t>, aur ensure </a:t>
            </a:r>
            <a:r>
              <a:rPr lang="en-US" dirty="0" err="1"/>
              <a:t>karta</a:t>
            </a:r>
            <a:r>
              <a:rPr lang="en-US" dirty="0"/>
              <a:t> </a:t>
            </a:r>
            <a:r>
              <a:rPr lang="en-US" dirty="0" err="1"/>
              <a:t>hai</a:t>
            </a:r>
            <a:r>
              <a:rPr lang="en-US" dirty="0"/>
              <a:t> ki team right priorities par </a:t>
            </a:r>
            <a:r>
              <a:rPr lang="en-US" dirty="0" err="1"/>
              <a:t>kaam</a:t>
            </a:r>
            <a:r>
              <a:rPr lang="en-US" dirty="0"/>
              <a:t> </a:t>
            </a:r>
            <a:r>
              <a:rPr lang="en-US" dirty="0" err="1"/>
              <a:t>kare</a:t>
            </a:r>
            <a:r>
              <a:rPr lang="en-US" dirty="0"/>
              <a:t>.</a:t>
            </a:r>
          </a:p>
          <a:p>
            <a:pPr>
              <a:buFont typeface="Arial" panose="020B0604020202020204" pitchFamily="34" charset="0"/>
              <a:buChar char="•"/>
            </a:pPr>
            <a:r>
              <a:rPr lang="en-US" b="1" dirty="0"/>
              <a:t>Scrum Master:</a:t>
            </a:r>
            <a:r>
              <a:rPr lang="en-US" dirty="0"/>
              <a:t> Team ko Scrum practices follow </a:t>
            </a:r>
            <a:r>
              <a:rPr lang="en-US" dirty="0" err="1"/>
              <a:t>karne</a:t>
            </a:r>
            <a:r>
              <a:rPr lang="en-US" dirty="0"/>
              <a:t> </a:t>
            </a:r>
            <a:r>
              <a:rPr lang="en-US" dirty="0" err="1"/>
              <a:t>mein</a:t>
            </a:r>
            <a:r>
              <a:rPr lang="en-US" dirty="0"/>
              <a:t> guide </a:t>
            </a:r>
            <a:r>
              <a:rPr lang="en-US" dirty="0" err="1"/>
              <a:t>karta</a:t>
            </a:r>
            <a:r>
              <a:rPr lang="en-US" dirty="0"/>
              <a:t> </a:t>
            </a:r>
            <a:r>
              <a:rPr lang="en-US" dirty="0" err="1"/>
              <a:t>hai</a:t>
            </a:r>
            <a:r>
              <a:rPr lang="en-US" dirty="0"/>
              <a:t>, obstacles remove </a:t>
            </a:r>
            <a:r>
              <a:rPr lang="en-US" dirty="0" err="1"/>
              <a:t>karta</a:t>
            </a:r>
            <a:r>
              <a:rPr lang="en-US" dirty="0"/>
              <a:t> </a:t>
            </a:r>
            <a:r>
              <a:rPr lang="en-US" dirty="0" err="1"/>
              <a:t>hai</a:t>
            </a:r>
            <a:r>
              <a:rPr lang="en-US" dirty="0"/>
              <a:t>.</a:t>
            </a:r>
          </a:p>
          <a:p>
            <a:pPr>
              <a:buFont typeface="Arial" panose="020B0604020202020204" pitchFamily="34" charset="0"/>
              <a:buChar char="•"/>
            </a:pPr>
            <a:r>
              <a:rPr lang="en-US" b="1" dirty="0"/>
              <a:t>Development Team:</a:t>
            </a:r>
            <a:r>
              <a:rPr lang="en-US" dirty="0"/>
              <a:t> Cross-functional members jo actual product build </a:t>
            </a:r>
            <a:r>
              <a:rPr lang="en-US" dirty="0" err="1"/>
              <a:t>karte</a:t>
            </a:r>
            <a:r>
              <a:rPr lang="en-US" dirty="0"/>
              <a:t> </a:t>
            </a:r>
            <a:r>
              <a:rPr lang="en-US" dirty="0" err="1"/>
              <a:t>hain</a:t>
            </a:r>
            <a:r>
              <a:rPr lang="en-US" dirty="0"/>
              <a:t>.</a:t>
            </a:r>
          </a:p>
          <a:p>
            <a:r>
              <a:rPr lang="en-US" dirty="0">
                <a:solidFill>
                  <a:srgbClr val="FF0000"/>
                </a:solidFill>
              </a:rPr>
              <a:t>2. </a:t>
            </a:r>
            <a:r>
              <a:rPr lang="en-US" b="1" dirty="0">
                <a:solidFill>
                  <a:srgbClr val="FF0000"/>
                </a:solidFill>
              </a:rPr>
              <a:t>Artifacts</a:t>
            </a:r>
            <a:endParaRPr lang="en-US" dirty="0">
              <a:solidFill>
                <a:srgbClr val="FF0000"/>
              </a:solidFill>
            </a:endParaRPr>
          </a:p>
          <a:p>
            <a:pPr>
              <a:buFont typeface="Arial" panose="020B0604020202020204" pitchFamily="34" charset="0"/>
              <a:buChar char="•"/>
            </a:pPr>
            <a:r>
              <a:rPr lang="en-US" b="1" dirty="0"/>
              <a:t>Product Backlog:</a:t>
            </a:r>
            <a:r>
              <a:rPr lang="en-US" dirty="0"/>
              <a:t> Features, tasks aur requirements ki prioritized list.</a:t>
            </a:r>
          </a:p>
          <a:p>
            <a:pPr>
              <a:buFont typeface="Arial" panose="020B0604020202020204" pitchFamily="34" charset="0"/>
              <a:buChar char="•"/>
            </a:pPr>
            <a:r>
              <a:rPr lang="en-US" b="1" dirty="0"/>
              <a:t>Sprint Backlog:</a:t>
            </a:r>
            <a:r>
              <a:rPr lang="en-US" dirty="0"/>
              <a:t> Current sprint </a:t>
            </a:r>
            <a:r>
              <a:rPr lang="en-US" dirty="0" err="1"/>
              <a:t>ke</a:t>
            </a:r>
            <a:r>
              <a:rPr lang="en-US" dirty="0"/>
              <a:t> </a:t>
            </a:r>
            <a:r>
              <a:rPr lang="en-US" dirty="0" err="1"/>
              <a:t>liye</a:t>
            </a:r>
            <a:r>
              <a:rPr lang="en-US" dirty="0"/>
              <a:t> selected items.</a:t>
            </a:r>
          </a:p>
          <a:p>
            <a:pPr>
              <a:buFont typeface="Arial" panose="020B0604020202020204" pitchFamily="34" charset="0"/>
              <a:buChar char="•"/>
            </a:pPr>
            <a:r>
              <a:rPr lang="en-US" b="1" dirty="0"/>
              <a:t>Increment:</a:t>
            </a:r>
            <a:r>
              <a:rPr lang="en-US" dirty="0"/>
              <a:t> Har sprint </a:t>
            </a:r>
            <a:r>
              <a:rPr lang="en-US" dirty="0" err="1"/>
              <a:t>ke</a:t>
            </a:r>
            <a:r>
              <a:rPr lang="en-US" dirty="0"/>
              <a:t> end par deliver hone </a:t>
            </a:r>
            <a:r>
              <a:rPr lang="en-US" dirty="0" err="1"/>
              <a:t>wala</a:t>
            </a:r>
            <a:r>
              <a:rPr lang="en-US" dirty="0"/>
              <a:t> working product.</a:t>
            </a:r>
          </a:p>
          <a:p>
            <a:r>
              <a:rPr lang="en-US" b="1" u="sng" dirty="0">
                <a:solidFill>
                  <a:srgbClr val="FF0000"/>
                </a:solidFill>
              </a:rPr>
              <a:t>3. Events (Ceremonies)</a:t>
            </a:r>
          </a:p>
          <a:p>
            <a:pPr>
              <a:buFont typeface="Arial" panose="020B0604020202020204" pitchFamily="34" charset="0"/>
              <a:buChar char="•"/>
            </a:pPr>
            <a:r>
              <a:rPr lang="en-US" b="1" dirty="0"/>
              <a:t>Sprint Planning:</a:t>
            </a:r>
            <a:r>
              <a:rPr lang="en-US" dirty="0"/>
              <a:t> Decide </a:t>
            </a:r>
            <a:r>
              <a:rPr lang="en-US" dirty="0" err="1"/>
              <a:t>karna</a:t>
            </a:r>
            <a:r>
              <a:rPr lang="en-US" dirty="0"/>
              <a:t> ki sprint </a:t>
            </a:r>
            <a:r>
              <a:rPr lang="en-US" dirty="0" err="1"/>
              <a:t>mein</a:t>
            </a:r>
            <a:r>
              <a:rPr lang="en-US" dirty="0"/>
              <a:t> </a:t>
            </a:r>
            <a:r>
              <a:rPr lang="en-US" dirty="0" err="1"/>
              <a:t>kya</a:t>
            </a:r>
            <a:r>
              <a:rPr lang="en-US" dirty="0"/>
              <a:t> deliver </a:t>
            </a:r>
            <a:r>
              <a:rPr lang="en-US" dirty="0" err="1"/>
              <a:t>hoga</a:t>
            </a:r>
            <a:r>
              <a:rPr lang="en-US" dirty="0"/>
              <a:t>.</a:t>
            </a:r>
          </a:p>
          <a:p>
            <a:pPr>
              <a:buFont typeface="Arial" panose="020B0604020202020204" pitchFamily="34" charset="0"/>
              <a:buChar char="•"/>
            </a:pPr>
            <a:r>
              <a:rPr lang="en-US" b="1" dirty="0"/>
              <a:t>Daily Scrum (Stand-up):</a:t>
            </a:r>
            <a:r>
              <a:rPr lang="en-US" dirty="0"/>
              <a:t> 15-minute meeting </a:t>
            </a:r>
            <a:r>
              <a:rPr lang="en-US" dirty="0" err="1"/>
              <a:t>jisme</a:t>
            </a:r>
            <a:r>
              <a:rPr lang="en-US" dirty="0"/>
              <a:t> team progress discuss </a:t>
            </a:r>
            <a:r>
              <a:rPr lang="en-US" dirty="0" err="1"/>
              <a:t>karti</a:t>
            </a:r>
            <a:r>
              <a:rPr lang="en-US" dirty="0"/>
              <a:t> </a:t>
            </a:r>
            <a:r>
              <a:rPr lang="en-US" dirty="0" err="1"/>
              <a:t>hai</a:t>
            </a:r>
            <a:r>
              <a:rPr lang="en-US" dirty="0"/>
              <a:t>.</a:t>
            </a:r>
          </a:p>
          <a:p>
            <a:pPr>
              <a:buFont typeface="Arial" panose="020B0604020202020204" pitchFamily="34" charset="0"/>
              <a:buChar char="•"/>
            </a:pPr>
            <a:r>
              <a:rPr lang="en-US" b="1" dirty="0"/>
              <a:t>Sprint Review:</a:t>
            </a:r>
            <a:r>
              <a:rPr lang="en-US" dirty="0"/>
              <a:t> Sprint </a:t>
            </a:r>
            <a:r>
              <a:rPr lang="en-US" dirty="0" err="1"/>
              <a:t>ke</a:t>
            </a:r>
            <a:r>
              <a:rPr lang="en-US" dirty="0"/>
              <a:t> end par stakeholders ko increment </a:t>
            </a:r>
            <a:r>
              <a:rPr lang="en-US" dirty="0" err="1"/>
              <a:t>dikhaya</a:t>
            </a:r>
            <a:r>
              <a:rPr lang="en-US" dirty="0"/>
              <a:t> </a:t>
            </a:r>
            <a:r>
              <a:rPr lang="en-US" dirty="0" err="1"/>
              <a:t>jata</a:t>
            </a:r>
            <a:r>
              <a:rPr lang="en-US" dirty="0"/>
              <a:t> </a:t>
            </a:r>
            <a:r>
              <a:rPr lang="en-US" dirty="0" err="1"/>
              <a:t>hai</a:t>
            </a:r>
            <a:r>
              <a:rPr lang="en-US" dirty="0"/>
              <a:t>.</a:t>
            </a:r>
          </a:p>
          <a:p>
            <a:pPr>
              <a:buFont typeface="Arial" panose="020B0604020202020204" pitchFamily="34" charset="0"/>
              <a:buChar char="•"/>
            </a:pPr>
            <a:r>
              <a:rPr lang="en-US" b="1" dirty="0"/>
              <a:t>Sprint Retrospective:</a:t>
            </a:r>
            <a:r>
              <a:rPr lang="en-US" dirty="0"/>
              <a:t> Team </a:t>
            </a:r>
            <a:r>
              <a:rPr lang="en-US" dirty="0" err="1"/>
              <a:t>apne</a:t>
            </a:r>
            <a:r>
              <a:rPr lang="en-US" dirty="0"/>
              <a:t> process ko improve </a:t>
            </a:r>
            <a:r>
              <a:rPr lang="en-US" dirty="0" err="1"/>
              <a:t>karne</a:t>
            </a:r>
            <a:r>
              <a:rPr lang="en-US" dirty="0"/>
              <a:t> </a:t>
            </a:r>
            <a:r>
              <a:rPr lang="en-US" dirty="0" err="1"/>
              <a:t>ke</a:t>
            </a:r>
            <a:r>
              <a:rPr lang="en-US" dirty="0"/>
              <a:t> </a:t>
            </a:r>
            <a:r>
              <a:rPr lang="en-US" dirty="0" err="1"/>
              <a:t>liye</a:t>
            </a:r>
            <a:r>
              <a:rPr lang="en-US" dirty="0"/>
              <a:t> feedback discuss </a:t>
            </a:r>
            <a:r>
              <a:rPr lang="en-US" dirty="0" err="1"/>
              <a:t>karti</a:t>
            </a:r>
            <a:r>
              <a:rPr lang="en-US" dirty="0"/>
              <a:t> </a:t>
            </a:r>
            <a:r>
              <a:rPr lang="en-US" dirty="0" err="1"/>
              <a:t>hai</a:t>
            </a:r>
            <a:r>
              <a:rPr lang="en-US" dirty="0"/>
              <a:t>.</a:t>
            </a:r>
          </a:p>
        </p:txBody>
      </p:sp>
    </p:spTree>
    <p:extLst>
      <p:ext uri="{BB962C8B-B14F-4D97-AF65-F5344CB8AC3E}">
        <p14:creationId xmlns:p14="http://schemas.microsoft.com/office/powerpoint/2010/main" val="33869474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TotalTime>
  <Words>1924</Words>
  <Application>Microsoft Office PowerPoint</Application>
  <PresentationFormat>Widescreen</PresentationFormat>
  <Paragraphs>243</Paragraphs>
  <Slides>37</Slides>
  <Notes>16</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Lucida Console</vt:lpstr>
      <vt:lpstr>Wingdings 2</vt:lpstr>
      <vt:lpstr>Arial</vt:lpstr>
      <vt:lpstr>Wingdings</vt:lpstr>
      <vt:lpstr>Times New Roman</vt:lpstr>
      <vt:lpstr>Calibri Light</vt:lpstr>
      <vt:lpstr>Calibri</vt:lpstr>
      <vt:lpstr>Office Theme</vt:lpstr>
      <vt:lpstr>Software Construction and Development Software Engineering Process Infrastructure </vt:lpstr>
      <vt:lpstr>What Do We Mean by a Process? </vt:lpstr>
      <vt:lpstr>System Development Phases</vt:lpstr>
      <vt:lpstr>Phases of the Systems Development Lifecycle (SDLC)</vt:lpstr>
      <vt:lpstr>Planning Phase of SDLC</vt:lpstr>
      <vt:lpstr>Analysis Phase of SDLC</vt:lpstr>
      <vt:lpstr>Design Phase of SDLC</vt:lpstr>
      <vt:lpstr>Implementation Phase of SDLC</vt:lpstr>
      <vt:lpstr>Support Phase of SDLC</vt:lpstr>
      <vt:lpstr>What is a Process Model?</vt:lpstr>
      <vt:lpstr>What is a Software Process Model?</vt:lpstr>
      <vt:lpstr>Waterfall Model (Contd.)</vt:lpstr>
      <vt:lpstr>Waterfall Model</vt:lpstr>
      <vt:lpstr>Advantages &amp; Dis-Advantages of Waterfall Model </vt:lpstr>
      <vt:lpstr>V-Model</vt:lpstr>
      <vt:lpstr>V-Model</vt:lpstr>
      <vt:lpstr>Verification and Validation (V&amp;V)</vt:lpstr>
      <vt:lpstr>Use cases for the V-shaped model </vt:lpstr>
      <vt:lpstr>Prototyping Model</vt:lpstr>
      <vt:lpstr>PROTOTYPING</vt:lpstr>
      <vt:lpstr>PROTOTYPING</vt:lpstr>
      <vt:lpstr>PowerPoint Presentation</vt:lpstr>
      <vt:lpstr>THROWAWAY and EVOLUTIONARY Prototypes</vt:lpstr>
      <vt:lpstr>THROW-AWAY PROTOTYPING</vt:lpstr>
      <vt:lpstr>EVOLUTIONARY PROTOTYPING</vt:lpstr>
      <vt:lpstr>Agile methods</vt:lpstr>
      <vt:lpstr>Agile manifesto </vt:lpstr>
      <vt:lpstr>Incremental development  </vt:lpstr>
      <vt:lpstr>The principles of agile methods </vt:lpstr>
      <vt:lpstr>Problems with agile methods</vt:lpstr>
      <vt:lpstr>Agile methods and software maintenance</vt:lpstr>
      <vt:lpstr>Agile project management</vt:lpstr>
      <vt:lpstr>Scrum</vt:lpstr>
      <vt:lpstr>PowerPoint Presentation</vt:lpstr>
      <vt:lpstr>Scrum roles</vt:lpstr>
      <vt:lpstr>Kanban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HERE IS WHERE YOU ADD YOUR PRESENTATION TITLE.</dc:title>
  <cp:lastModifiedBy>Arham Bhatti</cp:lastModifiedBy>
  <cp:revision>86</cp:revision>
  <dcterms:modified xsi:type="dcterms:W3CDTF">2026-03-30T11:16:27Z</dcterms:modified>
</cp:coreProperties>
</file>