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0"/>
  </p:notesMasterIdLst>
  <p:sldIdLst>
    <p:sldId id="29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23" autoAdjust="0"/>
    <p:restoredTop sz="93360" autoAdjust="0"/>
  </p:normalViewPr>
  <p:slideViewPr>
    <p:cSldViewPr snapToGrid="0">
      <p:cViewPr varScale="1">
        <p:scale>
          <a:sx n="71" d="100"/>
          <a:sy n="71" d="100"/>
        </p:scale>
        <p:origin x="4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7B6E5C-CA73-49EA-B977-7FDF79DA2889}" type="datetimeFigureOut">
              <a:rPr lang="en-PK" smtClean="0"/>
              <a:t>04/12/2026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543A7-06A9-436F-9A8A-6188F114FF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88875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543A7-06A9-436F-9A8A-6188F114FF72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78934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04/12/2026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2210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04/12/2026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6364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04/12/2026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38866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04/12/2026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77892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04/12/2026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55809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04/12/2026</a:t>
            </a:fld>
            <a:endParaRPr lang="en-PK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3395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04/12/2026</a:t>
            </a:fld>
            <a:endParaRPr lang="en-PK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42534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04/12/2026</a:t>
            </a:fld>
            <a:endParaRPr lang="en-PK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1970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04/12/2026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56826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04/12/2026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13837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04/12/2026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698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04/12/2026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1322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04/12/2026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39557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04/12/2026</a:t>
            </a:fld>
            <a:endParaRPr lang="en-P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91734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04/12/2026</a:t>
            </a:fld>
            <a:endParaRPr lang="en-P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66544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04/12/2026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09744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04/12/2026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08678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5DACC23-53C6-4C8A-AFA4-A537C1F1E1B3}" type="datetimeFigureOut">
              <a:rPr lang="en-PK" smtClean="0"/>
              <a:t>04/12/2026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248293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ia.kiran@ucp.edu.pk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object 2">
            <a:extLst>
              <a:ext uri="{FF2B5EF4-FFF2-40B4-BE49-F238E27FC236}">
                <a16:creationId xmlns:a16="http://schemas.microsoft.com/office/drawing/2014/main" id="{7ACF4AEC-E7D2-A999-74F2-F727DF2522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1250" y="1316039"/>
            <a:ext cx="7200900" cy="1247775"/>
          </a:xfrm>
        </p:spPr>
        <p:txBody>
          <a:bodyPr vert="horz" lIns="0" tIns="87154" rIns="0" bIns="0" rtlCol="0" anchor="ctr">
            <a:spAutoFit/>
          </a:bodyPr>
          <a:lstStyle/>
          <a:p>
            <a:pPr marL="7938" algn="ctr">
              <a:lnSpc>
                <a:spcPts val="4863"/>
              </a:lnSpc>
              <a:spcBef>
                <a:spcPts val="688"/>
              </a:spcBef>
            </a:pPr>
            <a:r>
              <a:rPr lang="en-PK" altLang="en-PK" sz="3000" b="1" dirty="0">
                <a:cs typeface="Calibri Light" panose="020F0302020204030204" pitchFamily="34" charset="0"/>
              </a:rPr>
              <a:t>Software Construction and Development</a:t>
            </a:r>
            <a:br>
              <a:rPr lang="en-US" altLang="en-PK" sz="3000" b="1" dirty="0">
                <a:cs typeface="Calibri Light" panose="020F0302020204030204" pitchFamily="34" charset="0"/>
              </a:rPr>
            </a:br>
            <a:r>
              <a:rPr lang="en-US" altLang="en-PK" sz="1800" b="1" dirty="0">
                <a:cs typeface="Calibri Light" panose="020F0302020204030204" pitchFamily="34" charset="0"/>
              </a:rPr>
              <a:t>Design Principles in Java (Solid, Dry, Kiss)</a:t>
            </a:r>
            <a:endParaRPr lang="en-PK" altLang="en-PK" sz="21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87" name="Subtitle 2">
            <a:extLst>
              <a:ext uri="{FF2B5EF4-FFF2-40B4-BE49-F238E27FC236}">
                <a16:creationId xmlns:a16="http://schemas.microsoft.com/office/drawing/2014/main" id="{125D9625-AE77-D6B5-CAC7-79B6FFBE3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322764"/>
            <a:ext cx="5753100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None/>
            </a:pPr>
            <a:r>
              <a:rPr lang="en-US" altLang="en-PK" sz="1600" dirty="0">
                <a:cs typeface="Calibri" panose="020F0502020204030204" pitchFamily="34" charset="0"/>
              </a:rPr>
              <a:t>Khizar Hayat</a:t>
            </a:r>
          </a:p>
          <a:p>
            <a:pPr algn="ctr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None/>
            </a:pPr>
            <a:r>
              <a:rPr lang="en-US" altLang="en-PK" sz="1600" dirty="0">
                <a:solidFill>
                  <a:srgbClr val="0070C0"/>
                </a:solidFill>
                <a:cs typeface="Calibri" panose="020F0502020204030204" pitchFamily="34" charset="0"/>
                <a:hlinkClick r:id="rId2"/>
              </a:rPr>
              <a:t>Email: Khizer.hayat@ucp.edu.pk</a:t>
            </a:r>
            <a:endParaRPr lang="en-US" altLang="en-PK" sz="1600" dirty="0">
              <a:solidFill>
                <a:srgbClr val="0070C0"/>
              </a:solidFill>
              <a:cs typeface="Calibri" panose="020F0502020204030204" pitchFamily="34" charset="0"/>
            </a:endParaRPr>
          </a:p>
          <a:p>
            <a:pPr algn="ctr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None/>
            </a:pPr>
            <a:r>
              <a:rPr lang="en-US" altLang="en-PK" sz="1600" b="1" dirty="0">
                <a:cs typeface="Calibri" panose="020F0502020204030204" pitchFamily="34" charset="0"/>
              </a:rPr>
              <a:t>Office:</a:t>
            </a:r>
            <a:r>
              <a:rPr lang="en-US" altLang="en-PK" sz="1600" dirty="0">
                <a:cs typeface="Calibri" panose="020F0502020204030204" pitchFamily="34" charset="0"/>
              </a:rPr>
              <a:t> Building D, 2</a:t>
            </a:r>
            <a:r>
              <a:rPr lang="en-US" altLang="en-PK" sz="1600" baseline="30000" dirty="0">
                <a:cs typeface="Calibri" panose="020F0502020204030204" pitchFamily="34" charset="0"/>
              </a:rPr>
              <a:t>nd  Floor </a:t>
            </a:r>
            <a:endParaRPr lang="en-US" altLang="en-PK" sz="1600" dirty="0">
              <a:cs typeface="Calibri" panose="020F0502020204030204" pitchFamily="34" charset="0"/>
            </a:endParaRPr>
          </a:p>
          <a:p>
            <a:pPr algn="ctr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None/>
            </a:pPr>
            <a:r>
              <a:rPr lang="en-US" altLang="en-PK" sz="1600" b="1" dirty="0">
                <a:cs typeface="Calibri" panose="020F0502020204030204" pitchFamily="34" charset="0"/>
              </a:rPr>
              <a:t>OFFICE HOURS: </a:t>
            </a:r>
            <a:r>
              <a:rPr lang="en-US" altLang="en-PK" sz="1600" dirty="0">
                <a:cs typeface="Calibri" panose="020F0502020204030204" pitchFamily="34" charset="0"/>
              </a:rPr>
              <a:t>Friday  (9:00 to 11:00)</a:t>
            </a:r>
          </a:p>
          <a:p>
            <a:pPr algn="ctr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None/>
            </a:pPr>
            <a:endParaRPr lang="en-PK" altLang="en-PK" sz="1400" dirty="0"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2B902-2EDC-ED2C-532F-C2E3C4205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SOLID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09E7D-E11F-9996-CB81-C6B56A680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SOLID</a:t>
            </a:r>
            <a:r>
              <a:rPr lang="en-US" dirty="0"/>
              <a:t> is an acronym for five core </a:t>
            </a:r>
            <a:r>
              <a:rPr lang="en-US" b="1" dirty="0"/>
              <a:t>object-oriented design principles</a:t>
            </a:r>
            <a:r>
              <a:rPr lang="en-US" dirty="0"/>
              <a:t>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S</a:t>
            </a:r>
            <a:r>
              <a:rPr lang="en-US" dirty="0"/>
              <a:t> – Single Responsibility Principle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O</a:t>
            </a:r>
            <a:r>
              <a:rPr lang="en-US" dirty="0"/>
              <a:t> – Open/Closed Principle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L</a:t>
            </a:r>
            <a:r>
              <a:rPr lang="en-US" dirty="0"/>
              <a:t> – </a:t>
            </a:r>
            <a:r>
              <a:rPr lang="en-US" dirty="0" err="1"/>
              <a:t>Liskov</a:t>
            </a:r>
            <a:r>
              <a:rPr lang="en-US" dirty="0"/>
              <a:t> Substitution Principle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I</a:t>
            </a:r>
            <a:r>
              <a:rPr lang="en-US" dirty="0"/>
              <a:t> – Interface Segregation Principle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D</a:t>
            </a:r>
            <a:r>
              <a:rPr lang="en-US" dirty="0"/>
              <a:t> – Dependency Inversion Principle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12707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B276EA55-E5CD-ABF3-F847-4E27F8BF41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714134" y="836296"/>
            <a:ext cx="58817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 Responsibility Principle (SRP)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FF836-CE80-D2F1-F865-97BBD3F4C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class should have </a:t>
            </a: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only one reason to change</a:t>
            </a: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 means: One class = One job.</a:t>
            </a:r>
            <a:endParaRPr kumimoji="0" lang="en-US" altLang="en-PK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Invoice {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calculateTotal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 /* logic */ }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printInvoice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 /* logic */ }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saveToDatabase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 /* logic */ }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484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53ECE-D1C3-65EB-6A41-C3855577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PK" altLang="en-PK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Responsibility Principle (SRP</a:t>
            </a:r>
            <a:r>
              <a:rPr kumimoji="0" lang="en-US" altLang="en-PK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lang="en-PK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36548-FEC8-AB3C-D839-AA3D95B56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Clean Code:</a:t>
            </a:r>
          </a:p>
          <a:p>
            <a:pPr marL="0" indent="0">
              <a:buNone/>
            </a:pPr>
            <a:r>
              <a:rPr lang="en-US" dirty="0"/>
              <a:t>public class Invoice {</a:t>
            </a:r>
          </a:p>
          <a:p>
            <a:pPr marL="0" indent="0">
              <a:buNone/>
            </a:pPr>
            <a:r>
              <a:rPr lang="en-US" dirty="0"/>
              <a:t>    public double </a:t>
            </a:r>
            <a:r>
              <a:rPr lang="en-US" dirty="0" err="1"/>
              <a:t>calculateTotal</a:t>
            </a:r>
            <a:r>
              <a:rPr lang="en-US" dirty="0"/>
              <a:t>() { /* logic */ return 0;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InvoicePrinter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void print(Invoice invoice) { /* logic */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InvoiceRepository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void save(Invoice invoice) { /* logic */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Everyone has one job. That’s </a:t>
            </a:r>
            <a:r>
              <a:rPr lang="en-US" b="1" dirty="0"/>
              <a:t>clean architecture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70544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63F0AEF9-8756-2AE7-E694-BE1B5249C8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041621" y="828831"/>
            <a:ext cx="73725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Open/Closed Principle (OCP)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D7938-8E18-FF30-DD0D-0ED482B77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entities should be </a:t>
            </a: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 for extension, but closed for modification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 means: You should be able to add new </a:t>
            </a:r>
            <a:r>
              <a:rPr kumimoji="0" lang="en-PK" altLang="en-PK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changing existing code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Bad Example (using if for logic)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kumimoji="0" lang="en-US" altLang="en-PK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PaymentProcessor</a:t>
            </a: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process(String method) {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kumimoji="0" lang="en-US" altLang="en-PK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method.equals</a:t>
            </a: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kumimoji="0" lang="en-US" altLang="en-PK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CreditCard</a:t>
            </a: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")) { /* logic */ }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else if (</a:t>
            </a:r>
            <a:r>
              <a:rPr kumimoji="0" lang="en-US" altLang="en-PK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method.equals</a:t>
            </a: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("PayPal")) { /* logic */ }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time you add a method, you modify this class.</a:t>
            </a:r>
            <a:endParaRPr kumimoji="0" lang="en-US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762833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E33EF-9DC0-814A-0B4D-111DE374D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548"/>
            <a:ext cx="10515600" cy="829559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Code</a:t>
            </a:r>
            <a:endParaRPr lang="en-P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B043B-9F88-C94B-2861-C823541B7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945" y="952106"/>
            <a:ext cx="10515600" cy="57126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interface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PaymentMethod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pay(double amount);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CreditCardPayment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PaymentMethod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pay(double amount) { /* logic */ }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PayPalPayment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PaymentMethod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pay(double amount) { /* logic */ }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doesn’t care how the payment is done — it just calls pay() on any object that follows the </a:t>
            </a:r>
            <a:r>
              <a:rPr lang="en-US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PaymentMethod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interface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PaymentProcessor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process(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PaymentMethod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method, double amount) {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method.pay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(amount);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to add a new payment method, you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class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without touching existing logic.</a:t>
            </a:r>
            <a:endParaRPr lang="en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BA6D23-B376-19FB-CC24-5D75EFB0B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876" y="549343"/>
            <a:ext cx="4057669" cy="325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57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75F7C339-9E94-D94D-337D-56D02C4DF1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66297"/>
            <a:ext cx="1003732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Liskov</a:t>
            </a:r>
            <a:r>
              <a:rPr kumimoji="0" lang="en-PK" altLang="en-PK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Substitution Principle (LSP)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0E3E6-731B-06B8-F1AC-ECCC4EE1F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9166"/>
            <a:ext cx="10515600" cy="4961674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Subtypes must be </a:t>
            </a: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substitutable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their base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 means: 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Anywhere you use a base class/interface, you should be able to use any subclass without breaking behaviour.</a:t>
            </a:r>
            <a:endParaRPr kumimoji="0" lang="en-US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Bird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fly() {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Ostrich extends Bird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@Override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fly()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throw new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UnsupportedOperationException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("Ostriches can't fly");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Ostrich is not a true subtype of Bird here — it breaks the expectation.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367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79B91-4D86-1F59-0B5C-BB1063456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821" y="238666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Code </a:t>
            </a:r>
            <a:endParaRPr lang="en-P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3267C-9ABC-EFBD-6B7B-735710FF1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957" y="1288297"/>
            <a:ext cx="10515600" cy="54235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interface Bird {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eat();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interface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FlyingBird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extends Bird {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fly();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Sparrow implements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FlyingBird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eat() { 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fly() { 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Ostrich implements Bird {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eat() { 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the behavior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correctly separated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PK" sz="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475C96-C8D1-9EE0-D20A-E83BFAE13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259" y="1882341"/>
            <a:ext cx="2604328" cy="353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63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AEB20-6719-2C33-7478-586A9B1D2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56" y="190028"/>
            <a:ext cx="10515600" cy="79437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Segregation Principle (ISP)</a:t>
            </a:r>
            <a:endParaRPr lang="en-P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B67AC-E51F-01C1-674A-8F2D4EC46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505" y="1065229"/>
            <a:ext cx="10515600" cy="6023728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Segregation Principle (ISP)  clients should not be forced to depend on interfaces they do not use.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means: Split large interfaces into smaller, specific ones.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having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big interface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lots of unrelated methods, break it into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smaller, more specific interfaces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Each class should only implement the interface(s) it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actually needs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interface Worker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work();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eat();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Robot implements Worker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work() { 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eat()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Robots don't eat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throw new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UnsupportedOperationException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224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A794C-88C1-148C-318F-15359265B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825" y="209482"/>
            <a:ext cx="10515600" cy="80379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Code </a:t>
            </a:r>
            <a:endParaRPr lang="en-P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71D75-998F-3D87-F63B-1318542A6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3828"/>
            <a:ext cx="10515600" cy="5253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interface Workable {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work();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interface Eatable {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eat();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Human implements Workable, Eatable {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work() { 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eat() { 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Robot implements Workable {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work() { 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each class only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what it needs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PK" sz="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E1F6D9-8074-3311-4E1C-B09361BDC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981" y="1250972"/>
            <a:ext cx="3431179" cy="316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7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0A5FF-773A-6ED2-9133-BC86380AC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Dependency Inversion Principle (DIP)</a:t>
            </a:r>
            <a:br>
              <a:rPr lang="en-US" sz="4000" b="1" dirty="0">
                <a:latin typeface="+mn-lt"/>
              </a:rPr>
            </a:br>
            <a:endParaRPr lang="en-PK" sz="4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AF6FF-4F6C-BB18-9263-35C96462D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modules should not depend on low-level modules.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should depend on abstractions.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Abstractions should not depend on details. Details should depend on abstractions.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a class directly creating or depending on another class, it should depend on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(abstraction)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makes your code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to change, test, and extend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67923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C1836-351D-D047-0298-E2E280373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1506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Example (tight coupling)</a:t>
            </a:r>
            <a:endParaRPr lang="en-P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0D48F-97E3-E021-D1B1-0051C854B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468" y="1391991"/>
            <a:ext cx="10515600" cy="5301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LightBulb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 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turnOff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 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Switch {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LightBulb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bulb = new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LightBulb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operate() {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bulb.turnOn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 is </a:t>
            </a: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tightly coupled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kumimoji="0" lang="en-PK" altLang="en-PK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LightBulb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PK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B712F-8D88-0124-CDCB-3A3BDCC78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472" y="2061592"/>
            <a:ext cx="1638425" cy="273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26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F5983-D430-D5AC-1EF6-0915AA798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09" y="-766091"/>
            <a:ext cx="10515600" cy="76609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code </a:t>
            </a:r>
            <a:endParaRPr lang="en-P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E62E9-9CFA-E647-B20A-19C4F25BE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409" y="271304"/>
            <a:ext cx="11468129" cy="630031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interface Switchable {</a:t>
            </a:r>
          </a:p>
          <a:p>
            <a:pPr marL="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5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turnOn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5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turnOff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5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LightBulb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Switchable {</a:t>
            </a:r>
          </a:p>
          <a:p>
            <a:pPr marL="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</a:t>
            </a:r>
            <a:r>
              <a:rPr lang="en-US" sz="5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turnOn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 }</a:t>
            </a:r>
          </a:p>
          <a:p>
            <a:pPr marL="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</a:t>
            </a:r>
            <a:r>
              <a:rPr lang="en-US" sz="5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turnOff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 }</a:t>
            </a:r>
          </a:p>
          <a:p>
            <a:pPr marL="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Switch {</a:t>
            </a:r>
          </a:p>
          <a:p>
            <a:pPr marL="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55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variable that can hold any object that implements Switchable</a:t>
            </a:r>
          </a:p>
          <a:p>
            <a:pPr marL="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Switchable device;</a:t>
            </a:r>
          </a:p>
          <a:p>
            <a:pPr marL="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55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the constructor of the Switch class and receives switchable object as parameter. The passed object is stored in private variable device.</a:t>
            </a:r>
            <a:endParaRPr lang="en-US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Switch(Switchable device) {</a:t>
            </a:r>
          </a:p>
          <a:p>
            <a:pPr marL="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5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this.device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device;</a:t>
            </a:r>
          </a:p>
          <a:p>
            <a:pPr marL="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operate() {</a:t>
            </a:r>
          </a:p>
          <a:p>
            <a:pPr marL="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5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device.turnOn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Switch can work with any device — it depends on an abstraction, not a specific implementation.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0C80AA-B640-C57F-B354-7EC2F8E0A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0625" y="374396"/>
            <a:ext cx="1691787" cy="27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46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C8AAF-3C07-9AFC-B67A-BCFC44A45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AA3872-ADB2-FB08-97A5-2AEF5D6D68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2009208"/>
              </p:ext>
            </p:extLst>
          </p:nvPr>
        </p:nvGraphicFramePr>
        <p:xfrm>
          <a:off x="838200" y="2139885"/>
          <a:ext cx="10515600" cy="3105655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97122540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6655841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69089079"/>
                    </a:ext>
                  </a:extLst>
                </a:gridCol>
              </a:tblGrid>
              <a:tr h="493115">
                <a:tc>
                  <a:txBody>
                    <a:bodyPr/>
                    <a:lstStyle/>
                    <a:p>
                      <a:r>
                        <a:rPr lang="en-US"/>
                        <a:t>Principle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Clean Code 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419050"/>
                  </a:ext>
                </a:extLst>
              </a:tr>
              <a:tr h="493115">
                <a:tc>
                  <a:txBody>
                    <a:bodyPr/>
                    <a:lstStyle/>
                    <a:p>
                      <a:r>
                        <a:rPr lang="en-US" b="1"/>
                        <a:t>SRP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 reason to 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Keep classes focused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046256"/>
                  </a:ext>
                </a:extLst>
              </a:tr>
              <a:tr h="493115">
                <a:tc>
                  <a:txBody>
                    <a:bodyPr/>
                    <a:lstStyle/>
                    <a:p>
                      <a:r>
                        <a:rPr lang="en-US" b="1"/>
                        <a:t>OCP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Extend, don’t modify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Add new behavior safely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8764369"/>
                  </a:ext>
                </a:extLst>
              </a:tr>
              <a:tr h="493115">
                <a:tc>
                  <a:txBody>
                    <a:bodyPr/>
                    <a:lstStyle/>
                    <a:p>
                      <a:r>
                        <a:rPr lang="en-US" b="1"/>
                        <a:t>LSP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Subtypes behave like 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Reliable polymorphism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0699060"/>
                  </a:ext>
                </a:extLst>
              </a:tr>
              <a:tr h="493115">
                <a:tc>
                  <a:txBody>
                    <a:bodyPr/>
                    <a:lstStyle/>
                    <a:p>
                      <a:r>
                        <a:rPr lang="en-US" b="1"/>
                        <a:t>ISP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Only depend on what you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Avoid bloated interfaces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8568615"/>
                  </a:ext>
                </a:extLst>
              </a:tr>
              <a:tr h="493115">
                <a:tc>
                  <a:txBody>
                    <a:bodyPr/>
                    <a:lstStyle/>
                    <a:p>
                      <a:r>
                        <a:rPr lang="en-US" b="1"/>
                        <a:t>DIP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Depend on abstractions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tight coupling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04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1993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43AE-7987-0B23-F453-1E1CF292F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2" y="-77934"/>
            <a:ext cx="10515600" cy="775518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DRY(Don’t Repeat Yourself)</a:t>
            </a:r>
            <a:br>
              <a:rPr lang="en-US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55DB0-5045-8913-39E8-589D1BEBB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813" y="926300"/>
            <a:ext cx="10515600" cy="572524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"Avoid duplication in logic, structure, and intent. Duplicated code is a maintenance burden and a source of bugs”</a:t>
            </a:r>
          </a:p>
          <a:p>
            <a:pPr marL="0" indent="0">
              <a:buNone/>
            </a:pPr>
            <a:r>
              <a:rPr lang="en-US" sz="6600" b="1" dirty="0"/>
              <a:t>BAD Example (Violates DRY)</a:t>
            </a:r>
            <a:endParaRPr 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EmployeeService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double </a:t>
            </a:r>
            <a:r>
              <a:rPr lang="en-US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calculateBonus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grade, double salary) {</a:t>
            </a: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US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grade.equals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("A")) {</a:t>
            </a: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salary * 0.10;</a:t>
            </a: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else if (</a:t>
            </a:r>
            <a:r>
              <a:rPr lang="en-US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grade.equals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("B")) {</a:t>
            </a: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salary * 0.08;</a:t>
            </a: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else {</a:t>
            </a: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salary * 0.05;    }     }</a:t>
            </a: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void </a:t>
            </a:r>
            <a:r>
              <a:rPr lang="en-US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printBonusReport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name, String grade, double salary) {</a:t>
            </a: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double bonus;</a:t>
            </a: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US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grade.equals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("A")) {</a:t>
            </a: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bonus = salary * 0.10;</a:t>
            </a: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else if (</a:t>
            </a:r>
            <a:r>
              <a:rPr lang="en-US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grade.equals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("B")) {</a:t>
            </a: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bonus = salary * 0.08;</a:t>
            </a: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else {</a:t>
            </a: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bonus = salary * 0.05;        }</a:t>
            </a: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(name + "'s bonus is: " + bonus);       }        }</a:t>
            </a: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49148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2B787-D54A-35D8-2BD8-01E9FCD1B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51" y="24839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+mn-lt"/>
              </a:rPr>
              <a:t>Clean Code:</a:t>
            </a:r>
            <a:endParaRPr lang="en-PK" sz="36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38BCD-CCFF-5FCE-B3FC-A31A0884B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262" y="1429699"/>
            <a:ext cx="10515600" cy="506317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EmployeeService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endParaRPr lang="en-US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double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calculateBonus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grade, double salary) {</a:t>
            </a:r>
          </a:p>
          <a:p>
            <a:pPr marL="0" indent="0">
              <a:buNone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switch (grade) {</a:t>
            </a:r>
          </a:p>
          <a:p>
            <a:pPr marL="0" indent="0">
              <a:buNone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case "A": return salary * 0.10;</a:t>
            </a:r>
          </a:p>
          <a:p>
            <a:pPr marL="0" indent="0">
              <a:buNone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case "B": return salary * 0.08;</a:t>
            </a:r>
          </a:p>
          <a:p>
            <a:pPr marL="0" indent="0">
              <a:buNone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default:  return salary * 0.05;</a:t>
            </a:r>
          </a:p>
          <a:p>
            <a:pPr marL="0" indent="0">
              <a:buNone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None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printBonusReport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name, String grade, double salary) {</a:t>
            </a:r>
          </a:p>
          <a:p>
            <a:pPr marL="0" indent="0">
              <a:buNone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double bonus =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calculateBonus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(grade, salary);  // Reuse logic</a:t>
            </a:r>
          </a:p>
          <a:p>
            <a:pPr marL="0" indent="0">
              <a:buNone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(name + "'s bonus is: " + bonus);</a:t>
            </a:r>
          </a:p>
          <a:p>
            <a:pPr marL="0" indent="0">
              <a:buNone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Bonus calculation logic is now in one place only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60751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9BDB2-EAF3-BE5E-213D-D22F392C9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411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KISS (Keep It Simple, Stupid)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94B9F-438C-65A4-7445-02CCAB334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017" y="999242"/>
            <a:ext cx="10925783" cy="549363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 code should do what it needs to do — no more, no less. Avoid clever tricks, over-engineering, or complicated logic. Favor simplicity and readability.“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Example (Violates KISS)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DiscountCalculator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double calculate(double price, String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userType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loyaltyPoints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userType.equals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("PREMIUM") &amp;&amp;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loyaltyPoints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100) ||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userType.equals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("REGULAR") &amp;&amp;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loyaltyPoints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200) ||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userType.equals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("GUEST") &amp;&amp; price &gt; 500))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price * 0.9;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else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price;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00000"/>
              </a:lnSpc>
            </a:pPr>
            <a:endParaRPr lang="en-PK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821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18CD-0A41-8421-49E3-031A5CF1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534" y="230957"/>
            <a:ext cx="10515600" cy="502141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Code </a:t>
            </a:r>
            <a:endParaRPr lang="en-P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7B187-94E6-16E4-BD9C-BDB149DCF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0705"/>
            <a:ext cx="10515600" cy="5816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DiscountCalculator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isEligibleForDiscount</a:t>
            </a:r>
            <a:r>
              <a:rPr lang="en-US" dirty="0"/>
              <a:t>(String </a:t>
            </a:r>
            <a:r>
              <a:rPr lang="en-US" dirty="0" err="1"/>
              <a:t>userType</a:t>
            </a:r>
            <a:r>
              <a:rPr lang="en-US" dirty="0"/>
              <a:t>, int </a:t>
            </a:r>
            <a:r>
              <a:rPr lang="en-US" dirty="0" err="1"/>
              <a:t>loyaltyPoints</a:t>
            </a:r>
            <a:r>
              <a:rPr lang="en-US" dirty="0"/>
              <a:t>, double price) {</a:t>
            </a:r>
          </a:p>
          <a:p>
            <a:pPr marL="0" indent="0">
              <a:buNone/>
            </a:pPr>
            <a:r>
              <a:rPr lang="en-US" dirty="0"/>
              <a:t>        switch (</a:t>
            </a:r>
            <a:r>
              <a:rPr lang="en-US" dirty="0" err="1"/>
              <a:t>userType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    case "PREMIUM":</a:t>
            </a:r>
          </a:p>
          <a:p>
            <a:pPr marL="0" indent="0">
              <a:buNone/>
            </a:pPr>
            <a:r>
              <a:rPr lang="en-US" dirty="0"/>
              <a:t>                return </a:t>
            </a:r>
            <a:r>
              <a:rPr lang="en-US" dirty="0" err="1"/>
              <a:t>loyaltyPoints</a:t>
            </a:r>
            <a:r>
              <a:rPr lang="en-US" dirty="0"/>
              <a:t> &gt; 100;</a:t>
            </a:r>
          </a:p>
          <a:p>
            <a:pPr marL="0" indent="0">
              <a:buNone/>
            </a:pPr>
            <a:r>
              <a:rPr lang="en-US" dirty="0"/>
              <a:t>            case "REGULAR":</a:t>
            </a:r>
          </a:p>
          <a:p>
            <a:pPr marL="0" indent="0">
              <a:buNone/>
            </a:pPr>
            <a:r>
              <a:rPr lang="en-US" dirty="0"/>
              <a:t>                return </a:t>
            </a:r>
            <a:r>
              <a:rPr lang="en-US" dirty="0" err="1"/>
              <a:t>loyaltyPoints</a:t>
            </a:r>
            <a:r>
              <a:rPr lang="en-US" dirty="0"/>
              <a:t> &gt; 200;</a:t>
            </a:r>
          </a:p>
          <a:p>
            <a:pPr marL="0" indent="0">
              <a:buNone/>
            </a:pPr>
            <a:r>
              <a:rPr lang="en-US" dirty="0"/>
              <a:t>            case "GUEST":</a:t>
            </a:r>
          </a:p>
          <a:p>
            <a:pPr marL="0" indent="0">
              <a:buNone/>
            </a:pPr>
            <a:r>
              <a:rPr lang="en-US" dirty="0"/>
              <a:t>                return price &gt; 500;</a:t>
            </a:r>
          </a:p>
          <a:p>
            <a:pPr marL="0" indent="0">
              <a:buNone/>
            </a:pPr>
            <a:r>
              <a:rPr lang="en-US" dirty="0"/>
              <a:t>            default:</a:t>
            </a:r>
          </a:p>
          <a:p>
            <a:pPr marL="0" indent="0">
              <a:buNone/>
            </a:pPr>
            <a:r>
              <a:rPr lang="en-US" dirty="0"/>
              <a:t>                return false;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public double calculate(double price, String </a:t>
            </a:r>
            <a:r>
              <a:rPr lang="en-US" dirty="0" err="1"/>
              <a:t>userType</a:t>
            </a:r>
            <a:r>
              <a:rPr lang="en-US" dirty="0"/>
              <a:t>, int </a:t>
            </a:r>
            <a:r>
              <a:rPr lang="en-US" dirty="0" err="1"/>
              <a:t>loyaltyPoints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if (</a:t>
            </a:r>
            <a:r>
              <a:rPr lang="en-US" dirty="0" err="1"/>
              <a:t>isEligibleForDiscount</a:t>
            </a:r>
            <a:r>
              <a:rPr lang="en-US" dirty="0"/>
              <a:t>(</a:t>
            </a:r>
            <a:r>
              <a:rPr lang="en-US" dirty="0" err="1"/>
              <a:t>userType</a:t>
            </a:r>
            <a:r>
              <a:rPr lang="en-US" dirty="0"/>
              <a:t>, </a:t>
            </a:r>
            <a:r>
              <a:rPr lang="en-US" dirty="0" err="1"/>
              <a:t>loyaltyPoints</a:t>
            </a:r>
            <a:r>
              <a:rPr lang="en-US" dirty="0"/>
              <a:t>, price)) {</a:t>
            </a:r>
          </a:p>
          <a:p>
            <a:pPr marL="0" indent="0">
              <a:buNone/>
            </a:pPr>
            <a:r>
              <a:rPr lang="en-US" dirty="0"/>
              <a:t>            return price * 0.9;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    return price;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926349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2901</TotalTime>
  <Words>1636</Words>
  <Application>Microsoft Office PowerPoint</Application>
  <PresentationFormat>Widescreen</PresentationFormat>
  <Paragraphs>263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Century Gothic</vt:lpstr>
      <vt:lpstr>Times New Roman</vt:lpstr>
      <vt:lpstr>Wingdings 3</vt:lpstr>
      <vt:lpstr>Ion</vt:lpstr>
      <vt:lpstr>Software Construction and Development Design Principles in Java (Solid, Dry, Kiss)</vt:lpstr>
      <vt:lpstr>SOLID</vt:lpstr>
      <vt:lpstr>Single Responsibility Principle (SRP)</vt:lpstr>
      <vt:lpstr>Single Responsibility Principle (SRP)</vt:lpstr>
      <vt:lpstr>Open/Closed Principle (OCP)</vt:lpstr>
      <vt:lpstr>Clean Code</vt:lpstr>
      <vt:lpstr>Liskov Substitution Principle (LSP)</vt:lpstr>
      <vt:lpstr>Clean Code </vt:lpstr>
      <vt:lpstr>Interface Segregation Principle (ISP)</vt:lpstr>
      <vt:lpstr>Clean Code </vt:lpstr>
      <vt:lpstr>Dependency Inversion Principle (DIP) </vt:lpstr>
      <vt:lpstr>Bad Example (tight coupling)</vt:lpstr>
      <vt:lpstr>Clean code </vt:lpstr>
      <vt:lpstr>Summary </vt:lpstr>
      <vt:lpstr>  DRY(Don’t Repeat Yourself) </vt:lpstr>
      <vt:lpstr>Clean Code:</vt:lpstr>
      <vt:lpstr>KISS (Keep It Simple, Stupid) </vt:lpstr>
      <vt:lpstr>Clean Code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Principals in Java</dc:title>
  <dc:creator>Ushna Khalil</dc:creator>
  <cp:lastModifiedBy>Arham Bhatti</cp:lastModifiedBy>
  <cp:revision>53</cp:revision>
  <dcterms:created xsi:type="dcterms:W3CDTF">2025-04-15T08:18:43Z</dcterms:created>
  <dcterms:modified xsi:type="dcterms:W3CDTF">2026-04-12T11:34:59Z</dcterms:modified>
</cp:coreProperties>
</file>