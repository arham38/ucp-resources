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65" r:id="rId4"/>
    <p:sldId id="266" r:id="rId5"/>
    <p:sldId id="267" r:id="rId6"/>
    <p:sldId id="268" r:id="rId7"/>
    <p:sldId id="308" r:id="rId8"/>
    <p:sldId id="269" r:id="rId9"/>
    <p:sldId id="270" r:id="rId10"/>
    <p:sldId id="271" r:id="rId11"/>
    <p:sldId id="293" r:id="rId13"/>
    <p:sldId id="272" r:id="rId14"/>
    <p:sldId id="273" r:id="rId15"/>
    <p:sldId id="295" r:id="rId16"/>
    <p:sldId id="294" r:id="rId17"/>
    <p:sldId id="296" r:id="rId18"/>
    <p:sldId id="275" r:id="rId19"/>
    <p:sldId id="276" r:id="rId20"/>
    <p:sldId id="297" r:id="rId21"/>
    <p:sldId id="277" r:id="rId22"/>
    <p:sldId id="298" r:id="rId23"/>
    <p:sldId id="278" r:id="rId24"/>
    <p:sldId id="279" r:id="rId25"/>
    <p:sldId id="309" r:id="rId26"/>
    <p:sldId id="335" r:id="rId27"/>
    <p:sldId id="345" r:id="rId28"/>
    <p:sldId id="347" r:id="rId29"/>
    <p:sldId id="348" r:id="rId30"/>
    <p:sldId id="311" r:id="rId31"/>
    <p:sldId id="312" r:id="rId32"/>
    <p:sldId id="313" r:id="rId33"/>
    <p:sldId id="314" r:id="rId34"/>
    <p:sldId id="315" r:id="rId35"/>
    <p:sldId id="31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EB1BF-FB5E-425E-8126-5E2E6309571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1CE0C-636A-479B-91B8-FC2AD0B82B2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71CE0C-636A-479B-91B8-FC2AD0B82B2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Engineering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Recapping…..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5442" y="1711569"/>
            <a:ext cx="9271611" cy="3777622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What is Logic? </a:t>
            </a:r>
            <a:r>
              <a:rPr lang="en-US" sz="2400" dirty="0"/>
              <a:t>In computer science, the aim of the logic is to </a:t>
            </a:r>
            <a:r>
              <a:rPr lang="en-US" sz="2400" dirty="0">
                <a:solidFill>
                  <a:srgbClr val="FF0000"/>
                </a:solidFill>
              </a:rPr>
              <a:t>develop a language</a:t>
            </a:r>
            <a:r>
              <a:rPr lang="en-US" sz="2400" dirty="0"/>
              <a:t> that 	models a situation, in which, it can </a:t>
            </a:r>
            <a:r>
              <a:rPr lang="en-US" sz="2400" dirty="0">
                <a:solidFill>
                  <a:srgbClr val="0070C0"/>
                </a:solidFill>
              </a:rPr>
              <a:t>reason formally</a:t>
            </a:r>
            <a:r>
              <a:rPr lang="en-US" sz="2400" dirty="0"/>
              <a:t> to realize the desired objective.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What is Reasoning? </a:t>
            </a:r>
            <a:r>
              <a:rPr lang="en-US" sz="2400" dirty="0"/>
              <a:t>Reasoning is a </a:t>
            </a:r>
            <a:r>
              <a:rPr lang="en-US" sz="2400" dirty="0">
                <a:solidFill>
                  <a:srgbClr val="0070C0"/>
                </a:solidFill>
              </a:rPr>
              <a:t>process of using existing </a:t>
            </a:r>
            <a:r>
              <a:rPr lang="en-US" sz="2400" dirty="0"/>
              <a:t>knowledge or observations to make predictions or </a:t>
            </a:r>
            <a:r>
              <a:rPr lang="en-US" sz="2400" dirty="0">
                <a:solidFill>
                  <a:srgbClr val="FF0000"/>
                </a:solidFill>
              </a:rPr>
              <a:t>draw conclusions</a:t>
            </a:r>
            <a:r>
              <a:rPr lang="en-US" sz="2400" dirty="0"/>
              <a:t>. </a:t>
            </a:r>
            <a:endParaRPr lang="en-US" sz="2400" dirty="0"/>
          </a:p>
          <a:p>
            <a:pPr algn="just"/>
            <a:r>
              <a:rPr lang="en-US" sz="2400" dirty="0"/>
              <a:t>Due to basic techniques of logical formalisms, formal methods were born.</a:t>
            </a:r>
            <a:endParaRPr lang="en-US" sz="2400" dirty="0"/>
          </a:p>
          <a:p>
            <a:pPr algn="just"/>
            <a:r>
              <a:rPr lang="en-US" sz="2400" dirty="0"/>
              <a:t>Formal methods are </a:t>
            </a:r>
            <a:r>
              <a:rPr lang="en-US" sz="2400" dirty="0">
                <a:solidFill>
                  <a:srgbClr val="FF0000"/>
                </a:solidFill>
              </a:rPr>
              <a:t>used in the industry </a:t>
            </a:r>
            <a:r>
              <a:rPr lang="en-US" sz="2400" dirty="0"/>
              <a:t>with their specification languages, theorem proving, and model checking</a:t>
            </a:r>
            <a:endParaRPr lang="en-US" sz="2400" dirty="0"/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Propositional Logic?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9069388" cy="37776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Propositional Logic (PL) is a </a:t>
            </a:r>
            <a:r>
              <a:rPr lang="en-US" sz="2400" dirty="0">
                <a:solidFill>
                  <a:srgbClr val="FF0000"/>
                </a:solidFill>
              </a:rPr>
              <a:t>formal language</a:t>
            </a:r>
            <a:r>
              <a:rPr lang="en-US" sz="2400" dirty="0"/>
              <a:t>, which is often </a:t>
            </a:r>
            <a:r>
              <a:rPr lang="en-US" sz="2400" dirty="0">
                <a:solidFill>
                  <a:srgbClr val="0070C0"/>
                </a:solidFill>
              </a:rPr>
              <a:t>used in behavior analysis </a:t>
            </a:r>
            <a:r>
              <a:rPr lang="en-US" sz="2400" dirty="0"/>
              <a:t>of computing systems.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 </a:t>
            </a:r>
            <a:endParaRPr lang="en-US" sz="2400" dirty="0"/>
          </a:p>
          <a:p>
            <a:pPr algn="just"/>
            <a:r>
              <a:rPr lang="en-US" sz="2400" dirty="0"/>
              <a:t>PL is </a:t>
            </a:r>
            <a:r>
              <a:rPr lang="en-US" sz="2400" dirty="0">
                <a:solidFill>
                  <a:srgbClr val="C00000"/>
                </a:solidFill>
              </a:rPr>
              <a:t>based on mathematical modelling </a:t>
            </a:r>
            <a:r>
              <a:rPr lang="en-US" sz="2400" dirty="0"/>
              <a:t>that can be used to </a:t>
            </a:r>
            <a:r>
              <a:rPr lang="en-US" sz="2400" dirty="0">
                <a:solidFill>
                  <a:srgbClr val="0070C0"/>
                </a:solidFill>
              </a:rPr>
              <a:t>perform reasoning </a:t>
            </a:r>
            <a:r>
              <a:rPr lang="en-US" sz="2400" dirty="0"/>
              <a:t>about the truthfulness or falsehood of logical expressions.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core idea of propositional logic is to develop a language to model the situation in a manner where </a:t>
            </a:r>
            <a:r>
              <a:rPr lang="en-US" sz="2400" dirty="0">
                <a:solidFill>
                  <a:srgbClr val="0070C0"/>
                </a:solidFill>
              </a:rPr>
              <a:t>reasoning</a:t>
            </a:r>
            <a:r>
              <a:rPr lang="en-US" sz="2400" dirty="0"/>
              <a:t> can be performed formally to </a:t>
            </a:r>
            <a:r>
              <a:rPr lang="en-US" sz="2400" dirty="0">
                <a:solidFill>
                  <a:srgbClr val="C00000"/>
                </a:solidFill>
              </a:rPr>
              <a:t>express properties</a:t>
            </a:r>
            <a:r>
              <a:rPr lang="en-US" sz="2400" dirty="0"/>
              <a:t> of a system.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Propositional Logic?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of modern formal specifications and proofs are performed with the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propositional logic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predicate logic.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Propositional logic is a useful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 for modelling and reasoning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diverse application domains, especially in digital circuits.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7494" y="1846730"/>
            <a:ext cx="9342812" cy="3777622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Propositional logic is based on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propositional formulas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are written in a propositional language.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Proposition: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declarative sentence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may either be true or false.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Propositions / sentences express the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concepts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about the world.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Propositional Variables: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Propositions / sentences are represented by propositional variables such p, q, r, … For example;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p: The sun is shining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True: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proposition that is always true is represented by T (or 1)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False: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The proposition that is always false is represented by F (or 0)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7495" y="1739153"/>
            <a:ext cx="9387634" cy="377762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sun is shining ---- True or False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a fall season ---- True or False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Islamabad is the capital of Pakistan ---- True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+ 1 = 1---- True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 + 1 =  2---- False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Example of non-propositions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Pease listen lecture carefully!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your name?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 + 1 = 2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Proposition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326" y="1746738"/>
            <a:ext cx="9306781" cy="355502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Compound proposition are constructed from simple proposition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Two or more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propositions are joined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using logical connectives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formal methods, the natural language is scan for propositions. Each proposition (either True or false) will be translated into an expression usually joined using operators.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4125042"/>
            <a:ext cx="4942887" cy="2557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Translating English sentences to statement in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Identify</a:t>
            </a:r>
            <a:r>
              <a:rPr lang="en-US" sz="2000" dirty="0"/>
              <a:t> atomic propositions and </a:t>
            </a:r>
            <a:r>
              <a:rPr lang="en-US" sz="2000" dirty="0">
                <a:solidFill>
                  <a:srgbClr val="0070C0"/>
                </a:solidFill>
              </a:rPr>
              <a:t>represent</a:t>
            </a:r>
            <a:r>
              <a:rPr lang="en-US" sz="2000" dirty="0"/>
              <a:t> using propositional variables. </a:t>
            </a:r>
            <a:endParaRPr lang="en-US" sz="2000" dirty="0"/>
          </a:p>
          <a:p>
            <a:r>
              <a:rPr lang="en-US" sz="2000" dirty="0"/>
              <a:t>Determine </a:t>
            </a:r>
            <a:r>
              <a:rPr lang="en-US" sz="2000" dirty="0">
                <a:solidFill>
                  <a:srgbClr val="C00000"/>
                </a:solidFill>
              </a:rPr>
              <a:t>appropriate logical connectives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Example;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/>
              <a:t>“If time is 8:00-9:30 am and room CS003 is occupied, then Formal method class is going on.” </a:t>
            </a:r>
            <a:endParaRPr lang="en-US" sz="2000" dirty="0"/>
          </a:p>
          <a:p>
            <a:r>
              <a:rPr lang="en-US" sz="2000" dirty="0"/>
              <a:t>p: time is 8:00-9:30 am </a:t>
            </a:r>
            <a:endParaRPr lang="en-US" sz="2000" dirty="0"/>
          </a:p>
          <a:p>
            <a:r>
              <a:rPr lang="en-US" sz="2000" dirty="0"/>
              <a:t>q: room CS003 is occupied. </a:t>
            </a:r>
            <a:endParaRPr lang="en-US" sz="2000" dirty="0"/>
          </a:p>
          <a:p>
            <a:r>
              <a:rPr lang="en-US" sz="2000" dirty="0"/>
              <a:t>r: Formal method class is going on.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p and q then r. </a:t>
            </a:r>
            <a:r>
              <a:rPr lang="en-US" sz="2000" dirty="0">
                <a:sym typeface="Wingdings" panose="05000000000000000000" pitchFamily="2" charset="2"/>
              </a:rPr>
              <a:t>  </a:t>
            </a:r>
            <a:r>
              <a:rPr lang="en-US" sz="2400" b="1" dirty="0" err="1"/>
              <a:t>p^q</a:t>
            </a:r>
            <a:r>
              <a:rPr lang="en-US" sz="2400" b="1" dirty="0"/>
              <a:t> </a:t>
            </a:r>
            <a:r>
              <a:rPr lang="en-US" sz="2400" b="1" dirty="0">
                <a:sym typeface="Wingdings" panose="05000000000000000000" pitchFamily="2" charset="2"/>
              </a:rPr>
              <a:t>  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 of logical Connectives in PL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7853" y="2083027"/>
            <a:ext cx="8364695" cy="42913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Proposition: A = It is raining. </a:t>
            </a:r>
            <a:endParaRPr lang="en-US" sz="2000" dirty="0"/>
          </a:p>
          <a:p>
            <a:r>
              <a:rPr lang="en-US" sz="2000" dirty="0"/>
              <a:t>Possible value: true or false therefore in a truth table.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Proposition:  ⌐A = It is not raining or Not (It is raining). </a:t>
            </a:r>
            <a:endParaRPr lang="en-US" sz="2000" dirty="0"/>
          </a:p>
          <a:p>
            <a:r>
              <a:rPr lang="en-US" sz="2000" dirty="0"/>
              <a:t>Possible value: true or false therefore in a truth table.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319847" y="2952915"/>
          <a:ext cx="2567354" cy="1478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7354"/>
              </a:tblGrid>
              <a:tr h="470108">
                <a:tc>
                  <a:txBody>
                    <a:bodyPr/>
                    <a:lstStyle/>
                    <a:p>
                      <a:r>
                        <a:rPr lang="en-US" dirty="0"/>
                        <a:t>(A) It is raining</a:t>
                      </a:r>
                      <a:endParaRPr lang="en-US" dirty="0"/>
                    </a:p>
                  </a:txBody>
                  <a:tcPr/>
                </a:tc>
              </a:tr>
              <a:tr h="538191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470108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32486" y="5476305"/>
          <a:ext cx="38471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561"/>
                <a:gridCol w="19235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(⌐A)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disjunction of propositions p and q is denoted by p ∨ q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14515" y="3181513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pvq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3200" b="1" dirty="0"/>
              <a:t>(P v Q) v R </a:t>
            </a:r>
            <a:endParaRPr lang="pt-BR" sz="32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conjunction of propositions p and q is denoted by p ^ q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14515" y="3181513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p^q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Conjunction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 v (Q ^ R) 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5588" y="1720362"/>
            <a:ext cx="9394703" cy="3777622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If p and q are propositions, then p → q is a </a:t>
            </a:r>
            <a:r>
              <a:rPr lang="en-US" sz="2800" dirty="0">
                <a:solidFill>
                  <a:srgbClr val="C00000"/>
                </a:solidFill>
              </a:rPr>
              <a:t>conditional statement or implication </a:t>
            </a:r>
            <a:r>
              <a:rPr lang="en-US" sz="2800" dirty="0"/>
              <a:t>which is read as “</a:t>
            </a:r>
            <a:r>
              <a:rPr lang="en-US" sz="2800" dirty="0">
                <a:solidFill>
                  <a:srgbClr val="0070C0"/>
                </a:solidFill>
              </a:rPr>
              <a:t>if p, then q</a:t>
            </a:r>
            <a:r>
              <a:rPr lang="en-US" sz="2800" dirty="0"/>
              <a:t>” and has this truth table: </a:t>
            </a:r>
            <a:endParaRPr lang="en-US" sz="2800" dirty="0"/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15676" y="3330982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→ q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1" y="2133600"/>
            <a:ext cx="9438665" cy="377762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p → q, p is the hypothesis (</a:t>
            </a:r>
            <a:r>
              <a:rPr lang="en-US" sz="2400" dirty="0">
                <a:solidFill>
                  <a:srgbClr val="0070C0"/>
                </a:solidFill>
              </a:rPr>
              <a:t>antecedent</a:t>
            </a:r>
            <a:r>
              <a:rPr lang="en-US" sz="2400" dirty="0"/>
              <a:t>) and q is the conclusion (or </a:t>
            </a:r>
            <a:r>
              <a:rPr lang="en-US" sz="2400" dirty="0">
                <a:solidFill>
                  <a:srgbClr val="C00000"/>
                </a:solidFill>
              </a:rPr>
              <a:t>consequence</a:t>
            </a:r>
            <a:r>
              <a:rPr lang="en-US" sz="2400" dirty="0"/>
              <a:t>)</a:t>
            </a:r>
            <a:endParaRPr lang="en-US" sz="2400" dirty="0"/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Implication can be expressed by </a:t>
            </a: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disjunction and negation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 → q ≡ ¬p ∨ q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p → q there does not need to be any connection between the antecedent or the consequent. The meaning depends only on the truth values of p and q.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p → (q → r)</a:t>
            </a:r>
            <a:endParaRPr lang="en-US" sz="2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Bi-implication / equivalence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p and q are propositions, then bi-implication proposition      p ↔ q has this truth table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↔ q also reads as: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if and only if q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iff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q.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78283" y="3023252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↔ q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Equivalence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(p → q) ^ (q → p)</a:t>
            </a:r>
            <a:endParaRPr lang="en-US" sz="20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Tautology and Contradiction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Tautology</a:t>
            </a:r>
            <a:r>
              <a:rPr lang="en-US" sz="2800" dirty="0"/>
              <a:t> </a:t>
            </a:r>
            <a:endParaRPr lang="en-US" sz="2800" dirty="0"/>
          </a:p>
          <a:p>
            <a:pPr lvl="1"/>
            <a:r>
              <a:rPr lang="en-US" sz="2400" dirty="0"/>
              <a:t>if it is always true. </a:t>
            </a:r>
            <a:endParaRPr lang="en-US" sz="2400" dirty="0"/>
          </a:p>
          <a:p>
            <a:pPr lvl="1"/>
            <a:r>
              <a:rPr lang="en-US" sz="2400" dirty="0"/>
              <a:t>When all results in the truth table are true</a:t>
            </a:r>
            <a:endParaRPr lang="en-US" sz="2400" dirty="0"/>
          </a:p>
          <a:p>
            <a:pPr lvl="1"/>
            <a:r>
              <a:rPr lang="en-US" sz="2400" dirty="0"/>
              <a:t>Example: p ∨ ¬p.</a:t>
            </a:r>
            <a:endParaRPr lang="en-US" sz="2400" dirty="0"/>
          </a:p>
          <a:p>
            <a:r>
              <a:rPr lang="en-US" sz="2800" b="1" dirty="0"/>
              <a:t>Contradiction</a:t>
            </a:r>
            <a:r>
              <a:rPr lang="en-US" sz="2800" dirty="0"/>
              <a:t> </a:t>
            </a:r>
            <a:r>
              <a:rPr lang="en-US" sz="2800" b="1" dirty="0"/>
              <a:t>/Un-satisfiability</a:t>
            </a:r>
            <a:endParaRPr lang="en-US" sz="2800" b="1" dirty="0"/>
          </a:p>
          <a:p>
            <a:pPr lvl="1"/>
            <a:r>
              <a:rPr lang="en-US" sz="2400" dirty="0"/>
              <a:t>if it always false. </a:t>
            </a:r>
            <a:endParaRPr lang="en-US" sz="2400" dirty="0"/>
          </a:p>
          <a:p>
            <a:pPr lvl="1"/>
            <a:r>
              <a:rPr lang="en-US" sz="2400" dirty="0"/>
              <a:t>When all results in the truth table are false</a:t>
            </a:r>
            <a:endParaRPr lang="en-US" sz="2400" dirty="0"/>
          </a:p>
          <a:p>
            <a:pPr lvl="1"/>
            <a:r>
              <a:rPr lang="en-US" sz="2400" dirty="0"/>
              <a:t>Example: p ∧ ¬p.</a:t>
            </a:r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Satisfiability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A formula is </a:t>
            </a:r>
            <a:r>
              <a:rPr lang="en-US" sz="2400" dirty="0" err="1"/>
              <a:t>satisfiable</a:t>
            </a:r>
            <a:r>
              <a:rPr lang="en-US" sz="2400" dirty="0"/>
              <a:t> if it </a:t>
            </a:r>
            <a:r>
              <a:rPr lang="en-US" sz="2400" dirty="0">
                <a:solidFill>
                  <a:srgbClr val="FF0000"/>
                </a:solidFill>
              </a:rPr>
              <a:t>holds under some or all assignments</a:t>
            </a:r>
            <a:r>
              <a:rPr lang="en-US" sz="2400" dirty="0"/>
              <a:t>, which means the truth values of conclusion, some values are true and some values are false.</a:t>
            </a:r>
            <a:endParaRPr lang="en-US" sz="2400" dirty="0"/>
          </a:p>
          <a:p>
            <a:pPr algn="just"/>
            <a:r>
              <a:rPr lang="en-US" sz="2400" dirty="0"/>
              <a:t>It may be possible that all values are true.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23308" y="4377266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700"/>
                <a:gridCol w="1239715"/>
                <a:gridCol w="1934308"/>
                <a:gridCol w="1732084"/>
                <a:gridCol w="193919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 </a:t>
                      </a:r>
                      <a:r>
                        <a:rPr lang="en-US" sz="1800" dirty="0"/>
                        <a:t>→ 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p^(p </a:t>
                      </a:r>
                      <a:r>
                        <a:rPr lang="en-US" sz="1800" dirty="0"/>
                        <a:t>→ q)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/>
                        <a:t>p^(p </a:t>
                      </a:r>
                      <a:r>
                        <a:rPr lang="en-US" sz="1800" dirty="0"/>
                        <a:t>→ q) →q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Laws in Propositional Logic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075" y="2805788"/>
            <a:ext cx="10577512" cy="30282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7670" y="638175"/>
            <a:ext cx="10067290" cy="55810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91155" y="139065"/>
            <a:ext cx="8684895" cy="6630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1000" y="265430"/>
            <a:ext cx="10015220" cy="63360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0125" y="129540"/>
            <a:ext cx="9073515" cy="6666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 of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212" y="1701825"/>
            <a:ext cx="874395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 of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1112" y="2085976"/>
            <a:ext cx="8953500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 of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062" y="1522098"/>
            <a:ext cx="8972550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Semantics of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212" y="1501250"/>
            <a:ext cx="9058275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Validity in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212" y="1655448"/>
            <a:ext cx="8753475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Decidability in Propositional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212" y="2133600"/>
            <a:ext cx="9115425" cy="3028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4785</Words>
  <Application>WPS Presentation</Application>
  <PresentationFormat>Widescreen</PresentationFormat>
  <Paragraphs>347</Paragraphs>
  <Slides>33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SimSun</vt:lpstr>
      <vt:lpstr>Wingdings</vt:lpstr>
      <vt:lpstr>Wingdings 3</vt:lpstr>
      <vt:lpstr>Symbol</vt:lpstr>
      <vt:lpstr>Arial</vt:lpstr>
      <vt:lpstr>Century Gothic</vt:lpstr>
      <vt:lpstr>Microsoft YaHei</vt:lpstr>
      <vt:lpstr>Arial Unicode MS</vt:lpstr>
      <vt:lpstr>Calibri</vt:lpstr>
      <vt:lpstr>Wisp</vt:lpstr>
      <vt:lpstr>Formal Methods in Software Engineering</vt:lpstr>
      <vt:lpstr>Recapping…..</vt:lpstr>
      <vt:lpstr>What is Propositional Logic?</vt:lpstr>
      <vt:lpstr>Why Propositional Logic?</vt:lpstr>
      <vt:lpstr>Atomic proposition</vt:lpstr>
      <vt:lpstr>Atomic proposition</vt:lpstr>
      <vt:lpstr>Atomic proposition</vt:lpstr>
      <vt:lpstr>Compound Proposition</vt:lpstr>
      <vt:lpstr>Translating English sentences to statement in propositional logic</vt:lpstr>
      <vt:lpstr>Precedence of logical Connectives in PL</vt:lpstr>
      <vt:lpstr>Negation</vt:lpstr>
      <vt:lpstr>Disjunction</vt:lpstr>
      <vt:lpstr>Disjunction Example</vt:lpstr>
      <vt:lpstr>Conjunction</vt:lpstr>
      <vt:lpstr>Conjunction Example</vt:lpstr>
      <vt:lpstr>Implication</vt:lpstr>
      <vt:lpstr>Implication</vt:lpstr>
      <vt:lpstr>Implication Example</vt:lpstr>
      <vt:lpstr>Bi-implication / equivalence</vt:lpstr>
      <vt:lpstr>Equivalence Example</vt:lpstr>
      <vt:lpstr>Tautology and Contradiction</vt:lpstr>
      <vt:lpstr>Satisfiability</vt:lpstr>
      <vt:lpstr>Laws in Propositional Logic</vt:lpstr>
      <vt:lpstr>PowerPoint 演示文稿</vt:lpstr>
      <vt:lpstr>PowerPoint 演示文稿</vt:lpstr>
      <vt:lpstr>PowerPoint 演示文稿</vt:lpstr>
      <vt:lpstr>PowerPoint 演示文稿</vt:lpstr>
      <vt:lpstr>Syntax of Propositional Logic</vt:lpstr>
      <vt:lpstr>Syntax of Propositional Logic</vt:lpstr>
      <vt:lpstr>Semantics of Propositional Logic</vt:lpstr>
      <vt:lpstr>Semantics of Propositional Logic</vt:lpstr>
      <vt:lpstr>Validity in Propositional Logic</vt:lpstr>
      <vt:lpstr>Decidability in Propositional Logic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Haider</cp:lastModifiedBy>
  <cp:revision>219</cp:revision>
  <dcterms:created xsi:type="dcterms:W3CDTF">2017-01-18T11:57:00Z</dcterms:created>
  <dcterms:modified xsi:type="dcterms:W3CDTF">2024-08-18T21:18:50Z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79E6386D9115446081B34EB1684479F1_12</vt:lpwstr>
  </property>
  <property fmtid="{D5CDD505-2E9C-101B-9397-08002B2CF9AE}" pid="3" name="KSOProductBuildVer">
    <vt:lpwstr>1033-12.2.0.13472</vt:lpwstr>
  </property>
</Properties>
</file>