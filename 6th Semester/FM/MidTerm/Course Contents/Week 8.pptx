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7"/>
  </p:notesMasterIdLst>
  <p:sldIdLst>
    <p:sldId id="256" r:id="rId2"/>
    <p:sldId id="301" r:id="rId3"/>
    <p:sldId id="343" r:id="rId4"/>
    <p:sldId id="320" r:id="rId5"/>
    <p:sldId id="333" r:id="rId6"/>
    <p:sldId id="342" r:id="rId7"/>
    <p:sldId id="303" r:id="rId8"/>
    <p:sldId id="305" r:id="rId9"/>
    <p:sldId id="306" r:id="rId10"/>
    <p:sldId id="307" r:id="rId11"/>
    <p:sldId id="308" r:id="rId12"/>
    <p:sldId id="309" r:id="rId13"/>
    <p:sldId id="316" r:id="rId14"/>
    <p:sldId id="317" r:id="rId15"/>
    <p:sldId id="291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86" d="100"/>
          <a:sy n="86" d="100"/>
        </p:scale>
        <p:origin x="56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05EB7B-CADD-4D75-ADF0-053F70AF6617}" type="datetimeFigureOut">
              <a:rPr lang="en-US" smtClean="0"/>
              <a:t>8/25/2022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4964FC-4812-415C-8FD8-414485E3AD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037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4964FC-4812-415C-8FD8-414485E3AD5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0540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4964FC-4812-415C-8FD8-414485E3AD5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6405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8/25/2022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8/25/2022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8/25/2022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8/25/2022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8/25/2022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8/25/2022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8/25/2022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8/25/2022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8/25/2022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8/25/2022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8/25/2022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8/25/2022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8/25/2022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8/25/2022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8/25/2022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8/25/2022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bg1"/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8/25/2022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Formal Methods in Software Engineering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ctr"/>
            <a:endParaRPr lang="en-US" dirty="0"/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74235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Full Computational Tree Logic (CTL*)</a:t>
            </a:r>
            <a:br>
              <a:rPr lang="en-US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04574" y="1931377"/>
            <a:ext cx="9359534" cy="4381500"/>
          </a:xfrm>
        </p:spPr>
        <p:txBody>
          <a:bodyPr>
            <a:noAutofit/>
          </a:bodyPr>
          <a:lstStyle/>
          <a:p>
            <a:r>
              <a:rPr lang="en-US" sz="2400" dirty="0">
                <a:latin typeface="Arial Rounded MT Bold" panose="020F0704030504030204" pitchFamily="34" charset="0"/>
              </a:rPr>
              <a:t>CTL* is considered as a </a:t>
            </a:r>
            <a:r>
              <a:rPr 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superset</a:t>
            </a:r>
            <a:r>
              <a:rPr lang="en-US" sz="2400" dirty="0">
                <a:latin typeface="Arial Rounded MT Bold" panose="020F0704030504030204" pitchFamily="34" charset="0"/>
              </a:rPr>
              <a:t> of CTL and LTL. </a:t>
            </a:r>
          </a:p>
          <a:p>
            <a:endParaRPr lang="en-US" sz="2400" dirty="0">
              <a:latin typeface="Arial Rounded MT Bold" panose="020F0704030504030204" pitchFamily="34" charset="0"/>
            </a:endParaRPr>
          </a:p>
          <a:p>
            <a:r>
              <a:rPr lang="en-US" sz="2400" dirty="0">
                <a:latin typeface="Arial Rounded MT Bold" panose="020F0704030504030204" pitchFamily="34" charset="0"/>
              </a:rPr>
              <a:t>CTL* is a powerful temporal logic which </a:t>
            </a:r>
            <a:r>
              <a:rPr lang="en-US" sz="2400" dirty="0">
                <a:solidFill>
                  <a:srgbClr val="C00000"/>
                </a:solidFill>
                <a:latin typeface="Arial Rounded MT Bold" panose="020F0704030504030204" pitchFamily="34" charset="0"/>
              </a:rPr>
              <a:t>combines both the linear time and branching time </a:t>
            </a:r>
            <a:r>
              <a:rPr lang="en-US" sz="2400" dirty="0">
                <a:latin typeface="Arial Rounded MT Bold" panose="020F0704030504030204" pitchFamily="34" charset="0"/>
              </a:rPr>
              <a:t>temporal operators including</a:t>
            </a:r>
          </a:p>
          <a:p>
            <a:pPr marL="0" indent="0">
              <a:buNone/>
            </a:pPr>
            <a:r>
              <a:rPr lang="en-US" sz="2400" dirty="0">
                <a:latin typeface="Arial Rounded MT Bold" panose="020F0704030504030204" pitchFamily="34" charset="0"/>
              </a:rPr>
              <a:t>	state formulas with path quantifiers. </a:t>
            </a:r>
          </a:p>
          <a:p>
            <a:endParaRPr lang="en-US" sz="2400" dirty="0">
              <a:latin typeface="Arial Rounded MT Bold" panose="020F0704030504030204" pitchFamily="34" charset="0"/>
            </a:endParaRPr>
          </a:p>
          <a:p>
            <a:r>
              <a:rPr lang="en-US" sz="2400" dirty="0">
                <a:latin typeface="Arial Rounded MT Bold" panose="020F0704030504030204" pitchFamily="34" charset="0"/>
              </a:rPr>
              <a:t>It is much more </a:t>
            </a:r>
            <a:r>
              <a:rPr lang="en-US" sz="2400" dirty="0">
                <a:solidFill>
                  <a:srgbClr val="C00000"/>
                </a:solidFill>
                <a:latin typeface="Arial Rounded MT Bold" panose="020F0704030504030204" pitchFamily="34" charset="0"/>
              </a:rPr>
              <a:t>expressive</a:t>
            </a:r>
            <a:r>
              <a:rPr lang="en-US" sz="2400" dirty="0">
                <a:latin typeface="Arial Rounded MT Bold" panose="020F0704030504030204" pitchFamily="34" charset="0"/>
              </a:rPr>
              <a:t> than CTL and LTL and freely combines the path quantifiers with temporal operators.</a:t>
            </a:r>
          </a:p>
          <a:p>
            <a:endParaRPr lang="en-US" sz="2400" dirty="0">
              <a:latin typeface="Arial Rounded MT Bold" panose="020F0704030504030204" pitchFamily="34" charset="0"/>
            </a:endParaRPr>
          </a:p>
          <a:p>
            <a:r>
              <a:rPr lang="en-US" sz="2400" dirty="0">
                <a:latin typeface="Arial Rounded MT Bold" panose="020F0704030504030204" pitchFamily="34" charset="0"/>
              </a:rPr>
              <a:t>CTL* temporal operators (F,X, G, U) are associated with unique path quantifier (E, A).</a:t>
            </a:r>
          </a:p>
          <a:p>
            <a:pPr marL="0" indent="0">
              <a:buNone/>
            </a:pPr>
            <a:r>
              <a:rPr lang="en-US" sz="2400" dirty="0">
                <a:latin typeface="Arial Rounded MT Bold" panose="020F0704030504030204" pitchFamily="34" charset="0"/>
              </a:rPr>
              <a:t> </a:t>
            </a:r>
            <a:endParaRPr lang="en-US" sz="2400" dirty="0">
              <a:latin typeface="Arial Narrow" panose="020B0606020202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65496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CTL*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8850" y="2076450"/>
            <a:ext cx="9486900" cy="396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77778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CTL* using Kripke Structure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04574" y="1931377"/>
            <a:ext cx="9359534" cy="4381500"/>
          </a:xfrm>
        </p:spPr>
        <p:txBody>
          <a:bodyPr>
            <a:noAutofit/>
          </a:bodyPr>
          <a:lstStyle/>
          <a:p>
            <a:r>
              <a:rPr lang="en-US" sz="2400" dirty="0">
                <a:latin typeface="Arial Rounded MT Bold" panose="020F0704030504030204" pitchFamily="34" charset="0"/>
              </a:rPr>
              <a:t>Kripke structure is used to define the semantics of CTL*. </a:t>
            </a:r>
          </a:p>
          <a:p>
            <a:endParaRPr lang="en-US" sz="2400" dirty="0">
              <a:latin typeface="Arial Rounded MT Bold" panose="020F0704030504030204" pitchFamily="34" charset="0"/>
            </a:endParaRPr>
          </a:p>
          <a:p>
            <a:r>
              <a:rPr lang="en-US" sz="2400" dirty="0">
                <a:latin typeface="Arial Rounded MT Bold" panose="020F0704030504030204" pitchFamily="34" charset="0"/>
              </a:rPr>
              <a:t>Two types of formulas used in CTL* are state formulas and path formulas. </a:t>
            </a:r>
          </a:p>
          <a:p>
            <a:pPr lvl="1"/>
            <a:endParaRPr lang="en-US" sz="2200" dirty="0">
              <a:latin typeface="Arial Rounded MT Bold" panose="020F0704030504030204" pitchFamily="34" charset="0"/>
            </a:endParaRPr>
          </a:p>
          <a:p>
            <a:pPr lvl="1"/>
            <a:r>
              <a:rPr lang="en-US" sz="2200" dirty="0">
                <a:solidFill>
                  <a:srgbClr val="C00000"/>
                </a:solidFill>
                <a:latin typeface="Arial Rounded MT Bold" panose="020F0704030504030204" pitchFamily="34" charset="0"/>
              </a:rPr>
              <a:t>State</a:t>
            </a:r>
            <a:r>
              <a:rPr lang="en-US" sz="2200" dirty="0">
                <a:latin typeface="Arial Rounded MT Bold" panose="020F0704030504030204" pitchFamily="34" charset="0"/>
              </a:rPr>
              <a:t> </a:t>
            </a:r>
            <a:r>
              <a:rPr lang="en-US" sz="2200" dirty="0">
                <a:solidFill>
                  <a:srgbClr val="C00000"/>
                </a:solidFill>
                <a:latin typeface="Arial Rounded MT Bold" panose="020F0704030504030204" pitchFamily="34" charset="0"/>
              </a:rPr>
              <a:t>formulas</a:t>
            </a:r>
            <a:r>
              <a:rPr lang="en-US" sz="2200" dirty="0">
                <a:latin typeface="Arial Rounded MT Bold" panose="020F0704030504030204" pitchFamily="34" charset="0"/>
              </a:rPr>
              <a:t> are interpreted with respect to states </a:t>
            </a:r>
          </a:p>
          <a:p>
            <a:pPr lvl="1"/>
            <a:endParaRPr lang="en-US" sz="2200" dirty="0">
              <a:latin typeface="Arial Rounded MT Bold" panose="020F0704030504030204" pitchFamily="34" charset="0"/>
            </a:endParaRPr>
          </a:p>
          <a:p>
            <a:pPr lvl="1"/>
            <a:r>
              <a:rPr lang="en-US" sz="22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Path</a:t>
            </a:r>
            <a:r>
              <a:rPr lang="en-US" sz="2200" dirty="0">
                <a:latin typeface="Arial Rounded MT Bold" panose="020F0704030504030204" pitchFamily="34" charset="0"/>
              </a:rPr>
              <a:t> </a:t>
            </a:r>
            <a:r>
              <a:rPr lang="en-US" sz="22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formulas</a:t>
            </a:r>
            <a:r>
              <a:rPr lang="en-US" sz="2200" dirty="0">
                <a:latin typeface="Arial Rounded MT Bold" panose="020F0704030504030204" pitchFamily="34" charset="0"/>
              </a:rPr>
              <a:t> are interpreted over paths.</a:t>
            </a:r>
          </a:p>
          <a:p>
            <a:pPr marL="0" indent="0" algn="just">
              <a:buNone/>
            </a:pPr>
            <a:r>
              <a:rPr lang="en-US" sz="2400" dirty="0">
                <a:latin typeface="Arial Narrow" panose="020B0606020202030204" pitchFamily="34" charset="0"/>
              </a:rPr>
              <a:t> </a:t>
            </a:r>
            <a:endParaRPr lang="en-US" sz="2400" dirty="0">
              <a:latin typeface="Arial Narrow" panose="020B0606020202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61420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Path formula Vs State Formula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4904" y="2065459"/>
            <a:ext cx="10104792" cy="430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44785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Temporal logic expressive power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2200" dirty="0">
                <a:latin typeface="Arial Rounded MT Bold" panose="020F0704030504030204" pitchFamily="34" charset="0"/>
              </a:rPr>
              <a:t>We discussed three different logics, each having different expressive powers </a:t>
            </a:r>
          </a:p>
          <a:p>
            <a:endParaRPr lang="en-US" sz="2200" dirty="0">
              <a:latin typeface="Arial Rounded MT Bold" panose="020F0704030504030204" pitchFamily="34" charset="0"/>
            </a:endParaRPr>
          </a:p>
          <a:p>
            <a:r>
              <a:rPr lang="en-US" sz="2200" dirty="0">
                <a:latin typeface="Arial Rounded MT Bold" panose="020F0704030504030204" pitchFamily="34" charset="0"/>
              </a:rPr>
              <a:t>For example; there is no CTL formula that is equivalent to the LTL formula A(FG p)</a:t>
            </a:r>
          </a:p>
          <a:p>
            <a:endParaRPr lang="en-US" sz="2200" dirty="0">
              <a:latin typeface="Arial Rounded MT Bold" panose="020F0704030504030204" pitchFamily="34" charset="0"/>
            </a:endParaRPr>
          </a:p>
          <a:p>
            <a:r>
              <a:rPr lang="en-US" sz="2200" dirty="0">
                <a:latin typeface="Arial Rounded MT Bold" panose="020F0704030504030204" pitchFamily="34" charset="0"/>
              </a:rPr>
              <a:t>Likewise, there is no LTL formula that is equivalent to the CTL formula AG(EF p)</a:t>
            </a:r>
          </a:p>
          <a:p>
            <a:endParaRPr lang="en-US" sz="2200" dirty="0">
              <a:latin typeface="Arial Rounded MT Bold" panose="020F0704030504030204" pitchFamily="34" charset="0"/>
            </a:endParaRPr>
          </a:p>
          <a:p>
            <a:r>
              <a:rPr lang="en-US" sz="2200" dirty="0">
                <a:latin typeface="Arial Rounded MT Bold" panose="020F0704030504030204" pitchFamily="34" charset="0"/>
              </a:rPr>
              <a:t>The disjunction of A(FG p) v AG(EF p) is a CTL* formula that is not expressible in either CTL or LTL</a:t>
            </a:r>
          </a:p>
          <a:p>
            <a:endParaRPr lang="en-US" sz="2200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70754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CTL* State formulas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04574" y="1931377"/>
            <a:ext cx="9359534" cy="4381500"/>
          </a:xfrm>
        </p:spPr>
        <p:txBody>
          <a:bodyPr>
            <a:noAutofit/>
          </a:bodyPr>
          <a:lstStyle/>
          <a:p>
            <a:r>
              <a:rPr lang="en-US" sz="2400" dirty="0">
                <a:latin typeface="Arial Rounded MT Bold" panose="020F0704030504030204" pitchFamily="34" charset="0"/>
              </a:rPr>
              <a:t>CTL* has the </a:t>
            </a:r>
            <a:r>
              <a:rPr lang="en-US" sz="2400" dirty="0">
                <a:solidFill>
                  <a:srgbClr val="C00000"/>
                </a:solidFill>
                <a:latin typeface="Arial Rounded MT Bold" panose="020F0704030504030204" pitchFamily="34" charset="0"/>
              </a:rPr>
              <a:t>same operators </a:t>
            </a:r>
            <a:r>
              <a:rPr lang="en-US" sz="2400" dirty="0">
                <a:latin typeface="Arial Rounded MT Bold" panose="020F0704030504030204" pitchFamily="34" charset="0"/>
              </a:rPr>
              <a:t>used in CTL. </a:t>
            </a:r>
          </a:p>
          <a:p>
            <a:r>
              <a:rPr lang="en-US" sz="2400" dirty="0">
                <a:latin typeface="Arial Rounded MT Bold" panose="020F0704030504030204" pitchFamily="34" charset="0"/>
              </a:rPr>
              <a:t>CTL* syntax is defined using propositional variables (P), logical operators, and temporal operators. </a:t>
            </a:r>
          </a:p>
          <a:p>
            <a:r>
              <a:rPr lang="en-US" sz="2400" dirty="0">
                <a:latin typeface="Arial Rounded MT Bold" panose="020F0704030504030204" pitchFamily="34" charset="0"/>
              </a:rPr>
              <a:t>The formulas of CTL* is formally defined as follows:</a:t>
            </a:r>
          </a:p>
          <a:p>
            <a:pPr marL="0" indent="0" algn="just">
              <a:buNone/>
            </a:pPr>
            <a:r>
              <a:rPr lang="en-US" sz="2400" dirty="0">
                <a:latin typeface="Arial Narrow" panose="020B0606020202030204" pitchFamily="34" charset="0"/>
              </a:rPr>
              <a:t> </a:t>
            </a:r>
            <a:endParaRPr lang="en-US" sz="2400" dirty="0">
              <a:latin typeface="Arial Narrow" panose="020B060602020203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8653" y="4214812"/>
            <a:ext cx="10498015" cy="100781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92985" y="5548312"/>
            <a:ext cx="5686425" cy="352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34276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CTL* State formulas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04574" y="1913793"/>
            <a:ext cx="9359534" cy="4381500"/>
          </a:xfrm>
        </p:spPr>
        <p:txBody>
          <a:bodyPr>
            <a:noAutofit/>
          </a:bodyPr>
          <a:lstStyle/>
          <a:p>
            <a:pPr algn="just"/>
            <a:r>
              <a:rPr lang="en-US" sz="2400" dirty="0">
                <a:latin typeface="Arial Rounded MT Bold" panose="020F0704030504030204" pitchFamily="34" charset="0"/>
              </a:rPr>
              <a:t>Semantics</a:t>
            </a:r>
          </a:p>
          <a:p>
            <a:pPr marL="457200" lvl="1" indent="0" algn="just">
              <a:buNone/>
            </a:pPr>
            <a:endParaRPr lang="en-US" sz="2200" dirty="0">
              <a:latin typeface="Arial Narrow" panose="020B0606020202030204" pitchFamily="34" charset="0"/>
            </a:endParaRPr>
          </a:p>
          <a:p>
            <a:pPr marL="0" indent="0" algn="just">
              <a:buNone/>
            </a:pPr>
            <a:r>
              <a:rPr lang="en-US" sz="2400" dirty="0">
                <a:latin typeface="Arial Narrow" panose="020B0606020202030204" pitchFamily="34" charset="0"/>
              </a:rPr>
              <a:t> </a:t>
            </a:r>
            <a:endParaRPr lang="en-US" sz="2400" dirty="0">
              <a:latin typeface="Arial Narrow" panose="020B060602020203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9672" y="3334849"/>
            <a:ext cx="10556998" cy="1876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88324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CTL* State formulas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04574" y="1474177"/>
            <a:ext cx="9359534" cy="4381500"/>
          </a:xfrm>
        </p:spPr>
        <p:txBody>
          <a:bodyPr>
            <a:noAutofit/>
          </a:bodyPr>
          <a:lstStyle/>
          <a:p>
            <a:pPr algn="just"/>
            <a:r>
              <a:rPr lang="en-US" sz="2400" dirty="0">
                <a:latin typeface="Arial Rounded MT Bold" panose="020F0704030504030204" pitchFamily="34" charset="0"/>
              </a:rPr>
              <a:t>Semantics</a:t>
            </a:r>
          </a:p>
          <a:p>
            <a:pPr marL="0" indent="0" algn="just">
              <a:buNone/>
            </a:pPr>
            <a:r>
              <a:rPr lang="en-US" sz="2400" dirty="0">
                <a:latin typeface="Arial Narrow" panose="020B0606020202030204" pitchFamily="34" charset="0"/>
              </a:rPr>
              <a:t> </a:t>
            </a:r>
            <a:endParaRPr lang="en-US" sz="2400" dirty="0">
              <a:latin typeface="Arial Narrow" panose="020B060602020203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7962" y="1990724"/>
            <a:ext cx="7138988" cy="4659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71588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CTL* State formulas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04574" y="1685193"/>
            <a:ext cx="9359534" cy="4381500"/>
          </a:xfrm>
        </p:spPr>
        <p:txBody>
          <a:bodyPr>
            <a:noAutofit/>
          </a:bodyPr>
          <a:lstStyle/>
          <a:p>
            <a:pPr algn="just"/>
            <a:r>
              <a:rPr lang="en-US" sz="2400" dirty="0">
                <a:latin typeface="Arial Rounded MT Bold" panose="020F0704030504030204" pitchFamily="34" charset="0"/>
              </a:rPr>
              <a:t>Semantics</a:t>
            </a:r>
          </a:p>
          <a:p>
            <a:pPr marL="0" indent="0" algn="just">
              <a:buNone/>
            </a:pPr>
            <a:r>
              <a:rPr lang="en-US" sz="2400" dirty="0">
                <a:latin typeface="Arial Narrow" panose="020B0606020202030204" pitchFamily="34" charset="0"/>
              </a:rPr>
              <a:t> </a:t>
            </a:r>
            <a:endParaRPr lang="en-US" sz="2400" dirty="0">
              <a:latin typeface="Arial Narrow" panose="020B060602020203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3612" y="2285999"/>
            <a:ext cx="9823853" cy="3705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99111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CTL* Path formulas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04574" y="1632439"/>
            <a:ext cx="9359534" cy="4381500"/>
          </a:xfrm>
        </p:spPr>
        <p:txBody>
          <a:bodyPr>
            <a:noAutofit/>
          </a:bodyPr>
          <a:lstStyle/>
          <a:p>
            <a:pPr algn="just"/>
            <a:r>
              <a:rPr lang="en-US" sz="2400" dirty="0">
                <a:latin typeface="Arial Rounded MT Bold" panose="020F0704030504030204" pitchFamily="34" charset="0"/>
              </a:rPr>
              <a:t>Syntax</a:t>
            </a:r>
          </a:p>
          <a:p>
            <a:pPr marL="0" indent="0" algn="just">
              <a:buNone/>
            </a:pPr>
            <a:r>
              <a:rPr lang="en-US" sz="2400" dirty="0">
                <a:latin typeface="Arial Narrow" panose="020B0606020202030204" pitchFamily="34" charset="0"/>
              </a:rPr>
              <a:t> </a:t>
            </a:r>
            <a:endParaRPr lang="en-US" sz="2400" dirty="0">
              <a:latin typeface="Arial Narrow" panose="020B060602020203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9416" y="2055935"/>
            <a:ext cx="9296400" cy="466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45382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CTL* Path formulas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78197" y="1650023"/>
            <a:ext cx="9359534" cy="4381500"/>
          </a:xfrm>
        </p:spPr>
        <p:txBody>
          <a:bodyPr>
            <a:noAutofit/>
          </a:bodyPr>
          <a:lstStyle/>
          <a:p>
            <a:pPr algn="just"/>
            <a:r>
              <a:rPr lang="en-US" sz="2400" dirty="0">
                <a:latin typeface="Arial Rounded MT Bold" panose="020F0704030504030204" pitchFamily="34" charset="0"/>
              </a:rPr>
              <a:t>Semantics</a:t>
            </a:r>
          </a:p>
          <a:p>
            <a:pPr marL="0" indent="0" algn="just">
              <a:buNone/>
            </a:pPr>
            <a:r>
              <a:rPr lang="en-US" sz="2400" dirty="0">
                <a:latin typeface="Arial Narrow" panose="020B0606020202030204" pitchFamily="34" charset="0"/>
              </a:rPr>
              <a:t> </a:t>
            </a:r>
            <a:endParaRPr lang="en-US" sz="2400" dirty="0">
              <a:latin typeface="Arial Narrow" panose="020B060602020203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0164" y="2357804"/>
            <a:ext cx="9086850" cy="4438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52997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Analysis of Temporal Logic?</a:t>
            </a:r>
            <a:br>
              <a:rPr lang="en-US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04574" y="1931377"/>
            <a:ext cx="9359534" cy="4381500"/>
          </a:xfrm>
        </p:spPr>
        <p:txBody>
          <a:bodyPr>
            <a:noAutofit/>
          </a:bodyPr>
          <a:lstStyle/>
          <a:p>
            <a:r>
              <a:rPr lang="en-US" sz="2400" dirty="0">
                <a:latin typeface="Arial Rounded MT Bold" panose="020F0704030504030204" pitchFamily="34" charset="0"/>
              </a:rPr>
              <a:t>Three temporal logics discussed above are different in terms of </a:t>
            </a:r>
            <a:r>
              <a:rPr 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expressive powers, quantifiers, structures and behavior </a:t>
            </a:r>
            <a:r>
              <a:rPr lang="en-US" sz="2400" dirty="0">
                <a:latin typeface="Arial Rounded MT Bold" panose="020F0704030504030204" pitchFamily="34" charset="0"/>
              </a:rPr>
              <a:t>of the systems. </a:t>
            </a:r>
          </a:p>
          <a:p>
            <a:endParaRPr lang="en-US" sz="2400" dirty="0">
              <a:latin typeface="Arial Rounded MT Bold" panose="020F0704030504030204" pitchFamily="34" charset="0"/>
            </a:endParaRPr>
          </a:p>
          <a:p>
            <a:r>
              <a:rPr lang="en-US" sz="2400" dirty="0">
                <a:latin typeface="Arial Rounded MT Bold" panose="020F0704030504030204" pitchFamily="34" charset="0"/>
              </a:rPr>
              <a:t>Linear Time Temporal Logic (LTL) is more straight forward to use and have the individual paths (Path formulas). </a:t>
            </a:r>
          </a:p>
          <a:p>
            <a:endParaRPr lang="en-US" sz="2400" dirty="0">
              <a:latin typeface="Arial Rounded MT Bold" panose="020F0704030504030204" pitchFamily="34" charset="0"/>
            </a:endParaRPr>
          </a:p>
          <a:p>
            <a:r>
              <a:rPr lang="en-US" sz="2400" dirty="0">
                <a:latin typeface="Arial Rounded MT Bold" panose="020F0704030504030204" pitchFamily="34" charset="0"/>
              </a:rPr>
              <a:t>Computational Tree Logic (CTL) has the ability to </a:t>
            </a:r>
            <a:r>
              <a:rPr lang="en-US" sz="2400" dirty="0">
                <a:solidFill>
                  <a:srgbClr val="C00000"/>
                </a:solidFill>
                <a:latin typeface="Arial Rounded MT Bold" panose="020F0704030504030204" pitchFamily="34" charset="0"/>
              </a:rPr>
              <a:t>quantify paths</a:t>
            </a:r>
            <a:r>
              <a:rPr lang="en-US" sz="2400" dirty="0">
                <a:latin typeface="Arial Rounded MT Bold" panose="020F0704030504030204" pitchFamily="34" charset="0"/>
              </a:rPr>
              <a:t>. Its formulas like AF p seems hard to understand.</a:t>
            </a:r>
          </a:p>
          <a:p>
            <a:pPr marL="0" indent="0" algn="just">
              <a:buNone/>
            </a:pPr>
            <a:r>
              <a:rPr lang="en-US" sz="2400" dirty="0">
                <a:latin typeface="Arial Narrow" panose="020B0606020202030204" pitchFamily="34" charset="0"/>
              </a:rPr>
              <a:t> </a:t>
            </a:r>
            <a:endParaRPr lang="en-US" sz="2400" dirty="0">
              <a:latin typeface="Arial Narrow" panose="020B0606020202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13347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Analysis of Temporal Logic?</a:t>
            </a:r>
            <a:br>
              <a:rPr lang="en-US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04574" y="1931377"/>
            <a:ext cx="9359534" cy="4381500"/>
          </a:xfrm>
        </p:spPr>
        <p:txBody>
          <a:bodyPr>
            <a:noAutofit/>
          </a:bodyPr>
          <a:lstStyle/>
          <a:p>
            <a:r>
              <a:rPr lang="en-US" sz="2400" dirty="0">
                <a:latin typeface="Arial Rounded MT Bold" panose="020F0704030504030204" pitchFamily="34" charset="0"/>
              </a:rPr>
              <a:t>CTL* is </a:t>
            </a:r>
            <a:r>
              <a:rPr lang="en-US" sz="2400" dirty="0">
                <a:solidFill>
                  <a:srgbClr val="C00000"/>
                </a:solidFill>
                <a:latin typeface="Arial Rounded MT Bold" panose="020F0704030504030204" pitchFamily="34" charset="0"/>
              </a:rPr>
              <a:t>more expressive</a:t>
            </a:r>
            <a:r>
              <a:rPr lang="en-US" sz="2400" dirty="0">
                <a:latin typeface="Arial Rounded MT Bold" panose="020F0704030504030204" pitchFamily="34" charset="0"/>
              </a:rPr>
              <a:t> than CTL and LTL but computationally it is much more </a:t>
            </a:r>
            <a:r>
              <a:rPr lang="en-US" sz="2400" dirty="0">
                <a:solidFill>
                  <a:srgbClr val="C00000"/>
                </a:solidFill>
                <a:latin typeface="Arial Rounded MT Bold" panose="020F0704030504030204" pitchFamily="34" charset="0"/>
              </a:rPr>
              <a:t>expensive</a:t>
            </a:r>
            <a:r>
              <a:rPr lang="en-US" sz="2400" dirty="0">
                <a:latin typeface="Arial Rounded MT Bold" panose="020F0704030504030204" pitchFamily="34" charset="0"/>
              </a:rPr>
              <a:t>. </a:t>
            </a:r>
          </a:p>
          <a:p>
            <a:endParaRPr lang="en-US" sz="2400" dirty="0">
              <a:latin typeface="Arial Rounded MT Bold" panose="020F0704030504030204" pitchFamily="34" charset="0"/>
            </a:endParaRPr>
          </a:p>
          <a:p>
            <a:r>
              <a:rPr lang="en-US" sz="2400" dirty="0">
                <a:latin typeface="Arial Rounded MT Bold" panose="020F0704030504030204" pitchFamily="34" charset="0"/>
              </a:rPr>
              <a:t>CTL* is very </a:t>
            </a:r>
            <a:r>
              <a:rPr 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useful for developing and checking correctness </a:t>
            </a:r>
            <a:r>
              <a:rPr lang="en-US" sz="2400" dirty="0">
                <a:latin typeface="Arial Rounded MT Bold" panose="020F0704030504030204" pitchFamily="34" charset="0"/>
              </a:rPr>
              <a:t>of complex reactive system.</a:t>
            </a:r>
          </a:p>
          <a:p>
            <a:pPr algn="just"/>
            <a:endParaRPr lang="en-US" sz="2400" dirty="0">
              <a:latin typeface="Arial Narrow" panose="020B0606020202030204" pitchFamily="34" charset="0"/>
            </a:endParaRPr>
          </a:p>
          <a:p>
            <a:pPr marL="0" indent="0" algn="just">
              <a:buNone/>
            </a:pPr>
            <a:r>
              <a:rPr lang="en-US" sz="2400" dirty="0">
                <a:latin typeface="Arial Narrow" panose="020B0606020202030204" pitchFamily="34" charset="0"/>
              </a:rPr>
              <a:t> </a:t>
            </a:r>
            <a:endParaRPr lang="en-US" sz="2400" dirty="0">
              <a:latin typeface="Arial Narrow" panose="020B0606020202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77044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sz="half" idx="2"/>
          </p:nvPr>
        </p:nvSpPr>
        <p:spPr/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2400" dirty="0">
                <a:latin typeface="Arial Narrow" panose="020B0606020202030204" pitchFamily="34" charset="0"/>
              </a:rPr>
              <a:t> </a:t>
            </a:r>
            <a:endParaRPr lang="en-US" sz="2400" dirty="0">
              <a:latin typeface="Arial Narrow" panose="020B0606020202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9385662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3671</TotalTime>
  <Words>422</Words>
  <Application>Microsoft Office PowerPoint</Application>
  <PresentationFormat>Widescreen</PresentationFormat>
  <Paragraphs>68</Paragraphs>
  <Slides>15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Arial Narrow</vt:lpstr>
      <vt:lpstr>Arial Rounded MT Bold</vt:lpstr>
      <vt:lpstr>Calibri</vt:lpstr>
      <vt:lpstr>Century Gothic</vt:lpstr>
      <vt:lpstr>Wingdings 3</vt:lpstr>
      <vt:lpstr>Wisp</vt:lpstr>
      <vt:lpstr>Formal Methods in Software Engineering</vt:lpstr>
      <vt:lpstr>Full Computational Tree Logic (CTL*) </vt:lpstr>
      <vt:lpstr>CTL*</vt:lpstr>
      <vt:lpstr>CTL* using Kripke Structure</vt:lpstr>
      <vt:lpstr>Path formula Vs State Formula</vt:lpstr>
      <vt:lpstr>Temporal logic expressive power</vt:lpstr>
      <vt:lpstr>CTL* State formulas</vt:lpstr>
      <vt:lpstr>CTL* State formulas</vt:lpstr>
      <vt:lpstr>CTL* State formulas</vt:lpstr>
      <vt:lpstr>CTL* State formulas</vt:lpstr>
      <vt:lpstr>CTL* Path formulas</vt:lpstr>
      <vt:lpstr>CTL* Path formulas</vt:lpstr>
      <vt:lpstr>Analysis of Temporal Logic? </vt:lpstr>
      <vt:lpstr>Analysis of Temporal Logic? </vt:lpstr>
      <vt:lpstr>Thanks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Mahfooz</dc:creator>
  <cp:lastModifiedBy>user</cp:lastModifiedBy>
  <cp:revision>182</cp:revision>
  <dcterms:created xsi:type="dcterms:W3CDTF">2017-01-18T11:57:24Z</dcterms:created>
  <dcterms:modified xsi:type="dcterms:W3CDTF">2022-08-25T17:44:30Z</dcterms:modified>
</cp:coreProperties>
</file>