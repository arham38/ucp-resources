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2"/>
  </p:notesMasterIdLst>
  <p:sldIdLst>
    <p:sldId id="256" r:id="rId2"/>
    <p:sldId id="264" r:id="rId3"/>
    <p:sldId id="373" r:id="rId4"/>
    <p:sldId id="271" r:id="rId5"/>
    <p:sldId id="292" r:id="rId6"/>
    <p:sldId id="332" r:id="rId7"/>
    <p:sldId id="333" r:id="rId8"/>
    <p:sldId id="335" r:id="rId9"/>
    <p:sldId id="336" r:id="rId10"/>
    <p:sldId id="337" r:id="rId11"/>
    <p:sldId id="338" r:id="rId12"/>
    <p:sldId id="353" r:id="rId13"/>
    <p:sldId id="358" r:id="rId14"/>
    <p:sldId id="360" r:id="rId15"/>
    <p:sldId id="359" r:id="rId16"/>
    <p:sldId id="361" r:id="rId17"/>
    <p:sldId id="339" r:id="rId18"/>
    <p:sldId id="340" r:id="rId19"/>
    <p:sldId id="341" r:id="rId20"/>
    <p:sldId id="342" r:id="rId21"/>
    <p:sldId id="343" r:id="rId22"/>
    <p:sldId id="344" r:id="rId23"/>
    <p:sldId id="345" r:id="rId24"/>
    <p:sldId id="346" r:id="rId25"/>
    <p:sldId id="347" r:id="rId26"/>
    <p:sldId id="348" r:id="rId27"/>
    <p:sldId id="349" r:id="rId28"/>
    <p:sldId id="350" r:id="rId29"/>
    <p:sldId id="351" r:id="rId30"/>
    <p:sldId id="352"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72" d="100"/>
          <a:sy n="72" d="100"/>
        </p:scale>
        <p:origin x="66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95683CE-5239-47D7-AB9D-FC4F4974D589}" type="doc">
      <dgm:prSet loTypeId="urn:microsoft.com/office/officeart/2005/8/layout/vList5" loCatId="list" qsTypeId="urn:microsoft.com/office/officeart/2005/8/quickstyle/simple1" qsCatId="simple" csTypeId="urn:microsoft.com/office/officeart/2005/8/colors/accent3_1" csCatId="accent3" phldr="1"/>
      <dgm:spPr/>
      <dgm:t>
        <a:bodyPr/>
        <a:lstStyle/>
        <a:p>
          <a:endParaRPr lang="en-US"/>
        </a:p>
      </dgm:t>
    </dgm:pt>
    <dgm:pt modelId="{2E5595B5-D48A-499D-808C-F5840CBDC76D}">
      <dgm:prSet phldrT="[Text]" custT="1"/>
      <dgm:spPr/>
      <dgm:t>
        <a:bodyPr/>
        <a:lstStyle/>
        <a:p>
          <a:r>
            <a:rPr lang="en-US" altLang="en-US" sz="2000" dirty="0"/>
            <a:t>System requirements, Specification, Design</a:t>
          </a:r>
          <a:endParaRPr lang="en-US" sz="2000" dirty="0"/>
        </a:p>
      </dgm:t>
    </dgm:pt>
    <dgm:pt modelId="{C1384E1D-FFC3-46DF-9EB7-0D58F39494D7}" type="parTrans" cxnId="{543B4FBE-48B6-42B0-B0E7-3C954DC1D9DF}">
      <dgm:prSet/>
      <dgm:spPr/>
      <dgm:t>
        <a:bodyPr/>
        <a:lstStyle/>
        <a:p>
          <a:endParaRPr lang="en-US"/>
        </a:p>
      </dgm:t>
    </dgm:pt>
    <dgm:pt modelId="{8555646E-37D6-4FCE-9D33-C3606F317AC0}" type="sibTrans" cxnId="{543B4FBE-48B6-42B0-B0E7-3C954DC1D9DF}">
      <dgm:prSet/>
      <dgm:spPr/>
      <dgm:t>
        <a:bodyPr/>
        <a:lstStyle/>
        <a:p>
          <a:endParaRPr lang="en-US"/>
        </a:p>
      </dgm:t>
    </dgm:pt>
    <dgm:pt modelId="{685B6EB8-7061-412E-A6F3-65C173192FFE}">
      <dgm:prSet phldrT="[Text]"/>
      <dgm:spPr/>
      <dgm:t>
        <a:bodyPr/>
        <a:lstStyle/>
        <a:p>
          <a:r>
            <a:rPr lang="en-US" dirty="0"/>
            <a:t>Proposal</a:t>
          </a:r>
        </a:p>
      </dgm:t>
    </dgm:pt>
    <dgm:pt modelId="{5E32753C-0CA3-498A-9182-0496FBAAF604}" type="parTrans" cxnId="{9C49F5BE-F2AA-41FC-BBE3-D644F05FECA7}">
      <dgm:prSet/>
      <dgm:spPr/>
      <dgm:t>
        <a:bodyPr/>
        <a:lstStyle/>
        <a:p>
          <a:endParaRPr lang="en-US"/>
        </a:p>
      </dgm:t>
    </dgm:pt>
    <dgm:pt modelId="{A4F33C30-CB06-4646-AA88-03A16B7C43A0}" type="sibTrans" cxnId="{9C49F5BE-F2AA-41FC-BBE3-D644F05FECA7}">
      <dgm:prSet/>
      <dgm:spPr/>
      <dgm:t>
        <a:bodyPr/>
        <a:lstStyle/>
        <a:p>
          <a:endParaRPr lang="en-US"/>
        </a:p>
      </dgm:t>
    </dgm:pt>
    <dgm:pt modelId="{ECF9D788-47B1-4483-A624-6AE3CB201705}">
      <dgm:prSet phldrT="[Text]"/>
      <dgm:spPr/>
      <dgm:t>
        <a:bodyPr/>
        <a:lstStyle/>
        <a:p>
          <a:r>
            <a:rPr lang="en-US" dirty="0"/>
            <a:t>Design</a:t>
          </a:r>
        </a:p>
      </dgm:t>
    </dgm:pt>
    <dgm:pt modelId="{13E7B729-6AB0-415F-87AB-598FE1914F4F}" type="parTrans" cxnId="{6276B140-EC73-472D-9566-BB0A4459E27E}">
      <dgm:prSet/>
      <dgm:spPr/>
      <dgm:t>
        <a:bodyPr/>
        <a:lstStyle/>
        <a:p>
          <a:endParaRPr lang="en-US"/>
        </a:p>
      </dgm:t>
    </dgm:pt>
    <dgm:pt modelId="{9DF140C0-4F38-43A7-80D7-5F6B3563079A}" type="sibTrans" cxnId="{6276B140-EC73-472D-9566-BB0A4459E27E}">
      <dgm:prSet/>
      <dgm:spPr/>
      <dgm:t>
        <a:bodyPr/>
        <a:lstStyle/>
        <a:p>
          <a:endParaRPr lang="en-US"/>
        </a:p>
      </dgm:t>
    </dgm:pt>
    <dgm:pt modelId="{1FEA62C3-9C7D-47C2-9157-F499D35D9AA4}">
      <dgm:prSet phldrT="[Text]" custT="1"/>
      <dgm:spPr/>
      <dgm:t>
        <a:bodyPr/>
        <a:lstStyle/>
        <a:p>
          <a:r>
            <a:rPr lang="en-US" altLang="en-US" sz="2400" dirty="0"/>
            <a:t>Coding,        Unit Testing</a:t>
          </a:r>
          <a:endParaRPr lang="en-US" sz="2400" dirty="0"/>
        </a:p>
      </dgm:t>
    </dgm:pt>
    <dgm:pt modelId="{C45EB596-66C5-4D2E-A3DB-67B3B8ED7700}" type="parTrans" cxnId="{0F6015DD-AA5A-4300-8B45-94502E5A3867}">
      <dgm:prSet/>
      <dgm:spPr/>
      <dgm:t>
        <a:bodyPr/>
        <a:lstStyle/>
        <a:p>
          <a:endParaRPr lang="en-US"/>
        </a:p>
      </dgm:t>
    </dgm:pt>
    <dgm:pt modelId="{2A2185FD-855D-493A-9E5B-635894549976}" type="sibTrans" cxnId="{0F6015DD-AA5A-4300-8B45-94502E5A3867}">
      <dgm:prSet/>
      <dgm:spPr/>
      <dgm:t>
        <a:bodyPr/>
        <a:lstStyle/>
        <a:p>
          <a:endParaRPr lang="en-US"/>
        </a:p>
      </dgm:t>
    </dgm:pt>
    <dgm:pt modelId="{724B4E33-57D6-40BC-BB62-FC3AEFA7CE72}">
      <dgm:prSet phldrT="[Text]"/>
      <dgm:spPr/>
      <dgm:t>
        <a:bodyPr/>
        <a:lstStyle/>
        <a:p>
          <a:r>
            <a:rPr lang="en-US" dirty="0"/>
            <a:t>Development </a:t>
          </a:r>
        </a:p>
      </dgm:t>
    </dgm:pt>
    <dgm:pt modelId="{868B9992-0887-441F-B406-1CBEB5EF4D0C}" type="parTrans" cxnId="{3333E8E4-5A30-4A36-8C78-47FCB38D2547}">
      <dgm:prSet/>
      <dgm:spPr/>
      <dgm:t>
        <a:bodyPr/>
        <a:lstStyle/>
        <a:p>
          <a:endParaRPr lang="en-US"/>
        </a:p>
      </dgm:t>
    </dgm:pt>
    <dgm:pt modelId="{D381C7CD-4D66-4F51-9018-F82CA1BE9D14}" type="sibTrans" cxnId="{3333E8E4-5A30-4A36-8C78-47FCB38D2547}">
      <dgm:prSet/>
      <dgm:spPr/>
      <dgm:t>
        <a:bodyPr/>
        <a:lstStyle/>
        <a:p>
          <a:endParaRPr lang="en-US"/>
        </a:p>
      </dgm:t>
    </dgm:pt>
    <dgm:pt modelId="{62B88B6A-24DC-4EA7-8825-0E5734FE3FF2}">
      <dgm:prSet phldrT="[Text]"/>
      <dgm:spPr/>
      <dgm:t>
        <a:bodyPr/>
        <a:lstStyle/>
        <a:p>
          <a:r>
            <a:rPr lang="en-US" dirty="0"/>
            <a:t>Testing</a:t>
          </a:r>
        </a:p>
      </dgm:t>
    </dgm:pt>
    <dgm:pt modelId="{EFC504EE-AE29-4D65-9180-9B0072F652E9}" type="parTrans" cxnId="{FC59AB9D-5CC3-425C-B681-DF66E3CD610D}">
      <dgm:prSet/>
      <dgm:spPr/>
      <dgm:t>
        <a:bodyPr/>
        <a:lstStyle/>
        <a:p>
          <a:endParaRPr lang="en-US"/>
        </a:p>
      </dgm:t>
    </dgm:pt>
    <dgm:pt modelId="{5023933A-9E08-4B88-87CE-E3395773B141}" type="sibTrans" cxnId="{FC59AB9D-5CC3-425C-B681-DF66E3CD610D}">
      <dgm:prSet/>
      <dgm:spPr/>
      <dgm:t>
        <a:bodyPr/>
        <a:lstStyle/>
        <a:p>
          <a:endParaRPr lang="en-US"/>
        </a:p>
      </dgm:t>
    </dgm:pt>
    <dgm:pt modelId="{12BD74B8-F212-4058-875E-9ABFA9F4FF11}">
      <dgm:prSet phldrT="[Text]"/>
      <dgm:spPr/>
      <dgm:t>
        <a:bodyPr/>
        <a:lstStyle/>
        <a:p>
          <a:r>
            <a:rPr lang="en-US" dirty="0"/>
            <a:t>Analysis</a:t>
          </a:r>
        </a:p>
      </dgm:t>
    </dgm:pt>
    <dgm:pt modelId="{2A1BF170-20D5-43BE-9B5F-8C76779EF1B5}" type="parTrans" cxnId="{436FB091-D762-49E7-AF3B-D491FC99EFD3}">
      <dgm:prSet/>
      <dgm:spPr/>
      <dgm:t>
        <a:bodyPr/>
        <a:lstStyle/>
        <a:p>
          <a:endParaRPr lang="en-US"/>
        </a:p>
      </dgm:t>
    </dgm:pt>
    <dgm:pt modelId="{055E46F4-70DA-44F2-9DCA-AA3E05FE28FB}" type="sibTrans" cxnId="{436FB091-D762-49E7-AF3B-D491FC99EFD3}">
      <dgm:prSet/>
      <dgm:spPr/>
      <dgm:t>
        <a:bodyPr/>
        <a:lstStyle/>
        <a:p>
          <a:endParaRPr lang="en-US"/>
        </a:p>
      </dgm:t>
    </dgm:pt>
    <dgm:pt modelId="{96EE08FF-ED92-489A-8167-B14EC554E46B}">
      <dgm:prSet phldrT="[Text]" custT="1"/>
      <dgm:spPr/>
      <dgm:t>
        <a:bodyPr/>
        <a:lstStyle/>
        <a:p>
          <a:r>
            <a:rPr lang="en-US" sz="2000" dirty="0"/>
            <a:t>Integration,  System Testing &amp;</a:t>
          </a:r>
          <a:r>
            <a:rPr lang="en-US" altLang="en-US" sz="2000" dirty="0"/>
            <a:t>verification,</a:t>
          </a:r>
          <a:r>
            <a:rPr lang="en-US" sz="2000" dirty="0"/>
            <a:t> maintenance</a:t>
          </a:r>
        </a:p>
      </dgm:t>
    </dgm:pt>
    <dgm:pt modelId="{97ED54CF-B196-4680-95DF-B11CBA97A568}" type="parTrans" cxnId="{2AA1F7F1-CEA1-4CDA-9472-F1B5ECB7B86E}">
      <dgm:prSet/>
      <dgm:spPr/>
      <dgm:t>
        <a:bodyPr/>
        <a:lstStyle/>
        <a:p>
          <a:endParaRPr lang="en-US"/>
        </a:p>
      </dgm:t>
    </dgm:pt>
    <dgm:pt modelId="{4E01D4F8-6472-4760-B55B-38DC806B9A07}" type="sibTrans" cxnId="{2AA1F7F1-CEA1-4CDA-9472-F1B5ECB7B86E}">
      <dgm:prSet/>
      <dgm:spPr/>
      <dgm:t>
        <a:bodyPr/>
        <a:lstStyle/>
        <a:p>
          <a:endParaRPr lang="en-US"/>
        </a:p>
      </dgm:t>
    </dgm:pt>
    <dgm:pt modelId="{A83A4D3A-D10A-4C25-A83C-98795379BC94}">
      <dgm:prSet phldrT="[Text]"/>
      <dgm:spPr/>
      <dgm:t>
        <a:bodyPr/>
        <a:lstStyle/>
        <a:p>
          <a:r>
            <a:rPr lang="en-US" dirty="0"/>
            <a:t>Implementation</a:t>
          </a:r>
        </a:p>
      </dgm:t>
    </dgm:pt>
    <dgm:pt modelId="{2C1A436C-4342-443E-A186-67D6960C2210}" type="parTrans" cxnId="{FFDAC5F1-0869-486D-9C30-CE9F2199C596}">
      <dgm:prSet/>
      <dgm:spPr/>
      <dgm:t>
        <a:bodyPr/>
        <a:lstStyle/>
        <a:p>
          <a:endParaRPr lang="en-US"/>
        </a:p>
      </dgm:t>
    </dgm:pt>
    <dgm:pt modelId="{68FBEB26-8A2F-451A-9256-72E36B83828A}" type="sibTrans" cxnId="{FFDAC5F1-0869-486D-9C30-CE9F2199C596}">
      <dgm:prSet/>
      <dgm:spPr/>
      <dgm:t>
        <a:bodyPr/>
        <a:lstStyle/>
        <a:p>
          <a:endParaRPr lang="en-US"/>
        </a:p>
      </dgm:t>
    </dgm:pt>
    <dgm:pt modelId="{F310D0FD-C5F3-4EF3-A488-733EE6E4DB9F}">
      <dgm:prSet phldrT="[Text]"/>
      <dgm:spPr/>
      <dgm:t>
        <a:bodyPr/>
        <a:lstStyle/>
        <a:p>
          <a:r>
            <a:rPr lang="en-US" dirty="0"/>
            <a:t>Review</a:t>
          </a:r>
        </a:p>
      </dgm:t>
    </dgm:pt>
    <dgm:pt modelId="{04782CAE-CF4A-4968-9AA8-08303C49701C}" type="parTrans" cxnId="{BA573234-3411-45A5-AEF1-25B10A914532}">
      <dgm:prSet/>
      <dgm:spPr/>
      <dgm:t>
        <a:bodyPr/>
        <a:lstStyle/>
        <a:p>
          <a:endParaRPr lang="en-US"/>
        </a:p>
      </dgm:t>
    </dgm:pt>
    <dgm:pt modelId="{F7B6642C-3F17-4824-8A8C-6BF3D1749571}" type="sibTrans" cxnId="{BA573234-3411-45A5-AEF1-25B10A914532}">
      <dgm:prSet/>
      <dgm:spPr/>
      <dgm:t>
        <a:bodyPr/>
        <a:lstStyle/>
        <a:p>
          <a:endParaRPr lang="en-US"/>
        </a:p>
      </dgm:t>
    </dgm:pt>
    <dgm:pt modelId="{56129C6A-2140-48FA-950E-80D123F2A397}" type="pres">
      <dgm:prSet presAssocID="{795683CE-5239-47D7-AB9D-FC4F4974D589}" presName="Name0" presStyleCnt="0">
        <dgm:presLayoutVars>
          <dgm:dir/>
          <dgm:animLvl val="lvl"/>
          <dgm:resizeHandles val="exact"/>
        </dgm:presLayoutVars>
      </dgm:prSet>
      <dgm:spPr/>
    </dgm:pt>
    <dgm:pt modelId="{5EBB55E7-F16A-43E6-A730-D069C10E1CFD}" type="pres">
      <dgm:prSet presAssocID="{2E5595B5-D48A-499D-808C-F5840CBDC76D}" presName="linNode" presStyleCnt="0"/>
      <dgm:spPr/>
    </dgm:pt>
    <dgm:pt modelId="{12A806E7-759A-4F21-AE95-9373C1FFD6DA}" type="pres">
      <dgm:prSet presAssocID="{2E5595B5-D48A-499D-808C-F5840CBDC76D}" presName="parentText" presStyleLbl="node1" presStyleIdx="0" presStyleCnt="3">
        <dgm:presLayoutVars>
          <dgm:chMax val="1"/>
          <dgm:bulletEnabled val="1"/>
        </dgm:presLayoutVars>
      </dgm:prSet>
      <dgm:spPr/>
    </dgm:pt>
    <dgm:pt modelId="{0B1F66F5-0E31-4DCE-9EC1-A2858B03F377}" type="pres">
      <dgm:prSet presAssocID="{2E5595B5-D48A-499D-808C-F5840CBDC76D}" presName="descendantText" presStyleLbl="alignAccFollowNode1" presStyleIdx="0" presStyleCnt="3">
        <dgm:presLayoutVars>
          <dgm:bulletEnabled val="1"/>
        </dgm:presLayoutVars>
      </dgm:prSet>
      <dgm:spPr/>
    </dgm:pt>
    <dgm:pt modelId="{BEC6AE01-1394-441A-8FFC-889CD77D9E43}" type="pres">
      <dgm:prSet presAssocID="{8555646E-37D6-4FCE-9D33-C3606F317AC0}" presName="sp" presStyleCnt="0"/>
      <dgm:spPr/>
    </dgm:pt>
    <dgm:pt modelId="{B504457F-2831-4922-ACD2-4A266CC186B2}" type="pres">
      <dgm:prSet presAssocID="{1FEA62C3-9C7D-47C2-9157-F499D35D9AA4}" presName="linNode" presStyleCnt="0"/>
      <dgm:spPr/>
    </dgm:pt>
    <dgm:pt modelId="{C834D327-17EB-499F-A787-29C9A6012A15}" type="pres">
      <dgm:prSet presAssocID="{1FEA62C3-9C7D-47C2-9157-F499D35D9AA4}" presName="parentText" presStyleLbl="node1" presStyleIdx="1" presStyleCnt="3">
        <dgm:presLayoutVars>
          <dgm:chMax val="1"/>
          <dgm:bulletEnabled val="1"/>
        </dgm:presLayoutVars>
      </dgm:prSet>
      <dgm:spPr/>
    </dgm:pt>
    <dgm:pt modelId="{52A491F0-78FC-4034-910F-9670272F0A7B}" type="pres">
      <dgm:prSet presAssocID="{1FEA62C3-9C7D-47C2-9157-F499D35D9AA4}" presName="descendantText" presStyleLbl="alignAccFollowNode1" presStyleIdx="1" presStyleCnt="3">
        <dgm:presLayoutVars>
          <dgm:bulletEnabled val="1"/>
        </dgm:presLayoutVars>
      </dgm:prSet>
      <dgm:spPr/>
    </dgm:pt>
    <dgm:pt modelId="{F7EB3395-CA20-4CF9-9872-36AB75921E25}" type="pres">
      <dgm:prSet presAssocID="{2A2185FD-855D-493A-9E5B-635894549976}" presName="sp" presStyleCnt="0"/>
      <dgm:spPr/>
    </dgm:pt>
    <dgm:pt modelId="{450593BE-8DD2-409D-8544-2F5C7C559618}" type="pres">
      <dgm:prSet presAssocID="{96EE08FF-ED92-489A-8167-B14EC554E46B}" presName="linNode" presStyleCnt="0"/>
      <dgm:spPr/>
    </dgm:pt>
    <dgm:pt modelId="{3F508857-26F6-4207-A635-715B24CAF651}" type="pres">
      <dgm:prSet presAssocID="{96EE08FF-ED92-489A-8167-B14EC554E46B}" presName="parentText" presStyleLbl="node1" presStyleIdx="2" presStyleCnt="3">
        <dgm:presLayoutVars>
          <dgm:chMax val="1"/>
          <dgm:bulletEnabled val="1"/>
        </dgm:presLayoutVars>
      </dgm:prSet>
      <dgm:spPr/>
    </dgm:pt>
    <dgm:pt modelId="{45B3679C-3063-4141-9F9F-22C904FE1FA2}" type="pres">
      <dgm:prSet presAssocID="{96EE08FF-ED92-489A-8167-B14EC554E46B}" presName="descendantText" presStyleLbl="alignAccFollowNode1" presStyleIdx="2" presStyleCnt="3">
        <dgm:presLayoutVars>
          <dgm:bulletEnabled val="1"/>
        </dgm:presLayoutVars>
      </dgm:prSet>
      <dgm:spPr/>
    </dgm:pt>
  </dgm:ptLst>
  <dgm:cxnLst>
    <dgm:cxn modelId="{80CAFA01-1904-49D0-8BE9-EEB6E1B39012}" type="presOf" srcId="{F310D0FD-C5F3-4EF3-A488-733EE6E4DB9F}" destId="{45B3679C-3063-4141-9F9F-22C904FE1FA2}" srcOrd="0" destOrd="1" presId="urn:microsoft.com/office/officeart/2005/8/layout/vList5"/>
    <dgm:cxn modelId="{5474511C-0D82-45CB-8061-C84273D43FBF}" type="presOf" srcId="{685B6EB8-7061-412E-A6F3-65C173192FFE}" destId="{0B1F66F5-0E31-4DCE-9EC1-A2858B03F377}" srcOrd="0" destOrd="0" presId="urn:microsoft.com/office/officeart/2005/8/layout/vList5"/>
    <dgm:cxn modelId="{3AEFDD20-1B11-474B-876F-6F09C6457884}" type="presOf" srcId="{96EE08FF-ED92-489A-8167-B14EC554E46B}" destId="{3F508857-26F6-4207-A635-715B24CAF651}" srcOrd="0" destOrd="0" presId="urn:microsoft.com/office/officeart/2005/8/layout/vList5"/>
    <dgm:cxn modelId="{BA573234-3411-45A5-AEF1-25B10A914532}" srcId="{96EE08FF-ED92-489A-8167-B14EC554E46B}" destId="{F310D0FD-C5F3-4EF3-A488-733EE6E4DB9F}" srcOrd="1" destOrd="0" parTransId="{04782CAE-CF4A-4968-9AA8-08303C49701C}" sibTransId="{F7B6642C-3F17-4824-8A8C-6BF3D1749571}"/>
    <dgm:cxn modelId="{EA16EC3D-0E4F-43FF-B636-3D3B947F0900}" type="presOf" srcId="{A83A4D3A-D10A-4C25-A83C-98795379BC94}" destId="{45B3679C-3063-4141-9F9F-22C904FE1FA2}" srcOrd="0" destOrd="0" presId="urn:microsoft.com/office/officeart/2005/8/layout/vList5"/>
    <dgm:cxn modelId="{6276B140-EC73-472D-9566-BB0A4459E27E}" srcId="{2E5595B5-D48A-499D-808C-F5840CBDC76D}" destId="{ECF9D788-47B1-4483-A624-6AE3CB201705}" srcOrd="2" destOrd="0" parTransId="{13E7B729-6AB0-415F-87AB-598FE1914F4F}" sibTransId="{9DF140C0-4F38-43A7-80D7-5F6B3563079A}"/>
    <dgm:cxn modelId="{26BE3962-90D5-4004-9F46-56EA6FF0C6D8}" type="presOf" srcId="{724B4E33-57D6-40BC-BB62-FC3AEFA7CE72}" destId="{52A491F0-78FC-4034-910F-9670272F0A7B}" srcOrd="0" destOrd="0" presId="urn:microsoft.com/office/officeart/2005/8/layout/vList5"/>
    <dgm:cxn modelId="{0353EA69-43DA-436B-8C0B-4BC432819A12}" type="presOf" srcId="{2E5595B5-D48A-499D-808C-F5840CBDC76D}" destId="{12A806E7-759A-4F21-AE95-9373C1FFD6DA}" srcOrd="0" destOrd="0" presId="urn:microsoft.com/office/officeart/2005/8/layout/vList5"/>
    <dgm:cxn modelId="{B6D96C89-A62E-4F82-9066-440A0BBFB8FB}" type="presOf" srcId="{ECF9D788-47B1-4483-A624-6AE3CB201705}" destId="{0B1F66F5-0E31-4DCE-9EC1-A2858B03F377}" srcOrd="0" destOrd="2" presId="urn:microsoft.com/office/officeart/2005/8/layout/vList5"/>
    <dgm:cxn modelId="{436FB091-D762-49E7-AF3B-D491FC99EFD3}" srcId="{2E5595B5-D48A-499D-808C-F5840CBDC76D}" destId="{12BD74B8-F212-4058-875E-9ABFA9F4FF11}" srcOrd="1" destOrd="0" parTransId="{2A1BF170-20D5-43BE-9B5F-8C76779EF1B5}" sibTransId="{055E46F4-70DA-44F2-9DCA-AA3E05FE28FB}"/>
    <dgm:cxn modelId="{FC59AB9D-5CC3-425C-B681-DF66E3CD610D}" srcId="{1FEA62C3-9C7D-47C2-9157-F499D35D9AA4}" destId="{62B88B6A-24DC-4EA7-8825-0E5734FE3FF2}" srcOrd="1" destOrd="0" parTransId="{EFC504EE-AE29-4D65-9180-9B0072F652E9}" sibTransId="{5023933A-9E08-4B88-87CE-E3395773B141}"/>
    <dgm:cxn modelId="{543B4FBE-48B6-42B0-B0E7-3C954DC1D9DF}" srcId="{795683CE-5239-47D7-AB9D-FC4F4974D589}" destId="{2E5595B5-D48A-499D-808C-F5840CBDC76D}" srcOrd="0" destOrd="0" parTransId="{C1384E1D-FFC3-46DF-9EB7-0D58F39494D7}" sibTransId="{8555646E-37D6-4FCE-9D33-C3606F317AC0}"/>
    <dgm:cxn modelId="{9C49F5BE-F2AA-41FC-BBE3-D644F05FECA7}" srcId="{2E5595B5-D48A-499D-808C-F5840CBDC76D}" destId="{685B6EB8-7061-412E-A6F3-65C173192FFE}" srcOrd="0" destOrd="0" parTransId="{5E32753C-0CA3-498A-9182-0496FBAAF604}" sibTransId="{A4F33C30-CB06-4646-AA88-03A16B7C43A0}"/>
    <dgm:cxn modelId="{DE3175C0-7674-4023-9415-FC473F67A83E}" type="presOf" srcId="{12BD74B8-F212-4058-875E-9ABFA9F4FF11}" destId="{0B1F66F5-0E31-4DCE-9EC1-A2858B03F377}" srcOrd="0" destOrd="1" presId="urn:microsoft.com/office/officeart/2005/8/layout/vList5"/>
    <dgm:cxn modelId="{391074C9-E048-421A-8BA8-A2A42DFC4673}" type="presOf" srcId="{62B88B6A-24DC-4EA7-8825-0E5734FE3FF2}" destId="{52A491F0-78FC-4034-910F-9670272F0A7B}" srcOrd="0" destOrd="1" presId="urn:microsoft.com/office/officeart/2005/8/layout/vList5"/>
    <dgm:cxn modelId="{8515B4CF-78B1-4899-87BE-6883FE7BFE0F}" type="presOf" srcId="{795683CE-5239-47D7-AB9D-FC4F4974D589}" destId="{56129C6A-2140-48FA-950E-80D123F2A397}" srcOrd="0" destOrd="0" presId="urn:microsoft.com/office/officeart/2005/8/layout/vList5"/>
    <dgm:cxn modelId="{0F6015DD-AA5A-4300-8B45-94502E5A3867}" srcId="{795683CE-5239-47D7-AB9D-FC4F4974D589}" destId="{1FEA62C3-9C7D-47C2-9157-F499D35D9AA4}" srcOrd="1" destOrd="0" parTransId="{C45EB596-66C5-4D2E-A3DB-67B3B8ED7700}" sibTransId="{2A2185FD-855D-493A-9E5B-635894549976}"/>
    <dgm:cxn modelId="{3333E8E4-5A30-4A36-8C78-47FCB38D2547}" srcId="{1FEA62C3-9C7D-47C2-9157-F499D35D9AA4}" destId="{724B4E33-57D6-40BC-BB62-FC3AEFA7CE72}" srcOrd="0" destOrd="0" parTransId="{868B9992-0887-441F-B406-1CBEB5EF4D0C}" sibTransId="{D381C7CD-4D66-4F51-9018-F82CA1BE9D14}"/>
    <dgm:cxn modelId="{D65B1BEF-A514-4D2C-B2DE-DE87BACCFC40}" type="presOf" srcId="{1FEA62C3-9C7D-47C2-9157-F499D35D9AA4}" destId="{C834D327-17EB-499F-A787-29C9A6012A15}" srcOrd="0" destOrd="0" presId="urn:microsoft.com/office/officeart/2005/8/layout/vList5"/>
    <dgm:cxn modelId="{FFDAC5F1-0869-486D-9C30-CE9F2199C596}" srcId="{96EE08FF-ED92-489A-8167-B14EC554E46B}" destId="{A83A4D3A-D10A-4C25-A83C-98795379BC94}" srcOrd="0" destOrd="0" parTransId="{2C1A436C-4342-443E-A186-67D6960C2210}" sibTransId="{68FBEB26-8A2F-451A-9256-72E36B83828A}"/>
    <dgm:cxn modelId="{2AA1F7F1-CEA1-4CDA-9472-F1B5ECB7B86E}" srcId="{795683CE-5239-47D7-AB9D-FC4F4974D589}" destId="{96EE08FF-ED92-489A-8167-B14EC554E46B}" srcOrd="2" destOrd="0" parTransId="{97ED54CF-B196-4680-95DF-B11CBA97A568}" sibTransId="{4E01D4F8-6472-4760-B55B-38DC806B9A07}"/>
    <dgm:cxn modelId="{2D46C525-3355-44F5-9E05-900E5EC867C2}" type="presParOf" srcId="{56129C6A-2140-48FA-950E-80D123F2A397}" destId="{5EBB55E7-F16A-43E6-A730-D069C10E1CFD}" srcOrd="0" destOrd="0" presId="urn:microsoft.com/office/officeart/2005/8/layout/vList5"/>
    <dgm:cxn modelId="{2E266DC3-4FCB-4BBD-9A5D-0D902EB2F6E6}" type="presParOf" srcId="{5EBB55E7-F16A-43E6-A730-D069C10E1CFD}" destId="{12A806E7-759A-4F21-AE95-9373C1FFD6DA}" srcOrd="0" destOrd="0" presId="urn:microsoft.com/office/officeart/2005/8/layout/vList5"/>
    <dgm:cxn modelId="{0A614165-C369-4CE9-A6CB-BF89AEC5C7F2}" type="presParOf" srcId="{5EBB55E7-F16A-43E6-A730-D069C10E1CFD}" destId="{0B1F66F5-0E31-4DCE-9EC1-A2858B03F377}" srcOrd="1" destOrd="0" presId="urn:microsoft.com/office/officeart/2005/8/layout/vList5"/>
    <dgm:cxn modelId="{8BB63FBA-9C4C-4F91-AED3-21F5AFC8B3D9}" type="presParOf" srcId="{56129C6A-2140-48FA-950E-80D123F2A397}" destId="{BEC6AE01-1394-441A-8FFC-889CD77D9E43}" srcOrd="1" destOrd="0" presId="urn:microsoft.com/office/officeart/2005/8/layout/vList5"/>
    <dgm:cxn modelId="{2FC26367-7311-4940-96F0-325407451A5E}" type="presParOf" srcId="{56129C6A-2140-48FA-950E-80D123F2A397}" destId="{B504457F-2831-4922-ACD2-4A266CC186B2}" srcOrd="2" destOrd="0" presId="urn:microsoft.com/office/officeart/2005/8/layout/vList5"/>
    <dgm:cxn modelId="{1E88141F-82A5-4D22-9517-93785E29D7D7}" type="presParOf" srcId="{B504457F-2831-4922-ACD2-4A266CC186B2}" destId="{C834D327-17EB-499F-A787-29C9A6012A15}" srcOrd="0" destOrd="0" presId="urn:microsoft.com/office/officeart/2005/8/layout/vList5"/>
    <dgm:cxn modelId="{3F3297C6-938F-4F03-BADD-E1E431245219}" type="presParOf" srcId="{B504457F-2831-4922-ACD2-4A266CC186B2}" destId="{52A491F0-78FC-4034-910F-9670272F0A7B}" srcOrd="1" destOrd="0" presId="urn:microsoft.com/office/officeart/2005/8/layout/vList5"/>
    <dgm:cxn modelId="{5F427A32-131D-434D-88FD-C8D31D1111FC}" type="presParOf" srcId="{56129C6A-2140-48FA-950E-80D123F2A397}" destId="{F7EB3395-CA20-4CF9-9872-36AB75921E25}" srcOrd="3" destOrd="0" presId="urn:microsoft.com/office/officeart/2005/8/layout/vList5"/>
    <dgm:cxn modelId="{D5267EA0-06E9-4D29-8BC5-1B6574D8955F}" type="presParOf" srcId="{56129C6A-2140-48FA-950E-80D123F2A397}" destId="{450593BE-8DD2-409D-8544-2F5C7C559618}" srcOrd="4" destOrd="0" presId="urn:microsoft.com/office/officeart/2005/8/layout/vList5"/>
    <dgm:cxn modelId="{7495ADB1-48A6-4087-8358-5017FC5A138F}" type="presParOf" srcId="{450593BE-8DD2-409D-8544-2F5C7C559618}" destId="{3F508857-26F6-4207-A635-715B24CAF651}" srcOrd="0" destOrd="0" presId="urn:microsoft.com/office/officeart/2005/8/layout/vList5"/>
    <dgm:cxn modelId="{5AD408C0-791D-4F2E-A9EA-81A91BE97124}" type="presParOf" srcId="{450593BE-8DD2-409D-8544-2F5C7C559618}" destId="{45B3679C-3063-4141-9F9F-22C904FE1FA2}"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1F66F5-0E31-4DCE-9EC1-A2858B03F377}">
      <dsp:nvSpPr>
        <dsp:cNvPr id="0" name=""/>
        <dsp:cNvSpPr/>
      </dsp:nvSpPr>
      <dsp:spPr>
        <a:xfrm rot="5400000">
          <a:off x="4455913" y="-1705440"/>
          <a:ext cx="999644" cy="4664222"/>
        </a:xfrm>
        <a:prstGeom prst="round2SameRect">
          <a:avLst/>
        </a:prstGeom>
        <a:solidFill>
          <a:schemeClr val="lt1">
            <a:alpha val="90000"/>
            <a:tint val="40000"/>
            <a:hueOff val="0"/>
            <a:satOff val="0"/>
            <a:lumOff val="0"/>
            <a:alphaOff val="0"/>
          </a:schemeClr>
        </a:solidFill>
        <a:ln w="15875" cap="rnd" cmpd="sng" algn="ctr">
          <a:solidFill>
            <a:schemeClr val="accent3">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Proposal</a:t>
          </a:r>
        </a:p>
        <a:p>
          <a:pPr marL="171450" lvl="1" indent="-171450" algn="l" defTabSz="755650">
            <a:lnSpc>
              <a:spcPct val="90000"/>
            </a:lnSpc>
            <a:spcBef>
              <a:spcPct val="0"/>
            </a:spcBef>
            <a:spcAft>
              <a:spcPct val="15000"/>
            </a:spcAft>
            <a:buChar char="•"/>
          </a:pPr>
          <a:r>
            <a:rPr lang="en-US" sz="1700" kern="1200" dirty="0"/>
            <a:t>Analysis</a:t>
          </a:r>
        </a:p>
        <a:p>
          <a:pPr marL="171450" lvl="1" indent="-171450" algn="l" defTabSz="755650">
            <a:lnSpc>
              <a:spcPct val="90000"/>
            </a:lnSpc>
            <a:spcBef>
              <a:spcPct val="0"/>
            </a:spcBef>
            <a:spcAft>
              <a:spcPct val="15000"/>
            </a:spcAft>
            <a:buChar char="•"/>
          </a:pPr>
          <a:r>
            <a:rPr lang="en-US" sz="1700" kern="1200" dirty="0"/>
            <a:t>Design</a:t>
          </a:r>
        </a:p>
      </dsp:txBody>
      <dsp:txXfrm rot="-5400000">
        <a:off x="2623625" y="175647"/>
        <a:ext cx="4615423" cy="902046"/>
      </dsp:txXfrm>
    </dsp:sp>
    <dsp:sp modelId="{12A806E7-759A-4F21-AE95-9373C1FFD6DA}">
      <dsp:nvSpPr>
        <dsp:cNvPr id="0" name=""/>
        <dsp:cNvSpPr/>
      </dsp:nvSpPr>
      <dsp:spPr>
        <a:xfrm>
          <a:off x="0" y="1893"/>
          <a:ext cx="2623624" cy="1249555"/>
        </a:xfrm>
        <a:prstGeom prst="roundRect">
          <a:avLst/>
        </a:prstGeom>
        <a:solidFill>
          <a:schemeClr val="lt1">
            <a:hueOff val="0"/>
            <a:satOff val="0"/>
            <a:lumOff val="0"/>
            <a:alphaOff val="0"/>
          </a:schemeClr>
        </a:solidFill>
        <a:ln w="15875" cap="rnd"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altLang="en-US" sz="2000" kern="1200" dirty="0"/>
            <a:t>System requirements, Specification, Design</a:t>
          </a:r>
          <a:endParaRPr lang="en-US" sz="2000" kern="1200" dirty="0"/>
        </a:p>
      </dsp:txBody>
      <dsp:txXfrm>
        <a:off x="60998" y="62891"/>
        <a:ext cx="2501628" cy="1127559"/>
      </dsp:txXfrm>
    </dsp:sp>
    <dsp:sp modelId="{52A491F0-78FC-4034-910F-9670272F0A7B}">
      <dsp:nvSpPr>
        <dsp:cNvPr id="0" name=""/>
        <dsp:cNvSpPr/>
      </dsp:nvSpPr>
      <dsp:spPr>
        <a:xfrm rot="5400000">
          <a:off x="4455913" y="-393407"/>
          <a:ext cx="999644" cy="4664222"/>
        </a:xfrm>
        <a:prstGeom prst="round2SameRect">
          <a:avLst/>
        </a:prstGeom>
        <a:solidFill>
          <a:schemeClr val="lt1">
            <a:alpha val="90000"/>
            <a:tint val="40000"/>
            <a:hueOff val="0"/>
            <a:satOff val="0"/>
            <a:lumOff val="0"/>
            <a:alphaOff val="0"/>
          </a:schemeClr>
        </a:solidFill>
        <a:ln w="15875" cap="rnd" cmpd="sng" algn="ctr">
          <a:solidFill>
            <a:schemeClr val="accent3">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Development </a:t>
          </a:r>
        </a:p>
        <a:p>
          <a:pPr marL="171450" lvl="1" indent="-171450" algn="l" defTabSz="755650">
            <a:lnSpc>
              <a:spcPct val="90000"/>
            </a:lnSpc>
            <a:spcBef>
              <a:spcPct val="0"/>
            </a:spcBef>
            <a:spcAft>
              <a:spcPct val="15000"/>
            </a:spcAft>
            <a:buChar char="•"/>
          </a:pPr>
          <a:r>
            <a:rPr lang="en-US" sz="1700" kern="1200" dirty="0"/>
            <a:t>Testing</a:t>
          </a:r>
        </a:p>
      </dsp:txBody>
      <dsp:txXfrm rot="-5400000">
        <a:off x="2623625" y="1487680"/>
        <a:ext cx="4615423" cy="902046"/>
      </dsp:txXfrm>
    </dsp:sp>
    <dsp:sp modelId="{C834D327-17EB-499F-A787-29C9A6012A15}">
      <dsp:nvSpPr>
        <dsp:cNvPr id="0" name=""/>
        <dsp:cNvSpPr/>
      </dsp:nvSpPr>
      <dsp:spPr>
        <a:xfrm>
          <a:off x="0" y="1313926"/>
          <a:ext cx="2623624" cy="1249555"/>
        </a:xfrm>
        <a:prstGeom prst="roundRect">
          <a:avLst/>
        </a:prstGeom>
        <a:solidFill>
          <a:schemeClr val="lt1">
            <a:hueOff val="0"/>
            <a:satOff val="0"/>
            <a:lumOff val="0"/>
            <a:alphaOff val="0"/>
          </a:schemeClr>
        </a:solidFill>
        <a:ln w="15875" cap="rnd"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altLang="en-US" sz="2400" kern="1200" dirty="0"/>
            <a:t>Coding,        Unit Testing</a:t>
          </a:r>
          <a:endParaRPr lang="en-US" sz="2400" kern="1200" dirty="0"/>
        </a:p>
      </dsp:txBody>
      <dsp:txXfrm>
        <a:off x="60998" y="1374924"/>
        <a:ext cx="2501628" cy="1127559"/>
      </dsp:txXfrm>
    </dsp:sp>
    <dsp:sp modelId="{45B3679C-3063-4141-9F9F-22C904FE1FA2}">
      <dsp:nvSpPr>
        <dsp:cNvPr id="0" name=""/>
        <dsp:cNvSpPr/>
      </dsp:nvSpPr>
      <dsp:spPr>
        <a:xfrm rot="5400000">
          <a:off x="4455913" y="918626"/>
          <a:ext cx="999644" cy="4664222"/>
        </a:xfrm>
        <a:prstGeom prst="round2SameRect">
          <a:avLst/>
        </a:prstGeom>
        <a:solidFill>
          <a:schemeClr val="lt1">
            <a:alpha val="90000"/>
            <a:tint val="40000"/>
            <a:hueOff val="0"/>
            <a:satOff val="0"/>
            <a:lumOff val="0"/>
            <a:alphaOff val="0"/>
          </a:schemeClr>
        </a:solidFill>
        <a:ln w="15875" cap="rnd" cmpd="sng" algn="ctr">
          <a:solidFill>
            <a:schemeClr val="accent3">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Implementation</a:t>
          </a:r>
        </a:p>
        <a:p>
          <a:pPr marL="171450" lvl="1" indent="-171450" algn="l" defTabSz="755650">
            <a:lnSpc>
              <a:spcPct val="90000"/>
            </a:lnSpc>
            <a:spcBef>
              <a:spcPct val="0"/>
            </a:spcBef>
            <a:spcAft>
              <a:spcPct val="15000"/>
            </a:spcAft>
            <a:buChar char="•"/>
          </a:pPr>
          <a:r>
            <a:rPr lang="en-US" sz="1700" kern="1200" dirty="0"/>
            <a:t>Review</a:t>
          </a:r>
        </a:p>
      </dsp:txBody>
      <dsp:txXfrm rot="-5400000">
        <a:off x="2623625" y="2799714"/>
        <a:ext cx="4615423" cy="902046"/>
      </dsp:txXfrm>
    </dsp:sp>
    <dsp:sp modelId="{3F508857-26F6-4207-A635-715B24CAF651}">
      <dsp:nvSpPr>
        <dsp:cNvPr id="0" name=""/>
        <dsp:cNvSpPr/>
      </dsp:nvSpPr>
      <dsp:spPr>
        <a:xfrm>
          <a:off x="0" y="2625959"/>
          <a:ext cx="2623624" cy="1249555"/>
        </a:xfrm>
        <a:prstGeom prst="roundRect">
          <a:avLst/>
        </a:prstGeom>
        <a:solidFill>
          <a:schemeClr val="lt1">
            <a:hueOff val="0"/>
            <a:satOff val="0"/>
            <a:lumOff val="0"/>
            <a:alphaOff val="0"/>
          </a:schemeClr>
        </a:solidFill>
        <a:ln w="15875" cap="rnd"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kern="1200" dirty="0"/>
            <a:t>Integration,  System Testing &amp;</a:t>
          </a:r>
          <a:r>
            <a:rPr lang="en-US" altLang="en-US" sz="2000" kern="1200" dirty="0"/>
            <a:t>verification,</a:t>
          </a:r>
          <a:r>
            <a:rPr lang="en-US" sz="2000" kern="1200" dirty="0"/>
            <a:t> maintenance</a:t>
          </a:r>
        </a:p>
      </dsp:txBody>
      <dsp:txXfrm>
        <a:off x="60998" y="2686957"/>
        <a:ext cx="2501628" cy="1127559"/>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B15724-E9B0-4B15-9E68-CA1C1D3B54E5}" type="datetimeFigureOut">
              <a:rPr lang="en-US" smtClean="0"/>
              <a:t>7/30/2025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024E4-4423-46F5-BFAB-B709DB4E80B5}" type="slidenum">
              <a:rPr lang="en-US" smtClean="0"/>
              <a:t>‹#›</a:t>
            </a:fld>
            <a:endParaRPr lang="en-US"/>
          </a:p>
        </p:txBody>
      </p:sp>
    </p:spTree>
    <p:extLst>
      <p:ext uri="{BB962C8B-B14F-4D97-AF65-F5344CB8AC3E}">
        <p14:creationId xmlns:p14="http://schemas.microsoft.com/office/powerpoint/2010/main" val="3140461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024E4-4423-46F5-BFAB-B709DB4E80B5}" type="slidenum">
              <a:rPr lang="en-US" smtClean="0"/>
              <a:t>28</a:t>
            </a:fld>
            <a:endParaRPr lang="en-US"/>
          </a:p>
        </p:txBody>
      </p:sp>
    </p:spTree>
    <p:extLst>
      <p:ext uri="{BB962C8B-B14F-4D97-AF65-F5344CB8AC3E}">
        <p14:creationId xmlns:p14="http://schemas.microsoft.com/office/powerpoint/2010/main" val="2797153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024E4-4423-46F5-BFAB-B709DB4E80B5}" type="slidenum">
              <a:rPr lang="en-US" smtClean="0"/>
              <a:t>30</a:t>
            </a:fld>
            <a:endParaRPr lang="en-US"/>
          </a:p>
        </p:txBody>
      </p:sp>
    </p:spTree>
    <p:extLst>
      <p:ext uri="{BB962C8B-B14F-4D97-AF65-F5344CB8AC3E}">
        <p14:creationId xmlns:p14="http://schemas.microsoft.com/office/powerpoint/2010/main" val="33442455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7/30/2025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7/30/2025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7/30/2025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chemeClr val="bg1"/>
            </a:gs>
            <a:gs pos="100000">
              <a:schemeClr val="bg2">
                <a:shade val="98000"/>
                <a:satMod val="120000"/>
                <a:lumMod val="98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7/30/2025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ctr"/>
            <a:r>
              <a:rPr lang="en-US" sz="3200" b="1" dirty="0">
                <a:solidFill>
                  <a:schemeClr val="accent1">
                    <a:lumMod val="75000"/>
                  </a:schemeClr>
                </a:solidFill>
                <a:latin typeface="Arial" panose="020B0604020202020204" pitchFamily="34" charset="0"/>
                <a:cs typeface="Arial" panose="020B0604020202020204" pitchFamily="34" charset="0"/>
              </a:rPr>
              <a:t>Formal Methods in Software Engineering</a:t>
            </a:r>
          </a:p>
        </p:txBody>
      </p:sp>
      <p:sp>
        <p:nvSpPr>
          <p:cNvPr id="3" name="Subtitle 2"/>
          <p:cNvSpPr>
            <a:spLocks noGrp="1"/>
          </p:cNvSpPr>
          <p:nvPr>
            <p:ph type="subTitle" idx="1"/>
          </p:nvPr>
        </p:nvSpPr>
        <p:spPr/>
        <p:txBody>
          <a:bodyPr>
            <a:normAutofit/>
          </a:bodyPr>
          <a:lstStyle/>
          <a:p>
            <a:pPr algn="ctr"/>
            <a:endParaRPr lang="en-US" dirty="0"/>
          </a:p>
          <a:p>
            <a:pPr algn="ctr"/>
            <a:endParaRPr lang="en-US" dirty="0"/>
          </a:p>
          <a:p>
            <a:pPr algn="ctr"/>
            <a:endParaRPr lang="en-US" b="1" dirty="0"/>
          </a:p>
        </p:txBody>
      </p:sp>
    </p:spTree>
    <p:extLst>
      <p:ext uri="{BB962C8B-B14F-4D97-AF65-F5344CB8AC3E}">
        <p14:creationId xmlns:p14="http://schemas.microsoft.com/office/powerpoint/2010/main" val="2317423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accent1">
                    <a:lumMod val="75000"/>
                  </a:schemeClr>
                </a:solidFill>
                <a:latin typeface="Arial" panose="020B0604020202020204" pitchFamily="34" charset="0"/>
                <a:cs typeface="Arial" panose="020B0604020202020204" pitchFamily="34" charset="0"/>
              </a:rPr>
              <a:t>Why Software fails?</a:t>
            </a:r>
          </a:p>
        </p:txBody>
      </p:sp>
      <p:sp>
        <p:nvSpPr>
          <p:cNvPr id="3" name="Content Placeholder 2"/>
          <p:cNvSpPr>
            <a:spLocks noGrp="1"/>
          </p:cNvSpPr>
          <p:nvPr>
            <p:ph idx="1"/>
          </p:nvPr>
        </p:nvSpPr>
        <p:spPr>
          <a:xfrm>
            <a:off x="2379662" y="1676400"/>
            <a:ext cx="8915400" cy="3777622"/>
          </a:xfrm>
        </p:spPr>
        <p:txBody>
          <a:bodyPr>
            <a:noAutofit/>
          </a:bodyPr>
          <a:lstStyle/>
          <a:p>
            <a:r>
              <a:rPr lang="en-US" b="1" dirty="0"/>
              <a:t>Unrealistic project goals </a:t>
            </a:r>
          </a:p>
          <a:p>
            <a:r>
              <a:rPr lang="en-US" b="1" dirty="0"/>
              <a:t>Inaccurate estimates of needed resources </a:t>
            </a:r>
          </a:p>
          <a:p>
            <a:r>
              <a:rPr lang="en-US" b="1" dirty="0"/>
              <a:t>Badly defined system requirements </a:t>
            </a:r>
          </a:p>
          <a:p>
            <a:r>
              <a:rPr lang="en-US" b="1" dirty="0"/>
              <a:t>Poor reporting of the project's status </a:t>
            </a:r>
          </a:p>
          <a:p>
            <a:r>
              <a:rPr lang="en-US" b="1" dirty="0"/>
              <a:t>Unmanaged risks </a:t>
            </a:r>
          </a:p>
          <a:p>
            <a:r>
              <a:rPr lang="en-US" b="1" dirty="0"/>
              <a:t>Poor communication among customers, developers, and users </a:t>
            </a:r>
          </a:p>
          <a:p>
            <a:r>
              <a:rPr lang="en-US" b="1" dirty="0"/>
              <a:t>Use of immature technology </a:t>
            </a:r>
          </a:p>
          <a:p>
            <a:r>
              <a:rPr lang="en-US" b="1" dirty="0"/>
              <a:t>Inability to handle the project's complexity </a:t>
            </a:r>
          </a:p>
          <a:p>
            <a:r>
              <a:rPr lang="en-US" b="1" dirty="0"/>
              <a:t>Poor project management </a:t>
            </a:r>
          </a:p>
          <a:p>
            <a:r>
              <a:rPr lang="en-US" b="1" dirty="0"/>
              <a:t>Commercial pressures</a:t>
            </a:r>
          </a:p>
          <a:p>
            <a:r>
              <a:rPr lang="en-US" b="1" dirty="0"/>
              <a:t>Lack of Validation and verification</a:t>
            </a:r>
          </a:p>
          <a:p>
            <a:r>
              <a:rPr lang="en-US" b="1" dirty="0"/>
              <a:t>No execution of simulation / prototyping</a:t>
            </a:r>
          </a:p>
          <a:p>
            <a:endParaRPr lang="en-US" dirty="0"/>
          </a:p>
        </p:txBody>
      </p:sp>
    </p:spTree>
    <p:extLst>
      <p:ext uri="{BB962C8B-B14F-4D97-AF65-F5344CB8AC3E}">
        <p14:creationId xmlns:p14="http://schemas.microsoft.com/office/powerpoint/2010/main" val="1873214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chemeClr val="accent1">
                    <a:lumMod val="75000"/>
                  </a:schemeClr>
                </a:solidFill>
                <a:latin typeface="Arial" panose="020B0604020202020204" pitchFamily="34" charset="0"/>
                <a:cs typeface="Arial" panose="020B0604020202020204" pitchFamily="34" charset="0"/>
              </a:rPr>
              <a:t>Software failures in Formal Methods' Perspectives</a:t>
            </a:r>
          </a:p>
        </p:txBody>
      </p:sp>
      <p:sp>
        <p:nvSpPr>
          <p:cNvPr id="3" name="Content Placeholder 2"/>
          <p:cNvSpPr>
            <a:spLocks noGrp="1"/>
          </p:cNvSpPr>
          <p:nvPr>
            <p:ph idx="1"/>
          </p:nvPr>
        </p:nvSpPr>
        <p:spPr>
          <a:xfrm>
            <a:off x="2379662" y="1676400"/>
            <a:ext cx="8915400" cy="3777622"/>
          </a:xfrm>
        </p:spPr>
        <p:txBody>
          <a:bodyPr>
            <a:noAutofit/>
          </a:bodyPr>
          <a:lstStyle/>
          <a:p>
            <a:r>
              <a:rPr lang="en-US" b="1" dirty="0"/>
              <a:t>Unrealistic project goals </a:t>
            </a:r>
          </a:p>
          <a:p>
            <a:r>
              <a:rPr lang="en-US" b="1" dirty="0"/>
              <a:t>Inaccurate estimates of needed resources </a:t>
            </a:r>
          </a:p>
          <a:p>
            <a:r>
              <a:rPr lang="en-US" b="1" dirty="0">
                <a:solidFill>
                  <a:srgbClr val="FF0000"/>
                </a:solidFill>
              </a:rPr>
              <a:t>Badly defined system requirements and their specifications</a:t>
            </a:r>
          </a:p>
          <a:p>
            <a:r>
              <a:rPr lang="en-US" b="1" dirty="0"/>
              <a:t>Poor reporting of the project's status </a:t>
            </a:r>
          </a:p>
          <a:p>
            <a:r>
              <a:rPr lang="en-US" b="1" dirty="0"/>
              <a:t>Unmanaged risks </a:t>
            </a:r>
          </a:p>
          <a:p>
            <a:r>
              <a:rPr lang="en-US" b="1" dirty="0"/>
              <a:t>Poor communication among customers, developers, and users </a:t>
            </a:r>
          </a:p>
          <a:p>
            <a:r>
              <a:rPr lang="en-US" b="1" dirty="0"/>
              <a:t>Use of immature technology </a:t>
            </a:r>
          </a:p>
          <a:p>
            <a:r>
              <a:rPr lang="en-US" b="1" dirty="0"/>
              <a:t>Inability to handle the project's complexity </a:t>
            </a:r>
          </a:p>
          <a:p>
            <a:r>
              <a:rPr lang="en-US" b="1" dirty="0"/>
              <a:t>Poor project management </a:t>
            </a:r>
          </a:p>
          <a:p>
            <a:r>
              <a:rPr lang="en-US" b="1" dirty="0"/>
              <a:t>Commercial pressures</a:t>
            </a:r>
          </a:p>
          <a:p>
            <a:r>
              <a:rPr lang="en-US" b="1" dirty="0">
                <a:solidFill>
                  <a:srgbClr val="FF0000"/>
                </a:solidFill>
              </a:rPr>
              <a:t>Lack of Validation and verification</a:t>
            </a:r>
          </a:p>
          <a:p>
            <a:r>
              <a:rPr lang="en-US" b="1" dirty="0">
                <a:solidFill>
                  <a:srgbClr val="FF0000"/>
                </a:solidFill>
              </a:rPr>
              <a:t>No execution of simulation / prototyping</a:t>
            </a:r>
          </a:p>
          <a:p>
            <a:endParaRPr lang="en-US" b="1" dirty="0"/>
          </a:p>
          <a:p>
            <a:endParaRPr lang="en-US" dirty="0"/>
          </a:p>
        </p:txBody>
      </p:sp>
    </p:spTree>
    <p:extLst>
      <p:ext uri="{BB962C8B-B14F-4D97-AF65-F5344CB8AC3E}">
        <p14:creationId xmlns:p14="http://schemas.microsoft.com/office/powerpoint/2010/main" val="3696473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accent1">
                    <a:lumMod val="75000"/>
                  </a:schemeClr>
                </a:solidFill>
                <a:latin typeface="Arial" panose="020B0604020202020204" pitchFamily="34" charset="0"/>
                <a:cs typeface="Arial" panose="020B0604020202020204" pitchFamily="34" charset="0"/>
              </a:rPr>
              <a:t>Recap of Software Development Life Cycle</a:t>
            </a:r>
          </a:p>
        </p:txBody>
      </p:sp>
      <p:sp>
        <p:nvSpPr>
          <p:cNvPr id="3" name="Content Placeholder 2"/>
          <p:cNvSpPr>
            <a:spLocks noGrp="1"/>
          </p:cNvSpPr>
          <p:nvPr>
            <p:ph idx="1"/>
          </p:nvPr>
        </p:nvSpPr>
        <p:spPr>
          <a:xfrm>
            <a:off x="2589212" y="2001718"/>
            <a:ext cx="8915400" cy="4451838"/>
          </a:xfrm>
        </p:spPr>
        <p:txBody>
          <a:bodyPr>
            <a:noAutofit/>
          </a:bodyPr>
          <a:lstStyle/>
          <a:p>
            <a:pPr algn="just">
              <a:buFont typeface="+mj-lt"/>
              <a:buAutoNum type="arabicPeriod"/>
            </a:pPr>
            <a:r>
              <a:rPr lang="en-US" b="1" dirty="0"/>
              <a:t>Initial Study: </a:t>
            </a:r>
            <a:r>
              <a:rPr lang="en-US" dirty="0"/>
              <a:t>Meeting with clients for information gathering, Prepare proposal and quotations</a:t>
            </a:r>
          </a:p>
          <a:p>
            <a:pPr algn="just">
              <a:buFont typeface="+mj-lt"/>
              <a:buAutoNum type="arabicPeriod"/>
            </a:pPr>
            <a:r>
              <a:rPr lang="en-US" b="1" dirty="0"/>
              <a:t>Analysis:</a:t>
            </a:r>
            <a:r>
              <a:rPr lang="en-US" dirty="0"/>
              <a:t> Study the current system with the intention of developing new system, System analyst analyze the system with the help of visual aids such observations, inspections, interviews, etc., propose alternate solutions</a:t>
            </a:r>
          </a:p>
          <a:p>
            <a:pPr algn="just">
              <a:buFont typeface="+mj-lt"/>
              <a:buAutoNum type="arabicPeriod"/>
            </a:pPr>
            <a:r>
              <a:rPr lang="en-US" b="1" dirty="0"/>
              <a:t>Design:</a:t>
            </a:r>
            <a:r>
              <a:rPr lang="en-US" dirty="0"/>
              <a:t> Best solution is selected, System designer create specification</a:t>
            </a:r>
          </a:p>
          <a:p>
            <a:pPr algn="just">
              <a:buFont typeface="+mj-lt"/>
              <a:buAutoNum type="arabicPeriod"/>
            </a:pPr>
            <a:r>
              <a:rPr lang="en-US" b="1" dirty="0"/>
              <a:t>Development:</a:t>
            </a:r>
            <a:r>
              <a:rPr lang="en-US" dirty="0"/>
              <a:t> Develop solution for the given specifications, should be a running software at this stage</a:t>
            </a:r>
          </a:p>
          <a:p>
            <a:pPr algn="just">
              <a:buFont typeface="+mj-lt"/>
              <a:buAutoNum type="arabicPeriod"/>
            </a:pPr>
            <a:r>
              <a:rPr lang="en-US" b="1" dirty="0"/>
              <a:t>Testing:</a:t>
            </a:r>
            <a:r>
              <a:rPr lang="en-US" dirty="0"/>
              <a:t> Test plan and test cases to find errors during executions of the system</a:t>
            </a:r>
          </a:p>
          <a:p>
            <a:pPr algn="just">
              <a:buFont typeface="+mj-lt"/>
              <a:buAutoNum type="arabicPeriod"/>
            </a:pPr>
            <a:r>
              <a:rPr lang="en-US" b="1" dirty="0"/>
              <a:t>Implementation:</a:t>
            </a:r>
            <a:r>
              <a:rPr lang="en-US" dirty="0"/>
              <a:t> Installation, training, conversion of data, change over method  etc.</a:t>
            </a:r>
          </a:p>
          <a:p>
            <a:pPr algn="just">
              <a:buFont typeface="+mj-lt"/>
              <a:buAutoNum type="arabicPeriod"/>
            </a:pPr>
            <a:r>
              <a:rPr lang="en-US" b="1" dirty="0"/>
              <a:t>Review:</a:t>
            </a:r>
            <a:r>
              <a:rPr lang="en-US" dirty="0"/>
              <a:t> Review the software performance and provide maintenance service</a:t>
            </a:r>
          </a:p>
        </p:txBody>
      </p:sp>
    </p:spTree>
    <p:extLst>
      <p:ext uri="{BB962C8B-B14F-4D97-AF65-F5344CB8AC3E}">
        <p14:creationId xmlns:p14="http://schemas.microsoft.com/office/powerpoint/2010/main" val="3288718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accent1">
                    <a:lumMod val="75000"/>
                  </a:schemeClr>
                </a:solidFill>
                <a:latin typeface="Arial" panose="020B0604020202020204" pitchFamily="34" charset="0"/>
                <a:cs typeface="Arial" panose="020B0604020202020204" pitchFamily="34" charset="0"/>
              </a:rPr>
              <a:t>Recap of Software Development Life Cycle (cont.…)</a:t>
            </a:r>
          </a:p>
        </p:txBody>
      </p:sp>
      <p:graphicFrame>
        <p:nvGraphicFramePr>
          <p:cNvPr id="4" name="Diagram 3"/>
          <p:cNvGraphicFramePr/>
          <p:nvPr>
            <p:extLst>
              <p:ext uri="{D42A27DB-BD31-4B8C-83A1-F6EECF244321}">
                <p14:modId xmlns:p14="http://schemas.microsoft.com/office/powerpoint/2010/main" val="1256350070"/>
              </p:ext>
            </p:extLst>
          </p:nvPr>
        </p:nvGraphicFramePr>
        <p:xfrm>
          <a:off x="2840891" y="2540976"/>
          <a:ext cx="7287847" cy="38774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83744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olidFill>
                  <a:schemeClr val="accent1">
                    <a:lumMod val="75000"/>
                  </a:schemeClr>
                </a:solidFill>
                <a:latin typeface="Arial" panose="020B0604020202020204" pitchFamily="34" charset="0"/>
                <a:cs typeface="Arial" panose="020B0604020202020204" pitchFamily="34" charset="0"/>
              </a:rPr>
              <a:t>Softwares </a:t>
            </a:r>
            <a:r>
              <a:rPr lang="en-US" b="1" dirty="0">
                <a:solidFill>
                  <a:schemeClr val="accent1">
                    <a:lumMod val="75000"/>
                  </a:schemeClr>
                </a:solidFill>
                <a:latin typeface="Arial" panose="020B0604020202020204" pitchFamily="34" charset="0"/>
                <a:cs typeface="Arial" panose="020B0604020202020204" pitchFamily="34" charset="0"/>
              </a:rPr>
              <a:t>in Safety Critical Systems</a:t>
            </a:r>
          </a:p>
        </p:txBody>
      </p:sp>
      <p:sp>
        <p:nvSpPr>
          <p:cNvPr id="3" name="Content Placeholder 2"/>
          <p:cNvSpPr>
            <a:spLocks noGrp="1"/>
          </p:cNvSpPr>
          <p:nvPr>
            <p:ph idx="1"/>
          </p:nvPr>
        </p:nvSpPr>
        <p:spPr/>
        <p:txBody>
          <a:bodyPr>
            <a:normAutofit/>
          </a:bodyPr>
          <a:lstStyle/>
          <a:p>
            <a:r>
              <a:rPr lang="en-US" sz="2800" dirty="0">
                <a:latin typeface="Arial" panose="020B0604020202020204" pitchFamily="34" charset="0"/>
                <a:cs typeface="Arial" panose="020B0604020202020204" pitchFamily="34" charset="0"/>
              </a:rPr>
              <a:t>Computers are often used in safety-critical systems where a failure could cause loss of life. </a:t>
            </a:r>
          </a:p>
          <a:p>
            <a:pPr lvl="1"/>
            <a:r>
              <a:rPr lang="en-US" sz="2600" dirty="0">
                <a:latin typeface="Arial" panose="020B0604020202020204" pitchFamily="34" charset="0"/>
                <a:cs typeface="Arial" panose="020B0604020202020204" pitchFamily="34" charset="0"/>
              </a:rPr>
              <a:t>Heart pacemakers </a:t>
            </a:r>
          </a:p>
          <a:p>
            <a:pPr lvl="1"/>
            <a:r>
              <a:rPr lang="en-US" sz="2600" dirty="0">
                <a:latin typeface="Arial" panose="020B0604020202020204" pitchFamily="34" charset="0"/>
                <a:cs typeface="Arial" panose="020B0604020202020204" pitchFamily="34" charset="0"/>
              </a:rPr>
              <a:t>Aircraft </a:t>
            </a:r>
          </a:p>
          <a:p>
            <a:pPr lvl="1"/>
            <a:r>
              <a:rPr lang="en-US" sz="2600" dirty="0">
                <a:latin typeface="Arial" panose="020B0604020202020204" pitchFamily="34" charset="0"/>
                <a:cs typeface="Arial" panose="020B0604020202020204" pitchFamily="34" charset="0"/>
              </a:rPr>
              <a:t>Nuclear reactor controllers</a:t>
            </a:r>
          </a:p>
          <a:p>
            <a:pPr lvl="1"/>
            <a:r>
              <a:rPr lang="en-US" sz="2600" dirty="0">
                <a:latin typeface="Arial" panose="020B0604020202020204" pitchFamily="34" charset="0"/>
                <a:cs typeface="Arial" panose="020B0604020202020204" pitchFamily="34" charset="0"/>
              </a:rPr>
              <a:t>Car engine management systems </a:t>
            </a:r>
          </a:p>
          <a:p>
            <a:pPr lvl="1"/>
            <a:r>
              <a:rPr lang="en-US" sz="2600" dirty="0">
                <a:latin typeface="Arial" panose="020B0604020202020204" pitchFamily="34" charset="0"/>
                <a:cs typeface="Arial" panose="020B0604020202020204" pitchFamily="34" charset="0"/>
              </a:rPr>
              <a:t>Radiation therapy machines</a:t>
            </a:r>
          </a:p>
        </p:txBody>
      </p:sp>
    </p:spTree>
    <p:extLst>
      <p:ext uri="{BB962C8B-B14F-4D97-AF65-F5344CB8AC3E}">
        <p14:creationId xmlns:p14="http://schemas.microsoft.com/office/powerpoint/2010/main" val="25869800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accent1">
                    <a:lumMod val="75000"/>
                  </a:schemeClr>
                </a:solidFill>
                <a:latin typeface="Arial" panose="020B0604020202020204" pitchFamily="34" charset="0"/>
                <a:cs typeface="Arial" panose="020B0604020202020204" pitchFamily="34" charset="0"/>
              </a:rPr>
              <a:t>What is formal method?</a:t>
            </a:r>
            <a:br>
              <a:rPr lang="en-US" b="1" dirty="0">
                <a:solidFill>
                  <a:schemeClr val="accent1">
                    <a:lumMod val="75000"/>
                  </a:schemeClr>
                </a:solidFill>
                <a:latin typeface="Arial" panose="020B0604020202020204" pitchFamily="34" charset="0"/>
                <a:cs typeface="Arial" panose="020B0604020202020204" pitchFamily="34" charset="0"/>
              </a:rPr>
            </a:br>
            <a:endParaRPr lang="en-US" b="1" dirty="0">
              <a:solidFill>
                <a:schemeClr val="accent1">
                  <a:lumMod val="75000"/>
                </a:schemeClr>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341562" y="1752600"/>
            <a:ext cx="8915400" cy="3777622"/>
          </a:xfrm>
        </p:spPr>
        <p:txBody>
          <a:bodyPr>
            <a:noAutofit/>
          </a:bodyPr>
          <a:lstStyle/>
          <a:p>
            <a:pPr algn="just"/>
            <a:r>
              <a:rPr lang="en-US" sz="2800" dirty="0">
                <a:latin typeface="Arial" panose="020B0604020202020204" pitchFamily="34" charset="0"/>
                <a:cs typeface="Arial" panose="020B0604020202020204" pitchFamily="34" charset="0"/>
              </a:rPr>
              <a:t>Formal methods check the functional, non-functional requirements to see whether a system can derive qualitative and quantitative properties systematically or not?</a:t>
            </a:r>
          </a:p>
          <a:p>
            <a:pPr algn="just"/>
            <a:endParaRPr lang="en-US" altLang="en-US" sz="2800" dirty="0">
              <a:latin typeface="Arial" panose="020B0604020202020204" pitchFamily="34" charset="0"/>
              <a:cs typeface="Arial" panose="020B0604020202020204" pitchFamily="34" charset="0"/>
            </a:endParaRPr>
          </a:p>
          <a:p>
            <a:pPr algn="just"/>
            <a:r>
              <a:rPr lang="en-US" altLang="en-US" sz="2800" dirty="0">
                <a:latin typeface="Arial" panose="020B0604020202020204" pitchFamily="34" charset="0"/>
                <a:cs typeface="Arial" panose="020B0604020202020204" pitchFamily="34" charset="0"/>
              </a:rPr>
              <a:t>Formal methods consist of tools &amp; techniques, specification languages and proof theories based on formal modal to represent the overall behavior of the system</a:t>
            </a:r>
          </a:p>
          <a:p>
            <a:pPr algn="just"/>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80583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b="1" dirty="0">
                <a:solidFill>
                  <a:schemeClr val="accent1">
                    <a:lumMod val="75000"/>
                  </a:schemeClr>
                </a:solidFill>
                <a:latin typeface="Arial" panose="020B0604020202020204" pitchFamily="34" charset="0"/>
                <a:cs typeface="Arial" panose="020B0604020202020204" pitchFamily="34" charset="0"/>
              </a:rPr>
              <a:t>Formal Methods</a:t>
            </a:r>
            <a:br>
              <a:rPr lang="en-US" altLang="en-US" b="1" dirty="0">
                <a:solidFill>
                  <a:schemeClr val="accent1">
                    <a:lumMod val="75000"/>
                  </a:schemeClr>
                </a:solidFill>
                <a:latin typeface="Arial" panose="020B0604020202020204" pitchFamily="34" charset="0"/>
                <a:cs typeface="Arial" panose="020B0604020202020204" pitchFamily="34" charset="0"/>
              </a:rPr>
            </a:br>
            <a:endParaRPr lang="en-US" b="1" dirty="0">
              <a:solidFill>
                <a:schemeClr val="accent1">
                  <a:lumMod val="75000"/>
                </a:schemeClr>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pPr lvl="1" algn="just">
              <a:buFont typeface="Wingdings" panose="05000000000000000000" pitchFamily="2" charset="2"/>
              <a:buChar char="§"/>
            </a:pPr>
            <a:r>
              <a:rPr lang="en-US" altLang="en-US" sz="2800" dirty="0">
                <a:latin typeface="Arial" panose="020B0604020202020204" pitchFamily="34" charset="0"/>
              </a:rPr>
              <a:t>Traceability </a:t>
            </a:r>
          </a:p>
          <a:p>
            <a:pPr lvl="2" algn="just">
              <a:buFont typeface="Wingdings" panose="05000000000000000000" pitchFamily="2" charset="2"/>
              <a:buChar char="§"/>
            </a:pPr>
            <a:r>
              <a:rPr lang="en-US" altLang="en-US" sz="2800" dirty="0">
                <a:latin typeface="Arial" panose="020B0604020202020204" pitchFamily="34" charset="0"/>
              </a:rPr>
              <a:t>System-level requirements should be traceable to subsystems or components</a:t>
            </a:r>
          </a:p>
          <a:p>
            <a:endParaRPr lang="en-US" dirty="0"/>
          </a:p>
        </p:txBody>
      </p:sp>
      <p:pic>
        <p:nvPicPr>
          <p:cNvPr id="16" name="Picture 15"/>
          <p:cNvPicPr>
            <a:picLocks noChangeAspect="1"/>
          </p:cNvPicPr>
          <p:nvPr/>
        </p:nvPicPr>
        <p:blipFill>
          <a:blip r:embed="rId2"/>
          <a:stretch>
            <a:fillRect/>
          </a:stretch>
        </p:blipFill>
        <p:spPr>
          <a:xfrm>
            <a:off x="5057775" y="3631509"/>
            <a:ext cx="5191125" cy="3159815"/>
          </a:xfrm>
          <a:prstGeom prst="rect">
            <a:avLst/>
          </a:prstGeom>
        </p:spPr>
      </p:pic>
    </p:spTree>
    <p:extLst>
      <p:ext uri="{BB962C8B-B14F-4D97-AF65-F5344CB8AC3E}">
        <p14:creationId xmlns:p14="http://schemas.microsoft.com/office/powerpoint/2010/main" val="920272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accent1">
                    <a:lumMod val="75000"/>
                  </a:schemeClr>
                </a:solidFill>
                <a:latin typeface="Arial" panose="020B0604020202020204" pitchFamily="34" charset="0"/>
                <a:cs typeface="Arial" panose="020B0604020202020204" pitchFamily="34" charset="0"/>
              </a:rPr>
              <a:t>Formal Methods</a:t>
            </a:r>
          </a:p>
        </p:txBody>
      </p:sp>
      <p:sp>
        <p:nvSpPr>
          <p:cNvPr id="3" name="Content Placeholder 2"/>
          <p:cNvSpPr>
            <a:spLocks noGrp="1"/>
          </p:cNvSpPr>
          <p:nvPr>
            <p:ph idx="1"/>
          </p:nvPr>
        </p:nvSpPr>
        <p:spPr>
          <a:xfrm>
            <a:off x="2184033" y="1956289"/>
            <a:ext cx="9693641" cy="3777622"/>
          </a:xfrm>
        </p:spPr>
        <p:txBody>
          <a:bodyPr>
            <a:noAutofit/>
          </a:bodyPr>
          <a:lstStyle/>
          <a:p>
            <a:pPr algn="just">
              <a:lnSpc>
                <a:spcPct val="80000"/>
              </a:lnSpc>
              <a:buFont typeface="Wingdings" panose="05000000000000000000" pitchFamily="2" charset="2"/>
              <a:buChar char="§"/>
            </a:pPr>
            <a:r>
              <a:rPr lang="en-US" altLang="en-US" sz="2800" dirty="0">
                <a:latin typeface="Arial" panose="020B0604020202020204" pitchFamily="34" charset="0"/>
                <a:cs typeface="Arial" panose="020B0604020202020204" pitchFamily="34" charset="0"/>
              </a:rPr>
              <a:t>Formal methods can</a:t>
            </a:r>
          </a:p>
          <a:p>
            <a:pPr lvl="1" algn="just">
              <a:lnSpc>
                <a:spcPct val="80000"/>
              </a:lnSpc>
              <a:buFont typeface="Wingdings" panose="05000000000000000000" pitchFamily="2" charset="2"/>
              <a:buChar char="§"/>
            </a:pPr>
            <a:r>
              <a:rPr lang="en-US" altLang="en-US" sz="2800" dirty="0">
                <a:latin typeface="Arial" panose="020B0604020202020204" pitchFamily="34" charset="0"/>
                <a:cs typeface="Arial" panose="020B0604020202020204" pitchFamily="34" charset="0"/>
              </a:rPr>
              <a:t>Be a foundation for designing </a:t>
            </a:r>
            <a:r>
              <a:rPr lang="en-US" altLang="en-US" sz="2800" dirty="0">
                <a:solidFill>
                  <a:srgbClr val="C00000"/>
                </a:solidFill>
                <a:latin typeface="Arial" panose="020B0604020202020204" pitchFamily="34" charset="0"/>
                <a:cs typeface="Arial" panose="020B0604020202020204" pitchFamily="34" charset="0"/>
              </a:rPr>
              <a:t>safety critical systems</a:t>
            </a:r>
          </a:p>
          <a:p>
            <a:pPr lvl="1" algn="just">
              <a:lnSpc>
                <a:spcPct val="80000"/>
              </a:lnSpc>
              <a:buFont typeface="Wingdings" panose="05000000000000000000" pitchFamily="2" charset="2"/>
              <a:buChar char="§"/>
            </a:pPr>
            <a:r>
              <a:rPr lang="en-US" altLang="en-US" sz="2800" dirty="0">
                <a:latin typeface="Arial" panose="020B0604020202020204" pitchFamily="34" charset="0"/>
                <a:cs typeface="Arial" panose="020B0604020202020204" pitchFamily="34" charset="0"/>
              </a:rPr>
              <a:t>Be a foundation for describing complex systems</a:t>
            </a:r>
          </a:p>
          <a:p>
            <a:pPr lvl="1" algn="just">
              <a:lnSpc>
                <a:spcPct val="80000"/>
              </a:lnSpc>
              <a:buFont typeface="Wingdings" panose="05000000000000000000" pitchFamily="2" charset="2"/>
              <a:buChar char="§"/>
            </a:pPr>
            <a:r>
              <a:rPr lang="en-US" altLang="en-US" sz="2800" dirty="0">
                <a:latin typeface="Arial" panose="020B0604020202020204" pitchFamily="34" charset="0"/>
                <a:cs typeface="Arial" panose="020B0604020202020204" pitchFamily="34" charset="0"/>
              </a:rPr>
              <a:t>Provide support for program development</a:t>
            </a:r>
          </a:p>
          <a:p>
            <a:pPr algn="just">
              <a:lnSpc>
                <a:spcPct val="80000"/>
              </a:lnSpc>
              <a:buFont typeface="Wingdings" panose="05000000000000000000" pitchFamily="2" charset="2"/>
              <a:buChar char="§"/>
            </a:pPr>
            <a:endParaRPr lang="en-US" sz="2800" dirty="0">
              <a:latin typeface="Arial" panose="020B0604020202020204" pitchFamily="34" charset="0"/>
              <a:cs typeface="Arial" panose="020B0604020202020204" pitchFamily="34" charset="0"/>
            </a:endParaRPr>
          </a:p>
          <a:p>
            <a:pPr algn="just">
              <a:lnSpc>
                <a:spcPct val="80000"/>
              </a:lnSpc>
              <a:buFont typeface="Wingdings" panose="05000000000000000000" pitchFamily="2" charset="2"/>
              <a:buChar char="§"/>
            </a:pPr>
            <a:r>
              <a:rPr lang="en-US" sz="2800" dirty="0">
                <a:latin typeface="Arial" panose="020B0604020202020204" pitchFamily="34" charset="0"/>
                <a:cs typeface="Arial" panose="020B0604020202020204" pitchFamily="34" charset="0"/>
              </a:rPr>
              <a:t>A way to take the specification (written in natural language) and converts it into its mathematical equivalent. It is normally used in the SDLC Analysis and Design stages. The natural language usually contains ambiguous, incomplete and inconsistent statement. </a:t>
            </a:r>
          </a:p>
          <a:p>
            <a:pPr lvl="1" algn="just">
              <a:lnSpc>
                <a:spcPct val="80000"/>
              </a:lnSpc>
              <a:buFont typeface="Wingdings" panose="05000000000000000000" pitchFamily="2" charset="2"/>
              <a:buChar char="§"/>
            </a:pP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15359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430681"/>
            <a:ext cx="8911687" cy="1280890"/>
          </a:xfrm>
        </p:spPr>
        <p:txBody>
          <a:bodyPr>
            <a:normAutofit/>
          </a:bodyPr>
          <a:lstStyle/>
          <a:p>
            <a:r>
              <a:rPr lang="en-US" b="1" dirty="0">
                <a:solidFill>
                  <a:schemeClr val="accent1">
                    <a:lumMod val="75000"/>
                  </a:schemeClr>
                </a:solidFill>
                <a:latin typeface="Arial" panose="020B0604020202020204" pitchFamily="34" charset="0"/>
                <a:cs typeface="Arial" panose="020B0604020202020204" pitchFamily="34" charset="0"/>
              </a:rPr>
              <a:t>Formal Methods</a:t>
            </a:r>
          </a:p>
        </p:txBody>
      </p:sp>
      <p:sp>
        <p:nvSpPr>
          <p:cNvPr id="3" name="Content Placeholder 2"/>
          <p:cNvSpPr>
            <a:spLocks noGrp="1"/>
          </p:cNvSpPr>
          <p:nvPr>
            <p:ph idx="1"/>
          </p:nvPr>
        </p:nvSpPr>
        <p:spPr>
          <a:xfrm>
            <a:off x="2427286" y="1447800"/>
            <a:ext cx="9269413" cy="4495800"/>
          </a:xfrm>
        </p:spPr>
        <p:txBody>
          <a:bodyPr>
            <a:noAutofit/>
          </a:bodyPr>
          <a:lstStyle/>
          <a:p>
            <a:pPr algn="just"/>
            <a:r>
              <a:rPr lang="en-US" sz="2800" dirty="0">
                <a:latin typeface="Arial" panose="020B0604020202020204" pitchFamily="34" charset="0"/>
                <a:cs typeface="Arial" panose="020B0604020202020204" pitchFamily="34" charset="0"/>
              </a:rPr>
              <a:t>Once a specification is translated to a mathematical form, it will remove all ambiguity and uncertainty in that statement. </a:t>
            </a:r>
          </a:p>
          <a:p>
            <a:pPr algn="just"/>
            <a:endParaRPr lang="en-US" sz="2800" dirty="0">
              <a:latin typeface="Arial" panose="020B0604020202020204" pitchFamily="34" charset="0"/>
              <a:cs typeface="Arial" panose="020B0604020202020204" pitchFamily="34" charset="0"/>
            </a:endParaRPr>
          </a:p>
          <a:p>
            <a:pPr algn="just"/>
            <a:r>
              <a:rPr lang="en-US" sz="2800" dirty="0">
                <a:latin typeface="Arial" panose="020B0604020202020204" pitchFamily="34" charset="0"/>
                <a:cs typeface="Arial" panose="020B0604020202020204" pitchFamily="34" charset="0"/>
              </a:rPr>
              <a:t>Formal method will also bring to light all different probable perspective to any given variables and functions that could have been hidden behind the English language. </a:t>
            </a:r>
          </a:p>
          <a:p>
            <a:pPr algn="just"/>
            <a:endParaRPr lang="en-US" sz="2400" dirty="0">
              <a:latin typeface="Arial" panose="020B0604020202020204" pitchFamily="34" charset="0"/>
              <a:cs typeface="Arial" panose="020B0604020202020204" pitchFamily="34" charset="0"/>
            </a:endParaRPr>
          </a:p>
          <a:p>
            <a:pPr algn="just"/>
            <a:r>
              <a:rPr lang="en-US" sz="2400" dirty="0">
                <a:latin typeface="Arial" panose="020B0604020202020204" pitchFamily="34" charset="0"/>
                <a:cs typeface="Arial" panose="020B0604020202020204" pitchFamily="34" charset="0"/>
              </a:rPr>
              <a:t>This can be done using a number of formal languages such as Z notation, VDM, Functional Programming, etc. </a:t>
            </a:r>
          </a:p>
        </p:txBody>
      </p:sp>
    </p:spTree>
    <p:extLst>
      <p:ext uri="{BB962C8B-B14F-4D97-AF65-F5344CB8AC3E}">
        <p14:creationId xmlns:p14="http://schemas.microsoft.com/office/powerpoint/2010/main" val="32249943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404299"/>
            <a:ext cx="8911687" cy="1280890"/>
          </a:xfrm>
        </p:spPr>
        <p:txBody>
          <a:bodyPr>
            <a:normAutofit/>
          </a:bodyPr>
          <a:lstStyle/>
          <a:p>
            <a:r>
              <a:rPr lang="en-US" b="1" dirty="0">
                <a:solidFill>
                  <a:schemeClr val="accent1">
                    <a:lumMod val="75000"/>
                  </a:schemeClr>
                </a:solidFill>
                <a:latin typeface="Arial" panose="020B0604020202020204" pitchFamily="34" charset="0"/>
                <a:cs typeface="Arial" panose="020B0604020202020204" pitchFamily="34" charset="0"/>
              </a:rPr>
              <a:t>Why formal methods?</a:t>
            </a:r>
          </a:p>
        </p:txBody>
      </p:sp>
      <p:sp>
        <p:nvSpPr>
          <p:cNvPr id="3" name="Content Placeholder 2"/>
          <p:cNvSpPr>
            <a:spLocks noGrp="1"/>
          </p:cNvSpPr>
          <p:nvPr>
            <p:ph idx="1"/>
          </p:nvPr>
        </p:nvSpPr>
        <p:spPr>
          <a:xfrm>
            <a:off x="2589212" y="1623643"/>
            <a:ext cx="8915400" cy="3777622"/>
          </a:xfrm>
        </p:spPr>
        <p:txBody>
          <a:bodyPr>
            <a:noAutofit/>
          </a:bodyPr>
          <a:lstStyle/>
          <a:p>
            <a:pPr algn="just"/>
            <a:r>
              <a:rPr lang="en-US" sz="2800">
                <a:latin typeface="Arial" panose="020B0604020202020204" pitchFamily="34" charset="0"/>
                <a:cs typeface="Arial" panose="020B0604020202020204" pitchFamily="34" charset="0"/>
              </a:rPr>
              <a:t>Very </a:t>
            </a:r>
            <a:r>
              <a:rPr lang="en-US" sz="2800" dirty="0">
                <a:latin typeface="Arial" panose="020B0604020202020204" pitchFamily="34" charset="0"/>
                <a:cs typeface="Arial" panose="020B0604020202020204" pitchFamily="34" charset="0"/>
              </a:rPr>
              <a:t>useful in </a:t>
            </a:r>
            <a:r>
              <a:rPr lang="en-US" sz="2800" dirty="0">
                <a:solidFill>
                  <a:srgbClr val="C00000"/>
                </a:solidFill>
                <a:latin typeface="Arial" panose="020B0604020202020204" pitchFamily="34" charset="0"/>
                <a:cs typeface="Arial" panose="020B0604020202020204" pitchFamily="34" charset="0"/>
              </a:rPr>
              <a:t>safety critical systems </a:t>
            </a:r>
            <a:r>
              <a:rPr lang="en-US" sz="2800" dirty="0">
                <a:latin typeface="Arial" panose="020B0604020202020204" pitchFamily="34" charset="0"/>
                <a:cs typeface="Arial" panose="020B0604020202020204" pitchFamily="34" charset="0"/>
              </a:rPr>
              <a:t>such as emergency situations, disaster recoveries, etc.</a:t>
            </a:r>
          </a:p>
          <a:p>
            <a:pPr algn="just"/>
            <a:r>
              <a:rPr lang="en-US" sz="2800" dirty="0">
                <a:latin typeface="Arial" panose="020B0604020202020204" pitchFamily="34" charset="0"/>
                <a:cs typeface="Arial" panose="020B0604020202020204" pitchFamily="34" charset="0"/>
              </a:rPr>
              <a:t>Verify </a:t>
            </a:r>
            <a:r>
              <a:rPr lang="en-US" sz="2800" dirty="0">
                <a:solidFill>
                  <a:srgbClr val="0070C0"/>
                </a:solidFill>
                <a:latin typeface="Arial" panose="020B0604020202020204" pitchFamily="34" charset="0"/>
                <a:cs typeface="Arial" panose="020B0604020202020204" pitchFamily="34" charset="0"/>
              </a:rPr>
              <a:t>correctness properties </a:t>
            </a:r>
            <a:r>
              <a:rPr lang="en-US" sz="2800" dirty="0">
                <a:latin typeface="Arial" panose="020B0604020202020204" pitchFamily="34" charset="0"/>
                <a:cs typeface="Arial" panose="020B0604020202020204" pitchFamily="34" charset="0"/>
              </a:rPr>
              <a:t>of the system</a:t>
            </a:r>
          </a:p>
          <a:p>
            <a:pPr algn="just"/>
            <a:r>
              <a:rPr lang="en-US" sz="2800" dirty="0">
                <a:latin typeface="Arial" panose="020B0604020202020204" pitchFamily="34" charset="0"/>
                <a:cs typeface="Arial" panose="020B0604020202020204" pitchFamily="34" charset="0"/>
              </a:rPr>
              <a:t>Extremely large system can be traversed in minutes</a:t>
            </a:r>
          </a:p>
          <a:p>
            <a:pPr algn="just"/>
            <a:r>
              <a:rPr lang="en-US" sz="2800" dirty="0">
                <a:latin typeface="Arial" panose="020B0604020202020204" pitchFamily="34" charset="0"/>
                <a:cs typeface="Arial" panose="020B0604020202020204" pitchFamily="34" charset="0"/>
              </a:rPr>
              <a:t>Represent the </a:t>
            </a:r>
            <a:r>
              <a:rPr lang="en-US" sz="2800" dirty="0">
                <a:solidFill>
                  <a:srgbClr val="FF0000"/>
                </a:solidFill>
                <a:latin typeface="Arial" panose="020B0604020202020204" pitchFamily="34" charset="0"/>
                <a:cs typeface="Arial" panose="020B0604020202020204" pitchFamily="34" charset="0"/>
              </a:rPr>
              <a:t>overall behavior </a:t>
            </a:r>
            <a:r>
              <a:rPr lang="en-US" sz="2800" dirty="0">
                <a:latin typeface="Arial" panose="020B0604020202020204" pitchFamily="34" charset="0"/>
                <a:cs typeface="Arial" panose="020B0604020202020204" pitchFamily="34" charset="0"/>
              </a:rPr>
              <a:t>of the system</a:t>
            </a:r>
          </a:p>
          <a:p>
            <a:pPr algn="just"/>
            <a:r>
              <a:rPr lang="en-US" sz="2800" dirty="0">
                <a:latin typeface="Arial" panose="020B0604020202020204" pitchFamily="34" charset="0"/>
                <a:cs typeface="Arial" panose="020B0604020202020204" pitchFamily="34" charset="0"/>
              </a:rPr>
              <a:t>Efficient in terms of product development and improvements.</a:t>
            </a:r>
          </a:p>
        </p:txBody>
      </p:sp>
    </p:spTree>
    <p:extLst>
      <p:ext uri="{BB962C8B-B14F-4D97-AF65-F5344CB8AC3E}">
        <p14:creationId xmlns:p14="http://schemas.microsoft.com/office/powerpoint/2010/main" val="2160321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chemeClr val="accent1">
                    <a:lumMod val="75000"/>
                  </a:schemeClr>
                </a:solidFill>
                <a:latin typeface="Arial" panose="020B0604020202020204" pitchFamily="34" charset="0"/>
                <a:cs typeface="Arial" panose="020B0604020202020204" pitchFamily="34" charset="0"/>
              </a:rPr>
              <a:t>Formal Methods (recapping…)</a:t>
            </a:r>
          </a:p>
        </p:txBody>
      </p:sp>
      <p:sp>
        <p:nvSpPr>
          <p:cNvPr id="3" name="Content Placeholder 2"/>
          <p:cNvSpPr>
            <a:spLocks noGrp="1"/>
          </p:cNvSpPr>
          <p:nvPr>
            <p:ph idx="1"/>
          </p:nvPr>
        </p:nvSpPr>
        <p:spPr>
          <a:xfrm>
            <a:off x="2510082" y="1764323"/>
            <a:ext cx="8915400" cy="3777622"/>
          </a:xfrm>
        </p:spPr>
        <p:txBody>
          <a:bodyPr>
            <a:noAutofit/>
          </a:bodyPr>
          <a:lstStyle/>
          <a:p>
            <a:pPr algn="just"/>
            <a:r>
              <a:rPr lang="en-US" sz="2400" dirty="0">
                <a:latin typeface="Arial Rounded MT Bold" panose="020F0704030504030204" pitchFamily="34" charset="0"/>
              </a:rPr>
              <a:t>Formal methods refer to a </a:t>
            </a:r>
            <a:r>
              <a:rPr lang="en-US" sz="2400" dirty="0">
                <a:solidFill>
                  <a:srgbClr val="C00000"/>
                </a:solidFill>
                <a:latin typeface="Arial Rounded MT Bold" panose="020F0704030504030204" pitchFamily="34" charset="0"/>
              </a:rPr>
              <a:t>collection of notations and techniques</a:t>
            </a:r>
            <a:r>
              <a:rPr lang="en-US" sz="2400" dirty="0">
                <a:latin typeface="Arial Rounded MT Bold" panose="020F0704030504030204" pitchFamily="34" charset="0"/>
              </a:rPr>
              <a:t> for describing and analyzing systems. They can be used to </a:t>
            </a:r>
            <a:r>
              <a:rPr lang="en-US" sz="2400" dirty="0">
                <a:solidFill>
                  <a:srgbClr val="0070C0"/>
                </a:solidFill>
                <a:latin typeface="Arial Rounded MT Bold" panose="020F0704030504030204" pitchFamily="34" charset="0"/>
              </a:rPr>
              <a:t>improve the quality </a:t>
            </a:r>
            <a:r>
              <a:rPr lang="en-US" sz="2400" dirty="0">
                <a:latin typeface="Arial Rounded MT Bold" panose="020F0704030504030204" pitchFamily="34" charset="0"/>
              </a:rPr>
              <a:t>of (distributed) systems. </a:t>
            </a:r>
          </a:p>
          <a:p>
            <a:pPr algn="just"/>
            <a:endParaRPr lang="en-US" sz="2400" dirty="0">
              <a:latin typeface="Arial Rounded MT Bold" panose="020F0704030504030204" pitchFamily="34" charset="0"/>
            </a:endParaRPr>
          </a:p>
          <a:p>
            <a:pPr algn="just"/>
            <a:r>
              <a:rPr lang="en-US" sz="2400" dirty="0">
                <a:latin typeface="Arial Rounded MT Bold" panose="020F0704030504030204" pitchFamily="34" charset="0"/>
              </a:rPr>
              <a:t>A formal method generally consists of a formalism </a:t>
            </a:r>
          </a:p>
          <a:p>
            <a:pPr marL="800100" lvl="1" indent="-342900" algn="just">
              <a:buFont typeface="+mj-lt"/>
              <a:buAutoNum type="arabicPeriod"/>
            </a:pPr>
            <a:r>
              <a:rPr lang="en-US" sz="1800" dirty="0">
                <a:latin typeface="Arial Rounded MT Bold" panose="020F0704030504030204" pitchFamily="34" charset="0"/>
              </a:rPr>
              <a:t>To model a system, </a:t>
            </a:r>
          </a:p>
          <a:p>
            <a:pPr marL="800100" lvl="1" indent="-342900" algn="just">
              <a:buFont typeface="+mj-lt"/>
              <a:buAutoNum type="arabicPeriod"/>
            </a:pPr>
            <a:r>
              <a:rPr lang="en-US" sz="1800" dirty="0">
                <a:latin typeface="Arial Rounded MT Bold" panose="020F0704030504030204" pitchFamily="34" charset="0"/>
              </a:rPr>
              <a:t>A specification language to express the desired properties of the system, </a:t>
            </a:r>
          </a:p>
          <a:p>
            <a:pPr marL="800100" lvl="1" indent="-342900" algn="just">
              <a:buFont typeface="+mj-lt"/>
              <a:buAutoNum type="arabicPeriod"/>
            </a:pPr>
            <a:r>
              <a:rPr lang="en-US" sz="1800" dirty="0">
                <a:latin typeface="Arial Rounded MT Bold" panose="020F0704030504030204" pitchFamily="34" charset="0"/>
              </a:rPr>
              <a:t>A formal semantics to interpret both the system and the properties, and </a:t>
            </a:r>
          </a:p>
          <a:p>
            <a:pPr marL="800100" lvl="1" indent="-342900" algn="just">
              <a:buFont typeface="+mj-lt"/>
              <a:buAutoNum type="arabicPeriod"/>
            </a:pPr>
            <a:r>
              <a:rPr lang="en-US" sz="1800" dirty="0">
                <a:latin typeface="Arial Rounded MT Bold" panose="020F0704030504030204" pitchFamily="34" charset="0"/>
              </a:rPr>
              <a:t>Verification techniques to check whether the properties are satisfied by the system. </a:t>
            </a:r>
          </a:p>
        </p:txBody>
      </p:sp>
    </p:spTree>
    <p:extLst>
      <p:ext uri="{BB962C8B-B14F-4D97-AF65-F5344CB8AC3E}">
        <p14:creationId xmlns:p14="http://schemas.microsoft.com/office/powerpoint/2010/main" val="11272059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2589212" y="466858"/>
            <a:ext cx="8553450" cy="5838825"/>
          </a:xfrm>
          <a:prstGeom prst="rect">
            <a:avLst/>
          </a:prstGeom>
        </p:spPr>
      </p:pic>
    </p:spTree>
    <p:extLst>
      <p:ext uri="{BB962C8B-B14F-4D97-AF65-F5344CB8AC3E}">
        <p14:creationId xmlns:p14="http://schemas.microsoft.com/office/powerpoint/2010/main" val="23019890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2494882" y="229713"/>
            <a:ext cx="9458325" cy="6296025"/>
          </a:xfrm>
          <a:prstGeom prst="rect">
            <a:avLst/>
          </a:prstGeom>
        </p:spPr>
      </p:pic>
    </p:spTree>
    <p:extLst>
      <p:ext uri="{BB962C8B-B14F-4D97-AF65-F5344CB8AC3E}">
        <p14:creationId xmlns:p14="http://schemas.microsoft.com/office/powerpoint/2010/main" val="3164598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2386324" y="366712"/>
            <a:ext cx="9658350" cy="6124575"/>
          </a:xfrm>
          <a:prstGeom prst="rect">
            <a:avLst/>
          </a:prstGeom>
        </p:spPr>
      </p:pic>
    </p:spTree>
    <p:extLst>
      <p:ext uri="{BB962C8B-B14F-4D97-AF65-F5344CB8AC3E}">
        <p14:creationId xmlns:p14="http://schemas.microsoft.com/office/powerpoint/2010/main" val="1777111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5" name="Picture 4"/>
          <p:cNvPicPr>
            <a:picLocks noChangeAspect="1"/>
          </p:cNvPicPr>
          <p:nvPr/>
        </p:nvPicPr>
        <p:blipFill>
          <a:blip r:embed="rId2"/>
          <a:stretch>
            <a:fillRect/>
          </a:stretch>
        </p:blipFill>
        <p:spPr>
          <a:xfrm>
            <a:off x="2474912" y="143910"/>
            <a:ext cx="9144000" cy="6543675"/>
          </a:xfrm>
          <a:prstGeom prst="rect">
            <a:avLst/>
          </a:prstGeom>
        </p:spPr>
      </p:pic>
    </p:spTree>
    <p:extLst>
      <p:ext uri="{BB962C8B-B14F-4D97-AF65-F5344CB8AC3E}">
        <p14:creationId xmlns:p14="http://schemas.microsoft.com/office/powerpoint/2010/main" val="13954594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AutoShape 2"/>
          <p:cNvSpPr>
            <a:spLocks noGrp="1" noChangeArrowheads="1"/>
          </p:cNvSpPr>
          <p:nvPr>
            <p:ph type="title"/>
          </p:nvPr>
        </p:nvSpPr>
        <p:spPr>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rmAutofit/>
          </a:bodyPr>
          <a:lstStyle/>
          <a:p>
            <a:r>
              <a:rPr lang="en-US" altLang="en-US" b="1" dirty="0">
                <a:solidFill>
                  <a:schemeClr val="accent1">
                    <a:lumMod val="75000"/>
                  </a:schemeClr>
                </a:solidFill>
                <a:latin typeface="Arial" panose="020B0604020202020204" pitchFamily="34" charset="0"/>
                <a:cs typeface="Arial" panose="020B0604020202020204" pitchFamily="34" charset="0"/>
              </a:rPr>
              <a:t>Formal Methods Components</a:t>
            </a:r>
          </a:p>
        </p:txBody>
      </p:sp>
      <p:sp>
        <p:nvSpPr>
          <p:cNvPr id="3" name="Rounded Rectangle 2"/>
          <p:cNvSpPr/>
          <p:nvPr/>
        </p:nvSpPr>
        <p:spPr>
          <a:xfrm>
            <a:off x="4654795" y="2348278"/>
            <a:ext cx="3059723" cy="87117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accent1">
                    <a:lumMod val="75000"/>
                  </a:schemeClr>
                </a:solidFill>
              </a:rPr>
              <a:t>Formal Methods</a:t>
            </a:r>
          </a:p>
        </p:txBody>
      </p:sp>
      <p:sp>
        <p:nvSpPr>
          <p:cNvPr id="15" name="Rounded Rectangle 14"/>
          <p:cNvSpPr/>
          <p:nvPr/>
        </p:nvSpPr>
        <p:spPr>
          <a:xfrm>
            <a:off x="6521696" y="5305425"/>
            <a:ext cx="1888880" cy="83893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accent1">
                    <a:lumMod val="75000"/>
                  </a:schemeClr>
                </a:solidFill>
              </a:rPr>
              <a:t>Formal Proofs</a:t>
            </a:r>
          </a:p>
        </p:txBody>
      </p:sp>
      <p:sp>
        <p:nvSpPr>
          <p:cNvPr id="16" name="Rounded Rectangle 15"/>
          <p:cNvSpPr/>
          <p:nvPr/>
        </p:nvSpPr>
        <p:spPr>
          <a:xfrm>
            <a:off x="3587995" y="5267325"/>
            <a:ext cx="2755655" cy="90487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accent1">
                    <a:lumMod val="75000"/>
                  </a:schemeClr>
                </a:solidFill>
              </a:rPr>
              <a:t>Formal Specifications</a:t>
            </a:r>
          </a:p>
        </p:txBody>
      </p:sp>
      <p:sp>
        <p:nvSpPr>
          <p:cNvPr id="17" name="Rounded Rectangle 16"/>
          <p:cNvSpPr/>
          <p:nvPr/>
        </p:nvSpPr>
        <p:spPr>
          <a:xfrm>
            <a:off x="1282946" y="5253404"/>
            <a:ext cx="2193680" cy="91879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1">
                    <a:lumMod val="75000"/>
                  </a:schemeClr>
                </a:solidFill>
              </a:rPr>
              <a:t>Model Checking</a:t>
            </a:r>
          </a:p>
        </p:txBody>
      </p:sp>
      <p:sp>
        <p:nvSpPr>
          <p:cNvPr id="18" name="Rounded Rectangle 17"/>
          <p:cNvSpPr/>
          <p:nvPr/>
        </p:nvSpPr>
        <p:spPr>
          <a:xfrm>
            <a:off x="8855321" y="5320078"/>
            <a:ext cx="2269880" cy="87117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accent1">
                    <a:lumMod val="75000"/>
                  </a:schemeClr>
                </a:solidFill>
              </a:rPr>
              <a:t>Abstraction</a:t>
            </a:r>
          </a:p>
        </p:txBody>
      </p:sp>
      <p:cxnSp>
        <p:nvCxnSpPr>
          <p:cNvPr id="6" name="Straight Connector 5"/>
          <p:cNvCxnSpPr>
            <a:stCxn id="3" idx="2"/>
          </p:cNvCxnSpPr>
          <p:nvPr/>
        </p:nvCxnSpPr>
        <p:spPr>
          <a:xfrm flipH="1">
            <a:off x="6181725" y="3219449"/>
            <a:ext cx="2932" cy="88582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533650" y="4095750"/>
            <a:ext cx="7458075" cy="476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552700" y="4105275"/>
            <a:ext cx="9525" cy="116205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4972050" y="4105275"/>
            <a:ext cx="9525" cy="116205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7410450" y="4124325"/>
            <a:ext cx="9525" cy="116205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9991725" y="4143375"/>
            <a:ext cx="9525" cy="116205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28342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AutoShape 2"/>
          <p:cNvSpPr>
            <a:spLocks noGrp="1" noChangeArrowheads="1"/>
          </p:cNvSpPr>
          <p:nvPr>
            <p:ph type="title"/>
          </p:nvPr>
        </p:nvSpPr>
        <p:spPr>
          <a:xfrm>
            <a:off x="2209800" y="533400"/>
            <a:ext cx="7924800" cy="838200"/>
          </a:xfrm>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rmAutofit/>
          </a:bodyPr>
          <a:lstStyle/>
          <a:p>
            <a:pPr algn="just"/>
            <a:r>
              <a:rPr lang="en-US" altLang="en-US" b="1" dirty="0">
                <a:solidFill>
                  <a:schemeClr val="accent1">
                    <a:lumMod val="75000"/>
                  </a:schemeClr>
                </a:solidFill>
                <a:latin typeface="Arial" panose="020B0604020202020204" pitchFamily="34" charset="0"/>
                <a:cs typeface="Arial" panose="020B0604020202020204" pitchFamily="34" charset="0"/>
              </a:rPr>
              <a:t>Formal Specification</a:t>
            </a:r>
          </a:p>
        </p:txBody>
      </p:sp>
      <p:sp>
        <p:nvSpPr>
          <p:cNvPr id="7171" name="Rectangle 3"/>
          <p:cNvSpPr>
            <a:spLocks noGrp="1" noChangeArrowheads="1"/>
          </p:cNvSpPr>
          <p:nvPr>
            <p:ph idx="1"/>
          </p:nvPr>
        </p:nvSpPr>
        <p:spPr>
          <a:xfrm>
            <a:off x="1979052" y="1666875"/>
            <a:ext cx="9812338" cy="3777622"/>
          </a:xfrm>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Autofit/>
          </a:bodyPr>
          <a:lstStyle/>
          <a:p>
            <a:pPr algn="just">
              <a:buFont typeface="Wingdings" panose="05000000000000000000" pitchFamily="2" charset="2"/>
              <a:buChar char="§"/>
            </a:pPr>
            <a:r>
              <a:rPr lang="en-US" altLang="en-US" sz="2200" dirty="0">
                <a:latin typeface="Arial" panose="020B0604020202020204" pitchFamily="34" charset="0"/>
                <a:cs typeface="Arial" panose="020B0604020202020204" pitchFamily="34" charset="0"/>
              </a:rPr>
              <a:t>The </a:t>
            </a:r>
            <a:r>
              <a:rPr lang="en-US" altLang="en-US" sz="2200" dirty="0">
                <a:solidFill>
                  <a:srgbClr val="C00000"/>
                </a:solidFill>
                <a:latin typeface="Arial" panose="020B0604020202020204" pitchFamily="34" charset="0"/>
                <a:cs typeface="Arial" panose="020B0604020202020204" pitchFamily="34" charset="0"/>
              </a:rPr>
              <a:t>translation</a:t>
            </a:r>
            <a:r>
              <a:rPr lang="en-US" altLang="en-US" sz="2200" dirty="0">
                <a:latin typeface="Arial" panose="020B0604020202020204" pitchFamily="34" charset="0"/>
                <a:cs typeface="Arial" panose="020B0604020202020204" pitchFamily="34" charset="0"/>
              </a:rPr>
              <a:t> of non-mathematical description (diagrams, table, natural language) into a formal specification language</a:t>
            </a:r>
          </a:p>
          <a:p>
            <a:pPr algn="just">
              <a:buFont typeface="Wingdings" panose="05000000000000000000" pitchFamily="2" charset="2"/>
              <a:buChar char="§"/>
            </a:pPr>
            <a:r>
              <a:rPr lang="en-US" altLang="en-US" sz="2200" dirty="0">
                <a:latin typeface="Arial" panose="020B0604020202020204" pitchFamily="34" charset="0"/>
                <a:cs typeface="Arial" panose="020B0604020202020204" pitchFamily="34" charset="0"/>
              </a:rPr>
              <a:t>It represents a concise description of </a:t>
            </a:r>
            <a:r>
              <a:rPr lang="en-US" altLang="en-US" sz="2200" dirty="0">
                <a:solidFill>
                  <a:srgbClr val="0070C0"/>
                </a:solidFill>
                <a:latin typeface="Arial" panose="020B0604020202020204" pitchFamily="34" charset="0"/>
                <a:cs typeface="Arial" panose="020B0604020202020204" pitchFamily="34" charset="0"/>
              </a:rPr>
              <a:t>high-level behavior </a:t>
            </a:r>
            <a:r>
              <a:rPr lang="en-US" altLang="en-US" sz="2200" dirty="0">
                <a:latin typeface="Arial" panose="020B0604020202020204" pitchFamily="34" charset="0"/>
                <a:cs typeface="Arial" panose="020B0604020202020204" pitchFamily="34" charset="0"/>
              </a:rPr>
              <a:t>and properties of a system</a:t>
            </a:r>
          </a:p>
          <a:p>
            <a:pPr algn="just">
              <a:buFont typeface="Wingdings" panose="05000000000000000000" pitchFamily="2" charset="2"/>
              <a:buChar char="§"/>
            </a:pPr>
            <a:r>
              <a:rPr lang="en-US" altLang="en-US" sz="2200" dirty="0">
                <a:latin typeface="Arial" panose="020B0604020202020204" pitchFamily="34" charset="0"/>
                <a:cs typeface="Arial" panose="020B0604020202020204" pitchFamily="34" charset="0"/>
              </a:rPr>
              <a:t>Well-defined language semantics </a:t>
            </a:r>
            <a:r>
              <a:rPr lang="en-US" altLang="en-US" sz="2200" dirty="0">
                <a:solidFill>
                  <a:srgbClr val="C00000"/>
                </a:solidFill>
                <a:latin typeface="Arial" panose="020B0604020202020204" pitchFamily="34" charset="0"/>
                <a:cs typeface="Arial" panose="020B0604020202020204" pitchFamily="34" charset="0"/>
              </a:rPr>
              <a:t>support formal deduction </a:t>
            </a:r>
            <a:r>
              <a:rPr lang="en-US" altLang="en-US" sz="2200" dirty="0">
                <a:latin typeface="Arial" panose="020B0604020202020204" pitchFamily="34" charset="0"/>
                <a:cs typeface="Arial" panose="020B0604020202020204" pitchFamily="34" charset="0"/>
              </a:rPr>
              <a:t>about the specification</a:t>
            </a:r>
          </a:p>
          <a:p>
            <a:pPr algn="just"/>
            <a:r>
              <a:rPr lang="en-US" sz="2200" dirty="0">
                <a:latin typeface="Arial" panose="020B0604020202020204" pitchFamily="34" charset="0"/>
                <a:cs typeface="Arial" panose="020B0604020202020204" pitchFamily="34" charset="0"/>
              </a:rPr>
              <a:t>Specification languages are often </a:t>
            </a:r>
            <a:r>
              <a:rPr lang="en-US" sz="2200" dirty="0">
                <a:solidFill>
                  <a:srgbClr val="C00000"/>
                </a:solidFill>
                <a:latin typeface="Arial" panose="020B0604020202020204" pitchFamily="34" charset="0"/>
                <a:cs typeface="Arial" panose="020B0604020202020204" pitchFamily="34" charset="0"/>
              </a:rPr>
              <a:t>more expressive </a:t>
            </a:r>
            <a:r>
              <a:rPr lang="en-US" sz="2200" dirty="0">
                <a:latin typeface="Arial" panose="020B0604020202020204" pitchFamily="34" charset="0"/>
                <a:cs typeface="Arial" panose="020B0604020202020204" pitchFamily="34" charset="0"/>
              </a:rPr>
              <a:t>than computer languages</a:t>
            </a:r>
          </a:p>
          <a:p>
            <a:pPr algn="just"/>
            <a:r>
              <a:rPr lang="en-US" sz="2200" dirty="0">
                <a:latin typeface="Arial" panose="020B0604020202020204" pitchFamily="34" charset="0"/>
                <a:cs typeface="Arial" panose="020B0604020202020204" pitchFamily="34" charset="0"/>
              </a:rPr>
              <a:t>Well-defined formal specification include:</a:t>
            </a:r>
          </a:p>
          <a:p>
            <a:pPr lvl="1" algn="just"/>
            <a:r>
              <a:rPr lang="en-US" sz="2200" dirty="0">
                <a:latin typeface="Arial" panose="020B0604020202020204" pitchFamily="34" charset="0"/>
                <a:cs typeface="Arial" panose="020B0604020202020204" pitchFamily="34" charset="0"/>
              </a:rPr>
              <a:t> </a:t>
            </a:r>
            <a:r>
              <a:rPr lang="en-US" sz="2200" b="1" dirty="0">
                <a:latin typeface="Arial" panose="020B0604020202020204" pitchFamily="34" charset="0"/>
                <a:cs typeface="Arial" panose="020B0604020202020204" pitchFamily="34" charset="0"/>
              </a:rPr>
              <a:t>Syntax: </a:t>
            </a:r>
            <a:r>
              <a:rPr lang="en-US" sz="2200" dirty="0">
                <a:latin typeface="Arial" panose="020B0604020202020204" pitchFamily="34" charset="0"/>
                <a:cs typeface="Arial" panose="020B0604020202020204" pitchFamily="34" charset="0"/>
              </a:rPr>
              <a:t>Rules to determine well formed sentences (formulas) </a:t>
            </a:r>
          </a:p>
          <a:p>
            <a:pPr lvl="1" algn="just"/>
            <a:r>
              <a:rPr lang="en-US" sz="2200" dirty="0">
                <a:latin typeface="Arial" panose="020B0604020202020204" pitchFamily="34" charset="0"/>
                <a:cs typeface="Arial" panose="020B0604020202020204" pitchFamily="34" charset="0"/>
              </a:rPr>
              <a:t> </a:t>
            </a:r>
            <a:r>
              <a:rPr lang="en-US" sz="2200" b="1" dirty="0">
                <a:latin typeface="Arial" panose="020B0604020202020204" pitchFamily="34" charset="0"/>
                <a:cs typeface="Arial" panose="020B0604020202020204" pitchFamily="34" charset="0"/>
              </a:rPr>
              <a:t>Semantics</a:t>
            </a:r>
            <a:r>
              <a:rPr lang="en-US" sz="2200" dirty="0">
                <a:latin typeface="Arial" panose="020B0604020202020204" pitchFamily="34" charset="0"/>
                <a:cs typeface="Arial" panose="020B0604020202020204" pitchFamily="34" charset="0"/>
              </a:rPr>
              <a:t>: Rules to interpret sentences,</a:t>
            </a:r>
          </a:p>
          <a:p>
            <a:pPr lvl="1" algn="just"/>
            <a:r>
              <a:rPr lang="en-US" sz="2200" dirty="0">
                <a:latin typeface="Arial" panose="020B0604020202020204" pitchFamily="34" charset="0"/>
                <a:cs typeface="Arial" panose="020B0604020202020204" pitchFamily="34" charset="0"/>
              </a:rPr>
              <a:t> </a:t>
            </a:r>
            <a:r>
              <a:rPr lang="en-US" sz="2200" b="1" dirty="0">
                <a:latin typeface="Arial" panose="020B0604020202020204" pitchFamily="34" charset="0"/>
                <a:cs typeface="Arial" panose="020B0604020202020204" pitchFamily="34" charset="0"/>
              </a:rPr>
              <a:t>Proof Theory</a:t>
            </a:r>
            <a:r>
              <a:rPr lang="en-US" sz="2200" dirty="0">
                <a:latin typeface="Arial" panose="020B0604020202020204" pitchFamily="34" charset="0"/>
                <a:cs typeface="Arial" panose="020B0604020202020204" pitchFamily="34" charset="0"/>
              </a:rPr>
              <a:t>: Rules to infer useful information</a:t>
            </a:r>
            <a:endParaRPr lang="en-US" alt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961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171">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171">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171">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17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accent1">
                    <a:lumMod val="75000"/>
                  </a:schemeClr>
                </a:solidFill>
                <a:latin typeface="Arial" panose="020B0604020202020204" pitchFamily="34" charset="0"/>
                <a:cs typeface="Arial" panose="020B0604020202020204" pitchFamily="34" charset="0"/>
              </a:rPr>
              <a:t>Good specifications for the system:</a:t>
            </a:r>
            <a:br>
              <a:rPr lang="en-US" b="1" dirty="0">
                <a:solidFill>
                  <a:schemeClr val="accent1">
                    <a:lumMod val="75000"/>
                  </a:schemeClr>
                </a:solidFill>
                <a:latin typeface="Arial" panose="020B0604020202020204" pitchFamily="34" charset="0"/>
                <a:cs typeface="Arial" panose="020B0604020202020204" pitchFamily="34" charset="0"/>
              </a:rPr>
            </a:br>
            <a:endParaRPr lang="en-US" b="1" dirty="0">
              <a:solidFill>
                <a:schemeClr val="accent1">
                  <a:lumMod val="75000"/>
                </a:schemeClr>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096841" y="1975339"/>
            <a:ext cx="9368327" cy="3777622"/>
          </a:xfrm>
        </p:spPr>
        <p:txBody>
          <a:bodyPr>
            <a:noAutofit/>
          </a:bodyPr>
          <a:lstStyle/>
          <a:p>
            <a:pPr algn="just"/>
            <a:r>
              <a:rPr lang="en-US" sz="2400" b="1" dirty="0">
                <a:latin typeface="Arial" panose="020B0604020202020204" pitchFamily="34" charset="0"/>
                <a:cs typeface="Arial" panose="020B0604020202020204" pitchFamily="34" charset="0"/>
              </a:rPr>
              <a:t>Adequate: </a:t>
            </a:r>
            <a:r>
              <a:rPr lang="en-US" sz="2400" dirty="0">
                <a:latin typeface="Arial" panose="020B0604020202020204" pitchFamily="34" charset="0"/>
                <a:cs typeface="Arial" panose="020B0604020202020204" pitchFamily="34" charset="0"/>
              </a:rPr>
              <a:t>for the problem at hand</a:t>
            </a:r>
          </a:p>
          <a:p>
            <a:pPr algn="just"/>
            <a:endParaRPr lang="en-US" sz="2400" b="1" dirty="0">
              <a:latin typeface="Arial" panose="020B0604020202020204" pitchFamily="34" charset="0"/>
              <a:cs typeface="Arial" panose="020B0604020202020204" pitchFamily="34" charset="0"/>
            </a:endParaRPr>
          </a:p>
          <a:p>
            <a:pPr algn="just"/>
            <a:r>
              <a:rPr lang="en-US" sz="2400" b="1" dirty="0">
                <a:latin typeface="Arial" panose="020B0604020202020204" pitchFamily="34" charset="0"/>
                <a:cs typeface="Arial" panose="020B0604020202020204" pitchFamily="34" charset="0"/>
              </a:rPr>
              <a:t>Internally consistent: </a:t>
            </a:r>
            <a:r>
              <a:rPr lang="en-US" sz="2400" dirty="0">
                <a:latin typeface="Arial" panose="020B0604020202020204" pitchFamily="34" charset="0"/>
                <a:cs typeface="Arial" panose="020B0604020202020204" pitchFamily="34" charset="0"/>
              </a:rPr>
              <a:t>single interpretation makes true all properties</a:t>
            </a:r>
          </a:p>
          <a:p>
            <a:pPr algn="just"/>
            <a:endParaRPr lang="en-US" sz="2400" dirty="0">
              <a:latin typeface="Arial" panose="020B0604020202020204" pitchFamily="34" charset="0"/>
              <a:cs typeface="Arial" panose="020B0604020202020204" pitchFamily="34" charset="0"/>
            </a:endParaRPr>
          </a:p>
          <a:p>
            <a:pPr algn="just"/>
            <a:r>
              <a:rPr lang="en-US" sz="2400" b="1" dirty="0">
                <a:latin typeface="Arial" panose="020B0604020202020204" pitchFamily="34" charset="0"/>
                <a:cs typeface="Arial" panose="020B0604020202020204" pitchFamily="34" charset="0"/>
              </a:rPr>
              <a:t>Unambiguous: </a:t>
            </a:r>
            <a:r>
              <a:rPr lang="en-US" sz="2400" dirty="0">
                <a:latin typeface="Arial" panose="020B0604020202020204" pitchFamily="34" charset="0"/>
                <a:cs typeface="Arial" panose="020B0604020202020204" pitchFamily="34" charset="0"/>
              </a:rPr>
              <a:t>only one </a:t>
            </a:r>
            <a:r>
              <a:rPr lang="en-US" sz="2400" i="1" dirty="0">
                <a:latin typeface="Arial" panose="020B0604020202020204" pitchFamily="34" charset="0"/>
                <a:cs typeface="Arial" panose="020B0604020202020204" pitchFamily="34" charset="0"/>
              </a:rPr>
              <a:t>interesting </a:t>
            </a:r>
            <a:r>
              <a:rPr lang="en-US" sz="2400" dirty="0">
                <a:latin typeface="Arial" panose="020B0604020202020204" pitchFamily="34" charset="0"/>
                <a:cs typeface="Arial" panose="020B0604020202020204" pitchFamily="34" charset="0"/>
              </a:rPr>
              <a:t>interpretation makes the specification true</a:t>
            </a:r>
          </a:p>
          <a:p>
            <a:pPr algn="just"/>
            <a:endParaRPr lang="en-US" sz="2400" b="1" dirty="0">
              <a:latin typeface="Arial" panose="020B0604020202020204" pitchFamily="34" charset="0"/>
              <a:cs typeface="Arial" panose="020B0604020202020204" pitchFamily="34" charset="0"/>
            </a:endParaRPr>
          </a:p>
          <a:p>
            <a:pPr algn="just"/>
            <a:r>
              <a:rPr lang="en-US" sz="2400" b="1" dirty="0">
                <a:latin typeface="Arial" panose="020B0604020202020204" pitchFamily="34" charset="0"/>
                <a:cs typeface="Arial" panose="020B0604020202020204" pitchFamily="34" charset="0"/>
              </a:rPr>
              <a:t>Complete: </a:t>
            </a:r>
            <a:r>
              <a:rPr lang="en-US" sz="2400" dirty="0">
                <a:latin typeface="Arial" panose="020B0604020202020204" pitchFamily="34" charset="0"/>
                <a:cs typeface="Arial" panose="020B0604020202020204" pitchFamily="34" charset="0"/>
              </a:rPr>
              <a:t>The set of specified properties must be enough</a:t>
            </a:r>
          </a:p>
        </p:txBody>
      </p:sp>
    </p:spTree>
    <p:extLst>
      <p:ext uri="{BB962C8B-B14F-4D97-AF65-F5344CB8AC3E}">
        <p14:creationId xmlns:p14="http://schemas.microsoft.com/office/powerpoint/2010/main" val="1502992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p:cNvSpPr>
          <p:nvPr>
            <p:ph type="title"/>
          </p:nvPr>
        </p:nvSpPr>
        <p:spPr>
          <a:noFill/>
          <a:ln/>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rmAutofit/>
          </a:bodyPr>
          <a:lstStyle/>
          <a:p>
            <a:r>
              <a:rPr lang="en-US" altLang="en-US" b="1" dirty="0">
                <a:solidFill>
                  <a:schemeClr val="accent1">
                    <a:lumMod val="75000"/>
                  </a:schemeClr>
                </a:solidFill>
                <a:latin typeface="Arial" panose="020B0604020202020204" pitchFamily="34" charset="0"/>
                <a:cs typeface="Arial" panose="020B0604020202020204" pitchFamily="34" charset="0"/>
              </a:rPr>
              <a:t>Types of Formal Specifications</a:t>
            </a:r>
          </a:p>
        </p:txBody>
      </p:sp>
      <p:sp>
        <p:nvSpPr>
          <p:cNvPr id="52227" name="Rectangle 3"/>
          <p:cNvSpPr>
            <a:spLocks noGrp="1"/>
          </p:cNvSpPr>
          <p:nvPr>
            <p:ph type="body" idx="1"/>
          </p:nvPr>
        </p:nvSpPr>
        <p:spPr>
          <a:noFill/>
          <a:ln/>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Autofit/>
          </a:bodyPr>
          <a:lstStyle/>
          <a:p>
            <a:pPr>
              <a:buFont typeface="Wingdings" panose="05000000000000000000" pitchFamily="2" charset="2"/>
              <a:buChar char="§"/>
            </a:pPr>
            <a:r>
              <a:rPr lang="en-US" altLang="en-US" sz="2400" b="1" dirty="0">
                <a:latin typeface="Arial" panose="020B0604020202020204" pitchFamily="34" charset="0"/>
              </a:rPr>
              <a:t>Model Oriented</a:t>
            </a:r>
            <a:r>
              <a:rPr lang="en-US" altLang="en-US" sz="2400" dirty="0">
                <a:latin typeface="Arial" panose="020B0604020202020204" pitchFamily="34" charset="0"/>
              </a:rPr>
              <a:t>: Construct a model of the system behavior using mathematical objects like sets, sequences etc.</a:t>
            </a:r>
          </a:p>
          <a:p>
            <a:pPr lvl="1">
              <a:buFont typeface="Wingdings" panose="05000000000000000000" pitchFamily="2" charset="2"/>
              <a:buChar char="§"/>
            </a:pPr>
            <a:r>
              <a:rPr lang="en-US" altLang="en-US" sz="2400" dirty="0">
                <a:latin typeface="Arial" panose="020B0604020202020204" pitchFamily="34" charset="0"/>
              </a:rPr>
              <a:t>VDM (Vienna Development Method), Z specifications</a:t>
            </a:r>
          </a:p>
          <a:p>
            <a:pPr lvl="1">
              <a:buFont typeface="Wingdings" panose="05000000000000000000" pitchFamily="2" charset="2"/>
              <a:buChar char="§"/>
            </a:pPr>
            <a:r>
              <a:rPr lang="en-US" altLang="en-US" sz="2400" dirty="0">
                <a:latin typeface="Arial" panose="020B0604020202020204" pitchFamily="34" charset="0"/>
              </a:rPr>
              <a:t>Petri Nets, Automata theoretic models</a:t>
            </a:r>
          </a:p>
          <a:p>
            <a:pPr>
              <a:buFont typeface="Wingdings" panose="05000000000000000000" pitchFamily="2" charset="2"/>
              <a:buChar char="§"/>
            </a:pPr>
            <a:endParaRPr lang="en-US" altLang="en-US" sz="2400" b="1" dirty="0">
              <a:latin typeface="Arial" panose="020B0604020202020204" pitchFamily="34" charset="0"/>
            </a:endParaRPr>
          </a:p>
          <a:p>
            <a:pPr>
              <a:buFont typeface="Wingdings" panose="05000000000000000000" pitchFamily="2" charset="2"/>
              <a:buChar char="§"/>
            </a:pPr>
            <a:r>
              <a:rPr lang="en-US" altLang="en-US" sz="2400" b="1" dirty="0">
                <a:latin typeface="Arial" panose="020B0604020202020204" pitchFamily="34" charset="0"/>
              </a:rPr>
              <a:t>Property Oriented</a:t>
            </a:r>
            <a:r>
              <a:rPr lang="en-US" altLang="en-US" sz="2400" dirty="0">
                <a:latin typeface="Arial" panose="020B0604020202020204" pitchFamily="34" charset="0"/>
              </a:rPr>
              <a:t>: Use a set of necessary properties to describe system behavior, such as axioms, rules etc.</a:t>
            </a:r>
          </a:p>
          <a:p>
            <a:pPr lvl="1">
              <a:buFont typeface="Wingdings" panose="05000000000000000000" pitchFamily="2" charset="2"/>
              <a:buChar char="§"/>
            </a:pPr>
            <a:r>
              <a:rPr lang="en-US" altLang="en-US" sz="2400" dirty="0">
                <a:latin typeface="Arial" panose="020B0604020202020204" pitchFamily="34" charset="0"/>
              </a:rPr>
              <a:t>Algebraic semantics</a:t>
            </a:r>
          </a:p>
          <a:p>
            <a:pPr lvl="1">
              <a:buFont typeface="Wingdings" panose="05000000000000000000" pitchFamily="2" charset="2"/>
              <a:buChar char="§"/>
            </a:pPr>
            <a:r>
              <a:rPr lang="en-US" altLang="en-US" sz="2400" dirty="0">
                <a:latin typeface="Arial" panose="020B0604020202020204" pitchFamily="34" charset="0"/>
              </a:rPr>
              <a:t>Temporal logic models.</a:t>
            </a:r>
          </a:p>
          <a:p>
            <a:pPr marL="0" indent="0">
              <a:buNone/>
            </a:pPr>
            <a:endParaRPr lang="en-US" altLang="en-US" sz="2400" dirty="0">
              <a:latin typeface="Arial" panose="020B0604020202020204" pitchFamily="34" charset="0"/>
            </a:endParaRPr>
          </a:p>
          <a:p>
            <a:pPr marL="457200" lvl="1" indent="0">
              <a:buNone/>
            </a:pPr>
            <a:endParaRPr lang="en-US" altLang="en-US" sz="2400" dirty="0">
              <a:latin typeface="Arial" panose="020B0604020202020204" pitchFamily="34" charset="0"/>
            </a:endParaRPr>
          </a:p>
          <a:p>
            <a:pPr marL="457200" lvl="1" indent="0">
              <a:buNone/>
            </a:pPr>
            <a:endParaRPr lang="en-US" altLang="en-US" sz="2400" dirty="0">
              <a:latin typeface="Arial" panose="020B0604020202020204" pitchFamily="34" charset="0"/>
            </a:endParaRPr>
          </a:p>
        </p:txBody>
      </p:sp>
    </p:spTree>
    <p:extLst>
      <p:ext uri="{BB962C8B-B14F-4D97-AF65-F5344CB8AC3E}">
        <p14:creationId xmlns:p14="http://schemas.microsoft.com/office/powerpoint/2010/main" val="3394649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227">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227">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2227">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222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2227">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2227">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222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build="p"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AutoShape 2"/>
          <p:cNvSpPr>
            <a:spLocks noGrp="1" noChangeArrowheads="1"/>
          </p:cNvSpPr>
          <p:nvPr>
            <p:ph type="title"/>
          </p:nvPr>
        </p:nvSpPr>
        <p:spPr>
          <a:xfrm>
            <a:off x="2557755" y="290002"/>
            <a:ext cx="8911687" cy="1280890"/>
          </a:xfrm>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rmAutofit/>
          </a:bodyPr>
          <a:lstStyle/>
          <a:p>
            <a:r>
              <a:rPr lang="en-US" altLang="en-US" b="1" dirty="0">
                <a:solidFill>
                  <a:schemeClr val="accent1">
                    <a:lumMod val="75000"/>
                  </a:schemeClr>
                </a:solidFill>
                <a:latin typeface="Arial" panose="020B0604020202020204" pitchFamily="34" charset="0"/>
                <a:cs typeface="Arial" panose="020B0604020202020204" pitchFamily="34" charset="0"/>
              </a:rPr>
              <a:t>Why Formal Specification?</a:t>
            </a:r>
            <a:br>
              <a:rPr lang="en-US" altLang="en-US" b="1" dirty="0">
                <a:solidFill>
                  <a:schemeClr val="accent1">
                    <a:lumMod val="75000"/>
                  </a:schemeClr>
                </a:solidFill>
                <a:latin typeface="Arial" panose="020B0604020202020204" pitchFamily="34" charset="0"/>
                <a:cs typeface="Arial" panose="020B0604020202020204" pitchFamily="34" charset="0"/>
              </a:rPr>
            </a:br>
            <a:endParaRPr lang="en-US" altLang="en-US" b="1" dirty="0">
              <a:solidFill>
                <a:schemeClr val="accent1">
                  <a:lumMod val="75000"/>
                </a:schemeClr>
              </a:solidFill>
              <a:latin typeface="Arial" panose="020B0604020202020204" pitchFamily="34" charset="0"/>
              <a:cs typeface="Arial" panose="020B0604020202020204" pitchFamily="34" charset="0"/>
            </a:endParaRPr>
          </a:p>
        </p:txBody>
      </p:sp>
      <p:sp>
        <p:nvSpPr>
          <p:cNvPr id="5123" name="Rectangle 3"/>
          <p:cNvSpPr>
            <a:spLocks noGrp="1" noChangeArrowheads="1"/>
          </p:cNvSpPr>
          <p:nvPr>
            <p:ph idx="1"/>
          </p:nvPr>
        </p:nvSpPr>
        <p:spPr>
          <a:xfrm>
            <a:off x="2260609" y="1694371"/>
            <a:ext cx="9712049" cy="4267200"/>
          </a:xfrm>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Autofit/>
          </a:bodyPr>
          <a:lstStyle/>
          <a:p>
            <a:pPr algn="just">
              <a:buFont typeface="Wingdings" panose="05000000000000000000" pitchFamily="2" charset="2"/>
              <a:buChar char="§"/>
            </a:pPr>
            <a:r>
              <a:rPr lang="en-US" altLang="en-US" sz="2400" dirty="0">
                <a:latin typeface="Arial" panose="020B0604020202020204" pitchFamily="34" charset="0"/>
              </a:rPr>
              <a:t>The development of a formal specification provides insights and in depth understanding of the software requirements and software design</a:t>
            </a:r>
          </a:p>
          <a:p>
            <a:pPr lvl="1" algn="just">
              <a:buFont typeface="Wingdings" panose="05000000000000000000" pitchFamily="2" charset="2"/>
              <a:buChar char="§"/>
            </a:pPr>
            <a:r>
              <a:rPr lang="en-US" altLang="en-US" sz="2400" dirty="0">
                <a:latin typeface="Arial" panose="020B0604020202020204" pitchFamily="34" charset="0"/>
              </a:rPr>
              <a:t>Clarify </a:t>
            </a:r>
            <a:r>
              <a:rPr lang="en-US" altLang="en-US" sz="2400" dirty="0">
                <a:solidFill>
                  <a:srgbClr val="FF0000"/>
                </a:solidFill>
                <a:latin typeface="Arial" panose="020B0604020202020204" pitchFamily="34" charset="0"/>
              </a:rPr>
              <a:t>customers’ requirements</a:t>
            </a:r>
          </a:p>
          <a:p>
            <a:pPr lvl="1">
              <a:buFont typeface="Wingdings" panose="05000000000000000000" pitchFamily="2" charset="2"/>
              <a:buChar char="§"/>
            </a:pPr>
            <a:r>
              <a:rPr lang="en-US" altLang="en-US" sz="2400" dirty="0">
                <a:latin typeface="Arial" panose="020B0604020202020204" pitchFamily="34" charset="0"/>
              </a:rPr>
              <a:t>Reveal and remove ambiguity, inconsistency and incompleteness</a:t>
            </a:r>
          </a:p>
          <a:p>
            <a:pPr lvl="1" algn="just">
              <a:buFont typeface="Wingdings" panose="05000000000000000000" pitchFamily="2" charset="2"/>
              <a:buChar char="§"/>
            </a:pPr>
            <a:r>
              <a:rPr lang="en-US" altLang="en-US" sz="2400" dirty="0">
                <a:latin typeface="Arial" panose="020B0604020202020204" pitchFamily="34" charset="0"/>
              </a:rPr>
              <a:t>Facilitate communication of requirement or design</a:t>
            </a:r>
          </a:p>
          <a:p>
            <a:pPr lvl="1" algn="just">
              <a:buFont typeface="Wingdings" panose="05000000000000000000" pitchFamily="2" charset="2"/>
              <a:buChar char="§"/>
            </a:pPr>
            <a:r>
              <a:rPr lang="en-US" altLang="en-US" sz="2400" dirty="0">
                <a:latin typeface="Arial" panose="020B0604020202020204" pitchFamily="34" charset="0"/>
              </a:rPr>
              <a:t>Provides a basis for an elegant software design</a:t>
            </a:r>
          </a:p>
        </p:txBody>
      </p:sp>
    </p:spTree>
    <p:extLst>
      <p:ext uri="{BB962C8B-B14F-4D97-AF65-F5344CB8AC3E}">
        <p14:creationId xmlns:p14="http://schemas.microsoft.com/office/powerpoint/2010/main" val="1684851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2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12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2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1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AutoShape 2"/>
          <p:cNvSpPr>
            <a:spLocks noGrp="1" noChangeArrowheads="1"/>
          </p:cNvSpPr>
          <p:nvPr>
            <p:ph type="title"/>
          </p:nvPr>
        </p:nvSpPr>
        <p:spPr>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rmAutofit/>
          </a:bodyPr>
          <a:lstStyle/>
          <a:p>
            <a:r>
              <a:rPr lang="en-US" altLang="en-US" b="1" dirty="0">
                <a:solidFill>
                  <a:schemeClr val="accent1">
                    <a:lumMod val="75000"/>
                  </a:schemeClr>
                </a:solidFill>
                <a:latin typeface="Arial" panose="020B0604020202020204" pitchFamily="34" charset="0"/>
                <a:cs typeface="Arial" panose="020B0604020202020204" pitchFamily="34" charset="0"/>
              </a:rPr>
              <a:t>Model Checking</a:t>
            </a:r>
          </a:p>
        </p:txBody>
      </p:sp>
      <p:sp>
        <p:nvSpPr>
          <p:cNvPr id="11267" name="Rectangle 3"/>
          <p:cNvSpPr>
            <a:spLocks noGrp="1" noChangeArrowheads="1"/>
          </p:cNvSpPr>
          <p:nvPr>
            <p:ph idx="1"/>
          </p:nvPr>
        </p:nvSpPr>
        <p:spPr>
          <a:xfrm>
            <a:off x="2124076" y="1828800"/>
            <a:ext cx="9744074" cy="4191000"/>
          </a:xfrm>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Autofit/>
          </a:bodyPr>
          <a:lstStyle/>
          <a:p>
            <a:pPr>
              <a:buFont typeface="Wingdings" panose="05000000000000000000" pitchFamily="2" charset="2"/>
              <a:buChar char="§"/>
            </a:pPr>
            <a:r>
              <a:rPr lang="en-US" altLang="en-US" sz="2000" dirty="0">
                <a:latin typeface="Arial" panose="020B0604020202020204" pitchFamily="34" charset="0"/>
              </a:rPr>
              <a:t>A technique  relies on building a finite/infinite model of a system and </a:t>
            </a:r>
            <a:r>
              <a:rPr lang="en-US" altLang="en-US" sz="2000" dirty="0">
                <a:solidFill>
                  <a:srgbClr val="C00000"/>
                </a:solidFill>
                <a:latin typeface="Arial" panose="020B0604020202020204" pitchFamily="34" charset="0"/>
              </a:rPr>
              <a:t>checking that a desired property holds in that model </a:t>
            </a:r>
          </a:p>
          <a:p>
            <a:pPr>
              <a:buFont typeface="Wingdings" panose="05000000000000000000" pitchFamily="2" charset="2"/>
              <a:buChar char="§"/>
            </a:pPr>
            <a:r>
              <a:rPr lang="en-US" altLang="en-US" sz="2000" dirty="0">
                <a:latin typeface="Arial" panose="020B0604020202020204" pitchFamily="34" charset="0"/>
              </a:rPr>
              <a:t>It exhaustively and automatically checks whether formal model of the system meets the given specifications or not?</a:t>
            </a:r>
          </a:p>
          <a:p>
            <a:pPr>
              <a:buFont typeface="Wingdings" panose="05000000000000000000" pitchFamily="2" charset="2"/>
              <a:buChar char="§"/>
            </a:pPr>
            <a:r>
              <a:rPr lang="en-US" altLang="en-US" sz="2000" dirty="0">
                <a:latin typeface="Arial" panose="020B0604020202020204" pitchFamily="34" charset="0"/>
              </a:rPr>
              <a:t>It is a method to formally </a:t>
            </a:r>
            <a:r>
              <a:rPr lang="en-US" altLang="en-US" sz="2000" dirty="0">
                <a:solidFill>
                  <a:srgbClr val="C00000"/>
                </a:solidFill>
                <a:latin typeface="Arial" panose="020B0604020202020204" pitchFamily="34" charset="0"/>
              </a:rPr>
              <a:t>verify the correctness properties </a:t>
            </a:r>
            <a:r>
              <a:rPr lang="en-US" altLang="en-US" sz="2000" dirty="0">
                <a:latin typeface="Arial" panose="020B0604020202020204" pitchFamily="34" charset="0"/>
              </a:rPr>
              <a:t>of finite concurrent systems.</a:t>
            </a:r>
          </a:p>
          <a:p>
            <a:pPr>
              <a:buFont typeface="Wingdings" panose="05000000000000000000" pitchFamily="2" charset="2"/>
              <a:buChar char="§"/>
            </a:pPr>
            <a:r>
              <a:rPr lang="en-US" altLang="en-US" sz="2000" dirty="0">
                <a:latin typeface="Arial" panose="020B0604020202020204" pitchFamily="34" charset="0"/>
              </a:rPr>
              <a:t>Two generic approaches </a:t>
            </a:r>
          </a:p>
          <a:p>
            <a:pPr lvl="1">
              <a:buFont typeface="Wingdings" panose="05000000000000000000" pitchFamily="2" charset="2"/>
              <a:buChar char="§"/>
            </a:pPr>
            <a:r>
              <a:rPr lang="en-US" altLang="en-US" sz="2000" dirty="0">
                <a:latin typeface="Arial" panose="020B0604020202020204" pitchFamily="34" charset="0"/>
              </a:rPr>
              <a:t>Temporal model checking (LTL, CTL, CTL*) </a:t>
            </a:r>
          </a:p>
          <a:p>
            <a:pPr lvl="1">
              <a:buFont typeface="Wingdings" panose="05000000000000000000" pitchFamily="2" charset="2"/>
              <a:buChar char="§"/>
            </a:pPr>
            <a:r>
              <a:rPr lang="en-US" altLang="en-US" sz="2000" dirty="0">
                <a:latin typeface="Arial" panose="020B0604020202020204" pitchFamily="34" charset="0"/>
              </a:rPr>
              <a:t>Automatic model  checking (Maude LTL model checker)</a:t>
            </a:r>
          </a:p>
          <a:p>
            <a:pPr>
              <a:buFont typeface="Wingdings" panose="05000000000000000000" pitchFamily="2" charset="2"/>
              <a:buChar char="§"/>
            </a:pPr>
            <a:r>
              <a:rPr lang="en-US" altLang="en-US" sz="2000" dirty="0">
                <a:latin typeface="Arial" panose="020B0604020202020204" pitchFamily="34" charset="0"/>
              </a:rPr>
              <a:t>Use model checkers</a:t>
            </a:r>
          </a:p>
          <a:p>
            <a:pPr lvl="1">
              <a:buFont typeface="Wingdings" panose="05000000000000000000" pitchFamily="2" charset="2"/>
              <a:buChar char="§"/>
            </a:pPr>
            <a:r>
              <a:rPr lang="en-US" altLang="en-US" sz="2000" dirty="0">
                <a:latin typeface="Arial" panose="020B0604020202020204" pitchFamily="34" charset="0"/>
              </a:rPr>
              <a:t>SMV (Symbolic Model Verifier)</a:t>
            </a:r>
          </a:p>
          <a:p>
            <a:pPr lvl="1">
              <a:buFont typeface="Wingdings" panose="05000000000000000000" pitchFamily="2" charset="2"/>
              <a:buChar char="§"/>
            </a:pPr>
            <a:r>
              <a:rPr lang="en-US" altLang="en-US" sz="2000" dirty="0">
                <a:latin typeface="Arial" panose="020B0604020202020204" pitchFamily="34" charset="0"/>
              </a:rPr>
              <a:t>Maude</a:t>
            </a:r>
          </a:p>
          <a:p>
            <a:pPr>
              <a:buFont typeface="Wingdings" panose="05000000000000000000" pitchFamily="2" charset="2"/>
              <a:buChar char="§"/>
            </a:pPr>
            <a:endParaRPr lang="en-US" altLang="en-US" sz="2400" dirty="0">
              <a:latin typeface="Arial" panose="020B0604020202020204" pitchFamily="34" charset="0"/>
            </a:endParaRPr>
          </a:p>
        </p:txBody>
      </p:sp>
    </p:spTree>
    <p:extLst>
      <p:ext uri="{BB962C8B-B14F-4D97-AF65-F5344CB8AC3E}">
        <p14:creationId xmlns:p14="http://schemas.microsoft.com/office/powerpoint/2010/main" val="2838323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267">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267">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26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267">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267">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26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a:spLocks noGrp="1" noChangeArrowheads="1"/>
          </p:cNvSpPr>
          <p:nvPr>
            <p:ph type="title"/>
          </p:nvPr>
        </p:nvSpPr>
        <p:spPr>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rmAutofit/>
          </a:bodyPr>
          <a:lstStyle/>
          <a:p>
            <a:r>
              <a:rPr lang="en-US" altLang="en-US" b="1" dirty="0">
                <a:solidFill>
                  <a:schemeClr val="accent1">
                    <a:lumMod val="75000"/>
                  </a:schemeClr>
                </a:solidFill>
                <a:latin typeface="Arial" panose="020B0604020202020204" pitchFamily="34" charset="0"/>
                <a:cs typeface="Arial" panose="020B0604020202020204" pitchFamily="34" charset="0"/>
              </a:rPr>
              <a:t>Formal Proofs</a:t>
            </a:r>
          </a:p>
        </p:txBody>
      </p:sp>
      <p:sp>
        <p:nvSpPr>
          <p:cNvPr id="10243" name="Rectangle 3"/>
          <p:cNvSpPr>
            <a:spLocks noGrp="1" noChangeArrowheads="1"/>
          </p:cNvSpPr>
          <p:nvPr>
            <p:ph idx="1"/>
          </p:nvPr>
        </p:nvSpPr>
        <p:spPr>
          <a:xfrm>
            <a:off x="2274887" y="1847850"/>
            <a:ext cx="9678988" cy="3777622"/>
          </a:xfrm>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rmAutofit fontScale="92500" lnSpcReduction="10000"/>
          </a:bodyPr>
          <a:lstStyle/>
          <a:p>
            <a:pPr>
              <a:buFont typeface="Wingdings" panose="05000000000000000000" pitchFamily="2" charset="2"/>
              <a:buChar char="§"/>
            </a:pPr>
            <a:r>
              <a:rPr lang="en-US" altLang="en-US" sz="2400" dirty="0">
                <a:latin typeface="Arial" panose="020B0604020202020204" pitchFamily="34" charset="0"/>
              </a:rPr>
              <a:t>To prove </a:t>
            </a:r>
            <a:r>
              <a:rPr lang="en-US" altLang="en-US" sz="2400" dirty="0">
                <a:solidFill>
                  <a:srgbClr val="C00000"/>
                </a:solidFill>
                <a:latin typeface="Arial" panose="020B0604020202020204" pitchFamily="34" charset="0"/>
              </a:rPr>
              <a:t>an argument is valid </a:t>
            </a:r>
            <a:r>
              <a:rPr lang="en-US" altLang="en-US" sz="2400" dirty="0">
                <a:latin typeface="Arial" panose="020B0604020202020204" pitchFamily="34" charset="0"/>
              </a:rPr>
              <a:t>or assumption of true hypothesis</a:t>
            </a:r>
          </a:p>
          <a:p>
            <a:pPr>
              <a:buFont typeface="Wingdings" panose="05000000000000000000" pitchFamily="2" charset="2"/>
              <a:buChar char="§"/>
            </a:pPr>
            <a:endParaRPr lang="en-US" altLang="en-US" sz="2400" dirty="0">
              <a:latin typeface="Arial" panose="020B0604020202020204" pitchFamily="34" charset="0"/>
            </a:endParaRPr>
          </a:p>
          <a:p>
            <a:pPr>
              <a:buFont typeface="Wingdings" panose="05000000000000000000" pitchFamily="2" charset="2"/>
              <a:buChar char="§"/>
            </a:pPr>
            <a:r>
              <a:rPr lang="en-US" altLang="en-US" sz="2400" dirty="0">
                <a:latin typeface="Arial" panose="020B0604020202020204" pitchFamily="34" charset="0"/>
              </a:rPr>
              <a:t>Proof is an essential part of specification</a:t>
            </a:r>
          </a:p>
          <a:p>
            <a:pPr>
              <a:buFont typeface="Wingdings" panose="05000000000000000000" pitchFamily="2" charset="2"/>
              <a:buChar char="§"/>
            </a:pPr>
            <a:endParaRPr lang="en-US" altLang="en-US" sz="2400" dirty="0">
              <a:latin typeface="Arial" panose="020B0604020202020204" pitchFamily="34" charset="0"/>
            </a:endParaRPr>
          </a:p>
          <a:p>
            <a:pPr>
              <a:buFont typeface="Wingdings" panose="05000000000000000000" pitchFamily="2" charset="2"/>
              <a:buChar char="§"/>
            </a:pPr>
            <a:r>
              <a:rPr lang="en-US" altLang="en-US" sz="2400" dirty="0">
                <a:solidFill>
                  <a:srgbClr val="C00000"/>
                </a:solidFill>
                <a:latin typeface="Arial" panose="020B0604020202020204" pitchFamily="34" charset="0"/>
              </a:rPr>
              <a:t>Proofs are constructed as a series of small steps</a:t>
            </a:r>
            <a:r>
              <a:rPr lang="en-US" altLang="en-US" sz="2400" dirty="0">
                <a:latin typeface="Arial" panose="020B0604020202020204" pitchFamily="34" charset="0"/>
              </a:rPr>
              <a:t>, each of which is justified using a small set of rules</a:t>
            </a:r>
          </a:p>
          <a:p>
            <a:pPr>
              <a:buFont typeface="Wingdings" panose="05000000000000000000" pitchFamily="2" charset="2"/>
              <a:buChar char="§"/>
            </a:pPr>
            <a:endParaRPr lang="en-US" altLang="en-US" sz="2400" dirty="0">
              <a:latin typeface="Arial" panose="020B0604020202020204" pitchFamily="34" charset="0"/>
            </a:endParaRPr>
          </a:p>
          <a:p>
            <a:pPr>
              <a:buFont typeface="Wingdings" panose="05000000000000000000" pitchFamily="2" charset="2"/>
              <a:buChar char="§"/>
            </a:pPr>
            <a:r>
              <a:rPr lang="en-US" altLang="en-US" sz="2400" dirty="0">
                <a:latin typeface="Arial" panose="020B0604020202020204" pitchFamily="34" charset="0"/>
              </a:rPr>
              <a:t>Proofs can be done manually, but usually constructed with some automated assistance</a:t>
            </a:r>
          </a:p>
          <a:p>
            <a:pPr>
              <a:buFont typeface="Wingdings" panose="05000000000000000000" pitchFamily="2" charset="2"/>
              <a:buChar char="§"/>
            </a:pPr>
            <a:endParaRPr lang="en-US" altLang="en-US" sz="2400" dirty="0">
              <a:latin typeface="Arial" panose="020B0604020202020204" pitchFamily="34" charset="0"/>
            </a:endParaRPr>
          </a:p>
        </p:txBody>
      </p:sp>
    </p:spTree>
    <p:extLst>
      <p:ext uri="{BB962C8B-B14F-4D97-AF65-F5344CB8AC3E}">
        <p14:creationId xmlns:p14="http://schemas.microsoft.com/office/powerpoint/2010/main" val="1480529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AutoShape 2"/>
          <p:cNvSpPr>
            <a:spLocks noGrp="1" noChangeArrowheads="1"/>
          </p:cNvSpPr>
          <p:nvPr>
            <p:ph type="title"/>
          </p:nvPr>
        </p:nvSpPr>
        <p:spPr>
          <a:xfrm>
            <a:off x="2286000" y="609600"/>
            <a:ext cx="7924800" cy="838200"/>
          </a:xfrm>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en-US" b="1" dirty="0">
                <a:solidFill>
                  <a:schemeClr val="accent1">
                    <a:lumMod val="75000"/>
                  </a:schemeClr>
                </a:solidFill>
                <a:latin typeface="Arial" panose="020B0604020202020204" pitchFamily="34" charset="0"/>
                <a:cs typeface="Arial" panose="020B0604020202020204" pitchFamily="34" charset="0"/>
              </a:rPr>
              <a:t>Abstraction</a:t>
            </a:r>
          </a:p>
        </p:txBody>
      </p:sp>
      <p:sp>
        <p:nvSpPr>
          <p:cNvPr id="12291" name="Rectangle 3"/>
          <p:cNvSpPr>
            <a:spLocks noGrp="1" noChangeArrowheads="1"/>
          </p:cNvSpPr>
          <p:nvPr>
            <p:ph idx="1"/>
          </p:nvPr>
        </p:nvSpPr>
        <p:spPr>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Autofit/>
          </a:bodyPr>
          <a:lstStyle/>
          <a:p>
            <a:pPr algn="just"/>
            <a:r>
              <a:rPr lang="en-US" altLang="en-US" sz="2400" dirty="0">
                <a:latin typeface="Arial" panose="020B0604020202020204" pitchFamily="34" charset="0"/>
                <a:cs typeface="Arial" panose="020B0604020202020204" pitchFamily="34" charset="0"/>
              </a:rPr>
              <a:t>Abstraction is the </a:t>
            </a:r>
            <a:r>
              <a:rPr lang="en-US" altLang="en-US" sz="2400" dirty="0">
                <a:solidFill>
                  <a:srgbClr val="C00000"/>
                </a:solidFill>
                <a:latin typeface="Arial" panose="020B0604020202020204" pitchFamily="34" charset="0"/>
                <a:cs typeface="Arial" panose="020B0604020202020204" pitchFamily="34" charset="0"/>
              </a:rPr>
              <a:t>process of simplifying </a:t>
            </a:r>
            <a:r>
              <a:rPr lang="en-US" altLang="en-US" sz="2400" dirty="0">
                <a:latin typeface="Arial" panose="020B0604020202020204" pitchFamily="34" charset="0"/>
                <a:cs typeface="Arial" panose="020B0604020202020204" pitchFamily="34" charset="0"/>
              </a:rPr>
              <a:t>and ignoring irrelevant details.</a:t>
            </a:r>
          </a:p>
          <a:p>
            <a:pPr algn="just"/>
            <a:endParaRPr lang="en-US" altLang="en-US" sz="2400" dirty="0">
              <a:latin typeface="Arial" panose="020B0604020202020204" pitchFamily="34" charset="0"/>
              <a:cs typeface="Arial" panose="020B0604020202020204" pitchFamily="34" charset="0"/>
            </a:endParaRPr>
          </a:p>
          <a:p>
            <a:pPr algn="just"/>
            <a:r>
              <a:rPr lang="en-US" altLang="en-US" sz="2400" dirty="0">
                <a:latin typeface="Arial" panose="020B0604020202020204" pitchFamily="34" charset="0"/>
                <a:cs typeface="Arial" panose="020B0604020202020204" pitchFamily="34" charset="0"/>
              </a:rPr>
              <a:t>In formal methods, abstraction is a tool for eliminating distracting detail, avoiding premature commitment to implementation choices, and focusing on the essence of the problem at hand.</a:t>
            </a:r>
          </a:p>
          <a:p>
            <a:pPr>
              <a:buFont typeface="Wingdings" panose="05000000000000000000" pitchFamily="2" charset="2"/>
              <a:buChar char="§"/>
            </a:pPr>
            <a:endParaRPr lang="en-US" altLang="en-US" sz="2400" dirty="0">
              <a:latin typeface="Arial" panose="020B0604020202020204" pitchFamily="34" charset="0"/>
              <a:cs typeface="Arial" panose="020B0604020202020204" pitchFamily="34" charset="0"/>
            </a:endParaRPr>
          </a:p>
          <a:p>
            <a:pPr>
              <a:buFont typeface="Wingdings" panose="05000000000000000000" pitchFamily="2" charset="2"/>
              <a:buChar char="§"/>
            </a:pPr>
            <a:r>
              <a:rPr lang="en-US" altLang="en-US" sz="2400" dirty="0">
                <a:latin typeface="Arial" panose="020B0604020202020204" pitchFamily="34" charset="0"/>
                <a:cs typeface="Arial" panose="020B0604020202020204" pitchFamily="34" charset="0"/>
              </a:rPr>
              <a:t>Allows you to focus on the most important central properties and characteristics</a:t>
            </a:r>
          </a:p>
        </p:txBody>
      </p:sp>
    </p:spTree>
    <p:extLst>
      <p:ext uri="{BB962C8B-B14F-4D97-AF65-F5344CB8AC3E}">
        <p14:creationId xmlns:p14="http://schemas.microsoft.com/office/powerpoint/2010/main" val="2046037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9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2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AutoShape 2"/>
          <p:cNvSpPr>
            <a:spLocks noGrp="1" noChangeArrowheads="1"/>
          </p:cNvSpPr>
          <p:nvPr>
            <p:ph type="title"/>
          </p:nvPr>
        </p:nvSpPr>
        <p:spPr>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Autofit/>
          </a:bodyPr>
          <a:lstStyle/>
          <a:p>
            <a:r>
              <a:rPr lang="en-US" altLang="en-US" b="1" dirty="0">
                <a:solidFill>
                  <a:schemeClr val="accent1">
                    <a:lumMod val="75000"/>
                  </a:schemeClr>
                </a:solidFill>
                <a:latin typeface="Arial" panose="020B0604020202020204" pitchFamily="34" charset="0"/>
                <a:cs typeface="Arial" panose="020B0604020202020204" pitchFamily="34" charset="0"/>
              </a:rPr>
              <a:t>Benefits of Formal methods</a:t>
            </a:r>
            <a:br>
              <a:rPr lang="en-US" altLang="en-US" b="1" dirty="0">
                <a:solidFill>
                  <a:schemeClr val="accent1">
                    <a:lumMod val="75000"/>
                  </a:schemeClr>
                </a:solidFill>
                <a:latin typeface="Arial" panose="020B0604020202020204" pitchFamily="34" charset="0"/>
                <a:cs typeface="Arial" panose="020B0604020202020204" pitchFamily="34" charset="0"/>
              </a:rPr>
            </a:br>
            <a:endParaRPr lang="en-US" altLang="en-US" b="1" dirty="0">
              <a:solidFill>
                <a:schemeClr val="accent1">
                  <a:lumMod val="75000"/>
                </a:schemeClr>
              </a:solidFill>
              <a:latin typeface="Arial" panose="020B0604020202020204" pitchFamily="34" charset="0"/>
              <a:cs typeface="Arial" panose="020B0604020202020204" pitchFamily="34" charset="0"/>
            </a:endParaRPr>
          </a:p>
        </p:txBody>
      </p:sp>
      <p:sp>
        <p:nvSpPr>
          <p:cNvPr id="24579" name="Rectangle 3"/>
          <p:cNvSpPr>
            <a:spLocks noGrp="1" noChangeArrowheads="1"/>
          </p:cNvSpPr>
          <p:nvPr>
            <p:ph idx="1"/>
          </p:nvPr>
        </p:nvSpPr>
        <p:spPr>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Autofit/>
          </a:bodyPr>
          <a:lstStyle/>
          <a:p>
            <a:pPr>
              <a:buFont typeface="Wingdings" panose="05000000000000000000" pitchFamily="2" charset="2"/>
              <a:buChar char="§"/>
            </a:pPr>
            <a:r>
              <a:rPr lang="en-US" altLang="en-US" sz="2000" dirty="0">
                <a:latin typeface="Arial" panose="020B0604020202020204" pitchFamily="34" charset="0"/>
              </a:rPr>
              <a:t>Higher level of rigor leads to </a:t>
            </a:r>
            <a:r>
              <a:rPr lang="en-US" altLang="en-US" sz="2000" dirty="0">
                <a:solidFill>
                  <a:srgbClr val="C00000"/>
                </a:solidFill>
                <a:latin typeface="Arial" panose="020B0604020202020204" pitchFamily="34" charset="0"/>
              </a:rPr>
              <a:t>better problem understanding</a:t>
            </a:r>
          </a:p>
          <a:p>
            <a:pPr>
              <a:buFont typeface="Wingdings" panose="05000000000000000000" pitchFamily="2" charset="2"/>
              <a:buChar char="§"/>
            </a:pPr>
            <a:endParaRPr lang="en-US" altLang="en-US" sz="2000" dirty="0">
              <a:latin typeface="Arial" panose="020B0604020202020204" pitchFamily="34" charset="0"/>
            </a:endParaRPr>
          </a:p>
          <a:p>
            <a:pPr>
              <a:buFont typeface="Wingdings" panose="05000000000000000000" pitchFamily="2" charset="2"/>
              <a:buChar char="§"/>
            </a:pPr>
            <a:r>
              <a:rPr lang="en-US" altLang="en-US" sz="2000" dirty="0">
                <a:latin typeface="Arial" panose="020B0604020202020204" pitchFamily="34" charset="0"/>
              </a:rPr>
              <a:t>Defects are uncovered that would be missed using traditional specification methods</a:t>
            </a:r>
          </a:p>
          <a:p>
            <a:pPr>
              <a:buFont typeface="Wingdings" panose="05000000000000000000" pitchFamily="2" charset="2"/>
              <a:buChar char="§"/>
            </a:pPr>
            <a:endParaRPr lang="en-US" altLang="en-US" sz="2000" dirty="0">
              <a:latin typeface="Arial" panose="020B0604020202020204" pitchFamily="34" charset="0"/>
            </a:endParaRPr>
          </a:p>
          <a:p>
            <a:pPr>
              <a:buFont typeface="Wingdings" panose="05000000000000000000" pitchFamily="2" charset="2"/>
              <a:buChar char="§"/>
            </a:pPr>
            <a:r>
              <a:rPr lang="en-US" altLang="en-US" sz="2000" dirty="0">
                <a:latin typeface="Arial" panose="020B0604020202020204" pitchFamily="34" charset="0"/>
              </a:rPr>
              <a:t>Allows </a:t>
            </a:r>
            <a:r>
              <a:rPr lang="en-US" altLang="en-US" sz="2000" dirty="0">
                <a:solidFill>
                  <a:srgbClr val="C00000"/>
                </a:solidFill>
                <a:latin typeface="Arial" panose="020B0604020202020204" pitchFamily="34" charset="0"/>
              </a:rPr>
              <a:t>earlier defect identification</a:t>
            </a:r>
          </a:p>
          <a:p>
            <a:pPr>
              <a:buFont typeface="Wingdings" panose="05000000000000000000" pitchFamily="2" charset="2"/>
              <a:buChar char="§"/>
            </a:pPr>
            <a:endParaRPr lang="en-US" altLang="en-US" sz="2000" dirty="0">
              <a:latin typeface="Arial" panose="020B0604020202020204" pitchFamily="34" charset="0"/>
            </a:endParaRPr>
          </a:p>
          <a:p>
            <a:pPr>
              <a:buFont typeface="Wingdings" panose="05000000000000000000" pitchFamily="2" charset="2"/>
              <a:buChar char="§"/>
            </a:pPr>
            <a:r>
              <a:rPr lang="en-US" altLang="en-US" sz="2000" dirty="0">
                <a:latin typeface="Arial" panose="020B0604020202020204" pitchFamily="34" charset="0"/>
              </a:rPr>
              <a:t>Formal specification language semantics allow checks for self-consistency</a:t>
            </a:r>
          </a:p>
          <a:p>
            <a:pPr>
              <a:buFont typeface="Wingdings" panose="05000000000000000000" pitchFamily="2" charset="2"/>
              <a:buChar char="§"/>
            </a:pPr>
            <a:endParaRPr lang="en-US" altLang="en-US" sz="2000" dirty="0">
              <a:latin typeface="Arial" panose="020B0604020202020204" pitchFamily="34" charset="0"/>
            </a:endParaRPr>
          </a:p>
          <a:p>
            <a:pPr>
              <a:buFont typeface="Wingdings" panose="05000000000000000000" pitchFamily="2" charset="2"/>
              <a:buChar char="§"/>
            </a:pPr>
            <a:r>
              <a:rPr lang="en-US" altLang="en-US" sz="2000" dirty="0">
                <a:latin typeface="Arial" panose="020B0604020202020204" pitchFamily="34" charset="0"/>
              </a:rPr>
              <a:t>Enables the use of formal proofs to establish fundamental system properties and invariants</a:t>
            </a:r>
          </a:p>
          <a:p>
            <a:pPr>
              <a:buFont typeface="Wingdings" panose="05000000000000000000" pitchFamily="2" charset="2"/>
              <a:buChar char="§"/>
            </a:pPr>
            <a:endParaRPr lang="en-US" altLang="en-US" sz="2000" dirty="0">
              <a:latin typeface="Arial" panose="020B0604020202020204" pitchFamily="34" charset="0"/>
            </a:endParaRPr>
          </a:p>
        </p:txBody>
      </p:sp>
    </p:spTree>
    <p:extLst>
      <p:ext uri="{BB962C8B-B14F-4D97-AF65-F5344CB8AC3E}">
        <p14:creationId xmlns:p14="http://schemas.microsoft.com/office/powerpoint/2010/main" val="1198403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57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57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579">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57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AutoShape 2"/>
          <p:cNvSpPr>
            <a:spLocks noGrp="1" noChangeArrowheads="1"/>
          </p:cNvSpPr>
          <p:nvPr>
            <p:ph type="title"/>
          </p:nvPr>
        </p:nvSpPr>
        <p:spPr>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rmAutofit/>
          </a:bodyPr>
          <a:lstStyle/>
          <a:p>
            <a:r>
              <a:rPr lang="en-US" altLang="en-US" b="1" dirty="0">
                <a:solidFill>
                  <a:schemeClr val="accent1">
                    <a:lumMod val="75000"/>
                  </a:schemeClr>
                </a:solidFill>
                <a:latin typeface="Arial" panose="020B0604020202020204" pitchFamily="34" charset="0"/>
                <a:cs typeface="Arial" panose="020B0604020202020204" pitchFamily="34" charset="0"/>
              </a:rPr>
              <a:t>Limitations to Formal Methods</a:t>
            </a:r>
          </a:p>
        </p:txBody>
      </p:sp>
      <p:sp>
        <p:nvSpPr>
          <p:cNvPr id="25603" name="Rectangle 3"/>
          <p:cNvSpPr>
            <a:spLocks noGrp="1" noChangeArrowheads="1"/>
          </p:cNvSpPr>
          <p:nvPr>
            <p:ph idx="1"/>
          </p:nvPr>
        </p:nvSpPr>
        <p:spPr>
          <a:xfrm>
            <a:off x="2286000" y="1524000"/>
            <a:ext cx="8153400" cy="3962400"/>
          </a:xfrm>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Autofit/>
          </a:bodyPr>
          <a:lstStyle/>
          <a:p>
            <a:pPr algn="just">
              <a:buFont typeface="Wingdings" panose="05000000000000000000" pitchFamily="2" charset="2"/>
              <a:buChar char="§"/>
            </a:pPr>
            <a:r>
              <a:rPr lang="en-US" altLang="en-US" sz="2400" dirty="0">
                <a:latin typeface="Arial" panose="020B0604020202020204" pitchFamily="34" charset="0"/>
              </a:rPr>
              <a:t>Requires a sound mathematical knowledge of the developer </a:t>
            </a:r>
          </a:p>
          <a:p>
            <a:pPr algn="just">
              <a:buFont typeface="Wingdings" panose="05000000000000000000" pitchFamily="2" charset="2"/>
              <a:buChar char="§"/>
            </a:pPr>
            <a:endParaRPr lang="en-US" altLang="en-US" sz="2400" dirty="0">
              <a:latin typeface="Arial" panose="020B0604020202020204" pitchFamily="34" charset="0"/>
            </a:endParaRPr>
          </a:p>
          <a:p>
            <a:pPr algn="just">
              <a:buFont typeface="Wingdings" panose="05000000000000000000" pitchFamily="2" charset="2"/>
              <a:buChar char="§"/>
            </a:pPr>
            <a:r>
              <a:rPr lang="en-US" altLang="en-US" sz="2400" dirty="0">
                <a:latin typeface="Arial" panose="020B0604020202020204" pitchFamily="34" charset="0"/>
              </a:rPr>
              <a:t>Different aspects of a design may be represented by different formal specification methods </a:t>
            </a:r>
          </a:p>
          <a:p>
            <a:pPr algn="just">
              <a:buFont typeface="Wingdings" panose="05000000000000000000" pitchFamily="2" charset="2"/>
              <a:buChar char="§"/>
            </a:pPr>
            <a:endParaRPr lang="en-US" altLang="en-US" sz="2400" dirty="0">
              <a:latin typeface="Arial" panose="020B0604020202020204" pitchFamily="34" charset="0"/>
            </a:endParaRPr>
          </a:p>
        </p:txBody>
      </p:sp>
    </p:spTree>
    <p:extLst>
      <p:ext uri="{BB962C8B-B14F-4D97-AF65-F5344CB8AC3E}">
        <p14:creationId xmlns:p14="http://schemas.microsoft.com/office/powerpoint/2010/main" val="3890445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60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75000"/>
                  </a:schemeClr>
                </a:solidFill>
                <a:latin typeface="Arial" panose="020B0604020202020204" pitchFamily="34" charset="0"/>
                <a:cs typeface="Arial" panose="020B0604020202020204" pitchFamily="34" charset="0"/>
              </a:rPr>
              <a:t>Formal Methods in SDLC</a:t>
            </a:r>
          </a:p>
        </p:txBody>
      </p:sp>
      <p:sp>
        <p:nvSpPr>
          <p:cNvPr id="3" name="Content Placeholder 2"/>
          <p:cNvSpPr>
            <a:spLocks noGrp="1"/>
          </p:cNvSpPr>
          <p:nvPr>
            <p:ph idx="1"/>
          </p:nvPr>
        </p:nvSpPr>
        <p:spPr>
          <a:xfrm>
            <a:off x="2194293" y="1657350"/>
            <a:ext cx="9873410" cy="3777622"/>
          </a:xfrm>
        </p:spPr>
        <p:txBody>
          <a:bodyPr>
            <a:noAutofit/>
          </a:bodyPr>
          <a:lstStyle/>
          <a:p>
            <a:pPr algn="just"/>
            <a:r>
              <a:rPr lang="en-US" sz="2400" b="1" dirty="0">
                <a:solidFill>
                  <a:schemeClr val="tx1"/>
                </a:solidFill>
              </a:rPr>
              <a:t>Initial Study</a:t>
            </a:r>
            <a:r>
              <a:rPr lang="en-US" sz="2400" dirty="0">
                <a:solidFill>
                  <a:schemeClr val="tx1"/>
                </a:solidFill>
              </a:rPr>
              <a:t>: Customers may approve specifications (but not usual)</a:t>
            </a:r>
          </a:p>
          <a:p>
            <a:pPr algn="just"/>
            <a:r>
              <a:rPr lang="en-US" sz="2400" b="1" dirty="0">
                <a:solidFill>
                  <a:schemeClr val="tx1"/>
                </a:solidFill>
              </a:rPr>
              <a:t>Analysis</a:t>
            </a:r>
            <a:r>
              <a:rPr lang="en-US" sz="2400" dirty="0">
                <a:solidFill>
                  <a:schemeClr val="tx1"/>
                </a:solidFill>
              </a:rPr>
              <a:t>: System Analysts use the specification to </a:t>
            </a:r>
            <a:r>
              <a:rPr lang="en-US" sz="2400" dirty="0">
                <a:solidFill>
                  <a:srgbClr val="C00000"/>
                </a:solidFill>
              </a:rPr>
              <a:t>discover incompleteness and inconsistencies</a:t>
            </a:r>
            <a:r>
              <a:rPr lang="en-US" sz="2400" dirty="0">
                <a:solidFill>
                  <a:schemeClr val="tx1"/>
                </a:solidFill>
              </a:rPr>
              <a:t> in the original requirements</a:t>
            </a:r>
          </a:p>
          <a:p>
            <a:pPr algn="just"/>
            <a:endParaRPr lang="en-US" sz="2400" dirty="0">
              <a:solidFill>
                <a:schemeClr val="tx1"/>
              </a:solidFill>
            </a:endParaRPr>
          </a:p>
          <a:p>
            <a:pPr algn="just"/>
            <a:r>
              <a:rPr lang="en-US" sz="2400" b="1" dirty="0">
                <a:solidFill>
                  <a:schemeClr val="tx1"/>
                </a:solidFill>
              </a:rPr>
              <a:t>Design</a:t>
            </a:r>
            <a:r>
              <a:rPr lang="en-US" sz="2400" dirty="0">
                <a:solidFill>
                  <a:schemeClr val="tx1"/>
                </a:solidFill>
              </a:rPr>
              <a:t>: Designers can use it to </a:t>
            </a:r>
            <a:r>
              <a:rPr lang="en-US" sz="2400" dirty="0">
                <a:solidFill>
                  <a:srgbClr val="0070C0"/>
                </a:solidFill>
              </a:rPr>
              <a:t>decompose and refine </a:t>
            </a:r>
            <a:r>
              <a:rPr lang="en-US" sz="2400" dirty="0">
                <a:solidFill>
                  <a:schemeClr val="tx1"/>
                </a:solidFill>
              </a:rPr>
              <a:t>a software system</a:t>
            </a:r>
          </a:p>
          <a:p>
            <a:pPr algn="just"/>
            <a:endParaRPr lang="en-US" sz="2400" dirty="0">
              <a:solidFill>
                <a:schemeClr val="tx1"/>
              </a:solidFill>
            </a:endParaRPr>
          </a:p>
          <a:p>
            <a:pPr algn="just"/>
            <a:r>
              <a:rPr lang="en-US" sz="2400" b="1" dirty="0">
                <a:solidFill>
                  <a:schemeClr val="tx1"/>
                </a:solidFill>
              </a:rPr>
              <a:t>Development</a:t>
            </a:r>
            <a:r>
              <a:rPr lang="en-US" sz="2400" dirty="0">
                <a:solidFill>
                  <a:schemeClr val="tx1"/>
                </a:solidFill>
              </a:rPr>
              <a:t>: Programmers use the specification as a reference guide</a:t>
            </a:r>
          </a:p>
          <a:p>
            <a:pPr algn="just"/>
            <a:endParaRPr lang="en-US" sz="2400" dirty="0">
              <a:solidFill>
                <a:schemeClr val="tx1"/>
              </a:solidFill>
            </a:endParaRPr>
          </a:p>
        </p:txBody>
      </p:sp>
    </p:spTree>
    <p:extLst>
      <p:ext uri="{BB962C8B-B14F-4D97-AF65-F5344CB8AC3E}">
        <p14:creationId xmlns:p14="http://schemas.microsoft.com/office/powerpoint/2010/main" val="3638871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accent1">
                    <a:lumMod val="75000"/>
                  </a:schemeClr>
                </a:solidFill>
                <a:latin typeface="Arial" panose="020B0604020202020204" pitchFamily="34" charset="0"/>
                <a:cs typeface="Arial" panose="020B0604020202020204" pitchFamily="34" charset="0"/>
              </a:rPr>
              <a:t>Formal Methods in SDLC</a:t>
            </a:r>
          </a:p>
        </p:txBody>
      </p:sp>
      <p:sp>
        <p:nvSpPr>
          <p:cNvPr id="3" name="Content Placeholder 2"/>
          <p:cNvSpPr>
            <a:spLocks noGrp="1"/>
          </p:cNvSpPr>
          <p:nvPr>
            <p:ph idx="1"/>
          </p:nvPr>
        </p:nvSpPr>
        <p:spPr/>
        <p:txBody>
          <a:bodyPr>
            <a:normAutofit/>
          </a:bodyPr>
          <a:lstStyle/>
          <a:p>
            <a:pPr algn="just"/>
            <a:r>
              <a:rPr lang="en-US" sz="2400" b="1" dirty="0">
                <a:solidFill>
                  <a:schemeClr val="tx1"/>
                </a:solidFill>
              </a:rPr>
              <a:t>Testing</a:t>
            </a:r>
            <a:r>
              <a:rPr lang="en-US" sz="2400" dirty="0">
                <a:solidFill>
                  <a:schemeClr val="tx1"/>
                </a:solidFill>
              </a:rPr>
              <a:t>: Validation and debugging can take advantage of test cases and Verification needs a previous specification</a:t>
            </a:r>
          </a:p>
          <a:p>
            <a:pPr algn="just"/>
            <a:endParaRPr lang="en-US" sz="2400" dirty="0">
              <a:solidFill>
                <a:schemeClr val="tx1"/>
              </a:solidFill>
            </a:endParaRPr>
          </a:p>
          <a:p>
            <a:pPr algn="just"/>
            <a:r>
              <a:rPr lang="en-US" sz="2400" b="1" dirty="0">
                <a:solidFill>
                  <a:schemeClr val="tx1"/>
                </a:solidFill>
              </a:rPr>
              <a:t>Review</a:t>
            </a:r>
            <a:r>
              <a:rPr lang="en-US" sz="2400" dirty="0">
                <a:solidFill>
                  <a:schemeClr val="tx1"/>
                </a:solidFill>
              </a:rPr>
              <a:t>: expected results generated by means of the specification. Specifications can be used to document the path from</a:t>
            </a:r>
          </a:p>
          <a:p>
            <a:pPr marL="0" indent="0" algn="just">
              <a:buNone/>
            </a:pPr>
            <a:endParaRPr lang="en-US" sz="2400" dirty="0">
              <a:solidFill>
                <a:schemeClr val="tx1"/>
              </a:solidFill>
            </a:endParaRPr>
          </a:p>
        </p:txBody>
      </p:sp>
    </p:spTree>
    <p:extLst>
      <p:ext uri="{BB962C8B-B14F-4D97-AF65-F5344CB8AC3E}">
        <p14:creationId xmlns:p14="http://schemas.microsoft.com/office/powerpoint/2010/main" val="814648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accent1">
                    <a:lumMod val="75000"/>
                  </a:schemeClr>
                </a:solidFill>
                <a:latin typeface="Arial" panose="020B0604020202020204" pitchFamily="34" charset="0"/>
                <a:cs typeface="Arial" panose="020B0604020202020204" pitchFamily="34" charset="0"/>
              </a:rPr>
              <a:t>Formal Verification</a:t>
            </a:r>
          </a:p>
        </p:txBody>
      </p:sp>
      <p:sp>
        <p:nvSpPr>
          <p:cNvPr id="3" name="Content Placeholder 2"/>
          <p:cNvSpPr>
            <a:spLocks noGrp="1"/>
          </p:cNvSpPr>
          <p:nvPr>
            <p:ph idx="1"/>
          </p:nvPr>
        </p:nvSpPr>
        <p:spPr/>
        <p:txBody>
          <a:bodyPr/>
          <a:lstStyle/>
          <a:p>
            <a:r>
              <a:rPr lang="en-US" sz="2400" dirty="0"/>
              <a:t>Formal verification is the process of checking whether a </a:t>
            </a:r>
            <a:r>
              <a:rPr lang="en-US" sz="2400" dirty="0">
                <a:solidFill>
                  <a:srgbClr val="C00000"/>
                </a:solidFill>
              </a:rPr>
              <a:t>design satisfies some requirements </a:t>
            </a:r>
            <a:r>
              <a:rPr lang="en-US" sz="2400" dirty="0"/>
              <a:t>(properties). </a:t>
            </a:r>
          </a:p>
          <a:p>
            <a:endParaRPr lang="en-US" sz="2400" dirty="0"/>
          </a:p>
          <a:p>
            <a:r>
              <a:rPr lang="en-US" sz="2400" dirty="0"/>
              <a:t>Formal verification of software programs involves proving that a </a:t>
            </a:r>
            <a:r>
              <a:rPr lang="en-US" sz="2400" dirty="0">
                <a:solidFill>
                  <a:srgbClr val="C00000"/>
                </a:solidFill>
              </a:rPr>
              <a:t>program satisfies a formal specification </a:t>
            </a:r>
            <a:r>
              <a:rPr lang="en-US" sz="2400" dirty="0"/>
              <a:t>of its behavior.</a:t>
            </a:r>
          </a:p>
          <a:p>
            <a:pPr lvl="1"/>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536802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Recapping….</a:t>
            </a:r>
          </a:p>
        </p:txBody>
      </p:sp>
      <p:sp>
        <p:nvSpPr>
          <p:cNvPr id="3" name="Content Placeholder 2"/>
          <p:cNvSpPr>
            <a:spLocks noGrp="1"/>
          </p:cNvSpPr>
          <p:nvPr>
            <p:ph idx="1"/>
          </p:nvPr>
        </p:nvSpPr>
        <p:spPr/>
        <p:txBody>
          <a:bodyPr>
            <a:normAutofit/>
          </a:bodyPr>
          <a:lstStyle/>
          <a:p>
            <a:r>
              <a:rPr lang="en-US" sz="3200" dirty="0"/>
              <a:t>What is formal method?</a:t>
            </a:r>
          </a:p>
          <a:p>
            <a:endParaRPr lang="en-US" sz="3200" dirty="0"/>
          </a:p>
          <a:p>
            <a:r>
              <a:rPr lang="en-US" sz="3200" dirty="0"/>
              <a:t>Why do we need to use formal methods?</a:t>
            </a:r>
          </a:p>
          <a:p>
            <a:endParaRPr lang="en-US" sz="3200" dirty="0"/>
          </a:p>
          <a:p>
            <a:r>
              <a:rPr lang="en-US" sz="3200" dirty="0"/>
              <a:t>Practical Implementations of Formal methods?</a:t>
            </a:r>
          </a:p>
        </p:txBody>
      </p:sp>
    </p:spTree>
    <p:extLst>
      <p:ext uri="{BB962C8B-B14F-4D97-AF65-F5344CB8AC3E}">
        <p14:creationId xmlns:p14="http://schemas.microsoft.com/office/powerpoint/2010/main" val="3946542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3915</TotalTime>
  <Words>1350</Words>
  <Application>Microsoft Office PowerPoint</Application>
  <PresentationFormat>Widescreen</PresentationFormat>
  <Paragraphs>187</Paragraphs>
  <Slides>30</Slides>
  <Notes>2</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Arial Rounded MT Bold</vt:lpstr>
      <vt:lpstr>Calibri</vt:lpstr>
      <vt:lpstr>Century Gothic</vt:lpstr>
      <vt:lpstr>Wingdings</vt:lpstr>
      <vt:lpstr>Wingdings 3</vt:lpstr>
      <vt:lpstr>Wisp</vt:lpstr>
      <vt:lpstr>Formal Methods in Software Engineering</vt:lpstr>
      <vt:lpstr>Why Software fails?</vt:lpstr>
      <vt:lpstr>Software failures in Formal Methods' Perspectives</vt:lpstr>
      <vt:lpstr>Recap of Software Development Life Cycle</vt:lpstr>
      <vt:lpstr>Recap of Software Development Life Cycle (cont.…)</vt:lpstr>
      <vt:lpstr>Softwares in Safety Critical Systems</vt:lpstr>
      <vt:lpstr>What is formal method? </vt:lpstr>
      <vt:lpstr>Formal Methods </vt:lpstr>
      <vt:lpstr>Formal Methods</vt:lpstr>
      <vt:lpstr>Formal Methods</vt:lpstr>
      <vt:lpstr>Why formal methods?</vt:lpstr>
      <vt:lpstr>Formal Methods (recapping…)</vt:lpstr>
      <vt:lpstr>PowerPoint Presentation</vt:lpstr>
      <vt:lpstr>PowerPoint Presentation</vt:lpstr>
      <vt:lpstr>PowerPoint Presentation</vt:lpstr>
      <vt:lpstr>PowerPoint Presentation</vt:lpstr>
      <vt:lpstr>Formal Methods Components</vt:lpstr>
      <vt:lpstr>Formal Specification</vt:lpstr>
      <vt:lpstr>Good specifications for the system: </vt:lpstr>
      <vt:lpstr>Types of Formal Specifications</vt:lpstr>
      <vt:lpstr>Why Formal Specification? </vt:lpstr>
      <vt:lpstr>Model Checking</vt:lpstr>
      <vt:lpstr>Formal Proofs</vt:lpstr>
      <vt:lpstr>Abstraction</vt:lpstr>
      <vt:lpstr>Benefits of Formal methods </vt:lpstr>
      <vt:lpstr>Limitations to Formal Methods</vt:lpstr>
      <vt:lpstr>Formal Methods in SDLC</vt:lpstr>
      <vt:lpstr>Formal Methods in SDLC</vt:lpstr>
      <vt:lpstr>Formal Verification</vt:lpstr>
      <vt:lpstr>Recapping….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Mahfooz</dc:creator>
  <cp:lastModifiedBy>Rida Maryam</cp:lastModifiedBy>
  <cp:revision>166</cp:revision>
  <dcterms:created xsi:type="dcterms:W3CDTF">2017-01-18T11:57:24Z</dcterms:created>
  <dcterms:modified xsi:type="dcterms:W3CDTF">2025-07-30T04:06:46Z</dcterms:modified>
</cp:coreProperties>
</file>