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4"/>
  </p:notesMasterIdLst>
  <p:sldIdLst>
    <p:sldId id="256" r:id="rId2"/>
    <p:sldId id="263" r:id="rId3"/>
    <p:sldId id="264" r:id="rId4"/>
    <p:sldId id="265" r:id="rId5"/>
    <p:sldId id="266" r:id="rId6"/>
    <p:sldId id="267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268" r:id="rId16"/>
    <p:sldId id="292" r:id="rId17"/>
    <p:sldId id="269" r:id="rId18"/>
    <p:sldId id="270" r:id="rId19"/>
    <p:sldId id="271" r:id="rId20"/>
    <p:sldId id="272" r:id="rId21"/>
    <p:sldId id="301" r:id="rId22"/>
    <p:sldId id="302" r:id="rId23"/>
    <p:sldId id="321" r:id="rId24"/>
    <p:sldId id="322" r:id="rId25"/>
    <p:sldId id="318" r:id="rId26"/>
    <p:sldId id="319" r:id="rId27"/>
    <p:sldId id="323" r:id="rId28"/>
    <p:sldId id="324" r:id="rId29"/>
    <p:sldId id="325" r:id="rId30"/>
    <p:sldId id="326" r:id="rId31"/>
    <p:sldId id="327" r:id="rId32"/>
    <p:sldId id="328" r:id="rId33"/>
    <p:sldId id="329" r:id="rId34"/>
    <p:sldId id="330" r:id="rId35"/>
    <p:sldId id="331" r:id="rId36"/>
    <p:sldId id="334" r:id="rId37"/>
    <p:sldId id="335" r:id="rId38"/>
    <p:sldId id="332" r:id="rId39"/>
    <p:sldId id="336" r:id="rId40"/>
    <p:sldId id="337" r:id="rId41"/>
    <p:sldId id="338" r:id="rId42"/>
    <p:sldId id="291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5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fiz Mahfooz Ul Haque" userId="7eb5093a-188f-4877-8d5d-0411f7936b8d" providerId="ADAL" clId="{C11116F6-6DD6-4C7A-A155-0864E0DD128B}"/>
    <pc:docChg chg="addSld modSld">
      <pc:chgData name="Hafiz Mahfooz Ul Haque" userId="7eb5093a-188f-4877-8d5d-0411f7936b8d" providerId="ADAL" clId="{C11116F6-6DD6-4C7A-A155-0864E0DD128B}" dt="2022-10-10T13:25:54.491" v="0"/>
      <pc:docMkLst>
        <pc:docMk/>
      </pc:docMkLst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3834875074" sldId="301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4058565174" sldId="302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465828826" sldId="318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3437790180" sldId="319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358257792" sldId="321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467475649" sldId="322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2788928382" sldId="323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1809535168" sldId="324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2594410594" sldId="325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1934574546" sldId="326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226850336" sldId="327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2649312363" sldId="328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1826320527" sldId="329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503750872" sldId="330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673527550" sldId="331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3128717194" sldId="332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1530645497" sldId="334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86946133" sldId="335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1514869220" sldId="336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2266517099" sldId="337"/>
        </pc:sldMkLst>
      </pc:sldChg>
      <pc:sldChg chg="add">
        <pc:chgData name="Hafiz Mahfooz Ul Haque" userId="7eb5093a-188f-4877-8d5d-0411f7936b8d" providerId="ADAL" clId="{C11116F6-6DD6-4C7A-A155-0864E0DD128B}" dt="2022-10-10T13:25:54.491" v="0"/>
        <pc:sldMkLst>
          <pc:docMk/>
          <pc:sldMk cId="3187021066" sldId="33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05EB7B-CADD-4D75-ADF0-053F70AF6617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4964FC-4812-415C-8FD8-414485E3AD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037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8055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545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672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4938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853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8567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891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1836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8134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9223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62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4175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9814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4964FC-4812-415C-8FD8-414485E3AD5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645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/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Formal Methods in Software Engineering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423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Temporal Logic?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3366" y="1931377"/>
            <a:ext cx="9359534" cy="4381500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latin typeface="Arial Narrow" panose="020B0606020202030204" pitchFamily="34" charset="0"/>
              </a:rPr>
              <a:t>Objective: </a:t>
            </a:r>
            <a:r>
              <a:rPr lang="en-US" sz="2400" dirty="0">
                <a:latin typeface="Arial Narrow" panose="020B0606020202030204" pitchFamily="34" charset="0"/>
              </a:rPr>
              <a:t>We describe </a:t>
            </a:r>
            <a:r>
              <a:rPr lang="en-US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temporal aspects of formal methods </a:t>
            </a:r>
            <a:r>
              <a:rPr lang="en-US" sz="2400" dirty="0">
                <a:latin typeface="Arial Narrow" panose="020B0606020202030204" pitchFamily="34" charset="0"/>
              </a:rPr>
              <a:t>to model and specify concurrent systems and verify their correctness properties.</a:t>
            </a:r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r>
              <a:rPr lang="en-US" sz="2400" dirty="0">
                <a:latin typeface="Arial Narrow" panose="020B0606020202030204" pitchFamily="34" charset="0"/>
              </a:rPr>
              <a:t>In concurrent reactive systems, </a:t>
            </a:r>
            <a:r>
              <a:rPr lang="en-US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correctness</a:t>
            </a:r>
            <a:r>
              <a:rPr lang="en-US" sz="2400" dirty="0">
                <a:latin typeface="Arial Narrow" panose="020B0606020202030204" pitchFamily="34" charset="0"/>
              </a:rPr>
              <a:t> not only validates the correct input and output of the computational system, but also objectively monitors the execution of the system.</a:t>
            </a: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r>
              <a:rPr lang="en-US" sz="2400" dirty="0">
                <a:latin typeface="Arial Narrow" panose="020B0606020202030204" pitchFamily="34" charset="0"/>
              </a:rPr>
              <a:t>Temporal logic is </a:t>
            </a:r>
            <a:r>
              <a:rPr lang="en-US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explicitly developed to treat these aspects and to monitor infinite behavior of reactive </a:t>
            </a:r>
            <a:r>
              <a:rPr lang="en-US" sz="2400" dirty="0">
                <a:latin typeface="Arial Narrow" panose="020B0606020202030204" pitchFamily="34" charset="0"/>
              </a:rPr>
              <a:t>systems. </a:t>
            </a: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, </a:t>
            </a:r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546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Temporal Logic?</a:t>
            </a:r>
            <a:b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4574" y="1931377"/>
            <a:ext cx="9359534" cy="438150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Arial Narrow" panose="020B0606020202030204" pitchFamily="34" charset="0"/>
              </a:rPr>
              <a:t>Temporal logics have played vital role in </a:t>
            </a:r>
            <a:r>
              <a:rPr lang="en-US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formal verification </a:t>
            </a:r>
            <a:r>
              <a:rPr lang="en-US" sz="2400" dirty="0">
                <a:latin typeface="Arial Narrow" panose="020B0606020202030204" pitchFamily="34" charset="0"/>
              </a:rPr>
              <a:t>wherever needed to state the specification requirements for hardware and software systems. </a:t>
            </a: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Time: </a:t>
            </a:r>
            <a:r>
              <a:rPr lang="en-US" sz="2400" dirty="0">
                <a:latin typeface="Arial Narrow" panose="020B0606020202030204" pitchFamily="34" charset="0"/>
              </a:rPr>
              <a:t>It represents the set of rules for</a:t>
            </a:r>
            <a:r>
              <a:rPr lang="en-US" sz="2400" dirty="0">
                <a:solidFill>
                  <a:srgbClr val="0070C0"/>
                </a:solidFill>
                <a:latin typeface="Arial Narrow" panose="020B0606020202030204" pitchFamily="34" charset="0"/>
              </a:rPr>
              <a:t> reasoning in terms of time </a:t>
            </a:r>
            <a:r>
              <a:rPr lang="en-US" sz="2400" dirty="0">
                <a:latin typeface="Arial Narrow" panose="020B0606020202030204" pitchFamily="34" charset="0"/>
              </a:rPr>
              <a:t>and the time domain is expressed in terms of state. </a:t>
            </a: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r>
              <a:rPr lang="en-US" sz="2400" dirty="0">
                <a:latin typeface="Arial Narrow" panose="020B0606020202030204" pitchFamily="34" charset="0"/>
              </a:rPr>
              <a:t>A present </a:t>
            </a:r>
            <a:r>
              <a:rPr lang="en-US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time corresponds to current state </a:t>
            </a:r>
            <a:r>
              <a:rPr lang="en-US" sz="2400" dirty="0">
                <a:latin typeface="Arial Narrow" panose="020B0606020202030204" pitchFamily="34" charset="0"/>
              </a:rPr>
              <a:t>and next moment of time corresponds to the immediate next state. </a:t>
            </a: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r>
              <a:rPr lang="en-US" sz="2400" dirty="0">
                <a:latin typeface="Arial Narrow" panose="020B0606020202030204" pitchFamily="34" charset="0"/>
              </a:rPr>
              <a:t>Alternatively, system behavior is observed in terms of discrete time points such as 0, 1, 2,….., n.</a:t>
            </a:r>
            <a:endParaRPr lang="en-US" sz="3200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512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Temporal Logic?</a:t>
            </a:r>
            <a:b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3366" y="1931377"/>
            <a:ext cx="9359534" cy="4381500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Transition: </a:t>
            </a:r>
            <a:r>
              <a:rPr lang="en-US" sz="2400" dirty="0">
                <a:latin typeface="Arial Narrow" panose="020B0606020202030204" pitchFamily="34" charset="0"/>
              </a:rPr>
              <a:t>Transition corresponds to the </a:t>
            </a:r>
            <a:r>
              <a:rPr lang="en-US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progressions</a:t>
            </a:r>
            <a:r>
              <a:rPr lang="en-US" sz="2400" dirty="0">
                <a:latin typeface="Arial Narrow" panose="020B0606020202030204" pitchFamily="34" charset="0"/>
              </a:rPr>
              <a:t> from current time step to the next time step with specific action. </a:t>
            </a:r>
          </a:p>
          <a:p>
            <a:endParaRPr lang="en-US" sz="2400" dirty="0">
              <a:latin typeface="Arial Narrow" panose="020B0606020202030204" pitchFamily="34" charset="0"/>
            </a:endParaRPr>
          </a:p>
          <a:p>
            <a:r>
              <a:rPr lang="en-US" sz="2400" dirty="0">
                <a:latin typeface="Arial Narrow" panose="020B0606020202030204" pitchFamily="34" charset="0"/>
              </a:rPr>
              <a:t>Temporal logic is applicable due to its </a:t>
            </a:r>
            <a:r>
              <a:rPr lang="en-US" sz="2400" dirty="0">
                <a:solidFill>
                  <a:srgbClr val="0070C0"/>
                </a:solidFill>
                <a:latin typeface="Arial Narrow" panose="020B0606020202030204" pitchFamily="34" charset="0"/>
              </a:rPr>
              <a:t>behavioral aspects </a:t>
            </a:r>
            <a:r>
              <a:rPr lang="en-US" sz="2400" dirty="0">
                <a:latin typeface="Arial Narrow" panose="020B0606020202030204" pitchFamily="34" charset="0"/>
              </a:rPr>
              <a:t>of hardware and software in terms of time. </a:t>
            </a:r>
          </a:p>
          <a:p>
            <a:endParaRPr lang="en-US" sz="2400" dirty="0">
              <a:latin typeface="Arial Narrow" panose="020B0606020202030204" pitchFamily="34" charset="0"/>
            </a:endParaRPr>
          </a:p>
          <a:p>
            <a:r>
              <a:rPr lang="en-US" sz="2400" dirty="0">
                <a:latin typeface="Arial Narrow" panose="020B0606020202030204" pitchFamily="34" charset="0"/>
              </a:rPr>
              <a:t>Reasoning in the temporal logic is much easier with the translation into the predicate calculus because relationship among time is implicit manner.</a:t>
            </a:r>
          </a:p>
        </p:txBody>
      </p:sp>
    </p:spTree>
    <p:extLst>
      <p:ext uri="{BB962C8B-B14F-4D97-AF65-F5344CB8AC3E}">
        <p14:creationId xmlns:p14="http://schemas.microsoft.com/office/powerpoint/2010/main" val="3193255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Temporal Logic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3366" y="1931377"/>
            <a:ext cx="9359534" cy="438150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 Narrow" panose="020B0606020202030204" pitchFamily="34" charset="0"/>
              </a:rPr>
              <a:t>Temporal logic has introduced some </a:t>
            </a:r>
            <a:r>
              <a:rPr lang="en-US" sz="2400" dirty="0">
                <a:solidFill>
                  <a:srgbClr val="0070C0"/>
                </a:solidFill>
                <a:latin typeface="Arial Narrow" panose="020B0606020202030204" pitchFamily="34" charset="0"/>
              </a:rPr>
              <a:t>additional operators </a:t>
            </a:r>
            <a:r>
              <a:rPr lang="en-US" sz="2400" dirty="0">
                <a:latin typeface="Arial Narrow" panose="020B0606020202030204" pitchFamily="34" charset="0"/>
              </a:rPr>
              <a:t>that represent the time variable and reflect their relationships. </a:t>
            </a:r>
          </a:p>
          <a:p>
            <a:endParaRPr lang="en-US" sz="2400" dirty="0">
              <a:latin typeface="Arial Narrow" panose="020B0606020202030204" pitchFamily="34" charset="0"/>
            </a:endParaRPr>
          </a:p>
          <a:p>
            <a:r>
              <a:rPr lang="en-US" sz="2400" dirty="0">
                <a:latin typeface="Arial Narrow" panose="020B0606020202030204" pitchFamily="34" charset="0"/>
              </a:rPr>
              <a:t>In essence, temporal logic is an </a:t>
            </a:r>
            <a:r>
              <a:rPr lang="en-US" sz="2400" dirty="0">
                <a:solidFill>
                  <a:srgbClr val="C00000"/>
                </a:solidFill>
                <a:latin typeface="Arial Narrow" panose="020B0606020202030204" pitchFamily="34" charset="0"/>
              </a:rPr>
              <a:t>extension of propositional logic</a:t>
            </a:r>
            <a:r>
              <a:rPr lang="en-US" sz="2400" dirty="0">
                <a:latin typeface="Arial Narrow" panose="020B0606020202030204" pitchFamily="34" charset="0"/>
              </a:rPr>
              <a:t>. It is also known as propositional temporal logic (PTL). </a:t>
            </a:r>
          </a:p>
          <a:p>
            <a:endParaRPr lang="en-US" sz="2400" dirty="0">
              <a:latin typeface="Arial Narrow" panose="020B0606020202030204" pitchFamily="34" charset="0"/>
            </a:endParaRPr>
          </a:p>
          <a:p>
            <a:r>
              <a:rPr lang="en-US" sz="2400" dirty="0">
                <a:latin typeface="Arial Narrow" panose="020B0606020202030204" pitchFamily="34" charset="0"/>
              </a:rPr>
              <a:t>With the set of temporal operators, these enable the definition of formulas with the accessibility relation. </a:t>
            </a:r>
          </a:p>
          <a:p>
            <a:endParaRPr lang="en-US" sz="2400" dirty="0">
              <a:latin typeface="Arial Narrow" panose="020B0606020202030204" pitchFamily="34" charset="0"/>
            </a:endParaRPr>
          </a:p>
          <a:p>
            <a:r>
              <a:rPr lang="en-US" sz="2400" dirty="0">
                <a:latin typeface="Arial Narrow" panose="020B0606020202030204" pitchFamily="34" charset="0"/>
              </a:rPr>
              <a:t>When defining temporal properties, some temporal operators are needed to model the system </a:t>
            </a:r>
            <a:r>
              <a:rPr lang="en-US" sz="2400" dirty="0">
                <a:solidFill>
                  <a:srgbClr val="0070C0"/>
                </a:solidFill>
                <a:latin typeface="Arial Narrow" panose="020B0606020202030204" pitchFamily="34" charset="0"/>
              </a:rPr>
              <a:t>in terms of time</a:t>
            </a:r>
            <a:r>
              <a:rPr lang="en-US" sz="2400" dirty="0">
                <a:latin typeface="Arial Narrow" panose="020B0606020202030204" pitchFamily="34" charset="0"/>
              </a:rPr>
              <a:t>. </a:t>
            </a:r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155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Temporal Logic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3366" y="1931377"/>
            <a:ext cx="9359534" cy="438150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 Narrow" panose="020B0606020202030204" pitchFamily="34" charset="0"/>
              </a:rPr>
              <a:t>These operators include </a:t>
            </a:r>
          </a:p>
          <a:p>
            <a:pPr lvl="1"/>
            <a:r>
              <a:rPr lang="en-US" sz="2400" dirty="0">
                <a:latin typeface="Arial Narrow" panose="020B0606020202030204" pitchFamily="34" charset="0"/>
              </a:rPr>
              <a:t>F   ----- Future or eventually</a:t>
            </a:r>
          </a:p>
          <a:p>
            <a:pPr lvl="1"/>
            <a:r>
              <a:rPr lang="en-US" sz="2400" dirty="0">
                <a:latin typeface="Arial Narrow" panose="020B0606020202030204" pitchFamily="34" charset="0"/>
              </a:rPr>
              <a:t>G   ---- Globally</a:t>
            </a:r>
          </a:p>
          <a:p>
            <a:pPr lvl="1"/>
            <a:r>
              <a:rPr lang="en-US" sz="2400" dirty="0">
                <a:latin typeface="Arial Narrow" panose="020B0606020202030204" pitchFamily="34" charset="0"/>
              </a:rPr>
              <a:t>X    ------  Next  </a:t>
            </a:r>
          </a:p>
          <a:p>
            <a:pPr lvl="1"/>
            <a:r>
              <a:rPr lang="en-US" sz="2400" dirty="0">
                <a:latin typeface="Arial Narrow" panose="020B0606020202030204" pitchFamily="34" charset="0"/>
              </a:rPr>
              <a:t>U    ------ Until</a:t>
            </a:r>
          </a:p>
          <a:p>
            <a:endParaRPr lang="en-US" sz="2400" dirty="0">
              <a:latin typeface="Arial Narrow" panose="020B0606020202030204" pitchFamily="34" charset="0"/>
            </a:endParaRPr>
          </a:p>
          <a:p>
            <a:r>
              <a:rPr lang="en-US" sz="2400" dirty="0">
                <a:latin typeface="Arial Narrow" panose="020B0606020202030204" pitchFamily="34" charset="0"/>
              </a:rPr>
              <a:t>The first three operators are unary whereas the last one is binary</a:t>
            </a: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06605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Computational Paths, System run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3366" y="1931377"/>
            <a:ext cx="9359534" cy="438150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Arial Narrow" panose="020B0606020202030204" pitchFamily="34" charset="0"/>
              </a:rPr>
              <a:t>Define in terms of </a:t>
            </a:r>
            <a:r>
              <a:rPr lang="en-US" sz="2400" dirty="0">
                <a:solidFill>
                  <a:srgbClr val="C00000"/>
                </a:solidFill>
                <a:latin typeface="Arial Narrow" panose="020B0606020202030204" pitchFamily="34" charset="0"/>
              </a:rPr>
              <a:t>states and transitions </a:t>
            </a: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r>
              <a:rPr lang="en-US" sz="2400" dirty="0">
                <a:latin typeface="Arial Narrow" panose="020B0606020202030204" pitchFamily="34" charset="0"/>
              </a:rPr>
              <a:t>A sequence of states, starting with an initial state </a:t>
            </a:r>
          </a:p>
          <a:p>
            <a:pPr lvl="1" algn="just"/>
            <a:r>
              <a:rPr lang="en-US" sz="2400" dirty="0">
                <a:latin typeface="Arial Narrow" panose="020B0606020202030204" pitchFamily="34" charset="0"/>
              </a:rPr>
              <a:t> s</a:t>
            </a:r>
            <a:r>
              <a:rPr lang="en-US" sz="2400" baseline="-25000" dirty="0">
                <a:latin typeface="Arial Narrow" panose="020B0606020202030204" pitchFamily="34" charset="0"/>
              </a:rPr>
              <a:t>0</a:t>
            </a:r>
            <a:r>
              <a:rPr lang="en-US" sz="2400" dirty="0">
                <a:latin typeface="Arial Narrow" panose="020B0606020202030204" pitchFamily="34" charset="0"/>
              </a:rPr>
              <a:t> s</a:t>
            </a:r>
            <a:r>
              <a:rPr lang="en-US" sz="2400" baseline="-25000" dirty="0">
                <a:latin typeface="Arial Narrow" panose="020B0606020202030204" pitchFamily="34" charset="0"/>
              </a:rPr>
              <a:t>1</a:t>
            </a:r>
            <a:r>
              <a:rPr lang="en-US" sz="2400" dirty="0">
                <a:latin typeface="Arial Narrow" panose="020B0606020202030204" pitchFamily="34" charset="0"/>
              </a:rPr>
              <a:t> s</a:t>
            </a:r>
            <a:r>
              <a:rPr lang="en-US" sz="2400" baseline="-25000" dirty="0">
                <a:latin typeface="Arial Narrow" panose="020B0606020202030204" pitchFamily="34" charset="0"/>
              </a:rPr>
              <a:t>2</a:t>
            </a:r>
            <a:r>
              <a:rPr lang="en-US" sz="2400" dirty="0">
                <a:latin typeface="Arial Narrow" panose="020B0606020202030204" pitchFamily="34" charset="0"/>
              </a:rPr>
              <a:t> … such that R(</a:t>
            </a:r>
            <a:r>
              <a:rPr lang="en-US" sz="2400" dirty="0" err="1">
                <a:latin typeface="Arial Narrow" panose="020B0606020202030204" pitchFamily="34" charset="0"/>
              </a:rPr>
              <a:t>s</a:t>
            </a:r>
            <a:r>
              <a:rPr lang="en-US" sz="2400" baseline="-25000" dirty="0" err="1">
                <a:latin typeface="Arial Narrow" panose="020B0606020202030204" pitchFamily="34" charset="0"/>
              </a:rPr>
              <a:t>i</a:t>
            </a:r>
            <a:r>
              <a:rPr lang="en-US" sz="2400" dirty="0">
                <a:latin typeface="Arial Narrow" panose="020B0606020202030204" pitchFamily="34" charset="0"/>
              </a:rPr>
              <a:t>, s</a:t>
            </a:r>
            <a:r>
              <a:rPr lang="en-US" sz="2400" baseline="-25000" dirty="0">
                <a:latin typeface="Arial Narrow" panose="020B0606020202030204" pitchFamily="34" charset="0"/>
              </a:rPr>
              <a:t>i+1</a:t>
            </a:r>
            <a:r>
              <a:rPr lang="en-US" sz="2400" dirty="0">
                <a:latin typeface="Arial Narrow" panose="020B0606020202030204" pitchFamily="34" charset="0"/>
              </a:rPr>
              <a:t>) is true </a:t>
            </a: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r>
              <a:rPr lang="en-US" sz="2400" dirty="0">
                <a:latin typeface="Arial Narrow" panose="020B0606020202030204" pitchFamily="34" charset="0"/>
              </a:rPr>
              <a:t>Also called “run”, or “(computation) path” </a:t>
            </a: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r>
              <a:rPr lang="en-US" sz="2400" dirty="0">
                <a:latin typeface="Arial Narrow" panose="020B0606020202030204" pitchFamily="34" charset="0"/>
              </a:rPr>
              <a:t>Trace: sequence of observable parts of states – </a:t>
            </a:r>
            <a:r>
              <a:rPr lang="en-US" sz="2400" dirty="0">
                <a:solidFill>
                  <a:srgbClr val="C00000"/>
                </a:solidFill>
                <a:latin typeface="Arial Narrow" panose="020B0606020202030204" pitchFamily="34" charset="0"/>
              </a:rPr>
              <a:t>Sequence of state </a:t>
            </a:r>
            <a:r>
              <a:rPr lang="en-US" sz="2400" dirty="0">
                <a:latin typeface="Arial Narrow" panose="020B0606020202030204" pitchFamily="34" charset="0"/>
              </a:rPr>
              <a:t>labels</a:t>
            </a: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33261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Properties of Temporal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400" b="1" dirty="0">
                <a:latin typeface="Arial Narrow" panose="020B0606020202030204" pitchFamily="34" charset="0"/>
              </a:rPr>
              <a:t>Safety property </a:t>
            </a:r>
            <a:r>
              <a:rPr lang="en-US" sz="2400" dirty="0">
                <a:latin typeface="Arial Narrow" panose="020B0606020202030204" pitchFamily="34" charset="0"/>
              </a:rPr>
              <a:t>means</a:t>
            </a:r>
            <a:r>
              <a:rPr lang="en-US" sz="2400" b="1" dirty="0">
                <a:latin typeface="Arial Narrow" panose="020B0606020202030204" pitchFamily="34" charset="0"/>
              </a:rPr>
              <a:t> </a:t>
            </a:r>
            <a:r>
              <a:rPr lang="en-US" sz="2400" dirty="0">
                <a:latin typeface="Arial Narrow" panose="020B0606020202030204" pitchFamily="34" charset="0"/>
              </a:rPr>
              <a:t>“</a:t>
            </a:r>
            <a:r>
              <a:rPr lang="en-US" sz="2400" dirty="0">
                <a:solidFill>
                  <a:srgbClr val="C00000"/>
                </a:solidFill>
                <a:latin typeface="Arial Narrow" panose="020B0606020202030204" pitchFamily="34" charset="0"/>
              </a:rPr>
              <a:t>something bad must not happen</a:t>
            </a:r>
            <a:r>
              <a:rPr lang="en-US" sz="2400" dirty="0">
                <a:latin typeface="Arial Narrow" panose="020B0606020202030204" pitchFamily="34" charset="0"/>
              </a:rPr>
              <a:t>”. E.g.: system should not crash.</a:t>
            </a:r>
          </a:p>
          <a:p>
            <a:endParaRPr lang="en-US" sz="2400" dirty="0">
              <a:latin typeface="Arial Narrow" panose="020B0606020202030204" pitchFamily="34" charset="0"/>
            </a:endParaRPr>
          </a:p>
          <a:p>
            <a:r>
              <a:rPr lang="en-US" sz="2400" b="1" dirty="0">
                <a:latin typeface="Arial Narrow" panose="020B0606020202030204" pitchFamily="34" charset="0"/>
              </a:rPr>
              <a:t>Liveness property</a:t>
            </a:r>
            <a:r>
              <a:rPr lang="en-US" sz="2400" dirty="0">
                <a:latin typeface="Arial Narrow" panose="020B0606020202030204" pitchFamily="34" charset="0"/>
              </a:rPr>
              <a:t> means</a:t>
            </a:r>
            <a:r>
              <a:rPr lang="en-US" sz="2400" b="1" dirty="0">
                <a:latin typeface="Arial Narrow" panose="020B0606020202030204" pitchFamily="34" charset="0"/>
              </a:rPr>
              <a:t> </a:t>
            </a:r>
            <a:r>
              <a:rPr lang="en-US" sz="2400" dirty="0">
                <a:latin typeface="Arial Narrow" panose="020B0606020202030204" pitchFamily="34" charset="0"/>
              </a:rPr>
              <a:t>“</a:t>
            </a:r>
            <a:r>
              <a:rPr lang="en-US" sz="2400" dirty="0">
                <a:solidFill>
                  <a:srgbClr val="C00000"/>
                </a:solidFill>
                <a:latin typeface="Arial Narrow" panose="020B0606020202030204" pitchFamily="34" charset="0"/>
              </a:rPr>
              <a:t>something good must happen</a:t>
            </a:r>
            <a:r>
              <a:rPr lang="en-US" sz="2400" dirty="0">
                <a:latin typeface="Arial Narrow" panose="020B0606020202030204" pitchFamily="34" charset="0"/>
              </a:rPr>
              <a:t>”. E.g.: every packet sent must be received at its destination</a:t>
            </a:r>
          </a:p>
          <a:p>
            <a:endParaRPr lang="en-US" sz="2400" b="1" dirty="0">
              <a:latin typeface="Arial Narrow" panose="020B0606020202030204" pitchFamily="34" charset="0"/>
            </a:endParaRPr>
          </a:p>
          <a:p>
            <a:r>
              <a:rPr lang="en-US" sz="2400" b="1" dirty="0">
                <a:latin typeface="Arial Narrow" panose="020B0606020202030204" pitchFamily="34" charset="0"/>
              </a:rPr>
              <a:t>Guarantee of Service</a:t>
            </a:r>
            <a:r>
              <a:rPr lang="en-US" sz="2400" dirty="0">
                <a:latin typeface="Arial Narrow" panose="020B0606020202030204" pitchFamily="34" charset="0"/>
              </a:rPr>
              <a:t> states that if one process sends a request, it must have to be responded by other process. </a:t>
            </a:r>
          </a:p>
          <a:p>
            <a:endParaRPr lang="en-US" sz="2400" b="1" dirty="0">
              <a:latin typeface="Arial Narrow" panose="020B0606020202030204" pitchFamily="34" charset="0"/>
            </a:endParaRPr>
          </a:p>
          <a:p>
            <a:r>
              <a:rPr lang="en-US" sz="2400" b="1" dirty="0">
                <a:latin typeface="Arial Narrow" panose="020B0606020202030204" pitchFamily="34" charset="0"/>
              </a:rPr>
              <a:t>Mutually exclusion</a:t>
            </a:r>
            <a:r>
              <a:rPr lang="en-US" sz="2400" dirty="0">
                <a:latin typeface="Arial Narrow" panose="020B0606020202030204" pitchFamily="34" charset="0"/>
              </a:rPr>
              <a:t> occur when </a:t>
            </a:r>
            <a:r>
              <a:rPr lang="en-US" sz="2400" dirty="0">
                <a:solidFill>
                  <a:srgbClr val="C00000"/>
                </a:solidFill>
                <a:latin typeface="Arial Narrow" panose="020B0606020202030204" pitchFamily="34" charset="0"/>
              </a:rPr>
              <a:t>two processes execute concurrently </a:t>
            </a:r>
            <a:r>
              <a:rPr lang="en-US" sz="2400" dirty="0">
                <a:latin typeface="Arial Narrow" panose="020B0606020202030204" pitchFamily="34" charset="0"/>
              </a:rPr>
              <a:t>at the same critical section. Then, it is prescribed as “bad thing”.</a:t>
            </a:r>
          </a:p>
        </p:txBody>
      </p:sp>
    </p:spTree>
    <p:extLst>
      <p:ext uri="{BB962C8B-B14F-4D97-AF65-F5344CB8AC3E}">
        <p14:creationId xmlns:p14="http://schemas.microsoft.com/office/powerpoint/2010/main" val="3537566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Temporal Logic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0812" y="1924049"/>
            <a:ext cx="8139113" cy="406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598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Temporal Logic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/>
              <a:t>Globally (Always) p: G p</a:t>
            </a:r>
          </a:p>
          <a:p>
            <a:pPr lvl="1"/>
            <a:r>
              <a:rPr lang="en-US" sz="2200" b="1" dirty="0"/>
              <a:t>G p is true for a computation path if p holds at all states (points of time) along the path</a:t>
            </a:r>
          </a:p>
          <a:p>
            <a:pPr lvl="1"/>
            <a:endParaRPr lang="en-US" sz="2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3595183"/>
            <a:ext cx="8129587" cy="310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29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Temporal Logic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/>
              <a:t>Eventually p: F p</a:t>
            </a:r>
          </a:p>
          <a:p>
            <a:r>
              <a:rPr lang="en-US" sz="2400" dirty="0"/>
              <a:t>F p is true for a path if p holds at some state along that path</a:t>
            </a:r>
          </a:p>
          <a:p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7161" y="3771902"/>
            <a:ext cx="8995263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657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Temporal Logic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Next p: X p</a:t>
            </a:r>
          </a:p>
          <a:p>
            <a:r>
              <a:rPr lang="en-US" sz="2400" dirty="0"/>
              <a:t>X p is true along a path starting in state </a:t>
            </a:r>
            <a:r>
              <a:rPr lang="en-US" sz="2400" dirty="0" err="1"/>
              <a:t>s</a:t>
            </a:r>
            <a:r>
              <a:rPr lang="en-US" sz="2400" baseline="-25000" dirty="0" err="1"/>
              <a:t>i</a:t>
            </a:r>
            <a:r>
              <a:rPr lang="en-US" sz="2400" dirty="0"/>
              <a:t> (suffix of the main path) if p holds in the next state s</a:t>
            </a:r>
            <a:r>
              <a:rPr lang="en-US" sz="2400" baseline="-25000" dirty="0"/>
              <a:t>i+1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8425" y="3648074"/>
            <a:ext cx="8458200" cy="299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112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Temporal Logic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200" b="1" dirty="0">
                <a:latin typeface="Arial Narrow" panose="020B0606020202030204" pitchFamily="34" charset="0"/>
              </a:rPr>
              <a:t>Examples: What do they mean?</a:t>
            </a:r>
          </a:p>
          <a:p>
            <a:pPr marL="0" indent="0">
              <a:buNone/>
            </a:pPr>
            <a:endParaRPr lang="en-US" sz="3200" b="1" dirty="0">
              <a:latin typeface="Arial Narrow" panose="020B0606020202030204" pitchFamily="34" charset="0"/>
            </a:endParaRPr>
          </a:p>
          <a:p>
            <a:r>
              <a:rPr lang="en-US" sz="2400" dirty="0">
                <a:latin typeface="Arial Narrow" panose="020B0606020202030204" pitchFamily="34" charset="0"/>
              </a:rPr>
              <a:t>G F p</a:t>
            </a:r>
          </a:p>
          <a:p>
            <a:endParaRPr lang="en-US" sz="2400" dirty="0">
              <a:latin typeface="Arial Narrow" panose="020B0606020202030204" pitchFamily="34" charset="0"/>
            </a:endParaRPr>
          </a:p>
          <a:p>
            <a:r>
              <a:rPr lang="en-US" sz="2400" dirty="0">
                <a:latin typeface="Arial Narrow" panose="020B0606020202030204" pitchFamily="34" charset="0"/>
              </a:rPr>
              <a:t>F G p</a:t>
            </a:r>
          </a:p>
          <a:p>
            <a:endParaRPr lang="en-US" sz="2400" dirty="0">
              <a:latin typeface="Arial Narrow" panose="020B0606020202030204" pitchFamily="34" charset="0"/>
            </a:endParaRPr>
          </a:p>
          <a:p>
            <a:r>
              <a:rPr lang="en-US" sz="2400" dirty="0">
                <a:latin typeface="Arial Narrow" panose="020B0606020202030204" pitchFamily="34" charset="0"/>
              </a:rPr>
              <a:t>G( p </a:t>
            </a:r>
            <a:r>
              <a:rPr lang="en-US" sz="2400" dirty="0"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en-US" sz="2400" dirty="0">
                <a:latin typeface="Arial Narrow" panose="020B0606020202030204" pitchFamily="34" charset="0"/>
              </a:rPr>
              <a:t> F q )</a:t>
            </a:r>
          </a:p>
          <a:p>
            <a:endParaRPr lang="fr-FR" sz="2400" dirty="0">
              <a:latin typeface="Arial Narrow" panose="020B0606020202030204" pitchFamily="34" charset="0"/>
            </a:endParaRPr>
          </a:p>
          <a:p>
            <a:r>
              <a:rPr lang="fr-FR" sz="2400" dirty="0">
                <a:latin typeface="Arial Narrow" panose="020B0606020202030204" pitchFamily="34" charset="0"/>
              </a:rPr>
              <a:t>F( p </a:t>
            </a:r>
            <a:r>
              <a:rPr lang="fr-FR" sz="2400" dirty="0"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fr-FR" sz="2400" dirty="0">
                <a:latin typeface="Arial Narrow" panose="020B0606020202030204" pitchFamily="34" charset="0"/>
              </a:rPr>
              <a:t> (X </a:t>
            </a:r>
            <a:r>
              <a:rPr lang="fr-FR" sz="2400" dirty="0" err="1">
                <a:latin typeface="Arial Narrow" panose="020B0606020202030204" pitchFamily="34" charset="0"/>
              </a:rPr>
              <a:t>X</a:t>
            </a:r>
            <a:r>
              <a:rPr lang="fr-FR" sz="2400" dirty="0">
                <a:latin typeface="Arial Narrow" panose="020B0606020202030204" pitchFamily="34" charset="0"/>
              </a:rPr>
              <a:t> q) )</a:t>
            </a:r>
            <a:endParaRPr lang="en-US" sz="24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293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Temporal Logic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>
                <a:latin typeface="Arial Narrow" panose="020B0606020202030204" pitchFamily="34" charset="0"/>
              </a:rPr>
              <a:t>p Until q: p U q</a:t>
            </a:r>
          </a:p>
          <a:p>
            <a:r>
              <a:rPr lang="en-US" sz="2400" dirty="0">
                <a:latin typeface="Arial Narrow" panose="020B0606020202030204" pitchFamily="34" charset="0"/>
              </a:rPr>
              <a:t>p U q is true along a path starting at s if</a:t>
            </a:r>
          </a:p>
          <a:p>
            <a:pPr lvl="1"/>
            <a:r>
              <a:rPr lang="en-US" sz="2200" dirty="0">
                <a:latin typeface="Arial Narrow" panose="020B0606020202030204" pitchFamily="34" charset="0"/>
              </a:rPr>
              <a:t> q is true in some state reachable from s</a:t>
            </a:r>
          </a:p>
          <a:p>
            <a:pPr lvl="1"/>
            <a:r>
              <a:rPr lang="en-US" sz="2200" dirty="0">
                <a:latin typeface="Arial Narrow" panose="020B0606020202030204" pitchFamily="34" charset="0"/>
              </a:rPr>
              <a:t> p is true in all states from s until q holds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326" y="4231257"/>
            <a:ext cx="7734300" cy="262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404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Temporal Logic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3366" y="1931377"/>
            <a:ext cx="9359534" cy="4381500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rial Narrow" panose="020B0606020202030204" pitchFamily="34" charset="0"/>
              </a:rPr>
              <a:t>There are two types of temporal logics, each having their own temporal operators. </a:t>
            </a:r>
          </a:p>
          <a:p>
            <a:endParaRPr lang="en-US" sz="2400" b="1" dirty="0">
              <a:latin typeface="Arial Narrow" panose="020B0606020202030204" pitchFamily="34" charset="0"/>
            </a:endParaRPr>
          </a:p>
          <a:p>
            <a:r>
              <a:rPr lang="en-US" sz="2400" b="1" dirty="0">
                <a:latin typeface="Arial Narrow" panose="020B0606020202030204" pitchFamily="34" charset="0"/>
              </a:rPr>
              <a:t>In </a:t>
            </a:r>
            <a:r>
              <a:rPr lang="en-US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linear time temporal logic</a:t>
            </a:r>
            <a:r>
              <a:rPr lang="en-US" sz="2400" b="1" dirty="0">
                <a:latin typeface="Arial Narrow" panose="020B0606020202030204" pitchFamily="34" charset="0"/>
              </a:rPr>
              <a:t>, there is a single successor state at each moment of time </a:t>
            </a:r>
          </a:p>
          <a:p>
            <a:endParaRPr lang="en-US" sz="2400" b="1" dirty="0">
              <a:latin typeface="Arial Narrow" panose="020B0606020202030204" pitchFamily="34" charset="0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Arial Narrow" panose="020B0606020202030204" pitchFamily="34" charset="0"/>
              </a:rPr>
              <a:t>Branching time temporal logic</a:t>
            </a:r>
            <a:r>
              <a:rPr lang="en-US" sz="2400" b="1" dirty="0">
                <a:latin typeface="Arial Narrow" panose="020B0606020202030204" pitchFamily="34" charset="0"/>
              </a:rPr>
              <a:t>, time is split into different alternative paths. </a:t>
            </a:r>
          </a:p>
        </p:txBody>
      </p:sp>
    </p:spTree>
    <p:extLst>
      <p:ext uri="{BB962C8B-B14F-4D97-AF65-F5344CB8AC3E}">
        <p14:creationId xmlns:p14="http://schemas.microsoft.com/office/powerpoint/2010/main" val="1216547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Temporal Logic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Linear Time Temporal Logic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2400" dirty="0"/>
              <a:t>Branching time temporal logic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1831" y="2550867"/>
            <a:ext cx="8629650" cy="9810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7637" y="4272749"/>
            <a:ext cx="6577013" cy="2583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5629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 Time Temporal Logic (LTL)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3366" y="1931377"/>
            <a:ext cx="9359534" cy="438150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 Narrow" panose="020B0606020202030204" pitchFamily="34" charset="0"/>
              </a:rPr>
              <a:t>Linear Temporal Logic has been proposed as a formal verification tool by Amir </a:t>
            </a:r>
            <a:r>
              <a:rPr lang="en-US" sz="2400" dirty="0" err="1">
                <a:latin typeface="Arial Narrow" panose="020B0606020202030204" pitchFamily="34" charset="0"/>
              </a:rPr>
              <a:t>Pnueli</a:t>
            </a:r>
            <a:r>
              <a:rPr lang="en-US" sz="2400" dirty="0">
                <a:latin typeface="Arial Narrow" panose="020B0606020202030204" pitchFamily="34" charset="0"/>
              </a:rPr>
              <a:t>.</a:t>
            </a:r>
          </a:p>
          <a:p>
            <a:endParaRPr lang="en-US" sz="2400" dirty="0">
              <a:latin typeface="Arial Narrow" panose="020B0606020202030204" pitchFamily="34" charset="0"/>
            </a:endParaRPr>
          </a:p>
          <a:p>
            <a:r>
              <a:rPr lang="en-US" sz="2400" dirty="0">
                <a:latin typeface="Arial Narrow" panose="020B0606020202030204" pitchFamily="34" charset="0"/>
              </a:rPr>
              <a:t>LTL models time as a </a:t>
            </a:r>
            <a:r>
              <a:rPr lang="en-US" sz="2400" dirty="0">
                <a:solidFill>
                  <a:srgbClr val="C00000"/>
                </a:solidFill>
                <a:latin typeface="Arial Narrow" panose="020B0606020202030204" pitchFamily="34" charset="0"/>
              </a:rPr>
              <a:t>sequence of states </a:t>
            </a:r>
            <a:r>
              <a:rPr lang="en-US" sz="2400" dirty="0">
                <a:latin typeface="Arial Narrow" panose="020B0606020202030204" pitchFamily="34" charset="0"/>
              </a:rPr>
              <a:t>and the future state is seen as a path in LTL. </a:t>
            </a:r>
          </a:p>
          <a:p>
            <a:endParaRPr lang="en-US" sz="2400" dirty="0">
              <a:latin typeface="Arial Narrow" panose="020B0606020202030204" pitchFamily="34" charset="0"/>
            </a:endParaRPr>
          </a:p>
          <a:p>
            <a:r>
              <a:rPr lang="en-US" sz="2400" dirty="0">
                <a:latin typeface="Arial Narrow" panose="020B0606020202030204" pitchFamily="34" charset="0"/>
              </a:rPr>
              <a:t>Accordingly, there are </a:t>
            </a:r>
            <a:r>
              <a:rPr lang="en-US" sz="2400" dirty="0">
                <a:solidFill>
                  <a:srgbClr val="C00000"/>
                </a:solidFill>
                <a:latin typeface="Arial Narrow" panose="020B0606020202030204" pitchFamily="34" charset="0"/>
              </a:rPr>
              <a:t>different future paths </a:t>
            </a:r>
            <a:r>
              <a:rPr lang="en-US" sz="2400" dirty="0">
                <a:latin typeface="Arial Narrow" panose="020B0606020202030204" pitchFamily="34" charset="0"/>
              </a:rPr>
              <a:t>from where any path is taken as an actual path. </a:t>
            </a:r>
          </a:p>
          <a:p>
            <a:endParaRPr lang="en-US" sz="2400" dirty="0">
              <a:latin typeface="Arial Narrow" panose="020B0606020202030204" pitchFamily="34" charset="0"/>
            </a:endParaRPr>
          </a:p>
          <a:p>
            <a:r>
              <a:rPr lang="en-US" sz="2400" dirty="0">
                <a:latin typeface="Arial Narrow" panose="020B0606020202030204" pitchFamily="34" charset="0"/>
              </a:rPr>
              <a:t>There are many LTL model checking tools available which use LTL as a property specification language </a:t>
            </a:r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2620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LTL Syntax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3366" y="1931377"/>
            <a:ext cx="9359534" cy="4381500"/>
          </a:xfrm>
        </p:spPr>
        <p:txBody>
          <a:bodyPr>
            <a:noAutofit/>
          </a:bodyPr>
          <a:lstStyle/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912" y="2390775"/>
            <a:ext cx="9458325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4676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LTL Semantics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3366" y="1931377"/>
            <a:ext cx="9359534" cy="4381500"/>
          </a:xfrm>
        </p:spPr>
        <p:txBody>
          <a:bodyPr>
            <a:noAutofit/>
          </a:bodyPr>
          <a:lstStyle/>
          <a:p>
            <a:pPr algn="just"/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132" y="2020628"/>
            <a:ext cx="9262330" cy="186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010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LTL Semantics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3366" y="1931377"/>
            <a:ext cx="9359534" cy="438150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 Narrow" panose="020B0606020202030204" pitchFamily="34" charset="0"/>
              </a:rPr>
              <a:t>The semantics is defined by induction on the structure of </a:t>
            </a:r>
            <a:r>
              <a:rPr lang="en-US" sz="2400" dirty="0">
                <a:latin typeface="Arial Narrow" panose="020B0606020202030204" pitchFamily="34" charset="0"/>
                <a:cs typeface="Arial" panose="020B0604020202020204" pitchFamily="34" charset="0"/>
              </a:rPr>
              <a:t>ⱷ</a:t>
            </a:r>
            <a:r>
              <a:rPr lang="en-US" sz="2400" dirty="0">
                <a:latin typeface="Arial Narrow" panose="020B0606020202030204" pitchFamily="34" charset="0"/>
              </a:rPr>
              <a:t>, is given as:</a:t>
            </a: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552700"/>
            <a:ext cx="7786687" cy="3990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5303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Computational Tree Logic (CTL)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57328" y="2036885"/>
            <a:ext cx="9359534" cy="438150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Arial Rounded MT Bold" panose="020F0704030504030204" pitchFamily="34" charset="0"/>
              </a:rPr>
              <a:t>CTL is a </a:t>
            </a:r>
            <a:r>
              <a:rPr lang="en-US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branching time </a:t>
            </a:r>
            <a:r>
              <a:rPr lang="en-US" sz="2400" dirty="0">
                <a:latin typeface="Arial Rounded MT Bold" panose="020F0704030504030204" pitchFamily="34" charset="0"/>
              </a:rPr>
              <a:t>temporal logic. </a:t>
            </a:r>
          </a:p>
          <a:p>
            <a:pPr algn="just"/>
            <a:endParaRPr lang="en-US" sz="2400" dirty="0">
              <a:latin typeface="Arial Rounded MT Bold" panose="020F0704030504030204" pitchFamily="34" charset="0"/>
            </a:endParaRPr>
          </a:p>
          <a:p>
            <a:pPr algn="just"/>
            <a:r>
              <a:rPr lang="en-US" sz="2400" dirty="0">
                <a:latin typeface="Arial Rounded MT Bold" panose="020F0704030504030204" pitchFamily="34" charset="0"/>
              </a:rPr>
              <a:t>Like LTL, it is also used in formal methods to </a:t>
            </a:r>
            <a:r>
              <a:rPr 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verify correctness properties</a:t>
            </a:r>
            <a:r>
              <a:rPr lang="en-US" sz="2400" dirty="0">
                <a:latin typeface="Arial Rounded MT Bold" panose="020F0704030504030204" pitchFamily="34" charset="0"/>
              </a:rPr>
              <a:t> of a system by model checking tools. </a:t>
            </a:r>
          </a:p>
          <a:p>
            <a:pPr algn="just"/>
            <a:endParaRPr lang="en-US" sz="2400" dirty="0">
              <a:latin typeface="Arial Rounded MT Bold" panose="020F0704030504030204" pitchFamily="34" charset="0"/>
            </a:endParaRPr>
          </a:p>
          <a:p>
            <a:pPr algn="just"/>
            <a:r>
              <a:rPr lang="en-US" sz="2400" dirty="0">
                <a:latin typeface="Arial Rounded MT Bold" panose="020F0704030504030204" pitchFamily="34" charset="0"/>
              </a:rPr>
              <a:t>CTL is more </a:t>
            </a:r>
            <a:r>
              <a:rPr lang="en-US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expressive</a:t>
            </a:r>
            <a:r>
              <a:rPr lang="en-US" sz="2400" dirty="0">
                <a:latin typeface="Arial Rounded MT Bold" panose="020F0704030504030204" pitchFamily="34" charset="0"/>
              </a:rPr>
              <a:t> than LTL and permits quantification over path</a:t>
            </a:r>
            <a:endParaRPr lang="en-US" sz="3200" dirty="0"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8750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4574" y="1931377"/>
            <a:ext cx="9359534" cy="438150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Each state may have an </a:t>
            </a:r>
            <a:r>
              <a:rPr lang="en-US" sz="2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accessibility relation </a:t>
            </a:r>
            <a:r>
              <a:rPr lang="en-US" sz="2400" dirty="0">
                <a:latin typeface="Arial Rounded MT Bold" panose="020F0704030504030204" pitchFamily="34" charset="0"/>
              </a:rPr>
              <a:t>with the immediate next state by a transition which reflects the system behavior in terms of time. </a:t>
            </a:r>
          </a:p>
          <a:p>
            <a:endParaRPr lang="en-US" sz="2400" dirty="0">
              <a:latin typeface="Arial Rounded MT Bold" panose="020F0704030504030204" pitchFamily="34" charset="0"/>
            </a:endParaRPr>
          </a:p>
          <a:p>
            <a:r>
              <a:rPr 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Properties</a:t>
            </a:r>
            <a:r>
              <a:rPr lang="en-US" sz="2400" dirty="0">
                <a:latin typeface="Arial Rounded MT Bold" panose="020F0704030504030204" pitchFamily="34" charset="0"/>
              </a:rPr>
              <a:t> expressed over a tree of all possible executions</a:t>
            </a:r>
          </a:p>
          <a:p>
            <a:pPr marL="0" indent="0" algn="just">
              <a:buNone/>
            </a:pPr>
            <a:r>
              <a:rPr lang="en-US" sz="2400" dirty="0">
                <a:latin typeface="Arial Rounded MT Bold" panose="020F07040305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585651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LTL Vs CTL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LTL (linear-time logic) </a:t>
            </a:r>
          </a:p>
          <a:p>
            <a:pPr lvl="1"/>
            <a:r>
              <a:rPr lang="en-US" sz="2200" dirty="0">
                <a:latin typeface="Arial Rounded MT Bold" panose="020F0704030504030204" pitchFamily="34" charset="0"/>
              </a:rPr>
              <a:t> Describes properties of </a:t>
            </a:r>
            <a:r>
              <a:rPr lang="en-US" sz="22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individual executions</a:t>
            </a:r>
            <a:r>
              <a:rPr lang="en-US" sz="2200" dirty="0">
                <a:latin typeface="Arial Rounded MT Bold" panose="020F0704030504030204" pitchFamily="34" charset="0"/>
              </a:rPr>
              <a:t>. </a:t>
            </a:r>
          </a:p>
          <a:p>
            <a:pPr lvl="1"/>
            <a:r>
              <a:rPr lang="en-US" sz="2200" dirty="0">
                <a:latin typeface="Arial Rounded MT Bold" panose="020F0704030504030204" pitchFamily="34" charset="0"/>
              </a:rPr>
              <a:t>Semantics defined as a set of executions. </a:t>
            </a:r>
          </a:p>
          <a:p>
            <a:pPr lvl="1"/>
            <a:endParaRPr lang="en-US" sz="2200" dirty="0">
              <a:latin typeface="Arial Rounded MT Bold" panose="020F0704030504030204" pitchFamily="34" charset="0"/>
            </a:endParaRPr>
          </a:p>
          <a:p>
            <a:r>
              <a:rPr lang="en-US" sz="2400" dirty="0">
                <a:latin typeface="Arial Rounded MT Bold" panose="020F0704030504030204" pitchFamily="34" charset="0"/>
              </a:rPr>
              <a:t>CTL (computation tree logic) </a:t>
            </a:r>
          </a:p>
          <a:p>
            <a:pPr lvl="1"/>
            <a:r>
              <a:rPr lang="en-US" sz="2200" dirty="0">
                <a:latin typeface="Arial Rounded MT Bold" panose="020F0704030504030204" pitchFamily="34" charset="0"/>
              </a:rPr>
              <a:t>Describes properties of a computation tree: formulas can reason about </a:t>
            </a:r>
            <a:r>
              <a:rPr lang="en-US" sz="22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many executions at once</a:t>
            </a:r>
            <a:r>
              <a:rPr lang="en-US" sz="2200" dirty="0">
                <a:latin typeface="Arial Rounded MT Bold" panose="020F0704030504030204" pitchFamily="34" charset="0"/>
              </a:rPr>
              <a:t>. (CTL belongs to the family of branching-time logics.) </a:t>
            </a:r>
          </a:p>
          <a:p>
            <a:pPr lvl="1"/>
            <a:r>
              <a:rPr lang="en-US" sz="2200" dirty="0">
                <a:latin typeface="Arial Rounded MT Bold" panose="020F0704030504030204" pitchFamily="34" charset="0"/>
              </a:rPr>
              <a:t>Semantics defined in terms of states. </a:t>
            </a:r>
          </a:p>
        </p:txBody>
      </p:sp>
    </p:spTree>
    <p:extLst>
      <p:ext uri="{BB962C8B-B14F-4D97-AF65-F5344CB8AC3E}">
        <p14:creationId xmlns:p14="http://schemas.microsoft.com/office/powerpoint/2010/main" val="3582577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4825" y="500285"/>
            <a:ext cx="8911687" cy="1280890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Transition Graph (Labelled States)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4574" y="1931377"/>
            <a:ext cx="9359534" cy="4381500"/>
          </a:xfrm>
        </p:spPr>
        <p:txBody>
          <a:bodyPr>
            <a:noAutofit/>
          </a:bodyPr>
          <a:lstStyle/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algn="just"/>
            <a:endParaRPr lang="en-US" sz="2400" dirty="0">
              <a:latin typeface="Arial Narrow" panose="020B06060202020302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143250" y="4886325"/>
            <a:ext cx="2743200" cy="6667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Kripke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15150" y="6010275"/>
            <a:ext cx="4171950" cy="6667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Infinite Computation Tree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325" y="1724025"/>
            <a:ext cx="4305300" cy="27622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3275" y="1326961"/>
            <a:ext cx="4335641" cy="4481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4756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CTL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8197" y="1737946"/>
            <a:ext cx="9359534" cy="438150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In CTL, each temporal connective is a pair of symbols. </a:t>
            </a:r>
          </a:p>
          <a:p>
            <a:endParaRPr lang="en-US" sz="2400" dirty="0">
              <a:latin typeface="Arial Rounded MT Bold" panose="020F0704030504030204" pitchFamily="34" charset="0"/>
            </a:endParaRPr>
          </a:p>
          <a:p>
            <a:r>
              <a:rPr lang="en-US" sz="2400" dirty="0">
                <a:latin typeface="Arial Rounded MT Bold" panose="020F0704030504030204" pitchFamily="34" charset="0"/>
              </a:rPr>
              <a:t>The first symbol in a pair is one of the E and A. </a:t>
            </a:r>
          </a:p>
          <a:p>
            <a:pPr lvl="1"/>
            <a:r>
              <a:rPr lang="en-US" sz="2200" dirty="0">
                <a:latin typeface="Arial Rounded MT Bold" panose="020F0704030504030204" pitchFamily="34" charset="0"/>
              </a:rPr>
              <a:t>E means along at least one path, and </a:t>
            </a:r>
          </a:p>
          <a:p>
            <a:pPr lvl="1"/>
            <a:r>
              <a:rPr lang="en-US" sz="2200" dirty="0">
                <a:latin typeface="Arial Rounded MT Bold" panose="020F0704030504030204" pitchFamily="34" charset="0"/>
              </a:rPr>
              <a:t>A means along all paths.</a:t>
            </a:r>
          </a:p>
          <a:p>
            <a:endParaRPr lang="en-US" sz="2400" dirty="0">
              <a:latin typeface="Arial Rounded MT Bold" panose="020F07040305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075" y="4271962"/>
            <a:ext cx="8210550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8288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CTL operators</a:t>
            </a:r>
            <a:b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4574" y="1702777"/>
            <a:ext cx="9359534" cy="438150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CTL operators are used with logical operators in the same way as with other logics, these operators are:                     , </a:t>
            </a:r>
          </a:p>
          <a:p>
            <a:endParaRPr lang="en-US" sz="2400" dirty="0">
              <a:latin typeface="Arial Rounded MT Bold" panose="020F0704030504030204" pitchFamily="34" charset="0"/>
            </a:endParaRPr>
          </a:p>
          <a:p>
            <a:r>
              <a:rPr lang="en-US" sz="2400" dirty="0">
                <a:latin typeface="Arial Rounded MT Bold" panose="020F0704030504030204" pitchFamily="34" charset="0"/>
              </a:rPr>
              <a:t>The operators X, F, G and U </a:t>
            </a:r>
            <a:r>
              <a:rPr lang="en-US" sz="24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cannot appear without </a:t>
            </a:r>
            <a:r>
              <a:rPr lang="en-US" sz="2400" dirty="0">
                <a:latin typeface="Arial Rounded MT Bold" panose="020F0704030504030204" pitchFamily="34" charset="0"/>
              </a:rPr>
              <a:t>an E or an A in CTL. </a:t>
            </a:r>
          </a:p>
          <a:p>
            <a:endParaRPr lang="en-US" sz="2400" dirty="0">
              <a:latin typeface="Arial Rounded MT Bold" panose="020F0704030504030204" pitchFamily="34" charset="0"/>
            </a:endParaRPr>
          </a:p>
          <a:p>
            <a:r>
              <a:rPr lang="en-US" sz="2400" dirty="0">
                <a:latin typeface="Arial Rounded MT Bold" panose="020F0704030504030204" pitchFamily="34" charset="0"/>
              </a:rPr>
              <a:t>CTL </a:t>
            </a:r>
            <a:r>
              <a:rPr 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basic operators</a:t>
            </a:r>
            <a:r>
              <a:rPr lang="en-US" sz="2400" dirty="0">
                <a:latin typeface="Arial Rounded MT Bold" panose="020F0704030504030204" pitchFamily="34" charset="0"/>
              </a:rPr>
              <a:t>: </a:t>
            </a:r>
          </a:p>
          <a:p>
            <a:pPr lvl="1"/>
            <a:r>
              <a:rPr lang="en-US" sz="2400" dirty="0">
                <a:latin typeface="Arial Rounded MT Bold" panose="020F0704030504030204" pitchFamily="34" charset="0"/>
              </a:rPr>
              <a:t>AX and EX, </a:t>
            </a:r>
          </a:p>
          <a:p>
            <a:pPr lvl="1"/>
            <a:r>
              <a:rPr lang="en-US" sz="2400" dirty="0">
                <a:latin typeface="Arial Rounded MT Bold" panose="020F0704030504030204" pitchFamily="34" charset="0"/>
              </a:rPr>
              <a:t>AG and EG, </a:t>
            </a:r>
          </a:p>
          <a:p>
            <a:pPr lvl="1"/>
            <a:r>
              <a:rPr lang="en-US" sz="2400" dirty="0">
                <a:latin typeface="Arial Rounded MT Bold" panose="020F0704030504030204" pitchFamily="34" charset="0"/>
              </a:rPr>
              <a:t>AF and EF, </a:t>
            </a:r>
          </a:p>
          <a:p>
            <a:pPr lvl="1"/>
            <a:r>
              <a:rPr lang="en-US" sz="2400" dirty="0">
                <a:latin typeface="Arial Rounded MT Bold" panose="020F0704030504030204" pitchFamily="34" charset="0"/>
              </a:rPr>
              <a:t>AU and EU</a:t>
            </a:r>
          </a:p>
          <a:p>
            <a:endParaRPr lang="en-US" sz="2400" dirty="0">
              <a:latin typeface="Arial Rounded MT Bold" panose="020F0704030504030204" pitchFamily="34" charset="0"/>
            </a:endParaRPr>
          </a:p>
          <a:p>
            <a:pPr lvl="1"/>
            <a:endParaRPr lang="en-US" sz="2200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3587" y="2390775"/>
            <a:ext cx="1057275" cy="4381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9912" y="2438400"/>
            <a:ext cx="428625" cy="2857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5360" y="2400300"/>
            <a:ext cx="4953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7901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CTL Example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4043" y="1878623"/>
            <a:ext cx="8915400" cy="377762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Let’s see an example system, how system flows in branching time temporal logic </a:t>
            </a:r>
          </a:p>
          <a:p>
            <a:r>
              <a:rPr lang="en-US" sz="2400" dirty="0">
                <a:latin typeface="Arial Rounded MT Bold" panose="020F0704030504030204" pitchFamily="34" charset="0"/>
              </a:rPr>
              <a:t>We assume </a:t>
            </a:r>
          </a:p>
          <a:p>
            <a:pPr lvl="1"/>
            <a:r>
              <a:rPr lang="en-US" sz="2200" dirty="0">
                <a:latin typeface="Arial Rounded MT Bold" panose="020F0704030504030204" pitchFamily="34" charset="0"/>
              </a:rPr>
              <a:t>p = black ball</a:t>
            </a:r>
          </a:p>
          <a:p>
            <a:pPr lvl="1"/>
            <a:r>
              <a:rPr lang="en-US" sz="2200" dirty="0">
                <a:latin typeface="Arial Rounded MT Bold" panose="020F0704030504030204" pitchFamily="34" charset="0"/>
              </a:rPr>
              <a:t>q = red ball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4568" y="2687213"/>
            <a:ext cx="4406643" cy="3819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9283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237249"/>
            <a:ext cx="8911687" cy="128089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3174" y="744416"/>
            <a:ext cx="8915400" cy="3777622"/>
          </a:xfrm>
        </p:spPr>
        <p:txBody>
          <a:bodyPr/>
          <a:lstStyle/>
          <a:p>
            <a:r>
              <a:rPr lang="en-US" sz="24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A formula p appears globally on all paths</a:t>
            </a:r>
            <a:r>
              <a:rPr lang="en-US" dirty="0">
                <a:solidFill>
                  <a:srgbClr val="C00000"/>
                </a:solidFill>
              </a:rPr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137" y="2009775"/>
            <a:ext cx="5243513" cy="4531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5351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A formula p appears eventually on all paths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8612" y="2105025"/>
            <a:ext cx="4843463" cy="416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4105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A formula p appears in the state on all paths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3387" y="1900237"/>
            <a:ext cx="5510213" cy="482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5745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A formula p appears on all paths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until q appears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1847850"/>
            <a:ext cx="5638800" cy="493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503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A formula p appears globally on any path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1962" y="1900237"/>
            <a:ext cx="5419725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3123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A formula p appears eventually on any path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362" y="1862137"/>
            <a:ext cx="5324475" cy="482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3205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A formula p appears on the next state of any path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876425"/>
            <a:ext cx="561975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7508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A formula p appears on any path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until q appears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412" y="1752600"/>
            <a:ext cx="5476875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5275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CTL formulas Equivalence</a:t>
            </a:r>
            <a:b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0756" y="3862998"/>
            <a:ext cx="3910867" cy="184557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625" y="1971674"/>
            <a:ext cx="4591050" cy="164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6454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CTL Syntax</a:t>
            </a:r>
            <a:b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4574" y="1931377"/>
            <a:ext cx="9359534" cy="438150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Arial Rounded MT Bold" panose="020F0704030504030204" pitchFamily="34" charset="0"/>
              </a:rPr>
              <a:t>The syntax of CTL is defined by considering a set of propositional variables (P), logical operators, and temporal operators. </a:t>
            </a:r>
          </a:p>
          <a:p>
            <a:endParaRPr lang="en-US" sz="2400" dirty="0">
              <a:latin typeface="Arial Rounded MT Bold" panose="020F0704030504030204" pitchFamily="34" charset="0"/>
            </a:endParaRPr>
          </a:p>
          <a:p>
            <a:r>
              <a:rPr lang="en-US" sz="2400" dirty="0">
                <a:latin typeface="Arial Rounded MT Bold" panose="020F0704030504030204" pitchFamily="34" charset="0"/>
              </a:rPr>
              <a:t>The set of CTL formulas is formally defined inductively over propositional variables as follows</a:t>
            </a:r>
          </a:p>
          <a:p>
            <a:endParaRPr lang="en-US" sz="2400" dirty="0">
              <a:latin typeface="Arial Rounded MT Bold" panose="020F0704030504030204" pitchFamily="34" charset="0"/>
            </a:endParaRPr>
          </a:p>
          <a:p>
            <a:endParaRPr lang="en-US" sz="2400" dirty="0">
              <a:latin typeface="Arial Rounded MT Bold" panose="020F0704030504030204" pitchFamily="34" charset="0"/>
            </a:endParaRPr>
          </a:p>
          <a:p>
            <a:endParaRPr lang="en-US" sz="2400" dirty="0">
              <a:latin typeface="Arial Rounded MT Bold" panose="020F0704030504030204" pitchFamily="34" charset="0"/>
            </a:endParaRPr>
          </a:p>
          <a:p>
            <a:r>
              <a:rPr lang="en-US" sz="2400" dirty="0">
                <a:latin typeface="Arial Rounded MT Bold" panose="020F0704030504030204" pitchFamily="34" charset="0"/>
              </a:rPr>
              <a:t>Where p </a:t>
            </a:r>
            <a:r>
              <a:rPr lang="az-Cyrl-AZ" sz="2400" dirty="0">
                <a:latin typeface="Calibri" panose="020F0502020204030204" pitchFamily="34" charset="0"/>
              </a:rPr>
              <a:t>Є</a:t>
            </a:r>
            <a:r>
              <a:rPr lang="en-US" sz="2400" dirty="0">
                <a:latin typeface="Arial Rounded MT Bold" panose="020F0704030504030204" pitchFamily="34" charset="0"/>
              </a:rPr>
              <a:t> P</a:t>
            </a:r>
          </a:p>
          <a:p>
            <a:pPr marL="0" indent="0" algn="just">
              <a:buNone/>
            </a:pPr>
            <a:r>
              <a:rPr lang="en-US" sz="2400" dirty="0">
                <a:latin typeface="Arial Rounded MT Bold" panose="020F0704030504030204" pitchFamily="34" charset="0"/>
              </a:rPr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474" y="4857750"/>
            <a:ext cx="10220325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461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Kripke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924" y="1480771"/>
            <a:ext cx="9298597" cy="532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7171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CTL Semantics</a:t>
            </a:r>
            <a:b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4574" y="1931377"/>
            <a:ext cx="9359534" cy="4381500"/>
          </a:xfrm>
        </p:spPr>
        <p:txBody>
          <a:bodyPr>
            <a:noAutofit/>
          </a:bodyPr>
          <a:lstStyle/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048" y="2576146"/>
            <a:ext cx="10484525" cy="244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8692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CTL Semantics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4574" y="1931377"/>
            <a:ext cx="9359534" cy="4381500"/>
          </a:xfrm>
        </p:spPr>
        <p:txBody>
          <a:bodyPr>
            <a:noAutofit/>
          </a:bodyPr>
          <a:lstStyle/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150" y="1517515"/>
            <a:ext cx="9310687" cy="525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5170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CTL Semantics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4574" y="1931377"/>
            <a:ext cx="9359534" cy="4381500"/>
          </a:xfrm>
        </p:spPr>
        <p:txBody>
          <a:bodyPr>
            <a:noAutofit/>
          </a:bodyPr>
          <a:lstStyle/>
          <a:p>
            <a:pPr algn="just"/>
            <a:endParaRPr lang="en-US" sz="2400" dirty="0">
              <a:latin typeface="Arial Narrow" panose="020B0606020202030204" pitchFamily="34" charset="0"/>
            </a:endParaRPr>
          </a:p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495" y="2690445"/>
            <a:ext cx="10977473" cy="266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0210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endParaRPr lang="en-US" sz="2400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38566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3113</TotalTime>
  <Words>1282</Words>
  <Application>Microsoft Office PowerPoint</Application>
  <PresentationFormat>Widescreen</PresentationFormat>
  <Paragraphs>209</Paragraphs>
  <Slides>42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Arial</vt:lpstr>
      <vt:lpstr>Arial Narrow</vt:lpstr>
      <vt:lpstr>Arial Rounded MT Bold</vt:lpstr>
      <vt:lpstr>Calibri</vt:lpstr>
      <vt:lpstr>Century Gothic</vt:lpstr>
      <vt:lpstr>Wingdings 3</vt:lpstr>
      <vt:lpstr>Wisp</vt:lpstr>
      <vt:lpstr>Formal Methods in Software Engineering</vt:lpstr>
      <vt:lpstr>What is Temporal Logic?</vt:lpstr>
      <vt:lpstr>What is Temporal Logic? </vt:lpstr>
      <vt:lpstr>What is Temporal Logic? </vt:lpstr>
      <vt:lpstr>Temporal Logic Operators</vt:lpstr>
      <vt:lpstr>Temporal Logic Operators</vt:lpstr>
      <vt:lpstr>Computational Paths, System run</vt:lpstr>
      <vt:lpstr>Core Properties of Temporal Logic</vt:lpstr>
      <vt:lpstr>Temporal Logic Operators</vt:lpstr>
      <vt:lpstr>Temporal Logic Operators</vt:lpstr>
      <vt:lpstr>Temporal Logic Operators</vt:lpstr>
      <vt:lpstr>Temporal Logic Operators</vt:lpstr>
      <vt:lpstr>Temporal Logic Operators</vt:lpstr>
      <vt:lpstr>Temporal Logic Operators</vt:lpstr>
      <vt:lpstr>Temporal Logic Types</vt:lpstr>
      <vt:lpstr>Temporal Logic Models</vt:lpstr>
      <vt:lpstr>Linear Time Temporal Logic (LTL)</vt:lpstr>
      <vt:lpstr>LTL Syntax</vt:lpstr>
      <vt:lpstr>LTL Semantics</vt:lpstr>
      <vt:lpstr>LTL Semantics</vt:lpstr>
      <vt:lpstr>Computational Tree Logic (CTL)</vt:lpstr>
      <vt:lpstr>CTL</vt:lpstr>
      <vt:lpstr>LTL Vs CTL</vt:lpstr>
      <vt:lpstr>Transition Graph (Labelled States)</vt:lpstr>
      <vt:lpstr>CTL Operators</vt:lpstr>
      <vt:lpstr>CTL operators </vt:lpstr>
      <vt:lpstr>CTL Example </vt:lpstr>
      <vt:lpstr>PowerPoint Presentation</vt:lpstr>
      <vt:lpstr>A formula p appears eventually on all paths </vt:lpstr>
      <vt:lpstr>A formula p appears in the state on all paths </vt:lpstr>
      <vt:lpstr>A formula p appears on all paths until q appears</vt:lpstr>
      <vt:lpstr>A formula p appears globally on any path</vt:lpstr>
      <vt:lpstr>A formula p appears eventually on any path</vt:lpstr>
      <vt:lpstr>A formula p appears on the next state of any path</vt:lpstr>
      <vt:lpstr>A formula p appears on any path until q appears</vt:lpstr>
      <vt:lpstr>CTL formulas Equivalence </vt:lpstr>
      <vt:lpstr>CTL Syntax </vt:lpstr>
      <vt:lpstr>Kripke Structure</vt:lpstr>
      <vt:lpstr>CTL Semantics </vt:lpstr>
      <vt:lpstr>CTL Semantics</vt:lpstr>
      <vt:lpstr>CTL Semantics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Mahfooz</dc:creator>
  <cp:lastModifiedBy>Arham Bhatti</cp:lastModifiedBy>
  <cp:revision>132</cp:revision>
  <dcterms:created xsi:type="dcterms:W3CDTF">2017-01-18T11:57:24Z</dcterms:created>
  <dcterms:modified xsi:type="dcterms:W3CDTF">2026-04-24T10:17:52Z</dcterms:modified>
</cp:coreProperties>
</file>