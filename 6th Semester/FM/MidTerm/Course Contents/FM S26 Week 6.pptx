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8" r:id="rId18"/>
  </p:sldIdLst>
  <p:sldSz cx="4610100" cy="3460750"/>
  <p:notesSz cx="4610100" cy="3460750"/>
  <p:embeddedFontLst>
    <p:embeddedFont>
      <p:font typeface="Century Gothic" panose="020B0502020202020204" pitchFamily="34" charset="0"/>
      <p:regular r:id="rId19"/>
      <p:bold r:id="rId20"/>
      <p:italic r:id="rId21"/>
      <p:boldItalic r:id="rId22"/>
    </p:embeddedFont>
    <p:embeddedFont>
      <p:font typeface="Gill Sans MT" panose="020B0502020104020203" pitchFamily="34" charset="0"/>
      <p:regular r:id="rId23"/>
      <p:bold r:id="rId24"/>
      <p:italic r:id="rId25"/>
      <p:boldItalic r:id="rId26"/>
    </p:embeddedFont>
    <p:embeddedFont>
      <p:font typeface="Meiryo" panose="020B0604030504040204" pitchFamily="34" charset="-128"/>
      <p:regular r:id="rId27"/>
      <p:bold r:id="rId28"/>
      <p:italic r:id="rId29"/>
      <p:boldItalic r:id="rId30"/>
    </p:embeddedFont>
    <p:embeddedFont>
      <p:font typeface="Tahoma" panose="020B0604030504040204" pitchFamily="34" charset="0"/>
      <p:regular r:id="rId31"/>
      <p:bold r:id="rId32"/>
    </p:embeddedFont>
  </p:embeddedFont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65" d="100"/>
          <a:sy n="165" d="100"/>
        </p:scale>
        <p:origin x="788" y="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ts val="685"/>
              </a:lnSpc>
            </a:pPr>
            <a:r>
              <a:rPr b="0" spc="-10" dirty="0">
                <a:latin typeface="Century Gothic"/>
                <a:cs typeface="Century Gothic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/>
                <a:cs typeface="Century Gothic"/>
              </a:rPr>
              <a:t>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ts val="685"/>
              </a:lnSpc>
            </a:pPr>
            <a:r>
              <a:rPr b="0" spc="-10" dirty="0">
                <a:latin typeface="Century Gothic"/>
                <a:cs typeface="Century Gothic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/>
                <a:cs typeface="Century Gothic"/>
              </a:rPr>
              <a:t>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ts val="685"/>
              </a:lnSpc>
            </a:pPr>
            <a:r>
              <a:rPr b="0" spc="-10" dirty="0">
                <a:latin typeface="Century Gothic"/>
                <a:cs typeface="Century Gothic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/>
                <a:cs typeface="Century Gothic"/>
              </a:rPr>
              <a:t>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ts val="685"/>
              </a:lnSpc>
            </a:pPr>
            <a:r>
              <a:rPr b="0" spc="-10" dirty="0">
                <a:latin typeface="Century Gothic"/>
                <a:cs typeface="Century Gothic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/>
                <a:cs typeface="Century Gothic"/>
              </a:rPr>
              <a:t>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ts val="685"/>
              </a:lnSpc>
            </a:pPr>
            <a:r>
              <a:rPr b="0" spc="-10" dirty="0">
                <a:latin typeface="Century Gothic"/>
                <a:cs typeface="Century Gothic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/>
                <a:cs typeface="Century Gothic"/>
              </a:rPr>
              <a:t>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9013" y="1159915"/>
            <a:ext cx="1192072" cy="403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7292" y="702880"/>
            <a:ext cx="4355515" cy="2198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6663" y="3350342"/>
            <a:ext cx="543560" cy="10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ts val="685"/>
              </a:lnSpc>
            </a:pPr>
            <a:r>
              <a:rPr b="0" spc="-10" dirty="0">
                <a:latin typeface="Century Gothic"/>
                <a:cs typeface="Century Gothic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/>
                <a:cs typeface="Century Gothic"/>
              </a:rPr>
              <a:t>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46918" y="3351784"/>
            <a:ext cx="30670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slide" Target="slide1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slide" Target="slide17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863840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7743" y="908262"/>
            <a:ext cx="4483735" cy="599440"/>
            <a:chOff x="87743" y="908262"/>
            <a:chExt cx="4483735" cy="5994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405877"/>
              <a:ext cx="101599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393177"/>
              <a:ext cx="4381715" cy="114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310" y="914400"/>
              <a:ext cx="50749" cy="49147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908262"/>
              <a:ext cx="4432935" cy="548640"/>
            </a:xfrm>
            <a:custGeom>
              <a:avLst/>
              <a:gdLst/>
              <a:ahLst/>
              <a:cxnLst/>
              <a:rect l="l" t="t" r="r" b="b"/>
              <a:pathLst>
                <a:path w="4432935" h="548640">
                  <a:moveTo>
                    <a:pt x="4432566" y="0"/>
                  </a:moveTo>
                  <a:lnTo>
                    <a:pt x="0" y="0"/>
                  </a:lnTo>
                  <a:lnTo>
                    <a:pt x="0" y="497614"/>
                  </a:lnTo>
                  <a:lnTo>
                    <a:pt x="4008" y="517339"/>
                  </a:lnTo>
                  <a:lnTo>
                    <a:pt x="14922" y="533492"/>
                  </a:lnTo>
                  <a:lnTo>
                    <a:pt x="31075" y="544406"/>
                  </a:lnTo>
                  <a:lnTo>
                    <a:pt x="50800" y="548414"/>
                  </a:lnTo>
                  <a:lnTo>
                    <a:pt x="4381765" y="548414"/>
                  </a:lnTo>
                  <a:lnTo>
                    <a:pt x="4401490" y="544406"/>
                  </a:lnTo>
                  <a:lnTo>
                    <a:pt x="4417643" y="533492"/>
                  </a:lnTo>
                  <a:lnTo>
                    <a:pt x="4428558" y="517339"/>
                  </a:lnTo>
                  <a:lnTo>
                    <a:pt x="4432566" y="497614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10" y="952500"/>
              <a:ext cx="0" cy="472440"/>
            </a:xfrm>
            <a:custGeom>
              <a:avLst/>
              <a:gdLst/>
              <a:ahLst/>
              <a:cxnLst/>
              <a:rect l="l" t="t" r="r" b="b"/>
              <a:pathLst>
                <a:path h="472440">
                  <a:moveTo>
                    <a:pt x="0" y="47242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0" y="9397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270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143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23850" y="860791"/>
            <a:ext cx="4114799" cy="318677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Formal</a:t>
            </a:r>
            <a:r>
              <a:rPr sz="16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ahoma"/>
                <a:cs typeface="Tahoma"/>
              </a:rPr>
              <a:t>Methods</a:t>
            </a:r>
            <a:r>
              <a:rPr lang="en-US" sz="1600" spc="-10" dirty="0">
                <a:solidFill>
                  <a:srgbClr val="FFFFFF"/>
                </a:solidFill>
                <a:latin typeface="Tahoma"/>
                <a:cs typeface="Tahoma"/>
              </a:rPr>
              <a:t> in Software Engineering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xfrm>
            <a:off x="536663" y="3350342"/>
            <a:ext cx="54356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50" dirty="0">
                <a:latin typeface="Century Gothic"/>
                <a:cs typeface="Century Gothic"/>
              </a:rPr>
              <a:t>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/>
                <a:cs typeface="Century Gothic"/>
                <a:hlinkClick r:id="rId5" action="ppaction://hlinksldjump"/>
              </a:rPr>
              <a:t>FMSE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87253" y="3351784"/>
            <a:ext cx="2660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dirty="0">
                <a:solidFill>
                  <a:srgbClr val="FFFFFF"/>
                </a:solidFill>
                <a:latin typeface="Century Gothic"/>
                <a:cs typeface="Century Gothic"/>
              </a:rPr>
              <a:t>1</a:t>
            </a:fld>
            <a:r>
              <a:rPr sz="600" spc="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600" spc="55" dirty="0">
                <a:solidFill>
                  <a:srgbClr val="FFFFFF"/>
                </a:solidFill>
                <a:latin typeface="Century Gothic"/>
                <a:cs typeface="Century Gothic"/>
              </a:rPr>
              <a:t>/</a:t>
            </a:r>
            <a:r>
              <a:rPr sz="600" spc="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600" spc="-35" dirty="0">
                <a:solidFill>
                  <a:srgbClr val="FFFFFF"/>
                </a:solidFill>
                <a:latin typeface="Century Gothic"/>
                <a:cs typeface="Century Gothic"/>
              </a:rPr>
              <a:t>23</a:t>
            </a:r>
            <a:endParaRPr sz="600">
              <a:latin typeface="Century Gothic"/>
              <a:cs typeface="Century Gothic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3011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0" dirty="0">
                <a:solidFill>
                  <a:srgbClr val="FFFFFF"/>
                </a:solidFill>
                <a:latin typeface="Tahoma"/>
                <a:cs typeface="Tahoma"/>
              </a:rPr>
              <a:t>First</a:t>
            </a:r>
            <a:r>
              <a:rPr sz="1400" b="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0" spc="-20" dirty="0">
                <a:solidFill>
                  <a:srgbClr val="FFFFFF"/>
                </a:solidFill>
                <a:latin typeface="Tahoma"/>
                <a:cs typeface="Tahoma"/>
              </a:rPr>
              <a:t>Order</a:t>
            </a:r>
            <a:r>
              <a:rPr sz="1400" b="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0" spc="-10" dirty="0">
                <a:solidFill>
                  <a:srgbClr val="FFFFFF"/>
                </a:solidFill>
                <a:latin typeface="Tahoma"/>
                <a:cs typeface="Tahoma"/>
              </a:rPr>
              <a:t>Logic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86320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27292" y="702880"/>
            <a:ext cx="4355515" cy="21983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88290" marR="271780" algn="just">
              <a:lnSpc>
                <a:spcPct val="102600"/>
              </a:lnSpc>
              <a:spcBef>
                <a:spcPts val="55"/>
              </a:spcBef>
            </a:pP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Philosophers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55" dirty="0">
                <a:latin typeface="Arial" panose="020B0604020202020204" pitchFamily="34" charset="0"/>
                <a:cs typeface="Arial" panose="020B0604020202020204" pitchFamily="34" charset="0"/>
              </a:rPr>
              <a:t>have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50" dirty="0">
                <a:latin typeface="Arial" panose="020B0604020202020204" pitchFamily="34" charset="0"/>
                <a:cs typeface="Arial" panose="020B0604020202020204" pitchFamily="34" charset="0"/>
              </a:rPr>
              <a:t>developed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First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Order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Logic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55" dirty="0">
                <a:latin typeface="Arial" panose="020B0604020202020204" pitchFamily="34" charset="0"/>
                <a:cs typeface="Arial" panose="020B0604020202020204" pitchFamily="34" charset="0"/>
              </a:rPr>
              <a:t>overcome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limitations</a:t>
            </a:r>
            <a:r>
              <a:rPr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propositional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logic.</a:t>
            </a:r>
            <a:r>
              <a:rPr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Actually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First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Order</a:t>
            </a:r>
            <a:r>
              <a:rPr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Logic</a:t>
            </a:r>
            <a:r>
              <a:rPr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spc="-4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advanced</a:t>
            </a:r>
            <a:r>
              <a:rPr spc="-3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4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</a:t>
            </a:r>
            <a:r>
              <a:rPr spc="-3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pc="-3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3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propositional</a:t>
            </a:r>
            <a:r>
              <a:rPr spc="-3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75590" algn="just">
              <a:lnSpc>
                <a:spcPct val="100000"/>
              </a:lnSpc>
              <a:spcBef>
                <a:spcPts val="25"/>
              </a:spcBef>
            </a:pPr>
            <a:endParaRPr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8290" marR="5080" algn="just">
              <a:lnSpc>
                <a:spcPct val="102600"/>
              </a:lnSpc>
            </a:pP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Its </a:t>
            </a:r>
            <a:r>
              <a:rPr spc="-4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  <a:r>
              <a:rPr spc="-3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pc="-35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4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  <a:r>
              <a:rPr spc="-3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usually </a:t>
            </a:r>
            <a:r>
              <a:rPr spc="-50" dirty="0">
                <a:latin typeface="Arial" panose="020B0604020202020204" pitchFamily="34" charset="0"/>
                <a:cs typeface="Arial" panose="020B0604020202020204" pitchFamily="34" charset="0"/>
              </a:rPr>
              <a:t>very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50" dirty="0">
                <a:latin typeface="Arial" panose="020B0604020202020204" pitchFamily="34" charset="0"/>
                <a:cs typeface="Arial" panose="020B0604020202020204" pitchFamily="34" charset="0"/>
              </a:rPr>
              <a:t>large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 and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infinite,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distinguished from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propositional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logic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65" dirty="0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its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75" dirty="0"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quantified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variables.</a:t>
            </a:r>
          </a:p>
          <a:p>
            <a:pPr marL="275590" algn="just">
              <a:lnSpc>
                <a:spcPct val="100000"/>
              </a:lnSpc>
              <a:spcBef>
                <a:spcPts val="25"/>
              </a:spcBef>
            </a:pPr>
            <a:endParaRPr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8290" marR="77470" algn="just">
              <a:lnSpc>
                <a:spcPct val="102600"/>
              </a:lnSpc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additionally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55" dirty="0">
                <a:latin typeface="Arial" panose="020B0604020202020204" pitchFamily="34" charset="0"/>
                <a:cs typeface="Arial" panose="020B0604020202020204" pitchFamily="34" charset="0"/>
              </a:rPr>
              <a:t>covers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spc="-45" dirty="0">
                <a:solidFill>
                  <a:srgbClr val="8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predicates</a:t>
            </a:r>
            <a:r>
              <a:rPr spc="-45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which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70" dirty="0">
                <a:latin typeface="Arial" panose="020B0604020202020204" pitchFamily="34" charset="0"/>
                <a:cs typeface="Arial" panose="020B0604020202020204" pitchFamily="34" charset="0"/>
              </a:rPr>
              <a:t>resembles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that </a:t>
            </a:r>
            <a:r>
              <a:rPr spc="-50" dirty="0">
                <a:latin typeface="Arial" panose="020B0604020202020204" pitchFamily="34" charset="0"/>
                <a:cs typeface="Arial" panose="020B0604020202020204" pitchFamily="34" charset="0"/>
              </a:rPr>
              <a:t>may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either</a:t>
            </a:r>
            <a:r>
              <a:rPr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false.</a:t>
            </a:r>
          </a:p>
          <a:p>
            <a:pPr marL="275590" algn="just">
              <a:lnSpc>
                <a:spcPct val="100000"/>
              </a:lnSpc>
              <a:spcBef>
                <a:spcPts val="25"/>
              </a:spcBef>
            </a:pPr>
            <a:endParaRPr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8290" marR="5715" algn="just">
              <a:lnSpc>
                <a:spcPct val="102600"/>
              </a:lnSpc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First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Order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Logic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4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</a:t>
            </a:r>
            <a:r>
              <a:rPr spc="-3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5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reasoning</a:t>
            </a:r>
            <a:r>
              <a:rPr spc="-25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</a:t>
            </a:r>
            <a:r>
              <a:rPr spc="-3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4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properties</a:t>
            </a:r>
            <a:r>
              <a:rPr spc="-3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60" dirty="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65" dirty="0">
                <a:latin typeface="Arial" panose="020B0604020202020204" pitchFamily="34" charset="0"/>
                <a:cs typeface="Arial" panose="020B0604020202020204" pitchFamily="34" charset="0"/>
              </a:rPr>
              <a:t>shared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  <a:r>
              <a:rPr spc="-45" dirty="0">
                <a:latin typeface="Arial" panose="020B0604020202020204" pitchFamily="34" charset="0"/>
                <a:cs typeface="Arial" panose="020B0604020202020204" pitchFamily="34" charset="0"/>
              </a:rPr>
              <a:t>many 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objects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through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65" dirty="0"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variables.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12582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2066759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620949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/>
                <a:cs typeface="Century Gothic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/>
                <a:cs typeface="Century Gothic"/>
              </a:rPr>
              <a:t>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/>
                <a:cs typeface="Century Gothic"/>
                <a:hlinkClick r:id="rId5" action="ppaction://hlinksldjump"/>
              </a:rPr>
              <a:t>FMSE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87253" y="3351784"/>
            <a:ext cx="2660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fld>
            <a:r>
              <a:rPr sz="600" spc="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600" spc="55" dirty="0">
                <a:solidFill>
                  <a:srgbClr val="FFFFFF"/>
                </a:solidFill>
                <a:latin typeface="Century Gothic"/>
                <a:cs typeface="Century Gothic"/>
              </a:rPr>
              <a:t>/</a:t>
            </a:r>
            <a:r>
              <a:rPr sz="600" spc="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600" spc="-35" dirty="0">
                <a:solidFill>
                  <a:srgbClr val="FFFFFF"/>
                </a:solidFill>
                <a:latin typeface="Century Gothic"/>
                <a:cs typeface="Century Gothic"/>
              </a:rPr>
              <a:t>23</a:t>
            </a:r>
            <a:endParaRPr sz="600">
              <a:latin typeface="Century Gothic"/>
              <a:cs typeface="Century Gothic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7158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0" dirty="0">
                <a:solidFill>
                  <a:srgbClr val="FFFFFF"/>
                </a:solidFill>
                <a:latin typeface="Tahoma"/>
                <a:cs typeface="Tahoma"/>
              </a:rPr>
              <a:t>First</a:t>
            </a:r>
            <a:r>
              <a:rPr sz="1400" b="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0" spc="-20" dirty="0">
                <a:solidFill>
                  <a:srgbClr val="FFFFFF"/>
                </a:solidFill>
                <a:latin typeface="Tahoma"/>
                <a:cs typeface="Tahoma"/>
              </a:rPr>
              <a:t>Order</a:t>
            </a:r>
            <a:r>
              <a:rPr sz="1400" b="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0" dirty="0">
                <a:solidFill>
                  <a:srgbClr val="FFFFFF"/>
                </a:solidFill>
                <a:latin typeface="Tahoma"/>
                <a:cs typeface="Tahoma"/>
              </a:rPr>
              <a:t>Logic</a:t>
            </a:r>
            <a:r>
              <a:rPr sz="1400" b="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0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400" b="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0" spc="-20" dirty="0">
                <a:solidFill>
                  <a:srgbClr val="FFFFFF"/>
                </a:solidFill>
                <a:latin typeface="Tahoma"/>
                <a:cs typeface="Tahoma"/>
              </a:rPr>
              <a:t>Predicate</a:t>
            </a:r>
            <a:r>
              <a:rPr sz="1400" b="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0" spc="-10" dirty="0">
                <a:solidFill>
                  <a:srgbClr val="FFFFFF"/>
                </a:solidFill>
                <a:latin typeface="Tahoma"/>
                <a:cs typeface="Tahoma"/>
              </a:rPr>
              <a:t>Logic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39978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629" rIns="0" bIns="0" rtlCol="0">
            <a:spAutoFit/>
          </a:bodyPr>
          <a:lstStyle/>
          <a:p>
            <a:pPr marL="288290" marR="83820">
              <a:lnSpc>
                <a:spcPct val="102600"/>
              </a:lnSpc>
              <a:spcBef>
                <a:spcPts val="55"/>
              </a:spcBef>
            </a:pPr>
            <a:r>
              <a:rPr spc="-60" dirty="0"/>
              <a:t>In</a:t>
            </a:r>
            <a:r>
              <a:rPr spc="-30" dirty="0"/>
              <a:t> </a:t>
            </a:r>
            <a:r>
              <a:rPr spc="-20" dirty="0"/>
              <a:t>traditional</a:t>
            </a:r>
            <a:r>
              <a:rPr spc="-60" dirty="0"/>
              <a:t> </a:t>
            </a:r>
            <a:r>
              <a:rPr spc="-45" dirty="0"/>
              <a:t>grammar,</a:t>
            </a:r>
            <a:r>
              <a:rPr spc="-3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40" dirty="0">
                <a:solidFill>
                  <a:srgbClr val="0000FF"/>
                </a:solidFill>
              </a:rPr>
              <a:t>predicate</a:t>
            </a:r>
            <a:r>
              <a:rPr spc="-35" dirty="0">
                <a:solidFill>
                  <a:srgbClr val="0000FF"/>
                </a:solidFill>
              </a:rPr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spc="-65" dirty="0"/>
              <a:t>one</a:t>
            </a:r>
            <a:r>
              <a:rPr spc="-2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20" dirty="0"/>
              <a:t>the</a:t>
            </a:r>
            <a:r>
              <a:rPr spc="-35" dirty="0"/>
              <a:t> </a:t>
            </a:r>
            <a:r>
              <a:rPr spc="-40" dirty="0"/>
              <a:t>two </a:t>
            </a:r>
            <a:r>
              <a:rPr spc="-20" dirty="0"/>
              <a:t>main</a:t>
            </a:r>
            <a:r>
              <a:rPr spc="-35" dirty="0"/>
              <a:t> </a:t>
            </a:r>
            <a:r>
              <a:rPr spc="-30" dirty="0"/>
              <a:t>parts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50" dirty="0"/>
              <a:t>a </a:t>
            </a:r>
            <a:r>
              <a:rPr spc="-55" dirty="0"/>
              <a:t>sentence</a:t>
            </a:r>
            <a:r>
              <a:rPr spc="-35" dirty="0"/>
              <a:t> </a:t>
            </a:r>
            <a:r>
              <a:rPr spc="-20" dirty="0"/>
              <a:t>the</a:t>
            </a:r>
            <a:r>
              <a:rPr spc="-55" dirty="0"/>
              <a:t> </a:t>
            </a:r>
            <a:r>
              <a:rPr spc="-30" dirty="0"/>
              <a:t>other</a:t>
            </a:r>
            <a:r>
              <a:rPr spc="-40" dirty="0"/>
              <a:t> </a:t>
            </a:r>
            <a:r>
              <a:rPr spc="-30" dirty="0"/>
              <a:t>being</a:t>
            </a:r>
            <a:r>
              <a:rPr spc="-45" dirty="0"/>
              <a:t> </a:t>
            </a:r>
            <a:r>
              <a:rPr spc="-10" dirty="0"/>
              <a:t>the</a:t>
            </a:r>
            <a:r>
              <a:rPr spc="-40" dirty="0"/>
              <a:t> subject,</a:t>
            </a:r>
            <a:r>
              <a:rPr spc="-45" dirty="0"/>
              <a:t> </a:t>
            </a:r>
            <a:r>
              <a:rPr spc="-25" dirty="0"/>
              <a:t>which</a:t>
            </a:r>
            <a:r>
              <a:rPr spc="-40" dirty="0"/>
              <a:t> </a:t>
            </a:r>
            <a:r>
              <a:rPr spc="-10" dirty="0"/>
              <a:t>the</a:t>
            </a:r>
            <a:r>
              <a:rPr spc="-45" dirty="0"/>
              <a:t> </a:t>
            </a:r>
            <a:r>
              <a:rPr spc="-40" dirty="0"/>
              <a:t>predicate </a:t>
            </a:r>
            <a:r>
              <a:rPr spc="-10" dirty="0"/>
              <a:t>modifies.</a:t>
            </a:r>
          </a:p>
          <a:p>
            <a:pPr marL="275590">
              <a:lnSpc>
                <a:spcPct val="100000"/>
              </a:lnSpc>
              <a:spcBef>
                <a:spcPts val="25"/>
              </a:spcBef>
            </a:pPr>
            <a:endParaRPr sz="1350"/>
          </a:p>
          <a:p>
            <a:pPr marL="288290" marR="531495">
              <a:lnSpc>
                <a:spcPct val="102600"/>
              </a:lnSpc>
            </a:pPr>
            <a:r>
              <a:rPr dirty="0"/>
              <a:t>“Sky</a:t>
            </a:r>
            <a:r>
              <a:rPr spc="-4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blue”</a:t>
            </a:r>
            <a:r>
              <a:rPr spc="-35" dirty="0"/>
              <a:t> </a:t>
            </a:r>
            <a:r>
              <a:rPr dirty="0"/>
              <a:t>Sky</a:t>
            </a:r>
            <a:r>
              <a:rPr spc="-35" dirty="0"/>
              <a:t> </a:t>
            </a:r>
            <a:r>
              <a:rPr spc="-20" dirty="0"/>
              <a:t>acts</a:t>
            </a:r>
            <a:r>
              <a:rPr spc="-35" dirty="0"/>
              <a:t> </a:t>
            </a:r>
            <a:r>
              <a:rPr spc="-30" dirty="0"/>
              <a:t>as</a:t>
            </a:r>
            <a:r>
              <a:rPr spc="-35" dirty="0"/>
              <a:t> </a:t>
            </a:r>
            <a:r>
              <a:rPr spc="-20" dirty="0"/>
              <a:t>the</a:t>
            </a:r>
            <a:r>
              <a:rPr spc="-40" dirty="0"/>
              <a:t> </a:t>
            </a:r>
            <a:r>
              <a:rPr spc="-40" dirty="0">
                <a:solidFill>
                  <a:srgbClr val="0000FF"/>
                </a:solidFill>
              </a:rPr>
              <a:t>subject</a:t>
            </a:r>
            <a:r>
              <a:rPr spc="-40" dirty="0"/>
              <a:t>,</a:t>
            </a:r>
            <a:r>
              <a:rPr spc="-35" dirty="0"/>
              <a:t> and </a:t>
            </a:r>
            <a:r>
              <a:rPr dirty="0"/>
              <a:t>is</a:t>
            </a:r>
            <a:r>
              <a:rPr spc="-35" dirty="0"/>
              <a:t> blue</a:t>
            </a:r>
            <a:r>
              <a:rPr spc="-40" dirty="0"/>
              <a:t> </a:t>
            </a:r>
            <a:r>
              <a:rPr spc="-20" dirty="0"/>
              <a:t>acts</a:t>
            </a:r>
            <a:r>
              <a:rPr spc="-35" dirty="0"/>
              <a:t> </a:t>
            </a:r>
            <a:r>
              <a:rPr spc="-30" dirty="0"/>
              <a:t>as</a:t>
            </a:r>
            <a:r>
              <a:rPr spc="-35" dirty="0"/>
              <a:t> </a:t>
            </a:r>
            <a:r>
              <a:rPr spc="-25" dirty="0"/>
              <a:t>the </a:t>
            </a:r>
            <a:r>
              <a:rPr spc="-10" dirty="0">
                <a:solidFill>
                  <a:srgbClr val="FF0000"/>
                </a:solidFill>
              </a:rPr>
              <a:t>predicate</a:t>
            </a:r>
            <a:r>
              <a:rPr spc="-10" dirty="0"/>
              <a:t>.</a:t>
            </a:r>
          </a:p>
          <a:p>
            <a:pPr marL="275590">
              <a:lnSpc>
                <a:spcPct val="100000"/>
              </a:lnSpc>
              <a:spcBef>
                <a:spcPts val="25"/>
              </a:spcBef>
            </a:pPr>
            <a:endParaRPr spc="-10" dirty="0"/>
          </a:p>
          <a:p>
            <a:pPr marL="288290" marR="1673225">
              <a:lnSpc>
                <a:spcPct val="125299"/>
              </a:lnSpc>
            </a:pPr>
            <a:r>
              <a:rPr spc="-10" dirty="0"/>
              <a:t>Brother(Ali,</a:t>
            </a:r>
            <a:r>
              <a:rPr spc="-5" dirty="0"/>
              <a:t> </a:t>
            </a:r>
            <a:r>
              <a:rPr spc="-20" dirty="0"/>
              <a:t>Ahmad),</a:t>
            </a:r>
            <a:r>
              <a:rPr spc="-5" dirty="0"/>
              <a:t> </a:t>
            </a:r>
            <a:r>
              <a:rPr spc="-35" dirty="0"/>
              <a:t>lessThan(2,</a:t>
            </a:r>
            <a:r>
              <a:rPr dirty="0"/>
              <a:t> </a:t>
            </a:r>
            <a:r>
              <a:rPr spc="-25" dirty="0"/>
              <a:t>3)</a:t>
            </a:r>
            <a:r>
              <a:rPr spc="40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-40" dirty="0"/>
              <a:t>predicate </a:t>
            </a:r>
            <a:r>
              <a:rPr dirty="0"/>
              <a:t>is</a:t>
            </a:r>
            <a:r>
              <a:rPr spc="-40" dirty="0"/>
              <a:t> </a:t>
            </a:r>
            <a:r>
              <a:rPr spc="-30" dirty="0"/>
              <a:t>much</a:t>
            </a:r>
            <a:r>
              <a:rPr spc="-40" dirty="0"/>
              <a:t> </a:t>
            </a:r>
            <a:r>
              <a:rPr spc="-10" dirty="0"/>
              <a:t>like</a:t>
            </a:r>
            <a:r>
              <a:rPr spc="-4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spc="-50" dirty="0">
                <a:solidFill>
                  <a:srgbClr val="FF0000"/>
                </a:solidFill>
              </a:rPr>
              <a:t>verb</a:t>
            </a:r>
            <a:r>
              <a:rPr spc="-40" dirty="0">
                <a:solidFill>
                  <a:srgbClr val="FF0000"/>
                </a:solidFill>
              </a:rPr>
              <a:t> </a:t>
            </a:r>
            <a:r>
              <a:rPr spc="-50" dirty="0">
                <a:solidFill>
                  <a:srgbClr val="FF0000"/>
                </a:solidFill>
              </a:rPr>
              <a:t>phrase</a:t>
            </a:r>
            <a:r>
              <a:rPr spc="-50" dirty="0"/>
              <a:t>.</a:t>
            </a:r>
          </a:p>
          <a:p>
            <a:pPr marL="275590">
              <a:lnSpc>
                <a:spcPct val="100000"/>
              </a:lnSpc>
              <a:spcBef>
                <a:spcPts val="25"/>
              </a:spcBef>
            </a:pPr>
            <a:endParaRPr sz="1350"/>
          </a:p>
          <a:p>
            <a:pPr marL="288290" marR="5080">
              <a:lnSpc>
                <a:spcPct val="102600"/>
              </a:lnSpc>
            </a:pPr>
            <a:r>
              <a:rPr spc="-85" dirty="0"/>
              <a:t>In</a:t>
            </a:r>
            <a:r>
              <a:rPr spc="-5" dirty="0"/>
              <a:t> </a:t>
            </a:r>
            <a:r>
              <a:rPr spc="-20" dirty="0"/>
              <a:t>linguistic</a:t>
            </a:r>
            <a:r>
              <a:rPr spc="-65" dirty="0"/>
              <a:t> </a:t>
            </a:r>
            <a:r>
              <a:rPr spc="-45" dirty="0"/>
              <a:t>semantics,</a:t>
            </a:r>
            <a:r>
              <a:rPr spc="-4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40" dirty="0"/>
              <a:t>predicate</a:t>
            </a:r>
            <a:r>
              <a:rPr spc="-30" dirty="0"/>
              <a:t> </a:t>
            </a:r>
            <a:r>
              <a:rPr dirty="0"/>
              <a:t>is</a:t>
            </a:r>
            <a:r>
              <a:rPr spc="-30" dirty="0"/>
              <a:t> an</a:t>
            </a:r>
            <a:r>
              <a:rPr spc="-35" dirty="0"/>
              <a:t> </a:t>
            </a:r>
            <a:r>
              <a:rPr spc="-60" dirty="0"/>
              <a:t>expression</a:t>
            </a:r>
            <a:r>
              <a:rPr spc="-25" dirty="0"/>
              <a:t> </a:t>
            </a:r>
            <a:r>
              <a:rPr dirty="0"/>
              <a:t>that</a:t>
            </a:r>
            <a:r>
              <a:rPr spc="-30" dirty="0"/>
              <a:t> </a:t>
            </a:r>
            <a:r>
              <a:rPr spc="-35" dirty="0"/>
              <a:t>can be</a:t>
            </a:r>
            <a:r>
              <a:rPr spc="-30" dirty="0"/>
              <a:t> </a:t>
            </a:r>
            <a:r>
              <a:rPr spc="-35" dirty="0"/>
              <a:t>true </a:t>
            </a:r>
            <a:r>
              <a:rPr spc="-25" dirty="0"/>
              <a:t>of </a:t>
            </a:r>
            <a:r>
              <a:rPr spc="-10" dirty="0"/>
              <a:t>something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94155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948332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2158365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540469"/>
            <a:ext cx="65265" cy="65265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/>
                <a:cs typeface="Century Gothic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/>
                <a:cs typeface="Century Gothic"/>
              </a:rPr>
              <a:t>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/>
                <a:cs typeface="Century Gothic"/>
                <a:hlinkClick r:id="rId6" action="ppaction://hlinksldjump"/>
              </a:rPr>
              <a:t>FMSE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87253" y="3351784"/>
            <a:ext cx="2660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dirty="0">
                <a:solidFill>
                  <a:srgbClr val="FFFFFF"/>
                </a:solidFill>
                <a:latin typeface="Century Gothic"/>
                <a:cs typeface="Century Gothic"/>
              </a:rPr>
              <a:t>3</a:t>
            </a:fld>
            <a:r>
              <a:rPr sz="600" spc="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600" spc="55" dirty="0">
                <a:solidFill>
                  <a:srgbClr val="FFFFFF"/>
                </a:solidFill>
                <a:latin typeface="Century Gothic"/>
                <a:cs typeface="Century Gothic"/>
              </a:rPr>
              <a:t>/</a:t>
            </a:r>
            <a:r>
              <a:rPr sz="600" spc="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600" spc="-35" dirty="0">
                <a:solidFill>
                  <a:srgbClr val="FFFFFF"/>
                </a:solidFill>
                <a:latin typeface="Century Gothic"/>
                <a:cs typeface="Century Gothic"/>
              </a:rPr>
              <a:t>23</a:t>
            </a:r>
            <a:endParaRPr sz="600">
              <a:latin typeface="Century Gothic"/>
              <a:cs typeface="Century Gothic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3011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0" dirty="0">
                <a:solidFill>
                  <a:srgbClr val="FFFFFF"/>
                </a:solidFill>
                <a:latin typeface="Tahoma"/>
                <a:cs typeface="Tahoma"/>
              </a:rPr>
              <a:t>First</a:t>
            </a:r>
            <a:r>
              <a:rPr sz="1400" b="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0" spc="-20" dirty="0">
                <a:solidFill>
                  <a:srgbClr val="FFFFFF"/>
                </a:solidFill>
                <a:latin typeface="Tahoma"/>
                <a:cs typeface="Tahoma"/>
              </a:rPr>
              <a:t>Order</a:t>
            </a:r>
            <a:r>
              <a:rPr sz="1400" b="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0" spc="-10" dirty="0">
                <a:solidFill>
                  <a:srgbClr val="FFFFFF"/>
                </a:solidFill>
                <a:latin typeface="Tahoma"/>
                <a:cs typeface="Tahoma"/>
              </a:rPr>
              <a:t>Logic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53135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469695"/>
            <a:ext cx="4058285" cy="27679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25" dirty="0">
                <a:latin typeface="Tahoma"/>
                <a:cs typeface="Tahoma"/>
              </a:rPr>
              <a:t>First-</a:t>
            </a:r>
            <a:r>
              <a:rPr sz="1100" spc="-40" dirty="0">
                <a:latin typeface="Tahoma"/>
                <a:cs typeface="Tahoma"/>
              </a:rPr>
              <a:t>order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logic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(FOL)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logic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speak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about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objects</a:t>
            </a:r>
            <a:r>
              <a:rPr sz="1100" spc="-35" dirty="0">
                <a:latin typeface="Tahoma"/>
                <a:cs typeface="Tahoma"/>
              </a:rPr>
              <a:t>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 are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domain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discourse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(variables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range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over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individuals)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universe.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100" spc="-25" dirty="0">
                <a:latin typeface="Tahoma"/>
                <a:cs typeface="Tahoma"/>
              </a:rPr>
              <a:t>Objects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Example:</a:t>
            </a:r>
            <a:r>
              <a:rPr sz="1100" spc="10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FMSE,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John, </a:t>
            </a:r>
            <a:r>
              <a:rPr sz="1100" spc="-25" dirty="0">
                <a:latin typeface="Tahoma"/>
                <a:cs typeface="Tahoma"/>
              </a:rPr>
              <a:t>CS102,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etc.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00">
              <a:latin typeface="Tahoma"/>
              <a:cs typeface="Tahoma"/>
            </a:endParaRPr>
          </a:p>
          <a:p>
            <a:pPr marL="12700" marR="9525">
              <a:lnSpc>
                <a:spcPct val="102600"/>
              </a:lnSpc>
            </a:pPr>
            <a:r>
              <a:rPr sz="1100" dirty="0">
                <a:latin typeface="Tahoma"/>
                <a:cs typeface="Tahoma"/>
              </a:rPr>
              <a:t>FOL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concerned</a:t>
            </a:r>
            <a:r>
              <a:rPr sz="1100" spc="-20" dirty="0">
                <a:latin typeface="Tahoma"/>
                <a:cs typeface="Tahoma"/>
              </a:rPr>
              <a:t> about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8C0000"/>
                </a:solidFill>
                <a:latin typeface="Tahoma"/>
                <a:cs typeface="Tahoma"/>
              </a:rPr>
              <a:t>properties</a:t>
            </a:r>
            <a:r>
              <a:rPr sz="1100" spc="-25" dirty="0">
                <a:solidFill>
                  <a:srgbClr val="8C0000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these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objects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relations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over </a:t>
            </a:r>
            <a:r>
              <a:rPr sz="1100" spc="-10" dirty="0">
                <a:latin typeface="Tahoma"/>
                <a:cs typeface="Tahoma"/>
              </a:rPr>
              <a:t>objects.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ahoma"/>
              <a:cs typeface="Tahoma"/>
            </a:endParaRPr>
          </a:p>
          <a:p>
            <a:pPr marL="12700" marR="1122680">
              <a:lnSpc>
                <a:spcPct val="110900"/>
              </a:lnSpc>
            </a:pPr>
            <a:r>
              <a:rPr sz="1100" dirty="0">
                <a:latin typeface="Tahoma"/>
                <a:cs typeface="Tahoma"/>
              </a:rPr>
              <a:t>FOL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contains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predicates,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quantifiers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variables. </a:t>
            </a:r>
            <a:r>
              <a:rPr sz="1100" spc="-25" dirty="0">
                <a:latin typeface="Tahoma"/>
                <a:cs typeface="Tahoma"/>
              </a:rPr>
              <a:t>Relations/Predicates</a:t>
            </a:r>
            <a:r>
              <a:rPr sz="1100" spc="-30" dirty="0">
                <a:latin typeface="Tahoma"/>
                <a:cs typeface="Tahoma"/>
              </a:rPr>
              <a:t> Example: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isMan(John), hasClass(FMSE,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CS102),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isKindOf(apple,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fruit)</a:t>
            </a:r>
            <a:endParaRPr sz="1100">
              <a:latin typeface="Tahoma"/>
              <a:cs typeface="Tahoma"/>
            </a:endParaRPr>
          </a:p>
          <a:p>
            <a:pPr marL="12700" marR="616585">
              <a:lnSpc>
                <a:spcPct val="221900"/>
              </a:lnSpc>
            </a:pPr>
            <a:r>
              <a:rPr sz="1100" dirty="0">
                <a:latin typeface="Tahoma"/>
                <a:cs typeface="Tahoma"/>
              </a:rPr>
              <a:t>FOL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functions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including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constants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denote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objects. </a:t>
            </a:r>
            <a:r>
              <a:rPr sz="1100" spc="-40" dirty="0">
                <a:latin typeface="Tahoma"/>
                <a:cs typeface="Tahoma"/>
              </a:rPr>
              <a:t>Example;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Philosopher(a)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i="1" dirty="0">
                <a:latin typeface="Meiryo"/>
                <a:cs typeface="Meiryo"/>
              </a:rPr>
              <a:t>→</a:t>
            </a:r>
            <a:r>
              <a:rPr sz="1100" i="1" spc="-35" dirty="0">
                <a:latin typeface="Meiryo"/>
                <a:cs typeface="Meiryo"/>
              </a:rPr>
              <a:t> </a:t>
            </a:r>
            <a:r>
              <a:rPr sz="1100" spc="-10" dirty="0">
                <a:latin typeface="Tahoma"/>
                <a:cs typeface="Tahoma"/>
              </a:rPr>
              <a:t>Scholar(a)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97203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69186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2013242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2213152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2757208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3129191"/>
            <a:ext cx="65265" cy="65265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/>
                <a:cs typeface="Century Gothic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/>
                <a:cs typeface="Century Gothic"/>
              </a:rPr>
              <a:t>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/>
                <a:cs typeface="Century Gothic"/>
                <a:hlinkClick r:id="rId5" action="ppaction://hlinksldjump"/>
              </a:rPr>
              <a:t>FMSE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87253" y="3351784"/>
            <a:ext cx="2660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dirty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fld>
            <a:r>
              <a:rPr sz="600" spc="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600" spc="55" dirty="0">
                <a:solidFill>
                  <a:srgbClr val="FFFFFF"/>
                </a:solidFill>
                <a:latin typeface="Century Gothic"/>
                <a:cs typeface="Century Gothic"/>
              </a:rPr>
              <a:t>/</a:t>
            </a:r>
            <a:r>
              <a:rPr sz="600" spc="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600" spc="-35" dirty="0">
                <a:solidFill>
                  <a:srgbClr val="FFFFFF"/>
                </a:solidFill>
                <a:latin typeface="Century Gothic"/>
                <a:cs typeface="Century Gothic"/>
              </a:rPr>
              <a:t>23</a:t>
            </a:r>
            <a:endParaRPr sz="600">
              <a:latin typeface="Century Gothic"/>
              <a:cs typeface="Century Gothic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2192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0" dirty="0">
                <a:solidFill>
                  <a:srgbClr val="FFFFFF"/>
                </a:solidFill>
                <a:latin typeface="Tahoma"/>
                <a:cs typeface="Tahoma"/>
              </a:rPr>
              <a:t>FOL</a:t>
            </a:r>
            <a:r>
              <a:rPr sz="1400" b="0" spc="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0" spc="-30" dirty="0">
                <a:solidFill>
                  <a:srgbClr val="FFFFFF"/>
                </a:solidFill>
                <a:latin typeface="Tahoma"/>
                <a:cs typeface="Tahoma"/>
              </a:rPr>
              <a:t>Quantifiers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10463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72336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462138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765808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114994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2342756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2494584"/>
            <a:ext cx="52590" cy="525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2646426"/>
            <a:ext cx="52590" cy="5259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02932" y="827022"/>
            <a:ext cx="2781300" cy="19126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logical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connectives:</a:t>
            </a:r>
            <a:r>
              <a:rPr sz="1100" spc="120" dirty="0">
                <a:latin typeface="Tahoma"/>
                <a:cs typeface="Tahoma"/>
              </a:rPr>
              <a:t> </a:t>
            </a:r>
            <a:r>
              <a:rPr sz="1100" i="1" spc="-90" dirty="0">
                <a:latin typeface="Meiryo"/>
                <a:cs typeface="Meiryo"/>
              </a:rPr>
              <a:t>¬</a:t>
            </a:r>
            <a:r>
              <a:rPr sz="1100" i="1" spc="-9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90" dirty="0">
                <a:latin typeface="Meiryo"/>
                <a:cs typeface="Meiryo"/>
              </a:rPr>
              <a:t>∨</a:t>
            </a:r>
            <a:r>
              <a:rPr sz="1100" i="1" spc="-9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90" dirty="0">
                <a:latin typeface="Meiryo"/>
                <a:cs typeface="Meiryo"/>
              </a:rPr>
              <a:t>∧</a:t>
            </a:r>
            <a:r>
              <a:rPr sz="1100" i="1" spc="-9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10" dirty="0">
                <a:latin typeface="Meiryo"/>
                <a:cs typeface="Meiryo"/>
              </a:rPr>
              <a:t>⇒</a:t>
            </a:r>
            <a:r>
              <a:rPr sz="1100" i="1" spc="-1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⇔</a:t>
            </a:r>
            <a:endParaRPr sz="1100" dirty="0">
              <a:latin typeface="Meiryo"/>
              <a:cs typeface="Meiryo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1100" spc="-10" dirty="0">
                <a:latin typeface="Tahoma"/>
                <a:cs typeface="Tahoma"/>
              </a:rPr>
              <a:t>Quantifiers:</a:t>
            </a:r>
            <a:endParaRPr sz="1100" dirty="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000" spc="-30" dirty="0">
                <a:solidFill>
                  <a:srgbClr val="8C0000"/>
                </a:solidFill>
                <a:latin typeface="Tahoma"/>
                <a:cs typeface="Tahoma"/>
              </a:rPr>
              <a:t>Universal</a:t>
            </a:r>
            <a:r>
              <a:rPr sz="1000" spc="-30" dirty="0">
                <a:latin typeface="Tahoma"/>
                <a:cs typeface="Tahoma"/>
              </a:rPr>
              <a:t>:</a:t>
            </a:r>
            <a:r>
              <a:rPr sz="1000" spc="125" dirty="0">
                <a:latin typeface="Tahoma"/>
                <a:cs typeface="Tahoma"/>
              </a:rPr>
              <a:t> </a:t>
            </a:r>
            <a:r>
              <a:rPr sz="1000" i="1" spc="-254" dirty="0">
                <a:latin typeface="Meiryo"/>
                <a:cs typeface="Meiryo"/>
              </a:rPr>
              <a:t>∀</a:t>
            </a:r>
            <a:r>
              <a:rPr sz="1000" i="1" spc="-254" dirty="0">
                <a:latin typeface="Arial"/>
                <a:cs typeface="Arial"/>
              </a:rPr>
              <a:t>x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,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King(</a:t>
            </a:r>
            <a:r>
              <a:rPr sz="1000" i="1" spc="-10" dirty="0">
                <a:latin typeface="Arial"/>
                <a:cs typeface="Arial"/>
              </a:rPr>
              <a:t>x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i="1" spc="-150" dirty="0">
                <a:latin typeface="Meiryo"/>
                <a:cs typeface="Meiryo"/>
              </a:rPr>
              <a:t>∧</a:t>
            </a:r>
            <a:r>
              <a:rPr sz="1000" i="1" spc="-10" dirty="0">
                <a:latin typeface="Meiryo"/>
                <a:cs typeface="Meiryo"/>
              </a:rPr>
              <a:t> </a:t>
            </a:r>
            <a:r>
              <a:rPr sz="1000" spc="-50" dirty="0">
                <a:latin typeface="Tahoma"/>
                <a:cs typeface="Tahoma"/>
              </a:rPr>
              <a:t>Greedy(</a:t>
            </a:r>
            <a:r>
              <a:rPr sz="1000" i="1" spc="-50" dirty="0">
                <a:latin typeface="Arial"/>
                <a:cs typeface="Arial"/>
              </a:rPr>
              <a:t>x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i="1" dirty="0">
                <a:latin typeface="Meiryo"/>
                <a:cs typeface="Meiryo"/>
              </a:rPr>
              <a:t>⇒</a:t>
            </a:r>
            <a:r>
              <a:rPr sz="1000" i="1" spc="-10" dirty="0">
                <a:latin typeface="Meiryo"/>
                <a:cs typeface="Meiryo"/>
              </a:rPr>
              <a:t> </a:t>
            </a:r>
            <a:r>
              <a:rPr sz="1000" spc="-10" dirty="0">
                <a:latin typeface="Tahoma"/>
                <a:cs typeface="Tahoma"/>
              </a:rPr>
              <a:t>Evil(</a:t>
            </a:r>
            <a:r>
              <a:rPr sz="1000" i="1" spc="-10" dirty="0">
                <a:latin typeface="Arial"/>
                <a:cs typeface="Arial"/>
              </a:rPr>
              <a:t>x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 dirty="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190"/>
              </a:spcBef>
            </a:pPr>
            <a:r>
              <a:rPr sz="1000" spc="-10" dirty="0">
                <a:solidFill>
                  <a:srgbClr val="0000FF"/>
                </a:solidFill>
                <a:latin typeface="Tahoma"/>
                <a:cs typeface="Tahoma"/>
              </a:rPr>
              <a:t>Existential</a:t>
            </a:r>
            <a:r>
              <a:rPr sz="1000" spc="-10" dirty="0">
                <a:latin typeface="Tahoma"/>
                <a:cs typeface="Tahoma"/>
              </a:rPr>
              <a:t>:</a:t>
            </a:r>
            <a:r>
              <a:rPr sz="1000" spc="125" dirty="0">
                <a:latin typeface="Tahoma"/>
                <a:cs typeface="Tahoma"/>
              </a:rPr>
              <a:t> </a:t>
            </a:r>
            <a:r>
              <a:rPr sz="1000" i="1" spc="-254" dirty="0">
                <a:latin typeface="Meiryo"/>
                <a:cs typeface="Meiryo"/>
              </a:rPr>
              <a:t>∃</a:t>
            </a:r>
            <a:r>
              <a:rPr sz="1000" i="1" spc="-254" dirty="0">
                <a:latin typeface="Arial"/>
                <a:cs typeface="Arial"/>
              </a:rPr>
              <a:t>y</a:t>
            </a:r>
            <a:r>
              <a:rPr sz="1000" i="1" spc="105" dirty="0">
                <a:latin typeface="Arial"/>
                <a:cs typeface="Arial"/>
              </a:rPr>
              <a:t> </a:t>
            </a:r>
            <a:r>
              <a:rPr sz="1000" spc="-85" dirty="0">
                <a:latin typeface="Tahoma"/>
                <a:cs typeface="Tahoma"/>
              </a:rPr>
              <a:t>: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(</a:t>
            </a:r>
            <a:r>
              <a:rPr sz="1000" i="1" spc="-45" dirty="0">
                <a:latin typeface="Arial"/>
                <a:cs typeface="Arial"/>
              </a:rPr>
              <a:t>isFather</a:t>
            </a:r>
            <a:r>
              <a:rPr sz="1000" i="1" spc="-175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y,</a:t>
            </a:r>
            <a:r>
              <a:rPr sz="1000" i="1" spc="-114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John</a:t>
            </a:r>
            <a:r>
              <a:rPr sz="1000" spc="-10" dirty="0">
                <a:latin typeface="Tahoma"/>
                <a:cs typeface="Tahoma"/>
              </a:rPr>
              <a:t>))</a:t>
            </a:r>
            <a:endParaRPr sz="1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Tahoma"/>
                <a:cs typeface="Tahoma"/>
              </a:rPr>
              <a:t>Evil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king</a:t>
            </a:r>
            <a:r>
              <a:rPr sz="1100" spc="-30" dirty="0">
                <a:latin typeface="Tahoma"/>
                <a:cs typeface="Tahoma"/>
              </a:rPr>
              <a:t> john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rules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England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1200</a:t>
            </a:r>
            <a:endParaRPr sz="1100" dirty="0">
              <a:latin typeface="Tahoma"/>
              <a:cs typeface="Tahoma"/>
            </a:endParaRPr>
          </a:p>
          <a:p>
            <a:pPr marL="289560" marR="866140">
              <a:lnSpc>
                <a:spcPct val="100000"/>
              </a:lnSpc>
              <a:spcBef>
                <a:spcPts val="475"/>
              </a:spcBef>
            </a:pPr>
            <a:r>
              <a:rPr sz="1000" b="1" spc="-20" dirty="0">
                <a:latin typeface="Gill Sans MT"/>
                <a:cs typeface="Gill Sans MT"/>
              </a:rPr>
              <a:t>Objects</a:t>
            </a:r>
            <a:r>
              <a:rPr sz="1000" spc="-20" dirty="0">
                <a:latin typeface="Tahoma"/>
                <a:cs typeface="Tahoma"/>
              </a:rPr>
              <a:t>: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John,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England,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1200 </a:t>
            </a:r>
            <a:r>
              <a:rPr sz="1000" b="1" spc="-25" dirty="0">
                <a:latin typeface="Gill Sans MT"/>
                <a:cs typeface="Gill Sans MT"/>
              </a:rPr>
              <a:t>Property</a:t>
            </a:r>
            <a:r>
              <a:rPr sz="1000" spc="-25" dirty="0">
                <a:latin typeface="Tahoma"/>
                <a:cs typeface="Tahoma"/>
              </a:rPr>
              <a:t>: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evil,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king</a:t>
            </a:r>
            <a:r>
              <a:rPr sz="1000" spc="200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Gill Sans MT"/>
                <a:cs typeface="Gill Sans MT"/>
              </a:rPr>
              <a:t>Relation</a:t>
            </a:r>
            <a:r>
              <a:rPr sz="1000" spc="-10" dirty="0">
                <a:latin typeface="Tahoma"/>
                <a:cs typeface="Tahoma"/>
              </a:rPr>
              <a:t>:</a:t>
            </a:r>
            <a:r>
              <a:rPr sz="1000" spc="-20" dirty="0">
                <a:latin typeface="Tahoma"/>
                <a:cs typeface="Tahoma"/>
              </a:rPr>
              <a:t> ruled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/>
                <a:cs typeface="Century Gothic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/>
                <a:cs typeface="Century Gothic"/>
              </a:rPr>
              <a:t>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/>
                <a:cs typeface="Century Gothic"/>
                <a:hlinkClick r:id="rId7" action="ppaction://hlinksldjump"/>
              </a:rPr>
              <a:t>FMSE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87253" y="3351784"/>
            <a:ext cx="2660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dirty="0">
                <a:solidFill>
                  <a:srgbClr val="FFFFFF"/>
                </a:solidFill>
                <a:latin typeface="Century Gothic"/>
                <a:cs typeface="Century Gothic"/>
              </a:rPr>
              <a:t>5</a:t>
            </a:fld>
            <a:r>
              <a:rPr sz="600" spc="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600" spc="55" dirty="0">
                <a:solidFill>
                  <a:srgbClr val="FFFFFF"/>
                </a:solidFill>
                <a:latin typeface="Century Gothic"/>
                <a:cs typeface="Century Gothic"/>
              </a:rPr>
              <a:t>/</a:t>
            </a:r>
            <a:r>
              <a:rPr sz="600" spc="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600" spc="-35" dirty="0">
                <a:solidFill>
                  <a:srgbClr val="FFFFFF"/>
                </a:solidFill>
                <a:latin typeface="Century Gothic"/>
                <a:cs typeface="Century Gothic"/>
              </a:rPr>
              <a:t>23</a:t>
            </a:r>
            <a:endParaRPr sz="600">
              <a:latin typeface="Century Gothic"/>
              <a:cs typeface="Century Gothic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8516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0" spc="-25" dirty="0">
                <a:solidFill>
                  <a:srgbClr val="FFFFFF"/>
                </a:solidFill>
                <a:latin typeface="Tahoma"/>
                <a:cs typeface="Tahoma"/>
              </a:rPr>
              <a:t>Properties</a:t>
            </a:r>
            <a:r>
              <a:rPr sz="1400" b="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400" b="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0" spc="-30" dirty="0">
                <a:solidFill>
                  <a:srgbClr val="FFFFFF"/>
                </a:solidFill>
                <a:latin typeface="Tahoma"/>
                <a:cs typeface="Tahoma"/>
              </a:rPr>
              <a:t>Quantifiers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44372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26489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08594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070455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2260269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2563926"/>
            <a:ext cx="52590" cy="5259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2932" y="860931"/>
            <a:ext cx="3738879" cy="17964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4" dirty="0">
                <a:latin typeface="Meiryo"/>
                <a:cs typeface="Meiryo"/>
              </a:rPr>
              <a:t>∀</a:t>
            </a:r>
            <a:r>
              <a:rPr sz="1100" i="1" spc="-254" dirty="0">
                <a:latin typeface="Arial"/>
                <a:cs typeface="Arial"/>
              </a:rPr>
              <a:t>x</a:t>
            </a:r>
            <a:r>
              <a:rPr sz="1100" i="1" spc="-254" dirty="0">
                <a:latin typeface="Meiryo"/>
                <a:cs typeface="Meiryo"/>
              </a:rPr>
              <a:t>∀</a:t>
            </a:r>
            <a:r>
              <a:rPr sz="1100" i="1" spc="-254" dirty="0">
                <a:latin typeface="Arial"/>
                <a:cs typeface="Arial"/>
              </a:rPr>
              <a:t>y</a:t>
            </a:r>
            <a:r>
              <a:rPr sz="1100" i="1" spc="17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same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Meiryo"/>
                <a:cs typeface="Meiryo"/>
              </a:rPr>
              <a:t>∀</a:t>
            </a:r>
            <a:r>
              <a:rPr sz="1100" i="1" spc="-20" dirty="0">
                <a:latin typeface="Arial"/>
                <a:cs typeface="Arial"/>
              </a:rPr>
              <a:t>y</a:t>
            </a:r>
            <a:r>
              <a:rPr sz="1100" i="1" spc="-20" dirty="0">
                <a:latin typeface="Meiryo"/>
                <a:cs typeface="Meiryo"/>
              </a:rPr>
              <a:t>∀</a:t>
            </a:r>
            <a:r>
              <a:rPr sz="1100" i="1" spc="-20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90"/>
              </a:spcBef>
            </a:pPr>
            <a:r>
              <a:rPr sz="1100" i="1" spc="-254" dirty="0">
                <a:latin typeface="Meiryo"/>
                <a:cs typeface="Meiryo"/>
              </a:rPr>
              <a:t>∃</a:t>
            </a:r>
            <a:r>
              <a:rPr sz="1100" i="1" spc="-254" dirty="0">
                <a:latin typeface="Arial"/>
                <a:cs typeface="Arial"/>
              </a:rPr>
              <a:t>x</a:t>
            </a:r>
            <a:r>
              <a:rPr sz="1100" i="1" spc="-254" dirty="0">
                <a:latin typeface="Meiryo"/>
                <a:cs typeface="Meiryo"/>
              </a:rPr>
              <a:t>∃</a:t>
            </a:r>
            <a:r>
              <a:rPr sz="1100" i="1" spc="-254" dirty="0">
                <a:latin typeface="Arial"/>
                <a:cs typeface="Arial"/>
              </a:rPr>
              <a:t>y</a:t>
            </a:r>
            <a:r>
              <a:rPr sz="1100" i="1" spc="17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same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Meiryo"/>
                <a:cs typeface="Meiryo"/>
              </a:rPr>
              <a:t>∃</a:t>
            </a:r>
            <a:r>
              <a:rPr sz="1100" i="1" spc="-20" dirty="0">
                <a:latin typeface="Arial"/>
                <a:cs typeface="Arial"/>
              </a:rPr>
              <a:t>y</a:t>
            </a:r>
            <a:r>
              <a:rPr sz="1100" i="1" spc="-20" dirty="0">
                <a:latin typeface="Meiryo"/>
                <a:cs typeface="Meiryo"/>
              </a:rPr>
              <a:t>∃</a:t>
            </a:r>
            <a:r>
              <a:rPr sz="1100" i="1" spc="-20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1100" i="1" spc="-254" dirty="0">
                <a:latin typeface="Meiryo"/>
                <a:cs typeface="Meiryo"/>
              </a:rPr>
              <a:t>∃</a:t>
            </a:r>
            <a:r>
              <a:rPr sz="1100" i="1" spc="-254" dirty="0">
                <a:latin typeface="Arial"/>
                <a:cs typeface="Arial"/>
              </a:rPr>
              <a:t>x</a:t>
            </a:r>
            <a:r>
              <a:rPr sz="1100" i="1" spc="-254" dirty="0">
                <a:latin typeface="Meiryo"/>
                <a:cs typeface="Meiryo"/>
              </a:rPr>
              <a:t>∀</a:t>
            </a:r>
            <a:r>
              <a:rPr sz="1100" i="1" spc="-254" dirty="0">
                <a:latin typeface="Arial"/>
                <a:cs typeface="Arial"/>
              </a:rPr>
              <a:t>y</a:t>
            </a:r>
            <a:r>
              <a:rPr sz="1100" i="1" spc="17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same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Meiryo"/>
                <a:cs typeface="Meiryo"/>
              </a:rPr>
              <a:t>∀</a:t>
            </a:r>
            <a:r>
              <a:rPr sz="1100" i="1" spc="-20" dirty="0">
                <a:latin typeface="Arial"/>
                <a:cs typeface="Arial"/>
              </a:rPr>
              <a:t>y</a:t>
            </a:r>
            <a:r>
              <a:rPr sz="1100" i="1" spc="-20" dirty="0">
                <a:latin typeface="Meiryo"/>
                <a:cs typeface="Meiryo"/>
              </a:rPr>
              <a:t>∃</a:t>
            </a:r>
            <a:r>
              <a:rPr sz="1100" i="1" spc="-20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1100" b="1" spc="-25" dirty="0">
                <a:latin typeface="Gill Sans MT"/>
                <a:cs typeface="Gill Sans MT"/>
              </a:rPr>
              <a:t>Quantifiers</a:t>
            </a:r>
            <a:r>
              <a:rPr sz="1100" b="1" spc="20" dirty="0">
                <a:latin typeface="Gill Sans MT"/>
                <a:cs typeface="Gill Sans MT"/>
              </a:rPr>
              <a:t> </a:t>
            </a:r>
            <a:r>
              <a:rPr sz="1100" b="1" spc="-10" dirty="0">
                <a:latin typeface="Gill Sans MT"/>
                <a:cs typeface="Gill Sans MT"/>
              </a:rPr>
              <a:t>Daulity</a:t>
            </a:r>
            <a:r>
              <a:rPr sz="1100" spc="-10" dirty="0">
                <a:latin typeface="Tahoma"/>
                <a:cs typeface="Tahoma"/>
              </a:rPr>
              <a:t>: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000" i="1" spc="-254" dirty="0">
                <a:latin typeface="Meiryo"/>
                <a:cs typeface="Meiryo"/>
              </a:rPr>
              <a:t>∀</a:t>
            </a:r>
            <a:r>
              <a:rPr sz="1000" i="1" spc="-254" dirty="0">
                <a:latin typeface="Arial"/>
                <a:cs typeface="Arial"/>
              </a:rPr>
              <a:t>x</a:t>
            </a:r>
            <a:r>
              <a:rPr sz="1000" i="1" spc="150" dirty="0">
                <a:latin typeface="Arial"/>
                <a:cs typeface="Arial"/>
              </a:rPr>
              <a:t> </a:t>
            </a:r>
            <a:r>
              <a:rPr sz="1000" spc="-35" dirty="0">
                <a:latin typeface="Tahoma"/>
                <a:cs typeface="Tahoma"/>
              </a:rPr>
              <a:t>Likes(</a:t>
            </a:r>
            <a:r>
              <a:rPr sz="1000" i="1" spc="-35" dirty="0">
                <a:latin typeface="Arial"/>
                <a:cs typeface="Arial"/>
              </a:rPr>
              <a:t>x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,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IceCream)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i="1" dirty="0">
                <a:latin typeface="Meiryo"/>
                <a:cs typeface="Meiryo"/>
              </a:rPr>
              <a:t>≡ </a:t>
            </a:r>
            <a:r>
              <a:rPr sz="1000" i="1" spc="-180" dirty="0">
                <a:latin typeface="Meiryo"/>
                <a:cs typeface="Meiryo"/>
              </a:rPr>
              <a:t>¬∃</a:t>
            </a:r>
            <a:r>
              <a:rPr sz="1000" i="1" spc="-180" dirty="0">
                <a:latin typeface="Arial"/>
                <a:cs typeface="Arial"/>
              </a:rPr>
              <a:t>x</a:t>
            </a:r>
            <a:r>
              <a:rPr sz="1000" i="1" spc="-180" dirty="0">
                <a:latin typeface="Meiryo"/>
                <a:cs typeface="Meiryo"/>
              </a:rPr>
              <a:t>¬</a:t>
            </a:r>
            <a:r>
              <a:rPr sz="1000" i="1" spc="-5" dirty="0">
                <a:latin typeface="Meiryo"/>
                <a:cs typeface="Meiryo"/>
              </a:rPr>
              <a:t> </a:t>
            </a:r>
            <a:r>
              <a:rPr sz="1000" spc="-35" dirty="0">
                <a:latin typeface="Tahoma"/>
                <a:cs typeface="Tahoma"/>
              </a:rPr>
              <a:t>Likes(</a:t>
            </a:r>
            <a:r>
              <a:rPr sz="1000" i="1" spc="-35" dirty="0">
                <a:latin typeface="Arial"/>
                <a:cs typeface="Arial"/>
              </a:rPr>
              <a:t>x</a:t>
            </a:r>
            <a:r>
              <a:rPr sz="1000" i="1" spc="-185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,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IceCream)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190"/>
              </a:spcBef>
            </a:pPr>
            <a:r>
              <a:rPr sz="1000" i="1" spc="-254" dirty="0">
                <a:latin typeface="Meiryo"/>
                <a:cs typeface="Meiryo"/>
              </a:rPr>
              <a:t>∃</a:t>
            </a:r>
            <a:r>
              <a:rPr sz="1000" i="1" spc="-254" dirty="0">
                <a:latin typeface="Arial"/>
                <a:cs typeface="Arial"/>
              </a:rPr>
              <a:t>x</a:t>
            </a:r>
            <a:r>
              <a:rPr sz="1000" i="1" spc="155" dirty="0">
                <a:latin typeface="Arial"/>
                <a:cs typeface="Arial"/>
              </a:rPr>
              <a:t> </a:t>
            </a:r>
            <a:r>
              <a:rPr sz="1000" spc="-35" dirty="0">
                <a:latin typeface="Tahoma"/>
                <a:cs typeface="Tahoma"/>
              </a:rPr>
              <a:t>Likes(</a:t>
            </a:r>
            <a:r>
              <a:rPr sz="1000" i="1" spc="-35" dirty="0">
                <a:latin typeface="Arial"/>
                <a:cs typeface="Arial"/>
              </a:rPr>
              <a:t>x</a:t>
            </a:r>
            <a:r>
              <a:rPr sz="1000" i="1" spc="-185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,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MangoIceCream)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i="1" dirty="0">
                <a:latin typeface="Meiryo"/>
                <a:cs typeface="Meiryo"/>
              </a:rPr>
              <a:t>≡</a:t>
            </a:r>
            <a:r>
              <a:rPr sz="1000" i="1" spc="5" dirty="0">
                <a:latin typeface="Meiryo"/>
                <a:cs typeface="Meiryo"/>
              </a:rPr>
              <a:t> </a:t>
            </a:r>
            <a:r>
              <a:rPr sz="1000" i="1" spc="-180" dirty="0">
                <a:latin typeface="Meiryo"/>
                <a:cs typeface="Meiryo"/>
              </a:rPr>
              <a:t>¬∀</a:t>
            </a:r>
            <a:r>
              <a:rPr sz="1000" i="1" spc="-180" dirty="0">
                <a:latin typeface="Arial"/>
                <a:cs typeface="Arial"/>
              </a:rPr>
              <a:t>x</a:t>
            </a:r>
            <a:r>
              <a:rPr sz="1000" i="1" spc="-180" dirty="0">
                <a:latin typeface="Meiryo"/>
                <a:cs typeface="Meiryo"/>
              </a:rPr>
              <a:t>¬</a:t>
            </a:r>
            <a:r>
              <a:rPr sz="1000" i="1" spc="5" dirty="0">
                <a:latin typeface="Meiryo"/>
                <a:cs typeface="Meiryo"/>
              </a:rPr>
              <a:t> </a:t>
            </a:r>
            <a:r>
              <a:rPr sz="1000" spc="-35" dirty="0">
                <a:latin typeface="Tahoma"/>
                <a:cs typeface="Tahoma"/>
              </a:rPr>
              <a:t>Likes(</a:t>
            </a:r>
            <a:r>
              <a:rPr sz="1000" i="1" spc="-35" dirty="0">
                <a:latin typeface="Arial"/>
                <a:cs typeface="Arial"/>
              </a:rPr>
              <a:t>x</a:t>
            </a:r>
            <a:r>
              <a:rPr sz="1000" i="1" spc="-185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,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MangoIceCream)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/>
                <a:cs typeface="Century Gothic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/>
                <a:cs typeface="Century Gothic"/>
              </a:rPr>
              <a:t>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/>
                <a:cs typeface="Century Gothic"/>
                <a:hlinkClick r:id="rId6" action="ppaction://hlinksldjump"/>
              </a:rPr>
              <a:t>FMSE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6</a:t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8516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0" spc="-25" dirty="0">
                <a:solidFill>
                  <a:srgbClr val="FFFFFF"/>
                </a:solidFill>
                <a:latin typeface="Tahoma"/>
                <a:cs typeface="Tahoma"/>
              </a:rPr>
              <a:t>Properties</a:t>
            </a:r>
            <a:r>
              <a:rPr sz="1400" b="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400" b="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0" spc="-30" dirty="0">
                <a:solidFill>
                  <a:srgbClr val="FFFFFF"/>
                </a:solidFill>
                <a:latin typeface="Tahoma"/>
                <a:cs typeface="Tahoma"/>
              </a:rPr>
              <a:t>Quantifiers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68069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50187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932292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314397"/>
            <a:ext cx="65265" cy="652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5844" y="830819"/>
            <a:ext cx="2050414" cy="15919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10" dirty="0">
                <a:latin typeface="Gill Sans MT"/>
                <a:cs typeface="Gill Sans MT"/>
              </a:rPr>
              <a:t>Equivalence</a:t>
            </a:r>
            <a:endParaRPr sz="1100" dirty="0">
              <a:latin typeface="Gill Sans MT"/>
              <a:cs typeface="Gill Sans MT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i="1" spc="-185" dirty="0">
                <a:latin typeface="Meiryo"/>
                <a:cs typeface="Meiryo"/>
              </a:rPr>
              <a:t>∃</a:t>
            </a:r>
            <a:r>
              <a:rPr sz="1100" i="1" spc="-185" dirty="0">
                <a:latin typeface="Arial"/>
                <a:cs typeface="Arial"/>
              </a:rPr>
              <a:t>xP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equivalent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Meiryo"/>
                <a:cs typeface="Meiryo"/>
              </a:rPr>
              <a:t>¬∀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10" dirty="0">
                <a:latin typeface="Meiryo"/>
                <a:cs typeface="Meiryo"/>
              </a:rPr>
              <a:t>¬</a:t>
            </a:r>
            <a:r>
              <a:rPr sz="1100" i="1" spc="-10" dirty="0">
                <a:latin typeface="Arial"/>
                <a:cs typeface="Arial"/>
              </a:rPr>
              <a:t>P</a:t>
            </a:r>
            <a:endParaRPr sz="11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685"/>
              </a:spcBef>
            </a:pPr>
            <a:r>
              <a:rPr sz="1100" i="1" spc="-150" dirty="0">
                <a:latin typeface="Meiryo"/>
                <a:cs typeface="Meiryo"/>
              </a:rPr>
              <a:t>¬∃</a:t>
            </a:r>
            <a:r>
              <a:rPr sz="1100" i="1" spc="-150" dirty="0">
                <a:latin typeface="Arial"/>
                <a:cs typeface="Arial"/>
              </a:rPr>
              <a:t>x</a:t>
            </a:r>
            <a:r>
              <a:rPr sz="1100" i="1" spc="-150" dirty="0">
                <a:latin typeface="Meiryo"/>
                <a:cs typeface="Meiryo"/>
              </a:rPr>
              <a:t>¬</a:t>
            </a:r>
            <a:r>
              <a:rPr sz="1100" i="1" spc="-150" dirty="0">
                <a:latin typeface="Arial"/>
                <a:cs typeface="Arial"/>
              </a:rPr>
              <a:t>P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equivalent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Meiryo"/>
                <a:cs typeface="Meiryo"/>
              </a:rPr>
              <a:t>∀</a:t>
            </a:r>
            <a:r>
              <a:rPr sz="1100" i="1" spc="-25" dirty="0">
                <a:latin typeface="Arial"/>
                <a:cs typeface="Arial"/>
              </a:rPr>
              <a:t>xP</a:t>
            </a:r>
            <a:endParaRPr sz="11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689"/>
              </a:spcBef>
            </a:pPr>
            <a:r>
              <a:rPr sz="1100" i="1" spc="-145" dirty="0">
                <a:latin typeface="Meiryo"/>
                <a:cs typeface="Meiryo"/>
              </a:rPr>
              <a:t>∃</a:t>
            </a:r>
            <a:r>
              <a:rPr sz="1100" i="1" spc="-145" dirty="0">
                <a:latin typeface="Arial"/>
                <a:cs typeface="Arial"/>
              </a:rPr>
              <a:t>x</a:t>
            </a:r>
            <a:r>
              <a:rPr sz="1100" i="1" spc="-145" dirty="0">
                <a:latin typeface="Meiryo"/>
                <a:cs typeface="Meiryo"/>
              </a:rPr>
              <a:t>¬</a:t>
            </a:r>
            <a:r>
              <a:rPr sz="1100" i="1" spc="-145" dirty="0">
                <a:latin typeface="Arial"/>
                <a:cs typeface="Arial"/>
              </a:rPr>
              <a:t>P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equivalent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Meiryo"/>
                <a:cs typeface="Meiryo"/>
              </a:rPr>
              <a:t>¬∀</a:t>
            </a:r>
            <a:r>
              <a:rPr sz="1100" i="1" spc="-20" dirty="0">
                <a:latin typeface="Arial"/>
                <a:cs typeface="Arial"/>
              </a:rPr>
              <a:t>xP</a:t>
            </a:r>
            <a:endParaRPr sz="11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689"/>
              </a:spcBef>
            </a:pPr>
            <a:r>
              <a:rPr sz="1100" i="1" spc="-150" dirty="0">
                <a:latin typeface="Meiryo"/>
                <a:cs typeface="Meiryo"/>
              </a:rPr>
              <a:t>¬∃</a:t>
            </a:r>
            <a:r>
              <a:rPr sz="1100" i="1" spc="-150" dirty="0" err="1">
                <a:latin typeface="Arial"/>
                <a:cs typeface="Arial"/>
              </a:rPr>
              <a:t>xP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equivalent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145" dirty="0">
                <a:latin typeface="Meiryo"/>
                <a:cs typeface="Meiryo"/>
              </a:rPr>
              <a:t>∀</a:t>
            </a:r>
            <a:r>
              <a:rPr sz="1100" i="1" spc="-145" dirty="0">
                <a:latin typeface="Arial"/>
                <a:cs typeface="Arial"/>
              </a:rPr>
              <a:t>x</a:t>
            </a:r>
            <a:r>
              <a:rPr sz="1100" i="1" spc="-145" dirty="0">
                <a:latin typeface="Meiryo"/>
                <a:cs typeface="Meiryo"/>
              </a:rPr>
              <a:t>¬</a:t>
            </a:r>
            <a:r>
              <a:rPr sz="1100" i="1" spc="-145" dirty="0">
                <a:latin typeface="Arial"/>
                <a:cs typeface="Arial"/>
              </a:rPr>
              <a:t>P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/>
                <a:cs typeface="Century Gothic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/>
                <a:cs typeface="Century Gothic"/>
              </a:rPr>
              <a:t>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/>
                <a:cs typeface="Century Gothic"/>
                <a:hlinkClick r:id="rId5" action="ppaction://hlinksldjump"/>
              </a:rPr>
              <a:t>FMSE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7</a:t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0795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0" dirty="0">
                <a:solidFill>
                  <a:srgbClr val="FFFFFF"/>
                </a:solidFill>
                <a:latin typeface="Tahoma"/>
                <a:cs typeface="Tahoma"/>
              </a:rPr>
              <a:t>FOL</a:t>
            </a:r>
            <a:r>
              <a:rPr sz="1400" b="0" spc="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0" spc="-45" dirty="0">
                <a:solidFill>
                  <a:srgbClr val="FFFFFF"/>
                </a:solidFill>
                <a:latin typeface="Tahoma"/>
                <a:cs typeface="Tahoma"/>
              </a:rPr>
              <a:t>Formulas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608697"/>
            <a:ext cx="435673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set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formulas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(also</a:t>
            </a:r>
            <a:r>
              <a:rPr sz="1100" spc="-30" dirty="0">
                <a:latin typeface="Tahoma"/>
                <a:cs typeface="Tahoma"/>
              </a:rPr>
              <a:t> called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well-</a:t>
            </a:r>
            <a:r>
              <a:rPr sz="1100" spc="-60" dirty="0">
                <a:latin typeface="Tahoma"/>
                <a:cs typeface="Tahoma"/>
              </a:rPr>
              <a:t>formed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formulas</a:t>
            </a:r>
            <a:r>
              <a:rPr sz="1100" spc="-30" dirty="0">
                <a:latin typeface="Tahoma"/>
                <a:cs typeface="Tahoma"/>
              </a:rPr>
              <a:t> or</a:t>
            </a:r>
            <a:r>
              <a:rPr sz="1100" spc="-35" dirty="0">
                <a:latin typeface="Tahoma"/>
                <a:cs typeface="Tahoma"/>
              </a:rPr>
              <a:t> wffs)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inductively </a:t>
            </a:r>
            <a:r>
              <a:rPr sz="1100" spc="-45" dirty="0">
                <a:latin typeface="Tahoma"/>
                <a:cs typeface="Tahoma"/>
              </a:rPr>
              <a:t>defined</a:t>
            </a:r>
            <a:r>
              <a:rPr sz="1100" spc="-30" dirty="0">
                <a:latin typeface="Tahoma"/>
                <a:cs typeface="Tahoma"/>
              </a:rPr>
              <a:t> by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following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rules: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1254960"/>
            <a:ext cx="114214" cy="1142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1917" y="1242027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7532" y="1200834"/>
            <a:ext cx="411670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1" spc="-20" dirty="0">
                <a:latin typeface="Gill Sans MT"/>
                <a:cs typeface="Gill Sans MT"/>
              </a:rPr>
              <a:t>Predicate</a:t>
            </a:r>
            <a:r>
              <a:rPr sz="1100" b="1" spc="-50" dirty="0">
                <a:latin typeface="Gill Sans MT"/>
                <a:cs typeface="Gill Sans MT"/>
              </a:rPr>
              <a:t> </a:t>
            </a:r>
            <a:r>
              <a:rPr sz="1100" b="1" spc="-20" dirty="0">
                <a:latin typeface="Gill Sans MT"/>
                <a:cs typeface="Gill Sans MT"/>
              </a:rPr>
              <a:t>symbols</a:t>
            </a:r>
            <a:r>
              <a:rPr sz="1100" spc="-20" dirty="0">
                <a:latin typeface="Tahoma"/>
                <a:cs typeface="Tahoma"/>
              </a:rPr>
              <a:t>.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9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35" dirty="0">
                <a:latin typeface="Arial"/>
                <a:cs typeface="Arial"/>
              </a:rPr>
              <a:t>n</a:t>
            </a:r>
            <a:r>
              <a:rPr sz="1100" i="1" spc="-35" dirty="0">
                <a:latin typeface="Meiryo"/>
                <a:cs typeface="Meiryo"/>
              </a:rPr>
              <a:t>−</a:t>
            </a:r>
            <a:r>
              <a:rPr sz="1100" spc="-35" dirty="0">
                <a:latin typeface="Tahoma"/>
                <a:cs typeface="Tahoma"/>
              </a:rPr>
              <a:t>ary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predicate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symbol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t</a:t>
            </a:r>
            <a:r>
              <a:rPr sz="1200" baseline="-10416" dirty="0">
                <a:latin typeface="Century Gothic"/>
                <a:cs typeface="Century Gothic"/>
              </a:rPr>
              <a:t>1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t</a:t>
            </a:r>
            <a:r>
              <a:rPr sz="1200" i="1" spc="-37" baseline="-10416" dirty="0">
                <a:latin typeface="Arial"/>
                <a:cs typeface="Arial"/>
              </a:rPr>
              <a:t>n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7532" y="1329129"/>
            <a:ext cx="3914140" cy="8280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spc="-55" dirty="0">
                <a:latin typeface="Tahoma"/>
                <a:cs typeface="Tahoma"/>
              </a:rPr>
              <a:t>are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terms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t</a:t>
            </a:r>
            <a:r>
              <a:rPr sz="1200" baseline="-10416" dirty="0">
                <a:latin typeface="Century Gothic"/>
                <a:cs typeface="Century Gothic"/>
              </a:rPr>
              <a:t>1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.</a:t>
            </a:r>
            <a:r>
              <a:rPr sz="1100" i="1" spc="-12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.</a:t>
            </a:r>
            <a:r>
              <a:rPr sz="1100" i="1" spc="-12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formula.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z="1100" b="1" spc="-10" dirty="0">
                <a:latin typeface="Gill Sans MT"/>
                <a:cs typeface="Gill Sans MT"/>
              </a:rPr>
              <a:t>Equality</a:t>
            </a:r>
            <a:r>
              <a:rPr sz="1100" spc="-10" dirty="0">
                <a:latin typeface="Tahoma"/>
                <a:cs typeface="Tahoma"/>
              </a:rPr>
              <a:t>.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equality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symbol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considered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part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logic,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t</a:t>
            </a:r>
            <a:r>
              <a:rPr sz="1200" spc="-37" baseline="-10416" dirty="0">
                <a:latin typeface="Century Gothic"/>
                <a:cs typeface="Century Gothic"/>
              </a:rPr>
              <a:t>1</a:t>
            </a:r>
            <a:endParaRPr sz="1200" baseline="-10416">
              <a:latin typeface="Century Gothic"/>
              <a:cs typeface="Century Gothic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t</a:t>
            </a:r>
            <a:r>
              <a:rPr sz="1200" baseline="-10416" dirty="0">
                <a:latin typeface="Century Gothic"/>
                <a:cs typeface="Century Gothic"/>
              </a:rPr>
              <a:t>2</a:t>
            </a:r>
            <a:r>
              <a:rPr sz="1200" spc="270" baseline="-10416" dirty="0">
                <a:latin typeface="Century Gothic"/>
                <a:cs typeface="Century Gothic"/>
              </a:rPr>
              <a:t> </a:t>
            </a:r>
            <a:r>
              <a:rPr sz="1100" spc="-55" dirty="0">
                <a:latin typeface="Tahoma"/>
                <a:cs typeface="Tahoma"/>
              </a:rPr>
              <a:t>are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terms,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t</a:t>
            </a:r>
            <a:r>
              <a:rPr sz="1200" baseline="-10416" dirty="0">
                <a:latin typeface="Century Gothic"/>
                <a:cs typeface="Century Gothic"/>
              </a:rPr>
              <a:t>1</a:t>
            </a:r>
            <a:r>
              <a:rPr sz="1200" spc="179" baseline="-10416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t</a:t>
            </a:r>
            <a:r>
              <a:rPr sz="1200" baseline="-10416" dirty="0">
                <a:latin typeface="Century Gothic"/>
                <a:cs typeface="Century Gothic"/>
              </a:rPr>
              <a:t>2</a:t>
            </a:r>
            <a:r>
              <a:rPr sz="1200" spc="270" baseline="-10416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formula.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0"/>
              </a:spcBef>
            </a:pPr>
            <a:r>
              <a:rPr sz="1100" b="1" spc="-20" dirty="0">
                <a:latin typeface="Gill Sans MT"/>
                <a:cs typeface="Gill Sans MT"/>
              </a:rPr>
              <a:t>Negation</a:t>
            </a:r>
            <a:r>
              <a:rPr sz="1100" spc="-20" dirty="0">
                <a:latin typeface="Tahoma"/>
                <a:cs typeface="Tahoma"/>
              </a:rPr>
              <a:t>.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95" dirty="0">
                <a:latin typeface="Arial"/>
                <a:cs typeface="Arial"/>
              </a:rPr>
              <a:t>ϕ</a:t>
            </a:r>
            <a:r>
              <a:rPr sz="1100" i="1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formula,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Meiryo"/>
                <a:cs typeface="Meiryo"/>
              </a:rPr>
              <a:t>¬</a:t>
            </a:r>
            <a:r>
              <a:rPr sz="1100" i="1" dirty="0">
                <a:latin typeface="Arial"/>
                <a:cs typeface="Arial"/>
              </a:rPr>
              <a:t>ϕ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formula.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1637064"/>
            <a:ext cx="114214" cy="11421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51917" y="1624131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endParaRPr sz="600">
              <a:latin typeface="Century Gothic"/>
              <a:cs typeface="Century 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2019169"/>
            <a:ext cx="114214" cy="11421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51917" y="2006236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Century Gothic"/>
                <a:cs typeface="Century Gothic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2229202"/>
            <a:ext cx="114214" cy="11421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51917" y="2216269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2932" y="2175089"/>
            <a:ext cx="37630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latin typeface="Gill Sans MT"/>
                <a:cs typeface="Gill Sans MT"/>
              </a:rPr>
              <a:t>Binary</a:t>
            </a:r>
            <a:r>
              <a:rPr sz="1100" b="1" spc="10" dirty="0">
                <a:latin typeface="Gill Sans MT"/>
                <a:cs typeface="Gill Sans MT"/>
              </a:rPr>
              <a:t> </a:t>
            </a:r>
            <a:r>
              <a:rPr sz="1100" b="1" spc="-20" dirty="0">
                <a:latin typeface="Gill Sans MT"/>
                <a:cs typeface="Gill Sans MT"/>
              </a:rPr>
              <a:t>connectives</a:t>
            </a:r>
            <a:r>
              <a:rPr sz="1100" spc="-20" dirty="0">
                <a:latin typeface="Tahoma"/>
                <a:cs typeface="Tahoma"/>
              </a:rPr>
              <a:t>.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95" dirty="0">
                <a:latin typeface="Arial"/>
                <a:cs typeface="Arial"/>
              </a:rPr>
              <a:t>ϕ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ψ</a:t>
            </a:r>
            <a:r>
              <a:rPr sz="1100" i="1" spc="35" dirty="0">
                <a:latin typeface="Arial"/>
                <a:cs typeface="Arial"/>
              </a:rPr>
              <a:t> </a:t>
            </a:r>
            <a:r>
              <a:rPr sz="1100" spc="-55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formulas,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ϕ</a:t>
            </a:r>
            <a:r>
              <a:rPr sz="1100" i="1" spc="-50" dirty="0">
                <a:latin typeface="Arial"/>
                <a:cs typeface="Arial"/>
              </a:rPr>
              <a:t> </a:t>
            </a:r>
            <a:r>
              <a:rPr sz="1100" i="1" dirty="0">
                <a:latin typeface="Meiryo"/>
                <a:cs typeface="Meiryo"/>
              </a:rPr>
              <a:t>→</a:t>
            </a:r>
            <a:r>
              <a:rPr sz="1100" i="1" spc="-90" dirty="0">
                <a:latin typeface="Meiryo"/>
                <a:cs typeface="Meiryo"/>
              </a:rPr>
              <a:t> </a:t>
            </a:r>
            <a:r>
              <a:rPr sz="1100" i="1" dirty="0">
                <a:latin typeface="Arial"/>
                <a:cs typeface="Arial"/>
              </a:rPr>
              <a:t>ψ</a:t>
            </a:r>
            <a:r>
              <a:rPr sz="1100" i="1" spc="3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2932" y="2303384"/>
            <a:ext cx="3937000" cy="6178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25" dirty="0">
                <a:latin typeface="Tahoma"/>
                <a:cs typeface="Tahoma"/>
              </a:rPr>
              <a:t>formula.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Similar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rules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apply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other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binary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logical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connectives.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b="1" spc="-25" dirty="0">
                <a:latin typeface="Gill Sans MT"/>
                <a:cs typeface="Gill Sans MT"/>
              </a:rPr>
              <a:t>Quantifiers</a:t>
            </a:r>
            <a:r>
              <a:rPr sz="1100" spc="-25" dirty="0">
                <a:latin typeface="Tahoma"/>
                <a:cs typeface="Tahoma"/>
              </a:rPr>
              <a:t>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95" dirty="0">
                <a:latin typeface="Arial"/>
                <a:cs typeface="Arial"/>
              </a:rPr>
              <a:t>ϕ</a:t>
            </a:r>
            <a:r>
              <a:rPr sz="1100" i="1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formula</a:t>
            </a:r>
            <a:r>
              <a:rPr sz="1100" spc="-40" dirty="0">
                <a:latin typeface="Tahoma"/>
                <a:cs typeface="Tahoma"/>
              </a:rPr>
              <a:t> and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variable,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390" dirty="0">
                <a:latin typeface="Meiryo"/>
                <a:cs typeface="Meiryo"/>
              </a:rPr>
              <a:t>∀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145" dirty="0">
                <a:latin typeface="Arial"/>
                <a:cs typeface="Arial"/>
              </a:rPr>
              <a:t>ϕ</a:t>
            </a:r>
            <a:r>
              <a:rPr sz="1100" i="1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(for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all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x,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95" dirty="0">
                <a:latin typeface="Arial"/>
                <a:cs typeface="Arial"/>
              </a:rPr>
              <a:t>ϕ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holds)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390" dirty="0">
                <a:latin typeface="Meiryo"/>
                <a:cs typeface="Meiryo"/>
              </a:rPr>
              <a:t>∃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145" dirty="0">
                <a:latin typeface="Arial"/>
                <a:cs typeface="Arial"/>
              </a:rPr>
              <a:t>ϕ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(there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exists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such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95" dirty="0">
                <a:latin typeface="Arial"/>
                <a:cs typeface="Arial"/>
              </a:rPr>
              <a:t>ϕ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spc="-55" dirty="0">
                <a:latin typeface="Tahoma"/>
                <a:cs typeface="Tahoma"/>
              </a:rPr>
              <a:t>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formulas.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2611307"/>
            <a:ext cx="114214" cy="11421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51917" y="2598387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Century Gothic"/>
                <a:cs typeface="Century Gothic"/>
              </a:rPr>
              <a:t>5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/>
                <a:cs typeface="Century Gothic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/>
                <a:cs typeface="Century Gothic"/>
              </a:rPr>
              <a:t>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/>
                <a:cs typeface="Century Gothic"/>
                <a:hlinkClick r:id="rId3" action="ppaction://hlinksldjump"/>
              </a:rPr>
              <a:t>FMSE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8</a:t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8300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0" spc="-50" dirty="0">
                <a:solidFill>
                  <a:srgbClr val="FFFFFF"/>
                </a:solidFill>
                <a:latin typeface="Tahoma"/>
                <a:cs typeface="Tahoma"/>
              </a:rPr>
              <a:t>Expressing</a:t>
            </a:r>
            <a:r>
              <a:rPr sz="1400" b="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0" dirty="0">
                <a:solidFill>
                  <a:srgbClr val="FFFFFF"/>
                </a:solidFill>
                <a:latin typeface="Tahoma"/>
                <a:cs typeface="Tahoma"/>
              </a:rPr>
              <a:t>Facts</a:t>
            </a:r>
            <a:r>
              <a:rPr sz="1400" b="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400" b="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0" spc="-25" dirty="0">
                <a:solidFill>
                  <a:srgbClr val="FFFFFF"/>
                </a:solidFill>
                <a:latin typeface="Tahoma"/>
                <a:cs typeface="Tahoma"/>
              </a:rPr>
              <a:t>FOL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19581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836128"/>
            <a:ext cx="1901189" cy="17202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Lucy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professor</a:t>
            </a:r>
            <a:endParaRPr sz="1100">
              <a:latin typeface="Tahoma"/>
              <a:cs typeface="Tahoma"/>
            </a:endParaRPr>
          </a:p>
          <a:p>
            <a:pPr marL="12700" marR="440055">
              <a:lnSpc>
                <a:spcPct val="227900"/>
              </a:lnSpc>
            </a:pPr>
            <a:r>
              <a:rPr sz="1100" dirty="0">
                <a:latin typeface="Tahoma"/>
                <a:cs typeface="Tahoma"/>
              </a:rPr>
              <a:t>All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professors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are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people. </a:t>
            </a:r>
            <a:r>
              <a:rPr sz="1100" spc="-10" dirty="0">
                <a:latin typeface="Tahoma"/>
                <a:cs typeface="Tahoma"/>
              </a:rPr>
              <a:t>John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dean.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100" spc="-35" dirty="0">
                <a:latin typeface="Tahoma"/>
                <a:cs typeface="Tahoma"/>
              </a:rPr>
              <a:t>Deans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are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professors.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50" dirty="0">
                <a:latin typeface="Tahoma"/>
                <a:cs typeface="Tahoma"/>
              </a:rPr>
              <a:t>Everyone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friend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someone.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01686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83791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2065896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448001"/>
            <a:ext cx="65265" cy="65265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/>
                <a:cs typeface="Century Gothic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/>
                <a:cs typeface="Century Gothic"/>
              </a:rPr>
              <a:t>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/>
                <a:cs typeface="Century Gothic"/>
                <a:hlinkClick r:id="rId5" action="ppaction://hlinksldjump"/>
              </a:rPr>
              <a:t>FMSE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9</a:t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7875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0" spc="-45" dirty="0">
                <a:solidFill>
                  <a:srgbClr val="FFFFFF"/>
                </a:solidFill>
                <a:latin typeface="Tahoma"/>
                <a:cs typeface="Tahoma"/>
              </a:rPr>
              <a:t>Knowledge</a:t>
            </a:r>
            <a:r>
              <a:rPr sz="1400" b="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0" spc="-70" dirty="0">
                <a:solidFill>
                  <a:srgbClr val="FFFFFF"/>
                </a:solidFill>
                <a:latin typeface="Tahoma"/>
                <a:cs typeface="Tahoma"/>
              </a:rPr>
              <a:t>base</a:t>
            </a:r>
            <a:r>
              <a:rPr sz="1400" b="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400" b="0" spc="-25" dirty="0">
                <a:solidFill>
                  <a:srgbClr val="FFFFFF"/>
                </a:solidFill>
                <a:latin typeface="Tahoma"/>
                <a:cs typeface="Tahoma"/>
              </a:rPr>
              <a:t> FOL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21715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738262"/>
            <a:ext cx="3740785" cy="21024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Lucy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professor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90" dirty="0">
                <a:latin typeface="Tahoma"/>
                <a:cs typeface="Tahoma"/>
              </a:rPr>
              <a:t>—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isProf(lucy)</a:t>
            </a:r>
            <a:endParaRPr sz="1100">
              <a:latin typeface="Tahoma"/>
              <a:cs typeface="Tahoma"/>
            </a:endParaRPr>
          </a:p>
          <a:p>
            <a:pPr marL="12700" marR="347980">
              <a:lnSpc>
                <a:spcPct val="227900"/>
              </a:lnSpc>
            </a:pPr>
            <a:r>
              <a:rPr sz="1100" dirty="0">
                <a:latin typeface="Tahoma"/>
                <a:cs typeface="Tahoma"/>
              </a:rPr>
              <a:t>All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professors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are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people.</a:t>
            </a:r>
            <a:r>
              <a:rPr sz="1100" spc="140" dirty="0">
                <a:latin typeface="Tahoma"/>
                <a:cs typeface="Tahoma"/>
              </a:rPr>
              <a:t> </a:t>
            </a:r>
            <a:r>
              <a:rPr sz="1100" spc="90" dirty="0">
                <a:latin typeface="Tahoma"/>
                <a:cs typeface="Tahoma"/>
              </a:rPr>
              <a:t>—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i="1" spc="-275" dirty="0">
                <a:latin typeface="Meiryo"/>
                <a:cs typeface="Meiryo"/>
              </a:rPr>
              <a:t>∀</a:t>
            </a:r>
            <a:r>
              <a:rPr sz="1100" i="1" spc="-27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isProf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(</a:t>
            </a:r>
            <a:r>
              <a:rPr sz="1100" i="1" spc="-30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Meiryo"/>
                <a:cs typeface="Meiryo"/>
              </a:rPr>
              <a:t>→</a:t>
            </a:r>
            <a:r>
              <a:rPr sz="1100" i="1" spc="-75" dirty="0">
                <a:latin typeface="Meiryo"/>
                <a:cs typeface="Meiryo"/>
              </a:rPr>
              <a:t> </a:t>
            </a:r>
            <a:r>
              <a:rPr sz="1100" i="1" spc="-70" dirty="0">
                <a:latin typeface="Arial"/>
                <a:cs typeface="Arial"/>
              </a:rPr>
              <a:t>isPerson</a:t>
            </a:r>
            <a:r>
              <a:rPr sz="1100" spc="-70" dirty="0">
                <a:latin typeface="Tahoma"/>
                <a:cs typeface="Tahoma"/>
              </a:rPr>
              <a:t>(</a:t>
            </a:r>
            <a:r>
              <a:rPr sz="1100" i="1" spc="-70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)) </a:t>
            </a:r>
            <a:r>
              <a:rPr sz="1100" spc="-10" dirty="0">
                <a:latin typeface="Tahoma"/>
                <a:cs typeface="Tahoma"/>
              </a:rPr>
              <a:t>John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dean.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90" dirty="0">
                <a:latin typeface="Tahoma"/>
                <a:cs typeface="Tahoma"/>
              </a:rPr>
              <a:t>—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isDean(John)</a:t>
            </a:r>
            <a:endParaRPr sz="1100">
              <a:latin typeface="Tahoma"/>
              <a:cs typeface="Tahoma"/>
            </a:endParaRPr>
          </a:p>
          <a:p>
            <a:pPr marL="12700" marR="127635">
              <a:lnSpc>
                <a:spcPct val="227900"/>
              </a:lnSpc>
            </a:pPr>
            <a:r>
              <a:rPr sz="1100" spc="-35" dirty="0">
                <a:latin typeface="Tahoma"/>
                <a:cs typeface="Tahoma"/>
              </a:rPr>
              <a:t>Deans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are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professors.</a:t>
            </a:r>
            <a:r>
              <a:rPr sz="1100" spc="120" dirty="0">
                <a:latin typeface="Tahoma"/>
                <a:cs typeface="Tahoma"/>
              </a:rPr>
              <a:t> </a:t>
            </a:r>
            <a:r>
              <a:rPr sz="1100" spc="90" dirty="0">
                <a:latin typeface="Tahoma"/>
                <a:cs typeface="Tahoma"/>
              </a:rPr>
              <a:t>—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spc="-275" dirty="0">
                <a:latin typeface="Meiryo"/>
                <a:cs typeface="Meiryo"/>
              </a:rPr>
              <a:t>∀</a:t>
            </a:r>
            <a:r>
              <a:rPr sz="1100" i="1" spc="-27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55" dirty="0">
                <a:latin typeface="Tahoma"/>
                <a:cs typeface="Tahoma"/>
              </a:rPr>
              <a:t>(</a:t>
            </a:r>
            <a:r>
              <a:rPr sz="1100" i="1" spc="-55" dirty="0">
                <a:latin typeface="Arial"/>
                <a:cs typeface="Arial"/>
              </a:rPr>
              <a:t>isDean</a:t>
            </a:r>
            <a:r>
              <a:rPr sz="1100" spc="-55" dirty="0">
                <a:latin typeface="Tahoma"/>
                <a:cs typeface="Tahoma"/>
              </a:rPr>
              <a:t>(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i="1" dirty="0">
                <a:latin typeface="Meiryo"/>
                <a:cs typeface="Meiryo"/>
              </a:rPr>
              <a:t>→</a:t>
            </a:r>
            <a:r>
              <a:rPr sz="1100" i="1" spc="-90" dirty="0">
                <a:latin typeface="Meiryo"/>
                <a:cs typeface="Meiryo"/>
              </a:rPr>
              <a:t> </a:t>
            </a:r>
            <a:r>
              <a:rPr sz="1100" i="1" spc="-40" dirty="0">
                <a:latin typeface="Arial"/>
                <a:cs typeface="Arial"/>
              </a:rPr>
              <a:t>isProf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(</a:t>
            </a:r>
            <a:r>
              <a:rPr sz="1100" i="1" spc="-30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))</a:t>
            </a:r>
            <a:r>
              <a:rPr sz="1100" spc="40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Everyone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friend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someone.</a:t>
            </a:r>
            <a:r>
              <a:rPr sz="1100" spc="105" dirty="0">
                <a:latin typeface="Tahoma"/>
                <a:cs typeface="Tahoma"/>
              </a:rPr>
              <a:t> </a:t>
            </a:r>
            <a:r>
              <a:rPr sz="1100" spc="90" dirty="0">
                <a:latin typeface="Tahoma"/>
                <a:cs typeface="Tahoma"/>
              </a:rPr>
              <a:t>—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spc="-275" dirty="0">
                <a:latin typeface="Meiryo"/>
                <a:cs typeface="Meiryo"/>
              </a:rPr>
              <a:t>∀</a:t>
            </a:r>
            <a:r>
              <a:rPr sz="1100" i="1" spc="-27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190" dirty="0">
                <a:latin typeface="Tahoma"/>
                <a:cs typeface="Tahoma"/>
              </a:rPr>
              <a:t>(</a:t>
            </a:r>
            <a:r>
              <a:rPr sz="1100" i="1" spc="-190" dirty="0">
                <a:latin typeface="Meiryo"/>
                <a:cs typeface="Meiryo"/>
              </a:rPr>
              <a:t>∃</a:t>
            </a:r>
            <a:r>
              <a:rPr sz="1100" i="1" spc="-190" dirty="0">
                <a:latin typeface="Arial"/>
                <a:cs typeface="Arial"/>
              </a:rPr>
              <a:t>y </a:t>
            </a:r>
            <a:r>
              <a:rPr sz="1100" spc="-50" dirty="0">
                <a:latin typeface="Tahoma"/>
                <a:cs typeface="Tahoma"/>
              </a:rPr>
              <a:t>(</a:t>
            </a:r>
            <a:r>
              <a:rPr sz="1100" i="1" spc="-50" dirty="0">
                <a:latin typeface="Arial"/>
                <a:cs typeface="Arial"/>
              </a:rPr>
              <a:t>isFriendOf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y,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)))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89"/>
              </a:spcBef>
            </a:pPr>
            <a:r>
              <a:rPr sz="1100" b="1" spc="-35" dirty="0">
                <a:latin typeface="Gill Sans MT"/>
                <a:cs typeface="Gill Sans MT"/>
              </a:rPr>
              <a:t>Question</a:t>
            </a:r>
            <a:r>
              <a:rPr sz="1100" spc="-35" dirty="0">
                <a:latin typeface="Tahoma"/>
                <a:cs typeface="Tahoma"/>
              </a:rPr>
              <a:t>: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Is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John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friend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Lucy?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i="1" spc="-65" dirty="0">
                <a:latin typeface="Meiryo"/>
                <a:cs typeface="Meiryo"/>
              </a:rPr>
              <a:t>¬</a:t>
            </a:r>
            <a:r>
              <a:rPr sz="1100" i="1" spc="-65" dirty="0">
                <a:latin typeface="Arial"/>
                <a:cs typeface="Arial"/>
              </a:rPr>
              <a:t>isFriendOf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(</a:t>
            </a:r>
            <a:r>
              <a:rPr sz="1100" i="1" spc="-40" dirty="0">
                <a:latin typeface="Arial"/>
                <a:cs typeface="Arial"/>
              </a:rPr>
              <a:t>John,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45" dirty="0">
                <a:latin typeface="Arial"/>
                <a:cs typeface="Arial"/>
              </a:rPr>
              <a:t>lucy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)?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03820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585925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968030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350135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2732252"/>
            <a:ext cx="65265" cy="6526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/>
                <a:cs typeface="Century Gothic"/>
                <a:hlinkClick r:id="rId5" action="ppaction://hlinksldjump"/>
              </a:rPr>
              <a:t>FMSE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185" y="406752"/>
            <a:ext cx="4058050" cy="24372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/>
                <a:cs typeface="Century Gothic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/>
                <a:cs typeface="Century Gothic"/>
              </a:rPr>
              <a:t>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/>
                <a:cs typeface="Century Gothic"/>
                <a:hlinkClick r:id="rId3" action="ppaction://hlinksldjump"/>
              </a:rPr>
              <a:t>FMSE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11</a:t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2110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0" spc="-45" dirty="0">
                <a:solidFill>
                  <a:srgbClr val="FFFFFF"/>
                </a:solidFill>
                <a:latin typeface="Tahoma"/>
                <a:cs typeface="Tahoma"/>
              </a:rPr>
              <a:t>Knowledge</a:t>
            </a:r>
            <a:r>
              <a:rPr sz="1400" b="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0" spc="-40" dirty="0">
                <a:solidFill>
                  <a:srgbClr val="FFFFFF"/>
                </a:solidFill>
                <a:latin typeface="Tahoma"/>
                <a:cs typeface="Tahoma"/>
              </a:rPr>
              <a:t>Engineering</a:t>
            </a:r>
            <a:r>
              <a:rPr sz="1400" b="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0" spc="-35" dirty="0">
                <a:solidFill>
                  <a:srgbClr val="FFFFFF"/>
                </a:solidFill>
                <a:latin typeface="Tahoma"/>
                <a:cs typeface="Tahoma"/>
              </a:rPr>
              <a:t>Steps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71944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588491"/>
            <a:ext cx="3689350" cy="24847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Identify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task.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100" spc="-40" dirty="0">
                <a:latin typeface="Tahoma"/>
                <a:cs typeface="Tahoma"/>
              </a:rPr>
              <a:t>Assemble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relevant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knowledge.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227900"/>
              </a:lnSpc>
            </a:pPr>
            <a:r>
              <a:rPr sz="1100" spc="-30" dirty="0">
                <a:latin typeface="Tahoma"/>
                <a:cs typeface="Tahoma"/>
              </a:rPr>
              <a:t>Decide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vocabulary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predicates,</a:t>
            </a:r>
            <a:r>
              <a:rPr sz="1100" spc="-30" dirty="0">
                <a:latin typeface="Tahoma"/>
                <a:cs typeface="Tahoma"/>
              </a:rPr>
              <a:t> functions,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constants. </a:t>
            </a:r>
            <a:r>
              <a:rPr sz="1100" spc="-25" dirty="0">
                <a:latin typeface="Tahoma"/>
                <a:cs typeface="Tahoma"/>
              </a:rPr>
              <a:t>Encode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general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knowledge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about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domain.</a:t>
            </a:r>
            <a:endParaRPr sz="1100">
              <a:latin typeface="Tahoma"/>
              <a:cs typeface="Tahoma"/>
            </a:endParaRPr>
          </a:p>
          <a:p>
            <a:pPr marL="12700" marR="379095">
              <a:lnSpc>
                <a:spcPct val="227900"/>
              </a:lnSpc>
            </a:pPr>
            <a:r>
              <a:rPr sz="1100" spc="-25" dirty="0">
                <a:latin typeface="Tahoma"/>
                <a:cs typeface="Tahoma"/>
              </a:rPr>
              <a:t>Encode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description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specific </a:t>
            </a:r>
            <a:r>
              <a:rPr sz="1100" spc="-50" dirty="0">
                <a:latin typeface="Tahoma"/>
                <a:cs typeface="Tahoma"/>
              </a:rPr>
              <a:t>problem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instance. </a:t>
            </a:r>
            <a:r>
              <a:rPr sz="1100" spc="-25" dirty="0">
                <a:latin typeface="Tahoma"/>
                <a:cs typeface="Tahoma"/>
              </a:rPr>
              <a:t>Pose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queries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inference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procedure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get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answers. </a:t>
            </a:r>
            <a:r>
              <a:rPr sz="1100" spc="-30" dirty="0">
                <a:latin typeface="Tahoma"/>
                <a:cs typeface="Tahoma"/>
              </a:rPr>
              <a:t>Debug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knowledge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base.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54049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36166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818271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200376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582481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2964586"/>
            <a:ext cx="65265" cy="65265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/>
                <a:cs typeface="Century Gothic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/>
                <a:cs typeface="Century Gothic"/>
              </a:rPr>
              <a:t>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/>
                <a:cs typeface="Century Gothic"/>
                <a:hlinkClick r:id="rId6" action="ppaction://hlinksldjump"/>
              </a:rPr>
              <a:t>FMSE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12</a:t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185" y="160018"/>
            <a:ext cx="4287614" cy="298833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/>
                <a:cs typeface="Century Gothic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/>
                <a:cs typeface="Century Gothic"/>
              </a:rPr>
              <a:t>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/>
                <a:cs typeface="Century Gothic"/>
                <a:hlinkClick r:id="rId3" action="ppaction://hlinksldjump"/>
              </a:rPr>
              <a:t>FMSE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13</a:t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932" y="412175"/>
            <a:ext cx="4025044" cy="233699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/>
                <a:cs typeface="Century Gothic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/>
                <a:cs typeface="Century Gothic"/>
              </a:rPr>
              <a:t>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/>
                <a:cs typeface="Century Gothic"/>
                <a:hlinkClick r:id="rId3" action="ppaction://hlinksldjump"/>
              </a:rPr>
              <a:t>FMSE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14</a:t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763" y="453715"/>
            <a:ext cx="4027372" cy="240848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/>
                <a:cs typeface="Century Gothic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/>
                <a:cs typeface="Century Gothic"/>
              </a:rPr>
              <a:t>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/>
                <a:cs typeface="Century Gothic"/>
                <a:hlinkClick r:id="rId3" action="ppaction://hlinksldjump"/>
              </a:rPr>
              <a:t>FMSE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15</a:t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263" y="221714"/>
            <a:ext cx="4166937" cy="28383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/>
                <a:cs typeface="Century Gothic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/>
                <a:cs typeface="Century Gothic"/>
              </a:rPr>
              <a:t>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/>
                <a:cs typeface="Century Gothic"/>
                <a:hlinkClick r:id="rId3" action="ppaction://hlinksldjump"/>
              </a:rPr>
              <a:t>FMSE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16</a:t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9013" y="1159915"/>
            <a:ext cx="118999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Thanks!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b="0" spc="-10" dirty="0">
                <a:latin typeface="Century Gothic"/>
                <a:cs typeface="Century Gothic"/>
              </a:rPr>
              <a:t>(</a:t>
            </a:r>
            <a:r>
              <a:rPr spc="-10" dirty="0"/>
              <a:t>Lecture</a:t>
            </a:r>
            <a:r>
              <a:rPr spc="30" dirty="0"/>
              <a:t> </a:t>
            </a:r>
            <a:r>
              <a:rPr spc="195" dirty="0"/>
              <a:t>#</a:t>
            </a:r>
            <a:r>
              <a:rPr spc="3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b="0" spc="-50" dirty="0">
                <a:latin typeface="Century Gothic"/>
                <a:cs typeface="Century Gothic"/>
              </a:rPr>
              <a:t>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186419" y="3351784"/>
            <a:ext cx="2355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FFFFFF"/>
                </a:solidFill>
                <a:latin typeface="Century Gothic"/>
                <a:cs typeface="Century Gothic"/>
                <a:hlinkClick r:id="rId2" action="ppaction://hlinksldjump"/>
              </a:rPr>
              <a:t>FMSE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17</a:t>
            </a:fld>
            <a:r>
              <a:rPr spc="25" dirty="0"/>
              <a:t> </a:t>
            </a:r>
            <a:r>
              <a:rPr spc="55" dirty="0"/>
              <a:t>/</a:t>
            </a:r>
            <a:r>
              <a:rPr spc="30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1324</TotalTime>
  <Words>973</Words>
  <Application>Microsoft Office PowerPoint</Application>
  <PresentationFormat>Custom</PresentationFormat>
  <Paragraphs>132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Century Gothic</vt:lpstr>
      <vt:lpstr>Gill Sans MT</vt:lpstr>
      <vt:lpstr>Tahoma</vt:lpstr>
      <vt:lpstr>Meiryo</vt:lpstr>
      <vt:lpstr>Office Theme</vt:lpstr>
      <vt:lpstr>PowerPoint Presentation</vt:lpstr>
      <vt:lpstr>First Order Logic</vt:lpstr>
      <vt:lpstr>First Order Logic or Predicate Logic</vt:lpstr>
      <vt:lpstr>First Order Logic</vt:lpstr>
      <vt:lpstr>FOL Quantifiers</vt:lpstr>
      <vt:lpstr>Properties of Quantifiers</vt:lpstr>
      <vt:lpstr>Properties of Quantifiers</vt:lpstr>
      <vt:lpstr>FOL Formulas</vt:lpstr>
      <vt:lpstr>Expressing Facts in FOL</vt:lpstr>
      <vt:lpstr>Knowledge base in FOL</vt:lpstr>
      <vt:lpstr>PowerPoint Presentation</vt:lpstr>
      <vt:lpstr>Knowledge Engineering Steps</vt:lpstr>
      <vt:lpstr>PowerPoint Presentation</vt:lpstr>
      <vt:lpstr>PowerPoint Presentation</vt:lpstr>
      <vt:lpstr>PowerPoint Presentation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Arham Bhatti</cp:lastModifiedBy>
  <cp:revision>7</cp:revision>
  <dcterms:created xsi:type="dcterms:W3CDTF">2021-11-04T04:41:04Z</dcterms:created>
  <dcterms:modified xsi:type="dcterms:W3CDTF">2026-04-24T10:22:22Z</dcterms:modified>
</cp:coreProperties>
</file>