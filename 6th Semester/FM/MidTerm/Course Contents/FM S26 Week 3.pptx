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344" r:id="rId3"/>
    <p:sldId id="376" r:id="rId4"/>
    <p:sldId id="377" r:id="rId5"/>
    <p:sldId id="378" r:id="rId6"/>
    <p:sldId id="347" r:id="rId7"/>
    <p:sldId id="353" r:id="rId8"/>
    <p:sldId id="354" r:id="rId9"/>
    <p:sldId id="356" r:id="rId10"/>
    <p:sldId id="394" r:id="rId11"/>
    <p:sldId id="396" r:id="rId12"/>
    <p:sldId id="397" r:id="rId13"/>
    <p:sldId id="398" r:id="rId14"/>
    <p:sldId id="399" r:id="rId15"/>
    <p:sldId id="400" r:id="rId16"/>
    <p:sldId id="350" r:id="rId17"/>
    <p:sldId id="351" r:id="rId18"/>
    <p:sldId id="352" r:id="rId19"/>
    <p:sldId id="291" r:id="rId20"/>
    <p:sldId id="3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5EB7B-CADD-4D75-ADF0-053F70AF661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964FC-4812-415C-8FD8-414485E3A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3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39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31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28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12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23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48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99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5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47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36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71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Falguni_Roy/z-specification" TargetMode="External"/><Relationship Id="rId2" Type="http://schemas.openxmlformats.org/officeDocument/2006/relationships/hyperlink" Target="https://www.slideshare.net/erant/formal-modeling-with-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Methods in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742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9000" y="1493409"/>
            <a:ext cx="9544703" cy="438150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Formal Method (FM) 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Specification language 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special way of writing rules</a:t>
            </a:r>
            <a:r>
              <a:rPr lang="en-US" dirty="0"/>
              <a:t> for what the system should do — like a contract or instructions.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Formal reasoning</a:t>
            </a:r>
          </a:p>
          <a:p>
            <a:pPr lvl="2"/>
            <a:r>
              <a:rPr lang="en-US" dirty="0"/>
              <a:t>Using </a:t>
            </a:r>
            <a:r>
              <a:rPr lang="en-US" b="1" dirty="0"/>
              <a:t>logic and proofs</a:t>
            </a:r>
            <a:r>
              <a:rPr lang="en-US" dirty="0"/>
              <a:t> (not just testing) to make sure the system is right.</a:t>
            </a: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sz="1600" dirty="0">
                <a:latin typeface="Arial Rounded MT Bold" panose="020F0704030504030204" pitchFamily="34" charset="0"/>
              </a:rPr>
              <a:t>Body of techniques supported by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Precise mathematics </a:t>
            </a:r>
          </a:p>
          <a:p>
            <a:pPr lvl="2"/>
            <a:r>
              <a:rPr lang="en-US" dirty="0"/>
              <a:t>Everything is </a:t>
            </a:r>
            <a:r>
              <a:rPr lang="en-US" b="1" dirty="0"/>
              <a:t>clearly defined</a:t>
            </a:r>
            <a:r>
              <a:rPr lang="en-US" dirty="0"/>
              <a:t>, so there’s no confusion.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Powerful analysis tools</a:t>
            </a:r>
          </a:p>
          <a:p>
            <a:pPr lvl="2"/>
            <a:r>
              <a:rPr lang="en-US" dirty="0"/>
              <a:t>Special computer tools are used to </a:t>
            </a:r>
            <a:r>
              <a:rPr lang="en-US" b="1" dirty="0"/>
              <a:t>check and prove</a:t>
            </a:r>
            <a:r>
              <a:rPr lang="en-US" dirty="0"/>
              <a:t> the system's behavior.</a:t>
            </a: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sz="1600" dirty="0">
                <a:latin typeface="Arial Rounded MT Bold" panose="020F0704030504030204" pitchFamily="34" charset="0"/>
              </a:rPr>
              <a:t>Rigorous, effective mechanisms for system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Modeling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Synthesis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Analysis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65" y="5364591"/>
            <a:ext cx="5999998" cy="12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0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for Formal Specification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36808" y="1423987"/>
            <a:ext cx="7921642" cy="539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6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for Formal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623647"/>
            <a:ext cx="9359534" cy="43815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Arial Rounded MT Bold" panose="020F0704030504030204" pitchFamily="34" charset="0"/>
              </a:rPr>
              <a:t> </a:t>
            </a:r>
            <a:endParaRPr lang="en-US" sz="20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1814512"/>
            <a:ext cx="8767763" cy="487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05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496" y="213912"/>
            <a:ext cx="8911687" cy="12808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3" y="1333500"/>
            <a:ext cx="9359534" cy="43815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Requirements</a:t>
            </a:r>
            <a:r>
              <a:rPr lang="en-US" sz="2000" dirty="0">
                <a:latin typeface="Arial Rounded MT Bold" panose="020F0704030504030204" pitchFamily="34" charset="0"/>
              </a:rPr>
              <a:t> specification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Notational statement of system services</a:t>
            </a:r>
          </a:p>
          <a:p>
            <a:pPr lvl="1"/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Software</a:t>
            </a:r>
            <a:r>
              <a:rPr lang="en-US" sz="2000" dirty="0">
                <a:latin typeface="Arial Rounded MT Bold" panose="020F0704030504030204" pitchFamily="34" charset="0"/>
              </a:rPr>
              <a:t> specification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Formal abstract depiction of system services</a:t>
            </a:r>
          </a:p>
          <a:p>
            <a:pPr lvl="1"/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Architectural</a:t>
            </a:r>
            <a:r>
              <a:rPr lang="en-US" sz="2000" dirty="0">
                <a:latin typeface="Arial Rounded MT Bold" panose="020F0704030504030204" pitchFamily="34" charset="0"/>
              </a:rPr>
              <a:t> specification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Graphical representation of system structure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Formal abstract depiction of key system properties</a:t>
            </a:r>
          </a:p>
          <a:p>
            <a:pPr lvl="1"/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Module</a:t>
            </a:r>
            <a:r>
              <a:rPr lang="en-US" sz="2000" dirty="0">
                <a:latin typeface="Arial Rounded MT Bold" panose="020F0704030504030204" pitchFamily="34" charset="0"/>
              </a:rPr>
              <a:t> specification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Formal module interface, behavior, interaction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233265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methods in software development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90824" y="1547812"/>
            <a:ext cx="7610475" cy="512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58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476" y="162637"/>
            <a:ext cx="8911687" cy="12808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Desirable properties of Formal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6" y="1333500"/>
            <a:ext cx="9456249" cy="449579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Unambiguous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exactly one specific and (set) satisfies it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e.g., “Component X has a single port on its top and bottom”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Consistency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a </a:t>
            </a:r>
            <a:r>
              <a:rPr lang="en-US" sz="2000" dirty="0" err="1">
                <a:latin typeface="Arial Rounded MT Bold" panose="020F0704030504030204" pitchFamily="34" charset="0"/>
              </a:rPr>
              <a:t>specificand</a:t>
            </a:r>
            <a:r>
              <a:rPr lang="en-US" sz="2000" dirty="0">
                <a:latin typeface="Arial Rounded MT Bold" panose="020F0704030504030204" pitchFamily="34" charset="0"/>
              </a:rPr>
              <a:t> exists that satisfies it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e.g., interfaces of interacting components must match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Completeness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all aspects of </a:t>
            </a:r>
            <a:r>
              <a:rPr lang="en-US" sz="2000" dirty="0" err="1">
                <a:latin typeface="Arial Rounded MT Bold" panose="020F0704030504030204" pitchFamily="34" charset="0"/>
              </a:rPr>
              <a:t>specificand</a:t>
            </a:r>
            <a:r>
              <a:rPr lang="en-US" sz="2000" dirty="0">
                <a:latin typeface="Arial Rounded MT Bold" panose="020F0704030504030204" pitchFamily="34" charset="0"/>
              </a:rPr>
              <a:t> are specified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e.g., interfaces of all components must be specified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may be achieved incrementally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Inference</a:t>
            </a: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consequence relation used to prove properties about the </a:t>
            </a:r>
            <a:r>
              <a:rPr lang="en-US" sz="2000" dirty="0" err="1">
                <a:latin typeface="Arial Rounded MT Bold" panose="020F0704030504030204" pitchFamily="34" charset="0"/>
              </a:rPr>
              <a:t>specificands</a:t>
            </a:r>
            <a:r>
              <a:rPr lang="en-US" sz="2000" dirty="0">
                <a:latin typeface="Arial Rounded MT Bold" panose="020F0704030504030204" pitchFamily="34" charset="0"/>
              </a:rPr>
              <a:t> that satisfy a specification</a:t>
            </a:r>
          </a:p>
        </p:txBody>
      </p:sp>
    </p:spTree>
    <p:extLst>
      <p:ext uri="{BB962C8B-B14F-4D97-AF65-F5344CB8AC3E}">
        <p14:creationId xmlns:p14="http://schemas.microsoft.com/office/powerpoint/2010/main" val="41377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Specification in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62364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Formal specifications based software development process is well-defined.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Orientation goes from customer to developer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Formal specifications are expressed in languages with formally defined syntax and semantics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hierarchical decomposition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mathematical foundation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graphical presentation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accompanied by informal description</a:t>
            </a:r>
          </a:p>
        </p:txBody>
      </p:sp>
    </p:spTree>
    <p:extLst>
      <p:ext uri="{BB962C8B-B14F-4D97-AF65-F5344CB8AC3E}">
        <p14:creationId xmlns:p14="http://schemas.microsoft.com/office/powerpoint/2010/main" val="142780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62364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Model-oriented specifications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specify system behavior by constructing a model in terms of well-defined mathematical constructs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Property-oriented specifications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specify system behavior in terms of properties that must be satisfied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Visual specifications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specify system structure and behavior by graphical depictions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Executable specifications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specify system behavior completely enough that specifications can run on a computer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this is not programming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D2FE45-0C0B-118D-43FF-22504E359B28}"/>
              </a:ext>
            </a:extLst>
          </p:cNvPr>
          <p:cNvSpPr txBox="1">
            <a:spLocks/>
          </p:cNvSpPr>
          <p:nvPr/>
        </p:nvSpPr>
        <p:spPr>
          <a:xfrm>
            <a:off x="2602450" y="329899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GB" sz="3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Formal Specifications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4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E0A7-8C6C-4A68-AD92-1F0FBF44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450" y="329899"/>
            <a:ext cx="8911687" cy="1280890"/>
          </a:xfrm>
        </p:spPr>
        <p:txBody>
          <a:bodyPr/>
          <a:lstStyle/>
          <a:p>
            <a:pPr>
              <a:defRPr/>
            </a:pP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Formal Specifications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8F1FDA38-BC57-4D6B-9965-B095EB005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099" y="1447801"/>
            <a:ext cx="9070975" cy="5135563"/>
          </a:xfrm>
        </p:spPr>
        <p:txBody>
          <a:bodyPr>
            <a:normAutofit/>
          </a:bodyPr>
          <a:lstStyle/>
          <a:p>
            <a:pPr>
              <a:buSzPct val="69000"/>
              <a:tabLst>
                <a:tab pos="327025" algn="l"/>
              </a:tabLst>
            </a:pPr>
            <a:r>
              <a:rPr lang="en-GB" altLang="en-US" sz="2400" dirty="0" err="1">
                <a:latin typeface="Arial Rounded MT Bold" panose="020F0704030504030204" pitchFamily="34" charset="0"/>
              </a:rPr>
              <a:t>Behavioral</a:t>
            </a:r>
            <a:r>
              <a:rPr lang="en-GB" altLang="en-US" sz="2400" dirty="0">
                <a:latin typeface="Arial Rounded MT Bold" panose="020F0704030504030204" pitchFamily="34" charset="0"/>
              </a:rPr>
              <a:t> specifications describe constraints on the </a:t>
            </a:r>
            <a:r>
              <a:rPr lang="en-GB" altLang="en-US" sz="2400" dirty="0" err="1">
                <a:latin typeface="Arial Rounded MT Bold" panose="020F0704030504030204" pitchFamily="34" charset="0"/>
              </a:rPr>
              <a:t>behavior</a:t>
            </a:r>
            <a:r>
              <a:rPr lang="en-GB" altLang="en-US" sz="2400" dirty="0">
                <a:latin typeface="Arial Rounded MT Bold" panose="020F0704030504030204" pitchFamily="34" charset="0"/>
              </a:rPr>
              <a:t> of </a:t>
            </a:r>
            <a:r>
              <a:rPr lang="en-GB" altLang="en-US" sz="2400" dirty="0" err="1">
                <a:latin typeface="Arial Rounded MT Bold" panose="020F0704030504030204" pitchFamily="34" charset="0"/>
              </a:rPr>
              <a:t>specificand</a:t>
            </a:r>
            <a:r>
              <a:rPr lang="en-GB" altLang="en-US" sz="2400" dirty="0">
                <a:latin typeface="Arial Rounded MT Bold" panose="020F0704030504030204" pitchFamily="34" charset="0"/>
              </a:rPr>
              <a:t> – e.g.,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32702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functionality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32702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safety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32702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security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32702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performance</a:t>
            </a:r>
          </a:p>
          <a:p>
            <a:pPr marL="0" indent="0">
              <a:buSzPct val="69000"/>
              <a:buFont typeface="Wingdings" panose="05000000000000000000" pitchFamily="2" charset="2"/>
              <a:buChar char=""/>
              <a:tabLst>
                <a:tab pos="327025" algn="l"/>
              </a:tabLst>
            </a:pPr>
            <a:endParaRPr lang="en-GB" altLang="en-US" sz="2400" dirty="0">
              <a:latin typeface="Arial Rounded MT Bold" panose="020F0704030504030204" pitchFamily="34" charset="0"/>
            </a:endParaRPr>
          </a:p>
          <a:p>
            <a:pPr>
              <a:buSzPct val="69000"/>
              <a:tabLst>
                <a:tab pos="327025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Structural specifications describe constraints on the internal composition of </a:t>
            </a:r>
            <a:r>
              <a:rPr lang="en-GB" altLang="en-US" sz="2400" dirty="0" err="1">
                <a:latin typeface="Arial Rounded MT Bold" panose="020F0704030504030204" pitchFamily="34" charset="0"/>
              </a:rPr>
              <a:t>specificand</a:t>
            </a:r>
            <a:endParaRPr lang="en-GB" altLang="en-US" sz="2400" dirty="0">
              <a:latin typeface="Arial Rounded MT Bold" panose="020F0704030504030204" pitchFamily="34" charset="0"/>
            </a:endParaRP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32702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module interconnection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32702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uses and is-composed-of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32702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dependence relations</a:t>
            </a:r>
          </a:p>
          <a:p>
            <a:pPr marL="0" indent="0">
              <a:tabLst>
                <a:tab pos="327025" algn="l"/>
              </a:tabLst>
            </a:pPr>
            <a:endParaRPr lang="en-US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A430B74-D52E-4941-ACEE-B17501ACB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59E2F9-D42D-4516-9B82-C5EDEA49FE3C}" type="slidenum">
              <a:rPr lang="en-GB" altLang="en-US">
                <a:solidFill>
                  <a:srgbClr val="B5A788"/>
                </a:solidFill>
              </a:rPr>
              <a:pPr/>
              <a:t>10</a:t>
            </a:fld>
            <a:endParaRPr lang="en-GB" altLang="en-US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E2E8-4D23-4FA7-B6F5-4CF10443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Specification Language Types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692A-3BA9-48E3-B46E-B16EF694F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599"/>
            <a:ext cx="9231313" cy="4219575"/>
          </a:xfrm>
        </p:spPr>
        <p:txBody>
          <a:bodyPr>
            <a:normAutofit/>
          </a:bodyPr>
          <a:lstStyle/>
          <a:p>
            <a:pPr>
              <a:spcBef>
                <a:spcPts val="459"/>
              </a:spcBef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Abstract Model Specifications</a:t>
            </a:r>
          </a:p>
          <a:p>
            <a:pPr marL="111125" indent="-64769">
              <a:spcBef>
                <a:spcPts val="200"/>
              </a:spcBef>
              <a:buSzPct val="110000"/>
              <a:buFont typeface="Arial"/>
              <a:buChar char="–"/>
              <a:tabLst>
                <a:tab pos="111760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defines operations in terms of well-defined mathematical model</a:t>
            </a:r>
          </a:p>
          <a:p>
            <a:pPr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Algebraic Specifications</a:t>
            </a:r>
          </a:p>
          <a:p>
            <a:pPr marL="111125" indent="-64769">
              <a:spcBef>
                <a:spcPts val="195"/>
              </a:spcBef>
              <a:buSzPct val="110000"/>
              <a:buFont typeface="Arial"/>
              <a:buChar char="–"/>
              <a:tabLst>
                <a:tab pos="111760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defines operations by a collection of equivalence relations</a:t>
            </a:r>
          </a:p>
          <a:p>
            <a:pPr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State Transition Specifications</a:t>
            </a:r>
          </a:p>
          <a:p>
            <a:pPr marL="111125" indent="-64769">
              <a:spcBef>
                <a:spcPts val="200"/>
              </a:spcBef>
              <a:buSzPct val="110000"/>
              <a:buFont typeface="Arial"/>
              <a:buChar char="–"/>
              <a:tabLst>
                <a:tab pos="111760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defines operations in terms of states and transitions</a:t>
            </a:r>
          </a:p>
          <a:p>
            <a:pPr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Axiomatic Specifications</a:t>
            </a:r>
          </a:p>
          <a:p>
            <a:pPr marL="111125" indent="-64769">
              <a:spcBef>
                <a:spcPts val="200"/>
              </a:spcBef>
              <a:buSzPct val="110000"/>
              <a:buFont typeface="Arial"/>
              <a:buChar char="–"/>
              <a:tabLst>
                <a:tab pos="111760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defines operations by logical assertions</a:t>
            </a:r>
          </a:p>
          <a:p>
            <a:pPr>
              <a:defRPr/>
            </a:pP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426DAB9D-1261-40EA-A694-83EAEC3969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C581318-E24F-45CE-916D-33AA263DE329}" type="slidenum">
              <a:rPr lang="en-GB" altLang="en-US">
                <a:solidFill>
                  <a:srgbClr val="B5A788"/>
                </a:solidFill>
              </a:rPr>
              <a:pPr/>
              <a:t>11</a:t>
            </a:fld>
            <a:endParaRPr lang="en-GB" altLang="en-US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62E2-CA83-4CB9-92EB-84A7E8775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0" y="274638"/>
            <a:ext cx="7499350" cy="850900"/>
          </a:xfrm>
        </p:spPr>
        <p:txBody>
          <a:bodyPr/>
          <a:lstStyle/>
          <a:p>
            <a:pPr>
              <a:defRPr/>
            </a:pP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Model Specifications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DF51E91B-EC23-45A0-8366-6C1EF8108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100" y="1268414"/>
            <a:ext cx="9080500" cy="5184775"/>
          </a:xfrm>
        </p:spPr>
        <p:txBody>
          <a:bodyPr>
            <a:normAutofit lnSpcReduction="10000"/>
          </a:bodyPr>
          <a:lstStyle/>
          <a:p>
            <a:pPr>
              <a:buSzPct val="69000"/>
              <a:tabLst>
                <a:tab pos="295275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Explicitly describes </a:t>
            </a:r>
            <a:r>
              <a:rPr lang="en-GB" altLang="en-US" sz="2400" dirty="0" err="1">
                <a:latin typeface="Arial Rounded MT Bold" panose="020F0704030504030204" pitchFamily="34" charset="0"/>
              </a:rPr>
              <a:t>behavior</a:t>
            </a:r>
            <a:r>
              <a:rPr lang="en-GB" altLang="en-US" sz="2400" dirty="0">
                <a:latin typeface="Arial Rounded MT Bold" panose="020F0704030504030204" pitchFamily="34" charset="0"/>
              </a:rPr>
              <a:t> in terms of a model using  well-defined types (sets, sequences, relations,  functions) and defines operations by showing effects on  model</a:t>
            </a:r>
          </a:p>
          <a:p>
            <a:pPr>
              <a:buSzPct val="69000"/>
              <a:tabLst>
                <a:tab pos="295275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Specification includes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9527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type: syntax of object being specified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9527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model: underlying structure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9527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invariant: properties of </a:t>
            </a:r>
            <a:r>
              <a:rPr lang="en-GB" altLang="en-US" sz="2200" dirty="0" err="1">
                <a:latin typeface="Arial Rounded MT Bold" panose="020F0704030504030204" pitchFamily="34" charset="0"/>
              </a:rPr>
              <a:t>modeled</a:t>
            </a:r>
            <a:r>
              <a:rPr lang="en-GB" altLang="en-US" sz="2200" dirty="0">
                <a:latin typeface="Arial Rounded MT Bold" panose="020F0704030504030204" pitchFamily="34" charset="0"/>
              </a:rPr>
              <a:t> object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9527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pre/post conditions: semantics of operations</a:t>
            </a:r>
          </a:p>
          <a:p>
            <a:pPr>
              <a:buSzPct val="69000"/>
              <a:tabLst>
                <a:tab pos="295275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Pros and Cons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9527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state is made explicit in model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9527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suggests an implementation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95275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widely applicable because of </a:t>
            </a:r>
            <a:r>
              <a:rPr lang="en-GB" altLang="en-US" sz="2200" dirty="0" err="1">
                <a:latin typeface="Arial Rounded MT Bold" panose="020F0704030504030204" pitchFamily="34" charset="0"/>
              </a:rPr>
              <a:t>modeling</a:t>
            </a:r>
            <a:r>
              <a:rPr lang="en-GB" altLang="en-US" sz="2200" dirty="0">
                <a:latin typeface="Arial Rounded MT Bold" panose="020F0704030504030204" pitchFamily="34" charset="0"/>
              </a:rPr>
              <a:t> orientation</a:t>
            </a:r>
          </a:p>
          <a:p>
            <a:pPr>
              <a:buSzPct val="69000"/>
              <a:tabLst>
                <a:tab pos="295275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Various notations: VDM, Z, RAISE</a:t>
            </a:r>
            <a:endParaRPr lang="en-US" alt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B6067093-1DF3-432F-832F-AB900B0201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F21DD9-5A7B-4B13-8502-B31D9613701E}" type="slidenum">
              <a:rPr lang="en-GB" altLang="en-US">
                <a:solidFill>
                  <a:srgbClr val="B5A788"/>
                </a:solidFill>
              </a:rPr>
              <a:pPr/>
              <a:t>12</a:t>
            </a:fld>
            <a:endParaRPr lang="en-GB" altLang="en-US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8FF2-4D8C-473E-B6C4-483E9DCB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Algebraic Specifications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CEA0-3EEE-4B58-A1B3-806C282A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9412288" cy="4200525"/>
          </a:xfrm>
        </p:spPr>
        <p:txBody>
          <a:bodyPr>
            <a:normAutofit/>
          </a:bodyPr>
          <a:lstStyle/>
          <a:p>
            <a:pPr>
              <a:buSzPct val="69230"/>
              <a:tabLst>
                <a:tab pos="341630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Specification includes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/>
              <a:buChar char="–"/>
              <a:tabLst>
                <a:tab pos="428625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functionality: syntax and legal constructions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/>
              <a:buChar char="–"/>
              <a:tabLst>
                <a:tab pos="428625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relations: semantics by equivalence classes</a:t>
            </a:r>
          </a:p>
          <a:p>
            <a:pPr>
              <a:buSzPct val="69230"/>
              <a:tabLst>
                <a:tab pos="317500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Pros and Cons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/>
              <a:buChar char="–"/>
              <a:tabLst>
                <a:tab pos="428625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only pure functions described (no side effects)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/>
              <a:buChar char="–"/>
              <a:tabLst>
                <a:tab pos="428625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supports extensibility of data abstractions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/>
              <a:buChar char="–"/>
              <a:tabLst>
                <a:tab pos="428625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often hard to comprehend and construct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/>
              <a:buChar char="–"/>
              <a:tabLst>
                <a:tab pos="428625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particularly applicable to abstract data types</a:t>
            </a:r>
          </a:p>
          <a:p>
            <a:pPr>
              <a:buSzPct val="69230"/>
              <a:tabLst>
                <a:tab pos="317500" algn="l"/>
              </a:tabLst>
              <a:defRPr/>
            </a:pPr>
            <a:r>
              <a:rPr lang="en-GB" sz="2400" dirty="0">
                <a:latin typeface="Arial Rounded MT Bold" panose="020F0704030504030204" pitchFamily="34" charset="0"/>
              </a:rPr>
              <a:t>Various notations: OBJ, Larch, Clear, Anna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82BAF8A9-129E-4DCF-9C99-21AEEA6B5D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71EAD29-E84E-4C7F-BE2E-1BE69CD5B428}" type="slidenum">
              <a:rPr lang="en-GB" altLang="en-US">
                <a:solidFill>
                  <a:srgbClr val="B5A788"/>
                </a:solidFill>
              </a:rPr>
              <a:pPr/>
              <a:t>13</a:t>
            </a:fld>
            <a:endParaRPr lang="en-GB" altLang="en-US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0240-B606-4C19-A591-43AB6A98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0" y="115888"/>
            <a:ext cx="7499350" cy="779462"/>
          </a:xfrm>
        </p:spPr>
        <p:txBody>
          <a:bodyPr/>
          <a:lstStyle/>
          <a:p>
            <a:pPr>
              <a:defRPr/>
            </a:pP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Transition Specifications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C603D4D-F71E-4273-987B-9D610A40B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100" y="1057276"/>
            <a:ext cx="9023350" cy="5684836"/>
          </a:xfrm>
        </p:spPr>
        <p:txBody>
          <a:bodyPr>
            <a:normAutofit lnSpcReduction="10000"/>
          </a:bodyPr>
          <a:lstStyle/>
          <a:p>
            <a:pPr algn="just">
              <a:buSzPct val="69000"/>
              <a:tabLst>
                <a:tab pos="273050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Explicitly describes system behaviour by a set of states and defines operations as transitions between states or observations on state</a:t>
            </a:r>
          </a:p>
          <a:p>
            <a:pPr algn="just">
              <a:buSzPct val="69000"/>
              <a:tabLst>
                <a:tab pos="273050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Specification includes</a:t>
            </a:r>
          </a:p>
          <a:p>
            <a:pPr marL="400050" lvl="2" indent="0" algn="just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73050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states: possible values</a:t>
            </a:r>
          </a:p>
          <a:p>
            <a:pPr marL="400050" lvl="2" indent="0" algn="just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73050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transitions: semantics by state transformations and observations</a:t>
            </a:r>
          </a:p>
          <a:p>
            <a:pPr algn="just">
              <a:buSzPct val="69000"/>
              <a:tabLst>
                <a:tab pos="273050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Pros and Cons</a:t>
            </a:r>
          </a:p>
          <a:p>
            <a:pPr marL="400050" lvl="2" indent="0" algn="just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73050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free of representational details (except augmentations)</a:t>
            </a:r>
          </a:p>
          <a:p>
            <a:pPr marL="400050" lvl="2" indent="0" algn="just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73050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state explosion is common</a:t>
            </a:r>
          </a:p>
          <a:p>
            <a:pPr marL="400050" lvl="2" indent="0" algn="just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73050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extensions to minimize states and modularize</a:t>
            </a:r>
          </a:p>
          <a:p>
            <a:pPr marL="400050" lvl="2" indent="0" algn="just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73050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particularly applicable to control systems, languages, hardware</a:t>
            </a:r>
          </a:p>
          <a:p>
            <a:pPr algn="just">
              <a:buSzPct val="69000"/>
              <a:tabLst>
                <a:tab pos="273050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Graphical as well as textual notations: </a:t>
            </a:r>
            <a:r>
              <a:rPr lang="en-GB" altLang="en-US" sz="2400" dirty="0" err="1">
                <a:latin typeface="Arial Rounded MT Bold" panose="020F0704030504030204" pitchFamily="34" charset="0"/>
              </a:rPr>
              <a:t>StateCharts</a:t>
            </a:r>
            <a:r>
              <a:rPr lang="en-GB" altLang="en-US" sz="2400" dirty="0">
                <a:latin typeface="Arial Rounded MT Bold" panose="020F0704030504030204" pitchFamily="34" charset="0"/>
              </a:rPr>
              <a:t>,  ASLAN, </a:t>
            </a:r>
            <a:r>
              <a:rPr lang="en-GB" altLang="en-US" sz="2400" dirty="0" err="1">
                <a:latin typeface="Arial Rounded MT Bold" panose="020F0704030504030204" pitchFamily="34" charset="0"/>
              </a:rPr>
              <a:t>Paisley,InaJo</a:t>
            </a:r>
            <a:r>
              <a:rPr lang="en-GB" altLang="en-US" sz="2400" dirty="0">
                <a:latin typeface="Arial Rounded MT Bold" panose="020F0704030504030204" pitchFamily="34" charset="0"/>
              </a:rPr>
              <a:t>, Special</a:t>
            </a:r>
          </a:p>
          <a:p>
            <a:pPr marL="0" indent="0" algn="just">
              <a:tabLst>
                <a:tab pos="273050" algn="l"/>
              </a:tabLst>
            </a:pPr>
            <a:endParaRPr lang="en-US" alt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0FB8DFC-0E76-4648-833E-A2C47EB530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B408A1F-ADDC-4491-9794-B0FDDF66974E}" type="slidenum">
              <a:rPr lang="en-GB" altLang="en-US">
                <a:solidFill>
                  <a:srgbClr val="B5A788"/>
                </a:solidFill>
              </a:rPr>
              <a:pPr/>
              <a:t>14</a:t>
            </a:fld>
            <a:endParaRPr lang="en-GB" altLang="en-US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7564-9E4A-4196-9E76-3332F078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0" y="44451"/>
            <a:ext cx="7499350" cy="777875"/>
          </a:xfrm>
        </p:spPr>
        <p:txBody>
          <a:bodyPr/>
          <a:lstStyle/>
          <a:p>
            <a:pPr>
              <a:defRPr/>
            </a:pP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Axiomatic Specifications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D68B3480-E5B0-4B5C-9252-A348D7737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099" y="1057275"/>
            <a:ext cx="9146871" cy="5756274"/>
          </a:xfrm>
        </p:spPr>
        <p:txBody>
          <a:bodyPr>
            <a:normAutofit fontScale="92500" lnSpcReduction="10000"/>
          </a:bodyPr>
          <a:lstStyle/>
          <a:p>
            <a:pPr>
              <a:buSzPct val="69000"/>
              <a:tabLst>
                <a:tab pos="249238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Implicitly defines </a:t>
            </a:r>
            <a:r>
              <a:rPr lang="en-GB" altLang="en-US" sz="2400" dirty="0" err="1">
                <a:latin typeface="Arial Rounded MT Bold" panose="020F0704030504030204" pitchFamily="34" charset="0"/>
              </a:rPr>
              <a:t>behavior</a:t>
            </a:r>
            <a:r>
              <a:rPr lang="en-GB" altLang="en-US" sz="2400" dirty="0">
                <a:latin typeface="Arial Rounded MT Bold" panose="020F0704030504030204" pitchFamily="34" charset="0"/>
              </a:rPr>
              <a:t> in terms of [first-order] logic  formulas specifying input/output assertions (and  possibly intermediate assertions)</a:t>
            </a:r>
          </a:p>
          <a:p>
            <a:pPr>
              <a:buSzPct val="69000"/>
              <a:tabLst>
                <a:tab pos="249238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Specification includes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operation interfaces: input/output parameters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operation axioms: pre/post assertions on input/output</a:t>
            </a:r>
          </a:p>
          <a:p>
            <a:pPr>
              <a:buSzPct val="69000"/>
              <a:tabLst>
                <a:tab pos="249238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Pros and Cons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fairly easy to understand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widely applicable (although hard to scale up)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most widely used technique in proving (inductive assertion method)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foundation of mathematics in software development</a:t>
            </a:r>
          </a:p>
          <a:p>
            <a:pPr>
              <a:buSzPct val="69000"/>
              <a:tabLst>
                <a:tab pos="249238" algn="l"/>
              </a:tabLst>
            </a:pPr>
            <a:r>
              <a:rPr lang="en-GB" altLang="en-US" sz="2400" dirty="0">
                <a:latin typeface="Arial Rounded MT Bold" panose="020F0704030504030204" pitchFamily="34" charset="0"/>
              </a:rPr>
              <a:t>Many languages support this type of specification: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Extensions include various logics for specific application domains (e.g.,  temporal logic: RTIL, GIL)</a:t>
            </a:r>
          </a:p>
          <a:p>
            <a:pPr marL="400050" lvl="2" indent="0">
              <a:spcBef>
                <a:spcPts val="600"/>
              </a:spcBef>
              <a:buSzPct val="110000"/>
              <a:buFont typeface="Arial" panose="020B0604020202020204" pitchFamily="34" charset="0"/>
              <a:buChar char="–"/>
              <a:tabLst>
                <a:tab pos="249238" algn="l"/>
              </a:tabLst>
            </a:pPr>
            <a:r>
              <a:rPr lang="en-GB" altLang="en-US" sz="2200" dirty="0">
                <a:latin typeface="Arial Rounded MT Bold" panose="020F0704030504030204" pitchFamily="34" charset="0"/>
              </a:rPr>
              <a:t>VDM, Anna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A0AABC07-41D8-41A2-AF13-EFEB24B53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743AEEC-6AEA-4462-8295-2E41E28A3AD4}" type="slidenum">
              <a:rPr lang="en-GB" altLang="en-US">
                <a:solidFill>
                  <a:srgbClr val="B5A788"/>
                </a:solidFill>
              </a:rPr>
              <a:pPr/>
              <a:t>15</a:t>
            </a:fld>
            <a:endParaRPr lang="en-GB" altLang="en-US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7756" y="641695"/>
            <a:ext cx="8911687" cy="12808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Integrating Formal Methods in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62364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Option 1:</a:t>
            </a:r>
            <a:r>
              <a:rPr lang="en-US" sz="2400" dirty="0">
                <a:latin typeface="Arial Rounded MT Bold" panose="020F0704030504030204" pitchFamily="34" charset="0"/>
              </a:rPr>
              <a:t> business as usual with after-the-fact verification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formal specification constructed after system implementation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implementation checked for consistency against the specification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increases confidence in the system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time- and money-consuming</a:t>
            </a:r>
          </a:p>
        </p:txBody>
      </p:sp>
    </p:spTree>
    <p:extLst>
      <p:ext uri="{BB962C8B-B14F-4D97-AF65-F5344CB8AC3E}">
        <p14:creationId xmlns:p14="http://schemas.microsoft.com/office/powerpoint/2010/main" val="188668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Integrating Formal Methods in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62364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Option 2</a:t>
            </a:r>
            <a:r>
              <a:rPr lang="en-US" sz="2400" dirty="0">
                <a:latin typeface="Arial Rounded MT Bold" panose="020F0704030504030204" pitchFamily="34" charset="0"/>
              </a:rPr>
              <a:t>: verification in parallel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two teams — development team and formal verification team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requires constant communication between the two teams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may degenerate into option 1 due to poor communication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less time consuming but as expensive as option 1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r>
              <a:rPr lang="en-US" sz="2400" b="1" dirty="0">
                <a:latin typeface="Arial Rounded MT Bold" panose="020F0704030504030204" pitchFamily="34" charset="0"/>
              </a:rPr>
              <a:t>Option 3</a:t>
            </a:r>
            <a:r>
              <a:rPr lang="en-US" sz="2400" dirty="0">
                <a:latin typeface="Arial Rounded MT Bold" panose="020F0704030504030204" pitchFamily="34" charset="0"/>
              </a:rPr>
              <a:t>: integrated verification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one team that does development and formal verification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single integrated development process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better, cheaper, and faster than options 1 and 2</a:t>
            </a:r>
          </a:p>
        </p:txBody>
      </p:sp>
    </p:spTree>
    <p:extLst>
      <p:ext uri="{BB962C8B-B14F-4D97-AF65-F5344CB8AC3E}">
        <p14:creationId xmlns:p14="http://schemas.microsoft.com/office/powerpoint/2010/main" val="383438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162" y="1632612"/>
            <a:ext cx="9359534" cy="43815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Arial Rounded MT Bold" panose="020F0704030504030204" pitchFamily="34" charset="0"/>
              </a:rPr>
              <a:t>Intended to remedy the seven sins of the specifier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noise / redundancy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Silence -- missing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Over specification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contradiction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ambiguity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forward reference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wishful thinking</a:t>
            </a:r>
          </a:p>
        </p:txBody>
      </p:sp>
    </p:spTree>
    <p:extLst>
      <p:ext uri="{BB962C8B-B14F-4D97-AF65-F5344CB8AC3E}">
        <p14:creationId xmlns:p14="http://schemas.microsoft.com/office/powerpoint/2010/main" val="153804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38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https://www.slideshare.net/erant/formal-modeling-with-z</a:t>
            </a:r>
            <a:endParaRPr lang="en-US" dirty="0"/>
          </a:p>
          <a:p>
            <a:r>
              <a:rPr lang="en-US" dirty="0">
                <a:hlinkClick r:id="rId3"/>
              </a:rPr>
              <a:t>https://www.slideshare.net/Falguni_Roy/z-specification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466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7524</TotalTime>
  <Words>925</Words>
  <Application>Microsoft Office PowerPoint</Application>
  <PresentationFormat>Widescreen</PresentationFormat>
  <Paragraphs>186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Narrow</vt:lpstr>
      <vt:lpstr>Arial Rounded MT Bold</vt:lpstr>
      <vt:lpstr>Calibri</vt:lpstr>
      <vt:lpstr>Century Gothic</vt:lpstr>
      <vt:lpstr>Wingdings</vt:lpstr>
      <vt:lpstr>Wingdings 3</vt:lpstr>
      <vt:lpstr>Wisp</vt:lpstr>
      <vt:lpstr>Formal Methods in Software Engineering</vt:lpstr>
      <vt:lpstr>Formal Methods</vt:lpstr>
      <vt:lpstr>Motivation for Formal Specification</vt:lpstr>
      <vt:lpstr>Motivation for Formal Specification</vt:lpstr>
      <vt:lpstr>Formal Specification</vt:lpstr>
      <vt:lpstr>Formal methods in software development</vt:lpstr>
      <vt:lpstr>Desirable properties of Formal Specification</vt:lpstr>
      <vt:lpstr>Formal Specification in software development</vt:lpstr>
      <vt:lpstr>PowerPoint Presentation</vt:lpstr>
      <vt:lpstr>Types of Formal Specifications</vt:lpstr>
      <vt:lpstr>Basic Specification Language Types</vt:lpstr>
      <vt:lpstr>Abstract Model Specifications</vt:lpstr>
      <vt:lpstr>Algebraic Specifications</vt:lpstr>
      <vt:lpstr>State Transition Specifications</vt:lpstr>
      <vt:lpstr>Axiomatic Specifications</vt:lpstr>
      <vt:lpstr>Integrating Formal Methods in Development</vt:lpstr>
      <vt:lpstr>Integrating Formal Methods in Development</vt:lpstr>
      <vt:lpstr>Formal Specification</vt:lpstr>
      <vt:lpstr>Thanks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Mahfooz</dc:creator>
  <cp:lastModifiedBy>Rida Maryam</cp:lastModifiedBy>
  <cp:revision>263</cp:revision>
  <dcterms:created xsi:type="dcterms:W3CDTF">2017-01-18T11:57:24Z</dcterms:created>
  <dcterms:modified xsi:type="dcterms:W3CDTF">2025-07-30T04:44:56Z</dcterms:modified>
</cp:coreProperties>
</file>