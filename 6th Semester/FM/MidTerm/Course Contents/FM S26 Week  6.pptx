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02" r:id="rId19"/>
    <p:sldId id="303" r:id="rId20"/>
    <p:sldId id="304" r:id="rId21"/>
    <p:sldId id="305" r:id="rId22"/>
    <p:sldId id="271" r:id="rId23"/>
    <p:sldId id="272" r:id="rId24"/>
    <p:sldId id="273" r:id="rId25"/>
    <p:sldId id="274" r:id="rId26"/>
    <p:sldId id="275" r:id="rId27"/>
    <p:sldId id="278" r:id="rId28"/>
  </p:sldIdLst>
  <p:sldSz cx="4610100" cy="3460750"/>
  <p:notesSz cx="4610100" cy="3460750"/>
  <p:embeddedFontLst>
    <p:embeddedFont>
      <p:font typeface="Gill Sans MT" panose="020B0502020104020203"/>
      <p:regular r:id="rId32"/>
      <p:bold r:id="rId33"/>
      <p:italic r:id="rId34"/>
      <p:boldItalic r:id="rId35"/>
    </p:embeddedFont>
    <p:embeddedFont>
      <p:font typeface="Tahoma" panose="020B0604030504040204"/>
      <p:regular r:id="rId36"/>
      <p:bold r:id="rId37"/>
    </p:embeddedFont>
    <p:embeddedFont>
      <p:font typeface="Century Gothic" panose="020B0502020202020204"/>
      <p:regular r:id="rId38"/>
      <p:bold r:id="rId39"/>
      <p:italic r:id="rId40"/>
      <p:boldItalic r:id="rId41"/>
    </p:embeddedFont>
    <p:embeddedFont>
      <p:font typeface="Meiryo" panose="020B0604030504040204" charset="-128"/>
      <p:regular r:id="rId42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1" d="100"/>
          <a:sy n="131" d="100"/>
        </p:scale>
        <p:origin x="1506" y="96"/>
      </p:cViewPr>
      <p:guideLst>
        <p:guide orient="horz" pos="2880"/>
        <p:guide pos="21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9013" y="1159915"/>
            <a:ext cx="1192072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92" y="702880"/>
            <a:ext cx="435551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663" y="3350342"/>
            <a:ext cx="54356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6918" y="3351784"/>
            <a:ext cx="3067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slide" Target="slide2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2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26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0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2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384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908262"/>
            <a:ext cx="4483735" cy="599440"/>
            <a:chOff x="87743" y="908262"/>
            <a:chExt cx="4483735" cy="5994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405877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93177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0" y="914400"/>
              <a:ext cx="50749" cy="4914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08262"/>
              <a:ext cx="4432935" cy="548640"/>
            </a:xfrm>
            <a:custGeom>
              <a:avLst/>
              <a:gdLst/>
              <a:ahLst/>
              <a:cxnLst/>
              <a:rect l="l" t="t" r="r" b="b"/>
              <a:pathLst>
                <a:path w="4432935" h="548640">
                  <a:moveTo>
                    <a:pt x="4432566" y="0"/>
                  </a:moveTo>
                  <a:lnTo>
                    <a:pt x="0" y="0"/>
                  </a:lnTo>
                  <a:lnTo>
                    <a:pt x="0" y="497614"/>
                  </a:lnTo>
                  <a:lnTo>
                    <a:pt x="4008" y="517339"/>
                  </a:lnTo>
                  <a:lnTo>
                    <a:pt x="14922" y="533492"/>
                  </a:lnTo>
                  <a:lnTo>
                    <a:pt x="31075" y="544406"/>
                  </a:lnTo>
                  <a:lnTo>
                    <a:pt x="50800" y="548414"/>
                  </a:lnTo>
                  <a:lnTo>
                    <a:pt x="4381765" y="548414"/>
                  </a:lnTo>
                  <a:lnTo>
                    <a:pt x="4401490" y="544406"/>
                  </a:lnTo>
                  <a:lnTo>
                    <a:pt x="4417643" y="533492"/>
                  </a:lnTo>
                  <a:lnTo>
                    <a:pt x="4428558" y="517339"/>
                  </a:lnTo>
                  <a:lnTo>
                    <a:pt x="4432566" y="49761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0" y="952500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h="472440">
                  <a:moveTo>
                    <a:pt x="0" y="4724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0" y="939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0" y="927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0" y="914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23850" y="860791"/>
            <a:ext cx="4114799" cy="31867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6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Formal</a:t>
            </a:r>
            <a:r>
              <a:rPr sz="16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Methods</a:t>
            </a:r>
            <a:r>
              <a:rPr lang="en-US" sz="16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in Software Engineering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536663" y="3350342"/>
            <a:ext cx="54356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</a:fld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9050" y="424815"/>
            <a:ext cx="4502150" cy="245808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9050" y="2882900"/>
            <a:ext cx="4501515" cy="579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Order</a:t>
            </a: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Logic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786320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7292" y="702880"/>
            <a:ext cx="435551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8290" marR="271780" algn="just">
              <a:lnSpc>
                <a:spcPct val="103000"/>
              </a:lnSpc>
              <a:spcBef>
                <a:spcPts val="55"/>
              </a:spcBef>
            </a:pP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Philosophers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developed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overcome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logic.</a:t>
            </a:r>
            <a:r>
              <a:rPr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Actually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5080" algn="just">
              <a:lnSpc>
                <a:spcPct val="103000"/>
              </a:lnSpc>
            </a:pP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usually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very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infinite,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distinguished from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quantified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  <a:endParaRPr spc="-4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77470" algn="just">
              <a:lnSpc>
                <a:spcPct val="1030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additionally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covers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spc="-45" dirty="0">
                <a:solidFill>
                  <a:srgbClr val="8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resembles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may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false.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5715" algn="just">
              <a:lnSpc>
                <a:spcPct val="1030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reasoning</a:t>
            </a:r>
            <a:r>
              <a:rPr spc="-2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objects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1258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06675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620949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</a:fld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715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1400" b="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Order</a:t>
            </a: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Logic</a:t>
            </a:r>
            <a:r>
              <a:rPr sz="1400" b="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Predicate</a:t>
            </a:r>
            <a:r>
              <a:rPr sz="1400" b="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Logic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83997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629" rIns="0" bIns="0" rtlCol="0">
            <a:spAutoFit/>
          </a:bodyPr>
          <a:lstStyle/>
          <a:p>
            <a:pPr marL="288290" marR="83820">
              <a:lnSpc>
                <a:spcPct val="103000"/>
              </a:lnSpc>
              <a:spcBef>
                <a:spcPts val="55"/>
              </a:spcBef>
            </a:pPr>
            <a:r>
              <a:rPr spc="-60" dirty="0"/>
              <a:t>In</a:t>
            </a:r>
            <a:r>
              <a:rPr spc="-30" dirty="0"/>
              <a:t> </a:t>
            </a:r>
            <a:r>
              <a:rPr spc="-20" dirty="0"/>
              <a:t>traditional</a:t>
            </a:r>
            <a:r>
              <a:rPr spc="-60" dirty="0"/>
              <a:t> </a:t>
            </a:r>
            <a:r>
              <a:rPr spc="-45" dirty="0"/>
              <a:t>grammar,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40" dirty="0">
                <a:solidFill>
                  <a:srgbClr val="0000FF"/>
                </a:solidFill>
              </a:rPr>
              <a:t>predicate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65" dirty="0"/>
              <a:t>one</a:t>
            </a:r>
            <a:r>
              <a:rPr spc="-2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35" dirty="0"/>
              <a:t> </a:t>
            </a:r>
            <a:r>
              <a:rPr spc="-40" dirty="0"/>
              <a:t>two </a:t>
            </a:r>
            <a:r>
              <a:rPr spc="-20" dirty="0"/>
              <a:t>main</a:t>
            </a:r>
            <a:r>
              <a:rPr spc="-35" dirty="0"/>
              <a:t> </a:t>
            </a:r>
            <a:r>
              <a:rPr spc="-30" dirty="0"/>
              <a:t>parts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55" dirty="0"/>
              <a:t>sentence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55" dirty="0"/>
              <a:t> </a:t>
            </a:r>
            <a:r>
              <a:rPr spc="-30" dirty="0"/>
              <a:t>other</a:t>
            </a:r>
            <a:r>
              <a:rPr spc="-40" dirty="0"/>
              <a:t> </a:t>
            </a:r>
            <a:r>
              <a:rPr spc="-30" dirty="0"/>
              <a:t>being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0" dirty="0"/>
              <a:t> subject,</a:t>
            </a:r>
            <a:r>
              <a:rPr spc="-45" dirty="0"/>
              <a:t> </a:t>
            </a:r>
            <a:r>
              <a:rPr spc="-25" dirty="0"/>
              <a:t>which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40" dirty="0"/>
              <a:t>predicate </a:t>
            </a:r>
            <a:r>
              <a:rPr spc="-10" dirty="0"/>
              <a:t>modifies.</a:t>
            </a:r>
            <a:endParaRPr spc="-10" dirty="0"/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z="1350"/>
          </a:p>
          <a:p>
            <a:pPr marL="288290" marR="531495">
              <a:lnSpc>
                <a:spcPct val="103000"/>
              </a:lnSpc>
            </a:pPr>
            <a:r>
              <a:rPr dirty="0"/>
              <a:t>“Sky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blue”</a:t>
            </a:r>
            <a:r>
              <a:rPr spc="-35" dirty="0"/>
              <a:t> </a:t>
            </a:r>
            <a:r>
              <a:rPr dirty="0"/>
              <a:t>Sky</a:t>
            </a:r>
            <a:r>
              <a:rPr spc="-35" dirty="0"/>
              <a:t> </a:t>
            </a:r>
            <a:r>
              <a:rPr spc="-20" dirty="0"/>
              <a:t>acts</a:t>
            </a:r>
            <a:r>
              <a:rPr spc="-35" dirty="0"/>
              <a:t> </a:t>
            </a:r>
            <a:r>
              <a:rPr spc="-30" dirty="0"/>
              <a:t>as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40" dirty="0"/>
              <a:t> </a:t>
            </a:r>
            <a:r>
              <a:rPr spc="-40" dirty="0">
                <a:solidFill>
                  <a:srgbClr val="0000FF"/>
                </a:solidFill>
              </a:rPr>
              <a:t>subject</a:t>
            </a:r>
            <a:r>
              <a:rPr spc="-40" dirty="0"/>
              <a:t>,</a:t>
            </a:r>
            <a:r>
              <a:rPr spc="-35" dirty="0"/>
              <a:t> and </a:t>
            </a:r>
            <a:r>
              <a:rPr dirty="0"/>
              <a:t>is</a:t>
            </a:r>
            <a:r>
              <a:rPr spc="-35" dirty="0"/>
              <a:t> blue</a:t>
            </a:r>
            <a:r>
              <a:rPr spc="-40" dirty="0"/>
              <a:t> </a:t>
            </a:r>
            <a:r>
              <a:rPr spc="-20" dirty="0"/>
              <a:t>acts</a:t>
            </a:r>
            <a:r>
              <a:rPr spc="-35" dirty="0"/>
              <a:t> </a:t>
            </a:r>
            <a:r>
              <a:rPr spc="-30" dirty="0"/>
              <a:t>as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spc="-10" dirty="0">
                <a:solidFill>
                  <a:srgbClr val="FF0000"/>
                </a:solidFill>
              </a:rPr>
              <a:t>predicate</a:t>
            </a:r>
            <a:r>
              <a:rPr spc="-10" dirty="0"/>
              <a:t>.</a:t>
            </a:r>
            <a:endParaRPr spc="-10" dirty="0"/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pc="-10" dirty="0"/>
          </a:p>
          <a:p>
            <a:pPr marL="288290" marR="1673225">
              <a:lnSpc>
                <a:spcPct val="125000"/>
              </a:lnSpc>
            </a:pPr>
            <a:r>
              <a:rPr spc="-10" dirty="0"/>
              <a:t>Brother(Ali,</a:t>
            </a:r>
            <a:r>
              <a:rPr spc="-5" dirty="0"/>
              <a:t> </a:t>
            </a:r>
            <a:r>
              <a:rPr spc="-20" dirty="0"/>
              <a:t>Ahmad),</a:t>
            </a:r>
            <a:r>
              <a:rPr spc="-5" dirty="0"/>
              <a:t> </a:t>
            </a:r>
            <a:r>
              <a:rPr spc="-35" dirty="0"/>
              <a:t>lessThan(2,</a:t>
            </a:r>
            <a:r>
              <a:rPr dirty="0"/>
              <a:t> </a:t>
            </a:r>
            <a:r>
              <a:rPr spc="-25" dirty="0"/>
              <a:t>3)</a:t>
            </a:r>
            <a:r>
              <a:rPr spc="40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40" dirty="0"/>
              <a:t>predicate </a:t>
            </a:r>
            <a:r>
              <a:rPr dirty="0"/>
              <a:t>is</a:t>
            </a:r>
            <a:r>
              <a:rPr spc="-40" dirty="0"/>
              <a:t> </a:t>
            </a:r>
            <a:r>
              <a:rPr spc="-30" dirty="0"/>
              <a:t>much</a:t>
            </a:r>
            <a:r>
              <a:rPr spc="-40" dirty="0"/>
              <a:t> </a:t>
            </a:r>
            <a:r>
              <a:rPr spc="-10" dirty="0"/>
              <a:t>like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50" dirty="0">
                <a:solidFill>
                  <a:srgbClr val="FF0000"/>
                </a:solidFill>
              </a:rPr>
              <a:t>verb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phrase</a:t>
            </a:r>
            <a:r>
              <a:rPr spc="-50" dirty="0"/>
              <a:t>.</a:t>
            </a:r>
            <a:endParaRPr spc="-50" dirty="0"/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z="1350"/>
          </a:p>
          <a:p>
            <a:pPr marL="288290" marR="5080">
              <a:lnSpc>
                <a:spcPct val="103000"/>
              </a:lnSpc>
            </a:pPr>
            <a:r>
              <a:rPr spc="-85" dirty="0"/>
              <a:t>In</a:t>
            </a:r>
            <a:r>
              <a:rPr spc="-5" dirty="0"/>
              <a:t> </a:t>
            </a:r>
            <a:r>
              <a:rPr spc="-20" dirty="0"/>
              <a:t>linguistic</a:t>
            </a:r>
            <a:r>
              <a:rPr spc="-65" dirty="0"/>
              <a:t> </a:t>
            </a:r>
            <a:r>
              <a:rPr spc="-45" dirty="0"/>
              <a:t>semantics,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40" dirty="0"/>
              <a:t>predicate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an</a:t>
            </a:r>
            <a:r>
              <a:rPr spc="-35" dirty="0"/>
              <a:t> </a:t>
            </a:r>
            <a:r>
              <a:rPr spc="-60" dirty="0"/>
              <a:t>expression</a:t>
            </a:r>
            <a:r>
              <a:rPr spc="-2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pc="-35" dirty="0"/>
              <a:t>can be</a:t>
            </a:r>
            <a:r>
              <a:rPr spc="-30" dirty="0"/>
              <a:t> </a:t>
            </a:r>
            <a:r>
              <a:rPr spc="-35" dirty="0"/>
              <a:t>true </a:t>
            </a:r>
            <a:r>
              <a:rPr spc="-25" dirty="0"/>
              <a:t>of </a:t>
            </a:r>
            <a:r>
              <a:rPr spc="-10" dirty="0"/>
              <a:t>something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9415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833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15836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540469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5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</a:fld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Order</a:t>
            </a: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Logic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55313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69695"/>
            <a:ext cx="4058285" cy="27679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First-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order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logic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(FOL)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logic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speak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about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objects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which are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domain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discourse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(variables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range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over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individuals)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or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universe.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Objects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Example:</a:t>
            </a:r>
            <a:r>
              <a:rPr sz="1100" spc="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FMSE,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John,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CS102,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etc.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ahoma" panose="020B0604030504040204"/>
              <a:cs typeface="Tahoma" panose="020B0604030504040204"/>
            </a:endParaRPr>
          </a:p>
          <a:p>
            <a:pPr marL="12700" marR="9525">
              <a:lnSpc>
                <a:spcPct val="103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FOL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concerned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about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solidFill>
                  <a:srgbClr val="8C0000"/>
                </a:solidFill>
                <a:latin typeface="Tahoma" panose="020B0604030504040204"/>
                <a:cs typeface="Tahoma" panose="020B0604030504040204"/>
              </a:rPr>
              <a:t>properties</a:t>
            </a:r>
            <a:r>
              <a:rPr sz="1100" spc="-25" dirty="0">
                <a:solidFill>
                  <a:srgbClr val="8C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these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objects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relations</a:t>
            </a:r>
            <a:r>
              <a:rPr sz="11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over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objects.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 panose="020B0604030504040204"/>
              <a:cs typeface="Tahoma" panose="020B0604030504040204"/>
            </a:endParaRPr>
          </a:p>
          <a:p>
            <a:pPr marL="12700" marR="1122680">
              <a:lnSpc>
                <a:spcPct val="111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FOL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contains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predicates,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quantifiers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variables.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Relations/Predicates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Example:</a:t>
            </a:r>
            <a:r>
              <a:rPr sz="1100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isMan(John), hasClass(FMSE,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CS102),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isKindOf(apple,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fruit)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616585">
              <a:lnSpc>
                <a:spcPct val="222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FOL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has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functions</a:t>
            </a:r>
            <a:r>
              <a:rPr sz="11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including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constants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that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denote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objects.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Example;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Philosopher(a)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Meiryo" panose="020B0604030504040204" charset="-128"/>
                <a:cs typeface="Meiryo" panose="020B0604030504040204" charset="-128"/>
              </a:rPr>
              <a:t>→</a:t>
            </a:r>
            <a:r>
              <a:rPr sz="1100" i="1" spc="-35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Scholar(a)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9720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918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01324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213152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75720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3129191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</a:fld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219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FOL</a:t>
            </a:r>
            <a:r>
              <a:rPr sz="1400" b="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Quantifiers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91046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23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6213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765808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49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342756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494584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646426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827022"/>
            <a:ext cx="2781300" cy="1912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logical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connectives:</a:t>
            </a:r>
            <a:r>
              <a:rPr sz="1100" spc="1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9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9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90" dirty="0">
                <a:latin typeface="Meiryo" panose="020B0604030504040204" charset="-128"/>
                <a:cs typeface="Meiryo" panose="020B0604030504040204" charset="-128"/>
              </a:rPr>
              <a:t>∨</a:t>
            </a:r>
            <a:r>
              <a:rPr sz="1100" i="1" spc="-9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90" dirty="0">
                <a:latin typeface="Meiryo" panose="020B0604030504040204" charset="-128"/>
                <a:cs typeface="Meiryo" panose="020B0604030504040204" charset="-128"/>
              </a:rPr>
              <a:t>∧</a:t>
            </a:r>
            <a:r>
              <a:rPr sz="1100" i="1" spc="-9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Meiryo" panose="020B0604030504040204" charset="-128"/>
                <a:cs typeface="Meiryo" panose="020B0604030504040204" charset="-128"/>
              </a:rPr>
              <a:t>⇒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50" dirty="0">
                <a:latin typeface="Meiryo" panose="020B0604030504040204" charset="-128"/>
                <a:cs typeface="Meiryo" panose="020B0604030504040204" charset="-128"/>
              </a:rPr>
              <a:t>⇔</a:t>
            </a:r>
            <a:endParaRPr sz="1100">
              <a:latin typeface="Meiryo" panose="020B0604030504040204" charset="-128"/>
              <a:cs typeface="Meiryo" panose="020B0604030504040204" charset="-128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Quantifiers: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solidFill>
                  <a:srgbClr val="8C0000"/>
                </a:solidFill>
                <a:latin typeface="Tahoma" panose="020B0604030504040204"/>
                <a:cs typeface="Tahoma" panose="020B0604030504040204"/>
              </a:rPr>
              <a:t>Universal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1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254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0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,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King(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150" dirty="0">
                <a:latin typeface="Meiryo" panose="020B0604030504040204" charset="-128"/>
                <a:cs typeface="Meiryo" panose="020B0604030504040204" charset="-128"/>
              </a:rPr>
              <a:t>∧</a:t>
            </a:r>
            <a:r>
              <a:rPr sz="1000" i="1" spc="-10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Greedy(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Meiryo" panose="020B0604030504040204" charset="-128"/>
                <a:cs typeface="Meiryo" panose="020B0604030504040204" charset="-128"/>
              </a:rPr>
              <a:t>⇒</a:t>
            </a:r>
            <a:r>
              <a:rPr sz="1000" i="1" spc="-10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Evil(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)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190"/>
              </a:spcBef>
            </a:pPr>
            <a:r>
              <a:rPr sz="10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Existential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1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254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000" i="1" spc="-254" dirty="0">
                <a:latin typeface="Arial" panose="020B0604020202020204"/>
                <a:cs typeface="Arial" panose="020B0604020202020204"/>
              </a:rPr>
              <a:t>y</a:t>
            </a:r>
            <a:r>
              <a:rPr sz="1000" i="1" spc="10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85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spc="-45" dirty="0">
                <a:latin typeface="Arial" panose="020B0604020202020204"/>
                <a:cs typeface="Arial" panose="020B0604020202020204"/>
              </a:rPr>
              <a:t>isFather</a:t>
            </a:r>
            <a:r>
              <a:rPr sz="1000" i="1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dirty="0">
                <a:latin typeface="Arial" panose="020B0604020202020204"/>
                <a:cs typeface="Arial" panose="020B0604020202020204"/>
              </a:rPr>
              <a:t>y,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John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))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Evil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king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john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rules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England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1200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9560" marR="866140">
              <a:lnSpc>
                <a:spcPct val="100000"/>
              </a:lnSpc>
              <a:spcBef>
                <a:spcPts val="475"/>
              </a:spcBef>
            </a:pPr>
            <a:r>
              <a:rPr sz="1000" b="1" spc="-20" dirty="0">
                <a:latin typeface="Gill Sans MT" panose="020B0502020104020203"/>
                <a:cs typeface="Gill Sans MT" panose="020B0502020104020203"/>
              </a:rPr>
              <a:t>Objects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John,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England,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1200 </a:t>
            </a:r>
            <a:r>
              <a:rPr sz="1000" b="1" spc="-25" dirty="0">
                <a:latin typeface="Gill Sans MT" panose="020B0502020104020203"/>
                <a:cs typeface="Gill Sans MT" panose="020B0502020104020203"/>
              </a:rPr>
              <a:t>Property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evil,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king</a:t>
            </a:r>
            <a:r>
              <a:rPr sz="1000" spc="20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Gill Sans MT" panose="020B0502020104020203"/>
                <a:cs typeface="Gill Sans MT" panose="020B0502020104020203"/>
              </a:rPr>
              <a:t>Relation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: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ruled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6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</a:fld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51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Properties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b="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Quantifiers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9443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648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085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7045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260269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563926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860931"/>
            <a:ext cx="3738879" cy="17964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same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x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same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x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54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54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same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x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b="1" spc="-25" dirty="0">
                <a:latin typeface="Gill Sans MT" panose="020B0502020104020203"/>
                <a:cs typeface="Gill Sans MT" panose="020B0502020104020203"/>
              </a:rPr>
              <a:t>Quantifiers</a:t>
            </a:r>
            <a:r>
              <a:rPr sz="1100" b="1" spc="20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Daulity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i="1" spc="-254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0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15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Likes(</a:t>
            </a:r>
            <a:r>
              <a:rPr sz="10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,</a:t>
            </a:r>
            <a:r>
              <a:rPr sz="10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IceCream)</a:t>
            </a:r>
            <a:r>
              <a:rPr sz="10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Meiryo" panose="020B0604030504040204" charset="-128"/>
                <a:cs typeface="Meiryo" panose="020B0604030504040204" charset="-128"/>
              </a:rPr>
              <a:t>≡ </a:t>
            </a:r>
            <a:r>
              <a:rPr sz="1000" i="1" spc="-180" dirty="0">
                <a:latin typeface="Meiryo" panose="020B0604030504040204" charset="-128"/>
                <a:cs typeface="Meiryo" panose="020B0604030504040204" charset="-128"/>
              </a:rPr>
              <a:t>¬∃</a:t>
            </a:r>
            <a:r>
              <a:rPr sz="1000" i="1" spc="-180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8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000" i="1" spc="-5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Likes(</a:t>
            </a:r>
            <a:r>
              <a:rPr sz="10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,</a:t>
            </a:r>
            <a:r>
              <a:rPr sz="10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IceCream)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190"/>
              </a:spcBef>
            </a:pPr>
            <a:r>
              <a:rPr sz="1000" i="1" spc="-254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000" i="1" spc="-254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15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Likes(</a:t>
            </a:r>
            <a:r>
              <a:rPr sz="10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,</a:t>
            </a:r>
            <a:r>
              <a:rPr sz="10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MangoIceCream)</a:t>
            </a:r>
            <a:r>
              <a:rPr sz="10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Meiryo" panose="020B0604030504040204" charset="-128"/>
                <a:cs typeface="Meiryo" panose="020B0604030504040204" charset="-128"/>
              </a:rPr>
              <a:t>≡</a:t>
            </a:r>
            <a:r>
              <a:rPr sz="1000" i="1" spc="5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i="1" spc="-180" dirty="0">
                <a:latin typeface="Meiryo" panose="020B0604030504040204" charset="-128"/>
                <a:cs typeface="Meiryo" panose="020B0604030504040204" charset="-128"/>
              </a:rPr>
              <a:t>¬∀</a:t>
            </a:r>
            <a:r>
              <a:rPr sz="1000" i="1" spc="-180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8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000" i="1" spc="5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Likes(</a:t>
            </a:r>
            <a:r>
              <a:rPr sz="10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,</a:t>
            </a:r>
            <a:r>
              <a:rPr sz="10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MangoIceCream)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5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51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Properties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b="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Quantifiers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16806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5018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3229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314397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830819"/>
            <a:ext cx="2050414" cy="1591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Equivalence</a:t>
            </a:r>
            <a:endParaRPr sz="1100" dirty="0">
              <a:latin typeface="Gill Sans MT" panose="020B0502020104020203"/>
              <a:cs typeface="Gill Sans MT" panose="020B0502020104020203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i="1" spc="-185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xP</a:t>
            </a:r>
            <a:r>
              <a:rPr sz="1100" i="1" spc="10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equivalent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10" dirty="0">
                <a:latin typeface="Meiryo" panose="020B0604030504040204" charset="-128"/>
                <a:cs typeface="Meiryo" panose="020B0604030504040204" charset="-128"/>
              </a:rPr>
              <a:t>¬∀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1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P</a:t>
            </a:r>
            <a:endParaRPr sz="1100" dirty="0">
              <a:latin typeface="Arial" panose="020B0604020202020204"/>
              <a:cs typeface="Arial" panose="020B0604020202020204"/>
            </a:endParaRPr>
          </a:p>
          <a:p>
            <a:pPr marL="289560">
              <a:lnSpc>
                <a:spcPct val="100000"/>
              </a:lnSpc>
              <a:spcBef>
                <a:spcPts val="1685"/>
              </a:spcBef>
            </a:pPr>
            <a:r>
              <a:rPr sz="1100" i="1" spc="-150" dirty="0">
                <a:latin typeface="Meiryo" panose="020B0604030504040204" charset="-128"/>
                <a:cs typeface="Meiryo" panose="020B0604030504040204" charset="-128"/>
              </a:rPr>
              <a:t>¬∃</a:t>
            </a:r>
            <a:r>
              <a:rPr sz="1100" i="1" spc="-15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15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150" dirty="0">
                <a:latin typeface="Arial" panose="020B0604020202020204"/>
                <a:cs typeface="Arial" panose="020B0604020202020204"/>
              </a:rPr>
              <a:t>P</a:t>
            </a:r>
            <a:r>
              <a:rPr sz="1100" i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equivalent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xP</a:t>
            </a:r>
            <a:endParaRPr sz="1100" dirty="0">
              <a:latin typeface="Arial" panose="020B0604020202020204"/>
              <a:cs typeface="Arial" panose="020B0604020202020204"/>
            </a:endParaRPr>
          </a:p>
          <a:p>
            <a:pPr marL="289560">
              <a:lnSpc>
                <a:spcPct val="100000"/>
              </a:lnSpc>
              <a:spcBef>
                <a:spcPts val="1690"/>
              </a:spcBef>
            </a:pPr>
            <a:r>
              <a:rPr sz="1100" i="1" spc="-145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14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145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145" dirty="0">
                <a:latin typeface="Arial" panose="020B0604020202020204"/>
                <a:cs typeface="Arial" panose="020B0604020202020204"/>
              </a:rPr>
              <a:t>P</a:t>
            </a:r>
            <a:r>
              <a:rPr sz="1100" i="1" spc="8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equivalent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Meiryo" panose="020B0604030504040204" charset="-128"/>
                <a:cs typeface="Meiryo" panose="020B0604030504040204" charset="-128"/>
              </a:rPr>
              <a:t>¬∀</a:t>
            </a:r>
            <a:r>
              <a:rPr sz="1100" i="1" spc="-20" dirty="0">
                <a:latin typeface="Arial" panose="020B0604020202020204"/>
                <a:cs typeface="Arial" panose="020B0604020202020204"/>
              </a:rPr>
              <a:t>xP</a:t>
            </a:r>
            <a:endParaRPr sz="1100" dirty="0">
              <a:latin typeface="Arial" panose="020B0604020202020204"/>
              <a:cs typeface="Arial" panose="020B0604020202020204"/>
            </a:endParaRPr>
          </a:p>
          <a:p>
            <a:pPr marL="289560">
              <a:lnSpc>
                <a:spcPct val="100000"/>
              </a:lnSpc>
              <a:spcBef>
                <a:spcPts val="1690"/>
              </a:spcBef>
            </a:pPr>
            <a:r>
              <a:rPr sz="1100" i="1" spc="-150" dirty="0">
                <a:latin typeface="Meiryo" panose="020B0604030504040204" charset="-128"/>
                <a:cs typeface="Meiryo" panose="020B0604030504040204" charset="-128"/>
              </a:rPr>
              <a:t>¬∃</a:t>
            </a:r>
            <a:r>
              <a:rPr sz="1100" i="1" spc="-150" dirty="0" err="1">
                <a:latin typeface="Arial" panose="020B0604020202020204"/>
                <a:cs typeface="Arial" panose="020B0604020202020204"/>
              </a:rPr>
              <a:t>xP</a:t>
            </a:r>
            <a:r>
              <a:rPr sz="1100" i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equivalent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145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14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145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145" dirty="0">
                <a:latin typeface="Arial" panose="020B0604020202020204"/>
                <a:cs typeface="Arial" panose="020B0604020202020204"/>
              </a:rPr>
              <a:t>P</a:t>
            </a:r>
            <a:endParaRPr sz="11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0795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FOL</a:t>
            </a:r>
            <a:r>
              <a:rPr sz="1400" b="0" spc="1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Formulas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08697"/>
            <a:ext cx="43567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set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formulas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(also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called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well-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formed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formulas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or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wffs)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inductively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defined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by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following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rules: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72" y="1254960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124202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1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1200834"/>
            <a:ext cx="41167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latin typeface="Gill Sans MT" panose="020B0502020104020203"/>
                <a:cs typeface="Gill Sans MT" panose="020B0502020104020203"/>
              </a:rPr>
              <a:t>Predicate</a:t>
            </a:r>
            <a:r>
              <a:rPr sz="1100" b="1" spc="-50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sz="1100" b="1" spc="-20" dirty="0">
                <a:latin typeface="Gill Sans MT" panose="020B0502020104020203"/>
                <a:cs typeface="Gill Sans MT" panose="020B0502020104020203"/>
              </a:rPr>
              <a:t>symbols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.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P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an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n</a:t>
            </a:r>
            <a:r>
              <a:rPr sz="1100" i="1" spc="-35" dirty="0">
                <a:latin typeface="Meiryo" panose="020B0604030504040204" charset="-128"/>
                <a:cs typeface="Meiryo" panose="020B0604030504040204" charset="-128"/>
              </a:rPr>
              <a:t>−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ary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predicate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symbol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baseline="-10000" dirty="0">
                <a:latin typeface="Century Gothic" panose="020B0502020202020204"/>
                <a:cs typeface="Century Gothic" panose="020B0502020202020204"/>
              </a:rPr>
              <a:t>1</a:t>
            </a:r>
            <a:r>
              <a:rPr sz="1100" i="1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spc="-37" baseline="-10000" dirty="0">
                <a:latin typeface="Arial" panose="020B0604020202020204"/>
                <a:cs typeface="Arial" panose="020B0604020202020204"/>
              </a:rPr>
              <a:t>n</a:t>
            </a:r>
            <a:endParaRPr sz="1200" baseline="-1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532" y="1329129"/>
            <a:ext cx="391414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terms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P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baseline="-10000" dirty="0">
                <a:latin typeface="Century Gothic" panose="020B0502020202020204"/>
                <a:cs typeface="Century Gothic" panose="020B0502020202020204"/>
              </a:rPr>
              <a:t>1</a:t>
            </a:r>
            <a:r>
              <a:rPr sz="1100" i="1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100" i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baseline="-10000" dirty="0">
                <a:latin typeface="Arial" panose="020B0604020202020204"/>
                <a:cs typeface="Arial" panose="020B0604020202020204"/>
              </a:rPr>
              <a:t>n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formula.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Equality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.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equality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symbol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considered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part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logic,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t</a:t>
            </a:r>
            <a:r>
              <a:rPr sz="1200" spc="-37" baseline="-10000" dirty="0">
                <a:latin typeface="Century Gothic" panose="020B0502020202020204"/>
                <a:cs typeface="Century Gothic" panose="020B0502020202020204"/>
              </a:rPr>
              <a:t>1</a:t>
            </a:r>
            <a:endParaRPr sz="1200" baseline="-10000">
              <a:latin typeface="Century Gothic" panose="020B0502020202020204"/>
              <a:cs typeface="Century Gothic" panose="020B0502020202020204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baseline="-10000" dirty="0">
                <a:latin typeface="Century Gothic" panose="020B0502020202020204"/>
                <a:cs typeface="Century Gothic" panose="020B0502020202020204"/>
              </a:rPr>
              <a:t>2</a:t>
            </a:r>
            <a:r>
              <a:rPr sz="1200" spc="270" baseline="-1000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terms,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baseline="-10000" dirty="0">
                <a:latin typeface="Century Gothic" panose="020B0502020202020204"/>
                <a:cs typeface="Century Gothic" panose="020B0502020202020204"/>
              </a:rPr>
              <a:t>1</a:t>
            </a:r>
            <a:r>
              <a:rPr sz="1200" spc="179" baseline="-1000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t</a:t>
            </a:r>
            <a:r>
              <a:rPr sz="1200" baseline="-10000" dirty="0">
                <a:latin typeface="Century Gothic" panose="020B0502020202020204"/>
                <a:cs typeface="Century Gothic" panose="020B0502020202020204"/>
              </a:rPr>
              <a:t>2</a:t>
            </a:r>
            <a:r>
              <a:rPr sz="1200" spc="270" baseline="-1000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formula.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b="1" spc="-20" dirty="0">
                <a:latin typeface="Gill Sans MT" panose="020B0502020104020203"/>
                <a:cs typeface="Gill Sans MT" panose="020B0502020104020203"/>
              </a:rPr>
              <a:t>Negation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.</a:t>
            </a:r>
            <a:r>
              <a:rPr sz="11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formula,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dirty="0">
                <a:latin typeface="Arial" panose="020B0604020202020204"/>
                <a:cs typeface="Arial" panose="020B0604020202020204"/>
              </a:rPr>
              <a:t>ϕ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formula.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72" y="1637064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62413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72" y="2019169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200623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72" y="2229202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221626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4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2175089"/>
            <a:ext cx="3763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Gill Sans MT" panose="020B0502020104020203"/>
                <a:cs typeface="Gill Sans MT" panose="020B0502020104020203"/>
              </a:rPr>
              <a:t>Binary</a:t>
            </a:r>
            <a:r>
              <a:rPr sz="1100" b="1" spc="10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sz="1100" b="1" spc="-20" dirty="0">
                <a:latin typeface="Gill Sans MT" panose="020B0502020104020203"/>
                <a:cs typeface="Gill Sans MT" panose="020B0502020104020203"/>
              </a:rPr>
              <a:t>connectives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.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ψ</a:t>
            </a:r>
            <a:r>
              <a:rPr sz="1100" i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formulas,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Meiryo" panose="020B0604030504040204" charset="-128"/>
                <a:cs typeface="Meiryo" panose="020B0604030504040204" charset="-128"/>
              </a:rPr>
              <a:t>→</a:t>
            </a:r>
            <a:r>
              <a:rPr sz="1100" i="1" spc="-90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ψ</a:t>
            </a:r>
            <a:r>
              <a:rPr sz="1100" i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a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2303384"/>
            <a:ext cx="393700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formula.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Similar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rules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apply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other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binary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logical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connectives.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latin typeface="Gill Sans MT" panose="020B0502020104020203"/>
                <a:cs typeface="Gill Sans MT" panose="020B0502020104020203"/>
              </a:rPr>
              <a:t>Quantifiers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.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formula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and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variable,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390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14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(for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all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x,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holds)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39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14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(there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exists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such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that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ϕ</a:t>
            </a:r>
            <a:r>
              <a:rPr sz="11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formulas.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672" y="2611307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1917" y="259838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5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30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Expressing</a:t>
            </a:r>
            <a:r>
              <a:rPr sz="1400" b="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Facts</a:t>
            </a:r>
            <a:r>
              <a:rPr sz="1400" b="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1400" b="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FOL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91958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36128"/>
            <a:ext cx="1901189" cy="17202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Lucy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professor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440055">
              <a:lnSpc>
                <a:spcPct val="228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All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professors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people.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John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dean.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Deans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professors.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Everyone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friend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someone.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168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8379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06589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448001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787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Knowledge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base</a:t>
            </a: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1400" b="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FOL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82171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38262"/>
            <a:ext cx="3740785" cy="2102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Lucy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professor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—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isProf(lucy)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347980">
              <a:lnSpc>
                <a:spcPct val="228000"/>
              </a:lnSpc>
            </a:pPr>
            <a:r>
              <a:rPr sz="1100" dirty="0">
                <a:latin typeface="Tahoma" panose="020B0604030504040204"/>
                <a:cs typeface="Tahoma" panose="020B0604030504040204"/>
              </a:rPr>
              <a:t>All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professors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people.</a:t>
            </a:r>
            <a:r>
              <a:rPr sz="1100" spc="1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—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75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isProf</a:t>
            </a:r>
            <a:r>
              <a:rPr sz="1100" i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Meiryo" panose="020B0604030504040204" charset="-128"/>
                <a:cs typeface="Meiryo" panose="020B0604030504040204" charset="-128"/>
              </a:rPr>
              <a:t>→</a:t>
            </a:r>
            <a:r>
              <a:rPr sz="1100" i="1" spc="-75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100" i="1" spc="-70" dirty="0">
                <a:latin typeface="Arial" panose="020B0604020202020204"/>
                <a:cs typeface="Arial" panose="020B0604020202020204"/>
              </a:rPr>
              <a:t>isPerson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7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))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John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dean.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—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isDean(John)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127635">
              <a:lnSpc>
                <a:spcPct val="228000"/>
              </a:lnSpc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Deans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professors.</a:t>
            </a:r>
            <a:r>
              <a:rPr sz="1100" spc="1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—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75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isDean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Meiryo" panose="020B0604030504040204" charset="-128"/>
                <a:cs typeface="Meiryo" panose="020B0604030504040204" charset="-128"/>
              </a:rPr>
              <a:t>→</a:t>
            </a:r>
            <a:r>
              <a:rPr sz="1100" i="1" spc="-90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isProf</a:t>
            </a:r>
            <a:r>
              <a:rPr sz="1100" i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))</a:t>
            </a:r>
            <a:r>
              <a:rPr sz="1100" spc="4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Everyone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friend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someone.</a:t>
            </a:r>
            <a:r>
              <a:rPr sz="1100" spc="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—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75" dirty="0">
                <a:latin typeface="Meiryo" panose="020B0604030504040204" charset="-128"/>
                <a:cs typeface="Meiryo" panose="020B0604030504040204" charset="-128"/>
              </a:rPr>
              <a:t>∀</a:t>
            </a:r>
            <a:r>
              <a:rPr sz="1100" i="1" spc="-2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9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9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y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isFriendOf</a:t>
            </a:r>
            <a:r>
              <a:rPr sz="11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latin typeface="Arial" panose="020B0604020202020204"/>
                <a:cs typeface="Arial" panose="020B0604020202020204"/>
              </a:rPr>
              <a:t>y,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)))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100" b="1" spc="-35" dirty="0">
                <a:latin typeface="Gill Sans MT" panose="020B0502020104020203"/>
                <a:cs typeface="Gill Sans MT" panose="020B0502020104020203"/>
              </a:rPr>
              <a:t>Question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: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John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no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friend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Lucy?</a:t>
            </a:r>
            <a:r>
              <a:rPr sz="1100" spc="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65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i="1" spc="-65" dirty="0">
                <a:latin typeface="Arial" panose="020B0604020202020204"/>
                <a:cs typeface="Arial" panose="020B0604020202020204"/>
              </a:rPr>
              <a:t>isFriendOf</a:t>
            </a:r>
            <a:r>
              <a:rPr sz="11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John,</a:t>
            </a:r>
            <a:r>
              <a:rPr sz="110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45" dirty="0">
                <a:latin typeface="Arial" panose="020B0604020202020204"/>
                <a:cs typeface="Arial" panose="020B0604020202020204"/>
              </a:rPr>
              <a:t>lucy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)?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382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58592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680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35013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732252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4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185" y="406752"/>
            <a:ext cx="4058050" cy="2437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211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Knowledge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Engineering</a:t>
            </a:r>
            <a:r>
              <a:rPr sz="1400" b="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Steps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671944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88491"/>
            <a:ext cx="3689350" cy="2484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Identify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task.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Assemble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relevant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knowledge.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228000"/>
              </a:lnSpc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Decide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vocabulary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predicates,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functions,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constants.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Encode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general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knowledge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about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domain.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379095">
              <a:lnSpc>
                <a:spcPct val="228000"/>
              </a:lnSpc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Encode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description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specific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problem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instance.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Pose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queries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inference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procedure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get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answers.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Debug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knowledge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base.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5404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3616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181827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20037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582481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2964586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5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185" y="160018"/>
            <a:ext cx="4287614" cy="298833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9932" y="412175"/>
            <a:ext cx="4025044" cy="233699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0763" y="453715"/>
            <a:ext cx="4027372" cy="24084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64795" y="434975"/>
            <a:ext cx="4114800" cy="2644775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74320" y="511175"/>
            <a:ext cx="4105275" cy="2294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9690" y="688975"/>
            <a:ext cx="4490720" cy="2083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30505" y="434975"/>
            <a:ext cx="4255135" cy="198691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231140" y="2416175"/>
            <a:ext cx="4253865" cy="9963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263" y="221714"/>
            <a:ext cx="4166937" cy="2838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0675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Syntax</a:t>
            </a:r>
            <a:r>
              <a:rPr sz="1400" b="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Order</a:t>
            </a:r>
            <a:r>
              <a:rPr sz="1400" b="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Logic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91958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4678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Syntax</a:t>
            </a:r>
            <a:r>
              <a:rPr spc="-35" dirty="0"/>
              <a:t> </a:t>
            </a:r>
            <a:r>
              <a:rPr spc="-50" dirty="0"/>
              <a:t>determines</a:t>
            </a:r>
            <a:r>
              <a:rPr spc="-30" dirty="0"/>
              <a:t> </a:t>
            </a:r>
            <a:r>
              <a:rPr spc="-25" dirty="0"/>
              <a:t>which</a:t>
            </a:r>
            <a:r>
              <a:rPr spc="-35" dirty="0"/>
              <a:t> </a:t>
            </a:r>
            <a:r>
              <a:rPr spc="-25" dirty="0"/>
              <a:t>collection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40" dirty="0"/>
              <a:t>symbols</a:t>
            </a:r>
            <a:r>
              <a:rPr spc="-35" dirty="0"/>
              <a:t> </a:t>
            </a:r>
            <a:r>
              <a:rPr spc="-55" dirty="0"/>
              <a:t>are</a:t>
            </a:r>
            <a:r>
              <a:rPr spc="-30" dirty="0"/>
              <a:t> legal </a:t>
            </a:r>
            <a:r>
              <a:rPr spc="-10" dirty="0"/>
              <a:t>expression.</a:t>
            </a:r>
            <a:endParaRPr spc="-10" dirty="0"/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z="1350"/>
          </a:p>
          <a:p>
            <a:pPr marL="288290" marR="5080">
              <a:lnSpc>
                <a:spcPct val="103000"/>
              </a:lnSpc>
            </a:pPr>
            <a:r>
              <a:rPr spc="-80" dirty="0"/>
              <a:t>In</a:t>
            </a:r>
            <a:r>
              <a:rPr spc="-10" dirty="0"/>
              <a:t> </a:t>
            </a:r>
            <a:r>
              <a:rPr dirty="0"/>
              <a:t>First</a:t>
            </a:r>
            <a:r>
              <a:rPr spc="-70" dirty="0"/>
              <a:t> </a:t>
            </a:r>
            <a:r>
              <a:rPr spc="-20" dirty="0"/>
              <a:t>Order</a:t>
            </a:r>
            <a:r>
              <a:rPr spc="-10" dirty="0"/>
              <a:t> Logic, </a:t>
            </a:r>
            <a:r>
              <a:rPr spc="-110" dirty="0"/>
              <a:t>we</a:t>
            </a:r>
            <a:r>
              <a:rPr spc="5" dirty="0"/>
              <a:t> </a:t>
            </a:r>
            <a:r>
              <a:rPr spc="-65" dirty="0"/>
              <a:t>use</a:t>
            </a:r>
            <a:r>
              <a:rPr spc="-10" dirty="0"/>
              <a:t> </a:t>
            </a:r>
            <a:r>
              <a:rPr spc="-55" dirty="0"/>
              <a:t>Greek</a:t>
            </a:r>
            <a:r>
              <a:rPr spc="-15" dirty="0"/>
              <a:t> </a:t>
            </a:r>
            <a:r>
              <a:rPr spc="-30" dirty="0"/>
              <a:t>letters</a:t>
            </a:r>
            <a:r>
              <a:rPr spc="-10" dirty="0"/>
              <a:t> </a:t>
            </a:r>
            <a:r>
              <a:rPr spc="-20" dirty="0"/>
              <a:t>like</a:t>
            </a:r>
            <a:r>
              <a:rPr spc="-15" dirty="0"/>
              <a:t> </a:t>
            </a:r>
            <a:r>
              <a:rPr i="1" dirty="0">
                <a:latin typeface="Arial" panose="020B0604020202020204"/>
                <a:cs typeface="Arial" panose="020B0604020202020204"/>
              </a:rPr>
              <a:t>ϕ,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i="1" spc="-40" dirty="0">
                <a:latin typeface="Arial" panose="020B0604020202020204"/>
                <a:cs typeface="Arial" panose="020B0604020202020204"/>
              </a:rPr>
              <a:t>ψ,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i="1" dirty="0">
                <a:latin typeface="Arial" panose="020B0604020202020204"/>
                <a:cs typeface="Arial" panose="020B0604020202020204"/>
              </a:rPr>
              <a:t>χ,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Γ</a:t>
            </a:r>
            <a:r>
              <a:rPr i="1" dirty="0">
                <a:latin typeface="Arial" panose="020B0604020202020204"/>
                <a:cs typeface="Arial" panose="020B0604020202020204"/>
              </a:rPr>
              <a:t>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i="1" dirty="0">
                <a:latin typeface="Arial" panose="020B0604020202020204"/>
                <a:cs typeface="Arial" panose="020B0604020202020204"/>
              </a:rPr>
              <a:t>θ</a:t>
            </a:r>
            <a:r>
              <a:rPr i="1" spc="60" dirty="0">
                <a:latin typeface="Arial" panose="020B0604020202020204"/>
                <a:cs typeface="Arial" panose="020B0604020202020204"/>
              </a:rPr>
              <a:t> </a:t>
            </a:r>
            <a:r>
              <a:rPr spc="-10" dirty="0"/>
              <a:t>etc</a:t>
            </a:r>
            <a:r>
              <a:rPr spc="-15" dirty="0"/>
              <a:t> </a:t>
            </a:r>
            <a:r>
              <a:rPr spc="-20" dirty="0"/>
              <a:t>(instead </a:t>
            </a:r>
            <a:r>
              <a:rPr dirty="0"/>
              <a:t>of</a:t>
            </a:r>
            <a:r>
              <a:rPr spc="-50" dirty="0"/>
              <a:t> </a:t>
            </a:r>
            <a:r>
              <a:rPr spc="-35" dirty="0"/>
              <a:t>using</a:t>
            </a:r>
            <a:r>
              <a:rPr spc="-10" dirty="0"/>
              <a:t> </a:t>
            </a:r>
            <a:r>
              <a:rPr i="1" spc="-10" dirty="0">
                <a:latin typeface="Arial" panose="020B0604020202020204"/>
                <a:cs typeface="Arial" panose="020B0604020202020204"/>
              </a:rPr>
              <a:t>p,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i="1" spc="-10" dirty="0">
                <a:latin typeface="Arial" panose="020B0604020202020204"/>
                <a:cs typeface="Arial" panose="020B0604020202020204"/>
              </a:rPr>
              <a:t>q,</a:t>
            </a:r>
            <a:r>
              <a:rPr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i="1" dirty="0">
                <a:latin typeface="Arial" panose="020B0604020202020204"/>
                <a:cs typeface="Arial" panose="020B0604020202020204"/>
              </a:rPr>
              <a:t>r</a:t>
            </a:r>
            <a:r>
              <a:rPr i="1" spc="135" dirty="0">
                <a:latin typeface="Arial" panose="020B0604020202020204"/>
                <a:cs typeface="Arial" panose="020B0604020202020204"/>
              </a:rPr>
              <a:t> </a:t>
            </a:r>
            <a:r>
              <a:rPr spc="-30" dirty="0"/>
              <a:t>as</a:t>
            </a:r>
            <a:r>
              <a:rPr spc="-10" dirty="0"/>
              <a:t> </a:t>
            </a:r>
            <a:r>
              <a:rPr spc="-60" dirty="0"/>
              <a:t>used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Propositional</a:t>
            </a:r>
            <a:r>
              <a:rPr spc="-15" dirty="0"/>
              <a:t> </a:t>
            </a:r>
            <a:r>
              <a:rPr spc="-10" dirty="0"/>
              <a:t>Logic).</a:t>
            </a:r>
            <a:endParaRPr spc="-10" dirty="0"/>
          </a:p>
          <a:p>
            <a:pPr marL="275590">
              <a:lnSpc>
                <a:spcPct val="100000"/>
              </a:lnSpc>
              <a:spcBef>
                <a:spcPts val="20"/>
              </a:spcBef>
            </a:pPr>
            <a:endParaRPr sz="1250"/>
          </a:p>
          <a:p>
            <a:pPr marL="288290">
              <a:lnSpc>
                <a:spcPct val="100000"/>
              </a:lnSpc>
            </a:pPr>
            <a:r>
              <a:rPr spc="-60" dirty="0"/>
              <a:t>In</a:t>
            </a:r>
            <a:r>
              <a:rPr spc="-25" dirty="0"/>
              <a:t> </a:t>
            </a:r>
            <a:r>
              <a:rPr dirty="0"/>
              <a:t>FOL,</a:t>
            </a:r>
            <a:r>
              <a:rPr spc="-25" dirty="0"/>
              <a:t> </a:t>
            </a:r>
            <a:r>
              <a:rPr spc="-40" dirty="0"/>
              <a:t>two</a:t>
            </a:r>
            <a:r>
              <a:rPr spc="-20" dirty="0"/>
              <a:t> </a:t>
            </a:r>
            <a:r>
              <a:rPr spc="-35" dirty="0"/>
              <a:t>types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legal </a:t>
            </a:r>
            <a:r>
              <a:rPr spc="-60" dirty="0"/>
              <a:t>expressions</a:t>
            </a:r>
            <a:r>
              <a:rPr spc="-20" dirty="0"/>
              <a:t> </a:t>
            </a:r>
            <a:r>
              <a:rPr spc="-65" dirty="0"/>
              <a:t>are</a:t>
            </a:r>
            <a:r>
              <a:rPr spc="-20" dirty="0"/>
              <a:t> </a:t>
            </a:r>
            <a:r>
              <a:rPr spc="-10" dirty="0"/>
              <a:t>used.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168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3561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138727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4352" y="212580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1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2093155"/>
            <a:ext cx="3534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 panose="020B0604030504040204"/>
                <a:cs typeface="Tahoma" panose="020B0604030504040204"/>
              </a:rPr>
              <a:t>Every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variable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and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constant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term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and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term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represents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objects.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442397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4352" y="242946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634" y="2396825"/>
            <a:ext cx="38004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f</a:t>
            </a:r>
            <a:r>
              <a:rPr sz="1000" i="1" spc="26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an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30" dirty="0">
                <a:latin typeface="Arial" panose="020B0604020202020204"/>
                <a:cs typeface="Arial" panose="020B0604020202020204"/>
              </a:rPr>
              <a:t>n</a:t>
            </a:r>
            <a:r>
              <a:rPr sz="1000" i="1" spc="-30" dirty="0">
                <a:latin typeface="Meiryo" panose="020B0604030504040204" charset="-128"/>
                <a:cs typeface="Meiryo" panose="020B0604030504040204" charset="-128"/>
              </a:rPr>
              <a:t>−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ary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function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and</a:t>
            </a:r>
            <a:r>
              <a:rPr sz="10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50" baseline="-12000" dirty="0">
                <a:latin typeface="Century Gothic" panose="020B0502020202020204"/>
                <a:cs typeface="Century Gothic" panose="020B0502020202020204"/>
              </a:rPr>
              <a:t>1</a:t>
            </a:r>
            <a:r>
              <a:rPr sz="1000" i="1" dirty="0">
                <a:latin typeface="Arial" panose="020B0604020202020204"/>
                <a:cs typeface="Arial" panose="020B0604020202020204"/>
              </a:rPr>
              <a:t>,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50" i="1" baseline="-12000" dirty="0">
                <a:latin typeface="Arial" panose="020B0604020202020204"/>
                <a:cs typeface="Arial" panose="020B0604020202020204"/>
              </a:rPr>
              <a:t>n</a:t>
            </a:r>
            <a:r>
              <a:rPr sz="1050" i="1" spc="284" baseline="-1200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are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terms,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0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f</a:t>
            </a:r>
            <a:r>
              <a:rPr sz="10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(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50" baseline="-12000" dirty="0">
                <a:latin typeface="Century Gothic" panose="020B0502020202020204"/>
                <a:cs typeface="Century Gothic" panose="020B0502020202020204"/>
              </a:rPr>
              <a:t>1</a:t>
            </a:r>
            <a:r>
              <a:rPr sz="1000" i="1" dirty="0">
                <a:latin typeface="Arial" panose="020B0604020202020204"/>
                <a:cs typeface="Arial" panose="020B0604020202020204"/>
              </a:rPr>
              <a:t>,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.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1000" i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t</a:t>
            </a:r>
            <a:r>
              <a:rPr sz="1050" i="1" baseline="-12000" dirty="0">
                <a:latin typeface="Arial" panose="020B0604020202020204"/>
                <a:cs typeface="Arial" panose="020B0604020202020204"/>
              </a:rPr>
              <a:t>n</a:t>
            </a:r>
            <a:r>
              <a:rPr sz="1050" i="1" spc="-202" baseline="-1200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)</a:t>
            </a:r>
            <a:r>
              <a:rPr sz="10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is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034" y="2548653"/>
            <a:ext cx="654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 panose="020B0604030504040204"/>
                <a:cs typeface="Tahoma" panose="020B0604030504040204"/>
              </a:rPr>
              <a:t>also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term.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5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7576" y="151730"/>
            <a:ext cx="4094020" cy="30831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089" y="414413"/>
            <a:ext cx="65265" cy="652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932" y="330960"/>
            <a:ext cx="1737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dirty="0">
                <a:latin typeface="Tahoma" panose="020B0604030504040204"/>
                <a:cs typeface="Tahoma" panose="020B0604030504040204"/>
              </a:rPr>
              <a:t>Primitive</a:t>
            </a:r>
            <a:r>
              <a:rPr sz="1100" b="0" spc="-40" dirty="0">
                <a:latin typeface="Tahoma" panose="020B0604030504040204"/>
                <a:cs typeface="Tahoma" panose="020B0604030504040204"/>
              </a:rPr>
              <a:t> symbols</a:t>
            </a:r>
            <a:r>
              <a:rPr sz="1100" b="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b="0" spc="-6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b="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b="0" i="1" spc="-90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100" b="0" i="1" spc="-90" dirty="0">
                <a:latin typeface="Arial" panose="020B0604020202020204"/>
                <a:cs typeface="Arial" panose="020B0604020202020204"/>
              </a:rPr>
              <a:t>,</a:t>
            </a:r>
            <a:r>
              <a:rPr sz="1100" b="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0" i="1" spc="-90" dirty="0">
                <a:latin typeface="Meiryo" panose="020B0604030504040204" charset="-128"/>
                <a:cs typeface="Meiryo" panose="020B0604030504040204" charset="-128"/>
              </a:rPr>
              <a:t>∧</a:t>
            </a:r>
            <a:r>
              <a:rPr sz="1100" b="0" i="1" spc="-90" dirty="0">
                <a:latin typeface="Arial" panose="020B0604020202020204"/>
                <a:cs typeface="Arial" panose="020B0604020202020204"/>
              </a:rPr>
              <a:t>,</a:t>
            </a:r>
            <a:r>
              <a:rPr sz="1100" b="0" i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0" i="1" spc="-30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100" b="0" spc="-300" dirty="0">
                <a:latin typeface="Tahoma" panose="020B0604030504040204"/>
                <a:cs typeface="Tahoma" panose="020B0604030504040204"/>
              </a:rPr>
              <a:t>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9651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713078"/>
            <a:ext cx="3669665" cy="11080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Every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formula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FOL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built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from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atomic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formula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by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repeated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application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three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rules.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 marR="1069340">
              <a:lnSpc>
                <a:spcPct val="216000"/>
              </a:lnSpc>
              <a:spcBef>
                <a:spcPts val="160"/>
              </a:spcBef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Each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rule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corresponds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primitive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symbol. These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three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rules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listed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below: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5070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1256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015677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4352" y="200274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1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0034" y="1970105"/>
            <a:ext cx="2740660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90" dirty="0">
                <a:latin typeface="Arial" panose="020B0604020202020204"/>
                <a:cs typeface="Arial" panose="020B0604020202020204"/>
              </a:rPr>
              <a:t>ϕ</a:t>
            </a:r>
            <a:r>
              <a:rPr sz="1000" i="1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formula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25" dirty="0">
                <a:latin typeface="Meiryo" panose="020B0604030504040204" charset="-128"/>
                <a:cs typeface="Meiryo" panose="020B0604030504040204" charset="-128"/>
              </a:rPr>
              <a:t>¬</a:t>
            </a:r>
            <a:r>
              <a:rPr sz="1000" i="1" spc="-25" dirty="0">
                <a:latin typeface="Arial" panose="020B0604020202020204"/>
                <a:cs typeface="Arial" panose="020B0604020202020204"/>
              </a:rPr>
              <a:t>ϕ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.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sz="10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90" dirty="0">
                <a:latin typeface="Arial" panose="020B0604020202020204"/>
                <a:cs typeface="Arial" panose="020B0604020202020204"/>
              </a:rPr>
              <a:t>ϕ</a:t>
            </a:r>
            <a:r>
              <a:rPr sz="1000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and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ψ</a:t>
            </a:r>
            <a:r>
              <a:rPr sz="1000" i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are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formulas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90" dirty="0">
                <a:latin typeface="Arial" panose="020B0604020202020204"/>
                <a:cs typeface="Arial" panose="020B0604020202020204"/>
              </a:rPr>
              <a:t>ϕ</a:t>
            </a:r>
            <a:r>
              <a:rPr sz="10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50" dirty="0">
                <a:latin typeface="Meiryo" panose="020B0604030504040204" charset="-128"/>
                <a:cs typeface="Meiryo" panose="020B0604030504040204" charset="-128"/>
              </a:rPr>
              <a:t>∧</a:t>
            </a:r>
            <a:r>
              <a:rPr sz="1000" i="1" spc="-120" dirty="0">
                <a:latin typeface="Meiryo" panose="020B0604030504040204" charset="-128"/>
                <a:cs typeface="Meiryo" panose="020B0604030504040204" charset="-128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ψ</a:t>
            </a:r>
            <a:r>
              <a:rPr sz="1000" i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.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90" dirty="0">
                <a:latin typeface="Arial" panose="020B0604020202020204"/>
                <a:cs typeface="Arial" panose="020B0604020202020204"/>
              </a:rPr>
              <a:t>ϕ</a:t>
            </a:r>
            <a:r>
              <a:rPr sz="10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formula,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350" dirty="0">
                <a:latin typeface="Meiryo" panose="020B0604030504040204" charset="-128"/>
                <a:cs typeface="Meiryo" panose="020B0604030504040204" charset="-128"/>
              </a:rPr>
              <a:t>∃</a:t>
            </a:r>
            <a:r>
              <a:rPr sz="1000" i="1" spc="-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140" dirty="0">
                <a:latin typeface="Arial" panose="020B0604020202020204"/>
                <a:cs typeface="Arial" panose="020B0604020202020204"/>
              </a:rPr>
              <a:t>ϕ</a:t>
            </a:r>
            <a:r>
              <a:rPr sz="10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any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variable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45" dirty="0">
                <a:latin typeface="Arial" panose="020B0604020202020204"/>
                <a:cs typeface="Arial" panose="020B0604020202020204"/>
              </a:rPr>
              <a:t>x</a:t>
            </a:r>
            <a:r>
              <a:rPr sz="1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.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319334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4352" y="23064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2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2623004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4352" y="261007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</a:rPr>
              <a:t>3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5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6590" y="352271"/>
            <a:ext cx="4121855" cy="26211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2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9013" y="1159915"/>
            <a:ext cx="118999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Thanks!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 panose="020B0502020202020204"/>
                <a:cs typeface="Century Gothic" panose="020B0502020202020204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 panose="020B0502020202020204"/>
                <a:cs typeface="Century Gothic" panose="020B0502020202020204"/>
              </a:rPr>
              <a:t>)</a:t>
            </a:r>
            <a:endParaRPr b="0" spc="-5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 panose="020B0502020202020204"/>
                <a:cs typeface="Century Gothic" panose="020B0502020202020204"/>
                <a:hlinkClick r:id="rId1" action="ppaction://hlinksldjump"/>
              </a:rPr>
              <a:t>FMSE</a:t>
            </a:r>
            <a:endParaRPr sz="6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4794</Words>
  <Application>WPS Presentation</Application>
  <PresentationFormat>Custom</PresentationFormat>
  <Paragraphs>270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Gill Sans MT</vt:lpstr>
      <vt:lpstr>Tahoma</vt:lpstr>
      <vt:lpstr>Century Gothic</vt:lpstr>
      <vt:lpstr>Meiryo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First Order Logic</vt:lpstr>
      <vt:lpstr>First Order Logic or Predicate Logic</vt:lpstr>
      <vt:lpstr>First Order Logic</vt:lpstr>
      <vt:lpstr>FOL Quantifiers</vt:lpstr>
      <vt:lpstr>Properties of Quantifiers</vt:lpstr>
      <vt:lpstr>Properties of Quantifiers</vt:lpstr>
      <vt:lpstr>FOL Formulas</vt:lpstr>
      <vt:lpstr>Expressing Facts in FOL</vt:lpstr>
      <vt:lpstr>Knowledge base in FOL</vt:lpstr>
      <vt:lpstr>PowerPoint 演示文稿</vt:lpstr>
      <vt:lpstr>Knowledge Engineering Steps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Syntax of First Order Logic</vt:lpstr>
      <vt:lpstr>PowerPoint 演示文稿</vt:lpstr>
      <vt:lpstr>Primitive symbols are ¬, ∧, ∃.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Haider</cp:lastModifiedBy>
  <cp:revision>12</cp:revision>
  <dcterms:created xsi:type="dcterms:W3CDTF">2021-11-04T04:41:00Z</dcterms:created>
  <dcterms:modified xsi:type="dcterms:W3CDTF">2024-08-21T23:31:09Z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475A21C2DD3143E78CBD5C0900A5C6E3</vt:lpwstr>
  </property>
  <property fmtid="{D5CDD505-2E9C-101B-9397-08002B2CF9AE}" pid="3" name="KSOProductBuildVer">
    <vt:lpwstr>1033-12.2.0.13472</vt:lpwstr>
  </property>
</Properties>
</file>