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8"/>
  </p:notesMasterIdLst>
  <p:sldIdLst>
    <p:sldId id="256" r:id="rId2"/>
    <p:sldId id="263" r:id="rId3"/>
    <p:sldId id="264" r:id="rId4"/>
    <p:sldId id="265" r:id="rId5"/>
    <p:sldId id="266" r:id="rId6"/>
    <p:sldId id="267" r:id="rId7"/>
    <p:sldId id="293" r:id="rId8"/>
    <p:sldId id="294" r:id="rId9"/>
    <p:sldId id="268" r:id="rId10"/>
    <p:sldId id="292" r:id="rId11"/>
    <p:sldId id="295" r:id="rId12"/>
    <p:sldId id="296" r:id="rId13"/>
    <p:sldId id="297" r:id="rId14"/>
    <p:sldId id="298" r:id="rId15"/>
    <p:sldId id="300" r:id="rId16"/>
    <p:sldId id="299" r:id="rId17"/>
    <p:sldId id="339" r:id="rId18"/>
    <p:sldId id="342" r:id="rId19"/>
    <p:sldId id="269" r:id="rId20"/>
    <p:sldId id="270" r:id="rId21"/>
    <p:sldId id="271" r:id="rId22"/>
    <p:sldId id="272" r:id="rId23"/>
    <p:sldId id="301" r:id="rId24"/>
    <p:sldId id="302" r:id="rId25"/>
    <p:sldId id="321" r:id="rId26"/>
    <p:sldId id="318" r:id="rId27"/>
    <p:sldId id="319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1" r:id="rId37"/>
    <p:sldId id="334" r:id="rId38"/>
    <p:sldId id="343" r:id="rId39"/>
    <p:sldId id="335" r:id="rId40"/>
    <p:sldId id="340" r:id="rId41"/>
    <p:sldId id="322" r:id="rId42"/>
    <p:sldId id="332" r:id="rId43"/>
    <p:sldId id="336" r:id="rId44"/>
    <p:sldId id="337" r:id="rId45"/>
    <p:sldId id="338" r:id="rId46"/>
    <p:sldId id="29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iz Mahfooz Ul Haque" userId="7eb5093a-188f-4877-8d5d-0411f7936b8d" providerId="ADAL" clId="{C11116F6-6DD6-4C7A-A155-0864E0DD128B}"/>
    <pc:docChg chg="addSld modSld">
      <pc:chgData name="Hafiz Mahfooz Ul Haque" userId="7eb5093a-188f-4877-8d5d-0411f7936b8d" providerId="ADAL" clId="{C11116F6-6DD6-4C7A-A155-0864E0DD128B}" dt="2022-10-10T13:25:54.491" v="0"/>
      <pc:docMkLst>
        <pc:docMk/>
      </pc:docMkLst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3834875074" sldId="301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4058565174" sldId="302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465828826" sldId="318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3437790180" sldId="319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358257792" sldId="321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467475649" sldId="322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2788928382" sldId="323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1809535168" sldId="324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2594410594" sldId="325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1934574546" sldId="326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226850336" sldId="327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2649312363" sldId="328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1826320527" sldId="329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503750872" sldId="330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673527550" sldId="331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3128717194" sldId="332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1530645497" sldId="334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86946133" sldId="335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1514869220" sldId="336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2266517099" sldId="337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3187021066" sldId="3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5EB7B-CADD-4D75-ADF0-053F70AF6617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964FC-4812-415C-8FD8-414485E3A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3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58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45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72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93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56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18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9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83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13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22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6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17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81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45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Methods in 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423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Temporal Logic?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Objective: </a:t>
            </a:r>
            <a:r>
              <a:rPr lang="en-US" sz="2400" dirty="0">
                <a:latin typeface="Arial Narrow" panose="020B0606020202030204" pitchFamily="34" charset="0"/>
              </a:rPr>
              <a:t>We describe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temporal aspects of formal methods </a:t>
            </a:r>
            <a:r>
              <a:rPr lang="en-US" sz="2400" dirty="0">
                <a:latin typeface="Arial Narrow" panose="020B0606020202030204" pitchFamily="34" charset="0"/>
              </a:rPr>
              <a:t>to model and specify concurrent systems and verify their correctness properties.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In concurrent reactive systems,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correctness</a:t>
            </a:r>
            <a:r>
              <a:rPr lang="en-US" sz="2400" dirty="0">
                <a:latin typeface="Arial Narrow" panose="020B0606020202030204" pitchFamily="34" charset="0"/>
              </a:rPr>
              <a:t> not only validates the correct input and output of the computational system, but also objectively monitors the execution of the system.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Temporal logic is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explicitly developed to treat these aspects and to monitor infinite behavior of reactive </a:t>
            </a:r>
            <a:r>
              <a:rPr lang="en-US" sz="2400" dirty="0">
                <a:latin typeface="Arial Narrow" panose="020B0606020202030204" pitchFamily="34" charset="0"/>
              </a:rPr>
              <a:t>systems. 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,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546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Temporal Logic?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Temporal logics have played vital role in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formal verification </a:t>
            </a:r>
            <a:r>
              <a:rPr lang="en-US" sz="2400" dirty="0">
                <a:latin typeface="Arial Narrow" panose="020B0606020202030204" pitchFamily="34" charset="0"/>
              </a:rPr>
              <a:t>wherever needed to state the specification requirements for hardware and software systems.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Time: </a:t>
            </a:r>
            <a:r>
              <a:rPr lang="en-US" sz="2400" dirty="0">
                <a:latin typeface="Arial Narrow" panose="020B0606020202030204" pitchFamily="34" charset="0"/>
              </a:rPr>
              <a:t>It represents the set of rules for</a:t>
            </a:r>
            <a:r>
              <a:rPr lang="en-US" sz="2400" dirty="0">
                <a:solidFill>
                  <a:srgbClr val="0070C0"/>
                </a:solidFill>
                <a:latin typeface="Arial Narrow" panose="020B0606020202030204" pitchFamily="34" charset="0"/>
              </a:rPr>
              <a:t> reasoning in terms of time </a:t>
            </a:r>
            <a:r>
              <a:rPr lang="en-US" sz="2400" dirty="0">
                <a:latin typeface="Arial Narrow" panose="020B0606020202030204" pitchFamily="34" charset="0"/>
              </a:rPr>
              <a:t>and the time domain is expressed in terms of state.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 present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time corresponds to current state </a:t>
            </a:r>
            <a:r>
              <a:rPr lang="en-US" sz="2400" dirty="0">
                <a:latin typeface="Arial Narrow" panose="020B0606020202030204" pitchFamily="34" charset="0"/>
              </a:rPr>
              <a:t>and next moment of time corresponds to the immediate next state.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Alternatively, system behavior is observed in terms of discrete time points such as 0, 1, 2,….., n.</a:t>
            </a:r>
            <a:endParaRPr lang="en-US" sz="32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51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Temporal Logic?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Transition: </a:t>
            </a:r>
            <a:r>
              <a:rPr lang="en-US" sz="2400" dirty="0">
                <a:latin typeface="Arial Narrow" panose="020B0606020202030204" pitchFamily="34" charset="0"/>
              </a:rPr>
              <a:t>Transition corresponds to the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progressions</a:t>
            </a:r>
            <a:r>
              <a:rPr lang="en-US" sz="2400" dirty="0">
                <a:latin typeface="Arial Narrow" panose="020B0606020202030204" pitchFamily="34" charset="0"/>
              </a:rPr>
              <a:t> from current time step to the next time step with specific action.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Temporal logic is applicable due to its </a:t>
            </a:r>
            <a:r>
              <a:rPr lang="en-US" sz="2400" dirty="0">
                <a:solidFill>
                  <a:srgbClr val="0070C0"/>
                </a:solidFill>
                <a:latin typeface="Arial Narrow" panose="020B0606020202030204" pitchFamily="34" charset="0"/>
              </a:rPr>
              <a:t>behavioral aspects </a:t>
            </a:r>
            <a:r>
              <a:rPr lang="en-US" sz="2400" dirty="0">
                <a:latin typeface="Arial Narrow" panose="020B0606020202030204" pitchFamily="34" charset="0"/>
              </a:rPr>
              <a:t>of hardware and software in terms of time.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Reasoning in the temporal logic is much easier with the translation into the predicate calculus because relationship among time is implicit manner.</a:t>
            </a:r>
          </a:p>
        </p:txBody>
      </p:sp>
    </p:spTree>
    <p:extLst>
      <p:ext uri="{BB962C8B-B14F-4D97-AF65-F5344CB8AC3E}">
        <p14:creationId xmlns:p14="http://schemas.microsoft.com/office/powerpoint/2010/main" val="3193255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6"/>
            <a:ext cx="9359534" cy="480072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Temporal logic has introduced some </a:t>
            </a:r>
            <a:r>
              <a:rPr lang="en-US" sz="2400" dirty="0">
                <a:solidFill>
                  <a:srgbClr val="0070C0"/>
                </a:solidFill>
                <a:latin typeface="Arial Narrow" panose="020B0606020202030204" pitchFamily="34" charset="0"/>
              </a:rPr>
              <a:t>additional operators </a:t>
            </a:r>
            <a:r>
              <a:rPr lang="en-US" sz="2400" dirty="0">
                <a:latin typeface="Arial Narrow" panose="020B0606020202030204" pitchFamily="34" charset="0"/>
              </a:rPr>
              <a:t>that represent the time variable and reflect their relationships.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In essence, temporal logic is an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extension of propositional logic</a:t>
            </a:r>
            <a:r>
              <a:rPr lang="en-US" sz="2400" dirty="0">
                <a:latin typeface="Arial Narrow" panose="020B0606020202030204" pitchFamily="34" charset="0"/>
              </a:rPr>
              <a:t>. It is also known as propositional temporal logic (PTL).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With the set of temporal operators, these enable the definition of formulas with the accessibility relation.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When defining temporal properties, some temporal operators are needed to model the system </a:t>
            </a:r>
            <a:r>
              <a:rPr lang="en-US" sz="2400" dirty="0">
                <a:solidFill>
                  <a:srgbClr val="0070C0"/>
                </a:solidFill>
                <a:latin typeface="Arial Narrow" panose="020B0606020202030204" pitchFamily="34" charset="0"/>
              </a:rPr>
              <a:t>in terms of time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155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These operators include 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F   ----- Future or eventually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G   ---- Globally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X    ------  Next  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U    ------ Until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The first three operators are unary whereas the last one is binary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6605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Computational Paths, System run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Define in terms of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states and transitions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 sequence of states, starting with an initial state </a:t>
            </a:r>
          </a:p>
          <a:p>
            <a:pPr lvl="1" algn="just"/>
            <a:r>
              <a:rPr lang="en-US" sz="2400" dirty="0">
                <a:latin typeface="Arial Narrow" panose="020B0606020202030204" pitchFamily="34" charset="0"/>
              </a:rPr>
              <a:t> s</a:t>
            </a:r>
            <a:r>
              <a:rPr lang="en-US" sz="2400" baseline="-25000" dirty="0">
                <a:latin typeface="Arial Narrow" panose="020B0606020202030204" pitchFamily="34" charset="0"/>
              </a:rPr>
              <a:t>0</a:t>
            </a:r>
            <a:r>
              <a:rPr lang="en-US" sz="2400" dirty="0">
                <a:latin typeface="Arial Narrow" panose="020B0606020202030204" pitchFamily="34" charset="0"/>
              </a:rPr>
              <a:t> s</a:t>
            </a:r>
            <a:r>
              <a:rPr lang="en-US" sz="2400" baseline="-25000" dirty="0">
                <a:latin typeface="Arial Narrow" panose="020B0606020202030204" pitchFamily="34" charset="0"/>
              </a:rPr>
              <a:t>1</a:t>
            </a:r>
            <a:r>
              <a:rPr lang="en-US" sz="2400" dirty="0">
                <a:latin typeface="Arial Narrow" panose="020B0606020202030204" pitchFamily="34" charset="0"/>
              </a:rPr>
              <a:t> s</a:t>
            </a:r>
            <a:r>
              <a:rPr lang="en-US" sz="2400" baseline="-25000" dirty="0">
                <a:latin typeface="Arial Narrow" panose="020B0606020202030204" pitchFamily="34" charset="0"/>
              </a:rPr>
              <a:t>2</a:t>
            </a:r>
            <a:r>
              <a:rPr lang="en-US" sz="2400" dirty="0">
                <a:latin typeface="Arial Narrow" panose="020B0606020202030204" pitchFamily="34" charset="0"/>
              </a:rPr>
              <a:t> … such that R(</a:t>
            </a:r>
            <a:r>
              <a:rPr lang="en-US" sz="2400" dirty="0" err="1">
                <a:latin typeface="Arial Narrow" panose="020B0606020202030204" pitchFamily="34" charset="0"/>
              </a:rPr>
              <a:t>s</a:t>
            </a:r>
            <a:r>
              <a:rPr lang="en-US" sz="2400" baseline="-25000" dirty="0" err="1">
                <a:latin typeface="Arial Narrow" panose="020B0606020202030204" pitchFamily="34" charset="0"/>
              </a:rPr>
              <a:t>i</a:t>
            </a:r>
            <a:r>
              <a:rPr lang="en-US" sz="2400" dirty="0">
                <a:latin typeface="Arial Narrow" panose="020B0606020202030204" pitchFamily="34" charset="0"/>
              </a:rPr>
              <a:t>, s</a:t>
            </a:r>
            <a:r>
              <a:rPr lang="en-US" sz="2400" baseline="-25000" dirty="0">
                <a:latin typeface="Arial Narrow" panose="020B0606020202030204" pitchFamily="34" charset="0"/>
              </a:rPr>
              <a:t>i+1</a:t>
            </a:r>
            <a:r>
              <a:rPr lang="en-US" sz="2400" dirty="0">
                <a:latin typeface="Arial Narrow" panose="020B0606020202030204" pitchFamily="34" charset="0"/>
              </a:rPr>
              <a:t>) is true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Also called “run”, or “(computation) path”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Trace: sequence of observable parts of states –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Sequence of state </a:t>
            </a:r>
            <a:r>
              <a:rPr lang="en-US" sz="2400" dirty="0">
                <a:latin typeface="Arial Narrow" panose="020B0606020202030204" pitchFamily="34" charset="0"/>
              </a:rPr>
              <a:t>labels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3261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Properties of Temporal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Safety property </a:t>
            </a:r>
            <a:r>
              <a:rPr lang="en-US" sz="2400" dirty="0">
                <a:latin typeface="Arial Narrow" panose="020B0606020202030204" pitchFamily="34" charset="0"/>
              </a:rPr>
              <a:t>means</a:t>
            </a:r>
            <a:r>
              <a:rPr lang="en-US" sz="2400" b="1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</a:rPr>
              <a:t>“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something bad must not happen</a:t>
            </a:r>
            <a:r>
              <a:rPr lang="en-US" sz="2400" dirty="0">
                <a:latin typeface="Arial Narrow" panose="020B0606020202030204" pitchFamily="34" charset="0"/>
              </a:rPr>
              <a:t>”. E.g.: system should not crash.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Liveness property</a:t>
            </a:r>
            <a:r>
              <a:rPr lang="en-US" sz="2400" dirty="0">
                <a:latin typeface="Arial Narrow" panose="020B0606020202030204" pitchFamily="34" charset="0"/>
              </a:rPr>
              <a:t> means</a:t>
            </a:r>
            <a:r>
              <a:rPr lang="en-US" sz="2400" b="1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</a:rPr>
              <a:t>“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something good must happen</a:t>
            </a:r>
            <a:r>
              <a:rPr lang="en-US" sz="2400" dirty="0">
                <a:latin typeface="Arial Narrow" panose="020B0606020202030204" pitchFamily="34" charset="0"/>
              </a:rPr>
              <a:t>”. E.g.: every packet sent must be received at its destination</a:t>
            </a:r>
          </a:p>
          <a:p>
            <a:endParaRPr lang="en-US" sz="2400" b="1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Guarantee of Service</a:t>
            </a:r>
            <a:r>
              <a:rPr lang="en-US" sz="2400" dirty="0">
                <a:latin typeface="Arial Narrow" panose="020B0606020202030204" pitchFamily="34" charset="0"/>
              </a:rPr>
              <a:t> states that if one process sends a request, it must have to be responded by other process. </a:t>
            </a:r>
          </a:p>
          <a:p>
            <a:endParaRPr lang="en-US" sz="2400" b="1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Mutually exclusion</a:t>
            </a:r>
            <a:r>
              <a:rPr lang="en-US" sz="2400" dirty="0">
                <a:latin typeface="Arial Narrow" panose="020B0606020202030204" pitchFamily="34" charset="0"/>
              </a:rPr>
              <a:t> occur when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two processes execute concurrently </a:t>
            </a:r>
            <a:r>
              <a:rPr lang="en-US" sz="2400" dirty="0">
                <a:latin typeface="Arial Narrow" panose="020B0606020202030204" pitchFamily="34" charset="0"/>
              </a:rPr>
              <a:t>at the same critical section. Then, it is prescribed as “bad thing”.</a:t>
            </a:r>
          </a:p>
        </p:txBody>
      </p:sp>
    </p:spTree>
    <p:extLst>
      <p:ext uri="{BB962C8B-B14F-4D97-AF65-F5344CB8AC3E}">
        <p14:creationId xmlns:p14="http://schemas.microsoft.com/office/powerpoint/2010/main" val="353756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There are two types of temporal logics, each having their own temporal operators. </a:t>
            </a:r>
          </a:p>
          <a:p>
            <a:endParaRPr lang="en-US" sz="2400" b="1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In </a:t>
            </a:r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linear time temporal logic</a:t>
            </a:r>
            <a:r>
              <a:rPr lang="en-US" sz="2400" b="1" dirty="0">
                <a:latin typeface="Arial Narrow" panose="020B0606020202030204" pitchFamily="34" charset="0"/>
              </a:rPr>
              <a:t>, there is a single successor state at each moment of time </a:t>
            </a:r>
          </a:p>
          <a:p>
            <a:endParaRPr lang="en-US" sz="2400" b="1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Branching time temporal logic</a:t>
            </a:r>
            <a:r>
              <a:rPr lang="en-US" sz="2400" b="1" dirty="0">
                <a:latin typeface="Arial Narrow" panose="020B0606020202030204" pitchFamily="34" charset="0"/>
              </a:rPr>
              <a:t>, time is split into different alternative paths. </a:t>
            </a:r>
          </a:p>
        </p:txBody>
      </p:sp>
    </p:spTree>
    <p:extLst>
      <p:ext uri="{BB962C8B-B14F-4D97-AF65-F5344CB8AC3E}">
        <p14:creationId xmlns:p14="http://schemas.microsoft.com/office/powerpoint/2010/main" val="3253535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Linear Time Temporal Logic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Branching time temporal logic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831" y="2550867"/>
            <a:ext cx="8629650" cy="981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637" y="4272749"/>
            <a:ext cx="6577013" cy="258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41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812" y="1924049"/>
            <a:ext cx="8139113" cy="406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07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Globally (Always) p: G p</a:t>
            </a:r>
          </a:p>
          <a:p>
            <a:pPr lvl="1"/>
            <a:r>
              <a:rPr lang="en-US" sz="2200" b="1" dirty="0"/>
              <a:t>G p is true for a computation path if p holds at all states (points of time) along the path</a:t>
            </a:r>
          </a:p>
          <a:p>
            <a:pPr lvl="1"/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595183"/>
            <a:ext cx="8129587" cy="310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9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Eventually p: F p</a:t>
            </a:r>
          </a:p>
          <a:p>
            <a:r>
              <a:rPr lang="en-US" sz="2400" dirty="0"/>
              <a:t>F p is true for a path if p holds at some state along that path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161" y="3771902"/>
            <a:ext cx="8995263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57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Next p: X p</a:t>
            </a:r>
          </a:p>
          <a:p>
            <a:r>
              <a:rPr lang="en-US" sz="2400" dirty="0"/>
              <a:t>X p is true along a path starting in state </a:t>
            </a:r>
            <a:r>
              <a:rPr lang="en-US" sz="2400" dirty="0" err="1"/>
              <a:t>s</a:t>
            </a:r>
            <a:r>
              <a:rPr lang="en-US" sz="2400" baseline="-25000" dirty="0" err="1"/>
              <a:t>i</a:t>
            </a:r>
            <a:r>
              <a:rPr lang="en-US" sz="2400" dirty="0"/>
              <a:t> (suffix of the main path) if p holds in the next state s</a:t>
            </a:r>
            <a:r>
              <a:rPr lang="en-US" sz="2400" baseline="-25000" dirty="0"/>
              <a:t>i+1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25" y="3648074"/>
            <a:ext cx="8458200" cy="299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112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latin typeface="Arial Narrow" panose="020B0606020202030204" pitchFamily="34" charset="0"/>
              </a:rPr>
              <a:t>p Until q: p U q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p U q is true along a path starting at s if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 q is true in some state reachable from s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 p is true in all states from s until q holds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326" y="4231257"/>
            <a:ext cx="7734300" cy="262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4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Arial Narrow" panose="020B0606020202030204" pitchFamily="34" charset="0"/>
              </a:rPr>
              <a:t>Examples: What do they mean?</a:t>
            </a:r>
          </a:p>
          <a:p>
            <a:pPr marL="0" indent="0">
              <a:buNone/>
            </a:pPr>
            <a:endParaRPr lang="en-US" sz="3200" b="1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G F p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F G p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G( p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Arial Narrow" panose="020B0606020202030204" pitchFamily="34" charset="0"/>
              </a:rPr>
              <a:t> F q )</a:t>
            </a:r>
          </a:p>
          <a:p>
            <a:endParaRPr lang="fr-FR" sz="2400" dirty="0">
              <a:latin typeface="Arial Narrow" panose="020B0606020202030204" pitchFamily="34" charset="0"/>
            </a:endParaRPr>
          </a:p>
          <a:p>
            <a:r>
              <a:rPr lang="fr-FR" sz="2400" dirty="0">
                <a:latin typeface="Arial Narrow" panose="020B0606020202030204" pitchFamily="34" charset="0"/>
              </a:rPr>
              <a:t>F( p </a:t>
            </a:r>
            <a:r>
              <a:rPr lang="fr-FR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fr-FR" sz="2400" dirty="0">
                <a:latin typeface="Arial Narrow" panose="020B0606020202030204" pitchFamily="34" charset="0"/>
              </a:rPr>
              <a:t> (X </a:t>
            </a:r>
            <a:r>
              <a:rPr lang="fr-FR" sz="2400" dirty="0" err="1">
                <a:latin typeface="Arial Narrow" panose="020B0606020202030204" pitchFamily="34" charset="0"/>
              </a:rPr>
              <a:t>X</a:t>
            </a:r>
            <a:r>
              <a:rPr lang="fr-FR" sz="2400" dirty="0">
                <a:latin typeface="Arial Narrow" panose="020B0606020202030204" pitchFamily="34" charset="0"/>
              </a:rPr>
              <a:t> q) )</a:t>
            </a:r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25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C99E59-27F5-C358-AB8A-3F4FD6CD0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30087"/>
            <a:ext cx="9144000" cy="632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08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358B7-73CD-6331-3FAB-AFE0DE4B8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550" y="1073426"/>
            <a:ext cx="9784607" cy="5446644"/>
          </a:xfrm>
        </p:spPr>
        <p:txBody>
          <a:bodyPr>
            <a:noAutofit/>
          </a:bodyPr>
          <a:lstStyle/>
          <a:p>
            <a: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Whenever the iRobot is at the ramp-edge (cliff), eventually it moves 5 cm away from the cliff.”</a:t>
            </a: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p – iRobot is at the cliff</a:t>
            </a: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q – iRobot is 5 cm away from the cliff</a:t>
            </a: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G (p =&gt; F q)</a:t>
            </a: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“Whenever the distance between cars is less than 2m, cruise control is deactivated”</a:t>
            </a: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p – distance between cars is less than 2 m</a:t>
            </a: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q – cruise control is active</a:t>
            </a: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G (p =&gt; X ! q)</a:t>
            </a:r>
            <a:br>
              <a:rPr lang="en-US" sz="2800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endParaRPr lang="en-PK" sz="2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B3092E-A84A-1DCA-BF0D-67BCF1C885BF}"/>
              </a:ext>
            </a:extLst>
          </p:cNvPr>
          <p:cNvSpPr txBox="1">
            <a:spLocks/>
          </p:cNvSpPr>
          <p:nvPr/>
        </p:nvSpPr>
        <p:spPr>
          <a:xfrm>
            <a:off x="1837550" y="304401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365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Time Temporal Logic (LTL)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Linear Temporal Logic has been proposed as a formal verification tool by Amir </a:t>
            </a:r>
            <a:r>
              <a:rPr lang="en-US" sz="2400" dirty="0" err="1">
                <a:latin typeface="Arial Narrow" panose="020B0606020202030204" pitchFamily="34" charset="0"/>
              </a:rPr>
              <a:t>Pnueli</a:t>
            </a:r>
            <a:r>
              <a:rPr lang="en-US" sz="2400" dirty="0">
                <a:latin typeface="Arial Narrow" panose="020B0606020202030204" pitchFamily="34" charset="0"/>
              </a:rPr>
              <a:t>.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LTL models time as a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sequence of states </a:t>
            </a:r>
            <a:r>
              <a:rPr lang="en-US" sz="2400" dirty="0">
                <a:latin typeface="Arial Narrow" panose="020B0606020202030204" pitchFamily="34" charset="0"/>
              </a:rPr>
              <a:t>and the future state is seen as a path in LTL.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Accordingly, there are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different future paths </a:t>
            </a:r>
            <a:r>
              <a:rPr lang="en-US" sz="2400" dirty="0">
                <a:latin typeface="Arial Narrow" panose="020B0606020202030204" pitchFamily="34" charset="0"/>
              </a:rPr>
              <a:t>from where any path is taken as an actual path.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There are many LTL model checking tools available which use LTL as a property specification language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620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LTL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2390775"/>
            <a:ext cx="945832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67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LTL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132" y="2020628"/>
            <a:ext cx="9262330" cy="186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1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LTL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The semantics is defined by induction on the structure of </a:t>
            </a:r>
            <a:r>
              <a:rPr lang="en-US" sz="2400" dirty="0">
                <a:latin typeface="Arial Narrow" panose="020B0606020202030204" pitchFamily="34" charset="0"/>
                <a:cs typeface="Arial" panose="020B0604020202020204" pitchFamily="34" charset="0"/>
              </a:rPr>
              <a:t>ⱷ</a:t>
            </a:r>
            <a:r>
              <a:rPr lang="en-US" sz="2400" dirty="0">
                <a:latin typeface="Arial Narrow" panose="020B0606020202030204" pitchFamily="34" charset="0"/>
              </a:rPr>
              <a:t>, is given as: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52700"/>
            <a:ext cx="7786687" cy="399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30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Computational Tree Logic (CTL)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7328" y="2036885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CTL is a 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branching time </a:t>
            </a:r>
            <a:r>
              <a:rPr lang="en-US" sz="2400" dirty="0">
                <a:latin typeface="Arial Rounded MT Bold" panose="020F0704030504030204" pitchFamily="34" charset="0"/>
              </a:rPr>
              <a:t>temporal logic. </a:t>
            </a:r>
          </a:p>
          <a:p>
            <a:pPr algn="just"/>
            <a:endParaRPr lang="en-US" sz="24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Like LTL, it is also used in formal methods to </a:t>
            </a:r>
            <a:r>
              <a:rPr 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verify correctness properties</a:t>
            </a:r>
            <a:r>
              <a:rPr lang="en-US" sz="2400" dirty="0">
                <a:latin typeface="Arial Rounded MT Bold" panose="020F0704030504030204" pitchFamily="34" charset="0"/>
              </a:rPr>
              <a:t> of a system by model checking tools. </a:t>
            </a:r>
          </a:p>
          <a:p>
            <a:pPr algn="just"/>
            <a:endParaRPr lang="en-US" sz="24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CTL is more 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expressive</a:t>
            </a:r>
            <a:r>
              <a:rPr lang="en-US" sz="2400" dirty="0">
                <a:latin typeface="Arial Rounded MT Bold" panose="020F0704030504030204" pitchFamily="34" charset="0"/>
              </a:rPr>
              <a:t> than LTL and permits quantification over path</a:t>
            </a:r>
            <a:endParaRPr lang="en-US" sz="3200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875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Each state may have an 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accessibility relation </a:t>
            </a:r>
            <a:r>
              <a:rPr lang="en-US" sz="2400" dirty="0">
                <a:latin typeface="Arial Rounded MT Bold" panose="020F0704030504030204" pitchFamily="34" charset="0"/>
              </a:rPr>
              <a:t>with the immediate next state by a transition which reflects the system behavior in terms of time.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Properties</a:t>
            </a:r>
            <a:r>
              <a:rPr lang="en-US" sz="2400" dirty="0">
                <a:latin typeface="Arial Rounded MT Bold" panose="020F0704030504030204" pitchFamily="34" charset="0"/>
              </a:rPr>
              <a:t> expressed over a tree of all possible executions</a:t>
            </a:r>
          </a:p>
          <a:p>
            <a:pPr marL="0" indent="0" algn="just">
              <a:buNone/>
            </a:pPr>
            <a:r>
              <a:rPr lang="en-US" sz="2400" dirty="0">
                <a:latin typeface="Arial Rounded MT Bold" panose="020F07040305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565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LTL Vs CTL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LTL (linear-time logic)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 Describes properties of </a:t>
            </a:r>
            <a:r>
              <a:rPr lang="en-US" sz="22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individual executions</a:t>
            </a:r>
            <a:r>
              <a:rPr lang="en-US" sz="2200" dirty="0">
                <a:latin typeface="Arial Rounded MT Bold" panose="020F0704030504030204" pitchFamily="34" charset="0"/>
              </a:rPr>
              <a:t>.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Semantics defined as a set of executions. </a:t>
            </a:r>
          </a:p>
          <a:p>
            <a:pPr lvl="1"/>
            <a:endParaRPr lang="en-US" sz="22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CTL (computation tree logic)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Describes properties of a computation tree: formulas can reason about </a:t>
            </a:r>
            <a:r>
              <a:rPr lang="en-US" sz="22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many executions at once</a:t>
            </a:r>
            <a:r>
              <a:rPr lang="en-US" sz="2200" dirty="0">
                <a:latin typeface="Arial Rounded MT Bold" panose="020F0704030504030204" pitchFamily="34" charset="0"/>
              </a:rPr>
              <a:t>. (CTL belongs to the family of branching-time logics.)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Semantics defined in terms of states. </a:t>
            </a:r>
          </a:p>
        </p:txBody>
      </p:sp>
    </p:spTree>
    <p:extLst>
      <p:ext uri="{BB962C8B-B14F-4D97-AF65-F5344CB8AC3E}">
        <p14:creationId xmlns:p14="http://schemas.microsoft.com/office/powerpoint/2010/main" val="358257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7" y="1737946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In CTL, each temporal connective is a pair of symbols.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The first symbol in a pair is one of the E and A.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E means along at least one path, and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A means along all paths.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75" y="4271962"/>
            <a:ext cx="82105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28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operators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7027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CTL operators are used with logical operators in the same way as with other logics, these operators are:                     ,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The operators X, F, G and U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cannot appear without </a:t>
            </a:r>
            <a:r>
              <a:rPr lang="en-US" sz="2400" dirty="0">
                <a:latin typeface="Arial Rounded MT Bold" panose="020F0704030504030204" pitchFamily="34" charset="0"/>
              </a:rPr>
              <a:t>an E or an A in CTL.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CTL </a:t>
            </a:r>
            <a:r>
              <a:rPr 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basic operators</a:t>
            </a:r>
            <a:r>
              <a:rPr lang="en-US" sz="2400" dirty="0">
                <a:latin typeface="Arial Rounded MT Bold" panose="020F0704030504030204" pitchFamily="34" charset="0"/>
              </a:rPr>
              <a:t>: </a:t>
            </a:r>
          </a:p>
          <a:p>
            <a:pPr lvl="1"/>
            <a:r>
              <a:rPr lang="en-US" sz="2400" dirty="0">
                <a:latin typeface="Arial Rounded MT Bold" panose="020F0704030504030204" pitchFamily="34" charset="0"/>
              </a:rPr>
              <a:t>AX and EX, </a:t>
            </a:r>
          </a:p>
          <a:p>
            <a:pPr lvl="1"/>
            <a:r>
              <a:rPr lang="en-US" sz="2400" dirty="0">
                <a:latin typeface="Arial Rounded MT Bold" panose="020F0704030504030204" pitchFamily="34" charset="0"/>
              </a:rPr>
              <a:t>AG and EG, </a:t>
            </a:r>
          </a:p>
          <a:p>
            <a:pPr lvl="1"/>
            <a:r>
              <a:rPr lang="en-US" sz="2400" dirty="0">
                <a:latin typeface="Arial Rounded MT Bold" panose="020F0704030504030204" pitchFamily="34" charset="0"/>
              </a:rPr>
              <a:t>AF and EF, </a:t>
            </a:r>
          </a:p>
          <a:p>
            <a:pPr lvl="1"/>
            <a:r>
              <a:rPr lang="en-US" sz="2400" dirty="0">
                <a:latin typeface="Arial Rounded MT Bold" panose="020F0704030504030204" pitchFamily="34" charset="0"/>
              </a:rPr>
              <a:t>AU and EU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pPr lvl="1"/>
            <a:endParaRPr lang="en-US" sz="22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2390775"/>
            <a:ext cx="1057275" cy="438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9912" y="2438400"/>
            <a:ext cx="428625" cy="285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360" y="2400300"/>
            <a:ext cx="4953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90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4043" y="1878623"/>
            <a:ext cx="8915400" cy="37776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Let’s see an example system, how system flows in branching time temporal logic 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We assume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p = black ball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q = red ball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568" y="2687213"/>
            <a:ext cx="4406643" cy="381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28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174" y="744416"/>
            <a:ext cx="8915400" cy="3777622"/>
          </a:xfrm>
        </p:spPr>
        <p:txBody>
          <a:bodyPr/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globally on all paths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137" y="2009775"/>
            <a:ext cx="5243513" cy="453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35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eventually on all paths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986" y="1577009"/>
            <a:ext cx="5458090" cy="468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10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in the state on all paths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893" y="1406358"/>
            <a:ext cx="5510213" cy="482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74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on all paths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until q appears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476790"/>
            <a:ext cx="563880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50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globally on any path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37" y="1264555"/>
            <a:ext cx="54197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123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eventually on any path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467" y="1404715"/>
            <a:ext cx="53244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320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on the next state of any path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774" y="1558373"/>
            <a:ext cx="56197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50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on any path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until q appears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562" y="1264555"/>
            <a:ext cx="54768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275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formulas Equivalence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0756" y="3862998"/>
            <a:ext cx="3910867" cy="18455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5" y="1971674"/>
            <a:ext cx="4591050" cy="164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454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901781-9861-2270-0416-04CDBF1C6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922" y="1537252"/>
            <a:ext cx="7832035" cy="37503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964C73B-304C-E04F-FB5E-DCEEDAA7A48C}"/>
              </a:ext>
            </a:extLst>
          </p:cNvPr>
          <p:cNvSpPr txBox="1">
            <a:spLocks/>
          </p:cNvSpPr>
          <p:nvPr/>
        </p:nvSpPr>
        <p:spPr>
          <a:xfrm>
            <a:off x="2592925" y="624110"/>
            <a:ext cx="8911687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formulas Equivalence</a:t>
            </a:r>
            <a:br>
              <a:rPr lang="en-US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6022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Syntax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The syntax of CTL is defined by considering a set of propositional variables (P), logical operators, and temporal operators.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The set of CTL formulas is formally defined inductively over propositional variables as follows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Where p </a:t>
            </a:r>
            <a:r>
              <a:rPr lang="az-Cyrl-AZ" sz="2400" dirty="0">
                <a:latin typeface="Calibri" panose="020F0502020204030204" pitchFamily="34" charset="0"/>
              </a:rPr>
              <a:t>Є</a:t>
            </a:r>
            <a:r>
              <a:rPr lang="en-US" sz="2400" dirty="0">
                <a:latin typeface="Arial Rounded MT Bold" panose="020F0704030504030204" pitchFamily="34" charset="0"/>
              </a:rPr>
              <a:t> P</a:t>
            </a:r>
          </a:p>
          <a:p>
            <a:pPr marL="0" indent="0" algn="just">
              <a:buNone/>
            </a:pPr>
            <a:r>
              <a:rPr lang="en-US" sz="2400" dirty="0">
                <a:latin typeface="Arial Rounded MT Bold" panose="020F0704030504030204" pitchFamily="34" charset="0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4" y="4857750"/>
            <a:ext cx="102203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61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0050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4825" y="500285"/>
            <a:ext cx="8911687" cy="128089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Transition Graph (Labelled States)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143250" y="4886325"/>
            <a:ext cx="2743200" cy="666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Kripke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15150" y="6010275"/>
            <a:ext cx="4171950" cy="666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Infinite Computation Tree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1724025"/>
            <a:ext cx="4305300" cy="2762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275" y="1319212"/>
            <a:ext cx="4335641" cy="448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22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Kripke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4" y="1480771"/>
            <a:ext cx="9298597" cy="532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17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Semantics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48" y="2576146"/>
            <a:ext cx="10484525" cy="244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692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0" y="1517515"/>
            <a:ext cx="9310687" cy="525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17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495" y="2690445"/>
            <a:ext cx="10977473" cy="26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21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3856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7499</TotalTime>
  <Words>1382</Words>
  <Application>Microsoft Office PowerPoint</Application>
  <PresentationFormat>Widescreen</PresentationFormat>
  <Paragraphs>212</Paragraphs>
  <Slides>46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Arial Narrow</vt:lpstr>
      <vt:lpstr>Arial Rounded MT Bold</vt:lpstr>
      <vt:lpstr>Calibri</vt:lpstr>
      <vt:lpstr>Century Gothic</vt:lpstr>
      <vt:lpstr>Open Sans</vt:lpstr>
      <vt:lpstr>Wingdings 3</vt:lpstr>
      <vt:lpstr>Wisp</vt:lpstr>
      <vt:lpstr>Formal Methods in Software Engineering</vt:lpstr>
      <vt:lpstr>What is Temporal Logic?</vt:lpstr>
      <vt:lpstr>What is Temporal Logic? </vt:lpstr>
      <vt:lpstr>What is Temporal Logic? </vt:lpstr>
      <vt:lpstr>Temporal Logic Operators</vt:lpstr>
      <vt:lpstr>Temporal Logic Operators</vt:lpstr>
      <vt:lpstr>Computational Paths, System run</vt:lpstr>
      <vt:lpstr>Core Properties of Temporal Logic</vt:lpstr>
      <vt:lpstr>Temporal Logic Types</vt:lpstr>
      <vt:lpstr>Temporal Logic Models</vt:lpstr>
      <vt:lpstr>Temporal Logic Operators</vt:lpstr>
      <vt:lpstr>Temporal Logic Operators</vt:lpstr>
      <vt:lpstr>Temporal Logic Operators</vt:lpstr>
      <vt:lpstr>Temporal Logic Operators</vt:lpstr>
      <vt:lpstr>Temporal Logic Operators</vt:lpstr>
      <vt:lpstr>Temporal Logic Operators</vt:lpstr>
      <vt:lpstr>PowerPoint Presentation</vt:lpstr>
      <vt:lpstr>Whenever the iRobot is at the ramp-edge (cliff), eventually it moves 5 cm away from the cliff.” p – iRobot is at the cliff q – iRobot is 5 cm away from the cliff  G (p =&gt; F q)  “Whenever the distance between cars is less than 2m, cruise control is deactivated” p – distance between cars is less than 2 m q – cruise control is active  G (p =&gt; X ! q) </vt:lpstr>
      <vt:lpstr>Linear Time Temporal Logic (LTL)</vt:lpstr>
      <vt:lpstr>LTL Syntax</vt:lpstr>
      <vt:lpstr>LTL Semantics</vt:lpstr>
      <vt:lpstr>LTL Semantics</vt:lpstr>
      <vt:lpstr>Computational Tree Logic (CTL)</vt:lpstr>
      <vt:lpstr>CTL</vt:lpstr>
      <vt:lpstr>LTL Vs CTL</vt:lpstr>
      <vt:lpstr>CTL Operators</vt:lpstr>
      <vt:lpstr>CTL operators </vt:lpstr>
      <vt:lpstr>CTL Example </vt:lpstr>
      <vt:lpstr>PowerPoint Presentation</vt:lpstr>
      <vt:lpstr>A formula p appears eventually on all paths </vt:lpstr>
      <vt:lpstr>A formula p appears in the state on all paths </vt:lpstr>
      <vt:lpstr>A formula p appears on all paths until q appears</vt:lpstr>
      <vt:lpstr>A formula p appears globally on any path</vt:lpstr>
      <vt:lpstr>A formula p appears eventually on any path</vt:lpstr>
      <vt:lpstr>A formula p appears on the next state of any path</vt:lpstr>
      <vt:lpstr>A formula p appears on any path until q appears</vt:lpstr>
      <vt:lpstr>CTL formulas Equivalence </vt:lpstr>
      <vt:lpstr>PowerPoint Presentation</vt:lpstr>
      <vt:lpstr>CTL Syntax </vt:lpstr>
      <vt:lpstr>PowerPoint Presentation</vt:lpstr>
      <vt:lpstr>Transition Graph (Labelled States)</vt:lpstr>
      <vt:lpstr>Kripke Structure</vt:lpstr>
      <vt:lpstr>CTL Semantics </vt:lpstr>
      <vt:lpstr>CTL Semantics</vt:lpstr>
      <vt:lpstr>CTL Semantics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Mahfooz</dc:creator>
  <cp:lastModifiedBy>Rida Maryam</cp:lastModifiedBy>
  <cp:revision>136</cp:revision>
  <dcterms:created xsi:type="dcterms:W3CDTF">2017-01-18T11:57:24Z</dcterms:created>
  <dcterms:modified xsi:type="dcterms:W3CDTF">2025-08-15T05:17:25Z</dcterms:modified>
</cp:coreProperties>
</file>