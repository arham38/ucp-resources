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330" r:id="rId3"/>
    <p:sldId id="332" r:id="rId4"/>
    <p:sldId id="331" r:id="rId5"/>
    <p:sldId id="333" r:id="rId6"/>
    <p:sldId id="334" r:id="rId7"/>
    <p:sldId id="335" r:id="rId8"/>
    <p:sldId id="336" r:id="rId9"/>
    <p:sldId id="337" r:id="rId10"/>
    <p:sldId id="308" r:id="rId11"/>
    <p:sldId id="309" r:id="rId12"/>
    <p:sldId id="29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71" d="100"/>
          <a:sy n="71"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05EB7B-CADD-4D75-ADF0-053F70AF6617}"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4964FC-4812-415C-8FD8-414485E3AD53}" type="slidenum">
              <a:rPr lang="en-US" smtClean="0"/>
              <a:t>‹#›</a:t>
            </a:fld>
            <a:endParaRPr lang="en-US"/>
          </a:p>
        </p:txBody>
      </p:sp>
    </p:spTree>
    <p:extLst>
      <p:ext uri="{BB962C8B-B14F-4D97-AF65-F5344CB8AC3E}">
        <p14:creationId xmlns:p14="http://schemas.microsoft.com/office/powerpoint/2010/main" val="2596037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34964FC-4812-415C-8FD8-414485E3AD53}" type="slidenum">
              <a:rPr lang="en-US" smtClean="0"/>
              <a:t>2</a:t>
            </a:fld>
            <a:endParaRPr lang="en-US"/>
          </a:p>
        </p:txBody>
      </p:sp>
    </p:spTree>
    <p:extLst>
      <p:ext uri="{BB962C8B-B14F-4D97-AF65-F5344CB8AC3E}">
        <p14:creationId xmlns:p14="http://schemas.microsoft.com/office/powerpoint/2010/main" val="4025843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34964FC-4812-415C-8FD8-414485E3AD53}" type="slidenum">
              <a:rPr lang="en-US" smtClean="0"/>
              <a:t>3</a:t>
            </a:fld>
            <a:endParaRPr lang="en-US"/>
          </a:p>
        </p:txBody>
      </p:sp>
    </p:spTree>
    <p:extLst>
      <p:ext uri="{BB962C8B-B14F-4D97-AF65-F5344CB8AC3E}">
        <p14:creationId xmlns:p14="http://schemas.microsoft.com/office/powerpoint/2010/main" val="1516305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34964FC-4812-415C-8FD8-414485E3AD53}" type="slidenum">
              <a:rPr lang="en-US" smtClean="0"/>
              <a:t>5</a:t>
            </a:fld>
            <a:endParaRPr lang="en-US"/>
          </a:p>
        </p:txBody>
      </p:sp>
    </p:spTree>
    <p:extLst>
      <p:ext uri="{BB962C8B-B14F-4D97-AF65-F5344CB8AC3E}">
        <p14:creationId xmlns:p14="http://schemas.microsoft.com/office/powerpoint/2010/main" val="2332993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34964FC-4812-415C-8FD8-414485E3AD53}" type="slidenum">
              <a:rPr lang="en-US" smtClean="0"/>
              <a:t>6</a:t>
            </a:fld>
            <a:endParaRPr lang="en-US"/>
          </a:p>
        </p:txBody>
      </p:sp>
    </p:spTree>
    <p:extLst>
      <p:ext uri="{BB962C8B-B14F-4D97-AF65-F5344CB8AC3E}">
        <p14:creationId xmlns:p14="http://schemas.microsoft.com/office/powerpoint/2010/main" val="423388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34964FC-4812-415C-8FD8-414485E3AD53}" type="slidenum">
              <a:rPr lang="en-US" smtClean="0"/>
              <a:t>7</a:t>
            </a:fld>
            <a:endParaRPr lang="en-US"/>
          </a:p>
        </p:txBody>
      </p:sp>
    </p:spTree>
    <p:extLst>
      <p:ext uri="{BB962C8B-B14F-4D97-AF65-F5344CB8AC3E}">
        <p14:creationId xmlns:p14="http://schemas.microsoft.com/office/powerpoint/2010/main" val="1868668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34964FC-4812-415C-8FD8-414485E3AD53}" type="slidenum">
              <a:rPr lang="en-US" smtClean="0"/>
              <a:t>8</a:t>
            </a:fld>
            <a:endParaRPr lang="en-US"/>
          </a:p>
        </p:txBody>
      </p:sp>
    </p:spTree>
    <p:extLst>
      <p:ext uri="{BB962C8B-B14F-4D97-AF65-F5344CB8AC3E}">
        <p14:creationId xmlns:p14="http://schemas.microsoft.com/office/powerpoint/2010/main" val="3295888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34964FC-4812-415C-8FD8-414485E3AD53}" type="slidenum">
              <a:rPr lang="en-US" smtClean="0"/>
              <a:t>9</a:t>
            </a:fld>
            <a:endParaRPr lang="en-US"/>
          </a:p>
        </p:txBody>
      </p:sp>
    </p:spTree>
    <p:extLst>
      <p:ext uri="{BB962C8B-B14F-4D97-AF65-F5344CB8AC3E}">
        <p14:creationId xmlns:p14="http://schemas.microsoft.com/office/powerpoint/2010/main" val="2198681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34964FC-4812-415C-8FD8-414485E3AD53}" type="slidenum">
              <a:rPr lang="en-US" smtClean="0"/>
              <a:t>10</a:t>
            </a:fld>
            <a:endParaRPr lang="en-US"/>
          </a:p>
        </p:txBody>
      </p:sp>
    </p:spTree>
    <p:extLst>
      <p:ext uri="{BB962C8B-B14F-4D97-AF65-F5344CB8AC3E}">
        <p14:creationId xmlns:p14="http://schemas.microsoft.com/office/powerpoint/2010/main" val="3616263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34964FC-4812-415C-8FD8-414485E3AD53}" type="slidenum">
              <a:rPr lang="en-US" smtClean="0"/>
              <a:t>11</a:t>
            </a:fld>
            <a:endParaRPr lang="en-US"/>
          </a:p>
        </p:txBody>
      </p:sp>
    </p:spTree>
    <p:extLst>
      <p:ext uri="{BB962C8B-B14F-4D97-AF65-F5344CB8AC3E}">
        <p14:creationId xmlns:p14="http://schemas.microsoft.com/office/powerpoint/2010/main" val="346999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gs>
            <a:gs pos="100000">
              <a:schemeClr val="bg2">
                <a:shade val="98000"/>
                <a:satMod val="120000"/>
                <a:lumMod val="98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4/23/2026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sz="3200" b="1" dirty="0">
                <a:solidFill>
                  <a:schemeClr val="accent1">
                    <a:lumMod val="75000"/>
                  </a:schemeClr>
                </a:solidFill>
                <a:latin typeface="Arial" panose="020B0604020202020204" pitchFamily="34" charset="0"/>
                <a:cs typeface="Arial" panose="020B0604020202020204" pitchFamily="34" charset="0"/>
              </a:rPr>
              <a:t>Formal Methods in Software Engineering</a:t>
            </a:r>
          </a:p>
        </p:txBody>
      </p:sp>
      <p:sp>
        <p:nvSpPr>
          <p:cNvPr id="3" name="Subtitle 2"/>
          <p:cNvSpPr>
            <a:spLocks noGrp="1"/>
          </p:cNvSpPr>
          <p:nvPr>
            <p:ph type="subTitle" idx="1"/>
          </p:nvPr>
        </p:nvSpPr>
        <p:spPr/>
        <p:txBody>
          <a:bodyPr>
            <a:normAutofit/>
          </a:bodyPr>
          <a:lstStyle/>
          <a:p>
            <a:pPr algn="ctr"/>
            <a:endParaRPr lang="en-US" dirty="0"/>
          </a:p>
          <a:p>
            <a:pPr algn="ctr"/>
            <a:endParaRPr lang="en-US" dirty="0"/>
          </a:p>
        </p:txBody>
      </p:sp>
    </p:spTree>
    <p:extLst>
      <p:ext uri="{BB962C8B-B14F-4D97-AF65-F5344CB8AC3E}">
        <p14:creationId xmlns:p14="http://schemas.microsoft.com/office/powerpoint/2010/main" val="2317423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Arial" panose="020B0604020202020204" pitchFamily="34" charset="0"/>
                <a:cs typeface="Arial" panose="020B0604020202020204" pitchFamily="34" charset="0"/>
              </a:rPr>
              <a:t>Rule-based systems (RBS)</a:t>
            </a:r>
            <a:endParaRPr lang="en-US" dirty="0"/>
          </a:p>
        </p:txBody>
      </p:sp>
      <p:sp>
        <p:nvSpPr>
          <p:cNvPr id="3" name="Content Placeholder 2"/>
          <p:cNvSpPr>
            <a:spLocks noGrp="1"/>
          </p:cNvSpPr>
          <p:nvPr>
            <p:ph idx="1"/>
          </p:nvPr>
        </p:nvSpPr>
        <p:spPr>
          <a:xfrm>
            <a:off x="2404574" y="1931376"/>
            <a:ext cx="9359534" cy="4805599"/>
          </a:xfrm>
        </p:spPr>
        <p:txBody>
          <a:bodyPr>
            <a:noAutofit/>
          </a:bodyPr>
          <a:lstStyle/>
          <a:p>
            <a:r>
              <a:rPr lang="en-US" sz="2400" dirty="0">
                <a:latin typeface="Arial Rounded MT Bold" panose="020F0704030504030204" pitchFamily="34" charset="0"/>
              </a:rPr>
              <a:t>Rule-based system is an </a:t>
            </a:r>
            <a:r>
              <a:rPr lang="en-US" sz="2400" dirty="0">
                <a:solidFill>
                  <a:srgbClr val="C00000"/>
                </a:solidFill>
                <a:highlight>
                  <a:srgbClr val="FFFF00"/>
                </a:highlight>
                <a:latin typeface="Arial Rounded MT Bold" panose="020F0704030504030204" pitchFamily="34" charset="0"/>
              </a:rPr>
              <a:t>automated reasoning </a:t>
            </a:r>
            <a:r>
              <a:rPr lang="en-US" sz="2400" dirty="0">
                <a:latin typeface="Arial Rounded MT Bold" panose="020F0704030504030204" pitchFamily="34" charset="0"/>
              </a:rPr>
              <a:t>technique which captures and refines human expertise. </a:t>
            </a:r>
          </a:p>
          <a:p>
            <a:r>
              <a:rPr lang="en-US" sz="2400" dirty="0">
                <a:latin typeface="Arial Rounded MT Bold" panose="020F0704030504030204" pitchFamily="34" charset="0"/>
              </a:rPr>
              <a:t>It automatically performs reasoning for </a:t>
            </a:r>
            <a:r>
              <a:rPr lang="en-US" sz="2400" dirty="0">
                <a:solidFill>
                  <a:srgbClr val="0070C0"/>
                </a:solidFill>
                <a:highlight>
                  <a:srgbClr val="FFFF00"/>
                </a:highlight>
                <a:latin typeface="Arial Rounded MT Bold" panose="020F0704030504030204" pitchFamily="34" charset="0"/>
              </a:rPr>
              <a:t>problem solving </a:t>
            </a:r>
            <a:endParaRPr lang="en-US" sz="2400" dirty="0">
              <a:latin typeface="Arial Rounded MT Bold" panose="020F0704030504030204" pitchFamily="34" charset="0"/>
            </a:endParaRPr>
          </a:p>
          <a:p>
            <a:endParaRPr lang="en-US" sz="2400" dirty="0">
              <a:latin typeface="Arial Rounded MT Bold" panose="020F0704030504030204" pitchFamily="34" charset="0"/>
            </a:endParaRPr>
          </a:p>
          <a:p>
            <a:r>
              <a:rPr lang="en-US" sz="2400" dirty="0">
                <a:latin typeface="Arial Rounded MT Bold" panose="020F0704030504030204" pitchFamily="34" charset="0"/>
              </a:rPr>
              <a:t>Common Applications</a:t>
            </a:r>
          </a:p>
          <a:p>
            <a:pPr lvl="1"/>
            <a:r>
              <a:rPr lang="en-US" sz="2200" dirty="0">
                <a:latin typeface="Arial Rounded MT Bold" panose="020F0704030504030204" pitchFamily="34" charset="0"/>
              </a:rPr>
              <a:t>Expert Systems: Medical diagnostics, financial planning.</a:t>
            </a:r>
          </a:p>
          <a:p>
            <a:pPr lvl="1"/>
            <a:r>
              <a:rPr lang="en-US" sz="2200" dirty="0">
                <a:latin typeface="Arial Rounded MT Bold" panose="020F0704030504030204" pitchFamily="34" charset="0"/>
              </a:rPr>
              <a:t>Control Systems: Industrial manufacturing</a:t>
            </a:r>
          </a:p>
          <a:p>
            <a:pPr lvl="1"/>
            <a:r>
              <a:rPr lang="en-US" sz="2200" dirty="0">
                <a:latin typeface="Arial Rounded MT Bold" panose="020F0704030504030204" pitchFamily="34" charset="0"/>
              </a:rPr>
              <a:t>Compliance &amp; Fraud Detection: Banking and cybersecurity systems, such as flagging transactions based on specific thresholds</a:t>
            </a:r>
          </a:p>
        </p:txBody>
      </p:sp>
      <p:sp>
        <p:nvSpPr>
          <p:cNvPr id="5" name="Rectangle 2">
            <a:extLst>
              <a:ext uri="{FF2B5EF4-FFF2-40B4-BE49-F238E27FC236}">
                <a16:creationId xmlns:a16="http://schemas.microsoft.com/office/drawing/2014/main" id="{DC698DA8-A089-4211-8A67-F93BE524B2A0}"/>
              </a:ext>
            </a:extLst>
          </p:cNvPr>
          <p:cNvSpPr>
            <a:spLocks noChangeArrowheads="1"/>
          </p:cNvSpPr>
          <p:nvPr/>
        </p:nvSpPr>
        <p:spPr bwMode="auto">
          <a:xfrm>
            <a:off x="0" y="-146457"/>
            <a:ext cx="38472" cy="7501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200" b="0" i="0" u="none" strike="noStrike" cap="none" normalizeH="0" baseline="0" dirty="0">
                <a:ln>
                  <a:noFill/>
                </a:ln>
                <a:solidFill>
                  <a:srgbClr val="0A0A0A"/>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25962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Arial" panose="020B0604020202020204" pitchFamily="34" charset="0"/>
                <a:cs typeface="Arial" panose="020B0604020202020204" pitchFamily="34" charset="0"/>
              </a:rPr>
              <a:t>Rule-based systems</a:t>
            </a:r>
            <a:endParaRPr lang="en-US" dirty="0"/>
          </a:p>
        </p:txBody>
      </p:sp>
      <p:sp>
        <p:nvSpPr>
          <p:cNvPr id="3" name="Content Placeholder 2"/>
          <p:cNvSpPr>
            <a:spLocks noGrp="1"/>
          </p:cNvSpPr>
          <p:nvPr>
            <p:ph idx="1"/>
          </p:nvPr>
        </p:nvSpPr>
        <p:spPr>
          <a:xfrm>
            <a:off x="2404574" y="1931377"/>
            <a:ext cx="9359534" cy="4381500"/>
          </a:xfrm>
        </p:spPr>
        <p:txBody>
          <a:bodyPr>
            <a:noAutofit/>
          </a:bodyPr>
          <a:lstStyle/>
          <a:p>
            <a:pPr algn="just"/>
            <a:r>
              <a:rPr lang="en-US" sz="2400" dirty="0">
                <a:latin typeface="Arial Rounded MT Bold" panose="020F0704030504030204" pitchFamily="34" charset="0"/>
              </a:rPr>
              <a:t>In general, rule-based systems </a:t>
            </a:r>
            <a:r>
              <a:rPr lang="en-US" sz="2400" dirty="0">
                <a:highlight>
                  <a:srgbClr val="FFFF00"/>
                </a:highlight>
                <a:latin typeface="Arial Rounded MT Bold" panose="020F0704030504030204" pitchFamily="34" charset="0"/>
              </a:rPr>
              <a:t>capture data, analyze data </a:t>
            </a:r>
            <a:r>
              <a:rPr lang="en-US" sz="2400" dirty="0">
                <a:latin typeface="Arial Rounded MT Bold" panose="020F0704030504030204" pitchFamily="34" charset="0"/>
              </a:rPr>
              <a:t>based on the available information and then </a:t>
            </a:r>
            <a:r>
              <a:rPr lang="en-US" sz="2400" dirty="0">
                <a:highlight>
                  <a:srgbClr val="FFFF00"/>
                </a:highlight>
                <a:latin typeface="Arial Rounded MT Bold" panose="020F0704030504030204" pitchFamily="34" charset="0"/>
              </a:rPr>
              <a:t>perform reasoning </a:t>
            </a:r>
            <a:r>
              <a:rPr lang="en-US" sz="2400" dirty="0">
                <a:latin typeface="Arial Rounded MT Bold" panose="020F0704030504030204" pitchFamily="34" charset="0"/>
              </a:rPr>
              <a:t>to produce the desired goals. </a:t>
            </a:r>
          </a:p>
          <a:p>
            <a:pPr algn="just"/>
            <a:endParaRPr lang="en-US" sz="2400" dirty="0">
              <a:latin typeface="Arial Rounded MT Bold" panose="020F0704030504030204" pitchFamily="34" charset="0"/>
            </a:endParaRPr>
          </a:p>
          <a:p>
            <a:pPr algn="just"/>
            <a:r>
              <a:rPr lang="en-US" sz="2400" dirty="0">
                <a:latin typeface="Arial Rounded MT Bold" panose="020F0704030504030204" pitchFamily="34" charset="0"/>
              </a:rPr>
              <a:t>A rule-based system is actually an </a:t>
            </a:r>
            <a:r>
              <a:rPr lang="en-US" sz="2400" dirty="0">
                <a:highlight>
                  <a:srgbClr val="FFFF00"/>
                </a:highlight>
                <a:latin typeface="Arial Rounded MT Bold" panose="020F0704030504030204" pitchFamily="34" charset="0"/>
              </a:rPr>
              <a:t>inference based technique </a:t>
            </a:r>
            <a:r>
              <a:rPr lang="en-US" sz="2400" dirty="0">
                <a:latin typeface="Arial Rounded MT Bold" panose="020F0704030504030204" pitchFamily="34" charset="0"/>
              </a:rPr>
              <a:t>that has flexible and dynamic implementation mechanism </a:t>
            </a:r>
            <a:r>
              <a:rPr lang="en-US" sz="2400" dirty="0">
                <a:highlight>
                  <a:srgbClr val="FFFF00"/>
                </a:highlight>
                <a:latin typeface="Arial Rounded MT Bold" panose="020F0704030504030204" pitchFamily="34" charset="0"/>
              </a:rPr>
              <a:t>to solve more realistic and complex problems</a:t>
            </a:r>
            <a:r>
              <a:rPr lang="en-US" sz="2400" dirty="0">
                <a:latin typeface="Arial Rounded MT Bold" panose="020F0704030504030204" pitchFamily="34" charset="0"/>
              </a:rPr>
              <a:t>. </a:t>
            </a:r>
          </a:p>
          <a:p>
            <a:pPr algn="just"/>
            <a:endParaRPr lang="en-US" sz="2400" dirty="0">
              <a:latin typeface="Arial Rounded MT Bold" panose="020F0704030504030204" pitchFamily="34" charset="0"/>
            </a:endParaRPr>
          </a:p>
          <a:p>
            <a:pPr algn="just"/>
            <a:r>
              <a:rPr lang="en-US" sz="2400" dirty="0">
                <a:latin typeface="Arial Rounded MT Bold" panose="020F0704030504030204" pitchFamily="34" charset="0"/>
              </a:rPr>
              <a:t>Rule-based system has also played vital roles for </a:t>
            </a:r>
            <a:r>
              <a:rPr lang="en-US" sz="2400" dirty="0">
                <a:highlight>
                  <a:srgbClr val="FFFF00"/>
                </a:highlight>
                <a:latin typeface="Arial Rounded MT Bold" panose="020F0704030504030204" pitchFamily="34" charset="0"/>
              </a:rPr>
              <a:t>modelling business domains.</a:t>
            </a:r>
            <a:r>
              <a:rPr lang="en-US" sz="2400" dirty="0">
                <a:latin typeface="Arial Rounded MT Bold" panose="020F0704030504030204" pitchFamily="34" charset="0"/>
              </a:rPr>
              <a:t> For example, </a:t>
            </a:r>
            <a:r>
              <a:rPr lang="en-US" sz="2400" dirty="0">
                <a:highlight>
                  <a:srgbClr val="FFFF00"/>
                </a:highlight>
                <a:latin typeface="Arial Rounded MT Bold" panose="020F0704030504030204" pitchFamily="34" charset="0"/>
              </a:rPr>
              <a:t>business rules define all legal constraints</a:t>
            </a:r>
            <a:r>
              <a:rPr lang="en-US" sz="2400" dirty="0">
                <a:latin typeface="Arial Rounded MT Bold" panose="020F0704030504030204" pitchFamily="34" charset="0"/>
              </a:rPr>
              <a:t> for the business domains.</a:t>
            </a:r>
          </a:p>
        </p:txBody>
      </p:sp>
    </p:spTree>
    <p:extLst>
      <p:ext uri="{BB962C8B-B14F-4D97-AF65-F5344CB8AC3E}">
        <p14:creationId xmlns:p14="http://schemas.microsoft.com/office/powerpoint/2010/main" val="3136872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accent1">
                    <a:lumMod val="75000"/>
                  </a:schemeClr>
                </a:solidFill>
                <a:latin typeface="Arial" panose="020B0604020202020204" pitchFamily="34" charset="0"/>
                <a:cs typeface="Arial" panose="020B0604020202020204" pitchFamily="34" charset="0"/>
              </a:rPr>
              <a:t>Significance of Rule-based systems in formal methods</a:t>
            </a:r>
            <a:endParaRPr lang="en-US" sz="3200" dirty="0"/>
          </a:p>
        </p:txBody>
      </p:sp>
      <p:sp>
        <p:nvSpPr>
          <p:cNvPr id="3" name="Content Placeholder 2"/>
          <p:cNvSpPr>
            <a:spLocks noGrp="1"/>
          </p:cNvSpPr>
          <p:nvPr>
            <p:ph idx="1"/>
          </p:nvPr>
        </p:nvSpPr>
        <p:spPr>
          <a:xfrm>
            <a:off x="2378197" y="1834661"/>
            <a:ext cx="8915400" cy="3777622"/>
          </a:xfrm>
        </p:spPr>
        <p:txBody>
          <a:bodyPr>
            <a:noAutofit/>
          </a:bodyPr>
          <a:lstStyle/>
          <a:p>
            <a:pPr marL="0" indent="0" algn="just">
              <a:buNone/>
            </a:pPr>
            <a:r>
              <a:rPr lang="en-US" sz="2400" dirty="0">
                <a:latin typeface="Arial Rounded MT Bold" panose="020F0704030504030204" pitchFamily="34" charset="0"/>
              </a:rPr>
              <a:t>There are several benefits for adopting rule-based approaches with the formal methods to establish properties of the resulting systems with respect to:</a:t>
            </a:r>
          </a:p>
          <a:p>
            <a:pPr algn="just"/>
            <a:r>
              <a:rPr lang="en-US" sz="2400" dirty="0">
                <a:latin typeface="Arial Rounded MT Bold" panose="020F0704030504030204" pitchFamily="34" charset="0"/>
              </a:rPr>
              <a:t> </a:t>
            </a:r>
            <a:r>
              <a:rPr lang="en-US" sz="2000" b="1" dirty="0">
                <a:latin typeface="Arial Rounded MT Bold" panose="020F0704030504030204" pitchFamily="34" charset="0"/>
              </a:rPr>
              <a:t>Correctness</a:t>
            </a:r>
            <a:r>
              <a:rPr lang="en-US" sz="2000" dirty="0">
                <a:latin typeface="Arial Rounded MT Bold" panose="020F0704030504030204" pitchFamily="34" charset="0"/>
              </a:rPr>
              <a:t>: This is a measure to check whether a rule-based agent would be able to </a:t>
            </a:r>
            <a:r>
              <a:rPr lang="en-US" sz="2000" dirty="0">
                <a:solidFill>
                  <a:srgbClr val="0070C0"/>
                </a:solidFill>
                <a:latin typeface="Arial Rounded MT Bold" panose="020F0704030504030204" pitchFamily="34" charset="0"/>
              </a:rPr>
              <a:t>produce the correct output </a:t>
            </a:r>
            <a:r>
              <a:rPr lang="en-US" sz="2000" dirty="0">
                <a:latin typeface="Arial Rounded MT Bold" panose="020F0704030504030204" pitchFamily="34" charset="0"/>
              </a:rPr>
              <a:t>against all legal inputs or not.</a:t>
            </a:r>
          </a:p>
          <a:p>
            <a:pPr algn="just"/>
            <a:endParaRPr lang="en-US" sz="2000" dirty="0">
              <a:latin typeface="Arial Rounded MT Bold" panose="020F0704030504030204" pitchFamily="34" charset="0"/>
            </a:endParaRPr>
          </a:p>
          <a:p>
            <a:pPr algn="just"/>
            <a:r>
              <a:rPr lang="en-US" sz="2000" b="1" dirty="0">
                <a:latin typeface="Arial Rounded MT Bold" panose="020F0704030504030204" pitchFamily="34" charset="0"/>
              </a:rPr>
              <a:t>Response Time</a:t>
            </a:r>
            <a:r>
              <a:rPr lang="en-US" sz="2000" dirty="0">
                <a:latin typeface="Arial Rounded MT Bold" panose="020F0704030504030204" pitchFamily="34" charset="0"/>
              </a:rPr>
              <a:t>: This calculates the computational </a:t>
            </a:r>
            <a:r>
              <a:rPr lang="en-US" sz="2000" dirty="0">
                <a:solidFill>
                  <a:srgbClr val="C00000"/>
                </a:solidFill>
                <a:latin typeface="Arial Rounded MT Bold" panose="020F0704030504030204" pitchFamily="34" charset="0"/>
              </a:rPr>
              <a:t>time steps</a:t>
            </a:r>
            <a:r>
              <a:rPr lang="en-US" sz="2000" dirty="0">
                <a:latin typeface="Arial Rounded MT Bold" panose="020F0704030504030204" pitchFamily="34" charset="0"/>
              </a:rPr>
              <a:t> taken by a rule-based device (agent) to generate any output.</a:t>
            </a:r>
          </a:p>
          <a:p>
            <a:pPr algn="just"/>
            <a:endParaRPr lang="en-US" sz="2000" dirty="0">
              <a:latin typeface="Arial Rounded MT Bold" panose="020F0704030504030204" pitchFamily="34" charset="0"/>
            </a:endParaRPr>
          </a:p>
          <a:p>
            <a:pPr algn="just"/>
            <a:r>
              <a:rPr lang="en-US" sz="2000" b="1" dirty="0">
                <a:latin typeface="Arial Rounded MT Bold" panose="020F0704030504030204" pitchFamily="34" charset="0"/>
              </a:rPr>
              <a:t>Termination</a:t>
            </a:r>
            <a:r>
              <a:rPr lang="en-US" sz="2000" dirty="0">
                <a:latin typeface="Arial Rounded MT Bold" panose="020F0704030504030204" pitchFamily="34" charset="0"/>
              </a:rPr>
              <a:t>: This determines whether a rule-based (device) agent would be able to </a:t>
            </a:r>
            <a:r>
              <a:rPr lang="en-US" sz="2000" dirty="0">
                <a:solidFill>
                  <a:srgbClr val="C00000"/>
                </a:solidFill>
                <a:latin typeface="Arial Rounded MT Bold" panose="020F0704030504030204" pitchFamily="34" charset="0"/>
              </a:rPr>
              <a:t>produce an output at all or not</a:t>
            </a:r>
            <a:r>
              <a:rPr lang="en-US" sz="2000" dirty="0">
                <a:latin typeface="Arial Rounded MT Bold" panose="020F0704030504030204" pitchFamily="34" charset="0"/>
              </a:rPr>
              <a:t>.</a:t>
            </a:r>
          </a:p>
        </p:txBody>
      </p:sp>
    </p:spTree>
    <p:extLst>
      <p:ext uri="{BB962C8B-B14F-4D97-AF65-F5344CB8AC3E}">
        <p14:creationId xmlns:p14="http://schemas.microsoft.com/office/powerpoint/2010/main" val="2310062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Arial" panose="020B0604020202020204" pitchFamily="34" charset="0"/>
                <a:cs typeface="Arial" panose="020B0604020202020204" pitchFamily="34" charset="0"/>
              </a:rPr>
              <a:t>Components of Rule-based systems</a:t>
            </a:r>
            <a:endParaRPr lang="en-US" dirty="0"/>
          </a:p>
        </p:txBody>
      </p:sp>
      <p:sp>
        <p:nvSpPr>
          <p:cNvPr id="3" name="Content Placeholder 2"/>
          <p:cNvSpPr>
            <a:spLocks noGrp="1"/>
          </p:cNvSpPr>
          <p:nvPr>
            <p:ph idx="1"/>
          </p:nvPr>
        </p:nvSpPr>
        <p:spPr>
          <a:xfrm>
            <a:off x="2404574" y="1931377"/>
            <a:ext cx="9359534" cy="4381500"/>
          </a:xfrm>
        </p:spPr>
        <p:txBody>
          <a:bodyPr>
            <a:noAutofit/>
          </a:bodyPr>
          <a:lstStyle/>
          <a:p>
            <a:pPr algn="just">
              <a:buFont typeface="+mj-lt"/>
              <a:buAutoNum type="arabicPeriod"/>
            </a:pPr>
            <a:r>
              <a:rPr lang="en-US" sz="2000" b="1" dirty="0">
                <a:latin typeface="Arial Rounded MT Bold" panose="020F0704030504030204" pitchFamily="34" charset="0"/>
              </a:rPr>
              <a:t>Rule-base (Knowledge Base): </a:t>
            </a:r>
            <a:r>
              <a:rPr lang="en-US" sz="2000" dirty="0">
                <a:latin typeface="Arial Rounded MT Bold" panose="020F0704030504030204" pitchFamily="34" charset="0"/>
              </a:rPr>
              <a:t>specifies particular type of knowledge bases of the domain in terms of rules where </a:t>
            </a:r>
            <a:r>
              <a:rPr lang="en-US" sz="2000" dirty="0">
                <a:solidFill>
                  <a:srgbClr val="FF0000"/>
                </a:solidFill>
                <a:latin typeface="Arial Rounded MT Bold" panose="020F0704030504030204" pitchFamily="34" charset="0"/>
              </a:rPr>
              <a:t>knowledge is encoded </a:t>
            </a:r>
            <a:r>
              <a:rPr lang="en-US" sz="2000" dirty="0">
                <a:latin typeface="Arial Rounded MT Bold" panose="020F0704030504030204" pitchFamily="34" charset="0"/>
              </a:rPr>
              <a:t>into IF-Then rule form.</a:t>
            </a:r>
          </a:p>
          <a:p>
            <a:pPr algn="just">
              <a:buFont typeface="+mj-lt"/>
              <a:buAutoNum type="arabicPeriod"/>
            </a:pPr>
            <a:endParaRPr lang="en-US" sz="2000" b="1" dirty="0">
              <a:latin typeface="Arial Rounded MT Bold" panose="020F0704030504030204" pitchFamily="34" charset="0"/>
            </a:endParaRPr>
          </a:p>
          <a:p>
            <a:pPr algn="just">
              <a:buFont typeface="+mj-lt"/>
              <a:buAutoNum type="arabicPeriod"/>
            </a:pPr>
            <a:r>
              <a:rPr lang="en-US" sz="2000" b="1" dirty="0">
                <a:latin typeface="Arial Rounded MT Bold" panose="020F0704030504030204" pitchFamily="34" charset="0"/>
              </a:rPr>
              <a:t>Temporary Working Memory</a:t>
            </a:r>
            <a:r>
              <a:rPr lang="en-US" sz="2000" dirty="0">
                <a:latin typeface="Arial Rounded MT Bold" panose="020F0704030504030204" pitchFamily="34" charset="0"/>
              </a:rPr>
              <a:t>: </a:t>
            </a:r>
            <a:r>
              <a:rPr lang="en-US" sz="2000" dirty="0">
                <a:solidFill>
                  <a:srgbClr val="0070C0"/>
                </a:solidFill>
                <a:latin typeface="Arial Rounded MT Bold" panose="020F0704030504030204" pitchFamily="34" charset="0"/>
              </a:rPr>
              <a:t>stores the facts</a:t>
            </a:r>
            <a:r>
              <a:rPr lang="en-US" sz="2000" dirty="0">
                <a:latin typeface="Arial Rounded MT Bold" panose="020F0704030504030204" pitchFamily="34" charset="0"/>
              </a:rPr>
              <a:t> used by inference engine. </a:t>
            </a:r>
          </a:p>
          <a:p>
            <a:pPr algn="just">
              <a:buFont typeface="+mj-lt"/>
              <a:buAutoNum type="arabicPeriod"/>
            </a:pPr>
            <a:endParaRPr lang="en-US" sz="2000" b="1" dirty="0">
              <a:latin typeface="Arial Rounded MT Bold" panose="020F0704030504030204" pitchFamily="34" charset="0"/>
            </a:endParaRPr>
          </a:p>
          <a:p>
            <a:pPr algn="just">
              <a:buFont typeface="+mj-lt"/>
              <a:buAutoNum type="arabicPeriod"/>
            </a:pPr>
            <a:r>
              <a:rPr lang="en-US" sz="2000" b="1" dirty="0">
                <a:latin typeface="Arial Rounded MT Bold" panose="020F0704030504030204" pitchFamily="34" charset="0"/>
              </a:rPr>
              <a:t>An Inference Engine</a:t>
            </a:r>
            <a:r>
              <a:rPr lang="en-US" sz="2000" dirty="0">
                <a:latin typeface="Arial Rounded MT Bold" panose="020F0704030504030204" pitchFamily="34" charset="0"/>
              </a:rPr>
              <a:t>: performs </a:t>
            </a:r>
            <a:r>
              <a:rPr lang="en-US" sz="2000" dirty="0">
                <a:solidFill>
                  <a:srgbClr val="C00000"/>
                </a:solidFill>
                <a:latin typeface="Arial Rounded MT Bold" panose="020F0704030504030204" pitchFamily="34" charset="0"/>
              </a:rPr>
              <a:t>reasoning</a:t>
            </a:r>
            <a:r>
              <a:rPr lang="en-US" sz="2000" dirty="0">
                <a:latin typeface="Arial Rounded MT Bold" panose="020F0704030504030204" pitchFamily="34" charset="0"/>
              </a:rPr>
              <a:t> to derive new information and/or takes appropriate actions based on the input and rule base.</a:t>
            </a:r>
          </a:p>
          <a:p>
            <a:pPr algn="just">
              <a:buFont typeface="+mj-lt"/>
              <a:buAutoNum type="arabicPeriod"/>
            </a:pPr>
            <a:endParaRPr lang="en-US" sz="2000" b="1" dirty="0">
              <a:latin typeface="Arial Rounded MT Bold" panose="020F0704030504030204" pitchFamily="34" charset="0"/>
            </a:endParaRPr>
          </a:p>
          <a:p>
            <a:pPr algn="just">
              <a:buFont typeface="+mj-lt"/>
              <a:buAutoNum type="arabicPeriod"/>
            </a:pPr>
            <a:r>
              <a:rPr lang="en-US" sz="2000" b="1" dirty="0">
                <a:latin typeface="Arial Rounded MT Bold" panose="020F0704030504030204" pitchFamily="34" charset="0"/>
              </a:rPr>
              <a:t>User Interface</a:t>
            </a:r>
            <a:r>
              <a:rPr lang="en-US" sz="2000" dirty="0">
                <a:latin typeface="Arial Rounded MT Bold" panose="020F0704030504030204" pitchFamily="34" charset="0"/>
              </a:rPr>
              <a:t>: This provides a </a:t>
            </a:r>
            <a:r>
              <a:rPr lang="en-US" sz="2000" dirty="0">
                <a:solidFill>
                  <a:srgbClr val="0070C0"/>
                </a:solidFill>
                <a:latin typeface="Arial Rounded MT Bold" panose="020F0704030504030204" pitchFamily="34" charset="0"/>
              </a:rPr>
              <a:t>platform</a:t>
            </a:r>
            <a:r>
              <a:rPr lang="en-US" sz="2000" dirty="0">
                <a:latin typeface="Arial Rounded MT Bold" panose="020F0704030504030204" pitchFamily="34" charset="0"/>
              </a:rPr>
              <a:t> through which input/output signals are sent and received. User interface is optional part of the reasoning process, but it is recommended.</a:t>
            </a:r>
          </a:p>
        </p:txBody>
      </p:sp>
    </p:spTree>
    <p:extLst>
      <p:ext uri="{BB962C8B-B14F-4D97-AF65-F5344CB8AC3E}">
        <p14:creationId xmlns:p14="http://schemas.microsoft.com/office/powerpoint/2010/main" val="1079988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Arial" panose="020B0604020202020204" pitchFamily="34" charset="0"/>
                <a:cs typeface="Arial" panose="020B0604020202020204" pitchFamily="34" charset="0"/>
              </a:rPr>
              <a:t>Match-resolve-act</a:t>
            </a:r>
            <a:endParaRPr lang="en-US" dirty="0"/>
          </a:p>
        </p:txBody>
      </p:sp>
      <p:sp>
        <p:nvSpPr>
          <p:cNvPr id="3" name="Content Placeholder 2"/>
          <p:cNvSpPr>
            <a:spLocks noGrp="1"/>
          </p:cNvSpPr>
          <p:nvPr>
            <p:ph idx="1"/>
          </p:nvPr>
        </p:nvSpPr>
        <p:spPr>
          <a:xfrm>
            <a:off x="2404574" y="1931377"/>
            <a:ext cx="9359534" cy="4381500"/>
          </a:xfrm>
        </p:spPr>
        <p:txBody>
          <a:bodyPr>
            <a:noAutofit/>
          </a:bodyPr>
          <a:lstStyle/>
          <a:p>
            <a:pPr marL="0" indent="0" algn="just">
              <a:buNone/>
            </a:pPr>
            <a:r>
              <a:rPr lang="en-US" dirty="0">
                <a:latin typeface="Arial Rounded MT Bold" panose="020F0704030504030204" pitchFamily="34" charset="0"/>
              </a:rPr>
              <a:t>Match-resolve-act has the following phases:</a:t>
            </a:r>
          </a:p>
          <a:p>
            <a:pPr algn="just"/>
            <a:r>
              <a:rPr lang="en-US" dirty="0">
                <a:latin typeface="Arial Rounded MT Bold" panose="020F0704030504030204" pitchFamily="34" charset="0"/>
              </a:rPr>
              <a:t> </a:t>
            </a:r>
            <a:r>
              <a:rPr lang="en-US" b="1" dirty="0">
                <a:latin typeface="Arial Rounded MT Bold" panose="020F0704030504030204" pitchFamily="34" charset="0"/>
              </a:rPr>
              <a:t>Match</a:t>
            </a:r>
            <a:r>
              <a:rPr lang="en-US" dirty="0">
                <a:latin typeface="Arial Rounded MT Bold" panose="020F0704030504030204" pitchFamily="34" charset="0"/>
              </a:rPr>
              <a:t>: It is the first phase in which facts on the left hand side of the rule (</a:t>
            </a:r>
            <a:r>
              <a:rPr lang="en-US" dirty="0" err="1">
                <a:latin typeface="Arial Rounded MT Bold" panose="020F0704030504030204" pitchFamily="34" charset="0"/>
              </a:rPr>
              <a:t>i.e</a:t>
            </a:r>
            <a:r>
              <a:rPr lang="en-US" dirty="0">
                <a:latin typeface="Arial Rounded MT Bold" panose="020F0704030504030204" pitchFamily="34" charset="0"/>
              </a:rPr>
              <a:t> IF) are matched with the </a:t>
            </a:r>
            <a:r>
              <a:rPr lang="en-US" dirty="0">
                <a:solidFill>
                  <a:srgbClr val="0070C0"/>
                </a:solidFill>
                <a:latin typeface="Arial Rounded MT Bold" panose="020F0704030504030204" pitchFamily="34" charset="0"/>
              </a:rPr>
              <a:t>contents of the working memory</a:t>
            </a:r>
            <a:r>
              <a:rPr lang="en-US" dirty="0">
                <a:latin typeface="Arial Rounded MT Bold" panose="020F0704030504030204" pitchFamily="34" charset="0"/>
              </a:rPr>
              <a:t>. If facts on the left hand side of the rules are matched then conflict set is generated. This constitutes an instantiation of the rules. In this phase, one rule may have more than one instantiations. Conflict set is generated for the set of all rule instantiations in the memory.</a:t>
            </a:r>
          </a:p>
          <a:p>
            <a:pPr algn="just"/>
            <a:r>
              <a:rPr lang="en-US" b="1" dirty="0">
                <a:latin typeface="Arial Rounded MT Bold" panose="020F0704030504030204" pitchFamily="34" charset="0"/>
              </a:rPr>
              <a:t> Conflict Resolution: </a:t>
            </a:r>
            <a:r>
              <a:rPr lang="en-US" dirty="0">
                <a:latin typeface="Arial Rounded MT Bold" panose="020F0704030504030204" pitchFamily="34" charset="0"/>
              </a:rPr>
              <a:t>In this phase, conflict resolution strategy selects a single instance or a </a:t>
            </a:r>
            <a:r>
              <a:rPr lang="en-US" dirty="0">
                <a:solidFill>
                  <a:srgbClr val="C00000"/>
                </a:solidFill>
                <a:latin typeface="Arial Rounded MT Bold" panose="020F0704030504030204" pitchFamily="34" charset="0"/>
              </a:rPr>
              <a:t>subset of conflict set for execution</a:t>
            </a:r>
            <a:r>
              <a:rPr lang="en-US" dirty="0">
                <a:latin typeface="Arial Rounded MT Bold" panose="020F0704030504030204" pitchFamily="34" charset="0"/>
              </a:rPr>
              <a:t> from the conflicting set. The set of all instantiations are chosen for the execution in case when reasoning strategy is not applied.</a:t>
            </a:r>
          </a:p>
          <a:p>
            <a:pPr algn="just"/>
            <a:r>
              <a:rPr lang="en-US" b="1" dirty="0">
                <a:latin typeface="Arial Rounded MT Bold" panose="020F0704030504030204" pitchFamily="34" charset="0"/>
              </a:rPr>
              <a:t>Act: </a:t>
            </a:r>
            <a:r>
              <a:rPr lang="en-US" dirty="0">
                <a:latin typeface="Arial Rounded MT Bold" panose="020F0704030504030204" pitchFamily="34" charset="0"/>
              </a:rPr>
              <a:t>After choosing the single or multiple instantiation(s) from the conflict set, the </a:t>
            </a:r>
            <a:r>
              <a:rPr lang="en-US" dirty="0">
                <a:solidFill>
                  <a:srgbClr val="0070C0"/>
                </a:solidFill>
                <a:latin typeface="Arial Rounded MT Bold" panose="020F0704030504030204" pitchFamily="34" charset="0"/>
              </a:rPr>
              <a:t>rule will be executed to infer new information</a:t>
            </a:r>
            <a:r>
              <a:rPr lang="en-US" dirty="0">
                <a:latin typeface="Arial Rounded MT Bold" panose="020F0704030504030204" pitchFamily="34" charset="0"/>
              </a:rPr>
              <a:t>. These actions (newly derived information) are added to the working memory. </a:t>
            </a:r>
          </a:p>
        </p:txBody>
      </p:sp>
    </p:spTree>
    <p:extLst>
      <p:ext uri="{BB962C8B-B14F-4D97-AF65-F5344CB8AC3E}">
        <p14:creationId xmlns:p14="http://schemas.microsoft.com/office/powerpoint/2010/main" val="3540386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Arial" panose="020B0604020202020204" pitchFamily="34" charset="0"/>
                <a:cs typeface="Arial" panose="020B0604020202020204" pitchFamily="34" charset="0"/>
              </a:rPr>
              <a:t>Rule-based systems</a:t>
            </a:r>
            <a:endParaRPr lang="en-US" dirty="0"/>
          </a:p>
        </p:txBody>
      </p:sp>
      <p:sp>
        <p:nvSpPr>
          <p:cNvPr id="3" name="Content Placeholder 2"/>
          <p:cNvSpPr>
            <a:spLocks noGrp="1"/>
          </p:cNvSpPr>
          <p:nvPr>
            <p:ph idx="1"/>
          </p:nvPr>
        </p:nvSpPr>
        <p:spPr>
          <a:xfrm>
            <a:off x="2404574" y="1931377"/>
            <a:ext cx="9359534" cy="4381500"/>
          </a:xfrm>
        </p:spPr>
        <p:txBody>
          <a:bodyPr>
            <a:noAutofit/>
          </a:bodyPr>
          <a:lstStyle/>
          <a:p>
            <a:endParaRPr lang="en-US" sz="2400" dirty="0">
              <a:latin typeface="Arial Rounded MT Bold" panose="020F0704030504030204" pitchFamily="34" charset="0"/>
            </a:endParaRPr>
          </a:p>
        </p:txBody>
      </p:sp>
      <p:pic>
        <p:nvPicPr>
          <p:cNvPr id="4" name="Picture 3"/>
          <p:cNvPicPr>
            <a:picLocks noChangeAspect="1"/>
          </p:cNvPicPr>
          <p:nvPr/>
        </p:nvPicPr>
        <p:blipFill>
          <a:blip r:embed="rId3"/>
          <a:stretch>
            <a:fillRect/>
          </a:stretch>
        </p:blipFill>
        <p:spPr>
          <a:xfrm>
            <a:off x="2600325" y="1931377"/>
            <a:ext cx="9072562" cy="3593123"/>
          </a:xfrm>
          <a:prstGeom prst="rect">
            <a:avLst/>
          </a:prstGeom>
        </p:spPr>
      </p:pic>
    </p:spTree>
    <p:extLst>
      <p:ext uri="{BB962C8B-B14F-4D97-AF65-F5344CB8AC3E}">
        <p14:creationId xmlns:p14="http://schemas.microsoft.com/office/powerpoint/2010/main" val="2932494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Arial" panose="020B0604020202020204" pitchFamily="34" charset="0"/>
                <a:cs typeface="Arial" panose="020B0604020202020204" pitchFamily="34" charset="0"/>
              </a:rPr>
              <a:t>Rule-based Programming</a:t>
            </a:r>
            <a:endParaRPr lang="en-US" dirty="0"/>
          </a:p>
        </p:txBody>
      </p:sp>
      <p:sp>
        <p:nvSpPr>
          <p:cNvPr id="3" name="Content Placeholder 2"/>
          <p:cNvSpPr>
            <a:spLocks noGrp="1"/>
          </p:cNvSpPr>
          <p:nvPr>
            <p:ph idx="1"/>
          </p:nvPr>
        </p:nvSpPr>
        <p:spPr>
          <a:xfrm>
            <a:off x="2404574" y="1931377"/>
            <a:ext cx="9359534" cy="4381500"/>
          </a:xfrm>
        </p:spPr>
        <p:txBody>
          <a:bodyPr>
            <a:noAutofit/>
          </a:bodyPr>
          <a:lstStyle/>
          <a:p>
            <a:r>
              <a:rPr lang="en-US" sz="2000" dirty="0">
                <a:latin typeface="Arial Rounded MT Bold" panose="020F0704030504030204" pitchFamily="34" charset="0"/>
              </a:rPr>
              <a:t>Rule-based program have a program consisting of a knowledge base and a working memory. </a:t>
            </a:r>
          </a:p>
          <a:p>
            <a:endParaRPr lang="en-US" sz="2000" dirty="0">
              <a:latin typeface="Arial Rounded MT Bold" panose="020F0704030504030204" pitchFamily="34" charset="0"/>
            </a:endParaRPr>
          </a:p>
          <a:p>
            <a:r>
              <a:rPr lang="en-US" sz="2000" dirty="0">
                <a:latin typeface="Arial Rounded MT Bold" panose="020F0704030504030204" pitchFamily="34" charset="0"/>
              </a:rPr>
              <a:t>Knowledge base consists of a </a:t>
            </a:r>
            <a:r>
              <a:rPr lang="en-US" sz="2000" dirty="0">
                <a:solidFill>
                  <a:srgbClr val="FF0000"/>
                </a:solidFill>
                <a:latin typeface="Arial Rounded MT Bold" panose="020F0704030504030204" pitchFamily="34" charset="0"/>
              </a:rPr>
              <a:t>set of rules </a:t>
            </a:r>
            <a:r>
              <a:rPr lang="en-US" sz="2000" dirty="0">
                <a:latin typeface="Arial Rounded MT Bold" panose="020F0704030504030204" pitchFamily="34" charset="0"/>
              </a:rPr>
              <a:t>whereas working memory contains the </a:t>
            </a:r>
            <a:r>
              <a:rPr lang="en-US" sz="2000" dirty="0">
                <a:solidFill>
                  <a:srgbClr val="C00000"/>
                </a:solidFill>
                <a:latin typeface="Arial Rounded MT Bold" panose="020F0704030504030204" pitchFamily="34" charset="0"/>
              </a:rPr>
              <a:t>set of facts </a:t>
            </a:r>
            <a:r>
              <a:rPr lang="en-US" sz="2000" dirty="0">
                <a:latin typeface="Arial Rounded MT Bold" panose="020F0704030504030204" pitchFamily="34" charset="0"/>
              </a:rPr>
              <a:t>used by rules. </a:t>
            </a:r>
          </a:p>
          <a:p>
            <a:endParaRPr lang="en-US" sz="2000" dirty="0">
              <a:latin typeface="Arial Rounded MT Bold" panose="020F0704030504030204" pitchFamily="34" charset="0"/>
            </a:endParaRPr>
          </a:p>
          <a:p>
            <a:r>
              <a:rPr lang="en-US" sz="2000" dirty="0">
                <a:latin typeface="Arial Rounded MT Bold" panose="020F0704030504030204" pitchFamily="34" charset="0"/>
              </a:rPr>
              <a:t>The generic representation of a rule is given as:</a:t>
            </a:r>
          </a:p>
          <a:p>
            <a:pPr marL="0" indent="0">
              <a:buNone/>
            </a:pPr>
            <a:r>
              <a:rPr lang="en-US" sz="2000" dirty="0">
                <a:latin typeface="Arial Rounded MT Bold" panose="020F0704030504030204" pitchFamily="34" charset="0"/>
              </a:rPr>
              <a:t>	IF &lt;Statements to be evaluated&gt; </a:t>
            </a:r>
            <a:r>
              <a:rPr lang="en-US" sz="2000" dirty="0">
                <a:latin typeface="Arial Rounded MT Bold" panose="020F0704030504030204" pitchFamily="34" charset="0"/>
                <a:sym typeface="Wingdings" panose="05000000000000000000" pitchFamily="2" charset="2"/>
              </a:rPr>
              <a:t> </a:t>
            </a:r>
            <a:r>
              <a:rPr lang="en-US" sz="2000" dirty="0">
                <a:latin typeface="Arial Rounded MT Bold" panose="020F0704030504030204" pitchFamily="34" charset="0"/>
              </a:rPr>
              <a:t> THEN &lt;Actions&gt;</a:t>
            </a:r>
          </a:p>
          <a:p>
            <a:pPr marL="0" indent="0">
              <a:buNone/>
            </a:pPr>
            <a:r>
              <a:rPr lang="en-US" sz="2000" dirty="0">
                <a:latin typeface="Arial Rounded MT Bold" panose="020F0704030504030204" pitchFamily="34" charset="0"/>
              </a:rPr>
              <a:t>	where the left hand side of the arrow contains the set of conditions to 	be evaluated. </a:t>
            </a:r>
          </a:p>
          <a:p>
            <a:r>
              <a:rPr lang="en-US" sz="2000" dirty="0">
                <a:latin typeface="Arial Rounded MT Bold" panose="020F0704030504030204" pitchFamily="34" charset="0"/>
              </a:rPr>
              <a:t>When these conditions are matched, the rule will be executed to generate THEN (consequent) part.</a:t>
            </a:r>
          </a:p>
        </p:txBody>
      </p:sp>
    </p:spTree>
    <p:extLst>
      <p:ext uri="{BB962C8B-B14F-4D97-AF65-F5344CB8AC3E}">
        <p14:creationId xmlns:p14="http://schemas.microsoft.com/office/powerpoint/2010/main" val="1851003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Arial" panose="020B0604020202020204" pitchFamily="34" charset="0"/>
                <a:cs typeface="Arial" panose="020B0604020202020204" pitchFamily="34" charset="0"/>
              </a:rPr>
              <a:t>Rule-based Reasoning Strategy</a:t>
            </a:r>
            <a:endParaRPr lang="en-US" dirty="0"/>
          </a:p>
        </p:txBody>
      </p:sp>
      <p:sp>
        <p:nvSpPr>
          <p:cNvPr id="3" name="Content Placeholder 2"/>
          <p:cNvSpPr>
            <a:spLocks noGrp="1"/>
          </p:cNvSpPr>
          <p:nvPr>
            <p:ph idx="1"/>
          </p:nvPr>
        </p:nvSpPr>
        <p:spPr>
          <a:xfrm>
            <a:off x="2404574" y="1931377"/>
            <a:ext cx="9359534" cy="4381500"/>
          </a:xfrm>
        </p:spPr>
        <p:txBody>
          <a:bodyPr>
            <a:noAutofit/>
          </a:bodyPr>
          <a:lstStyle/>
          <a:p>
            <a:pPr algn="just"/>
            <a:r>
              <a:rPr lang="en-US" sz="2000" dirty="0">
                <a:latin typeface="Arial Rounded MT Bold" panose="020F0704030504030204" pitchFamily="34" charset="0"/>
              </a:rPr>
              <a:t>Rule-based multi-agent systems may have </a:t>
            </a:r>
            <a:r>
              <a:rPr lang="en-US" sz="2000" dirty="0">
                <a:solidFill>
                  <a:srgbClr val="C00000"/>
                </a:solidFill>
                <a:latin typeface="Arial Rounded MT Bold" panose="020F0704030504030204" pitchFamily="34" charset="0"/>
              </a:rPr>
              <a:t>hundreds of rules </a:t>
            </a:r>
            <a:r>
              <a:rPr lang="en-US" sz="2000" dirty="0">
                <a:latin typeface="Arial Rounded MT Bold" panose="020F0704030504030204" pitchFamily="34" charset="0"/>
              </a:rPr>
              <a:t>to model the domain of complex case scenarios. </a:t>
            </a:r>
          </a:p>
          <a:p>
            <a:pPr algn="just"/>
            <a:endParaRPr lang="en-US" sz="2000" dirty="0">
              <a:latin typeface="Arial Rounded MT Bold" panose="020F0704030504030204" pitchFamily="34" charset="0"/>
            </a:endParaRPr>
          </a:p>
          <a:p>
            <a:pPr algn="just"/>
            <a:r>
              <a:rPr lang="en-US" sz="2000" dirty="0">
                <a:latin typeface="Arial Rounded MT Bold" panose="020F0704030504030204" pitchFamily="34" charset="0"/>
              </a:rPr>
              <a:t>When the size of the domain is very large and complex, there is a need to apply some </a:t>
            </a:r>
            <a:r>
              <a:rPr lang="en-US" sz="2000" dirty="0">
                <a:solidFill>
                  <a:srgbClr val="C00000"/>
                </a:solidFill>
                <a:latin typeface="Arial Rounded MT Bold" panose="020F0704030504030204" pitchFamily="34" charset="0"/>
              </a:rPr>
              <a:t>reasoning strategies</a:t>
            </a:r>
            <a:r>
              <a:rPr lang="en-US" sz="2000" dirty="0">
                <a:latin typeface="Arial Rounded MT Bold" panose="020F0704030504030204" pitchFamily="34" charset="0"/>
              </a:rPr>
              <a:t>. For example, some strategies are needed to be applied only on the applicable rules in order to avoid putting on all matching rules instances.</a:t>
            </a:r>
          </a:p>
          <a:p>
            <a:pPr algn="just"/>
            <a:endParaRPr lang="en-US" sz="2000" dirty="0">
              <a:latin typeface="Arial Rounded MT Bold" panose="020F0704030504030204" pitchFamily="34" charset="0"/>
            </a:endParaRPr>
          </a:p>
          <a:p>
            <a:pPr algn="just"/>
            <a:r>
              <a:rPr lang="en-US" sz="2000" dirty="0">
                <a:latin typeface="Arial Rounded MT Bold" panose="020F0704030504030204" pitchFamily="34" charset="0"/>
              </a:rPr>
              <a:t>In concurrent systems, </a:t>
            </a:r>
            <a:r>
              <a:rPr lang="en-US" sz="2000" dirty="0">
                <a:solidFill>
                  <a:srgbClr val="FF0000"/>
                </a:solidFill>
                <a:latin typeface="Arial Rounded MT Bold" panose="020F0704030504030204" pitchFamily="34" charset="0"/>
              </a:rPr>
              <a:t>each rule is given a rule priority</a:t>
            </a:r>
            <a:r>
              <a:rPr lang="en-US" sz="2000" dirty="0">
                <a:latin typeface="Arial Rounded MT Bold" panose="020F0704030504030204" pitchFamily="34" charset="0"/>
              </a:rPr>
              <a:t> in accordance to its significance in the system. For example, the </a:t>
            </a:r>
            <a:r>
              <a:rPr lang="en-US" sz="2000" dirty="0">
                <a:solidFill>
                  <a:srgbClr val="FF0000"/>
                </a:solidFill>
                <a:latin typeface="Arial Rounded MT Bold" panose="020F0704030504030204" pitchFamily="34" charset="0"/>
              </a:rPr>
              <a:t>most important rule is given the highest priority.</a:t>
            </a:r>
          </a:p>
        </p:txBody>
      </p:sp>
    </p:spTree>
    <p:extLst>
      <p:ext uri="{BB962C8B-B14F-4D97-AF65-F5344CB8AC3E}">
        <p14:creationId xmlns:p14="http://schemas.microsoft.com/office/powerpoint/2010/main" val="1087069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Arial" panose="020B0604020202020204" pitchFamily="34" charset="0"/>
                <a:cs typeface="Arial" panose="020B0604020202020204" pitchFamily="34" charset="0"/>
              </a:rPr>
              <a:t>Knowledge Engineering in RBS</a:t>
            </a:r>
            <a:endParaRPr lang="en-US" dirty="0"/>
          </a:p>
        </p:txBody>
      </p:sp>
      <p:sp>
        <p:nvSpPr>
          <p:cNvPr id="3" name="Content Placeholder 2"/>
          <p:cNvSpPr>
            <a:spLocks noGrp="1"/>
          </p:cNvSpPr>
          <p:nvPr>
            <p:ph idx="1"/>
          </p:nvPr>
        </p:nvSpPr>
        <p:spPr>
          <a:xfrm>
            <a:off x="2369405" y="1553308"/>
            <a:ext cx="9359534" cy="4381500"/>
          </a:xfrm>
        </p:spPr>
        <p:txBody>
          <a:bodyPr>
            <a:noAutofit/>
          </a:bodyPr>
          <a:lstStyle/>
          <a:p>
            <a:pPr algn="just"/>
            <a:r>
              <a:rPr lang="en-US" sz="2400" dirty="0">
                <a:latin typeface="Arial Rounded MT Bold" panose="020F0704030504030204" pitchFamily="34" charset="0"/>
              </a:rPr>
              <a:t>An </a:t>
            </a:r>
            <a:r>
              <a:rPr lang="en-US" sz="2400" dirty="0">
                <a:solidFill>
                  <a:srgbClr val="FF0000"/>
                </a:solidFill>
                <a:latin typeface="Arial Rounded MT Bold" panose="020F0704030504030204" pitchFamily="34" charset="0"/>
              </a:rPr>
              <a:t>engineering discipline </a:t>
            </a:r>
            <a:r>
              <a:rPr lang="en-US" sz="2400" dirty="0">
                <a:latin typeface="Arial Rounded MT Bold" panose="020F0704030504030204" pitchFamily="34" charset="0"/>
              </a:rPr>
              <a:t>that involves integrating knowledge into computer systems in order to solve complex problems normally requiring a high level of human expertise. </a:t>
            </a:r>
          </a:p>
          <a:p>
            <a:pPr algn="just"/>
            <a:r>
              <a:rPr lang="en-US" sz="2400" dirty="0">
                <a:latin typeface="Arial Rounded MT Bold" panose="020F0704030504030204" pitchFamily="34" charset="0"/>
              </a:rPr>
              <a:t>Knowledge engineering is the </a:t>
            </a:r>
            <a:r>
              <a:rPr lang="en-US" sz="2400" dirty="0">
                <a:solidFill>
                  <a:srgbClr val="C00000"/>
                </a:solidFill>
                <a:latin typeface="Arial Rounded MT Bold" panose="020F0704030504030204" pitchFamily="34" charset="0"/>
              </a:rPr>
              <a:t>process</a:t>
            </a:r>
            <a:r>
              <a:rPr lang="en-US" sz="2400" dirty="0">
                <a:latin typeface="Arial Rounded MT Bold" panose="020F0704030504030204" pitchFamily="34" charset="0"/>
              </a:rPr>
              <a:t> used to create a RBS: </a:t>
            </a:r>
          </a:p>
          <a:p>
            <a:pPr lvl="1" algn="just"/>
            <a:r>
              <a:rPr lang="en-US" sz="2000" dirty="0">
                <a:solidFill>
                  <a:srgbClr val="C00000"/>
                </a:solidFill>
                <a:latin typeface="Arial Rounded MT Bold" panose="020F0704030504030204" pitchFamily="34" charset="0"/>
              </a:rPr>
              <a:t>Assessing</a:t>
            </a:r>
            <a:r>
              <a:rPr lang="en-US" sz="2000" dirty="0">
                <a:latin typeface="Arial Rounded MT Bold" panose="020F0704030504030204" pitchFamily="34" charset="0"/>
              </a:rPr>
              <a:t> the problem and </a:t>
            </a:r>
            <a:r>
              <a:rPr lang="en-US" sz="2000" dirty="0">
                <a:solidFill>
                  <a:srgbClr val="0070C0"/>
                </a:solidFill>
                <a:latin typeface="Arial Rounded MT Bold" panose="020F0704030504030204" pitchFamily="34" charset="0"/>
              </a:rPr>
              <a:t>selecting</a:t>
            </a:r>
            <a:r>
              <a:rPr lang="en-US" sz="2000" dirty="0">
                <a:latin typeface="Arial Rounded MT Bold" panose="020F0704030504030204" pitchFamily="34" charset="0"/>
              </a:rPr>
              <a:t> an appropriate task for the RBS </a:t>
            </a:r>
          </a:p>
          <a:p>
            <a:pPr lvl="1" algn="just"/>
            <a:r>
              <a:rPr lang="en-US" sz="2000" dirty="0">
                <a:solidFill>
                  <a:srgbClr val="C00000"/>
                </a:solidFill>
                <a:latin typeface="Arial Rounded MT Bold" panose="020F0704030504030204" pitchFamily="34" charset="0"/>
              </a:rPr>
              <a:t>Interviewing</a:t>
            </a:r>
            <a:r>
              <a:rPr lang="en-US" sz="2000" dirty="0">
                <a:latin typeface="Arial Rounded MT Bold" panose="020F0704030504030204" pitchFamily="34" charset="0"/>
              </a:rPr>
              <a:t> the domain expert to find out how the problem is solved </a:t>
            </a:r>
          </a:p>
          <a:p>
            <a:pPr lvl="1" algn="just"/>
            <a:r>
              <a:rPr lang="en-US" sz="2000" dirty="0">
                <a:solidFill>
                  <a:srgbClr val="0070C0"/>
                </a:solidFill>
                <a:latin typeface="Arial Rounded MT Bold" panose="020F0704030504030204" pitchFamily="34" charset="0"/>
              </a:rPr>
              <a:t>Representing</a:t>
            </a:r>
            <a:r>
              <a:rPr lang="en-US" sz="2000" dirty="0">
                <a:latin typeface="Arial Rounded MT Bold" panose="020F0704030504030204" pitchFamily="34" charset="0"/>
              </a:rPr>
              <a:t> the domain knowledge as facts or rules </a:t>
            </a:r>
          </a:p>
          <a:p>
            <a:pPr lvl="1" algn="just"/>
            <a:r>
              <a:rPr lang="en-US" sz="2000" dirty="0">
                <a:solidFill>
                  <a:srgbClr val="C00000"/>
                </a:solidFill>
                <a:latin typeface="Arial Rounded MT Bold" panose="020F0704030504030204" pitchFamily="34" charset="0"/>
              </a:rPr>
              <a:t>Choosing</a:t>
            </a:r>
            <a:r>
              <a:rPr lang="en-US" sz="2000" dirty="0">
                <a:latin typeface="Arial Rounded MT Bold" panose="020F0704030504030204" pitchFamily="34" charset="0"/>
              </a:rPr>
              <a:t> appropriate development software such as a RBS “shell” and encoding the knowledge within that software </a:t>
            </a:r>
          </a:p>
          <a:p>
            <a:pPr lvl="1" algn="just"/>
            <a:r>
              <a:rPr lang="en-US" sz="2000" dirty="0">
                <a:solidFill>
                  <a:srgbClr val="0070C0"/>
                </a:solidFill>
                <a:latin typeface="Arial Rounded MT Bold" panose="020F0704030504030204" pitchFamily="34" charset="0"/>
              </a:rPr>
              <a:t>Testing</a:t>
            </a:r>
            <a:r>
              <a:rPr lang="en-US" sz="2000" dirty="0">
                <a:latin typeface="Arial Rounded MT Bold" panose="020F0704030504030204" pitchFamily="34" charset="0"/>
              </a:rPr>
              <a:t>, revising, and integrating the system in the workplace</a:t>
            </a:r>
          </a:p>
          <a:p>
            <a:pPr algn="just"/>
            <a:endParaRPr lang="en-US" sz="2400" dirty="0">
              <a:latin typeface="Arial Rounded MT Bold" panose="020F0704030504030204" pitchFamily="34" charset="0"/>
            </a:endParaRPr>
          </a:p>
        </p:txBody>
      </p:sp>
    </p:spTree>
    <p:extLst>
      <p:ext uri="{BB962C8B-B14F-4D97-AF65-F5344CB8AC3E}">
        <p14:creationId xmlns:p14="http://schemas.microsoft.com/office/powerpoint/2010/main" val="2559530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Arial" panose="020B0604020202020204" pitchFamily="34" charset="0"/>
                <a:cs typeface="Arial" panose="020B0604020202020204" pitchFamily="34" charset="0"/>
              </a:rPr>
              <a:t>Building Knowledge Base</a:t>
            </a:r>
            <a:endParaRPr lang="en-US" dirty="0"/>
          </a:p>
        </p:txBody>
      </p:sp>
      <p:sp>
        <p:nvSpPr>
          <p:cNvPr id="3" name="Content Placeholder 2"/>
          <p:cNvSpPr>
            <a:spLocks noGrp="1"/>
          </p:cNvSpPr>
          <p:nvPr>
            <p:ph idx="1"/>
          </p:nvPr>
        </p:nvSpPr>
        <p:spPr>
          <a:xfrm>
            <a:off x="2404574" y="1931377"/>
            <a:ext cx="9359534" cy="4381500"/>
          </a:xfrm>
        </p:spPr>
        <p:txBody>
          <a:bodyPr>
            <a:noAutofit/>
          </a:bodyPr>
          <a:lstStyle/>
          <a:p>
            <a:r>
              <a:rPr lang="en-US" sz="2400" dirty="0">
                <a:latin typeface="Arial Rounded MT Bold" panose="020F0704030504030204" pitchFamily="34" charset="0"/>
              </a:rPr>
              <a:t>Knowledge base consists of a set of </a:t>
            </a:r>
            <a:r>
              <a:rPr lang="en-US" sz="2400" dirty="0" err="1">
                <a:latin typeface="Arial Rounded MT Bold" panose="020F0704030504030204" pitchFamily="34" charset="0"/>
              </a:rPr>
              <a:t>IF..Then</a:t>
            </a:r>
            <a:r>
              <a:rPr lang="en-US" sz="2400" dirty="0">
                <a:latin typeface="Arial Rounded MT Bold" panose="020F0704030504030204" pitchFamily="34" charset="0"/>
              </a:rPr>
              <a:t> rules, for example;</a:t>
            </a:r>
          </a:p>
          <a:p>
            <a:endParaRPr lang="en-US" sz="2400" dirty="0">
              <a:latin typeface="Arial Rounded MT Bold" panose="020F0704030504030204" pitchFamily="34" charset="0"/>
            </a:endParaRPr>
          </a:p>
          <a:p>
            <a:endParaRPr lang="en-US" sz="2400" dirty="0">
              <a:latin typeface="Arial Rounded MT Bold" panose="020F0704030504030204" pitchFamily="34" charset="0"/>
            </a:endParaRPr>
          </a:p>
          <a:p>
            <a:endParaRPr lang="en-US" sz="2400" dirty="0">
              <a:latin typeface="Arial Rounded MT Bold" panose="020F0704030504030204" pitchFamily="34" charset="0"/>
            </a:endParaRPr>
          </a:p>
          <a:p>
            <a:endParaRPr lang="en-US" sz="2400" dirty="0">
              <a:latin typeface="Arial Rounded MT Bold" panose="020F0704030504030204" pitchFamily="34" charset="0"/>
            </a:endParaRPr>
          </a:p>
          <a:p>
            <a:endParaRPr lang="en-US" sz="2400" dirty="0">
              <a:latin typeface="Arial Rounded MT Bold" panose="020F0704030504030204" pitchFamily="34" charset="0"/>
            </a:endParaRPr>
          </a:p>
          <a:p>
            <a:r>
              <a:rPr lang="en-US" sz="2400" dirty="0">
                <a:latin typeface="Arial Rounded MT Bold" panose="020F0704030504030204" pitchFamily="34" charset="0"/>
              </a:rPr>
              <a:t>Because it is made up of rules the knowledge base is sometimes called the rule base</a:t>
            </a:r>
          </a:p>
          <a:p>
            <a:pPr marL="0" indent="0">
              <a:buNone/>
            </a:pPr>
            <a:r>
              <a:rPr lang="en-US" sz="2400" dirty="0">
                <a:latin typeface="Arial Rounded MT Bold" panose="020F0704030504030204" pitchFamily="34" charset="0"/>
              </a:rPr>
              <a:t> </a:t>
            </a:r>
          </a:p>
          <a:p>
            <a:endParaRPr lang="en-US" sz="2400" dirty="0">
              <a:latin typeface="Arial Rounded MT Bold" panose="020F0704030504030204" pitchFamily="34" charset="0"/>
            </a:endParaRPr>
          </a:p>
        </p:txBody>
      </p:sp>
      <p:pic>
        <p:nvPicPr>
          <p:cNvPr id="4" name="Picture 3"/>
          <p:cNvPicPr>
            <a:picLocks noChangeAspect="1"/>
          </p:cNvPicPr>
          <p:nvPr/>
        </p:nvPicPr>
        <p:blipFill>
          <a:blip r:embed="rId3"/>
          <a:stretch>
            <a:fillRect/>
          </a:stretch>
        </p:blipFill>
        <p:spPr>
          <a:xfrm>
            <a:off x="2667000" y="2995612"/>
            <a:ext cx="8489996" cy="1947863"/>
          </a:xfrm>
          <a:prstGeom prst="rect">
            <a:avLst/>
          </a:prstGeom>
        </p:spPr>
      </p:pic>
    </p:spTree>
    <p:extLst>
      <p:ext uri="{BB962C8B-B14F-4D97-AF65-F5344CB8AC3E}">
        <p14:creationId xmlns:p14="http://schemas.microsoft.com/office/powerpoint/2010/main" val="844283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1">
                    <a:lumMod val="75000"/>
                  </a:schemeClr>
                </a:solidFill>
                <a:latin typeface="Arial" panose="020B0604020202020204" pitchFamily="34" charset="0"/>
                <a:cs typeface="Arial" panose="020B0604020202020204" pitchFamily="34" charset="0"/>
              </a:rPr>
              <a:t>Thanks</a:t>
            </a:r>
            <a:endParaRPr lang="en-US" dirty="0"/>
          </a:p>
        </p:txBody>
      </p:sp>
      <p:sp>
        <p:nvSpPr>
          <p:cNvPr id="3" name="Content Placeholder 2"/>
          <p:cNvSpPr>
            <a:spLocks noGrp="1"/>
          </p:cNvSpPr>
          <p:nvPr>
            <p:ph type="body" sz="half" idx="2"/>
          </p:nvPr>
        </p:nvSpPr>
        <p:spPr/>
        <p:txBody>
          <a:bodyPr>
            <a:noAutofit/>
          </a:bodyPr>
          <a:lstStyle/>
          <a:p>
            <a:pPr marL="0" indent="0" algn="just">
              <a:buNone/>
            </a:pPr>
            <a:r>
              <a:rPr lang="en-US" sz="2400" dirty="0">
                <a:latin typeface="Arial Narrow" panose="020B0606020202030204" pitchFamily="34" charset="0"/>
              </a:rPr>
              <a:t> </a:t>
            </a:r>
            <a:endParaRPr lang="en-US" sz="2400"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226938566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4926</TotalTime>
  <Words>877</Words>
  <Application>Microsoft Office PowerPoint</Application>
  <PresentationFormat>Widescreen</PresentationFormat>
  <Paragraphs>80</Paragraphs>
  <Slides>12</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Arial Narrow</vt:lpstr>
      <vt:lpstr>Arial Rounded MT Bold</vt:lpstr>
      <vt:lpstr>Calibri</vt:lpstr>
      <vt:lpstr>Century Gothic</vt:lpstr>
      <vt:lpstr>Google Sans</vt:lpstr>
      <vt:lpstr>Wingdings 3</vt:lpstr>
      <vt:lpstr>Wisp</vt:lpstr>
      <vt:lpstr>Formal Methods in Software Engineering</vt:lpstr>
      <vt:lpstr>Rule-based systems (RBS)</vt:lpstr>
      <vt:lpstr>Rule-based systems</vt:lpstr>
      <vt:lpstr>Significance of Rule-based systems in formal methods</vt:lpstr>
      <vt:lpstr>Components of Rule-based systems</vt:lpstr>
      <vt:lpstr>Match-resolve-act</vt:lpstr>
      <vt:lpstr>Rule-based systems</vt:lpstr>
      <vt:lpstr>Rule-based Programming</vt:lpstr>
      <vt:lpstr>Rule-based Reasoning Strategy</vt:lpstr>
      <vt:lpstr>Knowledge Engineering in RBS</vt:lpstr>
      <vt:lpstr>Building Knowledge Base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Mahfooz</dc:creator>
  <cp:lastModifiedBy>Rida Maryam</cp:lastModifiedBy>
  <cp:revision>185</cp:revision>
  <dcterms:created xsi:type="dcterms:W3CDTF">2017-01-18T11:57:24Z</dcterms:created>
  <dcterms:modified xsi:type="dcterms:W3CDTF">2026-04-24T07:21:07Z</dcterms:modified>
</cp:coreProperties>
</file>