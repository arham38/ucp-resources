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7" r:id="rId22"/>
    <p:sldId id="278" r:id="rId23"/>
    <p:sldId id="279"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3C135-4AE4-E3FB-285B-360936962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06D089-153B-1165-3A8D-1002B613E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DE842F-F3A9-8BF8-0E39-0A19E225F778}"/>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F36E1B97-7365-0AE3-A0B3-6FEA4733F8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F22F75-6E00-2668-CBCE-AA291F65842B}"/>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1016499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108-0558-8064-D5EE-160BC1272A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3F7287-EC64-C345-7174-A10A6CE039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AA785-331E-65B0-919C-42075FA18087}"/>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220AC755-02FC-990E-A910-06A749A932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DAE264-9B27-1494-F064-6591EB12039A}"/>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974286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A62D-5D8F-2593-0E74-4D35187106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7E7F5F-E6A9-D8AD-D39C-9926ED50E0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7C6235-D8EC-F8C4-9997-2C6AA3343AC6}"/>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A70C4A16-A619-2406-6BE8-2A79B2B1F8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3C61D7-2984-D502-A0F6-7E4CF96E5568}"/>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2684302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9DC2-3F5A-6558-CB77-0821C8981E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8333EC-22FC-EAF8-F79E-2D7098CB3C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E3577B-3DD1-2D2D-281E-56C835540B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7513DB-0BD7-DEC5-DF5C-106CB2CC22D8}"/>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6" name="Footer Placeholder 5">
            <a:extLst>
              <a:ext uri="{FF2B5EF4-FFF2-40B4-BE49-F238E27FC236}">
                <a16:creationId xmlns:a16="http://schemas.microsoft.com/office/drawing/2014/main" id="{CE2A4236-3602-A067-5A7E-E0A07A02967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B5F9BF8-5874-8F7F-5A51-86383B550DBD}"/>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391977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77F63-5BE4-B554-AF43-46B9D70ED6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B6687F-4BC8-472B-AD46-F0A3C8BAB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90CE8-516F-1184-1603-4A0B63CC78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265129-2FAE-98E6-0F7B-61F5BCD105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B7E310-1EED-AB38-0BB2-0B4D8836FF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BDCF33-561C-D6CE-F236-DCB16EBCE504}"/>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8" name="Footer Placeholder 7">
            <a:extLst>
              <a:ext uri="{FF2B5EF4-FFF2-40B4-BE49-F238E27FC236}">
                <a16:creationId xmlns:a16="http://schemas.microsoft.com/office/drawing/2014/main" id="{14CC8539-CFA9-9702-D070-FAE8631AC0F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29353E1-3E6F-E16A-D395-56DED10793F4}"/>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1776058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F755-C860-E8F1-E604-5321D34169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2FD4C4-C710-B8DF-9EEF-5032D217BEE5}"/>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4" name="Footer Placeholder 3">
            <a:extLst>
              <a:ext uri="{FF2B5EF4-FFF2-40B4-BE49-F238E27FC236}">
                <a16:creationId xmlns:a16="http://schemas.microsoft.com/office/drawing/2014/main" id="{CC8B0D6D-B560-84B8-B2B8-63AF806D8B3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A004AC-8B87-ECF7-6384-6D3162BD4781}"/>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2278229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BE7406-E4FA-F0E3-4F1C-A4266CEFEDF9}"/>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3" name="Footer Placeholder 2">
            <a:extLst>
              <a:ext uri="{FF2B5EF4-FFF2-40B4-BE49-F238E27FC236}">
                <a16:creationId xmlns:a16="http://schemas.microsoft.com/office/drawing/2014/main" id="{C6F50A62-70AD-3189-3BCF-13C0FD065E7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F012CB8-3160-A8F6-52ED-CEE5F7A51614}"/>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3619799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F602-DB3D-4D41-CEAC-87E3A9556E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AF0EA4-BC76-54CF-0C15-E12567ABD7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771CB0-86D0-6615-996F-696BF00C82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84348-D210-6A04-0F48-5E59605E73D4}"/>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6" name="Footer Placeholder 5">
            <a:extLst>
              <a:ext uri="{FF2B5EF4-FFF2-40B4-BE49-F238E27FC236}">
                <a16:creationId xmlns:a16="http://schemas.microsoft.com/office/drawing/2014/main" id="{D3490CDE-3D7D-194A-8526-519F9FEB361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0F2B88-BBA8-AF08-ACFB-862F118DA020}"/>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357967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7D256-7949-141C-053E-9EAAFA019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9E97A8-CC13-F2A1-FEEE-736A59445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C81A9AC-6B87-9AF4-0DF9-66F2E6C54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0D678-06AD-F8E6-71C7-63DDD9E28AF9}"/>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6" name="Footer Placeholder 5">
            <a:extLst>
              <a:ext uri="{FF2B5EF4-FFF2-40B4-BE49-F238E27FC236}">
                <a16:creationId xmlns:a16="http://schemas.microsoft.com/office/drawing/2014/main" id="{78745111-12D1-C1F8-F69C-2346E3CE2F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F769F9D-FF9F-FD5E-89CD-2DE68D131FD3}"/>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3726436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BB60C-2271-3640-E498-00D46FE521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0ED02F-4DEA-2666-D642-8FDA45D789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300FF-8CE3-B569-DC4C-C663BF4D35BA}"/>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49164232-D8F3-35AE-A442-8A09E18A31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46DC37-43DC-BD5B-38F9-1E7E40582518}"/>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961121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0D8B4A-0334-2A84-BEB3-F5462BACFA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B39CCD-C71D-9D3D-CD14-58ED521506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427E2B-2E2E-8D65-538A-620F7A3C400F}"/>
              </a:ext>
            </a:extLst>
          </p:cNvPr>
          <p:cNvSpPr>
            <a:spLocks noGrp="1"/>
          </p:cNvSpPr>
          <p:nvPr>
            <p:ph type="dt" sz="half" idx="10"/>
          </p:nvPr>
        </p:nvSpPr>
        <p:spPr/>
        <p:txBody>
          <a:body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2510BD9B-513F-2C12-191B-E22708E015A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1AC7F58-10AC-B614-FFD2-7ED393E6D1BC}"/>
              </a:ext>
            </a:extLst>
          </p:cNvPr>
          <p:cNvSpPr>
            <a:spLocks noGrp="1"/>
          </p:cNvSpPr>
          <p:nvPr>
            <p:ph type="sldNum" sz="quarter" idx="12"/>
          </p:nvPr>
        </p:nvSpPr>
        <p:spPr/>
        <p:txBody>
          <a:bodyPr/>
          <a:lstStyle/>
          <a:p>
            <a:fld id="{B32BD2B9-D5D8-4128-BFFB-52EDD86C9CC2}" type="slidenum">
              <a:rPr lang="en-US" smtClean="0"/>
              <a:t>‹#›</a:t>
            </a:fld>
            <a:endParaRPr lang="en-US" dirty="0"/>
          </a:p>
        </p:txBody>
      </p:sp>
    </p:spTree>
    <p:extLst>
      <p:ext uri="{BB962C8B-B14F-4D97-AF65-F5344CB8AC3E}">
        <p14:creationId xmlns:p14="http://schemas.microsoft.com/office/powerpoint/2010/main" val="155385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F62FE-5B2D-6E32-B923-EDD6822A3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4E38DE-C2FB-FCA5-7AA1-F163940954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3E1235-E5C3-86E7-A498-AF7CA3A0C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D1E64A-59AE-474D-83AF-62BE45D33B7B}" type="datetimeFigureOut">
              <a:rPr lang="en-US" smtClean="0"/>
              <a:t>1/22/2024</a:t>
            </a:fld>
            <a:endParaRPr lang="en-US" dirty="0"/>
          </a:p>
        </p:txBody>
      </p:sp>
      <p:sp>
        <p:nvSpPr>
          <p:cNvPr id="5" name="Footer Placeholder 4">
            <a:extLst>
              <a:ext uri="{FF2B5EF4-FFF2-40B4-BE49-F238E27FC236}">
                <a16:creationId xmlns:a16="http://schemas.microsoft.com/office/drawing/2014/main" id="{80F1226B-B783-409B-0E90-CE65AA649F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85D0B46-9A47-3A5B-E73D-9E3C04DEF9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2BD2B9-D5D8-4128-BFFB-52EDD86C9CC2}" type="slidenum">
              <a:rPr lang="en-US" smtClean="0"/>
              <a:t>‹#›</a:t>
            </a:fld>
            <a:endParaRPr lang="en-US" dirty="0"/>
          </a:p>
        </p:txBody>
      </p:sp>
    </p:spTree>
    <p:extLst>
      <p:ext uri="{BB962C8B-B14F-4D97-AF65-F5344CB8AC3E}">
        <p14:creationId xmlns:p14="http://schemas.microsoft.com/office/powerpoint/2010/main" val="3767959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huggingface.co/docs/transformers/v4.15.0/task_summary"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65762-0526-D962-0238-41F37F0469B9}"/>
              </a:ext>
            </a:extLst>
          </p:cNvPr>
          <p:cNvSpPr>
            <a:spLocks noGrp="1"/>
          </p:cNvSpPr>
          <p:nvPr>
            <p:ph type="ctrTitle"/>
          </p:nvPr>
        </p:nvSpPr>
        <p:spPr/>
        <p:txBody>
          <a:bodyPr/>
          <a:lstStyle/>
          <a:p>
            <a:r>
              <a:rPr lang="en-US" dirty="0">
                <a:solidFill>
                  <a:srgbClr val="040C28"/>
                </a:solidFill>
                <a:latin typeface="Google Sans"/>
              </a:rPr>
              <a:t>T</a:t>
            </a:r>
            <a:r>
              <a:rPr lang="en-US" b="0" i="0" dirty="0">
                <a:solidFill>
                  <a:srgbClr val="040C28"/>
                </a:solidFill>
                <a:effectLst/>
                <a:latin typeface="Google Sans"/>
              </a:rPr>
              <a:t>ransformer</a:t>
            </a:r>
            <a:endParaRPr lang="en-US" dirty="0"/>
          </a:p>
        </p:txBody>
      </p:sp>
      <p:sp>
        <p:nvSpPr>
          <p:cNvPr id="3" name="Subtitle 2">
            <a:extLst>
              <a:ext uri="{FF2B5EF4-FFF2-40B4-BE49-F238E27FC236}">
                <a16:creationId xmlns:a16="http://schemas.microsoft.com/office/drawing/2014/main" id="{C489CD95-72B8-7968-1F3A-0C308AD89893}"/>
              </a:ext>
            </a:extLst>
          </p:cNvPr>
          <p:cNvSpPr>
            <a:spLocks noGrp="1"/>
          </p:cNvSpPr>
          <p:nvPr>
            <p:ph type="subTitle" idx="1"/>
          </p:nvPr>
        </p:nvSpPr>
        <p:spPr/>
        <p:txBody>
          <a:bodyPr/>
          <a:lstStyle/>
          <a:p>
            <a:r>
              <a:rPr lang="en-US" dirty="0"/>
              <a:t>By Dr. Ali Saeed</a:t>
            </a:r>
          </a:p>
        </p:txBody>
      </p:sp>
    </p:spTree>
    <p:extLst>
      <p:ext uri="{BB962C8B-B14F-4D97-AF65-F5344CB8AC3E}">
        <p14:creationId xmlns:p14="http://schemas.microsoft.com/office/powerpoint/2010/main" val="2216976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66CCF-C293-77BE-88C1-8C73634B7A4A}"/>
              </a:ext>
            </a:extLst>
          </p:cNvPr>
          <p:cNvSpPr>
            <a:spLocks noGrp="1"/>
          </p:cNvSpPr>
          <p:nvPr>
            <p:ph type="title"/>
          </p:nvPr>
        </p:nvSpPr>
        <p:spPr/>
        <p:txBody>
          <a:bodyPr/>
          <a:lstStyle/>
          <a:p>
            <a:r>
              <a:rPr lang="en-US" dirty="0">
                <a:solidFill>
                  <a:srgbClr val="040C28"/>
                </a:solidFill>
                <a:latin typeface="Google Sans"/>
              </a:rPr>
              <a:t>T</a:t>
            </a:r>
            <a:r>
              <a:rPr lang="en-US" b="0" i="0" dirty="0">
                <a:solidFill>
                  <a:srgbClr val="040C28"/>
                </a:solidFill>
                <a:effectLst/>
                <a:latin typeface="Google Sans"/>
              </a:rPr>
              <a:t>ransformer</a:t>
            </a:r>
            <a:endParaRPr lang="en-US" dirty="0"/>
          </a:p>
        </p:txBody>
      </p:sp>
      <p:sp>
        <p:nvSpPr>
          <p:cNvPr id="3" name="Content Placeholder 2">
            <a:extLst>
              <a:ext uri="{FF2B5EF4-FFF2-40B4-BE49-F238E27FC236}">
                <a16:creationId xmlns:a16="http://schemas.microsoft.com/office/drawing/2014/main" id="{A2A79CBB-1A2A-6D6B-7A40-CC59284DED1B}"/>
              </a:ext>
            </a:extLst>
          </p:cNvPr>
          <p:cNvSpPr>
            <a:spLocks noGrp="1"/>
          </p:cNvSpPr>
          <p:nvPr>
            <p:ph idx="1"/>
          </p:nvPr>
        </p:nvSpPr>
        <p:spPr/>
        <p:txBody>
          <a:bodyPr/>
          <a:lstStyle/>
          <a:p>
            <a:r>
              <a:rPr lang="en-US" b="0" i="0" dirty="0">
                <a:solidFill>
                  <a:srgbClr val="040C28"/>
                </a:solidFill>
                <a:effectLst/>
                <a:latin typeface="Google Sans"/>
              </a:rPr>
              <a:t>A transformer is a deep learning model</a:t>
            </a:r>
            <a:r>
              <a:rPr lang="en-US" b="0" i="0" dirty="0">
                <a:solidFill>
                  <a:srgbClr val="202124"/>
                </a:solidFill>
                <a:effectLst/>
                <a:latin typeface="Google Sans"/>
              </a:rPr>
              <a:t>. It is distinguished by its adoption of self-attention, differentially weighting the significance of each part of the input (which includes the recursive output) data. It is used primarily in the fields of natural language processing (NLP) and computer vision (CV).</a:t>
            </a:r>
          </a:p>
          <a:p>
            <a:r>
              <a:rPr lang="en-US" b="0" i="0" dirty="0">
                <a:solidFill>
                  <a:srgbClr val="4D5156"/>
                </a:solidFill>
                <a:effectLst/>
                <a:latin typeface="Google Sans"/>
              </a:rPr>
              <a:t>Transformer is a deep learning model used in NLP. Transformer </a:t>
            </a:r>
            <a:r>
              <a:rPr lang="en-US" b="0" i="0" dirty="0">
                <a:solidFill>
                  <a:srgbClr val="040C28"/>
                </a:solidFill>
                <a:effectLst/>
                <a:latin typeface="Google Sans"/>
              </a:rPr>
              <a:t>made it possible to facilitate greater parallelization during training and thus enabled training for larger data sets</a:t>
            </a:r>
            <a:r>
              <a:rPr lang="en-US" b="0" i="0" dirty="0">
                <a:solidFill>
                  <a:srgbClr val="4D5156"/>
                </a:solidFill>
                <a:effectLst/>
                <a:latin typeface="Google Sans"/>
              </a:rPr>
              <a:t>.</a:t>
            </a:r>
            <a:endParaRPr lang="en-US" dirty="0"/>
          </a:p>
        </p:txBody>
      </p:sp>
    </p:spTree>
    <p:extLst>
      <p:ext uri="{BB962C8B-B14F-4D97-AF65-F5344CB8AC3E}">
        <p14:creationId xmlns:p14="http://schemas.microsoft.com/office/powerpoint/2010/main" val="62351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B97C-F365-87E6-D3A2-9261F5019EB3}"/>
              </a:ext>
            </a:extLst>
          </p:cNvPr>
          <p:cNvSpPr>
            <a:spLocks noGrp="1"/>
          </p:cNvSpPr>
          <p:nvPr>
            <p:ph type="title"/>
          </p:nvPr>
        </p:nvSpPr>
        <p:spPr/>
        <p:txBody>
          <a:bodyPr/>
          <a:lstStyle/>
          <a:p>
            <a:r>
              <a:rPr lang="en-US" dirty="0"/>
              <a:t>RNN</a:t>
            </a:r>
          </a:p>
        </p:txBody>
      </p:sp>
      <p:sp>
        <p:nvSpPr>
          <p:cNvPr id="3" name="Content Placeholder 2">
            <a:extLst>
              <a:ext uri="{FF2B5EF4-FFF2-40B4-BE49-F238E27FC236}">
                <a16:creationId xmlns:a16="http://schemas.microsoft.com/office/drawing/2014/main" id="{4561A7CE-85FC-345B-DE6D-1F094B81B94F}"/>
              </a:ext>
            </a:extLst>
          </p:cNvPr>
          <p:cNvSpPr>
            <a:spLocks noGrp="1"/>
          </p:cNvSpPr>
          <p:nvPr>
            <p:ph idx="1"/>
          </p:nvPr>
        </p:nvSpPr>
        <p:spPr/>
        <p:txBody>
          <a:bodyPr/>
          <a:lstStyle/>
          <a:p>
            <a:r>
              <a:rPr lang="en-US" dirty="0"/>
              <a:t>RNN are feedforward NN rolled out during time</a:t>
            </a:r>
          </a:p>
          <a:p>
            <a:r>
              <a:rPr lang="en-US" dirty="0"/>
              <a:t>It is good for sequence data</a:t>
            </a:r>
          </a:p>
          <a:p>
            <a:r>
              <a:rPr lang="en-US" dirty="0"/>
              <a:t>It is use to develop various architectures</a:t>
            </a:r>
          </a:p>
          <a:p>
            <a:pPr lvl="1"/>
            <a:r>
              <a:rPr lang="en-US" dirty="0"/>
              <a:t>Vector to Sequence Model</a:t>
            </a:r>
          </a:p>
          <a:p>
            <a:pPr lvl="1"/>
            <a:r>
              <a:rPr lang="en-US" dirty="0"/>
              <a:t>Sequence to Vector Model</a:t>
            </a:r>
          </a:p>
          <a:p>
            <a:pPr lvl="1"/>
            <a:r>
              <a:rPr lang="en-US" dirty="0"/>
              <a:t>Sequence to Sequence Model</a:t>
            </a:r>
          </a:p>
        </p:txBody>
      </p:sp>
      <p:pic>
        <p:nvPicPr>
          <p:cNvPr id="9" name="Picture 8">
            <a:extLst>
              <a:ext uri="{FF2B5EF4-FFF2-40B4-BE49-F238E27FC236}">
                <a16:creationId xmlns:a16="http://schemas.microsoft.com/office/drawing/2014/main" id="{84458276-A4AE-9441-EEE1-AB3566AEDA79}"/>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7162802" y="2666867"/>
            <a:ext cx="4590246" cy="3335101"/>
          </a:xfrm>
          <a:prstGeom prst="rect">
            <a:avLst/>
          </a:prstGeom>
        </p:spPr>
      </p:pic>
    </p:spTree>
    <p:extLst>
      <p:ext uri="{BB962C8B-B14F-4D97-AF65-F5344CB8AC3E}">
        <p14:creationId xmlns:p14="http://schemas.microsoft.com/office/powerpoint/2010/main" val="3289609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720A-3B09-2E96-810F-D5F39925678E}"/>
              </a:ext>
            </a:extLst>
          </p:cNvPr>
          <p:cNvSpPr>
            <a:spLocks noGrp="1"/>
          </p:cNvSpPr>
          <p:nvPr>
            <p:ph type="title"/>
          </p:nvPr>
        </p:nvSpPr>
        <p:spPr/>
        <p:txBody>
          <a:bodyPr/>
          <a:lstStyle/>
          <a:p>
            <a:r>
              <a:rPr lang="en-US" dirty="0"/>
              <a:t>Vector to Sequence Model</a:t>
            </a:r>
          </a:p>
        </p:txBody>
      </p:sp>
      <p:sp>
        <p:nvSpPr>
          <p:cNvPr id="3" name="Content Placeholder 2">
            <a:extLst>
              <a:ext uri="{FF2B5EF4-FFF2-40B4-BE49-F238E27FC236}">
                <a16:creationId xmlns:a16="http://schemas.microsoft.com/office/drawing/2014/main" id="{592F9B2B-5F70-ECA4-EB17-BBD623F68A9E}"/>
              </a:ext>
            </a:extLst>
          </p:cNvPr>
          <p:cNvSpPr>
            <a:spLocks noGrp="1"/>
          </p:cNvSpPr>
          <p:nvPr>
            <p:ph idx="1"/>
          </p:nvPr>
        </p:nvSpPr>
        <p:spPr>
          <a:xfrm>
            <a:off x="838200" y="1825625"/>
            <a:ext cx="7187119" cy="4351338"/>
          </a:xfrm>
        </p:spPr>
        <p:txBody>
          <a:bodyPr/>
          <a:lstStyle/>
          <a:p>
            <a:r>
              <a:rPr lang="en-US" dirty="0"/>
              <a:t>Input is fixed size Vector and Output is Sequence</a:t>
            </a:r>
          </a:p>
          <a:p>
            <a:pPr marL="457200" lvl="1" indent="0">
              <a:buNone/>
            </a:pPr>
            <a:r>
              <a:rPr lang="en-US" dirty="0"/>
              <a:t>Example:</a:t>
            </a:r>
          </a:p>
          <a:p>
            <a:pPr marL="457200" lvl="1" indent="0">
              <a:buNone/>
            </a:pPr>
            <a:r>
              <a:rPr lang="en-US" b="1" dirty="0">
                <a:solidFill>
                  <a:srgbClr val="FF0000"/>
                </a:solidFill>
              </a:rPr>
              <a:t>Input</a:t>
            </a:r>
          </a:p>
          <a:p>
            <a:pPr marL="457200" lvl="1" indent="0">
              <a:buNone/>
            </a:pPr>
            <a:r>
              <a:rPr lang="en-US" b="1" dirty="0"/>
              <a:t>Vector                                                  </a:t>
            </a:r>
          </a:p>
          <a:p>
            <a:pPr marL="457200" lvl="1" indent="0">
              <a:buNone/>
            </a:pPr>
            <a:r>
              <a:rPr lang="en-US" dirty="0"/>
              <a:t>Temperature, Humidity</a:t>
            </a:r>
          </a:p>
          <a:p>
            <a:pPr marL="457200" lvl="1" indent="0">
              <a:buNone/>
            </a:pPr>
            <a:r>
              <a:rPr lang="en-US" dirty="0"/>
              <a:t>Hot , 70%</a:t>
            </a:r>
          </a:p>
          <a:p>
            <a:pPr marL="457200" lvl="1" indent="0">
              <a:buNone/>
            </a:pPr>
            <a:r>
              <a:rPr lang="en-US" dirty="0"/>
              <a:t>Cool, 60%</a:t>
            </a:r>
          </a:p>
          <a:p>
            <a:pPr marL="457200" lvl="1" indent="0">
              <a:buNone/>
            </a:pPr>
            <a:r>
              <a:rPr lang="en-US" dirty="0"/>
              <a:t>Hot, 80% </a:t>
            </a:r>
          </a:p>
        </p:txBody>
      </p:sp>
      <p:sp>
        <p:nvSpPr>
          <p:cNvPr id="4" name="Arrow: Right 3">
            <a:extLst>
              <a:ext uri="{FF2B5EF4-FFF2-40B4-BE49-F238E27FC236}">
                <a16:creationId xmlns:a16="http://schemas.microsoft.com/office/drawing/2014/main" id="{AFC3000E-8626-0CBA-5A11-16D08FD794B3}"/>
              </a:ext>
            </a:extLst>
          </p:cNvPr>
          <p:cNvSpPr/>
          <p:nvPr/>
        </p:nvSpPr>
        <p:spPr>
          <a:xfrm>
            <a:off x="4289898" y="3949430"/>
            <a:ext cx="3161489" cy="8073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DCDEAA6-B121-3024-501E-731BEE34ED23}"/>
              </a:ext>
            </a:extLst>
          </p:cNvPr>
          <p:cNvSpPr txBox="1"/>
          <p:nvPr/>
        </p:nvSpPr>
        <p:spPr>
          <a:xfrm>
            <a:off x="7626486" y="3059350"/>
            <a:ext cx="4000209" cy="1661993"/>
          </a:xfrm>
          <a:prstGeom prst="rect">
            <a:avLst/>
          </a:prstGeom>
          <a:noFill/>
        </p:spPr>
        <p:txBody>
          <a:bodyPr wrap="square" rtlCol="0">
            <a:spAutoFit/>
          </a:bodyPr>
          <a:lstStyle/>
          <a:p>
            <a:r>
              <a:rPr lang="en-US" sz="2400" b="1" dirty="0">
                <a:solidFill>
                  <a:srgbClr val="FF0000"/>
                </a:solidFill>
              </a:rPr>
              <a:t>Output</a:t>
            </a:r>
          </a:p>
          <a:p>
            <a:r>
              <a:rPr lang="en-US" sz="2400" b="1" dirty="0"/>
              <a:t>Sentence:</a:t>
            </a:r>
          </a:p>
          <a:p>
            <a:endParaRPr lang="en-US" dirty="0"/>
          </a:p>
          <a:p>
            <a:r>
              <a:rPr lang="en-US" dirty="0"/>
              <a:t>Today is a hot day with a less probability of rain.</a:t>
            </a:r>
          </a:p>
        </p:txBody>
      </p:sp>
    </p:spTree>
    <p:extLst>
      <p:ext uri="{BB962C8B-B14F-4D97-AF65-F5344CB8AC3E}">
        <p14:creationId xmlns:p14="http://schemas.microsoft.com/office/powerpoint/2010/main" val="246660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720A-3B09-2E96-810F-D5F39925678E}"/>
              </a:ext>
            </a:extLst>
          </p:cNvPr>
          <p:cNvSpPr>
            <a:spLocks noGrp="1"/>
          </p:cNvSpPr>
          <p:nvPr>
            <p:ph type="title"/>
          </p:nvPr>
        </p:nvSpPr>
        <p:spPr/>
        <p:txBody>
          <a:bodyPr/>
          <a:lstStyle/>
          <a:p>
            <a:r>
              <a:rPr lang="en-US" dirty="0"/>
              <a:t>Sequence to Vector Model</a:t>
            </a:r>
          </a:p>
        </p:txBody>
      </p:sp>
      <p:sp>
        <p:nvSpPr>
          <p:cNvPr id="3" name="Content Placeholder 2">
            <a:extLst>
              <a:ext uri="{FF2B5EF4-FFF2-40B4-BE49-F238E27FC236}">
                <a16:creationId xmlns:a16="http://schemas.microsoft.com/office/drawing/2014/main" id="{592F9B2B-5F70-ECA4-EB17-BBD623F68A9E}"/>
              </a:ext>
            </a:extLst>
          </p:cNvPr>
          <p:cNvSpPr>
            <a:spLocks noGrp="1"/>
          </p:cNvSpPr>
          <p:nvPr>
            <p:ph idx="1"/>
          </p:nvPr>
        </p:nvSpPr>
        <p:spPr>
          <a:xfrm>
            <a:off x="838200" y="1825625"/>
            <a:ext cx="6554821" cy="4351338"/>
          </a:xfrm>
        </p:spPr>
        <p:txBody>
          <a:bodyPr/>
          <a:lstStyle/>
          <a:p>
            <a:r>
              <a:rPr lang="en-US" dirty="0"/>
              <a:t>Input is fixed size Vector and Output is Sequence</a:t>
            </a:r>
          </a:p>
          <a:p>
            <a:pPr marL="457200" lvl="1" indent="0">
              <a:buNone/>
            </a:pPr>
            <a:r>
              <a:rPr lang="en-US" dirty="0"/>
              <a:t>Example:</a:t>
            </a:r>
          </a:p>
          <a:p>
            <a:r>
              <a:rPr lang="en-US" sz="3200" b="1" dirty="0">
                <a:solidFill>
                  <a:srgbClr val="FF0000"/>
                </a:solidFill>
              </a:rPr>
              <a:t>Input</a:t>
            </a:r>
          </a:p>
          <a:p>
            <a:r>
              <a:rPr lang="en-US" sz="3200" b="1" dirty="0"/>
              <a:t>Sentence:</a:t>
            </a:r>
            <a:endParaRPr lang="en-US" dirty="0"/>
          </a:p>
          <a:p>
            <a:r>
              <a:rPr lang="en-US" dirty="0"/>
              <a:t>Today is a hot day with a less probability of rain.</a:t>
            </a:r>
          </a:p>
          <a:p>
            <a:pPr marL="457200" lvl="1" indent="0">
              <a:buNone/>
            </a:pPr>
            <a:endParaRPr lang="en-US" dirty="0"/>
          </a:p>
        </p:txBody>
      </p:sp>
      <p:sp>
        <p:nvSpPr>
          <p:cNvPr id="4" name="Arrow: Right 3">
            <a:extLst>
              <a:ext uri="{FF2B5EF4-FFF2-40B4-BE49-F238E27FC236}">
                <a16:creationId xmlns:a16="http://schemas.microsoft.com/office/drawing/2014/main" id="{AFC3000E-8626-0CBA-5A11-16D08FD794B3}"/>
              </a:ext>
            </a:extLst>
          </p:cNvPr>
          <p:cNvSpPr/>
          <p:nvPr/>
        </p:nvSpPr>
        <p:spPr>
          <a:xfrm>
            <a:off x="7028235" y="4074611"/>
            <a:ext cx="963038" cy="8073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DCDEAA6-B121-3024-501E-731BEE34ED23}"/>
              </a:ext>
            </a:extLst>
          </p:cNvPr>
          <p:cNvSpPr txBox="1"/>
          <p:nvPr/>
        </p:nvSpPr>
        <p:spPr>
          <a:xfrm>
            <a:off x="7626486" y="3059350"/>
            <a:ext cx="4000209" cy="2954655"/>
          </a:xfrm>
          <a:prstGeom prst="rect">
            <a:avLst/>
          </a:prstGeom>
          <a:noFill/>
        </p:spPr>
        <p:txBody>
          <a:bodyPr wrap="square" rtlCol="0">
            <a:spAutoFit/>
          </a:bodyPr>
          <a:lstStyle/>
          <a:p>
            <a:pPr marL="457200" lvl="1" indent="0">
              <a:buNone/>
            </a:pPr>
            <a:r>
              <a:rPr lang="en-US" sz="2800" b="1" dirty="0">
                <a:solidFill>
                  <a:srgbClr val="FF0000"/>
                </a:solidFill>
              </a:rPr>
              <a:t>Output</a:t>
            </a:r>
          </a:p>
          <a:p>
            <a:pPr marL="457200" lvl="1" indent="0">
              <a:buNone/>
            </a:pPr>
            <a:r>
              <a:rPr lang="en-US" sz="2800" b="1" dirty="0"/>
              <a:t>Vector                                                  </a:t>
            </a:r>
          </a:p>
          <a:p>
            <a:pPr marL="457200" lvl="1" indent="0">
              <a:buNone/>
            </a:pPr>
            <a:r>
              <a:rPr lang="en-US" sz="2800" dirty="0"/>
              <a:t>Temperature, Humidity</a:t>
            </a:r>
          </a:p>
          <a:p>
            <a:pPr marL="457200" lvl="1" indent="0">
              <a:buNone/>
            </a:pPr>
            <a:r>
              <a:rPr lang="en-US" sz="2800" dirty="0"/>
              <a:t>Hot , 70%</a:t>
            </a:r>
          </a:p>
          <a:p>
            <a:pPr marL="457200" lvl="1" indent="0">
              <a:buNone/>
            </a:pPr>
            <a:r>
              <a:rPr lang="en-US" sz="2800" dirty="0"/>
              <a:t>Cool, 60%</a:t>
            </a:r>
          </a:p>
          <a:p>
            <a:pPr marL="457200" lvl="1" indent="0">
              <a:buNone/>
            </a:pPr>
            <a:r>
              <a:rPr lang="en-US" sz="2800" dirty="0"/>
              <a:t>Hot, 80% </a:t>
            </a:r>
          </a:p>
          <a:p>
            <a:endParaRPr lang="en-US" dirty="0"/>
          </a:p>
        </p:txBody>
      </p:sp>
    </p:spTree>
    <p:extLst>
      <p:ext uri="{BB962C8B-B14F-4D97-AF65-F5344CB8AC3E}">
        <p14:creationId xmlns:p14="http://schemas.microsoft.com/office/powerpoint/2010/main" val="416466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105D-DEB4-C704-C0D8-0F95A01E80DA}"/>
              </a:ext>
            </a:extLst>
          </p:cNvPr>
          <p:cNvSpPr>
            <a:spLocks noGrp="1"/>
          </p:cNvSpPr>
          <p:nvPr>
            <p:ph type="title"/>
          </p:nvPr>
        </p:nvSpPr>
        <p:spPr/>
        <p:txBody>
          <a:bodyPr/>
          <a:lstStyle/>
          <a:p>
            <a:r>
              <a:rPr lang="en-US" dirty="0"/>
              <a:t>Sequence to Sequence Model</a:t>
            </a:r>
          </a:p>
        </p:txBody>
      </p:sp>
      <p:sp>
        <p:nvSpPr>
          <p:cNvPr id="3" name="Content Placeholder 2">
            <a:extLst>
              <a:ext uri="{FF2B5EF4-FFF2-40B4-BE49-F238E27FC236}">
                <a16:creationId xmlns:a16="http://schemas.microsoft.com/office/drawing/2014/main" id="{5DE184DC-447E-4395-5B0A-E6B00DD1F66F}"/>
              </a:ext>
            </a:extLst>
          </p:cNvPr>
          <p:cNvSpPr>
            <a:spLocks noGrp="1"/>
          </p:cNvSpPr>
          <p:nvPr>
            <p:ph idx="1"/>
          </p:nvPr>
        </p:nvSpPr>
        <p:spPr/>
        <p:txBody>
          <a:bodyPr/>
          <a:lstStyle/>
          <a:p>
            <a:r>
              <a:rPr lang="en-US" dirty="0"/>
              <a:t>Input and output both are variable length sequences.</a:t>
            </a:r>
          </a:p>
          <a:p>
            <a:endParaRPr lang="en-US" dirty="0"/>
          </a:p>
        </p:txBody>
      </p:sp>
      <p:pic>
        <p:nvPicPr>
          <p:cNvPr id="4" name="Content Placeholder 4">
            <a:extLst>
              <a:ext uri="{FF2B5EF4-FFF2-40B4-BE49-F238E27FC236}">
                <a16:creationId xmlns:a16="http://schemas.microsoft.com/office/drawing/2014/main" id="{CF36D4EC-1B5F-9788-2479-D2380D1E7DD1}"/>
              </a:ext>
            </a:extLst>
          </p:cNvPr>
          <p:cNvPicPr>
            <a:picLocks noChangeAspect="1"/>
          </p:cNvPicPr>
          <p:nvPr/>
        </p:nvPicPr>
        <p:blipFill>
          <a:blip r:embed="rId2"/>
          <a:stretch>
            <a:fillRect/>
          </a:stretch>
        </p:blipFill>
        <p:spPr>
          <a:xfrm>
            <a:off x="1758489" y="2595018"/>
            <a:ext cx="8251272" cy="4039145"/>
          </a:xfrm>
          <a:prstGeom prst="rect">
            <a:avLst/>
          </a:prstGeom>
        </p:spPr>
      </p:pic>
    </p:spTree>
    <p:extLst>
      <p:ext uri="{BB962C8B-B14F-4D97-AF65-F5344CB8AC3E}">
        <p14:creationId xmlns:p14="http://schemas.microsoft.com/office/powerpoint/2010/main" val="3354194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4704C-FA74-8940-94DF-199FE7AAC3A5}"/>
              </a:ext>
            </a:extLst>
          </p:cNvPr>
          <p:cNvSpPr>
            <a:spLocks noGrp="1"/>
          </p:cNvSpPr>
          <p:nvPr>
            <p:ph type="title"/>
          </p:nvPr>
        </p:nvSpPr>
        <p:spPr/>
        <p:txBody>
          <a:bodyPr/>
          <a:lstStyle/>
          <a:p>
            <a:r>
              <a:rPr lang="en-US" dirty="0"/>
              <a:t>Problem in Classical RNN</a:t>
            </a:r>
          </a:p>
        </p:txBody>
      </p:sp>
      <p:sp>
        <p:nvSpPr>
          <p:cNvPr id="7" name="Content Placeholder 6">
            <a:extLst>
              <a:ext uri="{FF2B5EF4-FFF2-40B4-BE49-F238E27FC236}">
                <a16:creationId xmlns:a16="http://schemas.microsoft.com/office/drawing/2014/main" id="{3F184BA0-3FC9-94CE-A7C8-FC0DA66D68BB}"/>
              </a:ext>
            </a:extLst>
          </p:cNvPr>
          <p:cNvSpPr>
            <a:spLocks noGrp="1"/>
          </p:cNvSpPr>
          <p:nvPr>
            <p:ph idx="1"/>
          </p:nvPr>
        </p:nvSpPr>
        <p:spPr/>
        <p:txBody>
          <a:bodyPr>
            <a:normAutofit fontScale="85000" lnSpcReduction="20000"/>
          </a:bodyPr>
          <a:lstStyle/>
          <a:p>
            <a:r>
              <a:rPr lang="en-US" dirty="0"/>
              <a:t>These are slow to train</a:t>
            </a:r>
          </a:p>
          <a:p>
            <a:r>
              <a:rPr lang="en-US" dirty="0"/>
              <a:t>Has gradient Vanishing problem</a:t>
            </a:r>
          </a:p>
          <a:p>
            <a:endParaRPr lang="en-US" dirty="0"/>
          </a:p>
          <a:p>
            <a:r>
              <a:rPr lang="en-US" dirty="0"/>
              <a:t>LSTM has solved (gradient Vanishing problem)</a:t>
            </a:r>
          </a:p>
          <a:p>
            <a:r>
              <a:rPr lang="en-US" dirty="0"/>
              <a:t>LSTM remembers the Cell state of the previous input that saves processing</a:t>
            </a:r>
          </a:p>
          <a:p>
            <a:r>
              <a:rPr lang="en-US" dirty="0"/>
              <a:t>This allow to maintain the memory for long sequences</a:t>
            </a:r>
          </a:p>
          <a:p>
            <a:r>
              <a:rPr lang="en-US" dirty="0"/>
              <a:t>LSTM are slow to train (even slower then RNN)</a:t>
            </a:r>
          </a:p>
          <a:p>
            <a:r>
              <a:rPr lang="en-US" dirty="0"/>
              <a:t>In RNN-LSTM input data need to pass sequentially </a:t>
            </a:r>
          </a:p>
          <a:p>
            <a:pPr lvl="1"/>
            <a:r>
              <a:rPr lang="en-US" dirty="0"/>
              <a:t>(The red dog) One word to each cell</a:t>
            </a:r>
          </a:p>
          <a:p>
            <a:pPr lvl="1"/>
            <a:r>
              <a:rPr lang="en-US" dirty="0"/>
              <a:t>The previous cell state called dependencies</a:t>
            </a:r>
          </a:p>
          <a:p>
            <a:pPr lvl="1"/>
            <a:r>
              <a:rPr lang="en-US" dirty="0"/>
              <a:t>Such configuration are not useful for current GPU computers (that enables parallel processing)</a:t>
            </a:r>
          </a:p>
          <a:p>
            <a:pPr lvl="1"/>
            <a:r>
              <a:rPr lang="en-US" dirty="0"/>
              <a:t>How can we use parallelization in sequential data? Answer = Transformer </a:t>
            </a:r>
          </a:p>
          <a:p>
            <a:endParaRPr lang="en-US" dirty="0"/>
          </a:p>
        </p:txBody>
      </p:sp>
      <p:cxnSp>
        <p:nvCxnSpPr>
          <p:cNvPr id="9" name="Straight Connector 8">
            <a:extLst>
              <a:ext uri="{FF2B5EF4-FFF2-40B4-BE49-F238E27FC236}">
                <a16:creationId xmlns:a16="http://schemas.microsoft.com/office/drawing/2014/main" id="{B2184DF3-E478-ECA6-B657-5ACCF707AB3B}"/>
              </a:ext>
            </a:extLst>
          </p:cNvPr>
          <p:cNvCxnSpPr/>
          <p:nvPr/>
        </p:nvCxnSpPr>
        <p:spPr>
          <a:xfrm>
            <a:off x="838200" y="2791837"/>
            <a:ext cx="10436157"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757901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F1EA3-5CC4-FC4F-C4BB-D41E9B83BF81}"/>
              </a:ext>
            </a:extLst>
          </p:cNvPr>
          <p:cNvSpPr>
            <a:spLocks noGrp="1"/>
          </p:cNvSpPr>
          <p:nvPr>
            <p:ph type="title"/>
          </p:nvPr>
        </p:nvSpPr>
        <p:spPr/>
        <p:txBody>
          <a:bodyPr/>
          <a:lstStyle/>
          <a:p>
            <a:r>
              <a:rPr lang="en-US" dirty="0"/>
              <a:t>Transformer</a:t>
            </a:r>
          </a:p>
        </p:txBody>
      </p:sp>
      <p:sp>
        <p:nvSpPr>
          <p:cNvPr id="3" name="Content Placeholder 2">
            <a:extLst>
              <a:ext uri="{FF2B5EF4-FFF2-40B4-BE49-F238E27FC236}">
                <a16:creationId xmlns:a16="http://schemas.microsoft.com/office/drawing/2014/main" id="{F8449100-4C98-BAA9-9FBB-A7D54B813536}"/>
              </a:ext>
            </a:extLst>
          </p:cNvPr>
          <p:cNvSpPr>
            <a:spLocks noGrp="1"/>
          </p:cNvSpPr>
          <p:nvPr>
            <p:ph idx="1"/>
          </p:nvPr>
        </p:nvSpPr>
        <p:spPr>
          <a:xfrm>
            <a:off x="838200" y="1475426"/>
            <a:ext cx="10515600" cy="2999294"/>
          </a:xfrm>
        </p:spPr>
        <p:txBody>
          <a:bodyPr>
            <a:normAutofit lnSpcReduction="10000"/>
          </a:bodyPr>
          <a:lstStyle/>
          <a:p>
            <a:r>
              <a:rPr lang="en-US" dirty="0"/>
              <a:t>It has Encoder-Decoder architecture</a:t>
            </a:r>
          </a:p>
          <a:p>
            <a:r>
              <a:rPr lang="en-US" b="0" i="0" dirty="0">
                <a:solidFill>
                  <a:srgbClr val="202124"/>
                </a:solidFill>
                <a:effectLst/>
                <a:latin typeface="Google Sans"/>
              </a:rPr>
              <a:t>Encoder – decoder architecture is </a:t>
            </a:r>
            <a:r>
              <a:rPr lang="en-US" b="0" i="0" dirty="0">
                <a:solidFill>
                  <a:srgbClr val="040C28"/>
                </a:solidFill>
                <a:effectLst/>
                <a:latin typeface="Google Sans"/>
              </a:rPr>
              <a:t>a form of neural network architecture which are most suitable for the use cases where input is sequence of data and output is another sequence of data like machine translation use case</a:t>
            </a:r>
            <a:r>
              <a:rPr lang="en-US" b="0" i="0" dirty="0">
                <a:solidFill>
                  <a:srgbClr val="202124"/>
                </a:solidFill>
                <a:effectLst/>
                <a:latin typeface="Google Sans"/>
              </a:rPr>
              <a:t>.</a:t>
            </a:r>
          </a:p>
          <a:p>
            <a:r>
              <a:rPr lang="en-US" b="0" i="0" dirty="0">
                <a:solidFill>
                  <a:srgbClr val="202124"/>
                </a:solidFill>
                <a:effectLst/>
                <a:latin typeface="Google Sans"/>
              </a:rPr>
              <a:t> In other words, encoder-decoder architecture are most suitable for sequence-to-sequence modeling</a:t>
            </a:r>
            <a:endParaRPr lang="en-US" dirty="0"/>
          </a:p>
        </p:txBody>
      </p:sp>
      <p:pic>
        <p:nvPicPr>
          <p:cNvPr id="7" name="Picture 6">
            <a:extLst>
              <a:ext uri="{FF2B5EF4-FFF2-40B4-BE49-F238E27FC236}">
                <a16:creationId xmlns:a16="http://schemas.microsoft.com/office/drawing/2014/main" id="{B16BEB8C-843D-D762-6B52-249A1356E4EF}"/>
              </a:ext>
            </a:extLst>
          </p:cNvPr>
          <p:cNvPicPr>
            <a:picLocks noChangeAspect="1"/>
          </p:cNvPicPr>
          <p:nvPr/>
        </p:nvPicPr>
        <p:blipFill>
          <a:blip r:embed="rId2"/>
          <a:stretch>
            <a:fillRect/>
          </a:stretch>
        </p:blipFill>
        <p:spPr>
          <a:xfrm>
            <a:off x="1547812" y="4476275"/>
            <a:ext cx="9256816" cy="1759159"/>
          </a:xfrm>
          <a:prstGeom prst="rect">
            <a:avLst/>
          </a:prstGeom>
        </p:spPr>
      </p:pic>
    </p:spTree>
    <p:extLst>
      <p:ext uri="{BB962C8B-B14F-4D97-AF65-F5344CB8AC3E}">
        <p14:creationId xmlns:p14="http://schemas.microsoft.com/office/powerpoint/2010/main" val="1613427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108E9-CAE8-3392-101E-57505F258816}"/>
              </a:ext>
            </a:extLst>
          </p:cNvPr>
          <p:cNvSpPr>
            <a:spLocks noGrp="1"/>
          </p:cNvSpPr>
          <p:nvPr>
            <p:ph type="title"/>
          </p:nvPr>
        </p:nvSpPr>
        <p:spPr>
          <a:xfrm>
            <a:off x="913923" y="2766218"/>
            <a:ext cx="4103451" cy="1325563"/>
          </a:xfrm>
        </p:spPr>
        <p:txBody>
          <a:bodyPr/>
          <a:lstStyle/>
          <a:p>
            <a:r>
              <a:rPr lang="en-US" dirty="0"/>
              <a:t>Encoder-Decoder</a:t>
            </a:r>
            <a:br>
              <a:rPr lang="en-US" dirty="0"/>
            </a:br>
            <a:r>
              <a:rPr lang="en-US" dirty="0"/>
              <a:t>Architecture</a:t>
            </a:r>
          </a:p>
        </p:txBody>
      </p:sp>
      <p:pic>
        <p:nvPicPr>
          <p:cNvPr id="5" name="Picture 4">
            <a:extLst>
              <a:ext uri="{FF2B5EF4-FFF2-40B4-BE49-F238E27FC236}">
                <a16:creationId xmlns:a16="http://schemas.microsoft.com/office/drawing/2014/main" id="{9D0AB744-BFAE-E0C4-436A-A3CC4B4E70B9}"/>
              </a:ext>
            </a:extLst>
          </p:cNvPr>
          <p:cNvPicPr>
            <a:picLocks noChangeAspect="1"/>
          </p:cNvPicPr>
          <p:nvPr/>
        </p:nvPicPr>
        <p:blipFill>
          <a:blip r:embed="rId2"/>
          <a:stretch>
            <a:fillRect/>
          </a:stretch>
        </p:blipFill>
        <p:spPr>
          <a:xfrm>
            <a:off x="5485921" y="0"/>
            <a:ext cx="4819389" cy="6858000"/>
          </a:xfrm>
          <a:prstGeom prst="rect">
            <a:avLst/>
          </a:prstGeom>
        </p:spPr>
      </p:pic>
    </p:spTree>
    <p:extLst>
      <p:ext uri="{BB962C8B-B14F-4D97-AF65-F5344CB8AC3E}">
        <p14:creationId xmlns:p14="http://schemas.microsoft.com/office/powerpoint/2010/main" val="183772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E0E1D-7E6F-013B-F625-5E7F821B7AED}"/>
              </a:ext>
            </a:extLst>
          </p:cNvPr>
          <p:cNvSpPr>
            <a:spLocks noGrp="1"/>
          </p:cNvSpPr>
          <p:nvPr>
            <p:ph type="title"/>
          </p:nvPr>
        </p:nvSpPr>
        <p:spPr/>
        <p:txBody>
          <a:bodyPr/>
          <a:lstStyle/>
          <a:p>
            <a:r>
              <a:rPr lang="en-US" dirty="0"/>
              <a:t>Transformer</a:t>
            </a:r>
          </a:p>
        </p:txBody>
      </p:sp>
      <p:sp>
        <p:nvSpPr>
          <p:cNvPr id="3" name="Content Placeholder 2">
            <a:extLst>
              <a:ext uri="{FF2B5EF4-FFF2-40B4-BE49-F238E27FC236}">
                <a16:creationId xmlns:a16="http://schemas.microsoft.com/office/drawing/2014/main" id="{447C3979-0F14-11BA-6C2B-35D9AE4EE35B}"/>
              </a:ext>
            </a:extLst>
          </p:cNvPr>
          <p:cNvSpPr>
            <a:spLocks noGrp="1"/>
          </p:cNvSpPr>
          <p:nvPr>
            <p:ph idx="1"/>
          </p:nvPr>
        </p:nvSpPr>
        <p:spPr>
          <a:xfrm>
            <a:off x="838200" y="1825625"/>
            <a:ext cx="10515600" cy="4322256"/>
          </a:xfrm>
        </p:spPr>
        <p:txBody>
          <a:bodyPr>
            <a:normAutofit lnSpcReduction="10000"/>
          </a:bodyPr>
          <a:lstStyle/>
          <a:p>
            <a:r>
              <a:rPr lang="en-US" dirty="0"/>
              <a:t>The main advantage of Transformer is that input sequences can be passed in parallel.</a:t>
            </a:r>
          </a:p>
          <a:p>
            <a:r>
              <a:rPr lang="en-US" dirty="0"/>
              <a:t>Example:</a:t>
            </a:r>
          </a:p>
          <a:p>
            <a:r>
              <a:rPr lang="en-US" dirty="0">
                <a:solidFill>
                  <a:srgbClr val="FF0000"/>
                </a:solidFill>
              </a:rPr>
              <a:t>How are you? </a:t>
            </a:r>
            <a:r>
              <a:rPr lang="en-US" dirty="0"/>
              <a:t>In RNN we pass “How” to RNN, then “are” to RNN and then “you” to RNN. But in Transformer, we pass complete sentence at one time.</a:t>
            </a:r>
          </a:p>
          <a:p>
            <a:r>
              <a:rPr lang="en-US" dirty="0"/>
              <a:t>RNN generate “Word Embeddings” one by one</a:t>
            </a:r>
          </a:p>
          <a:p>
            <a:r>
              <a:rPr lang="en-US" dirty="0"/>
              <a:t>In transformer no need of time stamp. It calculate “Word embedding” at one time</a:t>
            </a:r>
          </a:p>
          <a:p>
            <a:r>
              <a:rPr lang="en-US" dirty="0"/>
              <a:t>Transformer works on the concept of “parallel processing”</a:t>
            </a:r>
          </a:p>
          <a:p>
            <a:endParaRPr lang="en-US" dirty="0"/>
          </a:p>
        </p:txBody>
      </p:sp>
    </p:spTree>
    <p:extLst>
      <p:ext uri="{BB962C8B-B14F-4D97-AF65-F5344CB8AC3E}">
        <p14:creationId xmlns:p14="http://schemas.microsoft.com/office/powerpoint/2010/main" val="3213170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A22AC-BE18-E6AD-5251-1DF1045D49DB}"/>
              </a:ext>
            </a:extLst>
          </p:cNvPr>
          <p:cNvSpPr>
            <a:spLocks noGrp="1"/>
          </p:cNvSpPr>
          <p:nvPr>
            <p:ph type="title"/>
          </p:nvPr>
        </p:nvSpPr>
        <p:spPr/>
        <p:txBody>
          <a:bodyPr/>
          <a:lstStyle/>
          <a:p>
            <a:r>
              <a:rPr lang="en-US" dirty="0"/>
              <a:t>How to achieve parallelization </a:t>
            </a:r>
          </a:p>
        </p:txBody>
      </p:sp>
      <p:sp>
        <p:nvSpPr>
          <p:cNvPr id="3" name="Content Placeholder 2">
            <a:extLst>
              <a:ext uri="{FF2B5EF4-FFF2-40B4-BE49-F238E27FC236}">
                <a16:creationId xmlns:a16="http://schemas.microsoft.com/office/drawing/2014/main" id="{EAD3BE75-3549-4DE7-6C90-3CA06C0B8215}"/>
              </a:ext>
            </a:extLst>
          </p:cNvPr>
          <p:cNvSpPr>
            <a:spLocks noGrp="1"/>
          </p:cNvSpPr>
          <p:nvPr>
            <p:ph idx="1"/>
          </p:nvPr>
        </p:nvSpPr>
        <p:spPr/>
        <p:txBody>
          <a:bodyPr>
            <a:normAutofit lnSpcReduction="10000"/>
          </a:bodyPr>
          <a:lstStyle/>
          <a:p>
            <a:r>
              <a:rPr lang="en-US" dirty="0"/>
              <a:t>Computer do not understand words</a:t>
            </a:r>
          </a:p>
          <a:p>
            <a:r>
              <a:rPr lang="en-US" dirty="0"/>
              <a:t>They understand numbers vectors OR Word embeddings</a:t>
            </a:r>
          </a:p>
          <a:p>
            <a:r>
              <a:rPr lang="en-US" dirty="0"/>
              <a:t>So Transformer convert the “sentence” into “vectors” at once</a:t>
            </a:r>
          </a:p>
          <a:p>
            <a:r>
              <a:rPr lang="en-US" dirty="0"/>
              <a:t>Word embeddings is to embed to words into vector space that similar words in meaning comes closer to each other</a:t>
            </a:r>
          </a:p>
          <a:p>
            <a:r>
              <a:rPr lang="en-US" dirty="0"/>
              <a:t>The space in which words are embedded are called embedding space</a:t>
            </a:r>
          </a:p>
          <a:p>
            <a:r>
              <a:rPr lang="en-US" dirty="0"/>
              <a:t>We can also use pretrained embedding space</a:t>
            </a:r>
          </a:p>
          <a:p>
            <a:pPr lvl="1"/>
            <a:r>
              <a:rPr lang="en-US" dirty="0"/>
              <a:t>Glove</a:t>
            </a:r>
          </a:p>
          <a:p>
            <a:pPr lvl="1"/>
            <a:r>
              <a:rPr lang="en-US" dirty="0"/>
              <a:t>Word2Vec</a:t>
            </a:r>
          </a:p>
          <a:p>
            <a:r>
              <a:rPr lang="en-US" dirty="0"/>
              <a:t>This embedding can map words into vectors</a:t>
            </a:r>
          </a:p>
        </p:txBody>
      </p:sp>
    </p:spTree>
    <p:extLst>
      <p:ext uri="{BB962C8B-B14F-4D97-AF65-F5344CB8AC3E}">
        <p14:creationId xmlns:p14="http://schemas.microsoft.com/office/powerpoint/2010/main" val="3540843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334F4-A744-B098-74DC-A90503E63DA7}"/>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FE30A0CE-A150-4FAC-3A37-2442C605E91B}"/>
              </a:ext>
            </a:extLst>
          </p:cNvPr>
          <p:cNvSpPr>
            <a:spLocks noGrp="1"/>
          </p:cNvSpPr>
          <p:nvPr>
            <p:ph idx="1"/>
          </p:nvPr>
        </p:nvSpPr>
        <p:spPr/>
        <p:txBody>
          <a:bodyPr/>
          <a:lstStyle/>
          <a:p>
            <a:r>
              <a:rPr lang="en-US" dirty="0"/>
              <a:t>Transformers uses “positional encoding”</a:t>
            </a:r>
          </a:p>
          <a:p>
            <a:endParaRPr lang="en-US" dirty="0"/>
          </a:p>
        </p:txBody>
      </p:sp>
      <p:pic>
        <p:nvPicPr>
          <p:cNvPr id="5" name="Picture 4">
            <a:extLst>
              <a:ext uri="{FF2B5EF4-FFF2-40B4-BE49-F238E27FC236}">
                <a16:creationId xmlns:a16="http://schemas.microsoft.com/office/drawing/2014/main" id="{38801249-F543-487B-19D4-55A3644A7D71}"/>
              </a:ext>
            </a:extLst>
          </p:cNvPr>
          <p:cNvPicPr>
            <a:picLocks noChangeAspect="1"/>
          </p:cNvPicPr>
          <p:nvPr/>
        </p:nvPicPr>
        <p:blipFill>
          <a:blip r:embed="rId2"/>
          <a:stretch>
            <a:fillRect/>
          </a:stretch>
        </p:blipFill>
        <p:spPr>
          <a:xfrm>
            <a:off x="2867025" y="2824162"/>
            <a:ext cx="6457950" cy="1209675"/>
          </a:xfrm>
          <a:prstGeom prst="rect">
            <a:avLst/>
          </a:prstGeom>
        </p:spPr>
      </p:pic>
    </p:spTree>
    <p:extLst>
      <p:ext uri="{BB962C8B-B14F-4D97-AF65-F5344CB8AC3E}">
        <p14:creationId xmlns:p14="http://schemas.microsoft.com/office/powerpoint/2010/main" val="3065850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D379-527F-9BFB-C9BA-48637B8C1F24}"/>
              </a:ext>
            </a:extLst>
          </p:cNvPr>
          <p:cNvSpPr>
            <a:spLocks noGrp="1"/>
          </p:cNvSpPr>
          <p:nvPr>
            <p:ph type="title"/>
          </p:nvPr>
        </p:nvSpPr>
        <p:spPr/>
        <p:txBody>
          <a:bodyPr/>
          <a:lstStyle/>
          <a:p>
            <a:r>
              <a:rPr lang="en-US" dirty="0"/>
              <a:t>Working of Positional Encoder</a:t>
            </a:r>
          </a:p>
        </p:txBody>
      </p:sp>
      <p:pic>
        <p:nvPicPr>
          <p:cNvPr id="5" name="Content Placeholder 4">
            <a:extLst>
              <a:ext uri="{FF2B5EF4-FFF2-40B4-BE49-F238E27FC236}">
                <a16:creationId xmlns:a16="http://schemas.microsoft.com/office/drawing/2014/main" id="{8A43BCFD-94C8-09F5-D12D-AFBF5C31ED0F}"/>
              </a:ext>
            </a:extLst>
          </p:cNvPr>
          <p:cNvPicPr>
            <a:picLocks noGrp="1" noChangeAspect="1"/>
          </p:cNvPicPr>
          <p:nvPr>
            <p:ph idx="1"/>
          </p:nvPr>
        </p:nvPicPr>
        <p:blipFill>
          <a:blip r:embed="rId2"/>
          <a:stretch>
            <a:fillRect/>
          </a:stretch>
        </p:blipFill>
        <p:spPr>
          <a:xfrm>
            <a:off x="1152525" y="2001044"/>
            <a:ext cx="9886950" cy="4000500"/>
          </a:xfrm>
        </p:spPr>
      </p:pic>
    </p:spTree>
    <p:extLst>
      <p:ext uri="{BB962C8B-B14F-4D97-AF65-F5344CB8AC3E}">
        <p14:creationId xmlns:p14="http://schemas.microsoft.com/office/powerpoint/2010/main" val="2800335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EE86D-CCEA-BB66-C1B3-FDD1B5E1B279}"/>
              </a:ext>
            </a:extLst>
          </p:cNvPr>
          <p:cNvSpPr>
            <a:spLocks noGrp="1"/>
          </p:cNvSpPr>
          <p:nvPr>
            <p:ph type="title"/>
          </p:nvPr>
        </p:nvSpPr>
        <p:spPr/>
        <p:txBody>
          <a:bodyPr/>
          <a:lstStyle/>
          <a:p>
            <a:r>
              <a:rPr lang="en-US" dirty="0"/>
              <a:t>Encoder Block</a:t>
            </a:r>
          </a:p>
        </p:txBody>
      </p:sp>
      <p:sp>
        <p:nvSpPr>
          <p:cNvPr id="3" name="Content Placeholder 2">
            <a:extLst>
              <a:ext uri="{FF2B5EF4-FFF2-40B4-BE49-F238E27FC236}">
                <a16:creationId xmlns:a16="http://schemas.microsoft.com/office/drawing/2014/main" id="{795A734C-DC98-EC9C-2649-0772F1590089}"/>
              </a:ext>
            </a:extLst>
          </p:cNvPr>
          <p:cNvSpPr>
            <a:spLocks noGrp="1"/>
          </p:cNvSpPr>
          <p:nvPr>
            <p:ph idx="1"/>
          </p:nvPr>
        </p:nvSpPr>
        <p:spPr/>
        <p:txBody>
          <a:bodyPr/>
          <a:lstStyle/>
          <a:p>
            <a:r>
              <a:rPr lang="en-US" dirty="0"/>
              <a:t>We pass “final embedding info” to the </a:t>
            </a:r>
            <a:r>
              <a:rPr lang="en-US" dirty="0">
                <a:solidFill>
                  <a:srgbClr val="FF0000"/>
                </a:solidFill>
              </a:rPr>
              <a:t>encoder block</a:t>
            </a:r>
          </a:p>
          <a:p>
            <a:r>
              <a:rPr lang="en-US" dirty="0"/>
              <a:t>In encoder block we have two main components</a:t>
            </a:r>
          </a:p>
          <a:p>
            <a:pPr lvl="1"/>
            <a:r>
              <a:rPr lang="en-US" dirty="0"/>
              <a:t>Multi-Head attention layer</a:t>
            </a:r>
          </a:p>
          <a:p>
            <a:pPr lvl="1"/>
            <a:r>
              <a:rPr lang="en-US" dirty="0"/>
              <a:t>Feed-forward network layer</a:t>
            </a:r>
          </a:p>
          <a:p>
            <a:r>
              <a:rPr lang="en-US" dirty="0"/>
              <a:t>Multi-Head attention layer: It inform that what part of the input we should focus.</a:t>
            </a:r>
          </a:p>
          <a:p>
            <a:r>
              <a:rPr lang="en-US" dirty="0"/>
              <a:t>Feed-forward network layer: A Feed Forward Neural Network is an artificial neural network, </a:t>
            </a:r>
            <a:r>
              <a:rPr lang="en-US" b="0" i="0" dirty="0">
                <a:solidFill>
                  <a:srgbClr val="202124"/>
                </a:solidFill>
                <a:effectLst/>
                <a:latin typeface="Google Sans"/>
              </a:rPr>
              <a:t> it </a:t>
            </a:r>
            <a:r>
              <a:rPr lang="en-US" b="0" i="0" dirty="0">
                <a:solidFill>
                  <a:srgbClr val="040C28"/>
                </a:solidFill>
                <a:effectLst/>
                <a:latin typeface="Google Sans"/>
              </a:rPr>
              <a:t>allows the model to learn complex patterns and relationships in the data</a:t>
            </a:r>
            <a:r>
              <a:rPr lang="en-US" b="0" i="0" dirty="0">
                <a:solidFill>
                  <a:srgbClr val="202124"/>
                </a:solidFill>
                <a:effectLst/>
                <a:latin typeface="Google Sans"/>
              </a:rPr>
              <a:t>. </a:t>
            </a:r>
            <a:endParaRPr lang="en-US" dirty="0"/>
          </a:p>
          <a:p>
            <a:endParaRPr lang="en-US" dirty="0"/>
          </a:p>
        </p:txBody>
      </p:sp>
    </p:spTree>
    <p:extLst>
      <p:ext uri="{BB962C8B-B14F-4D97-AF65-F5344CB8AC3E}">
        <p14:creationId xmlns:p14="http://schemas.microsoft.com/office/powerpoint/2010/main" val="1220713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B65AD-ABAC-FD11-5845-192221118168}"/>
              </a:ext>
            </a:extLst>
          </p:cNvPr>
          <p:cNvSpPr>
            <a:spLocks noGrp="1"/>
          </p:cNvSpPr>
          <p:nvPr>
            <p:ph type="title"/>
          </p:nvPr>
        </p:nvSpPr>
        <p:spPr/>
        <p:txBody>
          <a:bodyPr/>
          <a:lstStyle/>
          <a:p>
            <a:r>
              <a:rPr lang="en-US" dirty="0"/>
              <a:t>Multi-Head attention layer</a:t>
            </a:r>
          </a:p>
        </p:txBody>
      </p:sp>
      <p:pic>
        <p:nvPicPr>
          <p:cNvPr id="5" name="Content Placeholder 4">
            <a:extLst>
              <a:ext uri="{FF2B5EF4-FFF2-40B4-BE49-F238E27FC236}">
                <a16:creationId xmlns:a16="http://schemas.microsoft.com/office/drawing/2014/main" id="{EFD576B2-9C3E-31E6-A007-B852CA0AC710}"/>
              </a:ext>
            </a:extLst>
          </p:cNvPr>
          <p:cNvPicPr>
            <a:picLocks noGrp="1" noChangeAspect="1"/>
          </p:cNvPicPr>
          <p:nvPr>
            <p:ph idx="1"/>
          </p:nvPr>
        </p:nvPicPr>
        <p:blipFill>
          <a:blip r:embed="rId2"/>
          <a:stretch>
            <a:fillRect/>
          </a:stretch>
        </p:blipFill>
        <p:spPr>
          <a:xfrm>
            <a:off x="838200" y="2010477"/>
            <a:ext cx="10515600" cy="3981634"/>
          </a:xfrm>
        </p:spPr>
      </p:pic>
      <p:sp>
        <p:nvSpPr>
          <p:cNvPr id="6" name="TextBox 5">
            <a:extLst>
              <a:ext uri="{FF2B5EF4-FFF2-40B4-BE49-F238E27FC236}">
                <a16:creationId xmlns:a16="http://schemas.microsoft.com/office/drawing/2014/main" id="{BFE35C12-2ECF-4367-8377-7621FE148CA4}"/>
              </a:ext>
            </a:extLst>
          </p:cNvPr>
          <p:cNvSpPr txBox="1"/>
          <p:nvPr/>
        </p:nvSpPr>
        <p:spPr>
          <a:xfrm>
            <a:off x="992221" y="6099241"/>
            <a:ext cx="10441128" cy="646331"/>
          </a:xfrm>
          <a:prstGeom prst="rect">
            <a:avLst/>
          </a:prstGeom>
          <a:noFill/>
        </p:spPr>
        <p:txBody>
          <a:bodyPr wrap="none" rtlCol="0">
            <a:spAutoFit/>
          </a:bodyPr>
          <a:lstStyle/>
          <a:p>
            <a:r>
              <a:rPr lang="en-US" dirty="0"/>
              <a:t>It tells us how a </a:t>
            </a:r>
            <a:r>
              <a:rPr lang="en-US" b="1" dirty="0" err="1"/>
              <a:t>ith</a:t>
            </a:r>
            <a:r>
              <a:rPr lang="en-US" b="1" dirty="0"/>
              <a:t> </a:t>
            </a:r>
            <a:r>
              <a:rPr lang="en-US" dirty="0"/>
              <a:t>word of the same sentence is relevant to the other words? This called </a:t>
            </a:r>
            <a:r>
              <a:rPr lang="en-US" b="1" dirty="0" err="1"/>
              <a:t>ith</a:t>
            </a:r>
            <a:r>
              <a:rPr lang="en-US" b="1" dirty="0"/>
              <a:t> </a:t>
            </a:r>
            <a:r>
              <a:rPr lang="en-US" dirty="0"/>
              <a:t>attention vector.</a:t>
            </a:r>
          </a:p>
          <a:p>
            <a:r>
              <a:rPr lang="en-US" dirty="0"/>
              <a:t>It captures the contextual relationship between the sentences</a:t>
            </a:r>
          </a:p>
        </p:txBody>
      </p:sp>
    </p:spTree>
    <p:extLst>
      <p:ext uri="{BB962C8B-B14F-4D97-AF65-F5344CB8AC3E}">
        <p14:creationId xmlns:p14="http://schemas.microsoft.com/office/powerpoint/2010/main" val="227772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FBF1-C852-46E3-BDE5-FA26DC0DD1AE}"/>
              </a:ext>
            </a:extLst>
          </p:cNvPr>
          <p:cNvSpPr>
            <a:spLocks noGrp="1"/>
          </p:cNvSpPr>
          <p:nvPr>
            <p:ph type="title"/>
          </p:nvPr>
        </p:nvSpPr>
        <p:spPr/>
        <p:txBody>
          <a:bodyPr/>
          <a:lstStyle/>
          <a:p>
            <a:r>
              <a:rPr lang="en-US" dirty="0"/>
              <a:t>Feed Forward NN</a:t>
            </a:r>
          </a:p>
        </p:txBody>
      </p:sp>
      <p:sp>
        <p:nvSpPr>
          <p:cNvPr id="3" name="Content Placeholder 2">
            <a:extLst>
              <a:ext uri="{FF2B5EF4-FFF2-40B4-BE49-F238E27FC236}">
                <a16:creationId xmlns:a16="http://schemas.microsoft.com/office/drawing/2014/main" id="{33AC8E27-5C8F-6B0A-22CA-15D3E780056A}"/>
              </a:ext>
            </a:extLst>
          </p:cNvPr>
          <p:cNvSpPr>
            <a:spLocks noGrp="1"/>
          </p:cNvSpPr>
          <p:nvPr>
            <p:ph idx="1"/>
          </p:nvPr>
        </p:nvSpPr>
        <p:spPr/>
        <p:txBody>
          <a:bodyPr/>
          <a:lstStyle/>
          <a:p>
            <a:r>
              <a:rPr lang="en-US" dirty="0"/>
              <a:t>It uses attention block output as input and transform the output in such a way that can be used by decoder block.</a:t>
            </a:r>
          </a:p>
        </p:txBody>
      </p:sp>
      <p:pic>
        <p:nvPicPr>
          <p:cNvPr id="5" name="Picture 4">
            <a:extLst>
              <a:ext uri="{FF2B5EF4-FFF2-40B4-BE49-F238E27FC236}">
                <a16:creationId xmlns:a16="http://schemas.microsoft.com/office/drawing/2014/main" id="{44FD9660-223A-CA5F-DA7A-1555BCFBF3CB}"/>
              </a:ext>
            </a:extLst>
          </p:cNvPr>
          <p:cNvPicPr>
            <a:picLocks noChangeAspect="1"/>
          </p:cNvPicPr>
          <p:nvPr/>
        </p:nvPicPr>
        <p:blipFill>
          <a:blip r:embed="rId2"/>
          <a:stretch>
            <a:fillRect/>
          </a:stretch>
        </p:blipFill>
        <p:spPr>
          <a:xfrm>
            <a:off x="3286125" y="2930525"/>
            <a:ext cx="5619750" cy="3381375"/>
          </a:xfrm>
          <a:prstGeom prst="rect">
            <a:avLst/>
          </a:prstGeom>
        </p:spPr>
      </p:pic>
    </p:spTree>
    <p:extLst>
      <p:ext uri="{BB962C8B-B14F-4D97-AF65-F5344CB8AC3E}">
        <p14:creationId xmlns:p14="http://schemas.microsoft.com/office/powerpoint/2010/main" val="3955961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8B11-85C4-F10D-1B60-949D49F18D8D}"/>
              </a:ext>
            </a:extLst>
          </p:cNvPr>
          <p:cNvSpPr>
            <a:spLocks noGrp="1"/>
          </p:cNvSpPr>
          <p:nvPr>
            <p:ph type="title"/>
          </p:nvPr>
        </p:nvSpPr>
        <p:spPr/>
        <p:txBody>
          <a:bodyPr/>
          <a:lstStyle/>
          <a:p>
            <a:r>
              <a:rPr lang="en-US" dirty="0"/>
              <a:t>Decoder</a:t>
            </a:r>
          </a:p>
        </p:txBody>
      </p:sp>
      <p:sp>
        <p:nvSpPr>
          <p:cNvPr id="3" name="Content Placeholder 2">
            <a:extLst>
              <a:ext uri="{FF2B5EF4-FFF2-40B4-BE49-F238E27FC236}">
                <a16:creationId xmlns:a16="http://schemas.microsoft.com/office/drawing/2014/main" id="{7E48E49E-C492-80CE-4527-FAE1E4A69705}"/>
              </a:ext>
            </a:extLst>
          </p:cNvPr>
          <p:cNvSpPr>
            <a:spLocks noGrp="1"/>
          </p:cNvSpPr>
          <p:nvPr>
            <p:ph idx="1"/>
          </p:nvPr>
        </p:nvSpPr>
        <p:spPr>
          <a:xfrm>
            <a:off x="838200" y="1420238"/>
            <a:ext cx="10515600" cy="4756725"/>
          </a:xfrm>
        </p:spPr>
        <p:txBody>
          <a:bodyPr>
            <a:normAutofit/>
          </a:bodyPr>
          <a:lstStyle/>
          <a:p>
            <a:r>
              <a:rPr lang="en-US" dirty="0"/>
              <a:t>The transformer decoder is crucial in generating the final output sequence. Without the transformer decoder, there would be no way to generate the output sequence. Without an encoder, the transformer decoder would miss important contextual information, resulting in lower-quality output</a:t>
            </a:r>
          </a:p>
          <a:p>
            <a:r>
              <a:rPr lang="en-US" dirty="0"/>
              <a:t>Similar to encoder Decoder will calculate its “positional embeddings”</a:t>
            </a:r>
          </a:p>
          <a:p>
            <a:r>
              <a:rPr lang="en-US" dirty="0"/>
              <a:t>Two of decoder components are exactly similar to encoder</a:t>
            </a:r>
          </a:p>
          <a:p>
            <a:endParaRPr lang="en-US" dirty="0"/>
          </a:p>
          <a:p>
            <a:r>
              <a:rPr lang="en-US" dirty="0"/>
              <a:t>One is difference is “Attentional block”</a:t>
            </a:r>
          </a:p>
          <a:p>
            <a:r>
              <a:rPr lang="en-US" dirty="0"/>
              <a:t>This is where input and output get related</a:t>
            </a:r>
          </a:p>
          <a:p>
            <a:pPr marL="0" indent="0">
              <a:buNone/>
            </a:pPr>
            <a:endParaRPr lang="en-US" dirty="0"/>
          </a:p>
          <a:p>
            <a:endParaRPr lang="en-US" dirty="0"/>
          </a:p>
          <a:p>
            <a:endParaRPr lang="en-US" dirty="0"/>
          </a:p>
        </p:txBody>
      </p:sp>
      <p:pic>
        <p:nvPicPr>
          <p:cNvPr id="5" name="Picture 4">
            <a:extLst>
              <a:ext uri="{FF2B5EF4-FFF2-40B4-BE49-F238E27FC236}">
                <a16:creationId xmlns:a16="http://schemas.microsoft.com/office/drawing/2014/main" id="{61CDB326-8EBC-43AB-E24C-BC4E7A99BA3B}"/>
              </a:ext>
            </a:extLst>
          </p:cNvPr>
          <p:cNvPicPr>
            <a:picLocks noChangeAspect="1"/>
          </p:cNvPicPr>
          <p:nvPr/>
        </p:nvPicPr>
        <p:blipFill>
          <a:blip r:embed="rId2"/>
          <a:stretch>
            <a:fillRect/>
          </a:stretch>
        </p:blipFill>
        <p:spPr>
          <a:xfrm>
            <a:off x="7873401" y="4639449"/>
            <a:ext cx="3480399" cy="1853426"/>
          </a:xfrm>
          <a:prstGeom prst="rect">
            <a:avLst/>
          </a:prstGeom>
        </p:spPr>
      </p:pic>
    </p:spTree>
    <p:extLst>
      <p:ext uri="{BB962C8B-B14F-4D97-AF65-F5344CB8AC3E}">
        <p14:creationId xmlns:p14="http://schemas.microsoft.com/office/powerpoint/2010/main" val="3327173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D5A3-BE78-87B7-1BB4-FE03E40308C6}"/>
              </a:ext>
            </a:extLst>
          </p:cNvPr>
          <p:cNvSpPr>
            <a:spLocks noGrp="1"/>
          </p:cNvSpPr>
          <p:nvPr>
            <p:ph type="title"/>
          </p:nvPr>
        </p:nvSpPr>
        <p:spPr/>
        <p:txBody>
          <a:bodyPr/>
          <a:lstStyle/>
          <a:p>
            <a:r>
              <a:rPr lang="en-US" dirty="0"/>
              <a:t>Overall Working of Transformers</a:t>
            </a:r>
          </a:p>
        </p:txBody>
      </p:sp>
      <p:pic>
        <p:nvPicPr>
          <p:cNvPr id="5" name="Content Placeholder 4">
            <a:extLst>
              <a:ext uri="{FF2B5EF4-FFF2-40B4-BE49-F238E27FC236}">
                <a16:creationId xmlns:a16="http://schemas.microsoft.com/office/drawing/2014/main" id="{D00A665D-8CC7-7993-7BFF-2A1AFFB4B204}"/>
              </a:ext>
            </a:extLst>
          </p:cNvPr>
          <p:cNvPicPr>
            <a:picLocks noGrp="1" noChangeAspect="1"/>
          </p:cNvPicPr>
          <p:nvPr>
            <p:ph idx="1"/>
          </p:nvPr>
        </p:nvPicPr>
        <p:blipFill>
          <a:blip r:embed="rId2"/>
          <a:stretch>
            <a:fillRect/>
          </a:stretch>
        </p:blipFill>
        <p:spPr>
          <a:xfrm>
            <a:off x="338482" y="2210637"/>
            <a:ext cx="11372620" cy="3537020"/>
          </a:xfrm>
        </p:spPr>
      </p:pic>
    </p:spTree>
    <p:extLst>
      <p:ext uri="{BB962C8B-B14F-4D97-AF65-F5344CB8AC3E}">
        <p14:creationId xmlns:p14="http://schemas.microsoft.com/office/powerpoint/2010/main" val="262820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E95FA-2ADE-6149-E41E-D0C686A5FB40}"/>
              </a:ext>
            </a:extLst>
          </p:cNvPr>
          <p:cNvSpPr>
            <a:spLocks noGrp="1"/>
          </p:cNvSpPr>
          <p:nvPr>
            <p:ph type="title"/>
          </p:nvPr>
        </p:nvSpPr>
        <p:spPr/>
        <p:txBody>
          <a:bodyPr/>
          <a:lstStyle/>
          <a:p>
            <a:r>
              <a:rPr lang="en-US" dirty="0"/>
              <a:t>Example of Hugging Face Transformers</a:t>
            </a:r>
          </a:p>
        </p:txBody>
      </p:sp>
      <p:sp>
        <p:nvSpPr>
          <p:cNvPr id="3" name="Content Placeholder 2">
            <a:extLst>
              <a:ext uri="{FF2B5EF4-FFF2-40B4-BE49-F238E27FC236}">
                <a16:creationId xmlns:a16="http://schemas.microsoft.com/office/drawing/2014/main" id="{39EBF291-DB92-EE22-387E-95AB0EAC6BB2}"/>
              </a:ext>
            </a:extLst>
          </p:cNvPr>
          <p:cNvSpPr>
            <a:spLocks noGrp="1"/>
          </p:cNvSpPr>
          <p:nvPr>
            <p:ph idx="1"/>
          </p:nvPr>
        </p:nvSpPr>
        <p:spPr/>
        <p:txBody>
          <a:bodyPr/>
          <a:lstStyle/>
          <a:p>
            <a:r>
              <a:rPr lang="en-US" dirty="0"/>
              <a:t>Sentiment Analysis</a:t>
            </a:r>
          </a:p>
        </p:txBody>
      </p:sp>
      <p:pic>
        <p:nvPicPr>
          <p:cNvPr id="9" name="Picture 8">
            <a:extLst>
              <a:ext uri="{FF2B5EF4-FFF2-40B4-BE49-F238E27FC236}">
                <a16:creationId xmlns:a16="http://schemas.microsoft.com/office/drawing/2014/main" id="{272D6119-261C-09AF-F89A-F8E2B3DAD479}"/>
              </a:ext>
            </a:extLst>
          </p:cNvPr>
          <p:cNvPicPr>
            <a:picLocks noChangeAspect="1"/>
          </p:cNvPicPr>
          <p:nvPr/>
        </p:nvPicPr>
        <p:blipFill>
          <a:blip r:embed="rId2"/>
          <a:stretch>
            <a:fillRect/>
          </a:stretch>
        </p:blipFill>
        <p:spPr>
          <a:xfrm>
            <a:off x="354624" y="2878956"/>
            <a:ext cx="11575786" cy="2376330"/>
          </a:xfrm>
          <a:prstGeom prst="rect">
            <a:avLst/>
          </a:prstGeom>
        </p:spPr>
      </p:pic>
    </p:spTree>
    <p:extLst>
      <p:ext uri="{BB962C8B-B14F-4D97-AF65-F5344CB8AC3E}">
        <p14:creationId xmlns:p14="http://schemas.microsoft.com/office/powerpoint/2010/main" val="3541019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D000-89F9-F243-551A-32FBA4578CBD}"/>
              </a:ext>
            </a:extLst>
          </p:cNvPr>
          <p:cNvSpPr>
            <a:spLocks noGrp="1"/>
          </p:cNvSpPr>
          <p:nvPr>
            <p:ph type="title"/>
          </p:nvPr>
        </p:nvSpPr>
        <p:spPr/>
        <p:txBody>
          <a:bodyPr/>
          <a:lstStyle/>
          <a:p>
            <a:r>
              <a:rPr lang="en-US" dirty="0"/>
              <a:t>Example of Hugging Face Transformers</a:t>
            </a:r>
          </a:p>
        </p:txBody>
      </p:sp>
      <p:sp>
        <p:nvSpPr>
          <p:cNvPr id="3" name="Content Placeholder 2">
            <a:extLst>
              <a:ext uri="{FF2B5EF4-FFF2-40B4-BE49-F238E27FC236}">
                <a16:creationId xmlns:a16="http://schemas.microsoft.com/office/drawing/2014/main" id="{58DA5AD5-3ED9-C36D-B6C7-CAE07C58956E}"/>
              </a:ext>
            </a:extLst>
          </p:cNvPr>
          <p:cNvSpPr>
            <a:spLocks noGrp="1"/>
          </p:cNvSpPr>
          <p:nvPr>
            <p:ph idx="1"/>
          </p:nvPr>
        </p:nvSpPr>
        <p:spPr/>
        <p:txBody>
          <a:bodyPr/>
          <a:lstStyle/>
          <a:p>
            <a:r>
              <a:rPr lang="en-US" dirty="0"/>
              <a:t>Fake News Detection</a:t>
            </a:r>
          </a:p>
        </p:txBody>
      </p:sp>
      <p:pic>
        <p:nvPicPr>
          <p:cNvPr id="5" name="Picture 4">
            <a:extLst>
              <a:ext uri="{FF2B5EF4-FFF2-40B4-BE49-F238E27FC236}">
                <a16:creationId xmlns:a16="http://schemas.microsoft.com/office/drawing/2014/main" id="{47AECE0F-36C9-F842-14BA-1E95F1BCCC14}"/>
              </a:ext>
            </a:extLst>
          </p:cNvPr>
          <p:cNvPicPr>
            <a:picLocks noChangeAspect="1"/>
          </p:cNvPicPr>
          <p:nvPr/>
        </p:nvPicPr>
        <p:blipFill>
          <a:blip r:embed="rId2"/>
          <a:stretch>
            <a:fillRect/>
          </a:stretch>
        </p:blipFill>
        <p:spPr>
          <a:xfrm>
            <a:off x="1189945" y="2635076"/>
            <a:ext cx="3019425" cy="361950"/>
          </a:xfrm>
          <a:prstGeom prst="rect">
            <a:avLst/>
          </a:prstGeom>
        </p:spPr>
      </p:pic>
      <p:pic>
        <p:nvPicPr>
          <p:cNvPr id="7" name="Picture 6">
            <a:extLst>
              <a:ext uri="{FF2B5EF4-FFF2-40B4-BE49-F238E27FC236}">
                <a16:creationId xmlns:a16="http://schemas.microsoft.com/office/drawing/2014/main" id="{C2AC07F4-9B03-8320-3CBB-98EA8CEBC079}"/>
              </a:ext>
            </a:extLst>
          </p:cNvPr>
          <p:cNvPicPr>
            <a:picLocks noChangeAspect="1"/>
          </p:cNvPicPr>
          <p:nvPr/>
        </p:nvPicPr>
        <p:blipFill>
          <a:blip r:embed="rId3"/>
          <a:stretch>
            <a:fillRect/>
          </a:stretch>
        </p:blipFill>
        <p:spPr>
          <a:xfrm>
            <a:off x="1120653" y="3548769"/>
            <a:ext cx="6715125" cy="1038225"/>
          </a:xfrm>
          <a:prstGeom prst="rect">
            <a:avLst/>
          </a:prstGeom>
        </p:spPr>
      </p:pic>
      <p:pic>
        <p:nvPicPr>
          <p:cNvPr id="9" name="Picture 8">
            <a:extLst>
              <a:ext uri="{FF2B5EF4-FFF2-40B4-BE49-F238E27FC236}">
                <a16:creationId xmlns:a16="http://schemas.microsoft.com/office/drawing/2014/main" id="{CEFBBBE7-E6D6-E87C-0311-935D5B6C0B13}"/>
              </a:ext>
            </a:extLst>
          </p:cNvPr>
          <p:cNvPicPr>
            <a:picLocks noChangeAspect="1"/>
          </p:cNvPicPr>
          <p:nvPr/>
        </p:nvPicPr>
        <p:blipFill>
          <a:blip r:embed="rId4"/>
          <a:stretch>
            <a:fillRect/>
          </a:stretch>
        </p:blipFill>
        <p:spPr>
          <a:xfrm>
            <a:off x="1056492" y="4720170"/>
            <a:ext cx="5476875" cy="2057400"/>
          </a:xfrm>
          <a:prstGeom prst="rect">
            <a:avLst/>
          </a:prstGeom>
        </p:spPr>
      </p:pic>
    </p:spTree>
    <p:extLst>
      <p:ext uri="{BB962C8B-B14F-4D97-AF65-F5344CB8AC3E}">
        <p14:creationId xmlns:p14="http://schemas.microsoft.com/office/powerpoint/2010/main" val="1984806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98F2-34BB-6F6F-DDED-31E72C445571}"/>
              </a:ext>
            </a:extLst>
          </p:cNvPr>
          <p:cNvSpPr>
            <a:spLocks noGrp="1"/>
          </p:cNvSpPr>
          <p:nvPr>
            <p:ph type="title"/>
          </p:nvPr>
        </p:nvSpPr>
        <p:spPr/>
        <p:txBody>
          <a:bodyPr/>
          <a:lstStyle/>
          <a:p>
            <a:r>
              <a:rPr lang="en-US" dirty="0"/>
              <a:t>Example of Hugging Face Transformers</a:t>
            </a:r>
          </a:p>
        </p:txBody>
      </p:sp>
      <p:sp>
        <p:nvSpPr>
          <p:cNvPr id="3" name="Content Placeholder 2">
            <a:extLst>
              <a:ext uri="{FF2B5EF4-FFF2-40B4-BE49-F238E27FC236}">
                <a16:creationId xmlns:a16="http://schemas.microsoft.com/office/drawing/2014/main" id="{B87B56C6-6290-DDDE-F139-393FD28C9339}"/>
              </a:ext>
            </a:extLst>
          </p:cNvPr>
          <p:cNvSpPr>
            <a:spLocks noGrp="1"/>
          </p:cNvSpPr>
          <p:nvPr>
            <p:ph idx="1"/>
          </p:nvPr>
        </p:nvSpPr>
        <p:spPr/>
        <p:txBody>
          <a:bodyPr/>
          <a:lstStyle/>
          <a:p>
            <a:r>
              <a:rPr lang="en-US" dirty="0"/>
              <a:t>Named Entity Recognition (NER)</a:t>
            </a:r>
          </a:p>
        </p:txBody>
      </p:sp>
      <p:pic>
        <p:nvPicPr>
          <p:cNvPr id="5" name="Picture 4">
            <a:extLst>
              <a:ext uri="{FF2B5EF4-FFF2-40B4-BE49-F238E27FC236}">
                <a16:creationId xmlns:a16="http://schemas.microsoft.com/office/drawing/2014/main" id="{F21BF67F-B0CB-CAF6-E1B6-FD0C8CEF80E6}"/>
              </a:ext>
            </a:extLst>
          </p:cNvPr>
          <p:cNvPicPr>
            <a:picLocks noChangeAspect="1"/>
          </p:cNvPicPr>
          <p:nvPr/>
        </p:nvPicPr>
        <p:blipFill>
          <a:blip r:embed="rId2"/>
          <a:stretch>
            <a:fillRect/>
          </a:stretch>
        </p:blipFill>
        <p:spPr>
          <a:xfrm>
            <a:off x="1172689" y="2513484"/>
            <a:ext cx="3095625" cy="352425"/>
          </a:xfrm>
          <a:prstGeom prst="rect">
            <a:avLst/>
          </a:prstGeom>
        </p:spPr>
      </p:pic>
      <p:pic>
        <p:nvPicPr>
          <p:cNvPr id="11" name="Picture 10">
            <a:extLst>
              <a:ext uri="{FF2B5EF4-FFF2-40B4-BE49-F238E27FC236}">
                <a16:creationId xmlns:a16="http://schemas.microsoft.com/office/drawing/2014/main" id="{E7ACFE8C-BE02-AA51-968B-AA5969D080D4}"/>
              </a:ext>
            </a:extLst>
          </p:cNvPr>
          <p:cNvPicPr>
            <a:picLocks noChangeAspect="1"/>
          </p:cNvPicPr>
          <p:nvPr/>
        </p:nvPicPr>
        <p:blipFill>
          <a:blip r:embed="rId3"/>
          <a:stretch>
            <a:fillRect/>
          </a:stretch>
        </p:blipFill>
        <p:spPr>
          <a:xfrm>
            <a:off x="1172689" y="3000845"/>
            <a:ext cx="10715226" cy="2971937"/>
          </a:xfrm>
          <a:prstGeom prst="rect">
            <a:avLst/>
          </a:prstGeom>
        </p:spPr>
      </p:pic>
    </p:spTree>
    <p:extLst>
      <p:ext uri="{BB962C8B-B14F-4D97-AF65-F5344CB8AC3E}">
        <p14:creationId xmlns:p14="http://schemas.microsoft.com/office/powerpoint/2010/main" val="2115605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7907D-0D17-30FA-D00C-488BCE28C601}"/>
              </a:ext>
            </a:extLst>
          </p:cNvPr>
          <p:cNvSpPr>
            <a:spLocks noGrp="1"/>
          </p:cNvSpPr>
          <p:nvPr>
            <p:ph type="title"/>
          </p:nvPr>
        </p:nvSpPr>
        <p:spPr/>
        <p:txBody>
          <a:bodyPr/>
          <a:lstStyle/>
          <a:p>
            <a:r>
              <a:rPr lang="en-US" dirty="0"/>
              <a:t>Example of Hugging Face Transformers</a:t>
            </a:r>
          </a:p>
        </p:txBody>
      </p:sp>
      <p:sp>
        <p:nvSpPr>
          <p:cNvPr id="3" name="Content Placeholder 2">
            <a:extLst>
              <a:ext uri="{FF2B5EF4-FFF2-40B4-BE49-F238E27FC236}">
                <a16:creationId xmlns:a16="http://schemas.microsoft.com/office/drawing/2014/main" id="{75E5149D-8DBF-819D-20B8-E766DB76BACF}"/>
              </a:ext>
            </a:extLst>
          </p:cNvPr>
          <p:cNvSpPr>
            <a:spLocks noGrp="1"/>
          </p:cNvSpPr>
          <p:nvPr>
            <p:ph idx="1"/>
          </p:nvPr>
        </p:nvSpPr>
        <p:spPr/>
        <p:txBody>
          <a:bodyPr/>
          <a:lstStyle/>
          <a:p>
            <a:r>
              <a:rPr lang="en-US" dirty="0"/>
              <a:t>Question-Answering Chatbot (contextual learning)</a:t>
            </a:r>
          </a:p>
        </p:txBody>
      </p:sp>
      <p:pic>
        <p:nvPicPr>
          <p:cNvPr id="5" name="Picture 4">
            <a:extLst>
              <a:ext uri="{FF2B5EF4-FFF2-40B4-BE49-F238E27FC236}">
                <a16:creationId xmlns:a16="http://schemas.microsoft.com/office/drawing/2014/main" id="{6DD154A0-8A9C-3825-2240-63301B2F350B}"/>
              </a:ext>
            </a:extLst>
          </p:cNvPr>
          <p:cNvPicPr>
            <a:picLocks noChangeAspect="1"/>
          </p:cNvPicPr>
          <p:nvPr/>
        </p:nvPicPr>
        <p:blipFill>
          <a:blip r:embed="rId2"/>
          <a:stretch>
            <a:fillRect/>
          </a:stretch>
        </p:blipFill>
        <p:spPr>
          <a:xfrm>
            <a:off x="581025" y="2950926"/>
            <a:ext cx="11029950" cy="2609850"/>
          </a:xfrm>
          <a:prstGeom prst="rect">
            <a:avLst/>
          </a:prstGeom>
        </p:spPr>
      </p:pic>
    </p:spTree>
    <p:extLst>
      <p:ext uri="{BB962C8B-B14F-4D97-AF65-F5344CB8AC3E}">
        <p14:creationId xmlns:p14="http://schemas.microsoft.com/office/powerpoint/2010/main" val="784049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1857-8F49-9578-E87E-0D295B0157D2}"/>
              </a:ext>
            </a:extLst>
          </p:cNvPr>
          <p:cNvSpPr>
            <a:spLocks noGrp="1"/>
          </p:cNvSpPr>
          <p:nvPr>
            <p:ph type="title"/>
          </p:nvPr>
        </p:nvSpPr>
        <p:spPr/>
        <p:txBody>
          <a:bodyPr/>
          <a:lstStyle/>
          <a:p>
            <a:r>
              <a:rPr lang="en-US" dirty="0"/>
              <a:t>Class Activity </a:t>
            </a:r>
          </a:p>
        </p:txBody>
      </p:sp>
      <p:sp>
        <p:nvSpPr>
          <p:cNvPr id="3" name="Content Placeholder 2">
            <a:extLst>
              <a:ext uri="{FF2B5EF4-FFF2-40B4-BE49-F238E27FC236}">
                <a16:creationId xmlns:a16="http://schemas.microsoft.com/office/drawing/2014/main" id="{F065FDFF-23A0-17F0-7738-28AC0E077B83}"/>
              </a:ext>
            </a:extLst>
          </p:cNvPr>
          <p:cNvSpPr>
            <a:spLocks noGrp="1"/>
          </p:cNvSpPr>
          <p:nvPr>
            <p:ph idx="1"/>
          </p:nvPr>
        </p:nvSpPr>
        <p:spPr/>
        <p:txBody>
          <a:bodyPr/>
          <a:lstStyle/>
          <a:p>
            <a:r>
              <a:rPr lang="en-US" dirty="0"/>
              <a:t>Move on this website: </a:t>
            </a:r>
            <a:r>
              <a:rPr lang="en-US" dirty="0">
                <a:hlinkClick r:id="rId2"/>
              </a:rPr>
              <a:t>https://huggingface.co/docs/transformers/v4.15.0/task_summary</a:t>
            </a:r>
            <a:endParaRPr lang="en-US" dirty="0"/>
          </a:p>
          <a:p>
            <a:endParaRPr lang="en-US" dirty="0"/>
          </a:p>
          <a:p>
            <a:r>
              <a:rPr lang="en-US" dirty="0"/>
              <a:t>Text Summarization (Group 1)</a:t>
            </a:r>
          </a:p>
          <a:p>
            <a:r>
              <a:rPr lang="en-US" dirty="0"/>
              <a:t>Text Generation (Group 2)</a:t>
            </a:r>
          </a:p>
          <a:p>
            <a:endParaRPr lang="en-US" dirty="0"/>
          </a:p>
          <a:p>
            <a:endParaRPr lang="en-US" dirty="0"/>
          </a:p>
        </p:txBody>
      </p:sp>
    </p:spTree>
    <p:extLst>
      <p:ext uri="{BB962C8B-B14F-4D97-AF65-F5344CB8AC3E}">
        <p14:creationId xmlns:p14="http://schemas.microsoft.com/office/powerpoint/2010/main" val="3671821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2466-13A7-4134-5450-A83D009DE5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74F8DA-09FA-03FF-25C0-656627EBD704}"/>
              </a:ext>
            </a:extLst>
          </p:cNvPr>
          <p:cNvSpPr>
            <a:spLocks noGrp="1"/>
          </p:cNvSpPr>
          <p:nvPr>
            <p:ph idx="1"/>
          </p:nvPr>
        </p:nvSpPr>
        <p:spPr/>
        <p:txBody>
          <a:bodyPr/>
          <a:lstStyle/>
          <a:p>
            <a:r>
              <a:rPr lang="en-US"/>
              <a:t>Thanks</a:t>
            </a:r>
          </a:p>
        </p:txBody>
      </p:sp>
    </p:spTree>
    <p:extLst>
      <p:ext uri="{BB962C8B-B14F-4D97-AF65-F5344CB8AC3E}">
        <p14:creationId xmlns:p14="http://schemas.microsoft.com/office/powerpoint/2010/main" val="285890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868</Words>
  <Application>Microsoft Office PowerPoint</Application>
  <PresentationFormat>Widescreen</PresentationFormat>
  <Paragraphs>112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Google Sans</vt:lpstr>
      <vt:lpstr>Office Theme</vt:lpstr>
      <vt:lpstr>Transformer</vt:lpstr>
      <vt:lpstr>Transformer</vt:lpstr>
      <vt:lpstr>RNN</vt:lpstr>
      <vt:lpstr>Vector to Sequence Model</vt:lpstr>
      <vt:lpstr>Sequence to Vector Model</vt:lpstr>
      <vt:lpstr>Sequence to Sequence Model</vt:lpstr>
      <vt:lpstr>Problem in Classical RNN</vt:lpstr>
      <vt:lpstr>Transformer</vt:lpstr>
      <vt:lpstr>Encoder-Decoder Architecture</vt:lpstr>
      <vt:lpstr>Transformer</vt:lpstr>
      <vt:lpstr>How to achieve parallelization </vt:lpstr>
      <vt:lpstr>Transformers</vt:lpstr>
      <vt:lpstr>Working of Positional Encoder</vt:lpstr>
      <vt:lpstr>Encoder Block</vt:lpstr>
      <vt:lpstr>Multi-Head attention layer</vt:lpstr>
      <vt:lpstr>Feed Forward NN</vt:lpstr>
      <vt:lpstr>Decoder</vt:lpstr>
      <vt:lpstr>Overall Working of Transformers</vt:lpstr>
      <vt:lpstr>Example of Hugging Face Transformers</vt:lpstr>
      <vt:lpstr>Example of Hugging Face Transformers</vt:lpstr>
      <vt:lpstr>Example of Hugging Face Transformers</vt:lpstr>
      <vt:lpstr>Example of Hugging Face Transformers</vt:lpstr>
      <vt:lpstr>Class Activity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Saeed</dc:creator>
  <cp:lastModifiedBy>Dr Ali Saeed</cp:lastModifiedBy>
  <cp:revision>92</cp:revision>
  <dcterms:created xsi:type="dcterms:W3CDTF">2023-06-14T07:40:16Z</dcterms:created>
  <dcterms:modified xsi:type="dcterms:W3CDTF">2024-01-22T14:57:09Z</dcterms:modified>
</cp:coreProperties>
</file>