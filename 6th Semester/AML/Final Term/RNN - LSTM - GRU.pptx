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34CD0-4590-FCBF-23C4-E19A30F112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7D213A-F8EB-A4D1-3282-8425862253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C4615D-2CB4-EB11-5D19-AD614BE28DF2}"/>
              </a:ext>
            </a:extLst>
          </p:cNvPr>
          <p:cNvSpPr>
            <a:spLocks noGrp="1"/>
          </p:cNvSpPr>
          <p:nvPr>
            <p:ph type="dt" sz="half" idx="10"/>
          </p:nvPr>
        </p:nvSpPr>
        <p:spPr/>
        <p:txBody>
          <a:bodyPr/>
          <a:lstStyle/>
          <a:p>
            <a:fld id="{0475061F-9F09-46AD-B746-9A4E35ABF417}" type="datetimeFigureOut">
              <a:rPr lang="en-US" smtClean="0"/>
              <a:t>1/19/2023</a:t>
            </a:fld>
            <a:endParaRPr lang="en-US"/>
          </a:p>
        </p:txBody>
      </p:sp>
      <p:sp>
        <p:nvSpPr>
          <p:cNvPr id="5" name="Footer Placeholder 4">
            <a:extLst>
              <a:ext uri="{FF2B5EF4-FFF2-40B4-BE49-F238E27FC236}">
                <a16:creationId xmlns:a16="http://schemas.microsoft.com/office/drawing/2014/main" id="{24315B8D-00E6-D10B-E110-4C65857E75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24FFA2-FA03-E5C1-F14B-1B3B7CEE8BAA}"/>
              </a:ext>
            </a:extLst>
          </p:cNvPr>
          <p:cNvSpPr>
            <a:spLocks noGrp="1"/>
          </p:cNvSpPr>
          <p:nvPr>
            <p:ph type="sldNum" sz="quarter" idx="12"/>
          </p:nvPr>
        </p:nvSpPr>
        <p:spPr/>
        <p:txBody>
          <a:bodyPr/>
          <a:lstStyle/>
          <a:p>
            <a:fld id="{87F2248F-5CCD-46B0-8697-753FF3930DE9}" type="slidenum">
              <a:rPr lang="en-US" smtClean="0"/>
              <a:t>‹#›</a:t>
            </a:fld>
            <a:endParaRPr lang="en-US"/>
          </a:p>
        </p:txBody>
      </p:sp>
    </p:spTree>
    <p:extLst>
      <p:ext uri="{BB962C8B-B14F-4D97-AF65-F5344CB8AC3E}">
        <p14:creationId xmlns:p14="http://schemas.microsoft.com/office/powerpoint/2010/main" val="1416074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9DC3C-26E0-BE66-42F6-962326749C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9C0DC2-73A0-4F39-5C29-558FD444A4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93692D-0971-482A-5176-EAFBF3A44B53}"/>
              </a:ext>
            </a:extLst>
          </p:cNvPr>
          <p:cNvSpPr>
            <a:spLocks noGrp="1"/>
          </p:cNvSpPr>
          <p:nvPr>
            <p:ph type="dt" sz="half" idx="10"/>
          </p:nvPr>
        </p:nvSpPr>
        <p:spPr/>
        <p:txBody>
          <a:bodyPr/>
          <a:lstStyle/>
          <a:p>
            <a:fld id="{0475061F-9F09-46AD-B746-9A4E35ABF417}" type="datetimeFigureOut">
              <a:rPr lang="en-US" smtClean="0"/>
              <a:t>1/19/2023</a:t>
            </a:fld>
            <a:endParaRPr lang="en-US"/>
          </a:p>
        </p:txBody>
      </p:sp>
      <p:sp>
        <p:nvSpPr>
          <p:cNvPr id="5" name="Footer Placeholder 4">
            <a:extLst>
              <a:ext uri="{FF2B5EF4-FFF2-40B4-BE49-F238E27FC236}">
                <a16:creationId xmlns:a16="http://schemas.microsoft.com/office/drawing/2014/main" id="{53F4F758-AC65-7D1D-BCCC-F9F618A46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A8DD1D-5AB4-B1AA-FE60-76134A29E38F}"/>
              </a:ext>
            </a:extLst>
          </p:cNvPr>
          <p:cNvSpPr>
            <a:spLocks noGrp="1"/>
          </p:cNvSpPr>
          <p:nvPr>
            <p:ph type="sldNum" sz="quarter" idx="12"/>
          </p:nvPr>
        </p:nvSpPr>
        <p:spPr/>
        <p:txBody>
          <a:bodyPr/>
          <a:lstStyle/>
          <a:p>
            <a:fld id="{87F2248F-5CCD-46B0-8697-753FF3930DE9}" type="slidenum">
              <a:rPr lang="en-US" smtClean="0"/>
              <a:t>‹#›</a:t>
            </a:fld>
            <a:endParaRPr lang="en-US"/>
          </a:p>
        </p:txBody>
      </p:sp>
    </p:spTree>
    <p:extLst>
      <p:ext uri="{BB962C8B-B14F-4D97-AF65-F5344CB8AC3E}">
        <p14:creationId xmlns:p14="http://schemas.microsoft.com/office/powerpoint/2010/main" val="3833977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DF8C6-785D-594B-DE30-FADF493A51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059FA4-6A04-7B3B-156F-801AECFD8E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3B7B28-09DD-C817-1F8E-EE2F2BEEFE06}"/>
              </a:ext>
            </a:extLst>
          </p:cNvPr>
          <p:cNvSpPr>
            <a:spLocks noGrp="1"/>
          </p:cNvSpPr>
          <p:nvPr>
            <p:ph type="dt" sz="half" idx="10"/>
          </p:nvPr>
        </p:nvSpPr>
        <p:spPr/>
        <p:txBody>
          <a:bodyPr/>
          <a:lstStyle/>
          <a:p>
            <a:fld id="{0475061F-9F09-46AD-B746-9A4E35ABF417}" type="datetimeFigureOut">
              <a:rPr lang="en-US" smtClean="0"/>
              <a:t>1/19/2023</a:t>
            </a:fld>
            <a:endParaRPr lang="en-US"/>
          </a:p>
        </p:txBody>
      </p:sp>
      <p:sp>
        <p:nvSpPr>
          <p:cNvPr id="5" name="Footer Placeholder 4">
            <a:extLst>
              <a:ext uri="{FF2B5EF4-FFF2-40B4-BE49-F238E27FC236}">
                <a16:creationId xmlns:a16="http://schemas.microsoft.com/office/drawing/2014/main" id="{7BB648AB-2844-CF86-F164-C74700C44F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657BF9-BBFC-17D3-B4F6-2BA33ED4CD88}"/>
              </a:ext>
            </a:extLst>
          </p:cNvPr>
          <p:cNvSpPr>
            <a:spLocks noGrp="1"/>
          </p:cNvSpPr>
          <p:nvPr>
            <p:ph type="sldNum" sz="quarter" idx="12"/>
          </p:nvPr>
        </p:nvSpPr>
        <p:spPr/>
        <p:txBody>
          <a:bodyPr/>
          <a:lstStyle/>
          <a:p>
            <a:fld id="{87F2248F-5CCD-46B0-8697-753FF3930DE9}" type="slidenum">
              <a:rPr lang="en-US" smtClean="0"/>
              <a:t>‹#›</a:t>
            </a:fld>
            <a:endParaRPr lang="en-US"/>
          </a:p>
        </p:txBody>
      </p:sp>
    </p:spTree>
    <p:extLst>
      <p:ext uri="{BB962C8B-B14F-4D97-AF65-F5344CB8AC3E}">
        <p14:creationId xmlns:p14="http://schemas.microsoft.com/office/powerpoint/2010/main" val="223943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B5D2E-7A71-84BC-E7BB-2D516D50F0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FB30A4-D52D-C60F-CB89-97A280D204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F705DB-1953-B27A-BEEE-500A158450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7989BD-0909-96E1-C15A-C9F31EA6226B}"/>
              </a:ext>
            </a:extLst>
          </p:cNvPr>
          <p:cNvSpPr>
            <a:spLocks noGrp="1"/>
          </p:cNvSpPr>
          <p:nvPr>
            <p:ph type="dt" sz="half" idx="10"/>
          </p:nvPr>
        </p:nvSpPr>
        <p:spPr/>
        <p:txBody>
          <a:bodyPr/>
          <a:lstStyle/>
          <a:p>
            <a:fld id="{0475061F-9F09-46AD-B746-9A4E35ABF417}" type="datetimeFigureOut">
              <a:rPr lang="en-US" smtClean="0"/>
              <a:t>1/19/2023</a:t>
            </a:fld>
            <a:endParaRPr lang="en-US"/>
          </a:p>
        </p:txBody>
      </p:sp>
      <p:sp>
        <p:nvSpPr>
          <p:cNvPr id="6" name="Footer Placeholder 5">
            <a:extLst>
              <a:ext uri="{FF2B5EF4-FFF2-40B4-BE49-F238E27FC236}">
                <a16:creationId xmlns:a16="http://schemas.microsoft.com/office/drawing/2014/main" id="{B3F4C91A-B37B-3EE7-CFD3-A50E4C25AB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96349F-9B90-5568-6EFD-7F83CAFE176B}"/>
              </a:ext>
            </a:extLst>
          </p:cNvPr>
          <p:cNvSpPr>
            <a:spLocks noGrp="1"/>
          </p:cNvSpPr>
          <p:nvPr>
            <p:ph type="sldNum" sz="quarter" idx="12"/>
          </p:nvPr>
        </p:nvSpPr>
        <p:spPr/>
        <p:txBody>
          <a:bodyPr/>
          <a:lstStyle/>
          <a:p>
            <a:fld id="{87F2248F-5CCD-46B0-8697-753FF3930DE9}" type="slidenum">
              <a:rPr lang="en-US" smtClean="0"/>
              <a:t>‹#›</a:t>
            </a:fld>
            <a:endParaRPr lang="en-US"/>
          </a:p>
        </p:txBody>
      </p:sp>
    </p:spTree>
    <p:extLst>
      <p:ext uri="{BB962C8B-B14F-4D97-AF65-F5344CB8AC3E}">
        <p14:creationId xmlns:p14="http://schemas.microsoft.com/office/powerpoint/2010/main" val="409197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9BE86-E326-E4F1-2DB1-286C643A10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4E9774B-DF8C-5068-10EF-DF83871B90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07E413-15BF-DB56-E960-B144753E9C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D78995-FC16-8889-61BF-62C39C75F5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24F908-118F-3DFB-1B7F-455E1BC161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6D9D47-E87D-20BA-AAEE-72A12421EEAB}"/>
              </a:ext>
            </a:extLst>
          </p:cNvPr>
          <p:cNvSpPr>
            <a:spLocks noGrp="1"/>
          </p:cNvSpPr>
          <p:nvPr>
            <p:ph type="dt" sz="half" idx="10"/>
          </p:nvPr>
        </p:nvSpPr>
        <p:spPr/>
        <p:txBody>
          <a:bodyPr/>
          <a:lstStyle/>
          <a:p>
            <a:fld id="{0475061F-9F09-46AD-B746-9A4E35ABF417}" type="datetimeFigureOut">
              <a:rPr lang="en-US" smtClean="0"/>
              <a:t>1/19/2023</a:t>
            </a:fld>
            <a:endParaRPr lang="en-US"/>
          </a:p>
        </p:txBody>
      </p:sp>
      <p:sp>
        <p:nvSpPr>
          <p:cNvPr id="8" name="Footer Placeholder 7">
            <a:extLst>
              <a:ext uri="{FF2B5EF4-FFF2-40B4-BE49-F238E27FC236}">
                <a16:creationId xmlns:a16="http://schemas.microsoft.com/office/drawing/2014/main" id="{FE5259CC-F6DC-44CC-3D69-00F15C6A53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570751-1862-D370-E56D-4AD3D6BC0237}"/>
              </a:ext>
            </a:extLst>
          </p:cNvPr>
          <p:cNvSpPr>
            <a:spLocks noGrp="1"/>
          </p:cNvSpPr>
          <p:nvPr>
            <p:ph type="sldNum" sz="quarter" idx="12"/>
          </p:nvPr>
        </p:nvSpPr>
        <p:spPr/>
        <p:txBody>
          <a:bodyPr/>
          <a:lstStyle/>
          <a:p>
            <a:fld id="{87F2248F-5CCD-46B0-8697-753FF3930DE9}" type="slidenum">
              <a:rPr lang="en-US" smtClean="0"/>
              <a:t>‹#›</a:t>
            </a:fld>
            <a:endParaRPr lang="en-US"/>
          </a:p>
        </p:txBody>
      </p:sp>
    </p:spTree>
    <p:extLst>
      <p:ext uri="{BB962C8B-B14F-4D97-AF65-F5344CB8AC3E}">
        <p14:creationId xmlns:p14="http://schemas.microsoft.com/office/powerpoint/2010/main" val="4192367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B094C-E718-AC58-7595-76FCD34AFB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3CA8A5-376E-232B-77E8-33BE9196E679}"/>
              </a:ext>
            </a:extLst>
          </p:cNvPr>
          <p:cNvSpPr>
            <a:spLocks noGrp="1"/>
          </p:cNvSpPr>
          <p:nvPr>
            <p:ph type="dt" sz="half" idx="10"/>
          </p:nvPr>
        </p:nvSpPr>
        <p:spPr/>
        <p:txBody>
          <a:bodyPr/>
          <a:lstStyle/>
          <a:p>
            <a:fld id="{0475061F-9F09-46AD-B746-9A4E35ABF417}" type="datetimeFigureOut">
              <a:rPr lang="en-US" smtClean="0"/>
              <a:t>1/19/2023</a:t>
            </a:fld>
            <a:endParaRPr lang="en-US"/>
          </a:p>
        </p:txBody>
      </p:sp>
      <p:sp>
        <p:nvSpPr>
          <p:cNvPr id="4" name="Footer Placeholder 3">
            <a:extLst>
              <a:ext uri="{FF2B5EF4-FFF2-40B4-BE49-F238E27FC236}">
                <a16:creationId xmlns:a16="http://schemas.microsoft.com/office/drawing/2014/main" id="{55561C0C-460A-B9D8-585A-5EB2AB70A4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EEBD18-C8DC-D278-E4AF-00BBD43C49CE}"/>
              </a:ext>
            </a:extLst>
          </p:cNvPr>
          <p:cNvSpPr>
            <a:spLocks noGrp="1"/>
          </p:cNvSpPr>
          <p:nvPr>
            <p:ph type="sldNum" sz="quarter" idx="12"/>
          </p:nvPr>
        </p:nvSpPr>
        <p:spPr/>
        <p:txBody>
          <a:bodyPr/>
          <a:lstStyle/>
          <a:p>
            <a:fld id="{87F2248F-5CCD-46B0-8697-753FF3930DE9}" type="slidenum">
              <a:rPr lang="en-US" smtClean="0"/>
              <a:t>‹#›</a:t>
            </a:fld>
            <a:endParaRPr lang="en-US"/>
          </a:p>
        </p:txBody>
      </p:sp>
    </p:spTree>
    <p:extLst>
      <p:ext uri="{BB962C8B-B14F-4D97-AF65-F5344CB8AC3E}">
        <p14:creationId xmlns:p14="http://schemas.microsoft.com/office/powerpoint/2010/main" val="4186465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543265-6466-5078-E5FD-45B8A9B7118D}"/>
              </a:ext>
            </a:extLst>
          </p:cNvPr>
          <p:cNvSpPr>
            <a:spLocks noGrp="1"/>
          </p:cNvSpPr>
          <p:nvPr>
            <p:ph type="dt" sz="half" idx="10"/>
          </p:nvPr>
        </p:nvSpPr>
        <p:spPr/>
        <p:txBody>
          <a:bodyPr/>
          <a:lstStyle/>
          <a:p>
            <a:fld id="{0475061F-9F09-46AD-B746-9A4E35ABF417}" type="datetimeFigureOut">
              <a:rPr lang="en-US" smtClean="0"/>
              <a:t>1/19/2023</a:t>
            </a:fld>
            <a:endParaRPr lang="en-US"/>
          </a:p>
        </p:txBody>
      </p:sp>
      <p:sp>
        <p:nvSpPr>
          <p:cNvPr id="3" name="Footer Placeholder 2">
            <a:extLst>
              <a:ext uri="{FF2B5EF4-FFF2-40B4-BE49-F238E27FC236}">
                <a16:creationId xmlns:a16="http://schemas.microsoft.com/office/drawing/2014/main" id="{D421CD54-94A5-018B-11C0-EFC5AE7282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A09EFF-6D49-86AF-D5E9-217F98040DE0}"/>
              </a:ext>
            </a:extLst>
          </p:cNvPr>
          <p:cNvSpPr>
            <a:spLocks noGrp="1"/>
          </p:cNvSpPr>
          <p:nvPr>
            <p:ph type="sldNum" sz="quarter" idx="12"/>
          </p:nvPr>
        </p:nvSpPr>
        <p:spPr/>
        <p:txBody>
          <a:bodyPr/>
          <a:lstStyle/>
          <a:p>
            <a:fld id="{87F2248F-5CCD-46B0-8697-753FF3930DE9}" type="slidenum">
              <a:rPr lang="en-US" smtClean="0"/>
              <a:t>‹#›</a:t>
            </a:fld>
            <a:endParaRPr lang="en-US"/>
          </a:p>
        </p:txBody>
      </p:sp>
    </p:spTree>
    <p:extLst>
      <p:ext uri="{BB962C8B-B14F-4D97-AF65-F5344CB8AC3E}">
        <p14:creationId xmlns:p14="http://schemas.microsoft.com/office/powerpoint/2010/main" val="1688613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E9DCF-886F-2460-6335-6BE66B3855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DF58BA-D0A8-299C-35DC-51530E2415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959293-AB0D-9EB1-9DC3-D84DFA2606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69AB74-5DFD-3E08-3438-23E6DF9D52C4}"/>
              </a:ext>
            </a:extLst>
          </p:cNvPr>
          <p:cNvSpPr>
            <a:spLocks noGrp="1"/>
          </p:cNvSpPr>
          <p:nvPr>
            <p:ph type="dt" sz="half" idx="10"/>
          </p:nvPr>
        </p:nvSpPr>
        <p:spPr/>
        <p:txBody>
          <a:bodyPr/>
          <a:lstStyle/>
          <a:p>
            <a:fld id="{0475061F-9F09-46AD-B746-9A4E35ABF417}" type="datetimeFigureOut">
              <a:rPr lang="en-US" smtClean="0"/>
              <a:t>1/19/2023</a:t>
            </a:fld>
            <a:endParaRPr lang="en-US"/>
          </a:p>
        </p:txBody>
      </p:sp>
      <p:sp>
        <p:nvSpPr>
          <p:cNvPr id="6" name="Footer Placeholder 5">
            <a:extLst>
              <a:ext uri="{FF2B5EF4-FFF2-40B4-BE49-F238E27FC236}">
                <a16:creationId xmlns:a16="http://schemas.microsoft.com/office/drawing/2014/main" id="{FF4E0271-6A41-DB23-2336-C49425DF5D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98C90-9374-A788-C3C6-096E28306767}"/>
              </a:ext>
            </a:extLst>
          </p:cNvPr>
          <p:cNvSpPr>
            <a:spLocks noGrp="1"/>
          </p:cNvSpPr>
          <p:nvPr>
            <p:ph type="sldNum" sz="quarter" idx="12"/>
          </p:nvPr>
        </p:nvSpPr>
        <p:spPr/>
        <p:txBody>
          <a:bodyPr/>
          <a:lstStyle/>
          <a:p>
            <a:fld id="{87F2248F-5CCD-46B0-8697-753FF3930DE9}" type="slidenum">
              <a:rPr lang="en-US" smtClean="0"/>
              <a:t>‹#›</a:t>
            </a:fld>
            <a:endParaRPr lang="en-US"/>
          </a:p>
        </p:txBody>
      </p:sp>
    </p:spTree>
    <p:extLst>
      <p:ext uri="{BB962C8B-B14F-4D97-AF65-F5344CB8AC3E}">
        <p14:creationId xmlns:p14="http://schemas.microsoft.com/office/powerpoint/2010/main" val="4029618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D2B0A-128E-4CC4-D61E-29C0D5F32E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5C2342-EAD8-0C49-EF3F-CFCD66AEF7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78B517-20F6-0585-B1BE-997F4F7CF6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B6452D-1E1A-5DA0-93C3-AC1F777A5F6B}"/>
              </a:ext>
            </a:extLst>
          </p:cNvPr>
          <p:cNvSpPr>
            <a:spLocks noGrp="1"/>
          </p:cNvSpPr>
          <p:nvPr>
            <p:ph type="dt" sz="half" idx="10"/>
          </p:nvPr>
        </p:nvSpPr>
        <p:spPr/>
        <p:txBody>
          <a:bodyPr/>
          <a:lstStyle/>
          <a:p>
            <a:fld id="{0475061F-9F09-46AD-B746-9A4E35ABF417}" type="datetimeFigureOut">
              <a:rPr lang="en-US" smtClean="0"/>
              <a:t>1/19/2023</a:t>
            </a:fld>
            <a:endParaRPr lang="en-US"/>
          </a:p>
        </p:txBody>
      </p:sp>
      <p:sp>
        <p:nvSpPr>
          <p:cNvPr id="6" name="Footer Placeholder 5">
            <a:extLst>
              <a:ext uri="{FF2B5EF4-FFF2-40B4-BE49-F238E27FC236}">
                <a16:creationId xmlns:a16="http://schemas.microsoft.com/office/drawing/2014/main" id="{24F5A269-741B-377A-A3FD-19489D091E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18AAB6-5BF7-75A7-C9C7-45DB6886517A}"/>
              </a:ext>
            </a:extLst>
          </p:cNvPr>
          <p:cNvSpPr>
            <a:spLocks noGrp="1"/>
          </p:cNvSpPr>
          <p:nvPr>
            <p:ph type="sldNum" sz="quarter" idx="12"/>
          </p:nvPr>
        </p:nvSpPr>
        <p:spPr/>
        <p:txBody>
          <a:bodyPr/>
          <a:lstStyle/>
          <a:p>
            <a:fld id="{87F2248F-5CCD-46B0-8697-753FF3930DE9}" type="slidenum">
              <a:rPr lang="en-US" smtClean="0"/>
              <a:t>‹#›</a:t>
            </a:fld>
            <a:endParaRPr lang="en-US"/>
          </a:p>
        </p:txBody>
      </p:sp>
    </p:spTree>
    <p:extLst>
      <p:ext uri="{BB962C8B-B14F-4D97-AF65-F5344CB8AC3E}">
        <p14:creationId xmlns:p14="http://schemas.microsoft.com/office/powerpoint/2010/main" val="3966463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9ABA4-8773-00CF-06CD-D0BD52E152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B87A10-B971-6B7B-27A8-B3F4BF89BB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339C7A-CF14-EB62-9162-8B2F80AAC132}"/>
              </a:ext>
            </a:extLst>
          </p:cNvPr>
          <p:cNvSpPr>
            <a:spLocks noGrp="1"/>
          </p:cNvSpPr>
          <p:nvPr>
            <p:ph type="dt" sz="half" idx="10"/>
          </p:nvPr>
        </p:nvSpPr>
        <p:spPr/>
        <p:txBody>
          <a:bodyPr/>
          <a:lstStyle/>
          <a:p>
            <a:fld id="{0475061F-9F09-46AD-B746-9A4E35ABF417}" type="datetimeFigureOut">
              <a:rPr lang="en-US" smtClean="0"/>
              <a:t>1/19/2023</a:t>
            </a:fld>
            <a:endParaRPr lang="en-US"/>
          </a:p>
        </p:txBody>
      </p:sp>
      <p:sp>
        <p:nvSpPr>
          <p:cNvPr id="5" name="Footer Placeholder 4">
            <a:extLst>
              <a:ext uri="{FF2B5EF4-FFF2-40B4-BE49-F238E27FC236}">
                <a16:creationId xmlns:a16="http://schemas.microsoft.com/office/drawing/2014/main" id="{CF482497-5252-8CA7-39FD-CB1C5DF088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8F5D2D-1F91-419E-3A65-DB10C70C3079}"/>
              </a:ext>
            </a:extLst>
          </p:cNvPr>
          <p:cNvSpPr>
            <a:spLocks noGrp="1"/>
          </p:cNvSpPr>
          <p:nvPr>
            <p:ph type="sldNum" sz="quarter" idx="12"/>
          </p:nvPr>
        </p:nvSpPr>
        <p:spPr/>
        <p:txBody>
          <a:bodyPr/>
          <a:lstStyle/>
          <a:p>
            <a:fld id="{87F2248F-5CCD-46B0-8697-753FF3930DE9}" type="slidenum">
              <a:rPr lang="en-US" smtClean="0"/>
              <a:t>‹#›</a:t>
            </a:fld>
            <a:endParaRPr lang="en-US"/>
          </a:p>
        </p:txBody>
      </p:sp>
    </p:spTree>
    <p:extLst>
      <p:ext uri="{BB962C8B-B14F-4D97-AF65-F5344CB8AC3E}">
        <p14:creationId xmlns:p14="http://schemas.microsoft.com/office/powerpoint/2010/main" val="77380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889C46-9544-C253-EB59-F30E1DA3B2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76E97F-BC98-F695-A2E1-ED0610E87A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2F723C-84F6-D772-91AA-5C7591069C39}"/>
              </a:ext>
            </a:extLst>
          </p:cNvPr>
          <p:cNvSpPr>
            <a:spLocks noGrp="1"/>
          </p:cNvSpPr>
          <p:nvPr>
            <p:ph type="dt" sz="half" idx="10"/>
          </p:nvPr>
        </p:nvSpPr>
        <p:spPr/>
        <p:txBody>
          <a:bodyPr/>
          <a:lstStyle/>
          <a:p>
            <a:fld id="{0475061F-9F09-46AD-B746-9A4E35ABF417}" type="datetimeFigureOut">
              <a:rPr lang="en-US" smtClean="0"/>
              <a:t>1/19/2023</a:t>
            </a:fld>
            <a:endParaRPr lang="en-US"/>
          </a:p>
        </p:txBody>
      </p:sp>
      <p:sp>
        <p:nvSpPr>
          <p:cNvPr id="5" name="Footer Placeholder 4">
            <a:extLst>
              <a:ext uri="{FF2B5EF4-FFF2-40B4-BE49-F238E27FC236}">
                <a16:creationId xmlns:a16="http://schemas.microsoft.com/office/drawing/2014/main" id="{DA8AAE15-7257-5411-E8E1-824E5A3DEA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BF3930-42EF-C4C0-26EE-ECEB31C53194}"/>
              </a:ext>
            </a:extLst>
          </p:cNvPr>
          <p:cNvSpPr>
            <a:spLocks noGrp="1"/>
          </p:cNvSpPr>
          <p:nvPr>
            <p:ph type="sldNum" sz="quarter" idx="12"/>
          </p:nvPr>
        </p:nvSpPr>
        <p:spPr/>
        <p:txBody>
          <a:bodyPr/>
          <a:lstStyle/>
          <a:p>
            <a:fld id="{87F2248F-5CCD-46B0-8697-753FF3930DE9}" type="slidenum">
              <a:rPr lang="en-US" smtClean="0"/>
              <a:t>‹#›</a:t>
            </a:fld>
            <a:endParaRPr lang="en-US"/>
          </a:p>
        </p:txBody>
      </p:sp>
    </p:spTree>
    <p:extLst>
      <p:ext uri="{BB962C8B-B14F-4D97-AF65-F5344CB8AC3E}">
        <p14:creationId xmlns:p14="http://schemas.microsoft.com/office/powerpoint/2010/main" val="1261649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86B7A5-EDA7-0C8C-220A-52A55FC2B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B0F7BE-A69A-2B55-C478-ACCC9C9165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EE21E9-E38D-5531-FE17-1E9C0D6AD0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75061F-9F09-46AD-B746-9A4E35ABF417}" type="datetimeFigureOut">
              <a:rPr lang="en-US" smtClean="0"/>
              <a:t>1/19/2023</a:t>
            </a:fld>
            <a:endParaRPr lang="en-US"/>
          </a:p>
        </p:txBody>
      </p:sp>
      <p:sp>
        <p:nvSpPr>
          <p:cNvPr id="5" name="Footer Placeholder 4">
            <a:extLst>
              <a:ext uri="{FF2B5EF4-FFF2-40B4-BE49-F238E27FC236}">
                <a16:creationId xmlns:a16="http://schemas.microsoft.com/office/drawing/2014/main" id="{C4B79C26-7325-7471-98D3-91D6FE410F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ADB805-9758-27D0-47A8-C2CFADCFC5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F2248F-5CCD-46B0-8697-753FF3930DE9}" type="slidenum">
              <a:rPr lang="en-US" smtClean="0"/>
              <a:t>‹#›</a:t>
            </a:fld>
            <a:endParaRPr lang="en-US"/>
          </a:p>
        </p:txBody>
      </p:sp>
    </p:spTree>
    <p:extLst>
      <p:ext uri="{BB962C8B-B14F-4D97-AF65-F5344CB8AC3E}">
        <p14:creationId xmlns:p14="http://schemas.microsoft.com/office/powerpoint/2010/main" val="995863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18B44-B7A0-04F4-94F2-50F73AFEC879}"/>
              </a:ext>
            </a:extLst>
          </p:cNvPr>
          <p:cNvSpPr>
            <a:spLocks noGrp="1"/>
          </p:cNvSpPr>
          <p:nvPr>
            <p:ph type="ctrTitle"/>
          </p:nvPr>
        </p:nvSpPr>
        <p:spPr/>
        <p:txBody>
          <a:bodyPr/>
          <a:lstStyle/>
          <a:p>
            <a:r>
              <a:rPr lang="en-US" dirty="0"/>
              <a:t>LSTM and GRU</a:t>
            </a:r>
          </a:p>
        </p:txBody>
      </p:sp>
      <p:sp>
        <p:nvSpPr>
          <p:cNvPr id="3" name="Subtitle 2">
            <a:extLst>
              <a:ext uri="{FF2B5EF4-FFF2-40B4-BE49-F238E27FC236}">
                <a16:creationId xmlns:a16="http://schemas.microsoft.com/office/drawing/2014/main" id="{DEFC8D3D-9E19-32B4-6A39-A618B02A403B}"/>
              </a:ext>
            </a:extLst>
          </p:cNvPr>
          <p:cNvSpPr>
            <a:spLocks noGrp="1"/>
          </p:cNvSpPr>
          <p:nvPr>
            <p:ph type="subTitle" idx="1"/>
          </p:nvPr>
        </p:nvSpPr>
        <p:spPr/>
        <p:txBody>
          <a:bodyPr/>
          <a:lstStyle/>
          <a:p>
            <a:r>
              <a:rPr lang="en-US" dirty="0"/>
              <a:t>By Dr. Ali Saeed</a:t>
            </a:r>
          </a:p>
        </p:txBody>
      </p:sp>
    </p:spTree>
    <p:extLst>
      <p:ext uri="{BB962C8B-B14F-4D97-AF65-F5344CB8AC3E}">
        <p14:creationId xmlns:p14="http://schemas.microsoft.com/office/powerpoint/2010/main" val="3119122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C58A8-EDCC-A38B-5F2E-13DC7791224A}"/>
              </a:ext>
            </a:extLst>
          </p:cNvPr>
          <p:cNvSpPr>
            <a:spLocks noGrp="1"/>
          </p:cNvSpPr>
          <p:nvPr>
            <p:ph type="title"/>
          </p:nvPr>
        </p:nvSpPr>
        <p:spPr/>
        <p:txBody>
          <a:bodyPr/>
          <a:lstStyle/>
          <a:p>
            <a:r>
              <a:rPr lang="en-US" b="0" i="0" dirty="0">
                <a:solidFill>
                  <a:srgbClr val="333333"/>
                </a:solidFill>
                <a:effectLst/>
                <a:latin typeface="CMS"/>
              </a:rPr>
              <a:t>Recurrent neural networks</a:t>
            </a:r>
            <a:endParaRPr lang="en-US" dirty="0"/>
          </a:p>
        </p:txBody>
      </p:sp>
      <p:sp>
        <p:nvSpPr>
          <p:cNvPr id="3" name="Content Placeholder 2">
            <a:extLst>
              <a:ext uri="{FF2B5EF4-FFF2-40B4-BE49-F238E27FC236}">
                <a16:creationId xmlns:a16="http://schemas.microsoft.com/office/drawing/2014/main" id="{19801749-1C08-8986-93B8-E0E7B1EFB4E1}"/>
              </a:ext>
            </a:extLst>
          </p:cNvPr>
          <p:cNvSpPr>
            <a:spLocks noGrp="1"/>
          </p:cNvSpPr>
          <p:nvPr>
            <p:ph idx="1"/>
          </p:nvPr>
        </p:nvSpPr>
        <p:spPr/>
        <p:txBody>
          <a:bodyPr/>
          <a:lstStyle/>
          <a:p>
            <a:r>
              <a:rPr lang="en-US" b="0" i="0" dirty="0">
                <a:solidFill>
                  <a:srgbClr val="333333"/>
                </a:solidFill>
                <a:effectLst/>
                <a:latin typeface="CMS"/>
              </a:rPr>
              <a:t>“Humans don’t start their thinking from scratch every second. As you read this essay, you understand each word based on your understanding of previous words. You don’t throw everything away and start thinking from scratch again. Your thoughts have persistence.”</a:t>
            </a:r>
          </a:p>
          <a:p>
            <a:r>
              <a:rPr lang="en-US" b="0" i="0" dirty="0">
                <a:solidFill>
                  <a:srgbClr val="333333"/>
                </a:solidFill>
                <a:effectLst/>
                <a:latin typeface="CMS"/>
              </a:rPr>
              <a:t>Recurrent neural networks address this issue. They are networks with loops in them, allowing information to persist.</a:t>
            </a:r>
            <a:endParaRPr lang="en-US" dirty="0"/>
          </a:p>
        </p:txBody>
      </p:sp>
    </p:spTree>
    <p:extLst>
      <p:ext uri="{BB962C8B-B14F-4D97-AF65-F5344CB8AC3E}">
        <p14:creationId xmlns:p14="http://schemas.microsoft.com/office/powerpoint/2010/main" val="320863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3511A-D560-0653-E3C0-241BDA8F7A1A}"/>
              </a:ext>
            </a:extLst>
          </p:cNvPr>
          <p:cNvSpPr>
            <a:spLocks noGrp="1"/>
          </p:cNvSpPr>
          <p:nvPr>
            <p:ph type="title"/>
          </p:nvPr>
        </p:nvSpPr>
        <p:spPr/>
        <p:txBody>
          <a:bodyPr/>
          <a:lstStyle/>
          <a:p>
            <a:r>
              <a:rPr lang="en-US" dirty="0"/>
              <a:t>RNN</a:t>
            </a:r>
          </a:p>
        </p:txBody>
      </p:sp>
      <p:sp>
        <p:nvSpPr>
          <p:cNvPr id="7" name="Content Placeholder 6">
            <a:extLst>
              <a:ext uri="{FF2B5EF4-FFF2-40B4-BE49-F238E27FC236}">
                <a16:creationId xmlns:a16="http://schemas.microsoft.com/office/drawing/2014/main" id="{48DF2886-9D1D-9BA9-58F7-89BFBD8C832C}"/>
              </a:ext>
            </a:extLst>
          </p:cNvPr>
          <p:cNvSpPr>
            <a:spLocks noGrp="1"/>
          </p:cNvSpPr>
          <p:nvPr>
            <p:ph idx="1"/>
          </p:nvPr>
        </p:nvSpPr>
        <p:spPr>
          <a:xfrm>
            <a:off x="838200" y="1574277"/>
            <a:ext cx="10515600" cy="2196446"/>
          </a:xfrm>
        </p:spPr>
        <p:txBody>
          <a:bodyPr/>
          <a:lstStyle/>
          <a:p>
            <a:r>
              <a:rPr lang="en-US" b="0" i="0" dirty="0">
                <a:solidFill>
                  <a:srgbClr val="333333"/>
                </a:solidFill>
                <a:effectLst/>
                <a:latin typeface="CMS"/>
              </a:rPr>
              <a:t>A recurrent neural network can be thought of as multiple copies of the same network, each passing a message to a successor. Consider what happens if we unroll the loop</a:t>
            </a:r>
            <a:endParaRPr lang="en-US" dirty="0"/>
          </a:p>
        </p:txBody>
      </p:sp>
      <p:pic>
        <p:nvPicPr>
          <p:cNvPr id="9" name="Picture 8">
            <a:extLst>
              <a:ext uri="{FF2B5EF4-FFF2-40B4-BE49-F238E27FC236}">
                <a16:creationId xmlns:a16="http://schemas.microsoft.com/office/drawing/2014/main" id="{D938CCC8-08FA-1F34-E119-42343A2531D3}"/>
              </a:ext>
            </a:extLst>
          </p:cNvPr>
          <p:cNvPicPr>
            <a:picLocks noChangeAspect="1"/>
          </p:cNvPicPr>
          <p:nvPr/>
        </p:nvPicPr>
        <p:blipFill>
          <a:blip r:embed="rId2"/>
          <a:stretch>
            <a:fillRect/>
          </a:stretch>
        </p:blipFill>
        <p:spPr>
          <a:xfrm>
            <a:off x="2626002" y="3600991"/>
            <a:ext cx="6581775" cy="2295525"/>
          </a:xfrm>
          <a:prstGeom prst="rect">
            <a:avLst/>
          </a:prstGeom>
        </p:spPr>
      </p:pic>
    </p:spTree>
    <p:extLst>
      <p:ext uri="{BB962C8B-B14F-4D97-AF65-F5344CB8AC3E}">
        <p14:creationId xmlns:p14="http://schemas.microsoft.com/office/powerpoint/2010/main" val="409947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34EA0-9CDA-F6BA-A5D9-72FE19AEB841}"/>
              </a:ext>
            </a:extLst>
          </p:cNvPr>
          <p:cNvSpPr>
            <a:spLocks noGrp="1"/>
          </p:cNvSpPr>
          <p:nvPr>
            <p:ph type="title"/>
          </p:nvPr>
        </p:nvSpPr>
        <p:spPr/>
        <p:txBody>
          <a:bodyPr/>
          <a:lstStyle/>
          <a:p>
            <a:r>
              <a:rPr lang="en-US" dirty="0"/>
              <a:t>Long Short Term </a:t>
            </a:r>
            <a:r>
              <a:rPr lang="en-US" dirty="0" err="1"/>
              <a:t>Memeory</a:t>
            </a:r>
            <a:endParaRPr lang="en-US" dirty="0"/>
          </a:p>
        </p:txBody>
      </p:sp>
      <p:sp>
        <p:nvSpPr>
          <p:cNvPr id="3" name="Content Placeholder 2">
            <a:extLst>
              <a:ext uri="{FF2B5EF4-FFF2-40B4-BE49-F238E27FC236}">
                <a16:creationId xmlns:a16="http://schemas.microsoft.com/office/drawing/2014/main" id="{38C56F09-C140-BAF8-FC37-32113724FEBE}"/>
              </a:ext>
            </a:extLst>
          </p:cNvPr>
          <p:cNvSpPr>
            <a:spLocks noGrp="1"/>
          </p:cNvSpPr>
          <p:nvPr>
            <p:ph idx="1"/>
          </p:nvPr>
        </p:nvSpPr>
        <p:spPr/>
        <p:txBody>
          <a:bodyPr/>
          <a:lstStyle/>
          <a:p>
            <a:r>
              <a:rPr lang="en-US" dirty="0"/>
              <a:t>Long Short Term Memory networks – usually just called “LSTMs” – are a special kind of RNN, capable of learning long-term dependencies.</a:t>
            </a:r>
          </a:p>
          <a:p>
            <a:r>
              <a:rPr lang="en-US" dirty="0"/>
              <a:t> They were introduced by </a:t>
            </a:r>
            <a:r>
              <a:rPr lang="en-US" dirty="0" err="1"/>
              <a:t>Hochreiter</a:t>
            </a:r>
            <a:r>
              <a:rPr lang="en-US" dirty="0"/>
              <a:t> &amp; </a:t>
            </a:r>
            <a:r>
              <a:rPr lang="en-US" dirty="0" err="1"/>
              <a:t>Schmidhuber</a:t>
            </a:r>
            <a:r>
              <a:rPr lang="en-US" dirty="0"/>
              <a:t> (1997), and were refined and popularized by many people in following work.</a:t>
            </a:r>
          </a:p>
          <a:p>
            <a:r>
              <a:rPr lang="en-US" dirty="0"/>
              <a:t>They work tremendously well on a large variety of problems, and are now widely used.</a:t>
            </a:r>
          </a:p>
        </p:txBody>
      </p:sp>
    </p:spTree>
    <p:extLst>
      <p:ext uri="{BB962C8B-B14F-4D97-AF65-F5344CB8AC3E}">
        <p14:creationId xmlns:p14="http://schemas.microsoft.com/office/powerpoint/2010/main" val="3769204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CC41B-75ED-4C1C-CAB1-48D7F6B62736}"/>
              </a:ext>
            </a:extLst>
          </p:cNvPr>
          <p:cNvSpPr>
            <a:spLocks noGrp="1"/>
          </p:cNvSpPr>
          <p:nvPr>
            <p:ph type="title"/>
          </p:nvPr>
        </p:nvSpPr>
        <p:spPr/>
        <p:txBody>
          <a:bodyPr/>
          <a:lstStyle/>
          <a:p>
            <a:r>
              <a:rPr lang="en-US" dirty="0"/>
              <a:t>LSTM- Cell</a:t>
            </a:r>
          </a:p>
        </p:txBody>
      </p:sp>
      <p:sp>
        <p:nvSpPr>
          <p:cNvPr id="3" name="Content Placeholder 2">
            <a:extLst>
              <a:ext uri="{FF2B5EF4-FFF2-40B4-BE49-F238E27FC236}">
                <a16:creationId xmlns:a16="http://schemas.microsoft.com/office/drawing/2014/main" id="{1F0A4CBC-EB4A-D6D6-E32D-13D5742369F9}"/>
              </a:ext>
            </a:extLst>
          </p:cNvPr>
          <p:cNvSpPr>
            <a:spLocks noGrp="1"/>
          </p:cNvSpPr>
          <p:nvPr>
            <p:ph idx="1"/>
          </p:nvPr>
        </p:nvSpPr>
        <p:spPr>
          <a:xfrm>
            <a:off x="838200" y="1825624"/>
            <a:ext cx="10515600" cy="4876833"/>
          </a:xfrm>
        </p:spPr>
        <p:txBody>
          <a:bodyPr>
            <a:normAutofit/>
          </a:bodyPr>
          <a:lstStyle/>
          <a:p>
            <a:pPr marL="0" indent="0">
              <a:buNone/>
            </a:pPr>
            <a:r>
              <a:rPr lang="en-US" sz="2000" dirty="0"/>
              <a:t>σ represents the sigmoid function </a:t>
            </a:r>
            <a:r>
              <a:rPr lang="en-US" sz="2000" dirty="0" err="1"/>
              <a:t>W</a:t>
            </a:r>
            <a:r>
              <a:rPr lang="en-US" sz="1400" dirty="0" err="1"/>
              <a:t>ij</a:t>
            </a:r>
            <a:r>
              <a:rPr lang="en-US" sz="2000" dirty="0"/>
              <a:t> indicate the weights, small circle with cross (⊗) illustrates the element wise multiplication, b</a:t>
            </a:r>
            <a:r>
              <a:rPr lang="en-US" sz="1400" dirty="0"/>
              <a:t>f</a:t>
            </a:r>
            <a:r>
              <a:rPr lang="en-US" sz="2000" dirty="0"/>
              <a:t> , b</a:t>
            </a:r>
            <a:r>
              <a:rPr lang="en-US" sz="1600" dirty="0"/>
              <a:t>i</a:t>
            </a:r>
            <a:r>
              <a:rPr lang="en-US" sz="2000" dirty="0"/>
              <a:t> and </a:t>
            </a:r>
            <a:r>
              <a:rPr lang="en-US" sz="2000" dirty="0" err="1"/>
              <a:t>b</a:t>
            </a:r>
            <a:r>
              <a:rPr lang="en-US" sz="1400" dirty="0" err="1"/>
              <a:t>o</a:t>
            </a:r>
            <a:r>
              <a:rPr lang="en-US" sz="2000" dirty="0"/>
              <a:t> are indicating the biases values of forget, input and output gates respectively. </a:t>
            </a:r>
          </a:p>
        </p:txBody>
      </p:sp>
      <p:pic>
        <p:nvPicPr>
          <p:cNvPr id="9" name="Picture 8">
            <a:extLst>
              <a:ext uri="{FF2B5EF4-FFF2-40B4-BE49-F238E27FC236}">
                <a16:creationId xmlns:a16="http://schemas.microsoft.com/office/drawing/2014/main" id="{AA825AE0-CD13-C4F8-AD17-CF2BD03E09CB}"/>
              </a:ext>
            </a:extLst>
          </p:cNvPr>
          <p:cNvPicPr>
            <a:picLocks noChangeAspect="1"/>
          </p:cNvPicPr>
          <p:nvPr/>
        </p:nvPicPr>
        <p:blipFill>
          <a:blip r:embed="rId2"/>
          <a:stretch>
            <a:fillRect/>
          </a:stretch>
        </p:blipFill>
        <p:spPr>
          <a:xfrm>
            <a:off x="1262081" y="3186260"/>
            <a:ext cx="4969037" cy="2415822"/>
          </a:xfrm>
          <a:prstGeom prst="rect">
            <a:avLst/>
          </a:prstGeom>
        </p:spPr>
      </p:pic>
      <p:pic>
        <p:nvPicPr>
          <p:cNvPr id="11" name="Picture 10">
            <a:extLst>
              <a:ext uri="{FF2B5EF4-FFF2-40B4-BE49-F238E27FC236}">
                <a16:creationId xmlns:a16="http://schemas.microsoft.com/office/drawing/2014/main" id="{06AE3FC7-C4AA-C20D-2932-1A0744B9E58B}"/>
              </a:ext>
            </a:extLst>
          </p:cNvPr>
          <p:cNvPicPr>
            <a:picLocks noChangeAspect="1"/>
          </p:cNvPicPr>
          <p:nvPr/>
        </p:nvPicPr>
        <p:blipFill>
          <a:blip r:embed="rId3"/>
          <a:stretch>
            <a:fillRect/>
          </a:stretch>
        </p:blipFill>
        <p:spPr>
          <a:xfrm>
            <a:off x="7114389" y="2523600"/>
            <a:ext cx="3114354" cy="3969275"/>
          </a:xfrm>
          <a:prstGeom prst="rect">
            <a:avLst/>
          </a:prstGeom>
        </p:spPr>
      </p:pic>
      <p:pic>
        <p:nvPicPr>
          <p:cNvPr id="13" name="Picture 12">
            <a:extLst>
              <a:ext uri="{FF2B5EF4-FFF2-40B4-BE49-F238E27FC236}">
                <a16:creationId xmlns:a16="http://schemas.microsoft.com/office/drawing/2014/main" id="{D5420BD0-79D1-A226-1240-E1D04548152E}"/>
              </a:ext>
            </a:extLst>
          </p:cNvPr>
          <p:cNvPicPr>
            <a:picLocks noChangeAspect="1"/>
          </p:cNvPicPr>
          <p:nvPr/>
        </p:nvPicPr>
        <p:blipFill>
          <a:blip r:embed="rId4"/>
          <a:stretch>
            <a:fillRect/>
          </a:stretch>
        </p:blipFill>
        <p:spPr>
          <a:xfrm>
            <a:off x="2538020" y="5788025"/>
            <a:ext cx="2876550" cy="704850"/>
          </a:xfrm>
          <a:prstGeom prst="rect">
            <a:avLst/>
          </a:prstGeom>
        </p:spPr>
      </p:pic>
    </p:spTree>
    <p:extLst>
      <p:ext uri="{BB962C8B-B14F-4D97-AF65-F5344CB8AC3E}">
        <p14:creationId xmlns:p14="http://schemas.microsoft.com/office/powerpoint/2010/main" val="3803420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9F492-3B53-27EC-2D49-1C2F0ABC3E9D}"/>
              </a:ext>
            </a:extLst>
          </p:cNvPr>
          <p:cNvSpPr>
            <a:spLocks noGrp="1"/>
          </p:cNvSpPr>
          <p:nvPr>
            <p:ph type="title"/>
          </p:nvPr>
        </p:nvSpPr>
        <p:spPr/>
        <p:txBody>
          <a:bodyPr/>
          <a:lstStyle/>
          <a:p>
            <a:r>
              <a:rPr lang="en-US" dirty="0"/>
              <a:t>Gated Recurrent Units</a:t>
            </a:r>
          </a:p>
        </p:txBody>
      </p:sp>
      <p:sp>
        <p:nvSpPr>
          <p:cNvPr id="3" name="Content Placeholder 2">
            <a:extLst>
              <a:ext uri="{FF2B5EF4-FFF2-40B4-BE49-F238E27FC236}">
                <a16:creationId xmlns:a16="http://schemas.microsoft.com/office/drawing/2014/main" id="{92BF33B1-96D1-E627-6214-51A2C54DCE6A}"/>
              </a:ext>
            </a:extLst>
          </p:cNvPr>
          <p:cNvSpPr>
            <a:spLocks noGrp="1"/>
          </p:cNvSpPr>
          <p:nvPr>
            <p:ph idx="1"/>
          </p:nvPr>
        </p:nvSpPr>
        <p:spPr/>
        <p:txBody>
          <a:bodyPr/>
          <a:lstStyle/>
          <a:p>
            <a:r>
              <a:rPr lang="en-US" dirty="0"/>
              <a:t>Gated Recurrent Units (GRUs) are an enhancement of standard LSTM. GRUs units use fewer gates than LSTM. GRUs units contain two gates, i.e., reset gate (r</a:t>
            </a:r>
            <a:r>
              <a:rPr lang="en-US" sz="1800" dirty="0"/>
              <a:t>t</a:t>
            </a:r>
            <a:r>
              <a:rPr lang="en-US" dirty="0"/>
              <a:t>) and update gate (</a:t>
            </a:r>
            <a:r>
              <a:rPr lang="en-US" dirty="0" err="1"/>
              <a:t>u</a:t>
            </a:r>
            <a:r>
              <a:rPr lang="en-US" sz="1800" dirty="0" err="1"/>
              <a:t>t</a:t>
            </a:r>
            <a:r>
              <a:rPr lang="en-US" dirty="0"/>
              <a:t>) (see equation (5.11)).</a:t>
            </a:r>
          </a:p>
          <a:p>
            <a:r>
              <a:rPr lang="en-US" dirty="0"/>
              <a:t>Applications of GRUs include text classification, text mining and sequence modeling</a:t>
            </a:r>
          </a:p>
        </p:txBody>
      </p:sp>
    </p:spTree>
    <p:extLst>
      <p:ext uri="{BB962C8B-B14F-4D97-AF65-F5344CB8AC3E}">
        <p14:creationId xmlns:p14="http://schemas.microsoft.com/office/powerpoint/2010/main" val="3125149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99882-84FE-BEBE-AA92-51AAACDD7371}"/>
              </a:ext>
            </a:extLst>
          </p:cNvPr>
          <p:cNvSpPr>
            <a:spLocks noGrp="1"/>
          </p:cNvSpPr>
          <p:nvPr>
            <p:ph type="title"/>
          </p:nvPr>
        </p:nvSpPr>
        <p:spPr/>
        <p:txBody>
          <a:bodyPr/>
          <a:lstStyle/>
          <a:p>
            <a:r>
              <a:rPr lang="en-US" dirty="0"/>
              <a:t>GRU-Cell</a:t>
            </a:r>
          </a:p>
        </p:txBody>
      </p:sp>
      <p:sp>
        <p:nvSpPr>
          <p:cNvPr id="3" name="Content Placeholder 2">
            <a:extLst>
              <a:ext uri="{FF2B5EF4-FFF2-40B4-BE49-F238E27FC236}">
                <a16:creationId xmlns:a16="http://schemas.microsoft.com/office/drawing/2014/main" id="{76CC5746-9F85-5121-7CA9-C1DAC2E49B3F}"/>
              </a:ext>
            </a:extLst>
          </p:cNvPr>
          <p:cNvSpPr>
            <a:spLocks noGrp="1"/>
          </p:cNvSpPr>
          <p:nvPr>
            <p:ph idx="1"/>
          </p:nvPr>
        </p:nvSpPr>
        <p:spPr>
          <a:xfrm>
            <a:off x="838200" y="1621411"/>
            <a:ext cx="10515600" cy="1325563"/>
          </a:xfrm>
        </p:spPr>
        <p:txBody>
          <a:bodyPr/>
          <a:lstStyle/>
          <a:p>
            <a:r>
              <a:rPr lang="en-US" dirty="0"/>
              <a:t>Figure 5.3 shows a single unit of a GRUs . In this figure It shows the current input, O</a:t>
            </a:r>
            <a:r>
              <a:rPr lang="en-US" sz="1800" dirty="0"/>
              <a:t>t−1</a:t>
            </a:r>
            <a:r>
              <a:rPr lang="en-US" dirty="0"/>
              <a:t> shows the previous output, </a:t>
            </a:r>
            <a:r>
              <a:rPr lang="en-US" dirty="0" err="1"/>
              <a:t>O</a:t>
            </a:r>
            <a:r>
              <a:rPr lang="en-US" sz="1800" dirty="0" err="1"/>
              <a:t>t</a:t>
            </a:r>
            <a:r>
              <a:rPr lang="en-US" dirty="0"/>
              <a:t> shows the current output (</a:t>
            </a:r>
            <a:r>
              <a:rPr lang="en-US" dirty="0" err="1"/>
              <a:t>O</a:t>
            </a:r>
            <a:r>
              <a:rPr lang="en-US" sz="1800" dirty="0" err="1"/>
              <a:t>t</a:t>
            </a:r>
            <a:r>
              <a:rPr lang="en-US" dirty="0"/>
              <a:t> computed using equation)</a:t>
            </a:r>
          </a:p>
        </p:txBody>
      </p:sp>
      <p:pic>
        <p:nvPicPr>
          <p:cNvPr id="7" name="Picture 6">
            <a:extLst>
              <a:ext uri="{FF2B5EF4-FFF2-40B4-BE49-F238E27FC236}">
                <a16:creationId xmlns:a16="http://schemas.microsoft.com/office/drawing/2014/main" id="{DCD0E412-9FA0-E1D6-F2EF-8D056B4B5F43}"/>
              </a:ext>
            </a:extLst>
          </p:cNvPr>
          <p:cNvPicPr>
            <a:picLocks noChangeAspect="1"/>
          </p:cNvPicPr>
          <p:nvPr/>
        </p:nvPicPr>
        <p:blipFill>
          <a:blip r:embed="rId2"/>
          <a:stretch>
            <a:fillRect/>
          </a:stretch>
        </p:blipFill>
        <p:spPr>
          <a:xfrm>
            <a:off x="2380759" y="3296043"/>
            <a:ext cx="3867150" cy="2019300"/>
          </a:xfrm>
          <a:prstGeom prst="rect">
            <a:avLst/>
          </a:prstGeom>
        </p:spPr>
      </p:pic>
      <p:pic>
        <p:nvPicPr>
          <p:cNvPr id="9" name="Picture 8">
            <a:extLst>
              <a:ext uri="{FF2B5EF4-FFF2-40B4-BE49-F238E27FC236}">
                <a16:creationId xmlns:a16="http://schemas.microsoft.com/office/drawing/2014/main" id="{E2CC277E-96FF-3EC0-CCA5-C8173022CF32}"/>
              </a:ext>
            </a:extLst>
          </p:cNvPr>
          <p:cNvPicPr>
            <a:picLocks noChangeAspect="1"/>
          </p:cNvPicPr>
          <p:nvPr/>
        </p:nvPicPr>
        <p:blipFill>
          <a:blip r:embed="rId3"/>
          <a:stretch>
            <a:fillRect/>
          </a:stretch>
        </p:blipFill>
        <p:spPr>
          <a:xfrm>
            <a:off x="8274868" y="3040782"/>
            <a:ext cx="2724150" cy="2352675"/>
          </a:xfrm>
          <a:prstGeom prst="rect">
            <a:avLst/>
          </a:prstGeom>
        </p:spPr>
      </p:pic>
    </p:spTree>
    <p:extLst>
      <p:ext uri="{BB962C8B-B14F-4D97-AF65-F5344CB8AC3E}">
        <p14:creationId xmlns:p14="http://schemas.microsoft.com/office/powerpoint/2010/main" val="2206412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C013D-3754-1E84-419D-131C2772D3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28C467-97A2-1412-BAAD-EB2EE6746F0A}"/>
              </a:ext>
            </a:extLst>
          </p:cNvPr>
          <p:cNvSpPr>
            <a:spLocks noGrp="1"/>
          </p:cNvSpPr>
          <p:nvPr>
            <p:ph idx="1"/>
          </p:nvPr>
        </p:nvSpPr>
        <p:spPr/>
        <p:txBody>
          <a:bodyPr/>
          <a:lstStyle/>
          <a:p>
            <a:r>
              <a:rPr lang="en-US"/>
              <a:t>Thanks</a:t>
            </a:r>
            <a:endParaRPr lang="en-US" dirty="0"/>
          </a:p>
        </p:txBody>
      </p:sp>
    </p:spTree>
    <p:extLst>
      <p:ext uri="{BB962C8B-B14F-4D97-AF65-F5344CB8AC3E}">
        <p14:creationId xmlns:p14="http://schemas.microsoft.com/office/powerpoint/2010/main" val="2205593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327</Words>
  <Application>Microsoft Office PowerPoint</Application>
  <PresentationFormat>Widescreen</PresentationFormat>
  <Paragraphs>19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CMS</vt:lpstr>
      <vt:lpstr>Office Theme</vt:lpstr>
      <vt:lpstr>LSTM and GRU</vt:lpstr>
      <vt:lpstr>Recurrent neural networks</vt:lpstr>
      <vt:lpstr>RNN</vt:lpstr>
      <vt:lpstr>Long Short Term Memeory</vt:lpstr>
      <vt:lpstr>LSTM- Cell</vt:lpstr>
      <vt:lpstr>Gated Recurrent Units</vt:lpstr>
      <vt:lpstr>GRU-Cell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Saeed</dc:creator>
  <cp:lastModifiedBy>Ali Saeed</cp:lastModifiedBy>
  <cp:revision>41</cp:revision>
  <dcterms:created xsi:type="dcterms:W3CDTF">2023-01-16T10:38:34Z</dcterms:created>
  <dcterms:modified xsi:type="dcterms:W3CDTF">2023-01-19T07:49:50Z</dcterms:modified>
</cp:coreProperties>
</file>