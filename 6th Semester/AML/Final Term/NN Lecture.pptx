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80" r:id="rId10"/>
    <p:sldId id="265" r:id="rId11"/>
    <p:sldId id="266" r:id="rId12"/>
    <p:sldId id="267" r:id="rId13"/>
    <p:sldId id="279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7" r:id="rId22"/>
    <p:sldId id="278" r:id="rId23"/>
    <p:sldId id="275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FA32F-80E4-4798-AC2C-5AAEAA0EFBD4}" type="datetimeFigureOut">
              <a:rPr lang="en-US" smtClean="0"/>
              <a:pPr/>
              <a:t>11/23/2022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E2082-D791-4FB0-B245-326D10BF2F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A54F45-A755-493C-BEDD-AACD72B30E36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116CE4-4506-4310-81F6-D8CFC182D0D3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8465" y="686474"/>
            <a:ext cx="4941072" cy="3428114"/>
          </a:xfrm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24ED1F-DCD5-43D1-A183-B5D730838E63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8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8465" y="686474"/>
            <a:ext cx="4941072" cy="3428114"/>
          </a:xfrm>
          <a:ln/>
        </p:spPr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CS583, Bing Liu, UIC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C730DF-0C4C-4D43-B717-A450D5C0A8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263027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4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Artificial neural networks</a:t>
            </a:r>
            <a:r>
              <a:rPr lang="en-US" dirty="0"/>
              <a:t> (</a:t>
            </a:r>
            <a:r>
              <a:rPr lang="en-US" b="1" dirty="0"/>
              <a:t>ANN</a:t>
            </a:r>
            <a:r>
              <a:rPr lang="en-US" dirty="0"/>
              <a:t>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By Dr. Ali </a:t>
            </a:r>
            <a:r>
              <a:rPr lang="en-US" dirty="0"/>
              <a:t>Saeed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Artificial neural networks</a:t>
            </a:r>
            <a:r>
              <a:rPr lang="en-US" dirty="0"/>
              <a:t> (</a:t>
            </a:r>
            <a:r>
              <a:rPr lang="en-US" b="1" dirty="0"/>
              <a:t>ANN</a:t>
            </a:r>
            <a:r>
              <a:rPr lang="en-US" dirty="0"/>
              <a:t>) or </a:t>
            </a:r>
            <a:r>
              <a:rPr lang="en-US" b="1" dirty="0"/>
              <a:t>connectionist systems</a:t>
            </a:r>
            <a:r>
              <a:rPr lang="en-US" dirty="0"/>
              <a:t> are computing systems vaguely inspired by the biological neural networks that constitute animal brains.</a:t>
            </a:r>
            <a:endParaRPr lang="en-US" baseline="30000" dirty="0"/>
          </a:p>
          <a:p>
            <a:r>
              <a:rPr lang="en-US" dirty="0"/>
              <a:t> Such systems "learn" to perform tasks by considering examples, generally without being programmed with task-specific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Comparison pictures</a:t>
            </a:r>
            <a:br>
              <a:rPr lang="en-US" dirty="0"/>
            </a:b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09800"/>
            <a:ext cx="4816475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0200" y="990600"/>
            <a:ext cx="3657600" cy="5735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perceptron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simplest form of a neural network  consists of a single neuron with adjustable synaptic weights and bias performs pattern classification with only two classes</a:t>
            </a:r>
          </a:p>
          <a:p>
            <a:r>
              <a:rPr lang="en-US" dirty="0"/>
              <a:t>perceptron convergence theorem :</a:t>
            </a:r>
          </a:p>
          <a:p>
            <a:pPr lvl="1"/>
            <a:r>
              <a:rPr lang="en-US" dirty="0"/>
              <a:t>Patterns (vectors) are drawn from two linearly separable classes</a:t>
            </a:r>
          </a:p>
          <a:p>
            <a:pPr lvl="1"/>
            <a:r>
              <a:rPr lang="en-US" dirty="0"/>
              <a:t>During training, the perceptron algorithm converges and positions the decision surface in the form of </a:t>
            </a:r>
            <a:r>
              <a:rPr lang="en-US" dirty="0" err="1"/>
              <a:t>hyperplane</a:t>
            </a:r>
            <a:r>
              <a:rPr lang="en-US" dirty="0"/>
              <a:t> between two classes by adjusting synaptic weights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perceptron?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524000"/>
            <a:ext cx="6591300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52400" y="2438400"/>
            <a:ext cx="8705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  <a:p>
            <a:endParaRPr lang="en-US" dirty="0"/>
          </a:p>
          <a:p>
            <a:r>
              <a:rPr lang="en-US" dirty="0"/>
              <a:t>12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2362200"/>
            <a:ext cx="8517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0.8</a:t>
            </a:r>
          </a:p>
          <a:p>
            <a:endParaRPr lang="en-US" dirty="0"/>
          </a:p>
          <a:p>
            <a:r>
              <a:rPr lang="en-US" dirty="0"/>
              <a:t>1.4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-0.4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2400" y="246825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0.2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33512" y="1801019"/>
            <a:ext cx="6276975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2133600" y="6477000"/>
            <a:ext cx="349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SoftMax, </a:t>
            </a:r>
            <a:r>
              <a:rPr lang="en-US" dirty="0" err="1"/>
              <a:t>Tanh</a:t>
            </a:r>
            <a:r>
              <a:rPr lang="en-US" dirty="0"/>
              <a:t>, Sigmoid, Step, </a:t>
            </a:r>
            <a:r>
              <a:rPr lang="en-US"/>
              <a:t>ReLU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 layer perceptron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771775" y="2277269"/>
            <a:ext cx="3600450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/>
              <a:t>Different Non-Linearly Separable Problems 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447800"/>
            <a:ext cx="6553200" cy="5060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   </a:t>
            </a:r>
            <a:r>
              <a:rPr lang="en-US" dirty="0" err="1"/>
              <a:t>y</a:t>
            </a:r>
            <a:r>
              <a:rPr lang="en-US" dirty="0"/>
              <a:t> </a:t>
            </a:r>
            <a:r>
              <a:rPr lang="en-US" dirty="0" err="1"/>
              <a:t>y</a:t>
            </a:r>
            <a:endParaRPr lang="en-US" dirty="0"/>
          </a:p>
          <a:p>
            <a:r>
              <a:rPr lang="en-US" dirty="0"/>
              <a:t>X  x </a:t>
            </a:r>
            <a:r>
              <a:rPr lang="en-US" dirty="0" err="1"/>
              <a:t>x</a:t>
            </a:r>
            <a:r>
              <a:rPr lang="en-US" dirty="0"/>
              <a:t> </a:t>
            </a:r>
            <a:r>
              <a:rPr lang="en-US" dirty="0" err="1"/>
              <a:t>x</a:t>
            </a:r>
            <a:r>
              <a:rPr lang="en-US" dirty="0"/>
              <a:t> </a:t>
            </a:r>
          </a:p>
          <a:p>
            <a:r>
              <a:rPr lang="en-US" dirty="0"/>
              <a:t>X </a:t>
            </a:r>
            <a:r>
              <a:rPr lang="en-US" dirty="0" err="1"/>
              <a:t>x</a:t>
            </a:r>
            <a:r>
              <a:rPr lang="en-US" dirty="0"/>
              <a:t>      y  </a:t>
            </a:r>
            <a:r>
              <a:rPr lang="en-US" dirty="0" err="1"/>
              <a:t>y</a:t>
            </a:r>
            <a:r>
              <a:rPr lang="en-US" dirty="0"/>
              <a:t>   </a:t>
            </a:r>
          </a:p>
          <a:p>
            <a:r>
              <a:rPr lang="en-US" dirty="0"/>
              <a:t>X </a:t>
            </a:r>
            <a:r>
              <a:rPr lang="en-US" dirty="0" err="1"/>
              <a:t>x</a:t>
            </a:r>
            <a:r>
              <a:rPr lang="en-US" dirty="0"/>
              <a:t>            </a:t>
            </a:r>
          </a:p>
          <a:p>
            <a:r>
              <a:rPr lang="en-US" dirty="0"/>
              <a:t>X               y </a:t>
            </a:r>
            <a:r>
              <a:rPr lang="en-US" dirty="0" err="1"/>
              <a:t>y</a:t>
            </a:r>
            <a:r>
              <a:rPr lang="en-US" dirty="0"/>
              <a:t> </a:t>
            </a:r>
            <a:r>
              <a:rPr lang="en-US" dirty="0" err="1"/>
              <a:t>y</a:t>
            </a:r>
            <a:r>
              <a:rPr lang="en-US" dirty="0"/>
              <a:t> </a:t>
            </a:r>
            <a:r>
              <a:rPr lang="en-US" dirty="0" err="1"/>
              <a:t>y</a:t>
            </a:r>
            <a:r>
              <a:rPr lang="en-US" dirty="0"/>
              <a:t> </a:t>
            </a:r>
          </a:p>
          <a:p>
            <a:r>
              <a:rPr lang="en-US" dirty="0"/>
              <a:t>                 y </a:t>
            </a:r>
            <a:r>
              <a:rPr lang="en-US" dirty="0" err="1"/>
              <a:t>y</a:t>
            </a:r>
            <a:r>
              <a:rPr lang="en-US" dirty="0"/>
              <a:t> </a:t>
            </a:r>
            <a:r>
              <a:rPr lang="en-US" dirty="0" err="1"/>
              <a:t>y</a:t>
            </a:r>
            <a:r>
              <a:rPr lang="en-US" dirty="0"/>
              <a:t> </a:t>
            </a:r>
          </a:p>
          <a:p>
            <a:r>
              <a:rPr lang="en-US" dirty="0"/>
              <a:t>                  x  </a:t>
            </a:r>
            <a:r>
              <a:rPr lang="en-US" dirty="0" err="1"/>
              <a:t>x</a:t>
            </a:r>
            <a:r>
              <a:rPr lang="en-US" dirty="0"/>
              <a:t> </a:t>
            </a:r>
            <a:r>
              <a:rPr lang="en-US" dirty="0" err="1"/>
              <a:t>x</a:t>
            </a:r>
            <a:r>
              <a:rPr lang="en-US" dirty="0"/>
              <a:t> </a:t>
            </a:r>
            <a:r>
              <a:rPr lang="en-US" dirty="0" err="1"/>
              <a:t>x</a:t>
            </a:r>
            <a:r>
              <a:rPr lang="en-US" dirty="0"/>
              <a:t> 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914400" y="5105400"/>
            <a:ext cx="55626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5400000">
            <a:off x="-381000" y="4800600"/>
            <a:ext cx="40386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1600200" y="2743200"/>
            <a:ext cx="32766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28600" y="2133600"/>
            <a:ext cx="28956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7848600" cy="1066800"/>
          </a:xfrm>
        </p:spPr>
        <p:txBody>
          <a:bodyPr>
            <a:normAutofit fontScale="90000"/>
          </a:bodyPr>
          <a:lstStyle/>
          <a:p>
            <a:r>
              <a:rPr lang="en-US" altLang="en-US" sz="4000" b="1"/>
              <a:t>Perceptron: Neuron Model</a:t>
            </a:r>
            <a:r>
              <a:rPr lang="en-US" altLang="en-US" sz="4000"/>
              <a:t> </a:t>
            </a:r>
            <a:br>
              <a:rPr lang="en-US" altLang="en-US" sz="4000"/>
            </a:br>
            <a:r>
              <a:rPr lang="en-US" altLang="en-US" sz="3200"/>
              <a:t>(Special form of single layer feed forward)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229600" cy="1676400"/>
          </a:xfrm>
        </p:spPr>
        <p:txBody>
          <a:bodyPr/>
          <a:lstStyle/>
          <a:p>
            <a:pPr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−"/>
            </a:pPr>
            <a:r>
              <a:rPr lang="en-US" altLang="en-US" sz="2200" dirty="0"/>
              <a:t>The perceptron was first proposed by Rosenblatt (1958) is a simple neuron that is used to classify its input into one of two categories. </a:t>
            </a:r>
          </a:p>
          <a:p>
            <a:pPr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−"/>
            </a:pPr>
            <a:r>
              <a:rPr lang="en-US" altLang="en-US" sz="2200" dirty="0"/>
              <a:t>A perceptron  uses a</a:t>
            </a:r>
            <a:r>
              <a:rPr lang="en-US" altLang="en-US" sz="2200" dirty="0">
                <a:sym typeface="Symbol" charset="2"/>
              </a:rPr>
              <a:t> </a:t>
            </a:r>
            <a:r>
              <a:rPr lang="en-US" altLang="en-US" sz="2200" b="1" dirty="0">
                <a:sym typeface="Symbol" charset="2"/>
              </a:rPr>
              <a:t>step function</a:t>
            </a:r>
            <a:r>
              <a:rPr lang="en-US" altLang="en-US" sz="2200" dirty="0">
                <a:sym typeface="Symbol" charset="2"/>
              </a:rPr>
              <a:t> that returns +1 if weighted sum of its input  0 and -1 otherwise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538288" y="3886200"/>
            <a:ext cx="5324475" cy="2438400"/>
            <a:chOff x="966" y="1104"/>
            <a:chExt cx="3354" cy="1536"/>
          </a:xfrm>
        </p:grpSpPr>
        <p:sp>
          <p:nvSpPr>
            <p:cNvPr id="137221" name="Oval 5"/>
            <p:cNvSpPr>
              <a:spLocks noChangeArrowheads="1"/>
            </p:cNvSpPr>
            <p:nvPr/>
          </p:nvSpPr>
          <p:spPr bwMode="auto">
            <a:xfrm>
              <a:off x="1200" y="14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222" name="Oval 6"/>
            <p:cNvSpPr>
              <a:spLocks noChangeArrowheads="1"/>
            </p:cNvSpPr>
            <p:nvPr/>
          </p:nvSpPr>
          <p:spPr bwMode="auto">
            <a:xfrm>
              <a:off x="1200" y="187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223" name="Oval 7"/>
            <p:cNvSpPr>
              <a:spLocks noChangeArrowheads="1"/>
            </p:cNvSpPr>
            <p:nvPr/>
          </p:nvSpPr>
          <p:spPr bwMode="auto">
            <a:xfrm>
              <a:off x="1200" y="240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224" name="Oval 8"/>
            <p:cNvSpPr>
              <a:spLocks noChangeArrowheads="1"/>
            </p:cNvSpPr>
            <p:nvPr/>
          </p:nvSpPr>
          <p:spPr bwMode="auto">
            <a:xfrm>
              <a:off x="2016" y="187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225" name="Oval 9"/>
            <p:cNvSpPr>
              <a:spLocks noChangeArrowheads="1"/>
            </p:cNvSpPr>
            <p:nvPr/>
          </p:nvSpPr>
          <p:spPr bwMode="auto">
            <a:xfrm>
              <a:off x="2016" y="134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226" name="Oval 10"/>
            <p:cNvSpPr>
              <a:spLocks noChangeArrowheads="1"/>
            </p:cNvSpPr>
            <p:nvPr/>
          </p:nvSpPr>
          <p:spPr bwMode="auto">
            <a:xfrm>
              <a:off x="2688" y="187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227" name="Oval 11"/>
            <p:cNvSpPr>
              <a:spLocks noChangeArrowheads="1"/>
            </p:cNvSpPr>
            <p:nvPr/>
          </p:nvSpPr>
          <p:spPr bwMode="auto">
            <a:xfrm>
              <a:off x="3504" y="187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228" name="Line 12"/>
            <p:cNvSpPr>
              <a:spLocks noChangeShapeType="1"/>
            </p:cNvSpPr>
            <p:nvPr/>
          </p:nvSpPr>
          <p:spPr bwMode="auto">
            <a:xfrm>
              <a:off x="1392" y="2064"/>
              <a:ext cx="0" cy="288"/>
            </a:xfrm>
            <a:prstGeom prst="line">
              <a:avLst/>
            </a:prstGeom>
            <a:noFill/>
            <a:ln w="571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37229" name="AutoShape 13"/>
            <p:cNvCxnSpPr>
              <a:cxnSpLocks noChangeShapeType="1"/>
              <a:stCxn id="137223" idx="6"/>
              <a:endCxn id="137224" idx="3"/>
            </p:cNvCxnSpPr>
            <p:nvPr/>
          </p:nvCxnSpPr>
          <p:spPr bwMode="auto">
            <a:xfrm flipV="1">
              <a:off x="1296" y="1954"/>
              <a:ext cx="734" cy="49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7230" name="AutoShape 14"/>
            <p:cNvCxnSpPr>
              <a:cxnSpLocks noChangeShapeType="1"/>
              <a:stCxn id="137222" idx="6"/>
              <a:endCxn id="137224" idx="2"/>
            </p:cNvCxnSpPr>
            <p:nvPr/>
          </p:nvCxnSpPr>
          <p:spPr bwMode="auto">
            <a:xfrm>
              <a:off x="1296" y="1920"/>
              <a:ext cx="720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7231" name="AutoShape 15"/>
            <p:cNvCxnSpPr>
              <a:cxnSpLocks noChangeShapeType="1"/>
              <a:stCxn id="137221" idx="5"/>
              <a:endCxn id="137224" idx="1"/>
            </p:cNvCxnSpPr>
            <p:nvPr/>
          </p:nvCxnSpPr>
          <p:spPr bwMode="auto">
            <a:xfrm>
              <a:off x="1282" y="1570"/>
              <a:ext cx="748" cy="31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7232" name="AutoShape 16"/>
            <p:cNvCxnSpPr>
              <a:cxnSpLocks noChangeShapeType="1"/>
              <a:stCxn id="137225" idx="4"/>
              <a:endCxn id="137224" idx="0"/>
            </p:cNvCxnSpPr>
            <p:nvPr/>
          </p:nvCxnSpPr>
          <p:spPr bwMode="auto">
            <a:xfrm>
              <a:off x="2064" y="1440"/>
              <a:ext cx="0" cy="43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7233" name="AutoShape 17"/>
            <p:cNvCxnSpPr>
              <a:cxnSpLocks noChangeShapeType="1"/>
              <a:stCxn id="137224" idx="6"/>
              <a:endCxn id="137226" idx="2"/>
            </p:cNvCxnSpPr>
            <p:nvPr/>
          </p:nvCxnSpPr>
          <p:spPr bwMode="auto">
            <a:xfrm>
              <a:off x="2112" y="1920"/>
              <a:ext cx="576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7234" name="AutoShape 18"/>
            <p:cNvCxnSpPr>
              <a:cxnSpLocks noChangeShapeType="1"/>
              <a:stCxn id="137226" idx="6"/>
              <a:endCxn id="137227" idx="2"/>
            </p:cNvCxnSpPr>
            <p:nvPr/>
          </p:nvCxnSpPr>
          <p:spPr bwMode="auto">
            <a:xfrm>
              <a:off x="2784" y="1920"/>
              <a:ext cx="720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7235" name="AutoShape 19"/>
            <p:cNvCxnSpPr>
              <a:cxnSpLocks noChangeShapeType="1"/>
            </p:cNvCxnSpPr>
            <p:nvPr/>
          </p:nvCxnSpPr>
          <p:spPr bwMode="auto">
            <a:xfrm>
              <a:off x="3600" y="1920"/>
              <a:ext cx="720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7236" name="Text Box 20"/>
            <p:cNvSpPr txBox="1">
              <a:spLocks noChangeArrowheads="1"/>
            </p:cNvSpPr>
            <p:nvPr/>
          </p:nvSpPr>
          <p:spPr bwMode="auto">
            <a:xfrm>
              <a:off x="969" y="1296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2400" b="1" i="1">
                  <a:solidFill>
                    <a:schemeClr val="accent2"/>
                  </a:solidFill>
                  <a:latin typeface="Times New Roman" pitchFamily="18" charset="0"/>
                </a:rPr>
                <a:t>x</a:t>
              </a:r>
              <a:r>
                <a:rPr lang="en-US" altLang="en-US" sz="2400" b="1" i="1" baseline="-25000">
                  <a:solidFill>
                    <a:schemeClr val="accent2"/>
                  </a:solidFill>
                  <a:latin typeface="Times New Roman" pitchFamily="18" charset="0"/>
                </a:rPr>
                <a:t>1</a:t>
              </a: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137237" name="Text Box 21"/>
            <p:cNvSpPr txBox="1">
              <a:spLocks noChangeArrowheads="1"/>
            </p:cNvSpPr>
            <p:nvPr/>
          </p:nvSpPr>
          <p:spPr bwMode="auto">
            <a:xfrm>
              <a:off x="969" y="1776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2400" b="1" i="1">
                  <a:solidFill>
                    <a:schemeClr val="accent2"/>
                  </a:solidFill>
                  <a:latin typeface="Times New Roman" pitchFamily="18" charset="0"/>
                </a:rPr>
                <a:t>x</a:t>
              </a:r>
              <a:r>
                <a:rPr lang="en-US" altLang="en-US" sz="2400" b="1" i="1" baseline="-25000">
                  <a:solidFill>
                    <a:schemeClr val="accent2"/>
                  </a:solidFill>
                  <a:latin typeface="Times New Roman" pitchFamily="18" charset="0"/>
                </a:rPr>
                <a:t>2</a:t>
              </a: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137238" name="Text Box 22"/>
            <p:cNvSpPr txBox="1">
              <a:spLocks noChangeArrowheads="1"/>
            </p:cNvSpPr>
            <p:nvPr/>
          </p:nvSpPr>
          <p:spPr bwMode="auto">
            <a:xfrm>
              <a:off x="966" y="2352"/>
              <a:ext cx="2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2400" b="1" i="1">
                  <a:solidFill>
                    <a:schemeClr val="accent2"/>
                  </a:solidFill>
                  <a:latin typeface="Times New Roman" pitchFamily="18" charset="0"/>
                </a:rPr>
                <a:t>x</a:t>
              </a:r>
              <a:r>
                <a:rPr lang="en-US" altLang="en-US" sz="2400" b="1" i="1" baseline="-25000">
                  <a:solidFill>
                    <a:schemeClr val="accent2"/>
                  </a:solidFill>
                  <a:latin typeface="Times New Roman" pitchFamily="18" charset="0"/>
                </a:rPr>
                <a:t>n</a:t>
              </a: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137239" name="Text Box 23"/>
            <p:cNvSpPr txBox="1">
              <a:spLocks noChangeArrowheads="1"/>
            </p:cNvSpPr>
            <p:nvPr/>
          </p:nvSpPr>
          <p:spPr bwMode="auto">
            <a:xfrm>
              <a:off x="1454" y="177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2400" b="1" i="1">
                  <a:solidFill>
                    <a:schemeClr val="accent2"/>
                  </a:solidFill>
                  <a:latin typeface="Times New Roman" pitchFamily="18" charset="0"/>
                </a:rPr>
                <a:t>w</a:t>
              </a:r>
              <a:r>
                <a:rPr lang="en-US" altLang="en-US" sz="2400" b="1" i="1" baseline="-25000">
                  <a:solidFill>
                    <a:schemeClr val="accent2"/>
                  </a:solidFill>
                  <a:latin typeface="Times New Roman" pitchFamily="18" charset="0"/>
                </a:rPr>
                <a:t>2</a:t>
              </a: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137240" name="Text Box 24"/>
            <p:cNvSpPr txBox="1">
              <a:spLocks noChangeArrowheads="1"/>
            </p:cNvSpPr>
            <p:nvPr/>
          </p:nvSpPr>
          <p:spPr bwMode="auto">
            <a:xfrm>
              <a:off x="1454" y="148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2400" b="1" i="1">
                  <a:solidFill>
                    <a:schemeClr val="accent2"/>
                  </a:solidFill>
                  <a:latin typeface="Times New Roman" pitchFamily="18" charset="0"/>
                </a:rPr>
                <a:t>w</a:t>
              </a:r>
              <a:r>
                <a:rPr lang="en-US" altLang="en-US" sz="2400" b="1" i="1" baseline="-25000">
                  <a:solidFill>
                    <a:schemeClr val="accent2"/>
                  </a:solidFill>
                  <a:latin typeface="Times New Roman" pitchFamily="18" charset="0"/>
                </a:rPr>
                <a:t>1</a:t>
              </a: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137241" name="Text Box 25"/>
            <p:cNvSpPr txBox="1">
              <a:spLocks noChangeArrowheads="1"/>
            </p:cNvSpPr>
            <p:nvPr/>
          </p:nvSpPr>
          <p:spPr bwMode="auto">
            <a:xfrm>
              <a:off x="1454" y="2112"/>
              <a:ext cx="3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2400" b="1" i="1">
                  <a:solidFill>
                    <a:schemeClr val="accent2"/>
                  </a:solidFill>
                  <a:latin typeface="Times New Roman" pitchFamily="18" charset="0"/>
                </a:rPr>
                <a:t>w</a:t>
              </a:r>
              <a:r>
                <a:rPr lang="en-US" altLang="en-US" sz="2400" b="1" i="1" baseline="-25000">
                  <a:solidFill>
                    <a:schemeClr val="accent2"/>
                  </a:solidFill>
                  <a:latin typeface="Times New Roman" pitchFamily="18" charset="0"/>
                </a:rPr>
                <a:t>n</a:t>
              </a: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137242" name="Text Box 26"/>
            <p:cNvSpPr txBox="1">
              <a:spLocks noChangeArrowheads="1"/>
            </p:cNvSpPr>
            <p:nvPr/>
          </p:nvSpPr>
          <p:spPr bwMode="auto">
            <a:xfrm>
              <a:off x="1868" y="1104"/>
              <a:ext cx="74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2400" b="1" i="1">
                  <a:solidFill>
                    <a:schemeClr val="accent2"/>
                  </a:solidFill>
                  <a:latin typeface="Times New Roman" pitchFamily="18" charset="0"/>
                </a:rPr>
                <a:t> b </a:t>
              </a:r>
              <a:r>
                <a:rPr lang="en-US" altLang="en-US" sz="2400">
                  <a:latin typeface="Times New Roman" pitchFamily="18" charset="0"/>
                </a:rPr>
                <a:t>(bias)</a:t>
              </a:r>
            </a:p>
          </p:txBody>
        </p:sp>
        <p:sp>
          <p:nvSpPr>
            <p:cNvPr id="137243" name="Text Box 27"/>
            <p:cNvSpPr txBox="1">
              <a:spLocks noChangeArrowheads="1"/>
            </p:cNvSpPr>
            <p:nvPr/>
          </p:nvSpPr>
          <p:spPr bwMode="auto">
            <a:xfrm>
              <a:off x="2603" y="1632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2400" b="1" i="1">
                  <a:solidFill>
                    <a:schemeClr val="accent2"/>
                  </a:solidFill>
                  <a:latin typeface="Times New Roman" pitchFamily="18" charset="0"/>
                </a:rPr>
                <a:t>v</a:t>
              </a: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137244" name="Text Box 28"/>
            <p:cNvSpPr txBox="1">
              <a:spLocks noChangeArrowheads="1"/>
            </p:cNvSpPr>
            <p:nvPr/>
          </p:nvSpPr>
          <p:spPr bwMode="auto">
            <a:xfrm>
              <a:off x="3616" y="1632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2400" b="1" i="1">
                  <a:solidFill>
                    <a:schemeClr val="accent2"/>
                  </a:solidFill>
                  <a:latin typeface="Times New Roman" pitchFamily="18" charset="0"/>
                </a:rPr>
                <a:t>y</a:t>
              </a: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137245" name="Text Box 29"/>
            <p:cNvSpPr txBox="1">
              <a:spLocks noChangeArrowheads="1"/>
            </p:cNvSpPr>
            <p:nvPr/>
          </p:nvSpPr>
          <p:spPr bwMode="auto">
            <a:xfrm>
              <a:off x="2817" y="1872"/>
              <a:ext cx="44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2400" b="1" i="1">
                  <a:solidFill>
                    <a:schemeClr val="accent2"/>
                  </a:solidFill>
                  <a:latin typeface="Times New Roman" pitchFamily="18" charset="0"/>
                  <a:sym typeface="Symbol" charset="2"/>
                </a:rPr>
                <a:t>(v)</a:t>
              </a:r>
              <a:endParaRPr lang="en-US" altLang="en-US" sz="2400">
                <a:latin typeface="Times New Roman" pitchFamily="18" charset="0"/>
              </a:endParaRPr>
            </a:p>
          </p:txBody>
        </p:sp>
      </p:grpSp>
      <p:graphicFrame>
        <p:nvGraphicFramePr>
          <p:cNvPr id="137246" name="Object 30"/>
          <p:cNvGraphicFramePr>
            <a:graphicFrameLocks noChangeAspect="1"/>
          </p:cNvGraphicFramePr>
          <p:nvPr/>
        </p:nvGraphicFramePr>
        <p:xfrm>
          <a:off x="1905000" y="3200400"/>
          <a:ext cx="50292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1168200" imgH="457200" progId="Equation.3">
                  <p:embed/>
                </p:oleObj>
              </mc:Choice>
              <mc:Fallback>
                <p:oleObj name="Equation" r:id="rId3" imgW="1168200" imgH="457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200400"/>
                        <a:ext cx="50292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1604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990600"/>
          </a:xfrm>
        </p:spPr>
        <p:txBody>
          <a:bodyPr/>
          <a:lstStyle/>
          <a:p>
            <a:r>
              <a:rPr lang="en-US" altLang="en-US" sz="4000"/>
              <a:t>Perceptron for Classification</a:t>
            </a:r>
            <a:r>
              <a:rPr lang="en-US" altLang="en-US"/>
              <a:t> 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610600" cy="4953000"/>
          </a:xfrm>
        </p:spPr>
        <p:txBody>
          <a:bodyPr/>
          <a:lstStyle/>
          <a:p>
            <a:pPr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400" dirty="0">
                <a:solidFill>
                  <a:schemeClr val="tx2"/>
                </a:solidFill>
              </a:rPr>
              <a:t>The perceptron is used for binary classification.</a:t>
            </a:r>
          </a:p>
          <a:p>
            <a:pPr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400" dirty="0">
                <a:solidFill>
                  <a:schemeClr val="tx2"/>
                </a:solidFill>
              </a:rPr>
              <a:t>First train a perceptron for a classification task.</a:t>
            </a:r>
            <a:endParaRPr lang="en-US" altLang="en-US" sz="2400" dirty="0"/>
          </a:p>
          <a:p>
            <a:pPr lvl="1"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−"/>
            </a:pPr>
            <a:r>
              <a:rPr lang="en-US" altLang="en-US" sz="2000" dirty="0"/>
              <a:t>Find suitable weights in such a way that the training examples are correctly classified.</a:t>
            </a:r>
          </a:p>
          <a:p>
            <a:pPr lvl="1"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−"/>
            </a:pPr>
            <a:r>
              <a:rPr lang="en-US" altLang="en-US" sz="2000" dirty="0"/>
              <a:t>Geometrically try to find a hyper-plane that separates the examples of the two classes.</a:t>
            </a:r>
            <a:endParaRPr lang="en-US" altLang="en-US" sz="2000" baseline="-25000" dirty="0">
              <a:solidFill>
                <a:schemeClr val="accent2"/>
              </a:solidFill>
              <a:sym typeface="Symbol" charset="2"/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400" dirty="0">
                <a:solidFill>
                  <a:srgbClr val="009900"/>
                </a:solidFill>
              </a:rPr>
              <a:t>The perceptron </a:t>
            </a:r>
            <a:r>
              <a:rPr lang="en-US" altLang="en-US" sz="2400" dirty="0"/>
              <a:t>can only model</a:t>
            </a:r>
            <a:r>
              <a:rPr lang="en-US" altLang="en-US" sz="2400" dirty="0">
                <a:solidFill>
                  <a:srgbClr val="009900"/>
                </a:solidFill>
              </a:rPr>
              <a:t> linearly separable classes. </a:t>
            </a:r>
            <a:r>
              <a:rPr lang="en-US" altLang="en-US" sz="2400" dirty="0"/>
              <a:t> </a:t>
            </a:r>
          </a:p>
          <a:p>
            <a:pPr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400" dirty="0"/>
              <a:t>When the two classes are not linearly separable, it may be desirable to obtain a linear separator that minimizes the mean squared error</a:t>
            </a:r>
          </a:p>
          <a:p>
            <a:pPr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400" dirty="0"/>
              <a:t>Given training examples of classes C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C</a:t>
            </a:r>
            <a:r>
              <a:rPr lang="en-US" altLang="en-US" sz="2400" baseline="-25000" dirty="0"/>
              <a:t>2  </a:t>
            </a:r>
            <a:r>
              <a:rPr lang="en-US" altLang="en-US" sz="2400" dirty="0"/>
              <a:t>train the perceptron in such a way that :</a:t>
            </a:r>
          </a:p>
          <a:p>
            <a:pPr lvl="1"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−"/>
            </a:pPr>
            <a:r>
              <a:rPr lang="en-US" altLang="en-US" sz="2000" i="1" dirty="0"/>
              <a:t>If the output of the perceptron is +1 </a:t>
            </a:r>
            <a:r>
              <a:rPr lang="en-US" altLang="en-US" sz="2000" i="1" dirty="0">
                <a:sym typeface="Symbol" charset="2"/>
              </a:rPr>
              <a:t>then the input is assigned to class C</a:t>
            </a:r>
            <a:r>
              <a:rPr lang="en-US" altLang="en-US" sz="2000" i="1" baseline="-25000" dirty="0">
                <a:sym typeface="Symbol" charset="2"/>
              </a:rPr>
              <a:t>1</a:t>
            </a:r>
            <a:endParaRPr lang="en-US" altLang="en-US" sz="2000" dirty="0">
              <a:sym typeface="Symbol" charset="2"/>
            </a:endParaRPr>
          </a:p>
          <a:p>
            <a:pPr lvl="1"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−"/>
            </a:pPr>
            <a:r>
              <a:rPr lang="en-US" altLang="en-US" sz="2000" i="1" dirty="0">
                <a:sym typeface="Symbol" charset="2"/>
              </a:rPr>
              <a:t>If the output  is -1 then the input is assigned to C</a:t>
            </a:r>
            <a:r>
              <a:rPr lang="en-US" altLang="en-US" sz="2000" i="1" baseline="-25000" dirty="0">
                <a:sym typeface="Symbol" charset="2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44159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3" name="Rectangle 5"/>
          <p:cNvSpPr>
            <a:spLocks noChangeArrowheads="1"/>
          </p:cNvSpPr>
          <p:nvPr/>
        </p:nvSpPr>
        <p:spPr bwMode="auto">
          <a:xfrm>
            <a:off x="0" y="2114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47812" name="Object 4"/>
          <p:cNvGraphicFramePr>
            <a:graphicFrameLocks noChangeAspect="1"/>
          </p:cNvGraphicFramePr>
          <p:nvPr/>
        </p:nvGraphicFramePr>
        <p:xfrm>
          <a:off x="0" y="1676400"/>
          <a:ext cx="8686800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Document" r:id="rId2" imgW="5491445" imgH="2625238" progId="Word.Document.8">
                  <p:embed/>
                </p:oleObj>
              </mc:Choice>
              <mc:Fallback>
                <p:oleObj name="Document" r:id="rId2" imgW="5491445" imgH="2625238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676400"/>
                        <a:ext cx="8686800" cy="487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7814" name="Text Box 6"/>
          <p:cNvSpPr txBox="1">
            <a:spLocks noChangeArrowheads="1"/>
          </p:cNvSpPr>
          <p:nvPr/>
        </p:nvSpPr>
        <p:spPr bwMode="auto">
          <a:xfrm>
            <a:off x="685800" y="304800"/>
            <a:ext cx="8153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3600" dirty="0">
                <a:solidFill>
                  <a:schemeClr val="tx2"/>
                </a:solidFill>
                <a:latin typeface="Times New Roman" pitchFamily="18" charset="0"/>
              </a:rPr>
              <a:t>Boolean function OR – Linearly separable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09800" y="61722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0" y="59436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21336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(1,0)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2860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(1,1)</a:t>
            </a:r>
          </a:p>
        </p:txBody>
      </p:sp>
      <p:sp>
        <p:nvSpPr>
          <p:cNvPr id="10" name="Oval 9"/>
          <p:cNvSpPr/>
          <p:nvPr/>
        </p:nvSpPr>
        <p:spPr>
          <a:xfrm>
            <a:off x="6477000" y="3429000"/>
            <a:ext cx="10668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5638800" y="3200400"/>
            <a:ext cx="9144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endCxn id="10" idx="2"/>
          </p:cNvCxnSpPr>
          <p:nvPr/>
        </p:nvCxnSpPr>
        <p:spPr>
          <a:xfrm flipV="1">
            <a:off x="5715000" y="3886200"/>
            <a:ext cx="7620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0" idx="6"/>
          </p:cNvCxnSpPr>
          <p:nvPr/>
        </p:nvCxnSpPr>
        <p:spPr>
          <a:xfrm>
            <a:off x="7543800" y="3886200"/>
            <a:ext cx="762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57800" y="3276600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X1=0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20266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X2=0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8600" y="3962400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Y=0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006255" y="31358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-0.2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9800" y="42672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</a:t>
            </a:r>
          </a:p>
        </p:txBody>
      </p:sp>
    </p:spTree>
    <p:extLst>
      <p:ext uri="{BB962C8B-B14F-4D97-AF65-F5344CB8AC3E}">
        <p14:creationId xmlns:p14="http://schemas.microsoft.com/office/powerpoint/2010/main" val="2389156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600" y="1447800"/>
            <a:ext cx="3297698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</a:t>
            </a:r>
          </a:p>
          <a:p>
            <a:r>
              <a:rPr lang="en-US" dirty="0"/>
              <a:t>X </a:t>
            </a:r>
            <a:r>
              <a:rPr lang="en-US" dirty="0" err="1"/>
              <a:t>x</a:t>
            </a:r>
            <a:r>
              <a:rPr lang="en-US" dirty="0"/>
              <a:t> </a:t>
            </a:r>
            <a:r>
              <a:rPr lang="en-US" dirty="0" err="1"/>
              <a:t>x</a:t>
            </a:r>
            <a:r>
              <a:rPr lang="en-US" dirty="0"/>
              <a:t> </a:t>
            </a:r>
            <a:r>
              <a:rPr lang="en-US" dirty="0" err="1"/>
              <a:t>x</a:t>
            </a:r>
            <a:r>
              <a:rPr lang="en-US" dirty="0"/>
              <a:t> </a:t>
            </a:r>
            <a:r>
              <a:rPr lang="en-US" dirty="0" err="1"/>
              <a:t>x</a:t>
            </a:r>
            <a:r>
              <a:rPr lang="en-US" dirty="0"/>
              <a:t>   y </a:t>
            </a:r>
            <a:r>
              <a:rPr lang="en-US" dirty="0" err="1"/>
              <a:t>y</a:t>
            </a:r>
            <a:r>
              <a:rPr lang="en-US" dirty="0"/>
              <a:t> </a:t>
            </a:r>
            <a:r>
              <a:rPr lang="en-US" dirty="0" err="1"/>
              <a:t>y</a:t>
            </a:r>
            <a:endParaRPr lang="en-US" dirty="0"/>
          </a:p>
          <a:p>
            <a:r>
              <a:rPr lang="en-US" dirty="0"/>
              <a:t>X </a:t>
            </a:r>
            <a:r>
              <a:rPr lang="en-US" dirty="0" err="1"/>
              <a:t>x</a:t>
            </a:r>
            <a:r>
              <a:rPr lang="en-US" dirty="0"/>
              <a:t> </a:t>
            </a:r>
            <a:r>
              <a:rPr lang="en-US" dirty="0" err="1"/>
              <a:t>xy</a:t>
            </a:r>
            <a:r>
              <a:rPr lang="en-US" dirty="0"/>
              <a:t>  y </a:t>
            </a:r>
            <a:r>
              <a:rPr lang="en-US" dirty="0" err="1"/>
              <a:t>y</a:t>
            </a:r>
            <a:r>
              <a:rPr lang="en-US" dirty="0"/>
              <a:t> </a:t>
            </a:r>
            <a:r>
              <a:rPr lang="en-US" dirty="0" err="1"/>
              <a:t>y</a:t>
            </a:r>
            <a:endParaRPr lang="en-US" dirty="0"/>
          </a:p>
          <a:p>
            <a:r>
              <a:rPr lang="en-US" dirty="0"/>
              <a:t>Y </a:t>
            </a:r>
            <a:r>
              <a:rPr lang="en-US" dirty="0" err="1"/>
              <a:t>y</a:t>
            </a:r>
            <a:r>
              <a:rPr lang="en-US" dirty="0"/>
              <a:t> </a:t>
            </a:r>
            <a:r>
              <a:rPr lang="en-US" dirty="0" err="1"/>
              <a:t>y</a:t>
            </a:r>
            <a:endParaRPr lang="en-US" dirty="0"/>
          </a:p>
          <a:p>
            <a:r>
              <a:rPr lang="en-US" dirty="0"/>
              <a:t>y</a:t>
            </a:r>
          </a:p>
          <a:p>
            <a:r>
              <a:rPr lang="en-US" dirty="0"/>
              <a:t>X </a:t>
            </a:r>
            <a:r>
              <a:rPr lang="en-US" dirty="0" err="1"/>
              <a:t>x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y </a:t>
            </a:r>
            <a:r>
              <a:rPr lang="en-US" dirty="0" err="1"/>
              <a:t>y</a:t>
            </a:r>
            <a:r>
              <a:rPr lang="en-US" dirty="0"/>
              <a:t> </a:t>
            </a:r>
            <a:r>
              <a:rPr lang="en-US" dirty="0" err="1"/>
              <a:t>y</a:t>
            </a:r>
            <a:r>
              <a:rPr lang="en-US" dirty="0"/>
              <a:t> </a:t>
            </a:r>
            <a:r>
              <a:rPr lang="en-US" dirty="0" err="1"/>
              <a:t>y</a:t>
            </a:r>
            <a:r>
              <a:rPr lang="en-US" dirty="0"/>
              <a:t> </a:t>
            </a:r>
            <a:r>
              <a:rPr lang="en-US" dirty="0" err="1"/>
              <a:t>y</a:t>
            </a:r>
            <a:endParaRPr lang="en-US" dirty="0"/>
          </a:p>
          <a:p>
            <a:r>
              <a:rPr lang="en-US" dirty="0"/>
              <a:t>Y</a:t>
            </a:r>
          </a:p>
          <a:p>
            <a:r>
              <a:rPr lang="en-US" dirty="0" err="1"/>
              <a:t>Yy</a:t>
            </a:r>
            <a:r>
              <a:rPr lang="en-US" dirty="0"/>
              <a:t> y </a:t>
            </a:r>
            <a:r>
              <a:rPr lang="en-US" dirty="0" err="1"/>
              <a:t>y</a:t>
            </a:r>
            <a:r>
              <a:rPr lang="en-US" dirty="0"/>
              <a:t>  </a:t>
            </a:r>
            <a:r>
              <a:rPr lang="en-US" dirty="0" err="1"/>
              <a:t>y</a:t>
            </a:r>
            <a:r>
              <a:rPr lang="en-US" dirty="0"/>
              <a:t> </a:t>
            </a:r>
          </a:p>
          <a:p>
            <a:r>
              <a:rPr lang="en-US" dirty="0" err="1"/>
              <a:t>Yy</a:t>
            </a:r>
            <a:r>
              <a:rPr lang="en-US" dirty="0"/>
              <a:t> y    x   </a:t>
            </a:r>
            <a:r>
              <a:rPr lang="en-US" dirty="0" err="1"/>
              <a:t>x</a:t>
            </a:r>
            <a:r>
              <a:rPr lang="en-US" dirty="0"/>
              <a:t>   </a:t>
            </a:r>
            <a:r>
              <a:rPr lang="en-US" dirty="0" err="1"/>
              <a:t>x</a:t>
            </a:r>
            <a:endParaRPr lang="en-US" dirty="0"/>
          </a:p>
          <a:p>
            <a:r>
              <a:rPr lang="en-US" dirty="0"/>
              <a:t>Y </a:t>
            </a:r>
            <a:r>
              <a:rPr lang="en-US" dirty="0" err="1"/>
              <a:t>y</a:t>
            </a:r>
            <a:r>
              <a:rPr lang="en-US" dirty="0"/>
              <a:t> x   </a:t>
            </a:r>
            <a:r>
              <a:rPr lang="en-US" dirty="0" err="1"/>
              <a:t>x</a:t>
            </a:r>
            <a:r>
              <a:rPr lang="en-US" dirty="0"/>
              <a:t> </a:t>
            </a:r>
            <a:r>
              <a:rPr lang="en-US" dirty="0" err="1"/>
              <a:t>x</a:t>
            </a:r>
            <a:r>
              <a:rPr lang="en-US" dirty="0"/>
              <a:t>   </a:t>
            </a:r>
            <a:r>
              <a:rPr lang="en-US" dirty="0" err="1"/>
              <a:t>x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?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362200"/>
            <a:ext cx="1143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 flipH="1" flipV="1">
            <a:off x="1295400" y="1447800"/>
            <a:ext cx="1219200" cy="7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5400000" flipH="1" flipV="1">
            <a:off x="762000" y="3733800"/>
            <a:ext cx="1981200" cy="152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447800" y="4495800"/>
            <a:ext cx="1828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57200" y="2895600"/>
            <a:ext cx="1752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57200" y="3200400"/>
            <a:ext cx="2209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67400" y="1981200"/>
            <a:ext cx="208422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Wi</a:t>
            </a:r>
            <a:r>
              <a:rPr lang="en-US" dirty="0"/>
              <a:t>=0.7</a:t>
            </a:r>
          </a:p>
          <a:p>
            <a:endParaRPr lang="en-US" dirty="0"/>
          </a:p>
          <a:p>
            <a:r>
              <a:rPr lang="en-US" dirty="0"/>
              <a:t>a= -0.001</a:t>
            </a:r>
          </a:p>
          <a:p>
            <a:endParaRPr lang="en-US" dirty="0"/>
          </a:p>
          <a:p>
            <a:r>
              <a:rPr lang="en-US" dirty="0"/>
              <a:t>Xi=1 </a:t>
            </a:r>
          </a:p>
          <a:p>
            <a:endParaRPr lang="en-US" dirty="0"/>
          </a:p>
          <a:p>
            <a:r>
              <a:rPr lang="en-US" dirty="0"/>
              <a:t>E=1</a:t>
            </a:r>
          </a:p>
          <a:p>
            <a:endParaRPr lang="en-US" dirty="0"/>
          </a:p>
          <a:p>
            <a:r>
              <a:rPr lang="en-US" altLang="en-US" dirty="0" err="1"/>
              <a:t>wi</a:t>
            </a:r>
            <a:r>
              <a:rPr lang="en-US" altLang="en-US" dirty="0"/>
              <a:t>  </a:t>
            </a:r>
            <a:r>
              <a:rPr lang="en-US" altLang="en-US" dirty="0">
                <a:sym typeface="Symbol" charset="2"/>
              </a:rPr>
              <a:t></a:t>
            </a:r>
            <a:r>
              <a:rPr lang="en-US" altLang="en-US" dirty="0"/>
              <a:t> </a:t>
            </a:r>
            <a:r>
              <a:rPr lang="en-US" altLang="en-US" dirty="0" err="1"/>
              <a:t>wi</a:t>
            </a:r>
            <a:r>
              <a:rPr lang="en-US" altLang="en-US" dirty="0"/>
              <a:t> + (a* xi *e)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90600"/>
          </a:xfrm>
        </p:spPr>
        <p:txBody>
          <a:bodyPr/>
          <a:lstStyle/>
          <a:p>
            <a:r>
              <a:rPr lang="en-US" altLang="en-US" sz="4000"/>
              <a:t>Learning Process for Perceptron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8229600" cy="4648200"/>
          </a:xfrm>
        </p:spPr>
        <p:txBody>
          <a:bodyPr/>
          <a:lstStyle/>
          <a:p>
            <a:pPr algn="just"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400" dirty="0"/>
              <a:t>Initially assign random weights to inputs between -0.5 and +0.5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400" dirty="0"/>
              <a:t>Training data is presented to perceptron and its output is observed.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400" dirty="0"/>
              <a:t>If output is incorrect, the weights are adjusted accordingly using following formula.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None/>
            </a:pPr>
            <a:r>
              <a:rPr lang="en-US" altLang="en-US" sz="2400" dirty="0"/>
              <a:t>			</a:t>
            </a:r>
            <a:r>
              <a:rPr lang="en-US" altLang="en-US" sz="2400" dirty="0" err="1"/>
              <a:t>wi</a:t>
            </a:r>
            <a:r>
              <a:rPr lang="en-US" altLang="en-US" sz="2400" dirty="0"/>
              <a:t>  </a:t>
            </a:r>
            <a:r>
              <a:rPr lang="en-US" altLang="en-US" sz="2400" dirty="0">
                <a:sym typeface="Symbol" charset="2"/>
              </a:rPr>
              <a:t></a:t>
            </a:r>
            <a:r>
              <a:rPr lang="en-US" altLang="en-US" sz="2400" dirty="0"/>
              <a:t> </a:t>
            </a:r>
            <a:r>
              <a:rPr lang="en-US" altLang="en-US" sz="2400" dirty="0" err="1"/>
              <a:t>wi</a:t>
            </a:r>
            <a:r>
              <a:rPr lang="en-US" altLang="en-US" sz="2400" dirty="0"/>
              <a:t> + (a* xi *e), </a:t>
            </a:r>
            <a:r>
              <a:rPr lang="en-US" altLang="en-US" sz="2000" dirty="0"/>
              <a:t>where ‘e’ is error produced 				and ‘a’ (-1 </a:t>
            </a:r>
            <a:r>
              <a:rPr lang="en-US" altLang="en-US" sz="2000" dirty="0">
                <a:sym typeface="Symbol" charset="2"/>
              </a:rPr>
              <a:t></a:t>
            </a:r>
            <a:r>
              <a:rPr lang="en-US" altLang="en-US" sz="2000" dirty="0"/>
              <a:t> a </a:t>
            </a:r>
            <a:r>
              <a:rPr lang="en-US" altLang="en-US" sz="2000" dirty="0">
                <a:sym typeface="Symbol" charset="2"/>
              </a:rPr>
              <a:t></a:t>
            </a:r>
            <a:r>
              <a:rPr lang="en-US" altLang="en-US" sz="2000" dirty="0"/>
              <a:t> 1) is learning rate</a:t>
            </a:r>
          </a:p>
          <a:p>
            <a:pPr lvl="1" algn="just"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−"/>
            </a:pPr>
            <a:r>
              <a:rPr lang="en-US" altLang="en-US" sz="2000" dirty="0"/>
              <a:t>‘a’ is defined as 0 if output is correct, it is +</a:t>
            </a:r>
            <a:r>
              <a:rPr lang="en-US" altLang="en-US" sz="2000" dirty="0" err="1"/>
              <a:t>ve</a:t>
            </a:r>
            <a:r>
              <a:rPr lang="en-US" altLang="en-US" sz="2000" dirty="0"/>
              <a:t>, if output is too low and –</a:t>
            </a:r>
            <a:r>
              <a:rPr lang="en-US" altLang="en-US" sz="2000" dirty="0" err="1"/>
              <a:t>ve</a:t>
            </a:r>
            <a:r>
              <a:rPr lang="en-US" altLang="en-US" sz="2000" dirty="0"/>
              <a:t>, if output is too high.</a:t>
            </a:r>
          </a:p>
          <a:p>
            <a:pPr lvl="1" algn="just"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−"/>
            </a:pPr>
            <a:r>
              <a:rPr lang="en-US" altLang="en-US" sz="2000" dirty="0"/>
              <a:t>Once the modification to weights has taken place, the next piece of training data is used in the same way.</a:t>
            </a:r>
          </a:p>
          <a:p>
            <a:pPr lvl="1" algn="just"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−"/>
            </a:pPr>
            <a:r>
              <a:rPr lang="en-US" altLang="en-US" sz="2000" dirty="0"/>
              <a:t>Once all the training data have been applied, the process starts again until all the weights are correct and all errors are zero.</a:t>
            </a:r>
          </a:p>
          <a:p>
            <a:pPr lvl="1" algn="just"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−"/>
            </a:pPr>
            <a:r>
              <a:rPr lang="en-US" altLang="en-US" sz="2000" dirty="0"/>
              <a:t>Each iteration of this process is known as an epoch.</a:t>
            </a:r>
          </a:p>
        </p:txBody>
      </p:sp>
    </p:spTree>
    <p:extLst>
      <p:ext uri="{BB962C8B-B14F-4D97-AF65-F5344CB8AC3E}">
        <p14:creationId xmlns:p14="http://schemas.microsoft.com/office/powerpoint/2010/main" val="1665148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534400" cy="1371600"/>
          </a:xfrm>
        </p:spPr>
        <p:txBody>
          <a:bodyPr/>
          <a:lstStyle/>
          <a:p>
            <a:r>
              <a:rPr lang="en-US" altLang="en-US" sz="4000" dirty="0"/>
              <a:t>Example: Perceptron to learn OR function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7244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200" dirty="0"/>
              <a:t>Initially consider w1 = -0.2 and w2 = 0.4</a:t>
            </a:r>
          </a:p>
          <a:p>
            <a:pPr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200" dirty="0"/>
              <a:t>Training data say,  x1 = 0 and x2 = 0,  output is 0.</a:t>
            </a:r>
          </a:p>
          <a:p>
            <a:pPr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200" dirty="0"/>
              <a:t>Compute y = Step(w1*x1 + w2*x2) = 0. Output is correct so weights are not changed.</a:t>
            </a:r>
          </a:p>
          <a:p>
            <a:pPr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●"/>
            </a:pPr>
            <a:endParaRPr lang="en-US" altLang="en-US" sz="2200" dirty="0"/>
          </a:p>
          <a:p>
            <a:pPr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200" dirty="0"/>
              <a:t>For training data x1=0 and x2 = 1, output is 1</a:t>
            </a:r>
          </a:p>
          <a:p>
            <a:pPr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200" dirty="0"/>
              <a:t>Compute y = Step(w1*x1 + w2*x2) = 0.4 = 1. Output is correct so weights are not changed.</a:t>
            </a:r>
          </a:p>
          <a:p>
            <a:pPr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●"/>
            </a:pPr>
            <a:endParaRPr lang="en-US" altLang="en-US" sz="2200" dirty="0"/>
          </a:p>
          <a:p>
            <a:pPr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200" dirty="0"/>
              <a:t>Next training data x1=1 and x2 = 0 and output is 1</a:t>
            </a:r>
          </a:p>
          <a:p>
            <a:pPr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200" dirty="0"/>
              <a:t>Compute y = Step(w1*x1 + w2*x2) = - 0.2 = 0.  Output is incorrect, hence weights are to be changed.</a:t>
            </a:r>
          </a:p>
          <a:p>
            <a:pPr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200" dirty="0"/>
              <a:t>Assume a = 0.2 and error  e=1</a:t>
            </a:r>
          </a:p>
          <a:p>
            <a:pPr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None/>
            </a:pPr>
            <a:r>
              <a:rPr lang="en-US" altLang="en-US" sz="2200" dirty="0"/>
              <a:t>		</a:t>
            </a:r>
            <a:r>
              <a:rPr lang="en-US" altLang="en-US" sz="2200" b="1" dirty="0" err="1"/>
              <a:t>wi</a:t>
            </a:r>
            <a:r>
              <a:rPr lang="en-US" altLang="en-US" sz="2200" b="1" dirty="0"/>
              <a:t>  =  </a:t>
            </a:r>
            <a:r>
              <a:rPr lang="en-US" altLang="en-US" sz="2200" b="1" dirty="0" err="1"/>
              <a:t>wi</a:t>
            </a:r>
            <a:r>
              <a:rPr lang="en-US" altLang="en-US" sz="2200" b="1" dirty="0"/>
              <a:t> + (a * xi * e)  gives w1 = 0 and w2 =0.4</a:t>
            </a:r>
          </a:p>
          <a:p>
            <a:pPr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200" dirty="0"/>
              <a:t>With these weights, test the remaining test data.</a:t>
            </a:r>
          </a:p>
          <a:p>
            <a:pPr>
              <a:lnSpc>
                <a:spcPct val="8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200" dirty="0"/>
              <a:t>Repeat the process till we get stable result.</a:t>
            </a:r>
          </a:p>
        </p:txBody>
      </p:sp>
    </p:spTree>
    <p:extLst>
      <p:ext uri="{BB962C8B-B14F-4D97-AF65-F5344CB8AC3E}">
        <p14:creationId xmlns:p14="http://schemas.microsoft.com/office/powerpoint/2010/main" val="636086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90600"/>
          </a:xfrm>
        </p:spPr>
        <p:txBody>
          <a:bodyPr/>
          <a:lstStyle/>
          <a:p>
            <a:r>
              <a:rPr lang="en-US" altLang="en-US" sz="4000"/>
              <a:t>Perceptron: Limitations</a:t>
            </a:r>
            <a:r>
              <a:rPr lang="en-US" altLang="en-US"/>
              <a:t> 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620000" cy="4724400"/>
          </a:xfrm>
        </p:spPr>
        <p:txBody>
          <a:bodyPr/>
          <a:lstStyle/>
          <a:p>
            <a:pPr algn="just">
              <a:lnSpc>
                <a:spcPct val="9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400"/>
              <a:t>The perceptron can only model linearly separable functions,</a:t>
            </a:r>
          </a:p>
          <a:p>
            <a:pPr lvl="1" algn="just">
              <a:lnSpc>
                <a:spcPct val="90000"/>
              </a:lnSpc>
              <a:buClr>
                <a:schemeClr val="tx1"/>
              </a:buClr>
              <a:buSzTx/>
              <a:buFont typeface="Arial" charset="0"/>
              <a:buChar char="−"/>
            </a:pPr>
            <a:r>
              <a:rPr lang="en-US" altLang="en-US" sz="2000"/>
              <a:t>those functions which can be drawn in 2-dim graph and single straight line separates values in two part.</a:t>
            </a:r>
          </a:p>
          <a:p>
            <a:pPr algn="just">
              <a:lnSpc>
                <a:spcPct val="9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400"/>
              <a:t>Boolean functions given below are linearly separable:</a:t>
            </a:r>
          </a:p>
          <a:p>
            <a:pPr lvl="1" algn="just">
              <a:lnSpc>
                <a:spcPct val="90000"/>
              </a:lnSpc>
              <a:buClr>
                <a:schemeClr val="tx1"/>
              </a:buClr>
              <a:buSzTx/>
              <a:buFont typeface="Arial" charset="0"/>
              <a:buChar char="−"/>
            </a:pPr>
            <a:r>
              <a:rPr lang="en-US" altLang="en-US" sz="2000"/>
              <a:t>AND</a:t>
            </a:r>
          </a:p>
          <a:p>
            <a:pPr lvl="1" algn="just">
              <a:lnSpc>
                <a:spcPct val="90000"/>
              </a:lnSpc>
              <a:buClr>
                <a:schemeClr val="tx1"/>
              </a:buClr>
              <a:buSzTx/>
              <a:buFont typeface="Arial" charset="0"/>
              <a:buChar char="−"/>
            </a:pPr>
            <a:r>
              <a:rPr lang="en-US" altLang="en-US" sz="2000"/>
              <a:t>OR</a:t>
            </a:r>
          </a:p>
          <a:p>
            <a:pPr lvl="1" algn="just">
              <a:lnSpc>
                <a:spcPct val="90000"/>
              </a:lnSpc>
              <a:buClr>
                <a:schemeClr val="tx1"/>
              </a:buClr>
              <a:buSzTx/>
              <a:buFont typeface="Arial" charset="0"/>
              <a:buChar char="−"/>
            </a:pPr>
            <a:r>
              <a:rPr lang="en-US" altLang="en-US" sz="2000"/>
              <a:t>COMPLEMENT</a:t>
            </a:r>
          </a:p>
          <a:p>
            <a:pPr algn="just">
              <a:lnSpc>
                <a:spcPct val="9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400"/>
              <a:t>It cannot model XOR function as it is non linearly separable.</a:t>
            </a:r>
          </a:p>
          <a:p>
            <a:pPr lvl="1" algn="just">
              <a:lnSpc>
                <a:spcPct val="90000"/>
              </a:lnSpc>
              <a:buClr>
                <a:schemeClr val="tx1"/>
              </a:buClr>
              <a:buSzTx/>
              <a:buFont typeface="Arial" charset="0"/>
              <a:buChar char="−"/>
            </a:pPr>
            <a:r>
              <a:rPr lang="en-US" altLang="en-US" sz="2000"/>
              <a:t>When the two classes are not linearly separable, it may be desirable to obtain a linear separator that minimizes the mean squared error.</a:t>
            </a:r>
            <a:endParaRPr lang="en-US" altLang="en-US" sz="2000">
              <a:sym typeface="Symbol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40355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r>
              <a:rPr lang="en-US" altLang="en-US" sz="3400"/>
              <a:t>XOR – Non linearly separable function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924800" cy="41910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400"/>
              <a:t>A typical example of non-linearly separable function is the XOR that computes the logical </a:t>
            </a:r>
            <a:r>
              <a:rPr lang="en-US" altLang="en-US" sz="2400" b="1"/>
              <a:t>exclusive or.</a:t>
            </a:r>
            <a:r>
              <a:rPr lang="en-US" altLang="en-US" sz="2400"/>
              <a:t>. </a:t>
            </a:r>
          </a:p>
          <a:p>
            <a:pPr algn="just">
              <a:lnSpc>
                <a:spcPct val="90000"/>
              </a:lnSpc>
              <a:spcBef>
                <a:spcPct val="0"/>
              </a:spcBef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400"/>
              <a:t>This function takes two input arguments with values in {0,1} and returns one output in {0,1}, </a:t>
            </a:r>
          </a:p>
          <a:p>
            <a:pPr algn="just">
              <a:lnSpc>
                <a:spcPct val="9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400"/>
              <a:t>Here 0 and 1 are encoding of the truth values </a:t>
            </a:r>
            <a:r>
              <a:rPr lang="en-US" altLang="en-US" sz="2400" b="1"/>
              <a:t>false</a:t>
            </a:r>
            <a:r>
              <a:rPr lang="en-US" altLang="en-US" sz="2400"/>
              <a:t> and </a:t>
            </a:r>
            <a:r>
              <a:rPr lang="en-US" altLang="en-US" sz="2400" b="1"/>
              <a:t>true</a:t>
            </a:r>
            <a:r>
              <a:rPr lang="en-US" altLang="en-US" sz="2400"/>
              <a:t>, </a:t>
            </a:r>
          </a:p>
          <a:p>
            <a:pPr algn="just">
              <a:lnSpc>
                <a:spcPct val="9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400"/>
              <a:t>The output is</a:t>
            </a:r>
            <a:r>
              <a:rPr lang="en-US" altLang="en-US" sz="2400" b="1"/>
              <a:t> true</a:t>
            </a:r>
            <a:r>
              <a:rPr lang="en-US" altLang="en-US" sz="2400"/>
              <a:t> if and only if the two inputs have different truth values.</a:t>
            </a:r>
          </a:p>
          <a:p>
            <a:pPr algn="just">
              <a:lnSpc>
                <a:spcPct val="9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400"/>
              <a:t>XOR is non linearly separable function which can not be modeled by perceptron.</a:t>
            </a:r>
          </a:p>
          <a:p>
            <a:pPr algn="just">
              <a:lnSpc>
                <a:spcPct val="90000"/>
              </a:lnSpc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400"/>
              <a:t>For such functions we have to use multi layer feed-forward network. </a:t>
            </a:r>
          </a:p>
        </p:txBody>
      </p:sp>
    </p:spTree>
    <p:extLst>
      <p:ext uri="{BB962C8B-B14F-4D97-AF65-F5344CB8AC3E}">
        <p14:creationId xmlns:p14="http://schemas.microsoft.com/office/powerpoint/2010/main" val="3527478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80" name="Text Box 24"/>
          <p:cNvSpPr txBox="1">
            <a:spLocks noChangeArrowheads="1"/>
          </p:cNvSpPr>
          <p:nvPr/>
        </p:nvSpPr>
        <p:spPr bwMode="auto">
          <a:xfrm>
            <a:off x="685800" y="1905000"/>
            <a:ext cx="8077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sz="2400">
                <a:latin typeface="Times New Roman" pitchFamily="18" charset="0"/>
              </a:rPr>
              <a:t>These two classes (true and false) cannot be separated using a line. Hence XOR is non linearly separable.</a:t>
            </a:r>
          </a:p>
        </p:txBody>
      </p:sp>
      <p:sp>
        <p:nvSpPr>
          <p:cNvPr id="249882" name="Rectangle 26"/>
          <p:cNvSpPr>
            <a:spLocks noChangeArrowheads="1"/>
          </p:cNvSpPr>
          <p:nvPr/>
        </p:nvSpPr>
        <p:spPr bwMode="auto">
          <a:xfrm>
            <a:off x="0" y="2828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49881" name="Object 25"/>
          <p:cNvGraphicFramePr>
            <a:graphicFrameLocks noChangeAspect="1"/>
          </p:cNvGraphicFramePr>
          <p:nvPr/>
        </p:nvGraphicFramePr>
        <p:xfrm>
          <a:off x="0" y="76200"/>
          <a:ext cx="112014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Document" r:id="rId2" imgW="5482436" imgH="1196297" progId="Word.Document.8">
                  <p:embed/>
                </p:oleObj>
              </mc:Choice>
              <mc:Fallback>
                <p:oleObj name="Document" r:id="rId2" imgW="5482436" imgH="1196297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76200"/>
                        <a:ext cx="11201400" cy="198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84" name="Rectangle 28"/>
          <p:cNvSpPr>
            <a:spLocks noChangeArrowheads="1"/>
          </p:cNvSpPr>
          <p:nvPr/>
        </p:nvSpPr>
        <p:spPr bwMode="auto">
          <a:xfrm>
            <a:off x="0" y="2114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49883" name="Object 27"/>
          <p:cNvGraphicFramePr>
            <a:graphicFrameLocks noChangeAspect="1"/>
          </p:cNvGraphicFramePr>
          <p:nvPr/>
        </p:nvGraphicFramePr>
        <p:xfrm>
          <a:off x="0" y="3467100"/>
          <a:ext cx="9525000" cy="316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Document" r:id="rId4" imgW="5491445" imgH="2625238" progId="Word.Document.8">
                  <p:embed/>
                </p:oleObj>
              </mc:Choice>
              <mc:Fallback>
                <p:oleObj name="Document" r:id="rId4" imgW="5491445" imgH="2625238" progId="Word.Document.8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467100"/>
                        <a:ext cx="9525000" cy="316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9350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762000"/>
          </a:xfrm>
        </p:spPr>
        <p:txBody>
          <a:bodyPr/>
          <a:lstStyle/>
          <a:p>
            <a:r>
              <a:rPr lang="en-US" altLang="en-US" sz="3800" dirty="0"/>
              <a:t>NN for XOR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00200"/>
            <a:ext cx="8001000" cy="2133600"/>
          </a:xfrm>
        </p:spPr>
        <p:txBody>
          <a:bodyPr/>
          <a:lstStyle/>
          <a:p>
            <a:pPr algn="just"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000"/>
              <a:t>The ANN for XOR has two hidden nodes that realizes this non-linear separation and uses the sign (step) activation function. </a:t>
            </a:r>
          </a:p>
          <a:p>
            <a:pPr algn="just"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000"/>
              <a:t>Arrows from input nodes to two hidden nodes indicate the directions of the weight vectors  (1,-1) and  (-1,1). </a:t>
            </a:r>
          </a:p>
          <a:p>
            <a:pPr algn="just">
              <a:buClr>
                <a:schemeClr val="tx1"/>
              </a:buClr>
              <a:buSzTx/>
              <a:buFont typeface="Arial" charset="0"/>
              <a:buChar char="●"/>
            </a:pPr>
            <a:r>
              <a:rPr lang="en-US" altLang="en-US" sz="2000"/>
              <a:t>The output node is used to combine the outputs of the two hidden nodes.</a:t>
            </a:r>
          </a:p>
        </p:txBody>
      </p:sp>
      <p:graphicFrame>
        <p:nvGraphicFramePr>
          <p:cNvPr id="251908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609600" y="3810000"/>
          <a:ext cx="73152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Document" r:id="rId2" imgW="5483101" imgH="1752049" progId="Word.Document.8">
                  <p:embed/>
                </p:oleObj>
              </mc:Choice>
              <mc:Fallback>
                <p:oleObj name="Document" r:id="rId2" imgW="5483101" imgH="1752049" progId="Word.Document.8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810000"/>
                        <a:ext cx="7315200" cy="289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273288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9" name="Rectangle 5"/>
          <p:cNvSpPr>
            <a:spLocks noChangeArrowheads="1"/>
          </p:cNvSpPr>
          <p:nvPr/>
        </p:nvSpPr>
        <p:spPr bwMode="auto">
          <a:xfrm>
            <a:off x="0" y="2824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57028" name="Object 4"/>
          <p:cNvGraphicFramePr>
            <a:graphicFrameLocks noChangeAspect="1"/>
          </p:cNvGraphicFramePr>
          <p:nvPr/>
        </p:nvGraphicFramePr>
        <p:xfrm>
          <a:off x="685800" y="762000"/>
          <a:ext cx="7991475" cy="464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Document" r:id="rId2" imgW="5474106" imgH="1212542" progId="Word.Document.8">
                  <p:embed/>
                </p:oleObj>
              </mc:Choice>
              <mc:Fallback>
                <p:oleObj name="Document" r:id="rId2" imgW="5474106" imgH="1212542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762000"/>
                        <a:ext cx="7991475" cy="464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7030" name="Text Box 6"/>
          <p:cNvSpPr txBox="1">
            <a:spLocks noChangeArrowheads="1"/>
          </p:cNvSpPr>
          <p:nvPr/>
        </p:nvSpPr>
        <p:spPr bwMode="auto">
          <a:xfrm>
            <a:off x="685800" y="4876800"/>
            <a:ext cx="80772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GB" altLang="en-US" sz="2400">
                <a:latin typeface="Times New Roman" pitchFamily="18" charset="0"/>
              </a:rPr>
              <a:t>Since we are representing two states by 0 (false) and 1 (true), we will map negative outputs (–1, –0.5) of hidden and output layers to 0 and positive output (0.5) to 1. </a:t>
            </a:r>
            <a:endParaRPr lang="en-US" altLang="en-US" sz="2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998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Feed Forward 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676400"/>
            <a:ext cx="7315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u="sng" dirty="0"/>
              <a:t>Feed-forward</a:t>
            </a:r>
            <a:r>
              <a:rPr lang="en-US" dirty="0"/>
              <a:t> ANNs allow signals to travel one way only: from input to output.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Also known as Multi-Layered Perceptron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There are no feedback (loops); </a:t>
            </a:r>
            <a:r>
              <a:rPr lang="en-US" i="1" dirty="0"/>
              <a:t>i.e.</a:t>
            </a:r>
            <a:r>
              <a:rPr lang="en-US" dirty="0"/>
              <a:t>, the output of any layer does not affect that same layer.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Feed-forward ANNs tend to be straightforward networks that associate inputs with outputs.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They are extensively used in pattern recognition. This type of </a:t>
            </a:r>
            <a:r>
              <a:rPr lang="en-US" dirty="0" err="1"/>
              <a:t>organisation</a:t>
            </a:r>
            <a:r>
              <a:rPr lang="en-US" dirty="0"/>
              <a:t> is also referred to as bottom-up or top-down</a:t>
            </a: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0" y="4114799"/>
            <a:ext cx="3505200" cy="2541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 </a:t>
            </a:r>
            <a:r>
              <a:rPr lang="en-US" dirty="0" err="1"/>
              <a:t>BackNN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base"/>
            <a:r>
              <a:rPr lang="en-US" b="1" u="sng" dirty="0"/>
              <a:t>Feedback</a:t>
            </a:r>
            <a:r>
              <a:rPr lang="en-US" dirty="0"/>
              <a:t> (or recurrent or interactive) networks can have signals traveling in both directions by introducing loops in the network.</a:t>
            </a:r>
          </a:p>
          <a:p>
            <a:pPr fontAlgn="base"/>
            <a:r>
              <a:rPr lang="en-US" dirty="0"/>
              <a:t>Feedback networks are powerful and can get extremely complicated. Computations derived from earlier input are fed back into the network, which gives them a kind of memory. </a:t>
            </a:r>
          </a:p>
          <a:p>
            <a:pPr fontAlgn="base"/>
            <a:r>
              <a:rPr lang="en-US" dirty="0"/>
              <a:t>Feedback networks are dynamic; their 'state' is changing continuously until they reach an equilibrium point. </a:t>
            </a:r>
          </a:p>
          <a:p>
            <a:pPr fontAlgn="base"/>
            <a:r>
              <a:rPr lang="en-US" dirty="0"/>
              <a:t>They remain at the equilibrium point until the input changes and a new equilibrium needs to be found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1264919" y="1828800"/>
            <a:ext cx="67360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Thanks </a:t>
            </a:r>
          </a:p>
          <a:p>
            <a:endParaRPr lang="en-US" sz="4000" dirty="0"/>
          </a:p>
          <a:p>
            <a:r>
              <a:rPr lang="en-US" sz="4000" dirty="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1332</Words>
  <Application>Microsoft Office PowerPoint</Application>
  <PresentationFormat>On-screen Show (4:3)</PresentationFormat>
  <Paragraphs>156</Paragraphs>
  <Slides>23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Times New Roman</vt:lpstr>
      <vt:lpstr>Office Theme</vt:lpstr>
      <vt:lpstr>Equation</vt:lpstr>
      <vt:lpstr>Document</vt:lpstr>
      <vt:lpstr>Artificial neural networks (ANN)</vt:lpstr>
      <vt:lpstr>Introduction</vt:lpstr>
      <vt:lpstr>Comparison pictures </vt:lpstr>
      <vt:lpstr>What is a perceptron</vt:lpstr>
      <vt:lpstr>What is a perceptron?</vt:lpstr>
      <vt:lpstr>PowerPoint Presentation</vt:lpstr>
      <vt:lpstr>Single layer perceptron</vt:lpstr>
      <vt:lpstr> Different Non-Linearly Separable Problems </vt:lpstr>
      <vt:lpstr>PowerPoint Presentation</vt:lpstr>
      <vt:lpstr>Perceptron: Neuron Model  (Special form of single layer feed forward)</vt:lpstr>
      <vt:lpstr>Perceptron for Classification </vt:lpstr>
      <vt:lpstr>PowerPoint Presentation</vt:lpstr>
      <vt:lpstr>PowerPoint Presentation</vt:lpstr>
      <vt:lpstr>Learning Process for Perceptron</vt:lpstr>
      <vt:lpstr>Example: Perceptron to learn OR function</vt:lpstr>
      <vt:lpstr>Perceptron: Limitations </vt:lpstr>
      <vt:lpstr>XOR – Non linearly separable function</vt:lpstr>
      <vt:lpstr>PowerPoint Presentation</vt:lpstr>
      <vt:lpstr>NN for XOR</vt:lpstr>
      <vt:lpstr>PowerPoint Presentation</vt:lpstr>
      <vt:lpstr>Feed Forward NN</vt:lpstr>
      <vt:lpstr>Feed BackNN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Networks</dc:title>
  <dc:creator>Ali</dc:creator>
  <cp:lastModifiedBy>Ali Saeed</cp:lastModifiedBy>
  <cp:revision>49</cp:revision>
  <dcterms:created xsi:type="dcterms:W3CDTF">2006-08-16T00:00:00Z</dcterms:created>
  <dcterms:modified xsi:type="dcterms:W3CDTF">2022-11-23T07:18:57Z</dcterms:modified>
</cp:coreProperties>
</file>