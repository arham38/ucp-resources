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5" r:id="rId23"/>
    <p:sldId id="28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F0EFB-644D-B4DC-5D6D-0AB11B7114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67682-50A5-9023-7F28-EC1B7282B9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4E835-5F3C-8233-5AE8-607289EE1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266C1-A84A-48E7-B6D7-9AFE487BF3B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0EF44-7D7B-D2E3-21C3-A9CFCA297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25C3D-4440-6D82-BAF8-3B21A3E74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B2496-F068-4694-9C51-4277564A7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32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F12B2-1024-04A8-0E14-DBDDA27FE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77818-CDB5-1CD9-6587-C77DF3B10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4CEB3-86FA-F57E-37F6-785058A40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266C1-A84A-48E7-B6D7-9AFE487BF3B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B6A12-E1EE-BDB4-3771-170CBDA80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37D88-5600-0E3C-89A2-F7D9749EE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B2496-F068-4694-9C51-4277564A7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532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70BB2-6C39-EE7C-4F96-B6E667FF2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6A14D-F3E2-C146-911C-C10BF70DF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B0B8E-5C4C-372E-268B-E78608639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266C1-A84A-48E7-B6D7-9AFE487BF3B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E5C1A-6DC5-BFCF-445C-9CA25710B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AFE3C-86E9-FCBB-FD57-7626C632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B2496-F068-4694-9C51-4277564A7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059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F9357-7450-84D0-C49C-D26E14765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5E974-B1C7-8C2C-B377-A6C29ECFDC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807355-E5E2-5034-4E01-AFC191B2B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45224B-0F7D-E844-D286-358615E8F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266C1-A84A-48E7-B6D7-9AFE487BF3B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DBBF3-EFFE-C0EA-1E5C-3101F947B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0DFB4-7C83-199C-86D1-B4646B0B4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B2496-F068-4694-9C51-4277564A7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156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B0F44-14BF-82B3-1E61-2E6D5A952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6B04DB-0263-4500-670D-E5BFB3314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1F3ED-D225-F2E4-4C8E-02F3D7C70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E17AB8-A7D5-ABC7-8705-5C3F244BA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6DE8B9-A298-1394-712E-2866EE79C9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922088-4011-78D9-6CF2-A3D248751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266C1-A84A-48E7-B6D7-9AFE487BF3B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2BAB5C-3F41-0B99-3129-B8934F378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5D633E-B3ED-9B29-FF17-CC0DE02B7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B2496-F068-4694-9C51-4277564A7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274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EBA6C-CD24-33B5-5AB1-AAC47ACC4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A16192-BF36-CFC3-E691-E7A88C90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266C1-A84A-48E7-B6D7-9AFE487BF3B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C32527-862E-DC24-404E-ED847DEFB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C32F13-EBE5-D4B7-DA7D-2B59ADB65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B2496-F068-4694-9C51-4277564A7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237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39D84B-EDB9-B898-9015-F3B02D62B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266C1-A84A-48E7-B6D7-9AFE487BF3B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92431C-F2D1-431E-D02E-9686F2851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A71DD-E96F-3F4B-AC13-1E30D4EF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B2496-F068-4694-9C51-4277564A7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020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73849-511B-8FA9-244E-F08DC198F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8C367-85C6-5A98-2C04-EF39145BF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D9D00-0A97-4FF2-13A5-F476BC4C8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19A820-28E7-025A-7A43-F5B9EA012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266C1-A84A-48E7-B6D7-9AFE487BF3B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0EBDA-78AB-371E-6AB2-E6DBDCD70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88A52-3524-2A50-7DE8-F46E7EBA7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B2496-F068-4694-9C51-4277564A7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976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408C-0BF0-6D9A-9934-AE371D0E0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FCEFD2-EC20-9705-AC40-6AC8447590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08B040-DF04-15DC-3B91-BC526841D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5C51A-9E86-BD47-4489-9FB0C8C0C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266C1-A84A-48E7-B6D7-9AFE487BF3B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24FBF-C09C-2754-26E8-E82214B31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15DAA-78D0-9634-0994-00189F84F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B2496-F068-4694-9C51-4277564A7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928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F3781-50FF-D76C-E042-E1821FB55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7F61A6-98DB-5D2D-D4DC-66C70617EA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1DCC3-D53B-7716-982F-82E4F6A9D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266C1-A84A-48E7-B6D7-9AFE487BF3B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272A0-4279-F273-6EA2-46137D865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F0B31-8581-3464-19E1-2E0064320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B2496-F068-4694-9C51-4277564A7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431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3B85FA-C968-2CF1-9728-B242D286A8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E1115B-73BB-54C2-B257-6B3868537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CEF8F-44A8-9588-C350-8FC1D2BE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266C1-A84A-48E7-B6D7-9AFE487BF3B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762C3-A5ED-1912-438B-0A63505FE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D2A6E-F528-07E2-0C3D-F27A58F1A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B2496-F068-4694-9C51-4277564A7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15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756CB5-1EB5-0A34-8C9D-BF0C6DFA0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D11AF-AC3D-E6BD-DD8B-C52BF8266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17F55-BB7F-BAD9-C7E9-152321C77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266C1-A84A-48E7-B6D7-9AFE487BF3B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84094-F7C1-5F31-4059-F13503AB22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C43EE-C9CD-5504-756D-619B030DEE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7B2496-F068-4694-9C51-4277564A7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67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94CB-A013-8F5A-E7E8-17575F116D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Deep Learning using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381813-6109-D4D2-22BA-E066BE127C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Dr. Ali Saeed</a:t>
            </a:r>
          </a:p>
        </p:txBody>
      </p:sp>
    </p:spTree>
    <p:extLst>
      <p:ext uri="{BB962C8B-B14F-4D97-AF65-F5344CB8AC3E}">
        <p14:creationId xmlns:p14="http://schemas.microsoft.com/office/powerpoint/2010/main" val="327739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E52A9-F41E-F4F1-C1DE-BED6E97A9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implement deep learning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804DF-86F1-950D-ED75-01E82CFE1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 with Google Drive</a:t>
            </a:r>
          </a:p>
          <a:p>
            <a:r>
              <a:rPr lang="en-US" dirty="0"/>
              <a:t>Read Dataset</a:t>
            </a:r>
          </a:p>
          <a:p>
            <a:r>
              <a:rPr lang="en-US" dirty="0"/>
              <a:t>Model develop</a:t>
            </a:r>
          </a:p>
          <a:p>
            <a:r>
              <a:rPr lang="en-US" dirty="0"/>
              <a:t>Model Test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020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16D1C-1090-C599-B0AF-587E37F7C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with Google Drive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C6A8EE-34F2-7719-629F-C5C04A7862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9136"/>
            <a:ext cx="10515600" cy="434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602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B6FAD-7BEB-B9B5-048D-A221E834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Dataset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A35201-D5E3-D341-179A-21AA0A58BF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2941" y="2492493"/>
            <a:ext cx="7994199" cy="2040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500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1C580-3E13-E7C9-4AE9-82FC8E00A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Development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A70B76-5461-CF46-607B-C67F9AC034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1162" y="2372519"/>
            <a:ext cx="8829675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778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39D67-B56F-F68C-46D7-914094ED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Development Key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594C4-19F8-9726-8014-68F139AEC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Sequential</a:t>
            </a:r>
          </a:p>
          <a:p>
            <a:r>
              <a:rPr lang="en-US" dirty="0"/>
              <a:t>Activation</a:t>
            </a:r>
          </a:p>
          <a:p>
            <a:r>
              <a:rPr lang="en-US" dirty="0"/>
              <a:t>Dense</a:t>
            </a:r>
          </a:p>
          <a:p>
            <a:r>
              <a:rPr lang="en-US" dirty="0"/>
              <a:t>Optimizer</a:t>
            </a:r>
          </a:p>
          <a:p>
            <a:r>
              <a:rPr lang="en-US" dirty="0"/>
              <a:t>Loss</a:t>
            </a:r>
          </a:p>
          <a:p>
            <a:r>
              <a:rPr lang="en-US" dirty="0"/>
              <a:t>metrics</a:t>
            </a:r>
          </a:p>
          <a:p>
            <a:r>
              <a:rPr lang="en-US" dirty="0"/>
              <a:t>verbose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769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8F18E-71E9-666D-E345-F1EBE992A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 - a linear stack of layers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C54FAF-3074-D307-7479-AE3346E28B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0411" y="3782624"/>
            <a:ext cx="8480641" cy="9158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DB4FD7-95FB-477B-A938-A6450AB37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66" y="2211014"/>
            <a:ext cx="11375635" cy="91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494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771BC-33F3-71E2-580D-B8AD329DA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64B44-4618-D749-F327-01C2CD7B0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6245"/>
            <a:ext cx="10515600" cy="5046629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activation function</a:t>
            </a:r>
            <a:r>
              <a:rPr lang="en-US" dirty="0"/>
              <a:t> is a </a:t>
            </a:r>
            <a:r>
              <a:rPr lang="en-US" b="1" dirty="0"/>
              <a:t>mathematical operation</a:t>
            </a:r>
            <a:r>
              <a:rPr lang="en-US" dirty="0"/>
              <a:t> applied to a neuron’s output in a neural network.</a:t>
            </a:r>
            <a:br>
              <a:rPr lang="en-US" dirty="0"/>
            </a:br>
            <a:r>
              <a:rPr lang="en-US" dirty="0"/>
              <a:t>It decides </a:t>
            </a:r>
            <a:r>
              <a:rPr lang="en-US" b="1" dirty="0"/>
              <a:t>whether a neuron should be activated or not</a:t>
            </a:r>
            <a:r>
              <a:rPr lang="en-US" dirty="0"/>
              <a:t> — in other words, it introduces </a:t>
            </a:r>
            <a:r>
              <a:rPr lang="en-US" b="1" dirty="0"/>
              <a:t>non-linearity</a:t>
            </a:r>
            <a:r>
              <a:rPr lang="en-US" dirty="0"/>
              <a:t> into the model.</a:t>
            </a:r>
          </a:p>
          <a:p>
            <a:r>
              <a:rPr lang="en-US" b="1" dirty="0"/>
              <a:t>Examples: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175FFA-904C-39A6-82EE-0E373E922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119" y="3550461"/>
            <a:ext cx="3246757" cy="3261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905F77-38B1-43FF-EAAC-8641DB891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793" y="3550461"/>
            <a:ext cx="2667000" cy="2162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F9B93E-A364-14E8-3211-4C7B1E222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3493" y="3550461"/>
            <a:ext cx="2190720" cy="216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94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513AA-FDE8-9963-B216-B5881D98E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Formulas for various Activation Functions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01D1285-FCE8-9C4F-7F7C-34BD6017F8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2087" y="2001044"/>
            <a:ext cx="9267825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916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1D2F0-B1EA-A776-D242-6B6B287EF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 use </a:t>
            </a:r>
            <a:r>
              <a:rPr lang="en-US" dirty="0" err="1"/>
              <a:t>ReLU</a:t>
            </a:r>
            <a:r>
              <a:rPr lang="en-US" dirty="0"/>
              <a:t> on hidden and sigmoid on output layer?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2C5503-C2A4-7E40-5AE8-FF0200299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9725" y="2091430"/>
            <a:ext cx="8972550" cy="2438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21BCDA-1C8A-1E9B-5372-A1719A5E6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029" y="4706667"/>
            <a:ext cx="621030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122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55CBA-2678-CDF9-AB10-3E5FAFC0A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Dense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0AF97-654D-DD1D-549F-9B06FE242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421"/>
            <a:ext cx="10515600" cy="4727542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b="1" dirty="0" err="1"/>
              <a:t>Keras</a:t>
            </a:r>
            <a:r>
              <a:rPr lang="en-US" dirty="0"/>
              <a:t>, Dense represents a </a:t>
            </a:r>
            <a:r>
              <a:rPr lang="en-US" b="1" dirty="0"/>
              <a:t>fully connected (FC) layer</a:t>
            </a:r>
            <a:r>
              <a:rPr lang="en-US" dirty="0"/>
              <a:t> — also called a </a:t>
            </a:r>
            <a:r>
              <a:rPr lang="en-US" b="1" dirty="0"/>
              <a:t>dense layer</a:t>
            </a:r>
            <a:r>
              <a:rPr lang="en-US" dirty="0"/>
              <a:t> in deep learning.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E03963-BFA8-CA59-B1D9-470F0ADCD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397" y="2450909"/>
            <a:ext cx="6947820" cy="412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246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71162-D26D-6E03-D4F7-63FA38F95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Optimizer in deep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7691B-C756-1774-B822-1FC754C31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optimizer</a:t>
            </a:r>
            <a:r>
              <a:rPr lang="en-US" dirty="0"/>
              <a:t> in deep learning is an algorithm that </a:t>
            </a:r>
            <a:r>
              <a:rPr lang="en-US" b="1" dirty="0"/>
              <a:t>updates the weights</a:t>
            </a:r>
            <a:r>
              <a:rPr lang="en-US" dirty="0"/>
              <a:t> of your neural network during training so that the model learns to minimize its </a:t>
            </a:r>
            <a:r>
              <a:rPr lang="en-US" b="1" dirty="0"/>
              <a:t>loss function</a:t>
            </a:r>
            <a:r>
              <a:rPr lang="en-US" dirty="0"/>
              <a:t> (error).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AB881D-4035-DBA2-5D02-EA299C4FE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384" y="3005587"/>
            <a:ext cx="6821825" cy="3772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284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A09DB-63F5-4424-89CC-F03C1D817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Optimizer examples use in deep learning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6E75B4-A93B-621C-889F-41D65AB392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7487" y="2158206"/>
            <a:ext cx="6677025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103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08B9A-AF16-9D35-F2BF-C3447DF7F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58989-8089-1433-C62D-5A24105D9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A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 loss function is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 measure of how good your prediction model does in terms of being able to predict the expected outcome</a:t>
            </a:r>
            <a:endParaRPr lang="en-US" dirty="0"/>
          </a:p>
          <a:p>
            <a:r>
              <a:rPr lang="en-US" dirty="0"/>
              <a:t>Loss function also known as cost function and an error function</a:t>
            </a:r>
          </a:p>
          <a:p>
            <a:r>
              <a:rPr lang="en-US" dirty="0"/>
              <a:t>Error between output and target value</a:t>
            </a:r>
          </a:p>
          <a:p>
            <a:r>
              <a:rPr lang="en-US" dirty="0"/>
              <a:t>Root Mean Square (</a:t>
            </a:r>
            <a:r>
              <a:rPr lang="en-US" b="1" i="0" dirty="0">
                <a:solidFill>
                  <a:srgbClr val="292929"/>
                </a:solidFill>
                <a:effectLst/>
                <a:latin typeface="source-serif-pro"/>
              </a:rPr>
              <a:t>Mean Square Error/Quadratic Loss/L2 Loss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C43945-C8E8-AA32-F60B-0141149C9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949" y="4771973"/>
            <a:ext cx="3371850" cy="1257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F1AF2F-B672-7013-A52B-F583870E5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852" y="4853034"/>
            <a:ext cx="367665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366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DDDA-4591-7A24-4AE9-B87596DE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Function Example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41998B3-04FF-E20F-3D23-FC0ACBA23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505" y="1825625"/>
            <a:ext cx="546465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133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ACE85-6C31-3570-AC90-893368CF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2D687-5CA0-89E0-1DCD-B4C047274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i="0" dirty="0">
                <a:solidFill>
                  <a:srgbClr val="292929"/>
                </a:solidFill>
                <a:effectLst/>
                <a:latin typeface="source-serif-pro"/>
              </a:rPr>
              <a:t>Mean Absolute Error/L1 </a:t>
            </a:r>
            <a:r>
              <a:rPr lang="es-ES" b="1" i="0" dirty="0" err="1">
                <a:solidFill>
                  <a:srgbClr val="292929"/>
                </a:solidFill>
                <a:effectLst/>
                <a:latin typeface="source-serif-pro"/>
              </a:rPr>
              <a:t>Loss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60C887-6142-5A66-4B5B-B971260C4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717" y="2882106"/>
            <a:ext cx="4848373" cy="170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166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D95A6-293B-7A5D-15A4-63CE3BE70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Verbose property in </a:t>
            </a:r>
            <a:r>
              <a:rPr lang="en-US" dirty="0" err="1"/>
              <a:t>Keras</a:t>
            </a:r>
            <a:r>
              <a:rPr lang="en-US" dirty="0"/>
              <a:t> – use in deep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09792-05A8-E96A-2D02-A5D57C69D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word </a:t>
            </a:r>
            <a:r>
              <a:rPr lang="en-US" b="1" dirty="0"/>
              <a:t>“verbose”</a:t>
            </a:r>
            <a:r>
              <a:rPr lang="en-US" dirty="0"/>
              <a:t> literally means </a:t>
            </a:r>
            <a:r>
              <a:rPr lang="en-US" b="1" dirty="0"/>
              <a:t>“wordy” or “detailed”</a:t>
            </a:r>
            <a:r>
              <a:rPr lang="en-US" dirty="0"/>
              <a:t> —</a:t>
            </a:r>
            <a:br>
              <a:rPr lang="en-US" dirty="0"/>
            </a:br>
            <a:r>
              <a:rPr lang="en-US" dirty="0"/>
              <a:t>in programming, it controls </a:t>
            </a:r>
            <a:r>
              <a:rPr lang="en-US" b="1" dirty="0"/>
              <a:t>how much information</a:t>
            </a:r>
            <a:r>
              <a:rPr lang="en-US" dirty="0"/>
              <a:t> is displayed while your code runs.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7DF89C-A5E4-7342-A56C-1224D0F2F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237" y="3076575"/>
            <a:ext cx="6105525" cy="4286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AE9891-2568-1A28-101E-50B398300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41" y="3766124"/>
            <a:ext cx="9067800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222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F22C7-DA50-BB50-36AA-05A66D570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 in </a:t>
            </a:r>
            <a:r>
              <a:rPr lang="en-US" dirty="0" err="1"/>
              <a:t>keras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440BD-93CE-27B1-AD73-F031C8DD6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588" y="1690688"/>
            <a:ext cx="3072319" cy="4351338"/>
          </a:xfrm>
        </p:spPr>
        <p:txBody>
          <a:bodyPr>
            <a:normAutofit/>
          </a:bodyPr>
          <a:lstStyle/>
          <a:p>
            <a:r>
              <a:rPr lang="en-US" sz="1800" dirty="0"/>
              <a:t>In </a:t>
            </a:r>
            <a:r>
              <a:rPr lang="en-US" sz="1800" b="1" dirty="0" err="1"/>
              <a:t>Keras</a:t>
            </a:r>
            <a:r>
              <a:rPr lang="en-US" sz="1800" dirty="0"/>
              <a:t>, the metrics argument tells the model </a:t>
            </a:r>
            <a:r>
              <a:rPr lang="en-US" sz="1800" b="1" dirty="0"/>
              <a:t>what performance measures</a:t>
            </a:r>
            <a:r>
              <a:rPr lang="en-US" sz="1800" dirty="0"/>
              <a:t> to calculate and display </a:t>
            </a:r>
            <a:r>
              <a:rPr lang="en-US" sz="1800" b="1" dirty="0"/>
              <a:t>during training and evaluation</a:t>
            </a:r>
            <a:r>
              <a:rPr lang="en-US" sz="1800" dirty="0"/>
              <a:t> — </a:t>
            </a:r>
            <a:r>
              <a:rPr lang="en-US" sz="1800" b="1" dirty="0"/>
              <a:t>in addition</a:t>
            </a:r>
            <a:r>
              <a:rPr lang="en-US" sz="1800" dirty="0"/>
              <a:t> to the loss.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7F2172-6C89-5EB5-38F9-81B185164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659" y="1528088"/>
            <a:ext cx="7774893" cy="492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198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313BD-1BED-3625-8F85-6D6A7A4EA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Epochs in Deep learning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13941-A527-3679-C3BC-E67BFE6A9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epoch</a:t>
            </a:r>
            <a:r>
              <a:rPr lang="en-US" dirty="0"/>
              <a:t> means </a:t>
            </a:r>
            <a:r>
              <a:rPr lang="en-US" b="1" dirty="0"/>
              <a:t>one complete pass</a:t>
            </a:r>
            <a:r>
              <a:rPr lang="en-US" dirty="0"/>
              <a:t> of the </a:t>
            </a:r>
            <a:r>
              <a:rPr lang="en-US" b="1" dirty="0"/>
              <a:t>entire training dataset</a:t>
            </a:r>
            <a:r>
              <a:rPr lang="en-US" dirty="0"/>
              <a:t> through the neural network.</a:t>
            </a:r>
          </a:p>
          <a:p>
            <a:r>
              <a:rPr lang="en-US" dirty="0"/>
              <a:t>So when you train a model, it goes through your dataset </a:t>
            </a:r>
            <a:r>
              <a:rPr lang="en-US" b="1" dirty="0"/>
              <a:t>multiple times</a:t>
            </a:r>
            <a:r>
              <a:rPr lang="en-US" dirty="0"/>
              <a:t>, adjusting its weights each time to reduce the loss.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7B2016-BA19-685F-9ED8-8BEA4B72C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743" y="3709903"/>
            <a:ext cx="5738610" cy="288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349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7F70C-4348-16AC-EFAA-9918F0723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Size – this term is related to </a:t>
            </a:r>
            <a:r>
              <a:rPr lang="en-US" dirty="0" err="1"/>
              <a:t>eposhs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C2A62-3C86-6199-64A2-F4DCEB8EF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Batch size</a:t>
            </a:r>
            <a:r>
              <a:rPr lang="en-US" dirty="0"/>
              <a:t> = the number of training samples the model processes </a:t>
            </a:r>
            <a:r>
              <a:rPr lang="en-US" b="1" dirty="0"/>
              <a:t>before updating its weights</a:t>
            </a:r>
            <a:r>
              <a:rPr lang="en-US" dirty="0"/>
              <a:t> once. (in a single epoch)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Total samples in dataset: 400</a:t>
            </a:r>
          </a:p>
          <a:p>
            <a:pPr lvl="1"/>
            <a:r>
              <a:rPr lang="en-US" dirty="0"/>
              <a:t>Train / Test Split: 320 / 80</a:t>
            </a:r>
          </a:p>
          <a:p>
            <a:pPr lvl="1"/>
            <a:r>
              <a:rPr lang="en-US" dirty="0"/>
              <a:t>If I use Batch Size of 10 with 10 epochs, following will be the 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CF0977-689E-2F2F-10AC-AA300CB37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0" y="4443413"/>
            <a:ext cx="6819900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812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ED08B-FFFD-C334-C3B7-2301302DD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useful functions of </a:t>
            </a:r>
            <a:r>
              <a:rPr lang="en-US" dirty="0" err="1"/>
              <a:t>Keras</a:t>
            </a:r>
            <a:r>
              <a:rPr lang="en-US" dirty="0"/>
              <a:t> (</a:t>
            </a:r>
            <a:r>
              <a:rPr lang="en-US" dirty="0" err="1"/>
              <a:t>model.summary</a:t>
            </a:r>
            <a:r>
              <a:rPr lang="en-US" dirty="0"/>
              <a:t>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D9AAD6-6427-7355-02F0-10A5C3A7E8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0332" y="2229644"/>
            <a:ext cx="7058025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303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5059-7275-5D6D-CD79-86B88F80D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Save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CEA037-49C2-709B-5A2F-EC3EDFEF7C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5614" y="2921785"/>
            <a:ext cx="9331557" cy="57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939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4F679-5AF4-B2FA-2072-AF0DC80F3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3DDA24-27ED-AD16-D916-C6E157D2F3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1130" y="3241726"/>
            <a:ext cx="6276975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20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439</Words>
  <Application>Microsoft Office PowerPoint</Application>
  <PresentationFormat>Widescreen</PresentationFormat>
  <Paragraphs>53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Arial</vt:lpstr>
      <vt:lpstr>Calibri</vt:lpstr>
      <vt:lpstr>Calibri Light</vt:lpstr>
      <vt:lpstr>source-serif-pro</vt:lpstr>
      <vt:lpstr>Office Theme</vt:lpstr>
      <vt:lpstr>Deep Learning using Python</vt:lpstr>
      <vt:lpstr>Steps to implement deep learning algorithm</vt:lpstr>
      <vt:lpstr>Connect with Google Drive</vt:lpstr>
      <vt:lpstr>Read Dataset</vt:lpstr>
      <vt:lpstr>Model Development</vt:lpstr>
      <vt:lpstr>Model Development Key Terms</vt:lpstr>
      <vt:lpstr>Sequential  - a linear stack of layers</vt:lpstr>
      <vt:lpstr>Activation Function</vt:lpstr>
      <vt:lpstr>Formulas for various Activation Functions</vt:lpstr>
      <vt:lpstr>Why we use ReLU on hidden and sigmoid on output layer?</vt:lpstr>
      <vt:lpstr>Dense Layer</vt:lpstr>
      <vt:lpstr>Optimizer in deep learning</vt:lpstr>
      <vt:lpstr>Common Optimizer examples use in deep learning</vt:lpstr>
      <vt:lpstr>Loss Function</vt:lpstr>
      <vt:lpstr>Loss Function Example</vt:lpstr>
      <vt:lpstr>Loss Function</vt:lpstr>
      <vt:lpstr>Verbose property in Keras – use in deep learning</vt:lpstr>
      <vt:lpstr>Metric in keras</vt:lpstr>
      <vt:lpstr>Epochs in Deep learning </vt:lpstr>
      <vt:lpstr>Batch Size – this term is related to eposhs </vt:lpstr>
      <vt:lpstr>Some useful functions of Keras (model.summary)</vt:lpstr>
      <vt:lpstr>Save Model</vt:lpstr>
      <vt:lpstr>Load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Ali Saeed</dc:creator>
  <cp:lastModifiedBy>Dr Ali Saeed</cp:lastModifiedBy>
  <cp:revision>64</cp:revision>
  <dcterms:created xsi:type="dcterms:W3CDTF">2025-10-15T10:44:10Z</dcterms:created>
  <dcterms:modified xsi:type="dcterms:W3CDTF">2025-10-21T11:49:57Z</dcterms:modified>
</cp:coreProperties>
</file>