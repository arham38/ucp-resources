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8" r:id="rId8"/>
    <p:sldId id="269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8EB9E-625E-0AA2-9420-BE3B3E50A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F5DC7-DEE3-12F6-F36B-ECBFBB9B1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CE320-D6CE-767E-63B9-17012E74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A485-B549-4DE8-8D4C-73F63536663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55674-8B8B-BB95-92A0-51BA8D908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A36EC-653A-CE4C-EC17-9D9FBEAA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795-654F-4A1A-A3FC-24B2D3E5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1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D3810-C0B4-A4E3-9C3D-71FDA2BF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96FD0-6605-A12C-CE8F-A84BC7D43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682C-CF6D-00A7-69A9-8E3CE29BD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A485-B549-4DE8-8D4C-73F63536663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85E3-E6FE-17B7-79A2-19D8E11B3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C7910-3DC1-C52C-E0CB-1B8A400E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795-654F-4A1A-A3FC-24B2D3E5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90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A7FC0-7D73-94CC-7274-4B32271FD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F9586-5BCF-C477-3E9C-4B3F22A82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34EFA-6EBA-9F97-5882-F73589D3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A485-B549-4DE8-8D4C-73F63536663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6EA36-6ED8-20A4-DAE7-826AD900B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8E545-E12D-C88D-BC0D-4ED9ECE0C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795-654F-4A1A-A3FC-24B2D3E5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45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165D-3B24-0495-A8F5-DB59239ED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F94AD-73FF-38EA-B5E7-3AB66F75F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86121-BC97-9AF9-5266-853E50E5F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2ACAF-E722-EAAB-B228-94C72FCAD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A485-B549-4DE8-8D4C-73F63536663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DA104-BE52-3266-8D12-7E924034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C9C46-5E20-6ACF-8A77-FFD932AF4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795-654F-4A1A-A3FC-24B2D3E5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5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E01D-ACA0-1850-D862-523A8D9E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1BA8D-CE1B-57C3-C3E3-18D78EB64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11A-60DE-28D2-099B-336195653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9B0303-84CD-6EC5-ED0C-62CF79195D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F9E435-ED43-CF48-BCB3-D248C3FDF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D9A0DD-0E03-EF2E-2D9A-FD4078B2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A485-B549-4DE8-8D4C-73F63536663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A47817-4F05-A65D-DC81-BC71F74D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55009-0C69-D0BC-6416-F83D6C434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795-654F-4A1A-A3FC-24B2D3E5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1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8507-013C-1FE0-9E52-CF6E141A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BDA6A9-2BAE-EEFD-854B-C33C9EAB4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A485-B549-4DE8-8D4C-73F63536663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ADA5C-3CB9-E621-F104-C9B9ABE08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F4E7C-3383-B92B-EC5F-E3B32B8B2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795-654F-4A1A-A3FC-24B2D3E5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33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B00977-A227-1BF3-9A17-DFD9052F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A485-B549-4DE8-8D4C-73F63536663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0001B9-61D8-6A14-A7BA-E96B5CBF1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35799-8132-81BD-D275-FD6D9B8FB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795-654F-4A1A-A3FC-24B2D3E5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1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5D20C-EEA4-90CF-044C-ED6C5C2F8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5D9FB-1A06-3024-86C6-A3B9C4C41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06872-040C-A1F6-6F25-9AA27DA11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80652-E9D1-5C31-52B6-683CC6D9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A485-B549-4DE8-8D4C-73F63536663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21CED-E85A-B86E-3A0F-4256AD42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E9919-DEFA-7E76-9A8C-0F0492B2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795-654F-4A1A-A3FC-24B2D3E5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26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8C7F5-DA7E-1113-9B49-0C1B74AA3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BC1E7-CFE1-200A-45E5-9A6C075F4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8D127-EA8E-33F6-AB31-B42094A4F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86651-B38F-3135-F579-7CE9A02A8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A485-B549-4DE8-8D4C-73F63536663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FCB05-4E87-5FBE-CA21-484089103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3DE45-6D31-C929-DBC0-DE780FD8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795-654F-4A1A-A3FC-24B2D3E5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74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153B-B375-2D8A-76B6-E6CF3A693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48594-701B-DCFF-9F15-B2FB8CEF4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083C5-13B4-B959-DA62-09DCB22B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A485-B549-4DE8-8D4C-73F63536663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5DE59-0C98-EF6C-C864-1474B7B6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0FAAE-159A-40AA-B765-39902AA4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795-654F-4A1A-A3FC-24B2D3E5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43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D91B39-25D0-FE0A-04A6-CB6E85BE1F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D3BCF-68DF-2F0A-1259-CED994462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0C4E2-ADE6-5C34-0FA9-A7B8470D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A485-B549-4DE8-8D4C-73F63536663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C037E-B582-CA87-E8D4-E393F7BE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63CE4-FB3D-C44A-2FAA-E6C16EDAF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795-654F-4A1A-A3FC-24B2D3E5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5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EE76D6-E0E2-1B4E-2E29-17D3566A3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2E5E4-E49C-4C95-8471-581040865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A555F-A1CC-44AC-B62F-3A658C3E47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0A485-B549-4DE8-8D4C-73F63536663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FFA9D-BF4E-24E2-B73F-92AE0B604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EAB9E-AA78-CF75-95CF-0CFB820A9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CB795-654F-4A1A-A3FC-24B2D3E5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6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20-8EA7-8505-4A5A-AF266AD4D8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AB23F-1D3D-06D3-C5DE-577B776EF2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Dr. Ali Saeed</a:t>
            </a:r>
          </a:p>
        </p:txBody>
      </p:sp>
    </p:spTree>
    <p:extLst>
      <p:ext uri="{BB962C8B-B14F-4D97-AF65-F5344CB8AC3E}">
        <p14:creationId xmlns:p14="http://schemas.microsoft.com/office/powerpoint/2010/main" val="860845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3B70-C6C4-1F16-84F5-9B89B4DB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10378-7139-1D10-B114-98272D577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linear regression (relationship in dependent and independent is linear in nature)</a:t>
            </a:r>
          </a:p>
          <a:p>
            <a:r>
              <a:rPr lang="en-US" dirty="0"/>
              <a:t>Independent Variable </a:t>
            </a:r>
          </a:p>
          <a:p>
            <a:pPr lvl="1"/>
            <a:r>
              <a:rPr lang="en-US" dirty="0"/>
              <a:t>Input from the real world</a:t>
            </a:r>
          </a:p>
          <a:p>
            <a:r>
              <a:rPr lang="en-US" dirty="0"/>
              <a:t>Dependent Variable</a:t>
            </a:r>
          </a:p>
          <a:p>
            <a:pPr lvl="1"/>
            <a:r>
              <a:rPr lang="en-US" dirty="0"/>
              <a:t>It is continuous in nature</a:t>
            </a:r>
          </a:p>
          <a:p>
            <a:r>
              <a:rPr lang="en-US" dirty="0"/>
              <a:t>X is independent and Y is dependent variable</a:t>
            </a:r>
          </a:p>
          <a:p>
            <a:r>
              <a:rPr lang="en-US" dirty="0"/>
              <a:t>In linear regression, as the value of X will rise the value of Y will also rise</a:t>
            </a:r>
          </a:p>
        </p:txBody>
      </p:sp>
    </p:spTree>
    <p:extLst>
      <p:ext uri="{BB962C8B-B14F-4D97-AF65-F5344CB8AC3E}">
        <p14:creationId xmlns:p14="http://schemas.microsoft.com/office/powerpoint/2010/main" val="194430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DF43-36ED-59D8-4718-ECF091DBE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AA222-834A-AB4A-6733-8B9043733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linear regression in which one independent variable and dependent variable. As shown in the following equation: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Multiple linear regression in which multiple independent variable and one dependent variable. Here “a’s” are coefficient: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Coefficients represent “importance” of attribute.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5AAA8C-5747-1D04-0BAE-099C13231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970" y="4938729"/>
            <a:ext cx="8618026" cy="781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E171C6-F6F7-F8F6-6944-BB6131B04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412" y="2647950"/>
            <a:ext cx="2848007" cy="112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02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9665-9F86-DA0D-F438-71505886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04866-975C-E90C-47F2-003CA4943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coefficient value represent more importance of that particular attribute.</a:t>
            </a:r>
          </a:p>
          <a:p>
            <a:r>
              <a:rPr lang="en-US" dirty="0"/>
              <a:t>That independent variable is more important</a:t>
            </a:r>
          </a:p>
          <a:p>
            <a:endParaRPr lang="en-US" dirty="0"/>
          </a:p>
          <a:p>
            <a:r>
              <a:rPr lang="en-US" dirty="0"/>
              <a:t>Example: </a:t>
            </a:r>
          </a:p>
          <a:p>
            <a:r>
              <a:rPr lang="en-US" dirty="0"/>
              <a:t>0.2(Matric) + 0.5 (</a:t>
            </a:r>
            <a:r>
              <a:rPr lang="en-US" dirty="0" err="1"/>
              <a:t>FSc</a:t>
            </a:r>
            <a:r>
              <a:rPr lang="en-US" dirty="0"/>
              <a:t>.) + 0.1(5 class-standard)</a:t>
            </a:r>
          </a:p>
          <a:p>
            <a:endParaRPr lang="en-US" dirty="0"/>
          </a:p>
          <a:p>
            <a:r>
              <a:rPr lang="en-US" dirty="0"/>
              <a:t>When we provide “training set” to ML Algo it will understand “a’s”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152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0A98-ED73-434E-2866-FB27276CA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 to compute A and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4A5CAF-6B1C-ABD0-E284-B5D74899F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772" y="1690688"/>
            <a:ext cx="5648767" cy="35055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D37B7E-761A-D837-A361-33DB66118301}"/>
              </a:ext>
            </a:extLst>
          </p:cNvPr>
          <p:cNvSpPr txBox="1"/>
          <p:nvPr/>
        </p:nvSpPr>
        <p:spPr>
          <a:xfrm>
            <a:off x="3930977" y="5531341"/>
            <a:ext cx="30604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Y = B (X ) + A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4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950A-8378-CE5E-CB79-EF080C394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answer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3E28D1A-E573-7D24-6B14-8056B033D7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4259063"/>
              </p:ext>
            </p:extLst>
          </p:nvPr>
        </p:nvGraphicFramePr>
        <p:xfrm>
          <a:off x="3308023" y="1978839"/>
          <a:ext cx="4600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70">
                  <a:extLst>
                    <a:ext uri="{9D8B030D-6E8A-4147-A177-3AD203B41FA5}">
                      <a16:colId xmlns:a16="http://schemas.microsoft.com/office/drawing/2014/main" val="1993047262"/>
                    </a:ext>
                  </a:extLst>
                </a:gridCol>
                <a:gridCol w="1150070">
                  <a:extLst>
                    <a:ext uri="{9D8B030D-6E8A-4147-A177-3AD203B41FA5}">
                      <a16:colId xmlns:a16="http://schemas.microsoft.com/office/drawing/2014/main" val="235347987"/>
                    </a:ext>
                  </a:extLst>
                </a:gridCol>
                <a:gridCol w="1150070">
                  <a:extLst>
                    <a:ext uri="{9D8B030D-6E8A-4147-A177-3AD203B41FA5}">
                      <a16:colId xmlns:a16="http://schemas.microsoft.com/office/drawing/2014/main" val="2588101260"/>
                    </a:ext>
                  </a:extLst>
                </a:gridCol>
                <a:gridCol w="1150070">
                  <a:extLst>
                    <a:ext uri="{9D8B030D-6E8A-4147-A177-3AD203B41FA5}">
                      <a16:colId xmlns:a16="http://schemas.microsoft.com/office/drawing/2014/main" val="1915654139"/>
                    </a:ext>
                  </a:extLst>
                </a:gridCol>
              </a:tblGrid>
              <a:tr h="3210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800" b="1" kern="1200" baseline="300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130081"/>
                  </a:ext>
                </a:extLst>
              </a:tr>
              <a:tr h="3210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227247"/>
                  </a:ext>
                </a:extLst>
              </a:tr>
              <a:tr h="3210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521313"/>
                  </a:ext>
                </a:extLst>
              </a:tr>
              <a:tr h="3210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637282"/>
                  </a:ext>
                </a:extLst>
              </a:tr>
              <a:tr h="3210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620944"/>
                  </a:ext>
                </a:extLst>
              </a:tr>
              <a:tr h="32104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6028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CB73CB2-DE8F-9ED2-335B-CA51FBF25041}"/>
              </a:ext>
            </a:extLst>
          </p:cNvPr>
          <p:cNvSpPr txBox="1"/>
          <p:nvPr/>
        </p:nvSpPr>
        <p:spPr>
          <a:xfrm>
            <a:off x="4600108" y="4367282"/>
            <a:ext cx="28186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Answer</a:t>
            </a:r>
          </a:p>
          <a:p>
            <a:endParaRPr lang="en-US" sz="2400" dirty="0"/>
          </a:p>
          <a:p>
            <a:r>
              <a:rPr lang="en-US" sz="2400" dirty="0"/>
              <a:t>A= 1.5</a:t>
            </a:r>
          </a:p>
          <a:p>
            <a:r>
              <a:rPr lang="en-US" sz="2400" dirty="0"/>
              <a:t>B= 1.3</a:t>
            </a:r>
          </a:p>
          <a:p>
            <a:endParaRPr lang="en-US" sz="2400" dirty="0"/>
          </a:p>
          <a:p>
            <a:r>
              <a:rPr lang="en-US" sz="2400" dirty="0"/>
              <a:t>Y= B (X) + A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23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30567-0EF4-B141-0096-79A8C77EC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Regression with 2 independent variables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5915BE-93B6-4D19-09A2-4E772EC69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3845" y="4990135"/>
            <a:ext cx="3248621" cy="963159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47013E-232D-567A-5162-ADD5F2266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833" y="1386285"/>
            <a:ext cx="4984670" cy="37017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997B77-00A5-7718-3CB4-2780D01798BE}"/>
              </a:ext>
            </a:extLst>
          </p:cNvPr>
          <p:cNvSpPr txBox="1"/>
          <p:nvPr/>
        </p:nvSpPr>
        <p:spPr>
          <a:xfrm>
            <a:off x="3933845" y="6123543"/>
            <a:ext cx="3010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Y =  a + b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sz="2800" dirty="0">
                <a:solidFill>
                  <a:srgbClr val="FF0000"/>
                </a:solidFill>
              </a:rPr>
              <a:t> X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sz="2800" dirty="0">
                <a:solidFill>
                  <a:srgbClr val="FF0000"/>
                </a:solidFill>
              </a:rPr>
              <a:t> + b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sz="2800" dirty="0">
                <a:solidFill>
                  <a:srgbClr val="FF0000"/>
                </a:solidFill>
              </a:rPr>
              <a:t> X</a:t>
            </a:r>
            <a:r>
              <a:rPr lang="en-US" dirty="0">
                <a:solidFill>
                  <a:srgbClr val="FF0000"/>
                </a:solidFill>
              </a:rPr>
              <a:t>2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712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373BD-3F46-116F-852E-972972F6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DB1931E-69DC-5901-B5A5-E7CBB53A60DB}"/>
              </a:ext>
            </a:extLst>
          </p:cNvPr>
          <p:cNvGraphicFramePr>
            <a:graphicFrameLocks noGrp="1"/>
          </p:cNvGraphicFramePr>
          <p:nvPr/>
        </p:nvGraphicFramePr>
        <p:xfrm>
          <a:off x="3577996" y="2048844"/>
          <a:ext cx="464217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392">
                  <a:extLst>
                    <a:ext uri="{9D8B030D-6E8A-4147-A177-3AD203B41FA5}">
                      <a16:colId xmlns:a16="http://schemas.microsoft.com/office/drawing/2014/main" val="303077059"/>
                    </a:ext>
                  </a:extLst>
                </a:gridCol>
                <a:gridCol w="1547392">
                  <a:extLst>
                    <a:ext uri="{9D8B030D-6E8A-4147-A177-3AD203B41FA5}">
                      <a16:colId xmlns:a16="http://schemas.microsoft.com/office/drawing/2014/main" val="2768122365"/>
                    </a:ext>
                  </a:extLst>
                </a:gridCol>
                <a:gridCol w="1547392">
                  <a:extLst>
                    <a:ext uri="{9D8B030D-6E8A-4147-A177-3AD203B41FA5}">
                      <a16:colId xmlns:a16="http://schemas.microsoft.com/office/drawing/2014/main" val="2700551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sz="1200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sz="1200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0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584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184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467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231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138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6272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0332-2FB0-3C53-9FB4-1473572FE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C906B-A729-90AF-F4B5-88C2E5D4E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788261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254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Linear Regression</vt:lpstr>
      <vt:lpstr>Linear Regression</vt:lpstr>
      <vt:lpstr>Linear Regression</vt:lpstr>
      <vt:lpstr>Linear Regression</vt:lpstr>
      <vt:lpstr>Formula to compute A and B</vt:lpstr>
      <vt:lpstr>Example with answer</vt:lpstr>
      <vt:lpstr>Linear Regression with 2 independent variables</vt:lpstr>
      <vt:lpstr>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dc:creator>Ali Saeed</dc:creator>
  <cp:lastModifiedBy>Ali Saeed</cp:lastModifiedBy>
  <cp:revision>57</cp:revision>
  <dcterms:created xsi:type="dcterms:W3CDTF">2022-12-21T11:34:16Z</dcterms:created>
  <dcterms:modified xsi:type="dcterms:W3CDTF">2025-11-26T07:37:49Z</dcterms:modified>
</cp:coreProperties>
</file>