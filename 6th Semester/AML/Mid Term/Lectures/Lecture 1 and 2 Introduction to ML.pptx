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66" r:id="rId3"/>
    <p:sldId id="257" r:id="rId4"/>
    <p:sldId id="268" r:id="rId5"/>
    <p:sldId id="262" r:id="rId6"/>
    <p:sldId id="263" r:id="rId7"/>
    <p:sldId id="261" r:id="rId8"/>
    <p:sldId id="258" r:id="rId9"/>
    <p:sldId id="259" r:id="rId10"/>
    <p:sldId id="260" r:id="rId11"/>
    <p:sldId id="264" r:id="rId12"/>
    <p:sldId id="26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6622E1-D8CC-40C3-9B1A-0A0E71A2BD99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DD8C2-19B0-450D-8235-7E95DD40D3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774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DD8C2-19B0-450D-8235-7E95DD40D3A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51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DD8C2-19B0-450D-8235-7E95DD40D3A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010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3C63-76A4-6ADA-56E4-57431A237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CC0B7E-236A-37A9-CD26-2C6653DDFC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85A353-1606-06DB-39D6-302A45901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414D7-D289-7FD8-63D9-0C14EED10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C2FC2-680A-AF0D-BFDD-215DFF3AF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91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0E120-0F2C-A862-20EB-147EBC2C6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B765E-8AA2-205A-A49F-3F0713AC7B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F61B54-BA10-6FE4-8192-8B5503654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559565-02EF-054F-FAC2-C89FD2500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766CA-8AD5-E44E-95FA-CD469C4C9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95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4F3A0-8114-A46F-9DF6-0ACD7C48D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2EFC97-E4CA-DFFC-97EF-279014AC3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BF02DB-C4E4-77D0-0BB7-9E16DD5C9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4C9EE-ACB8-7672-8AAD-DBAEEE57D0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41EFFE-4FD0-AE28-2615-36D185C67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743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265FE-1A40-8369-5EC1-7B3287A7D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64726-61F8-EEEE-7DC5-0ED3E7F4FB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47D64-91FE-D3C1-03F8-0ECC09B7C1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5E96F-C312-BA80-A1CA-ADC140F7EF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00B459-4E79-EE28-F8C1-0F8485936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29304A-CF3B-F660-5F98-ACB1CD766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951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A2E3-D490-00D7-965D-F1C37B3273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76A44A-4250-FAA6-C974-827B24E5A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EA6B72-E3DA-A302-8408-5EB667210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80EDCA-A7DE-8070-5560-18FDC93297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4741C5-A0EC-99D7-C4AA-7BE263227D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D170AB-2EEE-C668-AB9E-F8B564594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31B93D-E95E-1E8B-887E-9F23EFC30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72A0305-F94E-762C-171C-C0AE59093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3004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50BCB-4B31-51C6-693B-BB8319B71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443CEED-6CD0-7127-BA17-6FADA9819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8FFE1-DBE8-614A-40FD-AAFB4C3FE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A74CF-4D90-18D6-CE3F-77570E205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018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39577E-A0C9-4EA1-C7F6-8A8C3D49F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A93E18-0B07-C2AC-FDFE-756F0AD80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752CC-6233-5631-20FD-D191D61EF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15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5E09-4F04-FAE8-D408-6E5566695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6E39E-71C3-B85F-55D3-F263DB8B8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30AA2E-2948-985E-2BD9-656B391238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4B96FD-7A93-0592-DDD4-1B091B497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09974-E537-8B91-2663-5DCD48487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6D1E7-6C6E-761A-DED4-2C2A78A2D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995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B95A4-5EA9-DFC1-907C-086A83DE7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FDF2CE-51EC-9C7B-C71D-FE0F8DCE40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CB52C-1D09-A6C6-E399-34EAF17430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9D2695-DB2C-DC9D-7C54-0BE699912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11415-F280-0743-E52E-3C5E23349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EBE60A-4277-0B18-6724-7AFFE559A7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94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C00E2-DCC1-99AE-3D26-8CF60B9D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4DCEF7-55CE-F6B7-966A-786A249FD0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AF8A46-C850-9F2A-5725-857EFD02B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28CF8-AC61-2912-942E-AAA960C2C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AEF2B-D432-6E48-F7B5-D4436348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2423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82977-D2AE-E276-CFE0-F677B0E30C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A61513-DAA1-C8D3-3A86-7ABD271E1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956235-28A5-8105-85F4-87EBFDD4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C9DB33-C433-1D97-AD2F-C70699CA7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80E6F-AAFC-11AF-2B74-5DBF839DB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625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70EFF7-89B2-5AE9-CEFF-3C0A2220F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2C540-9EC5-BDD2-1D21-4572DC5CA0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6B4F31-24CA-9DE9-24ED-F02935B31F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FF223-297D-4DEC-9AD9-E939F63DC24B}" type="datetimeFigureOut">
              <a:rPr lang="en-US" smtClean="0"/>
              <a:t>10/20/2022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C2253-4919-53AC-2828-DAC69B7328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4D932-FF0C-2E48-3A60-11A9B97E6A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D1722-0B3A-4645-A3BB-B48D924A3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634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AC49-8C07-FE53-9080-283DDBB59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1084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 to ML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E9A264-54B0-E5E5-4363-F25041E9D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58012" y="1452726"/>
            <a:ext cx="9144000" cy="301084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 Dr. Ali Saeed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66E3F8-49BD-6D4D-44B7-0D6EB6AF8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00" y="1753810"/>
            <a:ext cx="10428599" cy="4576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31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0B13D-D1B4-4D0D-18A2-8E50EF004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10106-114A-E5C6-4C1A-7810BD1EBF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Book</a:t>
            </a:r>
          </a:p>
          <a:p>
            <a:pPr lvl="1"/>
            <a:r>
              <a:rPr lang="en-US" dirty="0"/>
              <a:t>Machine Learning: A Probabilistic Perspective, 1st Edition, Kevin R Murphy </a:t>
            </a:r>
          </a:p>
          <a:p>
            <a:r>
              <a:rPr lang="en-US" dirty="0"/>
              <a:t>Marks Distribution</a:t>
            </a:r>
          </a:p>
          <a:p>
            <a:pPr lvl="1"/>
            <a:r>
              <a:rPr lang="en-US" dirty="0"/>
              <a:t>Quizzes = 10% </a:t>
            </a:r>
          </a:p>
          <a:p>
            <a:pPr lvl="1"/>
            <a:r>
              <a:rPr lang="en-US" dirty="0"/>
              <a:t>Assignments =10% </a:t>
            </a:r>
          </a:p>
          <a:p>
            <a:pPr lvl="1"/>
            <a:r>
              <a:rPr lang="en-US" dirty="0"/>
              <a:t>Class Participation = 10%</a:t>
            </a:r>
          </a:p>
          <a:p>
            <a:pPr lvl="1"/>
            <a:r>
              <a:rPr lang="en-US" dirty="0"/>
              <a:t>Mid Term =25 %</a:t>
            </a:r>
          </a:p>
          <a:p>
            <a:pPr lvl="1"/>
            <a:r>
              <a:rPr lang="en-US" dirty="0"/>
              <a:t> Research Paper/ Project= 10%</a:t>
            </a:r>
          </a:p>
          <a:p>
            <a:pPr lvl="1"/>
            <a:r>
              <a:rPr lang="en-US" dirty="0"/>
              <a:t>Final = 35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5DCFBB-7275-840D-92F4-84812E8BD3B9}"/>
              </a:ext>
            </a:extLst>
          </p:cNvPr>
          <p:cNvSpPr txBox="1"/>
          <p:nvPr/>
        </p:nvSpPr>
        <p:spPr>
          <a:xfrm>
            <a:off x="6334812" y="2735535"/>
            <a:ext cx="6022963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Office Hours: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Tuesday: 10:30AM to 11:30 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Wednesday: 10:30AM to 11:30 AM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Office# A-201 (2B)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endParaRPr lang="en-US" sz="24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12475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E2EC1-6D52-C7E9-E9A5-A79808D8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6DA7E-1D85-5B41-7020-4C5299A4ED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Machine learning is an application of AI that enables systems to learn and improve from experience without being explicitly programmed.</a:t>
            </a:r>
          </a:p>
          <a:p>
            <a:r>
              <a:rPr lang="en-US" dirty="0"/>
              <a:t>Machine learning is a subfield of artificial intelligence, which is broadly defined as the capability of a machine to replicate intelligent human behavior.</a:t>
            </a:r>
          </a:p>
          <a:p>
            <a:r>
              <a:rPr lang="en-US" dirty="0"/>
              <a:t>Machine Learning Is a Form of Artificial Intelligence that Makes Predictions from Data.</a:t>
            </a:r>
          </a:p>
        </p:txBody>
      </p:sp>
    </p:spTree>
    <p:extLst>
      <p:ext uri="{BB962C8B-B14F-4D97-AF65-F5344CB8AC3E}">
        <p14:creationId xmlns:p14="http://schemas.microsoft.com/office/powerpoint/2010/main" val="21941622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AA73-0DB7-D94C-A5B3-B1CE515E1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cricket match to predict next short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691EACC-4BDC-1E29-9676-6A8630BF01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927912" y="1825625"/>
            <a:ext cx="4336176" cy="4351338"/>
          </a:xfrm>
        </p:spPr>
      </p:pic>
    </p:spTree>
    <p:extLst>
      <p:ext uri="{BB962C8B-B14F-4D97-AF65-F5344CB8AC3E}">
        <p14:creationId xmlns:p14="http://schemas.microsoft.com/office/powerpoint/2010/main" val="15701429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A0FA2-965D-5B4F-CD6B-C9064F2E8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4066E2-2A59-B768-5F8E-7FB218DAB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Image Recognition</a:t>
            </a:r>
          </a:p>
          <a:p>
            <a:r>
              <a:rPr lang="en-US" sz="4000" dirty="0"/>
              <a:t>Speech Recognition </a:t>
            </a:r>
          </a:p>
          <a:p>
            <a:r>
              <a:rPr lang="en-US" sz="4000" dirty="0"/>
              <a:t>Traffic prediction</a:t>
            </a:r>
          </a:p>
          <a:p>
            <a:r>
              <a:rPr lang="en-US" sz="4000" dirty="0"/>
              <a:t>Product recommendations</a:t>
            </a:r>
          </a:p>
          <a:p>
            <a:r>
              <a:rPr lang="en-US" sz="4000" dirty="0"/>
              <a:t>Self-driving cars</a:t>
            </a:r>
          </a:p>
        </p:txBody>
      </p:sp>
    </p:spTree>
    <p:extLst>
      <p:ext uri="{BB962C8B-B14F-4D97-AF65-F5344CB8AC3E}">
        <p14:creationId xmlns:p14="http://schemas.microsoft.com/office/powerpoint/2010/main" val="1529652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62A0D-1C1F-2AAB-DB71-278A9901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DD048-8B51-7098-AB51-7C911C14E3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Due to large digital data</a:t>
            </a:r>
          </a:p>
          <a:p>
            <a:r>
              <a:rPr lang="en-US" sz="3600" dirty="0"/>
              <a:t>Increasing power of computer</a:t>
            </a:r>
          </a:p>
          <a:p>
            <a:r>
              <a:rPr lang="en-US" sz="3600" dirty="0"/>
              <a:t>Growth of available algorithms</a:t>
            </a:r>
          </a:p>
          <a:p>
            <a:r>
              <a:rPr lang="en-US" sz="3600" dirty="0"/>
              <a:t>Increasing support of industry</a:t>
            </a:r>
          </a:p>
        </p:txBody>
      </p:sp>
    </p:spTree>
    <p:extLst>
      <p:ext uri="{BB962C8B-B14F-4D97-AF65-F5344CB8AC3E}">
        <p14:creationId xmlns:p14="http://schemas.microsoft.com/office/powerpoint/2010/main" val="2034017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256E7-A764-BB66-9EC5-76580BC2B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Learning Process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AA80BF3-6ACC-A8DF-AB34-D4189ADA40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5412" y="2210594"/>
            <a:ext cx="9401175" cy="3581400"/>
          </a:xfrm>
        </p:spPr>
      </p:pic>
    </p:spTree>
    <p:extLst>
      <p:ext uri="{BB962C8B-B14F-4D97-AF65-F5344CB8AC3E}">
        <p14:creationId xmlns:p14="http://schemas.microsoft.com/office/powerpoint/2010/main" val="3687765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809E-A753-C93A-7BC4-1AD8AD448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1F526-BA95-D1FA-D63F-597CE2908F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4000" dirty="0"/>
              <a:t>Supervised Learning</a:t>
            </a:r>
          </a:p>
          <a:p>
            <a:pPr lvl="1"/>
            <a:r>
              <a:rPr lang="en-US" sz="3600" dirty="0"/>
              <a:t>Classification</a:t>
            </a:r>
            <a:endParaRPr lang="en-US" sz="3200" dirty="0"/>
          </a:p>
          <a:p>
            <a:pPr lvl="1"/>
            <a:r>
              <a:rPr lang="en-US" sz="3600" dirty="0"/>
              <a:t>Regression</a:t>
            </a:r>
          </a:p>
          <a:p>
            <a:r>
              <a:rPr lang="en-US" sz="4000" dirty="0"/>
              <a:t>Unsupervised Learning</a:t>
            </a:r>
          </a:p>
          <a:p>
            <a:pPr lvl="1"/>
            <a:r>
              <a:rPr lang="en-US" sz="3600" dirty="0"/>
              <a:t>Clustering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1294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EF50C-5860-ADDD-764E-E5F0396E2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52A54-6311-12F8-EEE5-2A2FD65F8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 classification is a division or category in a system which divides things into groups or types.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33EA48-5F4F-4C9E-76D4-AA0D1B590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141" y="3429000"/>
            <a:ext cx="338137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39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5F52F-0F17-F383-729D-FA65BF7ED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A24A50-8359-8356-725C-101C37A12F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Regression is a technique for investigating the relationship between independent variables or features and a dependent variable or outcome.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70387B-CB4C-1A3F-E04D-11D47097F3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568" y="3571532"/>
            <a:ext cx="2508429" cy="2386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107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391C1-884F-9C94-C3A5-5025EF45A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0DDF5-AC22-7D21-B127-53C7D65A7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Grouping unlabeled examples is called clustering. As the examples are unlabeled, clustering relies on unsupervised machine learning.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D45C38-E110-B846-EC9F-ADADC981B4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9208" y="3235014"/>
            <a:ext cx="3971925" cy="281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541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0E96CB-D200-6EA4-4785-0BA39D9C1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DD69A-E521-CF17-CE67-0EDA366F0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Structured Dataset</a:t>
            </a:r>
          </a:p>
          <a:p>
            <a:pPr lvl="1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Structured data is highly-organized and formatted so that it's easily searchable in relational databases.</a:t>
            </a:r>
            <a:endParaRPr lang="en-US" dirty="0"/>
          </a:p>
          <a:p>
            <a:r>
              <a:rPr lang="en-US" dirty="0"/>
              <a:t>Unstructured Dataset</a:t>
            </a:r>
          </a:p>
          <a:p>
            <a:pPr lvl="1"/>
            <a:r>
              <a:rPr lang="en-US" b="0" i="0" dirty="0">
                <a:solidFill>
                  <a:srgbClr val="202124"/>
                </a:solidFill>
                <a:effectLst/>
                <a:latin typeface="arial" panose="020B0604020202020204" pitchFamily="34" charset="0"/>
              </a:rPr>
              <a:t>Unstructured data has no predefined format or organization, making it much more difficult to collect, process, and analyze.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AC9BE-A40D-A0BF-06A3-98F7859EE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509" y="4393334"/>
            <a:ext cx="3914775" cy="20193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19CFA1-956C-1B13-76BA-9A5372BD19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859" y="4888634"/>
            <a:ext cx="41529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198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28373-F70B-D6F5-C99B-A1C526BC7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E4DD4A-991E-0DE5-5C79-B508D212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27123276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</TotalTime>
  <Words>298</Words>
  <Application>Microsoft Office PowerPoint</Application>
  <PresentationFormat>Widescreen</PresentationFormat>
  <Paragraphs>54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Office Theme</vt:lpstr>
      <vt:lpstr>Introduction to ML</vt:lpstr>
      <vt:lpstr>Introduction to Machine Learning</vt:lpstr>
      <vt:lpstr>Definition</vt:lpstr>
      <vt:lpstr>Example cricket match to predict next short</vt:lpstr>
      <vt:lpstr>Application of ML</vt:lpstr>
      <vt:lpstr>Why Now</vt:lpstr>
      <vt:lpstr>The Learning Process</vt:lpstr>
      <vt:lpstr>Types of Machine Learning</vt:lpstr>
      <vt:lpstr>Classification</vt:lpstr>
      <vt:lpstr>Regression</vt:lpstr>
      <vt:lpstr>Clustering</vt:lpstr>
      <vt:lpstr>Datasets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ML</dc:title>
  <dc:creator>Ali Saeed</dc:creator>
  <cp:lastModifiedBy>Ali Saeed</cp:lastModifiedBy>
  <cp:revision>37</cp:revision>
  <dcterms:created xsi:type="dcterms:W3CDTF">2022-10-18T05:36:34Z</dcterms:created>
  <dcterms:modified xsi:type="dcterms:W3CDTF">2022-10-20T08:09:30Z</dcterms:modified>
</cp:coreProperties>
</file>