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78" r:id="rId5"/>
    <p:sldId id="279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80" r:id="rId14"/>
    <p:sldId id="281" r:id="rId15"/>
    <p:sldId id="282" r:id="rId16"/>
    <p:sldId id="283" r:id="rId17"/>
    <p:sldId id="260" r:id="rId18"/>
    <p:sldId id="268" r:id="rId19"/>
    <p:sldId id="269" r:id="rId20"/>
    <p:sldId id="270" r:id="rId21"/>
    <p:sldId id="271" r:id="rId22"/>
    <p:sldId id="272" r:id="rId23"/>
    <p:sldId id="261" r:id="rId24"/>
    <p:sldId id="274" r:id="rId25"/>
    <p:sldId id="273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98" autoAdjust="0"/>
  </p:normalViewPr>
  <p:slideViewPr>
    <p:cSldViewPr snapToGrid="0">
      <p:cViewPr varScale="1">
        <p:scale>
          <a:sx n="78" d="100"/>
          <a:sy n="78" d="100"/>
        </p:scale>
        <p:origin x="1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4513D-017F-413F-BD22-2A2635FB36D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69C2A-70C7-495F-88DC-991AE6A70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0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Libraries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LabelEncoder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KNeighborsClassifier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accuracy_score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feature_extraction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TfidfVectorizer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needed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[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 love machine learning"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"Machine learning is amazing"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 hate spam emails"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"Spam emails are annoying"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 love AI"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"AI is the future"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],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"positive"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"positive"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"negative"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"negative"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"positive"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"positive"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Labels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Vectorization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vectorizer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TfidfVectorizer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vectorizer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Labels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LabelEncoder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Split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=0.3,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=42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KNN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KNeighborsClassifier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n_neighbors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=3)</a:t>
            </a:r>
          </a:p>
          <a:p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Predictions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Accuracy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"Predictions:"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"Accuracy:"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69C2A-70C7-495F-88DC-991AE6A703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2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D4DD-51AE-C6CD-4A16-ECAE8A594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331E-10AE-BB3C-7927-3357BB7BA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51813-DB80-4528-7ABC-49F07147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567A1-83D6-8B02-55B8-E8F0DA394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0AB72-735B-A413-E6C2-8E6E5485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3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AC3E-4886-7397-60A5-FB2F4C65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931F-CD3C-33B9-FFBC-C1619CD81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78F4A-CFAE-1A78-B186-531A46EE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4148F-5803-0FB4-8E24-CC4CE34F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78B1-7CC0-2814-644D-A8420ADB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4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417E-E30D-F613-0BD2-D6CCCC63E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98A9C-B6A7-8D0F-38E6-08E9337F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EEC00-72DB-0A99-B76A-D5A18473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1516C-9C67-FCED-DB21-784B191B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92F39-D0F4-C90F-CD31-5224BEAF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7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34-5761-7BA5-A1C2-3284002B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03869-2ED9-CDFF-0597-B0808670A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E2FFF-B7FD-3AA3-4784-85B882D0C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F0497-1338-FFC7-EC1A-C111CFE30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18585-2F6B-28E5-4D41-25C40742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4AE96-3D68-2EFA-4B95-78A21F06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3795-AF5B-FBD7-F017-C6E746D5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7EB9C-7274-D33D-B99E-2482EB781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C772B-5AF5-4FB9-FA99-A1495C24B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E130D-CF4F-1C3E-9D10-9E875F43D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9755C-AA02-6E89-14A0-3B0902D56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D3837-D546-D69C-384B-41D74ECA9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C5380-1DB7-F780-DE5C-E377B8B7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89508-3908-70BD-638A-B2A71883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6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8B61-D2A4-43F6-D5B7-85EEA510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C2F89-2963-A4CC-7E20-9E295A30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E0A7E-A235-9E69-C598-EDEAE281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BBF86-495C-6C8C-AFB4-0957BE63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2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AFC4D-5610-1D38-72D1-A72C2B86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31403-F6CD-BFBD-C409-902090F4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7B004-21FC-4BBE-93EC-1F1E9EE2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0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EF19-C783-1E38-483E-6FF7F423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57E25-0B92-ED91-0285-85A0BF0DC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6F527-23AC-B502-6B21-FD5CF3A4C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AFC6D-840A-5466-D988-88DD03B0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87BA8-1B63-794B-09E3-79C3BA45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369B1-861B-1565-F56B-265EAC44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6B06-8B55-2184-33B1-D8D03E99C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02BB3-DEE5-5841-CE36-97200A6A0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120BD-299C-7D40-8700-737E24207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3417B-057E-864E-6F18-1A93200A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FCA40-6DF6-4D46-DDE7-7AFBC8C5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1B158-C16A-0DAD-6328-2F8702CF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9996-6438-F32A-5CC1-C6B15239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57BFD-3FC9-5488-D974-F26976657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DC91C-D057-5E2E-3E9C-C8D18BCE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29AF-854A-B6CD-DE92-9EE35A3E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16655-3624-9C04-6F98-9C50C138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5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19183-4650-2463-E414-EAAED9B50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896C0-8E75-1C22-B938-C2FF8184F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3FF17-92D7-4C5C-9081-2C0AA0F5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FDCF0-7209-F567-F6A5-CE815C1F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DCD8D-B698-0C99-1C1D-81C288F0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65C94-CE04-056C-1337-DC7FE17A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C772-D4D5-C822-7780-67B41643F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B9BE9-D74A-C2CF-1A83-13B429FBD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C157A-4CE7-4823-BE23-ED581A66297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A5CE7-24C9-B967-DDDF-B00B45715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7082B-2843-61FE-CC83-C5FFEA6E2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2BF5E-ABCD-465A-A819-744987089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9605-7686-4CA3-A0C6-C5946E6BB4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69C67-6A61-4394-0444-5FF82A6E1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243223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41C6-410D-C6FF-BBC6-631AB89A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064E-0EA3-9AF9-5E62-8276FAF22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feature extraction</a:t>
            </a:r>
          </a:p>
          <a:p>
            <a:r>
              <a:rPr lang="en-US" dirty="0"/>
              <a:t>Feature extraction from text</a:t>
            </a:r>
          </a:p>
          <a:p>
            <a:pPr lvl="1"/>
            <a:r>
              <a:rPr lang="en-US" dirty="0"/>
              <a:t>TFIDF Feature Extraction</a:t>
            </a:r>
          </a:p>
          <a:p>
            <a:pPr lvl="1"/>
            <a:r>
              <a:rPr lang="en-US" dirty="0"/>
              <a:t>Bag of Words (</a:t>
            </a:r>
            <a:r>
              <a:rPr lang="en-US" dirty="0" err="1"/>
              <a:t>BoW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N-gram method</a:t>
            </a:r>
          </a:p>
          <a:p>
            <a:pPr lvl="1"/>
            <a:r>
              <a:rPr lang="en-US" dirty="0"/>
              <a:t>Word Embeddings</a:t>
            </a:r>
          </a:p>
          <a:p>
            <a:r>
              <a:rPr lang="en-US" dirty="0"/>
              <a:t>Feature extraction from images</a:t>
            </a:r>
          </a:p>
          <a:p>
            <a:pPr lvl="1"/>
            <a:r>
              <a:rPr lang="en-US" dirty="0"/>
              <a:t>Local Binary Pattern (LBP)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42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0F3B-452B-A2F9-0DEB-EFE0E2D6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43D5-BE7A-F466-2001-AFFF6A8E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extraction refers to the process of transforming raw data into numerical features that can be processed while preserving the information in the original data set.</a:t>
            </a:r>
          </a:p>
          <a:p>
            <a:r>
              <a:rPr lang="en-US" dirty="0"/>
              <a:t>Feature Extraction aims to reduce the number of features in a dataset by creating new features from the existing ones</a:t>
            </a:r>
          </a:p>
        </p:txBody>
      </p:sp>
    </p:spTree>
    <p:extLst>
      <p:ext uri="{BB962C8B-B14F-4D97-AF65-F5344CB8AC3E}">
        <p14:creationId xmlns:p14="http://schemas.microsoft.com/office/powerpoint/2010/main" val="128652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DBC2-FF46-8D0A-C86B-6DD16227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TF-IDF on custom 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FAB264-1B5F-2D01-871C-97A18B273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727782"/>
              </p:ext>
            </p:extLst>
          </p:nvPr>
        </p:nvGraphicFramePr>
        <p:xfrm>
          <a:off x="989836" y="3265320"/>
          <a:ext cx="9885690" cy="264525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098410">
                  <a:extLst>
                    <a:ext uri="{9D8B030D-6E8A-4147-A177-3AD203B41FA5}">
                      <a16:colId xmlns:a16="http://schemas.microsoft.com/office/drawing/2014/main" val="3990580749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1697847967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3773881969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708757715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2274880602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2672379792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789461949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1194818295"/>
                    </a:ext>
                  </a:extLst>
                </a:gridCol>
                <a:gridCol w="1098410">
                  <a:extLst>
                    <a:ext uri="{9D8B030D-6E8A-4147-A177-3AD203B41FA5}">
                      <a16:colId xmlns:a16="http://schemas.microsoft.com/office/drawing/2014/main" val="1776658311"/>
                    </a:ext>
                  </a:extLst>
                </a:gridCol>
              </a:tblGrid>
              <a:tr h="36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Vocabulary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love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machine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learning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fun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deep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and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29688755"/>
                  </a:ext>
                </a:extLst>
              </a:tr>
              <a:tr h="514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D1: “I love machine learning”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0.044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0.044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4095669340"/>
                  </a:ext>
                </a:extLst>
              </a:tr>
              <a:tr h="66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D2: “Machine learning is fun”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0.119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0.119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874996028"/>
                  </a:ext>
                </a:extLst>
              </a:tr>
              <a:tr h="978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D3: “I love deep learning and machine learning”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0.025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0.025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0.000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0.068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0.068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92407204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4123D3C-286C-5755-15C7-B461DF3F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911" y="1800730"/>
            <a:ext cx="5344176" cy="1143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F6D5E1-8BC1-3D35-DE5A-5380EB768436}"/>
              </a:ext>
            </a:extLst>
          </p:cNvPr>
          <p:cNvSpPr txBox="1"/>
          <p:nvPr/>
        </p:nvSpPr>
        <p:spPr>
          <a:xfrm>
            <a:off x="1381327" y="1719485"/>
            <a:ext cx="1615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Data Set</a:t>
            </a:r>
          </a:p>
        </p:txBody>
      </p:sp>
    </p:spTree>
    <p:extLst>
      <p:ext uri="{BB962C8B-B14F-4D97-AF65-F5344CB8AC3E}">
        <p14:creationId xmlns:p14="http://schemas.microsoft.com/office/powerpoint/2010/main" val="134273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32AC-9E99-554E-8E84-85B10A19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2681605"/>
            <a:ext cx="2849880" cy="1325563"/>
          </a:xfrm>
        </p:spPr>
        <p:txBody>
          <a:bodyPr/>
          <a:lstStyle/>
          <a:p>
            <a:r>
              <a:rPr lang="en-US" dirty="0"/>
              <a:t>TF-IDF of word “love”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4BFA32-7AFB-1C94-032F-F272ABC5E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166" y="464717"/>
            <a:ext cx="6500274" cy="592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3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DCD7-7B16-3866-E4E5-C49CFEC61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from Text (Bag of Words)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BCE6-CB84-8B18-0D29-9A3EFF0C1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Bag of words is a Natural Language Processing technique of text modelling.</a:t>
            </a:r>
          </a:p>
          <a:p>
            <a:r>
              <a:rPr lang="en-US" dirty="0"/>
              <a:t>Bag of words technique converts text into vectors</a:t>
            </a:r>
          </a:p>
          <a:p>
            <a:r>
              <a:rPr lang="en-US" dirty="0"/>
              <a:t>Machine learning algorithms prefer structured, well defined fixed-length inputs and by using the Bag-of-Words technique we can convert variable-length texts into a fixed-length vector</a:t>
            </a:r>
            <a:r>
              <a:rPr lang="en-US" b="1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05A8-8624-E141-49FC-2A6B396E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Words (</a:t>
            </a:r>
            <a:r>
              <a:rPr lang="en-US" dirty="0" err="1"/>
              <a:t>BoW</a:t>
            </a:r>
            <a:r>
              <a:rPr lang="en-US" dirty="0"/>
              <a:t>)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F673-0857-6DC9-BEE4-D773B70D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we have following two sentences: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B803A-81C3-C916-B58D-2FCB41CD4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94" y="2792699"/>
            <a:ext cx="58197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8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46BB-9EAA-8979-D3E9-08D36307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4A174B-D45C-D258-E085-5905E3F95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366" y="1562632"/>
            <a:ext cx="7441901" cy="38937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682389-B130-1CD1-BF28-49B93568B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30" y="5688585"/>
            <a:ext cx="93916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B7F3-4C3B-9AC9-C348-674AA8A9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6" y="2552144"/>
            <a:ext cx="3450996" cy="1325563"/>
          </a:xfrm>
        </p:spPr>
        <p:txBody>
          <a:bodyPr>
            <a:normAutofit/>
          </a:bodyPr>
          <a:lstStyle/>
          <a:p>
            <a:r>
              <a:rPr lang="en-US" dirty="0"/>
              <a:t>Step 2 </a:t>
            </a:r>
            <a:br>
              <a:rPr lang="en-US" dirty="0"/>
            </a:br>
            <a:r>
              <a:rPr lang="en-US" sz="2800" dirty="0"/>
              <a:t>(Sentence 1- Scoring)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49580E-F1C6-6938-824F-FCF649D3A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1579" y="365125"/>
            <a:ext cx="4664528" cy="62779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7675C-1997-1DC7-1C14-20B2357B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02" y="5004601"/>
            <a:ext cx="32385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92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B7F3-4C3B-9AC9-C348-674AA8A9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6" y="2552144"/>
            <a:ext cx="3450996" cy="1325563"/>
          </a:xfrm>
        </p:spPr>
        <p:txBody>
          <a:bodyPr>
            <a:normAutofit/>
          </a:bodyPr>
          <a:lstStyle/>
          <a:p>
            <a:r>
              <a:rPr lang="en-US" dirty="0"/>
              <a:t>Step 3 </a:t>
            </a:r>
            <a:br>
              <a:rPr lang="en-US" dirty="0"/>
            </a:br>
            <a:r>
              <a:rPr lang="en-US" sz="2800" dirty="0"/>
              <a:t>(Sentence 2- Scoring)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76CF6-C3FA-CE01-F01B-7BA637924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452" y="35350"/>
            <a:ext cx="5886407" cy="6787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5DEEB9-B74D-3FF8-5DE9-9E1B35E2D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98" y="4840958"/>
            <a:ext cx="35623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04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781F-8B9B-2D53-2F63-1898316B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38961C-F1F1-7F03-D383-63D38A4BD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8912"/>
            <a:ext cx="9410700" cy="1819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E3F1D8-A5BF-011E-B446-D98DCFC57AA8}"/>
              </a:ext>
            </a:extLst>
          </p:cNvPr>
          <p:cNvSpPr txBox="1"/>
          <p:nvPr/>
        </p:nvSpPr>
        <p:spPr>
          <a:xfrm>
            <a:off x="838200" y="4619134"/>
            <a:ext cx="936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easily apply Naïve Bayes, </a:t>
            </a:r>
            <a:r>
              <a:rPr lang="en-US" dirty="0" err="1"/>
              <a:t>OneR</a:t>
            </a:r>
            <a:r>
              <a:rPr lang="en-US" dirty="0"/>
              <a:t> or any other Machine Learning algorithm  on above dataset</a:t>
            </a:r>
          </a:p>
        </p:txBody>
      </p:sp>
    </p:spTree>
    <p:extLst>
      <p:ext uri="{BB962C8B-B14F-4D97-AF65-F5344CB8AC3E}">
        <p14:creationId xmlns:p14="http://schemas.microsoft.com/office/powerpoint/2010/main" val="380412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B56B-D662-D2A9-FDE5-923D40E24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15EC-6DAF-CE33-8BA5-4F37043D5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Develop feature vectors using </a:t>
            </a:r>
            <a:r>
              <a:rPr lang="en-US" sz="4000" dirty="0" err="1"/>
              <a:t>BoW</a:t>
            </a:r>
            <a:r>
              <a:rPr lang="en-US" sz="4000" dirty="0"/>
              <a:t> on the following sentences:</a:t>
            </a:r>
          </a:p>
          <a:p>
            <a:pPr lvl="1"/>
            <a:r>
              <a:rPr lang="en-US" sz="3600" dirty="0"/>
              <a:t>Sentence 1:- He is moving to school</a:t>
            </a:r>
          </a:p>
          <a:p>
            <a:pPr lvl="1"/>
            <a:r>
              <a:rPr lang="en-US" sz="3600" dirty="0"/>
              <a:t>Sentence 2:- She is not moving to college</a:t>
            </a:r>
          </a:p>
          <a:p>
            <a:pPr lvl="1"/>
            <a:r>
              <a:rPr lang="en-US" sz="3600" dirty="0"/>
              <a:t>Sentence 3:- He likes school and college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520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05BF-810A-5E26-4426-243CE07E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 Gram model as Feature (Bi-Grams) like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AC71E6-FFDE-837D-D789-1DA32610F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5" y="1596866"/>
            <a:ext cx="6648450" cy="208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2E579-4627-C962-068C-16E677B9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7" y="3999071"/>
            <a:ext cx="87725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7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7029-D0AE-B7A8-6129-153DB958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DB15-E664-8C40-6724-C9E32D9D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 Gram model as Feature (Tri-Grams) like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012864-2D93-9976-F614-6998CFEB9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5" y="1596866"/>
            <a:ext cx="6648450" cy="2085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A25E2-5659-7B89-E993-907C91A3F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45" y="4118134"/>
            <a:ext cx="8820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90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14A7-6AC8-4400-A5E0-C271F09B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 as Feature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8CFB17-37A0-A003-0A12-EBFB51D2A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81" y="2295287"/>
            <a:ext cx="11714460" cy="296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2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D8B3-5B35-789D-1C16-F45313F7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620E20-8134-BAC4-CC17-083762185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047" y="1901984"/>
            <a:ext cx="6372225" cy="194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883EB-4F64-6090-489A-31763B9FB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47" y="4377055"/>
            <a:ext cx="56578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02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1F37-360C-3E2C-0870-3207F035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Feature extraction from images-(Local Binary Pattern)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1BA6-4F06-F3C7-E7E2-8BD830B0A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name suggests, Local Binary Pattern (LBP for short) is a feature of the local representation of an image.</a:t>
            </a:r>
          </a:p>
          <a:p>
            <a:r>
              <a:rPr lang="en-US" dirty="0"/>
              <a:t>Local Binary Pattern (LBP) is an effective texture descriptor for images which thresholds the neighboring pixels based on the value of the current pixel</a:t>
            </a:r>
          </a:p>
          <a:p>
            <a:r>
              <a:rPr lang="en-US" dirty="0"/>
              <a:t>LBP descriptors efficiently capture the local spatial patterns and the gray scale contrast in an image.</a:t>
            </a:r>
          </a:p>
          <a:p>
            <a:r>
              <a:rPr lang="en-US" dirty="0"/>
              <a:t>Image Types</a:t>
            </a:r>
          </a:p>
          <a:p>
            <a:pPr lvl="1"/>
            <a:r>
              <a:rPr lang="en-US" dirty="0"/>
              <a:t>Gray Scale</a:t>
            </a:r>
          </a:p>
          <a:p>
            <a:pPr lvl="1"/>
            <a:r>
              <a:rPr lang="en-US" dirty="0"/>
              <a:t>Colored Images</a:t>
            </a:r>
          </a:p>
        </p:txBody>
      </p:sp>
    </p:spTree>
    <p:extLst>
      <p:ext uri="{BB962C8B-B14F-4D97-AF65-F5344CB8AC3E}">
        <p14:creationId xmlns:p14="http://schemas.microsoft.com/office/powerpoint/2010/main" val="2753936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EB3E-D430-7043-B9AA-354FFC4F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Local Binary Pattern (LBP)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760A0-41E1-B314-3650-DD3AD6A7F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16956"/>
          </a:xfrm>
        </p:spPr>
        <p:txBody>
          <a:bodyPr/>
          <a:lstStyle/>
          <a:p>
            <a:r>
              <a:rPr lang="en-US" sz="3600" dirty="0"/>
              <a:t>LBP has wide range of applications:</a:t>
            </a:r>
          </a:p>
          <a:p>
            <a:pPr lvl="1"/>
            <a:r>
              <a:rPr lang="en-US" sz="3200" dirty="0"/>
              <a:t>Face Detection</a:t>
            </a:r>
          </a:p>
          <a:p>
            <a:pPr lvl="1"/>
            <a:r>
              <a:rPr lang="en-US" sz="3200" dirty="0"/>
              <a:t>Object Detection</a:t>
            </a:r>
          </a:p>
          <a:p>
            <a:pPr lvl="1"/>
            <a:r>
              <a:rPr lang="en-US" sz="3200" dirty="0"/>
              <a:t>Facial expression recognition</a:t>
            </a:r>
          </a:p>
          <a:p>
            <a:pPr lvl="1"/>
            <a:r>
              <a:rPr lang="en-US" sz="3200" dirty="0"/>
              <a:t>Remote Sensing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6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2169-E468-A4C2-7280-2CA349ED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LBP-Example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2853-496C-D312-9AD0-42C3923BD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works on the concept of 3x3 window</a:t>
            </a:r>
          </a:p>
          <a:p>
            <a:r>
              <a:rPr lang="en-US" dirty="0"/>
              <a:t>It works on the basis of following formula: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ECBB9-0E40-C837-E57B-B94349859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024187"/>
            <a:ext cx="6096000" cy="809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20CBA-3B12-5C0B-0510-B30EA39B2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968749"/>
            <a:ext cx="3324225" cy="895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B26A2F-9734-5F5B-1402-577261725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563" y="5130800"/>
            <a:ext cx="33528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4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A81D-2139-80BA-4ECA-2AE2D0CE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3x3 window size (Step 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69CB8-8CF7-CAB0-FDBB-759FB83ED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263" y="2306628"/>
            <a:ext cx="3943350" cy="323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D618C7-7C88-6B82-270B-2D1B286E8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86" y="2306629"/>
            <a:ext cx="3544577" cy="3238499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6373341-527C-6E10-46F1-4D45C584A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630279"/>
              </p:ext>
            </p:extLst>
          </p:nvPr>
        </p:nvGraphicFramePr>
        <p:xfrm>
          <a:off x="8842342" y="2461818"/>
          <a:ext cx="2896548" cy="1934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516">
                  <a:extLst>
                    <a:ext uri="{9D8B030D-6E8A-4147-A177-3AD203B41FA5}">
                      <a16:colId xmlns:a16="http://schemas.microsoft.com/office/drawing/2014/main" val="189673177"/>
                    </a:ext>
                  </a:extLst>
                </a:gridCol>
                <a:gridCol w="965516">
                  <a:extLst>
                    <a:ext uri="{9D8B030D-6E8A-4147-A177-3AD203B41FA5}">
                      <a16:colId xmlns:a16="http://schemas.microsoft.com/office/drawing/2014/main" val="1499595016"/>
                    </a:ext>
                  </a:extLst>
                </a:gridCol>
                <a:gridCol w="965516">
                  <a:extLst>
                    <a:ext uri="{9D8B030D-6E8A-4147-A177-3AD203B41FA5}">
                      <a16:colId xmlns:a16="http://schemas.microsoft.com/office/drawing/2014/main" val="2417377426"/>
                    </a:ext>
                  </a:extLst>
                </a:gridCol>
              </a:tblGrid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036024"/>
                  </a:ext>
                </a:extLst>
              </a:tr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402933"/>
                  </a:ext>
                </a:extLst>
              </a:tr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26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707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9CEB-C097-C559-7435-CDFF165F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(Compute value)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FE7107CF-04DA-F2E9-05BE-AD0340967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584569"/>
              </p:ext>
            </p:extLst>
          </p:nvPr>
        </p:nvGraphicFramePr>
        <p:xfrm>
          <a:off x="1093509" y="2810610"/>
          <a:ext cx="2896548" cy="1934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516">
                  <a:extLst>
                    <a:ext uri="{9D8B030D-6E8A-4147-A177-3AD203B41FA5}">
                      <a16:colId xmlns:a16="http://schemas.microsoft.com/office/drawing/2014/main" val="189673177"/>
                    </a:ext>
                  </a:extLst>
                </a:gridCol>
                <a:gridCol w="965516">
                  <a:extLst>
                    <a:ext uri="{9D8B030D-6E8A-4147-A177-3AD203B41FA5}">
                      <a16:colId xmlns:a16="http://schemas.microsoft.com/office/drawing/2014/main" val="1499595016"/>
                    </a:ext>
                  </a:extLst>
                </a:gridCol>
                <a:gridCol w="965516">
                  <a:extLst>
                    <a:ext uri="{9D8B030D-6E8A-4147-A177-3AD203B41FA5}">
                      <a16:colId xmlns:a16="http://schemas.microsoft.com/office/drawing/2014/main" val="2417377426"/>
                    </a:ext>
                  </a:extLst>
                </a:gridCol>
              </a:tblGrid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036024"/>
                  </a:ext>
                </a:extLst>
              </a:tr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402933"/>
                  </a:ext>
                </a:extLst>
              </a:tr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2648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7D65DD1-4A84-48DB-9521-1130DDC6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066" y="2660371"/>
            <a:ext cx="2086269" cy="22083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34ADDC-E23F-9374-7E9F-FDEAC5257C36}"/>
              </a:ext>
            </a:extLst>
          </p:cNvPr>
          <p:cNvCxnSpPr/>
          <p:nvPr/>
        </p:nvCxnSpPr>
        <p:spPr>
          <a:xfrm>
            <a:off x="6711885" y="3764540"/>
            <a:ext cx="631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0464EC-D5FA-1CB4-5EF0-DB087601A2C5}"/>
              </a:ext>
            </a:extLst>
          </p:cNvPr>
          <p:cNvSpPr txBox="1"/>
          <p:nvPr/>
        </p:nvSpPr>
        <p:spPr>
          <a:xfrm>
            <a:off x="7758260" y="3429000"/>
            <a:ext cx="2639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203 Value</a:t>
            </a:r>
          </a:p>
        </p:txBody>
      </p:sp>
    </p:spTree>
    <p:extLst>
      <p:ext uri="{BB962C8B-B14F-4D97-AF65-F5344CB8AC3E}">
        <p14:creationId xmlns:p14="http://schemas.microsoft.com/office/powerpoint/2010/main" val="2616903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49D6-94B8-5754-87F6-6A2BE84C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4214B-2356-BB09-61D0-B7DC9EDD2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extraction is a part of the dimensionality reduction process: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CE9D6-8500-925B-0489-82E949F2D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76" y="2608248"/>
            <a:ext cx="2434472" cy="35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72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C253-532A-AFB5-7C3E-C3C67621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LBP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CCCE28-680C-C770-EFE4-CAEB56304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642" y="2539697"/>
            <a:ext cx="8353425" cy="2828925"/>
          </a:xfrm>
        </p:spPr>
      </p:pic>
    </p:spTree>
    <p:extLst>
      <p:ext uri="{BB962C8B-B14F-4D97-AF65-F5344CB8AC3E}">
        <p14:creationId xmlns:p14="http://schemas.microsoft.com/office/powerpoint/2010/main" val="3524930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C477-843B-7AFC-BD56-6F90057D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of Window in LBP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BF860D-21D8-9F25-3F36-39B5595AF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474" y="2511172"/>
            <a:ext cx="3815158" cy="26641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7AF802-71AE-0037-161E-929EA736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22" y="2306229"/>
            <a:ext cx="3978828" cy="286908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7DBC5C-21D1-BC86-6D3B-5DC5EC76CE3E}"/>
              </a:ext>
            </a:extLst>
          </p:cNvPr>
          <p:cNvCxnSpPr>
            <a:stCxn id="5" idx="3"/>
          </p:cNvCxnSpPr>
          <p:nvPr/>
        </p:nvCxnSpPr>
        <p:spPr>
          <a:xfrm flipV="1">
            <a:off x="4782632" y="3827282"/>
            <a:ext cx="1476766" cy="15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11F4C5-596D-5DBA-FB6B-0C8B02CB9E25}"/>
              </a:ext>
            </a:extLst>
          </p:cNvPr>
          <p:cNvCxnSpPr/>
          <p:nvPr/>
        </p:nvCxnSpPr>
        <p:spPr>
          <a:xfrm flipV="1">
            <a:off x="8560082" y="1649693"/>
            <a:ext cx="659332" cy="7856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6FFDAC-4CD0-BBF1-79B2-AEA6575B36A6}"/>
              </a:ext>
            </a:extLst>
          </p:cNvPr>
          <p:cNvSpPr txBox="1"/>
          <p:nvPr/>
        </p:nvSpPr>
        <p:spPr>
          <a:xfrm>
            <a:off x="9319575" y="1395167"/>
            <a:ext cx="148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single window</a:t>
            </a:r>
          </a:p>
        </p:txBody>
      </p:sp>
    </p:spTree>
    <p:extLst>
      <p:ext uri="{BB962C8B-B14F-4D97-AF65-F5344CB8AC3E}">
        <p14:creationId xmlns:p14="http://schemas.microsoft.com/office/powerpoint/2010/main" val="1007065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EABD-9E7E-C93F-91E6-32E1919C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D58F-B1E7-B376-0F38-2FC16D51A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LBP value of the following image (gray-scale values are given):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586AF5A7-C394-BEE9-36D6-9885C19B9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401170"/>
              </p:ext>
            </p:extLst>
          </p:nvPr>
        </p:nvGraphicFramePr>
        <p:xfrm>
          <a:off x="4270342" y="3429000"/>
          <a:ext cx="2896548" cy="1934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516">
                  <a:extLst>
                    <a:ext uri="{9D8B030D-6E8A-4147-A177-3AD203B41FA5}">
                      <a16:colId xmlns:a16="http://schemas.microsoft.com/office/drawing/2014/main" val="189673177"/>
                    </a:ext>
                  </a:extLst>
                </a:gridCol>
                <a:gridCol w="965516">
                  <a:extLst>
                    <a:ext uri="{9D8B030D-6E8A-4147-A177-3AD203B41FA5}">
                      <a16:colId xmlns:a16="http://schemas.microsoft.com/office/drawing/2014/main" val="1499595016"/>
                    </a:ext>
                  </a:extLst>
                </a:gridCol>
                <a:gridCol w="965516">
                  <a:extLst>
                    <a:ext uri="{9D8B030D-6E8A-4147-A177-3AD203B41FA5}">
                      <a16:colId xmlns:a16="http://schemas.microsoft.com/office/drawing/2014/main" val="2417377426"/>
                    </a:ext>
                  </a:extLst>
                </a:gridCol>
              </a:tblGrid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036024"/>
                  </a:ext>
                </a:extLst>
              </a:tr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402933"/>
                  </a:ext>
                </a:extLst>
              </a:tr>
              <a:tr h="644788">
                <a:tc>
                  <a:txBody>
                    <a:bodyPr/>
                    <a:lstStyle/>
                    <a:p>
                      <a:r>
                        <a:rPr lang="en-US" sz="3600" dirty="0"/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26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086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BB1A-5DD7-741F-1787-635ADF34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AC10-26EA-996D-49A2-BDE6BF3B4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721758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908</Words>
  <Application>Microsoft Office PowerPoint</Application>
  <PresentationFormat>Widescreen</PresentationFormat>
  <Paragraphs>170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Poppins</vt:lpstr>
      <vt:lpstr>Office Theme</vt:lpstr>
      <vt:lpstr>Feature Extraction</vt:lpstr>
      <vt:lpstr>Lecture Outline</vt:lpstr>
      <vt:lpstr>What is feature extraction</vt:lpstr>
      <vt:lpstr>Example of TF-IDF on custom dataset</vt:lpstr>
      <vt:lpstr>TF-IDF of word “love”</vt:lpstr>
      <vt:lpstr>Feature Extraction from Text (Bag of Words)</vt:lpstr>
      <vt:lpstr>Bag of Words (BoW) Example</vt:lpstr>
      <vt:lpstr>Step 1</vt:lpstr>
      <vt:lpstr>Step 2  (Sentence 1- Scoring) </vt:lpstr>
      <vt:lpstr>Step 3  (Sentence 2- Scoring) </vt:lpstr>
      <vt:lpstr>Step 4 - Dataset</vt:lpstr>
      <vt:lpstr>Class Exercise</vt:lpstr>
      <vt:lpstr>N- Gram model as Feature (Bi-Grams) like </vt:lpstr>
      <vt:lpstr>N- Gram model as Feature (Tri-Grams) like </vt:lpstr>
      <vt:lpstr>Word Embeddings as Feature</vt:lpstr>
      <vt:lpstr>Word Embeddings Example</vt:lpstr>
      <vt:lpstr>Feature extraction from images-(Local Binary Pattern) </vt:lpstr>
      <vt:lpstr>Local Binary Pattern (LBP)</vt:lpstr>
      <vt:lpstr>LBP-Example</vt:lpstr>
      <vt:lpstr>Example of 3x3 window size (Step 1)</vt:lpstr>
      <vt:lpstr>Step 1 (Compute value)</vt:lpstr>
      <vt:lpstr>Final Image</vt:lpstr>
      <vt:lpstr>LBP Example</vt:lpstr>
      <vt:lpstr>Movement of Window in LBP</vt:lpstr>
      <vt:lpstr>Class 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</dc:title>
  <dc:creator>Ali Saeed</dc:creator>
  <cp:lastModifiedBy>Arham Bhatti</cp:lastModifiedBy>
  <cp:revision>97</cp:revision>
  <dcterms:created xsi:type="dcterms:W3CDTF">2022-11-15T06:13:50Z</dcterms:created>
  <dcterms:modified xsi:type="dcterms:W3CDTF">2026-04-05T05:11:18Z</dcterms:modified>
</cp:coreProperties>
</file>