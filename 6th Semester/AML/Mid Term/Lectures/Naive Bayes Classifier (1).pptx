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handoutMasterIdLst>
    <p:handoutMasterId r:id="rId16"/>
  </p:handoutMasterIdLst>
  <p:sldIdLst>
    <p:sldId id="396" r:id="rId2"/>
    <p:sldId id="368" r:id="rId3"/>
    <p:sldId id="391" r:id="rId4"/>
    <p:sldId id="371" r:id="rId5"/>
    <p:sldId id="378" r:id="rId6"/>
    <p:sldId id="395" r:id="rId7"/>
    <p:sldId id="379" r:id="rId8"/>
    <p:sldId id="380" r:id="rId9"/>
    <p:sldId id="381" r:id="rId10"/>
    <p:sldId id="382" r:id="rId11"/>
    <p:sldId id="397" r:id="rId12"/>
    <p:sldId id="398" r:id="rId13"/>
    <p:sldId id="399" r:id="rId14"/>
  </p:sldIdLst>
  <p:sldSz cx="9144000" cy="6858000" type="screen4x3"/>
  <p:notesSz cx="7099300" cy="10234613"/>
  <p:defaultTextStyle>
    <a:defPPr>
      <a:defRPr lang="en-GB"/>
    </a:defPPr>
    <a:lvl1pPr algn="r"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r"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r"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r"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r"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00D100"/>
    <a:srgbClr val="00E900"/>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40" y="48"/>
      </p:cViewPr>
      <p:guideLst>
        <p:guide orient="horz" pos="2160"/>
        <p:guide pos="2880"/>
      </p:guideLst>
    </p:cSldViewPr>
  </p:slideViewPr>
  <p:outlineViewPr>
    <p:cViewPr>
      <p:scale>
        <a:sx n="33" d="100"/>
        <a:sy n="33" d="100"/>
      </p:scale>
      <p:origin x="0" y="1482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algn="l" defTabSz="990600">
              <a:defRPr sz="1300">
                <a:latin typeface="Arial" charset="0"/>
                <a:ea typeface="ＭＳ Ｐゴシック" charset="0"/>
                <a:cs typeface="+mn-cs"/>
              </a:defRPr>
            </a:lvl1pPr>
          </a:lstStyle>
          <a:p>
            <a:pPr>
              <a:defRPr/>
            </a:pPr>
            <a:endParaRPr lang="en-GB"/>
          </a:p>
        </p:txBody>
      </p:sp>
      <p:sp>
        <p:nvSpPr>
          <p:cNvPr id="1075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defTabSz="990600">
              <a:defRPr sz="1300">
                <a:latin typeface="Arial" charset="0"/>
                <a:ea typeface="ＭＳ Ｐゴシック" charset="0"/>
                <a:cs typeface="+mn-cs"/>
              </a:defRPr>
            </a:lvl1pPr>
          </a:lstStyle>
          <a:p>
            <a:pPr>
              <a:defRPr/>
            </a:pPr>
            <a:endParaRPr lang="en-GB"/>
          </a:p>
        </p:txBody>
      </p:sp>
      <p:sp>
        <p:nvSpPr>
          <p:cNvPr id="1075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algn="l" defTabSz="990600">
              <a:defRPr sz="1300">
                <a:latin typeface="Arial" charset="0"/>
                <a:ea typeface="ＭＳ Ｐゴシック" charset="0"/>
                <a:cs typeface="+mn-cs"/>
              </a:defRPr>
            </a:lvl1pPr>
          </a:lstStyle>
          <a:p>
            <a:pPr>
              <a:defRPr/>
            </a:pPr>
            <a:endParaRPr lang="en-GB"/>
          </a:p>
        </p:txBody>
      </p:sp>
      <p:sp>
        <p:nvSpPr>
          <p:cNvPr id="1075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defTabSz="990600">
              <a:defRPr sz="1300"/>
            </a:lvl1pPr>
          </a:lstStyle>
          <a:p>
            <a:fld id="{E8772C27-49E7-4A7C-A7E9-B796AB0209A1}" type="slidenum">
              <a:rPr lang="en-GB" altLang="en-US"/>
              <a:pPr/>
              <a:t>‹#›</a:t>
            </a:fld>
            <a:endParaRPr lang="en-GB" altLang="en-US"/>
          </a:p>
        </p:txBody>
      </p:sp>
    </p:spTree>
    <p:extLst>
      <p:ext uri="{BB962C8B-B14F-4D97-AF65-F5344CB8AC3E}">
        <p14:creationId xmlns:p14="http://schemas.microsoft.com/office/powerpoint/2010/main" val="1456074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algn="l" defTabSz="990600">
              <a:defRPr sz="1300">
                <a:latin typeface="Arial" charset="0"/>
                <a:ea typeface="ＭＳ Ｐゴシック" charset="0"/>
                <a:cs typeface="+mn-cs"/>
              </a:defRPr>
            </a:lvl1pPr>
          </a:lstStyle>
          <a:p>
            <a:pPr>
              <a:defRPr/>
            </a:pPr>
            <a:endParaRPr lang="en-GB"/>
          </a:p>
        </p:txBody>
      </p:sp>
      <p:sp>
        <p:nvSpPr>
          <p:cNvPr id="48131"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lvl1pPr defTabSz="990600">
              <a:defRPr sz="1300">
                <a:latin typeface="Arial" charset="0"/>
                <a:ea typeface="ＭＳ Ｐゴシック" charset="0"/>
                <a:cs typeface="+mn-cs"/>
              </a:defRPr>
            </a:lvl1pPr>
          </a:lstStyle>
          <a:p>
            <a:pPr>
              <a:defRPr/>
            </a:pPr>
            <a:endParaRPr lang="en-GB"/>
          </a:p>
        </p:txBody>
      </p:sp>
      <p:sp>
        <p:nvSpPr>
          <p:cNvPr id="48132"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48133"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8134"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algn="l" defTabSz="990600">
              <a:defRPr sz="1300">
                <a:latin typeface="Arial" charset="0"/>
                <a:ea typeface="ＭＳ Ｐゴシック" charset="0"/>
                <a:cs typeface="+mn-cs"/>
              </a:defRPr>
            </a:lvl1pPr>
          </a:lstStyle>
          <a:p>
            <a:pPr>
              <a:defRPr/>
            </a:pPr>
            <a:endParaRPr lang="en-GB"/>
          </a:p>
        </p:txBody>
      </p:sp>
      <p:sp>
        <p:nvSpPr>
          <p:cNvPr id="48135"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9048" tIns="49524" rIns="99048" bIns="49524" numCol="1" anchor="b" anchorCtr="0" compatLnSpc="1">
            <a:prstTxWarp prst="textNoShape">
              <a:avLst/>
            </a:prstTxWarp>
          </a:bodyPr>
          <a:lstStyle>
            <a:lvl1pPr defTabSz="990600">
              <a:defRPr sz="1300"/>
            </a:lvl1pPr>
          </a:lstStyle>
          <a:p>
            <a:fld id="{340BB9A7-FC84-454A-8C67-CE7CA3E27AFA}" type="slidenum">
              <a:rPr lang="en-GB" altLang="en-US"/>
              <a:pPr/>
              <a:t>‹#›</a:t>
            </a:fld>
            <a:endParaRPr lang="en-GB" altLang="en-US"/>
          </a:p>
        </p:txBody>
      </p:sp>
    </p:spTree>
    <p:extLst>
      <p:ext uri="{BB962C8B-B14F-4D97-AF65-F5344CB8AC3E}">
        <p14:creationId xmlns:p14="http://schemas.microsoft.com/office/powerpoint/2010/main" val="16073914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7"/>
          <p:cNvSpPr>
            <a:spLocks noGrp="1" noChangeArrowheads="1"/>
          </p:cNvSpPr>
          <p:nvPr>
            <p:ph type="sldNum" sz="quarter"/>
          </p:nvPr>
        </p:nvSpPr>
        <p:spPr>
          <a:noFill/>
        </p:spPr>
        <p:txBody>
          <a:bodyPr/>
          <a:lstStyle>
            <a:lvl1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1pPr>
            <a:lvl2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2pPr>
            <a:lvl3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3pPr>
            <a:lvl4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4pPr>
            <a:lvl5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5pPr>
            <a:lvl6pPr marL="2616190"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6pPr>
            <a:lvl7pPr marL="3091861"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7pPr>
            <a:lvl8pPr marL="356753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8pPr>
            <a:lvl9pPr marL="404320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9pPr>
          </a:lstStyle>
          <a:p>
            <a:pPr eaLnBrk="1" hangingPunct="1"/>
            <a:fld id="{619BFBF3-69CB-410F-93AD-731CA414C91A}" type="slidenum">
              <a:rPr lang="en-GB" altLang="en-US" sz="1200">
                <a:solidFill>
                  <a:srgbClr val="000000"/>
                </a:solidFill>
                <a:ea typeface="DejaVu Sans" charset="0"/>
                <a:cs typeface="DejaVu Sans" charset="0"/>
              </a:rPr>
              <a:pPr eaLnBrk="1" hangingPunct="1"/>
              <a:t>2</a:t>
            </a:fld>
            <a:endParaRPr lang="en-GB" altLang="en-US" sz="1200" dirty="0">
              <a:solidFill>
                <a:srgbClr val="000000"/>
              </a:solidFill>
              <a:ea typeface="DejaVu Sans" charset="0"/>
              <a:cs typeface="DejaVu Sans" charset="0"/>
            </a:endParaRPr>
          </a:p>
        </p:txBody>
      </p:sp>
      <p:sp>
        <p:nvSpPr>
          <p:cNvPr id="22531" name="Rectangle 1"/>
          <p:cNvSpPr txBox="1">
            <a:spLocks noGrp="1" noRot="1" noChangeAspect="1" noChangeArrowheads="1" noTextEdit="1"/>
          </p:cNvSpPr>
          <p:nvPr>
            <p:ph type="sldImg"/>
          </p:nvPr>
        </p:nvSpPr>
        <p:spPr>
          <a:xfrm>
            <a:off x="990600" y="766763"/>
            <a:ext cx="5118100" cy="38385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p:cNvSpPr txBox="1">
            <a:spLocks noGrp="1" noChangeArrowheads="1"/>
          </p:cNvSpPr>
          <p:nvPr>
            <p:ph type="body" idx="1"/>
          </p:nvPr>
        </p:nvSpPr>
        <p:spPr>
          <a:xfrm>
            <a:off x="709931" y="4862466"/>
            <a:ext cx="5679440" cy="460516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7"/>
          <p:cNvSpPr>
            <a:spLocks noGrp="1" noChangeArrowheads="1"/>
          </p:cNvSpPr>
          <p:nvPr>
            <p:ph type="sldNum" sz="quarter"/>
          </p:nvPr>
        </p:nvSpPr>
        <p:spPr>
          <a:noFill/>
        </p:spPr>
        <p:txBody>
          <a:bodyPr/>
          <a:lstStyle>
            <a:lvl1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1pPr>
            <a:lvl2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2pPr>
            <a:lvl3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3pPr>
            <a:lvl4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4pPr>
            <a:lvl5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5pPr>
            <a:lvl6pPr marL="2616190"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6pPr>
            <a:lvl7pPr marL="3091861"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7pPr>
            <a:lvl8pPr marL="356753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8pPr>
            <a:lvl9pPr marL="404320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9pPr>
          </a:lstStyle>
          <a:p>
            <a:pPr eaLnBrk="1" hangingPunct="1"/>
            <a:fld id="{619BFBF3-69CB-410F-93AD-731CA414C91A}" type="slidenum">
              <a:rPr lang="en-GB" altLang="en-US" sz="1200">
                <a:solidFill>
                  <a:srgbClr val="000000"/>
                </a:solidFill>
                <a:ea typeface="DejaVu Sans" charset="0"/>
                <a:cs typeface="DejaVu Sans" charset="0"/>
              </a:rPr>
              <a:pPr eaLnBrk="1" hangingPunct="1"/>
              <a:t>3</a:t>
            </a:fld>
            <a:endParaRPr lang="en-GB" altLang="en-US" sz="1200" dirty="0">
              <a:solidFill>
                <a:srgbClr val="000000"/>
              </a:solidFill>
              <a:ea typeface="DejaVu Sans" charset="0"/>
              <a:cs typeface="DejaVu Sans" charset="0"/>
            </a:endParaRPr>
          </a:p>
        </p:txBody>
      </p:sp>
      <p:sp>
        <p:nvSpPr>
          <p:cNvPr id="22531" name="Rectangle 1"/>
          <p:cNvSpPr txBox="1">
            <a:spLocks noGrp="1" noRot="1" noChangeAspect="1" noChangeArrowheads="1" noTextEdit="1"/>
          </p:cNvSpPr>
          <p:nvPr>
            <p:ph type="sldImg"/>
          </p:nvPr>
        </p:nvSpPr>
        <p:spPr>
          <a:xfrm>
            <a:off x="990600" y="766763"/>
            <a:ext cx="5118100" cy="38385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2" name="Rectangle 2"/>
          <p:cNvSpPr txBox="1">
            <a:spLocks noGrp="1" noChangeArrowheads="1"/>
          </p:cNvSpPr>
          <p:nvPr>
            <p:ph type="body" idx="1"/>
          </p:nvPr>
        </p:nvSpPr>
        <p:spPr>
          <a:xfrm>
            <a:off x="709931" y="4862466"/>
            <a:ext cx="5679440" cy="460516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p:cNvSpPr>
            <a:spLocks noGrp="1" noChangeArrowheads="1"/>
          </p:cNvSpPr>
          <p:nvPr>
            <p:ph type="sldNum" sz="quarter"/>
          </p:nvPr>
        </p:nvSpPr>
        <p:spPr>
          <a:noFill/>
        </p:spPr>
        <p:txBody>
          <a:bodyPr/>
          <a:lstStyle>
            <a:lvl1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1pPr>
            <a:lvl2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2pPr>
            <a:lvl3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3pPr>
            <a:lvl4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4pPr>
            <a:lvl5pPr eaLnBrk="0" hangingPunc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5pPr>
            <a:lvl6pPr marL="2616190"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6pPr>
            <a:lvl7pPr marL="3091861"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7pPr>
            <a:lvl8pPr marL="356753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8pPr>
            <a:lvl9pPr marL="4043202" indent="-237835" defTabSz="467413" eaLnBrk="0" fontAlgn="base" hangingPunct="0">
              <a:spcBef>
                <a:spcPct val="0"/>
              </a:spcBef>
              <a:spcAft>
                <a:spcPct val="0"/>
              </a:spcAft>
              <a:buClr>
                <a:srgbClr val="000000"/>
              </a:buClr>
              <a:buSzPct val="100000"/>
              <a:buFont typeface="Times New Roman" pitchFamily="16" charset="0"/>
              <a:tabLst>
                <a:tab pos="0" algn="l"/>
                <a:tab pos="951342" algn="l"/>
                <a:tab pos="1902684" algn="l"/>
                <a:tab pos="2854025" algn="l"/>
                <a:tab pos="3805367" algn="l"/>
                <a:tab pos="4756709" algn="l"/>
                <a:tab pos="5708051" algn="l"/>
                <a:tab pos="6659392" algn="l"/>
                <a:tab pos="7610734" algn="l"/>
                <a:tab pos="8562076" algn="l"/>
                <a:tab pos="9513418" algn="l"/>
                <a:tab pos="10464759" algn="l"/>
              </a:tabLst>
              <a:defRPr sz="2500">
                <a:solidFill>
                  <a:schemeClr val="bg1"/>
                </a:solidFill>
                <a:latin typeface="Arial" charset="0"/>
                <a:ea typeface="AR PL UMing HK" charset="0"/>
                <a:cs typeface="AR PL UMing HK" charset="0"/>
              </a:defRPr>
            </a:lvl9pPr>
          </a:lstStyle>
          <a:p>
            <a:pPr eaLnBrk="1" hangingPunct="1"/>
            <a:fld id="{36FEBE8F-A595-4952-9ED7-DEF3F2695090}" type="slidenum">
              <a:rPr lang="en-GB" altLang="en-US" sz="1200">
                <a:solidFill>
                  <a:srgbClr val="000000"/>
                </a:solidFill>
                <a:ea typeface="DejaVu Sans" charset="0"/>
                <a:cs typeface="DejaVu Sans" charset="0"/>
              </a:rPr>
              <a:pPr eaLnBrk="1" hangingPunct="1"/>
              <a:t>4</a:t>
            </a:fld>
            <a:endParaRPr lang="en-GB" altLang="en-US" sz="1200" dirty="0">
              <a:solidFill>
                <a:srgbClr val="000000"/>
              </a:solidFill>
              <a:ea typeface="DejaVu Sans" charset="0"/>
              <a:cs typeface="DejaVu Sans" charset="0"/>
            </a:endParaRPr>
          </a:p>
        </p:txBody>
      </p:sp>
      <p:sp>
        <p:nvSpPr>
          <p:cNvPr id="25603" name="Rectangle 1"/>
          <p:cNvSpPr txBox="1">
            <a:spLocks noGrp="1" noRot="1" noChangeAspect="1" noChangeArrowheads="1" noTextEdit="1"/>
          </p:cNvSpPr>
          <p:nvPr>
            <p:ph type="sldImg"/>
          </p:nvPr>
        </p:nvSpPr>
        <p:spPr>
          <a:xfrm>
            <a:off x="990600" y="766763"/>
            <a:ext cx="5118100" cy="3838575"/>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4" name="Rectangle 2"/>
          <p:cNvSpPr txBox="1">
            <a:spLocks noGrp="1" noChangeArrowheads="1"/>
          </p:cNvSpPr>
          <p:nvPr>
            <p:ph type="body" idx="1"/>
          </p:nvPr>
        </p:nvSpPr>
        <p:spPr>
          <a:xfrm>
            <a:off x="709931" y="4862466"/>
            <a:ext cx="5679440" cy="460516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5"/>
          <p:cNvSpPr>
            <a:spLocks noGrp="1" noChangeArrowheads="1"/>
          </p:cNvSpPr>
          <p:nvPr>
            <p:ph type="sldNum" idx="10"/>
          </p:nvPr>
        </p:nvSpPr>
        <p:spPr>
          <a:ln/>
        </p:spPr>
        <p:txBody>
          <a:bodyPr/>
          <a:lstStyle>
            <a:lvl1pPr>
              <a:defRPr/>
            </a:lvl1pPr>
          </a:lstStyle>
          <a:p>
            <a:pPr>
              <a:defRPr/>
            </a:pPr>
            <a:fld id="{245A632D-C5E7-4381-A18D-6CA85B066543}" type="slidenum">
              <a:rPr lang="en-GB" altLang="en-US"/>
              <a:pPr>
                <a:defRPr/>
              </a:pPr>
              <a:t>‹#›</a:t>
            </a:fld>
            <a:endParaRPr lang="en-GB" altLang="en-US"/>
          </a:p>
        </p:txBody>
      </p:sp>
    </p:spTree>
    <p:extLst>
      <p:ext uri="{BB962C8B-B14F-4D97-AF65-F5344CB8AC3E}">
        <p14:creationId xmlns:p14="http://schemas.microsoft.com/office/powerpoint/2010/main" val="326063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idx="10"/>
          </p:nvPr>
        </p:nvSpPr>
        <p:spPr>
          <a:ln/>
        </p:spPr>
        <p:txBody>
          <a:bodyPr/>
          <a:lstStyle>
            <a:lvl1pPr>
              <a:defRPr/>
            </a:lvl1pPr>
          </a:lstStyle>
          <a:p>
            <a:pPr>
              <a:defRPr/>
            </a:pPr>
            <a:fld id="{D5D7935F-5D0C-4F6F-9D11-6F340C00E203}" type="slidenum">
              <a:rPr lang="en-GB" altLang="en-US"/>
              <a:pPr>
                <a:defRPr/>
              </a:pPr>
              <a:t>‹#›</a:t>
            </a:fld>
            <a:endParaRPr lang="en-GB" altLang="en-US"/>
          </a:p>
        </p:txBody>
      </p:sp>
    </p:spTree>
    <p:extLst>
      <p:ext uri="{BB962C8B-B14F-4D97-AF65-F5344CB8AC3E}">
        <p14:creationId xmlns:p14="http://schemas.microsoft.com/office/powerpoint/2010/main" val="3788426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idx="10"/>
          </p:nvPr>
        </p:nvSpPr>
        <p:spPr>
          <a:ln/>
        </p:spPr>
        <p:txBody>
          <a:bodyPr/>
          <a:lstStyle>
            <a:lvl1pPr>
              <a:defRPr/>
            </a:lvl1pPr>
          </a:lstStyle>
          <a:p>
            <a:pPr>
              <a:defRPr/>
            </a:pPr>
            <a:fld id="{5D34EADF-E72F-47F2-8F2A-453112AEFF19}" type="slidenum">
              <a:rPr lang="en-GB" altLang="en-US"/>
              <a:pPr>
                <a:defRPr/>
              </a:pPr>
              <a:t>‹#›</a:t>
            </a:fld>
            <a:endParaRPr lang="en-GB" altLang="en-US"/>
          </a:p>
        </p:txBody>
      </p:sp>
    </p:spTree>
    <p:extLst>
      <p:ext uri="{BB962C8B-B14F-4D97-AF65-F5344CB8AC3E}">
        <p14:creationId xmlns:p14="http://schemas.microsoft.com/office/powerpoint/2010/main" val="356801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sldNum" idx="10"/>
          </p:nvPr>
        </p:nvSpPr>
        <p:spPr>
          <a:ln/>
        </p:spPr>
        <p:txBody>
          <a:bodyPr/>
          <a:lstStyle>
            <a:lvl1pPr>
              <a:defRPr/>
            </a:lvl1pPr>
          </a:lstStyle>
          <a:p>
            <a:pPr>
              <a:defRPr/>
            </a:pPr>
            <a:fld id="{23CE6B1F-3F11-4A20-8F58-DED3F340D43B}" type="slidenum">
              <a:rPr lang="en-GB" altLang="en-US"/>
              <a:pPr>
                <a:defRPr/>
              </a:pPr>
              <a:t>‹#›</a:t>
            </a:fld>
            <a:endParaRPr lang="en-GB" altLang="en-US"/>
          </a:p>
        </p:txBody>
      </p:sp>
    </p:spTree>
    <p:extLst>
      <p:ext uri="{BB962C8B-B14F-4D97-AF65-F5344CB8AC3E}">
        <p14:creationId xmlns:p14="http://schemas.microsoft.com/office/powerpoint/2010/main" val="1728857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p:cNvSpPr>
            <a:spLocks noGrp="1" noChangeArrowheads="1"/>
          </p:cNvSpPr>
          <p:nvPr>
            <p:ph type="sldNum" idx="10"/>
          </p:nvPr>
        </p:nvSpPr>
        <p:spPr>
          <a:ln/>
        </p:spPr>
        <p:txBody>
          <a:bodyPr/>
          <a:lstStyle>
            <a:lvl1pPr>
              <a:defRPr/>
            </a:lvl1pPr>
          </a:lstStyle>
          <a:p>
            <a:pPr>
              <a:defRPr/>
            </a:pPr>
            <a:fld id="{9C326E78-7834-4F54-BFCD-799326C96932}" type="slidenum">
              <a:rPr lang="en-GB" altLang="en-US"/>
              <a:pPr>
                <a:defRPr/>
              </a:pPr>
              <a:t>‹#›</a:t>
            </a:fld>
            <a:endParaRPr lang="en-GB" altLang="en-US"/>
          </a:p>
        </p:txBody>
      </p:sp>
    </p:spTree>
    <p:extLst>
      <p:ext uri="{BB962C8B-B14F-4D97-AF65-F5344CB8AC3E}">
        <p14:creationId xmlns:p14="http://schemas.microsoft.com/office/powerpoint/2010/main" val="1104481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5"/>
          <p:cNvSpPr>
            <a:spLocks noGrp="1" noChangeArrowheads="1"/>
          </p:cNvSpPr>
          <p:nvPr>
            <p:ph type="sldNum" idx="10"/>
          </p:nvPr>
        </p:nvSpPr>
        <p:spPr>
          <a:ln/>
        </p:spPr>
        <p:txBody>
          <a:bodyPr/>
          <a:lstStyle>
            <a:lvl1pPr>
              <a:defRPr/>
            </a:lvl1pPr>
          </a:lstStyle>
          <a:p>
            <a:pPr>
              <a:defRPr/>
            </a:pPr>
            <a:fld id="{828B2BF7-5195-46CD-B4BF-82311EEA7C03}" type="slidenum">
              <a:rPr lang="en-GB" altLang="en-US"/>
              <a:pPr>
                <a:defRPr/>
              </a:pPr>
              <a:t>‹#›</a:t>
            </a:fld>
            <a:endParaRPr lang="en-GB" altLang="en-US"/>
          </a:p>
        </p:txBody>
      </p:sp>
    </p:spTree>
    <p:extLst>
      <p:ext uri="{BB962C8B-B14F-4D97-AF65-F5344CB8AC3E}">
        <p14:creationId xmlns:p14="http://schemas.microsoft.com/office/powerpoint/2010/main" val="1575561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idx="10"/>
          </p:nvPr>
        </p:nvSpPr>
        <p:spPr>
          <a:ln/>
        </p:spPr>
        <p:txBody>
          <a:bodyPr/>
          <a:lstStyle>
            <a:lvl1pPr>
              <a:defRPr/>
            </a:lvl1pPr>
          </a:lstStyle>
          <a:p>
            <a:pPr>
              <a:defRPr/>
            </a:pPr>
            <a:fld id="{50A452C2-723F-4F8D-8ED3-F65E506B4091}" type="slidenum">
              <a:rPr lang="en-GB" altLang="en-US"/>
              <a:pPr>
                <a:defRPr/>
              </a:pPr>
              <a:t>‹#›</a:t>
            </a:fld>
            <a:endParaRPr lang="en-GB" altLang="en-US"/>
          </a:p>
        </p:txBody>
      </p:sp>
    </p:spTree>
    <p:extLst>
      <p:ext uri="{BB962C8B-B14F-4D97-AF65-F5344CB8AC3E}">
        <p14:creationId xmlns:p14="http://schemas.microsoft.com/office/powerpoint/2010/main" val="2353359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45666146-B8D5-458A-89B5-F46152985154}" type="slidenum">
              <a:rPr lang="en-GB" altLang="en-US"/>
              <a:pPr>
                <a:defRPr/>
              </a:pPr>
              <a:t>‹#›</a:t>
            </a:fld>
            <a:endParaRPr lang="en-GB" altLang="en-US"/>
          </a:p>
        </p:txBody>
      </p:sp>
    </p:spTree>
    <p:extLst>
      <p:ext uri="{BB962C8B-B14F-4D97-AF65-F5344CB8AC3E}">
        <p14:creationId xmlns:p14="http://schemas.microsoft.com/office/powerpoint/2010/main" val="85186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idx="10"/>
          </p:nvPr>
        </p:nvSpPr>
        <p:spPr>
          <a:ln/>
        </p:spPr>
        <p:txBody>
          <a:bodyPr/>
          <a:lstStyle>
            <a:lvl1pPr>
              <a:defRPr/>
            </a:lvl1pPr>
          </a:lstStyle>
          <a:p>
            <a:pPr>
              <a:defRPr/>
            </a:pPr>
            <a:fld id="{0D949022-07B4-4EC9-B99D-7FE296CF44CA}" type="slidenum">
              <a:rPr lang="en-GB" altLang="en-US"/>
              <a:pPr>
                <a:defRPr/>
              </a:pPr>
              <a:t>‹#›</a:t>
            </a:fld>
            <a:endParaRPr lang="en-GB" altLang="en-US"/>
          </a:p>
        </p:txBody>
      </p:sp>
    </p:spTree>
    <p:extLst>
      <p:ext uri="{BB962C8B-B14F-4D97-AF65-F5344CB8AC3E}">
        <p14:creationId xmlns:p14="http://schemas.microsoft.com/office/powerpoint/2010/main" val="173758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idx="10"/>
          </p:nvPr>
        </p:nvSpPr>
        <p:spPr>
          <a:ln/>
        </p:spPr>
        <p:txBody>
          <a:bodyPr/>
          <a:lstStyle>
            <a:lvl1pPr>
              <a:defRPr/>
            </a:lvl1pPr>
          </a:lstStyle>
          <a:p>
            <a:pPr>
              <a:defRPr/>
            </a:pPr>
            <a:fld id="{A0FF2C4B-CE94-45A0-8FB1-7F9E44FB3C84}" type="slidenum">
              <a:rPr lang="en-GB" altLang="en-US"/>
              <a:pPr>
                <a:defRPr/>
              </a:pPr>
              <a:t>‹#›</a:t>
            </a:fld>
            <a:endParaRPr lang="en-GB" altLang="en-US"/>
          </a:p>
        </p:txBody>
      </p:sp>
    </p:spTree>
    <p:extLst>
      <p:ext uri="{BB962C8B-B14F-4D97-AF65-F5344CB8AC3E}">
        <p14:creationId xmlns:p14="http://schemas.microsoft.com/office/powerpoint/2010/main" val="1909902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5813" cy="58499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499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5"/>
          <p:cNvSpPr>
            <a:spLocks noGrp="1" noChangeArrowheads="1"/>
          </p:cNvSpPr>
          <p:nvPr>
            <p:ph type="sldNum" idx="10"/>
          </p:nvPr>
        </p:nvSpPr>
        <p:spPr>
          <a:ln/>
        </p:spPr>
        <p:txBody>
          <a:bodyPr/>
          <a:lstStyle>
            <a:lvl1pPr>
              <a:defRPr/>
            </a:lvl1pPr>
          </a:lstStyle>
          <a:p>
            <a:pPr>
              <a:defRPr/>
            </a:pPr>
            <a:fld id="{18448E32-140B-45B5-B5B8-3EBCA3B9E0DB}" type="slidenum">
              <a:rPr lang="en-GB" altLang="en-US"/>
              <a:pPr>
                <a:defRPr/>
              </a:pPr>
              <a:t>‹#›</a:t>
            </a:fld>
            <a:endParaRPr lang="en-GB" altLang="en-US"/>
          </a:p>
        </p:txBody>
      </p:sp>
    </p:spTree>
    <p:extLst>
      <p:ext uri="{BB962C8B-B14F-4D97-AF65-F5344CB8AC3E}">
        <p14:creationId xmlns:p14="http://schemas.microsoft.com/office/powerpoint/2010/main" val="1402649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274638"/>
            <a:ext cx="8228013"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2"/>
          <p:cNvSpPr>
            <a:spLocks noGrp="1" noChangeArrowheads="1"/>
          </p:cNvSpPr>
          <p:nvPr>
            <p:ph type="body" idx="1"/>
          </p:nvPr>
        </p:nvSpPr>
        <p:spPr bwMode="auto">
          <a:xfrm>
            <a:off x="457200" y="1600200"/>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Text Box 3"/>
          <p:cNvSpPr txBox="1">
            <a:spLocks noChangeArrowheads="1"/>
          </p:cNvSpPr>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defTabSz="449263">
              <a:buClr>
                <a:srgbClr val="000000"/>
              </a:buClr>
              <a:buSzPct val="100000"/>
              <a:buFont typeface="Times New Roman" pitchFamily="16" charset="0"/>
              <a:buNone/>
            </a:pPr>
            <a:endParaRPr lang="en-US" altLang="en-US" sz="2400">
              <a:solidFill>
                <a:srgbClr val="FFFFFF"/>
              </a:solidFill>
              <a:latin typeface="Arial" charset="0"/>
            </a:endParaRPr>
          </a:p>
        </p:txBody>
      </p:sp>
      <p:sp>
        <p:nvSpPr>
          <p:cNvPr id="1029" name="Text Box 4"/>
          <p:cNvSpPr txBox="1">
            <a:spLocks noChangeArrowheads="1"/>
          </p:cNvSpPr>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defTabSz="449263">
              <a:buClr>
                <a:srgbClr val="000000"/>
              </a:buClr>
              <a:buSzPct val="100000"/>
              <a:buFont typeface="Times New Roman" pitchFamily="16" charset="0"/>
              <a:buNone/>
            </a:pPr>
            <a:endParaRPr lang="en-US" altLang="en-US" sz="2400">
              <a:solidFill>
                <a:srgbClr val="FFFFFF"/>
              </a:solidFill>
              <a:latin typeface="Arial" charset="0"/>
            </a:endParaRPr>
          </a:p>
        </p:txBody>
      </p:sp>
      <p:sp>
        <p:nvSpPr>
          <p:cNvPr id="2" name="Rectangle 5"/>
          <p:cNvSpPr>
            <a:spLocks noGrp="1" noChangeArrowheads="1"/>
          </p:cNvSpPr>
          <p:nvPr>
            <p:ph type="sldNum"/>
          </p:nvPr>
        </p:nvSpPr>
        <p:spPr bwMode="auto">
          <a:xfrm>
            <a:off x="6553200" y="6245225"/>
            <a:ext cx="21320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mtClean="0">
                <a:solidFill>
                  <a:srgbClr val="000000"/>
                </a:solidFill>
                <a:ea typeface="+mn-ea"/>
                <a:cs typeface="DejaVu Sans" charset="0"/>
              </a:defRPr>
            </a:lvl1pPr>
          </a:lstStyle>
          <a:p>
            <a:pPr algn="l" defTabSz="449263">
              <a:buSzPct val="100000"/>
              <a:defRPr/>
            </a:pPr>
            <a:fld id="{B427D0B1-53EE-4D86-8EC2-87C449EB7DEE}" type="slidenum">
              <a:rPr lang="en-GB" altLang="en-US" sz="2400">
                <a:latin typeface="Arial" charset="0"/>
              </a:rPr>
              <a:pPr algn="l" defTabSz="449263">
                <a:buSzPct val="100000"/>
                <a:defRPr/>
              </a:pPr>
              <a:t>‹#›</a:t>
            </a:fld>
            <a:endParaRPr lang="en-GB" altLang="en-US" sz="2400">
              <a:latin typeface="Arial" charset="0"/>
            </a:endParaRPr>
          </a:p>
        </p:txBody>
      </p:sp>
    </p:spTree>
    <p:extLst>
      <p:ext uri="{BB962C8B-B14F-4D97-AF65-F5344CB8AC3E}">
        <p14:creationId xmlns:p14="http://schemas.microsoft.com/office/powerpoint/2010/main" val="36412178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2pPr>
      <a:lvl3pPr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3pPr>
      <a:lvl4pPr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4pPr>
      <a:lvl5pPr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AR PL UMing HK" charset="0"/>
          <a:cs typeface="AR PL UMing HK" charset="0"/>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000000"/>
          </a:solidFill>
          <a:latin typeface="+mn-lt"/>
          <a:ea typeface="+mn-ea"/>
          <a:cs typeface="+mn-cs"/>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000000"/>
          </a:solidFill>
          <a:latin typeface="+mn-lt"/>
          <a:ea typeface="+mn-ea"/>
          <a:cs typeface="+mn-cs"/>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 Id="rId9" Type="http://schemas.openxmlformats.org/officeDocument/2006/relationships/image" Target="../media/image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1219200"/>
            <a:ext cx="7315200" cy="3416320"/>
          </a:xfrm>
          <a:prstGeom prst="rect">
            <a:avLst/>
          </a:prstGeom>
          <a:noFill/>
        </p:spPr>
        <p:txBody>
          <a:bodyPr wrap="square" rtlCol="0">
            <a:spAutoFit/>
          </a:bodyPr>
          <a:lstStyle/>
          <a:p>
            <a:pPr algn="l"/>
            <a:r>
              <a:rPr lang="en-US" sz="5400" dirty="0"/>
              <a:t>Naïve Bayes for text classification</a:t>
            </a:r>
          </a:p>
          <a:p>
            <a:endParaRPr lang="en-US" sz="5400" dirty="0"/>
          </a:p>
          <a:p>
            <a:r>
              <a:rPr lang="en-US" sz="5400"/>
              <a:t>By Dr. Ali </a:t>
            </a:r>
            <a:r>
              <a:rPr lang="en-US" sz="5400" dirty="0"/>
              <a:t>Saeed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9pPr>
          </a:lstStyle>
          <a:p>
            <a:pPr algn="ctr" defTabSz="449263" eaLnBrk="1" hangingPunct="1">
              <a:buSzPct val="100000"/>
            </a:pPr>
            <a:r>
              <a:rPr lang="en-GB" altLang="en-US" sz="4400" dirty="0">
                <a:solidFill>
                  <a:srgbClr val="000000"/>
                </a:solidFill>
              </a:rPr>
              <a:t>Outline</a:t>
            </a:r>
          </a:p>
        </p:txBody>
      </p:sp>
      <p:sp>
        <p:nvSpPr>
          <p:cNvPr id="3075" name="Text Box 2"/>
          <p:cNvSpPr txBox="1">
            <a:spLocks noChangeArrowheads="1"/>
          </p:cNvSpPr>
          <p:nvPr/>
        </p:nvSpPr>
        <p:spPr bwMode="auto">
          <a:xfrm>
            <a:off x="457200" y="1752600"/>
            <a:ext cx="8229600" cy="434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1313"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1pPr>
            <a:lvl2pPr marL="741363" indent="-284163"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2pPr>
            <a:lvl3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3pPr>
            <a:lvl4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4pPr>
            <a:lvl5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9pPr>
          </a:lstStyle>
          <a:p>
            <a:pPr algn="l" defTabSz="449263" eaLnBrk="1" hangingPunct="1">
              <a:spcBef>
                <a:spcPts val="800"/>
              </a:spcBef>
              <a:buSzPct val="100000"/>
              <a:buFont typeface="Arial" pitchFamily="34" charset="0"/>
              <a:buChar char="•"/>
            </a:pPr>
            <a:r>
              <a:rPr lang="en-GB" altLang="en-US" sz="3200" dirty="0">
                <a:solidFill>
                  <a:srgbClr val="000000"/>
                </a:solidFill>
              </a:rPr>
              <a:t>Bayes Rule</a:t>
            </a:r>
          </a:p>
          <a:p>
            <a:pPr algn="l" defTabSz="449263" eaLnBrk="1" hangingPunct="1">
              <a:spcBef>
                <a:spcPts val="800"/>
              </a:spcBef>
              <a:buSzPct val="100000"/>
              <a:buFont typeface="Arial" pitchFamily="34" charset="0"/>
              <a:buChar char="•"/>
            </a:pPr>
            <a:r>
              <a:rPr lang="en-GB" altLang="en-US" sz="3200" dirty="0">
                <a:solidFill>
                  <a:srgbClr val="000000"/>
                </a:solidFill>
              </a:rPr>
              <a:t>Working of Naive Bayes Classifier</a:t>
            </a:r>
          </a:p>
          <a:p>
            <a:pPr algn="l" defTabSz="449263" eaLnBrk="1" hangingPunct="1">
              <a:spcBef>
                <a:spcPts val="800"/>
              </a:spcBef>
              <a:buSzPct val="100000"/>
              <a:buFont typeface="Arial" pitchFamily="34" charset="0"/>
              <a:buChar char="•"/>
            </a:pPr>
            <a:r>
              <a:rPr lang="en-GB" altLang="en-US" sz="3200" dirty="0">
                <a:solidFill>
                  <a:srgbClr val="000000"/>
                </a:solidFill>
              </a:rPr>
              <a:t>Example Naive Bayes Classifier</a:t>
            </a:r>
          </a:p>
          <a:p>
            <a:pPr algn="l" defTabSz="449263" eaLnBrk="1" hangingPunct="1">
              <a:spcBef>
                <a:spcPts val="800"/>
              </a:spcBef>
              <a:buSzPct val="100000"/>
              <a:buFont typeface="Arial" pitchFamily="34" charset="0"/>
              <a:buChar char="•"/>
            </a:pPr>
            <a:r>
              <a:rPr lang="en-GB" altLang="en-US" sz="3200" dirty="0">
                <a:solidFill>
                  <a:srgbClr val="000000"/>
                </a:solidFill>
              </a:rPr>
              <a:t>How Naive Bayes Classifier can be used for text classification</a:t>
            </a:r>
          </a:p>
          <a:p>
            <a:pPr algn="l" defTabSz="449263" eaLnBrk="1" hangingPunct="1">
              <a:spcBef>
                <a:spcPts val="800"/>
              </a:spcBef>
              <a:buSzPct val="100000"/>
              <a:buFont typeface="Arial" pitchFamily="34" charset="0"/>
              <a:buChar char="•"/>
            </a:pPr>
            <a:r>
              <a:rPr lang="en-GB" altLang="en-US" sz="3200" dirty="0">
                <a:solidFill>
                  <a:srgbClr val="000000"/>
                </a:solidFill>
              </a:rPr>
              <a:t>How Naive Bayes Classifier is used for Multi-Class text classification </a:t>
            </a:r>
          </a:p>
          <a:p>
            <a:pPr algn="l" defTabSz="449263" eaLnBrk="1" hangingPunct="1">
              <a:spcBef>
                <a:spcPts val="800"/>
              </a:spcBef>
              <a:buSzPct val="100000"/>
              <a:buFont typeface="Arial" pitchFamily="34" charset="0"/>
              <a:buChar char="•"/>
            </a:pPr>
            <a:endParaRPr lang="en-GB" altLang="en-US" sz="3200" dirty="0">
              <a:solidFill>
                <a:srgbClr val="000000"/>
              </a:solidFill>
            </a:endParaRPr>
          </a:p>
        </p:txBody>
      </p:sp>
    </p:spTree>
    <p:extLst>
      <p:ext uri="{BB962C8B-B14F-4D97-AF65-F5344CB8AC3E}">
        <p14:creationId xmlns:p14="http://schemas.microsoft.com/office/powerpoint/2010/main" val="1969889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9pPr>
          </a:lstStyle>
          <a:p>
            <a:pPr algn="ctr" defTabSz="449263" eaLnBrk="1" hangingPunct="1">
              <a:buSzPct val="100000"/>
            </a:pPr>
            <a:r>
              <a:rPr lang="en-GB" altLang="en-US" sz="4400" dirty="0">
                <a:solidFill>
                  <a:srgbClr val="000000"/>
                </a:solidFill>
              </a:rPr>
              <a:t>Bayes’ Rule Overview</a:t>
            </a:r>
          </a:p>
        </p:txBody>
      </p:sp>
      <p:sp>
        <p:nvSpPr>
          <p:cNvPr id="3075" name="Text Box 2"/>
          <p:cNvSpPr txBox="1">
            <a:spLocks noChangeArrowheads="1"/>
          </p:cNvSpPr>
          <p:nvPr/>
        </p:nvSpPr>
        <p:spPr bwMode="auto">
          <a:xfrm>
            <a:off x="457200" y="1752600"/>
            <a:ext cx="8229600" cy="434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1313"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1pPr>
            <a:lvl2pPr marL="741363" indent="-284163"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2pPr>
            <a:lvl3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3pPr>
            <a:lvl4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4pPr>
            <a:lvl5pPr eaLnBrk="0" hangingPunc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bg1"/>
                </a:solidFill>
                <a:latin typeface="Arial" charset="0"/>
                <a:ea typeface="AR PL UMing HK" charset="0"/>
                <a:cs typeface="AR PL UMing HK" charset="0"/>
              </a:defRPr>
            </a:lvl9pPr>
          </a:lstStyle>
          <a:p>
            <a:pPr algn="l" defTabSz="449263" eaLnBrk="1" hangingPunct="1">
              <a:spcBef>
                <a:spcPts val="800"/>
              </a:spcBef>
              <a:buSzPct val="100000"/>
            </a:pPr>
            <a:r>
              <a:rPr lang="en-GB" altLang="en-US" sz="3200" dirty="0">
                <a:solidFill>
                  <a:srgbClr val="000000"/>
                </a:solidFill>
              </a:rPr>
              <a:t>Now let’s learn about:</a:t>
            </a:r>
          </a:p>
          <a:p>
            <a:pPr algn="l" defTabSz="449263" eaLnBrk="1" hangingPunct="1">
              <a:spcBef>
                <a:spcPts val="800"/>
              </a:spcBef>
              <a:buClr>
                <a:srgbClr val="000000"/>
              </a:buClr>
              <a:buSzPct val="100000"/>
              <a:buFont typeface="Arial" charset="0"/>
              <a:buChar char="•"/>
            </a:pPr>
            <a:r>
              <a:rPr lang="en-GB" altLang="en-US" sz="3200" dirty="0">
                <a:solidFill>
                  <a:srgbClr val="000000"/>
                </a:solidFill>
              </a:rPr>
              <a:t>Bayes rule &amp; how to turn this into a </a:t>
            </a:r>
            <a:r>
              <a:rPr lang="en-GB" altLang="en-US" sz="3200" u="sng" dirty="0">
                <a:solidFill>
                  <a:srgbClr val="000000"/>
                </a:solidFill>
              </a:rPr>
              <a:t>classifier</a:t>
            </a:r>
          </a:p>
          <a:p>
            <a:pPr lvl="1" algn="l" defTabSz="449263" eaLnBrk="1" hangingPunct="1">
              <a:spcBef>
                <a:spcPts val="700"/>
              </a:spcBef>
              <a:buClr>
                <a:srgbClr val="000000"/>
              </a:buClr>
              <a:buSzPct val="100000"/>
              <a:buFont typeface="Arial" charset="0"/>
              <a:buChar char="–"/>
            </a:pPr>
            <a:r>
              <a:rPr lang="en-GB" altLang="en-US" sz="2800" dirty="0">
                <a:solidFill>
                  <a:srgbClr val="000000"/>
                </a:solidFill>
              </a:rPr>
              <a:t>E.g. How to decide if a patient is ill or healthy, based on</a:t>
            </a:r>
          </a:p>
          <a:p>
            <a:pPr marL="1143000" lvl="2" indent="-228600" algn="l" defTabSz="449263" eaLnBrk="1" hangingPunct="1">
              <a:spcBef>
                <a:spcPts val="600"/>
              </a:spcBef>
              <a:buClr>
                <a:srgbClr val="000000"/>
              </a:buClr>
              <a:buSzPct val="100000"/>
              <a:buFont typeface="Arial" charset="0"/>
              <a:buChar char="•"/>
            </a:pPr>
            <a:r>
              <a:rPr lang="en-GB" altLang="en-US" dirty="0">
                <a:solidFill>
                  <a:srgbClr val="000000"/>
                </a:solidFill>
              </a:rPr>
              <a:t>A probabilistic model of the observed data</a:t>
            </a:r>
          </a:p>
          <a:p>
            <a:pPr marL="1143000" lvl="2" indent="-228600" algn="l" defTabSz="449263" eaLnBrk="1" hangingPunct="1">
              <a:spcBef>
                <a:spcPts val="600"/>
              </a:spcBef>
              <a:buClr>
                <a:srgbClr val="000000"/>
              </a:buClr>
              <a:buSzPct val="100000"/>
              <a:buFont typeface="Arial" charset="0"/>
              <a:buChar char="•"/>
            </a:pPr>
            <a:r>
              <a:rPr lang="en-GB" altLang="en-US" dirty="0">
                <a:solidFill>
                  <a:srgbClr val="000000"/>
                </a:solidFill>
              </a:rPr>
              <a:t>Prior knowledge</a:t>
            </a:r>
          </a:p>
          <a:p>
            <a:pPr algn="l" defTabSz="449263" eaLnBrk="1" hangingPunct="1">
              <a:spcBef>
                <a:spcPts val="800"/>
              </a:spcBef>
              <a:buSzPct val="100000"/>
            </a:pPr>
            <a:endParaRPr lang="en-GB" altLang="en-US" sz="3200" dirty="0">
              <a:solidFill>
                <a:srgbClr val="000000"/>
              </a:solidFill>
            </a:endParaRPr>
          </a:p>
        </p:txBody>
      </p:sp>
    </p:spTree>
    <p:extLst>
      <p:ext uri="{BB962C8B-B14F-4D97-AF65-F5344CB8AC3E}">
        <p14:creationId xmlns:p14="http://schemas.microsoft.com/office/powerpoint/2010/main" val="1969889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1"/>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9pPr>
          </a:lstStyle>
          <a:p>
            <a:pPr algn="ctr" defTabSz="449263" eaLnBrk="1" hangingPunct="1">
              <a:buSzPct val="100000"/>
            </a:pPr>
            <a:r>
              <a:rPr lang="en-GB" altLang="en-US" sz="4400" dirty="0">
                <a:solidFill>
                  <a:srgbClr val="000000"/>
                </a:solidFill>
              </a:rPr>
              <a:t>Bayes’ Rule</a:t>
            </a:r>
          </a:p>
        </p:txBody>
      </p:sp>
      <p:grpSp>
        <p:nvGrpSpPr>
          <p:cNvPr id="6147" name="Group 2"/>
          <p:cNvGrpSpPr>
            <a:grpSpLocks/>
          </p:cNvGrpSpPr>
          <p:nvPr/>
        </p:nvGrpSpPr>
        <p:grpSpPr bwMode="auto">
          <a:xfrm>
            <a:off x="685800" y="1600200"/>
            <a:ext cx="3749675" cy="1084263"/>
            <a:chOff x="432" y="1008"/>
            <a:chExt cx="2362" cy="683"/>
          </a:xfrm>
        </p:grpSpPr>
        <p:graphicFrame>
          <p:nvGraphicFramePr>
            <p:cNvPr id="6153" name="Object 3"/>
            <p:cNvGraphicFramePr>
              <a:graphicFrameLocks noChangeAspect="1"/>
            </p:cNvGraphicFramePr>
            <p:nvPr/>
          </p:nvGraphicFramePr>
          <p:xfrm>
            <a:off x="432" y="1008"/>
            <a:ext cx="2360" cy="680"/>
          </p:xfrm>
          <a:graphic>
            <a:graphicData uri="http://schemas.openxmlformats.org/presentationml/2006/ole">
              <mc:AlternateContent xmlns:mc="http://schemas.openxmlformats.org/markup-compatibility/2006">
                <mc:Choice xmlns:v="urn:schemas-microsoft-com:vml" Requires="v">
                  <p:oleObj spid="_x0000_s1056" name="Equation" r:id="rId4" imgW="501190" imgH="427358" progId="Equation.3">
                    <p:embed/>
                  </p:oleObj>
                </mc:Choice>
                <mc:Fallback>
                  <p:oleObj name="Equation" r:id="rId4" imgW="501190" imgH="427358" progId="Equation.3">
                    <p:embed/>
                    <p:pic>
                      <p:nvPicPr>
                        <p:cNvPr id="0"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1008"/>
                          <a:ext cx="2360" cy="68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6154" name="Text Box 4"/>
            <p:cNvSpPr txBox="1">
              <a:spLocks noChangeArrowheads="1"/>
            </p:cNvSpPr>
            <p:nvPr/>
          </p:nvSpPr>
          <p:spPr bwMode="auto">
            <a:xfrm>
              <a:off x="432" y="1008"/>
              <a:ext cx="2362" cy="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defTabSz="449263">
                <a:buClr>
                  <a:srgbClr val="000000"/>
                </a:buClr>
                <a:buSzPct val="100000"/>
                <a:buFont typeface="Times New Roman" pitchFamily="16" charset="0"/>
                <a:buNone/>
              </a:pPr>
              <a:endParaRPr lang="en-US" altLang="en-US" sz="2400" dirty="0">
                <a:solidFill>
                  <a:srgbClr val="FFFFFF"/>
                </a:solidFill>
                <a:latin typeface="Arial" charset="0"/>
              </a:endParaRPr>
            </a:p>
          </p:txBody>
        </p:sp>
      </p:grpSp>
      <p:grpSp>
        <p:nvGrpSpPr>
          <p:cNvPr id="6148" name="Group 5"/>
          <p:cNvGrpSpPr>
            <a:grpSpLocks/>
          </p:cNvGrpSpPr>
          <p:nvPr/>
        </p:nvGrpSpPr>
        <p:grpSpPr bwMode="auto">
          <a:xfrm>
            <a:off x="609600" y="4495800"/>
            <a:ext cx="7923213" cy="1350963"/>
            <a:chOff x="384" y="2832"/>
            <a:chExt cx="4991" cy="851"/>
          </a:xfrm>
        </p:grpSpPr>
        <p:graphicFrame>
          <p:nvGraphicFramePr>
            <p:cNvPr id="6151" name="Object 6"/>
            <p:cNvGraphicFramePr>
              <a:graphicFrameLocks noChangeAspect="1"/>
            </p:cNvGraphicFramePr>
            <p:nvPr/>
          </p:nvGraphicFramePr>
          <p:xfrm>
            <a:off x="384" y="2832"/>
            <a:ext cx="4991" cy="851"/>
          </p:xfrm>
          <a:graphic>
            <a:graphicData uri="http://schemas.openxmlformats.org/presentationml/2006/ole">
              <mc:AlternateContent xmlns:mc="http://schemas.openxmlformats.org/markup-compatibility/2006">
                <mc:Choice xmlns:v="urn:schemas-microsoft-com:vml" Requires="v">
                  <p:oleObj spid="_x0000_s1057" name="Equation" r:id="rId6" imgW="474618" imgH="474618" progId="Equation.3">
                    <p:embed/>
                  </p:oleObj>
                </mc:Choice>
                <mc:Fallback>
                  <p:oleObj name="Equation" r:id="rId6" imgW="474618" imgH="474618" progId="Equation.3">
                    <p:embed/>
                    <p:pic>
                      <p:nvPicPr>
                        <p:cNvPr id="0"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2832"/>
                          <a:ext cx="4991" cy="851"/>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6152" name="Text Box 7"/>
            <p:cNvSpPr txBox="1">
              <a:spLocks noChangeArrowheads="1"/>
            </p:cNvSpPr>
            <p:nvPr/>
          </p:nvSpPr>
          <p:spPr bwMode="auto">
            <a:xfrm>
              <a:off x="384" y="2832"/>
              <a:ext cx="4991" cy="8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defTabSz="449263">
                <a:buClr>
                  <a:srgbClr val="000000"/>
                </a:buClr>
                <a:buSzPct val="100000"/>
                <a:buFont typeface="Times New Roman" pitchFamily="16" charset="0"/>
                <a:buNone/>
              </a:pPr>
              <a:endParaRPr lang="en-US" altLang="en-US" sz="2400" dirty="0">
                <a:solidFill>
                  <a:srgbClr val="FFFFFF"/>
                </a:solidFill>
                <a:latin typeface="Arial" charset="0"/>
              </a:endParaRPr>
            </a:p>
          </p:txBody>
        </p:sp>
      </p:grpSp>
      <p:sp>
        <p:nvSpPr>
          <p:cNvPr id="6149" name="Text Box 8"/>
          <p:cNvSpPr txBox="1">
            <a:spLocks noChangeArrowheads="1"/>
          </p:cNvSpPr>
          <p:nvPr/>
        </p:nvSpPr>
        <p:spPr bwMode="auto">
          <a:xfrm>
            <a:off x="609600" y="3657600"/>
            <a:ext cx="41910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Arial" charset="0"/>
                <a:ea typeface="AR PL UMing HK" charset="0"/>
                <a:cs typeface="AR PL UMing HK" charset="0"/>
              </a:defRPr>
            </a:lvl9pPr>
          </a:lstStyle>
          <a:p>
            <a:pPr algn="l" defTabSz="449263" eaLnBrk="1" hangingPunct="1">
              <a:spcBef>
                <a:spcPts val="1500"/>
              </a:spcBef>
              <a:buSzPct val="100000"/>
            </a:pPr>
            <a:r>
              <a:rPr lang="en-GB" altLang="en-US" u="sng" dirty="0">
                <a:solidFill>
                  <a:srgbClr val="000000"/>
                </a:solidFill>
              </a:rPr>
              <a:t>Who is who in Bayes’ rule</a:t>
            </a:r>
          </a:p>
        </p:txBody>
      </p:sp>
      <p:graphicFrame>
        <p:nvGraphicFramePr>
          <p:cNvPr id="6150" name="Object 9"/>
          <p:cNvGraphicFramePr>
            <a:graphicFrameLocks noChangeAspect="1"/>
          </p:cNvGraphicFramePr>
          <p:nvPr/>
        </p:nvGraphicFramePr>
        <p:xfrm>
          <a:off x="5486400" y="1447800"/>
          <a:ext cx="2593975" cy="2667000"/>
        </p:xfrm>
        <a:graphic>
          <a:graphicData uri="http://schemas.openxmlformats.org/presentationml/2006/ole">
            <mc:AlternateContent xmlns:mc="http://schemas.openxmlformats.org/markup-compatibility/2006">
              <mc:Choice xmlns:v="urn:schemas-microsoft-com:vml" Requires="v">
                <p:oleObj spid="_x0000_s1058" name="Equation" r:id="rId8" imgW="460326" imgH="460326" progId="Equation.3">
                  <p:embed/>
                </p:oleObj>
              </mc:Choice>
              <mc:Fallback>
                <p:oleObj name="Equation" r:id="rId8" imgW="460326" imgH="460326" progId="Equation.3">
                  <p:embed/>
                  <p:pic>
                    <p:nvPicPr>
                      <p:cNvPr id="0"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86400" y="1447800"/>
                        <a:ext cx="2593975" cy="2667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Tree>
    <p:extLst>
      <p:ext uri="{BB962C8B-B14F-4D97-AF65-F5344CB8AC3E}">
        <p14:creationId xmlns:p14="http://schemas.microsoft.com/office/powerpoint/2010/main" val="14665342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Naïve Bayes is Naïve?</a:t>
            </a:r>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US" dirty="0"/>
              <a:t>Naïve Bayesian classification is called naïve because it assumes class conditional independence. </a:t>
            </a:r>
          </a:p>
          <a:p>
            <a:pPr marL="457200" indent="-457200">
              <a:buFont typeface="Arial" panose="020B0604020202020204" pitchFamily="34" charset="0"/>
              <a:buChar char="•"/>
            </a:pPr>
            <a:r>
              <a:rPr lang="en-US" dirty="0"/>
              <a:t>In other words the effect of an attribute value on a given class is independent of the values of the other attributes.</a:t>
            </a:r>
          </a:p>
          <a:p>
            <a:pPr marL="457200" indent="-457200">
              <a:buFont typeface="Arial" panose="020B0604020202020204" pitchFamily="34" charset="0"/>
              <a:buChar char="•"/>
            </a:pPr>
            <a:r>
              <a:rPr lang="en-US" dirty="0"/>
              <a:t> This assumption is made to reduce computational costs, and therefore it is considered naïve. </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10774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Naïve Bayes is Naïve?</a:t>
            </a:r>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US" dirty="0"/>
              <a:t>Naïve Bayes is a supervised learning approach</a:t>
            </a:r>
          </a:p>
          <a:p>
            <a:pPr marL="457200" indent="-457200">
              <a:buFont typeface="Arial" panose="020B0604020202020204" pitchFamily="34" charset="0"/>
              <a:buChar char="•"/>
            </a:pPr>
            <a:r>
              <a:rPr lang="en-US" dirty="0"/>
              <a:t>Naïve Bayes is a classification approach</a:t>
            </a:r>
          </a:p>
          <a:p>
            <a:pPr marL="457200" indent="-457200">
              <a:buFont typeface="Arial" panose="020B0604020202020204" pitchFamily="34" charset="0"/>
              <a:buChar char="•"/>
            </a:pPr>
            <a:r>
              <a:rPr lang="en-US" dirty="0"/>
              <a:t>It requires labeled data for training and testing</a:t>
            </a:r>
          </a:p>
          <a:p>
            <a:pPr marL="457200" indent="-457200">
              <a:buFont typeface="Arial" panose="020B0604020202020204" pitchFamily="34" charset="0"/>
              <a:buChar char="•"/>
            </a:pPr>
            <a:r>
              <a:rPr lang="en-US" dirty="0"/>
              <a:t>We can not train Naïve Bayes on raw data (Un-labeled data)</a:t>
            </a:r>
          </a:p>
          <a:p>
            <a:pPr marL="457200" indent="-457200">
              <a:buFont typeface="Arial" panose="020B0604020202020204" pitchFamily="34" charset="0"/>
              <a:buChar char="•"/>
            </a:pPr>
            <a:r>
              <a:rPr lang="en-US" dirty="0"/>
              <a:t>Feature Extraction is manual</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310774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648"/>
            <a:ext cx="8228013" cy="1141412"/>
          </a:xfrm>
        </p:spPr>
        <p:txBody>
          <a:bodyPr/>
          <a:lstStyle/>
          <a:p>
            <a:pPr algn="l"/>
            <a:r>
              <a:rPr lang="en-US" sz="1200" dirty="0"/>
              <a:t>Train a naïve Bayesian classifier as the </a:t>
            </a:r>
            <a:r>
              <a:rPr lang="en-US" sz="1200" i="1" dirty="0"/>
              <a:t>status </a:t>
            </a:r>
            <a:r>
              <a:rPr lang="en-US" sz="1200" dirty="0"/>
              <a:t>attribute is the class label and all the remaining attributes are regarded as input.  Once you have your naïve Bayesian classifier, test the following unseen instances: </a:t>
            </a:r>
            <a:br>
              <a:rPr lang="en-US" sz="1200" dirty="0"/>
            </a:br>
            <a:r>
              <a:rPr lang="en-US" sz="1200" dirty="0"/>
              <a:t>1. </a:t>
            </a:r>
            <a:r>
              <a:rPr lang="en-US" sz="2800" dirty="0"/>
              <a:t> </a:t>
            </a:r>
            <a:r>
              <a:rPr lang="en-US" sz="1000" dirty="0"/>
              <a:t>(</a:t>
            </a:r>
            <a:r>
              <a:rPr lang="en-US" sz="1400" dirty="0"/>
              <a:t>s</a:t>
            </a:r>
            <a:r>
              <a:rPr lang="en-US" sz="1400" i="1" dirty="0"/>
              <a:t>ales,31…35, 66K…70K</a:t>
            </a:r>
            <a:r>
              <a:rPr lang="en-US" sz="1400" dirty="0"/>
              <a:t>). </a:t>
            </a:r>
          </a:p>
        </p:txBody>
      </p:sp>
      <p:pic>
        <p:nvPicPr>
          <p:cNvPr id="399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767590"/>
            <a:ext cx="7632848" cy="4322439"/>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238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r>
              <a:rPr lang="en-US" sz="2400" dirty="0"/>
              <a:t>We first estimate prior probabilities for the “status” class labels. </a:t>
            </a:r>
            <a:r>
              <a:rPr lang="en-US" sz="2400" i="1" dirty="0"/>
              <a:t>P (senior) = 5/11</a:t>
            </a:r>
            <a:r>
              <a:rPr lang="en-US" sz="2400" dirty="0"/>
              <a:t>and </a:t>
            </a:r>
            <a:r>
              <a:rPr lang="en-US" sz="2400" i="1" dirty="0"/>
              <a:t>P (junior) =6/11</a:t>
            </a:r>
            <a:r>
              <a:rPr lang="en-US" sz="2400" dirty="0"/>
              <a:t>.</a:t>
            </a:r>
          </a:p>
          <a:p>
            <a:pPr algn="just">
              <a:buFont typeface="Arial" panose="020B0604020202020204" pitchFamily="34" charset="0"/>
              <a:buChar char="•"/>
            </a:pPr>
            <a:r>
              <a:rPr lang="en-US" sz="2400" b="1" dirty="0"/>
              <a:t>P (department | status)</a:t>
            </a:r>
            <a:endParaRPr lang="en-US" sz="2400" dirty="0"/>
          </a:p>
          <a:p>
            <a:pPr marL="0" indent="0" algn="just"/>
            <a:endParaRPr lang="en-US" sz="2400" dirty="0"/>
          </a:p>
          <a:p>
            <a:pPr marL="457200" indent="-457200">
              <a:buFont typeface="Arial" panose="020B0604020202020204" pitchFamily="34" charset="0"/>
              <a:buChar char="•"/>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48271904"/>
              </p:ext>
            </p:extLst>
          </p:nvPr>
        </p:nvGraphicFramePr>
        <p:xfrm>
          <a:off x="1302226" y="3140969"/>
          <a:ext cx="7155975" cy="1915992"/>
        </p:xfrm>
        <a:graphic>
          <a:graphicData uri="http://schemas.openxmlformats.org/drawingml/2006/table">
            <a:tbl>
              <a:tblPr firstRow="1" firstCol="1" bandRow="1">
                <a:tableStyleId>{5C22544A-7EE6-4342-B048-85BDC9FD1C3A}</a:tableStyleId>
              </a:tblPr>
              <a:tblGrid>
                <a:gridCol w="1431056">
                  <a:extLst>
                    <a:ext uri="{9D8B030D-6E8A-4147-A177-3AD203B41FA5}">
                      <a16:colId xmlns:a16="http://schemas.microsoft.com/office/drawing/2014/main" val="20000"/>
                    </a:ext>
                  </a:extLst>
                </a:gridCol>
                <a:gridCol w="1431056">
                  <a:extLst>
                    <a:ext uri="{9D8B030D-6E8A-4147-A177-3AD203B41FA5}">
                      <a16:colId xmlns:a16="http://schemas.microsoft.com/office/drawing/2014/main" val="20001"/>
                    </a:ext>
                  </a:extLst>
                </a:gridCol>
                <a:gridCol w="1431056">
                  <a:extLst>
                    <a:ext uri="{9D8B030D-6E8A-4147-A177-3AD203B41FA5}">
                      <a16:colId xmlns:a16="http://schemas.microsoft.com/office/drawing/2014/main" val="20002"/>
                    </a:ext>
                  </a:extLst>
                </a:gridCol>
                <a:gridCol w="1431056">
                  <a:extLst>
                    <a:ext uri="{9D8B030D-6E8A-4147-A177-3AD203B41FA5}">
                      <a16:colId xmlns:a16="http://schemas.microsoft.com/office/drawing/2014/main" val="20003"/>
                    </a:ext>
                  </a:extLst>
                </a:gridCol>
                <a:gridCol w="1431751">
                  <a:extLst>
                    <a:ext uri="{9D8B030D-6E8A-4147-A177-3AD203B41FA5}">
                      <a16:colId xmlns:a16="http://schemas.microsoft.com/office/drawing/2014/main" val="20004"/>
                    </a:ext>
                  </a:extLst>
                </a:gridCol>
              </a:tblGrid>
              <a:tr h="890547">
                <a:tc>
                  <a:txBody>
                    <a:bodyPr/>
                    <a:lstStyle/>
                    <a:p>
                      <a:pPr marL="0" marR="0" algn="ctr">
                        <a:lnSpc>
                          <a:spcPct val="115000"/>
                        </a:lnSpc>
                        <a:spcBef>
                          <a:spcPts val="0"/>
                        </a:spcBef>
                        <a:spcAft>
                          <a:spcPts val="0"/>
                        </a:spcAft>
                      </a:pPr>
                      <a:r>
                        <a:rPr lang="en-US" sz="1100" b="1" dirty="0">
                          <a:solidFill>
                            <a:schemeClr val="tx1"/>
                          </a:solidFill>
                          <a:effectLst/>
                        </a:rPr>
                        <a:t>Class</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0" dirty="0">
                          <a:solidFill>
                            <a:schemeClr val="tx1"/>
                          </a:solidFill>
                          <a:effectLst/>
                        </a:rPr>
                        <a:t>sales</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0" dirty="0">
                          <a:solidFill>
                            <a:schemeClr val="tx1"/>
                          </a:solidFill>
                          <a:effectLst/>
                        </a:rPr>
                        <a:t>systems</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0" dirty="0">
                          <a:solidFill>
                            <a:schemeClr val="tx1"/>
                          </a:solidFill>
                          <a:effectLst/>
                        </a:rPr>
                        <a:t>marketing</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0" dirty="0">
                          <a:solidFill>
                            <a:schemeClr val="tx1"/>
                          </a:solidFill>
                          <a:effectLst/>
                        </a:rPr>
                        <a:t>secretary</a:t>
                      </a:r>
                      <a:endParaRPr lang="en-US" sz="1100" b="0" dirty="0">
                        <a:solidFill>
                          <a:schemeClr val="tx1"/>
                        </a:solidFill>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692884">
                <a:tc>
                  <a:txBody>
                    <a:bodyPr/>
                    <a:lstStyle/>
                    <a:p>
                      <a:pPr marL="0" marR="0" algn="ctr">
                        <a:lnSpc>
                          <a:spcPct val="115000"/>
                        </a:lnSpc>
                        <a:spcBef>
                          <a:spcPts val="0"/>
                        </a:spcBef>
                        <a:spcAft>
                          <a:spcPts val="0"/>
                        </a:spcAft>
                      </a:pPr>
                      <a:r>
                        <a:rPr lang="en-US" sz="1100" b="1" dirty="0">
                          <a:solidFill>
                            <a:schemeClr val="tx1"/>
                          </a:solidFill>
                          <a:effectLst/>
                        </a:rPr>
                        <a:t>senior</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1/5</a:t>
                      </a:r>
                    </a:p>
                    <a:p>
                      <a:pPr marL="0" marR="0" algn="ctr">
                        <a:lnSpc>
                          <a:spcPct val="115000"/>
                        </a:lnSpc>
                        <a:spcBef>
                          <a:spcPts val="0"/>
                        </a:spcBef>
                        <a:spcAft>
                          <a:spcPts val="0"/>
                        </a:spcAft>
                      </a:pPr>
                      <a:r>
                        <a:rPr lang="en-US" sz="1100" b="1" dirty="0">
                          <a:effectLst/>
                        </a:rPr>
                        <a:t> </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2/5</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1/5</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1/5</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32561">
                <a:tc>
                  <a:txBody>
                    <a:bodyPr/>
                    <a:lstStyle/>
                    <a:p>
                      <a:pPr marL="0" marR="0" algn="ctr">
                        <a:lnSpc>
                          <a:spcPct val="115000"/>
                        </a:lnSpc>
                        <a:spcBef>
                          <a:spcPts val="0"/>
                        </a:spcBef>
                        <a:spcAft>
                          <a:spcPts val="0"/>
                        </a:spcAft>
                      </a:pPr>
                      <a:r>
                        <a:rPr lang="en-US" sz="1100" b="1" dirty="0">
                          <a:solidFill>
                            <a:schemeClr val="tx1"/>
                          </a:solidFill>
                          <a:effectLst/>
                        </a:rPr>
                        <a:t>junior</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2/6=1/3</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2/6=1/3</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1/6</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1/6</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13194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8013" cy="5575895"/>
          </a:xfrm>
        </p:spPr>
        <p:txBody>
          <a:bodyPr/>
          <a:lstStyle/>
          <a:p>
            <a:pPr marL="457200" indent="-457200">
              <a:buFont typeface="Arial" panose="020B0604020202020204" pitchFamily="34" charset="0"/>
              <a:buChar char="•"/>
            </a:pPr>
            <a:r>
              <a:rPr lang="en-US" b="1" dirty="0"/>
              <a:t>P (age | status)</a:t>
            </a: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b="1" dirty="0"/>
          </a:p>
          <a:p>
            <a:pPr marL="457200" indent="-457200">
              <a:buFont typeface="Arial" panose="020B0604020202020204" pitchFamily="34" charset="0"/>
              <a:buChar char="•"/>
            </a:pPr>
            <a:r>
              <a:rPr lang="en-US" b="1" dirty="0"/>
              <a:t>P (salary | status)</a:t>
            </a:r>
            <a:endParaRPr lang="en-US" dirty="0"/>
          </a:p>
          <a:p>
            <a:pPr marL="457200" indent="-457200">
              <a:buFont typeface="Arial" panose="020B0604020202020204" pitchFamily="34" charset="0"/>
              <a:buChar char="•"/>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88477157"/>
              </p:ext>
            </p:extLst>
          </p:nvPr>
        </p:nvGraphicFramePr>
        <p:xfrm>
          <a:off x="1043608" y="1628800"/>
          <a:ext cx="6728793" cy="1190600"/>
        </p:xfrm>
        <a:graphic>
          <a:graphicData uri="http://schemas.openxmlformats.org/drawingml/2006/table">
            <a:tbl>
              <a:tblPr firstRow="1" firstCol="1" bandRow="1">
                <a:tableStyleId>{5C22544A-7EE6-4342-B048-85BDC9FD1C3A}</a:tableStyleId>
              </a:tblPr>
              <a:tblGrid>
                <a:gridCol w="967885">
                  <a:extLst>
                    <a:ext uri="{9D8B030D-6E8A-4147-A177-3AD203B41FA5}">
                      <a16:colId xmlns:a16="http://schemas.microsoft.com/office/drawing/2014/main" val="20000"/>
                    </a:ext>
                  </a:extLst>
                </a:gridCol>
                <a:gridCol w="1007750">
                  <a:extLst>
                    <a:ext uri="{9D8B030D-6E8A-4147-A177-3AD203B41FA5}">
                      <a16:colId xmlns:a16="http://schemas.microsoft.com/office/drawing/2014/main" val="20001"/>
                    </a:ext>
                  </a:extLst>
                </a:gridCol>
                <a:gridCol w="1013632">
                  <a:extLst>
                    <a:ext uri="{9D8B030D-6E8A-4147-A177-3AD203B41FA5}">
                      <a16:colId xmlns:a16="http://schemas.microsoft.com/office/drawing/2014/main" val="20002"/>
                    </a:ext>
                  </a:extLst>
                </a:gridCol>
                <a:gridCol w="1069836">
                  <a:extLst>
                    <a:ext uri="{9D8B030D-6E8A-4147-A177-3AD203B41FA5}">
                      <a16:colId xmlns:a16="http://schemas.microsoft.com/office/drawing/2014/main" val="20003"/>
                    </a:ext>
                  </a:extLst>
                </a:gridCol>
                <a:gridCol w="1042388">
                  <a:extLst>
                    <a:ext uri="{9D8B030D-6E8A-4147-A177-3AD203B41FA5}">
                      <a16:colId xmlns:a16="http://schemas.microsoft.com/office/drawing/2014/main" val="20004"/>
                    </a:ext>
                  </a:extLst>
                </a:gridCol>
                <a:gridCol w="813651">
                  <a:extLst>
                    <a:ext uri="{9D8B030D-6E8A-4147-A177-3AD203B41FA5}">
                      <a16:colId xmlns:a16="http://schemas.microsoft.com/office/drawing/2014/main" val="20005"/>
                    </a:ext>
                  </a:extLst>
                </a:gridCol>
                <a:gridCol w="813651">
                  <a:extLst>
                    <a:ext uri="{9D8B030D-6E8A-4147-A177-3AD203B41FA5}">
                      <a16:colId xmlns:a16="http://schemas.microsoft.com/office/drawing/2014/main" val="20006"/>
                    </a:ext>
                  </a:extLst>
                </a:gridCol>
              </a:tblGrid>
              <a:tr h="595300">
                <a:tc>
                  <a:txBody>
                    <a:bodyPr/>
                    <a:lstStyle/>
                    <a:p>
                      <a:pPr marL="0" marR="0" algn="ctr">
                        <a:lnSpc>
                          <a:spcPct val="115000"/>
                        </a:lnSpc>
                        <a:spcBef>
                          <a:spcPts val="0"/>
                        </a:spcBef>
                        <a:spcAft>
                          <a:spcPts val="0"/>
                        </a:spcAft>
                      </a:pPr>
                      <a:r>
                        <a:rPr lang="en-US" sz="1100" b="1" dirty="0">
                          <a:solidFill>
                            <a:schemeClr val="tx1"/>
                          </a:solidFill>
                          <a:effectLst/>
                        </a:rPr>
                        <a:t>Class</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21…25</a:t>
                      </a:r>
                    </a:p>
                    <a:p>
                      <a:pPr marL="0" marR="0" algn="ctr">
                        <a:lnSpc>
                          <a:spcPct val="115000"/>
                        </a:lnSpc>
                        <a:spcBef>
                          <a:spcPts val="0"/>
                        </a:spcBef>
                        <a:spcAft>
                          <a:spcPts val="0"/>
                        </a:spcAft>
                      </a:pPr>
                      <a:r>
                        <a:rPr lang="en-US" sz="1100" b="1" dirty="0">
                          <a:solidFill>
                            <a:schemeClr val="tx1"/>
                          </a:solidFill>
                          <a:effectLst/>
                        </a:rPr>
                        <a:t> </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26…30</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31…35</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36…40</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41…45</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solidFill>
                            <a:schemeClr val="tx1"/>
                          </a:solidFill>
                          <a:effectLst/>
                        </a:rPr>
                        <a:t>46…50</a:t>
                      </a:r>
                      <a:endParaRPr lang="en-US" sz="1100" b="1" dirty="0">
                        <a:solidFill>
                          <a:schemeClr val="tx1"/>
                        </a:solidFill>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297650">
                <a:tc>
                  <a:txBody>
                    <a:bodyPr/>
                    <a:lstStyle/>
                    <a:p>
                      <a:pPr marL="0" marR="0" algn="ctr">
                        <a:lnSpc>
                          <a:spcPct val="115000"/>
                        </a:lnSpc>
                        <a:spcBef>
                          <a:spcPts val="0"/>
                        </a:spcBef>
                        <a:spcAft>
                          <a:spcPts val="0"/>
                        </a:spcAft>
                      </a:pPr>
                      <a:r>
                        <a:rPr lang="en-US" sz="1100" b="1" dirty="0">
                          <a:solidFill>
                            <a:schemeClr val="tx1"/>
                          </a:solidFill>
                          <a:effectLst/>
                        </a:rPr>
                        <a:t>senior</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0/5=0</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0/5=0</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2/5</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1/5</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1/5</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1/5</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97650">
                <a:tc>
                  <a:txBody>
                    <a:bodyPr/>
                    <a:lstStyle/>
                    <a:p>
                      <a:pPr marL="0" marR="0" algn="ctr">
                        <a:lnSpc>
                          <a:spcPct val="115000"/>
                        </a:lnSpc>
                        <a:spcBef>
                          <a:spcPts val="0"/>
                        </a:spcBef>
                        <a:spcAft>
                          <a:spcPts val="0"/>
                        </a:spcAft>
                      </a:pPr>
                      <a:r>
                        <a:rPr lang="en-US" sz="1100" b="1" dirty="0">
                          <a:solidFill>
                            <a:schemeClr val="tx1"/>
                          </a:solidFill>
                          <a:effectLst/>
                        </a:rPr>
                        <a:t>junior</a:t>
                      </a:r>
                      <a:endParaRPr lang="en-US" sz="1100" b="1" dirty="0">
                        <a:solidFill>
                          <a:schemeClr val="tx1"/>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1/6</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3/6=1/2</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2/6=1/3</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0/6=0</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a:effectLst/>
                        </a:rPr>
                        <a:t>0/6=0</a:t>
                      </a:r>
                      <a:endParaRPr lang="en-US" sz="1100" b="1"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1100" b="1" dirty="0">
                          <a:effectLst/>
                        </a:rPr>
                        <a:t>0/6=0</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05057046"/>
              </p:ext>
            </p:extLst>
          </p:nvPr>
        </p:nvGraphicFramePr>
        <p:xfrm>
          <a:off x="990600" y="3962400"/>
          <a:ext cx="7162799" cy="1905000"/>
        </p:xfrm>
        <a:graphic>
          <a:graphicData uri="http://schemas.openxmlformats.org/drawingml/2006/table">
            <a:tbl>
              <a:tblPr firstRow="1" firstCol="1" bandRow="1">
                <a:tableStyleId>{5C22544A-7EE6-4342-B048-85BDC9FD1C3A}</a:tableStyleId>
              </a:tblPr>
              <a:tblGrid>
                <a:gridCol w="1039357">
                  <a:extLst>
                    <a:ext uri="{9D8B030D-6E8A-4147-A177-3AD203B41FA5}">
                      <a16:colId xmlns:a16="http://schemas.microsoft.com/office/drawing/2014/main" val="20000"/>
                    </a:ext>
                  </a:extLst>
                </a:gridCol>
                <a:gridCol w="1007356">
                  <a:extLst>
                    <a:ext uri="{9D8B030D-6E8A-4147-A177-3AD203B41FA5}">
                      <a16:colId xmlns:a16="http://schemas.microsoft.com/office/drawing/2014/main" val="20001"/>
                    </a:ext>
                  </a:extLst>
                </a:gridCol>
                <a:gridCol w="1088751">
                  <a:extLst>
                    <a:ext uri="{9D8B030D-6E8A-4147-A177-3AD203B41FA5}">
                      <a16:colId xmlns:a16="http://schemas.microsoft.com/office/drawing/2014/main" val="20002"/>
                    </a:ext>
                  </a:extLst>
                </a:gridCol>
                <a:gridCol w="1147189">
                  <a:extLst>
                    <a:ext uri="{9D8B030D-6E8A-4147-A177-3AD203B41FA5}">
                      <a16:colId xmlns:a16="http://schemas.microsoft.com/office/drawing/2014/main" val="20003"/>
                    </a:ext>
                  </a:extLst>
                </a:gridCol>
                <a:gridCol w="1117274">
                  <a:extLst>
                    <a:ext uri="{9D8B030D-6E8A-4147-A177-3AD203B41FA5}">
                      <a16:colId xmlns:a16="http://schemas.microsoft.com/office/drawing/2014/main" val="20004"/>
                    </a:ext>
                  </a:extLst>
                </a:gridCol>
                <a:gridCol w="881436">
                  <a:extLst>
                    <a:ext uri="{9D8B030D-6E8A-4147-A177-3AD203B41FA5}">
                      <a16:colId xmlns:a16="http://schemas.microsoft.com/office/drawing/2014/main" val="20005"/>
                    </a:ext>
                  </a:extLst>
                </a:gridCol>
                <a:gridCol w="881436">
                  <a:extLst>
                    <a:ext uri="{9D8B030D-6E8A-4147-A177-3AD203B41FA5}">
                      <a16:colId xmlns:a16="http://schemas.microsoft.com/office/drawing/2014/main" val="20006"/>
                    </a:ext>
                  </a:extLst>
                </a:gridCol>
              </a:tblGrid>
              <a:tr h="635000">
                <a:tc>
                  <a:txBody>
                    <a:bodyPr/>
                    <a:lstStyle/>
                    <a:p>
                      <a:pPr marL="0" marR="0" algn="just">
                        <a:lnSpc>
                          <a:spcPct val="115000"/>
                        </a:lnSpc>
                        <a:spcBef>
                          <a:spcPts val="0"/>
                        </a:spcBef>
                        <a:spcAft>
                          <a:spcPts val="0"/>
                        </a:spcAft>
                      </a:pPr>
                      <a:r>
                        <a:rPr lang="en-US" sz="1100" b="0" dirty="0">
                          <a:solidFill>
                            <a:schemeClr val="tx1"/>
                          </a:solidFill>
                          <a:effectLst/>
                        </a:rPr>
                        <a:t>Class</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26K-30K </a:t>
                      </a:r>
                      <a:endParaRPr lang="en-US" sz="110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31K-35K</a:t>
                      </a:r>
                      <a:endParaRPr lang="en-US" sz="110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36K-40K </a:t>
                      </a:r>
                      <a:endParaRPr lang="en-US" sz="110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 41K-45K</a:t>
                      </a:r>
                      <a:endParaRPr lang="en-US" sz="110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46K-50K</a:t>
                      </a:r>
                      <a:endParaRPr lang="en-US" sz="110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dirty="0">
                          <a:solidFill>
                            <a:schemeClr val="tx1"/>
                          </a:solidFill>
                          <a:effectLst/>
                        </a:rPr>
                        <a:t>66K-70K</a:t>
                      </a:r>
                      <a:endParaRPr lang="en-US" sz="1100" dirty="0">
                        <a:solidFill>
                          <a:schemeClr val="tx1"/>
                        </a:solidFill>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635000">
                <a:tc>
                  <a:txBody>
                    <a:bodyPr/>
                    <a:lstStyle/>
                    <a:p>
                      <a:pPr marL="0" marR="0">
                        <a:lnSpc>
                          <a:spcPct val="115000"/>
                        </a:lnSpc>
                        <a:spcBef>
                          <a:spcPts val="0"/>
                        </a:spcBef>
                        <a:spcAft>
                          <a:spcPts val="0"/>
                        </a:spcAft>
                      </a:pPr>
                      <a:r>
                        <a:rPr lang="en-US" sz="1100" b="0" dirty="0">
                          <a:solidFill>
                            <a:schemeClr val="tx1"/>
                          </a:solidFill>
                          <a:effectLst/>
                        </a:rPr>
                        <a:t>senior</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0/5=0</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0/5=0</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1/5</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0/5=0</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2/5</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 2/5</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635000">
                <a:tc>
                  <a:txBody>
                    <a:bodyPr/>
                    <a:lstStyle/>
                    <a:p>
                      <a:pPr marL="0" marR="0" algn="just">
                        <a:lnSpc>
                          <a:spcPct val="115000"/>
                        </a:lnSpc>
                        <a:spcBef>
                          <a:spcPts val="0"/>
                        </a:spcBef>
                        <a:spcAft>
                          <a:spcPts val="0"/>
                        </a:spcAft>
                      </a:pPr>
                      <a:r>
                        <a:rPr lang="en-US" sz="1100" b="0" dirty="0">
                          <a:solidFill>
                            <a:schemeClr val="tx1"/>
                          </a:solidFill>
                          <a:effectLst/>
                        </a:rPr>
                        <a:t>junior </a:t>
                      </a:r>
                      <a:endParaRPr lang="en-US" sz="1100" b="0" dirty="0">
                        <a:solidFill>
                          <a:schemeClr val="tx1"/>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2/6 = 1/3</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1/6 </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0/6 = 0</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1/6</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2/6 = 1/3</a:t>
                      </a:r>
                      <a:endParaRPr lang="en-US" sz="11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1000"/>
                        </a:spcAft>
                      </a:pPr>
                      <a:r>
                        <a:rPr lang="en-US" sz="1100" b="1" dirty="0">
                          <a:effectLst/>
                        </a:rPr>
                        <a:t>0/6</a:t>
                      </a:r>
                      <a:endParaRPr lang="en-US" sz="1100" b="1"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68076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8013" cy="5863927"/>
          </a:xfrm>
        </p:spPr>
        <p:txBody>
          <a:bodyPr/>
          <a:lstStyle/>
          <a:p>
            <a:endParaRPr lang="en-US" sz="1800" dirty="0"/>
          </a:p>
          <a:p>
            <a:r>
              <a:rPr lang="en-US" sz="1800" dirty="0"/>
              <a:t>(For the test instance b) sale, 31…35, 66K 70K),</a:t>
            </a:r>
          </a:p>
          <a:p>
            <a:r>
              <a:rPr lang="en-US" sz="1800" dirty="0"/>
              <a:t>P (</a:t>
            </a:r>
            <a:r>
              <a:rPr lang="en-US" sz="1800" dirty="0" err="1"/>
              <a:t>senior|b</a:t>
            </a:r>
            <a:r>
              <a:rPr lang="en-US" sz="1800" dirty="0"/>
              <a:t>) = P (senior) P (</a:t>
            </a:r>
            <a:r>
              <a:rPr lang="en-US" sz="1800" dirty="0" err="1"/>
              <a:t>sale|senior</a:t>
            </a:r>
            <a:r>
              <a:rPr lang="en-US" sz="1800" dirty="0"/>
              <a:t>) P (31…35|senior) P (66K…70K|senior)</a:t>
            </a:r>
          </a:p>
          <a:p>
            <a:r>
              <a:rPr lang="en-US" sz="1800" dirty="0"/>
              <a:t>                   = 5/11*1/5*2/5*2/5</a:t>
            </a:r>
          </a:p>
          <a:p>
            <a:r>
              <a:rPr lang="en-US" sz="1800" dirty="0"/>
              <a:t>P (</a:t>
            </a:r>
            <a:r>
              <a:rPr lang="en-US" sz="1800" dirty="0" err="1"/>
              <a:t>junior|b</a:t>
            </a:r>
            <a:r>
              <a:rPr lang="en-US" sz="1800" dirty="0"/>
              <a:t>) = P (junior) P (</a:t>
            </a:r>
            <a:r>
              <a:rPr lang="en-US" sz="1800" dirty="0" err="1"/>
              <a:t>sale|junior</a:t>
            </a:r>
            <a:r>
              <a:rPr lang="en-US" sz="1800" dirty="0"/>
              <a:t>) P (31…35|junior) P (66K…70K|junior)</a:t>
            </a:r>
          </a:p>
          <a:p>
            <a:r>
              <a:rPr lang="en-US" sz="1800" i="1" dirty="0"/>
              <a:t>= 6/11*1/3*1/3*0/3</a:t>
            </a:r>
            <a:endParaRPr lang="en-US" sz="1800" dirty="0"/>
          </a:p>
          <a:p>
            <a:r>
              <a:rPr lang="en-US" sz="1800" b="1" dirty="0">
                <a:solidFill>
                  <a:srgbClr val="FF0000"/>
                </a:solidFill>
              </a:rPr>
              <a:t>The label for this instance (person) is “senior” since </a:t>
            </a:r>
            <a:r>
              <a:rPr lang="en-US" sz="1800" b="1" i="1" dirty="0">
                <a:solidFill>
                  <a:srgbClr val="FF0000"/>
                </a:solidFill>
              </a:rPr>
              <a:t>P (</a:t>
            </a:r>
            <a:r>
              <a:rPr lang="en-US" sz="1800" b="1" i="1" dirty="0" err="1">
                <a:solidFill>
                  <a:srgbClr val="FF0000"/>
                </a:solidFill>
              </a:rPr>
              <a:t>junior|a</a:t>
            </a:r>
            <a:r>
              <a:rPr lang="en-US" sz="1800" b="1" i="1" dirty="0">
                <a:solidFill>
                  <a:srgbClr val="FF0000"/>
                </a:solidFill>
              </a:rPr>
              <a:t>) &lt; P (</a:t>
            </a:r>
            <a:r>
              <a:rPr lang="en-US" sz="1800" b="1" i="1" dirty="0" err="1">
                <a:solidFill>
                  <a:srgbClr val="FF0000"/>
                </a:solidFill>
              </a:rPr>
              <a:t>senior|a</a:t>
            </a:r>
            <a:r>
              <a:rPr lang="en-US" sz="1800" b="1" i="1" dirty="0">
                <a:solidFill>
                  <a:srgbClr val="FF0000"/>
                </a:solidFill>
              </a:rPr>
              <a:t>)</a:t>
            </a:r>
            <a:endParaRPr lang="en-US" sz="1800" b="1" dirty="0">
              <a:solidFill>
                <a:srgbClr val="FF0000"/>
              </a:solidFill>
            </a:endParaRPr>
          </a:p>
          <a:p>
            <a:endParaRPr lang="en-US" sz="1800" dirty="0"/>
          </a:p>
          <a:p>
            <a:endParaRPr lang="en-US" sz="1800" dirty="0"/>
          </a:p>
          <a:p>
            <a:endParaRPr lang="en-US" dirty="0"/>
          </a:p>
        </p:txBody>
      </p:sp>
    </p:spTree>
    <p:extLst>
      <p:ext uri="{BB962C8B-B14F-4D97-AF65-F5344CB8AC3E}">
        <p14:creationId xmlns:p14="http://schemas.microsoft.com/office/powerpoint/2010/main" val="333608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F835F-368A-4A31-A879-0352631E3C82}"/>
              </a:ext>
            </a:extLst>
          </p:cNvPr>
          <p:cNvSpPr>
            <a:spLocks noGrp="1"/>
          </p:cNvSpPr>
          <p:nvPr>
            <p:ph idx="1"/>
          </p:nvPr>
        </p:nvSpPr>
        <p:spPr>
          <a:xfrm>
            <a:off x="152400" y="33728"/>
            <a:ext cx="8228013" cy="4524375"/>
          </a:xfrm>
        </p:spPr>
        <p:txBody>
          <a:bodyPr/>
          <a:lstStyle/>
          <a:p>
            <a:r>
              <a:rPr lang="en-US" dirty="0"/>
              <a:t>Numeric Dataset Apply Naive Base </a:t>
            </a:r>
          </a:p>
          <a:p>
            <a:r>
              <a:rPr lang="en-US" sz="1800" dirty="0"/>
              <a:t>Heart Disease Predictions apply On Numeric </a:t>
            </a:r>
          </a:p>
          <a:p>
            <a:r>
              <a:rPr lang="en-US" dirty="0" err="1">
                <a:solidFill>
                  <a:srgbClr val="FF0000"/>
                </a:solidFill>
              </a:rPr>
              <a:t>GaussainNB</a:t>
            </a:r>
            <a:r>
              <a:rPr lang="en-US" dirty="0">
                <a:solidFill>
                  <a:srgbClr val="FF0000"/>
                </a:solidFill>
              </a:rPr>
              <a:t> </a:t>
            </a:r>
            <a:r>
              <a:rPr lang="en-US" sz="1800" dirty="0"/>
              <a:t>Continuous numeric data (age, salary, BP)</a:t>
            </a:r>
          </a:p>
          <a:p>
            <a:endParaRPr lang="en-US" dirty="0"/>
          </a:p>
        </p:txBody>
      </p:sp>
      <p:pic>
        <p:nvPicPr>
          <p:cNvPr id="7" name="Picture 6">
            <a:extLst>
              <a:ext uri="{FF2B5EF4-FFF2-40B4-BE49-F238E27FC236}">
                <a16:creationId xmlns:a16="http://schemas.microsoft.com/office/drawing/2014/main" id="{0462E16F-9F23-4D19-8ADD-7C95086481F6}"/>
              </a:ext>
            </a:extLst>
          </p:cNvPr>
          <p:cNvPicPr>
            <a:picLocks noChangeAspect="1"/>
          </p:cNvPicPr>
          <p:nvPr/>
        </p:nvPicPr>
        <p:blipFill>
          <a:blip r:embed="rId2"/>
          <a:stretch>
            <a:fillRect/>
          </a:stretch>
        </p:blipFill>
        <p:spPr>
          <a:xfrm>
            <a:off x="1371600" y="1752600"/>
            <a:ext cx="6178868" cy="2991004"/>
          </a:xfrm>
          <a:prstGeom prst="rect">
            <a:avLst/>
          </a:prstGeom>
        </p:spPr>
      </p:pic>
    </p:spTree>
    <p:extLst>
      <p:ext uri="{BB962C8B-B14F-4D97-AF65-F5344CB8AC3E}">
        <p14:creationId xmlns:p14="http://schemas.microsoft.com/office/powerpoint/2010/main" val="2902407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C48C238-C0C6-47F7-8379-E66D30478E06}"/>
              </a:ext>
            </a:extLst>
          </p:cNvPr>
          <p:cNvGraphicFramePr>
            <a:graphicFrameLocks noGrp="1"/>
          </p:cNvGraphicFramePr>
          <p:nvPr>
            <p:ph idx="1"/>
            <p:extLst>
              <p:ext uri="{D42A27DB-BD31-4B8C-83A1-F6EECF244321}">
                <p14:modId xmlns:p14="http://schemas.microsoft.com/office/powerpoint/2010/main" val="2776310709"/>
              </p:ext>
            </p:extLst>
          </p:nvPr>
        </p:nvGraphicFramePr>
        <p:xfrm>
          <a:off x="228600" y="76200"/>
          <a:ext cx="8228013" cy="365760"/>
        </p:xfrm>
        <a:graphic>
          <a:graphicData uri="http://schemas.openxmlformats.org/drawingml/2006/table">
            <a:tbl>
              <a:tblPr/>
              <a:tblGrid>
                <a:gridCol w="8228013">
                  <a:extLst>
                    <a:ext uri="{9D8B030D-6E8A-4147-A177-3AD203B41FA5}">
                      <a16:colId xmlns:a16="http://schemas.microsoft.com/office/drawing/2014/main" val="1218847859"/>
                    </a:ext>
                  </a:extLst>
                </a:gridCol>
              </a:tblGrid>
              <a:tr h="0">
                <a:tc>
                  <a:txBody>
                    <a:bodyPr/>
                    <a:lstStyle/>
                    <a:p>
                      <a:r>
                        <a:rPr lang="en-US" b="1" dirty="0" err="1"/>
                        <a:t>MultinomialNB</a:t>
                      </a:r>
                      <a:endParaRPr lang="en-US" dirty="0"/>
                    </a:p>
                  </a:txBody>
                  <a:tcPr anchor="ctr">
                    <a:lnL>
                      <a:noFill/>
                    </a:lnL>
                    <a:lnR>
                      <a:noFill/>
                    </a:lnR>
                    <a:lnT>
                      <a:noFill/>
                    </a:lnT>
                    <a:lnB>
                      <a:noFill/>
                    </a:lnB>
                  </a:tcPr>
                </a:tc>
                <a:extLst>
                  <a:ext uri="{0D108BD9-81ED-4DB2-BD59-A6C34878D82A}">
                    <a16:rowId xmlns:a16="http://schemas.microsoft.com/office/drawing/2014/main" val="436457406"/>
                  </a:ext>
                </a:extLst>
              </a:tr>
            </a:tbl>
          </a:graphicData>
        </a:graphic>
      </p:graphicFrame>
      <p:graphicFrame>
        <p:nvGraphicFramePr>
          <p:cNvPr id="7" name="Table 6">
            <a:extLst>
              <a:ext uri="{FF2B5EF4-FFF2-40B4-BE49-F238E27FC236}">
                <a16:creationId xmlns:a16="http://schemas.microsoft.com/office/drawing/2014/main" id="{15BE0B30-B289-4900-9DD7-3E3E058FE2A9}"/>
              </a:ext>
            </a:extLst>
          </p:cNvPr>
          <p:cNvGraphicFramePr>
            <a:graphicFrameLocks noGrp="1"/>
          </p:cNvGraphicFramePr>
          <p:nvPr>
            <p:extLst>
              <p:ext uri="{D42A27DB-BD31-4B8C-83A1-F6EECF244321}">
                <p14:modId xmlns:p14="http://schemas.microsoft.com/office/powerpoint/2010/main" val="2107664162"/>
              </p:ext>
            </p:extLst>
          </p:nvPr>
        </p:nvGraphicFramePr>
        <p:xfrm>
          <a:off x="246544" y="609600"/>
          <a:ext cx="8228013" cy="365760"/>
        </p:xfrm>
        <a:graphic>
          <a:graphicData uri="http://schemas.openxmlformats.org/drawingml/2006/table">
            <a:tbl>
              <a:tblPr/>
              <a:tblGrid>
                <a:gridCol w="8228013">
                  <a:extLst>
                    <a:ext uri="{9D8B030D-6E8A-4147-A177-3AD203B41FA5}">
                      <a16:colId xmlns:a16="http://schemas.microsoft.com/office/drawing/2014/main" val="4188140790"/>
                    </a:ext>
                  </a:extLst>
                </a:gridCol>
              </a:tblGrid>
              <a:tr h="0">
                <a:tc>
                  <a:txBody>
                    <a:bodyPr/>
                    <a:lstStyle/>
                    <a:p>
                      <a:r>
                        <a:rPr lang="en-US" dirty="0"/>
                        <a:t>Text / counts (word frequency)</a:t>
                      </a:r>
                    </a:p>
                  </a:txBody>
                  <a:tcPr anchor="ctr">
                    <a:lnL>
                      <a:noFill/>
                    </a:lnL>
                    <a:lnR>
                      <a:noFill/>
                    </a:lnR>
                    <a:lnT>
                      <a:noFill/>
                    </a:lnT>
                    <a:lnB>
                      <a:noFill/>
                    </a:lnB>
                  </a:tcPr>
                </a:tc>
                <a:extLst>
                  <a:ext uri="{0D108BD9-81ED-4DB2-BD59-A6C34878D82A}">
                    <a16:rowId xmlns:a16="http://schemas.microsoft.com/office/drawing/2014/main" val="387257305"/>
                  </a:ext>
                </a:extLst>
              </a:tr>
            </a:tbl>
          </a:graphicData>
        </a:graphic>
      </p:graphicFrame>
      <p:pic>
        <p:nvPicPr>
          <p:cNvPr id="3" name="Picture 2">
            <a:extLst>
              <a:ext uri="{FF2B5EF4-FFF2-40B4-BE49-F238E27FC236}">
                <a16:creationId xmlns:a16="http://schemas.microsoft.com/office/drawing/2014/main" id="{944C480B-EFE6-404B-AD28-564713DA6238}"/>
              </a:ext>
            </a:extLst>
          </p:cNvPr>
          <p:cNvPicPr>
            <a:picLocks noChangeAspect="1"/>
          </p:cNvPicPr>
          <p:nvPr/>
        </p:nvPicPr>
        <p:blipFill>
          <a:blip r:embed="rId2"/>
          <a:stretch>
            <a:fillRect/>
          </a:stretch>
        </p:blipFill>
        <p:spPr>
          <a:xfrm>
            <a:off x="1752600" y="914400"/>
            <a:ext cx="5353325" cy="3645087"/>
          </a:xfrm>
          <a:prstGeom prst="rect">
            <a:avLst/>
          </a:prstGeom>
        </p:spPr>
      </p:pic>
      <p:pic>
        <p:nvPicPr>
          <p:cNvPr id="5" name="Picture 4">
            <a:extLst>
              <a:ext uri="{FF2B5EF4-FFF2-40B4-BE49-F238E27FC236}">
                <a16:creationId xmlns:a16="http://schemas.microsoft.com/office/drawing/2014/main" id="{53B810AD-D1BD-4BB4-A3A9-53827E1D34D5}"/>
              </a:ext>
            </a:extLst>
          </p:cNvPr>
          <p:cNvPicPr>
            <a:picLocks noChangeAspect="1"/>
          </p:cNvPicPr>
          <p:nvPr/>
        </p:nvPicPr>
        <p:blipFill>
          <a:blip r:embed="rId3"/>
          <a:stretch>
            <a:fillRect/>
          </a:stretch>
        </p:blipFill>
        <p:spPr>
          <a:xfrm>
            <a:off x="1752600" y="4559487"/>
            <a:ext cx="2730640" cy="1206562"/>
          </a:xfrm>
          <a:prstGeom prst="rect">
            <a:avLst/>
          </a:prstGeom>
        </p:spPr>
      </p:pic>
    </p:spTree>
    <p:extLst>
      <p:ext uri="{BB962C8B-B14F-4D97-AF65-F5344CB8AC3E}">
        <p14:creationId xmlns:p14="http://schemas.microsoft.com/office/powerpoint/2010/main" val="872204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3E2DA-79B7-4A4F-82C0-DD56E0B9BED1}"/>
              </a:ext>
            </a:extLst>
          </p:cNvPr>
          <p:cNvSpPr>
            <a:spLocks noGrp="1"/>
          </p:cNvSpPr>
          <p:nvPr>
            <p:ph idx="1"/>
          </p:nvPr>
        </p:nvSpPr>
        <p:spPr>
          <a:xfrm>
            <a:off x="152400" y="61210"/>
            <a:ext cx="8228013" cy="4524375"/>
          </a:xfrm>
        </p:spPr>
        <p:txBody>
          <a:bodyPr/>
          <a:lstStyle/>
          <a:p>
            <a:r>
              <a:rPr lang="en-US" dirty="0"/>
              <a:t>Lung Cancer </a:t>
            </a:r>
            <a:r>
              <a:rPr lang="en-US" dirty="0" err="1"/>
              <a:t>GussainNB</a:t>
            </a:r>
            <a:endParaRPr lang="en-US" dirty="0"/>
          </a:p>
          <a:p>
            <a:endParaRPr lang="en-US" dirty="0"/>
          </a:p>
        </p:txBody>
      </p:sp>
      <p:pic>
        <p:nvPicPr>
          <p:cNvPr id="8" name="Content Placeholder 4">
            <a:extLst>
              <a:ext uri="{FF2B5EF4-FFF2-40B4-BE49-F238E27FC236}">
                <a16:creationId xmlns:a16="http://schemas.microsoft.com/office/drawing/2014/main" id="{1B7CB551-3ABD-44CB-81B3-0B4A84F324EE}"/>
              </a:ext>
            </a:extLst>
          </p:cNvPr>
          <p:cNvPicPr>
            <a:picLocks noChangeAspect="1"/>
          </p:cNvPicPr>
          <p:nvPr/>
        </p:nvPicPr>
        <p:blipFill>
          <a:blip r:embed="rId2"/>
          <a:stretch>
            <a:fillRect/>
          </a:stretch>
        </p:blipFill>
        <p:spPr bwMode="auto">
          <a:xfrm>
            <a:off x="228600" y="1326956"/>
            <a:ext cx="5931205" cy="3778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a:extLst>
              <a:ext uri="{FF2B5EF4-FFF2-40B4-BE49-F238E27FC236}">
                <a16:creationId xmlns:a16="http://schemas.microsoft.com/office/drawing/2014/main" id="{8CC88258-62E2-4ADA-B8F5-DE3374AE786A}"/>
              </a:ext>
            </a:extLst>
          </p:cNvPr>
          <p:cNvPicPr>
            <a:picLocks noChangeAspect="1"/>
          </p:cNvPicPr>
          <p:nvPr/>
        </p:nvPicPr>
        <p:blipFill>
          <a:blip r:embed="rId3"/>
          <a:stretch>
            <a:fillRect/>
          </a:stretch>
        </p:blipFill>
        <p:spPr>
          <a:xfrm>
            <a:off x="228600" y="5278890"/>
            <a:ext cx="4140413" cy="1092256"/>
          </a:xfrm>
          <a:prstGeom prst="rect">
            <a:avLst/>
          </a:prstGeom>
        </p:spPr>
      </p:pic>
    </p:spTree>
    <p:extLst>
      <p:ext uri="{BB962C8B-B14F-4D97-AF65-F5344CB8AC3E}">
        <p14:creationId xmlns:p14="http://schemas.microsoft.com/office/powerpoint/2010/main" val="2133910874"/>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AR PL UMing HK"/>
        <a:cs typeface="AR PL UMing HK"/>
      </a:majorFont>
      <a:minorFont>
        <a:latin typeface="Arial"/>
        <a:ea typeface="AR PL UMing HK"/>
        <a:cs typeface="AR PL UMing HK"/>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2400" b="0" i="0" u="none" strike="noStrike" cap="none" normalizeH="0" baseline="0" smtClean="0">
            <a:ln>
              <a:noFill/>
            </a:ln>
            <a:solidFill>
              <a:schemeClr val="bg1"/>
            </a:solidFill>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7366</TotalTime>
  <Words>503</Words>
  <Application>Microsoft Office PowerPoint</Application>
  <PresentationFormat>On-screen Show (4:3)</PresentationFormat>
  <Paragraphs>111</Paragraphs>
  <Slides>13</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8" baseType="lpstr">
      <vt:lpstr>Arial</vt:lpstr>
      <vt:lpstr>Calibri</vt:lpstr>
      <vt:lpstr>Times New Roman</vt:lpstr>
      <vt:lpstr>Office Theme</vt:lpstr>
      <vt:lpstr>Equation</vt:lpstr>
      <vt:lpstr>PowerPoint Presentation</vt:lpstr>
      <vt:lpstr>PowerPoint Presentation</vt:lpstr>
      <vt:lpstr>PowerPoint Presentation</vt:lpstr>
      <vt:lpstr>PowerPoint Presentation</vt:lpstr>
      <vt:lpstr>Why Naïve Bayes is Naïve?</vt:lpstr>
      <vt:lpstr>Why Naïve Bayes is Naïve?</vt:lpstr>
      <vt:lpstr>Train a naïve Bayesian classifier as the status attribute is the class label and all the remaining attributes are regarded as input.  Once you have your naïve Bayesian classifier, test the following unseen instances:  1.  (sales,31…35, 66K…70K). </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 of Machine Learning</dc:title>
  <dc:creator>Gavin Brown</dc:creator>
  <cp:lastModifiedBy>Arham Bhatti</cp:lastModifiedBy>
  <cp:revision>316</cp:revision>
  <cp:lastPrinted>2013-09-05T13:44:36Z</cp:lastPrinted>
  <dcterms:created xsi:type="dcterms:W3CDTF">2009-09-16T14:51:07Z</dcterms:created>
  <dcterms:modified xsi:type="dcterms:W3CDTF">2026-04-18T23:16:35Z</dcterms:modified>
</cp:coreProperties>
</file>