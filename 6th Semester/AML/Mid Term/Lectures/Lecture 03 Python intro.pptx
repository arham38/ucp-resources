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8" r:id="rId5"/>
    <p:sldId id="259" r:id="rId6"/>
    <p:sldId id="260" r:id="rId7"/>
    <p:sldId id="275" r:id="rId8"/>
    <p:sldId id="281" r:id="rId9"/>
    <p:sldId id="261" r:id="rId10"/>
    <p:sldId id="277" r:id="rId11"/>
    <p:sldId id="276" r:id="rId12"/>
    <p:sldId id="269" r:id="rId13"/>
    <p:sldId id="278" r:id="rId14"/>
    <p:sldId id="270" r:id="rId15"/>
    <p:sldId id="279" r:id="rId16"/>
    <p:sldId id="280" r:id="rId17"/>
    <p:sldId id="273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57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Python Intro for ML 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Dr. Ali Saeed</a:t>
            </a:r>
            <a:endParaRPr lang="en-GB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Python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Definition</a:t>
            </a:r>
          </a:p>
          <a:p>
            <a:r>
              <a:rPr lang="en-US" dirty="0"/>
              <a:t>Variables / Arrays/ List / Set / </a:t>
            </a:r>
            <a:r>
              <a:rPr lang="en-GB" dirty="0" err="1"/>
              <a:t>Tuple</a:t>
            </a:r>
            <a:r>
              <a:rPr lang="en-US" dirty="0"/>
              <a:t> </a:t>
            </a:r>
          </a:p>
          <a:p>
            <a:r>
              <a:rPr lang="en-US" dirty="0"/>
              <a:t>Dictionary</a:t>
            </a:r>
          </a:p>
          <a:p>
            <a:r>
              <a:rPr lang="en-US" dirty="0"/>
              <a:t>Condition</a:t>
            </a:r>
          </a:p>
          <a:p>
            <a:r>
              <a:rPr lang="en-US" dirty="0"/>
              <a:t>Loops</a:t>
            </a:r>
          </a:p>
          <a:p>
            <a:r>
              <a:rPr lang="en-US" dirty="0"/>
              <a:t>Classes</a:t>
            </a:r>
          </a:p>
          <a:p>
            <a:r>
              <a:rPr lang="en-US" dirty="0"/>
              <a:t>Functions</a:t>
            </a:r>
          </a:p>
          <a:p>
            <a:r>
              <a:rPr lang="en-US" dirty="0"/>
              <a:t>Popular Libraries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is a high-level general-purpose programming language. Its design philosophy emphasizes code readability with the use of significant indentation. Its language constructs and object-oriented approach aim to help programmers write clear, logical code for small- and large-scale projects</a:t>
            </a:r>
            <a:endParaRPr lang="en-GB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users statistics</a:t>
            </a:r>
            <a:endParaRPr lang="en-GB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33400" y="2057400"/>
            <a:ext cx="7691215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 declaration and List</a:t>
            </a:r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1371600" y="1905000"/>
            <a:ext cx="5562600" cy="36933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x=20</a:t>
            </a:r>
          </a:p>
          <a:p>
            <a:r>
              <a:rPr lang="en-US" dirty="0"/>
              <a:t>y=3.4</a:t>
            </a:r>
          </a:p>
          <a:p>
            <a:r>
              <a:rPr lang="en-US" dirty="0"/>
              <a:t>z="test match"</a:t>
            </a:r>
          </a:p>
          <a:p>
            <a:r>
              <a:rPr lang="en-US" dirty="0"/>
              <a:t>w=["car",2,4.6]</a:t>
            </a:r>
          </a:p>
          <a:p>
            <a:br>
              <a:rPr lang="en-US" dirty="0"/>
            </a:br>
            <a:r>
              <a:rPr lang="en-US" dirty="0"/>
              <a:t>print(x)</a:t>
            </a:r>
          </a:p>
          <a:p>
            <a:r>
              <a:rPr lang="en-US" dirty="0"/>
              <a:t>print(y)</a:t>
            </a:r>
          </a:p>
          <a:p>
            <a:r>
              <a:rPr lang="en-US" dirty="0"/>
              <a:t>print(x)</a:t>
            </a:r>
          </a:p>
          <a:p>
            <a:r>
              <a:rPr lang="en-US" dirty="0"/>
              <a:t>print(w)</a:t>
            </a:r>
          </a:p>
          <a:p>
            <a:r>
              <a:rPr lang="en-US" dirty="0"/>
              <a:t>print(w[0])</a:t>
            </a:r>
          </a:p>
          <a:p>
            <a:r>
              <a:rPr lang="en-US" dirty="0"/>
              <a:t>print(w[1])</a:t>
            </a:r>
          </a:p>
          <a:p>
            <a:r>
              <a:rPr lang="en-US" dirty="0"/>
              <a:t>print(w[2])</a:t>
            </a:r>
          </a:p>
          <a:p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82920" y="5867400"/>
            <a:ext cx="8861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Note:</a:t>
            </a:r>
            <a:r>
              <a:rPr lang="en-US" dirty="0"/>
              <a:t> Python does not have built-in support for Arrays, but Python Lists can be used instead.</a:t>
            </a:r>
            <a:endParaRPr lang="en-GB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functions in Python</a:t>
            </a:r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2667000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Change an Item from List</a:t>
            </a:r>
            <a:endParaRPr lang="en-GB" b="1" dirty="0"/>
          </a:p>
          <a:p>
            <a:br>
              <a:rPr lang="en-GB" dirty="0"/>
            </a:br>
            <a:r>
              <a:rPr lang="en-GB" dirty="0"/>
              <a:t>w[0]="bus"</a:t>
            </a:r>
          </a:p>
          <a:p>
            <a:r>
              <a:rPr lang="en-GB" dirty="0"/>
              <a:t>print(w)</a:t>
            </a:r>
          </a:p>
          <a:p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685800" y="3276600"/>
            <a:ext cx="2667000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Change an Item from List</a:t>
            </a:r>
            <a:endParaRPr lang="en-GB" b="1" dirty="0"/>
          </a:p>
          <a:p>
            <a:br>
              <a:rPr lang="en-GB" dirty="0"/>
            </a:br>
            <a:r>
              <a:rPr lang="en-GB" dirty="0"/>
              <a:t>w[0]=1</a:t>
            </a:r>
          </a:p>
          <a:p>
            <a:r>
              <a:rPr lang="en-GB" dirty="0"/>
              <a:t>print(w)</a:t>
            </a:r>
          </a:p>
          <a:p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0"/>
            <a:ext cx="2667000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Change an Item from List</a:t>
            </a:r>
            <a:endParaRPr lang="en-GB" b="1" dirty="0"/>
          </a:p>
          <a:p>
            <a:br>
              <a:rPr lang="en-GB" dirty="0"/>
            </a:br>
            <a:r>
              <a:rPr lang="en-GB" dirty="0"/>
              <a:t>r=</a:t>
            </a:r>
            <a:r>
              <a:rPr lang="en-GB" dirty="0" err="1"/>
              <a:t>len</a:t>
            </a:r>
            <a:r>
              <a:rPr lang="en-GB" dirty="0"/>
              <a:t>(w)</a:t>
            </a:r>
          </a:p>
          <a:p>
            <a:r>
              <a:rPr lang="en-GB" dirty="0"/>
              <a:t>print(r) </a:t>
            </a:r>
            <a:r>
              <a:rPr lang="en-GB" b="1" dirty="0"/>
              <a:t>OR</a:t>
            </a:r>
          </a:p>
          <a:p>
            <a:r>
              <a:rPr lang="en-GB" dirty="0"/>
              <a:t>print(</a:t>
            </a:r>
            <a:r>
              <a:rPr lang="en-GB" dirty="0" err="1"/>
              <a:t>len</a:t>
            </a:r>
            <a:r>
              <a:rPr lang="en-GB" dirty="0"/>
              <a:t>(w))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524000"/>
            <a:ext cx="266700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Append item at the last</a:t>
            </a:r>
            <a:endParaRPr lang="en-GB" b="1" dirty="0"/>
          </a:p>
          <a:p>
            <a:br>
              <a:rPr lang="en-GB" dirty="0"/>
            </a:br>
            <a:r>
              <a:rPr lang="en-GB" dirty="0" err="1"/>
              <a:t>w.append</a:t>
            </a:r>
            <a:r>
              <a:rPr lang="en-GB" dirty="0"/>
              <a:t>(“Cycle")</a:t>
            </a:r>
          </a:p>
          <a:p>
            <a:r>
              <a:rPr lang="en-US" dirty="0"/>
              <a:t>Print(w)</a:t>
            </a:r>
            <a:endParaRPr lang="en-GB" dirty="0"/>
          </a:p>
        </p:txBody>
      </p:sp>
      <p:sp>
        <p:nvSpPr>
          <p:cNvPr id="8" name="TextBox 7"/>
          <p:cNvSpPr txBox="1"/>
          <p:nvPr/>
        </p:nvSpPr>
        <p:spPr>
          <a:xfrm>
            <a:off x="4572000" y="3066871"/>
            <a:ext cx="2667000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Remove an item from the list by index</a:t>
            </a:r>
            <a:endParaRPr lang="en-GB" b="1" dirty="0"/>
          </a:p>
          <a:p>
            <a:br>
              <a:rPr lang="en-GB" dirty="0"/>
            </a:br>
            <a:r>
              <a:rPr lang="en-GB" dirty="0"/>
              <a:t>w.pop(0)</a:t>
            </a:r>
          </a:p>
          <a:p>
            <a:r>
              <a:rPr lang="en-GB" dirty="0"/>
              <a:t>print(w)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8200" y="4876800"/>
            <a:ext cx="266700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Remove an item by name</a:t>
            </a:r>
            <a:br>
              <a:rPr lang="en-US" b="1" dirty="0"/>
            </a:br>
            <a:r>
              <a:rPr lang="en-GB" dirty="0" err="1"/>
              <a:t>w.remove</a:t>
            </a:r>
            <a:r>
              <a:rPr lang="en-GB" dirty="0"/>
              <a:t>(‘bus’)</a:t>
            </a:r>
          </a:p>
          <a:p>
            <a:r>
              <a:rPr lang="en-GB" dirty="0"/>
              <a:t>print(w)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2400" y="5943600"/>
            <a:ext cx="49888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Note:</a:t>
            </a:r>
            <a:r>
              <a:rPr lang="en-US" dirty="0"/>
              <a:t> The list's remove() method only </a:t>
            </a:r>
            <a:br>
              <a:rPr lang="en-US" dirty="0"/>
            </a:br>
            <a:r>
              <a:rPr lang="en-US" dirty="0"/>
              <a:t>removes the first occurrence of the specified value.</a:t>
            </a:r>
            <a:endParaRPr lang="en-GB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2CC26-53F4-A9AD-6CCD-B8A2D61B6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Show all elements of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54C01-4947-2232-0D11-87807D49F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382000" cy="43434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2800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Here is a loop to show all elements of list:</a:t>
            </a:r>
          </a:p>
          <a:p>
            <a:pPr marL="0" indent="0">
              <a:buNone/>
            </a:pPr>
            <a:endParaRPr lang="en-US" sz="2800" b="0" dirty="0">
              <a:solidFill>
                <a:srgbClr val="AF00DB"/>
              </a:solidFill>
              <a:effectLst/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800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// List traversal</a:t>
            </a:r>
          </a:p>
          <a:p>
            <a:pPr marL="0" indent="0">
              <a:buNone/>
            </a:pPr>
            <a:r>
              <a:rPr lang="en-US" sz="2800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US" sz="2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x </a:t>
            </a:r>
            <a:r>
              <a:rPr lang="en-US" sz="28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sz="2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n-US" sz="2800" b="0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range</a:t>
            </a:r>
            <a:r>
              <a:rPr lang="en-US" sz="2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800" b="0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len</a:t>
            </a:r>
            <a:r>
              <a:rPr lang="en-US" sz="2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8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new_list</a:t>
            </a:r>
            <a:r>
              <a:rPr lang="en-US" sz="2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)):</a:t>
            </a:r>
          </a:p>
          <a:p>
            <a:pPr marL="0" indent="0">
              <a:buNone/>
            </a:pPr>
            <a:r>
              <a:rPr lang="en-US" sz="2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print (</a:t>
            </a:r>
            <a:r>
              <a:rPr lang="en-US" sz="28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new_list</a:t>
            </a:r>
            <a:r>
              <a:rPr lang="en-US" sz="2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[x])</a:t>
            </a:r>
          </a:p>
          <a:p>
            <a:pPr marL="0" indent="0">
              <a:buNone/>
            </a:pPr>
            <a:endParaRPr lang="en-US" sz="28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Or</a:t>
            </a:r>
          </a:p>
          <a:p>
            <a:pPr marL="0" indent="0">
              <a:buNone/>
            </a:pPr>
            <a:endParaRPr lang="en-US" sz="28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new_list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// print complete list</a:t>
            </a:r>
          </a:p>
          <a:p>
            <a:pPr marL="0" indent="0">
              <a:buNone/>
            </a:pPr>
            <a:endParaRPr lang="en-US" sz="28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algn="l"/>
            <a:endParaRPr lang="en-US" b="0" i="0" dirty="0">
              <a:solidFill>
                <a:srgbClr val="202124"/>
              </a:solidFill>
              <a:effectLst/>
              <a:latin typeface="Google Sans"/>
            </a:endParaRPr>
          </a:p>
          <a:p>
            <a:pPr algn="l"/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Python range() Function</a:t>
            </a:r>
          </a:p>
          <a:p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The range() function </a:t>
            </a:r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returns a sequence of numbers, starting from 0 by default, and increments by 1 (by default), and stops before a specified number</a:t>
            </a:r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2093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F151E-A719-8714-582F-CB599B46E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Show all Elements of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C4512-4F56-F6F6-4647-0BF9DD3F55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x </a:t>
            </a: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new_list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print (x)</a:t>
            </a:r>
          </a:p>
          <a:p>
            <a:endParaRPr lang="en-US" dirty="0"/>
          </a:p>
          <a:p>
            <a:r>
              <a:rPr lang="en-US" dirty="0"/>
              <a:t>Here x represent a single data item of the list.</a:t>
            </a:r>
          </a:p>
        </p:txBody>
      </p:sp>
    </p:spTree>
    <p:extLst>
      <p:ext uri="{BB962C8B-B14F-4D97-AF65-F5344CB8AC3E}">
        <p14:creationId xmlns:p14="http://schemas.microsoft.com/office/powerpoint/2010/main" val="3914965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Dictionary</a:t>
            </a:r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1068371" y="3412490"/>
            <a:ext cx="2819399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dic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"st1"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"Ali"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 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"st2"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"Usman"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 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"st3"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“Imran"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 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"st4"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“Khan"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" y="1676400"/>
            <a:ext cx="5850448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Dictionaries are used to store data values in </a:t>
            </a:r>
            <a:r>
              <a:rPr lang="en-US" dirty="0" err="1"/>
              <a:t>key:value</a:t>
            </a:r>
            <a:r>
              <a:rPr lang="en-US" dirty="0"/>
              <a:t> pairs.</a:t>
            </a:r>
          </a:p>
          <a:p>
            <a:pPr>
              <a:buFont typeface="Arial" pitchFamily="34" charset="0"/>
              <a:buChar char="•"/>
            </a:pPr>
            <a:r>
              <a:rPr lang="en-GB" dirty="0"/>
              <a:t>Duplicates keys Not Allowed (example on next slide)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As of Python version 3.7, dictionaries are </a:t>
            </a:r>
            <a:r>
              <a:rPr lang="en-US" i="1" dirty="0"/>
              <a:t>ordered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In Python 3.6 and earlier, dictionaries are </a:t>
            </a:r>
            <a:r>
              <a:rPr lang="en-US" i="1" dirty="0"/>
              <a:t>unordered</a:t>
            </a:r>
            <a:r>
              <a:rPr lang="en-US" dirty="0"/>
              <a:t>.</a:t>
            </a:r>
            <a:endParaRPr lang="en-GB" dirty="0"/>
          </a:p>
          <a:p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93C50F-5664-D9A3-C2A2-06CC44D49548}"/>
              </a:ext>
            </a:extLst>
          </p:cNvPr>
          <p:cNvSpPr txBox="1"/>
          <p:nvPr/>
        </p:nvSpPr>
        <p:spPr>
          <a:xfrm>
            <a:off x="4722829" y="3412490"/>
            <a:ext cx="3352800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Print complete items:</a:t>
            </a:r>
          </a:p>
          <a:p>
            <a:r>
              <a:rPr lang="en-US" b="0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dic.items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())</a:t>
            </a:r>
          </a:p>
          <a:p>
            <a:endParaRPr lang="en-US" dirty="0"/>
          </a:p>
          <a:p>
            <a:r>
              <a:rPr lang="en-US" dirty="0"/>
              <a:t>Print the “keys” of the dictionary:</a:t>
            </a:r>
          </a:p>
          <a:p>
            <a:r>
              <a:rPr lang="en-US" b="0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dic.keys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())</a:t>
            </a:r>
          </a:p>
          <a:p>
            <a:endParaRPr lang="en-US" dirty="0"/>
          </a:p>
          <a:p>
            <a:r>
              <a:rPr lang="en-US" dirty="0"/>
              <a:t>Print complete values:</a:t>
            </a:r>
          </a:p>
          <a:p>
            <a:r>
              <a:rPr lang="en-US" b="0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dic.values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())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B391CC-5ABE-67F2-CDB1-83F8C1E34BC2}"/>
              </a:ext>
            </a:extLst>
          </p:cNvPr>
          <p:cNvSpPr txBox="1"/>
          <p:nvPr/>
        </p:nvSpPr>
        <p:spPr>
          <a:xfrm>
            <a:off x="1066800" y="5334000"/>
            <a:ext cx="3278172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Print a single element:</a:t>
            </a:r>
          </a:p>
          <a:p>
            <a:endParaRPr lang="en-US" dirty="0"/>
          </a:p>
          <a:p>
            <a:r>
              <a:rPr lang="en-US" b="0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dic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'st2'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26009-E593-8508-2CE5-3EF7E0587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Duplicate Keys 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B460E6-A259-7CA4-85A9-45DB4DF9AD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4447" y="1600200"/>
            <a:ext cx="5175105" cy="452596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7058AE-BF06-875B-29FF-D2FFF2D6ECC7}"/>
              </a:ext>
            </a:extLst>
          </p:cNvPr>
          <p:cNvSpPr txBox="1"/>
          <p:nvPr/>
        </p:nvSpPr>
        <p:spPr>
          <a:xfrm>
            <a:off x="990600" y="4038600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47021E-3CB5-F101-2064-A9F7F11453E5}"/>
              </a:ext>
            </a:extLst>
          </p:cNvPr>
          <p:cNvSpPr txBox="1"/>
          <p:nvPr/>
        </p:nvSpPr>
        <p:spPr>
          <a:xfrm>
            <a:off x="990600" y="1600200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</p:spTree>
    <p:extLst>
      <p:ext uri="{BB962C8B-B14F-4D97-AF65-F5344CB8AC3E}">
        <p14:creationId xmlns:p14="http://schemas.microsoft.com/office/powerpoint/2010/main" val="1958393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15B03-252D-320C-A571-1BF1E61B4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Dictionary Traversal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9DE0C-8E99-42F0-5FB9-688924A1B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0" dirty="0">
                <a:effectLst/>
                <a:latin typeface="Courier New" panose="02070309020205020404" pitchFamily="49" charset="0"/>
              </a:rPr>
              <a:t>Following code can be use to traverse a dictionary in Python</a:t>
            </a:r>
          </a:p>
          <a:p>
            <a:pPr marL="0" indent="0">
              <a:buNone/>
            </a:pPr>
            <a:endParaRPr lang="en-US" sz="2400" dirty="0">
              <a:solidFill>
                <a:srgbClr val="AF00DB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US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keys, values </a:t>
            </a:r>
            <a:r>
              <a:rPr lang="en-US" sz="24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n-US" sz="2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dic.items</a:t>
            </a:r>
            <a:r>
              <a:rPr lang="en-US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():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</a:t>
            </a:r>
            <a:r>
              <a:rPr lang="en-US" sz="2400" b="0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(keys)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</a:t>
            </a:r>
            <a:r>
              <a:rPr lang="en-US" sz="2400" b="0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(values)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41892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</a:t>
            </a:r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1046706" y="2514600"/>
            <a:ext cx="371281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 err="1"/>
              <a:t>myset</a:t>
            </a:r>
            <a:r>
              <a:rPr lang="en-GB" dirty="0"/>
              <a:t> = {"apple", "banana", "cherry"}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" y="1600200"/>
            <a:ext cx="727474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Set items are unordered, unchangeable, and do not allow duplicate values.</a:t>
            </a:r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1046706" y="3133130"/>
            <a:ext cx="2594172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/>
              <a:t>Convert a set into the list: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1493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myset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1493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(s)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602E7D-F1A1-16BD-EDC2-14A8C95A9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4648200"/>
            <a:ext cx="2847975" cy="1562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AD4CECA-28F0-468D-6AAD-7F619FD9D2E2}"/>
              </a:ext>
            </a:extLst>
          </p:cNvPr>
          <p:cNvSpPr txBox="1"/>
          <p:nvPr/>
        </p:nvSpPr>
        <p:spPr>
          <a:xfrm>
            <a:off x="1752600" y="4676001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42FAE2-0963-76D4-1682-4D46F041EF52}"/>
              </a:ext>
            </a:extLst>
          </p:cNvPr>
          <p:cNvSpPr txBox="1"/>
          <p:nvPr/>
        </p:nvSpPr>
        <p:spPr>
          <a:xfrm>
            <a:off x="1752600" y="5811798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E920D-A200-802C-AA19-CADA50891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Traversal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D00A9-D811-E607-478A-1F485D35DA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myset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={</a:t>
            </a:r>
            <a:r>
              <a:rPr lang="en-US" b="0" dirty="0">
                <a:solidFill>
                  <a:srgbClr val="098156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b="0" dirty="0">
                <a:solidFill>
                  <a:srgbClr val="098156"/>
                </a:solidFill>
                <a:effectLst/>
                <a:latin typeface="Courier New" panose="02070309020205020404" pitchFamily="49" charset="0"/>
              </a:rPr>
              <a:t>7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b="0" dirty="0">
                <a:solidFill>
                  <a:srgbClr val="098156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b="0" dirty="0">
                <a:solidFill>
                  <a:srgbClr val="098156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b="0" dirty="0">
                <a:solidFill>
                  <a:srgbClr val="098156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b="0" dirty="0">
                <a:solidFill>
                  <a:srgbClr val="098156"/>
                </a:solidFill>
                <a:effectLst/>
                <a:latin typeface="Courier New" panose="02070309020205020404" pitchFamily="49" charset="0"/>
              </a:rPr>
              <a:t>6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b="0" dirty="0">
                <a:solidFill>
                  <a:srgbClr val="098156"/>
                </a:solidFill>
                <a:effectLst/>
                <a:latin typeface="Courier New" panose="02070309020205020404" pitchFamily="49" charset="0"/>
              </a:rPr>
              <a:t>6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b="0" dirty="0">
                <a:solidFill>
                  <a:srgbClr val="098156"/>
                </a:solidFill>
                <a:effectLst/>
                <a:latin typeface="Courier New" panose="02070309020205020404" pitchFamily="49" charset="0"/>
              </a:rPr>
              <a:t>7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b="0" dirty="0">
                <a:solidFill>
                  <a:srgbClr val="098156"/>
                </a:solidFill>
                <a:effectLst/>
                <a:latin typeface="Courier New" panose="02070309020205020404" pitchFamily="49" charset="0"/>
              </a:rPr>
              <a:t>7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b="0" dirty="0">
                <a:solidFill>
                  <a:srgbClr val="098156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b="0" dirty="0">
                <a:solidFill>
                  <a:srgbClr val="098156"/>
                </a:solidFill>
                <a:effectLst/>
                <a:latin typeface="Courier New" panose="02070309020205020404" pitchFamily="49" charset="0"/>
              </a:rPr>
              <a:t>7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en-US" b="0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myset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val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myset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</a:t>
            </a:r>
            <a:r>
              <a:rPr lang="en-US" b="0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val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72102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err="1"/>
              <a:t>Tuple</a:t>
            </a:r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1066800" y="3352800"/>
            <a:ext cx="397435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thistuple</a:t>
            </a:r>
            <a:r>
              <a:rPr lang="en-US" dirty="0"/>
              <a:t> = ("apple", "banana", "cherry")</a:t>
            </a:r>
            <a:br>
              <a:rPr lang="en-US" dirty="0"/>
            </a:br>
            <a:r>
              <a:rPr lang="en-US" dirty="0"/>
              <a:t>print(</a:t>
            </a:r>
            <a:r>
              <a:rPr lang="en-US" dirty="0" err="1"/>
              <a:t>thistuple</a:t>
            </a:r>
            <a:r>
              <a:rPr lang="en-US" dirty="0"/>
              <a:t>)</a:t>
            </a:r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645971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b="1" dirty="0"/>
              <a:t>Allow duplicate values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A tuple is a collection which is ordered and </a:t>
            </a:r>
            <a:r>
              <a:rPr lang="en-US" b="1" dirty="0"/>
              <a:t>unchangeable</a:t>
            </a:r>
            <a:r>
              <a:rPr lang="en-US" dirty="0"/>
              <a:t>.</a:t>
            </a:r>
          </a:p>
          <a:p>
            <a:pPr>
              <a:buFont typeface="Arial" pitchFamily="34" charset="0"/>
              <a:buChar char="•"/>
            </a:pPr>
            <a:r>
              <a:rPr lang="en-US" dirty="0" err="1"/>
              <a:t>Tuples</a:t>
            </a:r>
            <a:r>
              <a:rPr lang="en-US" dirty="0"/>
              <a:t> are unchangeable, meaning that we cannot change, 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Since </a:t>
            </a:r>
            <a:r>
              <a:rPr lang="en-US" dirty="0" err="1"/>
              <a:t>tuples</a:t>
            </a:r>
            <a:r>
              <a:rPr lang="en-US" dirty="0"/>
              <a:t> are indexed, they can have items with the same value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D169F1-133B-3A0C-9B6A-04787917B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545" y="4724400"/>
            <a:ext cx="3829050" cy="12668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4ECEB83-FFDD-C4CF-ED3D-D223823F59EA}"/>
              </a:ext>
            </a:extLst>
          </p:cNvPr>
          <p:cNvSpPr txBox="1"/>
          <p:nvPr/>
        </p:nvSpPr>
        <p:spPr>
          <a:xfrm>
            <a:off x="1066800" y="4724400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10718B-D16E-866F-FACE-B3B5C441E6F0}"/>
              </a:ext>
            </a:extLst>
          </p:cNvPr>
          <p:cNvSpPr txBox="1"/>
          <p:nvPr/>
        </p:nvSpPr>
        <p:spPr>
          <a:xfrm>
            <a:off x="1084082" y="5552636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C2128-FDD9-110D-90A5-ECFE12EE2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Tuple not change its contents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536EE-8E8C-1B49-9A42-F7C98828E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524000"/>
          </a:xfrm>
        </p:spPr>
        <p:txBody>
          <a:bodyPr/>
          <a:lstStyle/>
          <a:p>
            <a:r>
              <a:rPr lang="en-US" dirty="0"/>
              <a:t>Tuple will produce error when we change its contents: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D3DA9F-C385-E6F1-0FE9-A91DA6EAE9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3306764"/>
            <a:ext cx="7029450" cy="27241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DA783F-2B04-D8D2-D377-B79498F653F4}"/>
              </a:ext>
            </a:extLst>
          </p:cNvPr>
          <p:cNvSpPr txBox="1"/>
          <p:nvPr/>
        </p:nvSpPr>
        <p:spPr>
          <a:xfrm>
            <a:off x="609404" y="3332688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C9A357-F46A-7F41-DC2D-19A0511CBCED}"/>
              </a:ext>
            </a:extLst>
          </p:cNvPr>
          <p:cNvSpPr txBox="1"/>
          <p:nvPr/>
        </p:nvSpPr>
        <p:spPr>
          <a:xfrm>
            <a:off x="614117" y="4343400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8116820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A328A-E497-480B-E5A8-C6FFB9F6B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Tuple Traversal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2DF634-8428-A025-38A6-EF32BDBC9D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4600" y="2543969"/>
            <a:ext cx="4114800" cy="2638425"/>
          </a:xfrm>
        </p:spPr>
      </p:pic>
    </p:spTree>
    <p:extLst>
      <p:ext uri="{BB962C8B-B14F-4D97-AF65-F5344CB8AC3E}">
        <p14:creationId xmlns:p14="http://schemas.microsoft.com/office/powerpoint/2010/main" val="27654790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Thanks</a:t>
            </a:r>
            <a:endParaRPr lang="en-GB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503</TotalTime>
  <Words>686</Words>
  <Application>Microsoft Office PowerPoint</Application>
  <PresentationFormat>On-screen Show (4:3)</PresentationFormat>
  <Paragraphs>123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Consolas</vt:lpstr>
      <vt:lpstr>Courier New</vt:lpstr>
      <vt:lpstr>Google Sans</vt:lpstr>
      <vt:lpstr>Office Theme</vt:lpstr>
      <vt:lpstr>Python Intro for ML </vt:lpstr>
      <vt:lpstr>Introduction to Python</vt:lpstr>
      <vt:lpstr>Definition</vt:lpstr>
      <vt:lpstr>Python users statistics</vt:lpstr>
      <vt:lpstr>Variables declaration and List</vt:lpstr>
      <vt:lpstr>List functions in Python</vt:lpstr>
      <vt:lpstr>Show all elements of List</vt:lpstr>
      <vt:lpstr>Show all Elements of List</vt:lpstr>
      <vt:lpstr>Dictionary</vt:lpstr>
      <vt:lpstr>Duplicate Keys example</vt:lpstr>
      <vt:lpstr>Dictionary Traversal</vt:lpstr>
      <vt:lpstr>Set</vt:lpstr>
      <vt:lpstr>Set Traversal</vt:lpstr>
      <vt:lpstr>Tuple</vt:lpstr>
      <vt:lpstr>Tuple not change its contents</vt:lpstr>
      <vt:lpstr>Tuple Traversal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Python</dc:title>
  <dc:creator>Ali</dc:creator>
  <cp:lastModifiedBy>Dr Ali Saeed</cp:lastModifiedBy>
  <cp:revision>146</cp:revision>
  <dcterms:created xsi:type="dcterms:W3CDTF">2006-08-16T00:00:00Z</dcterms:created>
  <dcterms:modified xsi:type="dcterms:W3CDTF">2025-09-29T05:16:10Z</dcterms:modified>
</cp:coreProperties>
</file>