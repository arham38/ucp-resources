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111"/>
  </p:notesMasterIdLst>
  <p:sldIdLst>
    <p:sldId id="404" r:id="rId2"/>
    <p:sldId id="536" r:id="rId3"/>
    <p:sldId id="535" r:id="rId4"/>
    <p:sldId id="406" r:id="rId5"/>
    <p:sldId id="407" r:id="rId6"/>
    <p:sldId id="410" r:id="rId7"/>
    <p:sldId id="408" r:id="rId8"/>
    <p:sldId id="409" r:id="rId9"/>
    <p:sldId id="515" r:id="rId10"/>
    <p:sldId id="413" r:id="rId11"/>
    <p:sldId id="412" r:id="rId12"/>
    <p:sldId id="414" r:id="rId13"/>
    <p:sldId id="415" r:id="rId14"/>
    <p:sldId id="425" r:id="rId15"/>
    <p:sldId id="426" r:id="rId16"/>
    <p:sldId id="427" r:id="rId17"/>
    <p:sldId id="428" r:id="rId18"/>
    <p:sldId id="429" r:id="rId19"/>
    <p:sldId id="430" r:id="rId20"/>
    <p:sldId id="537" r:id="rId21"/>
    <p:sldId id="538" r:id="rId22"/>
    <p:sldId id="539" r:id="rId23"/>
    <p:sldId id="416" r:id="rId24"/>
    <p:sldId id="500" r:id="rId25"/>
    <p:sldId id="517" r:id="rId26"/>
    <p:sldId id="524" r:id="rId27"/>
    <p:sldId id="501" r:id="rId28"/>
    <p:sldId id="540" r:id="rId29"/>
    <p:sldId id="411" r:id="rId30"/>
    <p:sldId id="505" r:id="rId31"/>
    <p:sldId id="516" r:id="rId32"/>
    <p:sldId id="541" r:id="rId33"/>
    <p:sldId id="542" r:id="rId34"/>
    <p:sldId id="506" r:id="rId35"/>
    <p:sldId id="558" r:id="rId36"/>
    <p:sldId id="559" r:id="rId37"/>
    <p:sldId id="417" r:id="rId38"/>
    <p:sldId id="495" r:id="rId39"/>
    <p:sldId id="525" r:id="rId40"/>
    <p:sldId id="496" r:id="rId41"/>
    <p:sldId id="543" r:id="rId42"/>
    <p:sldId id="544" r:id="rId43"/>
    <p:sldId id="568" r:id="rId44"/>
    <p:sldId id="419" r:id="rId45"/>
    <p:sldId id="502" r:id="rId46"/>
    <p:sldId id="503" r:id="rId47"/>
    <p:sldId id="529" r:id="rId48"/>
    <p:sldId id="504" r:id="rId49"/>
    <p:sldId id="549" r:id="rId50"/>
    <p:sldId id="550" r:id="rId51"/>
    <p:sldId id="563" r:id="rId52"/>
    <p:sldId id="420" r:id="rId53"/>
    <p:sldId id="562" r:id="rId54"/>
    <p:sldId id="507" r:id="rId55"/>
    <p:sldId id="518" r:id="rId56"/>
    <p:sldId id="551" r:id="rId57"/>
    <p:sldId id="421" r:id="rId58"/>
    <p:sldId id="497" r:id="rId59"/>
    <p:sldId id="564" r:id="rId60"/>
    <p:sldId id="498" r:id="rId61"/>
    <p:sldId id="499" r:id="rId62"/>
    <p:sldId id="526" r:id="rId63"/>
    <p:sldId id="509" r:id="rId64"/>
    <p:sldId id="510" r:id="rId65"/>
    <p:sldId id="519" r:id="rId66"/>
    <p:sldId id="527" r:id="rId67"/>
    <p:sldId id="545" r:id="rId68"/>
    <p:sldId id="546" r:id="rId69"/>
    <p:sldId id="547" r:id="rId70"/>
    <p:sldId id="548" r:id="rId71"/>
    <p:sldId id="561" r:id="rId72"/>
    <p:sldId id="422" r:id="rId73"/>
    <p:sldId id="530" r:id="rId74"/>
    <p:sldId id="521" r:id="rId75"/>
    <p:sldId id="512" r:id="rId76"/>
    <p:sldId id="513" r:id="rId77"/>
    <p:sldId id="514" r:id="rId78"/>
    <p:sldId id="552" r:id="rId79"/>
    <p:sldId id="553" r:id="rId80"/>
    <p:sldId id="565" r:id="rId81"/>
    <p:sldId id="566" r:id="rId82"/>
    <p:sldId id="423" r:id="rId83"/>
    <p:sldId id="475" r:id="rId84"/>
    <p:sldId id="522" r:id="rId85"/>
    <p:sldId id="476" r:id="rId86"/>
    <p:sldId id="554" r:id="rId87"/>
    <p:sldId id="555" r:id="rId88"/>
    <p:sldId id="556" r:id="rId89"/>
    <p:sldId id="557" r:id="rId90"/>
    <p:sldId id="477" r:id="rId91"/>
    <p:sldId id="567" r:id="rId92"/>
    <p:sldId id="478" r:id="rId93"/>
    <p:sldId id="479" r:id="rId94"/>
    <p:sldId id="480" r:id="rId95"/>
    <p:sldId id="481" r:id="rId96"/>
    <p:sldId id="482" r:id="rId97"/>
    <p:sldId id="531" r:id="rId98"/>
    <p:sldId id="523" r:id="rId99"/>
    <p:sldId id="528" r:id="rId100"/>
    <p:sldId id="534" r:id="rId101"/>
    <p:sldId id="569" r:id="rId102"/>
    <p:sldId id="570" r:id="rId103"/>
    <p:sldId id="571" r:id="rId104"/>
    <p:sldId id="572" r:id="rId105"/>
    <p:sldId id="573" r:id="rId106"/>
    <p:sldId id="574" r:id="rId107"/>
    <p:sldId id="575" r:id="rId108"/>
    <p:sldId id="576" r:id="rId109"/>
    <p:sldId id="577" r:id="rId110"/>
  </p:sldIdLst>
  <p:sldSz cx="9144000" cy="6858000" type="screen4x3"/>
  <p:notesSz cx="6858000" cy="15716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3EF842-AD48-0852-EC51-97C207D782FA}" v="102" dt="2020-01-01T21:18:25.4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9562" autoAdjust="0"/>
  </p:normalViewPr>
  <p:slideViewPr>
    <p:cSldViewPr>
      <p:cViewPr varScale="1">
        <p:scale>
          <a:sx n="57" d="100"/>
          <a:sy n="57" d="100"/>
        </p:scale>
        <p:origin x="1800" y="72"/>
      </p:cViewPr>
      <p:guideLst>
        <p:guide orient="horz" pos="2160"/>
        <p:guide pos="2880"/>
      </p:guideLst>
    </p:cSldViewPr>
  </p:slideViewPr>
  <p:outlineViewPr>
    <p:cViewPr>
      <p:scale>
        <a:sx n="33" d="100"/>
        <a:sy n="33" d="100"/>
      </p:scale>
      <p:origin x="0" y="937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microsoft.com/office/2015/10/relationships/revisionInfo" Target="revisionInfo.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daf Baloch" userId="S::sadaf.baloch@ucp.edu.pk::2cdfe0ab-03ea-46b2-8263-c67d3be957cb" providerId="AD" clId="Web-{D03EF842-AD48-0852-EC51-97C207D782FA}"/>
    <pc:docChg chg="addSld modSld">
      <pc:chgData name="Sadaf Baloch" userId="S::sadaf.baloch@ucp.edu.pk::2cdfe0ab-03ea-46b2-8263-c67d3be957cb" providerId="AD" clId="Web-{D03EF842-AD48-0852-EC51-97C207D782FA}" dt="2020-01-01T21:18:25.432" v="93"/>
      <pc:docMkLst>
        <pc:docMk/>
      </pc:docMkLst>
      <pc:sldChg chg="modNotes">
        <pc:chgData name="Sadaf Baloch" userId="S::sadaf.baloch@ucp.edu.pk::2cdfe0ab-03ea-46b2-8263-c67d3be957cb" providerId="AD" clId="Web-{D03EF842-AD48-0852-EC51-97C207D782FA}" dt="2020-01-01T20:19:50.649" v="20"/>
        <pc:sldMkLst>
          <pc:docMk/>
          <pc:sldMk cId="0" sldId="406"/>
        </pc:sldMkLst>
      </pc:sldChg>
      <pc:sldChg chg="modSp">
        <pc:chgData name="Sadaf Baloch" userId="S::sadaf.baloch@ucp.edu.pk::2cdfe0ab-03ea-46b2-8263-c67d3be957cb" providerId="AD" clId="Web-{D03EF842-AD48-0852-EC51-97C207D782FA}" dt="2020-01-01T20:40:22.827" v="64" actId="20577"/>
        <pc:sldMkLst>
          <pc:docMk/>
          <pc:sldMk cId="0" sldId="407"/>
        </pc:sldMkLst>
        <pc:spChg chg="mod">
          <ac:chgData name="Sadaf Baloch" userId="S::sadaf.baloch@ucp.edu.pk::2cdfe0ab-03ea-46b2-8263-c67d3be957cb" providerId="AD" clId="Web-{D03EF842-AD48-0852-EC51-97C207D782FA}" dt="2020-01-01T20:40:22.827" v="64" actId="20577"/>
          <ac:spMkLst>
            <pc:docMk/>
            <pc:sldMk cId="0" sldId="407"/>
            <ac:spMk id="3" creationId="{00000000-0000-0000-0000-000000000000}"/>
          </ac:spMkLst>
        </pc:spChg>
      </pc:sldChg>
      <pc:sldChg chg="modSp">
        <pc:chgData name="Sadaf Baloch" userId="S::sadaf.baloch@ucp.edu.pk::2cdfe0ab-03ea-46b2-8263-c67d3be957cb" providerId="AD" clId="Web-{D03EF842-AD48-0852-EC51-97C207D782FA}" dt="2020-01-01T20:45:22.922" v="84" actId="20577"/>
        <pc:sldMkLst>
          <pc:docMk/>
          <pc:sldMk cId="0" sldId="416"/>
        </pc:sldMkLst>
        <pc:spChg chg="mod">
          <ac:chgData name="Sadaf Baloch" userId="S::sadaf.baloch@ucp.edu.pk::2cdfe0ab-03ea-46b2-8263-c67d3be957cb" providerId="AD" clId="Web-{D03EF842-AD48-0852-EC51-97C207D782FA}" dt="2020-01-01T20:45:22.922" v="84" actId="20577"/>
          <ac:spMkLst>
            <pc:docMk/>
            <pc:sldMk cId="0" sldId="416"/>
            <ac:spMk id="3" creationId="{00000000-0000-0000-0000-000000000000}"/>
          </ac:spMkLst>
        </pc:spChg>
      </pc:sldChg>
      <pc:sldChg chg="modNotes">
        <pc:chgData name="Sadaf Baloch" userId="S::sadaf.baloch@ucp.edu.pk::2cdfe0ab-03ea-46b2-8263-c67d3be957cb" providerId="AD" clId="Web-{D03EF842-AD48-0852-EC51-97C207D782FA}" dt="2020-01-01T20:56:13.051" v="90"/>
        <pc:sldMkLst>
          <pc:docMk/>
          <pc:sldMk cId="0" sldId="417"/>
        </pc:sldMkLst>
      </pc:sldChg>
      <pc:sldChg chg="modNotes">
        <pc:chgData name="Sadaf Baloch" userId="S::sadaf.baloch@ucp.edu.pk::2cdfe0ab-03ea-46b2-8263-c67d3be957cb" providerId="AD" clId="Web-{D03EF842-AD48-0852-EC51-97C207D782FA}" dt="2020-01-01T20:26:51.214" v="29"/>
        <pc:sldMkLst>
          <pc:docMk/>
          <pc:sldMk cId="0" sldId="515"/>
        </pc:sldMkLst>
      </pc:sldChg>
      <pc:sldChg chg="modNotes">
        <pc:chgData name="Sadaf Baloch" userId="S::sadaf.baloch@ucp.edu.pk::2cdfe0ab-03ea-46b2-8263-c67d3be957cb" providerId="AD" clId="Web-{D03EF842-AD48-0852-EC51-97C207D782FA}" dt="2020-01-01T21:18:25.432" v="93"/>
        <pc:sldMkLst>
          <pc:docMk/>
          <pc:sldMk cId="253490914" sldId="534"/>
        </pc:sldMkLst>
      </pc:sldChg>
      <pc:sldChg chg="modSp new">
        <pc:chgData name="Sadaf Baloch" userId="S::sadaf.baloch@ucp.edu.pk::2cdfe0ab-03ea-46b2-8263-c67d3be957cb" providerId="AD" clId="Web-{D03EF842-AD48-0852-EC51-97C207D782FA}" dt="2020-01-01T20:17:47.273" v="17" actId="20577"/>
        <pc:sldMkLst>
          <pc:docMk/>
          <pc:sldMk cId="2769673323" sldId="535"/>
        </pc:sldMkLst>
        <pc:spChg chg="mod">
          <ac:chgData name="Sadaf Baloch" userId="S::sadaf.baloch@ucp.edu.pk::2cdfe0ab-03ea-46b2-8263-c67d3be957cb" providerId="AD" clId="Web-{D03EF842-AD48-0852-EC51-97C207D782FA}" dt="2020-01-01T20:15:01.835" v="11" actId="20577"/>
          <ac:spMkLst>
            <pc:docMk/>
            <pc:sldMk cId="2769673323" sldId="535"/>
            <ac:spMk id="2" creationId="{13C579F1-FD41-456E-AFBA-3F741174CC9F}"/>
          </ac:spMkLst>
        </pc:spChg>
        <pc:spChg chg="mod">
          <ac:chgData name="Sadaf Baloch" userId="S::sadaf.baloch@ucp.edu.pk::2cdfe0ab-03ea-46b2-8263-c67d3be957cb" providerId="AD" clId="Web-{D03EF842-AD48-0852-EC51-97C207D782FA}" dt="2020-01-01T20:17:47.273" v="17" actId="20577"/>
          <ac:spMkLst>
            <pc:docMk/>
            <pc:sldMk cId="2769673323" sldId="535"/>
            <ac:spMk id="3" creationId="{561D1250-7B9E-4AA3-8EFC-5A40550184D3}"/>
          </ac:spMkLst>
        </pc:spChg>
      </pc:sldChg>
      <pc:sldChg chg="modSp new">
        <pc:chgData name="Sadaf Baloch" userId="S::sadaf.baloch@ucp.edu.pk::2cdfe0ab-03ea-46b2-8263-c67d3be957cb" providerId="AD" clId="Web-{D03EF842-AD48-0852-EC51-97C207D782FA}" dt="2020-01-01T20:40:39.999" v="82" actId="20577"/>
        <pc:sldMkLst>
          <pc:docMk/>
          <pc:sldMk cId="3302975511" sldId="536"/>
        </pc:sldMkLst>
        <pc:spChg chg="mod">
          <ac:chgData name="Sadaf Baloch" userId="S::sadaf.baloch@ucp.edu.pk::2cdfe0ab-03ea-46b2-8263-c67d3be957cb" providerId="AD" clId="Web-{D03EF842-AD48-0852-EC51-97C207D782FA}" dt="2020-01-01T20:40:31.936" v="77" actId="20577"/>
          <ac:spMkLst>
            <pc:docMk/>
            <pc:sldMk cId="3302975511" sldId="536"/>
            <ac:spMk id="2" creationId="{70CA8A43-A172-4033-8E58-A2D5FC0585E9}"/>
          </ac:spMkLst>
        </pc:spChg>
        <pc:spChg chg="mod">
          <ac:chgData name="Sadaf Baloch" userId="S::sadaf.baloch@ucp.edu.pk::2cdfe0ab-03ea-46b2-8263-c67d3be957cb" providerId="AD" clId="Web-{D03EF842-AD48-0852-EC51-97C207D782FA}" dt="2020-01-01T20:40:39.999" v="82" actId="20577"/>
          <ac:spMkLst>
            <pc:docMk/>
            <pc:sldMk cId="3302975511" sldId="536"/>
            <ac:spMk id="3" creationId="{AFEFBB2E-3E7A-4E4D-9785-BC4065121CF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8CDA0B-A6D8-43E2-8D84-EB609C0CC07B}" type="doc">
      <dgm:prSet loTypeId="urn:microsoft.com/office/officeart/2005/8/layout/equation1" loCatId="relationship" qsTypeId="urn:microsoft.com/office/officeart/2005/8/quickstyle/simple1" qsCatId="simple" csTypeId="urn:microsoft.com/office/officeart/2005/8/colors/accent1_2" csCatId="accent1" phldr="1"/>
      <dgm:spPr/>
    </dgm:pt>
    <dgm:pt modelId="{8D1264B3-9649-44B9-9606-F61E638F3546}">
      <dgm:prSet phldrT="[Text]"/>
      <dgm:spPr/>
      <dgm:t>
        <a:bodyPr/>
        <a:lstStyle/>
        <a:p>
          <a:pPr algn="ctr"/>
          <a:r>
            <a:rPr lang="en-US" dirty="0"/>
            <a:t>Ctrl</a:t>
          </a:r>
        </a:p>
      </dgm:t>
    </dgm:pt>
    <dgm:pt modelId="{650A1349-AED8-4311-9997-78D14EC8D21D}" type="parTrans" cxnId="{21C681DD-EF8E-47A6-8EF9-3ABA4F28A9FD}">
      <dgm:prSet/>
      <dgm:spPr/>
      <dgm:t>
        <a:bodyPr/>
        <a:lstStyle/>
        <a:p>
          <a:pPr algn="ctr"/>
          <a:endParaRPr lang="en-US"/>
        </a:p>
      </dgm:t>
    </dgm:pt>
    <dgm:pt modelId="{B68D05FF-6BDC-415F-8A9D-80EB3EC67164}" type="sibTrans" cxnId="{21C681DD-EF8E-47A6-8EF9-3ABA4F28A9FD}">
      <dgm:prSet/>
      <dgm:spPr/>
      <dgm:t>
        <a:bodyPr/>
        <a:lstStyle/>
        <a:p>
          <a:pPr algn="ctr"/>
          <a:endParaRPr lang="en-US"/>
        </a:p>
      </dgm:t>
    </dgm:pt>
    <dgm:pt modelId="{D2EC3A5C-A581-410B-A9CC-21809A192553}">
      <dgm:prSet phldrT="[Text]"/>
      <dgm:spPr/>
      <dgm:t>
        <a:bodyPr/>
        <a:lstStyle/>
        <a:p>
          <a:pPr algn="ctr"/>
          <a:r>
            <a:rPr lang="en-US" dirty="0"/>
            <a:t>C</a:t>
          </a:r>
        </a:p>
      </dgm:t>
    </dgm:pt>
    <dgm:pt modelId="{73846F29-F0C2-41DD-B8BC-E69883BE6B66}" type="parTrans" cxnId="{AFE6B716-4E44-4E11-A0AD-7BF63D3C7C03}">
      <dgm:prSet/>
      <dgm:spPr/>
      <dgm:t>
        <a:bodyPr/>
        <a:lstStyle/>
        <a:p>
          <a:pPr algn="ctr"/>
          <a:endParaRPr lang="en-US"/>
        </a:p>
      </dgm:t>
    </dgm:pt>
    <dgm:pt modelId="{CEB24C41-715D-4158-B631-381271B9BB89}" type="sibTrans" cxnId="{AFE6B716-4E44-4E11-A0AD-7BF63D3C7C03}">
      <dgm:prSet/>
      <dgm:spPr/>
      <dgm:t>
        <a:bodyPr/>
        <a:lstStyle/>
        <a:p>
          <a:pPr algn="ctr"/>
          <a:endParaRPr lang="en-US"/>
        </a:p>
      </dgm:t>
    </dgm:pt>
    <dgm:pt modelId="{21E1F2B6-A6FC-4539-9773-CEA65DD3AAD1}">
      <dgm:prSet phldrT="[Text]"/>
      <dgm:spPr/>
      <dgm:t>
        <a:bodyPr/>
        <a:lstStyle/>
        <a:p>
          <a:pPr algn="ctr"/>
          <a:r>
            <a:rPr lang="en-US" dirty="0"/>
            <a:t>Copy</a:t>
          </a:r>
        </a:p>
      </dgm:t>
    </dgm:pt>
    <dgm:pt modelId="{34A80FB1-E974-4520-BE2D-743C9D06F9C9}" type="parTrans" cxnId="{03AF6958-9BF4-47FE-BCB6-12724EE2D469}">
      <dgm:prSet/>
      <dgm:spPr/>
      <dgm:t>
        <a:bodyPr/>
        <a:lstStyle/>
        <a:p>
          <a:pPr algn="ctr"/>
          <a:endParaRPr lang="en-US"/>
        </a:p>
      </dgm:t>
    </dgm:pt>
    <dgm:pt modelId="{0067ABC8-F1CC-4211-81C2-6933009399FF}" type="sibTrans" cxnId="{03AF6958-9BF4-47FE-BCB6-12724EE2D469}">
      <dgm:prSet/>
      <dgm:spPr/>
      <dgm:t>
        <a:bodyPr/>
        <a:lstStyle/>
        <a:p>
          <a:pPr algn="ctr"/>
          <a:endParaRPr lang="en-US"/>
        </a:p>
      </dgm:t>
    </dgm:pt>
    <dgm:pt modelId="{22488F25-CFC1-4F93-91F2-08DB89F06D6B}" type="pres">
      <dgm:prSet presAssocID="{E38CDA0B-A6D8-43E2-8D84-EB609C0CC07B}" presName="linearFlow" presStyleCnt="0">
        <dgm:presLayoutVars>
          <dgm:dir/>
          <dgm:resizeHandles val="exact"/>
        </dgm:presLayoutVars>
      </dgm:prSet>
      <dgm:spPr/>
    </dgm:pt>
    <dgm:pt modelId="{64BD8FAC-D5D5-4792-80AB-433404CB038B}" type="pres">
      <dgm:prSet presAssocID="{8D1264B3-9649-44B9-9606-F61E638F3546}" presName="node" presStyleLbl="node1" presStyleIdx="0" presStyleCnt="3">
        <dgm:presLayoutVars>
          <dgm:bulletEnabled val="1"/>
        </dgm:presLayoutVars>
      </dgm:prSet>
      <dgm:spPr/>
    </dgm:pt>
    <dgm:pt modelId="{AE42C462-8B29-474E-A31B-8FBDB11B6BC2}" type="pres">
      <dgm:prSet presAssocID="{B68D05FF-6BDC-415F-8A9D-80EB3EC67164}" presName="spacerL" presStyleCnt="0"/>
      <dgm:spPr/>
    </dgm:pt>
    <dgm:pt modelId="{0DA0D377-6ACD-4369-A3A8-30126AAEAA54}" type="pres">
      <dgm:prSet presAssocID="{B68D05FF-6BDC-415F-8A9D-80EB3EC67164}" presName="sibTrans" presStyleLbl="sibTrans2D1" presStyleIdx="0" presStyleCnt="2"/>
      <dgm:spPr/>
    </dgm:pt>
    <dgm:pt modelId="{1331B930-77F2-4E7D-9B52-885453A1360A}" type="pres">
      <dgm:prSet presAssocID="{B68D05FF-6BDC-415F-8A9D-80EB3EC67164}" presName="spacerR" presStyleCnt="0"/>
      <dgm:spPr/>
    </dgm:pt>
    <dgm:pt modelId="{FFE3E7A5-04A5-41AA-B53E-F79E2EED1C20}" type="pres">
      <dgm:prSet presAssocID="{D2EC3A5C-A581-410B-A9CC-21809A192553}" presName="node" presStyleLbl="node1" presStyleIdx="1" presStyleCnt="3">
        <dgm:presLayoutVars>
          <dgm:bulletEnabled val="1"/>
        </dgm:presLayoutVars>
      </dgm:prSet>
      <dgm:spPr/>
    </dgm:pt>
    <dgm:pt modelId="{0A2968B7-4C0A-4819-92FA-9154E67B2BCF}" type="pres">
      <dgm:prSet presAssocID="{CEB24C41-715D-4158-B631-381271B9BB89}" presName="spacerL" presStyleCnt="0"/>
      <dgm:spPr/>
    </dgm:pt>
    <dgm:pt modelId="{654A88BE-2FC9-48FF-95C1-4673374DB698}" type="pres">
      <dgm:prSet presAssocID="{CEB24C41-715D-4158-B631-381271B9BB89}" presName="sibTrans" presStyleLbl="sibTrans2D1" presStyleIdx="1" presStyleCnt="2"/>
      <dgm:spPr/>
    </dgm:pt>
    <dgm:pt modelId="{7D92FA2C-C27B-4569-9FA0-CCD42B61B964}" type="pres">
      <dgm:prSet presAssocID="{CEB24C41-715D-4158-B631-381271B9BB89}" presName="spacerR" presStyleCnt="0"/>
      <dgm:spPr/>
    </dgm:pt>
    <dgm:pt modelId="{6DE331BD-19C3-4E3B-8871-A8AF983CC57B}" type="pres">
      <dgm:prSet presAssocID="{21E1F2B6-A6FC-4539-9773-CEA65DD3AAD1}" presName="node" presStyleLbl="node1" presStyleIdx="2" presStyleCnt="3">
        <dgm:presLayoutVars>
          <dgm:bulletEnabled val="1"/>
        </dgm:presLayoutVars>
      </dgm:prSet>
      <dgm:spPr/>
    </dgm:pt>
  </dgm:ptLst>
  <dgm:cxnLst>
    <dgm:cxn modelId="{AFE6B716-4E44-4E11-A0AD-7BF63D3C7C03}" srcId="{E38CDA0B-A6D8-43E2-8D84-EB609C0CC07B}" destId="{D2EC3A5C-A581-410B-A9CC-21809A192553}" srcOrd="1" destOrd="0" parTransId="{73846F29-F0C2-41DD-B8BC-E69883BE6B66}" sibTransId="{CEB24C41-715D-4158-B631-381271B9BB89}"/>
    <dgm:cxn modelId="{03AF6958-9BF4-47FE-BCB6-12724EE2D469}" srcId="{E38CDA0B-A6D8-43E2-8D84-EB609C0CC07B}" destId="{21E1F2B6-A6FC-4539-9773-CEA65DD3AAD1}" srcOrd="2" destOrd="0" parTransId="{34A80FB1-E974-4520-BE2D-743C9D06F9C9}" sibTransId="{0067ABC8-F1CC-4211-81C2-6933009399FF}"/>
    <dgm:cxn modelId="{F35CB788-BFE8-4051-8ABC-4894781EC90A}" type="presOf" srcId="{D2EC3A5C-A581-410B-A9CC-21809A192553}" destId="{FFE3E7A5-04A5-41AA-B53E-F79E2EED1C20}" srcOrd="0" destOrd="0" presId="urn:microsoft.com/office/officeart/2005/8/layout/equation1"/>
    <dgm:cxn modelId="{A264838D-753B-408F-BBAF-BD4309F1D783}" type="presOf" srcId="{21E1F2B6-A6FC-4539-9773-CEA65DD3AAD1}" destId="{6DE331BD-19C3-4E3B-8871-A8AF983CC57B}" srcOrd="0" destOrd="0" presId="urn:microsoft.com/office/officeart/2005/8/layout/equation1"/>
    <dgm:cxn modelId="{052FD099-3590-49A7-B2CE-6CBCE95D2242}" type="presOf" srcId="{CEB24C41-715D-4158-B631-381271B9BB89}" destId="{654A88BE-2FC9-48FF-95C1-4673374DB698}" srcOrd="0" destOrd="0" presId="urn:microsoft.com/office/officeart/2005/8/layout/equation1"/>
    <dgm:cxn modelId="{5AE130A5-D88B-45AF-AD40-E7F2E5750D1D}" type="presOf" srcId="{B68D05FF-6BDC-415F-8A9D-80EB3EC67164}" destId="{0DA0D377-6ACD-4369-A3A8-30126AAEAA54}" srcOrd="0" destOrd="0" presId="urn:microsoft.com/office/officeart/2005/8/layout/equation1"/>
    <dgm:cxn modelId="{4D526BD8-38BB-489E-AC2B-31A07DBB6F54}" type="presOf" srcId="{E38CDA0B-A6D8-43E2-8D84-EB609C0CC07B}" destId="{22488F25-CFC1-4F93-91F2-08DB89F06D6B}" srcOrd="0" destOrd="0" presId="urn:microsoft.com/office/officeart/2005/8/layout/equation1"/>
    <dgm:cxn modelId="{21C681DD-EF8E-47A6-8EF9-3ABA4F28A9FD}" srcId="{E38CDA0B-A6D8-43E2-8D84-EB609C0CC07B}" destId="{8D1264B3-9649-44B9-9606-F61E638F3546}" srcOrd="0" destOrd="0" parTransId="{650A1349-AED8-4311-9997-78D14EC8D21D}" sibTransId="{B68D05FF-6BDC-415F-8A9D-80EB3EC67164}"/>
    <dgm:cxn modelId="{02DBE8F8-47D1-4999-9FEB-302C18E075B6}" type="presOf" srcId="{8D1264B3-9649-44B9-9606-F61E638F3546}" destId="{64BD8FAC-D5D5-4792-80AB-433404CB038B}" srcOrd="0" destOrd="0" presId="urn:microsoft.com/office/officeart/2005/8/layout/equation1"/>
    <dgm:cxn modelId="{B21CC24F-BDF6-4313-8171-F739DD75814E}" type="presParOf" srcId="{22488F25-CFC1-4F93-91F2-08DB89F06D6B}" destId="{64BD8FAC-D5D5-4792-80AB-433404CB038B}" srcOrd="0" destOrd="0" presId="urn:microsoft.com/office/officeart/2005/8/layout/equation1"/>
    <dgm:cxn modelId="{5E4913D1-43B5-4CCE-9E97-33191AF56962}" type="presParOf" srcId="{22488F25-CFC1-4F93-91F2-08DB89F06D6B}" destId="{AE42C462-8B29-474E-A31B-8FBDB11B6BC2}" srcOrd="1" destOrd="0" presId="urn:microsoft.com/office/officeart/2005/8/layout/equation1"/>
    <dgm:cxn modelId="{7F93D1E3-4668-485B-8F19-285E0FDBF93F}" type="presParOf" srcId="{22488F25-CFC1-4F93-91F2-08DB89F06D6B}" destId="{0DA0D377-6ACD-4369-A3A8-30126AAEAA54}" srcOrd="2" destOrd="0" presId="urn:microsoft.com/office/officeart/2005/8/layout/equation1"/>
    <dgm:cxn modelId="{52A907F4-1763-4552-9ADA-619E67B61DD2}" type="presParOf" srcId="{22488F25-CFC1-4F93-91F2-08DB89F06D6B}" destId="{1331B930-77F2-4E7D-9B52-885453A1360A}" srcOrd="3" destOrd="0" presId="urn:microsoft.com/office/officeart/2005/8/layout/equation1"/>
    <dgm:cxn modelId="{E512A3C9-944B-43A2-8205-1C4664D2D8A2}" type="presParOf" srcId="{22488F25-CFC1-4F93-91F2-08DB89F06D6B}" destId="{FFE3E7A5-04A5-41AA-B53E-F79E2EED1C20}" srcOrd="4" destOrd="0" presId="urn:microsoft.com/office/officeart/2005/8/layout/equation1"/>
    <dgm:cxn modelId="{E3F8C3D3-C5CC-409E-B01C-EF993167BA24}" type="presParOf" srcId="{22488F25-CFC1-4F93-91F2-08DB89F06D6B}" destId="{0A2968B7-4C0A-4819-92FA-9154E67B2BCF}" srcOrd="5" destOrd="0" presId="urn:microsoft.com/office/officeart/2005/8/layout/equation1"/>
    <dgm:cxn modelId="{CBC36B15-BA16-46E8-AC59-06AC3F30EDA5}" type="presParOf" srcId="{22488F25-CFC1-4F93-91F2-08DB89F06D6B}" destId="{654A88BE-2FC9-48FF-95C1-4673374DB698}" srcOrd="6" destOrd="0" presId="urn:microsoft.com/office/officeart/2005/8/layout/equation1"/>
    <dgm:cxn modelId="{81C433C4-3477-4919-8C3D-B6CB0D7B6075}" type="presParOf" srcId="{22488F25-CFC1-4F93-91F2-08DB89F06D6B}" destId="{7D92FA2C-C27B-4569-9FA0-CCD42B61B964}" srcOrd="7" destOrd="0" presId="urn:microsoft.com/office/officeart/2005/8/layout/equation1"/>
    <dgm:cxn modelId="{EC005910-CAB7-41A8-B918-178FC9727489}" type="presParOf" srcId="{22488F25-CFC1-4F93-91F2-08DB89F06D6B}" destId="{6DE331BD-19C3-4E3B-8871-A8AF983CC57B}"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8CDA0B-A6D8-43E2-8D84-EB609C0CC07B}" type="doc">
      <dgm:prSet loTypeId="urn:microsoft.com/office/officeart/2005/8/layout/equation2" loCatId="relationship" qsTypeId="urn:microsoft.com/office/officeart/2005/8/quickstyle/simple1" qsCatId="simple" csTypeId="urn:microsoft.com/office/officeart/2005/8/colors/accent1_2" csCatId="accent1" phldr="1"/>
      <dgm:spPr/>
    </dgm:pt>
    <dgm:pt modelId="{8D1264B3-9649-44B9-9606-F61E638F3546}">
      <dgm:prSet phldrT="[Text]"/>
      <dgm:spPr/>
      <dgm:t>
        <a:bodyPr/>
        <a:lstStyle/>
        <a:p>
          <a:pPr algn="ctr"/>
          <a:r>
            <a:rPr lang="en-US" dirty="0"/>
            <a:t>Ability to use system</a:t>
          </a:r>
        </a:p>
      </dgm:t>
    </dgm:pt>
    <dgm:pt modelId="{650A1349-AED8-4311-9997-78D14EC8D21D}" type="parTrans" cxnId="{21C681DD-EF8E-47A6-8EF9-3ABA4F28A9FD}">
      <dgm:prSet/>
      <dgm:spPr/>
      <dgm:t>
        <a:bodyPr/>
        <a:lstStyle/>
        <a:p>
          <a:pPr algn="ctr"/>
          <a:endParaRPr lang="en-US"/>
        </a:p>
      </dgm:t>
    </dgm:pt>
    <dgm:pt modelId="{B68D05FF-6BDC-415F-8A9D-80EB3EC67164}" type="sibTrans" cxnId="{21C681DD-EF8E-47A6-8EF9-3ABA4F28A9FD}">
      <dgm:prSet/>
      <dgm:spPr/>
      <dgm:t>
        <a:bodyPr/>
        <a:lstStyle/>
        <a:p>
          <a:pPr algn="ctr"/>
          <a:endParaRPr lang="en-US"/>
        </a:p>
      </dgm:t>
    </dgm:pt>
    <dgm:pt modelId="{D2EC3A5C-A581-410B-A9CC-21809A192553}">
      <dgm:prSet phldrT="[Text]"/>
      <dgm:spPr/>
      <dgm:t>
        <a:bodyPr/>
        <a:lstStyle/>
        <a:p>
          <a:pPr algn="ctr"/>
          <a:r>
            <a:rPr lang="en-US" dirty="0"/>
            <a:t>No/minimal docs</a:t>
          </a:r>
        </a:p>
      </dgm:t>
    </dgm:pt>
    <dgm:pt modelId="{73846F29-F0C2-41DD-B8BC-E69883BE6B66}" type="parTrans" cxnId="{AFE6B716-4E44-4E11-A0AD-7BF63D3C7C03}">
      <dgm:prSet/>
      <dgm:spPr/>
      <dgm:t>
        <a:bodyPr/>
        <a:lstStyle/>
        <a:p>
          <a:pPr algn="ctr"/>
          <a:endParaRPr lang="en-US"/>
        </a:p>
      </dgm:t>
    </dgm:pt>
    <dgm:pt modelId="{CEB24C41-715D-4158-B631-381271B9BB89}" type="sibTrans" cxnId="{AFE6B716-4E44-4E11-A0AD-7BF63D3C7C03}">
      <dgm:prSet/>
      <dgm:spPr/>
      <dgm:t>
        <a:bodyPr/>
        <a:lstStyle/>
        <a:p>
          <a:pPr algn="ctr"/>
          <a:endParaRPr lang="en-US"/>
        </a:p>
      </dgm:t>
    </dgm:pt>
    <dgm:pt modelId="{21E1F2B6-A6FC-4539-9773-CEA65DD3AAD1}">
      <dgm:prSet phldrT="[Text]"/>
      <dgm:spPr/>
      <dgm:t>
        <a:bodyPr/>
        <a:lstStyle/>
        <a:p>
          <a:pPr algn="ctr"/>
          <a:r>
            <a:rPr lang="en-US" dirty="0"/>
            <a:t>Good Usability</a:t>
          </a:r>
        </a:p>
      </dgm:t>
    </dgm:pt>
    <dgm:pt modelId="{34A80FB1-E974-4520-BE2D-743C9D06F9C9}" type="parTrans" cxnId="{03AF6958-9BF4-47FE-BCB6-12724EE2D469}">
      <dgm:prSet/>
      <dgm:spPr/>
      <dgm:t>
        <a:bodyPr/>
        <a:lstStyle/>
        <a:p>
          <a:pPr algn="ctr"/>
          <a:endParaRPr lang="en-US"/>
        </a:p>
      </dgm:t>
    </dgm:pt>
    <dgm:pt modelId="{0067ABC8-F1CC-4211-81C2-6933009399FF}" type="sibTrans" cxnId="{03AF6958-9BF4-47FE-BCB6-12724EE2D469}">
      <dgm:prSet/>
      <dgm:spPr/>
      <dgm:t>
        <a:bodyPr/>
        <a:lstStyle/>
        <a:p>
          <a:pPr algn="ctr"/>
          <a:endParaRPr lang="en-US"/>
        </a:p>
      </dgm:t>
    </dgm:pt>
    <dgm:pt modelId="{E1491B6D-0676-48E7-A700-7FFB895C7F7A}" type="pres">
      <dgm:prSet presAssocID="{E38CDA0B-A6D8-43E2-8D84-EB609C0CC07B}" presName="Name0" presStyleCnt="0">
        <dgm:presLayoutVars>
          <dgm:dir/>
          <dgm:resizeHandles val="exact"/>
        </dgm:presLayoutVars>
      </dgm:prSet>
      <dgm:spPr/>
    </dgm:pt>
    <dgm:pt modelId="{7767E169-2BC7-42E0-89CE-A9F8DAF5DF29}" type="pres">
      <dgm:prSet presAssocID="{E38CDA0B-A6D8-43E2-8D84-EB609C0CC07B}" presName="vNodes" presStyleCnt="0"/>
      <dgm:spPr/>
    </dgm:pt>
    <dgm:pt modelId="{158429B5-4355-488C-8B3C-0919DD20A270}" type="pres">
      <dgm:prSet presAssocID="{8D1264B3-9649-44B9-9606-F61E638F3546}" presName="node" presStyleLbl="node1" presStyleIdx="0" presStyleCnt="3">
        <dgm:presLayoutVars>
          <dgm:bulletEnabled val="1"/>
        </dgm:presLayoutVars>
      </dgm:prSet>
      <dgm:spPr/>
    </dgm:pt>
    <dgm:pt modelId="{1AE6CBAC-E231-416E-AD01-3D2DD1F874EC}" type="pres">
      <dgm:prSet presAssocID="{B68D05FF-6BDC-415F-8A9D-80EB3EC67164}" presName="spacerT" presStyleCnt="0"/>
      <dgm:spPr/>
    </dgm:pt>
    <dgm:pt modelId="{4EA95CF5-A06B-4EB0-8D5F-A96474D7D0A0}" type="pres">
      <dgm:prSet presAssocID="{B68D05FF-6BDC-415F-8A9D-80EB3EC67164}" presName="sibTrans" presStyleLbl="sibTrans2D1" presStyleIdx="0" presStyleCnt="2"/>
      <dgm:spPr/>
    </dgm:pt>
    <dgm:pt modelId="{E8EC4FB7-6E66-4F88-8E0D-02D5FFECE23C}" type="pres">
      <dgm:prSet presAssocID="{B68D05FF-6BDC-415F-8A9D-80EB3EC67164}" presName="spacerB" presStyleCnt="0"/>
      <dgm:spPr/>
    </dgm:pt>
    <dgm:pt modelId="{566F7A1F-879C-4B8C-976E-614EC8A9B56C}" type="pres">
      <dgm:prSet presAssocID="{D2EC3A5C-A581-410B-A9CC-21809A192553}" presName="node" presStyleLbl="node1" presStyleIdx="1" presStyleCnt="3">
        <dgm:presLayoutVars>
          <dgm:bulletEnabled val="1"/>
        </dgm:presLayoutVars>
      </dgm:prSet>
      <dgm:spPr/>
    </dgm:pt>
    <dgm:pt modelId="{9BD28D8B-21F4-4312-BD00-E997F912DC1A}" type="pres">
      <dgm:prSet presAssocID="{E38CDA0B-A6D8-43E2-8D84-EB609C0CC07B}" presName="sibTransLast" presStyleLbl="sibTrans2D1" presStyleIdx="1" presStyleCnt="2"/>
      <dgm:spPr/>
    </dgm:pt>
    <dgm:pt modelId="{ED3FAF9A-1709-4FC2-A404-7490E4F36209}" type="pres">
      <dgm:prSet presAssocID="{E38CDA0B-A6D8-43E2-8D84-EB609C0CC07B}" presName="connectorText" presStyleLbl="sibTrans2D1" presStyleIdx="1" presStyleCnt="2"/>
      <dgm:spPr/>
    </dgm:pt>
    <dgm:pt modelId="{12171540-B8D9-46E6-8A6F-E521CA15F646}" type="pres">
      <dgm:prSet presAssocID="{E38CDA0B-A6D8-43E2-8D84-EB609C0CC07B}" presName="lastNode" presStyleLbl="node1" presStyleIdx="2" presStyleCnt="3">
        <dgm:presLayoutVars>
          <dgm:bulletEnabled val="1"/>
        </dgm:presLayoutVars>
      </dgm:prSet>
      <dgm:spPr/>
    </dgm:pt>
  </dgm:ptLst>
  <dgm:cxnLst>
    <dgm:cxn modelId="{AFE6B716-4E44-4E11-A0AD-7BF63D3C7C03}" srcId="{E38CDA0B-A6D8-43E2-8D84-EB609C0CC07B}" destId="{D2EC3A5C-A581-410B-A9CC-21809A192553}" srcOrd="1" destOrd="0" parTransId="{73846F29-F0C2-41DD-B8BC-E69883BE6B66}" sibTransId="{CEB24C41-715D-4158-B631-381271B9BB89}"/>
    <dgm:cxn modelId="{99FAAB66-3168-4428-A5AA-27378456AEB6}" type="presOf" srcId="{21E1F2B6-A6FC-4539-9773-CEA65DD3AAD1}" destId="{12171540-B8D9-46E6-8A6F-E521CA15F646}" srcOrd="0" destOrd="0" presId="urn:microsoft.com/office/officeart/2005/8/layout/equation2"/>
    <dgm:cxn modelId="{CBDC1872-07CE-4A21-BE8C-F432AE141716}" type="presOf" srcId="{D2EC3A5C-A581-410B-A9CC-21809A192553}" destId="{566F7A1F-879C-4B8C-976E-614EC8A9B56C}" srcOrd="0" destOrd="0" presId="urn:microsoft.com/office/officeart/2005/8/layout/equation2"/>
    <dgm:cxn modelId="{03AF6958-9BF4-47FE-BCB6-12724EE2D469}" srcId="{E38CDA0B-A6D8-43E2-8D84-EB609C0CC07B}" destId="{21E1F2B6-A6FC-4539-9773-CEA65DD3AAD1}" srcOrd="2" destOrd="0" parTransId="{34A80FB1-E974-4520-BE2D-743C9D06F9C9}" sibTransId="{0067ABC8-F1CC-4211-81C2-6933009399FF}"/>
    <dgm:cxn modelId="{CFBDEDA1-D48A-4B3C-811C-827626FC4712}" type="presOf" srcId="{CEB24C41-715D-4158-B631-381271B9BB89}" destId="{ED3FAF9A-1709-4FC2-A404-7490E4F36209}" srcOrd="1" destOrd="0" presId="urn:microsoft.com/office/officeart/2005/8/layout/equation2"/>
    <dgm:cxn modelId="{3AB5D4A6-B42F-4965-A496-687A54983F45}" type="presOf" srcId="{E38CDA0B-A6D8-43E2-8D84-EB609C0CC07B}" destId="{E1491B6D-0676-48E7-A700-7FFB895C7F7A}" srcOrd="0" destOrd="0" presId="urn:microsoft.com/office/officeart/2005/8/layout/equation2"/>
    <dgm:cxn modelId="{A4E9C6BD-553E-4489-9D02-D72E00B153AE}" type="presOf" srcId="{CEB24C41-715D-4158-B631-381271B9BB89}" destId="{9BD28D8B-21F4-4312-BD00-E997F912DC1A}" srcOrd="0" destOrd="0" presId="urn:microsoft.com/office/officeart/2005/8/layout/equation2"/>
    <dgm:cxn modelId="{9E8FA9CD-9F98-433C-9994-067BFA098A1D}" type="presOf" srcId="{8D1264B3-9649-44B9-9606-F61E638F3546}" destId="{158429B5-4355-488C-8B3C-0919DD20A270}" srcOrd="0" destOrd="0" presId="urn:microsoft.com/office/officeart/2005/8/layout/equation2"/>
    <dgm:cxn modelId="{21C681DD-EF8E-47A6-8EF9-3ABA4F28A9FD}" srcId="{E38CDA0B-A6D8-43E2-8D84-EB609C0CC07B}" destId="{8D1264B3-9649-44B9-9606-F61E638F3546}" srcOrd="0" destOrd="0" parTransId="{650A1349-AED8-4311-9997-78D14EC8D21D}" sibTransId="{B68D05FF-6BDC-415F-8A9D-80EB3EC67164}"/>
    <dgm:cxn modelId="{01F3FEF7-46E9-45EA-A625-C7E153ED9E30}" type="presOf" srcId="{B68D05FF-6BDC-415F-8A9D-80EB3EC67164}" destId="{4EA95CF5-A06B-4EB0-8D5F-A96474D7D0A0}" srcOrd="0" destOrd="0" presId="urn:microsoft.com/office/officeart/2005/8/layout/equation2"/>
    <dgm:cxn modelId="{A718F119-4B3D-4463-A06E-272D2ABCD7EF}" type="presParOf" srcId="{E1491B6D-0676-48E7-A700-7FFB895C7F7A}" destId="{7767E169-2BC7-42E0-89CE-A9F8DAF5DF29}" srcOrd="0" destOrd="0" presId="urn:microsoft.com/office/officeart/2005/8/layout/equation2"/>
    <dgm:cxn modelId="{72FB064F-E539-4236-8971-334CE08890C7}" type="presParOf" srcId="{7767E169-2BC7-42E0-89CE-A9F8DAF5DF29}" destId="{158429B5-4355-488C-8B3C-0919DD20A270}" srcOrd="0" destOrd="0" presId="urn:microsoft.com/office/officeart/2005/8/layout/equation2"/>
    <dgm:cxn modelId="{C8E903AA-DA9B-486F-AF89-30C4B561952A}" type="presParOf" srcId="{7767E169-2BC7-42E0-89CE-A9F8DAF5DF29}" destId="{1AE6CBAC-E231-416E-AD01-3D2DD1F874EC}" srcOrd="1" destOrd="0" presId="urn:microsoft.com/office/officeart/2005/8/layout/equation2"/>
    <dgm:cxn modelId="{947713D3-B9FC-4950-90D4-522D47557C45}" type="presParOf" srcId="{7767E169-2BC7-42E0-89CE-A9F8DAF5DF29}" destId="{4EA95CF5-A06B-4EB0-8D5F-A96474D7D0A0}" srcOrd="2" destOrd="0" presId="urn:microsoft.com/office/officeart/2005/8/layout/equation2"/>
    <dgm:cxn modelId="{C6F6A645-1897-44D0-958B-9FB418CE4D59}" type="presParOf" srcId="{7767E169-2BC7-42E0-89CE-A9F8DAF5DF29}" destId="{E8EC4FB7-6E66-4F88-8E0D-02D5FFECE23C}" srcOrd="3" destOrd="0" presId="urn:microsoft.com/office/officeart/2005/8/layout/equation2"/>
    <dgm:cxn modelId="{7081F809-719A-4045-B46A-599A543E4996}" type="presParOf" srcId="{7767E169-2BC7-42E0-89CE-A9F8DAF5DF29}" destId="{566F7A1F-879C-4B8C-976E-614EC8A9B56C}" srcOrd="4" destOrd="0" presId="urn:microsoft.com/office/officeart/2005/8/layout/equation2"/>
    <dgm:cxn modelId="{395C7032-7652-4C47-989F-C2B33611BB68}" type="presParOf" srcId="{E1491B6D-0676-48E7-A700-7FFB895C7F7A}" destId="{9BD28D8B-21F4-4312-BD00-E997F912DC1A}" srcOrd="1" destOrd="0" presId="urn:microsoft.com/office/officeart/2005/8/layout/equation2"/>
    <dgm:cxn modelId="{63B6C1FD-B230-4CA2-B185-1B1A903A63ED}" type="presParOf" srcId="{9BD28D8B-21F4-4312-BD00-E997F912DC1A}" destId="{ED3FAF9A-1709-4FC2-A404-7490E4F36209}" srcOrd="0" destOrd="0" presId="urn:microsoft.com/office/officeart/2005/8/layout/equation2"/>
    <dgm:cxn modelId="{971D1452-7920-4BF9-8785-C355DDF4DE49}" type="presParOf" srcId="{E1491B6D-0676-48E7-A700-7FFB895C7F7A}" destId="{12171540-B8D9-46E6-8A6F-E521CA15F646}"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BD8FAC-D5D5-4792-80AB-433404CB038B}">
      <dsp:nvSpPr>
        <dsp:cNvPr id="0" name=""/>
        <dsp:cNvSpPr/>
      </dsp:nvSpPr>
      <dsp:spPr>
        <a:xfrm>
          <a:off x="1025" y="1352599"/>
          <a:ext cx="1358800" cy="13588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t>Ctrl</a:t>
          </a:r>
        </a:p>
      </dsp:txBody>
      <dsp:txXfrm>
        <a:off x="200017" y="1551591"/>
        <a:ext cx="960816" cy="960816"/>
      </dsp:txXfrm>
    </dsp:sp>
    <dsp:sp modelId="{0DA0D377-6ACD-4369-A3A8-30126AAEAA54}">
      <dsp:nvSpPr>
        <dsp:cNvPr id="0" name=""/>
        <dsp:cNvSpPr/>
      </dsp:nvSpPr>
      <dsp:spPr>
        <a:xfrm>
          <a:off x="1470160" y="1637947"/>
          <a:ext cx="788104" cy="788104"/>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574623" y="1939318"/>
        <a:ext cx="579178" cy="185362"/>
      </dsp:txXfrm>
    </dsp:sp>
    <dsp:sp modelId="{FFE3E7A5-04A5-41AA-B53E-F79E2EED1C20}">
      <dsp:nvSpPr>
        <dsp:cNvPr id="0" name=""/>
        <dsp:cNvSpPr/>
      </dsp:nvSpPr>
      <dsp:spPr>
        <a:xfrm>
          <a:off x="2368599" y="1352599"/>
          <a:ext cx="1358800" cy="13588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t>C</a:t>
          </a:r>
        </a:p>
      </dsp:txBody>
      <dsp:txXfrm>
        <a:off x="2567591" y="1551591"/>
        <a:ext cx="960816" cy="960816"/>
      </dsp:txXfrm>
    </dsp:sp>
    <dsp:sp modelId="{654A88BE-2FC9-48FF-95C1-4673374DB698}">
      <dsp:nvSpPr>
        <dsp:cNvPr id="0" name=""/>
        <dsp:cNvSpPr/>
      </dsp:nvSpPr>
      <dsp:spPr>
        <a:xfrm>
          <a:off x="3837735" y="1637947"/>
          <a:ext cx="788104" cy="788104"/>
        </a:xfrm>
        <a:prstGeom prst="mathEqual">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3942198" y="1800296"/>
        <a:ext cx="579178" cy="463406"/>
      </dsp:txXfrm>
    </dsp:sp>
    <dsp:sp modelId="{6DE331BD-19C3-4E3B-8871-A8AF983CC57B}">
      <dsp:nvSpPr>
        <dsp:cNvPr id="0" name=""/>
        <dsp:cNvSpPr/>
      </dsp:nvSpPr>
      <dsp:spPr>
        <a:xfrm>
          <a:off x="4736174" y="1352599"/>
          <a:ext cx="1358800" cy="13588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t>Copy</a:t>
          </a:r>
        </a:p>
      </dsp:txBody>
      <dsp:txXfrm>
        <a:off x="4935166" y="1551591"/>
        <a:ext cx="960816" cy="9608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8429B5-4355-488C-8B3C-0919DD20A270}">
      <dsp:nvSpPr>
        <dsp:cNvPr id="0" name=""/>
        <dsp:cNvSpPr/>
      </dsp:nvSpPr>
      <dsp:spPr>
        <a:xfrm>
          <a:off x="382488" y="1472"/>
          <a:ext cx="1480839" cy="148083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Ability to use system</a:t>
          </a:r>
        </a:p>
      </dsp:txBody>
      <dsp:txXfrm>
        <a:off x="599352" y="218336"/>
        <a:ext cx="1047111" cy="1047111"/>
      </dsp:txXfrm>
    </dsp:sp>
    <dsp:sp modelId="{4EA95CF5-A06B-4EB0-8D5F-A96474D7D0A0}">
      <dsp:nvSpPr>
        <dsp:cNvPr id="0" name=""/>
        <dsp:cNvSpPr/>
      </dsp:nvSpPr>
      <dsp:spPr>
        <a:xfrm>
          <a:off x="693464" y="1602556"/>
          <a:ext cx="858887" cy="858887"/>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807309" y="1930994"/>
        <a:ext cx="631197" cy="202011"/>
      </dsp:txXfrm>
    </dsp:sp>
    <dsp:sp modelId="{566F7A1F-879C-4B8C-976E-614EC8A9B56C}">
      <dsp:nvSpPr>
        <dsp:cNvPr id="0" name=""/>
        <dsp:cNvSpPr/>
      </dsp:nvSpPr>
      <dsp:spPr>
        <a:xfrm>
          <a:off x="382488" y="2581687"/>
          <a:ext cx="1480839" cy="148083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No/minimal docs</a:t>
          </a:r>
        </a:p>
      </dsp:txBody>
      <dsp:txXfrm>
        <a:off x="599352" y="2798551"/>
        <a:ext cx="1047111" cy="1047111"/>
      </dsp:txXfrm>
    </dsp:sp>
    <dsp:sp modelId="{9BD28D8B-21F4-4312-BD00-E997F912DC1A}">
      <dsp:nvSpPr>
        <dsp:cNvPr id="0" name=""/>
        <dsp:cNvSpPr/>
      </dsp:nvSpPr>
      <dsp:spPr>
        <a:xfrm>
          <a:off x="2085454" y="1756563"/>
          <a:ext cx="470907" cy="5508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085454" y="1866737"/>
        <a:ext cx="329635" cy="330524"/>
      </dsp:txXfrm>
    </dsp:sp>
    <dsp:sp modelId="{12171540-B8D9-46E6-8A6F-E521CA15F646}">
      <dsp:nvSpPr>
        <dsp:cNvPr id="0" name=""/>
        <dsp:cNvSpPr/>
      </dsp:nvSpPr>
      <dsp:spPr>
        <a:xfrm>
          <a:off x="2751832" y="551160"/>
          <a:ext cx="2961679" cy="29616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2133600">
            <a:lnSpc>
              <a:spcPct val="90000"/>
            </a:lnSpc>
            <a:spcBef>
              <a:spcPct val="0"/>
            </a:spcBef>
            <a:spcAft>
              <a:spcPct val="35000"/>
            </a:spcAft>
            <a:buNone/>
          </a:pPr>
          <a:r>
            <a:rPr lang="en-US" sz="4800" kern="1200" dirty="0"/>
            <a:t>Good Usability</a:t>
          </a:r>
        </a:p>
      </dsp:txBody>
      <dsp:txXfrm>
        <a:off x="3185560" y="984888"/>
        <a:ext cx="2094223" cy="2094223"/>
      </dsp:txXfrm>
    </dsp:sp>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71EF33-497A-4AB8-9E2A-EDA89E2657AC}" type="datetimeFigureOut">
              <a:rPr lang="en-US" smtClean="0"/>
              <a:pPr/>
              <a:t>10/15/2021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E35D07-CE9A-41EA-8351-FED4C60B3E9A}" type="slidenum">
              <a:rPr lang="en-US" smtClean="0"/>
              <a:pPr/>
              <a:t>‹#›</a:t>
            </a:fld>
            <a:endParaRPr lang="en-US"/>
          </a:p>
        </p:txBody>
      </p:sp>
    </p:spTree>
    <p:extLst>
      <p:ext uri="{BB962C8B-B14F-4D97-AF65-F5344CB8AC3E}">
        <p14:creationId xmlns:p14="http://schemas.microsoft.com/office/powerpoint/2010/main" val="171217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nngroup.com/articles/how-to-rate-the-severity-of-usability-problems/"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8" Type="http://schemas.openxmlformats.org/officeDocument/2006/relationships/hyperlink" Target="https://en.wikipedia.org/wiki/Application_software" TargetMode="External"/><Relationship Id="rId13" Type="http://schemas.openxmlformats.org/officeDocument/2006/relationships/hyperlink" Target="https://en.wikipedia.org/wiki/Malware" TargetMode="External"/><Relationship Id="rId3" Type="http://schemas.openxmlformats.org/officeDocument/2006/relationships/hyperlink" Target="https://en.wikipedia.org/wiki/Windows_operating_system" TargetMode="External"/><Relationship Id="rId7" Type="http://schemas.openxmlformats.org/officeDocument/2006/relationships/hyperlink" Target="https://en.wikipedia.org/wiki/User_assistance" TargetMode="External"/><Relationship Id="rId12" Type="http://schemas.openxmlformats.org/officeDocument/2006/relationships/hyperlink" Target="https://en.wikipedia.org/wiki/Context_menu" TargetMode="External"/><Relationship Id="rId2" Type="http://schemas.openxmlformats.org/officeDocument/2006/relationships/slide" Target="../slides/slide37.xml"/><Relationship Id="rId1" Type="http://schemas.openxmlformats.org/officeDocument/2006/relationships/notesMaster" Target="../notesMasters/notesMaster1.xml"/><Relationship Id="rId6" Type="http://schemas.openxmlformats.org/officeDocument/2006/relationships/hyperlink" Target="https://en.wikipedia.org/wiki/Function_key" TargetMode="External"/><Relationship Id="rId11" Type="http://schemas.openxmlformats.org/officeDocument/2006/relationships/hyperlink" Target="https://en.wikipedia.org/wiki/Window_(computing)" TargetMode="External"/><Relationship Id="rId5" Type="http://schemas.openxmlformats.org/officeDocument/2006/relationships/hyperlink" Target="https://en.wikipedia.org/wiki/Linux" TargetMode="External"/><Relationship Id="rId10" Type="http://schemas.openxmlformats.org/officeDocument/2006/relationships/hyperlink" Target="https://en.wikipedia.org/wiki/Command_key" TargetMode="External"/><Relationship Id="rId4" Type="http://schemas.openxmlformats.org/officeDocument/2006/relationships/hyperlink" Target="https://en.wikipedia.org/wiki/Desktop_environment" TargetMode="External"/><Relationship Id="rId9" Type="http://schemas.openxmlformats.org/officeDocument/2006/relationships/hyperlink" Target="https://en.wikipedia.org/wiki/MacOS"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designingwebinterfaces.com/6-tips-for-a-great-flex-ux-part-5" TargetMode="External"/><Relationship Id="rId2" Type="http://schemas.openxmlformats.org/officeDocument/2006/relationships/slide" Target="../slides/slide100.xml"/><Relationship Id="rId1" Type="http://schemas.openxmlformats.org/officeDocument/2006/relationships/notesMaster" Target="../notesMasters/notesMaster1.xml"/><Relationship Id="rId4" Type="http://schemas.openxmlformats.org/officeDocument/2006/relationships/hyperlink" Target="https://blog.prototypr.io/10-usability-heuristics-with-examples-4a81ada920c" TargetMode="Externa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medium.muz.li/10-tips-on-how-to-conduct-a-perfect-heuristic-evaluation-ae5f8f4b3257" TargetMode="External"/><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cognitive walkthrough</a:t>
            </a:r>
            <a:r>
              <a:rPr lang="en-US" dirty="0"/>
              <a:t> is a usability evaluation method in which one or more evaluators work through a series of tasks and ask a set of questions from the perspective of the user. The focus of the </a:t>
            </a:r>
            <a:r>
              <a:rPr lang="en-US" b="1" dirty="0"/>
              <a:t>cognitive walkthrough</a:t>
            </a:r>
            <a:r>
              <a:rPr lang="en-US" dirty="0"/>
              <a:t> is on understanding the system's learnability for new or infrequent users.</a:t>
            </a:r>
          </a:p>
        </p:txBody>
      </p:sp>
      <p:sp>
        <p:nvSpPr>
          <p:cNvPr id="4" name="Slide Number Placeholder 3"/>
          <p:cNvSpPr>
            <a:spLocks noGrp="1"/>
          </p:cNvSpPr>
          <p:nvPr>
            <p:ph type="sldNum" sz="quarter" idx="5"/>
          </p:nvPr>
        </p:nvSpPr>
        <p:spPr/>
        <p:txBody>
          <a:bodyPr/>
          <a:lstStyle/>
          <a:p>
            <a:fld id="{A5E35D07-CE9A-41EA-8351-FED4C60B3E9A}" type="slidenum">
              <a:rPr lang="en-US" smtClean="0"/>
              <a:pPr/>
              <a:t>4</a:t>
            </a:fld>
            <a:endParaRPr lang="en-US"/>
          </a:p>
        </p:txBody>
      </p:sp>
    </p:spTree>
    <p:extLst>
      <p:ext uri="{BB962C8B-B14F-4D97-AF65-F5344CB8AC3E}">
        <p14:creationId xmlns:p14="http://schemas.microsoft.com/office/powerpoint/2010/main" val="1665721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ratings can be used to allocate the most resources to fix the most serious problems and can also provide a rough estimate of the need for additional usability efforts. If the severity ratings indicate that several disastrous usability problems remain in an interface, it will probably be unadvisable to release it. But one might decide to go ahead with the release of a system with several usability problems if they are all judged as being cosmetic in nature.</a:t>
            </a:r>
          </a:p>
          <a:p>
            <a:r>
              <a:rPr lang="en-US" dirty="0">
                <a:hlinkClick r:id="rId3"/>
              </a:rPr>
              <a:t>https://www.nngroup.com/articles/how-to-rate-the-severity-of-usability-problems/</a:t>
            </a:r>
            <a:endParaRPr lang="en-US" dirty="0"/>
          </a:p>
          <a:p>
            <a:pPr algn="l"/>
            <a:r>
              <a:rPr lang="en-US" b="0" i="0" dirty="0">
                <a:solidFill>
                  <a:srgbClr val="333333"/>
                </a:solidFill>
                <a:effectLst/>
                <a:latin typeface="Arial" panose="020B0604020202020204" pitchFamily="34" charset="0"/>
              </a:rPr>
              <a:t>The severity of a usability problem is a combination of three factors:</a:t>
            </a:r>
          </a:p>
          <a:p>
            <a:pPr algn="l">
              <a:buFont typeface="Arial" panose="020B0604020202020204" pitchFamily="34" charset="0"/>
              <a:buChar char="•"/>
            </a:pPr>
            <a:r>
              <a:rPr lang="en-US" b="0" i="0" dirty="0">
                <a:solidFill>
                  <a:srgbClr val="333333"/>
                </a:solidFill>
                <a:effectLst/>
                <a:latin typeface="Arial" panose="020B0604020202020204" pitchFamily="34" charset="0"/>
              </a:rPr>
              <a:t>The </a:t>
            </a:r>
            <a:r>
              <a:rPr lang="en-US" b="1" i="0" dirty="0">
                <a:solidFill>
                  <a:srgbClr val="333333"/>
                </a:solidFill>
                <a:effectLst/>
                <a:latin typeface="Arial" panose="020B0604020202020204" pitchFamily="34" charset="0"/>
              </a:rPr>
              <a:t>frequency </a:t>
            </a:r>
            <a:r>
              <a:rPr lang="en-US" b="0" i="0" dirty="0">
                <a:solidFill>
                  <a:srgbClr val="333333"/>
                </a:solidFill>
                <a:effectLst/>
                <a:latin typeface="Arial" panose="020B0604020202020204" pitchFamily="34" charset="0"/>
              </a:rPr>
              <a:t>with which the problem occurs: Is it common or rare?</a:t>
            </a:r>
          </a:p>
          <a:p>
            <a:pPr algn="l">
              <a:buFont typeface="Arial" panose="020B0604020202020204" pitchFamily="34" charset="0"/>
              <a:buChar char="•"/>
            </a:pPr>
            <a:r>
              <a:rPr lang="en-US" b="0" i="0" dirty="0">
                <a:solidFill>
                  <a:srgbClr val="333333"/>
                </a:solidFill>
                <a:effectLst/>
                <a:latin typeface="Arial" panose="020B0604020202020204" pitchFamily="34" charset="0"/>
              </a:rPr>
              <a:t>The </a:t>
            </a:r>
            <a:r>
              <a:rPr lang="en-US" b="1" i="0" dirty="0">
                <a:solidFill>
                  <a:srgbClr val="333333"/>
                </a:solidFill>
                <a:effectLst/>
                <a:latin typeface="Arial" panose="020B0604020202020204" pitchFamily="34" charset="0"/>
              </a:rPr>
              <a:t>impact </a:t>
            </a:r>
            <a:r>
              <a:rPr lang="en-US" b="0" i="0" dirty="0">
                <a:solidFill>
                  <a:srgbClr val="333333"/>
                </a:solidFill>
                <a:effectLst/>
                <a:latin typeface="Arial" panose="020B0604020202020204" pitchFamily="34" charset="0"/>
              </a:rPr>
              <a:t>of the problem if it occurs: Will it be easy or difficult for the users to overcome?</a:t>
            </a:r>
          </a:p>
          <a:p>
            <a:pPr algn="l">
              <a:buFont typeface="Arial" panose="020B0604020202020204" pitchFamily="34" charset="0"/>
              <a:buChar char="•"/>
            </a:pPr>
            <a:r>
              <a:rPr lang="en-US" b="0" i="0" dirty="0">
                <a:solidFill>
                  <a:srgbClr val="333333"/>
                </a:solidFill>
                <a:effectLst/>
                <a:latin typeface="Arial" panose="020B0604020202020204" pitchFamily="34" charset="0"/>
              </a:rPr>
              <a:t>The </a:t>
            </a:r>
            <a:r>
              <a:rPr lang="en-US" b="1" i="0" dirty="0">
                <a:solidFill>
                  <a:srgbClr val="333333"/>
                </a:solidFill>
                <a:effectLst/>
                <a:latin typeface="Arial" panose="020B0604020202020204" pitchFamily="34" charset="0"/>
              </a:rPr>
              <a:t>persistence </a:t>
            </a:r>
            <a:r>
              <a:rPr lang="en-US" b="0" i="0" dirty="0">
                <a:solidFill>
                  <a:srgbClr val="333333"/>
                </a:solidFill>
                <a:effectLst/>
                <a:latin typeface="Arial" panose="020B0604020202020204" pitchFamily="34" charset="0"/>
              </a:rPr>
              <a:t>of the problem: Is it a one-time problem that users can overcome once they know about it or will users repeatedly be bothered by the problem?</a:t>
            </a:r>
          </a:p>
          <a:p>
            <a:endParaRPr lang="en-US" dirty="0"/>
          </a:p>
          <a:p>
            <a:endParaRPr lang="en-US" dirty="0"/>
          </a:p>
          <a:p>
            <a:endParaRPr lang="en-US" dirty="0">
              <a:cs typeface="Calibri"/>
            </a:endParaRPr>
          </a:p>
        </p:txBody>
      </p:sp>
      <p:sp>
        <p:nvSpPr>
          <p:cNvPr id="4" name="Slide Number Placeholder 3"/>
          <p:cNvSpPr>
            <a:spLocks noGrp="1"/>
          </p:cNvSpPr>
          <p:nvPr>
            <p:ph type="sldNum" sz="quarter" idx="5"/>
          </p:nvPr>
        </p:nvSpPr>
        <p:spPr/>
        <p:txBody>
          <a:bodyPr/>
          <a:lstStyle/>
          <a:p>
            <a:fld id="{A5E35D07-CE9A-41EA-8351-FED4C60B3E9A}" type="slidenum">
              <a:rPr lang="en-US" smtClean="0"/>
              <a:pPr/>
              <a:t>9</a:t>
            </a:fld>
            <a:endParaRPr lang="en-US"/>
          </a:p>
        </p:txBody>
      </p:sp>
    </p:spTree>
    <p:extLst>
      <p:ext uri="{BB962C8B-B14F-4D97-AF65-F5344CB8AC3E}">
        <p14:creationId xmlns:p14="http://schemas.microsoft.com/office/powerpoint/2010/main" val="3740446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230615C-4AA4-4053-A18E-47CE238D123A}" type="slidenum">
              <a:rPr lang="en-GB"/>
              <a:pPr/>
              <a:t>11</a:t>
            </a:fld>
            <a:endParaRPr lang="en-GB"/>
          </a:p>
        </p:txBody>
      </p:sp>
      <p:sp>
        <p:nvSpPr>
          <p:cNvPr id="2150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eaLnBrk="0" hangingPunct="0"/>
            <a:fld id="{2EE5A0DF-0E9E-477E-855C-39DBA6B5EF01}" type="slidenum">
              <a:rPr lang="en-US" sz="1200">
                <a:latin typeface="Times" pitchFamily="18" charset="0"/>
                <a:ea typeface="MS PGothic" pitchFamily="34" charset="-128"/>
              </a:rPr>
              <a:pPr algn="r" eaLnBrk="0" hangingPunct="0"/>
              <a:t>11</a:t>
            </a:fld>
            <a:endParaRPr lang="en-US" sz="1200">
              <a:latin typeface="Times" pitchFamily="18" charset="0"/>
              <a:ea typeface="MS PGothic"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xfrm>
            <a:off x="914400" y="4343400"/>
            <a:ext cx="5029200" cy="4114800"/>
          </a:xfrm>
        </p:spPr>
        <p:txBody>
          <a:bodyPr/>
          <a:lstStyle/>
          <a:p>
            <a:endParaRPr lang="en-US"/>
          </a:p>
        </p:txBody>
      </p:sp>
    </p:spTree>
    <p:extLst>
      <p:ext uri="{BB962C8B-B14F-4D97-AF65-F5344CB8AC3E}">
        <p14:creationId xmlns:p14="http://schemas.microsoft.com/office/powerpoint/2010/main" val="1350977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961EC289-F984-45B7-8BD3-1523D9CF9669}" type="slidenum">
              <a:rPr lang="en-US"/>
              <a:pPr/>
              <a:t>14</a:t>
            </a:fld>
            <a:endParaRPr lang="en-US"/>
          </a:p>
        </p:txBody>
      </p:sp>
      <p:sp>
        <p:nvSpPr>
          <p:cNvPr id="18434" name="Rectangle 2"/>
          <p:cNvSpPr>
            <a:spLocks noGrp="1" noRot="1" noChangeAspect="1" noChangeArrowheads="1" noTextEdit="1"/>
          </p:cNvSpPr>
          <p:nvPr>
            <p:ph type="sldImg"/>
          </p:nvPr>
        </p:nvSpPr>
        <p:spPr>
          <a:ln cap="flat"/>
        </p:spPr>
      </p:sp>
      <p:sp>
        <p:nvSpPr>
          <p:cNvPr id="18435"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4020325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F8CBF57C-FC92-41F1-B95C-0A4700DD9D5C}" type="slidenum">
              <a:rPr lang="en-US"/>
              <a:pPr/>
              <a:t>19</a:t>
            </a:fld>
            <a:endParaRPr lang="en-US"/>
          </a:p>
        </p:txBody>
      </p:sp>
      <p:sp>
        <p:nvSpPr>
          <p:cNvPr id="21506" name="Rectangle 2"/>
          <p:cNvSpPr>
            <a:spLocks noGrp="1" noRot="1" noChangeAspect="1" noChangeArrowheads="1" noTextEdit="1"/>
          </p:cNvSpPr>
          <p:nvPr>
            <p:ph type="sldImg"/>
          </p:nvPr>
        </p:nvSpPr>
        <p:spPr>
          <a:ln cap="flat"/>
        </p:spPr>
      </p:sp>
      <p:sp>
        <p:nvSpPr>
          <p:cNvPr id="2150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907492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97B24718-422B-467D-8342-CA84181E6AFC}" type="slidenum">
              <a:rPr lang="en-US"/>
              <a:pPr/>
              <a:t>27</a:t>
            </a:fld>
            <a:endParaRPr lang="en-US"/>
          </a:p>
        </p:txBody>
      </p:sp>
      <p:sp>
        <p:nvSpPr>
          <p:cNvPr id="11266" name="Rectangle 2"/>
          <p:cNvSpPr>
            <a:spLocks noGrp="1" noRot="1" noChangeAspect="1" noChangeArrowheads="1" noTextEdit="1"/>
          </p:cNvSpPr>
          <p:nvPr>
            <p:ph type="sldImg"/>
          </p:nvPr>
        </p:nvSpPr>
        <p:spPr>
          <a:ln cap="flat"/>
        </p:spPr>
      </p:sp>
      <p:sp>
        <p:nvSpPr>
          <p:cNvPr id="1126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1431086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97B24718-422B-467D-8342-CA84181E6AFC}" type="slidenum">
              <a:rPr lang="en-US"/>
              <a:pPr/>
              <a:t>28</a:t>
            </a:fld>
            <a:endParaRPr lang="en-US"/>
          </a:p>
        </p:txBody>
      </p:sp>
      <p:sp>
        <p:nvSpPr>
          <p:cNvPr id="11266" name="Rectangle 2"/>
          <p:cNvSpPr>
            <a:spLocks noGrp="1" noRot="1" noChangeAspect="1" noChangeArrowheads="1" noTextEdit="1"/>
          </p:cNvSpPr>
          <p:nvPr>
            <p:ph type="sldImg"/>
          </p:nvPr>
        </p:nvSpPr>
        <p:spPr>
          <a:ln cap="flat"/>
        </p:spPr>
      </p:sp>
      <p:sp>
        <p:nvSpPr>
          <p:cNvPr id="1126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2117426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69916893-E5F6-41C3-92DC-79000EC62851}" type="slidenum">
              <a:rPr lang="en-US"/>
              <a:pPr/>
              <a:t>34</a:t>
            </a:fld>
            <a:endParaRPr lang="en-US"/>
          </a:p>
        </p:txBody>
      </p:sp>
      <p:sp>
        <p:nvSpPr>
          <p:cNvPr id="24578" name="Rectangle 2"/>
          <p:cNvSpPr>
            <a:spLocks noGrp="1" noRot="1" noChangeAspect="1" noChangeArrowheads="1" noTextEdit="1"/>
          </p:cNvSpPr>
          <p:nvPr>
            <p:ph type="sldImg"/>
          </p:nvPr>
        </p:nvSpPr>
        <p:spPr>
          <a:ln cap="flat"/>
        </p:spPr>
      </p:sp>
      <p:sp>
        <p:nvSpPr>
          <p:cNvPr id="24579"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3964121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Facebook checking on me if I tapped “Cancel” by mistake.</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36</a:t>
            </a:fld>
            <a:endParaRPr lang="en-US"/>
          </a:p>
        </p:txBody>
      </p:sp>
    </p:spTree>
    <p:extLst>
      <p:ext uri="{BB962C8B-B14F-4D97-AF65-F5344CB8AC3E}">
        <p14:creationId xmlns:p14="http://schemas.microsoft.com/office/powerpoint/2010/main" val="745912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necessary feature has a high astonishment factor, it may be necessary to redesign the feature</a:t>
            </a:r>
          </a:p>
          <a:p>
            <a:r>
              <a:rPr lang="en-US" dirty="0"/>
              <a:t>In </a:t>
            </a:r>
            <a:r>
              <a:rPr lang="en-US" dirty="0">
                <a:hlinkClick r:id="rId3"/>
              </a:rPr>
              <a:t>Windows operating systems</a:t>
            </a:r>
            <a:r>
              <a:rPr lang="en-US" dirty="0"/>
              <a:t> and some </a:t>
            </a:r>
            <a:r>
              <a:rPr lang="en-US" dirty="0">
                <a:hlinkClick r:id="rId4"/>
              </a:rPr>
              <a:t>desktop environments</a:t>
            </a:r>
            <a:r>
              <a:rPr lang="en-US" dirty="0"/>
              <a:t> for </a:t>
            </a:r>
            <a:r>
              <a:rPr lang="en-US" dirty="0">
                <a:hlinkClick r:id="rId5"/>
              </a:rPr>
              <a:t>Linux</a:t>
            </a:r>
            <a:r>
              <a:rPr lang="en-US" dirty="0"/>
              <a:t>, the F1 </a:t>
            </a:r>
            <a:r>
              <a:rPr lang="en-US" dirty="0">
                <a:hlinkClick r:id="rId6"/>
              </a:rPr>
              <a:t>function key</a:t>
            </a:r>
            <a:r>
              <a:rPr lang="en-US" dirty="0"/>
              <a:t> typically opens the </a:t>
            </a:r>
            <a:r>
              <a:rPr lang="en-US" dirty="0">
                <a:hlinkClick r:id="rId7"/>
              </a:rPr>
              <a:t>help program</a:t>
            </a:r>
            <a:r>
              <a:rPr lang="en-US" dirty="0"/>
              <a:t> for an </a:t>
            </a:r>
            <a:r>
              <a:rPr lang="en-US" dirty="0">
                <a:hlinkClick r:id="rId8"/>
              </a:rPr>
              <a:t>application</a:t>
            </a:r>
            <a:r>
              <a:rPr lang="en-US" dirty="0"/>
              <a:t>. A similar keyboard shortcut in </a:t>
            </a:r>
            <a:r>
              <a:rPr lang="en-US" dirty="0">
                <a:hlinkClick r:id="rId9"/>
              </a:rPr>
              <a:t>macOS</a:t>
            </a:r>
            <a:r>
              <a:rPr lang="en-US" dirty="0"/>
              <a:t> is ⌘ </a:t>
            </a:r>
            <a:r>
              <a:rPr lang="en-US" dirty="0">
                <a:hlinkClick r:id="rId10"/>
              </a:rPr>
              <a:t>Command</a:t>
            </a:r>
            <a:r>
              <a:rPr lang="en-US" dirty="0"/>
              <a:t>+⇧ Shift+/. Users expect a help </a:t>
            </a:r>
            <a:r>
              <a:rPr lang="en-US" dirty="0">
                <a:hlinkClick r:id="rId11"/>
              </a:rPr>
              <a:t>window</a:t>
            </a:r>
            <a:r>
              <a:rPr lang="en-US" dirty="0"/>
              <a:t> or </a:t>
            </a:r>
            <a:r>
              <a:rPr lang="en-US" dirty="0">
                <a:hlinkClick r:id="rId12"/>
              </a:rPr>
              <a:t>context menu</a:t>
            </a:r>
            <a:r>
              <a:rPr lang="en-US" dirty="0"/>
              <a:t> when they press the usual help shortcut key(s). Software that instead uses this shortcut for another feature is likely to cause astonishment if no help appears. </a:t>
            </a:r>
            <a:r>
              <a:rPr lang="en-US" dirty="0">
                <a:hlinkClick r:id="rId13"/>
              </a:rPr>
              <a:t>Malware</a:t>
            </a:r>
            <a:r>
              <a:rPr lang="en-US" dirty="0"/>
              <a:t> may exploit user familiarity with regular shortcuts.</a:t>
            </a:r>
            <a:endParaRPr lang="en-US" dirty="0">
              <a:cs typeface="Calibri"/>
            </a:endParaRPr>
          </a:p>
        </p:txBody>
      </p:sp>
      <p:sp>
        <p:nvSpPr>
          <p:cNvPr id="4" name="Slide Number Placeholder 3"/>
          <p:cNvSpPr>
            <a:spLocks noGrp="1"/>
          </p:cNvSpPr>
          <p:nvPr>
            <p:ph type="sldNum" sz="quarter" idx="5"/>
          </p:nvPr>
        </p:nvSpPr>
        <p:spPr/>
        <p:txBody>
          <a:bodyPr/>
          <a:lstStyle/>
          <a:p>
            <a:fld id="{A5E35D07-CE9A-41EA-8351-FED4C60B3E9A}" type="slidenum">
              <a:rPr lang="en-US" smtClean="0"/>
              <a:pPr/>
              <a:t>37</a:t>
            </a:fld>
            <a:endParaRPr lang="en-US"/>
          </a:p>
        </p:txBody>
      </p:sp>
    </p:spTree>
    <p:extLst>
      <p:ext uri="{BB962C8B-B14F-4D97-AF65-F5344CB8AC3E}">
        <p14:creationId xmlns:p14="http://schemas.microsoft.com/office/powerpoint/2010/main" val="3703185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4C26C0BD-E5BA-4E0D-B86C-93F8B101DC75}" type="slidenum">
              <a:rPr lang="en-US"/>
              <a:pPr/>
              <a:t>38</a:t>
            </a:fld>
            <a:endParaRPr lang="en-US"/>
          </a:p>
        </p:txBody>
      </p:sp>
      <p:sp>
        <p:nvSpPr>
          <p:cNvPr id="16386" name="Rectangle 2"/>
          <p:cNvSpPr>
            <a:spLocks noGrp="1" noRot="1" noChangeAspect="1" noChangeArrowheads="1" noTextEdit="1"/>
          </p:cNvSpPr>
          <p:nvPr>
            <p:ph type="sldImg"/>
          </p:nvPr>
        </p:nvSpPr>
        <p:spPr>
          <a:ln cap="flat"/>
        </p:spPr>
      </p:sp>
      <p:sp>
        <p:nvSpPr>
          <p:cNvPr id="1638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15957091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52B352CC-88AC-46DB-96F2-91D4786D2BC6}" type="slidenum">
              <a:rPr lang="en-US"/>
              <a:pPr/>
              <a:t>45</a:t>
            </a:fld>
            <a:endParaRPr lang="en-US"/>
          </a:p>
        </p:txBody>
      </p:sp>
      <p:sp>
        <p:nvSpPr>
          <p:cNvPr id="14338" name="Rectangle 2"/>
          <p:cNvSpPr>
            <a:spLocks noGrp="1" noRot="1" noChangeAspect="1" noChangeArrowheads="1" noTextEdit="1"/>
          </p:cNvSpPr>
          <p:nvPr>
            <p:ph type="sldImg"/>
          </p:nvPr>
        </p:nvSpPr>
        <p:spPr>
          <a:ln cap="flat"/>
        </p:spPr>
      </p:sp>
      <p:sp>
        <p:nvSpPr>
          <p:cNvPr id="14339"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41125637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5ADAEC3-4A6F-4A6E-904F-514756480653}" type="slidenum">
              <a:rPr lang="en-US"/>
              <a:pPr/>
              <a:t>54</a:t>
            </a:fld>
            <a:endParaRPr lang="en-US"/>
          </a:p>
        </p:txBody>
      </p:sp>
      <p:sp>
        <p:nvSpPr>
          <p:cNvPr id="26626" name="Rectangle 2"/>
          <p:cNvSpPr>
            <a:spLocks noGrp="1" noRot="1" noChangeAspect="1" noChangeArrowheads="1" noTextEdit="1"/>
          </p:cNvSpPr>
          <p:nvPr>
            <p:ph type="sldImg"/>
          </p:nvPr>
        </p:nvSpPr>
        <p:spPr>
          <a:ln cap="flat"/>
        </p:spPr>
      </p:sp>
      <p:sp>
        <p:nvSpPr>
          <p:cNvPr id="2662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512190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57</a:t>
            </a:fld>
            <a:endParaRPr lang="en-US"/>
          </a:p>
        </p:txBody>
      </p:sp>
    </p:spTree>
    <p:extLst>
      <p:ext uri="{BB962C8B-B14F-4D97-AF65-F5344CB8AC3E}">
        <p14:creationId xmlns:p14="http://schemas.microsoft.com/office/powerpoint/2010/main" val="42945415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22C1FC7D-23DC-4E4D-B74B-E0719DC0651B}" type="slidenum">
              <a:rPr lang="en-US"/>
              <a:pPr/>
              <a:t>58</a:t>
            </a:fld>
            <a:endParaRPr lang="en-US"/>
          </a:p>
        </p:txBody>
      </p:sp>
      <p:sp>
        <p:nvSpPr>
          <p:cNvPr id="9218" name="Rectangle 2"/>
          <p:cNvSpPr>
            <a:spLocks noGrp="1" noRot="1" noChangeAspect="1" noChangeArrowheads="1" noTextEdit="1"/>
          </p:cNvSpPr>
          <p:nvPr>
            <p:ph type="sldImg"/>
          </p:nvPr>
        </p:nvSpPr>
        <p:spPr>
          <a:ln cap="flat"/>
        </p:spPr>
      </p:sp>
      <p:sp>
        <p:nvSpPr>
          <p:cNvPr id="9219"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1929464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22C1FC7D-23DC-4E4D-B74B-E0719DC0651B}" type="slidenum">
              <a:rPr lang="en-US"/>
              <a:pPr/>
              <a:t>59</a:t>
            </a:fld>
            <a:endParaRPr lang="en-US"/>
          </a:p>
        </p:txBody>
      </p:sp>
      <p:sp>
        <p:nvSpPr>
          <p:cNvPr id="9218" name="Rectangle 2"/>
          <p:cNvSpPr>
            <a:spLocks noGrp="1" noRot="1" noChangeAspect="1" noChangeArrowheads="1" noTextEdit="1"/>
          </p:cNvSpPr>
          <p:nvPr>
            <p:ph type="sldImg"/>
          </p:nvPr>
        </p:nvSpPr>
        <p:spPr>
          <a:ln cap="flat"/>
        </p:spPr>
      </p:sp>
      <p:sp>
        <p:nvSpPr>
          <p:cNvPr id="9219"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2270157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2F7F00C4-F101-4C2E-8E3C-D03286263F5A}" type="slidenum">
              <a:rPr lang="en-US"/>
              <a:pPr/>
              <a:t>64</a:t>
            </a:fld>
            <a:endParaRPr lang="en-US"/>
          </a:p>
        </p:txBody>
      </p:sp>
      <p:sp>
        <p:nvSpPr>
          <p:cNvPr id="49154" name="Rectangle 2"/>
          <p:cNvSpPr>
            <a:spLocks noGrp="1" noRot="1" noChangeAspect="1" noChangeArrowheads="1" noTextEdit="1"/>
          </p:cNvSpPr>
          <p:nvPr>
            <p:ph type="sldImg"/>
          </p:nvPr>
        </p:nvSpPr>
        <p:spPr>
          <a:ln cap="flat"/>
        </p:spPr>
      </p:sp>
      <p:sp>
        <p:nvSpPr>
          <p:cNvPr id="49155"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35753966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4C69DAD-4958-4711-9C57-619B293B9B1C}" type="slidenum">
              <a:rPr lang="en-US"/>
              <a:pPr/>
              <a:t>77</a:t>
            </a:fld>
            <a:endParaRPr lang="en-US"/>
          </a:p>
        </p:txBody>
      </p:sp>
      <p:sp>
        <p:nvSpPr>
          <p:cNvPr id="45058" name="Rectangle 2"/>
          <p:cNvSpPr>
            <a:spLocks noGrp="1" noRot="1" noChangeAspect="1" noChangeArrowheads="1" noTextEdit="1"/>
          </p:cNvSpPr>
          <p:nvPr>
            <p:ph type="sldImg"/>
          </p:nvPr>
        </p:nvSpPr>
        <p:spPr>
          <a:ln cap="flat"/>
        </p:spPr>
      </p:sp>
      <p:sp>
        <p:nvSpPr>
          <p:cNvPr id="45059"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31577259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4C69DAD-4958-4711-9C57-619B293B9B1C}" type="slidenum">
              <a:rPr lang="en-US"/>
              <a:pPr/>
              <a:t>78</a:t>
            </a:fld>
            <a:endParaRPr lang="en-US"/>
          </a:p>
        </p:txBody>
      </p:sp>
      <p:sp>
        <p:nvSpPr>
          <p:cNvPr id="45058" name="Rectangle 2"/>
          <p:cNvSpPr>
            <a:spLocks noGrp="1" noRot="1" noChangeAspect="1" noChangeArrowheads="1" noTextEdit="1"/>
          </p:cNvSpPr>
          <p:nvPr>
            <p:ph type="sldImg"/>
          </p:nvPr>
        </p:nvSpPr>
        <p:spPr>
          <a:ln cap="flat"/>
        </p:spPr>
      </p:sp>
      <p:sp>
        <p:nvSpPr>
          <p:cNvPr id="45059"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1925569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4C69DAD-4958-4711-9C57-619B293B9B1C}" type="slidenum">
              <a:rPr lang="en-US"/>
              <a:pPr/>
              <a:t>79</a:t>
            </a:fld>
            <a:endParaRPr lang="en-US"/>
          </a:p>
        </p:txBody>
      </p:sp>
      <p:sp>
        <p:nvSpPr>
          <p:cNvPr id="45058" name="Rectangle 2"/>
          <p:cNvSpPr>
            <a:spLocks noGrp="1" noRot="1" noChangeAspect="1" noChangeArrowheads="1" noTextEdit="1"/>
          </p:cNvSpPr>
          <p:nvPr>
            <p:ph type="sldImg"/>
          </p:nvPr>
        </p:nvSpPr>
        <p:spPr>
          <a:ln cap="flat"/>
        </p:spPr>
      </p:sp>
      <p:sp>
        <p:nvSpPr>
          <p:cNvPr id="45059"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8955834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4C69DAD-4958-4711-9C57-619B293B9B1C}" type="slidenum">
              <a:rPr lang="en-US"/>
              <a:pPr/>
              <a:t>80</a:t>
            </a:fld>
            <a:endParaRPr lang="en-US"/>
          </a:p>
        </p:txBody>
      </p:sp>
      <p:sp>
        <p:nvSpPr>
          <p:cNvPr id="45058" name="Rectangle 2"/>
          <p:cNvSpPr>
            <a:spLocks noGrp="1" noRot="1" noChangeAspect="1" noChangeArrowheads="1" noTextEdit="1"/>
          </p:cNvSpPr>
          <p:nvPr>
            <p:ph type="sldImg"/>
          </p:nvPr>
        </p:nvSpPr>
        <p:spPr>
          <a:ln cap="flat"/>
        </p:spPr>
      </p:sp>
      <p:sp>
        <p:nvSpPr>
          <p:cNvPr id="45059" name="Rectangle 3"/>
          <p:cNvSpPr>
            <a:spLocks noGrp="1" noChangeArrowheads="1"/>
          </p:cNvSpPr>
          <p:nvPr>
            <p:ph type="body" idx="1"/>
          </p:nvPr>
        </p:nvSpPr>
        <p:spPr>
          <a:ln/>
        </p:spPr>
        <p:txBody>
          <a:bodyPr/>
          <a:lstStyle/>
          <a:p>
            <a:r>
              <a:rPr lang="en-US" sz="1200" b="0" i="0" kern="1200" dirty="0">
                <a:solidFill>
                  <a:schemeClr val="tx1"/>
                </a:solidFill>
                <a:effectLst/>
                <a:latin typeface="+mn-lt"/>
                <a:ea typeface="+mn-ea"/>
                <a:cs typeface="+mn-cs"/>
              </a:rPr>
              <a:t>Errors are inadvertent in the user journey. A check needs to be made if those errors are being explained to the user in understandable language. In the below example, I have entered a fictitious username and password and the error message I got is either the username or the password is incorrect. Here we are not informing the user if the username is invalid or if the password is wrong.</a:t>
            </a:r>
            <a:endParaRPr lang="en-CA" dirty="0"/>
          </a:p>
        </p:txBody>
      </p:sp>
    </p:spTree>
    <p:extLst>
      <p:ext uri="{BB962C8B-B14F-4D97-AF65-F5344CB8AC3E}">
        <p14:creationId xmlns:p14="http://schemas.microsoft.com/office/powerpoint/2010/main" val="8529566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4C69DAD-4958-4711-9C57-619B293B9B1C}" type="slidenum">
              <a:rPr lang="en-US"/>
              <a:pPr/>
              <a:t>81</a:t>
            </a:fld>
            <a:endParaRPr lang="en-US"/>
          </a:p>
        </p:txBody>
      </p:sp>
      <p:sp>
        <p:nvSpPr>
          <p:cNvPr id="45058" name="Rectangle 2"/>
          <p:cNvSpPr>
            <a:spLocks noGrp="1" noRot="1" noChangeAspect="1" noChangeArrowheads="1" noTextEdit="1"/>
          </p:cNvSpPr>
          <p:nvPr>
            <p:ph type="sldImg"/>
          </p:nvPr>
        </p:nvSpPr>
        <p:spPr>
          <a:ln cap="flat"/>
        </p:spPr>
      </p:sp>
      <p:sp>
        <p:nvSpPr>
          <p:cNvPr id="45059" name="Rectangle 3"/>
          <p:cNvSpPr>
            <a:spLocks noGrp="1" noChangeArrowheads="1"/>
          </p:cNvSpPr>
          <p:nvPr>
            <p:ph type="body" idx="1"/>
          </p:nvPr>
        </p:nvSpPr>
        <p:spPr>
          <a:ln/>
        </p:spPr>
        <p:txBody>
          <a:bodyPr/>
          <a:lstStyle/>
          <a:p>
            <a:r>
              <a:rPr lang="en-US" sz="1200" b="0" i="0" kern="1200" dirty="0">
                <a:solidFill>
                  <a:schemeClr val="tx1"/>
                </a:solidFill>
                <a:effectLst/>
                <a:latin typeface="+mn-lt"/>
                <a:ea typeface="+mn-ea"/>
                <a:cs typeface="+mn-cs"/>
              </a:rPr>
              <a:t>Errors are inadvertent in the user journey. A check needs to be made if those errors are being explained to the user in understandable language. In the below example, I have entered a fictitious username and password and the error message I got is either the username or the password is incorrect. Here we are not informing the user if the username is invalid or if the password is wrong.</a:t>
            </a:r>
            <a:endParaRPr lang="en-CA" dirty="0"/>
          </a:p>
        </p:txBody>
      </p:sp>
    </p:spTree>
    <p:extLst>
      <p:ext uri="{BB962C8B-B14F-4D97-AF65-F5344CB8AC3E}">
        <p14:creationId xmlns:p14="http://schemas.microsoft.com/office/powerpoint/2010/main" val="3319726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A1D3EDFD-4F5D-4BF3-A463-4DB43C6E02C0}" type="slidenum">
              <a:rPr lang="en-US"/>
              <a:pPr/>
              <a:t>85</a:t>
            </a:fld>
            <a:endParaRPr lang="en-US"/>
          </a:p>
        </p:txBody>
      </p:sp>
      <p:sp>
        <p:nvSpPr>
          <p:cNvPr id="52226" name="Rectangle 2"/>
          <p:cNvSpPr>
            <a:spLocks noGrp="1" noRot="1" noChangeAspect="1" noChangeArrowheads="1" noTextEdit="1"/>
          </p:cNvSpPr>
          <p:nvPr>
            <p:ph type="sldImg"/>
          </p:nvPr>
        </p:nvSpPr>
        <p:spPr>
          <a:ln cap="flat"/>
        </p:spPr>
      </p:sp>
      <p:sp>
        <p:nvSpPr>
          <p:cNvPr id="5222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40543937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A1D3EDFD-4F5D-4BF3-A463-4DB43C6E02C0}" type="slidenum">
              <a:rPr lang="en-US"/>
              <a:pPr/>
              <a:t>86</a:t>
            </a:fld>
            <a:endParaRPr lang="en-US"/>
          </a:p>
        </p:txBody>
      </p:sp>
      <p:sp>
        <p:nvSpPr>
          <p:cNvPr id="52226" name="Rectangle 2"/>
          <p:cNvSpPr>
            <a:spLocks noGrp="1" noRot="1" noChangeAspect="1" noChangeArrowheads="1" noTextEdit="1"/>
          </p:cNvSpPr>
          <p:nvPr>
            <p:ph type="sldImg"/>
          </p:nvPr>
        </p:nvSpPr>
        <p:spPr>
          <a:ln cap="flat"/>
        </p:spPr>
      </p:sp>
      <p:sp>
        <p:nvSpPr>
          <p:cNvPr id="5222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7062527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A1D3EDFD-4F5D-4BF3-A463-4DB43C6E02C0}" type="slidenum">
              <a:rPr lang="en-US"/>
              <a:pPr/>
              <a:t>87</a:t>
            </a:fld>
            <a:endParaRPr lang="en-US"/>
          </a:p>
        </p:txBody>
      </p:sp>
      <p:sp>
        <p:nvSpPr>
          <p:cNvPr id="52226" name="Rectangle 2"/>
          <p:cNvSpPr>
            <a:spLocks noGrp="1" noRot="1" noChangeAspect="1" noChangeArrowheads="1" noTextEdit="1"/>
          </p:cNvSpPr>
          <p:nvPr>
            <p:ph type="sldImg"/>
          </p:nvPr>
        </p:nvSpPr>
        <p:spPr>
          <a:ln cap="flat"/>
        </p:spPr>
      </p:sp>
      <p:sp>
        <p:nvSpPr>
          <p:cNvPr id="5222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28233021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A1D3EDFD-4F5D-4BF3-A463-4DB43C6E02C0}" type="slidenum">
              <a:rPr lang="en-US"/>
              <a:pPr/>
              <a:t>88</a:t>
            </a:fld>
            <a:endParaRPr lang="en-US"/>
          </a:p>
        </p:txBody>
      </p:sp>
      <p:sp>
        <p:nvSpPr>
          <p:cNvPr id="52226" name="Rectangle 2"/>
          <p:cNvSpPr>
            <a:spLocks noGrp="1" noRot="1" noChangeAspect="1" noChangeArrowheads="1" noTextEdit="1"/>
          </p:cNvSpPr>
          <p:nvPr>
            <p:ph type="sldImg"/>
          </p:nvPr>
        </p:nvSpPr>
        <p:spPr>
          <a:ln cap="flat"/>
        </p:spPr>
      </p:sp>
      <p:sp>
        <p:nvSpPr>
          <p:cNvPr id="5222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29356111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A1D3EDFD-4F5D-4BF3-A463-4DB43C6E02C0}" type="slidenum">
              <a:rPr lang="en-US"/>
              <a:pPr/>
              <a:t>89</a:t>
            </a:fld>
            <a:endParaRPr lang="en-US"/>
          </a:p>
        </p:txBody>
      </p:sp>
      <p:sp>
        <p:nvSpPr>
          <p:cNvPr id="52226" name="Rectangle 2"/>
          <p:cNvSpPr>
            <a:spLocks noGrp="1" noRot="1" noChangeAspect="1" noChangeArrowheads="1" noTextEdit="1"/>
          </p:cNvSpPr>
          <p:nvPr>
            <p:ph type="sldImg"/>
          </p:nvPr>
        </p:nvSpPr>
        <p:spPr>
          <a:ln cap="flat"/>
        </p:spPr>
      </p:sp>
      <p:sp>
        <p:nvSpPr>
          <p:cNvPr id="5222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3200972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8F0D6756-DC88-4565-85AF-16958D1E9A93}" type="slidenum">
              <a:rPr lang="en-US"/>
              <a:pPr/>
              <a:t>90</a:t>
            </a:fld>
            <a:endParaRPr lang="en-US"/>
          </a:p>
        </p:txBody>
      </p:sp>
      <p:sp>
        <p:nvSpPr>
          <p:cNvPr id="54274" name="Rectangle 2"/>
          <p:cNvSpPr>
            <a:spLocks noGrp="1" noRot="1" noChangeAspect="1" noChangeArrowheads="1" noTextEdit="1"/>
          </p:cNvSpPr>
          <p:nvPr>
            <p:ph type="sldImg"/>
          </p:nvPr>
        </p:nvSpPr>
        <p:spPr>
          <a:ln cap="flat"/>
        </p:spPr>
      </p:sp>
      <p:sp>
        <p:nvSpPr>
          <p:cNvPr id="54275"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31070041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01BBD22-110F-4283-B4F1-7879B66A1E4B}" type="slidenum">
              <a:rPr lang="en-US"/>
              <a:pPr/>
              <a:t>94</a:t>
            </a:fld>
            <a:endParaRPr lang="en-US"/>
          </a:p>
        </p:txBody>
      </p:sp>
      <p:sp>
        <p:nvSpPr>
          <p:cNvPr id="56322" name="Rectangle 2"/>
          <p:cNvSpPr>
            <a:spLocks noGrp="1" noRot="1" noChangeAspect="1" noChangeArrowheads="1" noTextEdit="1"/>
          </p:cNvSpPr>
          <p:nvPr>
            <p:ph type="sldImg"/>
          </p:nvPr>
        </p:nvSpPr>
        <p:spPr>
          <a:ln cap="flat"/>
        </p:spPr>
      </p:sp>
      <p:sp>
        <p:nvSpPr>
          <p:cNvPr id="56323"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5860660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http://designingwebinterfaces.com/6-tips-for-a-great-flex-ux-part-5</a:t>
            </a:r>
          </a:p>
          <a:p>
            <a:r>
              <a:rPr lang="en-US" dirty="0">
                <a:hlinkClick r:id="rId4"/>
              </a:rPr>
              <a:t>https://blog.prototypr.io/10-usability-heuristics-with-examples-4a81ada920c</a:t>
            </a:r>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100</a:t>
            </a:fld>
            <a:endParaRPr lang="en-US"/>
          </a:p>
        </p:txBody>
      </p:sp>
    </p:spTree>
    <p:extLst>
      <p:ext uri="{BB962C8B-B14F-4D97-AF65-F5344CB8AC3E}">
        <p14:creationId xmlns:p14="http://schemas.microsoft.com/office/powerpoint/2010/main" val="38743074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https://medium.muz.li/10-tips-on-how-to-conduct-a-perfect-heuristic-evaluation-ae5f8f4b3257</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105</a:t>
            </a:fld>
            <a:endParaRPr lang="en-US"/>
          </a:p>
        </p:txBody>
      </p:sp>
    </p:spTree>
    <p:extLst>
      <p:ext uri="{BB962C8B-B14F-4D97-AF65-F5344CB8AC3E}">
        <p14:creationId xmlns:p14="http://schemas.microsoft.com/office/powerpoint/2010/main" val="74088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3E233F16-6F8D-46A1-A057-776BA6AD2C46}" type="datetimeFigureOut">
              <a:rPr lang="en-US" smtClean="0"/>
              <a:pPr/>
              <a:t>10/15/2021</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E181D6C9-1B9F-49AE-AE07-342A3A6A70E0}"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E233F16-6F8D-46A1-A057-776BA6AD2C46}" type="datetimeFigureOut">
              <a:rPr lang="en-US" smtClean="0"/>
              <a:pPr/>
              <a:t>10/15/2021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E233F16-6F8D-46A1-A057-776BA6AD2C46}" type="datetimeFigureOut">
              <a:rPr lang="en-US" smtClean="0"/>
              <a:pPr/>
              <a:t>10/15/2021</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E181D6C9-1B9F-49AE-AE07-342A3A6A70E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E233F16-6F8D-46A1-A057-776BA6AD2C46}" type="datetimeFigureOut">
              <a:rPr lang="en-US" smtClean="0"/>
              <a:pPr/>
              <a:t>10/15/2021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81D6C9-1B9F-49AE-AE07-342A3A6A70E0}"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3E233F16-6F8D-46A1-A057-776BA6AD2C46}" type="datetimeFigureOut">
              <a:rPr lang="en-US" smtClean="0"/>
              <a:pPr/>
              <a:t>10/15/2021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81D6C9-1B9F-49AE-AE07-342A3A6A70E0}"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E233F16-6F8D-46A1-A057-776BA6AD2C46}" type="datetimeFigureOut">
              <a:rPr lang="en-US" smtClean="0"/>
              <a:pPr/>
              <a:t>10/15/2021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33F16-6F8D-46A1-A057-776BA6AD2C46}" type="datetimeFigureOut">
              <a:rPr lang="en-US" smtClean="0"/>
              <a:pPr/>
              <a:t>10/15/2021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E233F16-6F8D-46A1-A057-776BA6AD2C46}" type="datetimeFigureOut">
              <a:rPr lang="en-US" smtClean="0"/>
              <a:pPr/>
              <a:t>10/15/2021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81D6C9-1B9F-49AE-AE07-342A3A6A70E0}"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E233F16-6F8D-46A1-A057-776BA6AD2C46}" type="datetimeFigureOut">
              <a:rPr lang="en-US" smtClean="0"/>
              <a:pPr/>
              <a:t>10/15/2021</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E181D6C9-1B9F-49AE-AE07-342A3A6A70E0}"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10/15/2021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10/15/2021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3E233F16-6F8D-46A1-A057-776BA6AD2C46}" type="datetimeFigureOut">
              <a:rPr lang="en-US" smtClean="0"/>
              <a:pPr/>
              <a:t>10/15/2021</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E181D6C9-1B9F-49AE-AE07-342A3A6A70E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Usability" TargetMode="External"/><Relationship Id="rId2" Type="http://schemas.openxmlformats.org/officeDocument/2006/relationships/hyperlink" Target="https://en.wikipedia.org/wiki/Usability_inspection" TargetMode="External"/><Relationship Id="rId1" Type="http://schemas.openxmlformats.org/officeDocument/2006/relationships/slideLayout" Target="../slideLayouts/slideLayout2.xml"/><Relationship Id="rId4" Type="http://schemas.openxmlformats.org/officeDocument/2006/relationships/hyperlink" Target="https://en.wikipedia.org/wiki/User_Interface_Design"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notesSlide" Target="../notesSlides/notesSlide4.xml"/><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vmlDrawing" Target="../drawings/vmlDrawing3.vml"/><Relationship Id="rId5" Type="http://schemas.openxmlformats.org/officeDocument/2006/relationships/image" Target="../media/image7.png"/><Relationship Id="rId4" Type="http://schemas.openxmlformats.org/officeDocument/2006/relationships/image" Target="../media/image6.wmf"/></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8.wmf"/><Relationship Id="rId5" Type="http://schemas.openxmlformats.org/officeDocument/2006/relationships/oleObject" Target="../embeddings/oleObject5.bin"/><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2.png"/><Relationship Id="rId5" Type="http://schemas.openxmlformats.org/officeDocument/2006/relationships/oleObject" Target="../embeddings/oleObject6.bin"/><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6.xml"/><Relationship Id="rId5" Type="http://schemas.openxmlformats.org/officeDocument/2006/relationships/image" Target="../media/image69.png"/><Relationship Id="rId4" Type="http://schemas.openxmlformats.org/officeDocument/2006/relationships/image" Target="../media/image68.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5.x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notesSlide" Target="../notesSlides/notesSlide23.xml"/><Relationship Id="rId7" Type="http://schemas.openxmlformats.org/officeDocument/2006/relationships/image" Target="../media/image79.wmf"/><Relationship Id="rId12" Type="http://schemas.openxmlformats.org/officeDocument/2006/relationships/image" Target="../media/image75.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78.wmf"/><Relationship Id="rId11" Type="http://schemas.openxmlformats.org/officeDocument/2006/relationships/oleObject" Target="../embeddings/oleObject7.bin"/><Relationship Id="rId5" Type="http://schemas.openxmlformats.org/officeDocument/2006/relationships/image" Target="../media/image77.wmf"/><Relationship Id="rId10" Type="http://schemas.openxmlformats.org/officeDocument/2006/relationships/image" Target="../media/image82.wmf"/><Relationship Id="rId4" Type="http://schemas.openxmlformats.org/officeDocument/2006/relationships/image" Target="../media/image76.wmf"/><Relationship Id="rId9" Type="http://schemas.openxmlformats.org/officeDocument/2006/relationships/image" Target="../media/image81.wmf"/></Relationships>
</file>

<file path=ppt/slides/_rels/slide8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91.wmf"/><Relationship Id="rId4" Type="http://schemas.openxmlformats.org/officeDocument/2006/relationships/oleObject" Target="../embeddings/oleObject8.bin"/></Relationships>
</file>

<file path=ppt/slides/_rels/slide9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3.wmf"/><Relationship Id="rId4" Type="http://schemas.openxmlformats.org/officeDocument/2006/relationships/oleObject" Target="../embeddings/oleObject9.bin"/></Relationships>
</file>

<file path=ppt/slides/_rels/slide9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Human Computer Interaction  </a:t>
            </a:r>
            <a:br>
              <a:rPr lang="en-US" dirty="0"/>
            </a:br>
            <a:r>
              <a:rPr sz="3200"/>
              <a:t>Evaluations </a:t>
            </a:r>
            <a:r>
              <a:rPr lang="en-US" sz="3200" dirty="0"/>
              <a:t>–</a:t>
            </a:r>
            <a:r>
              <a:rPr sz="3200"/>
              <a:t> Heuristics     </a:t>
            </a:r>
            <a:endParaRPr lang="en-US" sz="3200"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A8A43-A172-4033-8E58-A2D5FC0585E9}"/>
              </a:ext>
            </a:extLst>
          </p:cNvPr>
          <p:cNvSpPr>
            <a:spLocks noGrp="1"/>
          </p:cNvSpPr>
          <p:nvPr>
            <p:ph type="title"/>
          </p:nvPr>
        </p:nvSpPr>
        <p:spPr/>
        <p:txBody>
          <a:bodyPr/>
          <a:lstStyle/>
          <a:p>
            <a:r>
              <a:rPr lang="en-US" dirty="0"/>
              <a:t>Heuristics</a:t>
            </a:r>
          </a:p>
        </p:txBody>
      </p:sp>
      <p:sp>
        <p:nvSpPr>
          <p:cNvPr id="3" name="Content Placeholder 2">
            <a:extLst>
              <a:ext uri="{FF2B5EF4-FFF2-40B4-BE49-F238E27FC236}">
                <a16:creationId xmlns:a16="http://schemas.microsoft.com/office/drawing/2014/main" id="{AFEFBB2E-3E7A-4E4D-9785-BC4065121CFA}"/>
              </a:ext>
            </a:extLst>
          </p:cNvPr>
          <p:cNvSpPr>
            <a:spLocks noGrp="1"/>
          </p:cNvSpPr>
          <p:nvPr>
            <p:ph sz="quarter" idx="1"/>
          </p:nvPr>
        </p:nvSpPr>
        <p:spPr/>
        <p:txBody>
          <a:bodyPr vert="horz" anchor="t">
            <a:normAutofit/>
          </a:bodyPr>
          <a:lstStyle/>
          <a:p>
            <a:r>
              <a:rPr lang="en-US" b="1" dirty="0">
                <a:ea typeface="+mn-lt"/>
                <a:cs typeface="+mn-lt"/>
              </a:rPr>
              <a:t>Heuristics</a:t>
            </a:r>
            <a:r>
              <a:rPr lang="en-US" dirty="0">
                <a:ea typeface="+mn-lt"/>
                <a:cs typeface="+mn-lt"/>
              </a:rPr>
              <a:t> (which you might also find named “rules of thumb”) are a well-established, proven set of guidelines that tend to result in good interface design when adhered to.</a:t>
            </a:r>
            <a:endParaRPr lang="en-US" dirty="0"/>
          </a:p>
        </p:txBody>
      </p:sp>
    </p:spTree>
    <p:extLst>
      <p:ext uri="{BB962C8B-B14F-4D97-AF65-F5344CB8AC3E}">
        <p14:creationId xmlns:p14="http://schemas.microsoft.com/office/powerpoint/2010/main" val="3302975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579F1-FD41-456E-AFBA-3F741174CC9F}"/>
              </a:ext>
            </a:extLst>
          </p:cNvPr>
          <p:cNvSpPr>
            <a:spLocks noGrp="1"/>
          </p:cNvSpPr>
          <p:nvPr>
            <p:ph type="title"/>
          </p:nvPr>
        </p:nvSpPr>
        <p:spPr/>
        <p:txBody>
          <a:bodyPr/>
          <a:lstStyle/>
          <a:p>
            <a:r>
              <a:rPr lang="en-US" b="1" dirty="0">
                <a:ea typeface="+mj-lt"/>
                <a:cs typeface="+mj-lt"/>
              </a:rPr>
              <a:t>Heuristic Evaluation</a:t>
            </a:r>
            <a:endParaRPr lang="en-US" dirty="0">
              <a:ea typeface="+mj-lt"/>
              <a:cs typeface="+mj-lt"/>
            </a:endParaRPr>
          </a:p>
        </p:txBody>
      </p:sp>
      <p:sp>
        <p:nvSpPr>
          <p:cNvPr id="3" name="Content Placeholder 2">
            <a:extLst>
              <a:ext uri="{FF2B5EF4-FFF2-40B4-BE49-F238E27FC236}">
                <a16:creationId xmlns:a16="http://schemas.microsoft.com/office/drawing/2014/main" id="{561D1250-7B9E-4AA3-8EFC-5A40550184D3}"/>
              </a:ext>
            </a:extLst>
          </p:cNvPr>
          <p:cNvSpPr>
            <a:spLocks noGrp="1"/>
          </p:cNvSpPr>
          <p:nvPr>
            <p:ph sz="quarter" idx="1"/>
          </p:nvPr>
        </p:nvSpPr>
        <p:spPr/>
        <p:txBody>
          <a:bodyPr vert="horz" anchor="t">
            <a:normAutofit/>
          </a:bodyPr>
          <a:lstStyle/>
          <a:p>
            <a:r>
              <a:rPr lang="en-US" dirty="0">
                <a:ea typeface="+mn-lt"/>
                <a:cs typeface="+mn-lt"/>
              </a:rPr>
              <a:t>A </a:t>
            </a:r>
            <a:r>
              <a:rPr lang="en-US" b="1" dirty="0">
                <a:ea typeface="+mn-lt"/>
                <a:cs typeface="+mn-lt"/>
              </a:rPr>
              <a:t>heuristic evaluation</a:t>
            </a:r>
            <a:r>
              <a:rPr lang="en-US" dirty="0">
                <a:ea typeface="+mn-lt"/>
                <a:cs typeface="+mn-lt"/>
              </a:rPr>
              <a:t> is a </a:t>
            </a:r>
            <a:r>
              <a:rPr lang="en-US" dirty="0">
                <a:ea typeface="+mn-lt"/>
                <a:cs typeface="+mn-lt"/>
                <a:hlinkClick r:id="rId2"/>
              </a:rPr>
              <a:t>usability inspection</a:t>
            </a:r>
            <a:r>
              <a:rPr lang="en-US" dirty="0">
                <a:ea typeface="+mn-lt"/>
                <a:cs typeface="+mn-lt"/>
              </a:rPr>
              <a:t> method for computer software that helps to identify </a:t>
            </a:r>
            <a:r>
              <a:rPr lang="en-US" dirty="0">
                <a:ea typeface="+mn-lt"/>
                <a:cs typeface="+mn-lt"/>
                <a:hlinkClick r:id="rId3"/>
              </a:rPr>
              <a:t>usability</a:t>
            </a:r>
            <a:r>
              <a:rPr lang="en-US" dirty="0">
                <a:ea typeface="+mn-lt"/>
                <a:cs typeface="+mn-lt"/>
              </a:rPr>
              <a:t> problems in the </a:t>
            </a:r>
            <a:r>
              <a:rPr lang="en-US" dirty="0">
                <a:ea typeface="+mn-lt"/>
                <a:cs typeface="+mn-lt"/>
                <a:hlinkClick r:id="rId4"/>
              </a:rPr>
              <a:t>user interface (UI) design</a:t>
            </a:r>
            <a:r>
              <a:rPr lang="en-US" dirty="0">
                <a:ea typeface="+mn-lt"/>
                <a:cs typeface="+mn-lt"/>
              </a:rPr>
              <a:t>.</a:t>
            </a:r>
          </a:p>
          <a:p>
            <a:endParaRPr lang="en-US" dirty="0"/>
          </a:p>
          <a:p>
            <a:pPr marL="0" indent="0">
              <a:buNone/>
            </a:pPr>
            <a:r>
              <a:rPr lang="en-US" dirty="0">
                <a:ea typeface="+mn-lt"/>
                <a:cs typeface="+mn-lt"/>
              </a:rPr>
              <a:t> </a:t>
            </a:r>
            <a:endParaRPr lang="en-US" dirty="0"/>
          </a:p>
        </p:txBody>
      </p:sp>
    </p:spTree>
    <p:extLst>
      <p:ext uri="{BB962C8B-B14F-4D97-AF65-F5344CB8AC3E}">
        <p14:creationId xmlns:p14="http://schemas.microsoft.com/office/powerpoint/2010/main" val="2769673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Evaluation Methods</a:t>
            </a:r>
            <a:endParaRPr lang="en-US" dirty="0"/>
          </a:p>
        </p:txBody>
      </p:sp>
      <p:sp>
        <p:nvSpPr>
          <p:cNvPr id="3" name="Content Placeholder 2"/>
          <p:cNvSpPr>
            <a:spLocks noGrp="1"/>
          </p:cNvSpPr>
          <p:nvPr>
            <p:ph sz="quarter" idx="1"/>
          </p:nvPr>
        </p:nvSpPr>
        <p:spPr/>
        <p:txBody>
          <a:bodyPr/>
          <a:lstStyle/>
          <a:p>
            <a:endParaRPr lang="en-GB" dirty="0"/>
          </a:p>
          <a:p>
            <a:endParaRPr lang="en-GB" dirty="0"/>
          </a:p>
          <a:p>
            <a:r>
              <a:rPr lang="en-GB" dirty="0"/>
              <a:t>Design-oriented evaluation methods:</a:t>
            </a:r>
          </a:p>
          <a:p>
            <a:pPr lvl="1"/>
            <a:r>
              <a:rPr lang="en-GB" dirty="0"/>
              <a:t>Heuristic/expert inspections </a:t>
            </a:r>
          </a:p>
          <a:p>
            <a:pPr lvl="1"/>
            <a:r>
              <a:rPr lang="en-GB" dirty="0"/>
              <a:t>Cognitive walkthrough</a:t>
            </a:r>
          </a:p>
          <a:p>
            <a:endParaRPr lang="en-GB" dirty="0"/>
          </a:p>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Heuristic/Expert Inspections</a:t>
            </a:r>
            <a:endParaRPr lang="en-US" dirty="0"/>
          </a:p>
        </p:txBody>
      </p:sp>
      <p:sp>
        <p:nvSpPr>
          <p:cNvPr id="3" name="Content Placeholder 2"/>
          <p:cNvSpPr>
            <a:spLocks noGrp="1"/>
          </p:cNvSpPr>
          <p:nvPr>
            <p:ph sz="quarter" idx="1"/>
          </p:nvPr>
        </p:nvSpPr>
        <p:spPr/>
        <p:txBody>
          <a:bodyPr vert="horz" anchor="t">
            <a:normAutofit/>
          </a:bodyPr>
          <a:lstStyle/>
          <a:p>
            <a:r>
              <a:rPr lang="en-GB" dirty="0"/>
              <a:t>A number of experts assess the usability of an interface guided by usability principles and guidelines (heuristics)</a:t>
            </a:r>
            <a:r>
              <a:rPr lang="en-GB" dirty="0">
                <a:ea typeface="+mn-lt"/>
                <a:cs typeface="+mn-lt"/>
              </a:rPr>
              <a:t> because it is very likely that one person will not be able to find all usability problems.</a:t>
            </a:r>
            <a:endParaRPr lang="en-GB" dirty="0"/>
          </a:p>
          <a:p>
            <a:endParaRPr lang="en-GB" dirty="0"/>
          </a:p>
          <a:p>
            <a:r>
              <a:rPr lang="en-GB" dirty="0"/>
              <a:t>Suited to early design when representation/prototype is available</a:t>
            </a:r>
          </a:p>
          <a:p>
            <a:endParaRPr lang="en-GB" dirty="0"/>
          </a:p>
          <a:p>
            <a:r>
              <a:rPr lang="en-GB" dirty="0"/>
              <a:t>It’s only as good as the experts you can afford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Heuristic Evaluation Process </a:t>
            </a:r>
          </a:p>
        </p:txBody>
      </p:sp>
      <p:sp>
        <p:nvSpPr>
          <p:cNvPr id="3" name="Content Placeholder 2"/>
          <p:cNvSpPr>
            <a:spLocks noGrp="1"/>
          </p:cNvSpPr>
          <p:nvPr>
            <p:ph sz="quarter" idx="1"/>
          </p:nvPr>
        </p:nvSpPr>
        <p:spPr/>
        <p:txBody>
          <a:bodyPr/>
          <a:lstStyle/>
          <a:p>
            <a:pPr marL="514350" indent="-514350">
              <a:buFont typeface="+mj-lt"/>
              <a:buAutoNum type="arabicPeriod"/>
            </a:pPr>
            <a:r>
              <a:rPr lang="en-US" sz="2800" dirty="0"/>
              <a:t>Briefing session</a:t>
            </a:r>
          </a:p>
          <a:p>
            <a:pPr marL="514350" indent="-514350">
              <a:buFont typeface="+mj-lt"/>
              <a:buAutoNum type="arabicPeriod"/>
            </a:pPr>
            <a:endParaRPr lang="en-US" sz="2800" dirty="0"/>
          </a:p>
          <a:p>
            <a:pPr marL="514350" indent="-514350">
              <a:buFont typeface="+mj-lt"/>
              <a:buAutoNum type="arabicPeriod"/>
            </a:pPr>
            <a:r>
              <a:rPr lang="en-US" sz="2800" dirty="0"/>
              <a:t>Evaluation period</a:t>
            </a:r>
          </a:p>
          <a:p>
            <a:pPr marL="514350" indent="-514350">
              <a:buFont typeface="+mj-lt"/>
              <a:buAutoNum type="arabicPeriod"/>
            </a:pPr>
            <a:endParaRPr lang="en-US" sz="2800" dirty="0"/>
          </a:p>
          <a:p>
            <a:pPr marL="514350" indent="-514350">
              <a:buFont typeface="+mj-lt"/>
              <a:buAutoNum type="arabicPeriod"/>
            </a:pPr>
            <a:r>
              <a:rPr lang="en-US" sz="2800" dirty="0"/>
              <a:t>Debriefing session</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1 – Briefing Session</a:t>
            </a:r>
            <a:endParaRPr lang="en-US" dirty="0"/>
          </a:p>
        </p:txBody>
      </p:sp>
      <p:sp>
        <p:nvSpPr>
          <p:cNvPr id="3" name="Content Placeholder 2"/>
          <p:cNvSpPr>
            <a:spLocks noGrp="1"/>
          </p:cNvSpPr>
          <p:nvPr>
            <p:ph sz="quarter" idx="1"/>
          </p:nvPr>
        </p:nvSpPr>
        <p:spPr/>
        <p:txBody>
          <a:bodyPr/>
          <a:lstStyle/>
          <a:p>
            <a:pPr>
              <a:lnSpc>
                <a:spcPct val="90000"/>
              </a:lnSpc>
            </a:pPr>
            <a:r>
              <a:rPr lang="en-GB" sz="2200" dirty="0"/>
              <a:t>Briefing session</a:t>
            </a:r>
          </a:p>
          <a:p>
            <a:pPr lvl="1">
              <a:lnSpc>
                <a:spcPct val="90000"/>
              </a:lnSpc>
            </a:pPr>
            <a:r>
              <a:rPr lang="en-GB" sz="2000" dirty="0"/>
              <a:t>Several experts </a:t>
            </a:r>
          </a:p>
          <a:p>
            <a:pPr lvl="1">
              <a:lnSpc>
                <a:spcPct val="90000"/>
              </a:lnSpc>
            </a:pPr>
            <a:r>
              <a:rPr lang="en-GB" sz="2000" dirty="0"/>
              <a:t>All are given identical description of product, its context of use and the goals of evaluation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 Evaluation </a:t>
            </a:r>
          </a:p>
        </p:txBody>
      </p:sp>
      <p:sp>
        <p:nvSpPr>
          <p:cNvPr id="3" name="Content Placeholder 2"/>
          <p:cNvSpPr>
            <a:spLocks noGrp="1"/>
          </p:cNvSpPr>
          <p:nvPr>
            <p:ph sz="quarter" idx="1"/>
          </p:nvPr>
        </p:nvSpPr>
        <p:spPr/>
        <p:txBody>
          <a:bodyPr/>
          <a:lstStyle/>
          <a:p>
            <a:r>
              <a:rPr lang="en-US" dirty="0"/>
              <a:t>How does it work?</a:t>
            </a:r>
          </a:p>
          <a:p>
            <a:pPr lvl="1"/>
            <a:r>
              <a:rPr lang="en-US" dirty="0"/>
              <a:t>Evaluators use a checklist of basic usability heuristics </a:t>
            </a:r>
          </a:p>
          <a:p>
            <a:pPr lvl="1"/>
            <a:r>
              <a:rPr lang="en-US" dirty="0"/>
              <a:t>Evaluators go through an interface twice</a:t>
            </a:r>
          </a:p>
          <a:p>
            <a:pPr lvl="2"/>
            <a:r>
              <a:rPr lang="en-US" dirty="0"/>
              <a:t>1</a:t>
            </a:r>
            <a:r>
              <a:rPr lang="en-US" baseline="30000" dirty="0"/>
              <a:t>st</a:t>
            </a:r>
            <a:r>
              <a:rPr lang="en-US" dirty="0"/>
              <a:t> pass get a feel for the flow and general scope</a:t>
            </a:r>
          </a:p>
          <a:p>
            <a:pPr lvl="2"/>
            <a:r>
              <a:rPr lang="en-US" dirty="0"/>
              <a:t>2</a:t>
            </a:r>
            <a:r>
              <a:rPr lang="en-US" baseline="30000" dirty="0"/>
              <a:t>nd</a:t>
            </a:r>
            <a:r>
              <a:rPr lang="en-US" dirty="0"/>
              <a:t> pass refer to checklist of usability heuristics and focus on individual elements</a:t>
            </a:r>
          </a:p>
          <a:p>
            <a:pPr lvl="1"/>
            <a:r>
              <a:rPr lang="en-US" dirty="0"/>
              <a:t>The findings of evaluators are combined and assessed</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Severity Ratings</a:t>
            </a:r>
          </a:p>
        </p:txBody>
      </p:sp>
      <p:sp>
        <p:nvSpPr>
          <p:cNvPr id="3" name="Content Placeholder 2"/>
          <p:cNvSpPr>
            <a:spLocks noGrp="1"/>
          </p:cNvSpPr>
          <p:nvPr>
            <p:ph sz="quarter" idx="1"/>
          </p:nvPr>
        </p:nvSpPr>
        <p:spPr>
          <a:xfrm>
            <a:off x="914400" y="1447800"/>
            <a:ext cx="7772400" cy="2743200"/>
          </a:xfrm>
        </p:spPr>
        <p:txBody>
          <a:bodyPr>
            <a:normAutofit fontScale="70000" lnSpcReduction="20000"/>
          </a:bodyPr>
          <a:lstStyle/>
          <a:p>
            <a:r>
              <a:rPr lang="en-US" dirty="0"/>
              <a:t>Severity ratings can help prioritize the fixing of usability problems.</a:t>
            </a:r>
          </a:p>
          <a:p>
            <a:endParaRPr lang="en-US" dirty="0"/>
          </a:p>
          <a:p>
            <a:r>
              <a:rPr lang="en-US" dirty="0"/>
              <a:t>After evaluation sessions, a complete aggregate list of usability problems is given/sent to each evaluator.</a:t>
            </a:r>
          </a:p>
          <a:p>
            <a:endParaRPr lang="en-US" dirty="0"/>
          </a:p>
          <a:p>
            <a:r>
              <a:rPr lang="en-US" dirty="0"/>
              <a:t>Working independently, evaluators assign severity rating [on scale of 0–4] to each problem. </a:t>
            </a:r>
          </a:p>
          <a:p>
            <a:endParaRPr lang="en-US" dirty="0"/>
          </a:p>
          <a:p>
            <a:r>
              <a:rPr lang="en-US" dirty="0"/>
              <a:t>Severity rating of single evaluator is unreliable, mean of 3–5 evaluators is satisfactory.</a:t>
            </a:r>
          </a:p>
        </p:txBody>
      </p:sp>
      <p:graphicFrame>
        <p:nvGraphicFramePr>
          <p:cNvPr id="4" name="Table 3"/>
          <p:cNvGraphicFramePr>
            <a:graphicFrameLocks noGrp="1"/>
          </p:cNvGraphicFramePr>
          <p:nvPr>
            <p:extLst>
              <p:ext uri="{D42A27DB-BD31-4B8C-83A1-F6EECF244321}">
                <p14:modId xmlns:p14="http://schemas.microsoft.com/office/powerpoint/2010/main" val="3315521439"/>
              </p:ext>
            </p:extLst>
          </p:nvPr>
        </p:nvGraphicFramePr>
        <p:xfrm>
          <a:off x="304800" y="4495800"/>
          <a:ext cx="8595519" cy="1600200"/>
        </p:xfrm>
        <a:graphic>
          <a:graphicData uri="http://schemas.openxmlformats.org/drawingml/2006/table">
            <a:tbl>
              <a:tblPr firstRow="1" firstCol="1" bandRow="1">
                <a:tableStyleId>{5C22544A-7EE6-4342-B048-85BDC9FD1C3A}</a:tableStyleId>
              </a:tblPr>
              <a:tblGrid>
                <a:gridCol w="894557">
                  <a:extLst>
                    <a:ext uri="{9D8B030D-6E8A-4147-A177-3AD203B41FA5}">
                      <a16:colId xmlns:a16="http://schemas.microsoft.com/office/drawing/2014/main" val="20000"/>
                    </a:ext>
                  </a:extLst>
                </a:gridCol>
                <a:gridCol w="7700962">
                  <a:extLst>
                    <a:ext uri="{9D8B030D-6E8A-4147-A177-3AD203B41FA5}">
                      <a16:colId xmlns:a16="http://schemas.microsoft.com/office/drawing/2014/main" val="20001"/>
                    </a:ext>
                  </a:extLst>
                </a:gridCol>
              </a:tblGrid>
              <a:tr h="266700">
                <a:tc>
                  <a:txBody>
                    <a:bodyPr/>
                    <a:lstStyle/>
                    <a:p>
                      <a:pPr marL="0" marR="0" algn="ctr">
                        <a:spcBef>
                          <a:spcPts val="0"/>
                        </a:spcBef>
                        <a:spcAft>
                          <a:spcPts val="0"/>
                        </a:spcAft>
                        <a:tabLst>
                          <a:tab pos="4088765" algn="l"/>
                        </a:tabLst>
                      </a:pPr>
                      <a:r>
                        <a:rPr lang="en-US" sz="1700" dirty="0">
                          <a:effectLst/>
                        </a:rPr>
                        <a:t>Score</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ctr">
                        <a:spcBef>
                          <a:spcPts val="0"/>
                        </a:spcBef>
                        <a:spcAft>
                          <a:spcPts val="0"/>
                        </a:spcAft>
                        <a:tabLst>
                          <a:tab pos="4088765" algn="l"/>
                        </a:tabLst>
                      </a:pPr>
                      <a:r>
                        <a:rPr lang="en-US" sz="1700">
                          <a:effectLst/>
                        </a:rPr>
                        <a:t>Severity</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0"/>
                  </a:ext>
                </a:extLst>
              </a:tr>
              <a:tr h="266700">
                <a:tc>
                  <a:txBody>
                    <a:bodyPr/>
                    <a:lstStyle/>
                    <a:p>
                      <a:pPr marL="0" marR="0" algn="ctr">
                        <a:spcBef>
                          <a:spcPts val="0"/>
                        </a:spcBef>
                        <a:spcAft>
                          <a:spcPts val="0"/>
                        </a:spcAft>
                        <a:tabLst>
                          <a:tab pos="4088765" algn="l"/>
                        </a:tabLst>
                      </a:pPr>
                      <a:r>
                        <a:rPr lang="en-US" sz="1700">
                          <a:effectLst/>
                        </a:rPr>
                        <a:t>0</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dirty="0">
                          <a:effectLst/>
                        </a:rPr>
                        <a:t>I don’t agree that this is a usability problem at all. This is usually considered a suggestion then.</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1"/>
                  </a:ext>
                </a:extLst>
              </a:tr>
              <a:tr h="266700">
                <a:tc>
                  <a:txBody>
                    <a:bodyPr/>
                    <a:lstStyle/>
                    <a:p>
                      <a:pPr marL="0" marR="0" algn="ctr">
                        <a:spcBef>
                          <a:spcPts val="0"/>
                        </a:spcBef>
                        <a:spcAft>
                          <a:spcPts val="0"/>
                        </a:spcAft>
                        <a:tabLst>
                          <a:tab pos="4088765" algn="l"/>
                        </a:tabLst>
                      </a:pPr>
                      <a:r>
                        <a:rPr lang="en-US" sz="1700">
                          <a:effectLst/>
                        </a:rPr>
                        <a:t>1</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dirty="0">
                          <a:effectLst/>
                        </a:rPr>
                        <a:t>Cosmetic problem only: need not be fixed unless extra time is available on project</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2"/>
                  </a:ext>
                </a:extLst>
              </a:tr>
              <a:tr h="266700">
                <a:tc>
                  <a:txBody>
                    <a:bodyPr/>
                    <a:lstStyle/>
                    <a:p>
                      <a:pPr marL="0" marR="0" algn="ctr">
                        <a:spcBef>
                          <a:spcPts val="0"/>
                        </a:spcBef>
                        <a:spcAft>
                          <a:spcPts val="0"/>
                        </a:spcAft>
                        <a:tabLst>
                          <a:tab pos="4088765" algn="l"/>
                        </a:tabLst>
                      </a:pPr>
                      <a:r>
                        <a:rPr lang="en-US" sz="1700">
                          <a:effectLst/>
                        </a:rPr>
                        <a:t>2</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a:effectLst/>
                        </a:rPr>
                        <a:t>Minor usability problem: fixing this should be given low priority</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3"/>
                  </a:ext>
                </a:extLst>
              </a:tr>
              <a:tr h="266700">
                <a:tc>
                  <a:txBody>
                    <a:bodyPr/>
                    <a:lstStyle/>
                    <a:p>
                      <a:pPr marL="0" marR="0" algn="ctr">
                        <a:spcBef>
                          <a:spcPts val="0"/>
                        </a:spcBef>
                        <a:spcAft>
                          <a:spcPts val="0"/>
                        </a:spcAft>
                        <a:tabLst>
                          <a:tab pos="4088765" algn="l"/>
                        </a:tabLst>
                      </a:pPr>
                      <a:r>
                        <a:rPr lang="en-US" sz="1700">
                          <a:effectLst/>
                        </a:rPr>
                        <a:t>3</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a:effectLst/>
                        </a:rPr>
                        <a:t>Major usability problem: important to fix, so should be given high priority</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4"/>
                  </a:ext>
                </a:extLst>
              </a:tr>
              <a:tr h="266700">
                <a:tc>
                  <a:txBody>
                    <a:bodyPr/>
                    <a:lstStyle/>
                    <a:p>
                      <a:pPr marL="0" marR="0" algn="ctr">
                        <a:spcBef>
                          <a:spcPts val="0"/>
                        </a:spcBef>
                        <a:spcAft>
                          <a:spcPts val="0"/>
                        </a:spcAft>
                        <a:tabLst>
                          <a:tab pos="4088765" algn="l"/>
                        </a:tabLst>
                      </a:pPr>
                      <a:r>
                        <a:rPr lang="en-US" sz="1700">
                          <a:effectLst/>
                        </a:rPr>
                        <a:t>4</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dirty="0">
                          <a:effectLst/>
                        </a:rPr>
                        <a:t>Usability catastrophe: imperative to fix this before product can be released</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3 – Debriefing Session</a:t>
            </a:r>
            <a:endParaRPr lang="en-US" dirty="0"/>
          </a:p>
        </p:txBody>
      </p:sp>
      <p:sp>
        <p:nvSpPr>
          <p:cNvPr id="3" name="Content Placeholder 2"/>
          <p:cNvSpPr>
            <a:spLocks noGrp="1"/>
          </p:cNvSpPr>
          <p:nvPr>
            <p:ph sz="quarter" idx="1"/>
          </p:nvPr>
        </p:nvSpPr>
        <p:spPr/>
        <p:txBody>
          <a:bodyPr/>
          <a:lstStyle/>
          <a:p>
            <a:pPr>
              <a:lnSpc>
                <a:spcPct val="90000"/>
              </a:lnSpc>
            </a:pPr>
            <a:r>
              <a:rPr lang="en-GB" sz="2200" dirty="0"/>
              <a:t>Debriefing session</a:t>
            </a:r>
          </a:p>
          <a:p>
            <a:pPr lvl="1">
              <a:lnSpc>
                <a:spcPct val="90000"/>
              </a:lnSpc>
            </a:pPr>
            <a:r>
              <a:rPr lang="en-GB" sz="2000" dirty="0"/>
              <a:t>Experts meet to compare findings and propose solutions</a:t>
            </a:r>
          </a:p>
          <a:p>
            <a:pPr lvl="1">
              <a:lnSpc>
                <a:spcPct val="90000"/>
              </a:lnSpc>
            </a:pPr>
            <a:endParaRPr lang="en-GB" sz="2000" dirty="0"/>
          </a:p>
          <a:p>
            <a:pPr lvl="1">
              <a:lnSpc>
                <a:spcPct val="90000"/>
              </a:lnSpc>
            </a:pPr>
            <a:r>
              <a:rPr lang="en-GB" sz="2000" dirty="0"/>
              <a:t>They report/present their findings to decision makers and other stakeholders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381000" y="457200"/>
            <a:ext cx="8001000" cy="1143000"/>
          </a:xfrm>
        </p:spPr>
        <p:txBody>
          <a:bodyPr/>
          <a:lstStyle/>
          <a:p>
            <a:r>
              <a:rPr lang="en-US"/>
              <a:t>No. of evaluators &amp; problems</a:t>
            </a:r>
          </a:p>
        </p:txBody>
      </p:sp>
      <p:graphicFrame>
        <p:nvGraphicFramePr>
          <p:cNvPr id="20483" name="Object 3"/>
          <p:cNvGraphicFramePr>
            <a:graphicFrameLocks noGrp="1" noChangeAspect="1"/>
          </p:cNvGraphicFramePr>
          <p:nvPr>
            <p:ph idx="4294967295"/>
          </p:nvPr>
        </p:nvGraphicFramePr>
        <p:xfrm>
          <a:off x="731837" y="1600200"/>
          <a:ext cx="7269163" cy="4876800"/>
        </p:xfrm>
        <a:graphic>
          <a:graphicData uri="http://schemas.openxmlformats.org/presentationml/2006/ole">
            <mc:AlternateContent xmlns:mc="http://schemas.openxmlformats.org/markup-compatibility/2006">
              <mc:Choice xmlns:v="urn:schemas-microsoft-com:vml" Requires="v">
                <p:oleObj spid="_x0000_s1026" name="Document" r:id="rId4" imgW="3035808" imgH="1819656" progId="Word.Document.8">
                  <p:embed/>
                </p:oleObj>
              </mc:Choice>
              <mc:Fallback>
                <p:oleObj name="Document" r:id="rId4" imgW="3035808" imgH="1819656" progId="Word.Document.8">
                  <p:embed/>
                  <p:pic>
                    <p:nvPicPr>
                      <p:cNvPr id="0" name="Picture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837" y="1600200"/>
                        <a:ext cx="7269163" cy="487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lnSpcReduction="10000"/>
          </a:bodyPr>
          <a:lstStyle/>
          <a:p>
            <a:pPr marL="514350" indent="-514350">
              <a:buFont typeface="+mj-lt"/>
              <a:buAutoNum type="arabicPeriod"/>
            </a:pPr>
            <a:r>
              <a:rPr lang="en-US" dirty="0"/>
              <a:t>Visibility of system status </a:t>
            </a:r>
          </a:p>
          <a:p>
            <a:pPr marL="514350" indent="-514350">
              <a:buFont typeface="+mj-lt"/>
              <a:buAutoNum type="arabicPeriod"/>
            </a:pPr>
            <a:r>
              <a:rPr lang="en-US" dirty="0"/>
              <a:t>Match between system and the real world </a:t>
            </a:r>
          </a:p>
          <a:p>
            <a:pPr marL="514350" indent="-514350">
              <a:buFont typeface="+mj-lt"/>
              <a:buAutoNum type="arabicPeriod"/>
            </a:pPr>
            <a:r>
              <a:rPr lang="en-US" dirty="0"/>
              <a:t>User control and freedom </a:t>
            </a:r>
          </a:p>
          <a:p>
            <a:pPr marL="514350" indent="-514350">
              <a:buFont typeface="+mj-lt"/>
              <a:buAutoNum type="arabicPeriod"/>
            </a:pPr>
            <a:r>
              <a:rPr lang="en-US" dirty="0"/>
              <a:t>Consistency and standards </a:t>
            </a:r>
          </a:p>
          <a:p>
            <a:pPr marL="514350" indent="-514350">
              <a:buFont typeface="+mj-lt"/>
              <a:buAutoNum type="arabicPeriod"/>
            </a:pPr>
            <a:r>
              <a:rPr lang="en-US" dirty="0"/>
              <a:t>Recognition rather than recall </a:t>
            </a:r>
          </a:p>
          <a:p>
            <a:pPr marL="514350" indent="-514350">
              <a:buFont typeface="+mj-lt"/>
              <a:buAutoNum type="arabicPeriod"/>
            </a:pPr>
            <a:r>
              <a:rPr lang="en-US" dirty="0"/>
              <a:t>Flexibility and efficiency of use </a:t>
            </a:r>
          </a:p>
          <a:p>
            <a:pPr marL="514350" indent="-514350">
              <a:buFont typeface="+mj-lt"/>
              <a:buAutoNum type="arabicPeriod"/>
            </a:pPr>
            <a:r>
              <a:rPr lang="en-US" dirty="0"/>
              <a:t>Aesthetic and minimalist design </a:t>
            </a:r>
          </a:p>
          <a:p>
            <a:pPr marL="514350" indent="-514350">
              <a:buFont typeface="+mj-lt"/>
              <a:buAutoNum type="arabicPeriod"/>
            </a:pPr>
            <a:r>
              <a:rPr lang="en-US" dirty="0"/>
              <a:t>Error prevention </a:t>
            </a:r>
          </a:p>
          <a:p>
            <a:pPr marL="514350" indent="-514350">
              <a:buFont typeface="+mj-lt"/>
              <a:buAutoNum type="arabicPeriod"/>
            </a:pPr>
            <a:r>
              <a:rPr lang="en-US" dirty="0"/>
              <a:t>Help users recognize, diagnose and recover from errors </a:t>
            </a:r>
          </a:p>
          <a:p>
            <a:pPr marL="514350" indent="-514350">
              <a:buFont typeface="+mj-lt"/>
              <a:buAutoNum type="arabicPeriod"/>
            </a:pPr>
            <a:r>
              <a:rPr lang="en-US" dirty="0"/>
              <a:t>Help and documentation</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pPr marL="514350" indent="-514350"/>
            <a:r>
              <a:rPr lang="en-US" b="1" dirty="0"/>
              <a:t>Visibility of system status </a:t>
            </a:r>
            <a:r>
              <a:rPr lang="en-US" dirty="0"/>
              <a:t>[Feedback]</a:t>
            </a:r>
          </a:p>
          <a:p>
            <a:pPr marL="788670" lvl="2" indent="-514350">
              <a:spcBef>
                <a:spcPts val="580"/>
              </a:spcBef>
              <a:buClr>
                <a:schemeClr val="accent1"/>
              </a:buClr>
            </a:pPr>
            <a:r>
              <a:rPr lang="en-US" dirty="0"/>
              <a:t>Always keep users informed about what is going on, through appropriate feedback within reasonable time. For example, if a system operation will take some time, give an indication of how long and how much is complete.</a:t>
            </a:r>
          </a:p>
          <a:p>
            <a:pPr marL="514350" indent="-514350"/>
            <a:endParaRPr lang="en-US" dirty="0"/>
          </a:p>
          <a:p>
            <a:pPr marL="788670" lvl="1" indent="-514350"/>
            <a:r>
              <a:rPr lang="en-US" dirty="0"/>
              <a:t>For example: busy cursor [1–10s], progress indicator [&gt;10s].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a:ln/>
        </p:spPr>
        <p:txBody>
          <a:bodyPr lIns="92075" tIns="46038" rIns="92075" bIns="46038"/>
          <a:lstStyle/>
          <a:p>
            <a:r>
              <a:rPr lang="en-US" dirty="0"/>
              <a:t>1. Provide feedback</a:t>
            </a:r>
          </a:p>
        </p:txBody>
      </p:sp>
      <p:sp>
        <p:nvSpPr>
          <p:cNvPr id="17411" name="Rectangle 3"/>
          <p:cNvSpPr>
            <a:spLocks noGrp="1" noChangeArrowheads="1"/>
          </p:cNvSpPr>
          <p:nvPr>
            <p:ph type="body" idx="1"/>
          </p:nvPr>
        </p:nvSpPr>
        <p:spPr>
          <a:xfrm>
            <a:off x="914400" y="1447800"/>
            <a:ext cx="7772400" cy="1447800"/>
          </a:xfrm>
          <a:noFill/>
          <a:ln/>
        </p:spPr>
        <p:txBody>
          <a:bodyPr lIns="92075" tIns="46038" rIns="92075" bIns="46038">
            <a:normAutofit fontScale="92500" lnSpcReduction="20000"/>
          </a:bodyPr>
          <a:lstStyle/>
          <a:p>
            <a:r>
              <a:rPr lang="en-US" dirty="0"/>
              <a:t>Continuously inform the user about </a:t>
            </a:r>
          </a:p>
          <a:p>
            <a:pPr lvl="1"/>
            <a:r>
              <a:rPr lang="en-US" dirty="0"/>
              <a:t>what it is doing</a:t>
            </a:r>
          </a:p>
          <a:p>
            <a:pPr lvl="1"/>
            <a:r>
              <a:rPr lang="en-US" dirty="0"/>
              <a:t>how it is interpreting the user’s input</a:t>
            </a:r>
          </a:p>
          <a:p>
            <a:pPr lvl="1"/>
            <a:r>
              <a:rPr lang="en-US" dirty="0"/>
              <a:t>user should always be aware of what is going on</a:t>
            </a:r>
          </a:p>
        </p:txBody>
      </p:sp>
      <p:grpSp>
        <p:nvGrpSpPr>
          <p:cNvPr id="2" name="Group 16"/>
          <p:cNvGrpSpPr>
            <a:grpSpLocks/>
          </p:cNvGrpSpPr>
          <p:nvPr/>
        </p:nvGrpSpPr>
        <p:grpSpPr bwMode="auto">
          <a:xfrm>
            <a:off x="2771775" y="3500438"/>
            <a:ext cx="1465263" cy="1233487"/>
            <a:chOff x="4213" y="223"/>
            <a:chExt cx="1300" cy="1274"/>
          </a:xfrm>
        </p:grpSpPr>
        <p:pic>
          <p:nvPicPr>
            <p:cNvPr id="17413" name="Picture 5"/>
            <p:cNvPicPr>
              <a:picLocks noChangeAspect="1" noChangeArrowheads="1"/>
            </p:cNvPicPr>
            <p:nvPr/>
          </p:nvPicPr>
          <p:blipFill>
            <a:blip r:embed="rId4" cstate="print"/>
            <a:srcRect l="2380" r="595"/>
            <a:stretch>
              <a:fillRect/>
            </a:stretch>
          </p:blipFill>
          <p:spPr bwMode="auto">
            <a:xfrm>
              <a:off x="4213" y="223"/>
              <a:ext cx="1300" cy="1274"/>
            </a:xfrm>
            <a:prstGeom prst="rect">
              <a:avLst/>
            </a:prstGeom>
            <a:noFill/>
            <a:ln w="9525">
              <a:noFill/>
              <a:miter lim="800000"/>
              <a:headEnd/>
              <a:tailEnd/>
            </a:ln>
          </p:spPr>
        </p:pic>
        <p:sp>
          <p:nvSpPr>
            <p:cNvPr id="17414" name="Rectangle 6"/>
            <p:cNvSpPr>
              <a:spLocks noChangeArrowheads="1"/>
            </p:cNvSpPr>
            <p:nvPr/>
          </p:nvSpPr>
          <p:spPr bwMode="auto">
            <a:xfrm>
              <a:off x="4388" y="413"/>
              <a:ext cx="356" cy="189"/>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&gt; Doit</a:t>
              </a:r>
              <a:endParaRPr lang="en-US" sz="1400">
                <a:latin typeface="Arial" charset="0"/>
              </a:endParaRPr>
            </a:p>
          </p:txBody>
        </p:sp>
        <p:sp>
          <p:nvSpPr>
            <p:cNvPr id="17415" name="Rectangle 7"/>
            <p:cNvSpPr>
              <a:spLocks noChangeArrowheads="1"/>
            </p:cNvSpPr>
            <p:nvPr/>
          </p:nvSpPr>
          <p:spPr bwMode="auto">
            <a:xfrm>
              <a:off x="4643" y="413"/>
              <a:ext cx="38" cy="189"/>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sp>
          <p:nvSpPr>
            <p:cNvPr id="17416" name="Rectangle 8"/>
            <p:cNvSpPr>
              <a:spLocks noChangeArrowheads="1"/>
            </p:cNvSpPr>
            <p:nvPr/>
          </p:nvSpPr>
          <p:spPr bwMode="auto">
            <a:xfrm>
              <a:off x="4388" y="525"/>
              <a:ext cx="38" cy="188"/>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sp>
          <p:nvSpPr>
            <p:cNvPr id="17417" name="Rectangle 9"/>
            <p:cNvSpPr>
              <a:spLocks noChangeArrowheads="1"/>
            </p:cNvSpPr>
            <p:nvPr/>
          </p:nvSpPr>
          <p:spPr bwMode="auto">
            <a:xfrm>
              <a:off x="4388" y="636"/>
              <a:ext cx="38" cy="189"/>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sp>
          <p:nvSpPr>
            <p:cNvPr id="17418" name="Rectangle 10"/>
            <p:cNvSpPr>
              <a:spLocks noChangeArrowheads="1"/>
            </p:cNvSpPr>
            <p:nvPr/>
          </p:nvSpPr>
          <p:spPr bwMode="auto">
            <a:xfrm>
              <a:off x="4388" y="748"/>
              <a:ext cx="38" cy="188"/>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grpSp>
      <p:sp>
        <p:nvSpPr>
          <p:cNvPr id="17421" name="Rectangle 13"/>
          <p:cNvSpPr>
            <a:spLocks noChangeArrowheads="1"/>
          </p:cNvSpPr>
          <p:nvPr/>
        </p:nvSpPr>
        <p:spPr bwMode="auto">
          <a:xfrm>
            <a:off x="6054725" y="227013"/>
            <a:ext cx="101600" cy="227012"/>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graphicFrame>
        <p:nvGraphicFramePr>
          <p:cNvPr id="17425" name="Object 17"/>
          <p:cNvGraphicFramePr>
            <a:graphicFrameLocks noChangeAspect="1"/>
          </p:cNvGraphicFramePr>
          <p:nvPr/>
        </p:nvGraphicFramePr>
        <p:xfrm>
          <a:off x="1781175" y="4110038"/>
          <a:ext cx="1063625" cy="2287587"/>
        </p:xfrm>
        <a:graphic>
          <a:graphicData uri="http://schemas.openxmlformats.org/presentationml/2006/ole">
            <mc:AlternateContent xmlns:mc="http://schemas.openxmlformats.org/markup-compatibility/2006">
              <mc:Choice xmlns:v="urn:schemas-microsoft-com:vml" Requires="v">
                <p:oleObj spid="_x0000_s2050" name="Clip" r:id="rId5" imgW="1063467" imgH="2287818" progId="">
                  <p:embed/>
                </p:oleObj>
              </mc:Choice>
              <mc:Fallback>
                <p:oleObj name="Clip" r:id="rId5" imgW="1063467" imgH="2287818" progId="">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1175" y="4110038"/>
                        <a:ext cx="1063625" cy="2287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26" name="AutoShape 18"/>
          <p:cNvSpPr>
            <a:spLocks noChangeArrowheads="1"/>
          </p:cNvSpPr>
          <p:nvPr/>
        </p:nvSpPr>
        <p:spPr bwMode="auto">
          <a:xfrm>
            <a:off x="1028700" y="3379788"/>
            <a:ext cx="1438275" cy="760412"/>
          </a:xfrm>
          <a:prstGeom prst="cloudCallout">
            <a:avLst>
              <a:gd name="adj1" fmla="val 22847"/>
              <a:gd name="adj2" fmla="val 70667"/>
            </a:avLst>
          </a:prstGeom>
          <a:noFill/>
          <a:ln w="12699">
            <a:solidFill>
              <a:schemeClr val="tx1"/>
            </a:solidFill>
            <a:round/>
            <a:headEnd type="none" w="sm" len="sm"/>
            <a:tailEnd type="none" w="sm" len="sm"/>
          </a:ln>
          <a:effectLst/>
        </p:spPr>
        <p:txBody>
          <a:bodyPr lIns="92075" tIns="46038" rIns="92075" bIns="46038" anchor="ctr">
            <a:spAutoFit/>
          </a:bodyPr>
          <a:lstStyle/>
          <a:p>
            <a:pPr algn="ctr" eaLnBrk="0" hangingPunct="0"/>
            <a:r>
              <a:rPr lang="en-US" sz="1400">
                <a:latin typeface="Arial" charset="0"/>
              </a:rPr>
              <a:t>What’s it doing?</a:t>
            </a:r>
          </a:p>
        </p:txBody>
      </p:sp>
      <p:grpSp>
        <p:nvGrpSpPr>
          <p:cNvPr id="3" name="Group 25"/>
          <p:cNvGrpSpPr>
            <a:grpSpLocks/>
          </p:cNvGrpSpPr>
          <p:nvPr/>
        </p:nvGrpSpPr>
        <p:grpSpPr bwMode="auto">
          <a:xfrm>
            <a:off x="5076825" y="3429000"/>
            <a:ext cx="1465263" cy="1233488"/>
            <a:chOff x="4213" y="223"/>
            <a:chExt cx="1300" cy="1274"/>
          </a:xfrm>
        </p:grpSpPr>
        <p:pic>
          <p:nvPicPr>
            <p:cNvPr id="17434" name="Picture 26"/>
            <p:cNvPicPr>
              <a:picLocks noChangeAspect="1" noChangeArrowheads="1"/>
            </p:cNvPicPr>
            <p:nvPr/>
          </p:nvPicPr>
          <p:blipFill>
            <a:blip r:embed="rId4" cstate="print"/>
            <a:srcRect l="2380" r="595"/>
            <a:stretch>
              <a:fillRect/>
            </a:stretch>
          </p:blipFill>
          <p:spPr bwMode="auto">
            <a:xfrm>
              <a:off x="4213" y="223"/>
              <a:ext cx="1300" cy="1274"/>
            </a:xfrm>
            <a:prstGeom prst="rect">
              <a:avLst/>
            </a:prstGeom>
            <a:noFill/>
            <a:ln w="9525">
              <a:noFill/>
              <a:miter lim="800000"/>
              <a:headEnd/>
              <a:tailEnd/>
            </a:ln>
          </p:spPr>
        </p:pic>
        <p:sp>
          <p:nvSpPr>
            <p:cNvPr id="17435" name="Rectangle 27"/>
            <p:cNvSpPr>
              <a:spLocks noChangeArrowheads="1"/>
            </p:cNvSpPr>
            <p:nvPr/>
          </p:nvSpPr>
          <p:spPr bwMode="auto">
            <a:xfrm>
              <a:off x="4388" y="413"/>
              <a:ext cx="771" cy="566"/>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&gt; Doit</a:t>
              </a:r>
            </a:p>
            <a:p>
              <a:pPr eaLnBrk="0" hangingPunct="0"/>
              <a:r>
                <a:rPr lang="en-US" sz="1200">
                  <a:solidFill>
                    <a:srgbClr val="000000"/>
                  </a:solidFill>
                  <a:latin typeface="Arial" charset="0"/>
                </a:rPr>
                <a:t>This will take</a:t>
              </a:r>
              <a:br>
                <a:rPr lang="en-US" sz="1200">
                  <a:solidFill>
                    <a:srgbClr val="000000"/>
                  </a:solidFill>
                  <a:latin typeface="Arial" charset="0"/>
                </a:rPr>
              </a:br>
              <a:r>
                <a:rPr lang="en-US" sz="1200">
                  <a:solidFill>
                    <a:srgbClr val="000000"/>
                  </a:solidFill>
                  <a:latin typeface="Arial" charset="0"/>
                </a:rPr>
                <a:t>5 minutes...</a:t>
              </a:r>
              <a:endParaRPr lang="en-US" sz="1400">
                <a:latin typeface="Arial" charset="0"/>
              </a:endParaRPr>
            </a:p>
          </p:txBody>
        </p:sp>
        <p:sp>
          <p:nvSpPr>
            <p:cNvPr id="17436" name="Rectangle 28"/>
            <p:cNvSpPr>
              <a:spLocks noChangeArrowheads="1"/>
            </p:cNvSpPr>
            <p:nvPr/>
          </p:nvSpPr>
          <p:spPr bwMode="auto">
            <a:xfrm>
              <a:off x="4643" y="413"/>
              <a:ext cx="38" cy="189"/>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sp>
          <p:nvSpPr>
            <p:cNvPr id="17437" name="Rectangle 29"/>
            <p:cNvSpPr>
              <a:spLocks noChangeArrowheads="1"/>
            </p:cNvSpPr>
            <p:nvPr/>
          </p:nvSpPr>
          <p:spPr bwMode="auto">
            <a:xfrm>
              <a:off x="4388" y="525"/>
              <a:ext cx="38" cy="188"/>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sp>
          <p:nvSpPr>
            <p:cNvPr id="17438" name="Rectangle 30"/>
            <p:cNvSpPr>
              <a:spLocks noChangeArrowheads="1"/>
            </p:cNvSpPr>
            <p:nvPr/>
          </p:nvSpPr>
          <p:spPr bwMode="auto">
            <a:xfrm>
              <a:off x="4388" y="636"/>
              <a:ext cx="38" cy="189"/>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sp>
          <p:nvSpPr>
            <p:cNvPr id="17439" name="Rectangle 31"/>
            <p:cNvSpPr>
              <a:spLocks noChangeArrowheads="1"/>
            </p:cNvSpPr>
            <p:nvPr/>
          </p:nvSpPr>
          <p:spPr bwMode="auto">
            <a:xfrm>
              <a:off x="4388" y="748"/>
              <a:ext cx="38" cy="188"/>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grpSp>
      <p:graphicFrame>
        <p:nvGraphicFramePr>
          <p:cNvPr id="17440" name="Object 32"/>
          <p:cNvGraphicFramePr>
            <a:graphicFrameLocks noChangeAspect="1"/>
          </p:cNvGraphicFramePr>
          <p:nvPr/>
        </p:nvGraphicFramePr>
        <p:xfrm>
          <a:off x="6677025" y="4267200"/>
          <a:ext cx="1839913" cy="2286000"/>
        </p:xfrm>
        <a:graphic>
          <a:graphicData uri="http://schemas.openxmlformats.org/presentationml/2006/ole">
            <mc:AlternateContent xmlns:mc="http://schemas.openxmlformats.org/markup-compatibility/2006">
              <mc:Choice xmlns:v="urn:schemas-microsoft-com:vml" Requires="v">
                <p:oleObj spid="_x0000_s2051" name="Clip" r:id="rId7" imgW="1839884" imgH="2286000" progId="">
                  <p:embed/>
                </p:oleObj>
              </mc:Choice>
              <mc:Fallback>
                <p:oleObj name="Clip" r:id="rId7" imgW="1839884" imgH="2286000" progId="">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77025" y="4267200"/>
                        <a:ext cx="1839913" cy="228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41" name="AutoShape 33"/>
          <p:cNvSpPr>
            <a:spLocks noChangeArrowheads="1"/>
          </p:cNvSpPr>
          <p:nvPr/>
        </p:nvSpPr>
        <p:spPr bwMode="auto">
          <a:xfrm>
            <a:off x="6829425" y="3352800"/>
            <a:ext cx="1438275" cy="760413"/>
          </a:xfrm>
          <a:prstGeom prst="cloudCallout">
            <a:avLst>
              <a:gd name="adj1" fmla="val 22847"/>
              <a:gd name="adj2" fmla="val 70667"/>
            </a:avLst>
          </a:prstGeom>
          <a:noFill/>
          <a:ln w="12699">
            <a:solidFill>
              <a:schemeClr val="tx1"/>
            </a:solidFill>
            <a:round/>
            <a:headEnd type="none" w="sm" len="sm"/>
            <a:tailEnd type="none" w="sm" len="sm"/>
          </a:ln>
          <a:effectLst/>
        </p:spPr>
        <p:txBody>
          <a:bodyPr lIns="92075" tIns="46038" rIns="92075" bIns="46038" anchor="ctr">
            <a:spAutoFit/>
          </a:bodyPr>
          <a:lstStyle/>
          <a:p>
            <a:pPr algn="ctr" eaLnBrk="0" hangingPunct="0"/>
            <a:r>
              <a:rPr lang="en-US" sz="1400">
                <a:latin typeface="Arial" charset="0"/>
              </a:rPr>
              <a:t>Time for coffee.</a:t>
            </a:r>
          </a:p>
        </p:txBody>
      </p:sp>
      <p:sp>
        <p:nvSpPr>
          <p:cNvPr id="17442" name="Line 34"/>
          <p:cNvSpPr>
            <a:spLocks noChangeShapeType="1"/>
          </p:cNvSpPr>
          <p:nvPr/>
        </p:nvSpPr>
        <p:spPr bwMode="auto">
          <a:xfrm>
            <a:off x="4500563" y="3213100"/>
            <a:ext cx="0" cy="3048000"/>
          </a:xfrm>
          <a:prstGeom prst="line">
            <a:avLst/>
          </a:prstGeom>
          <a:noFill/>
          <a:ln w="28575">
            <a:solidFill>
              <a:schemeClr val="hlink"/>
            </a:solidFill>
            <a:round/>
            <a:headEnd type="none" w="sm" len="sm"/>
            <a:tailEnd type="none" w="sm" len="sm"/>
          </a:ln>
          <a:effectLst/>
        </p:spPr>
        <p:txBody>
          <a:bodyPr wrap="none" lIns="92075" tIns="46038" rIns="92075" bIns="46038" anchor="ctr">
            <a:spAutoFit/>
          </a:bodyPr>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dirty="0"/>
              <a:t>1. Provide feedback</a:t>
            </a:r>
          </a:p>
        </p:txBody>
      </p:sp>
      <p:graphicFrame>
        <p:nvGraphicFramePr>
          <p:cNvPr id="91139" name="Object 3"/>
          <p:cNvGraphicFramePr>
            <a:graphicFrameLocks/>
          </p:cNvGraphicFramePr>
          <p:nvPr/>
        </p:nvGraphicFramePr>
        <p:xfrm>
          <a:off x="3124200" y="2133600"/>
          <a:ext cx="2343150" cy="1216025"/>
        </p:xfrm>
        <a:graphic>
          <a:graphicData uri="http://schemas.openxmlformats.org/presentationml/2006/ole">
            <mc:AlternateContent xmlns:mc="http://schemas.openxmlformats.org/markup-compatibility/2006">
              <mc:Choice xmlns:v="urn:schemas-microsoft-com:vml" Requires="v">
                <p:oleObj spid="_x0000_s3074" name="Document" r:id="rId3" imgW="1098804" imgH="574548" progId="Word.Document.8">
                  <p:embed/>
                </p:oleObj>
              </mc:Choice>
              <mc:Fallback>
                <p:oleObj name="Document" r:id="rId3" imgW="1098804" imgH="574548" progId="Word.Document.8">
                  <p:embed/>
                  <p:pic>
                    <p:nvPicPr>
                      <p:cNvPr id="0" name="Picture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2133600"/>
                        <a:ext cx="234315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1140" name="AutoShape 4"/>
          <p:cNvSpPr>
            <a:spLocks/>
          </p:cNvSpPr>
          <p:nvPr/>
        </p:nvSpPr>
        <p:spPr bwMode="auto">
          <a:xfrm>
            <a:off x="838200" y="3276600"/>
            <a:ext cx="1600200" cy="654050"/>
          </a:xfrm>
          <a:prstGeom prst="borderCallout2">
            <a:avLst>
              <a:gd name="adj1" fmla="val 17477"/>
              <a:gd name="adj2" fmla="val 104764"/>
              <a:gd name="adj3" fmla="val 17477"/>
              <a:gd name="adj4" fmla="val 116269"/>
              <a:gd name="adj5" fmla="val -34100"/>
              <a:gd name="adj6" fmla="val 152796"/>
            </a:avLst>
          </a:prstGeom>
          <a:noFill/>
          <a:ln w="12699">
            <a:solidFill>
              <a:schemeClr val="hlink"/>
            </a:solidFill>
            <a:miter lim="800000"/>
            <a:headEnd type="none" w="sm" len="sm"/>
            <a:tailEnd type="none" w="sm" len="sm"/>
          </a:ln>
          <a:effectLst/>
        </p:spPr>
        <p:txBody>
          <a:bodyPr lIns="92075" tIns="46038" rIns="92075" bIns="46038" anchor="ctr">
            <a:spAutoFit/>
          </a:bodyPr>
          <a:lstStyle/>
          <a:p>
            <a:pPr algn="ctr" eaLnBrk="0" hangingPunct="0"/>
            <a:r>
              <a:rPr lang="en-US" sz="1800">
                <a:latin typeface="Arial" charset="0"/>
              </a:rPr>
              <a:t>What did I select?</a:t>
            </a:r>
          </a:p>
        </p:txBody>
      </p:sp>
      <p:sp>
        <p:nvSpPr>
          <p:cNvPr id="91141" name="AutoShape 5"/>
          <p:cNvSpPr>
            <a:spLocks/>
          </p:cNvSpPr>
          <p:nvPr/>
        </p:nvSpPr>
        <p:spPr bwMode="auto">
          <a:xfrm>
            <a:off x="6248400" y="1219200"/>
            <a:ext cx="1600200" cy="654050"/>
          </a:xfrm>
          <a:prstGeom prst="borderCallout2">
            <a:avLst>
              <a:gd name="adj1" fmla="val 21556"/>
              <a:gd name="adj2" fmla="val -4764"/>
              <a:gd name="adj3" fmla="val 21556"/>
              <a:gd name="adj4" fmla="val -20338"/>
              <a:gd name="adj5" fmla="val 213148"/>
              <a:gd name="adj6" fmla="val -77338"/>
            </a:avLst>
          </a:prstGeom>
          <a:noFill/>
          <a:ln w="12699">
            <a:solidFill>
              <a:schemeClr val="hlink"/>
            </a:solidFill>
            <a:miter lim="800000"/>
            <a:headEnd type="none" w="sm" len="sm"/>
            <a:tailEnd type="none" w="sm" len="sm"/>
          </a:ln>
          <a:effectLst/>
        </p:spPr>
        <p:txBody>
          <a:bodyPr lIns="92075" tIns="46038" rIns="92075" bIns="46038" anchor="ctr">
            <a:spAutoFit/>
          </a:bodyPr>
          <a:lstStyle/>
          <a:p>
            <a:pPr algn="ctr" eaLnBrk="0" hangingPunct="0"/>
            <a:r>
              <a:rPr lang="en-US" sz="1800">
                <a:latin typeface="Arial" charset="0"/>
              </a:rPr>
              <a:t>What mode am I in now?</a:t>
            </a:r>
          </a:p>
        </p:txBody>
      </p:sp>
      <p:sp>
        <p:nvSpPr>
          <p:cNvPr id="91142" name="AutoShape 6"/>
          <p:cNvSpPr>
            <a:spLocks/>
          </p:cNvSpPr>
          <p:nvPr/>
        </p:nvSpPr>
        <p:spPr bwMode="auto">
          <a:xfrm>
            <a:off x="6096000" y="2743200"/>
            <a:ext cx="1600200" cy="1203325"/>
          </a:xfrm>
          <a:prstGeom prst="borderCallout2">
            <a:avLst>
              <a:gd name="adj1" fmla="val 11958"/>
              <a:gd name="adj2" fmla="val -4764"/>
              <a:gd name="adj3" fmla="val 11958"/>
              <a:gd name="adj4" fmla="val -16370"/>
              <a:gd name="adj5" fmla="val 34461"/>
              <a:gd name="adj6" fmla="val -74723"/>
            </a:avLst>
          </a:prstGeom>
          <a:noFill/>
          <a:ln w="12699">
            <a:solidFill>
              <a:schemeClr val="hlink"/>
            </a:solidFill>
            <a:miter lim="800000"/>
            <a:headEnd type="none" w="sm" len="sm"/>
            <a:tailEnd type="none" w="sm" len="sm"/>
          </a:ln>
          <a:effectLst/>
        </p:spPr>
        <p:txBody>
          <a:bodyPr lIns="92075" tIns="46038" rIns="92075" bIns="46038" anchor="ctr">
            <a:spAutoFit/>
          </a:bodyPr>
          <a:lstStyle/>
          <a:p>
            <a:pPr algn="ctr" eaLnBrk="0" hangingPunct="0"/>
            <a:r>
              <a:rPr lang="en-US" sz="1800" dirty="0">
                <a:latin typeface="Arial" charset="0"/>
              </a:rPr>
              <a:t>How is the system interpreting my actions?</a:t>
            </a:r>
          </a:p>
        </p:txBody>
      </p:sp>
      <p:pic>
        <p:nvPicPr>
          <p:cNvPr id="8" name="Picture 3"/>
          <p:cNvPicPr>
            <a:picLocks noChangeAspect="1" noChangeArrowheads="1"/>
          </p:cNvPicPr>
          <p:nvPr/>
        </p:nvPicPr>
        <p:blipFill>
          <a:blip r:embed="rId5" cstate="print"/>
          <a:srcRect l="8125" t="38140" r="13750" b="31671"/>
          <a:stretch>
            <a:fillRect/>
          </a:stretch>
        </p:blipFill>
        <p:spPr bwMode="auto">
          <a:xfrm>
            <a:off x="1447800" y="4800600"/>
            <a:ext cx="6096000" cy="1365807"/>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dirty="0"/>
              <a:t>1. Provide feedback</a:t>
            </a:r>
          </a:p>
        </p:txBody>
      </p:sp>
      <p:sp>
        <p:nvSpPr>
          <p:cNvPr id="82947" name="Rectangle 3"/>
          <p:cNvSpPr>
            <a:spLocks noGrp="1" noChangeArrowheads="1"/>
          </p:cNvSpPr>
          <p:nvPr>
            <p:ph type="body" idx="1"/>
          </p:nvPr>
        </p:nvSpPr>
        <p:spPr/>
        <p:txBody>
          <a:bodyPr>
            <a:normAutofit/>
          </a:bodyPr>
          <a:lstStyle/>
          <a:p>
            <a:r>
              <a:rPr lang="en-US" dirty="0"/>
              <a:t>Be as specific as possible, based on user’s input</a:t>
            </a:r>
          </a:p>
          <a:p>
            <a:endParaRPr lang="en-US" dirty="0"/>
          </a:p>
          <a:p>
            <a:endParaRPr lang="en-US" dirty="0"/>
          </a:p>
          <a:p>
            <a:endParaRPr lang="en-US" dirty="0"/>
          </a:p>
          <a:p>
            <a:endParaRPr lang="en-US" dirty="0"/>
          </a:p>
          <a:p>
            <a:r>
              <a:rPr lang="en-US" dirty="0"/>
              <a:t>Best within the context of the action</a:t>
            </a:r>
          </a:p>
        </p:txBody>
      </p:sp>
      <p:pic>
        <p:nvPicPr>
          <p:cNvPr id="82948" name="Picture 4"/>
          <p:cNvPicPr>
            <a:picLocks noChangeAspect="1" noChangeArrowheads="1"/>
          </p:cNvPicPr>
          <p:nvPr/>
        </p:nvPicPr>
        <p:blipFill>
          <a:blip r:embed="rId3" cstate="print"/>
          <a:srcRect/>
          <a:stretch>
            <a:fillRect/>
          </a:stretch>
        </p:blipFill>
        <p:spPr bwMode="auto">
          <a:xfrm>
            <a:off x="1320800" y="1905000"/>
            <a:ext cx="3000375" cy="1647825"/>
          </a:xfrm>
          <a:prstGeom prst="rect">
            <a:avLst/>
          </a:prstGeom>
          <a:noFill/>
          <a:ln w="12699">
            <a:noFill/>
            <a:miter lim="800000"/>
            <a:headEnd type="none" w="sm" len="sm"/>
            <a:tailEnd type="none" w="sm" len="sm"/>
          </a:ln>
          <a:effectLst/>
        </p:spPr>
      </p:pic>
      <p:pic>
        <p:nvPicPr>
          <p:cNvPr id="82949" name="Picture 5"/>
          <p:cNvPicPr>
            <a:picLocks noChangeAspect="1" noChangeArrowheads="1"/>
          </p:cNvPicPr>
          <p:nvPr/>
        </p:nvPicPr>
        <p:blipFill>
          <a:blip r:embed="rId4" cstate="print"/>
          <a:srcRect/>
          <a:stretch>
            <a:fillRect/>
          </a:stretch>
        </p:blipFill>
        <p:spPr bwMode="auto">
          <a:xfrm>
            <a:off x="4848225" y="1905000"/>
            <a:ext cx="3000375" cy="1647825"/>
          </a:xfrm>
          <a:prstGeom prst="rect">
            <a:avLst/>
          </a:prstGeom>
          <a:noFill/>
          <a:ln w="12699">
            <a:noFill/>
            <a:miter lim="800000"/>
            <a:headEnd type="none" w="sm" len="sm"/>
            <a:tailEnd type="none" w="sm" len="sm"/>
          </a:ln>
          <a:effectLst/>
        </p:spPr>
      </p:pic>
      <p:graphicFrame>
        <p:nvGraphicFramePr>
          <p:cNvPr id="82950" name="Object 6"/>
          <p:cNvGraphicFramePr>
            <a:graphicFrameLocks/>
          </p:cNvGraphicFramePr>
          <p:nvPr/>
        </p:nvGraphicFramePr>
        <p:xfrm>
          <a:off x="1671637" y="4457700"/>
          <a:ext cx="3738563" cy="1638300"/>
        </p:xfrm>
        <a:graphic>
          <a:graphicData uri="http://schemas.openxmlformats.org/presentationml/2006/ole">
            <mc:AlternateContent xmlns:mc="http://schemas.openxmlformats.org/markup-compatibility/2006">
              <mc:Choice xmlns:v="urn:schemas-microsoft-com:vml" Requires="v">
                <p:oleObj spid="_x0000_s4098" name="Document" r:id="rId5" imgW="2231136" imgH="982980" progId="Word.Document.8">
                  <p:embed/>
                </p:oleObj>
              </mc:Choice>
              <mc:Fallback>
                <p:oleObj name="Document" r:id="rId5" imgW="2231136" imgH="982980" progId="Word.Document.8">
                  <p:embed/>
                  <p:pic>
                    <p:nvPicPr>
                      <p:cNvPr id="0" name="Picture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1637" y="4457700"/>
                        <a:ext cx="3738563" cy="163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US" dirty="0"/>
              <a:t>1. Provide feedback</a:t>
            </a:r>
            <a:endParaRPr lang="en-CA" dirty="0"/>
          </a:p>
        </p:txBody>
      </p:sp>
      <p:pic>
        <p:nvPicPr>
          <p:cNvPr id="116740" name="Picture 4" descr="Epileptics Beware"/>
          <p:cNvPicPr>
            <a:picLocks noChangeAspect="1" noChangeArrowheads="1" noCrop="1"/>
          </p:cNvPicPr>
          <p:nvPr/>
        </p:nvPicPr>
        <p:blipFill>
          <a:blip r:embed="rId2" cstate="print"/>
          <a:srcRect/>
          <a:stretch>
            <a:fillRect/>
          </a:stretch>
        </p:blipFill>
        <p:spPr bwMode="auto">
          <a:xfrm>
            <a:off x="3429000" y="3124200"/>
            <a:ext cx="4297363" cy="1246188"/>
          </a:xfrm>
          <a:prstGeom prst="rect">
            <a:avLst/>
          </a:prstGeom>
          <a:noFill/>
        </p:spPr>
      </p:pic>
      <p:sp>
        <p:nvSpPr>
          <p:cNvPr id="116742" name="AutoShape 6"/>
          <p:cNvSpPr>
            <a:spLocks/>
          </p:cNvSpPr>
          <p:nvPr/>
        </p:nvSpPr>
        <p:spPr bwMode="auto">
          <a:xfrm>
            <a:off x="755650" y="1700213"/>
            <a:ext cx="3657600" cy="609600"/>
          </a:xfrm>
          <a:prstGeom prst="borderCallout2">
            <a:avLst>
              <a:gd name="adj1" fmla="val 18750"/>
              <a:gd name="adj2" fmla="val 102083"/>
              <a:gd name="adj3" fmla="val 18750"/>
              <a:gd name="adj4" fmla="val 141278"/>
              <a:gd name="adj5" fmla="val 306250"/>
              <a:gd name="adj6" fmla="val 160157"/>
            </a:avLst>
          </a:prstGeom>
          <a:noFill/>
          <a:ln w="12699">
            <a:solidFill>
              <a:schemeClr val="tx1"/>
            </a:solidFill>
            <a:miter lim="800000"/>
            <a:headEnd type="none" w="sm" len="sm"/>
            <a:tailEnd type="none" w="sm" len="sm"/>
          </a:ln>
          <a:effectLst/>
        </p:spPr>
        <p:txBody>
          <a:bodyPr lIns="92075" tIns="46038" rIns="92075" bIns="46038" anchor="ctr"/>
          <a:lstStyle/>
          <a:p>
            <a:pPr eaLnBrk="0" hangingPunct="0"/>
            <a:r>
              <a:rPr lang="en-US" sz="1800">
                <a:latin typeface="Arial" charset="0"/>
              </a:rPr>
              <a:t>Multiple files being copied, </a:t>
            </a:r>
            <a:br>
              <a:rPr lang="en-US" sz="1800">
                <a:latin typeface="Arial" charset="0"/>
              </a:rPr>
            </a:br>
            <a:r>
              <a:rPr lang="en-US" sz="1800">
                <a:latin typeface="Arial" charset="0"/>
              </a:rPr>
              <a:t>but feedback is file by file.</a:t>
            </a:r>
            <a:endParaRPr lang="en-CA" sz="1800">
              <a:latin typeface="Arial"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6"/>
          <p:cNvSpPr>
            <a:spLocks noGrp="1" noChangeArrowheads="1"/>
          </p:cNvSpPr>
          <p:nvPr>
            <p:ph type="title"/>
          </p:nvPr>
        </p:nvSpPr>
        <p:spPr/>
        <p:txBody>
          <a:bodyPr/>
          <a:lstStyle/>
          <a:p>
            <a:r>
              <a:rPr lang="en-US" dirty="0"/>
              <a:t>1. Provide feedback</a:t>
            </a:r>
          </a:p>
        </p:txBody>
      </p:sp>
      <p:sp>
        <p:nvSpPr>
          <p:cNvPr id="81923" name="Rectangle 1027"/>
          <p:cNvSpPr>
            <a:spLocks noGrp="1" noChangeArrowheads="1"/>
          </p:cNvSpPr>
          <p:nvPr>
            <p:ph type="body" idx="1"/>
          </p:nvPr>
        </p:nvSpPr>
        <p:spPr/>
        <p:txBody>
          <a:bodyPr/>
          <a:lstStyle/>
          <a:p>
            <a:r>
              <a:rPr lang="en-US"/>
              <a:t>Response time</a:t>
            </a:r>
          </a:p>
          <a:p>
            <a:pPr lvl="1"/>
            <a:r>
              <a:rPr lang="en-US"/>
              <a:t>how users perceive delays</a:t>
            </a:r>
            <a:br>
              <a:rPr lang="en-US"/>
            </a:br>
            <a:endParaRPr lang="en-US"/>
          </a:p>
          <a:p>
            <a:pPr lvl="2">
              <a:buFontTx/>
              <a:buNone/>
            </a:pPr>
            <a:r>
              <a:rPr lang="en-US"/>
              <a:t>   &lt;0.1s  	perceived as “instantaneous”</a:t>
            </a:r>
            <a:br>
              <a:rPr lang="en-US"/>
            </a:br>
            <a:endParaRPr lang="en-US"/>
          </a:p>
          <a:p>
            <a:pPr lvl="2">
              <a:buFontTx/>
              <a:buNone/>
            </a:pPr>
            <a:r>
              <a:rPr lang="en-US"/>
              <a:t>      1s      	user’s flow of thought stays uninterrupted, but 			delay noticed</a:t>
            </a:r>
            <a:br>
              <a:rPr lang="en-US"/>
            </a:br>
            <a:endParaRPr lang="en-US"/>
          </a:p>
          <a:p>
            <a:pPr lvl="2">
              <a:buFontTx/>
              <a:buNone/>
            </a:pPr>
            <a:r>
              <a:rPr lang="en-US"/>
              <a:t>    10s    	limit for keeping user’s attention focused on the dialog</a:t>
            </a:r>
            <a:br>
              <a:rPr lang="en-US"/>
            </a:br>
            <a:endParaRPr lang="en-US"/>
          </a:p>
          <a:p>
            <a:pPr lvl="2">
              <a:buFontTx/>
              <a:buNone/>
            </a:pPr>
            <a:r>
              <a:rPr lang="en-US"/>
              <a:t>&gt;  10s     user will want to perform other tasks while waiting</a:t>
            </a:r>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ln/>
        </p:spPr>
        <p:txBody>
          <a:bodyPr lIns="92075" tIns="46038" rIns="92075" bIns="46038"/>
          <a:lstStyle/>
          <a:p>
            <a:r>
              <a:rPr lang="en-US" dirty="0"/>
              <a:t>1. Provide feedback</a:t>
            </a:r>
          </a:p>
        </p:txBody>
      </p:sp>
      <p:pic>
        <p:nvPicPr>
          <p:cNvPr id="20483" name="Picture 3"/>
          <p:cNvPicPr>
            <a:picLocks noChangeArrowheads="1"/>
          </p:cNvPicPr>
          <p:nvPr/>
        </p:nvPicPr>
        <p:blipFill>
          <a:blip r:embed="rId4" cstate="print"/>
          <a:srcRect/>
          <a:stretch>
            <a:fillRect/>
          </a:stretch>
        </p:blipFill>
        <p:spPr bwMode="auto">
          <a:xfrm>
            <a:off x="4552950" y="3352800"/>
            <a:ext cx="3295650" cy="1171575"/>
          </a:xfrm>
          <a:prstGeom prst="rect">
            <a:avLst/>
          </a:prstGeom>
          <a:noFill/>
          <a:ln w="9525">
            <a:noFill/>
            <a:miter lim="800000"/>
            <a:headEnd/>
            <a:tailEnd/>
          </a:ln>
          <a:effectLst/>
        </p:spPr>
      </p:pic>
      <p:sp>
        <p:nvSpPr>
          <p:cNvPr id="20484" name="Rectangle 4"/>
          <p:cNvSpPr>
            <a:spLocks noGrp="1" noChangeArrowheads="1"/>
          </p:cNvSpPr>
          <p:nvPr>
            <p:ph type="body" idx="1"/>
          </p:nvPr>
        </p:nvSpPr>
        <p:spPr>
          <a:noFill/>
          <a:ln/>
        </p:spPr>
        <p:txBody>
          <a:bodyPr lIns="92075" tIns="46038" rIns="92075" bIns="46038">
            <a:normAutofit lnSpcReduction="10000"/>
          </a:bodyPr>
          <a:lstStyle/>
          <a:p>
            <a:r>
              <a:rPr lang="en-US"/>
              <a:t>Dealing with long delays</a:t>
            </a:r>
            <a:br>
              <a:rPr lang="en-US"/>
            </a:br>
            <a:endParaRPr lang="en-US"/>
          </a:p>
          <a:p>
            <a:pPr lvl="1"/>
            <a:r>
              <a:rPr lang="en-US"/>
              <a:t>Cursors</a:t>
            </a:r>
          </a:p>
          <a:p>
            <a:pPr lvl="2"/>
            <a:r>
              <a:rPr lang="en-US"/>
              <a:t>for short transactions</a:t>
            </a:r>
            <a:br>
              <a:rPr lang="en-US"/>
            </a:br>
            <a:br>
              <a:rPr lang="en-US"/>
            </a:br>
            <a:endParaRPr lang="en-US"/>
          </a:p>
          <a:p>
            <a:pPr lvl="1"/>
            <a:r>
              <a:rPr lang="en-US"/>
              <a:t>Percent done dialogs</a:t>
            </a:r>
          </a:p>
          <a:p>
            <a:pPr lvl="3"/>
            <a:r>
              <a:rPr lang="en-US"/>
              <a:t>time left</a:t>
            </a:r>
          </a:p>
          <a:p>
            <a:pPr lvl="3"/>
            <a:r>
              <a:rPr lang="en-US"/>
              <a:t>estimated time</a:t>
            </a:r>
          </a:p>
          <a:p>
            <a:pPr lvl="3">
              <a:buFontTx/>
              <a:buNone/>
            </a:pPr>
            <a:br>
              <a:rPr lang="en-US"/>
            </a:br>
            <a:endParaRPr lang="en-US"/>
          </a:p>
          <a:p>
            <a:pPr lvl="1"/>
            <a:r>
              <a:rPr lang="en-US"/>
              <a:t>Random</a:t>
            </a:r>
          </a:p>
          <a:p>
            <a:pPr lvl="2"/>
            <a:r>
              <a:rPr lang="en-US"/>
              <a:t>for unknown times</a:t>
            </a:r>
          </a:p>
        </p:txBody>
      </p:sp>
      <p:grpSp>
        <p:nvGrpSpPr>
          <p:cNvPr id="2" name="Group 26"/>
          <p:cNvGrpSpPr>
            <a:grpSpLocks/>
          </p:cNvGrpSpPr>
          <p:nvPr/>
        </p:nvGrpSpPr>
        <p:grpSpPr bwMode="auto">
          <a:xfrm>
            <a:off x="4667250" y="5105400"/>
            <a:ext cx="2876550" cy="1457325"/>
            <a:chOff x="2391" y="2911"/>
            <a:chExt cx="1812" cy="918"/>
          </a:xfrm>
        </p:grpSpPr>
        <p:sp>
          <p:nvSpPr>
            <p:cNvPr id="20485" name="Rectangle 5"/>
            <p:cNvSpPr>
              <a:spLocks noChangeArrowheads="1"/>
            </p:cNvSpPr>
            <p:nvPr/>
          </p:nvSpPr>
          <p:spPr bwMode="auto">
            <a:xfrm>
              <a:off x="2391" y="2911"/>
              <a:ext cx="1812" cy="918"/>
            </a:xfrm>
            <a:prstGeom prst="rect">
              <a:avLst/>
            </a:prstGeom>
            <a:solidFill>
              <a:schemeClr val="bg2"/>
            </a:solidFill>
            <a:ln w="76200">
              <a:solidFill>
                <a:schemeClr val="tx1"/>
              </a:solidFill>
              <a:miter lim="800000"/>
              <a:headEnd/>
              <a:tailEnd/>
            </a:ln>
            <a:effectLst/>
          </p:spPr>
          <p:txBody>
            <a:bodyPr wrap="none" anchor="ctr"/>
            <a:lstStyle/>
            <a:p>
              <a:endParaRPr lang="en-US"/>
            </a:p>
          </p:txBody>
        </p:sp>
        <p:sp>
          <p:nvSpPr>
            <p:cNvPr id="20486" name="Oval 6"/>
            <p:cNvSpPr>
              <a:spLocks noChangeArrowheads="1"/>
            </p:cNvSpPr>
            <p:nvPr/>
          </p:nvSpPr>
          <p:spPr bwMode="auto">
            <a:xfrm>
              <a:off x="2977" y="3137"/>
              <a:ext cx="492" cy="512"/>
            </a:xfrm>
            <a:prstGeom prst="ellipse">
              <a:avLst/>
            </a:prstGeom>
            <a:solidFill>
              <a:schemeClr val="bg2"/>
            </a:solidFill>
            <a:ln w="76200">
              <a:solidFill>
                <a:schemeClr val="tx1"/>
              </a:solidFill>
              <a:round/>
              <a:headEnd/>
              <a:tailEnd/>
            </a:ln>
            <a:effectLst/>
          </p:spPr>
          <p:txBody>
            <a:bodyPr wrap="none" anchor="ctr"/>
            <a:lstStyle/>
            <a:p>
              <a:endParaRPr lang="en-US"/>
            </a:p>
          </p:txBody>
        </p:sp>
        <p:sp>
          <p:nvSpPr>
            <p:cNvPr id="20488" name="Rectangle 8"/>
            <p:cNvSpPr>
              <a:spLocks noChangeArrowheads="1"/>
            </p:cNvSpPr>
            <p:nvPr/>
          </p:nvSpPr>
          <p:spPr bwMode="auto">
            <a:xfrm>
              <a:off x="3600" y="3552"/>
              <a:ext cx="445" cy="198"/>
            </a:xfrm>
            <a:prstGeom prst="rect">
              <a:avLst/>
            </a:prstGeom>
            <a:solidFill>
              <a:schemeClr val="bg2"/>
            </a:solidFill>
            <a:ln w="9525">
              <a:solidFill>
                <a:schemeClr val="tx1"/>
              </a:solidFill>
              <a:miter lim="800000"/>
              <a:headEnd/>
              <a:tailEnd/>
            </a:ln>
            <a:effectLst/>
          </p:spPr>
          <p:txBody>
            <a:bodyPr wrap="none" lIns="92075" tIns="46038" rIns="92075" bIns="46038">
              <a:spAutoFit/>
            </a:bodyPr>
            <a:lstStyle/>
            <a:p>
              <a:pPr eaLnBrk="0" hangingPunct="0"/>
              <a:r>
                <a:rPr lang="en-US" sz="1400">
                  <a:latin typeface="Arial" charset="0"/>
                </a:rPr>
                <a:t>cancel</a:t>
              </a:r>
            </a:p>
          </p:txBody>
        </p:sp>
        <p:sp>
          <p:nvSpPr>
            <p:cNvPr id="20489" name="Oval 9"/>
            <p:cNvSpPr>
              <a:spLocks noChangeArrowheads="1"/>
            </p:cNvSpPr>
            <p:nvPr/>
          </p:nvSpPr>
          <p:spPr bwMode="auto">
            <a:xfrm>
              <a:off x="3111" y="3337"/>
              <a:ext cx="38" cy="39"/>
            </a:xfrm>
            <a:prstGeom prst="ellipse">
              <a:avLst/>
            </a:prstGeom>
            <a:solidFill>
              <a:schemeClr val="bg2"/>
            </a:solidFill>
            <a:ln w="76200">
              <a:solidFill>
                <a:schemeClr val="tx1"/>
              </a:solidFill>
              <a:round/>
              <a:headEnd/>
              <a:tailEnd/>
            </a:ln>
            <a:effectLst/>
          </p:spPr>
          <p:txBody>
            <a:bodyPr wrap="none" anchor="ctr"/>
            <a:lstStyle/>
            <a:p>
              <a:endParaRPr lang="en-US"/>
            </a:p>
          </p:txBody>
        </p:sp>
        <p:sp>
          <p:nvSpPr>
            <p:cNvPr id="20490" name="Oval 10"/>
            <p:cNvSpPr>
              <a:spLocks noChangeArrowheads="1"/>
            </p:cNvSpPr>
            <p:nvPr/>
          </p:nvSpPr>
          <p:spPr bwMode="auto">
            <a:xfrm>
              <a:off x="3194" y="3219"/>
              <a:ext cx="38" cy="39"/>
            </a:xfrm>
            <a:prstGeom prst="ellipse">
              <a:avLst/>
            </a:prstGeom>
            <a:solidFill>
              <a:schemeClr val="bg2"/>
            </a:solidFill>
            <a:ln w="76200">
              <a:solidFill>
                <a:schemeClr val="tx1"/>
              </a:solidFill>
              <a:round/>
              <a:headEnd/>
              <a:tailEnd/>
            </a:ln>
            <a:effectLst/>
          </p:spPr>
          <p:txBody>
            <a:bodyPr wrap="none" anchor="ctr"/>
            <a:lstStyle/>
            <a:p>
              <a:endParaRPr lang="en-US"/>
            </a:p>
          </p:txBody>
        </p:sp>
        <p:sp>
          <p:nvSpPr>
            <p:cNvPr id="20491" name="Oval 11"/>
            <p:cNvSpPr>
              <a:spLocks noChangeArrowheads="1"/>
            </p:cNvSpPr>
            <p:nvPr/>
          </p:nvSpPr>
          <p:spPr bwMode="auto">
            <a:xfrm>
              <a:off x="3296" y="3489"/>
              <a:ext cx="38" cy="39"/>
            </a:xfrm>
            <a:prstGeom prst="ellipse">
              <a:avLst/>
            </a:prstGeom>
            <a:solidFill>
              <a:schemeClr val="bg2"/>
            </a:solidFill>
            <a:ln w="76200">
              <a:solidFill>
                <a:schemeClr val="tx1"/>
              </a:solidFill>
              <a:round/>
              <a:headEnd/>
              <a:tailEnd/>
            </a:ln>
            <a:effectLst/>
          </p:spPr>
          <p:txBody>
            <a:bodyPr wrap="none" anchor="ctr"/>
            <a:lstStyle/>
            <a:p>
              <a:endParaRPr lang="en-US"/>
            </a:p>
          </p:txBody>
        </p:sp>
        <p:sp>
          <p:nvSpPr>
            <p:cNvPr id="20492" name="Oval 12"/>
            <p:cNvSpPr>
              <a:spLocks noChangeArrowheads="1"/>
            </p:cNvSpPr>
            <p:nvPr/>
          </p:nvSpPr>
          <p:spPr bwMode="auto">
            <a:xfrm>
              <a:off x="3119" y="3512"/>
              <a:ext cx="38" cy="39"/>
            </a:xfrm>
            <a:prstGeom prst="ellipse">
              <a:avLst/>
            </a:prstGeom>
            <a:solidFill>
              <a:schemeClr val="bg2"/>
            </a:solidFill>
            <a:ln w="76200">
              <a:solidFill>
                <a:schemeClr val="tx1"/>
              </a:solidFill>
              <a:round/>
              <a:headEnd/>
              <a:tailEnd/>
            </a:ln>
            <a:effectLst/>
          </p:spPr>
          <p:txBody>
            <a:bodyPr wrap="none" anchor="ctr"/>
            <a:lstStyle/>
            <a:p>
              <a:endParaRPr lang="en-US"/>
            </a:p>
          </p:txBody>
        </p:sp>
        <p:sp>
          <p:nvSpPr>
            <p:cNvPr id="20493" name="Oval 13"/>
            <p:cNvSpPr>
              <a:spLocks noChangeArrowheads="1"/>
            </p:cNvSpPr>
            <p:nvPr/>
          </p:nvSpPr>
          <p:spPr bwMode="auto">
            <a:xfrm>
              <a:off x="3302" y="3328"/>
              <a:ext cx="38" cy="39"/>
            </a:xfrm>
            <a:prstGeom prst="ellipse">
              <a:avLst/>
            </a:prstGeom>
            <a:solidFill>
              <a:schemeClr val="bg2"/>
            </a:solidFill>
            <a:ln w="76200">
              <a:solidFill>
                <a:schemeClr val="tx1"/>
              </a:solidFill>
              <a:round/>
              <a:headEnd/>
              <a:tailEnd/>
            </a:ln>
            <a:effectLst/>
          </p:spPr>
          <p:txBody>
            <a:bodyPr wrap="none" anchor="ctr"/>
            <a:lstStyle/>
            <a:p>
              <a:endParaRPr lang="en-US"/>
            </a:p>
          </p:txBody>
        </p:sp>
        <p:sp>
          <p:nvSpPr>
            <p:cNvPr id="20494" name="Rectangle 14"/>
            <p:cNvSpPr>
              <a:spLocks noChangeArrowheads="1"/>
            </p:cNvSpPr>
            <p:nvPr/>
          </p:nvSpPr>
          <p:spPr bwMode="auto">
            <a:xfrm>
              <a:off x="2415" y="2943"/>
              <a:ext cx="1729" cy="192"/>
            </a:xfrm>
            <a:prstGeom prst="rect">
              <a:avLst/>
            </a:prstGeom>
            <a:solidFill>
              <a:schemeClr val="bg2"/>
            </a:solidFill>
            <a:ln w="9525">
              <a:noFill/>
              <a:miter lim="800000"/>
              <a:headEnd/>
              <a:tailEnd/>
            </a:ln>
            <a:effectLst/>
          </p:spPr>
          <p:txBody>
            <a:bodyPr wrap="none" lIns="92075" tIns="46038" rIns="92075" bIns="46038">
              <a:spAutoFit/>
            </a:bodyPr>
            <a:lstStyle/>
            <a:p>
              <a:pPr eaLnBrk="0" hangingPunct="0"/>
              <a:r>
                <a:rPr lang="en-US" sz="1400">
                  <a:latin typeface="Arial" charset="0"/>
                </a:rPr>
                <a:t>Contacting host (10-60 seconds)</a:t>
              </a:r>
            </a:p>
          </p:txBody>
        </p:sp>
      </p:grpSp>
      <p:graphicFrame>
        <p:nvGraphicFramePr>
          <p:cNvPr id="181248" name="Object 0"/>
          <p:cNvGraphicFramePr>
            <a:graphicFrameLocks noChangeAspect="1"/>
          </p:cNvGraphicFramePr>
          <p:nvPr/>
        </p:nvGraphicFramePr>
        <p:xfrm>
          <a:off x="4427538" y="2492375"/>
          <a:ext cx="504825" cy="473075"/>
        </p:xfrm>
        <a:graphic>
          <a:graphicData uri="http://schemas.openxmlformats.org/presentationml/2006/ole">
            <mc:AlternateContent xmlns:mc="http://schemas.openxmlformats.org/markup-compatibility/2006">
              <mc:Choice xmlns:v="urn:schemas-microsoft-com:vml" Requires="v">
                <p:oleObj spid="_x0000_s5122" name="Photo Editor Photo" r:id="rId5" imgW="304923" imgH="285866" progId="">
                  <p:embed/>
                </p:oleObj>
              </mc:Choice>
              <mc:Fallback>
                <p:oleObj name="Photo Editor Photo" r:id="rId5" imgW="304923" imgH="285866" progId="">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7538" y="2492375"/>
                        <a:ext cx="504825"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Provide feedback</a:t>
            </a:r>
          </a:p>
        </p:txBody>
      </p:sp>
      <p:pic>
        <p:nvPicPr>
          <p:cNvPr id="4" name="Content Placeholder 3"/>
          <p:cNvPicPr>
            <a:picLocks noGrp="1" noChangeAspect="1"/>
          </p:cNvPicPr>
          <p:nvPr>
            <p:ph sz="quarter" idx="1"/>
          </p:nvPr>
        </p:nvPicPr>
        <p:blipFill>
          <a:blip r:embed="rId2"/>
          <a:stretch>
            <a:fillRect/>
          </a:stretch>
        </p:blipFill>
        <p:spPr>
          <a:xfrm>
            <a:off x="263012" y="1828800"/>
            <a:ext cx="8461195" cy="3962400"/>
          </a:xfrm>
          <a:prstGeom prst="rect">
            <a:avLst/>
          </a:prstGeom>
        </p:spPr>
      </p:pic>
    </p:spTree>
    <p:extLst>
      <p:ext uri="{BB962C8B-B14F-4D97-AF65-F5344CB8AC3E}">
        <p14:creationId xmlns:p14="http://schemas.microsoft.com/office/powerpoint/2010/main" val="2746468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Provide feedback</a:t>
            </a:r>
          </a:p>
        </p:txBody>
      </p:sp>
      <p:sp>
        <p:nvSpPr>
          <p:cNvPr id="3" name="Content Placeholder 2"/>
          <p:cNvSpPr>
            <a:spLocks noGrp="1"/>
          </p:cNvSpPr>
          <p:nvPr>
            <p:ph sz="quarter" idx="1"/>
          </p:nvPr>
        </p:nvSpPr>
        <p:spPr/>
        <p:txBody>
          <a:bodyPr/>
          <a:lstStyle/>
          <a:p>
            <a:endParaRPr lang="en-US"/>
          </a:p>
        </p:txBody>
      </p:sp>
      <p:pic>
        <p:nvPicPr>
          <p:cNvPr id="5" name="Picture 4"/>
          <p:cNvPicPr>
            <a:picLocks noChangeAspect="1"/>
          </p:cNvPicPr>
          <p:nvPr/>
        </p:nvPicPr>
        <p:blipFill>
          <a:blip r:embed="rId2"/>
          <a:stretch>
            <a:fillRect/>
          </a:stretch>
        </p:blipFill>
        <p:spPr>
          <a:xfrm>
            <a:off x="304800" y="2057400"/>
            <a:ext cx="8662840" cy="3819525"/>
          </a:xfrm>
          <a:prstGeom prst="rect">
            <a:avLst/>
          </a:prstGeom>
        </p:spPr>
      </p:pic>
    </p:spTree>
    <p:extLst>
      <p:ext uri="{BB962C8B-B14F-4D97-AF65-F5344CB8AC3E}">
        <p14:creationId xmlns:p14="http://schemas.microsoft.com/office/powerpoint/2010/main" val="2991392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Provide feedback</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164189" y="1981200"/>
            <a:ext cx="8979811" cy="3429000"/>
          </a:xfrm>
          <a:prstGeom prst="rect">
            <a:avLst/>
          </a:prstGeom>
        </p:spPr>
      </p:pic>
    </p:spTree>
    <p:extLst>
      <p:ext uri="{BB962C8B-B14F-4D97-AF65-F5344CB8AC3E}">
        <p14:creationId xmlns:p14="http://schemas.microsoft.com/office/powerpoint/2010/main" val="4232948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vert="horz" anchor="t">
            <a:normAutofit/>
          </a:bodyPr>
          <a:lstStyle/>
          <a:p>
            <a:pPr marL="514350" indent="-514350"/>
            <a:r>
              <a:rPr lang="en-US" b="1" dirty="0"/>
              <a:t>Match between system and the real world </a:t>
            </a:r>
            <a:r>
              <a:rPr lang="en-US" dirty="0"/>
              <a:t>[Speak the Users’ Language]</a:t>
            </a:r>
          </a:p>
          <a:p>
            <a:pPr marL="788670" lvl="1" indent="-514350"/>
            <a:endParaRPr lang="en-US" dirty="0"/>
          </a:p>
          <a:p>
            <a:pPr marL="788670" lvl="1" indent="-514350"/>
            <a:r>
              <a:rPr lang="en-US" dirty="0"/>
              <a:t>The system should speak the user’s language, with words, phrases and concepts familiar to the user, rather than system-oriented terms. Follow real-world conventions, making information appear in natural and logical order. </a:t>
            </a:r>
          </a:p>
          <a:p>
            <a:pPr marL="788670" lvl="1" indent="-514350"/>
            <a:endParaRPr lang="en-US" dirty="0"/>
          </a:p>
          <a:p>
            <a:pPr marL="788670" lvl="1" indent="-514350"/>
            <a:r>
              <a:rPr lang="en-US" dirty="0"/>
              <a:t>Match users’ mental model.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47"/>
          <p:cNvGrpSpPr>
            <a:grpSpLocks/>
          </p:cNvGrpSpPr>
          <p:nvPr/>
        </p:nvGrpSpPr>
        <p:grpSpPr bwMode="auto">
          <a:xfrm>
            <a:off x="381000" y="1447800"/>
            <a:ext cx="8458200" cy="5105400"/>
            <a:chOff x="0" y="672"/>
            <a:chExt cx="5760" cy="3648"/>
          </a:xfrm>
        </p:grpSpPr>
        <p:grpSp>
          <p:nvGrpSpPr>
            <p:cNvPr id="3" name="Group 1046"/>
            <p:cNvGrpSpPr>
              <a:grpSpLocks/>
            </p:cNvGrpSpPr>
            <p:nvPr/>
          </p:nvGrpSpPr>
          <p:grpSpPr bwMode="auto">
            <a:xfrm>
              <a:off x="0" y="672"/>
              <a:ext cx="5760" cy="3648"/>
              <a:chOff x="0" y="672"/>
              <a:chExt cx="5760" cy="3648"/>
            </a:xfrm>
          </p:grpSpPr>
          <p:sp>
            <p:nvSpPr>
              <p:cNvPr id="100373" name="Rectangle 1045"/>
              <p:cNvSpPr>
                <a:spLocks noChangeArrowheads="1"/>
              </p:cNvSpPr>
              <p:nvPr/>
            </p:nvSpPr>
            <p:spPr bwMode="auto">
              <a:xfrm>
                <a:off x="0" y="672"/>
                <a:ext cx="5760" cy="3648"/>
              </a:xfrm>
              <a:prstGeom prst="rect">
                <a:avLst/>
              </a:prstGeom>
              <a:solidFill>
                <a:srgbClr val="FFFFFF"/>
              </a:solidFill>
              <a:ln w="12699">
                <a:solidFill>
                  <a:schemeClr val="tx1"/>
                </a:solidFill>
                <a:miter lim="800000"/>
                <a:headEnd type="none" w="sm" len="sm"/>
                <a:tailEnd type="none" w="sm" len="sm"/>
              </a:ln>
              <a:effectLst/>
            </p:spPr>
            <p:txBody>
              <a:bodyPr wrap="none" lIns="92075" tIns="46038" rIns="92075" bIns="46038" anchor="ctr">
                <a:spAutoFit/>
              </a:bodyPr>
              <a:lstStyle/>
              <a:p>
                <a:endParaRPr lang="en-US"/>
              </a:p>
            </p:txBody>
          </p:sp>
          <p:grpSp>
            <p:nvGrpSpPr>
              <p:cNvPr id="4" name="Group 1043"/>
              <p:cNvGrpSpPr>
                <a:grpSpLocks/>
              </p:cNvGrpSpPr>
              <p:nvPr/>
            </p:nvGrpSpPr>
            <p:grpSpPr bwMode="auto">
              <a:xfrm>
                <a:off x="240" y="683"/>
                <a:ext cx="5424" cy="3637"/>
                <a:chOff x="240" y="77"/>
                <a:chExt cx="5424" cy="3637"/>
              </a:xfrm>
            </p:grpSpPr>
            <p:pic>
              <p:nvPicPr>
                <p:cNvPr id="100355" name="Picture 1027"/>
                <p:cNvPicPr>
                  <a:picLocks noChangeAspect="1" noChangeArrowheads="1"/>
                </p:cNvPicPr>
                <p:nvPr/>
              </p:nvPicPr>
              <p:blipFill>
                <a:blip r:embed="rId2" cstate="print"/>
                <a:srcRect/>
                <a:stretch>
                  <a:fillRect/>
                </a:stretch>
              </p:blipFill>
              <p:spPr bwMode="auto">
                <a:xfrm>
                  <a:off x="1056" y="864"/>
                  <a:ext cx="1608" cy="894"/>
                </a:xfrm>
                <a:prstGeom prst="rect">
                  <a:avLst/>
                </a:prstGeom>
                <a:noFill/>
                <a:ln w="12699">
                  <a:noFill/>
                  <a:miter lim="800000"/>
                  <a:headEnd type="none" w="sm" len="sm"/>
                  <a:tailEnd type="none" w="sm" len="sm"/>
                </a:ln>
                <a:effectLst/>
              </p:spPr>
            </p:pic>
            <p:sp>
              <p:nvSpPr>
                <p:cNvPr id="100359" name="AutoShape 1031"/>
                <p:cNvSpPr>
                  <a:spLocks noChangeArrowheads="1"/>
                </p:cNvSpPr>
                <p:nvPr/>
              </p:nvSpPr>
              <p:spPr bwMode="auto">
                <a:xfrm>
                  <a:off x="240" y="77"/>
                  <a:ext cx="1536" cy="539"/>
                </a:xfrm>
                <a:prstGeom prst="wedgeRoundRectCallout">
                  <a:avLst>
                    <a:gd name="adj1" fmla="val 42838"/>
                    <a:gd name="adj2" fmla="val 116000"/>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My program gave me the message </a:t>
                  </a:r>
                  <a:r>
                    <a:rPr lang="en-US" sz="1400" i="1"/>
                    <a:t>Rstrd Info</a:t>
                  </a:r>
                  <a:r>
                    <a:rPr lang="en-US" sz="1400"/>
                    <a:t>.</a:t>
                  </a:r>
                  <a:br>
                    <a:rPr lang="en-US" sz="1400"/>
                  </a:br>
                  <a:r>
                    <a:rPr lang="en-US" sz="1400"/>
                    <a:t>What does it mean?</a:t>
                  </a:r>
                  <a:endParaRPr lang="en-US" sz="1400">
                    <a:latin typeface="Arial" charset="0"/>
                  </a:endParaRPr>
                </a:p>
              </p:txBody>
            </p:sp>
            <p:sp>
              <p:nvSpPr>
                <p:cNvPr id="100360" name="AutoShape 1032"/>
                <p:cNvSpPr>
                  <a:spLocks noChangeArrowheads="1"/>
                </p:cNvSpPr>
                <p:nvPr/>
              </p:nvSpPr>
              <p:spPr bwMode="auto">
                <a:xfrm>
                  <a:off x="1824" y="77"/>
                  <a:ext cx="1008" cy="539"/>
                </a:xfrm>
                <a:prstGeom prst="wedgeRoundRectCallout">
                  <a:avLst>
                    <a:gd name="adj1" fmla="val -7343"/>
                    <a:gd name="adj2" fmla="val 118199"/>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That’s restricted information</a:t>
                  </a:r>
                  <a:endParaRPr lang="en-US" sz="1400">
                    <a:latin typeface="Arial" charset="0"/>
                  </a:endParaRPr>
                </a:p>
              </p:txBody>
            </p:sp>
            <p:pic>
              <p:nvPicPr>
                <p:cNvPr id="100361" name="Picture 1033"/>
                <p:cNvPicPr>
                  <a:picLocks noChangeAspect="1" noChangeArrowheads="1"/>
                </p:cNvPicPr>
                <p:nvPr/>
              </p:nvPicPr>
              <p:blipFill>
                <a:blip r:embed="rId3" cstate="print"/>
                <a:srcRect/>
                <a:stretch>
                  <a:fillRect/>
                </a:stretch>
              </p:blipFill>
              <p:spPr bwMode="auto">
                <a:xfrm>
                  <a:off x="3168" y="912"/>
                  <a:ext cx="1584" cy="894"/>
                </a:xfrm>
                <a:prstGeom prst="rect">
                  <a:avLst/>
                </a:prstGeom>
                <a:noFill/>
                <a:ln w="12699">
                  <a:noFill/>
                  <a:miter lim="800000"/>
                  <a:headEnd type="none" w="sm" len="sm"/>
                  <a:tailEnd type="none" w="sm" len="sm"/>
                </a:ln>
                <a:effectLst/>
              </p:spPr>
            </p:pic>
            <p:sp>
              <p:nvSpPr>
                <p:cNvPr id="100362" name="AutoShape 1034"/>
                <p:cNvSpPr>
                  <a:spLocks noChangeArrowheads="1"/>
                </p:cNvSpPr>
                <p:nvPr/>
              </p:nvSpPr>
              <p:spPr bwMode="auto">
                <a:xfrm>
                  <a:off x="3024" y="227"/>
                  <a:ext cx="1152" cy="383"/>
                </a:xfrm>
                <a:prstGeom prst="wedgeRoundRectCallout">
                  <a:avLst>
                    <a:gd name="adj1" fmla="val 22222"/>
                    <a:gd name="adj2" fmla="val 148597"/>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But surely you can tell me!!!</a:t>
                  </a:r>
                  <a:endParaRPr lang="en-US" sz="1400">
                    <a:latin typeface="Arial" charset="0"/>
                  </a:endParaRPr>
                </a:p>
              </p:txBody>
            </p:sp>
            <p:sp>
              <p:nvSpPr>
                <p:cNvPr id="100363" name="AutoShape 1035"/>
                <p:cNvSpPr>
                  <a:spLocks noChangeArrowheads="1"/>
                </p:cNvSpPr>
                <p:nvPr/>
              </p:nvSpPr>
              <p:spPr bwMode="auto">
                <a:xfrm>
                  <a:off x="4224" y="173"/>
                  <a:ext cx="1440" cy="538"/>
                </a:xfrm>
                <a:prstGeom prst="wedgeRoundRectCallout">
                  <a:avLst>
                    <a:gd name="adj1" fmla="val -29722"/>
                    <a:gd name="adj2" fmla="val 95398"/>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No, no… </a:t>
                  </a:r>
                  <a:r>
                    <a:rPr lang="en-US" sz="1400" i="1"/>
                    <a:t>Rsdrd Info</a:t>
                  </a:r>
                  <a:r>
                    <a:rPr lang="en-US" sz="1400"/>
                    <a:t> stands for “Restricted Information”</a:t>
                  </a:r>
                  <a:endParaRPr lang="en-US" sz="1400">
                    <a:latin typeface="Arial" charset="0"/>
                  </a:endParaRPr>
                </a:p>
              </p:txBody>
            </p:sp>
            <p:pic>
              <p:nvPicPr>
                <p:cNvPr id="100364" name="Picture 1036"/>
                <p:cNvPicPr>
                  <a:picLocks noChangeAspect="1" noChangeArrowheads="1"/>
                </p:cNvPicPr>
                <p:nvPr/>
              </p:nvPicPr>
              <p:blipFill>
                <a:blip r:embed="rId4" cstate="print"/>
                <a:srcRect/>
                <a:stretch>
                  <a:fillRect/>
                </a:stretch>
              </p:blipFill>
              <p:spPr bwMode="auto">
                <a:xfrm>
                  <a:off x="1056" y="2784"/>
                  <a:ext cx="1548" cy="888"/>
                </a:xfrm>
                <a:prstGeom prst="rect">
                  <a:avLst/>
                </a:prstGeom>
                <a:noFill/>
                <a:ln w="12699">
                  <a:noFill/>
                  <a:miter lim="800000"/>
                  <a:headEnd type="none" w="sm" len="sm"/>
                  <a:tailEnd type="none" w="sm" len="sm"/>
                </a:ln>
                <a:effectLst/>
              </p:spPr>
            </p:pic>
            <p:sp>
              <p:nvSpPr>
                <p:cNvPr id="100365" name="AutoShape 1037"/>
                <p:cNvSpPr>
                  <a:spLocks noChangeArrowheads="1"/>
                </p:cNvSpPr>
                <p:nvPr/>
              </p:nvSpPr>
              <p:spPr bwMode="auto">
                <a:xfrm>
                  <a:off x="240" y="2146"/>
                  <a:ext cx="1152" cy="384"/>
                </a:xfrm>
                <a:prstGeom prst="wedgeRoundRectCallout">
                  <a:avLst>
                    <a:gd name="adj1" fmla="val 57120"/>
                    <a:gd name="adj2" fmla="val 125000"/>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Hmm… but what does it </a:t>
                  </a:r>
                  <a:r>
                    <a:rPr lang="en-US" sz="1400" u="sng"/>
                    <a:t>mean</a:t>
                  </a:r>
                  <a:r>
                    <a:rPr lang="en-US" sz="1400"/>
                    <a:t>???</a:t>
                  </a:r>
                  <a:endParaRPr lang="en-US" sz="1400">
                    <a:latin typeface="Arial" charset="0"/>
                  </a:endParaRPr>
                </a:p>
              </p:txBody>
            </p:sp>
            <p:sp>
              <p:nvSpPr>
                <p:cNvPr id="100366" name="AutoShape 1038"/>
                <p:cNvSpPr>
                  <a:spLocks noChangeArrowheads="1"/>
                </p:cNvSpPr>
                <p:nvPr/>
              </p:nvSpPr>
              <p:spPr bwMode="auto">
                <a:xfrm>
                  <a:off x="1536" y="2093"/>
                  <a:ext cx="1344" cy="539"/>
                </a:xfrm>
                <a:prstGeom prst="wedgeRoundRectCallout">
                  <a:avLst>
                    <a:gd name="adj1" fmla="val -6398"/>
                    <a:gd name="adj2" fmla="val 96398"/>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It means the program is too busy to let you log on</a:t>
                  </a:r>
                  <a:endParaRPr lang="en-US" sz="1400">
                    <a:latin typeface="Arial" charset="0"/>
                  </a:endParaRPr>
                </a:p>
              </p:txBody>
            </p:sp>
            <p:pic>
              <p:nvPicPr>
                <p:cNvPr id="100367" name="Picture 1039"/>
                <p:cNvPicPr>
                  <a:picLocks noChangeAspect="1" noChangeArrowheads="1"/>
                </p:cNvPicPr>
                <p:nvPr/>
              </p:nvPicPr>
              <p:blipFill>
                <a:blip r:embed="rId5" cstate="print"/>
                <a:srcRect/>
                <a:stretch>
                  <a:fillRect/>
                </a:stretch>
              </p:blipFill>
              <p:spPr bwMode="auto">
                <a:xfrm>
                  <a:off x="3360" y="2784"/>
                  <a:ext cx="1614" cy="930"/>
                </a:xfrm>
                <a:prstGeom prst="rect">
                  <a:avLst/>
                </a:prstGeom>
                <a:noFill/>
                <a:ln w="12699">
                  <a:noFill/>
                  <a:miter lim="800000"/>
                  <a:headEnd type="none" w="sm" len="sm"/>
                  <a:tailEnd type="none" w="sm" len="sm"/>
                </a:ln>
                <a:effectLst/>
              </p:spPr>
            </p:pic>
            <p:sp>
              <p:nvSpPr>
                <p:cNvPr id="100368" name="AutoShape 1040"/>
                <p:cNvSpPr>
                  <a:spLocks noChangeArrowheads="1"/>
                </p:cNvSpPr>
                <p:nvPr/>
              </p:nvSpPr>
              <p:spPr bwMode="auto">
                <a:xfrm>
                  <a:off x="3553" y="2098"/>
                  <a:ext cx="1151" cy="384"/>
                </a:xfrm>
                <a:prstGeom prst="wedgeRoundRectCallout">
                  <a:avLst>
                    <a:gd name="adj1" fmla="val -6421"/>
                    <a:gd name="adj2" fmla="val 148597"/>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Ok, I’ll take a coffee</a:t>
                  </a:r>
                  <a:endParaRPr lang="en-US" sz="1400">
                    <a:latin typeface="Arial" charset="0"/>
                  </a:endParaRPr>
                </a:p>
              </p:txBody>
            </p:sp>
          </p:grpSp>
        </p:grpSp>
        <p:sp>
          <p:nvSpPr>
            <p:cNvPr id="100369" name="Line 1041"/>
            <p:cNvSpPr>
              <a:spLocks noChangeShapeType="1"/>
            </p:cNvSpPr>
            <p:nvPr/>
          </p:nvSpPr>
          <p:spPr bwMode="auto">
            <a:xfrm>
              <a:off x="0" y="2400"/>
              <a:ext cx="5760" cy="0"/>
            </a:xfrm>
            <a:prstGeom prst="line">
              <a:avLst/>
            </a:prstGeom>
            <a:noFill/>
            <a:ln w="38100">
              <a:solidFill>
                <a:schemeClr val="tx1"/>
              </a:solidFill>
              <a:round/>
              <a:headEnd type="none" w="sm" len="sm"/>
              <a:tailEnd type="none" w="sm" len="sm"/>
            </a:ln>
            <a:effectLst/>
          </p:spPr>
          <p:txBody>
            <a:bodyPr wrap="none" lIns="92075" tIns="46038" rIns="92075" bIns="46038" anchor="ctr">
              <a:spAutoFit/>
            </a:bodyPr>
            <a:lstStyle/>
            <a:p>
              <a:endParaRPr lang="en-US"/>
            </a:p>
          </p:txBody>
        </p:sp>
        <p:sp>
          <p:nvSpPr>
            <p:cNvPr id="100370" name="Line 1042"/>
            <p:cNvSpPr>
              <a:spLocks noChangeShapeType="1"/>
            </p:cNvSpPr>
            <p:nvPr/>
          </p:nvSpPr>
          <p:spPr bwMode="auto">
            <a:xfrm>
              <a:off x="2976" y="672"/>
              <a:ext cx="0" cy="3648"/>
            </a:xfrm>
            <a:prstGeom prst="line">
              <a:avLst/>
            </a:prstGeom>
            <a:noFill/>
            <a:ln w="38100">
              <a:solidFill>
                <a:schemeClr val="tx1"/>
              </a:solidFill>
              <a:round/>
              <a:headEnd type="none" w="sm" len="sm"/>
              <a:tailEnd type="none" w="sm" len="sm"/>
            </a:ln>
            <a:effectLst/>
          </p:spPr>
          <p:txBody>
            <a:bodyPr lIns="92075" tIns="46038" rIns="92075" bIns="46038" anchor="ctr">
              <a:spAutoFit/>
            </a:bodyPr>
            <a:lstStyle/>
            <a:p>
              <a:endParaRPr lang="en-US"/>
            </a:p>
          </p:txBody>
        </p:sp>
      </p:grpSp>
      <p:sp>
        <p:nvSpPr>
          <p:cNvPr id="100372" name="Rectangle 1044"/>
          <p:cNvSpPr>
            <a:spLocks noGrp="1" noChangeArrowheads="1"/>
          </p:cNvSpPr>
          <p:nvPr>
            <p:ph type="title"/>
          </p:nvPr>
        </p:nvSpPr>
        <p:spPr/>
        <p:txBody>
          <a:bodyPr/>
          <a:lstStyle/>
          <a:p>
            <a:r>
              <a:rPr lang="en-US" dirty="0"/>
              <a:t>2. Speak the users’ language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Speak the users’ language</a:t>
            </a:r>
          </a:p>
        </p:txBody>
      </p:sp>
      <p:sp>
        <p:nvSpPr>
          <p:cNvPr id="3" name="Content Placeholder 2"/>
          <p:cNvSpPr>
            <a:spLocks noGrp="1"/>
          </p:cNvSpPr>
          <p:nvPr>
            <p:ph sz="quarter" idx="1"/>
          </p:nvPr>
        </p:nvSpPr>
        <p:spPr/>
        <p:txBody>
          <a:bodyPr/>
          <a:lstStyle/>
          <a:p>
            <a:r>
              <a:rPr lang="en-US" dirty="0"/>
              <a:t>Match between system and the real world </a:t>
            </a:r>
          </a:p>
          <a:p>
            <a:endParaRPr lang="en-US" dirty="0"/>
          </a:p>
        </p:txBody>
      </p:sp>
      <p:pic>
        <p:nvPicPr>
          <p:cNvPr id="4" name="Picture 3"/>
          <p:cNvPicPr>
            <a:picLocks noChangeAspect="1" noChangeArrowheads="1"/>
          </p:cNvPicPr>
          <p:nvPr/>
        </p:nvPicPr>
        <p:blipFill>
          <a:blip r:embed="rId2" cstate="print"/>
          <a:srcRect l="8750" t="48518" r="10625" b="18059"/>
          <a:stretch>
            <a:fillRect/>
          </a:stretch>
        </p:blipFill>
        <p:spPr bwMode="auto">
          <a:xfrm>
            <a:off x="228600" y="2743200"/>
            <a:ext cx="8686800" cy="2087563"/>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Speak the users’ language</a:t>
            </a:r>
          </a:p>
        </p:txBody>
      </p:sp>
      <p:sp>
        <p:nvSpPr>
          <p:cNvPr id="3" name="Content Placeholder 2"/>
          <p:cNvSpPr>
            <a:spLocks noGrp="1"/>
          </p:cNvSpPr>
          <p:nvPr>
            <p:ph sz="quarter" idx="1"/>
          </p:nvPr>
        </p:nvSpPr>
        <p:spPr/>
        <p:txBody>
          <a:bodyPr/>
          <a:lstStyle/>
          <a:p>
            <a:r>
              <a:rPr lang="en-US" dirty="0"/>
              <a:t>Match between system and the real world </a:t>
            </a:r>
          </a:p>
          <a:p>
            <a:endParaRPr lang="en-US" dirty="0"/>
          </a:p>
        </p:txBody>
      </p:sp>
      <p:pic>
        <p:nvPicPr>
          <p:cNvPr id="430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15299" y="2667000"/>
            <a:ext cx="3623501" cy="239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34097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2075" tIns="46038" rIns="92075" bIns="46038"/>
          <a:lstStyle/>
          <a:p>
            <a:r>
              <a:rPr lang="en-US" dirty="0"/>
              <a:t>2. Speak the users’ language</a:t>
            </a:r>
          </a:p>
        </p:txBody>
      </p:sp>
      <p:sp>
        <p:nvSpPr>
          <p:cNvPr id="10243" name="Rectangle 3"/>
          <p:cNvSpPr>
            <a:spLocks noGrp="1" noChangeArrowheads="1"/>
          </p:cNvSpPr>
          <p:nvPr>
            <p:ph type="body" idx="1"/>
          </p:nvPr>
        </p:nvSpPr>
        <p:spPr>
          <a:xfrm>
            <a:off x="395288" y="1557338"/>
            <a:ext cx="8208962" cy="4824412"/>
          </a:xfrm>
          <a:noFill/>
          <a:ln/>
        </p:spPr>
        <p:txBody>
          <a:bodyPr lIns="92075" tIns="46038" rIns="92075" bIns="46038">
            <a:normAutofit/>
          </a:bodyPr>
          <a:lstStyle/>
          <a:p>
            <a:r>
              <a:rPr lang="en-US" dirty="0"/>
              <a:t>Terminology based on users’ language for task</a:t>
            </a:r>
          </a:p>
          <a:p>
            <a:pPr lvl="1"/>
            <a:r>
              <a:rPr lang="en-US" dirty="0"/>
              <a:t>e.g. withdrawing money from a bank machine</a:t>
            </a:r>
          </a:p>
          <a:p>
            <a:pPr lvl="2">
              <a:buFontTx/>
              <a:buNone/>
            </a:pPr>
            <a:endParaRPr lang="en-US" i="1" dirty="0"/>
          </a:p>
          <a:p>
            <a:pPr lvl="2">
              <a:buFontTx/>
              <a:buNone/>
            </a:pPr>
            <a:br>
              <a:rPr lang="en-US" dirty="0"/>
            </a:br>
            <a:br>
              <a:rPr lang="en-US" dirty="0"/>
            </a:br>
            <a:br>
              <a:rPr lang="en-US" dirty="0"/>
            </a:br>
            <a:br>
              <a:rPr lang="en-US" dirty="0"/>
            </a:br>
            <a:endParaRPr lang="en-US" dirty="0"/>
          </a:p>
          <a:p>
            <a:pPr>
              <a:buNone/>
            </a:pPr>
            <a:br>
              <a:rPr lang="en-US" dirty="0"/>
            </a:br>
            <a:br>
              <a:rPr lang="en-US" dirty="0"/>
            </a:br>
            <a:endParaRPr lang="en-US" dirty="0"/>
          </a:p>
          <a:p>
            <a:pPr lvl="2"/>
            <a:r>
              <a:rPr lang="en-US" dirty="0"/>
              <a:t>   		 (tooltip  icon)	</a:t>
            </a:r>
          </a:p>
        </p:txBody>
      </p:sp>
      <p:pic>
        <p:nvPicPr>
          <p:cNvPr id="10249" name="Picture 9"/>
          <p:cNvPicPr>
            <a:picLocks noChangeAspect="1" noChangeArrowheads="1"/>
          </p:cNvPicPr>
          <p:nvPr/>
        </p:nvPicPr>
        <p:blipFill>
          <a:blip r:embed="rId3" cstate="print"/>
          <a:srcRect/>
          <a:stretch>
            <a:fillRect/>
          </a:stretch>
        </p:blipFill>
        <p:spPr bwMode="auto">
          <a:xfrm>
            <a:off x="900113" y="2420938"/>
            <a:ext cx="3190875" cy="1571625"/>
          </a:xfrm>
          <a:prstGeom prst="rect">
            <a:avLst/>
          </a:prstGeom>
          <a:noFill/>
          <a:ln w="12699">
            <a:noFill/>
            <a:miter lim="800000"/>
            <a:headEnd type="none" w="sm" len="sm"/>
            <a:tailEnd type="none" w="sm" len="sm"/>
          </a:ln>
          <a:effectLst/>
        </p:spPr>
      </p:pic>
      <p:pic>
        <p:nvPicPr>
          <p:cNvPr id="10250" name="Picture 10"/>
          <p:cNvPicPr>
            <a:picLocks noChangeAspect="1" noChangeArrowheads="1"/>
          </p:cNvPicPr>
          <p:nvPr/>
        </p:nvPicPr>
        <p:blipFill>
          <a:blip r:embed="rId4" cstate="print"/>
          <a:srcRect/>
          <a:stretch>
            <a:fillRect/>
          </a:stretch>
        </p:blipFill>
        <p:spPr bwMode="auto">
          <a:xfrm>
            <a:off x="4252913" y="2420938"/>
            <a:ext cx="3190875" cy="1571625"/>
          </a:xfrm>
          <a:prstGeom prst="rect">
            <a:avLst/>
          </a:prstGeom>
          <a:noFill/>
          <a:ln w="12699">
            <a:noFill/>
            <a:miter lim="800000"/>
            <a:headEnd type="none" w="sm" len="sm"/>
            <a:tailEnd type="none" w="sm" len="sm"/>
          </a:ln>
          <a:effectLst/>
        </p:spPr>
      </p:pic>
      <p:pic>
        <p:nvPicPr>
          <p:cNvPr id="10251" name="Picture 11"/>
          <p:cNvPicPr>
            <a:picLocks noChangeAspect="1" noChangeArrowheads="1"/>
          </p:cNvPicPr>
          <p:nvPr/>
        </p:nvPicPr>
        <p:blipFill>
          <a:blip r:embed="rId5" cstate="print"/>
          <a:srcRect/>
          <a:stretch>
            <a:fillRect/>
          </a:stretch>
        </p:blipFill>
        <p:spPr bwMode="auto">
          <a:xfrm>
            <a:off x="1447800" y="5029200"/>
            <a:ext cx="1828800" cy="1510748"/>
          </a:xfrm>
          <a:prstGeom prst="rect">
            <a:avLst/>
          </a:prstGeom>
          <a:noFill/>
          <a:ln w="12699">
            <a:noFill/>
            <a:miter lim="800000"/>
            <a:headEnd type="none" w="sm" len="sm"/>
            <a:tailEnd type="none" w="sm" len="sm"/>
          </a:ln>
          <a:effec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2075" tIns="46038" rIns="92075" bIns="46038"/>
          <a:lstStyle/>
          <a:p>
            <a:r>
              <a:rPr lang="en-US" dirty="0"/>
              <a:t>2. Speak the users’ language</a:t>
            </a:r>
          </a:p>
        </p:txBody>
      </p:sp>
      <p:pic>
        <p:nvPicPr>
          <p:cNvPr id="3" name="Picture 2"/>
          <p:cNvPicPr>
            <a:picLocks noChangeAspect="1"/>
          </p:cNvPicPr>
          <p:nvPr/>
        </p:nvPicPr>
        <p:blipFill>
          <a:blip r:embed="rId3"/>
          <a:stretch>
            <a:fillRect/>
          </a:stretch>
        </p:blipFill>
        <p:spPr>
          <a:xfrm>
            <a:off x="609600" y="1389929"/>
            <a:ext cx="7848600" cy="5266824"/>
          </a:xfrm>
          <a:prstGeom prst="rect">
            <a:avLst/>
          </a:prstGeom>
        </p:spPr>
      </p:pic>
    </p:spTree>
    <p:extLst>
      <p:ext uri="{BB962C8B-B14F-4D97-AF65-F5344CB8AC3E}">
        <p14:creationId xmlns:p14="http://schemas.microsoft.com/office/powerpoint/2010/main" val="230107607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User control and freedom </a:t>
            </a:r>
            <a:r>
              <a:rPr lang="en-US" dirty="0"/>
              <a:t>[Clearly Marked Exits]</a:t>
            </a:r>
            <a:endParaRPr lang="en-US" b="1" dirty="0"/>
          </a:p>
          <a:p>
            <a:pPr lvl="1"/>
            <a:r>
              <a:rPr lang="en-US" dirty="0"/>
              <a:t>Users often choose system functions by mistake and need a clearly marked ‘emergency exit’ to leave the unwanted state without having to go through an extended dialog. Support undo and redo.</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AutoShape 5"/>
          <p:cNvSpPr>
            <a:spLocks noChangeArrowheads="1"/>
          </p:cNvSpPr>
          <p:nvPr/>
        </p:nvSpPr>
        <p:spPr bwMode="auto">
          <a:xfrm>
            <a:off x="6934200" y="1524000"/>
            <a:ext cx="1600200" cy="1792288"/>
          </a:xfrm>
          <a:prstGeom prst="cloudCallout">
            <a:avLst>
              <a:gd name="adj1" fmla="val -70634"/>
              <a:gd name="adj2" fmla="val 66296"/>
            </a:avLst>
          </a:prstGeom>
          <a:solidFill>
            <a:srgbClr val="FFFFFF"/>
          </a:solidFill>
          <a:ln w="12699">
            <a:solidFill>
              <a:schemeClr val="tx1"/>
            </a:solidFill>
            <a:round/>
            <a:headEnd type="none" w="sm" len="sm"/>
            <a:tailEnd type="none" w="sm" len="sm"/>
          </a:ln>
          <a:effectLst/>
        </p:spPr>
        <p:txBody>
          <a:bodyPr lIns="92075" tIns="46038" rIns="92075" bIns="46038" anchor="ctr">
            <a:spAutoFit/>
          </a:bodyPr>
          <a:lstStyle/>
          <a:p>
            <a:pPr algn="ctr" eaLnBrk="0" hangingPunct="0"/>
            <a:r>
              <a:rPr lang="en-US" sz="1800"/>
              <a:t>How do I get out of this?</a:t>
            </a:r>
            <a:endParaRPr lang="en-US" sz="1400"/>
          </a:p>
        </p:txBody>
      </p:sp>
      <p:sp>
        <p:nvSpPr>
          <p:cNvPr id="22534" name="Rectangle 6"/>
          <p:cNvSpPr>
            <a:spLocks noGrp="1" noChangeArrowheads="1"/>
          </p:cNvSpPr>
          <p:nvPr>
            <p:ph type="title"/>
          </p:nvPr>
        </p:nvSpPr>
        <p:spPr/>
        <p:txBody>
          <a:bodyPr/>
          <a:lstStyle/>
          <a:p>
            <a:r>
              <a:rPr lang="en-US" dirty="0"/>
              <a:t>3.  Provide clearly marked exits</a:t>
            </a:r>
          </a:p>
        </p:txBody>
      </p:sp>
      <p:pic>
        <p:nvPicPr>
          <p:cNvPr id="22535" name="Picture 7"/>
          <p:cNvPicPr>
            <a:picLocks noChangeAspect="1" noChangeArrowheads="1"/>
          </p:cNvPicPr>
          <p:nvPr/>
        </p:nvPicPr>
        <p:blipFill>
          <a:blip r:embed="rId2" cstate="print"/>
          <a:srcRect/>
          <a:stretch>
            <a:fillRect/>
          </a:stretch>
        </p:blipFill>
        <p:spPr bwMode="auto">
          <a:xfrm>
            <a:off x="1676400" y="1447800"/>
            <a:ext cx="4840288" cy="4905375"/>
          </a:xfrm>
          <a:prstGeom prst="rect">
            <a:avLst/>
          </a:prstGeom>
          <a:noFill/>
          <a:ln w="12699">
            <a:noFill/>
            <a:miter lim="800000"/>
            <a:headEnd type="none" w="sm" len="sm"/>
            <a:tailEnd type="none" w="sm" len="sm"/>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Rectangle 6"/>
          <p:cNvSpPr>
            <a:spLocks noGrp="1" noChangeArrowheads="1"/>
          </p:cNvSpPr>
          <p:nvPr>
            <p:ph type="title"/>
          </p:nvPr>
        </p:nvSpPr>
        <p:spPr/>
        <p:txBody>
          <a:bodyPr/>
          <a:lstStyle/>
          <a:p>
            <a:r>
              <a:rPr lang="en-US" dirty="0"/>
              <a:t>3.  Provide clearly marked exits</a:t>
            </a:r>
          </a:p>
        </p:txBody>
      </p:sp>
      <p:pic>
        <p:nvPicPr>
          <p:cNvPr id="5" name="Picture 2"/>
          <p:cNvPicPr>
            <a:picLocks noChangeAspect="1" noChangeArrowheads="1"/>
          </p:cNvPicPr>
          <p:nvPr/>
        </p:nvPicPr>
        <p:blipFill>
          <a:blip r:embed="rId2" cstate="print"/>
          <a:srcRect l="8750" t="26954" r="10625" b="25607"/>
          <a:stretch>
            <a:fillRect/>
          </a:stretch>
        </p:blipFill>
        <p:spPr bwMode="auto">
          <a:xfrm>
            <a:off x="228600" y="1371600"/>
            <a:ext cx="8686800" cy="2962275"/>
          </a:xfrm>
          <a:prstGeom prst="rect">
            <a:avLst/>
          </a:prstGeom>
          <a:ln>
            <a:noFill/>
          </a:ln>
          <a:effectLst>
            <a:outerShdw blurRad="292100" dist="139700" dir="2700000" algn="tl" rotWithShape="0">
              <a:srgbClr val="333333">
                <a:alpha val="65000"/>
              </a:srgbClr>
            </a:outerShdw>
          </a:effec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4419600"/>
            <a:ext cx="4119872" cy="2249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Rectangle 6"/>
          <p:cNvSpPr>
            <a:spLocks noGrp="1" noChangeArrowheads="1"/>
          </p:cNvSpPr>
          <p:nvPr>
            <p:ph type="title"/>
          </p:nvPr>
        </p:nvSpPr>
        <p:spPr/>
        <p:txBody>
          <a:bodyPr/>
          <a:lstStyle/>
          <a:p>
            <a:r>
              <a:rPr lang="en-US" dirty="0"/>
              <a:t>3.  Provide clearly marked exits</a:t>
            </a:r>
          </a:p>
        </p:txBody>
      </p:sp>
      <p:pic>
        <p:nvPicPr>
          <p:cNvPr id="2" name="Picture 1"/>
          <p:cNvPicPr>
            <a:picLocks noChangeAspect="1"/>
          </p:cNvPicPr>
          <p:nvPr/>
        </p:nvPicPr>
        <p:blipFill>
          <a:blip r:embed="rId2"/>
          <a:stretch>
            <a:fillRect/>
          </a:stretch>
        </p:blipFill>
        <p:spPr>
          <a:xfrm>
            <a:off x="914400" y="1676400"/>
            <a:ext cx="7864441" cy="4953000"/>
          </a:xfrm>
          <a:prstGeom prst="rect">
            <a:avLst/>
          </a:prstGeom>
        </p:spPr>
      </p:pic>
    </p:spTree>
    <p:extLst>
      <p:ext uri="{BB962C8B-B14F-4D97-AF65-F5344CB8AC3E}">
        <p14:creationId xmlns:p14="http://schemas.microsoft.com/office/powerpoint/2010/main" val="4113388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Rectangle 6"/>
          <p:cNvSpPr>
            <a:spLocks noGrp="1" noChangeArrowheads="1"/>
          </p:cNvSpPr>
          <p:nvPr>
            <p:ph type="title"/>
          </p:nvPr>
        </p:nvSpPr>
        <p:spPr/>
        <p:txBody>
          <a:bodyPr/>
          <a:lstStyle/>
          <a:p>
            <a:r>
              <a:rPr lang="en-US" dirty="0"/>
              <a:t>3.  Provide clearly marked exits</a:t>
            </a:r>
          </a:p>
        </p:txBody>
      </p:sp>
      <p:pic>
        <p:nvPicPr>
          <p:cNvPr id="3" name="Picture 2"/>
          <p:cNvPicPr>
            <a:picLocks noChangeAspect="1"/>
          </p:cNvPicPr>
          <p:nvPr/>
        </p:nvPicPr>
        <p:blipFill>
          <a:blip r:embed="rId2"/>
          <a:stretch>
            <a:fillRect/>
          </a:stretch>
        </p:blipFill>
        <p:spPr>
          <a:xfrm>
            <a:off x="381000" y="1413482"/>
            <a:ext cx="8534400" cy="5152845"/>
          </a:xfrm>
          <a:prstGeom prst="rect">
            <a:avLst/>
          </a:prstGeom>
        </p:spPr>
      </p:pic>
    </p:spTree>
    <p:extLst>
      <p:ext uri="{BB962C8B-B14F-4D97-AF65-F5344CB8AC3E}">
        <p14:creationId xmlns:p14="http://schemas.microsoft.com/office/powerpoint/2010/main" val="5340641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noFill/>
          <a:ln/>
        </p:spPr>
        <p:txBody>
          <a:bodyPr lIns="92075" tIns="46038" rIns="92075" bIns="46038"/>
          <a:lstStyle/>
          <a:p>
            <a:r>
              <a:rPr lang="en-US" dirty="0"/>
              <a:t>3. Provide clearly marked exits</a:t>
            </a:r>
          </a:p>
        </p:txBody>
      </p:sp>
      <p:sp>
        <p:nvSpPr>
          <p:cNvPr id="23555" name="Rectangle 3"/>
          <p:cNvSpPr>
            <a:spLocks noGrp="1" noChangeArrowheads="1"/>
          </p:cNvSpPr>
          <p:nvPr>
            <p:ph type="body" idx="1"/>
          </p:nvPr>
        </p:nvSpPr>
        <p:spPr>
          <a:noFill/>
          <a:ln/>
        </p:spPr>
        <p:txBody>
          <a:bodyPr lIns="92075" tIns="46038" rIns="92075" bIns="46038"/>
          <a:lstStyle/>
          <a:p>
            <a:r>
              <a:rPr lang="en-US"/>
              <a:t>Users don’t like to feel trapped by the computer!</a:t>
            </a:r>
          </a:p>
          <a:p>
            <a:pPr lvl="1"/>
            <a:r>
              <a:rPr lang="en-US"/>
              <a:t>should offer an easy way out of as many situations as possible</a:t>
            </a:r>
            <a:br>
              <a:rPr lang="en-US"/>
            </a:br>
            <a:endParaRPr lang="en-US"/>
          </a:p>
          <a:p>
            <a:r>
              <a:rPr lang="en-US"/>
              <a:t>Strategies:</a:t>
            </a:r>
          </a:p>
          <a:p>
            <a:pPr lvl="1"/>
            <a:r>
              <a:rPr lang="en-US"/>
              <a:t>Cancel button (for dialogs waiting for user input)</a:t>
            </a:r>
          </a:p>
          <a:p>
            <a:pPr lvl="1"/>
            <a:r>
              <a:rPr lang="en-US"/>
              <a:t>Universal Undo (can get back to previous state)</a:t>
            </a:r>
          </a:p>
          <a:p>
            <a:pPr lvl="1"/>
            <a:r>
              <a:rPr lang="en-US"/>
              <a:t>Interrupt (especially for lengthy operations)</a:t>
            </a:r>
          </a:p>
          <a:p>
            <a:pPr lvl="1"/>
            <a:r>
              <a:rPr lang="en-US"/>
              <a:t>Quit (for leaving the program at any time) </a:t>
            </a:r>
          </a:p>
          <a:p>
            <a:pPr lvl="1"/>
            <a:r>
              <a:rPr lang="en-US"/>
              <a:t>Defaults (for restoring a property sheet)</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304800" y="833669"/>
            <a:ext cx="8644758" cy="3724275"/>
          </a:xfrm>
          <a:prstGeom prst="rect">
            <a:avLst/>
          </a:prstGeom>
        </p:spPr>
      </p:pic>
    </p:spTree>
    <p:extLst>
      <p:ext uri="{BB962C8B-B14F-4D97-AF65-F5344CB8AC3E}">
        <p14:creationId xmlns:p14="http://schemas.microsoft.com/office/powerpoint/2010/main" val="1196186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3010" name="Picture 2" descr="https://miro.medium.com/max/640/1*4OQZfcL_Ezw8cYubqdaxPQ.png"/>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bwMode="auto">
          <a:xfrm>
            <a:off x="2895600" y="274638"/>
            <a:ext cx="3708935" cy="6583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9946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Consistency and standards </a:t>
            </a:r>
          </a:p>
          <a:p>
            <a:pPr lvl="1"/>
            <a:r>
              <a:rPr lang="en-US" dirty="0"/>
              <a:t>Users should not have to wonder whether words, situations or actions mean the same thing in different contexts. Follow platform conventions and accepted standards.</a:t>
            </a:r>
          </a:p>
          <a:p>
            <a:pPr lvl="1"/>
            <a:endParaRPr lang="en-US" dirty="0"/>
          </a:p>
          <a:p>
            <a:r>
              <a:rPr lang="en-US" dirty="0"/>
              <a:t>Principle of Least Surprise </a:t>
            </a:r>
          </a:p>
          <a:p>
            <a:endParaRPr lang="en-US" dirty="0"/>
          </a:p>
          <a:p>
            <a:r>
              <a:rPr lang="en-US" dirty="0"/>
              <a:t>Consistency </a:t>
            </a:r>
          </a:p>
          <a:p>
            <a:pPr lvl="1"/>
            <a:r>
              <a:rPr lang="en-US" dirty="0"/>
              <a:t>Internal </a:t>
            </a:r>
          </a:p>
          <a:p>
            <a:pPr lvl="1"/>
            <a:r>
              <a:rPr lang="en-US" dirty="0"/>
              <a:t>External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a:ln/>
        </p:spPr>
        <p:txBody>
          <a:bodyPr lIns="92075" tIns="46038" rIns="92075" bIns="46038"/>
          <a:lstStyle/>
          <a:p>
            <a:r>
              <a:rPr lang="en-US" dirty="0"/>
              <a:t>4. Be consistent</a:t>
            </a:r>
          </a:p>
        </p:txBody>
      </p:sp>
      <p:sp>
        <p:nvSpPr>
          <p:cNvPr id="15363" name="Rectangle 3"/>
          <p:cNvSpPr>
            <a:spLocks noGrp="1" noChangeArrowheads="1"/>
          </p:cNvSpPr>
          <p:nvPr>
            <p:ph type="body" idx="1"/>
          </p:nvPr>
        </p:nvSpPr>
        <p:spPr>
          <a:noFill/>
          <a:ln/>
        </p:spPr>
        <p:txBody>
          <a:bodyPr lIns="92075" tIns="46038" rIns="92075" bIns="46038">
            <a:normAutofit fontScale="92500" lnSpcReduction="10000"/>
          </a:bodyPr>
          <a:lstStyle/>
          <a:p>
            <a:r>
              <a:rPr lang="en-US" dirty="0"/>
              <a:t>Consistent syntax of input</a:t>
            </a:r>
            <a:br>
              <a:rPr lang="en-US" dirty="0"/>
            </a:br>
            <a:endParaRPr lang="en-US" dirty="0"/>
          </a:p>
          <a:p>
            <a:pPr lvl="1">
              <a:buFontTx/>
              <a:buNone/>
            </a:pPr>
            <a:endParaRPr lang="en-US" dirty="0"/>
          </a:p>
          <a:p>
            <a:r>
              <a:rPr lang="en-US" dirty="0"/>
              <a:t>Consist language and graphics</a:t>
            </a:r>
          </a:p>
          <a:p>
            <a:pPr lvl="1"/>
            <a:r>
              <a:rPr lang="en-US" dirty="0"/>
              <a:t>same visual appearance across the system (e.g. widgets)</a:t>
            </a:r>
          </a:p>
          <a:p>
            <a:pPr lvl="1"/>
            <a:r>
              <a:rPr lang="en-US" dirty="0"/>
              <a:t>same information/controls in same location on all windows</a:t>
            </a:r>
            <a:br>
              <a:rPr lang="en-US" dirty="0"/>
            </a:br>
            <a:br>
              <a:rPr lang="en-US" dirty="0"/>
            </a:br>
            <a:br>
              <a:rPr lang="en-US" dirty="0"/>
            </a:br>
            <a:endParaRPr lang="en-US" dirty="0"/>
          </a:p>
          <a:p>
            <a:endParaRPr lang="en-US" dirty="0"/>
          </a:p>
          <a:p>
            <a:r>
              <a:rPr lang="en-US" dirty="0"/>
              <a:t>Consist effects</a:t>
            </a:r>
          </a:p>
          <a:p>
            <a:pPr lvl="1"/>
            <a:r>
              <a:rPr lang="en-US" dirty="0"/>
              <a:t>commands, actions have same effect in equivalent situations</a:t>
            </a:r>
          </a:p>
        </p:txBody>
      </p:sp>
      <p:grpSp>
        <p:nvGrpSpPr>
          <p:cNvPr id="2" name="Group 22"/>
          <p:cNvGrpSpPr>
            <a:grpSpLocks/>
          </p:cNvGrpSpPr>
          <p:nvPr/>
        </p:nvGrpSpPr>
        <p:grpSpPr bwMode="auto">
          <a:xfrm>
            <a:off x="1042988" y="3933825"/>
            <a:ext cx="6364287" cy="698500"/>
            <a:chOff x="521" y="2614"/>
            <a:chExt cx="4009" cy="440"/>
          </a:xfrm>
        </p:grpSpPr>
        <p:sp>
          <p:nvSpPr>
            <p:cNvPr id="15368" name="Text Box 8"/>
            <p:cNvSpPr txBox="1">
              <a:spLocks noChangeArrowheads="1"/>
            </p:cNvSpPr>
            <p:nvPr/>
          </p:nvSpPr>
          <p:spPr bwMode="auto">
            <a:xfrm>
              <a:off x="521" y="2614"/>
              <a:ext cx="267"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Ok</a:t>
              </a:r>
            </a:p>
          </p:txBody>
        </p:sp>
        <p:sp>
          <p:nvSpPr>
            <p:cNvPr id="15369" name="Text Box 9"/>
            <p:cNvSpPr txBox="1">
              <a:spLocks noChangeArrowheads="1"/>
            </p:cNvSpPr>
            <p:nvPr/>
          </p:nvSpPr>
          <p:spPr bwMode="auto">
            <a:xfrm>
              <a:off x="857" y="2614"/>
              <a:ext cx="472"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Cancel</a:t>
              </a:r>
            </a:p>
          </p:txBody>
        </p:sp>
        <p:sp>
          <p:nvSpPr>
            <p:cNvPr id="15370" name="Text Box 10"/>
            <p:cNvSpPr txBox="1">
              <a:spLocks noChangeArrowheads="1"/>
            </p:cNvSpPr>
            <p:nvPr/>
          </p:nvSpPr>
          <p:spPr bwMode="auto">
            <a:xfrm>
              <a:off x="2201" y="2614"/>
              <a:ext cx="267"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Ok</a:t>
              </a:r>
            </a:p>
          </p:txBody>
        </p:sp>
        <p:sp>
          <p:nvSpPr>
            <p:cNvPr id="15371" name="Text Box 11"/>
            <p:cNvSpPr txBox="1">
              <a:spLocks noChangeArrowheads="1"/>
            </p:cNvSpPr>
            <p:nvPr/>
          </p:nvSpPr>
          <p:spPr bwMode="auto">
            <a:xfrm>
              <a:off x="1673" y="2614"/>
              <a:ext cx="472"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Cancel</a:t>
              </a:r>
            </a:p>
          </p:txBody>
        </p:sp>
        <p:sp>
          <p:nvSpPr>
            <p:cNvPr id="15374" name="Text Box 14"/>
            <p:cNvSpPr txBox="1">
              <a:spLocks noChangeArrowheads="1"/>
            </p:cNvSpPr>
            <p:nvPr/>
          </p:nvSpPr>
          <p:spPr bwMode="auto">
            <a:xfrm>
              <a:off x="3515" y="2614"/>
              <a:ext cx="466"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Accept</a:t>
              </a:r>
            </a:p>
          </p:txBody>
        </p:sp>
        <p:sp>
          <p:nvSpPr>
            <p:cNvPr id="15375" name="Text Box 15"/>
            <p:cNvSpPr txBox="1">
              <a:spLocks noChangeArrowheads="1"/>
            </p:cNvSpPr>
            <p:nvPr/>
          </p:nvSpPr>
          <p:spPr bwMode="auto">
            <a:xfrm>
              <a:off x="4014" y="2614"/>
              <a:ext cx="516"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Dismiss</a:t>
              </a:r>
            </a:p>
          </p:txBody>
        </p:sp>
        <p:sp>
          <p:nvSpPr>
            <p:cNvPr id="15376" name="Text Box 16"/>
            <p:cNvSpPr txBox="1">
              <a:spLocks noChangeArrowheads="1"/>
            </p:cNvSpPr>
            <p:nvPr/>
          </p:nvSpPr>
          <p:spPr bwMode="auto">
            <a:xfrm>
              <a:off x="2681" y="2854"/>
              <a:ext cx="472"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Cancel</a:t>
              </a:r>
            </a:p>
          </p:txBody>
        </p:sp>
        <p:sp>
          <p:nvSpPr>
            <p:cNvPr id="15377" name="Text Box 17"/>
            <p:cNvSpPr txBox="1">
              <a:spLocks noChangeArrowheads="1"/>
            </p:cNvSpPr>
            <p:nvPr/>
          </p:nvSpPr>
          <p:spPr bwMode="auto">
            <a:xfrm>
              <a:off x="2681" y="2614"/>
              <a:ext cx="267"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Ok</a:t>
              </a:r>
            </a:p>
          </p:txBody>
        </p:sp>
        <p:sp>
          <p:nvSpPr>
            <p:cNvPr id="15378" name="Rectangle 18"/>
            <p:cNvSpPr>
              <a:spLocks noChangeArrowheads="1"/>
            </p:cNvSpPr>
            <p:nvPr/>
          </p:nvSpPr>
          <p:spPr bwMode="auto">
            <a:xfrm>
              <a:off x="569" y="2662"/>
              <a:ext cx="192" cy="96"/>
            </a:xfrm>
            <a:prstGeom prst="rect">
              <a:avLst/>
            </a:prstGeom>
            <a:noFill/>
            <a:ln w="12699" cap="rnd">
              <a:solidFill>
                <a:schemeClr val="tx1"/>
              </a:solidFill>
              <a:prstDash val="sysDot"/>
              <a:miter lim="800000"/>
              <a:headEnd type="none" w="sm" len="sm"/>
              <a:tailEnd type="none" w="sm" len="sm"/>
            </a:ln>
            <a:effectLst/>
          </p:spPr>
          <p:txBody>
            <a:bodyPr lIns="92075" tIns="46038" rIns="92075" bIns="46038" anchor="ctr">
              <a:spAutoFit/>
            </a:bodyPr>
            <a:lstStyle/>
            <a:p>
              <a:endParaRPr lang="en-US"/>
            </a:p>
          </p:txBody>
        </p:sp>
        <p:sp>
          <p:nvSpPr>
            <p:cNvPr id="15379" name="Rectangle 19"/>
            <p:cNvSpPr>
              <a:spLocks noChangeArrowheads="1"/>
            </p:cNvSpPr>
            <p:nvPr/>
          </p:nvSpPr>
          <p:spPr bwMode="auto">
            <a:xfrm>
              <a:off x="1721" y="2662"/>
              <a:ext cx="384" cy="96"/>
            </a:xfrm>
            <a:prstGeom prst="rect">
              <a:avLst/>
            </a:prstGeom>
            <a:noFill/>
            <a:ln w="12699" cap="rnd">
              <a:solidFill>
                <a:schemeClr val="tx1"/>
              </a:solidFill>
              <a:prstDash val="sysDot"/>
              <a:miter lim="800000"/>
              <a:headEnd type="none" w="sm" len="sm"/>
              <a:tailEnd type="none" w="sm" len="sm"/>
            </a:ln>
            <a:effectLst/>
          </p:spPr>
          <p:txBody>
            <a:bodyPr lIns="92075" tIns="46038" rIns="92075" bIns="46038" anchor="ctr">
              <a:spAutoFit/>
            </a:bodyPr>
            <a:lstStyle/>
            <a:p>
              <a:endParaRPr lang="en-US"/>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Be consistent</a:t>
            </a:r>
          </a:p>
        </p:txBody>
      </p:sp>
      <p:pic>
        <p:nvPicPr>
          <p:cNvPr id="4505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4600" y="1828800"/>
            <a:ext cx="3766322" cy="2114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05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4095980"/>
            <a:ext cx="3766322" cy="2114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06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4883" y="4095980"/>
            <a:ext cx="3741533" cy="2114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65266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a:t>4. Be Consistent</a:t>
            </a:r>
            <a:endParaRPr lang="en-CA"/>
          </a:p>
        </p:txBody>
      </p:sp>
      <p:pic>
        <p:nvPicPr>
          <p:cNvPr id="115717" name="Picture 5" descr="cmdlbl"/>
          <p:cNvPicPr>
            <a:picLocks noChangeAspect="1" noChangeArrowheads="1"/>
          </p:cNvPicPr>
          <p:nvPr/>
        </p:nvPicPr>
        <p:blipFill>
          <a:blip r:embed="rId2" cstate="print"/>
          <a:srcRect/>
          <a:stretch>
            <a:fillRect/>
          </a:stretch>
        </p:blipFill>
        <p:spPr bwMode="auto">
          <a:xfrm>
            <a:off x="4419600" y="2543175"/>
            <a:ext cx="4114800" cy="3327400"/>
          </a:xfrm>
          <a:prstGeom prst="rect">
            <a:avLst/>
          </a:prstGeom>
          <a:noFill/>
        </p:spPr>
      </p:pic>
      <p:sp>
        <p:nvSpPr>
          <p:cNvPr id="115719" name="AutoShape 7"/>
          <p:cNvSpPr>
            <a:spLocks/>
          </p:cNvSpPr>
          <p:nvPr/>
        </p:nvSpPr>
        <p:spPr bwMode="auto">
          <a:xfrm>
            <a:off x="533400" y="1905000"/>
            <a:ext cx="3581400" cy="2200275"/>
          </a:xfrm>
          <a:prstGeom prst="borderCallout2">
            <a:avLst>
              <a:gd name="adj1" fmla="val 5194"/>
              <a:gd name="adj2" fmla="val 102130"/>
              <a:gd name="adj3" fmla="val 5194"/>
              <a:gd name="adj4" fmla="val 112190"/>
              <a:gd name="adj5" fmla="val 43722"/>
              <a:gd name="adj6" fmla="val 122606"/>
            </a:avLst>
          </a:prstGeom>
          <a:noFill/>
          <a:ln w="12699">
            <a:solidFill>
              <a:schemeClr val="tx1"/>
            </a:solidFill>
            <a:miter lim="800000"/>
            <a:headEnd type="none" w="sm" len="sm"/>
            <a:tailEnd type="none" w="sm" len="sm"/>
          </a:ln>
          <a:effectLst/>
        </p:spPr>
        <p:txBody>
          <a:bodyPr lIns="92075" tIns="46038" rIns="92075" bIns="46038" anchor="ctr"/>
          <a:lstStyle/>
          <a:p>
            <a:pPr eaLnBrk="0" hangingPunct="0"/>
            <a:r>
              <a:rPr lang="en-US">
                <a:latin typeface="Arial" charset="0"/>
              </a:rPr>
              <a:t>These are labels with a raised appearance.</a:t>
            </a:r>
          </a:p>
          <a:p>
            <a:pPr algn="ctr" eaLnBrk="0" hangingPunct="0"/>
            <a:endParaRPr lang="en-US">
              <a:latin typeface="Arial" charset="0"/>
            </a:endParaRPr>
          </a:p>
          <a:p>
            <a:pPr eaLnBrk="0" hangingPunct="0"/>
            <a:r>
              <a:rPr lang="en-US">
                <a:latin typeface="Arial" charset="0"/>
              </a:rPr>
              <a:t>Is it any surprise that people try and click on them?</a:t>
            </a:r>
            <a:endParaRPr lang="en-CA">
              <a:latin typeface="Arial"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a:t>4. Be Consistent</a:t>
            </a:r>
            <a:endParaRPr lang="en-CA"/>
          </a:p>
        </p:txBody>
      </p:sp>
      <p:pic>
        <p:nvPicPr>
          <p:cNvPr id="2" name="Picture 1"/>
          <p:cNvPicPr>
            <a:picLocks noChangeAspect="1"/>
          </p:cNvPicPr>
          <p:nvPr/>
        </p:nvPicPr>
        <p:blipFill>
          <a:blip r:embed="rId2"/>
          <a:stretch>
            <a:fillRect/>
          </a:stretch>
        </p:blipFill>
        <p:spPr>
          <a:xfrm>
            <a:off x="304800" y="1676400"/>
            <a:ext cx="8611194" cy="4800600"/>
          </a:xfrm>
          <a:prstGeom prst="rect">
            <a:avLst/>
          </a:prstGeom>
        </p:spPr>
      </p:pic>
    </p:spTree>
    <p:extLst>
      <p:ext uri="{BB962C8B-B14F-4D97-AF65-F5344CB8AC3E}">
        <p14:creationId xmlns:p14="http://schemas.microsoft.com/office/powerpoint/2010/main" val="39664251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a:t>4. Be Consistent</a:t>
            </a:r>
            <a:endParaRPr lang="en-CA"/>
          </a:p>
        </p:txBody>
      </p:sp>
      <p:pic>
        <p:nvPicPr>
          <p:cNvPr id="3" name="Picture 2"/>
          <p:cNvPicPr>
            <a:picLocks noChangeAspect="1"/>
          </p:cNvPicPr>
          <p:nvPr/>
        </p:nvPicPr>
        <p:blipFill>
          <a:blip r:embed="rId2"/>
          <a:stretch>
            <a:fillRect/>
          </a:stretch>
        </p:blipFill>
        <p:spPr>
          <a:xfrm>
            <a:off x="685800" y="1356916"/>
            <a:ext cx="7620000" cy="5484459"/>
          </a:xfrm>
          <a:prstGeom prst="rect">
            <a:avLst/>
          </a:prstGeom>
        </p:spPr>
      </p:pic>
    </p:spTree>
    <p:extLst>
      <p:ext uri="{BB962C8B-B14F-4D97-AF65-F5344CB8AC3E}">
        <p14:creationId xmlns:p14="http://schemas.microsoft.com/office/powerpoint/2010/main" val="1189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a:t>4. Be Consistent</a:t>
            </a:r>
            <a:endParaRPr lang="en-CA"/>
          </a:p>
        </p:txBody>
      </p:sp>
      <p:pic>
        <p:nvPicPr>
          <p:cNvPr id="4" name="Content Placeholder 3"/>
          <p:cNvPicPr>
            <a:picLocks noChangeAspect="1"/>
          </p:cNvPicPr>
          <p:nvPr/>
        </p:nvPicPr>
        <p:blipFill>
          <a:blip r:embed="rId2"/>
          <a:stretch>
            <a:fillRect/>
          </a:stretch>
        </p:blipFill>
        <p:spPr>
          <a:xfrm>
            <a:off x="265558" y="1600200"/>
            <a:ext cx="8868744" cy="5001866"/>
          </a:xfrm>
          <a:prstGeom prst="rect">
            <a:avLst/>
          </a:prstGeom>
        </p:spPr>
      </p:pic>
    </p:spTree>
    <p:extLst>
      <p:ext uri="{BB962C8B-B14F-4D97-AF65-F5344CB8AC3E}">
        <p14:creationId xmlns:p14="http://schemas.microsoft.com/office/powerpoint/2010/main" val="31701294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Recognition rather than recall </a:t>
            </a:r>
          </a:p>
          <a:p>
            <a:pPr lvl="1"/>
            <a:r>
              <a:rPr lang="en-US" dirty="0"/>
              <a:t>Make objects, actions and options visible. The user should not have to remember information from one part of the dialog to another. Instructions for use of the system should be visible or easily retrievable whenever appropriate.</a:t>
            </a:r>
          </a:p>
          <a:p>
            <a:pPr lvl="1"/>
            <a:endParaRPr lang="en-US" dirty="0"/>
          </a:p>
          <a:p>
            <a:pPr lvl="1"/>
            <a:r>
              <a:rPr lang="en-US" dirty="0"/>
              <a:t>Users’ short-term memory is limited. Provide examples, default values, easily retrievable instructions.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p:spPr>
        <p:txBody>
          <a:bodyPr lIns="92075" tIns="46038" rIns="92075" bIns="46038"/>
          <a:lstStyle/>
          <a:p>
            <a:r>
              <a:rPr lang="en-US" dirty="0"/>
              <a:t>5. Minimize user’s memory load</a:t>
            </a:r>
          </a:p>
        </p:txBody>
      </p:sp>
      <p:sp>
        <p:nvSpPr>
          <p:cNvPr id="13315" name="Rectangle 3"/>
          <p:cNvSpPr>
            <a:spLocks noGrp="1" noChangeArrowheads="1"/>
          </p:cNvSpPr>
          <p:nvPr>
            <p:ph type="body" idx="1"/>
          </p:nvPr>
        </p:nvSpPr>
        <p:spPr>
          <a:noFill/>
          <a:ln/>
        </p:spPr>
        <p:txBody>
          <a:bodyPr lIns="92075" tIns="46038" rIns="92075" bIns="46038"/>
          <a:lstStyle/>
          <a:p>
            <a:r>
              <a:rPr lang="en-US" dirty="0"/>
              <a:t>Computers good at remembering, people are not!</a:t>
            </a:r>
          </a:p>
          <a:p>
            <a:r>
              <a:rPr lang="en-US" dirty="0"/>
              <a:t>Promote recognition over recall</a:t>
            </a:r>
          </a:p>
          <a:p>
            <a:pPr lvl="1"/>
            <a:r>
              <a:rPr lang="en-US" dirty="0"/>
              <a:t>menus, icons, choice dialog boxes vs commands, field formats</a:t>
            </a:r>
          </a:p>
          <a:p>
            <a:pPr lvl="1"/>
            <a:r>
              <a:rPr lang="en-US" dirty="0"/>
              <a:t>relies on visibility of objects to the user</a:t>
            </a:r>
          </a:p>
        </p:txBody>
      </p:sp>
      <p:pic>
        <p:nvPicPr>
          <p:cNvPr id="13318" name="Picture 6"/>
          <p:cNvPicPr>
            <a:picLocks noChangeAspect="1" noChangeArrowheads="1"/>
          </p:cNvPicPr>
          <p:nvPr/>
        </p:nvPicPr>
        <p:blipFill>
          <a:blip r:embed="rId3" cstate="print"/>
          <a:srcRect/>
          <a:stretch>
            <a:fillRect/>
          </a:stretch>
        </p:blipFill>
        <p:spPr bwMode="auto">
          <a:xfrm>
            <a:off x="152400" y="3962400"/>
            <a:ext cx="3833446" cy="2286000"/>
          </a:xfrm>
          <a:prstGeom prst="rect">
            <a:avLst/>
          </a:prstGeom>
          <a:noFill/>
          <a:ln w="12699">
            <a:noFill/>
            <a:miter lim="800000"/>
            <a:headEnd type="none" w="sm" len="sm"/>
            <a:tailEnd type="none" w="sm" len="sm"/>
          </a:ln>
          <a:effectLst/>
        </p:spPr>
      </p:pic>
      <p:pic>
        <p:nvPicPr>
          <p:cNvPr id="13319" name="Picture 7"/>
          <p:cNvPicPr>
            <a:picLocks noChangeAspect="1" noChangeArrowheads="1"/>
          </p:cNvPicPr>
          <p:nvPr/>
        </p:nvPicPr>
        <p:blipFill>
          <a:blip r:embed="rId4" cstate="print"/>
          <a:srcRect/>
          <a:stretch>
            <a:fillRect/>
          </a:stretch>
        </p:blipFill>
        <p:spPr bwMode="auto">
          <a:xfrm>
            <a:off x="4062413" y="3657600"/>
            <a:ext cx="4700587" cy="3071812"/>
          </a:xfrm>
          <a:prstGeom prst="rect">
            <a:avLst/>
          </a:prstGeom>
          <a:noFill/>
          <a:ln w="12699">
            <a:noFill/>
            <a:miter lim="800000"/>
            <a:headEnd type="none" w="sm" len="sm"/>
            <a:tailEnd type="none" w="sm" len="sm"/>
          </a:ln>
          <a:effectLst/>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4" name="Rectangle 1032"/>
          <p:cNvSpPr>
            <a:spLocks noGrp="1" noChangeArrowheads="1"/>
          </p:cNvSpPr>
          <p:nvPr>
            <p:ph type="title"/>
          </p:nvPr>
        </p:nvSpPr>
        <p:spPr/>
        <p:txBody>
          <a:bodyPr/>
          <a:lstStyle/>
          <a:p>
            <a:r>
              <a:rPr lang="en-US" dirty="0"/>
              <a:t>5. Minimize user’s memory load</a:t>
            </a:r>
          </a:p>
        </p:txBody>
      </p:sp>
      <p:sp>
        <p:nvSpPr>
          <p:cNvPr id="80905" name="Rectangle 1033"/>
          <p:cNvSpPr>
            <a:spLocks noGrp="1" noChangeArrowheads="1"/>
          </p:cNvSpPr>
          <p:nvPr>
            <p:ph type="body" idx="1"/>
          </p:nvPr>
        </p:nvSpPr>
        <p:spPr/>
        <p:txBody>
          <a:bodyPr/>
          <a:lstStyle/>
          <a:p>
            <a:r>
              <a:rPr lang="en-US"/>
              <a:t>Gives input format, example and default</a:t>
            </a:r>
            <a:br>
              <a:rPr lang="en-US"/>
            </a:br>
            <a:br>
              <a:rPr lang="en-US"/>
            </a:br>
            <a:br>
              <a:rPr lang="en-US"/>
            </a:br>
            <a:br>
              <a:rPr lang="en-US"/>
            </a:br>
            <a:br>
              <a:rPr lang="en-US"/>
            </a:br>
            <a:br>
              <a:rPr lang="en-US"/>
            </a:br>
            <a:br>
              <a:rPr lang="en-US"/>
            </a:br>
            <a:endParaRPr lang="en-US"/>
          </a:p>
        </p:txBody>
      </p:sp>
      <p:pic>
        <p:nvPicPr>
          <p:cNvPr id="80901" name="Picture 1029"/>
          <p:cNvPicPr>
            <a:picLocks noChangeAspect="1" noChangeArrowheads="1"/>
          </p:cNvPicPr>
          <p:nvPr/>
        </p:nvPicPr>
        <p:blipFill>
          <a:blip r:embed="rId2" cstate="print"/>
          <a:srcRect/>
          <a:stretch>
            <a:fillRect/>
          </a:stretch>
        </p:blipFill>
        <p:spPr bwMode="auto">
          <a:xfrm>
            <a:off x="1371600" y="3048000"/>
            <a:ext cx="2419350" cy="2219325"/>
          </a:xfrm>
          <a:prstGeom prst="rect">
            <a:avLst/>
          </a:prstGeom>
          <a:noFill/>
          <a:ln w="12699">
            <a:noFill/>
            <a:miter lim="800000"/>
            <a:headEnd type="none" w="sm" len="sm"/>
            <a:tailEnd type="none" w="sm" len="sm"/>
          </a:ln>
          <a:effectLst/>
        </p:spPr>
      </p:pic>
      <p:pic>
        <p:nvPicPr>
          <p:cNvPr id="80903" name="Picture 1031"/>
          <p:cNvPicPr>
            <a:picLocks noChangeAspect="1" noChangeArrowheads="1"/>
          </p:cNvPicPr>
          <p:nvPr/>
        </p:nvPicPr>
        <p:blipFill>
          <a:blip r:embed="rId3" cstate="print"/>
          <a:srcRect/>
          <a:stretch>
            <a:fillRect/>
          </a:stretch>
        </p:blipFill>
        <p:spPr bwMode="auto">
          <a:xfrm>
            <a:off x="4648200" y="2971800"/>
            <a:ext cx="3343275" cy="2476500"/>
          </a:xfrm>
          <a:prstGeom prst="rect">
            <a:avLst/>
          </a:prstGeom>
          <a:noFill/>
          <a:ln w="12699">
            <a:noFill/>
            <a:miter lim="800000"/>
            <a:headEnd type="none" w="sm" len="sm"/>
            <a:tailEnd type="none" w="sm" len="sm"/>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463" y="304800"/>
            <a:ext cx="7772400" cy="685800"/>
          </a:xfrm>
        </p:spPr>
        <p:txBody>
          <a:bodyPr>
            <a:normAutofit fontScale="90000"/>
          </a:bodyPr>
          <a:lstStyle/>
          <a:p>
            <a:r>
              <a:rPr lang="en-US" dirty="0"/>
              <a:t>5. Minimize user’s memory load</a:t>
            </a:r>
          </a:p>
        </p:txBody>
      </p:sp>
      <p:pic>
        <p:nvPicPr>
          <p:cNvPr id="3" name="Picture 2"/>
          <p:cNvPicPr>
            <a:picLocks noChangeAspect="1"/>
          </p:cNvPicPr>
          <p:nvPr/>
        </p:nvPicPr>
        <p:blipFill>
          <a:blip r:embed="rId2"/>
          <a:stretch>
            <a:fillRect/>
          </a:stretch>
        </p:blipFill>
        <p:spPr>
          <a:xfrm>
            <a:off x="100834" y="1524000"/>
            <a:ext cx="8875657" cy="5056909"/>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en-US" dirty="0"/>
              <a:t>5. Minimize user’s memory load</a:t>
            </a:r>
            <a:endParaRPr lang="en-CA" dirty="0"/>
          </a:p>
        </p:txBody>
      </p:sp>
      <p:pic>
        <p:nvPicPr>
          <p:cNvPr id="128004" name="Picture 4" descr="The world's longest error message?"/>
          <p:cNvPicPr>
            <a:picLocks noChangeAspect="1" noChangeArrowheads="1"/>
          </p:cNvPicPr>
          <p:nvPr/>
        </p:nvPicPr>
        <p:blipFill>
          <a:blip r:embed="rId2" cstate="print"/>
          <a:srcRect/>
          <a:stretch>
            <a:fillRect/>
          </a:stretch>
        </p:blipFill>
        <p:spPr bwMode="auto">
          <a:xfrm>
            <a:off x="539750" y="1557338"/>
            <a:ext cx="8001000" cy="4929187"/>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en-US" dirty="0"/>
              <a:t>5. Minimize user’s memory load</a:t>
            </a:r>
            <a:endParaRPr lang="en-CA" dirty="0"/>
          </a:p>
        </p:txBody>
      </p:sp>
      <p:pic>
        <p:nvPicPr>
          <p:cNvPr id="2" name="Picture 1"/>
          <p:cNvPicPr>
            <a:picLocks noChangeAspect="1"/>
          </p:cNvPicPr>
          <p:nvPr/>
        </p:nvPicPr>
        <p:blipFill>
          <a:blip r:embed="rId2"/>
          <a:stretch>
            <a:fillRect/>
          </a:stretch>
        </p:blipFill>
        <p:spPr>
          <a:xfrm>
            <a:off x="1143000" y="1295400"/>
            <a:ext cx="5805487" cy="5325978"/>
          </a:xfrm>
          <a:prstGeom prst="rect">
            <a:avLst/>
          </a:prstGeom>
        </p:spPr>
      </p:pic>
    </p:spTree>
    <p:extLst>
      <p:ext uri="{BB962C8B-B14F-4D97-AF65-F5344CB8AC3E}">
        <p14:creationId xmlns:p14="http://schemas.microsoft.com/office/powerpoint/2010/main" val="19208359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en-US" dirty="0"/>
              <a:t>5. Minimize user’s memory load</a:t>
            </a:r>
            <a:endParaRPr lang="en-CA" dirty="0"/>
          </a:p>
        </p:txBody>
      </p:sp>
      <p:pic>
        <p:nvPicPr>
          <p:cNvPr id="3" name="Picture 2"/>
          <p:cNvPicPr>
            <a:picLocks noChangeAspect="1"/>
          </p:cNvPicPr>
          <p:nvPr/>
        </p:nvPicPr>
        <p:blipFill>
          <a:blip r:embed="rId2"/>
          <a:stretch>
            <a:fillRect/>
          </a:stretch>
        </p:blipFill>
        <p:spPr>
          <a:xfrm>
            <a:off x="1295400" y="1417638"/>
            <a:ext cx="7248185" cy="5135562"/>
          </a:xfrm>
          <a:prstGeom prst="rect">
            <a:avLst/>
          </a:prstGeom>
        </p:spPr>
      </p:pic>
    </p:spTree>
    <p:extLst>
      <p:ext uri="{BB962C8B-B14F-4D97-AF65-F5344CB8AC3E}">
        <p14:creationId xmlns:p14="http://schemas.microsoft.com/office/powerpoint/2010/main" val="16852129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Flexibility and efficiency of use</a:t>
            </a:r>
          </a:p>
          <a:p>
            <a:endParaRPr lang="en-US" b="1" dirty="0"/>
          </a:p>
          <a:p>
            <a:r>
              <a:rPr lang="en-US" dirty="0"/>
              <a:t>The Interface should be flexible transforming itself between a novice user and an advanced user.</a:t>
            </a:r>
          </a:p>
          <a:p>
            <a:endParaRPr lang="en-US" dirty="0"/>
          </a:p>
          <a:p>
            <a:endParaRPr lang="en-US" dirty="0"/>
          </a:p>
          <a:p>
            <a:r>
              <a:rPr lang="en-US" sz="2200" dirty="0"/>
              <a:t>Example : One frequents this option while installing a new software that asks if the user wants to go ahead with default installation or custom installation. An advanced user chooses a custom installation to cut out the unnecessary services.</a:t>
            </a:r>
            <a:r>
              <a:rPr lang="en-US" sz="2200" b="1" dirty="0"/>
              <a:t> </a:t>
            </a:r>
          </a:p>
          <a:p>
            <a:endParaRPr lang="en-US" b="1" dirty="0"/>
          </a:p>
        </p:txBody>
      </p:sp>
    </p:spTree>
    <p:extLst>
      <p:ext uri="{BB962C8B-B14F-4D97-AF65-F5344CB8AC3E}">
        <p14:creationId xmlns:p14="http://schemas.microsoft.com/office/powerpoint/2010/main" val="31004762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Flexibility and efficiency of use </a:t>
            </a:r>
            <a:r>
              <a:rPr lang="en-US" dirty="0"/>
              <a:t>[Accelerators]</a:t>
            </a:r>
            <a:endParaRPr lang="en-US" b="1" dirty="0"/>
          </a:p>
          <a:p>
            <a:pPr lvl="1"/>
            <a:r>
              <a:rPr lang="en-US" dirty="0"/>
              <a:t>Allow users to tailor frequent actions. Accelerators – unseen by the novice user – may often speed up the interaction for the expert user to such an extent that the system can cater to both inexperienced and experienced users.</a:t>
            </a:r>
          </a:p>
          <a:p>
            <a:pPr lvl="1"/>
            <a:endParaRPr lang="en-US" dirty="0"/>
          </a:p>
          <a:p>
            <a:pPr lvl="1"/>
            <a:r>
              <a:rPr lang="en-US" dirty="0"/>
              <a:t>For example: command keys, type-ahead, edit and reissue previous commands, menu of most recently used files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descr="https://miro.medium.com/max/1333/1*GLxlj5Wkk1-nKkI8sgK6t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78034" y="242773"/>
            <a:ext cx="5365966" cy="6477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a:xfrm>
            <a:off x="457200" y="494392"/>
            <a:ext cx="2667000" cy="5973762"/>
          </a:xfrm>
        </p:spPr>
        <p:txBody>
          <a:bodyPr>
            <a:normAutofit/>
          </a:bodyPr>
          <a:lstStyle/>
          <a:p>
            <a:r>
              <a:rPr lang="en-US" sz="3200" dirty="0"/>
              <a:t>Example of setting up Exchange on Android which hides the complex features under Advanced.</a:t>
            </a:r>
          </a:p>
        </p:txBody>
      </p:sp>
    </p:spTree>
    <p:extLst>
      <p:ext uri="{BB962C8B-B14F-4D97-AF65-F5344CB8AC3E}">
        <p14:creationId xmlns:p14="http://schemas.microsoft.com/office/powerpoint/2010/main" val="20489812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lIns="92075" tIns="46038" rIns="92075" bIns="46038"/>
          <a:lstStyle/>
          <a:p>
            <a:r>
              <a:rPr lang="en-US" dirty="0"/>
              <a:t>6. Provide shortcuts</a:t>
            </a:r>
          </a:p>
        </p:txBody>
      </p:sp>
      <p:sp>
        <p:nvSpPr>
          <p:cNvPr id="25603" name="Rectangle 3"/>
          <p:cNvSpPr>
            <a:spLocks noGrp="1" noChangeArrowheads="1"/>
          </p:cNvSpPr>
          <p:nvPr>
            <p:ph type="body" idx="1"/>
          </p:nvPr>
        </p:nvSpPr>
        <p:spPr>
          <a:noFill/>
          <a:ln/>
        </p:spPr>
        <p:txBody>
          <a:bodyPr lIns="92075" tIns="46038" rIns="92075" bIns="46038">
            <a:normAutofit/>
          </a:bodyPr>
          <a:lstStyle/>
          <a:p>
            <a:r>
              <a:rPr lang="en-US" sz="2000" dirty="0"/>
              <a:t>Experienced users - perform frequent operations quickly</a:t>
            </a:r>
          </a:p>
          <a:p>
            <a:br>
              <a:rPr lang="en-US" sz="2000" dirty="0"/>
            </a:br>
            <a:r>
              <a:rPr lang="en-US" sz="2000" dirty="0"/>
              <a:t>Strategies:</a:t>
            </a:r>
          </a:p>
          <a:p>
            <a:pPr lvl="1"/>
            <a:r>
              <a:rPr lang="en-US" sz="1600" dirty="0"/>
              <a:t>keyboard and mouse accelerators</a:t>
            </a:r>
          </a:p>
          <a:p>
            <a:pPr lvl="2"/>
            <a:r>
              <a:rPr lang="en-US" sz="1400" dirty="0"/>
              <a:t>Short cuts</a:t>
            </a:r>
          </a:p>
          <a:p>
            <a:pPr lvl="2"/>
            <a:r>
              <a:rPr lang="en-US" sz="1400" dirty="0"/>
              <a:t>function keys</a:t>
            </a:r>
            <a:br>
              <a:rPr lang="en-US" sz="1400" dirty="0"/>
            </a:br>
            <a:endParaRPr lang="en-US" sz="1400" dirty="0"/>
          </a:p>
          <a:p>
            <a:pPr lvl="1"/>
            <a:r>
              <a:rPr lang="en-US" sz="1600" dirty="0"/>
              <a:t>type-ahead (entering input before the system is ready for it) </a:t>
            </a:r>
            <a:br>
              <a:rPr lang="en-US" sz="1600" dirty="0"/>
            </a:br>
            <a:endParaRPr lang="en-US" sz="1600" dirty="0"/>
          </a:p>
          <a:p>
            <a:pPr lvl="1"/>
            <a:r>
              <a:rPr lang="en-US" sz="1600" dirty="0"/>
              <a:t>navigation jumps </a:t>
            </a:r>
          </a:p>
          <a:p>
            <a:pPr lvl="2"/>
            <a:r>
              <a:rPr lang="en-US" sz="1400" dirty="0"/>
              <a:t>e.g., going to window/location directly, and avoiding intermediate nodes</a:t>
            </a:r>
            <a:br>
              <a:rPr lang="en-US" sz="1400" dirty="0"/>
            </a:br>
            <a:endParaRPr lang="en-US" sz="1400" dirty="0"/>
          </a:p>
          <a:p>
            <a:pPr lvl="1"/>
            <a:r>
              <a:rPr lang="en-US" sz="1600" dirty="0"/>
              <a:t>history systems </a:t>
            </a:r>
          </a:p>
          <a:p>
            <a:pPr lvl="2"/>
            <a:r>
              <a:rPr lang="en-US" sz="1400" dirty="0"/>
              <a:t>WWW: ~60% of pages are revisits</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Provide shortcuts</a:t>
            </a:r>
          </a:p>
        </p:txBody>
      </p:sp>
      <p:graphicFrame>
        <p:nvGraphicFramePr>
          <p:cNvPr id="4" name="Diagram 3"/>
          <p:cNvGraphicFramePr/>
          <p:nvPr/>
        </p:nvGraphicFramePr>
        <p:xfrm>
          <a:off x="1600200" y="18034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1000" y="533400"/>
            <a:ext cx="8400627" cy="5867400"/>
          </a:xfrm>
          <a:prstGeom prst="rect">
            <a:avLst/>
          </a:prstGeom>
        </p:spPr>
      </p:pic>
    </p:spTree>
    <p:extLst>
      <p:ext uri="{BB962C8B-B14F-4D97-AF65-F5344CB8AC3E}">
        <p14:creationId xmlns:p14="http://schemas.microsoft.com/office/powerpoint/2010/main" val="29397334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Aesthetic and minimalist design </a:t>
            </a:r>
          </a:p>
          <a:p>
            <a:pPr lvl="1"/>
            <a:r>
              <a:rPr lang="en-US" dirty="0"/>
              <a:t>Dialogs should not contain information that is irrelevant or rarely needed. Every extra unit of information in a dialog competes with the relevant units of information and diminishes their relative visibility.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2075" tIns="46038" rIns="92075" bIns="46038"/>
          <a:lstStyle/>
          <a:p>
            <a:r>
              <a:rPr lang="en-US" dirty="0"/>
              <a:t>7. Minimalist Design </a:t>
            </a:r>
          </a:p>
        </p:txBody>
      </p:sp>
      <p:pic>
        <p:nvPicPr>
          <p:cNvPr id="4" name="Picture 3"/>
          <p:cNvPicPr>
            <a:picLocks noChangeAspect="1"/>
          </p:cNvPicPr>
          <p:nvPr/>
        </p:nvPicPr>
        <p:blipFill>
          <a:blip r:embed="rId3"/>
          <a:stretch>
            <a:fillRect/>
          </a:stretch>
        </p:blipFill>
        <p:spPr>
          <a:xfrm>
            <a:off x="943494" y="1447800"/>
            <a:ext cx="7438505" cy="5438326"/>
          </a:xfrm>
          <a:prstGeom prst="rect">
            <a:avLst/>
          </a:prstGeom>
        </p:spPr>
      </p:pic>
      <p:sp>
        <p:nvSpPr>
          <p:cNvPr id="8195" name="Rectangle 3"/>
          <p:cNvSpPr>
            <a:spLocks noGrp="1" noChangeArrowheads="1"/>
          </p:cNvSpPr>
          <p:nvPr>
            <p:ph type="body" idx="1"/>
          </p:nvPr>
        </p:nvSpPr>
        <p:spPr>
          <a:noFill/>
          <a:ln/>
        </p:spPr>
        <p:txBody>
          <a:bodyPr lIns="92075" tIns="46038" rIns="92075" bIns="46038"/>
          <a:lstStyle/>
          <a:p>
            <a:pPr lvl="1"/>
            <a:endParaRPr lang="en-US"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2075" tIns="46038" rIns="92075" bIns="46038"/>
          <a:lstStyle/>
          <a:p>
            <a:r>
              <a:rPr lang="en-US" dirty="0"/>
              <a:t>7. Minimalist Design </a:t>
            </a:r>
          </a:p>
        </p:txBody>
      </p:sp>
      <p:sp>
        <p:nvSpPr>
          <p:cNvPr id="8195" name="Rectangle 3"/>
          <p:cNvSpPr>
            <a:spLocks noGrp="1" noChangeArrowheads="1"/>
          </p:cNvSpPr>
          <p:nvPr>
            <p:ph type="body" idx="1"/>
          </p:nvPr>
        </p:nvSpPr>
        <p:spPr>
          <a:noFill/>
          <a:ln/>
        </p:spPr>
        <p:txBody>
          <a:bodyPr lIns="92075" tIns="46038" rIns="92075" bIns="46038"/>
          <a:lstStyle/>
          <a:p>
            <a:pPr lvl="1"/>
            <a:r>
              <a:rPr lang="en-US" dirty="0"/>
              <a:t>match the users’ task sequence </a:t>
            </a:r>
          </a:p>
          <a:p>
            <a:pPr lvl="1"/>
            <a:r>
              <a:rPr lang="en-US" dirty="0"/>
              <a:t>minimize mapping between interface and task semantics</a:t>
            </a:r>
          </a:p>
        </p:txBody>
      </p:sp>
      <p:pic>
        <p:nvPicPr>
          <p:cNvPr id="8197" name="Picture 5"/>
          <p:cNvPicPr>
            <a:picLocks noChangeAspect="1" noChangeArrowheads="1"/>
          </p:cNvPicPr>
          <p:nvPr/>
        </p:nvPicPr>
        <p:blipFill>
          <a:blip r:embed="rId3" cstate="print"/>
          <a:srcRect/>
          <a:stretch>
            <a:fillRect/>
          </a:stretch>
        </p:blipFill>
        <p:spPr bwMode="auto">
          <a:xfrm>
            <a:off x="4800600" y="2971800"/>
            <a:ext cx="2905125" cy="1171575"/>
          </a:xfrm>
          <a:prstGeom prst="rect">
            <a:avLst/>
          </a:prstGeom>
          <a:noFill/>
          <a:ln w="12699">
            <a:noFill/>
            <a:miter lim="800000"/>
            <a:headEnd type="none" w="sm" len="sm"/>
            <a:tailEnd type="none" w="sm" len="sm"/>
          </a:ln>
          <a:effectLst/>
        </p:spPr>
      </p:pic>
      <p:pic>
        <p:nvPicPr>
          <p:cNvPr id="6" name="Picture 3"/>
          <p:cNvPicPr>
            <a:picLocks noChangeAspect="1" noChangeArrowheads="1"/>
          </p:cNvPicPr>
          <p:nvPr/>
        </p:nvPicPr>
        <p:blipFill>
          <a:blip r:embed="rId4" cstate="print"/>
          <a:srcRect l="9375" t="47844" r="10625" b="17655"/>
          <a:stretch>
            <a:fillRect/>
          </a:stretch>
        </p:blipFill>
        <p:spPr bwMode="auto">
          <a:xfrm>
            <a:off x="228600" y="4343400"/>
            <a:ext cx="8686800" cy="21717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29782077"/>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type="title"/>
          </p:nvPr>
        </p:nvSpPr>
        <p:spPr/>
        <p:txBody>
          <a:bodyPr/>
          <a:lstStyle/>
          <a:p>
            <a:r>
              <a:rPr lang="en-US" dirty="0"/>
              <a:t>7. Minimalist Design </a:t>
            </a:r>
          </a:p>
        </p:txBody>
      </p:sp>
      <p:sp>
        <p:nvSpPr>
          <p:cNvPr id="78852" name="Rectangle 4"/>
          <p:cNvSpPr>
            <a:spLocks noGrp="1" noChangeArrowheads="1"/>
          </p:cNvSpPr>
          <p:nvPr>
            <p:ph type="body" idx="1"/>
          </p:nvPr>
        </p:nvSpPr>
        <p:spPr/>
        <p:txBody>
          <a:bodyPr>
            <a:normAutofit lnSpcReduction="10000"/>
          </a:bodyPr>
          <a:lstStyle/>
          <a:p>
            <a:r>
              <a:rPr lang="en-US" dirty="0"/>
              <a:t>Present exactly the information the user needs</a:t>
            </a:r>
          </a:p>
          <a:p>
            <a:pPr lvl="1"/>
            <a:r>
              <a:rPr lang="en-US" dirty="0"/>
              <a:t>less is more</a:t>
            </a:r>
          </a:p>
          <a:p>
            <a:pPr lvl="2"/>
            <a:r>
              <a:rPr lang="en-US" dirty="0"/>
              <a:t>less to learn, to get wrong, to distract...</a:t>
            </a:r>
            <a:br>
              <a:rPr lang="en-US" dirty="0"/>
            </a:br>
            <a:endParaRPr lang="en-US" dirty="0"/>
          </a:p>
          <a:p>
            <a:pPr lvl="1"/>
            <a:r>
              <a:rPr lang="en-US" dirty="0"/>
              <a:t>information should appear in natural order</a:t>
            </a:r>
          </a:p>
          <a:p>
            <a:pPr lvl="2"/>
            <a:r>
              <a:rPr lang="en-US" dirty="0"/>
              <a:t>related information is graphically clustered</a:t>
            </a:r>
          </a:p>
          <a:p>
            <a:pPr lvl="2"/>
            <a:r>
              <a:rPr lang="en-US" dirty="0"/>
              <a:t>order of accessing information matches user’s expectations</a:t>
            </a:r>
            <a:br>
              <a:rPr lang="en-US" dirty="0"/>
            </a:br>
            <a:endParaRPr lang="en-US" dirty="0"/>
          </a:p>
          <a:p>
            <a:pPr lvl="1"/>
            <a:r>
              <a:rPr lang="en-US" dirty="0"/>
              <a:t>remove or hide irrelevant or rarely needed information</a:t>
            </a:r>
          </a:p>
          <a:p>
            <a:pPr lvl="2"/>
            <a:r>
              <a:rPr lang="en-US" dirty="0"/>
              <a:t>competes with important information on screen</a:t>
            </a:r>
            <a:br>
              <a:rPr lang="en-US" dirty="0"/>
            </a:br>
            <a:endParaRPr lang="en-US" dirty="0"/>
          </a:p>
          <a:p>
            <a:pPr lvl="1"/>
            <a:r>
              <a:rPr lang="en-US" dirty="0"/>
              <a:t>use windows sparingly</a:t>
            </a:r>
          </a:p>
          <a:p>
            <a:pPr lvl="2"/>
            <a:r>
              <a:rPr lang="en-US" dirty="0"/>
              <a:t>don’t add unneeded navigation and window management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251" name="Rectangle 1091"/>
          <p:cNvSpPr>
            <a:spLocks noGrp="1" noChangeArrowheads="1"/>
          </p:cNvSpPr>
          <p:nvPr>
            <p:ph type="title"/>
          </p:nvPr>
        </p:nvSpPr>
        <p:spPr/>
        <p:txBody>
          <a:bodyPr/>
          <a:lstStyle/>
          <a:p>
            <a:r>
              <a:rPr lang="en-US" dirty="0"/>
              <a:t>7. Minimalist Design </a:t>
            </a:r>
          </a:p>
        </p:txBody>
      </p:sp>
      <p:pic>
        <p:nvPicPr>
          <p:cNvPr id="12" name="Picture 11"/>
          <p:cNvPicPr>
            <a:picLocks noChangeAspect="1"/>
          </p:cNvPicPr>
          <p:nvPr/>
        </p:nvPicPr>
        <p:blipFill>
          <a:blip r:embed="rId2"/>
          <a:stretch>
            <a:fillRect/>
          </a:stretch>
        </p:blipFill>
        <p:spPr>
          <a:xfrm>
            <a:off x="1066800" y="1295400"/>
            <a:ext cx="7315200" cy="5440072"/>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Minimalist Design </a:t>
            </a:r>
          </a:p>
        </p:txBody>
      </p:sp>
      <p:pic>
        <p:nvPicPr>
          <p:cNvPr id="4608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3905250"/>
            <a:ext cx="7372350"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27250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Error prevention </a:t>
            </a:r>
          </a:p>
          <a:p>
            <a:pPr lvl="1"/>
            <a:r>
              <a:rPr lang="en-US" dirty="0"/>
              <a:t>Make it difficult to make errors. Even better than good error messages is a careful design that prevents a problem from occurring in the first place.</a:t>
            </a:r>
          </a:p>
          <a:p>
            <a:pPr lvl="1"/>
            <a:endParaRPr lang="en-US" dirty="0"/>
          </a:p>
          <a:p>
            <a:pPr lvl="1"/>
            <a:r>
              <a:rPr lang="en-US" dirty="0"/>
              <a:t>For example: select file from menu rather than typing in name, confirmation before dangerous actions, avoid similar command names, warning if Caps Lock is activated when entering a password, etc.</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noFill/>
          <a:ln/>
        </p:spPr>
        <p:txBody>
          <a:bodyPr lIns="92075" tIns="46038" rIns="92075" bIns="46038">
            <a:normAutofit/>
          </a:bodyPr>
          <a:lstStyle/>
          <a:p>
            <a:r>
              <a:rPr lang="en-US" dirty="0"/>
              <a:t>8. Prevent Errors</a:t>
            </a:r>
          </a:p>
        </p:txBody>
      </p:sp>
      <p:sp>
        <p:nvSpPr>
          <p:cNvPr id="48131" name="Rectangle 3"/>
          <p:cNvSpPr>
            <a:spLocks noGrp="1" noChangeArrowheads="1"/>
          </p:cNvSpPr>
          <p:nvPr>
            <p:ph type="body" idx="1"/>
          </p:nvPr>
        </p:nvSpPr>
        <p:spPr>
          <a:xfrm>
            <a:off x="914400" y="1447800"/>
            <a:ext cx="7772400" cy="5105400"/>
          </a:xfrm>
          <a:noFill/>
          <a:ln/>
        </p:spPr>
        <p:txBody>
          <a:bodyPr lIns="92075" tIns="46038" rIns="92075" bIns="46038">
            <a:normAutofit fontScale="92500" lnSpcReduction="20000"/>
          </a:bodyPr>
          <a:lstStyle/>
          <a:p>
            <a:r>
              <a:rPr lang="en-US" dirty="0"/>
              <a:t>Prevent errors</a:t>
            </a:r>
          </a:p>
          <a:p>
            <a:pPr lvl="1"/>
            <a:r>
              <a:rPr lang="en-US" dirty="0"/>
              <a:t>try to make errors impossible</a:t>
            </a:r>
          </a:p>
          <a:p>
            <a:pPr lvl="1"/>
            <a:r>
              <a:rPr lang="en-US" dirty="0"/>
              <a:t>modern widgets:  can only enter legal data</a:t>
            </a:r>
            <a:br>
              <a:rPr lang="en-US" dirty="0"/>
            </a:br>
            <a:br>
              <a:rPr lang="en-US" dirty="0"/>
            </a:br>
            <a:br>
              <a:rPr lang="en-US" dirty="0"/>
            </a:br>
            <a:br>
              <a:rPr lang="en-US" dirty="0"/>
            </a:br>
            <a:br>
              <a:rPr lang="en-US" dirty="0"/>
            </a:br>
            <a:br>
              <a:rPr lang="en-US" dirty="0"/>
            </a:br>
            <a:br>
              <a:rPr lang="en-US" dirty="0"/>
            </a:br>
            <a:endParaRPr lang="en-US" dirty="0"/>
          </a:p>
          <a:p>
            <a:pPr lvl="1">
              <a:buNone/>
            </a:pPr>
            <a:br>
              <a:rPr lang="en-US" dirty="0"/>
            </a:br>
            <a:br>
              <a:rPr lang="en-US" dirty="0"/>
            </a:br>
            <a:endParaRPr lang="en-US" dirty="0"/>
          </a:p>
          <a:p>
            <a:r>
              <a:rPr lang="en-US" dirty="0"/>
              <a:t>Provide reasonableness checks on input data</a:t>
            </a:r>
          </a:p>
          <a:p>
            <a:pPr lvl="1"/>
            <a:r>
              <a:rPr lang="en-US" dirty="0"/>
              <a:t>on entering order for office supplies</a:t>
            </a:r>
          </a:p>
          <a:p>
            <a:pPr lvl="2"/>
            <a:r>
              <a:rPr lang="en-US" dirty="0"/>
              <a:t>5000 pencils is an unusually large order. Do you really want to order that many?</a:t>
            </a:r>
          </a:p>
        </p:txBody>
      </p:sp>
      <p:pic>
        <p:nvPicPr>
          <p:cNvPr id="48132" name="Picture 4"/>
          <p:cNvPicPr>
            <a:picLocks noChangeAspect="1" noChangeArrowheads="1"/>
          </p:cNvPicPr>
          <p:nvPr/>
        </p:nvPicPr>
        <p:blipFill>
          <a:blip r:embed="rId3" cstate="print"/>
          <a:srcRect/>
          <a:stretch>
            <a:fillRect/>
          </a:stretch>
        </p:blipFill>
        <p:spPr bwMode="auto">
          <a:xfrm>
            <a:off x="1676400" y="2667000"/>
            <a:ext cx="2419350" cy="2219325"/>
          </a:xfrm>
          <a:prstGeom prst="rect">
            <a:avLst/>
          </a:prstGeom>
          <a:noFill/>
          <a:ln w="12699">
            <a:noFill/>
            <a:miter lim="800000"/>
            <a:headEnd type="none" w="sm" len="sm"/>
            <a:tailEnd type="none" w="sm" len="sm"/>
          </a:ln>
          <a:effectLst/>
        </p:spPr>
      </p:pic>
      <p:pic>
        <p:nvPicPr>
          <p:cNvPr id="48133" name="Picture 5"/>
          <p:cNvPicPr>
            <a:picLocks noChangeAspect="1" noChangeArrowheads="1"/>
          </p:cNvPicPr>
          <p:nvPr/>
        </p:nvPicPr>
        <p:blipFill>
          <a:blip r:embed="rId4" cstate="print"/>
          <a:srcRect/>
          <a:stretch>
            <a:fillRect/>
          </a:stretch>
        </p:blipFill>
        <p:spPr bwMode="auto">
          <a:xfrm>
            <a:off x="5257800" y="2628900"/>
            <a:ext cx="3343275" cy="2476500"/>
          </a:xfrm>
          <a:prstGeom prst="rect">
            <a:avLst/>
          </a:prstGeom>
          <a:noFill/>
          <a:ln w="12699">
            <a:noFill/>
            <a:miter lim="800000"/>
            <a:headEnd type="none" w="sm" len="sm"/>
            <a:tailEnd type="none" w="sm" len="sm"/>
          </a:ln>
          <a:effectLst/>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 Prevent Errors</a:t>
            </a:r>
          </a:p>
        </p:txBody>
      </p:sp>
      <p:pic>
        <p:nvPicPr>
          <p:cNvPr id="4" name="Content Placeholder 3"/>
          <p:cNvPicPr>
            <a:picLocks noGrp="1" noChangeAspect="1" noChangeArrowheads="1"/>
          </p:cNvPicPr>
          <p:nvPr>
            <p:ph sz="quarter" idx="1"/>
          </p:nvPr>
        </p:nvPicPr>
        <p:blipFill>
          <a:blip r:embed="rId2" cstate="print"/>
          <a:srcRect l="7500" t="27358" r="6875" b="25202"/>
          <a:stretch>
            <a:fillRect/>
          </a:stretch>
        </p:blipFill>
        <p:spPr bwMode="auto">
          <a:xfrm>
            <a:off x="914400" y="2485660"/>
            <a:ext cx="7772400" cy="249628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 Prevent Errors</a:t>
            </a:r>
          </a:p>
        </p:txBody>
      </p:sp>
      <p:pic>
        <p:nvPicPr>
          <p:cNvPr id="4710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4223" y="2743200"/>
            <a:ext cx="7262977"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99721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 Prevent Errors</a:t>
            </a:r>
          </a:p>
        </p:txBody>
      </p:sp>
      <p:pic>
        <p:nvPicPr>
          <p:cNvPr id="3" name="Picture 2"/>
          <p:cNvPicPr>
            <a:picLocks noChangeAspect="1"/>
          </p:cNvPicPr>
          <p:nvPr/>
        </p:nvPicPr>
        <p:blipFill>
          <a:blip r:embed="rId2"/>
          <a:stretch>
            <a:fillRect/>
          </a:stretch>
        </p:blipFill>
        <p:spPr>
          <a:xfrm>
            <a:off x="304800" y="2057400"/>
            <a:ext cx="8027143" cy="3105150"/>
          </a:xfrm>
          <a:prstGeom prst="rect">
            <a:avLst/>
          </a:prstGeom>
        </p:spPr>
      </p:pic>
    </p:spTree>
    <p:extLst>
      <p:ext uri="{BB962C8B-B14F-4D97-AF65-F5344CB8AC3E}">
        <p14:creationId xmlns:p14="http://schemas.microsoft.com/office/powerpoint/2010/main" val="9054946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 Prevent Errors</a:t>
            </a:r>
          </a:p>
        </p:txBody>
      </p:sp>
      <p:pic>
        <p:nvPicPr>
          <p:cNvPr id="4" name="Picture 3"/>
          <p:cNvPicPr>
            <a:picLocks noChangeAspect="1"/>
          </p:cNvPicPr>
          <p:nvPr/>
        </p:nvPicPr>
        <p:blipFill>
          <a:blip r:embed="rId2"/>
          <a:stretch>
            <a:fillRect/>
          </a:stretch>
        </p:blipFill>
        <p:spPr>
          <a:xfrm>
            <a:off x="152400" y="1905000"/>
            <a:ext cx="8660294" cy="3609975"/>
          </a:xfrm>
          <a:prstGeom prst="rect">
            <a:avLst/>
          </a:prstGeom>
        </p:spPr>
      </p:pic>
    </p:spTree>
    <p:extLst>
      <p:ext uri="{BB962C8B-B14F-4D97-AF65-F5344CB8AC3E}">
        <p14:creationId xmlns:p14="http://schemas.microsoft.com/office/powerpoint/2010/main" val="31211913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 Prevent Errors</a:t>
            </a:r>
          </a:p>
        </p:txBody>
      </p:sp>
      <p:pic>
        <p:nvPicPr>
          <p:cNvPr id="3" name="Picture 2"/>
          <p:cNvPicPr>
            <a:picLocks noChangeAspect="1"/>
          </p:cNvPicPr>
          <p:nvPr/>
        </p:nvPicPr>
        <p:blipFill>
          <a:blip r:embed="rId2"/>
          <a:stretch>
            <a:fillRect/>
          </a:stretch>
        </p:blipFill>
        <p:spPr>
          <a:xfrm>
            <a:off x="381000" y="1417638"/>
            <a:ext cx="7992410" cy="4652963"/>
          </a:xfrm>
          <a:prstGeom prst="rect">
            <a:avLst/>
          </a:prstGeom>
        </p:spPr>
      </p:pic>
    </p:spTree>
    <p:extLst>
      <p:ext uri="{BB962C8B-B14F-4D97-AF65-F5344CB8AC3E}">
        <p14:creationId xmlns:p14="http://schemas.microsoft.com/office/powerpoint/2010/main" val="11815808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 Prevent Errors</a:t>
            </a:r>
          </a:p>
        </p:txBody>
      </p:sp>
      <p:pic>
        <p:nvPicPr>
          <p:cNvPr id="4" name="Picture 3"/>
          <p:cNvPicPr>
            <a:picLocks noChangeAspect="1"/>
          </p:cNvPicPr>
          <p:nvPr/>
        </p:nvPicPr>
        <p:blipFill>
          <a:blip r:embed="rId2"/>
          <a:stretch>
            <a:fillRect/>
          </a:stretch>
        </p:blipFill>
        <p:spPr>
          <a:xfrm>
            <a:off x="228600" y="2362200"/>
            <a:ext cx="8884093" cy="2438400"/>
          </a:xfrm>
          <a:prstGeom prst="rect">
            <a:avLst/>
          </a:prstGeom>
        </p:spPr>
      </p:pic>
    </p:spTree>
    <p:extLst>
      <p:ext uri="{BB962C8B-B14F-4D97-AF65-F5344CB8AC3E}">
        <p14:creationId xmlns:p14="http://schemas.microsoft.com/office/powerpoint/2010/main" val="41361639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 Prevent Errors</a:t>
            </a:r>
          </a:p>
        </p:txBody>
      </p:sp>
      <p:pic>
        <p:nvPicPr>
          <p:cNvPr id="3" name="Picture 2"/>
          <p:cNvPicPr>
            <a:picLocks noChangeAspect="1"/>
          </p:cNvPicPr>
          <p:nvPr/>
        </p:nvPicPr>
        <p:blipFill>
          <a:blip r:embed="rId2"/>
          <a:stretch>
            <a:fillRect/>
          </a:stretch>
        </p:blipFill>
        <p:spPr>
          <a:xfrm>
            <a:off x="714807" y="1905000"/>
            <a:ext cx="7971993" cy="3886200"/>
          </a:xfrm>
          <a:prstGeom prst="rect">
            <a:avLst/>
          </a:prstGeom>
        </p:spPr>
      </p:pic>
    </p:spTree>
    <p:extLst>
      <p:ext uri="{BB962C8B-B14F-4D97-AF65-F5344CB8AC3E}">
        <p14:creationId xmlns:p14="http://schemas.microsoft.com/office/powerpoint/2010/main" val="36998579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Help users recognize, diagnose and recover from errors </a:t>
            </a:r>
            <a:r>
              <a:rPr lang="en-US" dirty="0"/>
              <a:t>[Good Error Messages]</a:t>
            </a:r>
            <a:endParaRPr lang="en-US" b="1" dirty="0"/>
          </a:p>
          <a:p>
            <a:pPr lvl="1"/>
            <a:r>
              <a:rPr lang="en-US" dirty="0"/>
              <a:t>Error messages should be expressed in plain language (no codes), precisely indicate the problem, and constructively suggest a solution.  </a:t>
            </a:r>
          </a:p>
          <a:p>
            <a:pPr lvl="1"/>
            <a:endParaRPr lang="en-US" dirty="0"/>
          </a:p>
          <a:p>
            <a:pPr lvl="1"/>
            <a:r>
              <a:rPr lang="en-US" dirty="0"/>
              <a:t>Phrase error messages defensively, never blame the user. Multilevel messages. Link to help system.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Help users recognize, diagnose and recover from errors</a:t>
            </a:r>
            <a:endParaRPr lang="en-US" dirty="0"/>
          </a:p>
        </p:txBody>
      </p:sp>
      <p:pic>
        <p:nvPicPr>
          <p:cNvPr id="4" name="Picture 4" descr="4039752_f260"/>
          <p:cNvPicPr>
            <a:picLocks noChangeAspect="1" noChangeArrowheads="1"/>
          </p:cNvPicPr>
          <p:nvPr/>
        </p:nvPicPr>
        <p:blipFill>
          <a:blip r:embed="rId2" cstate="print"/>
          <a:srcRect/>
          <a:stretch>
            <a:fillRect/>
          </a:stretch>
        </p:blipFill>
        <p:spPr bwMode="auto">
          <a:xfrm>
            <a:off x="1479414" y="2819400"/>
            <a:ext cx="6064386" cy="2798763"/>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 Deal with errors in a positive manner</a:t>
            </a:r>
          </a:p>
        </p:txBody>
      </p:sp>
      <p:sp>
        <p:nvSpPr>
          <p:cNvPr id="3" name="Content Placeholder 2"/>
          <p:cNvSpPr>
            <a:spLocks noGrp="1"/>
          </p:cNvSpPr>
          <p:nvPr>
            <p:ph sz="quarter" idx="1"/>
          </p:nvPr>
        </p:nvSpPr>
        <p:spPr/>
        <p:txBody>
          <a:bodyPr/>
          <a:lstStyle/>
          <a:p>
            <a:r>
              <a:rPr lang="en-US" dirty="0"/>
              <a:t>Help users recognize, diagnose and recover from errors</a:t>
            </a:r>
          </a:p>
        </p:txBody>
      </p:sp>
      <p:pic>
        <p:nvPicPr>
          <p:cNvPr id="4" name="Picture 2"/>
          <p:cNvPicPr>
            <a:picLocks noChangeAspect="1" noChangeArrowheads="1"/>
          </p:cNvPicPr>
          <p:nvPr/>
        </p:nvPicPr>
        <p:blipFill>
          <a:blip r:embed="rId2" cstate="print"/>
          <a:srcRect l="9375" t="51752" r="10625" b="13747"/>
          <a:stretch>
            <a:fillRect/>
          </a:stretch>
        </p:blipFill>
        <p:spPr bwMode="auto">
          <a:xfrm>
            <a:off x="228600" y="2743200"/>
            <a:ext cx="8686800" cy="21717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rrowheads="1"/>
          </p:cNvPicPr>
          <p:nvPr/>
        </p:nvPicPr>
        <p:blipFill>
          <a:blip r:embed="rId2" cstate="print">
            <a:clrChange>
              <a:clrFrom>
                <a:srgbClr val="FEFEFE"/>
              </a:clrFrom>
              <a:clrTo>
                <a:srgbClr val="FEFEFE">
                  <a:alpha val="0"/>
                </a:srgbClr>
              </a:clrTo>
            </a:clrChange>
          </a:blip>
          <a:srcRect/>
          <a:stretch>
            <a:fillRect/>
          </a:stretch>
        </p:blipFill>
        <p:spPr bwMode="auto">
          <a:xfrm>
            <a:off x="2195513" y="1325563"/>
            <a:ext cx="4854575" cy="5048250"/>
          </a:xfrm>
          <a:prstGeom prst="rect">
            <a:avLst/>
          </a:prstGeom>
          <a:noFill/>
          <a:ln w="9525">
            <a:noFill/>
            <a:miter lim="800000"/>
            <a:headEnd/>
            <a:tailEnd/>
          </a:ln>
          <a:effectLst/>
        </p:spPr>
      </p:pic>
      <p:sp>
        <p:nvSpPr>
          <p:cNvPr id="47107" name="Rectangle 3"/>
          <p:cNvSpPr>
            <a:spLocks noChangeArrowheads="1"/>
          </p:cNvSpPr>
          <p:nvPr/>
        </p:nvSpPr>
        <p:spPr bwMode="auto">
          <a:xfrm>
            <a:off x="1284288" y="6461125"/>
            <a:ext cx="6629400" cy="396875"/>
          </a:xfrm>
          <a:prstGeom prst="rect">
            <a:avLst/>
          </a:prstGeom>
          <a:noFill/>
          <a:ln w="9525">
            <a:noFill/>
            <a:miter lim="800000"/>
            <a:headEnd/>
            <a:tailEnd/>
          </a:ln>
          <a:effectLst/>
        </p:spPr>
        <p:txBody>
          <a:bodyPr wrap="none" lIns="92075" tIns="46038" rIns="92075" bIns="46038">
            <a:spAutoFit/>
          </a:bodyPr>
          <a:lstStyle/>
          <a:p>
            <a:pPr eaLnBrk="0" hangingPunct="0"/>
            <a:r>
              <a:rPr lang="en-US" sz="2000">
                <a:latin typeface="Arial" charset="0"/>
              </a:rPr>
              <a:t>A problematic message to a nuclear power plant operator</a:t>
            </a:r>
          </a:p>
        </p:txBody>
      </p:sp>
      <p:sp>
        <p:nvSpPr>
          <p:cNvPr id="47108" name="Rectangle 4"/>
          <p:cNvSpPr>
            <a:spLocks noGrp="1" noChangeArrowheads="1"/>
          </p:cNvSpPr>
          <p:nvPr>
            <p:ph type="title"/>
          </p:nvPr>
        </p:nvSpPr>
        <p:spPr/>
        <p:txBody>
          <a:bodyPr>
            <a:normAutofit fontScale="90000"/>
          </a:bodyPr>
          <a:lstStyle/>
          <a:p>
            <a:r>
              <a:rPr lang="en-US" dirty="0"/>
              <a:t>9. Deal with errors in a positive manner</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normAutofit fontScale="90000"/>
          </a:bodyPr>
          <a:lstStyle/>
          <a:p>
            <a:r>
              <a:rPr lang="en-US" dirty="0"/>
              <a:t>9. Deal with errors in a positive manner</a:t>
            </a:r>
            <a:endParaRPr lang="en-CA" dirty="0"/>
          </a:p>
        </p:txBody>
      </p:sp>
      <p:pic>
        <p:nvPicPr>
          <p:cNvPr id="113668" name="Picture 4" descr="Messages to Geeks"/>
          <p:cNvPicPr>
            <a:picLocks noChangeAspect="1" noChangeArrowheads="1"/>
          </p:cNvPicPr>
          <p:nvPr/>
        </p:nvPicPr>
        <p:blipFill>
          <a:blip r:embed="rId2" cstate="print"/>
          <a:srcRect/>
          <a:stretch>
            <a:fillRect/>
          </a:stretch>
        </p:blipFill>
        <p:spPr bwMode="auto">
          <a:xfrm>
            <a:off x="178664" y="1905000"/>
            <a:ext cx="4012336" cy="1371600"/>
          </a:xfrm>
          <a:prstGeom prst="rect">
            <a:avLst/>
          </a:prstGeom>
          <a:noFill/>
        </p:spPr>
      </p:pic>
      <p:pic>
        <p:nvPicPr>
          <p:cNvPr id="113677" name="Picture 13" descr="Help from Dick"/>
          <p:cNvPicPr>
            <a:picLocks noChangeAspect="1" noChangeArrowheads="1"/>
          </p:cNvPicPr>
          <p:nvPr/>
        </p:nvPicPr>
        <p:blipFill>
          <a:blip r:embed="rId3" cstate="print"/>
          <a:srcRect/>
          <a:stretch>
            <a:fillRect/>
          </a:stretch>
        </p:blipFill>
        <p:spPr bwMode="auto">
          <a:xfrm>
            <a:off x="4343400" y="1704792"/>
            <a:ext cx="4572000" cy="1536883"/>
          </a:xfrm>
          <a:prstGeom prst="rect">
            <a:avLst/>
          </a:prstGeom>
          <a:noFill/>
        </p:spPr>
      </p:pic>
      <p:pic>
        <p:nvPicPr>
          <p:cNvPr id="113680" name="Picture 16" descr="Thanks, but no thanks."/>
          <p:cNvPicPr>
            <a:picLocks noChangeAspect="1" noChangeArrowheads="1"/>
          </p:cNvPicPr>
          <p:nvPr/>
        </p:nvPicPr>
        <p:blipFill>
          <a:blip r:embed="rId4" cstate="print"/>
          <a:srcRect/>
          <a:stretch>
            <a:fillRect/>
          </a:stretch>
        </p:blipFill>
        <p:spPr bwMode="auto">
          <a:xfrm>
            <a:off x="168275" y="4267201"/>
            <a:ext cx="4148609" cy="1606550"/>
          </a:xfrm>
          <a:prstGeom prst="rect">
            <a:avLst/>
          </a:prstGeom>
          <a:noFill/>
        </p:spPr>
      </p:pic>
      <p:sp>
        <p:nvSpPr>
          <p:cNvPr id="113682" name="Line 18"/>
          <p:cNvSpPr>
            <a:spLocks noChangeShapeType="1"/>
          </p:cNvSpPr>
          <p:nvPr/>
        </p:nvSpPr>
        <p:spPr bwMode="auto">
          <a:xfrm flipV="1">
            <a:off x="7620000" y="2525713"/>
            <a:ext cx="228600" cy="990600"/>
          </a:xfrm>
          <a:prstGeom prst="line">
            <a:avLst/>
          </a:prstGeom>
          <a:noFill/>
          <a:ln w="12699">
            <a:solidFill>
              <a:schemeClr val="tx1"/>
            </a:solidFill>
            <a:round/>
            <a:headEnd type="none" w="sm" len="sm"/>
            <a:tailEnd type="triangle" w="sm" len="sm"/>
          </a:ln>
          <a:effectLst/>
        </p:spPr>
        <p:txBody>
          <a:bodyPr wrap="none" lIns="92075" tIns="46038" rIns="92075" bIns="46038" anchor="ctr">
            <a:spAutoFit/>
          </a:bodyPr>
          <a:lstStyle/>
          <a:p>
            <a:endParaRPr lang="en-US"/>
          </a:p>
        </p:txBody>
      </p:sp>
      <p:pic>
        <p:nvPicPr>
          <p:cNvPr id="113684" name="Picture 20" descr="Should I be concerned?"/>
          <p:cNvPicPr>
            <a:picLocks noChangeAspect="1" noChangeArrowheads="1"/>
          </p:cNvPicPr>
          <p:nvPr/>
        </p:nvPicPr>
        <p:blipFill>
          <a:blip r:embed="rId5" cstate="print"/>
          <a:srcRect/>
          <a:stretch>
            <a:fillRect/>
          </a:stretch>
        </p:blipFill>
        <p:spPr bwMode="auto">
          <a:xfrm>
            <a:off x="4648200" y="4114800"/>
            <a:ext cx="4177465" cy="1804987"/>
          </a:xfrm>
          <a:prstGeom prst="rect">
            <a:avLst/>
          </a:prstGeom>
          <a:noFill/>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lIns="92075" tIns="46038" rIns="92075" bIns="46038">
            <a:normAutofit fontScale="90000"/>
          </a:bodyPr>
          <a:lstStyle/>
          <a:p>
            <a:r>
              <a:rPr lang="en-US" dirty="0"/>
              <a:t>9. Deal with errors in a positive manner</a:t>
            </a:r>
          </a:p>
        </p:txBody>
      </p:sp>
      <p:sp>
        <p:nvSpPr>
          <p:cNvPr id="44035" name="Rectangle 3"/>
          <p:cNvSpPr>
            <a:spLocks noGrp="1" noChangeArrowheads="1"/>
          </p:cNvSpPr>
          <p:nvPr>
            <p:ph type="body" idx="1"/>
          </p:nvPr>
        </p:nvSpPr>
        <p:spPr>
          <a:noFill/>
          <a:ln/>
        </p:spPr>
        <p:txBody>
          <a:bodyPr lIns="92075" tIns="46038" rIns="92075" bIns="46038">
            <a:normAutofit fontScale="92500" lnSpcReduction="20000"/>
          </a:bodyPr>
          <a:lstStyle/>
          <a:p>
            <a:r>
              <a:rPr lang="en-US"/>
              <a:t>Provide meaningful error messages</a:t>
            </a:r>
          </a:p>
          <a:p>
            <a:pPr lvl="1"/>
            <a:r>
              <a:rPr lang="en-US"/>
              <a:t>error messages should be in the user’s task language</a:t>
            </a:r>
          </a:p>
          <a:p>
            <a:pPr lvl="1"/>
            <a:r>
              <a:rPr lang="en-US"/>
              <a:t>don’t make people feel stupid</a:t>
            </a:r>
            <a:br>
              <a:rPr lang="en-US"/>
            </a:br>
            <a:endParaRPr lang="en-US"/>
          </a:p>
          <a:p>
            <a:pPr lvl="2">
              <a:buFontTx/>
              <a:buNone/>
            </a:pPr>
            <a:r>
              <a:rPr lang="en-US"/>
              <a:t>Try again, bonehead!</a:t>
            </a:r>
          </a:p>
          <a:p>
            <a:pPr lvl="2">
              <a:buFontTx/>
              <a:buNone/>
            </a:pPr>
            <a:endParaRPr lang="en-US"/>
          </a:p>
          <a:p>
            <a:pPr lvl="2">
              <a:buFontTx/>
              <a:buNone/>
            </a:pPr>
            <a:r>
              <a:rPr lang="en-US"/>
              <a:t>Error 25</a:t>
            </a:r>
            <a:br>
              <a:rPr lang="en-US"/>
            </a:br>
            <a:endParaRPr lang="en-US"/>
          </a:p>
          <a:p>
            <a:pPr lvl="2">
              <a:buFontTx/>
              <a:buNone/>
            </a:pPr>
            <a:r>
              <a:rPr lang="en-US"/>
              <a:t>Cannot open this document</a:t>
            </a:r>
            <a:br>
              <a:rPr lang="en-US"/>
            </a:br>
            <a:endParaRPr lang="en-US"/>
          </a:p>
          <a:p>
            <a:pPr lvl="2">
              <a:buFontTx/>
              <a:buNone/>
            </a:pPr>
            <a:r>
              <a:rPr lang="en-US"/>
              <a:t>Cannot open “chapter 5” because the application “Microsoft Word” </a:t>
            </a:r>
            <a:br>
              <a:rPr lang="en-US"/>
            </a:br>
            <a:r>
              <a:rPr lang="en-US"/>
              <a:t>is not on your system</a:t>
            </a:r>
            <a:br>
              <a:rPr lang="en-US"/>
            </a:br>
            <a:endParaRPr lang="en-US"/>
          </a:p>
          <a:p>
            <a:pPr lvl="2">
              <a:buFontTx/>
              <a:buNone/>
            </a:pPr>
            <a:r>
              <a:rPr lang="en-US"/>
              <a:t>Cannot open “chapter 5” because the application “Microsoft Word” </a:t>
            </a:r>
            <a:br>
              <a:rPr lang="en-US"/>
            </a:br>
            <a:r>
              <a:rPr lang="en-US"/>
              <a:t>is not on your system. Open it with “Teachtext” instead?</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lIns="92075" tIns="46038" rIns="92075" bIns="46038">
            <a:normAutofit fontScale="90000"/>
          </a:bodyPr>
          <a:lstStyle/>
          <a:p>
            <a:r>
              <a:rPr lang="en-US" dirty="0"/>
              <a:t>9. Deal with errors in a positive manner</a:t>
            </a:r>
          </a:p>
        </p:txBody>
      </p:sp>
      <p:sp>
        <p:nvSpPr>
          <p:cNvPr id="2" name="Content Placeholder 1"/>
          <p:cNvSpPr>
            <a:spLocks noGrp="1"/>
          </p:cNvSpPr>
          <p:nvPr>
            <p:ph sz="quarter" idx="1"/>
          </p:nvPr>
        </p:nvSpPr>
        <p:spPr/>
        <p:txBody>
          <a:bodyPr/>
          <a:lstStyle/>
          <a:p>
            <a:endParaRPr lang="en-US"/>
          </a:p>
        </p:txBody>
      </p:sp>
      <p:pic>
        <p:nvPicPr>
          <p:cNvPr id="3" name="Picture 2"/>
          <p:cNvPicPr>
            <a:picLocks noChangeAspect="1"/>
          </p:cNvPicPr>
          <p:nvPr/>
        </p:nvPicPr>
        <p:blipFill>
          <a:blip r:embed="rId3"/>
          <a:stretch>
            <a:fillRect/>
          </a:stretch>
        </p:blipFill>
        <p:spPr>
          <a:xfrm>
            <a:off x="685800" y="1518776"/>
            <a:ext cx="7620000" cy="5102478"/>
          </a:xfrm>
          <a:prstGeom prst="rect">
            <a:avLst/>
          </a:prstGeom>
        </p:spPr>
      </p:pic>
    </p:spTree>
    <p:extLst>
      <p:ext uri="{BB962C8B-B14F-4D97-AF65-F5344CB8AC3E}">
        <p14:creationId xmlns:p14="http://schemas.microsoft.com/office/powerpoint/2010/main" val="3928934007"/>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lIns="92075" tIns="46038" rIns="92075" bIns="46038">
            <a:normAutofit fontScale="90000"/>
          </a:bodyPr>
          <a:lstStyle/>
          <a:p>
            <a:r>
              <a:rPr lang="en-US" dirty="0"/>
              <a:t>9. Deal with errors in a positive manner</a:t>
            </a:r>
          </a:p>
        </p:txBody>
      </p:sp>
      <p:sp>
        <p:nvSpPr>
          <p:cNvPr id="2" name="Content Placeholder 1"/>
          <p:cNvSpPr>
            <a:spLocks noGrp="1"/>
          </p:cNvSpPr>
          <p:nvPr>
            <p:ph sz="quarter" idx="1"/>
          </p:nvPr>
        </p:nvSpPr>
        <p:spPr/>
        <p:txBody>
          <a:bodyPr/>
          <a:lstStyle/>
          <a:p>
            <a:endParaRPr lang="en-US"/>
          </a:p>
        </p:txBody>
      </p:sp>
      <p:pic>
        <p:nvPicPr>
          <p:cNvPr id="4" name="Picture 3"/>
          <p:cNvPicPr>
            <a:picLocks noChangeAspect="1"/>
          </p:cNvPicPr>
          <p:nvPr/>
        </p:nvPicPr>
        <p:blipFill>
          <a:blip r:embed="rId3"/>
          <a:stretch>
            <a:fillRect/>
          </a:stretch>
        </p:blipFill>
        <p:spPr>
          <a:xfrm>
            <a:off x="304800" y="1454727"/>
            <a:ext cx="8720603" cy="4724400"/>
          </a:xfrm>
          <a:prstGeom prst="rect">
            <a:avLst/>
          </a:prstGeom>
        </p:spPr>
      </p:pic>
    </p:spTree>
    <p:extLst>
      <p:ext uri="{BB962C8B-B14F-4D97-AF65-F5344CB8AC3E}">
        <p14:creationId xmlns:p14="http://schemas.microsoft.com/office/powerpoint/2010/main" val="1945987114"/>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lIns="92075" tIns="46038" rIns="92075" bIns="46038">
            <a:normAutofit fontScale="90000"/>
          </a:bodyPr>
          <a:lstStyle/>
          <a:p>
            <a:r>
              <a:rPr lang="en-US" dirty="0"/>
              <a:t>9. Deal with errors in a positive manner</a:t>
            </a:r>
          </a:p>
        </p:txBody>
      </p:sp>
      <p:pic>
        <p:nvPicPr>
          <p:cNvPr id="3" name="Content Placeholder 2"/>
          <p:cNvPicPr>
            <a:picLocks noGrp="1" noChangeAspect="1"/>
          </p:cNvPicPr>
          <p:nvPr>
            <p:ph sz="quarter" idx="1"/>
          </p:nvPr>
        </p:nvPicPr>
        <p:blipFill>
          <a:blip r:embed="rId3"/>
          <a:stretch>
            <a:fillRect/>
          </a:stretch>
        </p:blipFill>
        <p:spPr>
          <a:xfrm>
            <a:off x="304800" y="1752600"/>
            <a:ext cx="8675399" cy="4830762"/>
          </a:xfrm>
          <a:prstGeom prst="rect">
            <a:avLst/>
          </a:prstGeom>
        </p:spPr>
      </p:pic>
    </p:spTree>
    <p:extLst>
      <p:ext uri="{BB962C8B-B14F-4D97-AF65-F5344CB8AC3E}">
        <p14:creationId xmlns:p14="http://schemas.microsoft.com/office/powerpoint/2010/main" val="1674384723"/>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lIns="92075" tIns="46038" rIns="92075" bIns="46038">
            <a:normAutofit fontScale="90000"/>
          </a:bodyPr>
          <a:lstStyle/>
          <a:p>
            <a:r>
              <a:rPr lang="en-US" dirty="0"/>
              <a:t>9. Deal with errors in a positive manner</a:t>
            </a:r>
          </a:p>
        </p:txBody>
      </p:sp>
      <p:sp>
        <p:nvSpPr>
          <p:cNvPr id="2" name="Content Placeholder 1"/>
          <p:cNvSpPr>
            <a:spLocks noGrp="1"/>
          </p:cNvSpPr>
          <p:nvPr>
            <p:ph sz="quarter" idx="1"/>
          </p:nvPr>
        </p:nvSpPr>
        <p:spPr/>
        <p:txBody>
          <a:bodyPr/>
          <a:lstStyle/>
          <a:p>
            <a:endParaRPr lang="en-US"/>
          </a:p>
        </p:txBody>
      </p:sp>
      <p:pic>
        <p:nvPicPr>
          <p:cNvPr id="4" name="Picture 3"/>
          <p:cNvPicPr>
            <a:picLocks noChangeAspect="1"/>
          </p:cNvPicPr>
          <p:nvPr/>
        </p:nvPicPr>
        <p:blipFill>
          <a:blip r:embed="rId3"/>
          <a:stretch>
            <a:fillRect/>
          </a:stretch>
        </p:blipFill>
        <p:spPr>
          <a:xfrm>
            <a:off x="228600" y="1752600"/>
            <a:ext cx="8653284" cy="4676775"/>
          </a:xfrm>
          <a:prstGeom prst="rect">
            <a:avLst/>
          </a:prstGeom>
        </p:spPr>
      </p:pic>
    </p:spTree>
    <p:extLst>
      <p:ext uri="{BB962C8B-B14F-4D97-AF65-F5344CB8AC3E}">
        <p14:creationId xmlns:p14="http://schemas.microsoft.com/office/powerpoint/2010/main" val="1441371572"/>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Help and documentation </a:t>
            </a:r>
          </a:p>
          <a:p>
            <a:pPr lvl="1"/>
            <a:r>
              <a:rPr lang="en-US" dirty="0"/>
              <a:t>Few systems can be used with no instructions so it may be necessary to provide help and documentation. Any such information should be easy to search, focused on the user’s task, list concrete steps to be carried out, and not be too large.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rrowheads="1"/>
          </p:cNvPicPr>
          <p:nvPr/>
        </p:nvPicPr>
        <p:blipFill>
          <a:blip r:embed="rId2" cstate="print"/>
          <a:srcRect/>
          <a:stretch>
            <a:fillRect/>
          </a:stretch>
        </p:blipFill>
        <p:spPr bwMode="auto">
          <a:xfrm>
            <a:off x="2743200" y="152400"/>
            <a:ext cx="6157913" cy="6629400"/>
          </a:xfrm>
          <a:prstGeom prst="rect">
            <a:avLst/>
          </a:prstGeom>
          <a:noFill/>
          <a:ln w="9525">
            <a:noFill/>
            <a:miter lim="800000"/>
            <a:headEnd/>
            <a:tailEnd/>
          </a:ln>
          <a:effectLst/>
        </p:spPr>
      </p:pic>
      <p:sp>
        <p:nvSpPr>
          <p:cNvPr id="50179" name="Rectangle 3"/>
          <p:cNvSpPr>
            <a:spLocks noChangeArrowheads="1"/>
          </p:cNvSpPr>
          <p:nvPr/>
        </p:nvSpPr>
        <p:spPr bwMode="auto">
          <a:xfrm>
            <a:off x="365125" y="479425"/>
            <a:ext cx="1590675" cy="457200"/>
          </a:xfrm>
          <a:prstGeom prst="rect">
            <a:avLst/>
          </a:prstGeom>
          <a:noFill/>
          <a:ln w="9525">
            <a:noFill/>
            <a:miter lim="800000"/>
            <a:headEnd/>
            <a:tailEnd/>
          </a:ln>
          <a:effectLst/>
        </p:spPr>
        <p:txBody>
          <a:bodyPr wrap="none" lIns="92075" tIns="46038" rIns="92075" bIns="46038">
            <a:spAutoFit/>
          </a:bodyPr>
          <a:lstStyle/>
          <a:p>
            <a:pPr eaLnBrk="0" hangingPunct="0"/>
            <a:r>
              <a:rPr lang="en-US">
                <a:latin typeface="Arial" charset="0"/>
              </a:rPr>
              <a:t>Manuals...</a:t>
            </a:r>
            <a:endParaRPr lang="en-US" sz="1400">
              <a:latin typeface="Arial"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 Provide help</a:t>
            </a:r>
          </a:p>
        </p:txBody>
      </p:sp>
      <p:graphicFrame>
        <p:nvGraphicFramePr>
          <p:cNvPr id="4" name="Diagram 3"/>
          <p:cNvGraphicFramePr/>
          <p:nvPr/>
        </p:nvGraphicFramePr>
        <p:xfrm>
          <a:off x="1600200" y="18288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a:ln/>
        </p:spPr>
        <p:txBody>
          <a:bodyPr lIns="92075" tIns="46038" rIns="92075" bIns="46038"/>
          <a:lstStyle/>
          <a:p>
            <a:r>
              <a:rPr lang="en-US" dirty="0"/>
              <a:t>10. Provide help</a:t>
            </a:r>
          </a:p>
        </p:txBody>
      </p:sp>
      <p:sp>
        <p:nvSpPr>
          <p:cNvPr id="51203" name="Rectangle 3"/>
          <p:cNvSpPr>
            <a:spLocks noGrp="1" noChangeArrowheads="1"/>
          </p:cNvSpPr>
          <p:nvPr>
            <p:ph type="body" idx="1"/>
          </p:nvPr>
        </p:nvSpPr>
        <p:spPr>
          <a:noFill/>
          <a:ln/>
        </p:spPr>
        <p:txBody>
          <a:bodyPr lIns="92075" tIns="46038" rIns="92075" bIns="46038"/>
          <a:lstStyle/>
          <a:p>
            <a:r>
              <a:rPr lang="en-US"/>
              <a:t>Help is not a replacement for bad design!</a:t>
            </a:r>
            <a:br>
              <a:rPr lang="en-US"/>
            </a:br>
            <a:endParaRPr lang="en-US"/>
          </a:p>
          <a:p>
            <a:r>
              <a:rPr lang="en-US"/>
              <a:t>Simple systems:</a:t>
            </a:r>
          </a:p>
          <a:p>
            <a:pPr lvl="1"/>
            <a:r>
              <a:rPr lang="en-US"/>
              <a:t>walk up and use; minimal instructions</a:t>
            </a:r>
            <a:br>
              <a:rPr lang="en-US"/>
            </a:br>
            <a:endParaRPr lang="en-US"/>
          </a:p>
          <a:p>
            <a:r>
              <a:rPr lang="en-US"/>
              <a:t>Most other systems</a:t>
            </a:r>
          </a:p>
          <a:p>
            <a:pPr lvl="1"/>
            <a:r>
              <a:rPr lang="en-US"/>
              <a:t>feature rich</a:t>
            </a:r>
          </a:p>
          <a:p>
            <a:pPr lvl="1"/>
            <a:r>
              <a:rPr lang="en-US"/>
              <a:t>simple things should be simple</a:t>
            </a:r>
          </a:p>
          <a:p>
            <a:pPr lvl="1"/>
            <a:r>
              <a:rPr lang="en-US"/>
              <a:t>learning path for advanced features</a:t>
            </a:r>
          </a:p>
          <a:p>
            <a:endParaRPr lang="en-US" sz="2000" b="1"/>
          </a:p>
        </p:txBody>
      </p:sp>
      <p:grpSp>
        <p:nvGrpSpPr>
          <p:cNvPr id="2" name="Group 19"/>
          <p:cNvGrpSpPr>
            <a:grpSpLocks/>
          </p:cNvGrpSpPr>
          <p:nvPr/>
        </p:nvGrpSpPr>
        <p:grpSpPr bwMode="auto">
          <a:xfrm>
            <a:off x="7092950" y="2941638"/>
            <a:ext cx="2051050" cy="3916362"/>
            <a:chOff x="4468" y="0"/>
            <a:chExt cx="1292" cy="2467"/>
          </a:xfrm>
        </p:grpSpPr>
        <p:grpSp>
          <p:nvGrpSpPr>
            <p:cNvPr id="3" name="Group 10"/>
            <p:cNvGrpSpPr>
              <a:grpSpLocks/>
            </p:cNvGrpSpPr>
            <p:nvPr/>
          </p:nvGrpSpPr>
          <p:grpSpPr bwMode="auto">
            <a:xfrm>
              <a:off x="4508" y="0"/>
              <a:ext cx="856" cy="1041"/>
              <a:chOff x="2191" y="2342"/>
              <a:chExt cx="856" cy="1041"/>
            </a:xfrm>
          </p:grpSpPr>
          <p:pic>
            <p:nvPicPr>
              <p:cNvPr id="51204" name="Picture 4"/>
              <p:cNvPicPr>
                <a:picLocks noChangeArrowheads="1"/>
              </p:cNvPicPr>
              <p:nvPr/>
            </p:nvPicPr>
            <p:blipFill>
              <a:blip r:embed="rId4" cstate="print"/>
              <a:srcRect/>
              <a:stretch>
                <a:fillRect/>
              </a:stretch>
            </p:blipFill>
            <p:spPr bwMode="auto">
              <a:xfrm>
                <a:off x="2191" y="2342"/>
                <a:ext cx="417" cy="482"/>
              </a:xfrm>
              <a:prstGeom prst="rect">
                <a:avLst/>
              </a:prstGeom>
              <a:noFill/>
              <a:ln w="9525">
                <a:noFill/>
                <a:miter lim="800000"/>
                <a:headEnd/>
                <a:tailEnd/>
              </a:ln>
              <a:effectLst/>
            </p:spPr>
          </p:pic>
          <p:pic>
            <p:nvPicPr>
              <p:cNvPr id="51205" name="Picture 5"/>
              <p:cNvPicPr>
                <a:picLocks noChangeArrowheads="1"/>
              </p:cNvPicPr>
              <p:nvPr/>
            </p:nvPicPr>
            <p:blipFill>
              <a:blip r:embed="rId5" cstate="print"/>
              <a:srcRect/>
              <a:stretch>
                <a:fillRect/>
              </a:stretch>
            </p:blipFill>
            <p:spPr bwMode="auto">
              <a:xfrm>
                <a:off x="2278" y="2454"/>
                <a:ext cx="417" cy="482"/>
              </a:xfrm>
              <a:prstGeom prst="rect">
                <a:avLst/>
              </a:prstGeom>
              <a:noFill/>
              <a:ln w="9525">
                <a:noFill/>
                <a:miter lim="800000"/>
                <a:headEnd/>
                <a:tailEnd/>
              </a:ln>
              <a:effectLst/>
            </p:spPr>
          </p:pic>
          <p:pic>
            <p:nvPicPr>
              <p:cNvPr id="51206" name="Picture 6"/>
              <p:cNvPicPr>
                <a:picLocks noChangeArrowheads="1"/>
              </p:cNvPicPr>
              <p:nvPr/>
            </p:nvPicPr>
            <p:blipFill>
              <a:blip r:embed="rId6" cstate="print"/>
              <a:srcRect/>
              <a:stretch>
                <a:fillRect/>
              </a:stretch>
            </p:blipFill>
            <p:spPr bwMode="auto">
              <a:xfrm>
                <a:off x="2366" y="2566"/>
                <a:ext cx="417" cy="482"/>
              </a:xfrm>
              <a:prstGeom prst="rect">
                <a:avLst/>
              </a:prstGeom>
              <a:noFill/>
              <a:ln w="9525">
                <a:noFill/>
                <a:miter lim="800000"/>
                <a:headEnd/>
                <a:tailEnd/>
              </a:ln>
              <a:effectLst/>
            </p:spPr>
          </p:pic>
          <p:pic>
            <p:nvPicPr>
              <p:cNvPr id="51207" name="Picture 7"/>
              <p:cNvPicPr>
                <a:picLocks noChangeArrowheads="1"/>
              </p:cNvPicPr>
              <p:nvPr/>
            </p:nvPicPr>
            <p:blipFill>
              <a:blip r:embed="rId7" cstate="print"/>
              <a:srcRect/>
              <a:stretch>
                <a:fillRect/>
              </a:stretch>
            </p:blipFill>
            <p:spPr bwMode="auto">
              <a:xfrm>
                <a:off x="2454" y="2678"/>
                <a:ext cx="417" cy="482"/>
              </a:xfrm>
              <a:prstGeom prst="rect">
                <a:avLst/>
              </a:prstGeom>
              <a:noFill/>
              <a:ln w="9525">
                <a:noFill/>
                <a:miter lim="800000"/>
                <a:headEnd/>
                <a:tailEnd/>
              </a:ln>
              <a:effectLst/>
            </p:spPr>
          </p:pic>
          <p:pic>
            <p:nvPicPr>
              <p:cNvPr id="51208" name="Picture 8"/>
              <p:cNvPicPr>
                <a:picLocks noChangeArrowheads="1"/>
              </p:cNvPicPr>
              <p:nvPr/>
            </p:nvPicPr>
            <p:blipFill>
              <a:blip r:embed="rId8" cstate="print"/>
              <a:srcRect/>
              <a:stretch>
                <a:fillRect/>
              </a:stretch>
            </p:blipFill>
            <p:spPr bwMode="auto">
              <a:xfrm>
                <a:off x="2542" y="2790"/>
                <a:ext cx="417" cy="482"/>
              </a:xfrm>
              <a:prstGeom prst="rect">
                <a:avLst/>
              </a:prstGeom>
              <a:noFill/>
              <a:ln w="9525">
                <a:noFill/>
                <a:miter lim="800000"/>
                <a:headEnd/>
                <a:tailEnd/>
              </a:ln>
              <a:effectLst/>
            </p:spPr>
          </p:pic>
          <p:pic>
            <p:nvPicPr>
              <p:cNvPr id="51209" name="Picture 9"/>
              <p:cNvPicPr>
                <a:picLocks noChangeArrowheads="1"/>
              </p:cNvPicPr>
              <p:nvPr/>
            </p:nvPicPr>
            <p:blipFill>
              <a:blip r:embed="rId9" cstate="print"/>
              <a:srcRect/>
              <a:stretch>
                <a:fillRect/>
              </a:stretch>
            </p:blipFill>
            <p:spPr bwMode="auto">
              <a:xfrm>
                <a:off x="2630" y="2901"/>
                <a:ext cx="417" cy="482"/>
              </a:xfrm>
              <a:prstGeom prst="rect">
                <a:avLst/>
              </a:prstGeom>
              <a:noFill/>
              <a:ln w="9525">
                <a:noFill/>
                <a:miter lim="800000"/>
                <a:headEnd/>
                <a:tailEnd/>
              </a:ln>
              <a:effectLst/>
            </p:spPr>
          </p:pic>
        </p:grpSp>
        <p:grpSp>
          <p:nvGrpSpPr>
            <p:cNvPr id="4" name="Group 17"/>
            <p:cNvGrpSpPr>
              <a:grpSpLocks/>
            </p:cNvGrpSpPr>
            <p:nvPr/>
          </p:nvGrpSpPr>
          <p:grpSpPr bwMode="auto">
            <a:xfrm>
              <a:off x="5084" y="672"/>
              <a:ext cx="676" cy="913"/>
              <a:chOff x="2880" y="3006"/>
              <a:chExt cx="676" cy="913"/>
            </a:xfrm>
          </p:grpSpPr>
          <p:pic>
            <p:nvPicPr>
              <p:cNvPr id="51211" name="Picture 11"/>
              <p:cNvPicPr>
                <a:picLocks noChangeArrowheads="1"/>
              </p:cNvPicPr>
              <p:nvPr/>
            </p:nvPicPr>
            <p:blipFill>
              <a:blip r:embed="rId10" cstate="print"/>
              <a:srcRect/>
              <a:stretch>
                <a:fillRect/>
              </a:stretch>
            </p:blipFill>
            <p:spPr bwMode="auto">
              <a:xfrm>
                <a:off x="2880" y="3006"/>
                <a:ext cx="633" cy="913"/>
              </a:xfrm>
              <a:prstGeom prst="rect">
                <a:avLst/>
              </a:prstGeom>
              <a:noFill/>
              <a:ln w="9525">
                <a:noFill/>
                <a:miter lim="800000"/>
                <a:headEnd/>
                <a:tailEnd/>
              </a:ln>
              <a:effectLst/>
            </p:spPr>
          </p:pic>
          <p:sp>
            <p:nvSpPr>
              <p:cNvPr id="51212" name="Rectangle 12"/>
              <p:cNvSpPr>
                <a:spLocks noChangeArrowheads="1"/>
              </p:cNvSpPr>
              <p:nvPr/>
            </p:nvSpPr>
            <p:spPr bwMode="auto">
              <a:xfrm>
                <a:off x="2926" y="3363"/>
                <a:ext cx="600" cy="173"/>
              </a:xfrm>
              <a:prstGeom prst="rect">
                <a:avLst/>
              </a:prstGeom>
              <a:noFill/>
              <a:ln w="9525">
                <a:noFill/>
                <a:miter lim="800000"/>
                <a:headEnd/>
                <a:tailEnd/>
              </a:ln>
              <a:effectLst/>
            </p:spPr>
            <p:txBody>
              <a:bodyPr wrap="none" lIns="92075" tIns="46038" rIns="92075" bIns="46038">
                <a:spAutoFit/>
              </a:bodyPr>
              <a:lstStyle/>
              <a:p>
                <a:pPr eaLnBrk="0" hangingPunct="0"/>
                <a:r>
                  <a:rPr lang="en-US" sz="1200">
                    <a:solidFill>
                      <a:srgbClr val="000000"/>
                    </a:solidFill>
                    <a:latin typeface="Arial" charset="0"/>
                  </a:rPr>
                  <a:t>Volume 37:</a:t>
                </a:r>
              </a:p>
            </p:txBody>
          </p:sp>
          <p:sp>
            <p:nvSpPr>
              <p:cNvPr id="51213" name="Rectangle 13"/>
              <p:cNvSpPr>
                <a:spLocks noChangeArrowheads="1"/>
              </p:cNvSpPr>
              <p:nvPr/>
            </p:nvSpPr>
            <p:spPr bwMode="auto">
              <a:xfrm>
                <a:off x="3413" y="3363"/>
                <a:ext cx="143" cy="173"/>
              </a:xfrm>
              <a:prstGeom prst="rect">
                <a:avLst/>
              </a:prstGeom>
              <a:noFill/>
              <a:ln w="9525">
                <a:noFill/>
                <a:miter lim="800000"/>
                <a:headEnd/>
                <a:tailEnd/>
              </a:ln>
              <a:effectLst/>
            </p:spPr>
            <p:txBody>
              <a:bodyPr wrap="none" lIns="92075" tIns="46038" rIns="92075" bIns="46038">
                <a:spAutoFit/>
              </a:bodyPr>
              <a:lstStyle/>
              <a:p>
                <a:pPr eaLnBrk="0" hangingPunct="0"/>
                <a:r>
                  <a:rPr lang="en-US" sz="1200">
                    <a:solidFill>
                      <a:srgbClr val="000000"/>
                    </a:solidFill>
                    <a:latin typeface="Arial" charset="0"/>
                  </a:rPr>
                  <a:t> </a:t>
                </a:r>
              </a:p>
            </p:txBody>
          </p:sp>
          <p:sp>
            <p:nvSpPr>
              <p:cNvPr id="51214" name="Rectangle 14"/>
              <p:cNvSpPr>
                <a:spLocks noChangeArrowheads="1"/>
              </p:cNvSpPr>
              <p:nvPr/>
            </p:nvSpPr>
            <p:spPr bwMode="auto">
              <a:xfrm>
                <a:off x="2926" y="3475"/>
                <a:ext cx="459" cy="173"/>
              </a:xfrm>
              <a:prstGeom prst="rect">
                <a:avLst/>
              </a:prstGeom>
              <a:noFill/>
              <a:ln w="9525">
                <a:noFill/>
                <a:miter lim="800000"/>
                <a:headEnd/>
                <a:tailEnd/>
              </a:ln>
              <a:effectLst/>
            </p:spPr>
            <p:txBody>
              <a:bodyPr wrap="none" lIns="92075" tIns="46038" rIns="92075" bIns="46038">
                <a:spAutoFit/>
              </a:bodyPr>
              <a:lstStyle/>
              <a:p>
                <a:pPr eaLnBrk="0" hangingPunct="0"/>
                <a:r>
                  <a:rPr lang="en-US" sz="1200">
                    <a:solidFill>
                      <a:srgbClr val="000000"/>
                    </a:solidFill>
                    <a:latin typeface="Arial" charset="0"/>
                  </a:rPr>
                  <a:t>A user's</a:t>
                </a:r>
              </a:p>
            </p:txBody>
          </p:sp>
          <p:sp>
            <p:nvSpPr>
              <p:cNvPr id="51215" name="Rectangle 15"/>
              <p:cNvSpPr>
                <a:spLocks noChangeArrowheads="1"/>
              </p:cNvSpPr>
              <p:nvPr/>
            </p:nvSpPr>
            <p:spPr bwMode="auto">
              <a:xfrm>
                <a:off x="3269" y="3475"/>
                <a:ext cx="170" cy="173"/>
              </a:xfrm>
              <a:prstGeom prst="rect">
                <a:avLst/>
              </a:prstGeom>
              <a:noFill/>
              <a:ln w="9525">
                <a:noFill/>
                <a:miter lim="800000"/>
                <a:headEnd/>
                <a:tailEnd/>
              </a:ln>
              <a:effectLst/>
            </p:spPr>
            <p:txBody>
              <a:bodyPr wrap="none" lIns="92075" tIns="46038" rIns="92075" bIns="46038">
                <a:spAutoFit/>
              </a:bodyPr>
              <a:lstStyle/>
              <a:p>
                <a:pPr eaLnBrk="0" hangingPunct="0"/>
                <a:r>
                  <a:rPr lang="en-US" sz="1200">
                    <a:solidFill>
                      <a:srgbClr val="000000"/>
                    </a:solidFill>
                    <a:latin typeface="Arial" charset="0"/>
                  </a:rPr>
                  <a:t>  </a:t>
                </a:r>
              </a:p>
            </p:txBody>
          </p:sp>
          <p:sp>
            <p:nvSpPr>
              <p:cNvPr id="51216" name="Rectangle 16"/>
              <p:cNvSpPr>
                <a:spLocks noChangeArrowheads="1"/>
              </p:cNvSpPr>
              <p:nvPr/>
            </p:nvSpPr>
            <p:spPr bwMode="auto">
              <a:xfrm>
                <a:off x="2926" y="3586"/>
                <a:ext cx="537" cy="173"/>
              </a:xfrm>
              <a:prstGeom prst="rect">
                <a:avLst/>
              </a:prstGeom>
              <a:noFill/>
              <a:ln w="9525">
                <a:noFill/>
                <a:miter lim="800000"/>
                <a:headEnd/>
                <a:tailEnd/>
              </a:ln>
              <a:effectLst/>
            </p:spPr>
            <p:txBody>
              <a:bodyPr wrap="none" lIns="92075" tIns="46038" rIns="92075" bIns="46038">
                <a:spAutoFit/>
              </a:bodyPr>
              <a:lstStyle/>
              <a:p>
                <a:pPr eaLnBrk="0" hangingPunct="0"/>
                <a:r>
                  <a:rPr lang="en-US" sz="1200">
                    <a:solidFill>
                      <a:srgbClr val="000000"/>
                    </a:solidFill>
                    <a:latin typeface="Arial" charset="0"/>
                  </a:rPr>
                  <a:t>guide to...</a:t>
                </a:r>
              </a:p>
            </p:txBody>
          </p:sp>
        </p:grpSp>
        <p:graphicFrame>
          <p:nvGraphicFramePr>
            <p:cNvPr id="182272" name="Object 1024"/>
            <p:cNvGraphicFramePr>
              <a:graphicFrameLocks noChangeAspect="1"/>
            </p:cNvGraphicFramePr>
            <p:nvPr/>
          </p:nvGraphicFramePr>
          <p:xfrm>
            <a:off x="4468" y="1026"/>
            <a:ext cx="688" cy="1441"/>
          </p:xfrm>
          <a:graphic>
            <a:graphicData uri="http://schemas.openxmlformats.org/presentationml/2006/ole">
              <mc:AlternateContent xmlns:mc="http://schemas.openxmlformats.org/markup-compatibility/2006">
                <mc:Choice xmlns:v="urn:schemas-microsoft-com:vml" Requires="v">
                  <p:oleObj spid="_x0000_s6146" name="Clip" r:id="rId11" imgW="1093238" imgH="2287516" progId="">
                    <p:embed/>
                  </p:oleObj>
                </mc:Choice>
                <mc:Fallback>
                  <p:oleObj name="Clip" r:id="rId11" imgW="1093238" imgH="2287516" progId="">
                    <p:embed/>
                    <p:pic>
                      <p:nvPicPr>
                        <p:cNvPr id="0" name="Picture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68" y="1026"/>
                          <a:ext cx="688" cy="14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a:ln/>
        </p:spPr>
        <p:txBody>
          <a:bodyPr lIns="92075" tIns="46038" rIns="92075" bIns="46038"/>
          <a:lstStyle/>
          <a:p>
            <a:r>
              <a:rPr lang="en-US" dirty="0"/>
              <a:t>10. Provide help</a:t>
            </a:r>
          </a:p>
        </p:txBody>
      </p:sp>
      <p:pic>
        <p:nvPicPr>
          <p:cNvPr id="6" name="Content Placeholder 5"/>
          <p:cNvPicPr>
            <a:picLocks noGrp="1" noChangeAspect="1"/>
          </p:cNvPicPr>
          <p:nvPr>
            <p:ph sz="quarter" idx="1"/>
          </p:nvPr>
        </p:nvPicPr>
        <p:blipFill>
          <a:blip r:embed="rId3"/>
          <a:stretch>
            <a:fillRect/>
          </a:stretch>
        </p:blipFill>
        <p:spPr>
          <a:xfrm>
            <a:off x="304800" y="1417638"/>
            <a:ext cx="8698376" cy="5211762"/>
          </a:xfrm>
          <a:prstGeom prst="rect">
            <a:avLst/>
          </a:prstGeom>
        </p:spPr>
      </p:pic>
    </p:spTree>
    <p:extLst>
      <p:ext uri="{BB962C8B-B14F-4D97-AF65-F5344CB8AC3E}">
        <p14:creationId xmlns:p14="http://schemas.microsoft.com/office/powerpoint/2010/main" val="4212122069"/>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a:ln/>
        </p:spPr>
        <p:txBody>
          <a:bodyPr lIns="92075" tIns="46038" rIns="92075" bIns="46038"/>
          <a:lstStyle/>
          <a:p>
            <a:r>
              <a:rPr lang="en-US" dirty="0"/>
              <a:t>10. Provide help</a:t>
            </a:r>
          </a:p>
        </p:txBody>
      </p:sp>
      <p:sp>
        <p:nvSpPr>
          <p:cNvPr id="2" name="Content Placeholder 1"/>
          <p:cNvSpPr>
            <a:spLocks noGrp="1"/>
          </p:cNvSpPr>
          <p:nvPr>
            <p:ph sz="quarter" idx="1"/>
          </p:nvPr>
        </p:nvSpPr>
        <p:spPr/>
        <p:txBody>
          <a:bodyPr/>
          <a:lstStyle/>
          <a:p>
            <a:endParaRPr lang="en-US"/>
          </a:p>
        </p:txBody>
      </p:sp>
      <p:pic>
        <p:nvPicPr>
          <p:cNvPr id="3" name="Picture 2"/>
          <p:cNvPicPr>
            <a:picLocks noChangeAspect="1"/>
          </p:cNvPicPr>
          <p:nvPr/>
        </p:nvPicPr>
        <p:blipFill>
          <a:blip r:embed="rId3"/>
          <a:stretch>
            <a:fillRect/>
          </a:stretch>
        </p:blipFill>
        <p:spPr>
          <a:xfrm>
            <a:off x="377623" y="1447800"/>
            <a:ext cx="8289781" cy="4686300"/>
          </a:xfrm>
          <a:prstGeom prst="rect">
            <a:avLst/>
          </a:prstGeom>
        </p:spPr>
      </p:pic>
    </p:spTree>
    <p:extLst>
      <p:ext uri="{BB962C8B-B14F-4D97-AF65-F5344CB8AC3E}">
        <p14:creationId xmlns:p14="http://schemas.microsoft.com/office/powerpoint/2010/main" val="153696390"/>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a:ln/>
        </p:spPr>
        <p:txBody>
          <a:bodyPr lIns="92075" tIns="46038" rIns="92075" bIns="46038"/>
          <a:lstStyle/>
          <a:p>
            <a:r>
              <a:rPr lang="en-US" dirty="0"/>
              <a:t>10. Provide help</a:t>
            </a:r>
          </a:p>
        </p:txBody>
      </p:sp>
      <p:sp>
        <p:nvSpPr>
          <p:cNvPr id="2" name="Content Placeholder 1"/>
          <p:cNvSpPr>
            <a:spLocks noGrp="1"/>
          </p:cNvSpPr>
          <p:nvPr>
            <p:ph sz="quarter" idx="1"/>
          </p:nvPr>
        </p:nvSpPr>
        <p:spPr/>
        <p:txBody>
          <a:bodyPr/>
          <a:lstStyle/>
          <a:p>
            <a:endParaRPr lang="en-US"/>
          </a:p>
        </p:txBody>
      </p:sp>
      <p:pic>
        <p:nvPicPr>
          <p:cNvPr id="4" name="Picture 3"/>
          <p:cNvPicPr>
            <a:picLocks noChangeAspect="1"/>
          </p:cNvPicPr>
          <p:nvPr/>
        </p:nvPicPr>
        <p:blipFill>
          <a:blip r:embed="rId3"/>
          <a:stretch>
            <a:fillRect/>
          </a:stretch>
        </p:blipFill>
        <p:spPr>
          <a:xfrm>
            <a:off x="304800" y="2025106"/>
            <a:ext cx="8839200" cy="3908969"/>
          </a:xfrm>
          <a:prstGeom prst="rect">
            <a:avLst/>
          </a:prstGeom>
        </p:spPr>
      </p:pic>
    </p:spTree>
    <p:extLst>
      <p:ext uri="{BB962C8B-B14F-4D97-AF65-F5344CB8AC3E}">
        <p14:creationId xmlns:p14="http://schemas.microsoft.com/office/powerpoint/2010/main" val="1209174762"/>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a:ln/>
        </p:spPr>
        <p:txBody>
          <a:bodyPr lIns="92075" tIns="46038" rIns="92075" bIns="46038"/>
          <a:lstStyle/>
          <a:p>
            <a:r>
              <a:rPr lang="en-US" dirty="0"/>
              <a:t>10. Provide help</a:t>
            </a:r>
          </a:p>
        </p:txBody>
      </p:sp>
      <p:sp>
        <p:nvSpPr>
          <p:cNvPr id="2" name="Content Placeholder 1"/>
          <p:cNvSpPr>
            <a:spLocks noGrp="1"/>
          </p:cNvSpPr>
          <p:nvPr>
            <p:ph sz="quarter" idx="1"/>
          </p:nvPr>
        </p:nvSpPr>
        <p:spPr/>
        <p:txBody>
          <a:bodyPr/>
          <a:lstStyle/>
          <a:p>
            <a:endParaRPr lang="en-US"/>
          </a:p>
        </p:txBody>
      </p:sp>
      <p:pic>
        <p:nvPicPr>
          <p:cNvPr id="3" name="Picture 2"/>
          <p:cNvPicPr>
            <a:picLocks noChangeAspect="1"/>
          </p:cNvPicPr>
          <p:nvPr/>
        </p:nvPicPr>
        <p:blipFill>
          <a:blip r:embed="rId3"/>
          <a:stretch>
            <a:fillRect/>
          </a:stretch>
        </p:blipFill>
        <p:spPr>
          <a:xfrm>
            <a:off x="70570" y="2216943"/>
            <a:ext cx="9101139" cy="3033713"/>
          </a:xfrm>
          <a:prstGeom prst="rect">
            <a:avLst/>
          </a:prstGeom>
        </p:spPr>
      </p:pic>
    </p:spTree>
    <p:extLst>
      <p:ext uri="{BB962C8B-B14F-4D97-AF65-F5344CB8AC3E}">
        <p14:creationId xmlns:p14="http://schemas.microsoft.com/office/powerpoint/2010/main" val="2449540663"/>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p:cNvSpPr>
            <a:spLocks noGrp="1" noChangeArrowheads="1"/>
          </p:cNvSpPr>
          <p:nvPr>
            <p:ph type="title"/>
          </p:nvPr>
        </p:nvSpPr>
        <p:spPr/>
        <p:txBody>
          <a:bodyPr>
            <a:normAutofit/>
          </a:bodyPr>
          <a:lstStyle/>
          <a:p>
            <a:r>
              <a:rPr lang="en-US" dirty="0"/>
              <a:t>10. Provide help</a:t>
            </a:r>
          </a:p>
        </p:txBody>
      </p:sp>
      <p:sp>
        <p:nvSpPr>
          <p:cNvPr id="53253" name="Rectangle 5"/>
          <p:cNvSpPr>
            <a:spLocks noGrp="1" noChangeArrowheads="1"/>
          </p:cNvSpPr>
          <p:nvPr>
            <p:ph type="body" idx="1"/>
          </p:nvPr>
        </p:nvSpPr>
        <p:spPr/>
        <p:txBody>
          <a:bodyPr>
            <a:normAutofit fontScale="92500" lnSpcReduction="20000"/>
          </a:bodyPr>
          <a:lstStyle/>
          <a:p>
            <a:r>
              <a:rPr lang="en-US"/>
              <a:t>Many users do not read manuals</a:t>
            </a:r>
          </a:p>
          <a:p>
            <a:pPr lvl="1"/>
            <a:r>
              <a:rPr lang="en-US"/>
              <a:t>prefer to spend their time pursuing their task</a:t>
            </a:r>
            <a:br>
              <a:rPr lang="en-US"/>
            </a:br>
            <a:endParaRPr lang="en-US"/>
          </a:p>
          <a:p>
            <a:r>
              <a:rPr lang="en-US"/>
              <a:t>Usually used when users are in some kind of panic</a:t>
            </a:r>
          </a:p>
          <a:p>
            <a:pPr lvl="1"/>
            <a:r>
              <a:rPr lang="en-US"/>
              <a:t>paper manuals unavailable in many businesses! </a:t>
            </a:r>
          </a:p>
          <a:p>
            <a:pPr lvl="2"/>
            <a:r>
              <a:rPr lang="en-US"/>
              <a:t>e.g. single copy locked away in system administrator’s office</a:t>
            </a:r>
          </a:p>
          <a:p>
            <a:pPr lvl="1"/>
            <a:r>
              <a:rPr lang="en-US"/>
              <a:t>online documentation better</a:t>
            </a:r>
          </a:p>
          <a:p>
            <a:pPr lvl="1"/>
            <a:r>
              <a:rPr lang="en-US"/>
              <a:t>good search/lookup tools</a:t>
            </a:r>
          </a:p>
          <a:p>
            <a:pPr lvl="1"/>
            <a:r>
              <a:rPr lang="en-US"/>
              <a:t>online help specific to current context</a:t>
            </a:r>
          </a:p>
          <a:p>
            <a:pPr lvl="1"/>
            <a:endParaRPr lang="en-US"/>
          </a:p>
          <a:p>
            <a:r>
              <a:rPr lang="en-US"/>
              <a:t>Sometimes used for quick reference</a:t>
            </a:r>
          </a:p>
          <a:p>
            <a:pPr lvl="1"/>
            <a:r>
              <a:rPr lang="en-US"/>
              <a:t>syntax of actions, possibilities...</a:t>
            </a:r>
          </a:p>
          <a:p>
            <a:pPr lvl="1"/>
            <a:r>
              <a:rPr lang="en-US"/>
              <a:t>list of shortcuts ...</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288758" y="533400"/>
            <a:ext cx="8855242" cy="6096000"/>
          </a:xfrm>
          <a:prstGeom prst="rect">
            <a:avLst/>
          </a:prstGeom>
        </p:spPr>
      </p:pic>
    </p:spTree>
    <p:extLst>
      <p:ext uri="{BB962C8B-B14F-4D97-AF65-F5344CB8AC3E}">
        <p14:creationId xmlns:p14="http://schemas.microsoft.com/office/powerpoint/2010/main" val="37952571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dirty="0"/>
              <a:t>10. Types of help</a:t>
            </a:r>
          </a:p>
        </p:txBody>
      </p:sp>
      <p:sp>
        <p:nvSpPr>
          <p:cNvPr id="90115" name="Rectangle 3"/>
          <p:cNvSpPr>
            <a:spLocks noGrp="1" noChangeArrowheads="1"/>
          </p:cNvSpPr>
          <p:nvPr>
            <p:ph type="body" idx="1"/>
          </p:nvPr>
        </p:nvSpPr>
        <p:spPr/>
        <p:txBody>
          <a:bodyPr/>
          <a:lstStyle/>
          <a:p>
            <a:r>
              <a:rPr lang="en-US"/>
              <a:t>Tutorial and/or getting started manuals</a:t>
            </a:r>
          </a:p>
          <a:p>
            <a:pPr lvl="1"/>
            <a:r>
              <a:rPr lang="en-US"/>
              <a:t>short guides that people are likely to read when first obtaining their systems</a:t>
            </a:r>
          </a:p>
          <a:p>
            <a:pPr lvl="2"/>
            <a:r>
              <a:rPr lang="en-US"/>
              <a:t>encourages exploration and getting to know the system</a:t>
            </a:r>
          </a:p>
          <a:p>
            <a:pPr lvl="2"/>
            <a:r>
              <a:rPr lang="en-US"/>
              <a:t>tries to get conceptual material across and essential syntax</a:t>
            </a:r>
            <a:br>
              <a:rPr lang="en-US"/>
            </a:br>
            <a:endParaRPr lang="en-US"/>
          </a:p>
          <a:p>
            <a:pPr lvl="1"/>
            <a:r>
              <a:rPr lang="en-US"/>
              <a:t>on-line “tours”, exercises, and demos</a:t>
            </a:r>
          </a:p>
          <a:p>
            <a:pPr lvl="2"/>
            <a:r>
              <a:rPr lang="en-US"/>
              <a:t>demonstrates very basic principles through working examples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dirty="0"/>
              <a:t>10. Types of help</a:t>
            </a:r>
          </a:p>
        </p:txBody>
      </p:sp>
      <p:sp>
        <p:nvSpPr>
          <p:cNvPr id="89091" name="Rectangle 3"/>
          <p:cNvSpPr>
            <a:spLocks noGrp="1" noChangeArrowheads="1"/>
          </p:cNvSpPr>
          <p:nvPr>
            <p:ph type="body" idx="1"/>
          </p:nvPr>
        </p:nvSpPr>
        <p:spPr>
          <a:xfrm>
            <a:off x="914400" y="1447800"/>
            <a:ext cx="7772400" cy="2971800"/>
          </a:xfrm>
        </p:spPr>
        <p:txBody>
          <a:bodyPr>
            <a:normAutofit fontScale="92500" lnSpcReduction="20000"/>
          </a:bodyPr>
          <a:lstStyle/>
          <a:p>
            <a:r>
              <a:rPr lang="en-US" dirty="0"/>
              <a:t>Reference manuals</a:t>
            </a:r>
          </a:p>
          <a:p>
            <a:pPr lvl="1"/>
            <a:r>
              <a:rPr lang="en-US" dirty="0"/>
              <a:t>used mostly for detailed lookup by experts</a:t>
            </a:r>
          </a:p>
          <a:p>
            <a:pPr lvl="2"/>
            <a:r>
              <a:rPr lang="en-US" dirty="0"/>
              <a:t>rarely introduces concepts</a:t>
            </a:r>
          </a:p>
          <a:p>
            <a:pPr lvl="2"/>
            <a:r>
              <a:rPr lang="en-US" dirty="0"/>
              <a:t>thematically arranged</a:t>
            </a:r>
          </a:p>
          <a:p>
            <a:pPr lvl="1"/>
            <a:r>
              <a:rPr lang="en-US" dirty="0"/>
              <a:t>on-line hypertext</a:t>
            </a:r>
          </a:p>
          <a:p>
            <a:pPr lvl="2"/>
            <a:r>
              <a:rPr lang="en-US" dirty="0"/>
              <a:t>search / find</a:t>
            </a:r>
          </a:p>
          <a:p>
            <a:pPr lvl="2"/>
            <a:r>
              <a:rPr lang="en-US" dirty="0"/>
              <a:t>table of contents</a:t>
            </a:r>
          </a:p>
          <a:p>
            <a:pPr lvl="2"/>
            <a:r>
              <a:rPr lang="en-US" dirty="0"/>
              <a:t>index</a:t>
            </a:r>
          </a:p>
          <a:p>
            <a:pPr lvl="2"/>
            <a:r>
              <a:rPr lang="en-US" dirty="0"/>
              <a:t>cross-index</a:t>
            </a:r>
          </a:p>
          <a:p>
            <a:endParaRPr lang="en-US" dirty="0"/>
          </a:p>
        </p:txBody>
      </p:sp>
      <p:pic>
        <p:nvPicPr>
          <p:cNvPr id="89093" name="Picture 5"/>
          <p:cNvPicPr>
            <a:picLocks noChangeAspect="1" noChangeArrowheads="1"/>
          </p:cNvPicPr>
          <p:nvPr/>
        </p:nvPicPr>
        <p:blipFill>
          <a:blip r:embed="rId2" cstate="print"/>
          <a:srcRect/>
          <a:stretch>
            <a:fillRect/>
          </a:stretch>
        </p:blipFill>
        <p:spPr bwMode="auto">
          <a:xfrm>
            <a:off x="4114800" y="3209925"/>
            <a:ext cx="3698875" cy="3648075"/>
          </a:xfrm>
          <a:prstGeom prst="rect">
            <a:avLst/>
          </a:prstGeom>
          <a:noFill/>
          <a:ln w="12699">
            <a:noFill/>
            <a:miter lim="800000"/>
            <a:headEnd type="none" w="sm" len="sm"/>
            <a:tailEnd type="none" w="sm" len="sm"/>
          </a:ln>
          <a:effectLst/>
        </p:spPr>
      </p:pic>
      <p:pic>
        <p:nvPicPr>
          <p:cNvPr id="89092" name="Picture 4"/>
          <p:cNvPicPr>
            <a:picLocks noChangeAspect="1" noChangeArrowheads="1"/>
          </p:cNvPicPr>
          <p:nvPr/>
        </p:nvPicPr>
        <p:blipFill>
          <a:blip r:embed="rId3" cstate="print"/>
          <a:srcRect/>
          <a:stretch>
            <a:fillRect/>
          </a:stretch>
        </p:blipFill>
        <p:spPr bwMode="auto">
          <a:xfrm>
            <a:off x="5364163" y="2309813"/>
            <a:ext cx="3656012" cy="3605212"/>
          </a:xfrm>
          <a:prstGeom prst="rect">
            <a:avLst/>
          </a:prstGeom>
          <a:noFill/>
          <a:ln w="12699">
            <a:noFill/>
            <a:miter lim="800000"/>
            <a:headEnd type="none" w="sm" len="sm"/>
            <a:tailEnd type="none" w="sm" len="sm"/>
          </a:ln>
          <a:effectLst/>
        </p:spPr>
      </p:pic>
      <p:pic>
        <p:nvPicPr>
          <p:cNvPr id="89094" name="Picture 6"/>
          <p:cNvPicPr>
            <a:picLocks noChangeAspect="1" noChangeArrowheads="1"/>
          </p:cNvPicPr>
          <p:nvPr/>
        </p:nvPicPr>
        <p:blipFill>
          <a:blip r:embed="rId4" cstate="print"/>
          <a:srcRect/>
          <a:stretch>
            <a:fillRect/>
          </a:stretch>
        </p:blipFill>
        <p:spPr bwMode="auto">
          <a:xfrm>
            <a:off x="971550" y="4508500"/>
            <a:ext cx="1963738" cy="2130425"/>
          </a:xfrm>
          <a:prstGeom prst="rect">
            <a:avLst/>
          </a:prstGeom>
          <a:noFill/>
          <a:ln w="12699">
            <a:noFill/>
            <a:miter lim="800000"/>
            <a:headEnd type="none" w="sm" len="sm"/>
            <a:tailEnd type="none" w="sm" len="sm"/>
          </a:ln>
          <a:effectLst/>
        </p:spPr>
      </p:pic>
      <p:sp>
        <p:nvSpPr>
          <p:cNvPr id="89095" name="Text Box 7"/>
          <p:cNvSpPr txBox="1">
            <a:spLocks noChangeArrowheads="1"/>
          </p:cNvSpPr>
          <p:nvPr/>
        </p:nvSpPr>
        <p:spPr bwMode="auto">
          <a:xfrm>
            <a:off x="0" y="6613525"/>
            <a:ext cx="1028700" cy="244475"/>
          </a:xfrm>
          <a:prstGeom prst="rect">
            <a:avLst/>
          </a:prstGeom>
          <a:noFill/>
          <a:ln w="12699">
            <a:noFill/>
            <a:miter lim="800000"/>
            <a:headEnd type="none" w="sm" len="sm"/>
            <a:tailEnd type="none" w="sm" len="sm"/>
          </a:ln>
          <a:effectLst/>
        </p:spPr>
        <p:txBody>
          <a:bodyPr wrap="none" lIns="92075" tIns="46038" rIns="92075" bIns="46038">
            <a:spAutoFit/>
          </a:bodyPr>
          <a:lstStyle/>
          <a:p>
            <a:pPr eaLnBrk="0" hangingPunct="0"/>
            <a:r>
              <a:rPr lang="en-US" sz="1000">
                <a:solidFill>
                  <a:srgbClr val="808080"/>
                </a:solidFill>
                <a:latin typeface="Arial" charset="0"/>
              </a:rPr>
              <a:t>Microsoft Help </a:t>
            </a:r>
            <a:endParaRPr lang="en-CA" sz="1000">
              <a:solidFill>
                <a:srgbClr val="808080"/>
              </a:solidFill>
              <a:latin typeface="Arial"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noFill/>
          <a:ln/>
        </p:spPr>
        <p:txBody>
          <a:bodyPr lIns="92075" tIns="46038" rIns="92075" bIns="46038"/>
          <a:lstStyle/>
          <a:p>
            <a:r>
              <a:rPr lang="en-US" dirty="0"/>
              <a:t>10. Types of help</a:t>
            </a:r>
          </a:p>
        </p:txBody>
      </p:sp>
      <p:sp>
        <p:nvSpPr>
          <p:cNvPr id="55299" name="Rectangle 3"/>
          <p:cNvSpPr>
            <a:spLocks noGrp="1" noChangeArrowheads="1"/>
          </p:cNvSpPr>
          <p:nvPr>
            <p:ph type="body" idx="1"/>
          </p:nvPr>
        </p:nvSpPr>
        <p:spPr>
          <a:xfrm>
            <a:off x="914400" y="1447800"/>
            <a:ext cx="7772400" cy="4572000"/>
          </a:xfrm>
          <a:noFill/>
          <a:ln/>
        </p:spPr>
        <p:txBody>
          <a:bodyPr lIns="92075" tIns="46038" rIns="92075" bIns="46038"/>
          <a:lstStyle/>
          <a:p>
            <a:r>
              <a:rPr lang="en-US" dirty="0"/>
              <a:t>Reminders</a:t>
            </a:r>
          </a:p>
          <a:p>
            <a:pPr marL="320040" lvl="1" indent="0">
              <a:buNone/>
            </a:pPr>
            <a:endParaRPr lang="en-US" dirty="0"/>
          </a:p>
          <a:p>
            <a:pPr lvl="1"/>
            <a:r>
              <a:rPr lang="en-US" dirty="0"/>
              <a:t>tooltips and other context-sensitive help</a:t>
            </a:r>
          </a:p>
          <a:p>
            <a:pPr lvl="2"/>
            <a:r>
              <a:rPr lang="en-US" dirty="0"/>
              <a:t>text over graphical items indicates their meaning or purpose</a:t>
            </a:r>
          </a:p>
        </p:txBody>
      </p:sp>
      <p:graphicFrame>
        <p:nvGraphicFramePr>
          <p:cNvPr id="55302" name="Object 6"/>
          <p:cNvGraphicFramePr>
            <a:graphicFrameLocks/>
          </p:cNvGraphicFramePr>
          <p:nvPr/>
        </p:nvGraphicFramePr>
        <p:xfrm>
          <a:off x="3429000" y="4495800"/>
          <a:ext cx="1701800" cy="1354138"/>
        </p:xfrm>
        <a:graphic>
          <a:graphicData uri="http://schemas.openxmlformats.org/presentationml/2006/ole">
            <mc:AlternateContent xmlns:mc="http://schemas.openxmlformats.org/markup-compatibility/2006">
              <mc:Choice xmlns:v="urn:schemas-microsoft-com:vml" Requires="v">
                <p:oleObj spid="_x0000_s7170" name="Document" r:id="rId4" imgW="684276" imgH="545592" progId="Word.Document.8">
                  <p:embed/>
                </p:oleObj>
              </mc:Choice>
              <mc:Fallback>
                <p:oleObj name="Document" r:id="rId4" imgW="684276" imgH="545592" progId="Word.Document.8">
                  <p:embed/>
                  <p:pic>
                    <p:nvPicPr>
                      <p:cNvPr id="0" name="Picture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4495800"/>
                        <a:ext cx="1701800" cy="135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03" name="Text Box 7"/>
          <p:cNvSpPr txBox="1">
            <a:spLocks noChangeArrowheads="1"/>
          </p:cNvSpPr>
          <p:nvPr/>
        </p:nvSpPr>
        <p:spPr bwMode="auto">
          <a:xfrm>
            <a:off x="0" y="6613525"/>
            <a:ext cx="1036638" cy="244475"/>
          </a:xfrm>
          <a:prstGeom prst="rect">
            <a:avLst/>
          </a:prstGeom>
          <a:noFill/>
          <a:ln w="12699">
            <a:noFill/>
            <a:miter lim="800000"/>
            <a:headEnd type="none" w="sm" len="sm"/>
            <a:tailEnd type="none" w="sm" len="sm"/>
          </a:ln>
          <a:effectLst/>
        </p:spPr>
        <p:txBody>
          <a:bodyPr wrap="none" lIns="92075" tIns="46038" rIns="92075" bIns="46038">
            <a:spAutoFit/>
          </a:bodyPr>
          <a:lstStyle/>
          <a:p>
            <a:pPr eaLnBrk="0" hangingPunct="0"/>
            <a:r>
              <a:rPr lang="en-US" sz="1000">
                <a:solidFill>
                  <a:srgbClr val="808080"/>
                </a:solidFill>
                <a:latin typeface="Arial" charset="0"/>
              </a:rPr>
              <a:t>Microsoft Word</a:t>
            </a:r>
            <a:endParaRPr lang="en-CA" sz="1000">
              <a:solidFill>
                <a:srgbClr val="808080"/>
              </a:solidFill>
              <a:latin typeface="Arial" charset="0"/>
            </a:endParaRP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dirty="0"/>
              <a:t>10. Types of help</a:t>
            </a:r>
          </a:p>
        </p:txBody>
      </p:sp>
      <p:sp>
        <p:nvSpPr>
          <p:cNvPr id="92163" name="Rectangle 3"/>
          <p:cNvSpPr>
            <a:spLocks noGrp="1" noChangeArrowheads="1"/>
          </p:cNvSpPr>
          <p:nvPr>
            <p:ph type="body" idx="1"/>
          </p:nvPr>
        </p:nvSpPr>
        <p:spPr/>
        <p:txBody>
          <a:bodyPr/>
          <a:lstStyle/>
          <a:p>
            <a:r>
              <a:rPr lang="en-US"/>
              <a:t>Wizards</a:t>
            </a:r>
          </a:p>
          <a:p>
            <a:pPr lvl="1"/>
            <a:r>
              <a:rPr lang="en-US"/>
              <a:t>walks user through typical tasks</a:t>
            </a:r>
          </a:p>
          <a:p>
            <a:pPr lvl="1"/>
            <a:r>
              <a:rPr lang="en-US" i="1"/>
              <a:t>but</a:t>
            </a:r>
            <a:r>
              <a:rPr lang="en-US"/>
              <a:t> dangerous if user gets stuck</a:t>
            </a:r>
          </a:p>
          <a:p>
            <a:endParaRPr lang="en-US"/>
          </a:p>
        </p:txBody>
      </p:sp>
      <p:pic>
        <p:nvPicPr>
          <p:cNvPr id="92165" name="Picture 5"/>
          <p:cNvPicPr>
            <a:picLocks noChangeAspect="1" noChangeArrowheads="1"/>
          </p:cNvPicPr>
          <p:nvPr/>
        </p:nvPicPr>
        <p:blipFill>
          <a:blip r:embed="rId3" cstate="print"/>
          <a:srcRect/>
          <a:stretch>
            <a:fillRect/>
          </a:stretch>
        </p:blipFill>
        <p:spPr bwMode="auto">
          <a:xfrm>
            <a:off x="3492500" y="2781300"/>
            <a:ext cx="4905375" cy="2828925"/>
          </a:xfrm>
          <a:prstGeom prst="rect">
            <a:avLst/>
          </a:prstGeom>
          <a:noFill/>
          <a:ln w="12699">
            <a:noFill/>
            <a:miter lim="800000"/>
            <a:headEnd type="none" w="sm" len="sm"/>
            <a:tailEnd type="none" w="sm" len="sm"/>
          </a:ln>
          <a:effectLst/>
        </p:spPr>
      </p:pic>
      <p:graphicFrame>
        <p:nvGraphicFramePr>
          <p:cNvPr id="92166" name="Object 6"/>
          <p:cNvGraphicFramePr>
            <a:graphicFrameLocks noChangeAspect="1"/>
          </p:cNvGraphicFramePr>
          <p:nvPr/>
        </p:nvGraphicFramePr>
        <p:xfrm>
          <a:off x="2484438" y="4570413"/>
          <a:ext cx="1063625" cy="2287587"/>
        </p:xfrm>
        <a:graphic>
          <a:graphicData uri="http://schemas.openxmlformats.org/presentationml/2006/ole">
            <mc:AlternateContent xmlns:mc="http://schemas.openxmlformats.org/markup-compatibility/2006">
              <mc:Choice xmlns:v="urn:schemas-microsoft-com:vml" Requires="v">
                <p:oleObj spid="_x0000_s8194" name="Clip" r:id="rId4" imgW="1063467" imgH="2287818" progId="">
                  <p:embed/>
                </p:oleObj>
              </mc:Choice>
              <mc:Fallback>
                <p:oleObj name="Clip" r:id="rId4" imgW="1063467" imgH="2287818"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4570413"/>
                        <a:ext cx="1063625" cy="2287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67" name="AutoShape 7"/>
          <p:cNvSpPr>
            <a:spLocks noChangeArrowheads="1"/>
          </p:cNvSpPr>
          <p:nvPr/>
        </p:nvSpPr>
        <p:spPr bwMode="auto">
          <a:xfrm>
            <a:off x="684213" y="2997200"/>
            <a:ext cx="2436812" cy="1738313"/>
          </a:xfrm>
          <a:prstGeom prst="cloudCallout">
            <a:avLst>
              <a:gd name="adj1" fmla="val 28500"/>
              <a:gd name="adj2" fmla="val 57306"/>
            </a:avLst>
          </a:prstGeom>
          <a:noFill/>
          <a:ln w="12699">
            <a:solidFill>
              <a:schemeClr val="tx1"/>
            </a:solidFill>
            <a:round/>
            <a:headEnd type="none" w="sm" len="sm"/>
            <a:tailEnd type="none" w="sm" len="sm"/>
          </a:ln>
          <a:effectLst/>
        </p:spPr>
        <p:txBody>
          <a:bodyPr lIns="92075" tIns="46038" rIns="92075" bIns="46038" anchor="ctr">
            <a:spAutoFit/>
          </a:bodyPr>
          <a:lstStyle/>
          <a:p>
            <a:pPr algn="ctr" eaLnBrk="0" hangingPunct="0"/>
            <a:r>
              <a:rPr lang="en-US" sz="1400"/>
              <a:t>What’s my computer’s name? </a:t>
            </a:r>
            <a:br>
              <a:rPr lang="en-US" sz="1400"/>
            </a:br>
            <a:r>
              <a:rPr lang="en-US" sz="1400"/>
              <a:t>Fred? </a:t>
            </a:r>
            <a:br>
              <a:rPr lang="en-US" sz="1400"/>
            </a:br>
            <a:r>
              <a:rPr lang="en-US" sz="1400"/>
              <a:t>Intel? </a:t>
            </a:r>
            <a:br>
              <a:rPr lang="en-US" sz="1400"/>
            </a:br>
            <a:r>
              <a:rPr lang="en-US" sz="1400"/>
              <a:t>AST?</a:t>
            </a:r>
            <a:endParaRPr lang="en-US" sz="1400">
              <a:latin typeface="Arial" charset="0"/>
            </a:endParaRPr>
          </a:p>
        </p:txBody>
      </p:sp>
      <p:sp>
        <p:nvSpPr>
          <p:cNvPr id="92168" name="Text Box 8"/>
          <p:cNvSpPr txBox="1">
            <a:spLocks noChangeArrowheads="1"/>
          </p:cNvSpPr>
          <p:nvPr/>
        </p:nvSpPr>
        <p:spPr bwMode="auto">
          <a:xfrm>
            <a:off x="0" y="6613525"/>
            <a:ext cx="1365250" cy="244475"/>
          </a:xfrm>
          <a:prstGeom prst="rect">
            <a:avLst/>
          </a:prstGeom>
          <a:noFill/>
          <a:ln w="12699">
            <a:noFill/>
            <a:miter lim="800000"/>
            <a:headEnd type="none" w="sm" len="sm"/>
            <a:tailEnd type="none" w="sm" len="sm"/>
          </a:ln>
          <a:effectLst/>
        </p:spPr>
        <p:txBody>
          <a:bodyPr wrap="none" lIns="92075" tIns="46038" rIns="92075" bIns="46038">
            <a:spAutoFit/>
          </a:bodyPr>
          <a:lstStyle/>
          <a:p>
            <a:pPr eaLnBrk="0" hangingPunct="0"/>
            <a:r>
              <a:rPr lang="en-US" sz="1000">
                <a:solidFill>
                  <a:srgbClr val="808080"/>
                </a:solidFill>
                <a:latin typeface="Arial" charset="0"/>
              </a:rPr>
              <a:t>Microsoft Powerpoint</a:t>
            </a:r>
            <a:endParaRPr lang="en-CA" sz="1000">
              <a:solidFill>
                <a:srgbClr val="808080"/>
              </a:solidFill>
              <a:latin typeface="Arial"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dirty="0"/>
              <a:t>10. Types of help</a:t>
            </a:r>
          </a:p>
        </p:txBody>
      </p:sp>
      <p:pic>
        <p:nvPicPr>
          <p:cNvPr id="87045" name="Picture 5"/>
          <p:cNvPicPr>
            <a:picLocks noChangeAspect="1" noChangeArrowheads="1"/>
          </p:cNvPicPr>
          <p:nvPr/>
        </p:nvPicPr>
        <p:blipFill>
          <a:blip r:embed="rId2" cstate="print"/>
          <a:srcRect/>
          <a:stretch>
            <a:fillRect/>
          </a:stretch>
        </p:blipFill>
        <p:spPr bwMode="auto">
          <a:xfrm>
            <a:off x="1116013" y="3789363"/>
            <a:ext cx="7591425" cy="1190625"/>
          </a:xfrm>
          <a:prstGeom prst="rect">
            <a:avLst/>
          </a:prstGeom>
          <a:noFill/>
          <a:ln w="12699">
            <a:noFill/>
            <a:miter lim="800000"/>
            <a:headEnd type="none" w="sm" len="sm"/>
            <a:tailEnd type="none" w="sm" len="sm"/>
          </a:ln>
          <a:effectLst/>
        </p:spPr>
      </p:pic>
      <p:pic>
        <p:nvPicPr>
          <p:cNvPr id="87050" name="Picture 10"/>
          <p:cNvPicPr>
            <a:picLocks noChangeAspect="1" noChangeArrowheads="1"/>
          </p:cNvPicPr>
          <p:nvPr/>
        </p:nvPicPr>
        <p:blipFill>
          <a:blip r:embed="rId3" cstate="print"/>
          <a:srcRect/>
          <a:stretch>
            <a:fillRect/>
          </a:stretch>
        </p:blipFill>
        <p:spPr bwMode="auto">
          <a:xfrm>
            <a:off x="1160463" y="5170488"/>
            <a:ext cx="1285875" cy="1133475"/>
          </a:xfrm>
          <a:prstGeom prst="rect">
            <a:avLst/>
          </a:prstGeom>
          <a:noFill/>
          <a:ln w="12699">
            <a:noFill/>
            <a:miter lim="800000"/>
            <a:headEnd type="none" w="sm" len="sm"/>
            <a:tailEnd type="none" w="sm" len="sm"/>
          </a:ln>
          <a:effectLst/>
        </p:spPr>
      </p:pic>
      <p:sp>
        <p:nvSpPr>
          <p:cNvPr id="87049" name="Line 9"/>
          <p:cNvSpPr>
            <a:spLocks noChangeShapeType="1"/>
          </p:cNvSpPr>
          <p:nvPr/>
        </p:nvSpPr>
        <p:spPr bwMode="auto">
          <a:xfrm flipV="1">
            <a:off x="2168525" y="3941763"/>
            <a:ext cx="852488" cy="1381125"/>
          </a:xfrm>
          <a:prstGeom prst="line">
            <a:avLst/>
          </a:prstGeom>
          <a:noFill/>
          <a:ln w="57150">
            <a:solidFill>
              <a:srgbClr val="FF0000"/>
            </a:solidFill>
            <a:round/>
            <a:headEnd type="triangle" w="med" len="med"/>
            <a:tailEnd type="triangle" w="med" len="med"/>
          </a:ln>
          <a:effectLst/>
        </p:spPr>
        <p:txBody>
          <a:bodyPr lIns="92075" tIns="46038" rIns="92075" bIns="46038" anchor="ctr">
            <a:spAutoFit/>
          </a:bodyPr>
          <a:lstStyle/>
          <a:p>
            <a:endParaRPr lang="en-US"/>
          </a:p>
        </p:txBody>
      </p:sp>
      <p:sp>
        <p:nvSpPr>
          <p:cNvPr id="87052" name="Rectangle 12"/>
          <p:cNvSpPr>
            <a:spLocks noGrp="1" noChangeArrowheads="1"/>
          </p:cNvSpPr>
          <p:nvPr>
            <p:ph type="body" idx="1"/>
          </p:nvPr>
        </p:nvSpPr>
        <p:spPr/>
        <p:txBody>
          <a:bodyPr/>
          <a:lstStyle/>
          <a:p>
            <a:r>
              <a:rPr lang="en-US"/>
              <a:t>Tips</a:t>
            </a:r>
          </a:p>
          <a:p>
            <a:pPr lvl="1"/>
            <a:r>
              <a:rPr lang="en-US"/>
              <a:t>migration path to learning system features</a:t>
            </a:r>
          </a:p>
          <a:p>
            <a:pPr lvl="1"/>
            <a:r>
              <a:rPr lang="en-US"/>
              <a:t>also context-specific tips on being more efficient</a:t>
            </a:r>
          </a:p>
          <a:p>
            <a:pPr lvl="1"/>
            <a:r>
              <a:rPr lang="en-US"/>
              <a:t>must be “smart”, otherwise boring and tedious</a:t>
            </a:r>
          </a:p>
        </p:txBody>
      </p:sp>
      <p:sp>
        <p:nvSpPr>
          <p:cNvPr id="87053" name="Text Box 13"/>
          <p:cNvSpPr txBox="1">
            <a:spLocks noChangeArrowheads="1"/>
          </p:cNvSpPr>
          <p:nvPr/>
        </p:nvSpPr>
        <p:spPr bwMode="auto">
          <a:xfrm>
            <a:off x="0" y="6613525"/>
            <a:ext cx="1036638" cy="244475"/>
          </a:xfrm>
          <a:prstGeom prst="rect">
            <a:avLst/>
          </a:prstGeom>
          <a:noFill/>
          <a:ln w="12699">
            <a:noFill/>
            <a:miter lim="800000"/>
            <a:headEnd type="none" w="sm" len="sm"/>
            <a:tailEnd type="none" w="sm" len="sm"/>
          </a:ln>
          <a:effectLst/>
        </p:spPr>
        <p:txBody>
          <a:bodyPr wrap="none" lIns="92075" tIns="46038" rIns="92075" bIns="46038">
            <a:spAutoFit/>
          </a:bodyPr>
          <a:lstStyle/>
          <a:p>
            <a:pPr eaLnBrk="0" hangingPunct="0"/>
            <a:r>
              <a:rPr lang="en-US" sz="1000">
                <a:solidFill>
                  <a:srgbClr val="808080"/>
                </a:solidFill>
                <a:latin typeface="Arial" charset="0"/>
              </a:rPr>
              <a:t>Microsoft Word</a:t>
            </a:r>
            <a:endParaRPr lang="en-CA" sz="1000">
              <a:solidFill>
                <a:srgbClr val="808080"/>
              </a:solidFill>
              <a:latin typeface="Arial"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Chunking the Heuristics</a:t>
            </a:r>
          </a:p>
        </p:txBody>
      </p:sp>
      <p:sp>
        <p:nvSpPr>
          <p:cNvPr id="3" name="Content Placeholder 2"/>
          <p:cNvSpPr>
            <a:spLocks noGrp="1"/>
          </p:cNvSpPr>
          <p:nvPr>
            <p:ph sz="quarter" idx="1"/>
          </p:nvPr>
        </p:nvSpPr>
        <p:spPr/>
        <p:txBody>
          <a:bodyPr>
            <a:normAutofit fontScale="85000" lnSpcReduction="20000"/>
          </a:bodyPr>
          <a:lstStyle/>
          <a:p>
            <a:r>
              <a:rPr lang="en-US" b="1" dirty="0"/>
              <a:t>Meet expectations</a:t>
            </a:r>
          </a:p>
          <a:p>
            <a:pPr lvl="1"/>
            <a:r>
              <a:rPr lang="en-US" dirty="0"/>
              <a:t>Match the real world</a:t>
            </a:r>
          </a:p>
          <a:p>
            <a:pPr lvl="1"/>
            <a:r>
              <a:rPr lang="en-US" dirty="0"/>
              <a:t>Consistency &amp; standards</a:t>
            </a:r>
          </a:p>
          <a:p>
            <a:pPr lvl="1"/>
            <a:r>
              <a:rPr lang="en-US" dirty="0"/>
              <a:t>Help &amp; documentation</a:t>
            </a:r>
          </a:p>
          <a:p>
            <a:r>
              <a:rPr lang="en-US" b="1" dirty="0"/>
              <a:t>User is the boss</a:t>
            </a:r>
          </a:p>
          <a:p>
            <a:pPr lvl="1"/>
            <a:r>
              <a:rPr lang="en-US" dirty="0"/>
              <a:t> User control &amp; freedom</a:t>
            </a:r>
          </a:p>
          <a:p>
            <a:pPr lvl="1"/>
            <a:r>
              <a:rPr lang="en-US" dirty="0"/>
              <a:t>Visibility of system status</a:t>
            </a:r>
          </a:p>
          <a:p>
            <a:pPr lvl="1"/>
            <a:r>
              <a:rPr lang="en-US" dirty="0"/>
              <a:t>Flexibility &amp; efficiency</a:t>
            </a:r>
          </a:p>
          <a:p>
            <a:r>
              <a:rPr lang="en-US" b="1" dirty="0"/>
              <a:t>Handle errors</a:t>
            </a:r>
          </a:p>
          <a:p>
            <a:pPr lvl="1"/>
            <a:r>
              <a:rPr lang="en-US" dirty="0"/>
              <a:t>Error prevention</a:t>
            </a:r>
          </a:p>
          <a:p>
            <a:pPr lvl="1"/>
            <a:r>
              <a:rPr lang="en-US" dirty="0"/>
              <a:t>Recognition, not recall</a:t>
            </a:r>
          </a:p>
          <a:p>
            <a:pPr lvl="1"/>
            <a:r>
              <a:rPr lang="en-US" dirty="0"/>
              <a:t>Error reporting, diagnosis, and recovery</a:t>
            </a:r>
          </a:p>
          <a:p>
            <a:r>
              <a:rPr lang="en-US" b="1" dirty="0"/>
              <a:t>Keep it simple</a:t>
            </a:r>
          </a:p>
          <a:p>
            <a:pPr lvl="1"/>
            <a:r>
              <a:rPr lang="en-US" dirty="0"/>
              <a:t>Aesthetic &amp; minimalist design</a:t>
            </a:r>
          </a:p>
        </p:txBody>
      </p:sp>
    </p:spTree>
    <p:extLst>
      <p:ext uri="{BB962C8B-B14F-4D97-AF65-F5344CB8AC3E}">
        <p14:creationId xmlns:p14="http://schemas.microsoft.com/office/powerpoint/2010/main" val="396415956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04800"/>
            <a:ext cx="7772400" cy="579438"/>
          </a:xfrm>
        </p:spPr>
        <p:txBody>
          <a:bodyPr>
            <a:normAutofit fontScale="90000"/>
          </a:bodyPr>
          <a:lstStyle/>
          <a:p>
            <a:r>
              <a:rPr lang="en-US" dirty="0"/>
              <a:t>Performing a Heuristic Evaluation</a:t>
            </a:r>
          </a:p>
        </p:txBody>
      </p:sp>
      <p:sp>
        <p:nvSpPr>
          <p:cNvPr id="3" name="Content Placeholder 2"/>
          <p:cNvSpPr>
            <a:spLocks noGrp="1"/>
          </p:cNvSpPr>
          <p:nvPr>
            <p:ph sz="quarter" idx="1"/>
          </p:nvPr>
        </p:nvSpPr>
        <p:spPr>
          <a:xfrm>
            <a:off x="381000" y="990600"/>
            <a:ext cx="8610600" cy="5638800"/>
          </a:xfrm>
        </p:spPr>
        <p:txBody>
          <a:bodyPr>
            <a:normAutofit/>
          </a:bodyPr>
          <a:lstStyle/>
          <a:p>
            <a:pPr marL="514350" indent="-514350">
              <a:buFont typeface="+mj-lt"/>
              <a:buAutoNum type="arabicPeriod"/>
            </a:pPr>
            <a:r>
              <a:rPr lang="en-US" dirty="0"/>
              <a:t>Design may be verbal description, paper mock-up, working prototype, or running system. </a:t>
            </a:r>
          </a:p>
          <a:p>
            <a:pPr marL="514350" indent="-514350">
              <a:buFont typeface="+mj-lt"/>
              <a:buAutoNum type="arabicPeriod"/>
            </a:pPr>
            <a:r>
              <a:rPr lang="en-US" dirty="0"/>
              <a:t>Provide evaluators with checklist of usability heuristics</a:t>
            </a:r>
          </a:p>
          <a:p>
            <a:pPr marL="514350" indent="-514350">
              <a:buFont typeface="+mj-lt"/>
              <a:buAutoNum type="arabicPeriod"/>
            </a:pPr>
            <a:r>
              <a:rPr lang="en-US" dirty="0"/>
              <a:t>Optionally provide evaluators with some domain-specific training</a:t>
            </a:r>
          </a:p>
          <a:p>
            <a:pPr marL="514350" indent="-514350">
              <a:buFont typeface="+mj-lt"/>
              <a:buAutoNum type="arabicPeriod"/>
            </a:pPr>
            <a:r>
              <a:rPr lang="en-US" dirty="0"/>
              <a:t>Each evaluator works alone (1–2 hours)</a:t>
            </a:r>
          </a:p>
          <a:p>
            <a:pPr marL="514350" indent="-514350">
              <a:buFont typeface="+mj-lt"/>
              <a:buAutoNum type="arabicPeriod"/>
            </a:pPr>
            <a:r>
              <a:rPr lang="en-US" dirty="0"/>
              <a:t>Interface examined in two passes: first pass focuses on general flow, second on particular elements in detail.</a:t>
            </a:r>
          </a:p>
          <a:p>
            <a:pPr marL="514350" indent="-514350">
              <a:buFont typeface="+mj-lt"/>
              <a:buAutoNum type="arabicPeriod"/>
            </a:pPr>
            <a:r>
              <a:rPr lang="en-US" dirty="0"/>
              <a:t>Notes taken either by evaluator or evaluation manager</a:t>
            </a:r>
          </a:p>
          <a:p>
            <a:pPr marL="514350" indent="-514350">
              <a:buFont typeface="+mj-lt"/>
              <a:buAutoNum type="arabicPeriod"/>
            </a:pPr>
            <a:r>
              <a:rPr lang="en-US" dirty="0"/>
              <a:t>Make list of potential problems and list of positive findings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04800"/>
            <a:ext cx="7772400" cy="579438"/>
          </a:xfrm>
        </p:spPr>
        <p:txBody>
          <a:bodyPr>
            <a:normAutofit fontScale="90000"/>
          </a:bodyPr>
          <a:lstStyle/>
          <a:p>
            <a:r>
              <a:rPr lang="en-US" dirty="0"/>
              <a:t>Performing a Heuristic Evaluation</a:t>
            </a:r>
          </a:p>
        </p:txBody>
      </p:sp>
      <p:sp>
        <p:nvSpPr>
          <p:cNvPr id="3" name="Content Placeholder 2"/>
          <p:cNvSpPr>
            <a:spLocks noGrp="1"/>
          </p:cNvSpPr>
          <p:nvPr>
            <p:ph sz="quarter" idx="1"/>
          </p:nvPr>
        </p:nvSpPr>
        <p:spPr>
          <a:xfrm>
            <a:off x="381000" y="990600"/>
            <a:ext cx="8610600" cy="5638800"/>
          </a:xfrm>
        </p:spPr>
        <p:txBody>
          <a:bodyPr>
            <a:normAutofit/>
          </a:bodyPr>
          <a:lstStyle/>
          <a:p>
            <a:pPr marL="514350" indent="-514350">
              <a:buFont typeface="+mj-lt"/>
              <a:buAutoNum type="arabicPeriod" startAt="8"/>
            </a:pPr>
            <a:r>
              <a:rPr lang="en-US" dirty="0"/>
              <a:t>Take screen shots as you work - they may not be reproducible later</a:t>
            </a:r>
          </a:p>
          <a:p>
            <a:pPr marL="514350" indent="-514350">
              <a:buFont typeface="+mj-lt"/>
              <a:buAutoNum type="arabicPeriod" startAt="8"/>
            </a:pPr>
            <a:r>
              <a:rPr lang="en-US" dirty="0"/>
              <a:t>Independent findings are then aggregated into one large list (by evaluation manager). This is best done with a spreadsheet</a:t>
            </a:r>
          </a:p>
          <a:p>
            <a:pPr marL="514350" indent="-514350">
              <a:buFont typeface="+mj-lt"/>
              <a:buAutoNum type="arabicPeriod" startAt="8"/>
            </a:pPr>
            <a:r>
              <a:rPr lang="en-US" dirty="0"/>
              <a:t>The large list of potential problems is distributed to each evaluator</a:t>
            </a:r>
          </a:p>
          <a:p>
            <a:pPr marL="514350" indent="-514350">
              <a:buFont typeface="+mj-lt"/>
              <a:buAutoNum type="arabicPeriod" startAt="8"/>
            </a:pPr>
            <a:r>
              <a:rPr lang="en-US" dirty="0"/>
              <a:t>Each evaluator now assigns severity ratings individually to each problem in the large list (unseen by the other evaluators)</a:t>
            </a:r>
          </a:p>
          <a:p>
            <a:pPr marL="514350" indent="-514350">
              <a:buFont typeface="+mj-lt"/>
              <a:buAutoNum type="arabicPeriod" startAt="8"/>
            </a:pPr>
            <a:r>
              <a:rPr lang="en-US" dirty="0"/>
              <a:t>The individual severity ratings are averaged to obtain the final severity rating for each problem</a:t>
            </a:r>
          </a:p>
          <a:p>
            <a:pPr marL="514350" indent="-514350">
              <a:buFont typeface="+mj-lt"/>
              <a:buAutoNum type="arabicPeriod" startAt="8"/>
            </a:pPr>
            <a:r>
              <a:rPr lang="en-US" dirty="0"/>
              <a:t>The long list is sorted in decreasing order of average severity</a:t>
            </a:r>
          </a:p>
          <a:p>
            <a:pPr marL="514350" indent="-514350">
              <a:buFont typeface="+mj-lt"/>
              <a:buAutoNum type="arabicPeriod" startAt="8"/>
            </a:pPr>
            <a:r>
              <a:rPr lang="en-US" dirty="0"/>
              <a:t>Group debriefing session to suggest possible redesigns</a:t>
            </a:r>
          </a:p>
        </p:txBody>
      </p:sp>
    </p:spTree>
    <p:extLst>
      <p:ext uri="{BB962C8B-B14F-4D97-AF65-F5344CB8AC3E}">
        <p14:creationId xmlns:p14="http://schemas.microsoft.com/office/powerpoint/2010/main" val="40864985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a:t>
            </a:r>
            <a:r>
              <a:rPr lang="en-US"/>
              <a:t>spread sheet</a:t>
            </a:r>
            <a:endParaRPr lang="en-US"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4026139998"/>
              </p:ext>
            </p:extLst>
          </p:nvPr>
        </p:nvGraphicFramePr>
        <p:xfrm>
          <a:off x="381001" y="1447800"/>
          <a:ext cx="8534399" cy="2743200"/>
        </p:xfrm>
        <a:graphic>
          <a:graphicData uri="http://schemas.openxmlformats.org/drawingml/2006/table">
            <a:tbl>
              <a:tblPr firstRow="1" bandRow="1">
                <a:tableStyleId>{5C22544A-7EE6-4342-B048-85BDC9FD1C3A}</a:tableStyleId>
              </a:tblPr>
              <a:tblGrid>
                <a:gridCol w="927652">
                  <a:extLst>
                    <a:ext uri="{9D8B030D-6E8A-4147-A177-3AD203B41FA5}">
                      <a16:colId xmlns:a16="http://schemas.microsoft.com/office/drawing/2014/main" val="20000"/>
                    </a:ext>
                  </a:extLst>
                </a:gridCol>
                <a:gridCol w="2670183">
                  <a:extLst>
                    <a:ext uri="{9D8B030D-6E8A-4147-A177-3AD203B41FA5}">
                      <a16:colId xmlns:a16="http://schemas.microsoft.com/office/drawing/2014/main" val="20001"/>
                    </a:ext>
                  </a:extLst>
                </a:gridCol>
                <a:gridCol w="1782548">
                  <a:extLst>
                    <a:ext uri="{9D8B030D-6E8A-4147-A177-3AD203B41FA5}">
                      <a16:colId xmlns:a16="http://schemas.microsoft.com/office/drawing/2014/main" val="20002"/>
                    </a:ext>
                  </a:extLst>
                </a:gridCol>
                <a:gridCol w="2163416">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tblGrid>
              <a:tr h="370840">
                <a:tc>
                  <a:txBody>
                    <a:bodyPr/>
                    <a:lstStyle/>
                    <a:p>
                      <a:pPr algn="ctr"/>
                      <a:r>
                        <a:rPr lang="en-US" dirty="0"/>
                        <a:t>Serial no.</a:t>
                      </a:r>
                    </a:p>
                  </a:txBody>
                  <a:tcPr/>
                </a:tc>
                <a:tc>
                  <a:txBody>
                    <a:bodyPr/>
                    <a:lstStyle/>
                    <a:p>
                      <a:pPr algn="ctr"/>
                      <a:r>
                        <a:rPr lang="en-US" dirty="0"/>
                        <a:t>Problem</a:t>
                      </a:r>
                      <a:r>
                        <a:rPr lang="en-US" baseline="0" dirty="0"/>
                        <a:t> </a:t>
                      </a:r>
                      <a:endParaRPr lang="en-US" dirty="0"/>
                    </a:p>
                  </a:txBody>
                  <a:tcPr/>
                </a:tc>
                <a:tc>
                  <a:txBody>
                    <a:bodyPr/>
                    <a:lstStyle/>
                    <a:p>
                      <a:pPr algn="ctr"/>
                      <a:r>
                        <a:rPr lang="en-US" dirty="0"/>
                        <a:t>Heuristic </a:t>
                      </a:r>
                    </a:p>
                  </a:txBody>
                  <a:tcPr/>
                </a:tc>
                <a:tc>
                  <a:txBody>
                    <a:bodyPr/>
                    <a:lstStyle/>
                    <a:p>
                      <a:pPr algn="ctr"/>
                      <a:r>
                        <a:rPr lang="en-US" dirty="0"/>
                        <a:t>Suggestion</a:t>
                      </a:r>
                    </a:p>
                  </a:txBody>
                  <a:tcPr/>
                </a:tc>
                <a:tc>
                  <a:txBody>
                    <a:bodyPr/>
                    <a:lstStyle/>
                    <a:p>
                      <a:pPr algn="ctr"/>
                      <a:r>
                        <a:rPr lang="en-US" dirty="0"/>
                        <a:t>Severity </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The “Cancel” button is missing from the XX</a:t>
                      </a:r>
                      <a:r>
                        <a:rPr lang="en-US" baseline="0" dirty="0"/>
                        <a:t>X dialogue box</a:t>
                      </a:r>
                      <a:endParaRPr lang="en-US" dirty="0"/>
                    </a:p>
                  </a:txBody>
                  <a:tcPr/>
                </a:tc>
                <a:tc>
                  <a:txBody>
                    <a:bodyPr/>
                    <a:lstStyle/>
                    <a:p>
                      <a:r>
                        <a:rPr lang="en-US" dirty="0"/>
                        <a:t>User</a:t>
                      </a:r>
                      <a:r>
                        <a:rPr lang="en-US" baseline="0" dirty="0"/>
                        <a:t> control </a:t>
                      </a:r>
                      <a:r>
                        <a:rPr lang="en-US" baseline="0"/>
                        <a:t>and freedom</a:t>
                      </a:r>
                      <a:r>
                        <a:rPr lang="en-US"/>
                        <a:t>, </a:t>
                      </a:r>
                      <a:r>
                        <a:rPr lang="en-US" dirty="0"/>
                        <a:t>consistency</a:t>
                      </a:r>
                    </a:p>
                  </a:txBody>
                  <a:tcPr/>
                </a:tc>
                <a:tc>
                  <a:txBody>
                    <a:bodyPr/>
                    <a:lstStyle/>
                    <a:p>
                      <a:r>
                        <a:rPr lang="en-US" dirty="0"/>
                        <a:t>Add “Cancel” button at the right side</a:t>
                      </a:r>
                      <a:r>
                        <a:rPr lang="en-US" baseline="0" dirty="0"/>
                        <a:t> of “OK” button</a:t>
                      </a:r>
                      <a:endParaRPr lang="en-US" dirty="0"/>
                    </a:p>
                  </a:txBody>
                  <a:tcPr/>
                </a:tc>
                <a:tc>
                  <a:txBody>
                    <a:bodyPr/>
                    <a:lstStyle/>
                    <a:p>
                      <a:r>
                        <a:rPr lang="en-US" dirty="0"/>
                        <a:t>3</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The color of the</a:t>
                      </a:r>
                      <a:r>
                        <a:rPr lang="en-US" baseline="0" dirty="0"/>
                        <a:t> “XXX” button on screen “ABC” is a bit lighter than the other buttons</a:t>
                      </a:r>
                      <a:endParaRPr lang="en-US" dirty="0"/>
                    </a:p>
                  </a:txBody>
                  <a:tcPr/>
                </a:tc>
                <a:tc>
                  <a:txBody>
                    <a:bodyPr/>
                    <a:lstStyle/>
                    <a:p>
                      <a:r>
                        <a:rPr lang="en-US" dirty="0"/>
                        <a:t>Consistency</a:t>
                      </a:r>
                    </a:p>
                  </a:txBody>
                  <a:tcPr/>
                </a:tc>
                <a:tc>
                  <a:txBody>
                    <a:bodyPr/>
                    <a:lstStyle/>
                    <a:p>
                      <a:r>
                        <a:rPr lang="en-US" dirty="0"/>
                        <a:t>Change the color</a:t>
                      </a:r>
                      <a:r>
                        <a:rPr lang="en-US" baseline="0" dirty="0"/>
                        <a:t> to a bit darker shade</a:t>
                      </a:r>
                      <a:endParaRPr lang="en-US" dirty="0"/>
                    </a:p>
                  </a:txBody>
                  <a:tcPr/>
                </a:tc>
                <a:tc>
                  <a:txBody>
                    <a:bodyPr/>
                    <a:lstStyle/>
                    <a:p>
                      <a:r>
                        <a:rPr lang="en-US" dirty="0"/>
                        <a:t>1</a:t>
                      </a:r>
                    </a:p>
                  </a:txBody>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484394585"/>
              </p:ext>
            </p:extLst>
          </p:nvPr>
        </p:nvGraphicFramePr>
        <p:xfrm>
          <a:off x="304800" y="4495800"/>
          <a:ext cx="8595519" cy="2133602"/>
        </p:xfrm>
        <a:graphic>
          <a:graphicData uri="http://schemas.openxmlformats.org/drawingml/2006/table">
            <a:tbl>
              <a:tblPr firstRow="1" firstCol="1" bandRow="1">
                <a:tableStyleId>{5C22544A-7EE6-4342-B048-85BDC9FD1C3A}</a:tableStyleId>
              </a:tblPr>
              <a:tblGrid>
                <a:gridCol w="894557">
                  <a:extLst>
                    <a:ext uri="{9D8B030D-6E8A-4147-A177-3AD203B41FA5}">
                      <a16:colId xmlns:a16="http://schemas.microsoft.com/office/drawing/2014/main" val="20000"/>
                    </a:ext>
                  </a:extLst>
                </a:gridCol>
                <a:gridCol w="7700962">
                  <a:extLst>
                    <a:ext uri="{9D8B030D-6E8A-4147-A177-3AD203B41FA5}">
                      <a16:colId xmlns:a16="http://schemas.microsoft.com/office/drawing/2014/main" val="20001"/>
                    </a:ext>
                  </a:extLst>
                </a:gridCol>
              </a:tblGrid>
              <a:tr h="307309">
                <a:tc>
                  <a:txBody>
                    <a:bodyPr/>
                    <a:lstStyle/>
                    <a:p>
                      <a:pPr marL="0" marR="0" algn="ctr">
                        <a:spcBef>
                          <a:spcPts val="0"/>
                        </a:spcBef>
                        <a:spcAft>
                          <a:spcPts val="0"/>
                        </a:spcAft>
                        <a:tabLst>
                          <a:tab pos="4088765" algn="l"/>
                        </a:tabLst>
                      </a:pPr>
                      <a:r>
                        <a:rPr lang="en-US" sz="1700" dirty="0">
                          <a:effectLst/>
                        </a:rPr>
                        <a:t>Score</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ctr">
                        <a:spcBef>
                          <a:spcPts val="0"/>
                        </a:spcBef>
                        <a:spcAft>
                          <a:spcPts val="0"/>
                        </a:spcAft>
                        <a:tabLst>
                          <a:tab pos="4088765" algn="l"/>
                        </a:tabLst>
                      </a:pPr>
                      <a:r>
                        <a:rPr lang="en-US" sz="1700">
                          <a:effectLst/>
                        </a:rPr>
                        <a:t>Severity</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0"/>
                  </a:ext>
                </a:extLst>
              </a:tr>
              <a:tr h="307309">
                <a:tc>
                  <a:txBody>
                    <a:bodyPr/>
                    <a:lstStyle/>
                    <a:p>
                      <a:pPr marL="0" marR="0" algn="ctr">
                        <a:spcBef>
                          <a:spcPts val="0"/>
                        </a:spcBef>
                        <a:spcAft>
                          <a:spcPts val="0"/>
                        </a:spcAft>
                        <a:tabLst>
                          <a:tab pos="4088765" algn="l"/>
                        </a:tabLst>
                      </a:pPr>
                      <a:r>
                        <a:rPr lang="en-US" sz="1700">
                          <a:effectLst/>
                        </a:rPr>
                        <a:t>0</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a:effectLst/>
                        </a:rPr>
                        <a:t>I don’t agree that this is a usability problem at all</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1"/>
                  </a:ext>
                </a:extLst>
              </a:tr>
              <a:tr h="597057">
                <a:tc>
                  <a:txBody>
                    <a:bodyPr/>
                    <a:lstStyle/>
                    <a:p>
                      <a:pPr marL="0" marR="0" algn="ctr">
                        <a:spcBef>
                          <a:spcPts val="0"/>
                        </a:spcBef>
                        <a:spcAft>
                          <a:spcPts val="0"/>
                        </a:spcAft>
                        <a:tabLst>
                          <a:tab pos="4088765" algn="l"/>
                        </a:tabLst>
                      </a:pPr>
                      <a:r>
                        <a:rPr lang="en-US" sz="1700">
                          <a:effectLst/>
                        </a:rPr>
                        <a:t>1</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a:effectLst/>
                        </a:rPr>
                        <a:t>Cosmetic problem only: need not be fixed unless extra time is available on project</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2"/>
                  </a:ext>
                </a:extLst>
              </a:tr>
              <a:tr h="307309">
                <a:tc>
                  <a:txBody>
                    <a:bodyPr/>
                    <a:lstStyle/>
                    <a:p>
                      <a:pPr marL="0" marR="0" algn="ctr">
                        <a:spcBef>
                          <a:spcPts val="0"/>
                        </a:spcBef>
                        <a:spcAft>
                          <a:spcPts val="0"/>
                        </a:spcAft>
                        <a:tabLst>
                          <a:tab pos="4088765" algn="l"/>
                        </a:tabLst>
                      </a:pPr>
                      <a:r>
                        <a:rPr lang="en-US" sz="1700">
                          <a:effectLst/>
                        </a:rPr>
                        <a:t>2</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dirty="0">
                          <a:effectLst/>
                        </a:rPr>
                        <a:t>Minor usability problem: fixing this should be given low priority</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3"/>
                  </a:ext>
                </a:extLst>
              </a:tr>
              <a:tr h="307309">
                <a:tc>
                  <a:txBody>
                    <a:bodyPr/>
                    <a:lstStyle/>
                    <a:p>
                      <a:pPr marL="0" marR="0" algn="ctr">
                        <a:spcBef>
                          <a:spcPts val="0"/>
                        </a:spcBef>
                        <a:spcAft>
                          <a:spcPts val="0"/>
                        </a:spcAft>
                        <a:tabLst>
                          <a:tab pos="4088765" algn="l"/>
                        </a:tabLst>
                      </a:pPr>
                      <a:r>
                        <a:rPr lang="en-US" sz="1700">
                          <a:effectLst/>
                        </a:rPr>
                        <a:t>3</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dirty="0">
                          <a:effectLst/>
                        </a:rPr>
                        <a:t>Major usability problem: important to fix, so should be given high priority</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4"/>
                  </a:ext>
                </a:extLst>
              </a:tr>
              <a:tr h="307309">
                <a:tc>
                  <a:txBody>
                    <a:bodyPr/>
                    <a:lstStyle/>
                    <a:p>
                      <a:pPr marL="0" marR="0" algn="ctr">
                        <a:spcBef>
                          <a:spcPts val="0"/>
                        </a:spcBef>
                        <a:spcAft>
                          <a:spcPts val="0"/>
                        </a:spcAft>
                        <a:tabLst>
                          <a:tab pos="4088765" algn="l"/>
                        </a:tabLst>
                      </a:pPr>
                      <a:r>
                        <a:rPr lang="en-US" sz="1700">
                          <a:effectLst/>
                        </a:rPr>
                        <a:t>4</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dirty="0">
                          <a:effectLst/>
                        </a:rPr>
                        <a:t>Usability catastrophe: imperative to fix this before product can be released</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349091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endParaRPr lang="en-US"/>
          </a:p>
        </p:txBody>
      </p:sp>
      <p:sp>
        <p:nvSpPr>
          <p:cNvPr id="4" name="Title 3"/>
          <p:cNvSpPr>
            <a:spLocks noGrp="1"/>
          </p:cNvSpPr>
          <p:nvPr>
            <p:ph type="ctrTitle"/>
          </p:nvPr>
        </p:nvSpPr>
        <p:spPr/>
        <p:txBody>
          <a:bodyPr/>
          <a:lstStyle/>
          <a:p>
            <a:r>
              <a:rPr lang="en-US" dirty="0"/>
              <a:t>Class activity Part 2 </a:t>
            </a:r>
          </a:p>
        </p:txBody>
      </p:sp>
    </p:spTree>
    <p:extLst>
      <p:ext uri="{BB962C8B-B14F-4D97-AF65-F5344CB8AC3E}">
        <p14:creationId xmlns:p14="http://schemas.microsoft.com/office/powerpoint/2010/main" val="416961229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Positive and Negatives  </a:t>
            </a:r>
          </a:p>
        </p:txBody>
      </p:sp>
      <p:pic>
        <p:nvPicPr>
          <p:cNvPr id="4" name="Content Placeholder 3"/>
          <p:cNvPicPr>
            <a:picLocks noGrp="1" noChangeAspect="1"/>
          </p:cNvPicPr>
          <p:nvPr>
            <p:ph sz="quarter" idx="1"/>
          </p:nvPr>
        </p:nvPicPr>
        <p:blipFill>
          <a:blip r:embed="rId2"/>
          <a:stretch>
            <a:fillRect/>
          </a:stretch>
        </p:blipFill>
        <p:spPr>
          <a:xfrm>
            <a:off x="101280" y="1981199"/>
            <a:ext cx="9042720" cy="3115007"/>
          </a:xfrm>
          <a:prstGeom prst="rect">
            <a:avLst/>
          </a:prstGeom>
        </p:spPr>
      </p:pic>
    </p:spTree>
    <p:extLst>
      <p:ext uri="{BB962C8B-B14F-4D97-AF65-F5344CB8AC3E}">
        <p14:creationId xmlns:p14="http://schemas.microsoft.com/office/powerpoint/2010/main" val="344314628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Positive and Negatives  </a:t>
            </a:r>
          </a:p>
        </p:txBody>
      </p:sp>
      <p:pic>
        <p:nvPicPr>
          <p:cNvPr id="3" name="Picture 2"/>
          <p:cNvPicPr>
            <a:picLocks noChangeAspect="1"/>
          </p:cNvPicPr>
          <p:nvPr/>
        </p:nvPicPr>
        <p:blipFill>
          <a:blip r:embed="rId2"/>
          <a:stretch>
            <a:fillRect/>
          </a:stretch>
        </p:blipFill>
        <p:spPr>
          <a:xfrm>
            <a:off x="228600" y="1524000"/>
            <a:ext cx="8682682" cy="5181600"/>
          </a:xfrm>
          <a:prstGeom prst="rect">
            <a:avLst/>
          </a:prstGeom>
        </p:spPr>
      </p:pic>
    </p:spTree>
    <p:extLst>
      <p:ext uri="{BB962C8B-B14F-4D97-AF65-F5344CB8AC3E}">
        <p14:creationId xmlns:p14="http://schemas.microsoft.com/office/powerpoint/2010/main" val="408867175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Positive and Negatives  </a:t>
            </a:r>
          </a:p>
        </p:txBody>
      </p:sp>
      <p:pic>
        <p:nvPicPr>
          <p:cNvPr id="3" name="Picture 2"/>
          <p:cNvPicPr>
            <a:picLocks noChangeAspect="1"/>
          </p:cNvPicPr>
          <p:nvPr/>
        </p:nvPicPr>
        <p:blipFill>
          <a:blip r:embed="rId2"/>
          <a:stretch>
            <a:fillRect/>
          </a:stretch>
        </p:blipFill>
        <p:spPr>
          <a:xfrm>
            <a:off x="152399" y="1905000"/>
            <a:ext cx="8906741" cy="3124200"/>
          </a:xfrm>
          <a:prstGeom prst="rect">
            <a:avLst/>
          </a:prstGeom>
        </p:spPr>
      </p:pic>
    </p:spTree>
    <p:extLst>
      <p:ext uri="{BB962C8B-B14F-4D97-AF65-F5344CB8AC3E}">
        <p14:creationId xmlns:p14="http://schemas.microsoft.com/office/powerpoint/2010/main" val="15222528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Positive and Negatives  </a:t>
            </a:r>
          </a:p>
        </p:txBody>
      </p:sp>
      <p:sp>
        <p:nvSpPr>
          <p:cNvPr id="3" name="Content Placeholder 2"/>
          <p:cNvSpPr>
            <a:spLocks noGrp="1"/>
          </p:cNvSpPr>
          <p:nvPr>
            <p:ph sz="quarter" idx="1"/>
          </p:nvPr>
        </p:nvSpPr>
        <p:spPr/>
        <p:txBody>
          <a:bodyPr/>
          <a:lstStyle/>
          <a:p>
            <a:endParaRPr lang="en-US"/>
          </a:p>
        </p:txBody>
      </p:sp>
      <p:pic>
        <p:nvPicPr>
          <p:cNvPr id="5" name="Picture 4"/>
          <p:cNvPicPr>
            <a:picLocks noChangeAspect="1"/>
          </p:cNvPicPr>
          <p:nvPr/>
        </p:nvPicPr>
        <p:blipFill>
          <a:blip r:embed="rId3"/>
          <a:stretch>
            <a:fillRect/>
          </a:stretch>
        </p:blipFill>
        <p:spPr>
          <a:xfrm>
            <a:off x="172693" y="1388542"/>
            <a:ext cx="8889416" cy="5469458"/>
          </a:xfrm>
          <a:prstGeom prst="rect">
            <a:avLst/>
          </a:prstGeom>
        </p:spPr>
      </p:pic>
    </p:spTree>
    <p:extLst>
      <p:ext uri="{BB962C8B-B14F-4D97-AF65-F5344CB8AC3E}">
        <p14:creationId xmlns:p14="http://schemas.microsoft.com/office/powerpoint/2010/main" val="18953565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Positive and Negatives  </a:t>
            </a:r>
          </a:p>
        </p:txBody>
      </p:sp>
      <p:sp>
        <p:nvSpPr>
          <p:cNvPr id="3" name="Content Placeholder 2"/>
          <p:cNvSpPr>
            <a:spLocks noGrp="1"/>
          </p:cNvSpPr>
          <p:nvPr>
            <p:ph sz="quarter" idx="1"/>
          </p:nvPr>
        </p:nvSpPr>
        <p:spPr/>
        <p:txBody>
          <a:bodyPr/>
          <a:lstStyle/>
          <a:p>
            <a:endParaRPr lang="en-US"/>
          </a:p>
        </p:txBody>
      </p:sp>
      <p:pic>
        <p:nvPicPr>
          <p:cNvPr id="5" name="Picture 4"/>
          <p:cNvPicPr>
            <a:picLocks noChangeAspect="1"/>
          </p:cNvPicPr>
          <p:nvPr/>
        </p:nvPicPr>
        <p:blipFill>
          <a:blip r:embed="rId2"/>
          <a:stretch>
            <a:fillRect/>
          </a:stretch>
        </p:blipFill>
        <p:spPr>
          <a:xfrm>
            <a:off x="914400" y="1407941"/>
            <a:ext cx="6781800" cy="5319554"/>
          </a:xfrm>
          <a:prstGeom prst="rect">
            <a:avLst/>
          </a:prstGeom>
        </p:spPr>
      </p:pic>
    </p:spTree>
    <p:extLst>
      <p:ext uri="{BB962C8B-B14F-4D97-AF65-F5344CB8AC3E}">
        <p14:creationId xmlns:p14="http://schemas.microsoft.com/office/powerpoint/2010/main" val="143138989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sz="quarter" idx="1"/>
          </p:nvPr>
        </p:nvPicPr>
        <p:blipFill>
          <a:blip r:embed="rId2"/>
          <a:stretch>
            <a:fillRect/>
          </a:stretch>
        </p:blipFill>
        <p:spPr>
          <a:xfrm>
            <a:off x="19396" y="457200"/>
            <a:ext cx="8968091" cy="5638800"/>
          </a:xfrm>
          <a:prstGeom prst="rect">
            <a:avLst/>
          </a:prstGeom>
        </p:spPr>
      </p:pic>
    </p:spTree>
    <p:extLst>
      <p:ext uri="{BB962C8B-B14F-4D97-AF65-F5344CB8AC3E}">
        <p14:creationId xmlns:p14="http://schemas.microsoft.com/office/powerpoint/2010/main" val="402976696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sz="quarter" idx="1"/>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8530644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sz="quarter" idx="1"/>
          </p:nvPr>
        </p:nvPicPr>
        <p:blipFill>
          <a:blip r:embed="rId2"/>
          <a:stretch>
            <a:fillRect/>
          </a:stretch>
        </p:blipFill>
        <p:spPr>
          <a:xfrm>
            <a:off x="0" y="152400"/>
            <a:ext cx="8915400" cy="6553200"/>
          </a:xfrm>
          <a:prstGeom prst="rect">
            <a:avLst/>
          </a:prstGeom>
        </p:spPr>
      </p:pic>
    </p:spTree>
    <p:extLst>
      <p:ext uri="{BB962C8B-B14F-4D97-AF65-F5344CB8AC3E}">
        <p14:creationId xmlns:p14="http://schemas.microsoft.com/office/powerpoint/2010/main" val="2682229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5726</TotalTime>
  <Words>3489</Words>
  <Application>Microsoft Office PowerPoint</Application>
  <PresentationFormat>On-screen Show (4:3)</PresentationFormat>
  <Paragraphs>505</Paragraphs>
  <Slides>109</Slides>
  <Notes>31</Notes>
  <HiddenSlides>1</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109</vt:i4>
      </vt:variant>
    </vt:vector>
  </HeadingPairs>
  <TitlesOfParts>
    <vt:vector size="120" baseType="lpstr">
      <vt:lpstr>Arial</vt:lpstr>
      <vt:lpstr>Calibri</vt:lpstr>
      <vt:lpstr>Franklin Gothic Book</vt:lpstr>
      <vt:lpstr>Perpetua</vt:lpstr>
      <vt:lpstr>Times</vt:lpstr>
      <vt:lpstr>Times New Roman</vt:lpstr>
      <vt:lpstr>Wingdings 2</vt:lpstr>
      <vt:lpstr>Equity</vt:lpstr>
      <vt:lpstr>Document</vt:lpstr>
      <vt:lpstr>Clip</vt:lpstr>
      <vt:lpstr>Photo Editor Photo</vt:lpstr>
      <vt:lpstr>Human Computer Interaction   Evaluations – Heuristics     </vt:lpstr>
      <vt:lpstr>Heuristics</vt:lpstr>
      <vt:lpstr>Heuristic Evaluation</vt:lpstr>
      <vt:lpstr>Evaluation Methods</vt:lpstr>
      <vt:lpstr>Heuristic/Expert Inspections</vt:lpstr>
      <vt:lpstr>Heuristic Evaluation Process </vt:lpstr>
      <vt:lpstr>1 – Briefing Session</vt:lpstr>
      <vt:lpstr>2 – Evaluation </vt:lpstr>
      <vt:lpstr>Severity Ratings</vt:lpstr>
      <vt:lpstr>3 – Debriefing Session</vt:lpstr>
      <vt:lpstr>No. of evaluators &amp; problems</vt:lpstr>
      <vt:lpstr>Nielsen’s Ten Heuristics</vt:lpstr>
      <vt:lpstr>Nielsen’s Ten Heuristics</vt:lpstr>
      <vt:lpstr>1. Provide feedback</vt:lpstr>
      <vt:lpstr>1. Provide feedback</vt:lpstr>
      <vt:lpstr>1. Provide feedback</vt:lpstr>
      <vt:lpstr>1. Provide feedback</vt:lpstr>
      <vt:lpstr>1. Provide feedback</vt:lpstr>
      <vt:lpstr>1. Provide feedback</vt:lpstr>
      <vt:lpstr>1. Provide feedback</vt:lpstr>
      <vt:lpstr>1. Provide feedback</vt:lpstr>
      <vt:lpstr>1. Provide feedback</vt:lpstr>
      <vt:lpstr>Nielsen’s Ten Heuristics</vt:lpstr>
      <vt:lpstr>2. Speak the users’ language</vt:lpstr>
      <vt:lpstr>2. Speak the users’ language</vt:lpstr>
      <vt:lpstr>2. Speak the users’ language</vt:lpstr>
      <vt:lpstr>2. Speak the users’ language</vt:lpstr>
      <vt:lpstr>2. Speak the users’ language</vt:lpstr>
      <vt:lpstr>Nielsen’s Ten Heuristics</vt:lpstr>
      <vt:lpstr>3.  Provide clearly marked exits</vt:lpstr>
      <vt:lpstr>3.  Provide clearly marked exits</vt:lpstr>
      <vt:lpstr>3.  Provide clearly marked exits</vt:lpstr>
      <vt:lpstr>3.  Provide clearly marked exits</vt:lpstr>
      <vt:lpstr>3. Provide clearly marked exits</vt:lpstr>
      <vt:lpstr>PowerPoint Presentation</vt:lpstr>
      <vt:lpstr>PowerPoint Presentation</vt:lpstr>
      <vt:lpstr>Nielsen’s Ten Heuristics</vt:lpstr>
      <vt:lpstr>4. Be consistent</vt:lpstr>
      <vt:lpstr>4. Be consistent</vt:lpstr>
      <vt:lpstr>4. Be Consistent</vt:lpstr>
      <vt:lpstr>4. Be Consistent</vt:lpstr>
      <vt:lpstr>4. Be Consistent</vt:lpstr>
      <vt:lpstr>4. Be Consistent</vt:lpstr>
      <vt:lpstr>Nielsen’s Ten Heuristics</vt:lpstr>
      <vt:lpstr>5. Minimize user’s memory load</vt:lpstr>
      <vt:lpstr>5. Minimize user’s memory load</vt:lpstr>
      <vt:lpstr>5. Minimize user’s memory load</vt:lpstr>
      <vt:lpstr>5. Minimize user’s memory load</vt:lpstr>
      <vt:lpstr>5. Minimize user’s memory load</vt:lpstr>
      <vt:lpstr>5. Minimize user’s memory load</vt:lpstr>
      <vt:lpstr>Nielsen’s Ten Heuristics</vt:lpstr>
      <vt:lpstr>Nielsen’s Ten Heuristics</vt:lpstr>
      <vt:lpstr>Example of setting up Exchange on Android which hides the complex features under Advanced.</vt:lpstr>
      <vt:lpstr>6. Provide shortcuts</vt:lpstr>
      <vt:lpstr>6. Provide shortcuts</vt:lpstr>
      <vt:lpstr>PowerPoint Presentation</vt:lpstr>
      <vt:lpstr>Nielsen’s Ten Heuristics</vt:lpstr>
      <vt:lpstr>7. Minimalist Design </vt:lpstr>
      <vt:lpstr>7. Minimalist Design </vt:lpstr>
      <vt:lpstr>7. Minimalist Design </vt:lpstr>
      <vt:lpstr>7. Minimalist Design </vt:lpstr>
      <vt:lpstr>7. Minimalist Design </vt:lpstr>
      <vt:lpstr>Nielsen’s Ten Heuristics</vt:lpstr>
      <vt:lpstr>8. Prevent Errors</vt:lpstr>
      <vt:lpstr>8. Prevent Errors</vt:lpstr>
      <vt:lpstr>8. Prevent Errors</vt:lpstr>
      <vt:lpstr>8. Prevent Errors</vt:lpstr>
      <vt:lpstr>8. Prevent Errors</vt:lpstr>
      <vt:lpstr>8. Prevent Errors</vt:lpstr>
      <vt:lpstr>8. Prevent Errors</vt:lpstr>
      <vt:lpstr>8. Prevent Errors</vt:lpstr>
      <vt:lpstr>Nielsen’s Ten Heuristics</vt:lpstr>
      <vt:lpstr>Help users recognize, diagnose and recover from errors</vt:lpstr>
      <vt:lpstr>9. Deal with errors in a positive manner</vt:lpstr>
      <vt:lpstr>9. Deal with errors in a positive manner</vt:lpstr>
      <vt:lpstr>9. Deal with errors in a positive manner</vt:lpstr>
      <vt:lpstr>9. Deal with errors in a positive manner</vt:lpstr>
      <vt:lpstr>9. Deal with errors in a positive manner</vt:lpstr>
      <vt:lpstr>9. Deal with errors in a positive manner</vt:lpstr>
      <vt:lpstr>9. Deal with errors in a positive manner</vt:lpstr>
      <vt:lpstr>9. Deal with errors in a positive manner</vt:lpstr>
      <vt:lpstr>Nielsen’s Ten Heuristics</vt:lpstr>
      <vt:lpstr>PowerPoint Presentation</vt:lpstr>
      <vt:lpstr>10. Provide help</vt:lpstr>
      <vt:lpstr>10. Provide help</vt:lpstr>
      <vt:lpstr>10. Provide help</vt:lpstr>
      <vt:lpstr>10. Provide help</vt:lpstr>
      <vt:lpstr>10. Provide help</vt:lpstr>
      <vt:lpstr>10. Provide help</vt:lpstr>
      <vt:lpstr>10. Provide help</vt:lpstr>
      <vt:lpstr>PowerPoint Presentation</vt:lpstr>
      <vt:lpstr>10. Types of help</vt:lpstr>
      <vt:lpstr>10. Types of help</vt:lpstr>
      <vt:lpstr>10. Types of help</vt:lpstr>
      <vt:lpstr>10. Types of help</vt:lpstr>
      <vt:lpstr>10. Types of help</vt:lpstr>
      <vt:lpstr>Chunking the Heuristics</vt:lpstr>
      <vt:lpstr>Performing a Heuristic Evaluation</vt:lpstr>
      <vt:lpstr>Performing a Heuristic Evaluation</vt:lpstr>
      <vt:lpstr>Sample spread sheet</vt:lpstr>
      <vt:lpstr>Class activity Part 2 </vt:lpstr>
      <vt:lpstr>1. Positive and Negatives  </vt:lpstr>
      <vt:lpstr>2. Positive and Negatives  </vt:lpstr>
      <vt:lpstr>3. Positive and Negatives  </vt:lpstr>
      <vt:lpstr>4. Positive and Negatives  </vt:lpstr>
      <vt:lpstr>5. Positive and Negatives  </vt:lpstr>
      <vt:lpstr>PowerPoint Presentation</vt:lpstr>
      <vt:lpstr>PowerPoint Presentation</vt:lpstr>
      <vt:lpstr>PowerPoint Presentation</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Sonia</dc:creator>
  <cp:lastModifiedBy>Sadaf Baloch</cp:lastModifiedBy>
  <cp:revision>704</cp:revision>
  <dcterms:created xsi:type="dcterms:W3CDTF">2010-02-07T17:56:13Z</dcterms:created>
  <dcterms:modified xsi:type="dcterms:W3CDTF">2021-10-15T05:36:14Z</dcterms:modified>
</cp:coreProperties>
</file>