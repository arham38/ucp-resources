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52"/>
  </p:notesMasterIdLst>
  <p:sldIdLst>
    <p:sldId id="404" r:id="rId2"/>
    <p:sldId id="448" r:id="rId3"/>
    <p:sldId id="456" r:id="rId4"/>
    <p:sldId id="457" r:id="rId5"/>
    <p:sldId id="458" r:id="rId6"/>
    <p:sldId id="449" r:id="rId7"/>
    <p:sldId id="406" r:id="rId8"/>
    <p:sldId id="410" r:id="rId9"/>
    <p:sldId id="408" r:id="rId10"/>
    <p:sldId id="411" r:id="rId11"/>
    <p:sldId id="450" r:id="rId12"/>
    <p:sldId id="459" r:id="rId13"/>
    <p:sldId id="451" r:id="rId14"/>
    <p:sldId id="460" r:id="rId15"/>
    <p:sldId id="452" r:id="rId16"/>
    <p:sldId id="453" r:id="rId17"/>
    <p:sldId id="454" r:id="rId18"/>
    <p:sldId id="455" r:id="rId19"/>
    <p:sldId id="461" r:id="rId20"/>
    <p:sldId id="439" r:id="rId21"/>
    <p:sldId id="440" r:id="rId22"/>
    <p:sldId id="442" r:id="rId23"/>
    <p:sldId id="447" r:id="rId24"/>
    <p:sldId id="412" r:id="rId25"/>
    <p:sldId id="413" r:id="rId26"/>
    <p:sldId id="414" r:id="rId27"/>
    <p:sldId id="415" r:id="rId28"/>
    <p:sldId id="416" r:id="rId29"/>
    <p:sldId id="417" r:id="rId30"/>
    <p:sldId id="418" r:id="rId31"/>
    <p:sldId id="419" r:id="rId32"/>
    <p:sldId id="420" r:id="rId33"/>
    <p:sldId id="421" r:id="rId34"/>
    <p:sldId id="422" r:id="rId35"/>
    <p:sldId id="423" r:id="rId36"/>
    <p:sldId id="424" r:id="rId37"/>
    <p:sldId id="425" r:id="rId38"/>
    <p:sldId id="426" r:id="rId39"/>
    <p:sldId id="427" r:id="rId40"/>
    <p:sldId id="428" r:id="rId41"/>
    <p:sldId id="429" r:id="rId42"/>
    <p:sldId id="430" r:id="rId43"/>
    <p:sldId id="431" r:id="rId44"/>
    <p:sldId id="432" r:id="rId45"/>
    <p:sldId id="433" r:id="rId46"/>
    <p:sldId id="434" r:id="rId47"/>
    <p:sldId id="435" r:id="rId48"/>
    <p:sldId id="436" r:id="rId49"/>
    <p:sldId id="437" r:id="rId50"/>
    <p:sldId id="438"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72" autoAdjust="0"/>
    <p:restoredTop sz="60682" autoAdjust="0"/>
  </p:normalViewPr>
  <p:slideViewPr>
    <p:cSldViewPr>
      <p:cViewPr varScale="1">
        <p:scale>
          <a:sx n="43" d="100"/>
          <a:sy n="43" d="100"/>
        </p:scale>
        <p:origin x="2286" y="60"/>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pPr/>
              <a:t>1/28/2021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pPr/>
              <a:t>‹#›</a:t>
            </a:fld>
            <a:endParaRPr lang="en-US"/>
          </a:p>
        </p:txBody>
      </p:sp>
    </p:spTree>
    <p:extLst>
      <p:ext uri="{BB962C8B-B14F-4D97-AF65-F5344CB8AC3E}">
        <p14:creationId xmlns:p14="http://schemas.microsoft.com/office/powerpoint/2010/main" val="171217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inf.ed.ac.uk/teaching/courses/hci/1718/lects/Lecture08_cognitive_walkthrough.pdf"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2.cs.sfu.ca/CourseCentral/363/inkpen/lecture_notes/363_lecture7.pdf"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E35D07-CE9A-41EA-8351-FED4C60B3E9A}" type="slidenum">
              <a:rPr lang="en-US" smtClean="0"/>
              <a:pPr/>
              <a:t>10</a:t>
            </a:fld>
            <a:endParaRPr lang="en-US"/>
          </a:p>
        </p:txBody>
      </p:sp>
    </p:spTree>
    <p:extLst>
      <p:ext uri="{BB962C8B-B14F-4D97-AF65-F5344CB8AC3E}">
        <p14:creationId xmlns:p14="http://schemas.microsoft.com/office/powerpoint/2010/main" val="3999420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https://www.userfocus.co.uk/articles/cogwalk.html</a:t>
            </a:r>
          </a:p>
        </p:txBody>
      </p:sp>
      <p:sp>
        <p:nvSpPr>
          <p:cNvPr id="4" name="Slide Number Placeholder 3"/>
          <p:cNvSpPr>
            <a:spLocks noGrp="1"/>
          </p:cNvSpPr>
          <p:nvPr>
            <p:ph type="sldNum" sz="quarter" idx="5"/>
          </p:nvPr>
        </p:nvSpPr>
        <p:spPr/>
        <p:txBody>
          <a:bodyPr/>
          <a:lstStyle/>
          <a:p>
            <a:fld id="{A5E35D07-CE9A-41EA-8351-FED4C60B3E9A}" type="slidenum">
              <a:rPr lang="en-US" smtClean="0"/>
              <a:pPr/>
              <a:t>11</a:t>
            </a:fld>
            <a:endParaRPr lang="en-US"/>
          </a:p>
        </p:txBody>
      </p:sp>
    </p:spTree>
    <p:extLst>
      <p:ext uri="{BB962C8B-B14F-4D97-AF65-F5344CB8AC3E}">
        <p14:creationId xmlns:p14="http://schemas.microsoft.com/office/powerpoint/2010/main" val="1300446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 = user action,</a:t>
            </a:r>
            <a:r>
              <a:rPr lang="en-US" baseline="0" dirty="0"/>
              <a:t> SD = system display (response) </a:t>
            </a:r>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pPr/>
              <a:t>21</a:t>
            </a:fld>
            <a:endParaRPr lang="en-US"/>
          </a:p>
        </p:txBody>
      </p:sp>
    </p:spTree>
    <p:extLst>
      <p:ext uri="{BB962C8B-B14F-4D97-AF65-F5344CB8AC3E}">
        <p14:creationId xmlns:p14="http://schemas.microsoft.com/office/powerpoint/2010/main" val="1556394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https://www.inf.ed.ac.uk/teaching/courses/hci/1718/lects/Lecture08_cognitive_walkthrough.pdf</a:t>
            </a:r>
            <a:endParaRPr lang="en-US" dirty="0"/>
          </a:p>
          <a:p>
            <a:pPr marL="228600" indent="-228600">
              <a:buAutoNum type="arabicPeriod"/>
            </a:pPr>
            <a:r>
              <a:rPr lang="en-US"/>
              <a:t>Will users want to produce whatever effect the action has?</a:t>
            </a:r>
          </a:p>
          <a:p>
            <a:pPr marL="228600" indent="-228600">
              <a:buAutoNum type="arabicPeriod"/>
            </a:pPr>
            <a:r>
              <a:rPr lang="en-US" dirty="0"/>
              <a:t>Will users see the control (button, menu, label, etc.) for the action? </a:t>
            </a:r>
          </a:p>
          <a:p>
            <a:pPr marL="228600" indent="-228600">
              <a:buAutoNum type="arabicPeriod"/>
            </a:pPr>
            <a:r>
              <a:rPr lang="en-US" dirty="0"/>
              <a:t>Once users find the control, will they recognize that it will produce the effect they want?</a:t>
            </a:r>
          </a:p>
          <a:p>
            <a:pPr marL="228600" indent="-228600">
              <a:buAutoNum type="arabicPeriod" startAt="4"/>
            </a:pPr>
            <a:r>
              <a:rPr lang="en-US" dirty="0"/>
              <a:t>After the action is taken, will users understand the feedback they get, so they can confidently continue on to the next action?</a:t>
            </a:r>
          </a:p>
          <a:p>
            <a:pPr marL="228600" indent="-228600">
              <a:buAutoNum type="arabicPeriod" startAt="4"/>
            </a:pPr>
            <a:endParaRPr lang="en-US" dirty="0"/>
          </a:p>
          <a:p>
            <a:pPr marL="0" indent="0">
              <a:buNone/>
            </a:pPr>
            <a:r>
              <a:rPr lang="en-US" dirty="0">
                <a:hlinkClick r:id="rId4"/>
              </a:rPr>
              <a:t>https://www2.cs.sfu.ca/CourseCentral/363/inkpen/lecture_notes/363_lecture7.pdf</a:t>
            </a:r>
            <a:endParaRPr lang="en-US" dirty="0"/>
          </a:p>
          <a:p>
            <a:pPr marL="228600" indent="-228600">
              <a:buAutoNum type="arabicPeriod"/>
            </a:pPr>
            <a:r>
              <a:rPr lang="en-US" dirty="0"/>
              <a:t>Are users thinking what the designers assume they will be thinking?</a:t>
            </a:r>
          </a:p>
          <a:p>
            <a:pPr marL="228600" indent="-228600">
              <a:buAutoNum type="arabicPeriod"/>
            </a:pPr>
            <a:r>
              <a:rPr lang="en-US" dirty="0"/>
              <a:t>Can users see the control (button, menu, switch, etc.) for the action?</a:t>
            </a:r>
          </a:p>
          <a:p>
            <a:pPr marL="228600" indent="-228600">
              <a:buAutoNum type="arabicPeriod"/>
            </a:pPr>
            <a:r>
              <a:rPr lang="en-US" dirty="0"/>
              <a:t>Once users find the control, can they recognize that it produces the effect they want?</a:t>
            </a:r>
          </a:p>
          <a:p>
            <a:pPr marL="228600" indent="-228600">
              <a:buAutoNum type="arabicPeriod"/>
            </a:pPr>
            <a:r>
              <a:rPr lang="en-US" dirty="0"/>
              <a:t>After the action is taken, will users understand the feedback they get, so they can go on to the next action with confidence?</a:t>
            </a:r>
          </a:p>
        </p:txBody>
      </p:sp>
      <p:sp>
        <p:nvSpPr>
          <p:cNvPr id="4" name="Slide Number Placeholder 3"/>
          <p:cNvSpPr>
            <a:spLocks noGrp="1"/>
          </p:cNvSpPr>
          <p:nvPr>
            <p:ph type="sldNum" sz="quarter" idx="10"/>
          </p:nvPr>
        </p:nvSpPr>
        <p:spPr/>
        <p:txBody>
          <a:bodyPr/>
          <a:lstStyle/>
          <a:p>
            <a:fld id="{A5E35D07-CE9A-41EA-8351-FED4C60B3E9A}" type="slidenum">
              <a:rPr lang="en-US" smtClean="0"/>
              <a:pPr/>
              <a:t>22</a:t>
            </a:fld>
            <a:endParaRPr lang="en-US"/>
          </a:p>
        </p:txBody>
      </p:sp>
    </p:spTree>
    <p:extLst>
      <p:ext uri="{BB962C8B-B14F-4D97-AF65-F5344CB8AC3E}">
        <p14:creationId xmlns:p14="http://schemas.microsoft.com/office/powerpoint/2010/main" val="867871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E35D07-CE9A-41EA-8351-FED4C60B3E9A}" type="slidenum">
              <a:rPr lang="en-US" smtClean="0"/>
              <a:pPr/>
              <a:t>23</a:t>
            </a:fld>
            <a:endParaRPr lang="en-US"/>
          </a:p>
        </p:txBody>
      </p:sp>
    </p:spTree>
    <p:extLst>
      <p:ext uri="{BB962C8B-B14F-4D97-AF65-F5344CB8AC3E}">
        <p14:creationId xmlns:p14="http://schemas.microsoft.com/office/powerpoint/2010/main" val="3558564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85E412-CFB2-4CF1-8073-FC24C03A5017}" type="slidenum">
              <a:rPr lang="en-CA"/>
              <a:pPr/>
              <a:t>24</a:t>
            </a:fld>
            <a:endParaRPr lang="en-CA"/>
          </a:p>
        </p:txBody>
      </p:sp>
      <p:sp>
        <p:nvSpPr>
          <p:cNvPr id="1386498" name="Rectangle 2"/>
          <p:cNvSpPr>
            <a:spLocks noGrp="1" noRot="1" noChangeAspect="1" noChangeArrowheads="1" noTextEdit="1"/>
          </p:cNvSpPr>
          <p:nvPr>
            <p:ph type="sldImg"/>
          </p:nvPr>
        </p:nvSpPr>
        <p:spPr>
          <a:ln/>
        </p:spPr>
      </p:sp>
      <p:sp>
        <p:nvSpPr>
          <p:cNvPr id="138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58147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502AD3-11FB-41C2-9C1D-9A7986BBD390}" type="slidenum">
              <a:rPr lang="en-CA"/>
              <a:pPr/>
              <a:t>25</a:t>
            </a:fld>
            <a:endParaRPr lang="en-CA"/>
          </a:p>
        </p:txBody>
      </p:sp>
      <p:sp>
        <p:nvSpPr>
          <p:cNvPr id="1388546" name="Rectangle 2"/>
          <p:cNvSpPr>
            <a:spLocks noGrp="1" noRot="1" noChangeAspect="1" noChangeArrowheads="1" noTextEdit="1"/>
          </p:cNvSpPr>
          <p:nvPr>
            <p:ph type="sldImg"/>
          </p:nvPr>
        </p:nvSpPr>
        <p:spPr>
          <a:ln/>
        </p:spPr>
      </p:sp>
      <p:sp>
        <p:nvSpPr>
          <p:cNvPr id="138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7077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4602C1-CA19-4083-AE37-52237C4331D6}" type="slidenum">
              <a:rPr lang="en-CA"/>
              <a:pPr/>
              <a:t>26</a:t>
            </a:fld>
            <a:endParaRPr lang="en-CA"/>
          </a:p>
        </p:txBody>
      </p:sp>
      <p:sp>
        <p:nvSpPr>
          <p:cNvPr id="1390594" name="Rectangle 2"/>
          <p:cNvSpPr>
            <a:spLocks noGrp="1" noRot="1" noChangeAspect="1" noChangeArrowheads="1" noTextEdit="1"/>
          </p:cNvSpPr>
          <p:nvPr>
            <p:ph type="sldImg"/>
          </p:nvPr>
        </p:nvSpPr>
        <p:spPr>
          <a:ln/>
        </p:spPr>
      </p:sp>
      <p:sp>
        <p:nvSpPr>
          <p:cNvPr id="139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0741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F81A8-518A-4D9E-906D-14F828C2B520}" type="slidenum">
              <a:rPr lang="en-CA"/>
              <a:pPr/>
              <a:t>27</a:t>
            </a:fld>
            <a:endParaRPr lang="en-CA"/>
          </a:p>
        </p:txBody>
      </p:sp>
      <p:sp>
        <p:nvSpPr>
          <p:cNvPr id="1392642" name="Rectangle 2"/>
          <p:cNvSpPr>
            <a:spLocks noGrp="1" noRot="1" noChangeAspect="1" noChangeArrowheads="1" noTextEdit="1"/>
          </p:cNvSpPr>
          <p:nvPr>
            <p:ph type="sldImg"/>
          </p:nvPr>
        </p:nvSpPr>
        <p:spPr>
          <a:ln/>
        </p:spPr>
      </p:sp>
      <p:sp>
        <p:nvSpPr>
          <p:cNvPr id="1392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9681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072C4-E1A2-462B-A1BB-87AD93334068}" type="slidenum">
              <a:rPr lang="en-CA"/>
              <a:pPr/>
              <a:t>28</a:t>
            </a:fld>
            <a:endParaRPr lang="en-CA"/>
          </a:p>
        </p:txBody>
      </p:sp>
      <p:sp>
        <p:nvSpPr>
          <p:cNvPr id="1394690" name="Rectangle 2"/>
          <p:cNvSpPr>
            <a:spLocks noGrp="1" noRot="1" noChangeAspect="1" noChangeArrowheads="1" noTextEdit="1"/>
          </p:cNvSpPr>
          <p:nvPr>
            <p:ph type="sldImg"/>
          </p:nvPr>
        </p:nvSpPr>
        <p:spPr>
          <a:ln/>
        </p:spPr>
      </p:sp>
      <p:sp>
        <p:nvSpPr>
          <p:cNvPr id="13946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3729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EC195D-4EDD-45D5-9EA7-D3E80AF39A6E}" type="slidenum">
              <a:rPr lang="en-CA"/>
              <a:pPr/>
              <a:t>29</a:t>
            </a:fld>
            <a:endParaRPr lang="en-CA"/>
          </a:p>
        </p:txBody>
      </p:sp>
      <p:sp>
        <p:nvSpPr>
          <p:cNvPr id="1396738" name="Rectangle 2"/>
          <p:cNvSpPr>
            <a:spLocks noGrp="1" noRot="1" noChangeAspect="1" noChangeArrowheads="1" noTextEdit="1"/>
          </p:cNvSpPr>
          <p:nvPr>
            <p:ph type="sldImg"/>
          </p:nvPr>
        </p:nvSpPr>
        <p:spPr>
          <a:ln/>
        </p:spPr>
      </p:sp>
      <p:sp>
        <p:nvSpPr>
          <p:cNvPr id="1396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24613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37B929-BD66-44E5-B277-75179D645806}" type="slidenum">
              <a:rPr lang="en-CA"/>
              <a:pPr/>
              <a:t>30</a:t>
            </a:fld>
            <a:endParaRPr lang="en-CA"/>
          </a:p>
        </p:txBody>
      </p:sp>
      <p:sp>
        <p:nvSpPr>
          <p:cNvPr id="1398786" name="Rectangle 2"/>
          <p:cNvSpPr>
            <a:spLocks noGrp="1" noRot="1" noChangeAspect="1" noChangeArrowheads="1" noTextEdit="1"/>
          </p:cNvSpPr>
          <p:nvPr>
            <p:ph type="sldImg"/>
          </p:nvPr>
        </p:nvSpPr>
        <p:spPr>
          <a:ln/>
        </p:spPr>
      </p:sp>
      <p:sp>
        <p:nvSpPr>
          <p:cNvPr id="1398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9088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184094-94A8-4326-841B-D26426D69446}" type="slidenum">
              <a:rPr lang="en-CA"/>
              <a:pPr/>
              <a:t>31</a:t>
            </a:fld>
            <a:endParaRPr lang="en-CA"/>
          </a:p>
        </p:txBody>
      </p:sp>
      <p:sp>
        <p:nvSpPr>
          <p:cNvPr id="1400834" name="Rectangle 2"/>
          <p:cNvSpPr>
            <a:spLocks noGrp="1" noRot="1" noChangeAspect="1" noChangeArrowheads="1" noTextEdit="1"/>
          </p:cNvSpPr>
          <p:nvPr>
            <p:ph type="sldImg"/>
          </p:nvPr>
        </p:nvSpPr>
        <p:spPr>
          <a:ln/>
        </p:spPr>
      </p:sp>
      <p:sp>
        <p:nvSpPr>
          <p:cNvPr id="1400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53440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0BAB54-7BE0-4C07-A387-04DE7683C4EF}" type="slidenum">
              <a:rPr lang="en-CA"/>
              <a:pPr/>
              <a:t>32</a:t>
            </a:fld>
            <a:endParaRPr lang="en-CA"/>
          </a:p>
        </p:txBody>
      </p:sp>
      <p:sp>
        <p:nvSpPr>
          <p:cNvPr id="1402882" name="Rectangle 2"/>
          <p:cNvSpPr>
            <a:spLocks noGrp="1" noRot="1" noChangeAspect="1" noChangeArrowheads="1" noTextEdit="1"/>
          </p:cNvSpPr>
          <p:nvPr>
            <p:ph type="sldImg"/>
          </p:nvPr>
        </p:nvSpPr>
        <p:spPr>
          <a:ln/>
        </p:spPr>
      </p:sp>
      <p:sp>
        <p:nvSpPr>
          <p:cNvPr id="1402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96641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1B1459-89FC-4A89-8C1B-FD56D7B508B5}" type="slidenum">
              <a:rPr lang="en-CA"/>
              <a:pPr/>
              <a:t>33</a:t>
            </a:fld>
            <a:endParaRPr lang="en-CA"/>
          </a:p>
        </p:txBody>
      </p:sp>
      <p:sp>
        <p:nvSpPr>
          <p:cNvPr id="1404930" name="Rectangle 2"/>
          <p:cNvSpPr>
            <a:spLocks noGrp="1" noRot="1" noChangeAspect="1" noChangeArrowheads="1" noTextEdit="1"/>
          </p:cNvSpPr>
          <p:nvPr>
            <p:ph type="sldImg"/>
          </p:nvPr>
        </p:nvSpPr>
        <p:spPr>
          <a:ln/>
        </p:spPr>
      </p:sp>
      <p:sp>
        <p:nvSpPr>
          <p:cNvPr id="1404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71814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C04C7C-490A-4A57-8AD2-E299E65A9785}" type="slidenum">
              <a:rPr lang="en-CA"/>
              <a:pPr/>
              <a:t>34</a:t>
            </a:fld>
            <a:endParaRPr lang="en-CA"/>
          </a:p>
        </p:txBody>
      </p:sp>
      <p:sp>
        <p:nvSpPr>
          <p:cNvPr id="1406978" name="Rectangle 2"/>
          <p:cNvSpPr>
            <a:spLocks noGrp="1" noRot="1" noChangeAspect="1" noChangeArrowheads="1" noTextEdit="1"/>
          </p:cNvSpPr>
          <p:nvPr>
            <p:ph type="sldImg"/>
          </p:nvPr>
        </p:nvSpPr>
        <p:spPr>
          <a:ln/>
        </p:spPr>
      </p:sp>
      <p:sp>
        <p:nvSpPr>
          <p:cNvPr id="14069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8678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20D39B-4DC8-44BB-BEBB-8482580FAAA0}" type="slidenum">
              <a:rPr lang="en-CA"/>
              <a:pPr/>
              <a:t>35</a:t>
            </a:fld>
            <a:endParaRPr lang="en-CA"/>
          </a:p>
        </p:txBody>
      </p:sp>
      <p:sp>
        <p:nvSpPr>
          <p:cNvPr id="1409026" name="Rectangle 2"/>
          <p:cNvSpPr>
            <a:spLocks noGrp="1" noRot="1" noChangeAspect="1" noChangeArrowheads="1" noTextEdit="1"/>
          </p:cNvSpPr>
          <p:nvPr>
            <p:ph type="sldImg"/>
          </p:nvPr>
        </p:nvSpPr>
        <p:spPr>
          <a:ln/>
        </p:spPr>
      </p:sp>
      <p:sp>
        <p:nvSpPr>
          <p:cNvPr id="140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2015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0E6F1A-0506-4E4F-A046-98F1BBCD080E}" type="slidenum">
              <a:rPr lang="en-CA"/>
              <a:pPr/>
              <a:t>36</a:t>
            </a:fld>
            <a:endParaRPr lang="en-CA"/>
          </a:p>
        </p:txBody>
      </p:sp>
      <p:sp>
        <p:nvSpPr>
          <p:cNvPr id="1411074" name="Rectangle 2"/>
          <p:cNvSpPr>
            <a:spLocks noGrp="1" noRot="1" noChangeAspect="1" noChangeArrowheads="1" noTextEdit="1"/>
          </p:cNvSpPr>
          <p:nvPr>
            <p:ph type="sldImg"/>
          </p:nvPr>
        </p:nvSpPr>
        <p:spPr>
          <a:ln/>
        </p:spPr>
      </p:sp>
      <p:sp>
        <p:nvSpPr>
          <p:cNvPr id="14110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66393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F487F8-58FA-4A77-B472-3AFBB8CA9825}" type="slidenum">
              <a:rPr lang="en-CA"/>
              <a:pPr/>
              <a:t>37</a:t>
            </a:fld>
            <a:endParaRPr lang="en-CA"/>
          </a:p>
        </p:txBody>
      </p:sp>
      <p:sp>
        <p:nvSpPr>
          <p:cNvPr id="1413122" name="Rectangle 2"/>
          <p:cNvSpPr>
            <a:spLocks noGrp="1" noRot="1" noChangeAspect="1" noChangeArrowheads="1" noTextEdit="1"/>
          </p:cNvSpPr>
          <p:nvPr>
            <p:ph type="sldImg"/>
          </p:nvPr>
        </p:nvSpPr>
        <p:spPr>
          <a:ln/>
        </p:spPr>
      </p:sp>
      <p:sp>
        <p:nvSpPr>
          <p:cNvPr id="14131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513439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02DCAC-A2C8-426D-9BCD-655649726A7C}" type="slidenum">
              <a:rPr lang="en-CA"/>
              <a:pPr/>
              <a:t>38</a:t>
            </a:fld>
            <a:endParaRPr lang="en-CA"/>
          </a:p>
        </p:txBody>
      </p:sp>
      <p:sp>
        <p:nvSpPr>
          <p:cNvPr id="1415170" name="Rectangle 2"/>
          <p:cNvSpPr>
            <a:spLocks noGrp="1" noRot="1" noChangeAspect="1" noChangeArrowheads="1" noTextEdit="1"/>
          </p:cNvSpPr>
          <p:nvPr>
            <p:ph type="sldImg"/>
          </p:nvPr>
        </p:nvSpPr>
        <p:spPr>
          <a:ln/>
        </p:spPr>
      </p:sp>
      <p:sp>
        <p:nvSpPr>
          <p:cNvPr id="14151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60347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1580F9-04CE-470A-83F3-04BC6D7BA0BF}" type="slidenum">
              <a:rPr lang="en-CA"/>
              <a:pPr/>
              <a:t>39</a:t>
            </a:fld>
            <a:endParaRPr lang="en-CA"/>
          </a:p>
        </p:txBody>
      </p:sp>
      <p:sp>
        <p:nvSpPr>
          <p:cNvPr id="1417218" name="Rectangle 2"/>
          <p:cNvSpPr>
            <a:spLocks noGrp="1" noRot="1" noChangeAspect="1" noChangeArrowheads="1" noTextEdit="1"/>
          </p:cNvSpPr>
          <p:nvPr>
            <p:ph type="sldImg"/>
          </p:nvPr>
        </p:nvSpPr>
        <p:spPr>
          <a:ln/>
        </p:spPr>
      </p:sp>
      <p:sp>
        <p:nvSpPr>
          <p:cNvPr id="14172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41416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CAEDF1-6078-4EE9-8582-415D8D3C88E8}" type="slidenum">
              <a:rPr lang="en-CA"/>
              <a:pPr/>
              <a:t>40</a:t>
            </a:fld>
            <a:endParaRPr lang="en-CA"/>
          </a:p>
        </p:txBody>
      </p:sp>
      <p:sp>
        <p:nvSpPr>
          <p:cNvPr id="1419266" name="Rectangle 2"/>
          <p:cNvSpPr>
            <a:spLocks noGrp="1" noRot="1" noChangeAspect="1" noChangeArrowheads="1" noTextEdit="1"/>
          </p:cNvSpPr>
          <p:nvPr>
            <p:ph type="sldImg"/>
          </p:nvPr>
        </p:nvSpPr>
        <p:spPr>
          <a:ln/>
        </p:spPr>
      </p:sp>
      <p:sp>
        <p:nvSpPr>
          <p:cNvPr id="1419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43103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56804D-6840-4B0C-A155-1C3583851AB5}" type="slidenum">
              <a:rPr lang="en-CA"/>
              <a:pPr/>
              <a:t>41</a:t>
            </a:fld>
            <a:endParaRPr lang="en-CA"/>
          </a:p>
        </p:txBody>
      </p:sp>
      <p:sp>
        <p:nvSpPr>
          <p:cNvPr id="1421314" name="Rectangle 2"/>
          <p:cNvSpPr>
            <a:spLocks noGrp="1" noRot="1" noChangeAspect="1" noChangeArrowheads="1" noTextEdit="1"/>
          </p:cNvSpPr>
          <p:nvPr>
            <p:ph type="sldImg"/>
          </p:nvPr>
        </p:nvSpPr>
        <p:spPr>
          <a:ln/>
        </p:spPr>
      </p:sp>
      <p:sp>
        <p:nvSpPr>
          <p:cNvPr id="14213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81865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93FAFD-779A-48E5-B624-8ABF5B053825}" type="slidenum">
              <a:rPr lang="en-CA"/>
              <a:pPr/>
              <a:t>42</a:t>
            </a:fld>
            <a:endParaRPr lang="en-CA"/>
          </a:p>
        </p:txBody>
      </p:sp>
      <p:sp>
        <p:nvSpPr>
          <p:cNvPr id="1423362" name="Rectangle 2"/>
          <p:cNvSpPr>
            <a:spLocks noGrp="1" noRot="1" noChangeAspect="1" noChangeArrowheads="1" noTextEdit="1"/>
          </p:cNvSpPr>
          <p:nvPr>
            <p:ph type="sldImg"/>
          </p:nvPr>
        </p:nvSpPr>
        <p:spPr>
          <a:ln/>
        </p:spPr>
      </p:sp>
      <p:sp>
        <p:nvSpPr>
          <p:cNvPr id="1423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742863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2659B2-241F-4F7D-9312-1DDB93A65065}" type="slidenum">
              <a:rPr lang="en-CA"/>
              <a:pPr/>
              <a:t>43</a:t>
            </a:fld>
            <a:endParaRPr lang="en-CA"/>
          </a:p>
        </p:txBody>
      </p:sp>
      <p:sp>
        <p:nvSpPr>
          <p:cNvPr id="1425410" name="Rectangle 2"/>
          <p:cNvSpPr>
            <a:spLocks noGrp="1" noRot="1" noChangeAspect="1" noChangeArrowheads="1" noTextEdit="1"/>
          </p:cNvSpPr>
          <p:nvPr>
            <p:ph type="sldImg"/>
          </p:nvPr>
        </p:nvSpPr>
        <p:spPr>
          <a:ln/>
        </p:spPr>
      </p:sp>
      <p:sp>
        <p:nvSpPr>
          <p:cNvPr id="1425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453341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197A97-6E18-4DC9-8B04-A4D604DED2C8}" type="slidenum">
              <a:rPr lang="en-CA"/>
              <a:pPr/>
              <a:t>44</a:t>
            </a:fld>
            <a:endParaRPr lang="en-CA"/>
          </a:p>
        </p:txBody>
      </p:sp>
      <p:sp>
        <p:nvSpPr>
          <p:cNvPr id="1427458" name="Rectangle 2"/>
          <p:cNvSpPr>
            <a:spLocks noGrp="1" noRot="1" noChangeAspect="1" noChangeArrowheads="1" noTextEdit="1"/>
          </p:cNvSpPr>
          <p:nvPr>
            <p:ph type="sldImg"/>
          </p:nvPr>
        </p:nvSpPr>
        <p:spPr>
          <a:ln/>
        </p:spPr>
      </p:sp>
      <p:sp>
        <p:nvSpPr>
          <p:cNvPr id="142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96546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AF7002-D3E5-43EE-9CA0-F538C137E435}" type="slidenum">
              <a:rPr lang="en-CA"/>
              <a:pPr/>
              <a:t>45</a:t>
            </a:fld>
            <a:endParaRPr lang="en-CA"/>
          </a:p>
        </p:txBody>
      </p:sp>
      <p:sp>
        <p:nvSpPr>
          <p:cNvPr id="1429506" name="Rectangle 2"/>
          <p:cNvSpPr>
            <a:spLocks noGrp="1" noRot="1" noChangeAspect="1" noChangeArrowheads="1" noTextEdit="1"/>
          </p:cNvSpPr>
          <p:nvPr>
            <p:ph type="sldImg"/>
          </p:nvPr>
        </p:nvSpPr>
        <p:spPr>
          <a:ln/>
        </p:spPr>
      </p:sp>
      <p:sp>
        <p:nvSpPr>
          <p:cNvPr id="1429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251093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2BBC61-6F20-4DD6-A693-5F245499A813}" type="slidenum">
              <a:rPr lang="en-CA"/>
              <a:pPr/>
              <a:t>46</a:t>
            </a:fld>
            <a:endParaRPr lang="en-CA"/>
          </a:p>
        </p:txBody>
      </p:sp>
      <p:sp>
        <p:nvSpPr>
          <p:cNvPr id="1431554" name="Rectangle 2"/>
          <p:cNvSpPr>
            <a:spLocks noGrp="1" noRot="1" noChangeAspect="1" noChangeArrowheads="1" noTextEdit="1"/>
          </p:cNvSpPr>
          <p:nvPr>
            <p:ph type="sldImg"/>
          </p:nvPr>
        </p:nvSpPr>
        <p:spPr>
          <a:ln/>
        </p:spPr>
      </p:sp>
      <p:sp>
        <p:nvSpPr>
          <p:cNvPr id="1431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4710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78D122-C6E9-44E4-967C-6FE693EC62C4}" type="slidenum">
              <a:rPr lang="en-CA"/>
              <a:pPr/>
              <a:t>47</a:t>
            </a:fld>
            <a:endParaRPr lang="en-CA"/>
          </a:p>
        </p:txBody>
      </p:sp>
      <p:sp>
        <p:nvSpPr>
          <p:cNvPr id="1433602" name="Rectangle 2"/>
          <p:cNvSpPr>
            <a:spLocks noGrp="1" noRot="1" noChangeAspect="1" noChangeArrowheads="1" noTextEdit="1"/>
          </p:cNvSpPr>
          <p:nvPr>
            <p:ph type="sldImg"/>
          </p:nvPr>
        </p:nvSpPr>
        <p:spPr>
          <a:ln/>
        </p:spPr>
      </p:sp>
      <p:sp>
        <p:nvSpPr>
          <p:cNvPr id="14336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7517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17D13F-640A-400D-AFFC-ACBE149C5464}" type="slidenum">
              <a:rPr lang="en-CA"/>
              <a:pPr/>
              <a:t>48</a:t>
            </a:fld>
            <a:endParaRPr lang="en-CA"/>
          </a:p>
        </p:txBody>
      </p:sp>
      <p:sp>
        <p:nvSpPr>
          <p:cNvPr id="1435650" name="Rectangle 2"/>
          <p:cNvSpPr>
            <a:spLocks noGrp="1" noRot="1" noChangeAspect="1" noChangeArrowheads="1" noTextEdit="1"/>
          </p:cNvSpPr>
          <p:nvPr>
            <p:ph type="sldImg"/>
          </p:nvPr>
        </p:nvSpPr>
        <p:spPr>
          <a:ln/>
        </p:spPr>
      </p:sp>
      <p:sp>
        <p:nvSpPr>
          <p:cNvPr id="1435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454532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0F9B24-7278-4EE5-A843-E0379DF9E811}" type="slidenum">
              <a:rPr lang="en-CA"/>
              <a:pPr/>
              <a:t>49</a:t>
            </a:fld>
            <a:endParaRPr lang="en-CA"/>
          </a:p>
        </p:txBody>
      </p:sp>
      <p:sp>
        <p:nvSpPr>
          <p:cNvPr id="1437698" name="Rectangle 2"/>
          <p:cNvSpPr>
            <a:spLocks noGrp="1" noRot="1" noChangeAspect="1" noChangeArrowheads="1" noTextEdit="1"/>
          </p:cNvSpPr>
          <p:nvPr>
            <p:ph type="sldImg"/>
          </p:nvPr>
        </p:nvSpPr>
        <p:spPr>
          <a:ln/>
        </p:spPr>
      </p:sp>
      <p:sp>
        <p:nvSpPr>
          <p:cNvPr id="1437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253789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94D9CE-6F21-48AB-9550-BC5C48CF37B2}" type="slidenum">
              <a:rPr lang="en-CA"/>
              <a:pPr/>
              <a:t>50</a:t>
            </a:fld>
            <a:endParaRPr lang="en-CA"/>
          </a:p>
        </p:txBody>
      </p:sp>
      <p:sp>
        <p:nvSpPr>
          <p:cNvPr id="1439746" name="Rectangle 2"/>
          <p:cNvSpPr>
            <a:spLocks noGrp="1" noRot="1" noChangeAspect="1" noChangeArrowheads="1" noTextEdit="1"/>
          </p:cNvSpPr>
          <p:nvPr>
            <p:ph type="sldImg"/>
          </p:nvPr>
        </p:nvSpPr>
        <p:spPr>
          <a:ln/>
        </p:spPr>
      </p:sp>
      <p:sp>
        <p:nvSpPr>
          <p:cNvPr id="14397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8788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E233F16-6F8D-46A1-A057-776BA6AD2C46}" type="datetimeFigureOut">
              <a:rPr lang="en-US" smtClean="0"/>
              <a:pPr/>
              <a:t>1/28/2021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181D6C9-1B9F-49AE-AE07-342A3A6A70E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E233F16-6F8D-46A1-A057-776BA6AD2C46}" type="datetimeFigureOut">
              <a:rPr lang="en-US" smtClean="0"/>
              <a:pPr/>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E233F16-6F8D-46A1-A057-776BA6AD2C46}" type="datetimeFigureOut">
              <a:rPr lang="en-US" smtClean="0"/>
              <a:pPr/>
              <a:t>1/28/2021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E233F16-6F8D-46A1-A057-776BA6AD2C46}" type="datetimeFigureOut">
              <a:rPr lang="en-US" smtClean="0"/>
              <a:pPr/>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E233F16-6F8D-46A1-A057-776BA6AD2C46}" type="datetimeFigureOut">
              <a:rPr lang="en-US" smtClean="0"/>
              <a:pPr/>
              <a:t>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E233F16-6F8D-46A1-A057-776BA6AD2C46}" type="datetimeFigureOut">
              <a:rPr lang="en-US" smtClean="0"/>
              <a:pPr/>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pPr/>
              <a:t>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81D6C9-1B9F-49AE-AE07-342A3A6A70E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E233F16-6F8D-46A1-A057-776BA6AD2C46}" type="datetimeFigureOut">
              <a:rPr lang="en-US" smtClean="0"/>
              <a:pPr/>
              <a:t>1/28/2021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181D6C9-1B9F-49AE-AE07-342A3A6A70E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pPr/>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E233F16-6F8D-46A1-A057-776BA6AD2C46}" type="datetimeFigureOut">
              <a:rPr lang="en-US" smtClean="0"/>
              <a:pPr/>
              <a:t>1/28/2021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181D6C9-1B9F-49AE-AE07-342A3A6A70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Human Computer Interaction  </a:t>
            </a:r>
            <a:br>
              <a:rPr lang="en-US" dirty="0"/>
            </a:br>
            <a:r>
              <a:rPr sz="3200"/>
              <a:t>Evaluations </a:t>
            </a:r>
            <a:r>
              <a:rPr lang="en-US" sz="3200" dirty="0"/>
              <a:t>–</a:t>
            </a:r>
            <a:r>
              <a:rPr sz="3200"/>
              <a:t> Cognitive Walkthrough     </a:t>
            </a:r>
            <a:endParaRPr lang="en-US" sz="3200"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to Evaluate</a:t>
            </a:r>
          </a:p>
        </p:txBody>
      </p:sp>
      <p:sp>
        <p:nvSpPr>
          <p:cNvPr id="3" name="Content Placeholder 2"/>
          <p:cNvSpPr>
            <a:spLocks noGrp="1"/>
          </p:cNvSpPr>
          <p:nvPr>
            <p:ph sz="quarter" idx="1"/>
          </p:nvPr>
        </p:nvSpPr>
        <p:spPr/>
        <p:txBody>
          <a:bodyPr>
            <a:normAutofit/>
          </a:bodyPr>
          <a:lstStyle/>
          <a:p>
            <a:pPr marL="0" indent="0">
              <a:buNone/>
            </a:pPr>
            <a:r>
              <a:rPr lang="en-US" dirty="0"/>
              <a:t>Some good reasons for investing in user testing:</a:t>
            </a:r>
          </a:p>
          <a:p>
            <a:r>
              <a:rPr lang="en-US" dirty="0"/>
              <a:t>Problems are fixed before the product is shipped, not after.</a:t>
            </a:r>
          </a:p>
          <a:p>
            <a:r>
              <a:rPr lang="en-US" dirty="0"/>
              <a:t>The team can concentrate on real problems, not imaginary ones.</a:t>
            </a:r>
          </a:p>
          <a:p>
            <a:r>
              <a:rPr lang="en-US" dirty="0"/>
              <a:t>Engineers code instead of debating.</a:t>
            </a:r>
          </a:p>
          <a:p>
            <a:r>
              <a:rPr lang="en-US" dirty="0"/>
              <a:t>Finally, upon first release, your sales department has a rock-solid design it can sell without having to pepper their pitches with how it will all actually work in release 1.1 or 2.0.</a:t>
            </a:r>
          </a:p>
        </p:txBody>
      </p:sp>
    </p:spTree>
    <p:extLst>
      <p:ext uri="{BB962C8B-B14F-4D97-AF65-F5344CB8AC3E}">
        <p14:creationId xmlns:p14="http://schemas.microsoft.com/office/powerpoint/2010/main" val="2835788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dirty="0"/>
              <a:t>What’s it good for?</a:t>
            </a:r>
          </a:p>
        </p:txBody>
      </p:sp>
      <p:sp>
        <p:nvSpPr>
          <p:cNvPr id="12291" name="Content Placeholder 2"/>
          <p:cNvSpPr>
            <a:spLocks noGrp="1"/>
          </p:cNvSpPr>
          <p:nvPr>
            <p:ph sz="quarter" idx="1"/>
          </p:nvPr>
        </p:nvSpPr>
        <p:spPr>
          <a:xfrm>
            <a:off x="431180" y="1905000"/>
            <a:ext cx="8229600" cy="2590800"/>
          </a:xfrm>
        </p:spPr>
        <p:txBody>
          <a:bodyPr>
            <a:normAutofit/>
          </a:bodyPr>
          <a:lstStyle/>
          <a:p>
            <a:r>
              <a:rPr lang="en-US" altLang="en-US" sz="2800" dirty="0"/>
              <a:t>Question assumptions about what the users will be thinking</a:t>
            </a:r>
          </a:p>
          <a:p>
            <a:r>
              <a:rPr lang="en-US" altLang="en-US" sz="2800" dirty="0"/>
              <a:t>Identify controls that may be missing or hard to find</a:t>
            </a:r>
          </a:p>
          <a:p>
            <a:r>
              <a:rPr lang="en-US" altLang="en-US" sz="2800" dirty="0"/>
              <a:t>Note inadequate feedback</a:t>
            </a:r>
          </a:p>
          <a:p>
            <a:r>
              <a:rPr lang="en-US" altLang="en-US" sz="2800" dirty="0"/>
              <a:t>Suggest difficulties with labels and prompts</a:t>
            </a:r>
          </a:p>
        </p:txBody>
      </p:sp>
    </p:spTree>
    <p:extLst>
      <p:ext uri="{BB962C8B-B14F-4D97-AF65-F5344CB8AC3E}">
        <p14:creationId xmlns:p14="http://schemas.microsoft.com/office/powerpoint/2010/main" val="4017352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a:t>Vocabulary Problem</a:t>
            </a:r>
          </a:p>
        </p:txBody>
      </p:sp>
      <p:sp>
        <p:nvSpPr>
          <p:cNvPr id="13315" name="Content Placeholder 2"/>
          <p:cNvSpPr>
            <a:spLocks noGrp="1"/>
          </p:cNvSpPr>
          <p:nvPr>
            <p:ph sz="quarter" idx="1"/>
          </p:nvPr>
        </p:nvSpPr>
        <p:spPr>
          <a:xfrm>
            <a:off x="457200" y="1219200"/>
            <a:ext cx="8229600" cy="4937125"/>
          </a:xfrm>
        </p:spPr>
        <p:txBody>
          <a:bodyPr/>
          <a:lstStyle/>
          <a:p>
            <a:r>
              <a:rPr lang="en-US" altLang="en-US" dirty="0"/>
              <a:t>On a piece of paper write the name you would give to a program that tells about interesting activities occurring in some major metropolitan area (e.g., this program would tell you what is interesting to do on Friday or Saturday night). Make the name 10 characters or less</a:t>
            </a:r>
          </a:p>
        </p:txBody>
      </p:sp>
    </p:spTree>
    <p:extLst>
      <p:ext uri="{BB962C8B-B14F-4D97-AF65-F5344CB8AC3E}">
        <p14:creationId xmlns:p14="http://schemas.microsoft.com/office/powerpoint/2010/main" val="3770165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dirty="0"/>
              <a:t>Cognitive Walkthrough Purpose</a:t>
            </a:r>
          </a:p>
        </p:txBody>
      </p:sp>
      <p:sp>
        <p:nvSpPr>
          <p:cNvPr id="15363" name="Content Placeholder 2"/>
          <p:cNvSpPr>
            <a:spLocks noGrp="1"/>
          </p:cNvSpPr>
          <p:nvPr>
            <p:ph sz="quarter" idx="1"/>
          </p:nvPr>
        </p:nvSpPr>
        <p:spPr>
          <a:xfrm>
            <a:off x="457200" y="1219200"/>
            <a:ext cx="8229600" cy="4937125"/>
          </a:xfrm>
        </p:spPr>
        <p:txBody>
          <a:bodyPr/>
          <a:lstStyle/>
          <a:p>
            <a:endParaRPr lang="en-US" altLang="en-US" dirty="0"/>
          </a:p>
          <a:p>
            <a:endParaRPr lang="en-US" altLang="en-US" dirty="0"/>
          </a:p>
          <a:p>
            <a:r>
              <a:rPr lang="en-US" altLang="en-US" dirty="0"/>
              <a:t>Focus most clearly on problems that users will have when they first use an interface, without training</a:t>
            </a:r>
          </a:p>
          <a:p>
            <a:r>
              <a:rPr lang="en-US" altLang="en-US" dirty="0"/>
              <a:t>Not a technique for evaluating the system over time (e.g., how quickly a user moves from beginner to intermediate)</a:t>
            </a:r>
          </a:p>
        </p:txBody>
      </p:sp>
    </p:spTree>
    <p:extLst>
      <p:ext uri="{BB962C8B-B14F-4D97-AF65-F5344CB8AC3E}">
        <p14:creationId xmlns:p14="http://schemas.microsoft.com/office/powerpoint/2010/main" val="1803836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Cognitive Walkthrough</a:t>
            </a:r>
          </a:p>
        </p:txBody>
      </p:sp>
      <p:sp>
        <p:nvSpPr>
          <p:cNvPr id="11267" name="Content Placeholder 2"/>
          <p:cNvSpPr>
            <a:spLocks noGrp="1"/>
          </p:cNvSpPr>
          <p:nvPr>
            <p:ph sz="quarter" idx="1"/>
          </p:nvPr>
        </p:nvSpPr>
        <p:spPr>
          <a:xfrm>
            <a:off x="457200" y="1219200"/>
            <a:ext cx="8229600" cy="4937125"/>
          </a:xfrm>
        </p:spPr>
        <p:txBody>
          <a:bodyPr>
            <a:normAutofit/>
          </a:bodyPr>
          <a:lstStyle/>
          <a:p>
            <a:endParaRPr lang="en-US" dirty="0"/>
          </a:p>
          <a:p>
            <a:r>
              <a:rPr lang="en-US" dirty="0"/>
              <a:t>Formalized way of imagining people's thoughts and actions when they use an interface for the first time. </a:t>
            </a:r>
          </a:p>
          <a:p>
            <a:r>
              <a:rPr lang="en-US" dirty="0"/>
              <a:t>First select a task that the design is intended to support. </a:t>
            </a:r>
          </a:p>
          <a:p>
            <a:r>
              <a:rPr lang="en-US" dirty="0"/>
              <a:t>Then try to tell a believable story about each action a user has to take to do the task. </a:t>
            </a:r>
          </a:p>
        </p:txBody>
      </p:sp>
    </p:spTree>
    <p:extLst>
      <p:ext uri="{BB962C8B-B14F-4D97-AF65-F5344CB8AC3E}">
        <p14:creationId xmlns:p14="http://schemas.microsoft.com/office/powerpoint/2010/main" val="401951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Cognitive Walkthrough</a:t>
            </a:r>
            <a:endParaRPr lang="en-US" dirty="0"/>
          </a:p>
        </p:txBody>
      </p:sp>
      <p:sp>
        <p:nvSpPr>
          <p:cNvPr id="3" name="Content Placeholder 2"/>
          <p:cNvSpPr>
            <a:spLocks noGrp="1"/>
          </p:cNvSpPr>
          <p:nvPr>
            <p:ph sz="quarter" idx="1"/>
          </p:nvPr>
        </p:nvSpPr>
        <p:spPr/>
        <p:txBody>
          <a:bodyPr/>
          <a:lstStyle/>
          <a:p>
            <a:r>
              <a:rPr lang="en-GB" dirty="0">
                <a:cs typeface="Arial" charset="0"/>
              </a:rPr>
              <a:t>Evaluation method based on the idea that… </a:t>
            </a:r>
          </a:p>
          <a:p>
            <a:pPr lvl="1"/>
            <a:r>
              <a:rPr lang="en-GB" dirty="0">
                <a:cs typeface="Arial" charset="0"/>
              </a:rPr>
              <a:t>the user learns about the interface in an exploratory way,</a:t>
            </a:r>
          </a:p>
          <a:p>
            <a:pPr lvl="1"/>
            <a:r>
              <a:rPr lang="en-GB" dirty="0">
                <a:cs typeface="Arial" charset="0"/>
              </a:rPr>
              <a:t>the user has goals,</a:t>
            </a:r>
          </a:p>
          <a:p>
            <a:pPr lvl="1"/>
            <a:r>
              <a:rPr lang="en-GB" dirty="0">
                <a:cs typeface="Arial" charset="0"/>
              </a:rPr>
              <a:t>the user is applying simple means-ends reasoning.</a:t>
            </a:r>
            <a:endParaRPr lang="en-GB" dirty="0">
              <a:latin typeface="Times" charset="0"/>
              <a:cs typeface="Times New Roman" pitchFamily="18" charset="0"/>
            </a:endParaRPr>
          </a:p>
          <a:p>
            <a:endParaRPr lang="en-GB" dirty="0"/>
          </a:p>
          <a:p>
            <a:r>
              <a:rPr lang="en-GB" dirty="0"/>
              <a:t>Evaluation by an expert, who goes through a set task while imitating user performance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Preparation: We need four things</a:t>
            </a:r>
            <a:endParaRPr lang="en-US" dirty="0"/>
          </a:p>
        </p:txBody>
      </p:sp>
      <p:sp>
        <p:nvSpPr>
          <p:cNvPr id="3" name="Content Placeholder 2"/>
          <p:cNvSpPr>
            <a:spLocks noGrp="1"/>
          </p:cNvSpPr>
          <p:nvPr>
            <p:ph sz="quarter" idx="1"/>
          </p:nvPr>
        </p:nvSpPr>
        <p:spPr/>
        <p:txBody>
          <a:bodyPr>
            <a:normAutofit fontScale="85000" lnSpcReduction="10000"/>
          </a:bodyPr>
          <a:lstStyle/>
          <a:p>
            <a:pPr>
              <a:buFont typeface="Wingdings 3" pitchFamily="18" charset="2"/>
              <a:buNone/>
              <a:defRPr/>
            </a:pPr>
            <a:r>
              <a:rPr lang="en-US" dirty="0"/>
              <a:t>Prior to doing a walkthrough, you need four things: </a:t>
            </a:r>
          </a:p>
          <a:p>
            <a:pPr marL="514350" indent="-514350">
              <a:buFont typeface="+mj-lt"/>
              <a:buAutoNum type="arabicPeriod"/>
              <a:defRPr/>
            </a:pPr>
            <a:r>
              <a:rPr lang="en-US" dirty="0"/>
              <a:t>You need a description of a </a:t>
            </a:r>
            <a:r>
              <a:rPr lang="en-US" b="1" dirty="0"/>
              <a:t>prototype</a:t>
            </a:r>
            <a:r>
              <a:rPr lang="en-US" dirty="0"/>
              <a:t> of the interface. It doesn't have to be complete, but it should be fairly detailed. Things like exactly what words are in a menu can make a big difference.</a:t>
            </a:r>
          </a:p>
          <a:p>
            <a:pPr marL="514350" indent="-514350">
              <a:buFont typeface="+mj-lt"/>
              <a:buAutoNum type="arabicPeriod"/>
              <a:defRPr/>
            </a:pPr>
            <a:endParaRPr lang="en-US" dirty="0"/>
          </a:p>
          <a:p>
            <a:pPr marL="514350" indent="-514350">
              <a:buFont typeface="+mj-lt"/>
              <a:buAutoNum type="arabicPeriod"/>
              <a:defRPr/>
            </a:pPr>
            <a:r>
              <a:rPr lang="en-US" dirty="0"/>
              <a:t>You need an idea of who </a:t>
            </a:r>
            <a:r>
              <a:rPr lang="en-US" b="1" dirty="0"/>
              <a:t>the users </a:t>
            </a:r>
            <a:r>
              <a:rPr lang="en-US" dirty="0"/>
              <a:t>will be and what kind of experience they'll bring to the job.</a:t>
            </a:r>
          </a:p>
          <a:p>
            <a:pPr marL="514350" indent="-514350">
              <a:buFont typeface="+mj-lt"/>
              <a:buAutoNum type="arabicPeriod"/>
              <a:defRPr/>
            </a:pPr>
            <a:endParaRPr lang="en-US" dirty="0"/>
          </a:p>
          <a:p>
            <a:pPr marL="514350" indent="-514350">
              <a:buFont typeface="+mj-lt"/>
              <a:buAutoNum type="arabicPeriod"/>
              <a:defRPr/>
            </a:pPr>
            <a:r>
              <a:rPr lang="en-US" dirty="0"/>
              <a:t>You need a </a:t>
            </a:r>
            <a:r>
              <a:rPr lang="en-US" b="1" dirty="0"/>
              <a:t>task description </a:t>
            </a:r>
            <a:r>
              <a:rPr lang="en-US" dirty="0"/>
              <a:t>(for a representative task).</a:t>
            </a:r>
          </a:p>
          <a:p>
            <a:pPr marL="514350" indent="-514350">
              <a:buFont typeface="+mj-lt"/>
              <a:buAutoNum type="arabicPeriod"/>
              <a:defRPr/>
            </a:pPr>
            <a:endParaRPr lang="en-US" dirty="0"/>
          </a:p>
          <a:p>
            <a:pPr marL="514350" indent="-514350">
              <a:buFont typeface="+mj-lt"/>
              <a:buAutoNum type="arabicPeriod"/>
              <a:defRPr/>
            </a:pPr>
            <a:r>
              <a:rPr lang="en-US" dirty="0"/>
              <a:t>You need a complete, written list of the </a:t>
            </a:r>
            <a:r>
              <a:rPr lang="en-US" b="1" dirty="0"/>
              <a:t>actions </a:t>
            </a:r>
            <a:r>
              <a:rPr lang="en-US" dirty="0"/>
              <a:t>needed to complete the task.</a:t>
            </a:r>
          </a:p>
          <a:p>
            <a:pPr marL="514350" indent="-514350">
              <a:buFont typeface="+mj-lt"/>
              <a:buAutoNum type="arabicPeriod"/>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Process of </a:t>
            </a:r>
            <a:r>
              <a:rPr lang="en-GB" dirty="0"/>
              <a:t>Cognitive Walkthrough</a:t>
            </a:r>
            <a:endParaRPr lang="en-US" dirty="0"/>
          </a:p>
        </p:txBody>
      </p:sp>
      <p:sp>
        <p:nvSpPr>
          <p:cNvPr id="3" name="Content Placeholder 2"/>
          <p:cNvSpPr>
            <a:spLocks noGrp="1"/>
          </p:cNvSpPr>
          <p:nvPr>
            <p:ph sz="quarter" idx="1"/>
          </p:nvPr>
        </p:nvSpPr>
        <p:spPr/>
        <p:txBody>
          <a:bodyPr>
            <a:normAutofit fontScale="92500" lnSpcReduction="20000"/>
          </a:bodyPr>
          <a:lstStyle/>
          <a:p>
            <a:pPr>
              <a:lnSpc>
                <a:spcPct val="90000"/>
              </a:lnSpc>
            </a:pPr>
            <a:r>
              <a:rPr lang="en-GB" sz="2400" dirty="0"/>
              <a:t>Designer prepares </a:t>
            </a:r>
          </a:p>
          <a:p>
            <a:pPr lvl="1">
              <a:lnSpc>
                <a:spcPct val="90000"/>
              </a:lnSpc>
            </a:pPr>
            <a:r>
              <a:rPr lang="en-GB" sz="2200" dirty="0"/>
              <a:t>Prototype</a:t>
            </a:r>
          </a:p>
          <a:p>
            <a:pPr lvl="1">
              <a:lnSpc>
                <a:spcPct val="90000"/>
              </a:lnSpc>
            </a:pPr>
            <a:r>
              <a:rPr lang="en-GB" sz="2200" dirty="0"/>
              <a:t>User description</a:t>
            </a:r>
          </a:p>
          <a:p>
            <a:pPr lvl="1">
              <a:lnSpc>
                <a:spcPct val="90000"/>
              </a:lnSpc>
            </a:pPr>
            <a:r>
              <a:rPr lang="en-GB" sz="2200" dirty="0"/>
              <a:t>Task description </a:t>
            </a:r>
          </a:p>
          <a:p>
            <a:pPr lvl="1">
              <a:lnSpc>
                <a:spcPct val="90000"/>
              </a:lnSpc>
            </a:pPr>
            <a:r>
              <a:rPr lang="en-GB" sz="2200" dirty="0"/>
              <a:t>Action list</a:t>
            </a:r>
          </a:p>
          <a:p>
            <a:pPr lvl="1">
              <a:lnSpc>
                <a:spcPct val="90000"/>
              </a:lnSpc>
            </a:pPr>
            <a:r>
              <a:rPr lang="en-GB" sz="2200" dirty="0"/>
              <a:t>Along with System description</a:t>
            </a:r>
          </a:p>
          <a:p>
            <a:pPr>
              <a:lnSpc>
                <a:spcPct val="90000"/>
              </a:lnSpc>
            </a:pPr>
            <a:endParaRPr lang="en-GB" sz="2400" dirty="0"/>
          </a:p>
          <a:p>
            <a:pPr>
              <a:lnSpc>
                <a:spcPct val="90000"/>
              </a:lnSpc>
            </a:pPr>
            <a:r>
              <a:rPr lang="en-GB" sz="2400" dirty="0"/>
              <a:t>Designer gives these document to an expert.</a:t>
            </a:r>
          </a:p>
          <a:p>
            <a:pPr>
              <a:lnSpc>
                <a:spcPct val="90000"/>
              </a:lnSpc>
            </a:pPr>
            <a:endParaRPr lang="en-GB" sz="2400" dirty="0"/>
          </a:p>
          <a:p>
            <a:pPr>
              <a:lnSpc>
                <a:spcPct val="90000"/>
              </a:lnSpc>
            </a:pPr>
            <a:r>
              <a:rPr lang="en-GB" sz="2400" dirty="0"/>
              <a:t>The expert reads the descriptions.</a:t>
            </a:r>
          </a:p>
          <a:p>
            <a:pPr>
              <a:lnSpc>
                <a:spcPct val="90000"/>
              </a:lnSpc>
            </a:pPr>
            <a:endParaRPr lang="en-GB" sz="2400" dirty="0"/>
          </a:p>
          <a:p>
            <a:pPr>
              <a:lnSpc>
                <a:spcPct val="90000"/>
              </a:lnSpc>
            </a:pPr>
            <a:r>
              <a:rPr lang="en-GB" sz="2400" dirty="0"/>
              <a:t>The expert carries out the task by following the action list.</a:t>
            </a:r>
          </a:p>
          <a:p>
            <a:pPr>
              <a:lnSpc>
                <a:spcPct val="90000"/>
              </a:lnSpc>
            </a:pPr>
            <a:endParaRPr lang="en-GB" sz="2400" dirty="0"/>
          </a:p>
          <a:p>
            <a:pPr>
              <a:lnSpc>
                <a:spcPct val="90000"/>
              </a:lnSpc>
            </a:pPr>
            <a:r>
              <a:rPr lang="en-GB" sz="2400" dirty="0"/>
              <a:t>The expert asks the following questions with EACH step of the action list: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Cognitive Walkthrough Questions </a:t>
            </a:r>
            <a:endParaRPr lang="en-US" dirty="0"/>
          </a:p>
        </p:txBody>
      </p:sp>
      <p:sp>
        <p:nvSpPr>
          <p:cNvPr id="3" name="Content Placeholder 2"/>
          <p:cNvSpPr>
            <a:spLocks noGrp="1"/>
          </p:cNvSpPr>
          <p:nvPr>
            <p:ph sz="quarter" idx="1"/>
          </p:nvPr>
        </p:nvSpPr>
        <p:spPr/>
        <p:txBody>
          <a:bodyPr>
            <a:normAutofit/>
          </a:bodyPr>
          <a:lstStyle/>
          <a:p>
            <a:pPr marL="514350" indent="-514350">
              <a:buFont typeface="+mj-lt"/>
              <a:buAutoNum type="arabicPeriod"/>
            </a:pPr>
            <a:r>
              <a:rPr lang="en-US" dirty="0"/>
              <a:t>Will users see that the action is available? (is it visible?)</a:t>
            </a:r>
          </a:p>
          <a:p>
            <a:pPr marL="514350" indent="-514350">
              <a:buFont typeface="+mj-lt"/>
              <a:buAutoNum type="arabicPeriod"/>
            </a:pPr>
            <a:endParaRPr lang="en-US" dirty="0"/>
          </a:p>
          <a:p>
            <a:pPr marL="514350" indent="-514350">
              <a:buFont typeface="+mj-lt"/>
              <a:buAutoNum type="arabicPeriod"/>
            </a:pPr>
            <a:r>
              <a:rPr lang="en-US" dirty="0"/>
              <a:t>Once users have found the correct action, will they know it is the one they need? (is it recognizable?)</a:t>
            </a:r>
          </a:p>
          <a:p>
            <a:pPr marL="514350" indent="-514350">
              <a:buFont typeface="+mj-lt"/>
              <a:buAutoNum type="arabicPeriod"/>
            </a:pPr>
            <a:endParaRPr lang="en-US" dirty="0"/>
          </a:p>
          <a:p>
            <a:pPr marL="514350" indent="-514350">
              <a:buFont typeface="+mj-lt"/>
              <a:buAutoNum type="arabicPeriod"/>
            </a:pPr>
            <a:r>
              <a:rPr lang="en-US" dirty="0"/>
              <a:t>Is the effect of the action the same as the user’s goal at that point? Will the user try and achieve the right outcome? </a:t>
            </a:r>
          </a:p>
          <a:p>
            <a:pPr marL="514350" indent="-514350">
              <a:buFont typeface="+mj-lt"/>
              <a:buAutoNum type="arabicPeriod"/>
            </a:pPr>
            <a:endParaRPr lang="en-US" dirty="0"/>
          </a:p>
          <a:p>
            <a:pPr marL="514350" indent="-514350">
              <a:buFont typeface="+mj-lt"/>
              <a:buAutoNum type="arabicPeriod"/>
            </a:pPr>
            <a:r>
              <a:rPr lang="en-US" dirty="0"/>
              <a:t>After the action is taken, will users understand the feedback they get?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it visible? </a:t>
            </a:r>
          </a:p>
        </p:txBody>
      </p:sp>
      <p:pic>
        <p:nvPicPr>
          <p:cNvPr id="4" name="Content Placeholder 3"/>
          <p:cNvPicPr>
            <a:picLocks noGrp="1" noChangeAspect="1"/>
          </p:cNvPicPr>
          <p:nvPr>
            <p:ph sz="quarter" idx="1"/>
          </p:nvPr>
        </p:nvPicPr>
        <p:blipFill>
          <a:blip r:embed="rId3"/>
          <a:stretch>
            <a:fillRect/>
          </a:stretch>
        </p:blipFill>
        <p:spPr>
          <a:xfrm>
            <a:off x="2209800" y="1600200"/>
            <a:ext cx="4295775" cy="4686300"/>
          </a:xfrm>
          <a:prstGeom prst="rect">
            <a:avLst/>
          </a:prstGeom>
        </p:spPr>
      </p:pic>
    </p:spTree>
    <p:extLst>
      <p:ext uri="{BB962C8B-B14F-4D97-AF65-F5344CB8AC3E}">
        <p14:creationId xmlns:p14="http://schemas.microsoft.com/office/powerpoint/2010/main" val="398104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0" y="2057400"/>
            <a:ext cx="9150447" cy="3263446"/>
          </a:xfrm>
          <a:prstGeom prst="rect">
            <a:avLst/>
          </a:prstGeom>
        </p:spPr>
      </p:pic>
    </p:spTree>
    <p:extLst>
      <p:ext uri="{BB962C8B-B14F-4D97-AF65-F5344CB8AC3E}">
        <p14:creationId xmlns:p14="http://schemas.microsoft.com/office/powerpoint/2010/main" val="513702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it recognizable?</a:t>
            </a:r>
          </a:p>
        </p:txBody>
      </p:sp>
      <p:pic>
        <p:nvPicPr>
          <p:cNvPr id="4" name="Content Placeholder 3"/>
          <p:cNvPicPr>
            <a:picLocks noGrp="1" noChangeAspect="1"/>
          </p:cNvPicPr>
          <p:nvPr>
            <p:ph sz="quarter" idx="1"/>
          </p:nvPr>
        </p:nvPicPr>
        <p:blipFill>
          <a:blip r:embed="rId2"/>
          <a:stretch>
            <a:fillRect/>
          </a:stretch>
        </p:blipFill>
        <p:spPr>
          <a:xfrm>
            <a:off x="2958975" y="1417638"/>
            <a:ext cx="3683249" cy="4953001"/>
          </a:xfrm>
          <a:prstGeom prst="rect">
            <a:avLst/>
          </a:prstGeom>
        </p:spPr>
      </p:pic>
    </p:spTree>
    <p:extLst>
      <p:ext uri="{BB962C8B-B14F-4D97-AF65-F5344CB8AC3E}">
        <p14:creationId xmlns:p14="http://schemas.microsoft.com/office/powerpoint/2010/main" val="65843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55990" y="1395867"/>
            <a:ext cx="9199990" cy="3635374"/>
          </a:xfrm>
          <a:prstGeom prst="rect">
            <a:avLst/>
          </a:prstGeom>
        </p:spPr>
      </p:pic>
    </p:spTree>
    <p:extLst>
      <p:ext uri="{BB962C8B-B14F-4D97-AF65-F5344CB8AC3E}">
        <p14:creationId xmlns:p14="http://schemas.microsoft.com/office/powerpoint/2010/main" val="1794114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Is the effect of the action the same as the user’s goal at that point?</a:t>
            </a:r>
          </a:p>
        </p:txBody>
      </p:sp>
      <p:pic>
        <p:nvPicPr>
          <p:cNvPr id="4" name="Content Placeholder 3"/>
          <p:cNvPicPr>
            <a:picLocks noGrp="1" noChangeAspect="1"/>
          </p:cNvPicPr>
          <p:nvPr>
            <p:ph sz="quarter" idx="1"/>
          </p:nvPr>
        </p:nvPicPr>
        <p:blipFill>
          <a:blip r:embed="rId2"/>
          <a:stretch>
            <a:fillRect/>
          </a:stretch>
        </p:blipFill>
        <p:spPr>
          <a:xfrm>
            <a:off x="1981201" y="1781174"/>
            <a:ext cx="4691062" cy="4893983"/>
          </a:xfrm>
          <a:prstGeom prst="rect">
            <a:avLst/>
          </a:prstGeom>
        </p:spPr>
      </p:pic>
    </p:spTree>
    <p:extLst>
      <p:ext uri="{BB962C8B-B14F-4D97-AF65-F5344CB8AC3E}">
        <p14:creationId xmlns:p14="http://schemas.microsoft.com/office/powerpoint/2010/main" val="3570050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568843" y="533400"/>
            <a:ext cx="8161246" cy="6172199"/>
          </a:xfrm>
          <a:prstGeom prst="rect">
            <a:avLst/>
          </a:prstGeom>
        </p:spPr>
      </p:pic>
    </p:spTree>
    <p:extLst>
      <p:ext uri="{BB962C8B-B14F-4D97-AF65-F5344CB8AC3E}">
        <p14:creationId xmlns:p14="http://schemas.microsoft.com/office/powerpoint/2010/main" val="4148653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1295400" y="109001"/>
            <a:ext cx="6248399" cy="6461598"/>
          </a:xfrm>
          <a:prstGeom prst="rect">
            <a:avLst/>
          </a:prstGeom>
        </p:spPr>
      </p:pic>
    </p:spTree>
    <p:extLst>
      <p:ext uri="{BB962C8B-B14F-4D97-AF65-F5344CB8AC3E}">
        <p14:creationId xmlns:p14="http://schemas.microsoft.com/office/powerpoint/2010/main" val="332986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feedback understandable? </a:t>
            </a:r>
          </a:p>
        </p:txBody>
      </p:sp>
      <p:pic>
        <p:nvPicPr>
          <p:cNvPr id="4" name="Content Placeholder 3"/>
          <p:cNvPicPr>
            <a:picLocks noGrp="1" noChangeAspect="1"/>
          </p:cNvPicPr>
          <p:nvPr>
            <p:ph sz="quarter" idx="1"/>
          </p:nvPr>
        </p:nvPicPr>
        <p:blipFill>
          <a:blip r:embed="rId2"/>
          <a:stretch>
            <a:fillRect/>
          </a:stretch>
        </p:blipFill>
        <p:spPr>
          <a:xfrm>
            <a:off x="1905000" y="1417638"/>
            <a:ext cx="5257800" cy="5230200"/>
          </a:xfrm>
          <a:prstGeom prst="rect">
            <a:avLst/>
          </a:prstGeom>
        </p:spPr>
      </p:pic>
    </p:spTree>
    <p:extLst>
      <p:ext uri="{BB962C8B-B14F-4D97-AF65-F5344CB8AC3E}">
        <p14:creationId xmlns:p14="http://schemas.microsoft.com/office/powerpoint/2010/main" val="3437226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sz="quarter" idx="1"/>
          </p:nvPr>
        </p:nvPicPr>
        <p:blipFill>
          <a:blip r:embed="rId2"/>
          <a:stretch>
            <a:fillRect/>
          </a:stretch>
        </p:blipFill>
        <p:spPr>
          <a:xfrm>
            <a:off x="457200" y="1828800"/>
            <a:ext cx="8407491" cy="3505200"/>
          </a:xfrm>
          <a:prstGeom prst="rect">
            <a:avLst/>
          </a:prstGeom>
        </p:spPr>
      </p:pic>
    </p:spTree>
    <p:extLst>
      <p:ext uri="{BB962C8B-B14F-4D97-AF65-F5344CB8AC3E}">
        <p14:creationId xmlns:p14="http://schemas.microsoft.com/office/powerpoint/2010/main" val="2798429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Preparation </a:t>
            </a:r>
          </a:p>
        </p:txBody>
      </p:sp>
      <p:sp>
        <p:nvSpPr>
          <p:cNvPr id="3" name="Content Placeholder 2"/>
          <p:cNvSpPr>
            <a:spLocks noGrp="1"/>
          </p:cNvSpPr>
          <p:nvPr>
            <p:ph sz="quarter" idx="1"/>
          </p:nvPr>
        </p:nvSpPr>
        <p:spPr>
          <a:xfrm>
            <a:off x="914400" y="1447800"/>
            <a:ext cx="4953000" cy="4572000"/>
          </a:xfrm>
        </p:spPr>
        <p:txBody>
          <a:bodyPr>
            <a:normAutofit fontScale="92500" lnSpcReduction="20000"/>
          </a:bodyPr>
          <a:lstStyle/>
          <a:p>
            <a:pPr marL="514350" indent="-514350">
              <a:buFont typeface="+mj-lt"/>
              <a:buAutoNum type="arabicPeriod"/>
            </a:pPr>
            <a:r>
              <a:rPr lang="en-US" dirty="0"/>
              <a:t>Prototype </a:t>
            </a:r>
          </a:p>
          <a:p>
            <a:pPr lvl="1"/>
            <a:r>
              <a:rPr lang="en-US" dirty="0"/>
              <a:t>on the right </a:t>
            </a:r>
          </a:p>
          <a:p>
            <a:endParaRPr lang="en-US" dirty="0"/>
          </a:p>
          <a:p>
            <a:pPr marL="514350" indent="-514350">
              <a:buFont typeface="+mj-lt"/>
              <a:buAutoNum type="arabicPeriod" startAt="2"/>
            </a:pPr>
            <a:r>
              <a:rPr lang="en-US" dirty="0"/>
              <a:t>The users </a:t>
            </a:r>
          </a:p>
          <a:p>
            <a:pPr lvl="1"/>
            <a:r>
              <a:rPr lang="en-US" dirty="0"/>
              <a:t>We will assume that the user is familiar with VCRs but not with this particular design</a:t>
            </a:r>
          </a:p>
          <a:p>
            <a:endParaRPr lang="en-US" dirty="0"/>
          </a:p>
          <a:p>
            <a:pPr marL="514350" indent="-514350">
              <a:buFont typeface="+mj-lt"/>
              <a:buAutoNum type="arabicPeriod" startAt="3"/>
            </a:pPr>
            <a:r>
              <a:rPr lang="en-US" dirty="0"/>
              <a:t>Task Description </a:t>
            </a:r>
          </a:p>
          <a:p>
            <a:pPr lvl="1"/>
            <a:r>
              <a:rPr lang="en-US" dirty="0"/>
              <a:t>Program the video to time-record a program starting at 18.00 and finishing at 19.15 on channel 4 on 24 February 2005.</a:t>
            </a:r>
          </a:p>
        </p:txBody>
      </p:sp>
      <p:pic>
        <p:nvPicPr>
          <p:cNvPr id="1026" name="Picture 2"/>
          <p:cNvPicPr>
            <a:picLocks noChangeAspect="1" noChangeArrowheads="1"/>
          </p:cNvPicPr>
          <p:nvPr/>
        </p:nvPicPr>
        <p:blipFill>
          <a:blip r:embed="rId2" cstate="print"/>
          <a:srcRect/>
          <a:stretch>
            <a:fillRect/>
          </a:stretch>
        </p:blipFill>
        <p:spPr bwMode="auto">
          <a:xfrm>
            <a:off x="5657850" y="1143000"/>
            <a:ext cx="3409950" cy="3869897"/>
          </a:xfrm>
          <a:prstGeom prst="rect">
            <a:avLst/>
          </a:prstGeom>
          <a:noFill/>
          <a:ln w="9525">
            <a:noFill/>
            <a:miter lim="800000"/>
            <a:headEnd/>
            <a:tailEnd/>
          </a:ln>
          <a:effectLst/>
        </p:spPr>
      </p:pic>
      <p:sp>
        <p:nvSpPr>
          <p:cNvPr id="4" name="TextBox 3"/>
          <p:cNvSpPr txBox="1"/>
          <p:nvPr/>
        </p:nvSpPr>
        <p:spPr>
          <a:xfrm>
            <a:off x="5943600" y="743506"/>
            <a:ext cx="971550" cy="369332"/>
          </a:xfrm>
          <a:prstGeom prst="rect">
            <a:avLst/>
          </a:prstGeom>
          <a:noFill/>
          <a:ln>
            <a:noFill/>
          </a:ln>
        </p:spPr>
        <p:txBody>
          <a:bodyPr wrap="square" rtlCol="0">
            <a:spAutoFit/>
          </a:bodyPr>
          <a:lstStyle/>
          <a:p>
            <a:r>
              <a:rPr lang="en-US" dirty="0"/>
              <a:t>Display 2</a:t>
            </a:r>
          </a:p>
        </p:txBody>
      </p:sp>
      <p:sp>
        <p:nvSpPr>
          <p:cNvPr id="6" name="TextBox 5"/>
          <p:cNvSpPr txBox="1"/>
          <p:nvPr/>
        </p:nvSpPr>
        <p:spPr>
          <a:xfrm>
            <a:off x="7886700" y="743506"/>
            <a:ext cx="990600" cy="369332"/>
          </a:xfrm>
          <a:prstGeom prst="rect">
            <a:avLst/>
          </a:prstGeom>
          <a:noFill/>
          <a:ln>
            <a:noFill/>
          </a:ln>
        </p:spPr>
        <p:txBody>
          <a:bodyPr wrap="square" rtlCol="0">
            <a:spAutoFit/>
          </a:bodyPr>
          <a:lstStyle/>
          <a:p>
            <a:r>
              <a:rPr lang="en-US" dirty="0"/>
              <a:t>Display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9691"/>
            <a:ext cx="7772400" cy="1143000"/>
          </a:xfrm>
        </p:spPr>
        <p:txBody>
          <a:bodyPr/>
          <a:lstStyle/>
          <a:p>
            <a:r>
              <a:rPr lang="en-US" dirty="0"/>
              <a:t>Preparation: Actions   </a:t>
            </a:r>
          </a:p>
        </p:txBody>
      </p:sp>
      <p:sp>
        <p:nvSpPr>
          <p:cNvPr id="3" name="Content Placeholder 2"/>
          <p:cNvSpPr>
            <a:spLocks noGrp="1"/>
          </p:cNvSpPr>
          <p:nvPr>
            <p:ph sz="quarter" idx="1"/>
          </p:nvPr>
        </p:nvSpPr>
        <p:spPr>
          <a:xfrm>
            <a:off x="228600" y="1447800"/>
            <a:ext cx="3962400" cy="4953000"/>
          </a:xfrm>
        </p:spPr>
        <p:txBody>
          <a:bodyPr>
            <a:normAutofit fontScale="62500" lnSpcReduction="20000"/>
          </a:bodyPr>
          <a:lstStyle/>
          <a:p>
            <a:pPr>
              <a:buNone/>
            </a:pPr>
            <a:r>
              <a:rPr lang="en-US" dirty="0"/>
              <a:t>UA 1: Press the ‘timed record’ button</a:t>
            </a:r>
          </a:p>
          <a:p>
            <a:pPr>
              <a:buNone/>
            </a:pPr>
            <a:r>
              <a:rPr lang="en-US" dirty="0"/>
              <a:t>SD 1: Display moves to timer mode. Flashing cursor appears after ‘start:’</a:t>
            </a:r>
          </a:p>
          <a:p>
            <a:pPr>
              <a:buNone/>
            </a:pPr>
            <a:endParaRPr lang="en-US" dirty="0"/>
          </a:p>
          <a:p>
            <a:pPr>
              <a:buNone/>
            </a:pPr>
            <a:r>
              <a:rPr lang="en-US" dirty="0"/>
              <a:t>UA 2: Press digits 1 8 0 0</a:t>
            </a:r>
          </a:p>
          <a:p>
            <a:pPr>
              <a:buNone/>
            </a:pPr>
            <a:r>
              <a:rPr lang="en-US" dirty="0"/>
              <a:t>SD 2: Each digit is displayed as typed and flashing cursor moves to next position</a:t>
            </a:r>
          </a:p>
          <a:p>
            <a:pPr>
              <a:buNone/>
            </a:pPr>
            <a:endParaRPr lang="en-US" dirty="0"/>
          </a:p>
          <a:p>
            <a:pPr>
              <a:buNone/>
            </a:pPr>
            <a:r>
              <a:rPr lang="en-US" dirty="0"/>
              <a:t>UA 3: Press the ‘timed record’ button</a:t>
            </a:r>
          </a:p>
          <a:p>
            <a:pPr>
              <a:buNone/>
            </a:pPr>
            <a:r>
              <a:rPr lang="en-US" dirty="0"/>
              <a:t>SD 3: Flashing cursor moves to ‘end:’</a:t>
            </a:r>
          </a:p>
          <a:p>
            <a:pPr>
              <a:buNone/>
            </a:pPr>
            <a:endParaRPr lang="en-US" dirty="0"/>
          </a:p>
          <a:p>
            <a:pPr>
              <a:buNone/>
            </a:pPr>
            <a:r>
              <a:rPr lang="en-US" dirty="0"/>
              <a:t>UA 4: Press digits 1 9 1 5</a:t>
            </a:r>
          </a:p>
          <a:p>
            <a:pPr>
              <a:buNone/>
            </a:pPr>
            <a:r>
              <a:rPr lang="en-US" dirty="0"/>
              <a:t>SD 4: Each digit is displayed as typed and flashing cursor moves to next position</a:t>
            </a:r>
          </a:p>
          <a:p>
            <a:pPr>
              <a:buNone/>
            </a:pPr>
            <a:endParaRPr lang="en-US" dirty="0"/>
          </a:p>
          <a:p>
            <a:pPr>
              <a:buNone/>
            </a:pPr>
            <a:r>
              <a:rPr lang="en-US" dirty="0"/>
              <a:t>UA 5: Press the ‘timed record’ button</a:t>
            </a:r>
          </a:p>
          <a:p>
            <a:pPr>
              <a:buNone/>
            </a:pPr>
            <a:r>
              <a:rPr lang="en-US" dirty="0"/>
              <a:t>SD 5: Flashing cursor moves to ‘channel:’</a:t>
            </a:r>
          </a:p>
        </p:txBody>
      </p:sp>
      <p:sp>
        <p:nvSpPr>
          <p:cNvPr id="4" name="Content Placeholder 2"/>
          <p:cNvSpPr txBox="1">
            <a:spLocks/>
          </p:cNvSpPr>
          <p:nvPr/>
        </p:nvSpPr>
        <p:spPr>
          <a:xfrm>
            <a:off x="4419600" y="1371600"/>
            <a:ext cx="4572000" cy="5105400"/>
          </a:xfrm>
          <a:prstGeom prst="rect">
            <a:avLst/>
          </a:prstGeom>
        </p:spPr>
        <p:txBody>
          <a:bodyPr vert="horz">
            <a:noAutofit/>
          </a:bodyPr>
          <a:lstStyle/>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nn-NO" b="0" i="0" u="none" strike="noStrike" kern="1200" cap="none" spc="0" normalizeH="0" baseline="0" noProof="0" dirty="0">
                <a:ln>
                  <a:noFill/>
                </a:ln>
                <a:solidFill>
                  <a:schemeClr val="tx1"/>
                </a:solidFill>
                <a:effectLst/>
                <a:uLnTx/>
                <a:uFillTx/>
                <a:latin typeface="+mn-lt"/>
                <a:ea typeface="+mn-ea"/>
                <a:cs typeface="+mn-cs"/>
              </a:rPr>
              <a:t>UA 6: Press digit 4</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6: Digit is displayed as typed and flashing cursor moves to next position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7: Press the ‘timed record’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7: Flashing cursor moves to ‘date:’</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8: Press digits 2 4 0 2 0 5</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8: Each digit is displayed as typed and flashing cursor moves to next position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9: Press the ‘timed record’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9: Stream number in top right-hand corner of display flashes</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UA 10: Press the ‘transmit’ button</a:t>
            </a:r>
          </a:p>
          <a:p>
            <a:pPr marL="274320" marR="0" lvl="0" indent="-274320" algn="just" defTabSz="914400" rtl="0" eaLnBrk="1" fontAlgn="auto" latinLnBrk="0" hangingPunct="1">
              <a:lnSpc>
                <a:spcPct val="100000"/>
              </a:lnSpc>
              <a:spcAft>
                <a:spcPts val="0"/>
              </a:spcAft>
              <a:buClr>
                <a:schemeClr val="accent1"/>
              </a:buClr>
              <a:buSzPct val="85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SD 10: Details are transmitted to video player and display returns to normal mode</a:t>
            </a:r>
          </a:p>
        </p:txBody>
      </p:sp>
      <p:sp>
        <p:nvSpPr>
          <p:cNvPr id="5" name="TextBox 4"/>
          <p:cNvSpPr txBox="1"/>
          <p:nvPr/>
        </p:nvSpPr>
        <p:spPr>
          <a:xfrm>
            <a:off x="6143513" y="229691"/>
            <a:ext cx="2848087" cy="646331"/>
          </a:xfrm>
          <a:prstGeom prst="rect">
            <a:avLst/>
          </a:prstGeom>
          <a:noFill/>
          <a:ln>
            <a:solidFill>
              <a:schemeClr val="tx1"/>
            </a:solidFill>
          </a:ln>
        </p:spPr>
        <p:txBody>
          <a:bodyPr wrap="none" rtlCol="0">
            <a:spAutoFit/>
          </a:bodyPr>
          <a:lstStyle/>
          <a:p>
            <a:r>
              <a:rPr lang="en-US" dirty="0"/>
              <a:t>UA = user action</a:t>
            </a:r>
          </a:p>
          <a:p>
            <a:r>
              <a:rPr lang="en-US" dirty="0"/>
              <a:t>SD = system display (response)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Walkthrough UA1 </a:t>
            </a:r>
          </a:p>
        </p:txBody>
      </p:sp>
      <p:sp>
        <p:nvSpPr>
          <p:cNvPr id="3" name="Content Placeholder 2"/>
          <p:cNvSpPr>
            <a:spLocks noGrp="1"/>
          </p:cNvSpPr>
          <p:nvPr>
            <p:ph sz="quarter" idx="1"/>
          </p:nvPr>
        </p:nvSpPr>
        <p:spPr>
          <a:xfrm>
            <a:off x="0" y="1417638"/>
            <a:ext cx="5562600" cy="4572000"/>
          </a:xfrm>
        </p:spPr>
        <p:txBody>
          <a:bodyPr>
            <a:normAutofit fontScale="92500" lnSpcReduction="20000"/>
          </a:bodyPr>
          <a:lstStyle/>
          <a:p>
            <a:pPr marL="514350" indent="-514350">
              <a:buNone/>
            </a:pPr>
            <a:r>
              <a:rPr lang="en-US" dirty="0"/>
              <a:t>UA 1: Press the ‘timed record’ button</a:t>
            </a:r>
          </a:p>
          <a:p>
            <a:pPr marL="788670" lvl="1" indent="-514350">
              <a:buFont typeface="+mj-lt"/>
              <a:buAutoNum type="arabicPeriod"/>
            </a:pPr>
            <a:endParaRPr lang="en-US" dirty="0"/>
          </a:p>
          <a:p>
            <a:pPr marL="788670" lvl="1" indent="-514350">
              <a:buFont typeface="+mj-lt"/>
              <a:buAutoNum type="arabicPeriod"/>
            </a:pPr>
            <a:r>
              <a:rPr lang="en-US" dirty="0"/>
              <a:t>Will users see that the action is available?</a:t>
            </a:r>
          </a:p>
          <a:p>
            <a:pPr marL="788670" lvl="1" indent="-514350">
              <a:buFont typeface="+mj-lt"/>
              <a:buAutoNum type="arabicPeriod"/>
            </a:pPr>
            <a:endParaRPr lang="en-US" dirty="0"/>
          </a:p>
          <a:p>
            <a:pPr marL="788670" lvl="1" indent="-514350">
              <a:buFont typeface="+mj-lt"/>
              <a:buAutoNum type="arabicPeriod"/>
            </a:pPr>
            <a:r>
              <a:rPr lang="en-US" dirty="0"/>
              <a:t>Once users have found the correct action, will they know it is the one they need?</a:t>
            </a:r>
          </a:p>
          <a:p>
            <a:pPr marL="788670" lvl="1" indent="-514350">
              <a:buFont typeface="+mj-lt"/>
              <a:buAutoNum type="arabicPeriod"/>
            </a:pPr>
            <a:endParaRPr lang="en-US" dirty="0"/>
          </a:p>
          <a:p>
            <a:pPr marL="788670" lvl="1" indent="-514350">
              <a:buFont typeface="+mj-lt"/>
              <a:buAutoNum type="arabicPeriod"/>
            </a:pPr>
            <a:r>
              <a:rPr lang="en-US" dirty="0"/>
              <a:t>Is the effect of the action the same as the user’s goal at that point?</a:t>
            </a:r>
          </a:p>
          <a:p>
            <a:pPr marL="788670" lvl="1" indent="-514350">
              <a:buFont typeface="+mj-lt"/>
              <a:buAutoNum type="arabicPeriod"/>
            </a:pPr>
            <a:endParaRPr lang="en-US" dirty="0"/>
          </a:p>
          <a:p>
            <a:pPr marL="788670" lvl="1" indent="-514350">
              <a:buFont typeface="+mj-lt"/>
              <a:buAutoNum type="arabicPeriod"/>
            </a:pPr>
            <a:r>
              <a:rPr lang="en-US" dirty="0"/>
              <a:t>After the action is taken, will users understand the feedback they get?</a:t>
            </a:r>
          </a:p>
        </p:txBody>
      </p:sp>
      <p:pic>
        <p:nvPicPr>
          <p:cNvPr id="4" name="Picture 2"/>
          <p:cNvPicPr>
            <a:picLocks noChangeAspect="1" noChangeArrowheads="1"/>
          </p:cNvPicPr>
          <p:nvPr/>
        </p:nvPicPr>
        <p:blipFill>
          <a:blip r:embed="rId3" cstate="print"/>
          <a:srcRect/>
          <a:stretch>
            <a:fillRect/>
          </a:stretch>
        </p:blipFill>
        <p:spPr bwMode="auto">
          <a:xfrm>
            <a:off x="5562600" y="1600200"/>
            <a:ext cx="3409950" cy="3869897"/>
          </a:xfrm>
          <a:prstGeom prst="rect">
            <a:avLst/>
          </a:prstGeom>
          <a:noFill/>
          <a:ln w="9525">
            <a:noFill/>
            <a:miter lim="800000"/>
            <a:headEnd/>
            <a:tailEnd/>
          </a:ln>
          <a:effectLst/>
        </p:spPr>
      </p:pic>
      <p:sp>
        <p:nvSpPr>
          <p:cNvPr id="5" name="TextBox 4"/>
          <p:cNvSpPr txBox="1"/>
          <p:nvPr/>
        </p:nvSpPr>
        <p:spPr>
          <a:xfrm>
            <a:off x="5846644" y="1209088"/>
            <a:ext cx="971550" cy="369332"/>
          </a:xfrm>
          <a:prstGeom prst="rect">
            <a:avLst/>
          </a:prstGeom>
          <a:noFill/>
          <a:ln>
            <a:noFill/>
          </a:ln>
        </p:spPr>
        <p:txBody>
          <a:bodyPr wrap="square" rtlCol="0">
            <a:spAutoFit/>
          </a:bodyPr>
          <a:lstStyle/>
          <a:p>
            <a:r>
              <a:rPr lang="en-US" dirty="0"/>
              <a:t>Display 2</a:t>
            </a:r>
          </a:p>
        </p:txBody>
      </p:sp>
      <p:sp>
        <p:nvSpPr>
          <p:cNvPr id="6" name="TextBox 5"/>
          <p:cNvSpPr txBox="1"/>
          <p:nvPr/>
        </p:nvSpPr>
        <p:spPr>
          <a:xfrm>
            <a:off x="7683690" y="1209088"/>
            <a:ext cx="990600" cy="369332"/>
          </a:xfrm>
          <a:prstGeom prst="rect">
            <a:avLst/>
          </a:prstGeom>
          <a:noFill/>
          <a:ln>
            <a:noFill/>
          </a:ln>
        </p:spPr>
        <p:txBody>
          <a:bodyPr wrap="square" rtlCol="0">
            <a:spAutoFit/>
          </a:bodyPr>
          <a:lstStyle/>
          <a:p>
            <a:r>
              <a:rPr lang="en-US" dirty="0"/>
              <a:t>Display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1845"/>
            <a:ext cx="7772400" cy="1143000"/>
          </a:xfrm>
        </p:spPr>
        <p:txBody>
          <a:bodyPr/>
          <a:lstStyle/>
          <a:p>
            <a:r>
              <a:rPr lang="en-US" dirty="0"/>
              <a:t>Walkthrough UA1 </a:t>
            </a:r>
          </a:p>
        </p:txBody>
      </p:sp>
      <p:sp>
        <p:nvSpPr>
          <p:cNvPr id="3" name="Content Placeholder 2"/>
          <p:cNvSpPr>
            <a:spLocks noGrp="1"/>
          </p:cNvSpPr>
          <p:nvPr>
            <p:ph sz="quarter" idx="1"/>
          </p:nvPr>
        </p:nvSpPr>
        <p:spPr>
          <a:xfrm>
            <a:off x="152400" y="1447800"/>
            <a:ext cx="8763000" cy="5029200"/>
          </a:xfrm>
        </p:spPr>
        <p:txBody>
          <a:bodyPr>
            <a:normAutofit fontScale="62500" lnSpcReduction="20000"/>
          </a:bodyPr>
          <a:lstStyle/>
          <a:p>
            <a:pPr>
              <a:buNone/>
            </a:pPr>
            <a:r>
              <a:rPr lang="en-US" b="1" i="1" dirty="0"/>
              <a:t>Question 1: Will users see that the action is available?</a:t>
            </a:r>
            <a:endParaRPr lang="en-US" b="1" dirty="0"/>
          </a:p>
          <a:p>
            <a:pPr>
              <a:buNone/>
            </a:pPr>
            <a:r>
              <a:rPr lang="en-US" dirty="0"/>
              <a:t>The ‘timed record’ button is visible on the remote control.</a:t>
            </a:r>
          </a:p>
          <a:p>
            <a:pPr>
              <a:buNone/>
            </a:pPr>
            <a:r>
              <a:rPr lang="en-US" dirty="0"/>
              <a:t> </a:t>
            </a:r>
          </a:p>
          <a:p>
            <a:pPr>
              <a:buNone/>
            </a:pPr>
            <a:r>
              <a:rPr lang="en-US" b="1" i="1" dirty="0"/>
              <a:t>Question 2: Once users have found the correct action, will they know it is the one they need?</a:t>
            </a:r>
            <a:endParaRPr lang="en-US" b="1" dirty="0"/>
          </a:p>
          <a:p>
            <a:pPr>
              <a:buNone/>
            </a:pPr>
            <a:r>
              <a:rPr lang="en-US" dirty="0"/>
              <a:t>It is not clear which button is the ‘timed record’ button. The icon of a clock (fourth button down on the right) is a possible candidate but this could be interpreted as a button to change the time. Other possible candidates might be the fourth button down on the left or the filled circle (associated with record). In fact, the icon of the clock is the correct choice but it is quite possible that the user would fail at this point. This identifies a potential usability problem.</a:t>
            </a:r>
          </a:p>
          <a:p>
            <a:pPr>
              <a:buNone/>
            </a:pPr>
            <a:endParaRPr lang="en-US" b="1" i="1" dirty="0"/>
          </a:p>
          <a:p>
            <a:pPr>
              <a:buNone/>
            </a:pPr>
            <a:r>
              <a:rPr lang="en-US" b="1" i="1" dirty="0"/>
              <a:t>Question 3: Is the effect of the action the same as the user’s goal at that point?</a:t>
            </a:r>
            <a:endParaRPr lang="en-US" b="1" dirty="0"/>
          </a:p>
          <a:p>
            <a:pPr>
              <a:buNone/>
            </a:pPr>
            <a:r>
              <a:rPr lang="en-US" dirty="0"/>
              <a:t>The timed record button initiates timer programming. It is reasonable to assume that a user familiar with VCRs would be trying to do this as his first goal.</a:t>
            </a:r>
          </a:p>
          <a:p>
            <a:pPr>
              <a:buNone/>
            </a:pPr>
            <a:endParaRPr lang="en-US" dirty="0"/>
          </a:p>
          <a:p>
            <a:pPr>
              <a:buNone/>
            </a:pPr>
            <a:r>
              <a:rPr lang="en-US" b="1" i="1" dirty="0"/>
              <a:t>Question 4: After the action is taken, will users understand the feedback they get?</a:t>
            </a:r>
            <a:endParaRPr lang="en-US" b="1" dirty="0"/>
          </a:p>
          <a:p>
            <a:pPr>
              <a:buNone/>
            </a:pPr>
            <a:r>
              <a:rPr lang="en-US" dirty="0"/>
              <a:t>Once the action is taken the display changes to the timed record mode and shows familiar headings (start, end, channel, date). It is reasonable to assume that the user would recognize these as indicating successful completion of the first action.</a:t>
            </a:r>
          </a:p>
        </p:txBody>
      </p:sp>
      <p:pic>
        <p:nvPicPr>
          <p:cNvPr id="4" name="Picture 3"/>
          <p:cNvPicPr>
            <a:picLocks noChangeAspect="1"/>
          </p:cNvPicPr>
          <p:nvPr/>
        </p:nvPicPr>
        <p:blipFill>
          <a:blip r:embed="rId3"/>
          <a:stretch>
            <a:fillRect/>
          </a:stretch>
        </p:blipFill>
        <p:spPr>
          <a:xfrm>
            <a:off x="5791200" y="95121"/>
            <a:ext cx="1384259" cy="2159445"/>
          </a:xfrm>
          <a:prstGeom prst="rect">
            <a:avLst/>
          </a:prstGeom>
        </p:spPr>
      </p:pic>
      <p:pic>
        <p:nvPicPr>
          <p:cNvPr id="5" name="Picture 2"/>
          <p:cNvPicPr>
            <a:picLocks noChangeAspect="1" noChangeArrowheads="1"/>
          </p:cNvPicPr>
          <p:nvPr/>
        </p:nvPicPr>
        <p:blipFill rotWithShape="1">
          <a:blip r:embed="rId4" cstate="print"/>
          <a:srcRect l="53631" t="8383" b="10579"/>
          <a:stretch/>
        </p:blipFill>
        <p:spPr bwMode="auto">
          <a:xfrm>
            <a:off x="7797904" y="128103"/>
            <a:ext cx="1064547" cy="2111423"/>
          </a:xfrm>
          <a:prstGeom prst="rect">
            <a:avLst/>
          </a:prstGeom>
          <a:noFill/>
          <a:ln w="9525">
            <a:noFill/>
            <a:miter lim="800000"/>
            <a:headEnd/>
            <a:tailEnd/>
          </a:ln>
          <a:effectLst/>
        </p:spPr>
      </p:pic>
      <p:pic>
        <p:nvPicPr>
          <p:cNvPr id="6" name="Picture 5"/>
          <p:cNvPicPr>
            <a:picLocks noChangeAspect="1"/>
          </p:cNvPicPr>
          <p:nvPr/>
        </p:nvPicPr>
        <p:blipFill>
          <a:blip r:embed="rId5"/>
          <a:stretch>
            <a:fillRect/>
          </a:stretch>
        </p:blipFill>
        <p:spPr>
          <a:xfrm>
            <a:off x="4038600" y="95121"/>
            <a:ext cx="1641454" cy="1352679"/>
          </a:xfrm>
          <a:prstGeom prst="rect">
            <a:avLst/>
          </a:prstGeom>
        </p:spPr>
      </p:pic>
      <p:sp>
        <p:nvSpPr>
          <p:cNvPr id="7" name="Left Arrow 6"/>
          <p:cNvSpPr/>
          <p:nvPr/>
        </p:nvSpPr>
        <p:spPr>
          <a:xfrm>
            <a:off x="7175459" y="914400"/>
            <a:ext cx="622445" cy="260443"/>
          </a:xfrm>
          <a:prstGeom prst="lef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5474" name="Rectangle 2"/>
          <p:cNvSpPr>
            <a:spLocks noGrp="1" noChangeArrowheads="1"/>
          </p:cNvSpPr>
          <p:nvPr>
            <p:ph type="title"/>
          </p:nvPr>
        </p:nvSpPr>
        <p:spPr>
          <a:xfrm>
            <a:off x="0" y="65088"/>
            <a:ext cx="9144000" cy="917575"/>
          </a:xfrm>
        </p:spPr>
        <p:txBody>
          <a:bodyPr/>
          <a:lstStyle/>
          <a:p>
            <a:r>
              <a:rPr lang="en-US"/>
              <a:t>Cognitive Walkthrough Example</a:t>
            </a:r>
          </a:p>
        </p:txBody>
      </p:sp>
      <p:sp>
        <p:nvSpPr>
          <p:cNvPr id="1385475" name="Rectangle 3"/>
          <p:cNvSpPr>
            <a:spLocks noGrp="1" noChangeArrowheads="1"/>
          </p:cNvSpPr>
          <p:nvPr>
            <p:ph type="body" idx="1"/>
          </p:nvPr>
        </p:nvSpPr>
        <p:spPr>
          <a:xfrm>
            <a:off x="685800" y="1447800"/>
            <a:ext cx="7772400" cy="4953000"/>
          </a:xfrm>
        </p:spPr>
        <p:txBody>
          <a:bodyPr/>
          <a:lstStyle/>
          <a:p>
            <a:pPr marL="342900" indent="-342900"/>
            <a:r>
              <a:rPr lang="en-US" dirty="0"/>
              <a:t>Consider the following interface for a train ticket vending machine</a:t>
            </a:r>
            <a:br>
              <a:rPr lang="en-US" dirty="0"/>
            </a:br>
            <a:br>
              <a:rPr lang="en-US" dirty="0"/>
            </a:br>
            <a:br>
              <a:rPr lang="en-US" dirty="0"/>
            </a:br>
            <a:br>
              <a:rPr lang="en-US" dirty="0"/>
            </a:br>
            <a:br>
              <a:rPr lang="en-US" dirty="0"/>
            </a:br>
            <a:endParaRPr lang="en-US" dirty="0"/>
          </a:p>
          <a:p>
            <a:pPr marL="342900" indent="-342900">
              <a:buFontTx/>
              <a:buNone/>
            </a:pPr>
            <a:br>
              <a:rPr lang="en-US" dirty="0"/>
            </a:br>
            <a:endParaRPr lang="en-US" dirty="0"/>
          </a:p>
          <a:p>
            <a:pPr marL="342900" indent="-342900"/>
            <a:endParaRPr lang="en-US" dirty="0"/>
          </a:p>
        </p:txBody>
      </p:sp>
      <p:grpSp>
        <p:nvGrpSpPr>
          <p:cNvPr id="2" name="Group 4"/>
          <p:cNvGrpSpPr>
            <a:grpSpLocks/>
          </p:cNvGrpSpPr>
          <p:nvPr/>
        </p:nvGrpSpPr>
        <p:grpSpPr bwMode="auto">
          <a:xfrm>
            <a:off x="838200" y="2514600"/>
            <a:ext cx="7086600" cy="3048000"/>
            <a:chOff x="528" y="1584"/>
            <a:chExt cx="4464" cy="1920"/>
          </a:xfrm>
        </p:grpSpPr>
        <p:sp>
          <p:nvSpPr>
            <p:cNvPr id="1385477" name="Rectangle 5"/>
            <p:cNvSpPr>
              <a:spLocks noChangeArrowheads="1"/>
            </p:cNvSpPr>
            <p:nvPr/>
          </p:nvSpPr>
          <p:spPr bwMode="auto">
            <a:xfrm>
              <a:off x="528" y="1584"/>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78" name="Text Box 6"/>
            <p:cNvSpPr txBox="1">
              <a:spLocks noChangeArrowheads="1"/>
            </p:cNvSpPr>
            <p:nvPr/>
          </p:nvSpPr>
          <p:spPr bwMode="auto">
            <a:xfrm>
              <a:off x="576" y="1626"/>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85479" name="Rectangle 7"/>
            <p:cNvSpPr>
              <a:spLocks noChangeArrowheads="1"/>
            </p:cNvSpPr>
            <p:nvPr/>
          </p:nvSpPr>
          <p:spPr bwMode="auto">
            <a:xfrm>
              <a:off x="2112" y="1920"/>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388" y="2448"/>
              <a:ext cx="384" cy="504"/>
              <a:chOff x="4896" y="1056"/>
              <a:chExt cx="384" cy="504"/>
            </a:xfrm>
          </p:grpSpPr>
          <p:sp>
            <p:nvSpPr>
              <p:cNvPr id="138548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8548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8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549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85494" name="Oval 22"/>
            <p:cNvSpPr>
              <a:spLocks noChangeArrowheads="1"/>
            </p:cNvSpPr>
            <p:nvPr/>
          </p:nvSpPr>
          <p:spPr bwMode="auto">
            <a:xfrm>
              <a:off x="768"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5" name="Oval 23"/>
            <p:cNvSpPr>
              <a:spLocks noChangeArrowheads="1"/>
            </p:cNvSpPr>
            <p:nvPr/>
          </p:nvSpPr>
          <p:spPr bwMode="auto">
            <a:xfrm>
              <a:off x="768"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6" name="Oval 24"/>
            <p:cNvSpPr>
              <a:spLocks noChangeArrowheads="1"/>
            </p:cNvSpPr>
            <p:nvPr/>
          </p:nvSpPr>
          <p:spPr bwMode="auto">
            <a:xfrm>
              <a:off x="768" y="230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7" name="Oval 25"/>
            <p:cNvSpPr>
              <a:spLocks noChangeArrowheads="1"/>
            </p:cNvSpPr>
            <p:nvPr/>
          </p:nvSpPr>
          <p:spPr bwMode="auto">
            <a:xfrm>
              <a:off x="768" y="249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8" name="Oval 26"/>
            <p:cNvSpPr>
              <a:spLocks noChangeArrowheads="1"/>
            </p:cNvSpPr>
            <p:nvPr/>
          </p:nvSpPr>
          <p:spPr bwMode="auto">
            <a:xfrm>
              <a:off x="768" y="268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499" name="Oval 27"/>
            <p:cNvSpPr>
              <a:spLocks noChangeArrowheads="1"/>
            </p:cNvSpPr>
            <p:nvPr/>
          </p:nvSpPr>
          <p:spPr bwMode="auto">
            <a:xfrm>
              <a:off x="768" y="288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0" name="AutoShape 28"/>
            <p:cNvSpPr>
              <a:spLocks noChangeArrowheads="1"/>
            </p:cNvSpPr>
            <p:nvPr/>
          </p:nvSpPr>
          <p:spPr bwMode="auto">
            <a:xfrm>
              <a:off x="552" y="1608"/>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1" name="AutoShape 29"/>
            <p:cNvSpPr>
              <a:spLocks noChangeArrowheads="1"/>
            </p:cNvSpPr>
            <p:nvPr/>
          </p:nvSpPr>
          <p:spPr bwMode="auto">
            <a:xfrm>
              <a:off x="3120" y="1608"/>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2" name="Text Box 30"/>
            <p:cNvSpPr txBox="1">
              <a:spLocks noChangeArrowheads="1"/>
            </p:cNvSpPr>
            <p:nvPr/>
          </p:nvSpPr>
          <p:spPr bwMode="auto">
            <a:xfrm>
              <a:off x="3120" y="1626"/>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85503" name="Oval 31"/>
            <p:cNvSpPr>
              <a:spLocks noChangeArrowheads="1"/>
            </p:cNvSpPr>
            <p:nvPr/>
          </p:nvSpPr>
          <p:spPr bwMode="auto">
            <a:xfrm>
              <a:off x="3312"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4" name="Oval 32"/>
            <p:cNvSpPr>
              <a:spLocks noChangeArrowheads="1"/>
            </p:cNvSpPr>
            <p:nvPr/>
          </p:nvSpPr>
          <p:spPr bwMode="auto">
            <a:xfrm>
              <a:off x="3312"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5505" name="AutoShape 33"/>
            <p:cNvSpPr>
              <a:spLocks noChangeArrowheads="1"/>
            </p:cNvSpPr>
            <p:nvPr/>
          </p:nvSpPr>
          <p:spPr bwMode="auto">
            <a:xfrm>
              <a:off x="3120" y="2328"/>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06" name="Text Box 34"/>
            <p:cNvSpPr txBox="1">
              <a:spLocks noChangeArrowheads="1"/>
            </p:cNvSpPr>
            <p:nvPr/>
          </p:nvSpPr>
          <p:spPr bwMode="auto">
            <a:xfrm>
              <a:off x="3120" y="2325"/>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85507" name="Rectangle 35"/>
            <p:cNvSpPr>
              <a:spLocks noChangeArrowheads="1"/>
            </p:cNvSpPr>
            <p:nvPr/>
          </p:nvSpPr>
          <p:spPr bwMode="auto">
            <a:xfrm>
              <a:off x="3600" y="2612"/>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5508" name="Text Box 36"/>
            <p:cNvSpPr txBox="1">
              <a:spLocks noChangeArrowheads="1"/>
            </p:cNvSpPr>
            <p:nvPr/>
          </p:nvSpPr>
          <p:spPr bwMode="auto">
            <a:xfrm>
              <a:off x="3216"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85509" name="Text Box 37"/>
            <p:cNvSpPr txBox="1">
              <a:spLocks noChangeArrowheads="1"/>
            </p:cNvSpPr>
            <p:nvPr/>
          </p:nvSpPr>
          <p:spPr bwMode="auto">
            <a:xfrm>
              <a:off x="3792"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85510" name="Rectangle 38"/>
            <p:cNvSpPr>
              <a:spLocks noChangeArrowheads="1"/>
            </p:cNvSpPr>
            <p:nvPr/>
          </p:nvSpPr>
          <p:spPr bwMode="auto">
            <a:xfrm>
              <a:off x="4128" y="2660"/>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5511" name="AutoShape 39"/>
            <p:cNvSpPr>
              <a:spLocks noChangeArrowheads="1"/>
            </p:cNvSpPr>
            <p:nvPr/>
          </p:nvSpPr>
          <p:spPr bwMode="auto">
            <a:xfrm>
              <a:off x="2304" y="3102"/>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5512" name="Text Box 40"/>
            <p:cNvSpPr txBox="1">
              <a:spLocks noChangeArrowheads="1"/>
            </p:cNvSpPr>
            <p:nvPr/>
          </p:nvSpPr>
          <p:spPr bwMode="auto">
            <a:xfrm>
              <a:off x="2496" y="3158"/>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85513" name="Oval 41"/>
            <p:cNvSpPr>
              <a:spLocks noChangeArrowheads="1"/>
            </p:cNvSpPr>
            <p:nvPr/>
          </p:nvSpPr>
          <p:spPr bwMode="auto">
            <a:xfrm>
              <a:off x="2352" y="3216"/>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85514" name="Text Box 42"/>
            <p:cNvSpPr txBox="1">
              <a:spLocks noChangeArrowheads="1"/>
            </p:cNvSpPr>
            <p:nvPr/>
          </p:nvSpPr>
          <p:spPr bwMode="auto">
            <a:xfrm>
              <a:off x="576" y="3153"/>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85515" name="Rectangle 43"/>
            <p:cNvSpPr>
              <a:spLocks noChangeArrowheads="1"/>
            </p:cNvSpPr>
            <p:nvPr/>
          </p:nvSpPr>
          <p:spPr bwMode="auto">
            <a:xfrm>
              <a:off x="576" y="3084"/>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2" name="Rectangle 2"/>
          <p:cNvSpPr>
            <a:spLocks noGrp="1" noChangeArrowheads="1"/>
          </p:cNvSpPr>
          <p:nvPr>
            <p:ph type="title"/>
          </p:nvPr>
        </p:nvSpPr>
        <p:spPr>
          <a:xfrm>
            <a:off x="0" y="147638"/>
            <a:ext cx="9144000" cy="835025"/>
          </a:xfrm>
        </p:spPr>
        <p:txBody>
          <a:bodyPr/>
          <a:lstStyle/>
          <a:p>
            <a:r>
              <a:rPr lang="en-US"/>
              <a:t>Cognitive Walkthrough Example</a:t>
            </a:r>
          </a:p>
        </p:txBody>
      </p:sp>
      <p:sp>
        <p:nvSpPr>
          <p:cNvPr id="1387523" name="Rectangle 3"/>
          <p:cNvSpPr>
            <a:spLocks noGrp="1" noChangeArrowheads="1"/>
          </p:cNvSpPr>
          <p:nvPr>
            <p:ph type="body" idx="1"/>
          </p:nvPr>
        </p:nvSpPr>
        <p:spPr>
          <a:xfrm>
            <a:off x="57025" y="1371600"/>
            <a:ext cx="7772400" cy="4572000"/>
          </a:xfrm>
        </p:spPr>
        <p:txBody>
          <a:bodyPr/>
          <a:lstStyle/>
          <a:p>
            <a:pPr marL="342900" indent="-342900"/>
            <a:r>
              <a:rPr lang="en-US" dirty="0"/>
              <a:t>Scenario:</a:t>
            </a:r>
          </a:p>
          <a:p>
            <a:pPr marL="742950" lvl="1" indent="-285750"/>
            <a:r>
              <a:rPr lang="en-US" dirty="0"/>
              <a:t>Nick is visiting a friend for</a:t>
            </a:r>
            <a:br>
              <a:rPr lang="en-US" dirty="0"/>
            </a:br>
            <a:r>
              <a:rPr lang="en-US" dirty="0"/>
              <a:t>a few days and wants to</a:t>
            </a:r>
            <a:br>
              <a:rPr lang="en-US" dirty="0"/>
            </a:br>
            <a:r>
              <a:rPr lang="en-US" dirty="0"/>
              <a:t>buy a one-way ticket </a:t>
            </a:r>
          </a:p>
          <a:p>
            <a:pPr marL="742950" lvl="1" indent="-285750">
              <a:buFont typeface="Tahoma" pitchFamily="34" charset="0"/>
              <a:buNone/>
            </a:pPr>
            <a:r>
              <a:rPr lang="en-US" dirty="0"/>
              <a:t>   to </a:t>
            </a:r>
            <a:r>
              <a:rPr lang="en-US" i="1" dirty="0"/>
              <a:t>New Brunswick</a:t>
            </a:r>
            <a:r>
              <a:rPr lang="en-US" dirty="0"/>
              <a:t>  </a:t>
            </a:r>
          </a:p>
          <a:p>
            <a:pPr marL="742950" lvl="1" indent="-285750">
              <a:buFont typeface="Tahoma" pitchFamily="34" charset="0"/>
              <a:buNone/>
            </a:pPr>
            <a:r>
              <a:rPr lang="en-US" dirty="0"/>
              <a:t>	Nick has a $5 bill in his </a:t>
            </a:r>
          </a:p>
          <a:p>
            <a:pPr marL="742950" lvl="1" indent="-285750">
              <a:buFont typeface="Tahoma" pitchFamily="34" charset="0"/>
              <a:buNone/>
            </a:pPr>
            <a:r>
              <a:rPr lang="en-US" dirty="0"/>
              <a:t>	pocket plus some loose change.</a:t>
            </a:r>
          </a:p>
          <a:p>
            <a:pPr marL="342900" indent="-342900">
              <a:buFontTx/>
              <a:buNone/>
            </a:pPr>
            <a:r>
              <a:rPr lang="en-US" dirty="0"/>
              <a:t>What does the user want to achieve?</a:t>
            </a:r>
          </a:p>
          <a:p>
            <a:pPr marL="342900" indent="-342900">
              <a:buFontTx/>
              <a:buNone/>
            </a:pPr>
            <a:r>
              <a:rPr lang="en-US" dirty="0"/>
              <a:t>		Purchase a one-way ticket to New Brunswick</a:t>
            </a:r>
          </a:p>
        </p:txBody>
      </p:sp>
      <p:pic>
        <p:nvPicPr>
          <p:cNvPr id="5" name="Picture 4">
            <a:extLst>
              <a:ext uri="{FF2B5EF4-FFF2-40B4-BE49-F238E27FC236}">
                <a16:creationId xmlns:a16="http://schemas.microsoft.com/office/drawing/2014/main" id="{2BC17184-3C54-4208-8482-4DB58662B6F9}"/>
              </a:ext>
            </a:extLst>
          </p:cNvPr>
          <p:cNvPicPr>
            <a:picLocks noChangeAspect="1"/>
          </p:cNvPicPr>
          <p:nvPr/>
        </p:nvPicPr>
        <p:blipFill>
          <a:blip r:embed="rId3"/>
          <a:stretch>
            <a:fillRect/>
          </a:stretch>
        </p:blipFill>
        <p:spPr>
          <a:xfrm>
            <a:off x="3950659" y="1371600"/>
            <a:ext cx="5215944" cy="228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70" name="Rectangle 2"/>
          <p:cNvSpPr>
            <a:spLocks noGrp="1" noChangeArrowheads="1"/>
          </p:cNvSpPr>
          <p:nvPr>
            <p:ph type="title"/>
          </p:nvPr>
        </p:nvSpPr>
        <p:spPr/>
        <p:txBody>
          <a:bodyPr/>
          <a:lstStyle/>
          <a:p>
            <a:r>
              <a:rPr lang="en-US"/>
              <a:t>Cognitive Walkthrough Example</a:t>
            </a:r>
          </a:p>
        </p:txBody>
      </p:sp>
      <p:sp>
        <p:nvSpPr>
          <p:cNvPr id="1389571"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grpSp>
        <p:nvGrpSpPr>
          <p:cNvPr id="2" name="Group 4"/>
          <p:cNvGrpSpPr>
            <a:grpSpLocks/>
          </p:cNvGrpSpPr>
          <p:nvPr/>
        </p:nvGrpSpPr>
        <p:grpSpPr bwMode="auto">
          <a:xfrm>
            <a:off x="1143000" y="2743200"/>
            <a:ext cx="7086600" cy="3048000"/>
            <a:chOff x="528" y="1584"/>
            <a:chExt cx="4464" cy="1920"/>
          </a:xfrm>
        </p:grpSpPr>
        <p:sp>
          <p:nvSpPr>
            <p:cNvPr id="1389573" name="Rectangle 5"/>
            <p:cNvSpPr>
              <a:spLocks noChangeArrowheads="1"/>
            </p:cNvSpPr>
            <p:nvPr/>
          </p:nvSpPr>
          <p:spPr bwMode="auto">
            <a:xfrm>
              <a:off x="528" y="1584"/>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74" name="Text Box 6"/>
            <p:cNvSpPr txBox="1">
              <a:spLocks noChangeArrowheads="1"/>
            </p:cNvSpPr>
            <p:nvPr/>
          </p:nvSpPr>
          <p:spPr bwMode="auto">
            <a:xfrm>
              <a:off x="576" y="1626"/>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89575" name="Rectangle 7"/>
            <p:cNvSpPr>
              <a:spLocks noChangeArrowheads="1"/>
            </p:cNvSpPr>
            <p:nvPr/>
          </p:nvSpPr>
          <p:spPr bwMode="auto">
            <a:xfrm>
              <a:off x="2112" y="1920"/>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388" y="2448"/>
              <a:ext cx="384" cy="504"/>
              <a:chOff x="4896" y="1056"/>
              <a:chExt cx="384" cy="504"/>
            </a:xfrm>
          </p:grpSpPr>
          <p:sp>
            <p:nvSpPr>
              <p:cNvPr id="1389577"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89578"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79"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0"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1"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2"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3"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4"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5"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6"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7"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8"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89589"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89590" name="Oval 22"/>
            <p:cNvSpPr>
              <a:spLocks noChangeArrowheads="1"/>
            </p:cNvSpPr>
            <p:nvPr/>
          </p:nvSpPr>
          <p:spPr bwMode="auto">
            <a:xfrm>
              <a:off x="768"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1" name="Oval 23"/>
            <p:cNvSpPr>
              <a:spLocks noChangeArrowheads="1"/>
            </p:cNvSpPr>
            <p:nvPr/>
          </p:nvSpPr>
          <p:spPr bwMode="auto">
            <a:xfrm>
              <a:off x="768"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2" name="Oval 24"/>
            <p:cNvSpPr>
              <a:spLocks noChangeArrowheads="1"/>
            </p:cNvSpPr>
            <p:nvPr/>
          </p:nvSpPr>
          <p:spPr bwMode="auto">
            <a:xfrm>
              <a:off x="768" y="230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3" name="Oval 25"/>
            <p:cNvSpPr>
              <a:spLocks noChangeArrowheads="1"/>
            </p:cNvSpPr>
            <p:nvPr/>
          </p:nvSpPr>
          <p:spPr bwMode="auto">
            <a:xfrm>
              <a:off x="768" y="249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4" name="Oval 26"/>
            <p:cNvSpPr>
              <a:spLocks noChangeArrowheads="1"/>
            </p:cNvSpPr>
            <p:nvPr/>
          </p:nvSpPr>
          <p:spPr bwMode="auto">
            <a:xfrm>
              <a:off x="768" y="268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5" name="Oval 27"/>
            <p:cNvSpPr>
              <a:spLocks noChangeArrowheads="1"/>
            </p:cNvSpPr>
            <p:nvPr/>
          </p:nvSpPr>
          <p:spPr bwMode="auto">
            <a:xfrm>
              <a:off x="768" y="288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596" name="AutoShape 28"/>
            <p:cNvSpPr>
              <a:spLocks noChangeArrowheads="1"/>
            </p:cNvSpPr>
            <p:nvPr/>
          </p:nvSpPr>
          <p:spPr bwMode="auto">
            <a:xfrm>
              <a:off x="552" y="1608"/>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597" name="AutoShape 29"/>
            <p:cNvSpPr>
              <a:spLocks noChangeArrowheads="1"/>
            </p:cNvSpPr>
            <p:nvPr/>
          </p:nvSpPr>
          <p:spPr bwMode="auto">
            <a:xfrm>
              <a:off x="3120" y="1608"/>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598" name="Text Box 30"/>
            <p:cNvSpPr txBox="1">
              <a:spLocks noChangeArrowheads="1"/>
            </p:cNvSpPr>
            <p:nvPr/>
          </p:nvSpPr>
          <p:spPr bwMode="auto">
            <a:xfrm>
              <a:off x="3120" y="1626"/>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89599" name="Oval 31"/>
            <p:cNvSpPr>
              <a:spLocks noChangeArrowheads="1"/>
            </p:cNvSpPr>
            <p:nvPr/>
          </p:nvSpPr>
          <p:spPr bwMode="auto">
            <a:xfrm>
              <a:off x="3312" y="192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600" name="Oval 32"/>
            <p:cNvSpPr>
              <a:spLocks noChangeArrowheads="1"/>
            </p:cNvSpPr>
            <p:nvPr/>
          </p:nvSpPr>
          <p:spPr bwMode="auto">
            <a:xfrm>
              <a:off x="3312" y="211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89601" name="AutoShape 33"/>
            <p:cNvSpPr>
              <a:spLocks noChangeArrowheads="1"/>
            </p:cNvSpPr>
            <p:nvPr/>
          </p:nvSpPr>
          <p:spPr bwMode="auto">
            <a:xfrm>
              <a:off x="3120" y="2328"/>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602" name="Text Box 34"/>
            <p:cNvSpPr txBox="1">
              <a:spLocks noChangeArrowheads="1"/>
            </p:cNvSpPr>
            <p:nvPr/>
          </p:nvSpPr>
          <p:spPr bwMode="auto">
            <a:xfrm>
              <a:off x="3120" y="2325"/>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89603" name="Rectangle 35"/>
            <p:cNvSpPr>
              <a:spLocks noChangeArrowheads="1"/>
            </p:cNvSpPr>
            <p:nvPr/>
          </p:nvSpPr>
          <p:spPr bwMode="auto">
            <a:xfrm>
              <a:off x="3600" y="2612"/>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9604" name="Text Box 36"/>
            <p:cNvSpPr txBox="1">
              <a:spLocks noChangeArrowheads="1"/>
            </p:cNvSpPr>
            <p:nvPr/>
          </p:nvSpPr>
          <p:spPr bwMode="auto">
            <a:xfrm>
              <a:off x="3216"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89605" name="Text Box 37"/>
            <p:cNvSpPr txBox="1">
              <a:spLocks noChangeArrowheads="1"/>
            </p:cNvSpPr>
            <p:nvPr/>
          </p:nvSpPr>
          <p:spPr bwMode="auto">
            <a:xfrm>
              <a:off x="3792" y="2592"/>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89606" name="Rectangle 38"/>
            <p:cNvSpPr>
              <a:spLocks noChangeArrowheads="1"/>
            </p:cNvSpPr>
            <p:nvPr/>
          </p:nvSpPr>
          <p:spPr bwMode="auto">
            <a:xfrm>
              <a:off x="4128" y="2660"/>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89607" name="AutoShape 39"/>
            <p:cNvSpPr>
              <a:spLocks noChangeArrowheads="1"/>
            </p:cNvSpPr>
            <p:nvPr/>
          </p:nvSpPr>
          <p:spPr bwMode="auto">
            <a:xfrm>
              <a:off x="2304" y="3102"/>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89608" name="Text Box 40"/>
            <p:cNvSpPr txBox="1">
              <a:spLocks noChangeArrowheads="1"/>
            </p:cNvSpPr>
            <p:nvPr/>
          </p:nvSpPr>
          <p:spPr bwMode="auto">
            <a:xfrm>
              <a:off x="2496" y="3158"/>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89609" name="Oval 41"/>
            <p:cNvSpPr>
              <a:spLocks noChangeArrowheads="1"/>
            </p:cNvSpPr>
            <p:nvPr/>
          </p:nvSpPr>
          <p:spPr bwMode="auto">
            <a:xfrm>
              <a:off x="2352" y="3216"/>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89610" name="Text Box 42"/>
            <p:cNvSpPr txBox="1">
              <a:spLocks noChangeArrowheads="1"/>
            </p:cNvSpPr>
            <p:nvPr/>
          </p:nvSpPr>
          <p:spPr bwMode="auto">
            <a:xfrm>
              <a:off x="576" y="3153"/>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89611" name="Rectangle 43"/>
            <p:cNvSpPr>
              <a:spLocks noChangeArrowheads="1"/>
            </p:cNvSpPr>
            <p:nvPr/>
          </p:nvSpPr>
          <p:spPr bwMode="auto">
            <a:xfrm>
              <a:off x="576" y="3084"/>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8" name="Rectangle 2"/>
          <p:cNvSpPr>
            <a:spLocks noGrp="1" noChangeArrowheads="1"/>
          </p:cNvSpPr>
          <p:nvPr>
            <p:ph type="title"/>
          </p:nvPr>
        </p:nvSpPr>
        <p:spPr/>
        <p:txBody>
          <a:bodyPr/>
          <a:lstStyle/>
          <a:p>
            <a:r>
              <a:rPr lang="en-US"/>
              <a:t>Cognitive Walkthrough Example</a:t>
            </a:r>
          </a:p>
        </p:txBody>
      </p:sp>
      <p:sp>
        <p:nvSpPr>
          <p:cNvPr id="1391619" name="Rectangle 3"/>
          <p:cNvSpPr>
            <a:spLocks noGrp="1" noChangeArrowheads="1"/>
          </p:cNvSpPr>
          <p:nvPr>
            <p:ph type="body" idx="1"/>
          </p:nvPr>
        </p:nvSpPr>
        <p:spPr/>
        <p:txBody>
          <a:bodyPr/>
          <a:lstStyle/>
          <a:p>
            <a:pPr marL="342900" indent="-342900">
              <a:buFontTx/>
              <a:buNone/>
            </a:pPr>
            <a:r>
              <a:rPr lang="en-US"/>
              <a:t>1. Will the correct action be evident to the user? (subgoals provided to user)</a:t>
            </a:r>
          </a:p>
        </p:txBody>
      </p:sp>
      <p:sp>
        <p:nvSpPr>
          <p:cNvPr id="139162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162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162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162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2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163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163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3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3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2"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1646"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164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4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165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165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165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165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165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165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165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165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165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1659" name="Text Box 43"/>
          <p:cNvSpPr txBox="1">
            <a:spLocks noChangeArrowheads="1"/>
          </p:cNvSpPr>
          <p:nvPr/>
        </p:nvSpPr>
        <p:spPr bwMode="auto">
          <a:xfrm>
            <a:off x="228600" y="3471863"/>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391660" name="Line 44"/>
          <p:cNvSpPr>
            <a:spLocks noChangeShapeType="1"/>
          </p:cNvSpPr>
          <p:nvPr/>
        </p:nvSpPr>
        <p:spPr bwMode="auto">
          <a:xfrm flipV="1">
            <a:off x="762000" y="3200400"/>
            <a:ext cx="457200" cy="457200"/>
          </a:xfrm>
          <a:prstGeom prst="line">
            <a:avLst/>
          </a:prstGeom>
          <a:noFill/>
          <a:ln w="38100">
            <a:solidFill>
              <a:srgbClr val="FF5050"/>
            </a:solidFill>
            <a:round/>
            <a:headEnd/>
            <a:tailEnd type="triangle" w="med" len="med"/>
          </a:ln>
          <a:effectLst/>
        </p:spPr>
        <p:txBody>
          <a:bodyPr/>
          <a:lstStyle/>
          <a:p>
            <a:endParaRPr lang="en-US"/>
          </a:p>
        </p:txBody>
      </p:sp>
      <p:sp>
        <p:nvSpPr>
          <p:cNvPr id="1391661" name="Oval 45"/>
          <p:cNvSpPr>
            <a:spLocks noChangeArrowheads="1"/>
          </p:cNvSpPr>
          <p:nvPr/>
        </p:nvSpPr>
        <p:spPr bwMode="auto">
          <a:xfrm>
            <a:off x="11430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2" name="Oval 46"/>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3" name="Oval 47"/>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391664" name="Oval 48"/>
          <p:cNvSpPr>
            <a:spLocks noChangeArrowheads="1"/>
          </p:cNvSpPr>
          <p:nvPr/>
        </p:nvSpPr>
        <p:spPr bwMode="auto">
          <a:xfrm>
            <a:off x="4191000" y="52578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p:cNvSpPr>
            <a:spLocks noGrp="1" noChangeArrowheads="1"/>
          </p:cNvSpPr>
          <p:nvPr>
            <p:ph type="title"/>
          </p:nvPr>
        </p:nvSpPr>
        <p:spPr/>
        <p:txBody>
          <a:bodyPr/>
          <a:lstStyle/>
          <a:p>
            <a:r>
              <a:rPr lang="en-US"/>
              <a:t>Cognitive Walkthrough Example</a:t>
            </a:r>
          </a:p>
        </p:txBody>
      </p:sp>
      <p:sp>
        <p:nvSpPr>
          <p:cNvPr id="1393667"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39366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6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367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367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367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7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368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368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8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0"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3694"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369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69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369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369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370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370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370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370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370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370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370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3707" name="Oval 43"/>
          <p:cNvSpPr>
            <a:spLocks noChangeArrowheads="1"/>
          </p:cNvSpPr>
          <p:nvPr/>
        </p:nvSpPr>
        <p:spPr bwMode="auto">
          <a:xfrm>
            <a:off x="1143000" y="28194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4" name="Rectangle 2"/>
          <p:cNvSpPr>
            <a:spLocks noGrp="1" noChangeArrowheads="1"/>
          </p:cNvSpPr>
          <p:nvPr>
            <p:ph type="title"/>
          </p:nvPr>
        </p:nvSpPr>
        <p:spPr/>
        <p:txBody>
          <a:bodyPr/>
          <a:lstStyle/>
          <a:p>
            <a:r>
              <a:rPr lang="en-US"/>
              <a:t>Cognitive Walkthrough Example</a:t>
            </a:r>
          </a:p>
        </p:txBody>
      </p:sp>
      <p:sp>
        <p:nvSpPr>
          <p:cNvPr id="1395715"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39571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1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571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572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572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2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573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573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8"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3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5742"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4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574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4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574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574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574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574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575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575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575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575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575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395755" name="Rectangle 43"/>
          <p:cNvSpPr>
            <a:spLocks noChangeArrowheads="1"/>
          </p:cNvSpPr>
          <p:nvPr/>
        </p:nvSpPr>
        <p:spPr bwMode="auto">
          <a:xfrm>
            <a:off x="1219200" y="2819400"/>
            <a:ext cx="4038600" cy="381000"/>
          </a:xfrm>
          <a:prstGeom prst="rect">
            <a:avLst/>
          </a:prstGeom>
          <a:noFill/>
          <a:ln w="38100">
            <a:solidFill>
              <a:srgbClr val="FF5050"/>
            </a:solidFill>
            <a:miter lim="800000"/>
            <a:headEnd/>
            <a:tailEnd/>
          </a:ln>
          <a:effectLst/>
        </p:spPr>
        <p:txBody>
          <a:bodyPr wrap="none" anchor="ctr"/>
          <a:lstStyle/>
          <a:p>
            <a:endParaRPr lang="en-US"/>
          </a:p>
        </p:txBody>
      </p:sp>
      <p:sp>
        <p:nvSpPr>
          <p:cNvPr id="1395756" name="Rectangle 44"/>
          <p:cNvSpPr>
            <a:spLocks noChangeArrowheads="1"/>
          </p:cNvSpPr>
          <p:nvPr/>
        </p:nvSpPr>
        <p:spPr bwMode="auto">
          <a:xfrm>
            <a:off x="1447800" y="4724400"/>
            <a:ext cx="1900238" cy="304800"/>
          </a:xfrm>
          <a:prstGeom prst="rect">
            <a:avLst/>
          </a:prstGeom>
          <a:noFill/>
          <a:ln w="38100">
            <a:solidFill>
              <a:srgbClr val="FF5050"/>
            </a:solidFill>
            <a:miter lim="800000"/>
            <a:headEnd/>
            <a:tailEnd/>
          </a:ln>
          <a:effectLst/>
        </p:spPr>
        <p:txBody>
          <a:bodyPr wrap="none" anchor="ctr"/>
          <a:lstStyle/>
          <a:p>
            <a:endParaRPr lang="en-US"/>
          </a:p>
        </p:txBody>
      </p:sp>
      <p:sp>
        <p:nvSpPr>
          <p:cNvPr id="1395757" name="Text Box 45"/>
          <p:cNvSpPr txBox="1">
            <a:spLocks noChangeArrowheads="1"/>
          </p:cNvSpPr>
          <p:nvPr/>
        </p:nvSpPr>
        <p:spPr bwMode="auto">
          <a:xfrm>
            <a:off x="228600" y="3505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395758" name="Line 46"/>
          <p:cNvSpPr>
            <a:spLocks noChangeShapeType="1"/>
          </p:cNvSpPr>
          <p:nvPr/>
        </p:nvSpPr>
        <p:spPr bwMode="auto">
          <a:xfrm>
            <a:off x="914400" y="3886200"/>
            <a:ext cx="533400" cy="838200"/>
          </a:xfrm>
          <a:prstGeom prst="line">
            <a:avLst/>
          </a:prstGeom>
          <a:noFill/>
          <a:ln w="38100">
            <a:solidFill>
              <a:srgbClr val="FF5050"/>
            </a:solidFill>
            <a:round/>
            <a:headEnd/>
            <a:tailEnd/>
          </a:ln>
          <a:effectLst/>
        </p:spPr>
        <p:txBody>
          <a:bodyPr/>
          <a:lstStyle/>
          <a:p>
            <a:endParaRPr lang="en-US"/>
          </a:p>
        </p:txBody>
      </p:sp>
      <p:sp>
        <p:nvSpPr>
          <p:cNvPr id="1395759" name="Line 47"/>
          <p:cNvSpPr>
            <a:spLocks noChangeShapeType="1"/>
          </p:cNvSpPr>
          <p:nvPr/>
        </p:nvSpPr>
        <p:spPr bwMode="auto">
          <a:xfrm flipV="1">
            <a:off x="838200" y="3124200"/>
            <a:ext cx="381000" cy="6096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2" name="Rectangle 2"/>
          <p:cNvSpPr>
            <a:spLocks noGrp="1" noChangeArrowheads="1"/>
          </p:cNvSpPr>
          <p:nvPr>
            <p:ph type="title"/>
          </p:nvPr>
        </p:nvSpPr>
        <p:spPr/>
        <p:txBody>
          <a:bodyPr/>
          <a:lstStyle/>
          <a:p>
            <a:r>
              <a:rPr lang="en-US"/>
              <a:t>Cognitive Walkthrough Example</a:t>
            </a:r>
          </a:p>
        </p:txBody>
      </p:sp>
      <p:sp>
        <p:nvSpPr>
          <p:cNvPr id="1397763"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39776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6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776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776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776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7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778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778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6" name="Oval 26"/>
          <p:cNvSpPr>
            <a:spLocks noChangeArrowheads="1"/>
          </p:cNvSpPr>
          <p:nvPr/>
        </p:nvSpPr>
        <p:spPr bwMode="auto">
          <a:xfrm>
            <a:off x="1524000" y="4800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8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8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8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7790"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9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779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9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779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779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779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779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779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779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780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780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780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397803" name="Picture 43" descr="bd05378_"/>
          <p:cNvPicPr>
            <a:picLocks noChangeAspect="1" noChangeArrowheads="1"/>
          </p:cNvPicPr>
          <p:nvPr/>
        </p:nvPicPr>
        <p:blipFill>
          <a:blip r:embed="rId3" cstate="print"/>
          <a:srcRect/>
          <a:stretch>
            <a:fillRect/>
          </a:stretch>
        </p:blipFill>
        <p:spPr bwMode="auto">
          <a:xfrm>
            <a:off x="712788" y="4872038"/>
            <a:ext cx="887412" cy="53816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810" name="Rectangle 2"/>
          <p:cNvSpPr>
            <a:spLocks noGrp="1" noChangeArrowheads="1"/>
          </p:cNvSpPr>
          <p:nvPr>
            <p:ph type="title"/>
          </p:nvPr>
        </p:nvSpPr>
        <p:spPr/>
        <p:txBody>
          <a:bodyPr/>
          <a:lstStyle/>
          <a:p>
            <a:r>
              <a:rPr lang="en-US"/>
              <a:t>Cognitive Walkthrough Example</a:t>
            </a:r>
          </a:p>
        </p:txBody>
      </p:sp>
      <p:sp>
        <p:nvSpPr>
          <p:cNvPr id="1399811"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39981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39981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39981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39981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1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39982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39982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39983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3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3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399838"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3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39984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4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39984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984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39984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39984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39984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39984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39984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39984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39985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399851" name="Picture 43" descr="bd05378_"/>
          <p:cNvPicPr>
            <a:picLocks noChangeAspect="1" noChangeArrowheads="1"/>
          </p:cNvPicPr>
          <p:nvPr/>
        </p:nvPicPr>
        <p:blipFill>
          <a:blip r:embed="rId3" cstate="print"/>
          <a:srcRect/>
          <a:stretch>
            <a:fillRect/>
          </a:stretch>
        </p:blipFill>
        <p:spPr bwMode="auto">
          <a:xfrm>
            <a:off x="712788" y="4872038"/>
            <a:ext cx="887412" cy="538162"/>
          </a:xfrm>
          <a:prstGeom prst="rect">
            <a:avLst/>
          </a:prstGeom>
          <a:noFill/>
          <a:ln w="9525">
            <a:noFill/>
            <a:miter lim="800000"/>
            <a:headEnd/>
            <a:tailEnd/>
          </a:ln>
        </p:spPr>
      </p:pic>
      <p:sp>
        <p:nvSpPr>
          <p:cNvPr id="1399852" name="Text Box 44"/>
          <p:cNvSpPr txBox="1">
            <a:spLocks noChangeArrowheads="1"/>
          </p:cNvSpPr>
          <p:nvPr/>
        </p:nvSpPr>
        <p:spPr bwMode="auto">
          <a:xfrm>
            <a:off x="152400" y="3200400"/>
            <a:ext cx="1066800" cy="1552575"/>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 (if button lights up…)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8" name="Rectangle 2"/>
          <p:cNvSpPr>
            <a:spLocks noGrp="1" noChangeArrowheads="1"/>
          </p:cNvSpPr>
          <p:nvPr>
            <p:ph type="title"/>
          </p:nvPr>
        </p:nvSpPr>
        <p:spPr/>
        <p:txBody>
          <a:bodyPr/>
          <a:lstStyle/>
          <a:p>
            <a:r>
              <a:rPr lang="en-US"/>
              <a:t>Cognitive Walkthrough Example</a:t>
            </a:r>
          </a:p>
        </p:txBody>
      </p:sp>
      <p:sp>
        <p:nvSpPr>
          <p:cNvPr id="1401859"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0186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186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186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186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6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187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187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7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7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188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1886"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188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8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189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189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189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189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189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189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189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189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189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3906" name="Rectangle 2"/>
          <p:cNvSpPr>
            <a:spLocks noGrp="1" noChangeArrowheads="1"/>
          </p:cNvSpPr>
          <p:nvPr>
            <p:ph type="title"/>
          </p:nvPr>
        </p:nvSpPr>
        <p:spPr/>
        <p:txBody>
          <a:bodyPr/>
          <a:lstStyle/>
          <a:p>
            <a:r>
              <a:rPr lang="en-US"/>
              <a:t>Cognitive Walkthrough Example</a:t>
            </a:r>
          </a:p>
        </p:txBody>
      </p:sp>
      <p:sp>
        <p:nvSpPr>
          <p:cNvPr id="1403907"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0390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0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391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391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391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1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392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392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2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393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3934"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393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3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393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393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394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394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394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394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394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394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394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3947" name="Oval 43"/>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
        <p:nvSpPr>
          <p:cNvPr id="1403948" name="Text Box 44"/>
          <p:cNvSpPr txBox="1">
            <a:spLocks noChangeArrowheads="1"/>
          </p:cNvSpPr>
          <p:nvPr/>
        </p:nvSpPr>
        <p:spPr bwMode="auto">
          <a:xfrm>
            <a:off x="4191000" y="22860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03949" name="Line 45"/>
          <p:cNvSpPr>
            <a:spLocks noChangeShapeType="1"/>
          </p:cNvSpPr>
          <p:nvPr/>
        </p:nvSpPr>
        <p:spPr bwMode="auto">
          <a:xfrm>
            <a:off x="4800600" y="2590800"/>
            <a:ext cx="457200" cy="228600"/>
          </a:xfrm>
          <a:prstGeom prst="line">
            <a:avLst/>
          </a:prstGeom>
          <a:noFill/>
          <a:ln w="38100">
            <a:solidFill>
              <a:srgbClr val="FF5050"/>
            </a:solidFill>
            <a:round/>
            <a:headEnd/>
            <a:tailEnd type="triangle" w="med" len="med"/>
          </a:ln>
          <a:effec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5954" name="Rectangle 2"/>
          <p:cNvSpPr>
            <a:spLocks noGrp="1" noChangeArrowheads="1"/>
          </p:cNvSpPr>
          <p:nvPr>
            <p:ph type="title"/>
          </p:nvPr>
        </p:nvSpPr>
        <p:spPr/>
        <p:txBody>
          <a:bodyPr/>
          <a:lstStyle/>
          <a:p>
            <a:r>
              <a:rPr lang="en-US"/>
              <a:t>Cognitive Walkthrough Example</a:t>
            </a:r>
          </a:p>
        </p:txBody>
      </p:sp>
      <p:sp>
        <p:nvSpPr>
          <p:cNvPr id="1405955"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0595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5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595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596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596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6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597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597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78"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597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5982"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8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598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8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598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598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598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598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599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599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599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599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599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5995" name="Oval 43"/>
          <p:cNvSpPr>
            <a:spLocks noChangeArrowheads="1"/>
          </p:cNvSpPr>
          <p:nvPr/>
        </p:nvSpPr>
        <p:spPr bwMode="auto">
          <a:xfrm>
            <a:off x="5181600" y="28194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002" name="Rectangle 2"/>
          <p:cNvSpPr>
            <a:spLocks noGrp="1" noChangeArrowheads="1"/>
          </p:cNvSpPr>
          <p:nvPr>
            <p:ph type="title"/>
          </p:nvPr>
        </p:nvSpPr>
        <p:spPr/>
        <p:txBody>
          <a:bodyPr/>
          <a:lstStyle/>
          <a:p>
            <a:r>
              <a:rPr lang="en-US"/>
              <a:t>Cognitive Walkthrough Example</a:t>
            </a:r>
          </a:p>
        </p:txBody>
      </p:sp>
      <p:sp>
        <p:nvSpPr>
          <p:cNvPr id="1408003"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0800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0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0800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0800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0800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1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0802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0802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26"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0802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2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2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08030"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3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0803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3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0803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803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0803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0803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0803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0803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0804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0804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0804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08043" name="Rectangle 43"/>
          <p:cNvSpPr>
            <a:spLocks noChangeArrowheads="1"/>
          </p:cNvSpPr>
          <p:nvPr/>
        </p:nvSpPr>
        <p:spPr bwMode="auto">
          <a:xfrm>
            <a:off x="5257800" y="2819400"/>
            <a:ext cx="2590800" cy="381000"/>
          </a:xfrm>
          <a:prstGeom prst="rect">
            <a:avLst/>
          </a:prstGeom>
          <a:noFill/>
          <a:ln w="38100">
            <a:solidFill>
              <a:srgbClr val="FF5050"/>
            </a:solidFill>
            <a:miter lim="800000"/>
            <a:headEnd/>
            <a:tailEnd/>
          </a:ln>
          <a:effectLst/>
        </p:spPr>
        <p:txBody>
          <a:bodyPr wrap="none" anchor="ctr"/>
          <a:lstStyle/>
          <a:p>
            <a:endParaRPr lang="en-US"/>
          </a:p>
        </p:txBody>
      </p:sp>
      <p:sp>
        <p:nvSpPr>
          <p:cNvPr id="1408044" name="Rectangle 44"/>
          <p:cNvSpPr>
            <a:spLocks noChangeArrowheads="1"/>
          </p:cNvSpPr>
          <p:nvPr/>
        </p:nvSpPr>
        <p:spPr bwMode="auto">
          <a:xfrm>
            <a:off x="5486400" y="3200400"/>
            <a:ext cx="1371600" cy="304800"/>
          </a:xfrm>
          <a:prstGeom prst="rect">
            <a:avLst/>
          </a:prstGeom>
          <a:noFill/>
          <a:ln w="38100">
            <a:solidFill>
              <a:srgbClr val="FF5050"/>
            </a:solidFill>
            <a:miter lim="800000"/>
            <a:headEnd/>
            <a:tailEnd/>
          </a:ln>
          <a:effectLst/>
        </p:spPr>
        <p:txBody>
          <a:bodyPr wrap="none" anchor="ctr"/>
          <a:lstStyle/>
          <a:p>
            <a:endParaRPr lang="en-US"/>
          </a:p>
        </p:txBody>
      </p:sp>
      <p:sp>
        <p:nvSpPr>
          <p:cNvPr id="1408045" name="Text Box 45"/>
          <p:cNvSpPr txBox="1">
            <a:spLocks noChangeArrowheads="1"/>
          </p:cNvSpPr>
          <p:nvPr/>
        </p:nvSpPr>
        <p:spPr bwMode="auto">
          <a:xfrm>
            <a:off x="304800" y="3505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08046" name="Line 46"/>
          <p:cNvSpPr>
            <a:spLocks noChangeShapeType="1"/>
          </p:cNvSpPr>
          <p:nvPr/>
        </p:nvSpPr>
        <p:spPr bwMode="auto">
          <a:xfrm flipV="1">
            <a:off x="990600" y="3352800"/>
            <a:ext cx="4495800" cy="304800"/>
          </a:xfrm>
          <a:prstGeom prst="line">
            <a:avLst/>
          </a:prstGeom>
          <a:noFill/>
          <a:ln w="38100">
            <a:solidFill>
              <a:srgbClr val="FF5050"/>
            </a:solidFill>
            <a:round/>
            <a:headEnd/>
            <a:tailEnd/>
          </a:ln>
          <a:effectLst/>
        </p:spPr>
        <p:txBody>
          <a:bodyPr/>
          <a:lstStyle/>
          <a:p>
            <a:endParaRPr lang="en-US"/>
          </a:p>
        </p:txBody>
      </p:sp>
      <p:sp>
        <p:nvSpPr>
          <p:cNvPr id="1408047" name="Line 47"/>
          <p:cNvSpPr>
            <a:spLocks noChangeShapeType="1"/>
          </p:cNvSpPr>
          <p:nvPr/>
        </p:nvSpPr>
        <p:spPr bwMode="auto">
          <a:xfrm flipV="1">
            <a:off x="990600" y="3124200"/>
            <a:ext cx="4267200" cy="5334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50" name="Rectangle 2"/>
          <p:cNvSpPr>
            <a:spLocks noGrp="1" noChangeArrowheads="1"/>
          </p:cNvSpPr>
          <p:nvPr>
            <p:ph type="title"/>
          </p:nvPr>
        </p:nvSpPr>
        <p:spPr/>
        <p:txBody>
          <a:bodyPr/>
          <a:lstStyle/>
          <a:p>
            <a:r>
              <a:rPr lang="en-US"/>
              <a:t>Cognitive Walkthrough Example</a:t>
            </a:r>
          </a:p>
        </p:txBody>
      </p:sp>
      <p:sp>
        <p:nvSpPr>
          <p:cNvPr id="1410051" name="Rectangle 3"/>
          <p:cNvSpPr>
            <a:spLocks noGrp="1" noChangeArrowheads="1"/>
          </p:cNvSpPr>
          <p:nvPr>
            <p:ph type="body" idx="1"/>
          </p:nvPr>
        </p:nvSpPr>
        <p:spPr/>
        <p:txBody>
          <a:bodyPr/>
          <a:lstStyle/>
          <a:p>
            <a:pPr marL="342900" indent="-342900">
              <a:buFontTx/>
              <a:buNone/>
            </a:pPr>
            <a:r>
              <a:rPr lang="en-US" dirty="0"/>
              <a:t>3. Will the user properly interpret the system’s response? (know if chose right/wrong?)</a:t>
            </a:r>
          </a:p>
        </p:txBody>
      </p:sp>
      <p:sp>
        <p:nvSpPr>
          <p:cNvPr id="141005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005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005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005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5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006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006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007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7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7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0078" name="Oval 30"/>
          <p:cNvSpPr>
            <a:spLocks noChangeArrowheads="1"/>
          </p:cNvSpPr>
          <p:nvPr/>
        </p:nvSpPr>
        <p:spPr bwMode="auto">
          <a:xfrm>
            <a:off x="55626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7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008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8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008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008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008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008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008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008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008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008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009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410091" name="Picture 43" descr="bd05378_"/>
          <p:cNvPicPr>
            <a:picLocks noChangeAspect="1" noChangeArrowheads="1"/>
          </p:cNvPicPr>
          <p:nvPr/>
        </p:nvPicPr>
        <p:blipFill>
          <a:blip r:embed="rId3" cstate="print"/>
          <a:srcRect/>
          <a:stretch>
            <a:fillRect/>
          </a:stretch>
        </p:blipFill>
        <p:spPr bwMode="auto">
          <a:xfrm>
            <a:off x="4781550" y="3319463"/>
            <a:ext cx="887413" cy="53816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8" name="Rectangle 2"/>
          <p:cNvSpPr>
            <a:spLocks noGrp="1" noChangeArrowheads="1"/>
          </p:cNvSpPr>
          <p:nvPr>
            <p:ph type="title"/>
          </p:nvPr>
        </p:nvSpPr>
        <p:spPr/>
        <p:txBody>
          <a:bodyPr/>
          <a:lstStyle/>
          <a:p>
            <a:r>
              <a:rPr lang="en-US"/>
              <a:t>Cognitive Walkthrough Example</a:t>
            </a:r>
          </a:p>
        </p:txBody>
      </p:sp>
      <p:sp>
        <p:nvSpPr>
          <p:cNvPr id="1412099" name="Rectangle 3"/>
          <p:cNvSpPr>
            <a:spLocks noGrp="1" noChangeArrowheads="1"/>
          </p:cNvSpPr>
          <p:nvPr>
            <p:ph type="body" idx="1"/>
          </p:nvPr>
        </p:nvSpPr>
        <p:spPr/>
        <p:txBody>
          <a:bodyPr/>
          <a:lstStyle/>
          <a:p>
            <a:pPr marL="342900" indent="-342900">
              <a:buFontTx/>
              <a:buNone/>
            </a:pPr>
            <a:r>
              <a:rPr lang="en-US"/>
              <a:t>2. Will the user properly interpret the system’s response? (know if chose right/wrong?)</a:t>
            </a:r>
          </a:p>
        </p:txBody>
      </p:sp>
      <p:sp>
        <p:nvSpPr>
          <p:cNvPr id="141210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210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210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210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0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211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211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1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1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212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2126"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212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212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2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213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213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213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213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213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213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213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213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213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pic>
        <p:nvPicPr>
          <p:cNvPr id="1412139" name="Picture 43" descr="bd05378_"/>
          <p:cNvPicPr>
            <a:picLocks noChangeAspect="1" noChangeArrowheads="1"/>
          </p:cNvPicPr>
          <p:nvPr/>
        </p:nvPicPr>
        <p:blipFill>
          <a:blip r:embed="rId3" cstate="print"/>
          <a:srcRect/>
          <a:stretch>
            <a:fillRect/>
          </a:stretch>
        </p:blipFill>
        <p:spPr bwMode="auto">
          <a:xfrm>
            <a:off x="4781550" y="3319463"/>
            <a:ext cx="887413" cy="538162"/>
          </a:xfrm>
          <a:prstGeom prst="rect">
            <a:avLst/>
          </a:prstGeom>
          <a:noFill/>
          <a:ln w="9525">
            <a:noFill/>
            <a:miter lim="800000"/>
            <a:headEnd/>
            <a:tailEnd/>
          </a:ln>
        </p:spPr>
      </p:pic>
      <p:sp>
        <p:nvSpPr>
          <p:cNvPr id="1412140" name="Text Box 44"/>
          <p:cNvSpPr txBox="1">
            <a:spLocks noChangeArrowheads="1"/>
          </p:cNvSpPr>
          <p:nvPr/>
        </p:nvSpPr>
        <p:spPr bwMode="auto">
          <a:xfrm>
            <a:off x="152400" y="3200400"/>
            <a:ext cx="10668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 …</a:t>
            </a:r>
          </a:p>
        </p:txBody>
      </p:sp>
      <p:sp>
        <p:nvSpPr>
          <p:cNvPr id="1412141" name="Text Box 45"/>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6" name="Rectangle 2"/>
          <p:cNvSpPr>
            <a:spLocks noGrp="1" noChangeArrowheads="1"/>
          </p:cNvSpPr>
          <p:nvPr>
            <p:ph type="title"/>
          </p:nvPr>
        </p:nvSpPr>
        <p:spPr/>
        <p:txBody>
          <a:bodyPr/>
          <a:lstStyle/>
          <a:p>
            <a:r>
              <a:rPr lang="en-US"/>
              <a:t>Cognitive Walkthrough Example</a:t>
            </a:r>
          </a:p>
        </p:txBody>
      </p:sp>
      <p:sp>
        <p:nvSpPr>
          <p:cNvPr id="1414147"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1414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4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415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415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415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5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416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416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6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7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417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4174"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417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417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7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417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417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418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418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418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418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418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418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418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4187"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6194" name="Rectangle 2"/>
          <p:cNvSpPr>
            <a:spLocks noGrp="1" noChangeArrowheads="1"/>
          </p:cNvSpPr>
          <p:nvPr>
            <p:ph type="title"/>
          </p:nvPr>
        </p:nvSpPr>
        <p:spPr/>
        <p:txBody>
          <a:bodyPr/>
          <a:lstStyle/>
          <a:p>
            <a:r>
              <a:rPr lang="en-US"/>
              <a:t>Cognitive Walkthrough Example</a:t>
            </a:r>
          </a:p>
        </p:txBody>
      </p:sp>
      <p:sp>
        <p:nvSpPr>
          <p:cNvPr id="1416195" name="Rectangle 3"/>
          <p:cNvSpPr>
            <a:spLocks noGrp="1" noChangeArrowheads="1"/>
          </p:cNvSpPr>
          <p:nvPr>
            <p:ph type="body" idx="1"/>
          </p:nvPr>
        </p:nvSpPr>
        <p:spPr/>
        <p:txBody>
          <a:bodyPr/>
          <a:lstStyle/>
          <a:p>
            <a:pPr marL="342900" indent="-342900">
              <a:buFontTx/>
              <a:buNone/>
            </a:pPr>
            <a:r>
              <a:rPr lang="en-US"/>
              <a:t>1. Will the correct action be evident to the user?</a:t>
            </a:r>
          </a:p>
        </p:txBody>
      </p:sp>
      <p:sp>
        <p:nvSpPr>
          <p:cNvPr id="1416196"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197"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6198"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6200"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6201"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2"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3"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4"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5"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6"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7"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8"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09"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0"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1"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6212"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6213"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4"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5"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6"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7"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18"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6219"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0"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1"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6222"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6223"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6224"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25"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6226"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6227"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6228"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6229"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6230"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6231"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6232"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6233"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6234"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6235"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16236" name="Text Box 44"/>
          <p:cNvSpPr txBox="1">
            <a:spLocks noChangeArrowheads="1"/>
          </p:cNvSpPr>
          <p:nvPr/>
        </p:nvSpPr>
        <p:spPr bwMode="auto">
          <a:xfrm>
            <a:off x="4191000" y="22860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16237" name="Line 45"/>
          <p:cNvSpPr>
            <a:spLocks noChangeShapeType="1"/>
          </p:cNvSpPr>
          <p:nvPr/>
        </p:nvSpPr>
        <p:spPr bwMode="auto">
          <a:xfrm>
            <a:off x="4800600" y="2590800"/>
            <a:ext cx="457200" cy="1219200"/>
          </a:xfrm>
          <a:prstGeom prst="line">
            <a:avLst/>
          </a:prstGeom>
          <a:noFill/>
          <a:ln w="38100">
            <a:solidFill>
              <a:srgbClr val="FF5050"/>
            </a:solidFill>
            <a:round/>
            <a:headEnd/>
            <a:tailEnd type="triangle" w="med" len="med"/>
          </a:ln>
          <a:effectLst/>
        </p:spPr>
        <p:txBody>
          <a:bodyPr/>
          <a:lstStyle/>
          <a:p>
            <a:endParaRPr lang="en-US"/>
          </a:p>
        </p:txBody>
      </p:sp>
      <p:sp>
        <p:nvSpPr>
          <p:cNvPr id="1416238" name="Oval 46"/>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242" name="Rectangle 2"/>
          <p:cNvSpPr>
            <a:spLocks noGrp="1" noChangeArrowheads="1"/>
          </p:cNvSpPr>
          <p:nvPr>
            <p:ph type="title"/>
          </p:nvPr>
        </p:nvSpPr>
        <p:spPr/>
        <p:txBody>
          <a:bodyPr/>
          <a:lstStyle/>
          <a:p>
            <a:r>
              <a:rPr lang="en-US"/>
              <a:t>Cognitive Walkthrough Example</a:t>
            </a:r>
          </a:p>
        </p:txBody>
      </p:sp>
      <p:sp>
        <p:nvSpPr>
          <p:cNvPr id="1418243"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18244"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45"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18246"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1824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1824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5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1826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18261"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2"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3"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4"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5"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66"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8267"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68"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69"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18270"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18271"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18272"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73"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18274"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8275"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18276"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18277"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18278"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18279"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18280"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18281"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18282"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18283"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18284" name="Oval 44"/>
          <p:cNvSpPr>
            <a:spLocks noChangeArrowheads="1"/>
          </p:cNvSpPr>
          <p:nvPr/>
        </p:nvSpPr>
        <p:spPr bwMode="auto">
          <a:xfrm>
            <a:off x="5181600" y="3886200"/>
            <a:ext cx="457200" cy="457200"/>
          </a:xfrm>
          <a:prstGeom prst="ellipse">
            <a:avLst/>
          </a:prstGeom>
          <a:noFill/>
          <a:ln w="38100">
            <a:solidFill>
              <a:srgbClr val="FF5050"/>
            </a:solidFill>
            <a:round/>
            <a:headEnd/>
            <a:tailEnd/>
          </a:ln>
          <a:effec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290" name="Rectangle 2"/>
          <p:cNvSpPr>
            <a:spLocks noGrp="1" noChangeArrowheads="1"/>
          </p:cNvSpPr>
          <p:nvPr>
            <p:ph type="title"/>
          </p:nvPr>
        </p:nvSpPr>
        <p:spPr/>
        <p:txBody>
          <a:bodyPr/>
          <a:lstStyle/>
          <a:p>
            <a:r>
              <a:rPr lang="en-US"/>
              <a:t>Cognitive Walkthrough Example</a:t>
            </a:r>
          </a:p>
        </p:txBody>
      </p:sp>
      <p:sp>
        <p:nvSpPr>
          <p:cNvPr id="1420291" name="Rectangle 3"/>
          <p:cNvSpPr>
            <a:spLocks noGrp="1" noChangeArrowheads="1"/>
          </p:cNvSpPr>
          <p:nvPr>
            <p:ph type="body" idx="1"/>
          </p:nvPr>
        </p:nvSpPr>
        <p:spPr/>
        <p:txBody>
          <a:bodyPr/>
          <a:lstStyle/>
          <a:p>
            <a:pPr marL="342900" indent="-342900">
              <a:buFontTx/>
              <a:buNone/>
            </a:pPr>
            <a:r>
              <a:rPr lang="en-US"/>
              <a:t>2. Will the user connect the correct action’s description/label with his/her intent?</a:t>
            </a:r>
          </a:p>
        </p:txBody>
      </p:sp>
      <p:sp>
        <p:nvSpPr>
          <p:cNvPr id="1420292"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3"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0294"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0296"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0297"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8"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299"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0"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1"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2"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3"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4"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5"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6"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7"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0308"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0309"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0"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1"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2"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3"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14"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0315"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16"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17"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0318"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0319"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0320"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21"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0322"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0323"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0324"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0325"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0326"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0327"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0328"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0329"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0330"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0331"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
        <p:nvSpPr>
          <p:cNvPr id="1420332" name="Rectangle 44"/>
          <p:cNvSpPr>
            <a:spLocks noChangeArrowheads="1"/>
          </p:cNvSpPr>
          <p:nvPr/>
        </p:nvSpPr>
        <p:spPr bwMode="auto">
          <a:xfrm>
            <a:off x="5257800" y="3962400"/>
            <a:ext cx="2819400" cy="762000"/>
          </a:xfrm>
          <a:prstGeom prst="rect">
            <a:avLst/>
          </a:prstGeom>
          <a:noFill/>
          <a:ln w="38100">
            <a:solidFill>
              <a:srgbClr val="FF5050"/>
            </a:solidFill>
            <a:miter lim="800000"/>
            <a:headEnd/>
            <a:tailEnd/>
          </a:ln>
          <a:effectLst/>
        </p:spPr>
        <p:txBody>
          <a:bodyPr wrap="none" anchor="ctr"/>
          <a:lstStyle/>
          <a:p>
            <a:endParaRPr lang="en-US"/>
          </a:p>
        </p:txBody>
      </p:sp>
      <p:sp>
        <p:nvSpPr>
          <p:cNvPr id="1420333" name="Text Box 45"/>
          <p:cNvSpPr txBox="1">
            <a:spLocks noChangeArrowheads="1"/>
          </p:cNvSpPr>
          <p:nvPr/>
        </p:nvSpPr>
        <p:spPr bwMode="auto">
          <a:xfrm>
            <a:off x="304800" y="4267200"/>
            <a:ext cx="762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Yes</a:t>
            </a:r>
          </a:p>
        </p:txBody>
      </p:sp>
      <p:sp>
        <p:nvSpPr>
          <p:cNvPr id="1420334" name="Line 46"/>
          <p:cNvSpPr>
            <a:spLocks noChangeShapeType="1"/>
          </p:cNvSpPr>
          <p:nvPr/>
        </p:nvSpPr>
        <p:spPr bwMode="auto">
          <a:xfrm flipV="1">
            <a:off x="990600" y="4191000"/>
            <a:ext cx="4267200" cy="228600"/>
          </a:xfrm>
          <a:prstGeom prst="line">
            <a:avLst/>
          </a:prstGeom>
          <a:noFill/>
          <a:ln w="38100">
            <a:solidFill>
              <a:srgbClr val="FF5050"/>
            </a:solidFill>
            <a:round/>
            <a:headEnd/>
            <a:tailEnd/>
          </a:ln>
          <a:effectLst/>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338" name="Rectangle 2"/>
          <p:cNvSpPr>
            <a:spLocks noGrp="1" noChangeArrowheads="1"/>
          </p:cNvSpPr>
          <p:nvPr>
            <p:ph type="title"/>
          </p:nvPr>
        </p:nvSpPr>
        <p:spPr/>
        <p:txBody>
          <a:bodyPr/>
          <a:lstStyle/>
          <a:p>
            <a:r>
              <a:rPr lang="en-US"/>
              <a:t>Cognitive Walkthrough Example</a:t>
            </a:r>
          </a:p>
        </p:txBody>
      </p:sp>
      <p:sp>
        <p:nvSpPr>
          <p:cNvPr id="1422339"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422340"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1"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2342"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2344"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2345"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6"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7"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8"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49"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0"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1"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2"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3"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4"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5"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2356"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2357"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58"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59"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0"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1"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2"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2363"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4"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5"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2366"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2367"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2368"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69"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2370"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2371"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2372"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2373"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2374"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2375"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2376"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2377"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2378"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2379"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pic>
        <p:nvPicPr>
          <p:cNvPr id="1422380" name="Picture 44" descr="bd05378_"/>
          <p:cNvPicPr>
            <a:picLocks noChangeAspect="1" noChangeArrowheads="1"/>
          </p:cNvPicPr>
          <p:nvPr/>
        </p:nvPicPr>
        <p:blipFill>
          <a:blip r:embed="rId3" cstate="print"/>
          <a:srcRect/>
          <a:stretch>
            <a:fillRect/>
          </a:stretch>
        </p:blipFill>
        <p:spPr bwMode="auto">
          <a:xfrm>
            <a:off x="6629400" y="4648200"/>
            <a:ext cx="887413" cy="538163"/>
          </a:xfrm>
          <a:prstGeom prst="rect">
            <a:avLst/>
          </a:prstGeom>
          <a:noFill/>
          <a:ln w="9525">
            <a:noFill/>
            <a:miter lim="800000"/>
            <a:headEnd/>
            <a:tailEnd/>
          </a:ln>
        </p:spPr>
      </p:pic>
      <p:sp>
        <p:nvSpPr>
          <p:cNvPr id="1422381" name="AutoShape 45"/>
          <p:cNvSpPr>
            <a:spLocks noChangeArrowheads="1"/>
          </p:cNvSpPr>
          <p:nvPr/>
        </p:nvSpPr>
        <p:spPr bwMode="auto">
          <a:xfrm flipH="1">
            <a:off x="6972300" y="4495800"/>
            <a:ext cx="1066800" cy="304800"/>
          </a:xfrm>
          <a:prstGeom prst="parallelogram">
            <a:avLst>
              <a:gd name="adj" fmla="val 75007"/>
            </a:avLst>
          </a:prstGeom>
          <a:solidFill>
            <a:schemeClr val="accent1"/>
          </a:solidFill>
          <a:ln w="9525">
            <a:solidFill>
              <a:schemeClr val="tx1"/>
            </a:solidFill>
            <a:miter lim="800000"/>
            <a:headEnd/>
            <a:tailEnd/>
          </a:ln>
          <a:effectLst/>
        </p:spPr>
        <p:txBody>
          <a:bodyPr wrap="none" anchor="ctr"/>
          <a:lstStyle/>
          <a:p>
            <a:endParaRPr lang="en-US"/>
          </a:p>
        </p:txBody>
      </p:sp>
      <p:sp>
        <p:nvSpPr>
          <p:cNvPr id="1422382" name="Text Box 46"/>
          <p:cNvSpPr txBox="1">
            <a:spLocks noChangeArrowheads="1"/>
          </p:cNvSpPr>
          <p:nvPr/>
        </p:nvSpPr>
        <p:spPr bwMode="auto">
          <a:xfrm rot="4617782">
            <a:off x="7477126" y="4546600"/>
            <a:ext cx="609600" cy="396875"/>
          </a:xfrm>
          <a:prstGeom prst="rect">
            <a:avLst/>
          </a:prstGeom>
          <a:noFill/>
          <a:ln w="9525">
            <a:noFill/>
            <a:miter lim="800000"/>
            <a:headEnd/>
            <a:tailEnd/>
          </a:ln>
          <a:effectLst/>
        </p:spPr>
        <p:txBody>
          <a:bodyPr>
            <a:spAutoFit/>
          </a:bodyPr>
          <a:lstStyle/>
          <a:p>
            <a:pPr>
              <a:spcBef>
                <a:spcPct val="50000"/>
              </a:spcBef>
            </a:pPr>
            <a:r>
              <a:rPr lang="en-US" sz="2000">
                <a:latin typeface="Times New Roman" pitchFamily="18" charset="0"/>
              </a:rPr>
              <a:t>$5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4386" name="Rectangle 2"/>
          <p:cNvSpPr>
            <a:spLocks noGrp="1" noChangeArrowheads="1"/>
          </p:cNvSpPr>
          <p:nvPr>
            <p:ph type="title"/>
          </p:nvPr>
        </p:nvSpPr>
        <p:spPr/>
        <p:txBody>
          <a:bodyPr/>
          <a:lstStyle/>
          <a:p>
            <a:r>
              <a:rPr lang="en-US"/>
              <a:t>Cognitive Walkthrough Example</a:t>
            </a:r>
          </a:p>
        </p:txBody>
      </p:sp>
      <p:sp>
        <p:nvSpPr>
          <p:cNvPr id="1424387"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sp>
        <p:nvSpPr>
          <p:cNvPr id="1424388" name="Rectangle 4"/>
          <p:cNvSpPr>
            <a:spLocks noChangeArrowheads="1"/>
          </p:cNvSpPr>
          <p:nvPr/>
        </p:nvSpPr>
        <p:spPr bwMode="auto">
          <a:xfrm>
            <a:off x="1143000" y="27432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89" name="Text Box 5"/>
          <p:cNvSpPr txBox="1">
            <a:spLocks noChangeArrowheads="1"/>
          </p:cNvSpPr>
          <p:nvPr/>
        </p:nvSpPr>
        <p:spPr bwMode="auto">
          <a:xfrm>
            <a:off x="1219200" y="28098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4390" name="Rectangle 6"/>
          <p:cNvSpPr>
            <a:spLocks noChangeArrowheads="1"/>
          </p:cNvSpPr>
          <p:nvPr/>
        </p:nvSpPr>
        <p:spPr bwMode="auto">
          <a:xfrm>
            <a:off x="3657600" y="32766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95750" y="4114800"/>
            <a:ext cx="609600" cy="800100"/>
            <a:chOff x="4896" y="1056"/>
            <a:chExt cx="384" cy="504"/>
          </a:xfrm>
        </p:grpSpPr>
        <p:sp>
          <p:nvSpPr>
            <p:cNvPr id="1424392"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4393"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4"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5"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6"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7"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8"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399"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0"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1"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2"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3"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4404"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4405" name="Oval 21"/>
          <p:cNvSpPr>
            <a:spLocks noChangeArrowheads="1"/>
          </p:cNvSpPr>
          <p:nvPr/>
        </p:nvSpPr>
        <p:spPr bwMode="auto">
          <a:xfrm>
            <a:off x="1524000" y="3276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6" name="Oval 22"/>
          <p:cNvSpPr>
            <a:spLocks noChangeArrowheads="1"/>
          </p:cNvSpPr>
          <p:nvPr/>
        </p:nvSpPr>
        <p:spPr bwMode="auto">
          <a:xfrm>
            <a:off x="15240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7" name="Oval 23"/>
          <p:cNvSpPr>
            <a:spLocks noChangeArrowheads="1"/>
          </p:cNvSpPr>
          <p:nvPr/>
        </p:nvSpPr>
        <p:spPr bwMode="auto">
          <a:xfrm>
            <a:off x="1524000" y="3886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8" name="Oval 24"/>
          <p:cNvSpPr>
            <a:spLocks noChangeArrowheads="1"/>
          </p:cNvSpPr>
          <p:nvPr/>
        </p:nvSpPr>
        <p:spPr bwMode="auto">
          <a:xfrm>
            <a:off x="1524000" y="4191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09" name="Oval 25"/>
          <p:cNvSpPr>
            <a:spLocks noChangeArrowheads="1"/>
          </p:cNvSpPr>
          <p:nvPr/>
        </p:nvSpPr>
        <p:spPr bwMode="auto">
          <a:xfrm>
            <a:off x="1524000" y="4495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10" name="Oval 26"/>
          <p:cNvSpPr>
            <a:spLocks noChangeArrowheads="1"/>
          </p:cNvSpPr>
          <p:nvPr/>
        </p:nvSpPr>
        <p:spPr bwMode="auto">
          <a:xfrm>
            <a:off x="1524000" y="4800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4411" name="AutoShape 27"/>
          <p:cNvSpPr>
            <a:spLocks noChangeArrowheads="1"/>
          </p:cNvSpPr>
          <p:nvPr/>
        </p:nvSpPr>
        <p:spPr bwMode="auto">
          <a:xfrm>
            <a:off x="1181100" y="27813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2" name="AutoShape 28"/>
          <p:cNvSpPr>
            <a:spLocks noChangeArrowheads="1"/>
          </p:cNvSpPr>
          <p:nvPr/>
        </p:nvSpPr>
        <p:spPr bwMode="auto">
          <a:xfrm>
            <a:off x="5257800" y="27813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3" name="Text Box 29"/>
          <p:cNvSpPr txBox="1">
            <a:spLocks noChangeArrowheads="1"/>
          </p:cNvSpPr>
          <p:nvPr/>
        </p:nvSpPr>
        <p:spPr bwMode="auto">
          <a:xfrm>
            <a:off x="5257800" y="28098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4414" name="Oval 30"/>
          <p:cNvSpPr>
            <a:spLocks noChangeArrowheads="1"/>
          </p:cNvSpPr>
          <p:nvPr/>
        </p:nvSpPr>
        <p:spPr bwMode="auto">
          <a:xfrm>
            <a:off x="5562600" y="32766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4415" name="Oval 31"/>
          <p:cNvSpPr>
            <a:spLocks noChangeArrowheads="1"/>
          </p:cNvSpPr>
          <p:nvPr/>
        </p:nvSpPr>
        <p:spPr bwMode="auto">
          <a:xfrm>
            <a:off x="5562600" y="3581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4416" name="AutoShape 32"/>
          <p:cNvSpPr>
            <a:spLocks noChangeArrowheads="1"/>
          </p:cNvSpPr>
          <p:nvPr/>
        </p:nvSpPr>
        <p:spPr bwMode="auto">
          <a:xfrm>
            <a:off x="5257800" y="39243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17" name="Text Box 33"/>
          <p:cNvSpPr txBox="1">
            <a:spLocks noChangeArrowheads="1"/>
          </p:cNvSpPr>
          <p:nvPr/>
        </p:nvSpPr>
        <p:spPr bwMode="auto">
          <a:xfrm>
            <a:off x="5257800" y="39195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4418" name="Rectangle 34"/>
          <p:cNvSpPr>
            <a:spLocks noChangeArrowheads="1"/>
          </p:cNvSpPr>
          <p:nvPr/>
        </p:nvSpPr>
        <p:spPr bwMode="auto">
          <a:xfrm>
            <a:off x="6019800" y="43751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4419" name="Text Box 35"/>
          <p:cNvSpPr txBox="1">
            <a:spLocks noChangeArrowheads="1"/>
          </p:cNvSpPr>
          <p:nvPr/>
        </p:nvSpPr>
        <p:spPr bwMode="auto">
          <a:xfrm>
            <a:off x="54102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4420" name="Text Box 36"/>
          <p:cNvSpPr txBox="1">
            <a:spLocks noChangeArrowheads="1"/>
          </p:cNvSpPr>
          <p:nvPr/>
        </p:nvSpPr>
        <p:spPr bwMode="auto">
          <a:xfrm>
            <a:off x="6324600" y="43434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4421" name="Rectangle 37"/>
          <p:cNvSpPr>
            <a:spLocks noChangeArrowheads="1"/>
          </p:cNvSpPr>
          <p:nvPr/>
        </p:nvSpPr>
        <p:spPr bwMode="auto">
          <a:xfrm>
            <a:off x="6858000" y="44513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4422" name="AutoShape 38"/>
          <p:cNvSpPr>
            <a:spLocks noChangeArrowheads="1"/>
          </p:cNvSpPr>
          <p:nvPr/>
        </p:nvSpPr>
        <p:spPr bwMode="auto">
          <a:xfrm>
            <a:off x="3962400" y="51530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4423" name="Text Box 39"/>
          <p:cNvSpPr txBox="1">
            <a:spLocks noChangeArrowheads="1"/>
          </p:cNvSpPr>
          <p:nvPr/>
        </p:nvSpPr>
        <p:spPr bwMode="auto">
          <a:xfrm>
            <a:off x="4267200" y="52419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4424" name="Oval 40"/>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4425" name="Text Box 41"/>
          <p:cNvSpPr txBox="1">
            <a:spLocks noChangeArrowheads="1"/>
          </p:cNvSpPr>
          <p:nvPr/>
        </p:nvSpPr>
        <p:spPr bwMode="auto">
          <a:xfrm>
            <a:off x="1219200" y="52339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4426" name="Rectangle 42"/>
          <p:cNvSpPr>
            <a:spLocks noChangeArrowheads="1"/>
          </p:cNvSpPr>
          <p:nvPr/>
        </p:nvSpPr>
        <p:spPr bwMode="auto">
          <a:xfrm>
            <a:off x="1219200" y="51244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4427" name="Text Box 43"/>
          <p:cNvSpPr txBox="1">
            <a:spLocks noChangeArrowheads="1"/>
          </p:cNvSpPr>
          <p:nvPr/>
        </p:nvSpPr>
        <p:spPr bwMode="auto">
          <a:xfrm>
            <a:off x="3657600" y="3276600"/>
            <a:ext cx="1447800" cy="779463"/>
          </a:xfrm>
          <a:prstGeom prst="rect">
            <a:avLst/>
          </a:prstGeom>
          <a:noFill/>
          <a:ln w="9525">
            <a:noFill/>
            <a:miter lim="800000"/>
            <a:headEnd/>
            <a:tailEnd/>
          </a:ln>
          <a:effectLst/>
        </p:spPr>
        <p:txBody>
          <a:bodyPr>
            <a:spAutoFit/>
          </a:bodyPr>
          <a:lstStyle/>
          <a:p>
            <a:pPr>
              <a:spcBef>
                <a:spcPct val="50000"/>
              </a:spcBef>
            </a:pPr>
            <a:r>
              <a:rPr lang="en-US" sz="1800">
                <a:latin typeface="Arial" charset="0"/>
              </a:rPr>
              <a:t>One-way</a:t>
            </a:r>
          </a:p>
          <a:p>
            <a:pPr>
              <a:spcBef>
                <a:spcPct val="50000"/>
              </a:spcBef>
            </a:pPr>
            <a:r>
              <a:rPr lang="en-US" sz="1800">
                <a:latin typeface="Arial" charset="0"/>
              </a:rPr>
              <a:t>     $6.35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4" name="Rectangle 2"/>
          <p:cNvSpPr>
            <a:spLocks noGrp="1" noChangeArrowheads="1"/>
          </p:cNvSpPr>
          <p:nvPr>
            <p:ph type="title"/>
          </p:nvPr>
        </p:nvSpPr>
        <p:spPr/>
        <p:txBody>
          <a:bodyPr/>
          <a:lstStyle/>
          <a:p>
            <a:r>
              <a:rPr lang="en-US"/>
              <a:t>Cognitive Walkthrough Example</a:t>
            </a:r>
          </a:p>
        </p:txBody>
      </p:sp>
      <p:sp>
        <p:nvSpPr>
          <p:cNvPr id="1426435" name="Rectangle 3"/>
          <p:cNvSpPr>
            <a:spLocks noGrp="1" noChangeArrowheads="1"/>
          </p:cNvSpPr>
          <p:nvPr>
            <p:ph type="body" idx="1"/>
          </p:nvPr>
        </p:nvSpPr>
        <p:spPr/>
        <p:txBody>
          <a:bodyPr/>
          <a:lstStyle/>
          <a:p>
            <a:pPr marL="342900" indent="-342900">
              <a:buFontTx/>
              <a:buNone/>
            </a:pPr>
            <a:r>
              <a:rPr lang="en-US"/>
              <a:t>3. Will the user properly interpret the system’s response? (know if chose right/wrong?)</a:t>
            </a:r>
          </a:p>
        </p:txBody>
      </p:sp>
      <p:grpSp>
        <p:nvGrpSpPr>
          <p:cNvPr id="2" name="Group 4"/>
          <p:cNvGrpSpPr>
            <a:grpSpLocks/>
          </p:cNvGrpSpPr>
          <p:nvPr/>
        </p:nvGrpSpPr>
        <p:grpSpPr bwMode="auto">
          <a:xfrm>
            <a:off x="1143000" y="2743200"/>
            <a:ext cx="7086600" cy="3048000"/>
            <a:chOff x="720" y="1728"/>
            <a:chExt cx="4464" cy="1920"/>
          </a:xfrm>
        </p:grpSpPr>
        <p:sp>
          <p:nvSpPr>
            <p:cNvPr id="1426437"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38"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26439"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2644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2644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4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2645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26454"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5"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6"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7"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8"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59"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0"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1"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2"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26463"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26464"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26465"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66"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26467"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68"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26469"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26470"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26471"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26472"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26473"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26474"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26475"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26476"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solidFill>
                    <a:srgbClr val="FF0000"/>
                  </a:solidFill>
                  <a:latin typeface="Arial" charset="0"/>
                </a:rPr>
                <a:t>Recv’d: $5.00</a:t>
              </a:r>
            </a:p>
          </p:txBody>
        </p:sp>
      </p:grpSp>
      <p:sp>
        <p:nvSpPr>
          <p:cNvPr id="1426477" name="Text Box 45"/>
          <p:cNvSpPr txBox="1">
            <a:spLocks noChangeArrowheads="1"/>
          </p:cNvSpPr>
          <p:nvPr/>
        </p:nvSpPr>
        <p:spPr bwMode="auto">
          <a:xfrm>
            <a:off x="1763713" y="5949950"/>
            <a:ext cx="4321175" cy="270843"/>
          </a:xfrm>
          <a:prstGeom prst="rect">
            <a:avLst/>
          </a:prstGeom>
          <a:noFill/>
          <a:ln w="9525">
            <a:noFill/>
            <a:miter lim="800000"/>
            <a:headEnd/>
            <a:tailEnd/>
          </a:ln>
          <a:effectLst/>
        </p:spPr>
        <p:txBody>
          <a:bodyPr>
            <a:spAutoFit/>
          </a:bodyPr>
          <a:lstStyle/>
          <a:p>
            <a:pPr>
              <a:lnSpc>
                <a:spcPct val="60000"/>
              </a:lnSpc>
              <a:spcBef>
                <a:spcPct val="50000"/>
              </a:spcBef>
            </a:pPr>
            <a:r>
              <a:rPr lang="en-US" dirty="0">
                <a:solidFill>
                  <a:srgbClr val="FF5050"/>
                </a:solidFill>
                <a:latin typeface="Times New Roman" pitchFamily="18" charset="0"/>
                <a:sym typeface="Wingdings" pitchFamily="2" charset="2"/>
              </a:rPr>
              <a:t> </a:t>
            </a:r>
            <a:r>
              <a:rPr lang="en-US" dirty="0">
                <a:solidFill>
                  <a:srgbClr val="FF5050"/>
                </a:solidFill>
                <a:latin typeface="Times New Roman" pitchFamily="18" charset="0"/>
              </a:rPr>
              <a:t>Add received amount display</a:t>
            </a:r>
          </a:p>
        </p:txBody>
      </p:sp>
      <p:sp>
        <p:nvSpPr>
          <p:cNvPr id="1426478" name="Line 46"/>
          <p:cNvSpPr>
            <a:spLocks noChangeShapeType="1"/>
          </p:cNvSpPr>
          <p:nvPr/>
        </p:nvSpPr>
        <p:spPr bwMode="auto">
          <a:xfrm flipV="1">
            <a:off x="2971800" y="4038600"/>
            <a:ext cx="838200" cy="1905000"/>
          </a:xfrm>
          <a:prstGeom prst="line">
            <a:avLst/>
          </a:prstGeom>
          <a:noFill/>
          <a:ln w="38100">
            <a:solidFill>
              <a:srgbClr val="FF5050"/>
            </a:solidFill>
            <a:round/>
            <a:headEnd/>
            <a:tailEnd type="triangle" w="med" len="med"/>
          </a:ln>
          <a:effectLst/>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482" name="Rectangle 2"/>
          <p:cNvSpPr>
            <a:spLocks noGrp="1" noChangeArrowheads="1"/>
          </p:cNvSpPr>
          <p:nvPr>
            <p:ph type="title"/>
          </p:nvPr>
        </p:nvSpPr>
        <p:spPr/>
        <p:txBody>
          <a:bodyPr/>
          <a:lstStyle/>
          <a:p>
            <a:r>
              <a:rPr lang="en-US"/>
              <a:t>Cognitive Walkthrough Example</a:t>
            </a:r>
          </a:p>
        </p:txBody>
      </p:sp>
      <p:sp>
        <p:nvSpPr>
          <p:cNvPr id="1428483" name="Rectangle 3"/>
          <p:cNvSpPr>
            <a:spLocks noGrp="1" noChangeArrowheads="1"/>
          </p:cNvSpPr>
          <p:nvPr>
            <p:ph type="body" idx="1"/>
          </p:nvPr>
        </p:nvSpPr>
        <p:spPr/>
        <p:txBody>
          <a:bodyPr/>
          <a:lstStyle/>
          <a:p>
            <a:pPr marL="342900" indent="-342900"/>
            <a:r>
              <a:rPr lang="en-US"/>
              <a:t>Finish with a normal case first (e.g. completion of purchase)</a:t>
            </a:r>
          </a:p>
          <a:p>
            <a:pPr marL="342900" indent="-342900"/>
            <a:r>
              <a:rPr lang="en-US"/>
              <a:t>Also be sure to handle common error cases</a:t>
            </a:r>
          </a:p>
          <a:p>
            <a:pPr marL="342900" indent="-342900"/>
            <a:r>
              <a:rPr lang="en-US"/>
              <a:t>Examples: </a:t>
            </a:r>
          </a:p>
          <a:p>
            <a:pPr marL="742950" lvl="1" indent="-285750"/>
            <a:r>
              <a:rPr lang="en-US"/>
              <a:t>What if Nick realized he didn’t have enough money before putting it in?</a:t>
            </a:r>
          </a:p>
          <a:p>
            <a:pPr marL="742950" lvl="1" indent="-285750"/>
            <a:r>
              <a:rPr lang="en-US"/>
              <a:t>What if Nick realizes he doesn’t have enough only after putting in money?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30" name="Rectangle 2"/>
          <p:cNvSpPr>
            <a:spLocks noGrp="1" noChangeArrowheads="1"/>
          </p:cNvSpPr>
          <p:nvPr>
            <p:ph type="title"/>
          </p:nvPr>
        </p:nvSpPr>
        <p:spPr/>
        <p:txBody>
          <a:bodyPr/>
          <a:lstStyle/>
          <a:p>
            <a:r>
              <a:rPr lang="en-US"/>
              <a:t>Cognitive Walkthrough Example</a:t>
            </a:r>
          </a:p>
        </p:txBody>
      </p:sp>
      <p:sp>
        <p:nvSpPr>
          <p:cNvPr id="1430531"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What does the user want to achieve?</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0533"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34"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0535"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0537"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0538"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39"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0"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1"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2"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3"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4"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5"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6"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7"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8"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0549"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0550"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1"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2"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3"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4"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55"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0556"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57"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58"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0559"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0560"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0561"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62"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0563"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0564"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0565"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0566"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0567"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0568"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0569"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0570"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0571"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0572"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8" name="Rectangle 2"/>
          <p:cNvSpPr>
            <a:spLocks noGrp="1" noChangeArrowheads="1"/>
          </p:cNvSpPr>
          <p:nvPr>
            <p:ph type="title"/>
          </p:nvPr>
        </p:nvSpPr>
        <p:spPr/>
        <p:txBody>
          <a:bodyPr/>
          <a:lstStyle/>
          <a:p>
            <a:r>
              <a:rPr lang="en-US"/>
              <a:t>Cognitive Walkthrough Example</a:t>
            </a:r>
          </a:p>
        </p:txBody>
      </p:sp>
      <p:sp>
        <p:nvSpPr>
          <p:cNvPr id="1432579"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What does the user want to achieve?</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2581"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2"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2583"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2585"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2586"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7"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8"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89"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0"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1"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2"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3"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4"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5"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6"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2597"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2598"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599"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0"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1"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2"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3"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2604"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05"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06"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2607"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2608"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2609"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10"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2611"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2612"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2613"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2614"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2615"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2616"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2617"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2618"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2619"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2620"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
        <p:nvSpPr>
          <p:cNvPr id="1432621" name="Text Box 45"/>
          <p:cNvSpPr txBox="1">
            <a:spLocks noChangeArrowheads="1"/>
          </p:cNvSpPr>
          <p:nvPr/>
        </p:nvSpPr>
        <p:spPr bwMode="auto">
          <a:xfrm>
            <a:off x="6588125" y="1557338"/>
            <a:ext cx="2209800" cy="822325"/>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Cancel and get money back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6" name="Rectangle 2"/>
          <p:cNvSpPr>
            <a:spLocks noGrp="1" noChangeArrowheads="1"/>
          </p:cNvSpPr>
          <p:nvPr>
            <p:ph type="title"/>
          </p:nvPr>
        </p:nvSpPr>
        <p:spPr/>
        <p:txBody>
          <a:bodyPr/>
          <a:lstStyle/>
          <a:p>
            <a:r>
              <a:rPr lang="en-US"/>
              <a:t>Cognitive Walkthrough Example</a:t>
            </a:r>
          </a:p>
        </p:txBody>
      </p:sp>
      <p:sp>
        <p:nvSpPr>
          <p:cNvPr id="1434627"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4629"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0"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4631"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4633"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4634"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5"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6"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7"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8"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39"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0"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1"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2"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3"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4"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4645"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4646"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7"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8"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49"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0"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1"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4652"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3"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4"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4655"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4656"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4657"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58"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4659"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4660"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4661"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4662"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4663"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4664"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4665"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4666"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4667"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4668"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674" name="Rectangle 2"/>
          <p:cNvSpPr>
            <a:spLocks noGrp="1" noChangeArrowheads="1"/>
          </p:cNvSpPr>
          <p:nvPr>
            <p:ph type="title"/>
          </p:nvPr>
        </p:nvSpPr>
        <p:spPr/>
        <p:txBody>
          <a:bodyPr/>
          <a:lstStyle/>
          <a:p>
            <a:r>
              <a:rPr lang="en-US"/>
              <a:t>Cognitive Walkthrough Example</a:t>
            </a:r>
          </a:p>
        </p:txBody>
      </p:sp>
      <p:sp>
        <p:nvSpPr>
          <p:cNvPr id="1436675"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grpSp>
        <p:nvGrpSpPr>
          <p:cNvPr id="2" name="Group 4"/>
          <p:cNvGrpSpPr>
            <a:grpSpLocks/>
          </p:cNvGrpSpPr>
          <p:nvPr/>
        </p:nvGrpSpPr>
        <p:grpSpPr bwMode="auto">
          <a:xfrm>
            <a:off x="1066800" y="2895600"/>
            <a:ext cx="7086600" cy="3048000"/>
            <a:chOff x="720" y="1728"/>
            <a:chExt cx="4464" cy="1920"/>
          </a:xfrm>
        </p:grpSpPr>
        <p:sp>
          <p:nvSpPr>
            <p:cNvPr id="1436677" name="Rectangle 5"/>
            <p:cNvSpPr>
              <a:spLocks noChangeArrowheads="1"/>
            </p:cNvSpPr>
            <p:nvPr/>
          </p:nvSpPr>
          <p:spPr bwMode="auto">
            <a:xfrm>
              <a:off x="720" y="1728"/>
              <a:ext cx="4464" cy="192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78" name="Text Box 6"/>
            <p:cNvSpPr txBox="1">
              <a:spLocks noChangeArrowheads="1"/>
            </p:cNvSpPr>
            <p:nvPr/>
          </p:nvSpPr>
          <p:spPr bwMode="auto">
            <a:xfrm>
              <a:off x="768" y="1770"/>
              <a:ext cx="2592" cy="141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6679" name="Rectangle 7"/>
            <p:cNvSpPr>
              <a:spLocks noChangeArrowheads="1"/>
            </p:cNvSpPr>
            <p:nvPr/>
          </p:nvSpPr>
          <p:spPr bwMode="auto">
            <a:xfrm>
              <a:off x="2304" y="2064"/>
              <a:ext cx="912" cy="48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3" name="Group 8"/>
            <p:cNvGrpSpPr>
              <a:grpSpLocks/>
            </p:cNvGrpSpPr>
            <p:nvPr/>
          </p:nvGrpSpPr>
          <p:grpSpPr bwMode="auto">
            <a:xfrm>
              <a:off x="2580" y="2592"/>
              <a:ext cx="384" cy="504"/>
              <a:chOff x="4896" y="1056"/>
              <a:chExt cx="384" cy="504"/>
            </a:xfrm>
          </p:grpSpPr>
          <p:sp>
            <p:nvSpPr>
              <p:cNvPr id="1436681" name="Rectangle 9"/>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6682" name="Rectangle 10"/>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3" name="Rectangle 11"/>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4" name="Rectangle 12"/>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5" name="Rectangle 13"/>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6" name="Rectangle 14"/>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7" name="Rectangle 15"/>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8" name="Rectangle 16"/>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89" name="Rectangle 17"/>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0" name="Rectangle 18"/>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1" name="Rectangle 19"/>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2" name="Rectangle 20"/>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6693" name="Rectangle 21"/>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6694" name="Oval 22"/>
            <p:cNvSpPr>
              <a:spLocks noChangeArrowheads="1"/>
            </p:cNvSpPr>
            <p:nvPr/>
          </p:nvSpPr>
          <p:spPr bwMode="auto">
            <a:xfrm>
              <a:off x="960" y="2064"/>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5" name="Oval 23"/>
            <p:cNvSpPr>
              <a:spLocks noChangeArrowheads="1"/>
            </p:cNvSpPr>
            <p:nvPr/>
          </p:nvSpPr>
          <p:spPr bwMode="auto">
            <a:xfrm>
              <a:off x="960"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6" name="Oval 24"/>
            <p:cNvSpPr>
              <a:spLocks noChangeArrowheads="1"/>
            </p:cNvSpPr>
            <p:nvPr/>
          </p:nvSpPr>
          <p:spPr bwMode="auto">
            <a:xfrm>
              <a:off x="960" y="2448"/>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7" name="Oval 25"/>
            <p:cNvSpPr>
              <a:spLocks noChangeArrowheads="1"/>
            </p:cNvSpPr>
            <p:nvPr/>
          </p:nvSpPr>
          <p:spPr bwMode="auto">
            <a:xfrm>
              <a:off x="960" y="2640"/>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8" name="Oval 26"/>
            <p:cNvSpPr>
              <a:spLocks noChangeArrowheads="1"/>
            </p:cNvSpPr>
            <p:nvPr/>
          </p:nvSpPr>
          <p:spPr bwMode="auto">
            <a:xfrm>
              <a:off x="960" y="2832"/>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699" name="Oval 27"/>
            <p:cNvSpPr>
              <a:spLocks noChangeArrowheads="1"/>
            </p:cNvSpPr>
            <p:nvPr/>
          </p:nvSpPr>
          <p:spPr bwMode="auto">
            <a:xfrm>
              <a:off x="960" y="302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6700" name="AutoShape 28"/>
            <p:cNvSpPr>
              <a:spLocks noChangeArrowheads="1"/>
            </p:cNvSpPr>
            <p:nvPr/>
          </p:nvSpPr>
          <p:spPr bwMode="auto">
            <a:xfrm>
              <a:off x="744" y="1752"/>
              <a:ext cx="2544" cy="144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1" name="AutoShape 29"/>
            <p:cNvSpPr>
              <a:spLocks noChangeArrowheads="1"/>
            </p:cNvSpPr>
            <p:nvPr/>
          </p:nvSpPr>
          <p:spPr bwMode="auto">
            <a:xfrm>
              <a:off x="3312" y="1752"/>
              <a:ext cx="1848" cy="696"/>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2" name="Text Box 30"/>
            <p:cNvSpPr txBox="1">
              <a:spLocks noChangeArrowheads="1"/>
            </p:cNvSpPr>
            <p:nvPr/>
          </p:nvSpPr>
          <p:spPr bwMode="auto">
            <a:xfrm>
              <a:off x="3312" y="1770"/>
              <a:ext cx="1824" cy="651"/>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6703" name="Oval 31"/>
            <p:cNvSpPr>
              <a:spLocks noChangeArrowheads="1"/>
            </p:cNvSpPr>
            <p:nvPr/>
          </p:nvSpPr>
          <p:spPr bwMode="auto">
            <a:xfrm>
              <a:off x="3504" y="2064"/>
              <a:ext cx="96" cy="96"/>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6704" name="Oval 32"/>
            <p:cNvSpPr>
              <a:spLocks noChangeArrowheads="1"/>
            </p:cNvSpPr>
            <p:nvPr/>
          </p:nvSpPr>
          <p:spPr bwMode="auto">
            <a:xfrm>
              <a:off x="3504" y="2256"/>
              <a:ext cx="96" cy="96"/>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6705" name="AutoShape 33"/>
            <p:cNvSpPr>
              <a:spLocks noChangeArrowheads="1"/>
            </p:cNvSpPr>
            <p:nvPr/>
          </p:nvSpPr>
          <p:spPr bwMode="auto">
            <a:xfrm>
              <a:off x="3312" y="2472"/>
              <a:ext cx="1848" cy="744"/>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06" name="Text Box 34"/>
            <p:cNvSpPr txBox="1">
              <a:spLocks noChangeArrowheads="1"/>
            </p:cNvSpPr>
            <p:nvPr/>
          </p:nvSpPr>
          <p:spPr bwMode="auto">
            <a:xfrm>
              <a:off x="3312" y="2469"/>
              <a:ext cx="1824"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6707" name="Rectangle 35"/>
            <p:cNvSpPr>
              <a:spLocks noChangeArrowheads="1"/>
            </p:cNvSpPr>
            <p:nvPr/>
          </p:nvSpPr>
          <p:spPr bwMode="auto">
            <a:xfrm>
              <a:off x="3792" y="2756"/>
              <a:ext cx="48" cy="192"/>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6708" name="Text Box 36"/>
            <p:cNvSpPr txBox="1">
              <a:spLocks noChangeArrowheads="1"/>
            </p:cNvSpPr>
            <p:nvPr/>
          </p:nvSpPr>
          <p:spPr bwMode="auto">
            <a:xfrm>
              <a:off x="3408"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6709" name="Text Box 37"/>
            <p:cNvSpPr txBox="1">
              <a:spLocks noChangeArrowheads="1"/>
            </p:cNvSpPr>
            <p:nvPr/>
          </p:nvSpPr>
          <p:spPr bwMode="auto">
            <a:xfrm>
              <a:off x="3984" y="2736"/>
              <a:ext cx="528" cy="212"/>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6710" name="Rectangle 38"/>
            <p:cNvSpPr>
              <a:spLocks noChangeArrowheads="1"/>
            </p:cNvSpPr>
            <p:nvPr/>
          </p:nvSpPr>
          <p:spPr bwMode="auto">
            <a:xfrm>
              <a:off x="4320" y="2804"/>
              <a:ext cx="720" cy="96"/>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6711" name="AutoShape 39"/>
            <p:cNvSpPr>
              <a:spLocks noChangeArrowheads="1"/>
            </p:cNvSpPr>
            <p:nvPr/>
          </p:nvSpPr>
          <p:spPr bwMode="auto">
            <a:xfrm>
              <a:off x="2496" y="3246"/>
              <a:ext cx="2664" cy="378"/>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6712" name="Text Box 40"/>
            <p:cNvSpPr txBox="1">
              <a:spLocks noChangeArrowheads="1"/>
            </p:cNvSpPr>
            <p:nvPr/>
          </p:nvSpPr>
          <p:spPr bwMode="auto">
            <a:xfrm>
              <a:off x="2688" y="3302"/>
              <a:ext cx="2448" cy="250"/>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6713" name="Oval 41"/>
            <p:cNvSpPr>
              <a:spLocks noChangeArrowheads="1"/>
            </p:cNvSpPr>
            <p:nvPr/>
          </p:nvSpPr>
          <p:spPr bwMode="auto">
            <a:xfrm>
              <a:off x="2544" y="3360"/>
              <a:ext cx="144" cy="144"/>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6714" name="Text Box 42"/>
            <p:cNvSpPr txBox="1">
              <a:spLocks noChangeArrowheads="1"/>
            </p:cNvSpPr>
            <p:nvPr/>
          </p:nvSpPr>
          <p:spPr bwMode="auto">
            <a:xfrm>
              <a:off x="768" y="3297"/>
              <a:ext cx="1680" cy="231"/>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6715" name="Rectangle 43"/>
            <p:cNvSpPr>
              <a:spLocks noChangeArrowheads="1"/>
            </p:cNvSpPr>
            <p:nvPr/>
          </p:nvSpPr>
          <p:spPr bwMode="auto">
            <a:xfrm>
              <a:off x="768" y="3228"/>
              <a:ext cx="1680" cy="384"/>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6716" name="Text Box 44"/>
            <p:cNvSpPr txBox="1">
              <a:spLocks noChangeArrowheads="1"/>
            </p:cNvSpPr>
            <p:nvPr/>
          </p:nvSpPr>
          <p:spPr bwMode="auto">
            <a:xfrm>
              <a:off x="2304" y="2054"/>
              <a:ext cx="912" cy="52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grpSp>
      <p:sp>
        <p:nvSpPr>
          <p:cNvPr id="1436717" name="Text Box 45"/>
          <p:cNvSpPr txBox="1">
            <a:spLocks noChangeArrowheads="1"/>
          </p:cNvSpPr>
          <p:nvPr/>
        </p:nvSpPr>
        <p:spPr bwMode="auto">
          <a:xfrm>
            <a:off x="7010400" y="2133600"/>
            <a:ext cx="1905000" cy="457200"/>
          </a:xfrm>
          <a:prstGeom prst="rect">
            <a:avLst/>
          </a:prstGeom>
          <a:noFill/>
          <a:ln w="9525">
            <a:noFill/>
            <a:miter lim="800000"/>
            <a:headEnd/>
            <a:tailEnd/>
          </a:ln>
          <a:effectLst/>
        </p:spPr>
        <p:txBody>
          <a:bodyPr>
            <a:spAutoFit/>
          </a:bodyPr>
          <a:lstStyle/>
          <a:p>
            <a:pPr>
              <a:spcBef>
                <a:spcPct val="50000"/>
              </a:spcBef>
            </a:pPr>
            <a:r>
              <a:rPr lang="en-US">
                <a:solidFill>
                  <a:srgbClr val="FF5050"/>
                </a:solidFill>
                <a:latin typeface="Times New Roman" pitchFamily="18" charset="0"/>
              </a:rPr>
              <a:t>Probably not!</a:t>
            </a:r>
          </a:p>
        </p:txBody>
      </p:sp>
      <p:sp>
        <p:nvSpPr>
          <p:cNvPr id="1436718" name="Line 46"/>
          <p:cNvSpPr>
            <a:spLocks noChangeShapeType="1"/>
          </p:cNvSpPr>
          <p:nvPr/>
        </p:nvSpPr>
        <p:spPr bwMode="auto">
          <a:xfrm flipH="1">
            <a:off x="4191000" y="2514600"/>
            <a:ext cx="3581400" cy="3048000"/>
          </a:xfrm>
          <a:prstGeom prst="line">
            <a:avLst/>
          </a:prstGeom>
          <a:noFill/>
          <a:ln w="38100">
            <a:solidFill>
              <a:srgbClr val="FF5050"/>
            </a:solidFill>
            <a:round/>
            <a:headEnd/>
            <a:tailEnd type="triangle" w="med" len="med"/>
          </a:ln>
          <a:effectLst/>
        </p:spPr>
        <p:txBody>
          <a:bodyPr/>
          <a:lstStyle/>
          <a:p>
            <a:endParaRPr lang="en-US"/>
          </a:p>
        </p:txBody>
      </p:sp>
      <p:sp>
        <p:nvSpPr>
          <p:cNvPr id="1436719" name="Text Box 47"/>
          <p:cNvSpPr txBox="1">
            <a:spLocks noChangeArrowheads="1"/>
          </p:cNvSpPr>
          <p:nvPr/>
        </p:nvSpPr>
        <p:spPr bwMode="auto">
          <a:xfrm>
            <a:off x="3886200" y="51054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
        <p:nvSpPr>
          <p:cNvPr id="1436720" name="Text Box 48"/>
          <p:cNvSpPr txBox="1">
            <a:spLocks noChangeArrowheads="1"/>
          </p:cNvSpPr>
          <p:nvPr/>
        </p:nvSpPr>
        <p:spPr bwMode="auto">
          <a:xfrm rot="856655">
            <a:off x="4038600" y="51816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
        <p:nvSpPr>
          <p:cNvPr id="1436721" name="Text Box 49"/>
          <p:cNvSpPr txBox="1">
            <a:spLocks noChangeArrowheads="1"/>
          </p:cNvSpPr>
          <p:nvPr/>
        </p:nvSpPr>
        <p:spPr bwMode="auto">
          <a:xfrm rot="-1269156">
            <a:off x="3733800" y="5181600"/>
            <a:ext cx="457200" cy="457200"/>
          </a:xfrm>
          <a:prstGeom prst="rect">
            <a:avLst/>
          </a:prstGeom>
          <a:noFill/>
          <a:ln w="9525">
            <a:noFill/>
            <a:miter lim="800000"/>
            <a:headEnd/>
            <a:tailEnd/>
          </a:ln>
          <a:effectLst/>
        </p:spPr>
        <p:txBody>
          <a:bodyPr>
            <a:spAutoFit/>
          </a:bodyPr>
          <a:lstStyle/>
          <a:p>
            <a:pPr>
              <a:spcBef>
                <a:spcPct val="50000"/>
              </a:spcBef>
            </a:pPr>
            <a:r>
              <a:rPr lang="en-US" b="1">
                <a:solidFill>
                  <a:srgbClr val="FF5050"/>
                </a:solidFill>
                <a:latin typeface="Times New Roman" pitchFamily="18"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722" name="Rectangle 2"/>
          <p:cNvSpPr>
            <a:spLocks noGrp="1" noChangeArrowheads="1"/>
          </p:cNvSpPr>
          <p:nvPr>
            <p:ph type="title"/>
          </p:nvPr>
        </p:nvSpPr>
        <p:spPr/>
        <p:txBody>
          <a:bodyPr/>
          <a:lstStyle/>
          <a:p>
            <a:r>
              <a:rPr lang="en-US"/>
              <a:t>Cognitive Walkthrough Example</a:t>
            </a:r>
          </a:p>
        </p:txBody>
      </p:sp>
      <p:sp>
        <p:nvSpPr>
          <p:cNvPr id="1438723" name="Rectangle 3"/>
          <p:cNvSpPr>
            <a:spLocks noGrp="1" noChangeArrowheads="1"/>
          </p:cNvSpPr>
          <p:nvPr>
            <p:ph type="body" idx="1"/>
          </p:nvPr>
        </p:nvSpPr>
        <p:spPr/>
        <p:txBody>
          <a:bodyPr/>
          <a:lstStyle/>
          <a:p>
            <a:pPr marL="342900" indent="-342900">
              <a:buFontTx/>
              <a:buNone/>
            </a:pPr>
            <a:r>
              <a:rPr lang="en-US"/>
              <a:t>Not enough $…</a:t>
            </a:r>
          </a:p>
          <a:p>
            <a:pPr marL="342900" indent="-342900">
              <a:buFontTx/>
              <a:buNone/>
            </a:pPr>
            <a:r>
              <a:rPr lang="en-US"/>
              <a:t>1. Will the correct action be evident?</a:t>
            </a:r>
          </a:p>
          <a:p>
            <a:pPr marL="342900" indent="-342900">
              <a:buFontTx/>
              <a:buNone/>
            </a:pPr>
            <a:endParaRPr lang="en-US"/>
          </a:p>
          <a:p>
            <a:pPr marL="342900" indent="-342900">
              <a:buFontTx/>
              <a:buNone/>
            </a:pPr>
            <a:endParaRPr lang="en-US"/>
          </a:p>
        </p:txBody>
      </p:sp>
      <p:sp>
        <p:nvSpPr>
          <p:cNvPr id="1438724" name="Rectangle 4"/>
          <p:cNvSpPr>
            <a:spLocks noChangeArrowheads="1"/>
          </p:cNvSpPr>
          <p:nvPr/>
        </p:nvSpPr>
        <p:spPr bwMode="auto">
          <a:xfrm>
            <a:off x="1066800" y="2895600"/>
            <a:ext cx="7086600" cy="3048000"/>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25" name="Text Box 5"/>
          <p:cNvSpPr txBox="1">
            <a:spLocks noChangeArrowheads="1"/>
          </p:cNvSpPr>
          <p:nvPr/>
        </p:nvSpPr>
        <p:spPr bwMode="auto">
          <a:xfrm>
            <a:off x="1143000" y="2962275"/>
            <a:ext cx="4114800" cy="22399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1. Choose destination or enter fare</a:t>
            </a:r>
          </a:p>
          <a:p>
            <a:pPr marL="457200" indent="-457200">
              <a:spcBef>
                <a:spcPct val="10000"/>
              </a:spcBef>
            </a:pPr>
            <a:r>
              <a:rPr lang="en-US" sz="2000">
                <a:latin typeface="Times New Roman" pitchFamily="18" charset="0"/>
              </a:rPr>
              <a:t>	</a:t>
            </a:r>
            <a:r>
              <a:rPr lang="en-US" sz="1800">
                <a:latin typeface="Times New Roman" pitchFamily="18" charset="0"/>
              </a:rPr>
              <a:t>Newark</a:t>
            </a:r>
          </a:p>
          <a:p>
            <a:pPr marL="457200" indent="-457200">
              <a:spcBef>
                <a:spcPct val="10000"/>
              </a:spcBef>
            </a:pPr>
            <a:r>
              <a:rPr lang="en-US" sz="1800">
                <a:latin typeface="Times New Roman" pitchFamily="18" charset="0"/>
              </a:rPr>
              <a:t>	Rahway</a:t>
            </a:r>
          </a:p>
          <a:p>
            <a:pPr marL="457200" indent="-457200">
              <a:spcBef>
                <a:spcPct val="10000"/>
              </a:spcBef>
            </a:pPr>
            <a:r>
              <a:rPr lang="en-US" sz="1800">
                <a:latin typeface="Times New Roman" pitchFamily="18" charset="0"/>
              </a:rPr>
              <a:t>	Metropark</a:t>
            </a:r>
          </a:p>
          <a:p>
            <a:pPr marL="457200" indent="-457200">
              <a:spcBef>
                <a:spcPct val="10000"/>
              </a:spcBef>
            </a:pPr>
            <a:r>
              <a:rPr lang="en-US" sz="1800">
                <a:latin typeface="Times New Roman" pitchFamily="18" charset="0"/>
              </a:rPr>
              <a:t>	Metuchen</a:t>
            </a:r>
          </a:p>
          <a:p>
            <a:pPr marL="457200" indent="-457200">
              <a:spcBef>
                <a:spcPct val="10000"/>
              </a:spcBef>
            </a:pPr>
            <a:r>
              <a:rPr lang="en-US" sz="1800">
                <a:latin typeface="Times New Roman" pitchFamily="18" charset="0"/>
              </a:rPr>
              <a:t>	Edison</a:t>
            </a:r>
          </a:p>
          <a:p>
            <a:pPr marL="457200" indent="-457200">
              <a:spcBef>
                <a:spcPct val="10000"/>
              </a:spcBef>
            </a:pPr>
            <a:r>
              <a:rPr lang="en-US" sz="1800">
                <a:latin typeface="Times New Roman" pitchFamily="18" charset="0"/>
              </a:rPr>
              <a:t>	New Brunswick</a:t>
            </a:r>
          </a:p>
        </p:txBody>
      </p:sp>
      <p:sp>
        <p:nvSpPr>
          <p:cNvPr id="1438726" name="Rectangle 6"/>
          <p:cNvSpPr>
            <a:spLocks noChangeArrowheads="1"/>
          </p:cNvSpPr>
          <p:nvPr/>
        </p:nvSpPr>
        <p:spPr bwMode="auto">
          <a:xfrm>
            <a:off x="3581400" y="3429000"/>
            <a:ext cx="14478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nvGrpSpPr>
          <p:cNvPr id="2" name="Group 7"/>
          <p:cNvGrpSpPr>
            <a:grpSpLocks/>
          </p:cNvGrpSpPr>
          <p:nvPr/>
        </p:nvGrpSpPr>
        <p:grpSpPr bwMode="auto">
          <a:xfrm>
            <a:off x="4019550" y="4267200"/>
            <a:ext cx="609600" cy="800100"/>
            <a:chOff x="4896" y="1056"/>
            <a:chExt cx="384" cy="504"/>
          </a:xfrm>
        </p:grpSpPr>
        <p:sp>
          <p:nvSpPr>
            <p:cNvPr id="1438728" name="Rectangle 8"/>
            <p:cNvSpPr>
              <a:spLocks noChangeArrowheads="1"/>
            </p:cNvSpPr>
            <p:nvPr/>
          </p:nvSpPr>
          <p:spPr bwMode="auto">
            <a:xfrm>
              <a:off x="4896" y="1056"/>
              <a:ext cx="384" cy="504"/>
            </a:xfrm>
            <a:prstGeom prst="rect">
              <a:avLst/>
            </a:prstGeom>
            <a:solidFill>
              <a:schemeClr val="folHlink"/>
            </a:solidFill>
            <a:ln w="9525">
              <a:solidFill>
                <a:schemeClr val="tx1"/>
              </a:solidFill>
              <a:miter lim="800000"/>
              <a:headEnd/>
              <a:tailEnd/>
            </a:ln>
            <a:effectLst/>
          </p:spPr>
          <p:txBody>
            <a:bodyPr wrap="none" anchor="ctr"/>
            <a:lstStyle/>
            <a:p>
              <a:endParaRPr lang="en-US"/>
            </a:p>
          </p:txBody>
        </p:sp>
        <p:sp>
          <p:nvSpPr>
            <p:cNvPr id="1438729" name="Rectangle 9"/>
            <p:cNvSpPr>
              <a:spLocks noChangeArrowheads="1"/>
            </p:cNvSpPr>
            <p:nvPr/>
          </p:nvSpPr>
          <p:spPr bwMode="auto">
            <a:xfrm>
              <a:off x="492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0" name="Rectangle 10"/>
            <p:cNvSpPr>
              <a:spLocks noChangeArrowheads="1"/>
            </p:cNvSpPr>
            <p:nvPr/>
          </p:nvSpPr>
          <p:spPr bwMode="auto">
            <a:xfrm>
              <a:off x="504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1" name="Rectangle 11"/>
            <p:cNvSpPr>
              <a:spLocks noChangeArrowheads="1"/>
            </p:cNvSpPr>
            <p:nvPr/>
          </p:nvSpPr>
          <p:spPr bwMode="auto">
            <a:xfrm>
              <a:off x="5160" y="108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2" name="Rectangle 12"/>
            <p:cNvSpPr>
              <a:spLocks noChangeArrowheads="1"/>
            </p:cNvSpPr>
            <p:nvPr/>
          </p:nvSpPr>
          <p:spPr bwMode="auto">
            <a:xfrm>
              <a:off x="492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3" name="Rectangle 13"/>
            <p:cNvSpPr>
              <a:spLocks noChangeArrowheads="1"/>
            </p:cNvSpPr>
            <p:nvPr/>
          </p:nvSpPr>
          <p:spPr bwMode="auto">
            <a:xfrm>
              <a:off x="504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4" name="Rectangle 14"/>
            <p:cNvSpPr>
              <a:spLocks noChangeArrowheads="1"/>
            </p:cNvSpPr>
            <p:nvPr/>
          </p:nvSpPr>
          <p:spPr bwMode="auto">
            <a:xfrm>
              <a:off x="5160" y="120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5" name="Rectangle 15"/>
            <p:cNvSpPr>
              <a:spLocks noChangeArrowheads="1"/>
            </p:cNvSpPr>
            <p:nvPr/>
          </p:nvSpPr>
          <p:spPr bwMode="auto">
            <a:xfrm>
              <a:off x="492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6" name="Rectangle 16"/>
            <p:cNvSpPr>
              <a:spLocks noChangeArrowheads="1"/>
            </p:cNvSpPr>
            <p:nvPr/>
          </p:nvSpPr>
          <p:spPr bwMode="auto">
            <a:xfrm>
              <a:off x="504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7" name="Rectangle 17"/>
            <p:cNvSpPr>
              <a:spLocks noChangeArrowheads="1"/>
            </p:cNvSpPr>
            <p:nvPr/>
          </p:nvSpPr>
          <p:spPr bwMode="auto">
            <a:xfrm>
              <a:off x="5160" y="132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8" name="Rectangle 18"/>
            <p:cNvSpPr>
              <a:spLocks noChangeArrowheads="1"/>
            </p:cNvSpPr>
            <p:nvPr/>
          </p:nvSpPr>
          <p:spPr bwMode="auto">
            <a:xfrm>
              <a:off x="492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39" name="Rectangle 19"/>
            <p:cNvSpPr>
              <a:spLocks noChangeArrowheads="1"/>
            </p:cNvSpPr>
            <p:nvPr/>
          </p:nvSpPr>
          <p:spPr bwMode="auto">
            <a:xfrm>
              <a:off x="504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438740" name="Rectangle 20"/>
            <p:cNvSpPr>
              <a:spLocks noChangeArrowheads="1"/>
            </p:cNvSpPr>
            <p:nvPr/>
          </p:nvSpPr>
          <p:spPr bwMode="auto">
            <a:xfrm>
              <a:off x="5160" y="1440"/>
              <a:ext cx="96" cy="96"/>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1438741" name="Oval 21"/>
          <p:cNvSpPr>
            <a:spLocks noChangeArrowheads="1"/>
          </p:cNvSpPr>
          <p:nvPr/>
        </p:nvSpPr>
        <p:spPr bwMode="auto">
          <a:xfrm>
            <a:off x="1447800" y="34290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2" name="Oval 22"/>
          <p:cNvSpPr>
            <a:spLocks noChangeArrowheads="1"/>
          </p:cNvSpPr>
          <p:nvPr/>
        </p:nvSpPr>
        <p:spPr bwMode="auto">
          <a:xfrm>
            <a:off x="1447800" y="3733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3" name="Oval 23"/>
          <p:cNvSpPr>
            <a:spLocks noChangeArrowheads="1"/>
          </p:cNvSpPr>
          <p:nvPr/>
        </p:nvSpPr>
        <p:spPr bwMode="auto">
          <a:xfrm>
            <a:off x="1447800" y="40386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4" name="Oval 24"/>
          <p:cNvSpPr>
            <a:spLocks noChangeArrowheads="1"/>
          </p:cNvSpPr>
          <p:nvPr/>
        </p:nvSpPr>
        <p:spPr bwMode="auto">
          <a:xfrm>
            <a:off x="1447800" y="43434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5" name="Oval 25"/>
          <p:cNvSpPr>
            <a:spLocks noChangeArrowheads="1"/>
          </p:cNvSpPr>
          <p:nvPr/>
        </p:nvSpPr>
        <p:spPr bwMode="auto">
          <a:xfrm>
            <a:off x="1447800" y="46482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46" name="Oval 26"/>
          <p:cNvSpPr>
            <a:spLocks noChangeArrowheads="1"/>
          </p:cNvSpPr>
          <p:nvPr/>
        </p:nvSpPr>
        <p:spPr bwMode="auto">
          <a:xfrm>
            <a:off x="1447800" y="49530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8747" name="AutoShape 27"/>
          <p:cNvSpPr>
            <a:spLocks noChangeArrowheads="1"/>
          </p:cNvSpPr>
          <p:nvPr/>
        </p:nvSpPr>
        <p:spPr bwMode="auto">
          <a:xfrm>
            <a:off x="1104900" y="2933700"/>
            <a:ext cx="4038600" cy="22860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48" name="AutoShape 28"/>
          <p:cNvSpPr>
            <a:spLocks noChangeArrowheads="1"/>
          </p:cNvSpPr>
          <p:nvPr/>
        </p:nvSpPr>
        <p:spPr bwMode="auto">
          <a:xfrm>
            <a:off x="5181600" y="2933700"/>
            <a:ext cx="2933700" cy="11049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49" name="Text Box 29"/>
          <p:cNvSpPr txBox="1">
            <a:spLocks noChangeArrowheads="1"/>
          </p:cNvSpPr>
          <p:nvPr/>
        </p:nvSpPr>
        <p:spPr bwMode="auto">
          <a:xfrm>
            <a:off x="5181600" y="2962275"/>
            <a:ext cx="2895600" cy="1033463"/>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2. Indicate journey type </a:t>
            </a:r>
          </a:p>
          <a:p>
            <a:pPr marL="457200" indent="-457200">
              <a:spcBef>
                <a:spcPct val="10000"/>
              </a:spcBef>
            </a:pPr>
            <a:r>
              <a:rPr lang="en-US" sz="2000">
                <a:latin typeface="Times New Roman" pitchFamily="18" charset="0"/>
              </a:rPr>
              <a:t>	</a:t>
            </a:r>
            <a:r>
              <a:rPr lang="en-US" sz="1800">
                <a:latin typeface="Times New Roman" pitchFamily="18" charset="0"/>
              </a:rPr>
              <a:t>One-way</a:t>
            </a:r>
          </a:p>
          <a:p>
            <a:pPr marL="457200" indent="-457200">
              <a:spcBef>
                <a:spcPct val="10000"/>
              </a:spcBef>
            </a:pPr>
            <a:r>
              <a:rPr lang="en-US" sz="1800">
                <a:latin typeface="Times New Roman" pitchFamily="18" charset="0"/>
              </a:rPr>
              <a:t>	Round-trip</a:t>
            </a:r>
          </a:p>
        </p:txBody>
      </p:sp>
      <p:sp>
        <p:nvSpPr>
          <p:cNvPr id="1438750" name="Oval 30"/>
          <p:cNvSpPr>
            <a:spLocks noChangeArrowheads="1"/>
          </p:cNvSpPr>
          <p:nvPr/>
        </p:nvSpPr>
        <p:spPr bwMode="auto">
          <a:xfrm>
            <a:off x="5486400" y="3429000"/>
            <a:ext cx="152400" cy="152400"/>
          </a:xfrm>
          <a:prstGeom prst="ellipse">
            <a:avLst/>
          </a:prstGeom>
          <a:solidFill>
            <a:srgbClr val="FF5050"/>
          </a:solidFill>
          <a:ln w="9525">
            <a:solidFill>
              <a:schemeClr val="tx1"/>
            </a:solidFill>
            <a:round/>
            <a:headEnd/>
            <a:tailEnd/>
          </a:ln>
          <a:effectLst/>
        </p:spPr>
        <p:txBody>
          <a:bodyPr wrap="none" anchor="ctr"/>
          <a:lstStyle/>
          <a:p>
            <a:endParaRPr lang="en-US"/>
          </a:p>
        </p:txBody>
      </p:sp>
      <p:sp>
        <p:nvSpPr>
          <p:cNvPr id="1438751" name="Oval 31"/>
          <p:cNvSpPr>
            <a:spLocks noChangeArrowheads="1"/>
          </p:cNvSpPr>
          <p:nvPr/>
        </p:nvSpPr>
        <p:spPr bwMode="auto">
          <a:xfrm>
            <a:off x="5486400" y="3733800"/>
            <a:ext cx="152400" cy="152400"/>
          </a:xfrm>
          <a:prstGeom prst="ellipse">
            <a:avLst/>
          </a:prstGeom>
          <a:solidFill>
            <a:srgbClr val="4D4D4D"/>
          </a:solidFill>
          <a:ln w="9525">
            <a:solidFill>
              <a:schemeClr val="tx1"/>
            </a:solidFill>
            <a:round/>
            <a:headEnd/>
            <a:tailEnd/>
          </a:ln>
          <a:effectLst/>
        </p:spPr>
        <p:txBody>
          <a:bodyPr wrap="none" anchor="ctr"/>
          <a:lstStyle/>
          <a:p>
            <a:endParaRPr lang="en-US"/>
          </a:p>
        </p:txBody>
      </p:sp>
      <p:sp>
        <p:nvSpPr>
          <p:cNvPr id="1438752" name="AutoShape 32"/>
          <p:cNvSpPr>
            <a:spLocks noChangeArrowheads="1"/>
          </p:cNvSpPr>
          <p:nvPr/>
        </p:nvSpPr>
        <p:spPr bwMode="auto">
          <a:xfrm>
            <a:off x="5181600" y="4076700"/>
            <a:ext cx="2933700" cy="1181100"/>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53" name="Text Box 33"/>
          <p:cNvSpPr txBox="1">
            <a:spLocks noChangeArrowheads="1"/>
          </p:cNvSpPr>
          <p:nvPr/>
        </p:nvSpPr>
        <p:spPr bwMode="auto">
          <a:xfrm>
            <a:off x="5181600" y="4071938"/>
            <a:ext cx="28956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3. Deposit money</a:t>
            </a:r>
            <a:endParaRPr lang="en-US" sz="1800">
              <a:latin typeface="Times New Roman" pitchFamily="18" charset="0"/>
            </a:endParaRPr>
          </a:p>
        </p:txBody>
      </p:sp>
      <p:sp>
        <p:nvSpPr>
          <p:cNvPr id="1438754" name="Rectangle 34"/>
          <p:cNvSpPr>
            <a:spLocks noChangeArrowheads="1"/>
          </p:cNvSpPr>
          <p:nvPr/>
        </p:nvSpPr>
        <p:spPr bwMode="auto">
          <a:xfrm>
            <a:off x="5943600" y="4527550"/>
            <a:ext cx="76200" cy="3048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8755" name="Text Box 35"/>
          <p:cNvSpPr txBox="1">
            <a:spLocks noChangeArrowheads="1"/>
          </p:cNvSpPr>
          <p:nvPr/>
        </p:nvSpPr>
        <p:spPr bwMode="auto">
          <a:xfrm>
            <a:off x="5334000" y="44958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coins</a:t>
            </a:r>
          </a:p>
        </p:txBody>
      </p:sp>
      <p:sp>
        <p:nvSpPr>
          <p:cNvPr id="1438756" name="Text Box 36"/>
          <p:cNvSpPr txBox="1">
            <a:spLocks noChangeArrowheads="1"/>
          </p:cNvSpPr>
          <p:nvPr/>
        </p:nvSpPr>
        <p:spPr bwMode="auto">
          <a:xfrm>
            <a:off x="6248400" y="4495800"/>
            <a:ext cx="838200" cy="336550"/>
          </a:xfrm>
          <a:prstGeom prst="rect">
            <a:avLst/>
          </a:prstGeom>
          <a:noFill/>
          <a:ln w="9525">
            <a:noFill/>
            <a:miter lim="800000"/>
            <a:headEnd/>
            <a:tailEnd/>
          </a:ln>
          <a:effectLst/>
        </p:spPr>
        <p:txBody>
          <a:bodyPr>
            <a:spAutoFit/>
          </a:bodyPr>
          <a:lstStyle/>
          <a:p>
            <a:pPr>
              <a:spcBef>
                <a:spcPct val="50000"/>
              </a:spcBef>
            </a:pPr>
            <a:r>
              <a:rPr lang="en-US" sz="1600">
                <a:latin typeface="Times New Roman" pitchFamily="18" charset="0"/>
              </a:rPr>
              <a:t>bills</a:t>
            </a:r>
          </a:p>
        </p:txBody>
      </p:sp>
      <p:sp>
        <p:nvSpPr>
          <p:cNvPr id="1438757" name="Rectangle 37"/>
          <p:cNvSpPr>
            <a:spLocks noChangeArrowheads="1"/>
          </p:cNvSpPr>
          <p:nvPr/>
        </p:nvSpPr>
        <p:spPr bwMode="auto">
          <a:xfrm>
            <a:off x="6781800" y="4603750"/>
            <a:ext cx="1143000" cy="152400"/>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438758" name="AutoShape 38"/>
          <p:cNvSpPr>
            <a:spLocks noChangeArrowheads="1"/>
          </p:cNvSpPr>
          <p:nvPr/>
        </p:nvSpPr>
        <p:spPr bwMode="auto">
          <a:xfrm>
            <a:off x="3886200" y="5305425"/>
            <a:ext cx="4229100" cy="600075"/>
          </a:xfrm>
          <a:prstGeom prst="roundRect">
            <a:avLst>
              <a:gd name="adj" fmla="val 13333"/>
            </a:avLst>
          </a:prstGeom>
          <a:noFill/>
          <a:ln w="19050">
            <a:solidFill>
              <a:schemeClr val="tx1"/>
            </a:solidFill>
            <a:round/>
            <a:headEnd/>
            <a:tailEnd/>
          </a:ln>
          <a:effectLst/>
        </p:spPr>
        <p:txBody>
          <a:bodyPr wrap="none" anchor="ctr"/>
          <a:lstStyle/>
          <a:p>
            <a:endParaRPr lang="en-US"/>
          </a:p>
        </p:txBody>
      </p:sp>
      <p:sp>
        <p:nvSpPr>
          <p:cNvPr id="1438759" name="Text Box 39"/>
          <p:cNvSpPr txBox="1">
            <a:spLocks noChangeArrowheads="1"/>
          </p:cNvSpPr>
          <p:nvPr/>
        </p:nvSpPr>
        <p:spPr bwMode="auto">
          <a:xfrm>
            <a:off x="4191000" y="5394325"/>
            <a:ext cx="3886200" cy="396875"/>
          </a:xfrm>
          <a:prstGeom prst="rect">
            <a:avLst/>
          </a:prstGeom>
          <a:noFill/>
          <a:ln w="9525">
            <a:noFill/>
            <a:miter lim="800000"/>
            <a:headEnd/>
            <a:tailEnd/>
          </a:ln>
          <a:effectLst/>
        </p:spPr>
        <p:txBody>
          <a:bodyPr>
            <a:spAutoFit/>
          </a:bodyPr>
          <a:lstStyle/>
          <a:p>
            <a:pPr marL="457200" indent="-457200">
              <a:spcBef>
                <a:spcPct val="50000"/>
              </a:spcBef>
            </a:pPr>
            <a:r>
              <a:rPr lang="en-US" sz="2000">
                <a:latin typeface="Times New Roman" pitchFamily="18" charset="0"/>
              </a:rPr>
              <a:t>4. Press to receive ticket and change</a:t>
            </a:r>
            <a:endParaRPr lang="en-US" sz="1800">
              <a:latin typeface="Times New Roman" pitchFamily="18" charset="0"/>
            </a:endParaRPr>
          </a:p>
        </p:txBody>
      </p:sp>
      <p:sp>
        <p:nvSpPr>
          <p:cNvPr id="1438760" name="Oval 40"/>
          <p:cNvSpPr>
            <a:spLocks noChangeArrowheads="1"/>
          </p:cNvSpPr>
          <p:nvPr/>
        </p:nvSpPr>
        <p:spPr bwMode="auto">
          <a:xfrm>
            <a:off x="3962400" y="5486400"/>
            <a:ext cx="228600" cy="2286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1438761" name="Text Box 41"/>
          <p:cNvSpPr txBox="1">
            <a:spLocks noChangeArrowheads="1"/>
          </p:cNvSpPr>
          <p:nvPr/>
        </p:nvSpPr>
        <p:spPr bwMode="auto">
          <a:xfrm>
            <a:off x="1143000" y="5386388"/>
            <a:ext cx="2667000" cy="366712"/>
          </a:xfrm>
          <a:prstGeom prst="rect">
            <a:avLst/>
          </a:prstGeom>
          <a:noFill/>
          <a:ln w="9525">
            <a:noFill/>
            <a:miter lim="800000"/>
            <a:headEnd/>
            <a:tailEnd/>
          </a:ln>
          <a:effectLst/>
        </p:spPr>
        <p:txBody>
          <a:bodyPr>
            <a:spAutoFit/>
          </a:bodyPr>
          <a:lstStyle/>
          <a:p>
            <a:pPr>
              <a:spcBef>
                <a:spcPct val="50000"/>
              </a:spcBef>
            </a:pPr>
            <a:r>
              <a:rPr lang="en-US" sz="1800">
                <a:latin typeface="Times New Roman" pitchFamily="18" charset="0"/>
              </a:rPr>
              <a:t>LIFT for ticket and change</a:t>
            </a:r>
          </a:p>
        </p:txBody>
      </p:sp>
      <p:sp>
        <p:nvSpPr>
          <p:cNvPr id="1438762" name="Rectangle 42"/>
          <p:cNvSpPr>
            <a:spLocks noChangeArrowheads="1"/>
          </p:cNvSpPr>
          <p:nvPr/>
        </p:nvSpPr>
        <p:spPr bwMode="auto">
          <a:xfrm>
            <a:off x="1143000" y="5276850"/>
            <a:ext cx="2667000" cy="609600"/>
          </a:xfrm>
          <a:prstGeom prst="rect">
            <a:avLst/>
          </a:prstGeom>
          <a:solidFill>
            <a:srgbClr val="969696">
              <a:alpha val="50000"/>
            </a:srgbClr>
          </a:solidFill>
          <a:ln w="9525">
            <a:solidFill>
              <a:schemeClr val="tx1"/>
            </a:solidFill>
            <a:miter lim="800000"/>
            <a:headEnd/>
            <a:tailEnd/>
          </a:ln>
          <a:effectLst/>
        </p:spPr>
        <p:txBody>
          <a:bodyPr wrap="none" anchor="ctr"/>
          <a:lstStyle/>
          <a:p>
            <a:endParaRPr lang="en-US"/>
          </a:p>
        </p:txBody>
      </p:sp>
      <p:sp>
        <p:nvSpPr>
          <p:cNvPr id="1438763" name="Text Box 43"/>
          <p:cNvSpPr txBox="1">
            <a:spLocks noChangeArrowheads="1"/>
          </p:cNvSpPr>
          <p:nvPr/>
        </p:nvSpPr>
        <p:spPr bwMode="auto">
          <a:xfrm>
            <a:off x="3581400" y="3413125"/>
            <a:ext cx="1447800" cy="825500"/>
          </a:xfrm>
          <a:prstGeom prst="rect">
            <a:avLst/>
          </a:prstGeom>
          <a:noFill/>
          <a:ln w="9525">
            <a:noFill/>
            <a:miter lim="800000"/>
            <a:headEnd/>
            <a:tailEnd/>
          </a:ln>
          <a:effectLst/>
        </p:spPr>
        <p:txBody>
          <a:bodyPr>
            <a:spAutoFit/>
          </a:bodyPr>
          <a:lstStyle/>
          <a:p>
            <a:pPr algn="ctr"/>
            <a:r>
              <a:rPr lang="en-US" sz="1600">
                <a:latin typeface="Arial" charset="0"/>
              </a:rPr>
              <a:t>One-way</a:t>
            </a:r>
            <a:endParaRPr lang="en-US" sz="1400">
              <a:latin typeface="Arial" charset="0"/>
            </a:endParaRPr>
          </a:p>
          <a:p>
            <a:pPr algn="r"/>
            <a:r>
              <a:rPr lang="en-US" sz="1600">
                <a:latin typeface="Arial" charset="0"/>
              </a:rPr>
              <a:t> $6.35</a:t>
            </a:r>
          </a:p>
          <a:p>
            <a:pPr algn="r"/>
            <a:r>
              <a:rPr lang="en-US" sz="1600">
                <a:latin typeface="Arial" charset="0"/>
              </a:rPr>
              <a:t>Recv’d: $5.00</a:t>
            </a:r>
          </a:p>
        </p:txBody>
      </p:sp>
      <p:sp>
        <p:nvSpPr>
          <p:cNvPr id="1438764" name="Text Box 44"/>
          <p:cNvSpPr txBox="1">
            <a:spLocks noChangeArrowheads="1"/>
          </p:cNvSpPr>
          <p:nvPr/>
        </p:nvSpPr>
        <p:spPr bwMode="auto">
          <a:xfrm>
            <a:off x="6156325" y="1557338"/>
            <a:ext cx="2987675" cy="1260475"/>
          </a:xfrm>
          <a:prstGeom prst="rect">
            <a:avLst/>
          </a:prstGeom>
          <a:noFill/>
          <a:ln w="9525">
            <a:noFill/>
            <a:miter lim="800000"/>
            <a:headEnd/>
            <a:tailEnd/>
          </a:ln>
          <a:effectLst/>
        </p:spPr>
        <p:txBody>
          <a:bodyPr>
            <a:spAutoFit/>
          </a:bodyPr>
          <a:lstStyle/>
          <a:p>
            <a:pPr algn="ctr">
              <a:lnSpc>
                <a:spcPct val="80000"/>
              </a:lnSpc>
              <a:spcBef>
                <a:spcPct val="50000"/>
              </a:spcBef>
            </a:pPr>
            <a:r>
              <a:rPr lang="en-US">
                <a:solidFill>
                  <a:srgbClr val="FF5050"/>
                </a:solidFill>
                <a:latin typeface="Times New Roman" pitchFamily="18" charset="0"/>
              </a:rPr>
              <a:t>Probably not!</a:t>
            </a:r>
            <a:br>
              <a:rPr lang="en-US">
                <a:solidFill>
                  <a:srgbClr val="FF5050"/>
                </a:solidFill>
                <a:latin typeface="Times New Roman" pitchFamily="18" charset="0"/>
              </a:rPr>
            </a:br>
            <a:r>
              <a:rPr lang="en-US">
                <a:solidFill>
                  <a:srgbClr val="FF5050"/>
                </a:solidFill>
                <a:latin typeface="Times New Roman" pitchFamily="18" charset="0"/>
                <a:sym typeface="Wingdings" pitchFamily="2" charset="2"/>
              </a:rPr>
              <a:t> </a:t>
            </a:r>
            <a:r>
              <a:rPr lang="en-US">
                <a:solidFill>
                  <a:srgbClr val="FF5050"/>
                </a:solidFill>
                <a:latin typeface="Times New Roman" pitchFamily="18" charset="0"/>
              </a:rPr>
              <a:t>Add a new UI element to make it clear!</a:t>
            </a:r>
          </a:p>
        </p:txBody>
      </p:sp>
      <p:sp>
        <p:nvSpPr>
          <p:cNvPr id="1438765" name="Line 45"/>
          <p:cNvSpPr>
            <a:spLocks noChangeShapeType="1"/>
          </p:cNvSpPr>
          <p:nvPr/>
        </p:nvSpPr>
        <p:spPr bwMode="auto">
          <a:xfrm flipH="1">
            <a:off x="7162800" y="2895600"/>
            <a:ext cx="1295400" cy="2057400"/>
          </a:xfrm>
          <a:prstGeom prst="line">
            <a:avLst/>
          </a:prstGeom>
          <a:noFill/>
          <a:ln w="38100">
            <a:solidFill>
              <a:srgbClr val="FF5050"/>
            </a:solidFill>
            <a:round/>
            <a:headEnd/>
            <a:tailEnd type="triangle" w="med" len="med"/>
          </a:ln>
          <a:effectLst/>
        </p:spPr>
        <p:txBody>
          <a:bodyPr/>
          <a:lstStyle/>
          <a:p>
            <a:endParaRPr lang="en-US"/>
          </a:p>
        </p:txBody>
      </p:sp>
      <p:sp>
        <p:nvSpPr>
          <p:cNvPr id="1438766" name="Text Box 46"/>
          <p:cNvSpPr txBox="1">
            <a:spLocks noChangeArrowheads="1"/>
          </p:cNvSpPr>
          <p:nvPr/>
        </p:nvSpPr>
        <p:spPr bwMode="auto">
          <a:xfrm>
            <a:off x="5181600" y="4800600"/>
            <a:ext cx="2971800" cy="396875"/>
          </a:xfrm>
          <a:prstGeom prst="rect">
            <a:avLst/>
          </a:prstGeom>
          <a:noFill/>
          <a:ln w="9525">
            <a:noFill/>
            <a:miter lim="800000"/>
            <a:headEnd/>
            <a:tailEnd/>
          </a:ln>
          <a:effectLst/>
        </p:spPr>
        <p:txBody>
          <a:bodyPr>
            <a:spAutoFit/>
          </a:bodyPr>
          <a:lstStyle/>
          <a:p>
            <a:pPr marL="457200" indent="-457200">
              <a:spcBef>
                <a:spcPct val="10000"/>
              </a:spcBef>
            </a:pPr>
            <a:r>
              <a:rPr lang="en-US" sz="2000">
                <a:latin typeface="Times New Roman" pitchFamily="18" charset="0"/>
              </a:rPr>
              <a:t>	</a:t>
            </a:r>
            <a:r>
              <a:rPr lang="en-US" sz="1800">
                <a:latin typeface="Times New Roman" pitchFamily="18" charset="0"/>
              </a:rPr>
              <a:t>Cancel &amp; return money</a:t>
            </a:r>
          </a:p>
        </p:txBody>
      </p:sp>
      <p:sp>
        <p:nvSpPr>
          <p:cNvPr id="1438767" name="Oval 47"/>
          <p:cNvSpPr>
            <a:spLocks noChangeArrowheads="1"/>
          </p:cNvSpPr>
          <p:nvPr/>
        </p:nvSpPr>
        <p:spPr bwMode="auto">
          <a:xfrm>
            <a:off x="5429250" y="4895850"/>
            <a:ext cx="228600" cy="228600"/>
          </a:xfrm>
          <a:prstGeom prst="ellipse">
            <a:avLst/>
          </a:prstGeom>
          <a:solidFill>
            <a:srgbClr val="A50021"/>
          </a:solidFill>
          <a:ln w="9525">
            <a:solidFill>
              <a:schemeClr val="tx1"/>
            </a:solidFill>
            <a:round/>
            <a:headEnd/>
            <a:tailEnd/>
          </a:ln>
          <a:effectLst/>
        </p:spPr>
        <p:txBody>
          <a:bodyPr wrap="none" anchor="ctr"/>
          <a:lstStyle/>
          <a:p>
            <a:endParaRPr lang="en-US"/>
          </a:p>
        </p:txBody>
      </p:sp>
      <p:sp>
        <p:nvSpPr>
          <p:cNvPr id="1438768" name="AutoShape 48"/>
          <p:cNvSpPr>
            <a:spLocks noChangeArrowheads="1"/>
          </p:cNvSpPr>
          <p:nvPr/>
        </p:nvSpPr>
        <p:spPr bwMode="auto">
          <a:xfrm>
            <a:off x="5429250" y="4895850"/>
            <a:ext cx="228600" cy="228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chemeClr val="bg1"/>
          </a:solidFill>
          <a:ln w="9525">
            <a:solidFill>
              <a:schemeClr val="tx1"/>
            </a:solidFill>
            <a:miter lim="800000"/>
            <a:headEnd/>
            <a:tailEnd/>
          </a:ln>
          <a:effectLst/>
        </p:spPr>
        <p:txBody>
          <a:bodyPr wrap="none" anchor="ctr"/>
          <a:lstStyle/>
          <a:p>
            <a:endParaRPr lang="en-US"/>
          </a:p>
        </p:txBody>
      </p:sp>
      <p:sp>
        <p:nvSpPr>
          <p:cNvPr id="1438769" name="AutoShape 49"/>
          <p:cNvSpPr>
            <a:spLocks noChangeArrowheads="1"/>
          </p:cNvSpPr>
          <p:nvPr/>
        </p:nvSpPr>
        <p:spPr bwMode="auto">
          <a:xfrm flipH="1">
            <a:off x="5429250" y="4895850"/>
            <a:ext cx="228600" cy="228600"/>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chemeClr val="bg1"/>
          </a:solidFill>
          <a:ln w="9525">
            <a:solidFill>
              <a:schemeClr val="tx1"/>
            </a:solidFill>
            <a:miter lim="800000"/>
            <a:headEnd/>
            <a:tailEnd/>
          </a:ln>
          <a:effectLst/>
        </p:spPr>
        <p:txBody>
          <a:bodyPr wrap="none" anchor="ct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6872</TotalTime>
  <Words>3387</Words>
  <Application>Microsoft Office PowerPoint</Application>
  <PresentationFormat>On-screen Show (4:3)</PresentationFormat>
  <Paragraphs>672</Paragraphs>
  <Slides>50</Slides>
  <Notes>32</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Calibri</vt:lpstr>
      <vt:lpstr>Franklin Gothic Book</vt:lpstr>
      <vt:lpstr>Perpetua</vt:lpstr>
      <vt:lpstr>Tahoma</vt:lpstr>
      <vt:lpstr>Times</vt:lpstr>
      <vt:lpstr>Times New Roman</vt:lpstr>
      <vt:lpstr>Wingdings 2</vt:lpstr>
      <vt:lpstr>Wingdings 3</vt:lpstr>
      <vt:lpstr>Equity</vt:lpstr>
      <vt:lpstr>Human Computer Interaction   Evaluations – Cognitive Walkthrough     </vt:lpstr>
      <vt:lpstr>Why to Evaluate</vt:lpstr>
      <vt:lpstr>What’s it good for?</vt:lpstr>
      <vt:lpstr>Vocabulary Problem</vt:lpstr>
      <vt:lpstr>Cognitive Walkthrough Purpose</vt:lpstr>
      <vt:lpstr>Cognitive Walkthrough</vt:lpstr>
      <vt:lpstr>Cognitive Walkthrough</vt:lpstr>
      <vt:lpstr>Preparation: We need four things</vt:lpstr>
      <vt:lpstr>Process of Cognitive Walkthrough</vt:lpstr>
      <vt:lpstr>Cognitive Walkthrough Questions </vt:lpstr>
      <vt:lpstr>Is it visible? </vt:lpstr>
      <vt:lpstr>PowerPoint Presentation</vt:lpstr>
      <vt:lpstr>Is it recognizable?</vt:lpstr>
      <vt:lpstr>PowerPoint Presentation</vt:lpstr>
      <vt:lpstr>Is the effect of the action the same as the user’s goal at that point?</vt:lpstr>
      <vt:lpstr>PowerPoint Presentation</vt:lpstr>
      <vt:lpstr>PowerPoint Presentation</vt:lpstr>
      <vt:lpstr>Is feedback understandable? </vt:lpstr>
      <vt:lpstr>PowerPoint Presentation</vt:lpstr>
      <vt:lpstr>Preparation </vt:lpstr>
      <vt:lpstr>Preparation: Actions   </vt:lpstr>
      <vt:lpstr>Walkthrough UA1 </vt:lpstr>
      <vt:lpstr>Walkthrough UA1 </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lpstr>Cognitive Walkthrough Example</vt:lpstr>
    </vt:vector>
  </TitlesOfParts>
  <Company>Personal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Sadaf Baloch</cp:lastModifiedBy>
  <cp:revision>598</cp:revision>
  <dcterms:created xsi:type="dcterms:W3CDTF">2010-02-07T17:56:13Z</dcterms:created>
  <dcterms:modified xsi:type="dcterms:W3CDTF">2021-01-28T09:00:45Z</dcterms:modified>
</cp:coreProperties>
</file>