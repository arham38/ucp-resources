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9"/>
  </p:notesMasterIdLst>
  <p:sldIdLst>
    <p:sldId id="256" r:id="rId2"/>
    <p:sldId id="272" r:id="rId3"/>
    <p:sldId id="261" r:id="rId4"/>
    <p:sldId id="262" r:id="rId5"/>
    <p:sldId id="263" r:id="rId6"/>
    <p:sldId id="265" r:id="rId7"/>
    <p:sldId id="266" r:id="rId8"/>
    <p:sldId id="281" r:id="rId9"/>
    <p:sldId id="267" r:id="rId10"/>
    <p:sldId id="268" r:id="rId11"/>
    <p:sldId id="269" r:id="rId12"/>
    <p:sldId id="270" r:id="rId13"/>
    <p:sldId id="271" r:id="rId14"/>
    <p:sldId id="318" r:id="rId15"/>
    <p:sldId id="319" r:id="rId16"/>
    <p:sldId id="320" r:id="rId17"/>
    <p:sldId id="321" r:id="rId18"/>
    <p:sldId id="322" r:id="rId19"/>
    <p:sldId id="323" r:id="rId20"/>
    <p:sldId id="324" r:id="rId21"/>
    <p:sldId id="325" r:id="rId22"/>
    <p:sldId id="280" r:id="rId23"/>
    <p:sldId id="259" r:id="rId24"/>
    <p:sldId id="326" r:id="rId25"/>
    <p:sldId id="342" r:id="rId26"/>
    <p:sldId id="260" r:id="rId27"/>
    <p:sldId id="348" r:id="rId28"/>
    <p:sldId id="273" r:id="rId29"/>
    <p:sldId id="343" r:id="rId30"/>
    <p:sldId id="344" r:id="rId31"/>
    <p:sldId id="345" r:id="rId32"/>
    <p:sldId id="346" r:id="rId33"/>
    <p:sldId id="274" r:id="rId34"/>
    <p:sldId id="275" r:id="rId35"/>
    <p:sldId id="349" r:id="rId36"/>
    <p:sldId id="347" r:id="rId37"/>
    <p:sldId id="276" r:id="rId38"/>
    <p:sldId id="277" r:id="rId39"/>
    <p:sldId id="350" r:id="rId40"/>
    <p:sldId id="287" r:id="rId41"/>
    <p:sldId id="327" r:id="rId42"/>
    <p:sldId id="328" r:id="rId43"/>
    <p:sldId id="290" r:id="rId44"/>
    <p:sldId id="339" r:id="rId45"/>
    <p:sldId id="330" r:id="rId46"/>
    <p:sldId id="314" r:id="rId47"/>
    <p:sldId id="313" r:id="rId48"/>
    <p:sldId id="329" r:id="rId49"/>
    <p:sldId id="292" r:id="rId50"/>
    <p:sldId id="293" r:id="rId51"/>
    <p:sldId id="315" r:id="rId52"/>
    <p:sldId id="291" r:id="rId53"/>
    <p:sldId id="299" r:id="rId54"/>
    <p:sldId id="331" r:id="rId55"/>
    <p:sldId id="332" r:id="rId56"/>
    <p:sldId id="333" r:id="rId57"/>
    <p:sldId id="334" r:id="rId58"/>
    <p:sldId id="335" r:id="rId59"/>
    <p:sldId id="336" r:id="rId60"/>
    <p:sldId id="337" r:id="rId61"/>
    <p:sldId id="338" r:id="rId62"/>
    <p:sldId id="312" r:id="rId63"/>
    <p:sldId id="317" r:id="rId64"/>
    <p:sldId id="295" r:id="rId65"/>
    <p:sldId id="297" r:id="rId66"/>
    <p:sldId id="340" r:id="rId67"/>
    <p:sldId id="341" r:id="rId6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221" autoAdjust="0"/>
    <p:restoredTop sz="94249" autoAdjust="0"/>
  </p:normalViewPr>
  <p:slideViewPr>
    <p:cSldViewPr>
      <p:cViewPr varScale="1">
        <p:scale>
          <a:sx n="72" d="100"/>
          <a:sy n="72" d="100"/>
        </p:scale>
        <p:origin x="930" y="6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33D86C5-1D41-4B7C-A867-9C1590702E53}" type="datetimeFigureOut">
              <a:rPr lang="en-US" smtClean="0"/>
              <a:t>12/28/2020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F8BF18D-4DAE-4DDD-BFAC-F0C99AA07095}" type="slidenum">
              <a:rPr lang="en-US" smtClean="0"/>
              <a:t>‹#›</a:t>
            </a:fld>
            <a:endParaRPr lang="en-US"/>
          </a:p>
        </p:txBody>
      </p:sp>
    </p:spTree>
    <p:extLst>
      <p:ext uri="{BB962C8B-B14F-4D97-AF65-F5344CB8AC3E}">
        <p14:creationId xmlns:p14="http://schemas.microsoft.com/office/powerpoint/2010/main" val="29718880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www.cs.loyola.edu/~lawrie/CS774/S06/homework/klm.pdf" TargetMode="External"/><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www.cs.loyola.edu/~lawrie/CS774/S06/homework/klm.pdf" TargetMode="External"/><Relationship Id="rId2" Type="http://schemas.openxmlformats.org/officeDocument/2006/relationships/slide" Target="../slides/slide53.xml"/><Relationship Id="rId1" Type="http://schemas.openxmlformats.org/officeDocument/2006/relationships/notesMaster" Target="../notesMasters/notesMaster1.xml"/><Relationship Id="rId4" Type="http://schemas.openxmlformats.org/officeDocument/2006/relationships/hyperlink" Target="https://enacademic.com/dic.nsf/enwiki/910192" TargetMode="Externa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F8BF18D-4DAE-4DDD-BFAC-F0C99AA07095}" type="slidenum">
              <a:rPr lang="en-US" smtClean="0"/>
              <a:t>1</a:t>
            </a:fld>
            <a:endParaRPr lang="en-US"/>
          </a:p>
        </p:txBody>
      </p:sp>
    </p:spTree>
    <p:extLst>
      <p:ext uri="{BB962C8B-B14F-4D97-AF65-F5344CB8AC3E}">
        <p14:creationId xmlns:p14="http://schemas.microsoft.com/office/powerpoint/2010/main" val="10395543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 Note that when we say efficiency, we’re not concerned with the performance of the backend, or choices of algorithms or data structures, or analyzing or proving their performance.  Those are important questions, but you can take other courses about answering them.  We’re concerned with the channel between the user and the system; how quickly can we get instructions and information across that interface?  In other words, assuming that the </a:t>
            </a:r>
            <a:r>
              <a:rPr lang="en-US" sz="1200" b="0" i="1" kern="1200" dirty="0">
                <a:solidFill>
                  <a:schemeClr val="tx1"/>
                </a:solidFill>
                <a:effectLst/>
                <a:latin typeface="+mn-lt"/>
                <a:ea typeface="+mn-ea"/>
                <a:cs typeface="+mn-cs"/>
              </a:rPr>
              <a:t>user interface </a:t>
            </a:r>
            <a:r>
              <a:rPr lang="en-US" sz="1200" b="0" i="0" kern="1200" dirty="0">
                <a:solidFill>
                  <a:schemeClr val="tx1"/>
                </a:solidFill>
                <a:effectLst/>
                <a:latin typeface="+mn-lt"/>
                <a:ea typeface="+mn-ea"/>
                <a:cs typeface="+mn-cs"/>
              </a:rPr>
              <a:t>is the performance bottleneck, how fast can the whole system go?</a:t>
            </a:r>
          </a:p>
          <a:p>
            <a:br>
              <a:rPr lang="en-US" dirty="0"/>
            </a:br>
            <a:endParaRPr lang="en-US" dirty="0"/>
          </a:p>
        </p:txBody>
      </p:sp>
      <p:sp>
        <p:nvSpPr>
          <p:cNvPr id="4" name="Slide Number Placeholder 3"/>
          <p:cNvSpPr>
            <a:spLocks noGrp="1"/>
          </p:cNvSpPr>
          <p:nvPr>
            <p:ph type="sldNum" sz="quarter" idx="10"/>
          </p:nvPr>
        </p:nvSpPr>
        <p:spPr/>
        <p:txBody>
          <a:bodyPr/>
          <a:lstStyle/>
          <a:p>
            <a:fld id="{0F8BF18D-4DAE-4DDD-BFAC-F0C99AA07095}" type="slidenum">
              <a:rPr lang="en-US" smtClean="0"/>
              <a:t>2</a:t>
            </a:fld>
            <a:endParaRPr lang="en-US"/>
          </a:p>
        </p:txBody>
      </p:sp>
    </p:spTree>
    <p:extLst>
      <p:ext uri="{BB962C8B-B14F-4D97-AF65-F5344CB8AC3E}">
        <p14:creationId xmlns:p14="http://schemas.microsoft.com/office/powerpoint/2010/main" val="36012502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8BF18D-4DAE-4DDD-BFAC-F0C99AA07095}" type="slidenum">
              <a:rPr lang="en-US" smtClean="0"/>
              <a:t>7</a:t>
            </a:fld>
            <a:endParaRPr lang="en-US"/>
          </a:p>
        </p:txBody>
      </p:sp>
    </p:spTree>
    <p:extLst>
      <p:ext uri="{BB962C8B-B14F-4D97-AF65-F5344CB8AC3E}">
        <p14:creationId xmlns:p14="http://schemas.microsoft.com/office/powerpoint/2010/main" val="17499905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model is an abstraction, of course.  But it’s an abstraction that actually gives us </a:t>
            </a:r>
            <a:r>
              <a:rPr lang="en-US" sz="1200" b="0" i="1" kern="1200" dirty="0">
                <a:solidFill>
                  <a:schemeClr val="tx1"/>
                </a:solidFill>
                <a:effectLst/>
                <a:latin typeface="+mn-lt"/>
                <a:ea typeface="+mn-ea"/>
                <a:cs typeface="+mn-cs"/>
              </a:rPr>
              <a:t>numerical parameters </a:t>
            </a:r>
            <a:r>
              <a:rPr lang="en-US" sz="1200" b="0" i="0" kern="1200" dirty="0">
                <a:solidFill>
                  <a:schemeClr val="tx1"/>
                </a:solidFill>
                <a:effectLst/>
                <a:latin typeface="+mn-lt"/>
                <a:ea typeface="+mn-ea"/>
                <a:cs typeface="+mn-cs"/>
              </a:rPr>
              <a:t>describing how we behave. Just as a computer has memory and processor, so does our model of a human.  Actually, the model has several different kinds of memory, and several different processors.</a:t>
            </a:r>
          </a:p>
          <a:p>
            <a:r>
              <a:rPr lang="en-US" sz="1200" b="0" i="0" kern="1200" dirty="0">
                <a:solidFill>
                  <a:schemeClr val="tx1"/>
                </a:solidFill>
                <a:effectLst/>
                <a:latin typeface="+mn-lt"/>
                <a:ea typeface="+mn-ea"/>
                <a:cs typeface="+mn-cs"/>
              </a:rPr>
              <a:t>Input from the eyes and ears is first stored in the </a:t>
            </a:r>
            <a:r>
              <a:rPr lang="en-US" sz="1200" b="1" i="0" kern="1200" dirty="0">
                <a:solidFill>
                  <a:schemeClr val="tx1"/>
                </a:solidFill>
                <a:effectLst/>
                <a:latin typeface="+mn-lt"/>
                <a:ea typeface="+mn-ea"/>
                <a:cs typeface="+mn-cs"/>
              </a:rPr>
              <a:t>short-term sensory store</a:t>
            </a:r>
            <a:r>
              <a:rPr lang="en-US" sz="1200" b="0" i="0" kern="1200" dirty="0">
                <a:solidFill>
                  <a:schemeClr val="tx1"/>
                </a:solidFill>
                <a:effectLst/>
                <a:latin typeface="+mn-lt"/>
                <a:ea typeface="+mn-ea"/>
                <a:cs typeface="+mn-cs"/>
              </a:rPr>
              <a:t>. As a computer hardware analogy, this memory is like a frame buffer, storing a single frame of perception.</a:t>
            </a:r>
          </a:p>
          <a:p>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perceptual processor </a:t>
            </a:r>
            <a:r>
              <a:rPr lang="en-US" sz="1200" b="0" i="0" kern="1200" dirty="0">
                <a:solidFill>
                  <a:schemeClr val="tx1"/>
                </a:solidFill>
                <a:effectLst/>
                <a:latin typeface="+mn-lt"/>
                <a:ea typeface="+mn-ea"/>
                <a:cs typeface="+mn-cs"/>
              </a:rPr>
              <a:t>takes the stored sensory input and attempts to recognize </a:t>
            </a:r>
            <a:r>
              <a:rPr lang="en-US" sz="1200" b="0" i="1" kern="1200" dirty="0">
                <a:solidFill>
                  <a:schemeClr val="tx1"/>
                </a:solidFill>
                <a:effectLst/>
                <a:latin typeface="+mn-lt"/>
                <a:ea typeface="+mn-ea"/>
                <a:cs typeface="+mn-cs"/>
              </a:rPr>
              <a:t>symbols</a:t>
            </a:r>
            <a:r>
              <a:rPr lang="en-US" sz="1200" b="0" i="0" kern="1200" dirty="0">
                <a:solidFill>
                  <a:schemeClr val="tx1"/>
                </a:solidFill>
                <a:effectLst/>
                <a:latin typeface="+mn-lt"/>
                <a:ea typeface="+mn-ea"/>
                <a:cs typeface="+mn-cs"/>
              </a:rPr>
              <a:t> in it: letters, words, phonemes, icons. It is aided in this recognition by the </a:t>
            </a:r>
            <a:r>
              <a:rPr lang="en-US" sz="1200" b="1" i="0" kern="1200" dirty="0">
                <a:solidFill>
                  <a:schemeClr val="tx1"/>
                </a:solidFill>
                <a:effectLst/>
                <a:latin typeface="+mn-lt"/>
                <a:ea typeface="+mn-ea"/>
                <a:cs typeface="+mn-cs"/>
              </a:rPr>
              <a:t>long-term memory</a:t>
            </a:r>
            <a:r>
              <a:rPr lang="en-US" sz="1200" b="0" i="0" kern="1200" dirty="0">
                <a:solidFill>
                  <a:schemeClr val="tx1"/>
                </a:solidFill>
                <a:effectLst/>
                <a:latin typeface="+mn-lt"/>
                <a:ea typeface="+mn-ea"/>
                <a:cs typeface="+mn-cs"/>
              </a:rPr>
              <a:t>, which stores the symbols you know how to recognize.</a:t>
            </a:r>
          </a:p>
          <a:p>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cognitive processor </a:t>
            </a:r>
            <a:r>
              <a:rPr lang="en-US" sz="1200" b="0" i="0" kern="1200" dirty="0">
                <a:solidFill>
                  <a:schemeClr val="tx1"/>
                </a:solidFill>
                <a:effectLst/>
                <a:latin typeface="+mn-lt"/>
                <a:ea typeface="+mn-ea"/>
                <a:cs typeface="+mn-cs"/>
              </a:rPr>
              <a:t>takes the symbols recognized by the perceptual processor and makes comparisons and decisions.  It might also store and fetch symbols in </a:t>
            </a:r>
            <a:r>
              <a:rPr lang="en-US" sz="1200" b="1" i="0" kern="1200" dirty="0">
                <a:solidFill>
                  <a:schemeClr val="tx1"/>
                </a:solidFill>
                <a:effectLst/>
                <a:latin typeface="+mn-lt"/>
                <a:ea typeface="+mn-ea"/>
                <a:cs typeface="+mn-cs"/>
              </a:rPr>
              <a:t>working memory</a:t>
            </a:r>
            <a:r>
              <a:rPr lang="en-US" sz="1200" b="0" i="0" kern="1200" dirty="0">
                <a:solidFill>
                  <a:schemeClr val="tx1"/>
                </a:solidFill>
                <a:effectLst/>
                <a:latin typeface="+mn-lt"/>
                <a:ea typeface="+mn-ea"/>
                <a:cs typeface="+mn-cs"/>
              </a:rPr>
              <a:t> (which you might think of as RAM, although it’s pretty small).  The cognitive processor does most of the work that we think of as “thinking”.</a:t>
            </a:r>
          </a:p>
          <a:p>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motor processor </a:t>
            </a:r>
            <a:r>
              <a:rPr lang="en-US" sz="1200" b="0" i="0" kern="1200" dirty="0">
                <a:solidFill>
                  <a:schemeClr val="tx1"/>
                </a:solidFill>
                <a:effectLst/>
                <a:latin typeface="+mn-lt"/>
                <a:ea typeface="+mn-ea"/>
                <a:cs typeface="+mn-cs"/>
              </a:rPr>
              <a:t>receives an action from the cognitive processor and instructs the muscles to execute it.  There’s an implicit </a:t>
            </a:r>
            <a:r>
              <a:rPr lang="en-US" sz="1200" b="1" i="0" kern="1200" dirty="0">
                <a:solidFill>
                  <a:schemeClr val="tx1"/>
                </a:solidFill>
                <a:effectLst/>
                <a:latin typeface="+mn-lt"/>
                <a:ea typeface="+mn-ea"/>
                <a:cs typeface="+mn-cs"/>
              </a:rPr>
              <a:t>feedback</a:t>
            </a:r>
            <a:r>
              <a:rPr lang="en-US" sz="1200" b="0" i="0" kern="1200" dirty="0">
                <a:solidFill>
                  <a:schemeClr val="tx1"/>
                </a:solidFill>
                <a:effectLst/>
                <a:latin typeface="+mn-lt"/>
                <a:ea typeface="+mn-ea"/>
                <a:cs typeface="+mn-cs"/>
              </a:rPr>
              <a:t> loop here: the effect of the action (either on the position of your body or on the state of the world) can be observed by your senses, and used to correct the motion in a continuous process.</a:t>
            </a:r>
          </a:p>
          <a:p>
            <a:r>
              <a:rPr lang="en-US" sz="1200" b="0" i="0" kern="1200" dirty="0">
                <a:solidFill>
                  <a:schemeClr val="tx1"/>
                </a:solidFill>
                <a:effectLst/>
                <a:latin typeface="+mn-lt"/>
                <a:ea typeface="+mn-ea"/>
                <a:cs typeface="+mn-cs"/>
              </a:rPr>
              <a:t>Finally, there is a component corresponding to your </a:t>
            </a:r>
            <a:r>
              <a:rPr lang="en-US" sz="1200" b="1" i="0" kern="1200" dirty="0">
                <a:solidFill>
                  <a:schemeClr val="tx1"/>
                </a:solidFill>
                <a:effectLst/>
                <a:latin typeface="+mn-lt"/>
                <a:ea typeface="+mn-ea"/>
                <a:cs typeface="+mn-cs"/>
              </a:rPr>
              <a:t>attention</a:t>
            </a:r>
            <a:r>
              <a:rPr lang="en-US" sz="1200" b="0" i="0" kern="1200" dirty="0">
                <a:solidFill>
                  <a:schemeClr val="tx1"/>
                </a:solidFill>
                <a:effectLst/>
                <a:latin typeface="+mn-lt"/>
                <a:ea typeface="+mn-ea"/>
                <a:cs typeface="+mn-cs"/>
              </a:rPr>
              <a:t>, which might be thought of like a thread of control in a computer system.</a:t>
            </a:r>
          </a:p>
          <a:p>
            <a:r>
              <a:rPr lang="en-US" sz="1200" b="0" i="0" kern="1200" dirty="0">
                <a:solidFill>
                  <a:schemeClr val="tx1"/>
                </a:solidFill>
                <a:effectLst/>
                <a:latin typeface="+mn-lt"/>
                <a:ea typeface="+mn-ea"/>
                <a:cs typeface="+mn-cs"/>
              </a:rPr>
              <a:t>Note that this model isn’t meant to reflect the anatomy of your nervous system.  There probably isn’t a single area  in your brain corresponding to the perceptual processor, for example.  But it’s a useful abstraction nevertheless.</a:t>
            </a:r>
          </a:p>
          <a:p>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0F8BF18D-4DAE-4DDD-BFAC-F0C99AA07095}" type="slidenum">
              <a:rPr lang="en-US" smtClean="0"/>
              <a:t>9</a:t>
            </a:fld>
            <a:endParaRPr lang="en-US"/>
          </a:p>
        </p:txBody>
      </p:sp>
    </p:spTree>
    <p:extLst>
      <p:ext uri="{BB962C8B-B14F-4D97-AF65-F5344CB8AC3E}">
        <p14:creationId xmlns:p14="http://schemas.microsoft.com/office/powerpoint/2010/main" val="11987041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We’ve already encountered one interesting effect of the perceptual processor: </a:t>
            </a:r>
            <a:r>
              <a:rPr lang="en-US" sz="1200" b="1" i="0" u="none" strike="noStrike" kern="1200" baseline="0" dirty="0">
                <a:solidFill>
                  <a:schemeClr val="tx1"/>
                </a:solidFill>
                <a:latin typeface="+mn-lt"/>
                <a:ea typeface="+mn-ea"/>
                <a:cs typeface="+mn-cs"/>
              </a:rPr>
              <a:t>perceptual fusion</a:t>
            </a:r>
            <a:r>
              <a:rPr lang="en-US" sz="1200" b="0" i="0" u="none" strike="noStrike" kern="1200" baseline="0" dirty="0">
                <a:solidFill>
                  <a:schemeClr val="tx1"/>
                </a:solidFill>
                <a:latin typeface="+mn-lt"/>
                <a:ea typeface="+mn-ea"/>
                <a:cs typeface="+mn-cs"/>
              </a:rPr>
              <a:t>. Here’s an intuition for how fusion works. Every cycle, the perceptual processor grabs a frame (snaps a picture). </a:t>
            </a:r>
            <a:r>
              <a:rPr lang="en-US" sz="1200" b="0" i="0" u="none" strike="noStrike" kern="1200" baseline="0" dirty="0">
                <a:solidFill>
                  <a:srgbClr val="FF0000"/>
                </a:solidFill>
                <a:latin typeface="+mn-lt"/>
                <a:ea typeface="+mn-ea"/>
                <a:cs typeface="+mn-cs"/>
              </a:rPr>
              <a:t>Two events occurring less than the cycle time apart are likely to appear in the same frame</a:t>
            </a:r>
            <a:r>
              <a:rPr lang="en-US" sz="1200" b="0" i="0" u="none" strike="noStrike" kern="1200" baseline="0" dirty="0">
                <a:solidFill>
                  <a:schemeClr val="tx1"/>
                </a:solidFill>
                <a:latin typeface="+mn-lt"/>
                <a:ea typeface="+mn-ea"/>
                <a:cs typeface="+mn-cs"/>
              </a:rPr>
              <a:t>. If the events are similar – e.g., Mickey Mouse appearing in one position, and then a short time later in another position – then the events tend to </a:t>
            </a:r>
            <a:r>
              <a:rPr lang="en-US" sz="1200" b="0" i="1" u="none" strike="noStrike" kern="1200" baseline="0" dirty="0">
                <a:solidFill>
                  <a:schemeClr val="tx1"/>
                </a:solidFill>
                <a:latin typeface="+mn-lt"/>
                <a:ea typeface="+mn-ea"/>
                <a:cs typeface="+mn-cs"/>
              </a:rPr>
              <a:t>fuse </a:t>
            </a:r>
            <a:r>
              <a:rPr lang="en-US" sz="1200" b="0" i="0" u="none" strike="noStrike" kern="1200" baseline="0" dirty="0">
                <a:solidFill>
                  <a:schemeClr val="tx1"/>
                </a:solidFill>
                <a:latin typeface="+mn-lt"/>
                <a:ea typeface="+mn-ea"/>
                <a:cs typeface="+mn-cs"/>
              </a:rPr>
              <a:t>into a single perceived event – a single Mickey Mouse, in motion. Fusion also strongly affects our perception of causality. If one event is closely followed by another – e.g., pressing a key and seeing a change in the screen – and the interval separating the events is less than </a:t>
            </a:r>
            <a:r>
              <a:rPr lang="en-US" sz="1200" b="0" i="0" u="none" strike="noStrike" kern="1200" baseline="0" dirty="0" err="1">
                <a:solidFill>
                  <a:schemeClr val="tx1"/>
                </a:solidFill>
                <a:latin typeface="+mn-lt"/>
                <a:ea typeface="+mn-ea"/>
                <a:cs typeface="+mn-cs"/>
              </a:rPr>
              <a:t>Tp</a:t>
            </a:r>
            <a:r>
              <a:rPr lang="en-US" sz="1200" b="0" i="0" u="none" strike="noStrike" kern="1200" baseline="0" dirty="0">
                <a:solidFill>
                  <a:schemeClr val="tx1"/>
                </a:solidFill>
                <a:latin typeface="+mn-lt"/>
                <a:ea typeface="+mn-ea"/>
                <a:cs typeface="+mn-cs"/>
              </a:rPr>
              <a:t>, then we are more inclined to believe that the first event caused the second. </a:t>
            </a:r>
            <a:endParaRPr lang="en-US" dirty="0"/>
          </a:p>
        </p:txBody>
      </p:sp>
      <p:sp>
        <p:nvSpPr>
          <p:cNvPr id="4" name="Slide Number Placeholder 3"/>
          <p:cNvSpPr>
            <a:spLocks noGrp="1"/>
          </p:cNvSpPr>
          <p:nvPr>
            <p:ph type="sldNum" sz="quarter" idx="10"/>
          </p:nvPr>
        </p:nvSpPr>
        <p:spPr/>
        <p:txBody>
          <a:bodyPr/>
          <a:lstStyle/>
          <a:p>
            <a:fld id="{0F8BF18D-4DAE-4DDD-BFAC-F0C99AA07095}" type="slidenum">
              <a:rPr lang="en-US" smtClean="0"/>
              <a:t>11</a:t>
            </a:fld>
            <a:endParaRPr lang="en-US"/>
          </a:p>
        </p:txBody>
      </p:sp>
    </p:spTree>
    <p:extLst>
      <p:ext uri="{BB962C8B-B14F-4D97-AF65-F5344CB8AC3E}">
        <p14:creationId xmlns:p14="http://schemas.microsoft.com/office/powerpoint/2010/main" val="26395745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cognitive processor is responsible for making comparisons and decisions. Cognition is a rich, complex process. The best-understood aspect of it is </a:t>
            </a:r>
            <a:r>
              <a:rPr lang="en-US" sz="1200" b="1" i="0" u="none" strike="noStrike" kern="1200" baseline="0" dirty="0">
                <a:solidFill>
                  <a:schemeClr val="tx1"/>
                </a:solidFill>
                <a:latin typeface="+mn-lt"/>
                <a:ea typeface="+mn-ea"/>
                <a:cs typeface="+mn-cs"/>
              </a:rPr>
              <a:t>skill-based </a:t>
            </a:r>
            <a:r>
              <a:rPr lang="en-US" sz="1200" b="0" i="0" u="none" strike="noStrike" kern="1200" baseline="0" dirty="0">
                <a:solidFill>
                  <a:schemeClr val="tx1"/>
                </a:solidFill>
                <a:latin typeface="+mn-lt"/>
                <a:ea typeface="+mn-ea"/>
                <a:cs typeface="+mn-cs"/>
              </a:rPr>
              <a:t>decision making. A skill is a procedure that has been learned thoroughly from practice; walking, talking, pointing, reading, driving, typing are skills most of us have learned well. Skill-based decisions are automatic responses that require little or no attention. Since skill-based decisions are very mechanical, they are easiest to describe in a mechanical model like the one we’re discussing. Two other kinds of decision making are </a:t>
            </a:r>
            <a:r>
              <a:rPr lang="en-US" sz="1200" b="1" i="0" u="none" strike="noStrike" kern="1200" baseline="0" dirty="0">
                <a:solidFill>
                  <a:schemeClr val="tx1"/>
                </a:solidFill>
                <a:latin typeface="+mn-lt"/>
                <a:ea typeface="+mn-ea"/>
                <a:cs typeface="+mn-cs"/>
              </a:rPr>
              <a:t>rule-based</a:t>
            </a:r>
            <a:r>
              <a:rPr lang="en-US" sz="1200" b="0" i="0" u="none" strike="noStrike" kern="1200" baseline="0" dirty="0">
                <a:solidFill>
                  <a:schemeClr val="tx1"/>
                </a:solidFill>
                <a:latin typeface="+mn-lt"/>
                <a:ea typeface="+mn-ea"/>
                <a:cs typeface="+mn-cs"/>
              </a:rPr>
              <a:t>, in which the human is consciously processing a set of rules of the form </a:t>
            </a:r>
            <a:r>
              <a:rPr lang="en-US" sz="1200" b="0" i="1" u="none" strike="noStrike" kern="1200" baseline="0" dirty="0">
                <a:solidFill>
                  <a:schemeClr val="tx1"/>
                </a:solidFill>
                <a:latin typeface="+mn-lt"/>
                <a:ea typeface="+mn-ea"/>
                <a:cs typeface="+mn-cs"/>
              </a:rPr>
              <a:t>if X, then do Y</a:t>
            </a:r>
            <a:r>
              <a:rPr lang="en-US" sz="1200" b="0" i="0" u="none" strike="noStrike" kern="1200" baseline="0" dirty="0">
                <a:solidFill>
                  <a:schemeClr val="tx1"/>
                </a:solidFill>
                <a:latin typeface="+mn-lt"/>
                <a:ea typeface="+mn-ea"/>
                <a:cs typeface="+mn-cs"/>
              </a:rPr>
              <a:t>; and </a:t>
            </a:r>
            <a:r>
              <a:rPr lang="en-US" sz="1200" b="1" i="0" u="none" strike="noStrike" kern="1200" baseline="0" dirty="0">
                <a:solidFill>
                  <a:schemeClr val="tx1"/>
                </a:solidFill>
                <a:latin typeface="+mn-lt"/>
                <a:ea typeface="+mn-ea"/>
                <a:cs typeface="+mn-cs"/>
              </a:rPr>
              <a:t>knowledge-based</a:t>
            </a:r>
            <a:r>
              <a:rPr lang="en-US" sz="1200" b="0" i="0" u="none" strike="noStrike" kern="1200" baseline="0" dirty="0">
                <a:solidFill>
                  <a:schemeClr val="tx1"/>
                </a:solidFill>
                <a:latin typeface="+mn-lt"/>
                <a:ea typeface="+mn-ea"/>
                <a:cs typeface="+mn-cs"/>
              </a:rPr>
              <a:t>, which involves much higher-level thinking and problem-solving. Rule-based decisions are typically made by novices or occasional performers of a task. When a student driver approaches an intersection, for example, they must think explicitly about what they need to do in response to each possible condition (“is there a stop sign? Are there other cars arriving at the intersection? Who has the right of way?”). With practice, the rules become skills, and you don't think about how to do them anymore. Knowledge-based decision making is used to handle unfamiliar or unexpected problems, such as figuring out why your car won’t start. </a:t>
            </a:r>
            <a:endParaRPr lang="en-US" dirty="0"/>
          </a:p>
        </p:txBody>
      </p:sp>
      <p:sp>
        <p:nvSpPr>
          <p:cNvPr id="4" name="Slide Number Placeholder 3"/>
          <p:cNvSpPr>
            <a:spLocks noGrp="1"/>
          </p:cNvSpPr>
          <p:nvPr>
            <p:ph type="sldNum" sz="quarter" idx="10"/>
          </p:nvPr>
        </p:nvSpPr>
        <p:spPr/>
        <p:txBody>
          <a:bodyPr/>
          <a:lstStyle/>
          <a:p>
            <a:fld id="{0F8BF18D-4DAE-4DDD-BFAC-F0C99AA07095}" type="slidenum">
              <a:rPr lang="en-US" smtClean="0"/>
              <a:t>12</a:t>
            </a:fld>
            <a:endParaRPr lang="en-US"/>
          </a:p>
        </p:txBody>
      </p:sp>
    </p:spTree>
    <p:extLst>
      <p:ext uri="{BB962C8B-B14F-4D97-AF65-F5344CB8AC3E}">
        <p14:creationId xmlns:p14="http://schemas.microsoft.com/office/powerpoint/2010/main" val="21955138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motor processor can operate in two ways. It can run autonomously, repeatedly issuing the same instructions to the muscles. This is “open-loop” control; the motor processor receives no feedback from the perceptual system about whether its instructions are correct. With open loop control, the maximum rate of operation is just Tm. The other way is “closed-loop” control, which has a complete feedback loop. The perceptual system looks at what the motor processor did, and the cognitive system makes a decision about how to correct the movement, and then the motor system issues a new instruction. At best, the feedback loop needs one cycle of each processor to run, or </a:t>
            </a:r>
            <a:r>
              <a:rPr lang="en-US" sz="1200" b="0" i="0" u="none" strike="noStrike" kern="1200" baseline="0" dirty="0" err="1">
                <a:solidFill>
                  <a:schemeClr val="tx1"/>
                </a:solidFill>
                <a:latin typeface="+mn-lt"/>
                <a:ea typeface="+mn-ea"/>
                <a:cs typeface="+mn-cs"/>
              </a:rPr>
              <a:t>Tp</a:t>
            </a:r>
            <a:r>
              <a:rPr lang="en-US" sz="1200" b="0" i="0" u="none" strike="noStrike" kern="1200" baseline="0" dirty="0">
                <a:solidFill>
                  <a:schemeClr val="tx1"/>
                </a:solidFill>
                <a:latin typeface="+mn-lt"/>
                <a:ea typeface="+mn-ea"/>
                <a:cs typeface="+mn-cs"/>
              </a:rPr>
              <a:t> + T c + T m ~ 240 </a:t>
            </a:r>
            <a:r>
              <a:rPr lang="en-US" sz="1200" b="0" i="0" u="none" strike="noStrike" kern="1200" baseline="0" dirty="0" err="1">
                <a:solidFill>
                  <a:schemeClr val="tx1"/>
                </a:solidFill>
                <a:latin typeface="+mn-lt"/>
                <a:ea typeface="+mn-ea"/>
                <a:cs typeface="+mn-cs"/>
              </a:rPr>
              <a:t>ms.</a:t>
            </a:r>
            <a:r>
              <a:rPr lang="en-US" sz="1200" b="0" i="0" u="none" strike="noStrike" kern="1200" baseline="0" dirty="0">
                <a:solidFill>
                  <a:schemeClr val="tx1"/>
                </a:solidFill>
                <a:latin typeface="+mn-lt"/>
                <a:ea typeface="+mn-ea"/>
                <a:cs typeface="+mn-cs"/>
              </a:rPr>
              <a:t>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Here’s a simple but interesting experiment that you can try: take a sheet of lined paper and scribble a </a:t>
            </a:r>
            <a:r>
              <a:rPr lang="en-US" sz="1200" b="0" i="0" u="none" strike="noStrike" kern="1200" baseline="0" dirty="0" err="1">
                <a:solidFill>
                  <a:schemeClr val="tx1"/>
                </a:solidFill>
                <a:latin typeface="+mn-lt"/>
                <a:ea typeface="+mn-ea"/>
                <a:cs typeface="+mn-cs"/>
              </a:rPr>
              <a:t>sawtooth</a:t>
            </a:r>
            <a:r>
              <a:rPr lang="en-US" sz="1200" b="0" i="0" u="none" strike="noStrike" kern="1200" baseline="0" dirty="0">
                <a:solidFill>
                  <a:schemeClr val="tx1"/>
                </a:solidFill>
                <a:latin typeface="+mn-lt"/>
                <a:ea typeface="+mn-ea"/>
                <a:cs typeface="+mn-cs"/>
              </a:rPr>
              <a:t> wave back and forth between two lines, going as fast as you can but trying to hit the lines exactly on every peak and trough. Do it for 5 seconds. The frequency of the </a:t>
            </a:r>
            <a:r>
              <a:rPr lang="en-US" sz="1200" b="0" i="0" u="none" strike="noStrike" kern="1200" baseline="0" dirty="0" err="1">
                <a:solidFill>
                  <a:schemeClr val="tx1"/>
                </a:solidFill>
                <a:latin typeface="+mn-lt"/>
                <a:ea typeface="+mn-ea"/>
                <a:cs typeface="+mn-cs"/>
              </a:rPr>
              <a:t>sawtooth</a:t>
            </a:r>
            <a:r>
              <a:rPr lang="en-US" sz="1200" b="0" i="0" u="none" strike="noStrike" kern="1200" baseline="0" dirty="0">
                <a:solidFill>
                  <a:schemeClr val="tx1"/>
                </a:solidFill>
                <a:latin typeface="+mn-lt"/>
                <a:ea typeface="+mn-ea"/>
                <a:cs typeface="+mn-cs"/>
              </a:rPr>
              <a:t> carrier wave is dictated by open-loop control, so you can use it to derive your Tm. The frequency of the wave’s </a:t>
            </a:r>
            <a:r>
              <a:rPr lang="en-US" sz="1200" b="1" i="0" u="none" strike="noStrike" kern="1200" baseline="0" dirty="0">
                <a:solidFill>
                  <a:schemeClr val="tx1"/>
                </a:solidFill>
                <a:latin typeface="+mn-lt"/>
                <a:ea typeface="+mn-ea"/>
                <a:cs typeface="+mn-cs"/>
              </a:rPr>
              <a:t>envelope</a:t>
            </a:r>
            <a:r>
              <a:rPr lang="en-US" sz="1200" b="0" i="0" u="none" strike="noStrike" kern="1200" baseline="0" dirty="0">
                <a:solidFill>
                  <a:schemeClr val="tx1"/>
                </a:solidFill>
                <a:latin typeface="+mn-lt"/>
                <a:ea typeface="+mn-ea"/>
                <a:cs typeface="+mn-cs"/>
              </a:rPr>
              <a:t>, the corrections you had to make to get your scribble back to the lines, is closed-loop control. You can use that to derive your value of </a:t>
            </a:r>
            <a:r>
              <a:rPr lang="en-US" sz="1200" b="0" i="0" u="none" strike="noStrike" kern="1200" baseline="0" dirty="0" err="1">
                <a:solidFill>
                  <a:schemeClr val="tx1"/>
                </a:solidFill>
                <a:latin typeface="+mn-lt"/>
                <a:ea typeface="+mn-ea"/>
                <a:cs typeface="+mn-cs"/>
              </a:rPr>
              <a:t>Tp</a:t>
            </a:r>
            <a:r>
              <a:rPr lang="en-US" sz="1200" b="0" i="0" u="none" strike="noStrike" kern="1200" baseline="0" dirty="0">
                <a:solidFill>
                  <a:schemeClr val="tx1"/>
                </a:solidFill>
                <a:latin typeface="+mn-lt"/>
                <a:ea typeface="+mn-ea"/>
                <a:cs typeface="+mn-cs"/>
              </a:rPr>
              <a:t> + T c. </a:t>
            </a:r>
            <a:endParaRPr lang="en-US" dirty="0"/>
          </a:p>
        </p:txBody>
      </p:sp>
      <p:sp>
        <p:nvSpPr>
          <p:cNvPr id="4" name="Slide Number Placeholder 3"/>
          <p:cNvSpPr>
            <a:spLocks noGrp="1"/>
          </p:cNvSpPr>
          <p:nvPr>
            <p:ph type="sldNum" sz="quarter" idx="10"/>
          </p:nvPr>
        </p:nvSpPr>
        <p:spPr/>
        <p:txBody>
          <a:bodyPr/>
          <a:lstStyle/>
          <a:p>
            <a:fld id="{0F8BF18D-4DAE-4DDD-BFAC-F0C99AA07095}" type="slidenum">
              <a:rPr lang="en-US" smtClean="0"/>
              <a:t>13</a:t>
            </a:fld>
            <a:endParaRPr lang="en-US"/>
          </a:p>
        </p:txBody>
      </p:sp>
    </p:spTree>
    <p:extLst>
      <p:ext uri="{BB962C8B-B14F-4D97-AF65-F5344CB8AC3E}">
        <p14:creationId xmlns:p14="http://schemas.microsoft.com/office/powerpoint/2010/main" val="1337728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err="1">
                <a:solidFill>
                  <a:schemeClr val="tx1"/>
                </a:solidFill>
                <a:latin typeface="+mn-lt"/>
                <a:ea typeface="+mn-ea"/>
                <a:cs typeface="+mn-cs"/>
              </a:rPr>
              <a:t>Menubars</a:t>
            </a:r>
            <a:r>
              <a:rPr lang="en-US" sz="1200" b="0" i="0" u="none" strike="noStrike" kern="1200" baseline="0" dirty="0">
                <a:solidFill>
                  <a:schemeClr val="tx1"/>
                </a:solidFill>
                <a:latin typeface="+mn-lt"/>
                <a:ea typeface="+mn-ea"/>
                <a:cs typeface="+mn-cs"/>
              </a:rPr>
              <a:t> and buttons often have </a:t>
            </a:r>
            <a:r>
              <a:rPr lang="en-US" sz="1200" b="1" i="0" u="none" strike="noStrike" kern="1200" baseline="0" dirty="0">
                <a:solidFill>
                  <a:schemeClr val="tx1"/>
                </a:solidFill>
                <a:latin typeface="+mn-lt"/>
                <a:ea typeface="+mn-ea"/>
                <a:cs typeface="+mn-cs"/>
              </a:rPr>
              <a:t>accelerators </a:t>
            </a:r>
            <a:r>
              <a:rPr lang="en-US" sz="1200" b="0" i="0" u="none" strike="noStrike" kern="1200" baseline="0" dirty="0">
                <a:solidFill>
                  <a:schemeClr val="tx1"/>
                </a:solidFill>
                <a:latin typeface="+mn-lt"/>
                <a:ea typeface="+mn-ea"/>
                <a:cs typeface="+mn-cs"/>
              </a:rPr>
              <a:t>as well (the underlined letters, which are usually invoked by holding down Alt to give keyboard focus to the </a:t>
            </a:r>
            <a:r>
              <a:rPr lang="en-US" sz="1200" b="0" i="0" u="none" strike="noStrike" kern="1200" baseline="0" dirty="0" err="1">
                <a:solidFill>
                  <a:schemeClr val="tx1"/>
                </a:solidFill>
                <a:latin typeface="+mn-lt"/>
                <a:ea typeface="+mn-ea"/>
                <a:cs typeface="+mn-cs"/>
              </a:rPr>
              <a:t>menubar</a:t>
            </a:r>
            <a:r>
              <a:rPr lang="en-US" sz="1200" b="0" i="0" u="none" strike="noStrike" kern="1200" baseline="0" dirty="0">
                <a:solidFill>
                  <a:schemeClr val="tx1"/>
                </a:solidFill>
                <a:latin typeface="+mn-lt"/>
                <a:ea typeface="+mn-ea"/>
                <a:cs typeface="+mn-cs"/>
              </a:rPr>
              <a:t>, then pressing the underlined letter) </a:t>
            </a:r>
            <a:endParaRPr lang="en-US" dirty="0"/>
          </a:p>
        </p:txBody>
      </p:sp>
      <p:sp>
        <p:nvSpPr>
          <p:cNvPr id="4" name="Slide Number Placeholder 3"/>
          <p:cNvSpPr>
            <a:spLocks noGrp="1"/>
          </p:cNvSpPr>
          <p:nvPr>
            <p:ph type="sldNum" sz="quarter" idx="10"/>
          </p:nvPr>
        </p:nvSpPr>
        <p:spPr/>
        <p:txBody>
          <a:bodyPr/>
          <a:lstStyle/>
          <a:p>
            <a:fld id="{0F8BF18D-4DAE-4DDD-BFAC-F0C99AA07095}" type="slidenum">
              <a:rPr lang="en-US" smtClean="0"/>
              <a:t>15</a:t>
            </a:fld>
            <a:endParaRPr lang="en-US"/>
          </a:p>
        </p:txBody>
      </p:sp>
    </p:spTree>
    <p:extLst>
      <p:ext uri="{BB962C8B-B14F-4D97-AF65-F5344CB8AC3E}">
        <p14:creationId xmlns:p14="http://schemas.microsoft.com/office/powerpoint/2010/main" val="36365662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a:solidFill>
                  <a:schemeClr val="tx1"/>
                </a:solidFill>
                <a:latin typeface="+mn-lt"/>
                <a:ea typeface="+mn-ea"/>
                <a:cs typeface="+mn-cs"/>
              </a:rPr>
              <a:t>Defaults </a:t>
            </a:r>
            <a:r>
              <a:rPr lang="en-US" sz="1200" b="0" i="0" u="none" strike="noStrike" kern="1200" baseline="0" dirty="0">
                <a:solidFill>
                  <a:schemeClr val="tx1"/>
                </a:solidFill>
                <a:latin typeface="+mn-lt"/>
                <a:ea typeface="+mn-ea"/>
                <a:cs typeface="+mn-cs"/>
              </a:rPr>
              <a:t>are common answers already filled into a form. Defaults should be </a:t>
            </a:r>
            <a:r>
              <a:rPr lang="en-US" sz="1200" b="1" i="0" u="none" strike="noStrike" kern="1200" baseline="0" dirty="0">
                <a:solidFill>
                  <a:schemeClr val="tx1"/>
                </a:solidFill>
                <a:latin typeface="+mn-lt"/>
                <a:ea typeface="+mn-ea"/>
                <a:cs typeface="+mn-cs"/>
              </a:rPr>
              <a:t>fragile</a:t>
            </a:r>
            <a:r>
              <a:rPr lang="en-US" sz="1200" b="0" i="0" u="none" strike="noStrike" kern="1200" baseline="0" dirty="0">
                <a:solidFill>
                  <a:schemeClr val="tx1"/>
                </a:solidFill>
                <a:latin typeface="+mn-lt"/>
                <a:ea typeface="+mn-ea"/>
                <a:cs typeface="+mn-cs"/>
              </a:rPr>
              <a:t>; when you click on or Tab to a field containing a default value, it should be fully selected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technique, where typing replaces the selection, is called </a:t>
            </a:r>
            <a:r>
              <a:rPr lang="en-US" sz="1200" b="1" i="0" u="none" strike="noStrike" kern="1200" baseline="0" dirty="0">
                <a:solidFill>
                  <a:schemeClr val="tx1"/>
                </a:solidFill>
                <a:latin typeface="+mn-lt"/>
                <a:ea typeface="+mn-ea"/>
                <a:cs typeface="+mn-cs"/>
              </a:rPr>
              <a:t>pending delete </a:t>
            </a:r>
            <a:endParaRPr lang="en-US" dirty="0"/>
          </a:p>
        </p:txBody>
      </p:sp>
      <p:sp>
        <p:nvSpPr>
          <p:cNvPr id="4" name="Slide Number Placeholder 3"/>
          <p:cNvSpPr>
            <a:spLocks noGrp="1"/>
          </p:cNvSpPr>
          <p:nvPr>
            <p:ph type="sldNum" sz="quarter" idx="10"/>
          </p:nvPr>
        </p:nvSpPr>
        <p:spPr/>
        <p:txBody>
          <a:bodyPr/>
          <a:lstStyle/>
          <a:p>
            <a:fld id="{0F8BF18D-4DAE-4DDD-BFAC-F0C99AA07095}" type="slidenum">
              <a:rPr lang="en-US" smtClean="0"/>
              <a:t>16</a:t>
            </a:fld>
            <a:endParaRPr lang="en-US"/>
          </a:p>
        </p:txBody>
      </p:sp>
    </p:spTree>
    <p:extLst>
      <p:ext uri="{BB962C8B-B14F-4D97-AF65-F5344CB8AC3E}">
        <p14:creationId xmlns:p14="http://schemas.microsoft.com/office/powerpoint/2010/main" val="20780967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F8BF18D-4DAE-4DDD-BFAC-F0C99AA07095}" type="slidenum">
              <a:rPr lang="en-US" smtClean="0"/>
              <a:t>19</a:t>
            </a:fld>
            <a:endParaRPr lang="en-US"/>
          </a:p>
        </p:txBody>
      </p:sp>
    </p:spTree>
    <p:extLst>
      <p:ext uri="{BB962C8B-B14F-4D97-AF65-F5344CB8AC3E}">
        <p14:creationId xmlns:p14="http://schemas.microsoft.com/office/powerpoint/2010/main" val="32098689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http://blogs.msdn.com/b/jensenh/archive/2006/08/22/711808.aspx</a:t>
            </a:r>
          </a:p>
        </p:txBody>
      </p:sp>
      <p:sp>
        <p:nvSpPr>
          <p:cNvPr id="4" name="Slide Number Placeholder 3"/>
          <p:cNvSpPr>
            <a:spLocks noGrp="1"/>
          </p:cNvSpPr>
          <p:nvPr>
            <p:ph type="sldNum" sz="quarter" idx="10"/>
          </p:nvPr>
        </p:nvSpPr>
        <p:spPr/>
        <p:txBody>
          <a:bodyPr/>
          <a:lstStyle/>
          <a:p>
            <a:fld id="{0F8BF18D-4DAE-4DDD-BFAC-F0C99AA07095}" type="slidenum">
              <a:rPr lang="en-US" smtClean="0"/>
              <a:t>23</a:t>
            </a:fld>
            <a:endParaRPr lang="en-US"/>
          </a:p>
        </p:txBody>
      </p:sp>
    </p:spTree>
    <p:extLst>
      <p:ext uri="{BB962C8B-B14F-4D97-AF65-F5344CB8AC3E}">
        <p14:creationId xmlns:p14="http://schemas.microsoft.com/office/powerpoint/2010/main" val="18298617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http://blogs.msdn.com/b/jensenh/archive/2006/08/22/711808.aspx</a:t>
            </a:r>
          </a:p>
        </p:txBody>
      </p:sp>
      <p:sp>
        <p:nvSpPr>
          <p:cNvPr id="4" name="Slide Number Placeholder 3"/>
          <p:cNvSpPr>
            <a:spLocks noGrp="1"/>
          </p:cNvSpPr>
          <p:nvPr>
            <p:ph type="sldNum" sz="quarter" idx="10"/>
          </p:nvPr>
        </p:nvSpPr>
        <p:spPr/>
        <p:txBody>
          <a:bodyPr/>
          <a:lstStyle/>
          <a:p>
            <a:fld id="{0F8BF18D-4DAE-4DDD-BFAC-F0C99AA07095}" type="slidenum">
              <a:rPr lang="en-US" smtClean="0"/>
              <a:t>24</a:t>
            </a:fld>
            <a:endParaRPr lang="en-US"/>
          </a:p>
        </p:txBody>
      </p:sp>
    </p:spTree>
    <p:extLst>
      <p:ext uri="{BB962C8B-B14F-4D97-AF65-F5344CB8AC3E}">
        <p14:creationId xmlns:p14="http://schemas.microsoft.com/office/powerpoint/2010/main" val="3254707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F8BF18D-4DAE-4DDD-BFAC-F0C99AA07095}" type="slidenum">
              <a:rPr lang="en-US" smtClean="0"/>
              <a:t>28</a:t>
            </a:fld>
            <a:endParaRPr lang="en-US"/>
          </a:p>
        </p:txBody>
      </p:sp>
    </p:spTree>
    <p:extLst>
      <p:ext uri="{BB962C8B-B14F-4D97-AF65-F5344CB8AC3E}">
        <p14:creationId xmlns:p14="http://schemas.microsoft.com/office/powerpoint/2010/main" val="21604393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often used keys are larger. </a:t>
            </a:r>
          </a:p>
          <a:p>
            <a:r>
              <a:rPr lang="en-US" dirty="0"/>
              <a:t>You want the driver to access brake pedal more easily. </a:t>
            </a:r>
          </a:p>
          <a:p>
            <a:endParaRPr lang="en-US" dirty="0"/>
          </a:p>
          <a:p>
            <a:r>
              <a:rPr lang="en-US" dirty="0"/>
              <a:t>https://vimeo.com/200436363</a:t>
            </a:r>
          </a:p>
        </p:txBody>
      </p:sp>
      <p:sp>
        <p:nvSpPr>
          <p:cNvPr id="4" name="Slide Number Placeholder 3"/>
          <p:cNvSpPr>
            <a:spLocks noGrp="1"/>
          </p:cNvSpPr>
          <p:nvPr>
            <p:ph type="sldNum" sz="quarter" idx="5"/>
          </p:nvPr>
        </p:nvSpPr>
        <p:spPr/>
        <p:txBody>
          <a:bodyPr/>
          <a:lstStyle/>
          <a:p>
            <a:fld id="{0F8BF18D-4DAE-4DDD-BFAC-F0C99AA07095}" type="slidenum">
              <a:rPr lang="en-US" smtClean="0"/>
              <a:t>29</a:t>
            </a:fld>
            <a:endParaRPr lang="en-US"/>
          </a:p>
        </p:txBody>
      </p:sp>
    </p:spTree>
    <p:extLst>
      <p:ext uri="{BB962C8B-B14F-4D97-AF65-F5344CB8AC3E}">
        <p14:creationId xmlns:p14="http://schemas.microsoft.com/office/powerpoint/2010/main" val="6840810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why the most important task are located on right click pop up menu. </a:t>
            </a:r>
          </a:p>
        </p:txBody>
      </p:sp>
      <p:sp>
        <p:nvSpPr>
          <p:cNvPr id="4" name="Slide Number Placeholder 3"/>
          <p:cNvSpPr>
            <a:spLocks noGrp="1"/>
          </p:cNvSpPr>
          <p:nvPr>
            <p:ph type="sldNum" sz="quarter" idx="5"/>
          </p:nvPr>
        </p:nvSpPr>
        <p:spPr/>
        <p:txBody>
          <a:bodyPr/>
          <a:lstStyle/>
          <a:p>
            <a:fld id="{0F8BF18D-4DAE-4DDD-BFAC-F0C99AA07095}" type="slidenum">
              <a:rPr lang="en-US" smtClean="0"/>
              <a:t>31</a:t>
            </a:fld>
            <a:endParaRPr lang="en-US"/>
          </a:p>
        </p:txBody>
      </p:sp>
    </p:spTree>
    <p:extLst>
      <p:ext uri="{BB962C8B-B14F-4D97-AF65-F5344CB8AC3E}">
        <p14:creationId xmlns:p14="http://schemas.microsoft.com/office/powerpoint/2010/main" val="776238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B2B2B"/>
                </a:solidFill>
                <a:effectLst/>
                <a:latin typeface="Merriweather"/>
              </a:rPr>
              <a:t>Pop-up menus better support immediate selection of interactive elements than dropdown menus as the user does not have to move the cursor from its current position. Therefore, graphical designs that allow the user to interact without moving help to reduce the 'travel time'.</a:t>
            </a:r>
            <a:endParaRPr lang="en-US" dirty="0"/>
          </a:p>
        </p:txBody>
      </p:sp>
      <p:sp>
        <p:nvSpPr>
          <p:cNvPr id="4" name="Slide Number Placeholder 3"/>
          <p:cNvSpPr>
            <a:spLocks noGrp="1"/>
          </p:cNvSpPr>
          <p:nvPr>
            <p:ph type="sldNum" sz="quarter" idx="5"/>
          </p:nvPr>
        </p:nvSpPr>
        <p:spPr/>
        <p:txBody>
          <a:bodyPr/>
          <a:lstStyle/>
          <a:p>
            <a:fld id="{0F8BF18D-4DAE-4DDD-BFAC-F0C99AA07095}" type="slidenum">
              <a:rPr lang="en-US" smtClean="0"/>
              <a:t>34</a:t>
            </a:fld>
            <a:endParaRPr lang="en-US"/>
          </a:p>
        </p:txBody>
      </p:sp>
    </p:spTree>
    <p:extLst>
      <p:ext uri="{BB962C8B-B14F-4D97-AF65-F5344CB8AC3E}">
        <p14:creationId xmlns:p14="http://schemas.microsoft.com/office/powerpoint/2010/main" val="12683114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Wsdm2012.org</a:t>
            </a:r>
          </a:p>
        </p:txBody>
      </p:sp>
      <p:sp>
        <p:nvSpPr>
          <p:cNvPr id="4" name="Slide Number Placeholder 3"/>
          <p:cNvSpPr>
            <a:spLocks noGrp="1"/>
          </p:cNvSpPr>
          <p:nvPr>
            <p:ph type="sldNum" sz="quarter" idx="10"/>
          </p:nvPr>
        </p:nvSpPr>
        <p:spPr/>
        <p:txBody>
          <a:bodyPr/>
          <a:lstStyle/>
          <a:p>
            <a:fld id="{0F8BF18D-4DAE-4DDD-BFAC-F0C99AA07095}" type="slidenum">
              <a:rPr lang="en-US" smtClean="0"/>
              <a:t>37</a:t>
            </a:fld>
            <a:endParaRPr lang="en-US"/>
          </a:p>
        </p:txBody>
      </p:sp>
    </p:spTree>
    <p:extLst>
      <p:ext uri="{BB962C8B-B14F-4D97-AF65-F5344CB8AC3E}">
        <p14:creationId xmlns:p14="http://schemas.microsoft.com/office/powerpoint/2010/main" val="19985372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8BF18D-4DAE-4DDD-BFAC-F0C99AA07095}" type="slidenum">
              <a:rPr lang="en-US" smtClean="0"/>
              <a:t>39</a:t>
            </a:fld>
            <a:endParaRPr lang="en-US"/>
          </a:p>
        </p:txBody>
      </p:sp>
    </p:spTree>
    <p:extLst>
      <p:ext uri="{BB962C8B-B14F-4D97-AF65-F5344CB8AC3E}">
        <p14:creationId xmlns:p14="http://schemas.microsoft.com/office/powerpoint/2010/main" val="30128386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a:t>
            </a:r>
            <a:r>
              <a:rPr lang="en-US" dirty="0">
                <a:hlinkClick r:id="rId3"/>
              </a:rPr>
              <a:t>http://www.cs.loyola.edu/~lawrie/CS774/S06/homework/klm.pdf</a:t>
            </a:r>
            <a:endParaRPr lang="en-US" dirty="0"/>
          </a:p>
        </p:txBody>
      </p:sp>
      <p:sp>
        <p:nvSpPr>
          <p:cNvPr id="4" name="Slide Number Placeholder 3"/>
          <p:cNvSpPr>
            <a:spLocks noGrp="1"/>
          </p:cNvSpPr>
          <p:nvPr>
            <p:ph type="sldNum" sz="quarter" idx="5"/>
          </p:nvPr>
        </p:nvSpPr>
        <p:spPr/>
        <p:txBody>
          <a:bodyPr/>
          <a:lstStyle/>
          <a:p>
            <a:fld id="{0F8BF18D-4DAE-4DDD-BFAC-F0C99AA07095}" type="slidenum">
              <a:rPr lang="en-US" smtClean="0"/>
              <a:t>40</a:t>
            </a:fld>
            <a:endParaRPr lang="en-US"/>
          </a:p>
        </p:txBody>
      </p:sp>
    </p:spTree>
    <p:extLst>
      <p:ext uri="{BB962C8B-B14F-4D97-AF65-F5344CB8AC3E}">
        <p14:creationId xmlns:p14="http://schemas.microsoft.com/office/powerpoint/2010/main" val="22858903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first predictive model was the </a:t>
            </a:r>
            <a:r>
              <a:rPr lang="en-US" sz="1200" b="1" i="0" u="none" strike="noStrike" kern="1200" baseline="0" dirty="0">
                <a:solidFill>
                  <a:schemeClr val="tx1"/>
                </a:solidFill>
                <a:latin typeface="+mn-lt"/>
                <a:ea typeface="+mn-ea"/>
                <a:cs typeface="+mn-cs"/>
              </a:rPr>
              <a:t>keystroke level model </a:t>
            </a:r>
            <a:r>
              <a:rPr lang="en-US" sz="1200" b="0" i="0" u="none" strike="noStrike" kern="1200" baseline="0" dirty="0">
                <a:solidFill>
                  <a:schemeClr val="tx1"/>
                </a:solidFill>
                <a:latin typeface="+mn-lt"/>
                <a:ea typeface="+mn-ea"/>
                <a:cs typeface="+mn-cs"/>
              </a:rPr>
              <a:t>(proposed by Card, Moran &amp; Newell, “The</a:t>
            </a:r>
          </a:p>
          <a:p>
            <a:r>
              <a:rPr lang="en-US" sz="1200" b="0" i="0" u="none" strike="noStrike" kern="1200" baseline="0" dirty="0">
                <a:solidFill>
                  <a:schemeClr val="tx1"/>
                </a:solidFill>
                <a:latin typeface="+mn-lt"/>
                <a:ea typeface="+mn-ea"/>
                <a:cs typeface="+mn-cs"/>
              </a:rPr>
              <a:t>Keystroke Level Model for User Performance Time with Interactive Systems”, </a:t>
            </a:r>
            <a:r>
              <a:rPr lang="en-US" sz="1200" b="0" i="1" u="none" strike="noStrike" kern="1200" baseline="0" dirty="0">
                <a:solidFill>
                  <a:schemeClr val="tx1"/>
                </a:solidFill>
                <a:latin typeface="+mn-lt"/>
                <a:ea typeface="+mn-ea"/>
                <a:cs typeface="+mn-cs"/>
              </a:rPr>
              <a:t>CACM, </a:t>
            </a:r>
            <a:r>
              <a:rPr lang="en-US" sz="1200" b="0" i="0" u="none" strike="noStrike" kern="1200" baseline="0" dirty="0">
                <a:solidFill>
                  <a:schemeClr val="tx1"/>
                </a:solidFill>
                <a:latin typeface="+mn-lt"/>
                <a:ea typeface="+mn-ea"/>
                <a:cs typeface="+mn-cs"/>
              </a:rPr>
              <a:t>v23 n7</a:t>
            </a:r>
            <a:r>
              <a:rPr lang="en-US" sz="1200" b="0" i="1" u="none" strike="noStrike" kern="1200" baseline="0" dirty="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July 1978).</a:t>
            </a:r>
          </a:p>
          <a:p>
            <a:r>
              <a:rPr lang="en-US" sz="1200" b="0" i="0" u="none" strike="noStrike" kern="1200" baseline="0" dirty="0">
                <a:solidFill>
                  <a:schemeClr val="tx1"/>
                </a:solidFill>
                <a:latin typeface="+mn-lt"/>
                <a:ea typeface="+mn-ea"/>
                <a:cs typeface="+mn-cs"/>
              </a:rPr>
              <a:t>This model seeks to predict efficiency (time taken by expert users doing routine tasks) </a:t>
            </a:r>
            <a:r>
              <a:rPr lang="en-US" sz="1200" b="0" i="0" u="none" strike="noStrike" kern="1200" baseline="0" dirty="0">
                <a:solidFill>
                  <a:srgbClr val="FF0000"/>
                </a:solidFill>
                <a:latin typeface="+mn-lt"/>
                <a:ea typeface="+mn-ea"/>
                <a:cs typeface="+mn-cs"/>
              </a:rPr>
              <a:t>by </a:t>
            </a:r>
            <a:r>
              <a:rPr lang="en-US" sz="1200" b="1" i="0" u="sng" strike="noStrike" kern="1200" baseline="0" dirty="0">
                <a:solidFill>
                  <a:srgbClr val="FF0000"/>
                </a:solidFill>
                <a:latin typeface="+mn-lt"/>
                <a:ea typeface="+mn-ea"/>
                <a:cs typeface="+mn-cs"/>
              </a:rPr>
              <a:t>breaking down the</a:t>
            </a:r>
          </a:p>
          <a:p>
            <a:r>
              <a:rPr lang="en-US" sz="1200" b="1" i="0" u="sng" strike="noStrike" kern="1200" baseline="0" dirty="0">
                <a:solidFill>
                  <a:srgbClr val="FF0000"/>
                </a:solidFill>
                <a:latin typeface="+mn-lt"/>
                <a:ea typeface="+mn-ea"/>
                <a:cs typeface="+mn-cs"/>
              </a:rPr>
              <a:t>user’s behavior into a sequence of the five primitive operators shown here</a:t>
            </a:r>
            <a:r>
              <a:rPr lang="en-US" sz="1200" b="0" i="0" u="none" strike="noStrike" kern="1200" baseline="0" dirty="0">
                <a:solidFill>
                  <a:schemeClr val="tx1"/>
                </a:solidFill>
                <a:latin typeface="+mn-lt"/>
                <a:ea typeface="+mn-ea"/>
                <a:cs typeface="+mn-cs"/>
              </a:rPr>
              <a:t>.</a:t>
            </a:r>
          </a:p>
          <a:p>
            <a:r>
              <a:rPr lang="en-US" sz="1200" b="0" i="0" u="none" strike="noStrike" kern="1200" baseline="0" dirty="0">
                <a:solidFill>
                  <a:schemeClr val="tx1"/>
                </a:solidFill>
                <a:latin typeface="+mn-lt"/>
                <a:ea typeface="+mn-ea"/>
                <a:cs typeface="+mn-cs"/>
              </a:rPr>
              <a:t>Most of the operators are physical – the user is actually moving their muscles to perform them. The M</a:t>
            </a:r>
          </a:p>
          <a:p>
            <a:r>
              <a:rPr lang="en-US" sz="1200" b="0" i="0" u="none" strike="noStrike" kern="1200" baseline="0" dirty="0">
                <a:solidFill>
                  <a:schemeClr val="tx1"/>
                </a:solidFill>
                <a:latin typeface="+mn-lt"/>
                <a:ea typeface="+mn-ea"/>
                <a:cs typeface="+mn-cs"/>
              </a:rPr>
              <a:t>operator is different – it’s purely mental (which is somewhat problematic, because it’s hard to observe and</a:t>
            </a:r>
          </a:p>
          <a:p>
            <a:r>
              <a:rPr lang="en-US" sz="1200" b="0" i="0" u="none" strike="noStrike" kern="1200" baseline="0" dirty="0">
                <a:solidFill>
                  <a:schemeClr val="tx1"/>
                </a:solidFill>
                <a:latin typeface="+mn-lt"/>
                <a:ea typeface="+mn-ea"/>
                <a:cs typeface="+mn-cs"/>
              </a:rPr>
              <a:t>estimate). The M operator stands in for any mental operations that the user does. M operators separate the</a:t>
            </a:r>
          </a:p>
          <a:p>
            <a:r>
              <a:rPr lang="en-US" sz="1200" b="0" i="0" u="none" strike="noStrike" kern="1200" baseline="0" dirty="0">
                <a:solidFill>
                  <a:schemeClr val="tx1"/>
                </a:solidFill>
                <a:latin typeface="+mn-lt"/>
                <a:ea typeface="+mn-ea"/>
                <a:cs typeface="+mn-cs"/>
              </a:rPr>
              <a:t>task into chunks, or steps, and represent the time needed for the user to recall the next step from long-term</a:t>
            </a:r>
          </a:p>
          <a:p>
            <a:r>
              <a:rPr lang="en-US" sz="1200" b="0" i="0" u="none" strike="noStrike" kern="1200" baseline="0" dirty="0">
                <a:solidFill>
                  <a:schemeClr val="tx1"/>
                </a:solidFill>
                <a:latin typeface="+mn-lt"/>
                <a:ea typeface="+mn-ea"/>
                <a:cs typeface="+mn-cs"/>
              </a:rPr>
              <a:t>memory.</a:t>
            </a:r>
            <a:endParaRPr lang="en-US" dirty="0"/>
          </a:p>
        </p:txBody>
      </p:sp>
      <p:sp>
        <p:nvSpPr>
          <p:cNvPr id="4" name="Slide Number Placeholder 3"/>
          <p:cNvSpPr>
            <a:spLocks noGrp="1"/>
          </p:cNvSpPr>
          <p:nvPr>
            <p:ph type="sldNum" sz="quarter" idx="10"/>
          </p:nvPr>
        </p:nvSpPr>
        <p:spPr/>
        <p:txBody>
          <a:bodyPr/>
          <a:lstStyle/>
          <a:p>
            <a:fld id="{0F8BF18D-4DAE-4DDD-BFAC-F0C99AA07095}" type="slidenum">
              <a:rPr lang="en-US" smtClean="0"/>
              <a:t>43</a:t>
            </a:fld>
            <a:endParaRPr lang="en-US"/>
          </a:p>
        </p:txBody>
      </p:sp>
    </p:spTree>
    <p:extLst>
      <p:ext uri="{BB962C8B-B14F-4D97-AF65-F5344CB8AC3E}">
        <p14:creationId xmlns:p14="http://schemas.microsoft.com/office/powerpoint/2010/main" val="11349171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first predictive model was the </a:t>
            </a:r>
            <a:r>
              <a:rPr lang="en-US" sz="1200" b="1" i="0" u="none" strike="noStrike" kern="1200" baseline="0" dirty="0">
                <a:solidFill>
                  <a:schemeClr val="tx1"/>
                </a:solidFill>
                <a:latin typeface="+mn-lt"/>
                <a:ea typeface="+mn-ea"/>
                <a:cs typeface="+mn-cs"/>
              </a:rPr>
              <a:t>keystroke level model </a:t>
            </a:r>
            <a:r>
              <a:rPr lang="en-US" sz="1200" b="0" i="0" u="none" strike="noStrike" kern="1200" baseline="0" dirty="0">
                <a:solidFill>
                  <a:schemeClr val="tx1"/>
                </a:solidFill>
                <a:latin typeface="+mn-lt"/>
                <a:ea typeface="+mn-ea"/>
                <a:cs typeface="+mn-cs"/>
              </a:rPr>
              <a:t>(proposed by Card, Moran &amp; Newell, “The</a:t>
            </a:r>
          </a:p>
          <a:p>
            <a:r>
              <a:rPr lang="en-US" sz="1200" b="0" i="0" u="none" strike="noStrike" kern="1200" baseline="0" dirty="0">
                <a:solidFill>
                  <a:schemeClr val="tx1"/>
                </a:solidFill>
                <a:latin typeface="+mn-lt"/>
                <a:ea typeface="+mn-ea"/>
                <a:cs typeface="+mn-cs"/>
              </a:rPr>
              <a:t>Keystroke Level Model for User Performance Time with Interactive Systems”, </a:t>
            </a:r>
            <a:r>
              <a:rPr lang="en-US" sz="1200" b="0" i="1" u="none" strike="noStrike" kern="1200" baseline="0" dirty="0">
                <a:solidFill>
                  <a:schemeClr val="tx1"/>
                </a:solidFill>
                <a:latin typeface="+mn-lt"/>
                <a:ea typeface="+mn-ea"/>
                <a:cs typeface="+mn-cs"/>
              </a:rPr>
              <a:t>CACM, </a:t>
            </a:r>
            <a:r>
              <a:rPr lang="en-US" sz="1200" b="0" i="0" u="none" strike="noStrike" kern="1200" baseline="0" dirty="0">
                <a:solidFill>
                  <a:schemeClr val="tx1"/>
                </a:solidFill>
                <a:latin typeface="+mn-lt"/>
                <a:ea typeface="+mn-ea"/>
                <a:cs typeface="+mn-cs"/>
              </a:rPr>
              <a:t>v23 n7</a:t>
            </a:r>
            <a:r>
              <a:rPr lang="en-US" sz="1200" b="0" i="1" u="none" strike="noStrike" kern="1200" baseline="0" dirty="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July 1978).</a:t>
            </a:r>
          </a:p>
          <a:p>
            <a:r>
              <a:rPr lang="en-US" sz="1200" b="0" i="0" u="none" strike="noStrike" kern="1200" baseline="0" dirty="0">
                <a:solidFill>
                  <a:schemeClr val="tx1"/>
                </a:solidFill>
                <a:latin typeface="+mn-lt"/>
                <a:ea typeface="+mn-ea"/>
                <a:cs typeface="+mn-cs"/>
              </a:rPr>
              <a:t>This model seeks to predict efficiency (time taken by expert users doing routine tasks) </a:t>
            </a:r>
            <a:r>
              <a:rPr lang="en-US" sz="1200" b="0" i="0" u="none" strike="noStrike" kern="1200" baseline="0" dirty="0">
                <a:solidFill>
                  <a:srgbClr val="FF0000"/>
                </a:solidFill>
                <a:latin typeface="+mn-lt"/>
                <a:ea typeface="+mn-ea"/>
                <a:cs typeface="+mn-cs"/>
              </a:rPr>
              <a:t>by </a:t>
            </a:r>
            <a:r>
              <a:rPr lang="en-US" sz="1200" b="1" i="0" u="sng" strike="noStrike" kern="1200" baseline="0" dirty="0">
                <a:solidFill>
                  <a:srgbClr val="FF0000"/>
                </a:solidFill>
                <a:latin typeface="+mn-lt"/>
                <a:ea typeface="+mn-ea"/>
                <a:cs typeface="+mn-cs"/>
              </a:rPr>
              <a:t>breaking down the</a:t>
            </a:r>
          </a:p>
          <a:p>
            <a:r>
              <a:rPr lang="en-US" sz="1200" b="1" i="0" u="sng" strike="noStrike" kern="1200" baseline="0" dirty="0">
                <a:solidFill>
                  <a:srgbClr val="FF0000"/>
                </a:solidFill>
                <a:latin typeface="+mn-lt"/>
                <a:ea typeface="+mn-ea"/>
                <a:cs typeface="+mn-cs"/>
              </a:rPr>
              <a:t>user’s behavior into a sequence of the five primitive operators shown here</a:t>
            </a:r>
            <a:r>
              <a:rPr lang="en-US" sz="1200" b="0" i="0" u="none" strike="noStrike" kern="1200" baseline="0" dirty="0">
                <a:solidFill>
                  <a:schemeClr val="tx1"/>
                </a:solidFill>
                <a:latin typeface="+mn-lt"/>
                <a:ea typeface="+mn-ea"/>
                <a:cs typeface="+mn-cs"/>
              </a:rPr>
              <a:t>.</a:t>
            </a:r>
          </a:p>
          <a:p>
            <a:r>
              <a:rPr lang="en-US" sz="1200" b="0" i="0" u="none" strike="noStrike" kern="1200" baseline="0" dirty="0">
                <a:solidFill>
                  <a:schemeClr val="tx1"/>
                </a:solidFill>
                <a:latin typeface="+mn-lt"/>
                <a:ea typeface="+mn-ea"/>
                <a:cs typeface="+mn-cs"/>
              </a:rPr>
              <a:t>Most of the operators are physical – the user is actually moving their muscles to perform them. The M</a:t>
            </a:r>
          </a:p>
          <a:p>
            <a:r>
              <a:rPr lang="en-US" sz="1200" b="0" i="0" u="none" strike="noStrike" kern="1200" baseline="0" dirty="0">
                <a:solidFill>
                  <a:schemeClr val="tx1"/>
                </a:solidFill>
                <a:latin typeface="+mn-lt"/>
                <a:ea typeface="+mn-ea"/>
                <a:cs typeface="+mn-cs"/>
              </a:rPr>
              <a:t>operator is different – it’s purely mental (which is somewhat problematic, because it’s hard to observe and</a:t>
            </a:r>
          </a:p>
          <a:p>
            <a:r>
              <a:rPr lang="en-US" sz="1200" b="0" i="0" u="none" strike="noStrike" kern="1200" baseline="0" dirty="0">
                <a:solidFill>
                  <a:schemeClr val="tx1"/>
                </a:solidFill>
                <a:latin typeface="+mn-lt"/>
                <a:ea typeface="+mn-ea"/>
                <a:cs typeface="+mn-cs"/>
              </a:rPr>
              <a:t>estimate). The M operator stands in for any mental operations that the user does. M operators separate the</a:t>
            </a:r>
          </a:p>
          <a:p>
            <a:r>
              <a:rPr lang="en-US" sz="1200" b="0" i="0" u="none" strike="noStrike" kern="1200" baseline="0" dirty="0">
                <a:solidFill>
                  <a:schemeClr val="tx1"/>
                </a:solidFill>
                <a:latin typeface="+mn-lt"/>
                <a:ea typeface="+mn-ea"/>
                <a:cs typeface="+mn-cs"/>
              </a:rPr>
              <a:t>task into chunks, or steps, and represent the time needed for the user to recall the next step from long-term</a:t>
            </a:r>
          </a:p>
          <a:p>
            <a:r>
              <a:rPr lang="en-US" sz="1200" b="0" i="0" u="none" strike="noStrike" kern="1200" baseline="0" dirty="0">
                <a:solidFill>
                  <a:schemeClr val="tx1"/>
                </a:solidFill>
                <a:latin typeface="+mn-lt"/>
                <a:ea typeface="+mn-ea"/>
                <a:cs typeface="+mn-cs"/>
              </a:rPr>
              <a:t>memory.</a:t>
            </a:r>
            <a:endParaRPr lang="en-US" dirty="0"/>
          </a:p>
        </p:txBody>
      </p:sp>
      <p:sp>
        <p:nvSpPr>
          <p:cNvPr id="4" name="Slide Number Placeholder 3"/>
          <p:cNvSpPr>
            <a:spLocks noGrp="1"/>
          </p:cNvSpPr>
          <p:nvPr>
            <p:ph type="sldNum" sz="quarter" idx="10"/>
          </p:nvPr>
        </p:nvSpPr>
        <p:spPr/>
        <p:txBody>
          <a:bodyPr/>
          <a:lstStyle/>
          <a:p>
            <a:fld id="{0F8BF18D-4DAE-4DDD-BFAC-F0C99AA07095}" type="slidenum">
              <a:rPr lang="en-US" smtClean="0"/>
              <a:t>44</a:t>
            </a:fld>
            <a:endParaRPr lang="en-US"/>
          </a:p>
        </p:txBody>
      </p:sp>
    </p:spTree>
    <p:extLst>
      <p:ext uri="{BB962C8B-B14F-4D97-AF65-F5344CB8AC3E}">
        <p14:creationId xmlns:p14="http://schemas.microsoft.com/office/powerpoint/2010/main" val="34591873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1" u="none" strike="noStrike" kern="1200" baseline="0" dirty="0">
                <a:solidFill>
                  <a:schemeClr val="tx1"/>
                </a:solidFill>
                <a:latin typeface="+mn-lt"/>
                <a:ea typeface="+mn-ea"/>
                <a:cs typeface="+mn-cs"/>
              </a:rPr>
              <a:t>Initiating a task. </a:t>
            </a:r>
            <a:r>
              <a:rPr lang="en-US" sz="1200" b="0" i="0" u="none" strike="noStrike" kern="1200" baseline="0" dirty="0">
                <a:solidFill>
                  <a:schemeClr val="tx1"/>
                </a:solidFill>
                <a:latin typeface="+mn-lt"/>
                <a:ea typeface="+mn-ea"/>
                <a:cs typeface="+mn-cs"/>
              </a:rPr>
              <a:t>The user has to pause and make a definite decision about what the task is, and what should be</a:t>
            </a:r>
          </a:p>
          <a:p>
            <a:r>
              <a:rPr lang="en-US" sz="1200" b="0" i="0" u="none" strike="noStrike" kern="1200" baseline="0" dirty="0">
                <a:solidFill>
                  <a:schemeClr val="tx1"/>
                </a:solidFill>
                <a:latin typeface="+mn-lt"/>
                <a:ea typeface="+mn-ea"/>
                <a:cs typeface="+mn-cs"/>
              </a:rPr>
              <a:t>done. Thus users often pause before emitting a sequence of actions; this pause should be routinely represented by an</a:t>
            </a:r>
          </a:p>
          <a:p>
            <a:r>
              <a:rPr lang="en-US" sz="1200" b="1" i="0" u="none" strike="noStrike" kern="1200" baseline="0" dirty="0">
                <a:solidFill>
                  <a:schemeClr val="tx1"/>
                </a:solidFill>
                <a:latin typeface="+mn-lt"/>
                <a:ea typeface="+mn-ea"/>
                <a:cs typeface="+mn-cs"/>
              </a:rPr>
              <a:t>M</a:t>
            </a:r>
            <a:r>
              <a:rPr lang="en-US" sz="1200" b="0" i="0" u="none" strike="noStrike" kern="1200" baseline="0" dirty="0">
                <a:solidFill>
                  <a:schemeClr val="tx1"/>
                </a:solidFill>
                <a:latin typeface="+mn-lt"/>
                <a:ea typeface="+mn-ea"/>
                <a:cs typeface="+mn-cs"/>
              </a:rPr>
              <a:t>.</a:t>
            </a:r>
          </a:p>
          <a:p>
            <a:endParaRPr lang="en-US" sz="1200" b="0" i="0" u="none" strike="noStrike" kern="1200" baseline="0" dirty="0">
              <a:solidFill>
                <a:schemeClr val="tx1"/>
              </a:solidFill>
              <a:latin typeface="+mn-lt"/>
              <a:ea typeface="+mn-ea"/>
              <a:cs typeface="+mn-cs"/>
            </a:endParaRPr>
          </a:p>
          <a:p>
            <a:r>
              <a:rPr lang="en-US" sz="1200" b="1" i="1" u="none" strike="noStrike" kern="1200" baseline="0" dirty="0">
                <a:solidFill>
                  <a:schemeClr val="tx1"/>
                </a:solidFill>
                <a:latin typeface="+mn-lt"/>
                <a:ea typeface="+mn-ea"/>
                <a:cs typeface="+mn-cs"/>
              </a:rPr>
              <a:t>Making a strategy decision. </a:t>
            </a:r>
            <a:r>
              <a:rPr lang="en-US" sz="1200" b="0" i="0" u="none" strike="noStrike" kern="1200" baseline="0" dirty="0">
                <a:solidFill>
                  <a:schemeClr val="tx1"/>
                </a:solidFill>
                <a:latin typeface="+mn-lt"/>
                <a:ea typeface="+mn-ea"/>
                <a:cs typeface="+mn-cs"/>
              </a:rPr>
              <a:t>If there is more than one way to proceed, and the decision is not obvious or well</a:t>
            </a:r>
          </a:p>
          <a:p>
            <a:r>
              <a:rPr lang="en-US" sz="1200" b="0" i="0" u="none" strike="noStrike" kern="1200" baseline="0" dirty="0">
                <a:solidFill>
                  <a:schemeClr val="tx1"/>
                </a:solidFill>
                <a:latin typeface="+mn-lt"/>
                <a:ea typeface="+mn-ea"/>
                <a:cs typeface="+mn-cs"/>
              </a:rPr>
              <a:t>practiced, but is important, the user has to stop and think.</a:t>
            </a:r>
          </a:p>
          <a:p>
            <a:endParaRPr lang="en-US" sz="1200" b="0" i="0" u="none" strike="noStrike" kern="1200" baseline="0" dirty="0">
              <a:solidFill>
                <a:schemeClr val="tx1"/>
              </a:solidFill>
              <a:latin typeface="+mn-lt"/>
              <a:ea typeface="+mn-ea"/>
              <a:cs typeface="+mn-cs"/>
            </a:endParaRPr>
          </a:p>
          <a:p>
            <a:r>
              <a:rPr lang="en-US" sz="1200" b="1" i="1" u="none" strike="noStrike" kern="1200" baseline="0" dirty="0">
                <a:solidFill>
                  <a:schemeClr val="tx1"/>
                </a:solidFill>
                <a:latin typeface="+mn-lt"/>
                <a:ea typeface="+mn-ea"/>
                <a:cs typeface="+mn-cs"/>
              </a:rPr>
              <a:t>Retrieving a chunk from memory. </a:t>
            </a:r>
            <a:r>
              <a:rPr lang="en-US" sz="1200" b="0" i="0" u="none" strike="noStrike" kern="1200" baseline="0" dirty="0">
                <a:solidFill>
                  <a:schemeClr val="tx1"/>
                </a:solidFill>
                <a:latin typeface="+mn-lt"/>
                <a:ea typeface="+mn-ea"/>
                <a:cs typeface="+mn-cs"/>
              </a:rPr>
              <a:t>A chunk is a familiar unit such as a file name, command name or</a:t>
            </a:r>
          </a:p>
          <a:p>
            <a:r>
              <a:rPr lang="en-US" sz="1200" b="0" i="0" u="none" strike="noStrike" kern="1200" baseline="0" dirty="0">
                <a:solidFill>
                  <a:schemeClr val="tx1"/>
                </a:solidFill>
                <a:latin typeface="+mn-lt"/>
                <a:ea typeface="+mn-ea"/>
                <a:cs typeface="+mn-cs"/>
              </a:rPr>
              <a:t>abbreviation. For example, if the user wants to list the contents of directory foo, they need to retrieve two chunks,</a:t>
            </a:r>
          </a:p>
          <a:p>
            <a:r>
              <a:rPr lang="en-US" sz="1200" b="0" i="0" u="none" strike="noStrike" kern="1200" baseline="0" dirty="0" err="1">
                <a:solidFill>
                  <a:schemeClr val="tx1"/>
                </a:solidFill>
                <a:latin typeface="+mn-lt"/>
                <a:ea typeface="+mn-ea"/>
                <a:cs typeface="+mn-cs"/>
              </a:rPr>
              <a:t>dir</a:t>
            </a:r>
            <a:r>
              <a:rPr lang="en-US" sz="1200" b="0" i="0" u="none" strike="noStrike" kern="1200" baseline="0" dirty="0">
                <a:solidFill>
                  <a:schemeClr val="tx1"/>
                </a:solidFill>
                <a:latin typeface="+mn-lt"/>
                <a:ea typeface="+mn-ea"/>
                <a:cs typeface="+mn-cs"/>
              </a:rPr>
              <a:t> and foo, each of which takes an </a:t>
            </a:r>
            <a:r>
              <a:rPr lang="en-US" sz="1200" b="1" i="0" u="none" strike="noStrike" kern="1200" baseline="0" dirty="0">
                <a:solidFill>
                  <a:schemeClr val="tx1"/>
                </a:solidFill>
                <a:latin typeface="+mn-lt"/>
                <a:ea typeface="+mn-ea"/>
                <a:cs typeface="+mn-cs"/>
              </a:rPr>
              <a:t>M</a:t>
            </a:r>
            <a:r>
              <a:rPr lang="en-US" sz="1200" b="0" i="0" u="none" strike="noStrike" kern="1200" baseline="0" dirty="0">
                <a:solidFill>
                  <a:schemeClr val="tx1"/>
                </a:solidFill>
                <a:latin typeface="+mn-lt"/>
                <a:ea typeface="+mn-ea"/>
                <a:cs typeface="+mn-cs"/>
              </a:rPr>
              <a:t>.</a:t>
            </a:r>
          </a:p>
          <a:p>
            <a:endParaRPr lang="en-US" sz="1200" b="0" i="0" u="none" strike="noStrike" kern="1200" baseline="0" dirty="0">
              <a:solidFill>
                <a:schemeClr val="tx1"/>
              </a:solidFill>
              <a:latin typeface="+mn-lt"/>
              <a:ea typeface="+mn-ea"/>
              <a:cs typeface="+mn-cs"/>
            </a:endParaRPr>
          </a:p>
          <a:p>
            <a:r>
              <a:rPr lang="en-US" sz="1200" b="1" i="1" u="none" strike="noStrike" kern="1200" baseline="0" dirty="0">
                <a:solidFill>
                  <a:schemeClr val="tx1"/>
                </a:solidFill>
                <a:latin typeface="+mn-lt"/>
                <a:ea typeface="+mn-ea"/>
                <a:cs typeface="+mn-cs"/>
              </a:rPr>
              <a:t>Finding something on the screen. </a:t>
            </a:r>
            <a:r>
              <a:rPr lang="en-US" sz="1200" b="0" i="0" u="none" strike="noStrike" kern="1200" baseline="0" dirty="0">
                <a:solidFill>
                  <a:schemeClr val="tx1"/>
                </a:solidFill>
                <a:latin typeface="+mn-lt"/>
                <a:ea typeface="+mn-ea"/>
                <a:cs typeface="+mn-cs"/>
              </a:rPr>
              <a:t>The user must pause and scan the screen for an item that they do not already</a:t>
            </a:r>
          </a:p>
          <a:p>
            <a:r>
              <a:rPr lang="en-US" sz="1200" b="0" i="0" u="none" strike="noStrike" kern="1200" baseline="0" dirty="0">
                <a:solidFill>
                  <a:schemeClr val="tx1"/>
                </a:solidFill>
                <a:latin typeface="+mn-lt"/>
                <a:ea typeface="+mn-ea"/>
                <a:cs typeface="+mn-cs"/>
              </a:rPr>
              <a:t>know or whose location on the screen they do not already know from practice.</a:t>
            </a:r>
          </a:p>
          <a:p>
            <a:endParaRPr lang="en-US" sz="1200" b="0" i="0" u="none" strike="noStrike" kern="1200" baseline="0" dirty="0">
              <a:solidFill>
                <a:schemeClr val="tx1"/>
              </a:solidFill>
              <a:latin typeface="+mn-lt"/>
              <a:ea typeface="+mn-ea"/>
              <a:cs typeface="+mn-cs"/>
            </a:endParaRPr>
          </a:p>
          <a:p>
            <a:r>
              <a:rPr lang="en-US" sz="1200" b="1" i="1" u="none" strike="noStrike" kern="1200" baseline="0" dirty="0">
                <a:solidFill>
                  <a:schemeClr val="tx1"/>
                </a:solidFill>
                <a:latin typeface="+mn-lt"/>
                <a:ea typeface="+mn-ea"/>
                <a:cs typeface="+mn-cs"/>
              </a:rPr>
              <a:t>Thinking of a task parameter. </a:t>
            </a:r>
            <a:r>
              <a:rPr lang="en-US" sz="1200" b="0" i="0" u="none" strike="noStrike" kern="1200" baseline="0" dirty="0">
                <a:solidFill>
                  <a:schemeClr val="tx1"/>
                </a:solidFill>
                <a:latin typeface="+mn-lt"/>
                <a:ea typeface="+mn-ea"/>
                <a:cs typeface="+mn-cs"/>
              </a:rPr>
              <a:t>The user must either remember or otherwise access a task parameter value.</a:t>
            </a:r>
          </a:p>
          <a:p>
            <a:endParaRPr lang="en-US" sz="1200" b="0" i="0" u="none" strike="noStrike" kern="1200" baseline="0" dirty="0">
              <a:solidFill>
                <a:schemeClr val="tx1"/>
              </a:solidFill>
              <a:latin typeface="+mn-lt"/>
              <a:ea typeface="+mn-ea"/>
              <a:cs typeface="+mn-cs"/>
            </a:endParaRPr>
          </a:p>
          <a:p>
            <a:r>
              <a:rPr lang="en-US" sz="1200" b="1" i="1" u="none" strike="noStrike" kern="1200" baseline="0" dirty="0">
                <a:solidFill>
                  <a:schemeClr val="tx1"/>
                </a:solidFill>
                <a:latin typeface="+mn-lt"/>
                <a:ea typeface="+mn-ea"/>
                <a:cs typeface="+mn-cs"/>
              </a:rPr>
              <a:t>Verifying that a specification or action is correct. </a:t>
            </a:r>
            <a:r>
              <a:rPr lang="en-US" sz="1200" b="0" i="0" u="none" strike="noStrike" kern="1200" baseline="0" dirty="0">
                <a:solidFill>
                  <a:schemeClr val="tx1"/>
                </a:solidFill>
                <a:latin typeface="+mn-lt"/>
                <a:ea typeface="+mn-ea"/>
                <a:cs typeface="+mn-cs"/>
              </a:rPr>
              <a:t>Before users signal the system to proceed, they often pause</a:t>
            </a:r>
          </a:p>
          <a:p>
            <a:r>
              <a:rPr lang="en-US" sz="1200" b="0" i="0" u="none" strike="noStrike" kern="1200" baseline="0" dirty="0">
                <a:solidFill>
                  <a:schemeClr val="tx1"/>
                </a:solidFill>
                <a:latin typeface="+mn-lt"/>
                <a:ea typeface="+mn-ea"/>
                <a:cs typeface="+mn-cs"/>
              </a:rPr>
              <a:t>and check their entry. For example, users often stop and examine a command before hitting return, or check a</a:t>
            </a:r>
          </a:p>
          <a:p>
            <a:r>
              <a:rPr lang="en-US" sz="1200" b="0" i="0" u="none" strike="noStrike" kern="1200" baseline="0" dirty="0">
                <a:solidFill>
                  <a:schemeClr val="tx1"/>
                </a:solidFill>
                <a:latin typeface="+mn-lt"/>
                <a:ea typeface="+mn-ea"/>
                <a:cs typeface="+mn-cs"/>
              </a:rPr>
              <a:t>dialog box before clicking on the OK, or that a destination folder is reverse-video before releasing the mouse button.</a:t>
            </a:r>
          </a:p>
          <a:p>
            <a:endParaRPr lang="en-US" sz="1200" b="0" i="0" u="none" strike="noStrike" kern="1200" baseline="0" dirty="0">
              <a:solidFill>
                <a:schemeClr val="tx1"/>
              </a:solidFill>
              <a:latin typeface="+mn-lt"/>
              <a:ea typeface="+mn-ea"/>
              <a:cs typeface="+mn-cs"/>
            </a:endParaRPr>
          </a:p>
          <a:p>
            <a:r>
              <a:rPr lang="en-US" sz="1200" b="1" i="1" u="none" strike="noStrike" kern="1200" baseline="0" dirty="0">
                <a:solidFill>
                  <a:schemeClr val="tx1"/>
                </a:solidFill>
                <a:latin typeface="+mn-lt"/>
                <a:ea typeface="+mn-ea"/>
                <a:cs typeface="+mn-cs"/>
              </a:rPr>
              <a:t>Some useful conventions. </a:t>
            </a:r>
            <a:r>
              <a:rPr lang="en-US" sz="1200" b="0" i="0" u="none" strike="noStrike" kern="1200" baseline="0" dirty="0">
                <a:solidFill>
                  <a:schemeClr val="tx1"/>
                </a:solidFill>
                <a:latin typeface="+mn-lt"/>
                <a:ea typeface="+mn-ea"/>
                <a:cs typeface="+mn-cs"/>
              </a:rPr>
              <a:t>Models often contain certain sequences of actions which should be represented in a</a:t>
            </a:r>
          </a:p>
          <a:p>
            <a:r>
              <a:rPr lang="en-US" sz="1200" b="0" i="0" u="none" strike="noStrike" kern="1200" baseline="0" dirty="0">
                <a:solidFill>
                  <a:schemeClr val="tx1"/>
                </a:solidFill>
                <a:latin typeface="+mn-lt"/>
                <a:ea typeface="+mn-ea"/>
                <a:cs typeface="+mn-cs"/>
              </a:rPr>
              <a:t>consistent way. Some suggestions:</a:t>
            </a:r>
          </a:p>
          <a:p>
            <a:r>
              <a:rPr lang="en-US" sz="1200" b="0" i="0" u="none" strike="noStrike" kern="1200" baseline="0" dirty="0">
                <a:solidFill>
                  <a:schemeClr val="tx1"/>
                </a:solidFill>
                <a:latin typeface="+mn-lt"/>
                <a:ea typeface="+mn-ea"/>
                <a:cs typeface="+mn-cs"/>
              </a:rPr>
              <a:t>• The values for task parameters have to be explicitly obtained in a step.</a:t>
            </a:r>
          </a:p>
          <a:p>
            <a:r>
              <a:rPr lang="en-US" sz="1200" b="0" i="0" u="none" strike="noStrike" kern="1200" baseline="0" dirty="0">
                <a:solidFill>
                  <a:schemeClr val="tx1"/>
                </a:solidFill>
                <a:latin typeface="+mn-lt"/>
                <a:ea typeface="+mn-ea"/>
                <a:cs typeface="+mn-cs"/>
              </a:rPr>
              <a:t>• Pointing to an object on the screen should be preceded by a mental operator to locate the object.</a:t>
            </a:r>
          </a:p>
          <a:p>
            <a:r>
              <a:rPr lang="en-US" sz="1200" b="0" i="0" u="none" strike="noStrike" kern="1200" baseline="0" dirty="0">
                <a:solidFill>
                  <a:schemeClr val="tx1"/>
                </a:solidFill>
                <a:latin typeface="+mn-lt"/>
                <a:ea typeface="+mn-ea"/>
                <a:cs typeface="+mn-cs"/>
              </a:rPr>
              <a:t>• If something on the screen changes in response to user input, there should be a step to verify that the desired</a:t>
            </a:r>
          </a:p>
          <a:p>
            <a:r>
              <a:rPr lang="en-US" sz="1200" b="0" i="0" u="none" strike="noStrike" kern="1200" baseline="0" dirty="0">
                <a:solidFill>
                  <a:schemeClr val="tx1"/>
                </a:solidFill>
                <a:latin typeface="+mn-lt"/>
                <a:ea typeface="+mn-ea"/>
                <a:cs typeface="+mn-cs"/>
              </a:rPr>
              <a:t>result appeared.</a:t>
            </a:r>
            <a:endParaRPr lang="en-US" dirty="0"/>
          </a:p>
        </p:txBody>
      </p:sp>
      <p:sp>
        <p:nvSpPr>
          <p:cNvPr id="4" name="Slide Number Placeholder 3"/>
          <p:cNvSpPr>
            <a:spLocks noGrp="1"/>
          </p:cNvSpPr>
          <p:nvPr>
            <p:ph type="sldNum" sz="quarter" idx="10"/>
          </p:nvPr>
        </p:nvSpPr>
        <p:spPr/>
        <p:txBody>
          <a:bodyPr/>
          <a:lstStyle/>
          <a:p>
            <a:fld id="{0F8BF18D-4DAE-4DDD-BFAC-F0C99AA07095}" type="slidenum">
              <a:rPr lang="en-US" smtClean="0"/>
              <a:t>46</a:t>
            </a:fld>
            <a:endParaRPr lang="en-US"/>
          </a:p>
        </p:txBody>
      </p:sp>
    </p:spTree>
    <p:extLst>
      <p:ext uri="{BB962C8B-B14F-4D97-AF65-F5344CB8AC3E}">
        <p14:creationId xmlns:p14="http://schemas.microsoft.com/office/powerpoint/2010/main" val="14798781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F8BF18D-4DAE-4DDD-BFAC-F0C99AA07095}" type="slidenum">
              <a:rPr lang="en-US" smtClean="0"/>
              <a:t>47</a:t>
            </a:fld>
            <a:endParaRPr lang="en-US"/>
          </a:p>
        </p:txBody>
      </p:sp>
    </p:spTree>
    <p:extLst>
      <p:ext uri="{BB962C8B-B14F-4D97-AF65-F5344CB8AC3E}">
        <p14:creationId xmlns:p14="http://schemas.microsoft.com/office/powerpoint/2010/main" val="20770188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a:solidFill>
                  <a:schemeClr val="tx1"/>
                </a:solidFill>
                <a:latin typeface="+mn-lt"/>
                <a:ea typeface="+mn-ea"/>
                <a:cs typeface="+mn-cs"/>
              </a:rPr>
              <a:t>Button </a:t>
            </a:r>
            <a:r>
              <a:rPr lang="en-US" sz="1200" b="0" i="0" u="none" strike="noStrike" kern="1200" baseline="0" dirty="0">
                <a:solidFill>
                  <a:schemeClr val="tx1"/>
                </a:solidFill>
                <a:latin typeface="+mn-lt"/>
                <a:ea typeface="+mn-ea"/>
                <a:cs typeface="+mn-cs"/>
              </a:rPr>
              <a:t>Mouse buttons are faster than keystrokes because there</a:t>
            </a:r>
          </a:p>
          <a:p>
            <a:r>
              <a:rPr lang="en-US" sz="1200" b="0" i="0" u="none" strike="noStrike" kern="1200" baseline="0" dirty="0">
                <a:solidFill>
                  <a:schemeClr val="tx1"/>
                </a:solidFill>
                <a:latin typeface="+mn-lt"/>
                <a:ea typeface="+mn-ea"/>
                <a:cs typeface="+mn-cs"/>
              </a:rPr>
              <a:t>are far fewer mouse buttons to choose from (reducing the user’s reaction time) and they’re right under the</a:t>
            </a:r>
          </a:p>
          <a:p>
            <a:r>
              <a:rPr lang="en-US" sz="1200" b="0" i="0" u="none" strike="noStrike" kern="1200" baseline="0" dirty="0">
                <a:solidFill>
                  <a:schemeClr val="tx1"/>
                </a:solidFill>
                <a:latin typeface="+mn-lt"/>
                <a:ea typeface="+mn-ea"/>
                <a:cs typeface="+mn-cs"/>
              </a:rPr>
              <a:t>user’s fingers (eliminating lateral movement time), so mouse buttons should be faster to press. Note that a</a:t>
            </a:r>
          </a:p>
          <a:p>
            <a:r>
              <a:rPr lang="en-US" sz="1200" b="0" i="0" u="none" strike="noStrike" kern="1200" baseline="0" dirty="0">
                <a:solidFill>
                  <a:schemeClr val="tx1"/>
                </a:solidFill>
                <a:latin typeface="+mn-lt"/>
                <a:ea typeface="+mn-ea"/>
                <a:cs typeface="+mn-cs"/>
              </a:rPr>
              <a:t>mouse </a:t>
            </a:r>
            <a:r>
              <a:rPr lang="en-US" sz="1200" b="1" i="0" u="none" strike="noStrike" kern="1200" baseline="0" dirty="0">
                <a:solidFill>
                  <a:schemeClr val="tx1"/>
                </a:solidFill>
                <a:latin typeface="+mn-lt"/>
                <a:ea typeface="+mn-ea"/>
                <a:cs typeface="+mn-cs"/>
              </a:rPr>
              <a:t>click </a:t>
            </a:r>
            <a:r>
              <a:rPr lang="en-US" sz="1200" b="0" i="0" u="none" strike="noStrike" kern="1200" baseline="0" dirty="0">
                <a:solidFill>
                  <a:schemeClr val="tx1"/>
                </a:solidFill>
                <a:latin typeface="+mn-lt"/>
                <a:ea typeface="+mn-ea"/>
                <a:cs typeface="+mn-cs"/>
              </a:rPr>
              <a:t>is a press and a release, so it costs 0.2 seconds in this model.</a:t>
            </a:r>
          </a:p>
          <a:p>
            <a:r>
              <a:rPr lang="en-US" sz="1200" b="1" i="0" u="none" strike="noStrike" kern="1200" baseline="0" dirty="0">
                <a:solidFill>
                  <a:schemeClr val="tx1"/>
                </a:solidFill>
                <a:latin typeface="+mn-lt"/>
                <a:ea typeface="+mn-ea"/>
                <a:cs typeface="+mn-cs"/>
              </a:rPr>
              <a:t>Pointing </a:t>
            </a:r>
            <a:r>
              <a:rPr lang="en-US" sz="1200" b="0" i="0" u="none" strike="noStrike" kern="1200" baseline="0" dirty="0">
                <a:solidFill>
                  <a:schemeClr val="tx1"/>
                </a:solidFill>
                <a:latin typeface="+mn-lt"/>
                <a:ea typeface="+mn-ea"/>
                <a:cs typeface="+mn-cs"/>
              </a:rPr>
              <a:t>time can be modelled by Fitts’s Law, but now we’ll actually need numerical parameters for it.</a:t>
            </a:r>
          </a:p>
          <a:p>
            <a:r>
              <a:rPr lang="en-US" sz="1200" b="0" i="0" u="none" strike="noStrike" kern="1200" baseline="0" dirty="0">
                <a:solidFill>
                  <a:schemeClr val="tx1"/>
                </a:solidFill>
                <a:latin typeface="+mn-lt"/>
                <a:ea typeface="+mn-ea"/>
                <a:cs typeface="+mn-cs"/>
              </a:rPr>
              <a:t>Empirically, you get a better fit to measurements if the index of difficulty is log(D/S+1); but even then,</a:t>
            </a:r>
          </a:p>
          <a:p>
            <a:r>
              <a:rPr lang="en-US" sz="1200" b="0" i="0" u="none" strike="noStrike" kern="1200" baseline="0" dirty="0">
                <a:solidFill>
                  <a:schemeClr val="tx1"/>
                </a:solidFill>
                <a:latin typeface="+mn-lt"/>
                <a:ea typeface="+mn-ea"/>
                <a:cs typeface="+mn-cs"/>
              </a:rPr>
              <a:t>differences in pointing devices and methods of measurement have produced wide variations in the parameters</a:t>
            </a:r>
          </a:p>
          <a:p>
            <a:r>
              <a:rPr lang="en-US" sz="1200" b="0" i="0" u="none" strike="noStrike" kern="1200" baseline="0" dirty="0">
                <a:solidFill>
                  <a:schemeClr val="tx1"/>
                </a:solidFill>
                <a:latin typeface="+mn-lt"/>
                <a:ea typeface="+mn-ea"/>
                <a:cs typeface="+mn-cs"/>
              </a:rPr>
              <a:t>(some of them seen here). There’s even a measurable difference between a relaxed hand (no mouse buttons</a:t>
            </a:r>
          </a:p>
          <a:p>
            <a:r>
              <a:rPr lang="en-US" sz="1200" b="0" i="0" u="none" strike="noStrike" kern="1200" baseline="0" dirty="0">
                <a:solidFill>
                  <a:schemeClr val="tx1"/>
                </a:solidFill>
                <a:latin typeface="+mn-lt"/>
                <a:ea typeface="+mn-ea"/>
                <a:cs typeface="+mn-cs"/>
              </a:rPr>
              <a:t>pressed) and a tense hand (dragging). Also, using Fitts’s Law depends on keeping detailed track of the location</a:t>
            </a:r>
          </a:p>
          <a:p>
            <a:r>
              <a:rPr lang="en-US" sz="1200" b="0" i="0" u="none" strike="noStrike" kern="1200" baseline="0" dirty="0">
                <a:solidFill>
                  <a:schemeClr val="tx1"/>
                </a:solidFill>
                <a:latin typeface="+mn-lt"/>
                <a:ea typeface="+mn-ea"/>
                <a:cs typeface="+mn-cs"/>
              </a:rPr>
              <a:t>of the mouse pointer in the model, and the positions of targets on the screen. An abstract model like the</a:t>
            </a:r>
          </a:p>
          <a:p>
            <a:r>
              <a:rPr lang="en-US" sz="1200" b="0" i="0" u="none" strike="noStrike" kern="1200" baseline="0" dirty="0">
                <a:solidFill>
                  <a:schemeClr val="tx1"/>
                </a:solidFill>
                <a:latin typeface="+mn-lt"/>
                <a:ea typeface="+mn-ea"/>
                <a:cs typeface="+mn-cs"/>
              </a:rPr>
              <a:t>keystroke level model dispenses with these details and just assumes that </a:t>
            </a:r>
            <a:r>
              <a:rPr lang="en-US" sz="1200" b="0" i="0" u="none" strike="noStrike" kern="1200" baseline="0" dirty="0" err="1">
                <a:solidFill>
                  <a:schemeClr val="tx1"/>
                </a:solidFill>
                <a:latin typeface="+mn-lt"/>
                <a:ea typeface="+mn-ea"/>
                <a:cs typeface="+mn-cs"/>
              </a:rPr>
              <a:t>Tp</a:t>
            </a:r>
            <a:r>
              <a:rPr lang="en-US" sz="1200" b="0" i="0" u="none" strike="noStrike" kern="1200" baseline="0" dirty="0">
                <a:solidFill>
                  <a:schemeClr val="tx1"/>
                </a:solidFill>
                <a:latin typeface="+mn-lt"/>
                <a:ea typeface="+mn-ea"/>
                <a:cs typeface="+mn-cs"/>
              </a:rPr>
              <a:t> ~ 1.1s for all pointing tasks. If</a:t>
            </a:r>
          </a:p>
          <a:p>
            <a:r>
              <a:rPr lang="en-US" sz="1200" b="0" i="0" u="none" strike="noStrike" kern="1200" baseline="0" dirty="0">
                <a:solidFill>
                  <a:schemeClr val="tx1"/>
                </a:solidFill>
                <a:latin typeface="+mn-lt"/>
                <a:ea typeface="+mn-ea"/>
                <a:cs typeface="+mn-cs"/>
              </a:rPr>
              <a:t>your design alternatives require more detailed modeling, however, you would want to use Fitts’s Law more</a:t>
            </a:r>
          </a:p>
          <a:p>
            <a:r>
              <a:rPr lang="en-US" sz="1200" b="0" i="0" u="none" strike="noStrike" kern="1200" baseline="0" dirty="0">
                <a:solidFill>
                  <a:schemeClr val="tx1"/>
                </a:solidFill>
                <a:latin typeface="+mn-lt"/>
                <a:ea typeface="+mn-ea"/>
                <a:cs typeface="+mn-cs"/>
              </a:rPr>
              <a:t>carefully.</a:t>
            </a:r>
          </a:p>
          <a:p>
            <a:r>
              <a:rPr lang="en-US" sz="1200" b="1" i="0" u="none" strike="noStrike" kern="1200" baseline="0" dirty="0">
                <a:solidFill>
                  <a:schemeClr val="tx1"/>
                </a:solidFill>
                <a:latin typeface="+mn-lt"/>
                <a:ea typeface="+mn-ea"/>
                <a:cs typeface="+mn-cs"/>
              </a:rPr>
              <a:t>Drawing </a:t>
            </a:r>
            <a:r>
              <a:rPr lang="en-US" sz="1200" b="0" i="0" u="none" strike="noStrike" kern="1200" baseline="0" dirty="0">
                <a:solidFill>
                  <a:schemeClr val="tx1"/>
                </a:solidFill>
                <a:latin typeface="+mn-lt"/>
                <a:ea typeface="+mn-ea"/>
                <a:cs typeface="+mn-cs"/>
              </a:rPr>
              <a:t>time, likewise, can be modeled by the steering law: T = a + b (D/S).</a:t>
            </a:r>
            <a:endParaRPr lang="en-US" dirty="0"/>
          </a:p>
        </p:txBody>
      </p:sp>
      <p:sp>
        <p:nvSpPr>
          <p:cNvPr id="4" name="Slide Number Placeholder 3"/>
          <p:cNvSpPr>
            <a:spLocks noGrp="1"/>
          </p:cNvSpPr>
          <p:nvPr>
            <p:ph type="sldNum" sz="quarter" idx="10"/>
          </p:nvPr>
        </p:nvSpPr>
        <p:spPr/>
        <p:txBody>
          <a:bodyPr/>
          <a:lstStyle/>
          <a:p>
            <a:fld id="{0F8BF18D-4DAE-4DDD-BFAC-F0C99AA07095}" type="slidenum">
              <a:rPr lang="en-US" smtClean="0"/>
              <a:t>49</a:t>
            </a:fld>
            <a:endParaRPr lang="en-US"/>
          </a:p>
        </p:txBody>
      </p:sp>
    </p:spTree>
    <p:extLst>
      <p:ext uri="{BB962C8B-B14F-4D97-AF65-F5344CB8AC3E}">
        <p14:creationId xmlns:p14="http://schemas.microsoft.com/office/powerpoint/2010/main" val="22913603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a:solidFill>
                  <a:schemeClr val="tx1"/>
                </a:solidFill>
                <a:latin typeface="+mn-lt"/>
                <a:ea typeface="+mn-ea"/>
                <a:cs typeface="+mn-cs"/>
              </a:rPr>
              <a:t>Homing </a:t>
            </a:r>
            <a:r>
              <a:rPr lang="en-US" sz="1200" b="0" i="0" u="none" strike="noStrike" kern="1200" baseline="0" dirty="0">
                <a:solidFill>
                  <a:schemeClr val="tx1"/>
                </a:solidFill>
                <a:latin typeface="+mn-lt"/>
                <a:ea typeface="+mn-ea"/>
                <a:cs typeface="+mn-cs"/>
              </a:rPr>
              <a:t>time is estimated by a simple experiment in which the user moves their hand back and forth from the</a:t>
            </a:r>
          </a:p>
          <a:p>
            <a:r>
              <a:rPr lang="en-US" sz="1200" b="0" i="0" u="none" strike="noStrike" kern="1200" baseline="0" dirty="0">
                <a:solidFill>
                  <a:schemeClr val="tx1"/>
                </a:solidFill>
                <a:latin typeface="+mn-lt"/>
                <a:ea typeface="+mn-ea"/>
                <a:cs typeface="+mn-cs"/>
              </a:rPr>
              <a:t>keyboard to the mouse.</a:t>
            </a:r>
          </a:p>
          <a:p>
            <a:r>
              <a:rPr lang="en-US" sz="1200" b="0" i="0" u="none" strike="noStrike" kern="1200" baseline="0" dirty="0">
                <a:solidFill>
                  <a:schemeClr val="tx1"/>
                </a:solidFill>
                <a:latin typeface="+mn-lt"/>
                <a:ea typeface="+mn-ea"/>
                <a:cs typeface="+mn-cs"/>
              </a:rPr>
              <a:t>Finally we have the </a:t>
            </a:r>
            <a:r>
              <a:rPr lang="en-US" sz="1200" b="1" i="0" u="none" strike="noStrike" kern="1200" baseline="0" dirty="0">
                <a:solidFill>
                  <a:schemeClr val="tx1"/>
                </a:solidFill>
                <a:latin typeface="+mn-lt"/>
                <a:ea typeface="+mn-ea"/>
                <a:cs typeface="+mn-cs"/>
              </a:rPr>
              <a:t>Mental </a:t>
            </a:r>
            <a:r>
              <a:rPr lang="en-US" sz="1200" b="0" i="0" u="none" strike="noStrike" kern="1200" baseline="0" dirty="0">
                <a:solidFill>
                  <a:schemeClr val="tx1"/>
                </a:solidFill>
                <a:latin typeface="+mn-lt"/>
                <a:ea typeface="+mn-ea"/>
                <a:cs typeface="+mn-cs"/>
              </a:rPr>
              <a:t>operator. The M operator does not represent planning, problem solving, or deep</a:t>
            </a:r>
          </a:p>
          <a:p>
            <a:r>
              <a:rPr lang="en-US" sz="1200" b="0" i="0" u="none" strike="noStrike" kern="1200" baseline="0" dirty="0">
                <a:solidFill>
                  <a:schemeClr val="tx1"/>
                </a:solidFill>
                <a:latin typeface="+mn-lt"/>
                <a:ea typeface="+mn-ea"/>
                <a:cs typeface="+mn-cs"/>
              </a:rPr>
              <a:t>thinking. None of that is modeled by the keystroke level model. M merely represents the time to prepare</a:t>
            </a:r>
          </a:p>
          <a:p>
            <a:r>
              <a:rPr lang="en-US" sz="1200" b="0" i="0" u="none" strike="noStrike" kern="1200" baseline="0" dirty="0">
                <a:solidFill>
                  <a:schemeClr val="tx1"/>
                </a:solidFill>
                <a:latin typeface="+mn-lt"/>
                <a:ea typeface="+mn-ea"/>
                <a:cs typeface="+mn-cs"/>
              </a:rPr>
              <a:t>mentally for the next </a:t>
            </a:r>
            <a:r>
              <a:rPr lang="en-US" sz="1200" b="1" i="0" u="none" strike="noStrike" kern="1200" baseline="0" dirty="0">
                <a:solidFill>
                  <a:schemeClr val="tx1"/>
                </a:solidFill>
                <a:latin typeface="+mn-lt"/>
                <a:ea typeface="+mn-ea"/>
                <a:cs typeface="+mn-cs"/>
              </a:rPr>
              <a:t>step </a:t>
            </a:r>
            <a:r>
              <a:rPr lang="en-US" sz="1200" b="0" i="0" u="none" strike="noStrike" kern="1200" baseline="0" dirty="0">
                <a:solidFill>
                  <a:schemeClr val="tx1"/>
                </a:solidFill>
                <a:latin typeface="+mn-lt"/>
                <a:ea typeface="+mn-ea"/>
                <a:cs typeface="+mn-cs"/>
              </a:rPr>
              <a:t>in the method – primarily to retrieve that step (the thing you’ll have to do) from</a:t>
            </a:r>
          </a:p>
          <a:p>
            <a:r>
              <a:rPr lang="en-US" sz="1200" b="0" i="0" u="none" strike="noStrike" kern="1200" baseline="0" dirty="0">
                <a:solidFill>
                  <a:schemeClr val="tx1"/>
                </a:solidFill>
                <a:latin typeface="+mn-lt"/>
                <a:ea typeface="+mn-ea"/>
                <a:cs typeface="+mn-cs"/>
              </a:rPr>
              <a:t>long-term memory.</a:t>
            </a:r>
          </a:p>
          <a:p>
            <a:r>
              <a:rPr lang="en-US" b="1" dirty="0"/>
              <a:t>W(t) - Waiting for the system to respond (time t must be determined). </a:t>
            </a:r>
            <a:r>
              <a:rPr lang="en-US" dirty="0"/>
              <a:t>This is the time that the user must wait on the system before he or she can proceed. Notice that it is not necessarily the same as the time required by the system, because the user may be able to overlap other activities while the system is working. </a:t>
            </a:r>
            <a:endParaRPr lang="en-US" sz="1200" b="0" i="0" u="none" strike="noStrike" kern="1200" baseline="0" dirty="0">
              <a:solidFill>
                <a:schemeClr val="tx1"/>
              </a:solidFill>
              <a:latin typeface="+mn-lt"/>
              <a:ea typeface="+mn-ea"/>
              <a:cs typeface="+mn-cs"/>
            </a:endParaRPr>
          </a:p>
          <a:p>
            <a:r>
              <a:rPr lang="en-US" dirty="0"/>
              <a:t>In many cases with modern computers, the waiting time is essentially negligible. In other cases, such as a database retrieval or website usage, the delay might be substantial, but still the same regardless of which interface design is under consideration. In such cases, it may not be necessary to include this operator, either because it takes near-zero time, or it has the same value in all of the alternative designs, and so affects only the absolute, not the relative, task times.</a:t>
            </a:r>
          </a:p>
        </p:txBody>
      </p:sp>
      <p:sp>
        <p:nvSpPr>
          <p:cNvPr id="4" name="Slide Number Placeholder 3"/>
          <p:cNvSpPr>
            <a:spLocks noGrp="1"/>
          </p:cNvSpPr>
          <p:nvPr>
            <p:ph type="sldNum" sz="quarter" idx="10"/>
          </p:nvPr>
        </p:nvSpPr>
        <p:spPr/>
        <p:txBody>
          <a:bodyPr/>
          <a:lstStyle/>
          <a:p>
            <a:fld id="{0F8BF18D-4DAE-4DDD-BFAC-F0C99AA07095}" type="slidenum">
              <a:rPr lang="en-US" smtClean="0"/>
              <a:t>50</a:t>
            </a:fld>
            <a:endParaRPr lang="en-US"/>
          </a:p>
        </p:txBody>
      </p:sp>
    </p:spTree>
    <p:extLst>
      <p:ext uri="{BB962C8B-B14F-4D97-AF65-F5344CB8AC3E}">
        <p14:creationId xmlns:p14="http://schemas.microsoft.com/office/powerpoint/2010/main" val="5662121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Here’s how to create a keystroke level model for a task.</a:t>
            </a:r>
          </a:p>
          <a:p>
            <a:r>
              <a:rPr lang="en-US" sz="1200" b="0" i="0" u="none" strike="noStrike" kern="1200" baseline="0" dirty="0">
                <a:solidFill>
                  <a:schemeClr val="tx1"/>
                </a:solidFill>
                <a:latin typeface="+mn-lt"/>
                <a:ea typeface="+mn-ea"/>
                <a:cs typeface="+mn-cs"/>
              </a:rPr>
              <a:t>First, you have to focus on a particular </a:t>
            </a:r>
            <a:r>
              <a:rPr lang="en-US" sz="1200" b="1" i="0" u="none" strike="noStrike" kern="1200" baseline="0" dirty="0">
                <a:solidFill>
                  <a:schemeClr val="tx1"/>
                </a:solidFill>
                <a:latin typeface="+mn-lt"/>
                <a:ea typeface="+mn-ea"/>
                <a:cs typeface="+mn-cs"/>
              </a:rPr>
              <a:t>method </a:t>
            </a:r>
            <a:r>
              <a:rPr lang="en-US" sz="1200" b="0" i="0" u="none" strike="noStrike" kern="1200" baseline="0" dirty="0">
                <a:solidFill>
                  <a:schemeClr val="tx1"/>
                </a:solidFill>
                <a:latin typeface="+mn-lt"/>
                <a:ea typeface="+mn-ea"/>
                <a:cs typeface="+mn-cs"/>
              </a:rPr>
              <a:t>for doing the task. Suppose the task is deleting a word in a text</a:t>
            </a:r>
          </a:p>
          <a:p>
            <a:r>
              <a:rPr lang="en-US" sz="1200" b="0" i="0" u="none" strike="noStrike" kern="1200" baseline="0" dirty="0">
                <a:solidFill>
                  <a:schemeClr val="tx1"/>
                </a:solidFill>
                <a:latin typeface="+mn-lt"/>
                <a:ea typeface="+mn-ea"/>
                <a:cs typeface="+mn-cs"/>
              </a:rPr>
              <a:t>editor. Most text editors offer a variety of methods for doing this, e.g.: (1) click and drag to select the word,</a:t>
            </a:r>
          </a:p>
          <a:p>
            <a:r>
              <a:rPr lang="en-US" sz="1200" b="0" i="0" u="none" strike="noStrike" kern="1200" baseline="0" dirty="0">
                <a:solidFill>
                  <a:schemeClr val="tx1"/>
                </a:solidFill>
                <a:latin typeface="+mn-lt"/>
                <a:ea typeface="+mn-ea"/>
                <a:cs typeface="+mn-cs"/>
              </a:rPr>
              <a:t>then press the Del key; (2) click at the start and shift-click at the end to select the word, then press the Del key;</a:t>
            </a:r>
          </a:p>
          <a:p>
            <a:r>
              <a:rPr lang="en-US" sz="1200" b="0" i="0" u="none" strike="noStrike" kern="1200" baseline="0" dirty="0">
                <a:solidFill>
                  <a:schemeClr val="tx1"/>
                </a:solidFill>
                <a:latin typeface="+mn-lt"/>
                <a:ea typeface="+mn-ea"/>
                <a:cs typeface="+mn-cs"/>
              </a:rPr>
              <a:t>(3) click at the start, then press the Del key N times; (4) double-click the word, then select the Edit/Delete</a:t>
            </a:r>
          </a:p>
          <a:p>
            <a:r>
              <a:rPr lang="en-US" sz="1200" b="0" i="0" u="none" strike="noStrike" kern="1200" baseline="0" dirty="0">
                <a:solidFill>
                  <a:schemeClr val="tx1"/>
                </a:solidFill>
                <a:latin typeface="+mn-lt"/>
                <a:ea typeface="+mn-ea"/>
                <a:cs typeface="+mn-cs"/>
              </a:rPr>
              <a:t>menu command; etc.</a:t>
            </a:r>
          </a:p>
          <a:p>
            <a:r>
              <a:rPr lang="en-US" sz="1200" b="0" i="0" u="none" strike="noStrike" kern="1200" baseline="0" dirty="0">
                <a:solidFill>
                  <a:schemeClr val="tx1"/>
                </a:solidFill>
                <a:latin typeface="+mn-lt"/>
                <a:ea typeface="+mn-ea"/>
                <a:cs typeface="+mn-cs"/>
              </a:rPr>
              <a:t>Next, encode the method as a sequence of the physical operators: K for keystrokes, B for mouse button presses</a:t>
            </a:r>
          </a:p>
          <a:p>
            <a:r>
              <a:rPr lang="en-US" sz="1200" b="0" i="0" u="none" strike="noStrike" kern="1200" baseline="0" dirty="0">
                <a:solidFill>
                  <a:schemeClr val="tx1"/>
                </a:solidFill>
                <a:latin typeface="+mn-lt"/>
                <a:ea typeface="+mn-ea"/>
                <a:cs typeface="+mn-cs"/>
              </a:rPr>
              <a:t>or releases, P for pointing tasks, H for moving the hand between mouse and keyboard, and D for drawing tasks.</a:t>
            </a:r>
          </a:p>
          <a:p>
            <a:r>
              <a:rPr lang="en-US" sz="1200" b="0" i="0" u="none" strike="noStrike" kern="1200" baseline="0" dirty="0">
                <a:solidFill>
                  <a:schemeClr val="tx1"/>
                </a:solidFill>
                <a:latin typeface="+mn-lt"/>
                <a:ea typeface="+mn-ea"/>
                <a:cs typeface="+mn-cs"/>
              </a:rPr>
              <a:t>Next, insert the mental preparation operators at the appropriate places, before each chunk in the task. Some</a:t>
            </a:r>
          </a:p>
          <a:p>
            <a:r>
              <a:rPr lang="en-US" sz="1200" b="0" i="0" u="none" strike="noStrike" kern="1200" baseline="0" dirty="0">
                <a:solidFill>
                  <a:schemeClr val="tx1"/>
                </a:solidFill>
                <a:latin typeface="+mn-lt"/>
                <a:ea typeface="+mn-ea"/>
                <a:cs typeface="+mn-cs"/>
              </a:rPr>
              <a:t>heuristic rules have been proposed for finding these chunk boundaries.</a:t>
            </a:r>
          </a:p>
          <a:p>
            <a:r>
              <a:rPr lang="en-US" sz="1200" b="0" i="0" u="none" strike="noStrike" kern="1200" baseline="0" dirty="0">
                <a:solidFill>
                  <a:schemeClr val="tx1"/>
                </a:solidFill>
                <a:latin typeface="+mn-lt"/>
                <a:ea typeface="+mn-ea"/>
                <a:cs typeface="+mn-cs"/>
              </a:rPr>
              <a:t>Finally, using estimated times for each operator, add up all the times to get the total time to run the whole</a:t>
            </a:r>
          </a:p>
          <a:p>
            <a:r>
              <a:rPr lang="en-US" sz="1200" b="0" i="0" u="none" strike="noStrike" kern="1200" baseline="0" dirty="0">
                <a:solidFill>
                  <a:schemeClr val="tx1"/>
                </a:solidFill>
                <a:latin typeface="+mn-lt"/>
                <a:ea typeface="+mn-ea"/>
                <a:cs typeface="+mn-cs"/>
              </a:rPr>
              <a:t>method.</a:t>
            </a:r>
            <a:endParaRPr lang="en-US" dirty="0"/>
          </a:p>
        </p:txBody>
      </p:sp>
      <p:sp>
        <p:nvSpPr>
          <p:cNvPr id="4" name="Slide Number Placeholder 3"/>
          <p:cNvSpPr>
            <a:spLocks noGrp="1"/>
          </p:cNvSpPr>
          <p:nvPr>
            <p:ph type="sldNum" sz="quarter" idx="10"/>
          </p:nvPr>
        </p:nvSpPr>
        <p:spPr/>
        <p:txBody>
          <a:bodyPr/>
          <a:lstStyle/>
          <a:p>
            <a:fld id="{0F8BF18D-4DAE-4DDD-BFAC-F0C99AA07095}" type="slidenum">
              <a:rPr lang="en-US" smtClean="0"/>
              <a:t>52</a:t>
            </a:fld>
            <a:endParaRPr lang="en-US"/>
          </a:p>
        </p:txBody>
      </p:sp>
    </p:spTree>
    <p:extLst>
      <p:ext uri="{BB962C8B-B14F-4D97-AF65-F5344CB8AC3E}">
        <p14:creationId xmlns:p14="http://schemas.microsoft.com/office/powerpoint/2010/main" val="38587703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http://www.cs.loyola.edu/~lawrie/CS774/S06/homework/klm.pdf</a:t>
            </a:r>
            <a:endParaRPr lang="en-US" dirty="0"/>
          </a:p>
          <a:p>
            <a:r>
              <a:rPr lang="en-US" dirty="0">
                <a:hlinkClick r:id="rId4"/>
              </a:rPr>
              <a:t>https://enacademic.com/dic.nsf/enwiki/910192</a:t>
            </a:r>
            <a:endParaRPr lang="en-US" dirty="0"/>
          </a:p>
        </p:txBody>
      </p:sp>
      <p:sp>
        <p:nvSpPr>
          <p:cNvPr id="4" name="Slide Number Placeholder 3"/>
          <p:cNvSpPr>
            <a:spLocks noGrp="1"/>
          </p:cNvSpPr>
          <p:nvPr>
            <p:ph type="sldNum" sz="quarter" idx="5"/>
          </p:nvPr>
        </p:nvSpPr>
        <p:spPr/>
        <p:txBody>
          <a:bodyPr/>
          <a:lstStyle/>
          <a:p>
            <a:fld id="{0F8BF18D-4DAE-4DDD-BFAC-F0C99AA07095}" type="slidenum">
              <a:rPr lang="en-US" smtClean="0"/>
              <a:t>53</a:t>
            </a:fld>
            <a:endParaRPr lang="en-US"/>
          </a:p>
        </p:txBody>
      </p:sp>
    </p:spTree>
    <p:extLst>
      <p:ext uri="{BB962C8B-B14F-4D97-AF65-F5344CB8AC3E}">
        <p14:creationId xmlns:p14="http://schemas.microsoft.com/office/powerpoint/2010/main" val="690942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8BF18D-4DAE-4DDD-BFAC-F0C99AA07095}" type="slidenum">
              <a:rPr lang="en-US" smtClean="0"/>
              <a:t>62</a:t>
            </a:fld>
            <a:endParaRPr lang="en-US"/>
          </a:p>
        </p:txBody>
      </p:sp>
    </p:spTree>
    <p:extLst>
      <p:ext uri="{BB962C8B-B14F-4D97-AF65-F5344CB8AC3E}">
        <p14:creationId xmlns:p14="http://schemas.microsoft.com/office/powerpoint/2010/main" val="4526057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Here are keystroke-level models for two methods that delete a word.</a:t>
            </a:r>
          </a:p>
          <a:p>
            <a:r>
              <a:rPr lang="en-US" sz="1200" b="0" i="0" u="none" strike="noStrike" kern="1200" baseline="0" dirty="0">
                <a:solidFill>
                  <a:schemeClr val="tx1"/>
                </a:solidFill>
                <a:latin typeface="+mn-lt"/>
                <a:ea typeface="+mn-ea"/>
                <a:cs typeface="+mn-cs"/>
              </a:rPr>
              <a:t>The first method clicks at the start of the word, shift-clicks at the end of the word to highlight it, and then</a:t>
            </a:r>
          </a:p>
          <a:p>
            <a:r>
              <a:rPr lang="en-US" sz="1200" b="0" i="0" u="none" strike="noStrike" kern="1200" baseline="0" dirty="0">
                <a:solidFill>
                  <a:schemeClr val="tx1"/>
                </a:solidFill>
                <a:latin typeface="+mn-lt"/>
                <a:ea typeface="+mn-ea"/>
                <a:cs typeface="+mn-cs"/>
              </a:rPr>
              <a:t>presses the Del key on the keyboard. Notice the H operator for moving the hand from the mouse to the</a:t>
            </a:r>
          </a:p>
          <a:p>
            <a:r>
              <a:rPr lang="en-US" sz="1200" b="0" i="0" u="none" strike="noStrike" kern="1200" baseline="0" dirty="0">
                <a:solidFill>
                  <a:schemeClr val="tx1"/>
                </a:solidFill>
                <a:latin typeface="+mn-lt"/>
                <a:ea typeface="+mn-ea"/>
                <a:cs typeface="+mn-cs"/>
              </a:rPr>
              <a:t>keyboard. That operator may not be necessary if the user uses the hand already on the keyboard (which</a:t>
            </a:r>
          </a:p>
          <a:p>
            <a:r>
              <a:rPr lang="en-US" sz="1200" b="0" i="0" u="none" strike="noStrike" kern="1200" baseline="0" dirty="0">
                <a:solidFill>
                  <a:schemeClr val="tx1"/>
                </a:solidFill>
                <a:latin typeface="+mn-lt"/>
                <a:ea typeface="+mn-ea"/>
                <a:cs typeface="+mn-cs"/>
              </a:rPr>
              <a:t>pressed Shift) to reach over and press Del.</a:t>
            </a:r>
          </a:p>
          <a:p>
            <a:r>
              <a:rPr lang="en-US" sz="1200" b="0" i="0" u="none" strike="noStrike" kern="1200" baseline="0" dirty="0">
                <a:solidFill>
                  <a:schemeClr val="tx1"/>
                </a:solidFill>
                <a:latin typeface="+mn-lt"/>
                <a:ea typeface="+mn-ea"/>
                <a:cs typeface="+mn-cs"/>
              </a:rPr>
              <a:t>The second method clicks at the start of the word, then presses Del enough times to delete all the characters in</a:t>
            </a:r>
          </a:p>
          <a:p>
            <a:r>
              <a:rPr lang="en-US" sz="1200" b="0" i="0" u="none" strike="noStrike" kern="1200" baseline="0" dirty="0">
                <a:solidFill>
                  <a:schemeClr val="tx1"/>
                </a:solidFill>
                <a:latin typeface="+mn-lt"/>
                <a:ea typeface="+mn-ea"/>
                <a:cs typeface="+mn-cs"/>
              </a:rPr>
              <a:t>the word.</a:t>
            </a:r>
            <a:endParaRPr lang="en-US" dirty="0"/>
          </a:p>
        </p:txBody>
      </p:sp>
      <p:sp>
        <p:nvSpPr>
          <p:cNvPr id="4" name="Slide Number Placeholder 3"/>
          <p:cNvSpPr>
            <a:spLocks noGrp="1"/>
          </p:cNvSpPr>
          <p:nvPr>
            <p:ph type="sldNum" sz="quarter" idx="10"/>
          </p:nvPr>
        </p:nvSpPr>
        <p:spPr/>
        <p:txBody>
          <a:bodyPr/>
          <a:lstStyle/>
          <a:p>
            <a:fld id="{0F8BF18D-4DAE-4DDD-BFAC-F0C99AA07095}" type="slidenum">
              <a:rPr lang="en-US" smtClean="0"/>
              <a:t>64</a:t>
            </a:fld>
            <a:endParaRPr lang="en-US"/>
          </a:p>
        </p:txBody>
      </p:sp>
    </p:spTree>
    <p:extLst>
      <p:ext uri="{BB962C8B-B14F-4D97-AF65-F5344CB8AC3E}">
        <p14:creationId xmlns:p14="http://schemas.microsoft.com/office/powerpoint/2010/main" val="33051792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Keystroke level models have some limitations -- we’ve already discussed the focus on expert users and</a:t>
            </a:r>
          </a:p>
          <a:p>
            <a:r>
              <a:rPr lang="en-US" sz="1200" b="0" i="0" u="none" strike="noStrike" kern="1200" baseline="0" dirty="0">
                <a:solidFill>
                  <a:schemeClr val="tx1"/>
                </a:solidFill>
                <a:latin typeface="+mn-lt"/>
                <a:ea typeface="+mn-ea"/>
                <a:cs typeface="+mn-cs"/>
              </a:rPr>
              <a:t>efficiency. But KLM also </a:t>
            </a:r>
            <a:r>
              <a:rPr lang="en-US" sz="1200" b="1" i="0" u="none" strike="noStrike" kern="1200" baseline="0" dirty="0">
                <a:solidFill>
                  <a:schemeClr val="tx1"/>
                </a:solidFill>
                <a:latin typeface="+mn-lt"/>
                <a:ea typeface="+mn-ea"/>
                <a:cs typeface="+mn-cs"/>
              </a:rPr>
              <a:t>assumes no errors </a:t>
            </a:r>
            <a:r>
              <a:rPr lang="en-US" sz="1200" b="0" i="0" u="none" strike="noStrike" kern="1200" baseline="0" dirty="0">
                <a:solidFill>
                  <a:schemeClr val="tx1"/>
                </a:solidFill>
                <a:latin typeface="+mn-lt"/>
                <a:ea typeface="+mn-ea"/>
                <a:cs typeface="+mn-cs"/>
              </a:rPr>
              <a:t>made in the execution of the method, which isn’t true even for</a:t>
            </a:r>
          </a:p>
          <a:p>
            <a:r>
              <a:rPr lang="en-US" sz="1200" b="0" i="0" u="none" strike="noStrike" kern="1200" baseline="0" dirty="0">
                <a:solidFill>
                  <a:schemeClr val="tx1"/>
                </a:solidFill>
                <a:latin typeface="+mn-lt"/>
                <a:ea typeface="+mn-ea"/>
                <a:cs typeface="+mn-cs"/>
              </a:rPr>
              <a:t>experts. Methods may differ not just in time to execute but also in tendency of errors, and KLM doesn’t</a:t>
            </a:r>
          </a:p>
          <a:p>
            <a:r>
              <a:rPr lang="en-US" sz="1200" b="0" i="0" u="none" strike="noStrike" kern="1200" baseline="0" dirty="0">
                <a:solidFill>
                  <a:schemeClr val="tx1"/>
                </a:solidFill>
                <a:latin typeface="+mn-lt"/>
                <a:ea typeface="+mn-ea"/>
                <a:cs typeface="+mn-cs"/>
              </a:rPr>
              <a:t>account for that.</a:t>
            </a:r>
          </a:p>
          <a:p>
            <a:r>
              <a:rPr lang="en-US" sz="1200" b="0" i="0" u="none" strike="noStrike" kern="1200" baseline="0" dirty="0">
                <a:solidFill>
                  <a:schemeClr val="tx1"/>
                </a:solidFill>
                <a:latin typeface="+mn-lt"/>
                <a:ea typeface="+mn-ea"/>
                <a:cs typeface="+mn-cs"/>
              </a:rPr>
              <a:t>KLM also assumes that all actions are serialized, even actions that involve different hands (like moving the</a:t>
            </a:r>
          </a:p>
          <a:p>
            <a:r>
              <a:rPr lang="en-US" sz="1200" b="0" i="0" u="none" strike="noStrike" kern="1200" baseline="0" dirty="0">
                <a:solidFill>
                  <a:schemeClr val="tx1"/>
                </a:solidFill>
                <a:latin typeface="+mn-lt"/>
                <a:ea typeface="+mn-ea"/>
                <a:cs typeface="+mn-cs"/>
              </a:rPr>
              <a:t>mouse and pressing down the Shift key). Real experts don’t behave that way; they overlap operations.</a:t>
            </a:r>
          </a:p>
          <a:p>
            <a:r>
              <a:rPr lang="en-US" sz="1200" b="0" i="0" u="none" strike="noStrike" kern="1200" baseline="0" dirty="0">
                <a:solidFill>
                  <a:schemeClr val="tx1"/>
                </a:solidFill>
                <a:latin typeface="+mn-lt"/>
                <a:ea typeface="+mn-ea"/>
                <a:cs typeface="+mn-cs"/>
              </a:rPr>
              <a:t>KLM also doesn’t have a fine-grained model of mental operations. Planning, problem solving, different levels</a:t>
            </a:r>
          </a:p>
          <a:p>
            <a:r>
              <a:rPr lang="en-US" sz="1200" b="0" i="0" u="none" strike="noStrike" kern="1200" baseline="0" dirty="0">
                <a:solidFill>
                  <a:schemeClr val="tx1"/>
                </a:solidFill>
                <a:latin typeface="+mn-lt"/>
                <a:ea typeface="+mn-ea"/>
                <a:cs typeface="+mn-cs"/>
              </a:rPr>
              <a:t>of working memory load can all affect time and error rate; KLM lumps them into the M operator.</a:t>
            </a:r>
            <a:endParaRPr lang="en-US" dirty="0"/>
          </a:p>
        </p:txBody>
      </p:sp>
      <p:sp>
        <p:nvSpPr>
          <p:cNvPr id="4" name="Slide Number Placeholder 3"/>
          <p:cNvSpPr>
            <a:spLocks noGrp="1"/>
          </p:cNvSpPr>
          <p:nvPr>
            <p:ph type="sldNum" sz="quarter" idx="10"/>
          </p:nvPr>
        </p:nvSpPr>
        <p:spPr/>
        <p:txBody>
          <a:bodyPr/>
          <a:lstStyle/>
          <a:p>
            <a:fld id="{0F8BF18D-4DAE-4DDD-BFAC-F0C99AA07095}" type="slidenum">
              <a:rPr lang="en-US" smtClean="0"/>
              <a:t>65</a:t>
            </a:fld>
            <a:endParaRPr lang="en-US"/>
          </a:p>
        </p:txBody>
      </p:sp>
    </p:spTree>
    <p:extLst>
      <p:ext uri="{BB962C8B-B14F-4D97-AF65-F5344CB8AC3E}">
        <p14:creationId xmlns:p14="http://schemas.microsoft.com/office/powerpoint/2010/main" val="27114813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4044782F-8844-491E-A512-7DA8B8360B4C}" type="datetimeFigureOut">
              <a:rPr lang="en-US" smtClean="0"/>
              <a:t>12/28/2020</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6CE30D8A-F0FD-4D13-BBBF-99D2AFFC21EF}"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4044782F-8844-491E-A512-7DA8B8360B4C}" type="datetimeFigureOut">
              <a:rPr lang="en-US" smtClean="0"/>
              <a:t>12/28/2020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6CE30D8A-F0FD-4D13-BBBF-99D2AFFC21EF}" type="slidenum">
              <a:rPr lang="en-US" smtClean="0"/>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4044782F-8844-491E-A512-7DA8B8360B4C}" type="datetimeFigureOut">
              <a:rPr lang="en-US" smtClean="0"/>
              <a:t>12/28/2020</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6CE30D8A-F0FD-4D13-BBBF-99D2AFFC21EF}" type="slidenum">
              <a:rPr lang="en-US" smtClean="0"/>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4044782F-8844-491E-A512-7DA8B8360B4C}" type="datetimeFigureOut">
              <a:rPr lang="en-US" smtClean="0"/>
              <a:t>12/28/2020</a:t>
            </a:fld>
            <a:endParaRPr lang="en-US"/>
          </a:p>
        </p:txBody>
      </p:sp>
      <p:sp>
        <p:nvSpPr>
          <p:cNvPr id="10" name="Slide Number Placeholder 9"/>
          <p:cNvSpPr>
            <a:spLocks noGrp="1"/>
          </p:cNvSpPr>
          <p:nvPr>
            <p:ph type="sldNum" sz="quarter" idx="16"/>
          </p:nvPr>
        </p:nvSpPr>
        <p:spPr/>
        <p:txBody>
          <a:bodyPr rtlCol="0"/>
          <a:lstStyle/>
          <a:p>
            <a:fld id="{6CE30D8A-F0FD-4D13-BBBF-99D2AFFC21EF}" type="slidenum">
              <a:rPr lang="en-US" smtClean="0"/>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4044782F-8844-491E-A512-7DA8B8360B4C}" type="datetimeFigureOut">
              <a:rPr lang="en-US" smtClean="0"/>
              <a:t>12/28/2020</a:t>
            </a:fld>
            <a:endParaRPr lang="en-US"/>
          </a:p>
        </p:txBody>
      </p:sp>
      <p:sp>
        <p:nvSpPr>
          <p:cNvPr id="12" name="Slide Number Placeholder 11"/>
          <p:cNvSpPr>
            <a:spLocks noGrp="1"/>
          </p:cNvSpPr>
          <p:nvPr>
            <p:ph type="sldNum" sz="quarter" idx="16"/>
          </p:nvPr>
        </p:nvSpPr>
        <p:spPr/>
        <p:txBody>
          <a:bodyPr rtlCol="0"/>
          <a:lstStyle/>
          <a:p>
            <a:fld id="{6CE30D8A-F0FD-4D13-BBBF-99D2AFFC21EF}" type="slidenum">
              <a:rPr lang="en-US" smtClean="0"/>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4044782F-8844-491E-A512-7DA8B8360B4C}" type="datetimeFigureOut">
              <a:rPr lang="en-US" smtClean="0"/>
              <a:t>12/28/2020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6CE30D8A-F0FD-4D13-BBBF-99D2AFFC21E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44782F-8844-491E-A512-7DA8B8360B4C}" type="datetimeFigureOut">
              <a:rPr lang="en-US" smtClean="0"/>
              <a:t>12/28/2020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6CE30D8A-F0FD-4D13-BBBF-99D2AFFC21E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4044782F-8844-491E-A512-7DA8B8360B4C}" type="datetimeFigureOut">
              <a:rPr lang="en-US" smtClean="0"/>
              <a:t>12/28/2020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6CE30D8A-F0FD-4D13-BBBF-99D2AFFC21EF}" type="slidenum">
              <a:rPr lang="en-US" smtClean="0"/>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4044782F-8844-491E-A512-7DA8B8360B4C}" type="datetimeFigureOut">
              <a:rPr lang="en-US" smtClean="0"/>
              <a:t>12/28/2020</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6CE30D8A-F0FD-4D13-BBBF-99D2AFFC21EF}" type="slidenum">
              <a:rPr lang="en-US" smtClean="0"/>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044782F-8844-491E-A512-7DA8B8360B4C}" type="datetimeFigureOut">
              <a:rPr lang="en-US" smtClean="0"/>
              <a:t>12/28/2020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E30D8A-F0FD-4D13-BBBF-99D2AFFC21E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4044782F-8844-491E-A512-7DA8B8360B4C}" type="datetimeFigureOut">
              <a:rPr lang="en-US" smtClean="0"/>
              <a:t>12/28/2020</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6CE30D8A-F0FD-4D13-BBBF-99D2AFFC21EF}"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4044782F-8844-491E-A512-7DA8B8360B4C}" type="datetimeFigureOut">
              <a:rPr lang="en-US" smtClean="0"/>
              <a:t>12/28/2020</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6CE30D8A-F0FD-4D13-BBBF-99D2AFFC21E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efficiency</a:t>
            </a:r>
          </a:p>
        </p:txBody>
      </p:sp>
      <p:sp>
        <p:nvSpPr>
          <p:cNvPr id="3" name="Subtitle 2"/>
          <p:cNvSpPr>
            <a:spLocks noGrp="1"/>
          </p:cNvSpPr>
          <p:nvPr>
            <p:ph type="subTitle" idx="1"/>
          </p:nvPr>
        </p:nvSpPr>
        <p:spPr/>
        <p:txBody>
          <a:bodyPr/>
          <a:lstStyle/>
          <a:p>
            <a:r>
              <a:rPr lang="en-US" dirty="0"/>
              <a:t>Human computer interaction</a:t>
            </a:r>
          </a:p>
        </p:txBody>
      </p:sp>
    </p:spTree>
    <p:extLst>
      <p:ext uri="{BB962C8B-B14F-4D97-AF65-F5344CB8AC3E}">
        <p14:creationId xmlns:p14="http://schemas.microsoft.com/office/powerpoint/2010/main" val="2652578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a:t>
            </a:r>
          </a:p>
        </p:txBody>
      </p:sp>
      <p:sp>
        <p:nvSpPr>
          <p:cNvPr id="3" name="Content Placeholder 2"/>
          <p:cNvSpPr>
            <a:spLocks noGrp="1"/>
          </p:cNvSpPr>
          <p:nvPr>
            <p:ph sz="quarter" idx="1"/>
          </p:nvPr>
        </p:nvSpPr>
        <p:spPr/>
        <p:txBody>
          <a:bodyPr/>
          <a:lstStyle/>
          <a:p>
            <a:r>
              <a:rPr lang="en-US" dirty="0"/>
              <a:t>Human information processing</a:t>
            </a:r>
          </a:p>
          <a:p>
            <a:r>
              <a:rPr lang="en-US" dirty="0"/>
              <a:t>Pointing and steering</a:t>
            </a:r>
          </a:p>
          <a:p>
            <a:pPr lvl="1"/>
            <a:r>
              <a:rPr lang="en-US" dirty="0"/>
              <a:t>Fitts’s Law</a:t>
            </a:r>
          </a:p>
          <a:p>
            <a:r>
              <a:rPr lang="en-US" dirty="0"/>
              <a:t>Shortcuts</a:t>
            </a:r>
          </a:p>
          <a:p>
            <a:r>
              <a:rPr lang="en-US" dirty="0"/>
              <a:t>Keystroke level Model</a:t>
            </a:r>
          </a:p>
        </p:txBody>
      </p:sp>
    </p:spTree>
    <p:extLst>
      <p:ext uri="{BB962C8B-B14F-4D97-AF65-F5344CB8AC3E}">
        <p14:creationId xmlns:p14="http://schemas.microsoft.com/office/powerpoint/2010/main" val="39593671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Efficiency Hall of Shame </a:t>
            </a:r>
          </a:p>
        </p:txBody>
      </p:sp>
      <p:pic>
        <p:nvPicPr>
          <p:cNvPr id="4" name="Content Placeholder 3"/>
          <p:cNvPicPr>
            <a:picLocks noGrp="1" noChangeAspect="1"/>
          </p:cNvPicPr>
          <p:nvPr>
            <p:ph idx="1"/>
          </p:nvPr>
        </p:nvPicPr>
        <p:blipFill>
          <a:blip r:embed="rId2"/>
          <a:stretch>
            <a:fillRect/>
          </a:stretch>
        </p:blipFill>
        <p:spPr>
          <a:xfrm>
            <a:off x="728663" y="2196306"/>
            <a:ext cx="7686675" cy="3609975"/>
          </a:xfrm>
          <a:prstGeom prst="rect">
            <a:avLst/>
          </a:prstGeom>
        </p:spPr>
      </p:pic>
    </p:spTree>
    <p:extLst>
      <p:ext uri="{BB962C8B-B14F-4D97-AF65-F5344CB8AC3E}">
        <p14:creationId xmlns:p14="http://schemas.microsoft.com/office/powerpoint/2010/main" val="42207369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Efficiency Hall of Fame or Shame? </a:t>
            </a:r>
          </a:p>
        </p:txBody>
      </p:sp>
      <p:pic>
        <p:nvPicPr>
          <p:cNvPr id="4" name="Content Placeholder 3"/>
          <p:cNvPicPr>
            <a:picLocks noGrp="1" noChangeAspect="1"/>
          </p:cNvPicPr>
          <p:nvPr>
            <p:ph idx="1"/>
          </p:nvPr>
        </p:nvPicPr>
        <p:blipFill>
          <a:blip r:embed="rId2"/>
          <a:stretch>
            <a:fillRect/>
          </a:stretch>
        </p:blipFill>
        <p:spPr>
          <a:xfrm>
            <a:off x="1124491" y="1825625"/>
            <a:ext cx="6895019" cy="4351338"/>
          </a:xfrm>
          <a:prstGeom prst="rect">
            <a:avLst/>
          </a:prstGeom>
        </p:spPr>
      </p:pic>
    </p:spTree>
    <p:extLst>
      <p:ext uri="{BB962C8B-B14F-4D97-AF65-F5344CB8AC3E}">
        <p14:creationId xmlns:p14="http://schemas.microsoft.com/office/powerpoint/2010/main" val="35685498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Efficiency Hall of Fame </a:t>
            </a:r>
          </a:p>
        </p:txBody>
      </p:sp>
      <p:pic>
        <p:nvPicPr>
          <p:cNvPr id="4" name="Content Placeholder 3"/>
          <p:cNvPicPr>
            <a:picLocks noGrp="1" noChangeAspect="1"/>
          </p:cNvPicPr>
          <p:nvPr>
            <p:ph idx="1"/>
          </p:nvPr>
        </p:nvPicPr>
        <p:blipFill>
          <a:blip r:embed="rId2"/>
          <a:stretch>
            <a:fillRect/>
          </a:stretch>
        </p:blipFill>
        <p:spPr>
          <a:xfrm>
            <a:off x="1676400" y="1295400"/>
            <a:ext cx="5609229" cy="5410200"/>
          </a:xfrm>
          <a:prstGeom prst="rect">
            <a:avLst/>
          </a:prstGeom>
        </p:spPr>
      </p:pic>
    </p:spTree>
    <p:extLst>
      <p:ext uri="{BB962C8B-B14F-4D97-AF65-F5344CB8AC3E}">
        <p14:creationId xmlns:p14="http://schemas.microsoft.com/office/powerpoint/2010/main" val="42165030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interface with no shortcuts </a:t>
            </a:r>
          </a:p>
        </p:txBody>
      </p:sp>
      <p:pic>
        <p:nvPicPr>
          <p:cNvPr id="1026" name="Picture 2" descr="http://http-server.carleton.ca/~bgordon/RockArt/GIMP_menu1.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28206" y="1676400"/>
            <a:ext cx="5763194" cy="4623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30695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Which one is easy to point </a:t>
            </a:r>
          </a:p>
        </p:txBody>
      </p:sp>
      <p:pic>
        <p:nvPicPr>
          <p:cNvPr id="4" name="Content Placeholder 3"/>
          <p:cNvPicPr>
            <a:picLocks noGrp="1" noChangeAspect="1"/>
          </p:cNvPicPr>
          <p:nvPr>
            <p:ph idx="1"/>
          </p:nvPr>
        </p:nvPicPr>
        <p:blipFill>
          <a:blip r:embed="rId3"/>
          <a:stretch>
            <a:fillRect/>
          </a:stretch>
        </p:blipFill>
        <p:spPr>
          <a:xfrm>
            <a:off x="1267217" y="1589781"/>
            <a:ext cx="5744321" cy="4582419"/>
          </a:xfrm>
          <a:prstGeom prst="rect">
            <a:avLst/>
          </a:prstGeom>
        </p:spPr>
      </p:pic>
    </p:spTree>
    <p:extLst>
      <p:ext uri="{BB962C8B-B14F-4D97-AF65-F5344CB8AC3E}">
        <p14:creationId xmlns:p14="http://schemas.microsoft.com/office/powerpoint/2010/main" val="30505526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endParaRPr lang="en-US"/>
          </a:p>
        </p:txBody>
      </p:sp>
      <p:sp>
        <p:nvSpPr>
          <p:cNvPr id="3" name="Title 2"/>
          <p:cNvSpPr>
            <a:spLocks noGrp="1"/>
          </p:cNvSpPr>
          <p:nvPr>
            <p:ph type="title"/>
          </p:nvPr>
        </p:nvSpPr>
        <p:spPr/>
        <p:txBody>
          <a:bodyPr/>
          <a:lstStyle/>
          <a:p>
            <a:r>
              <a:rPr lang="en-US" dirty="0"/>
              <a:t>Human information processor</a:t>
            </a:r>
          </a:p>
        </p:txBody>
      </p:sp>
    </p:spTree>
    <p:extLst>
      <p:ext uri="{BB962C8B-B14F-4D97-AF65-F5344CB8AC3E}">
        <p14:creationId xmlns:p14="http://schemas.microsoft.com/office/powerpoint/2010/main" val="1435666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Human Information Processing </a:t>
            </a:r>
          </a:p>
        </p:txBody>
      </p:sp>
      <p:pic>
        <p:nvPicPr>
          <p:cNvPr id="4" name="Content Placeholder 3"/>
          <p:cNvPicPr>
            <a:picLocks noGrp="1" noChangeAspect="1"/>
          </p:cNvPicPr>
          <p:nvPr>
            <p:ph idx="1"/>
          </p:nvPr>
        </p:nvPicPr>
        <p:blipFill>
          <a:blip r:embed="rId3"/>
          <a:stretch>
            <a:fillRect/>
          </a:stretch>
        </p:blipFill>
        <p:spPr>
          <a:xfrm>
            <a:off x="1861930" y="1494218"/>
            <a:ext cx="7282070" cy="5344732"/>
          </a:xfrm>
          <a:prstGeom prst="rect">
            <a:avLst/>
          </a:prstGeom>
        </p:spPr>
      </p:pic>
      <p:sp>
        <p:nvSpPr>
          <p:cNvPr id="3" name="TextBox 2"/>
          <p:cNvSpPr txBox="1"/>
          <p:nvPr/>
        </p:nvSpPr>
        <p:spPr>
          <a:xfrm>
            <a:off x="38100" y="1494218"/>
            <a:ext cx="4419600" cy="461665"/>
          </a:xfrm>
          <a:prstGeom prst="rect">
            <a:avLst/>
          </a:prstGeom>
          <a:noFill/>
        </p:spPr>
        <p:txBody>
          <a:bodyPr wrap="square" rtlCol="0">
            <a:spAutoFit/>
          </a:bodyPr>
          <a:lstStyle/>
          <a:p>
            <a:r>
              <a:rPr lang="en-US" sz="2400" dirty="0"/>
              <a:t>Model Human Processor (MHP)</a:t>
            </a:r>
          </a:p>
        </p:txBody>
      </p:sp>
    </p:spTree>
    <p:extLst>
      <p:ext uri="{BB962C8B-B14F-4D97-AF65-F5344CB8AC3E}">
        <p14:creationId xmlns:p14="http://schemas.microsoft.com/office/powerpoint/2010/main" val="15739945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Processors</a:t>
            </a:r>
          </a:p>
        </p:txBody>
      </p:sp>
      <p:sp>
        <p:nvSpPr>
          <p:cNvPr id="3" name="Content Placeholder 2"/>
          <p:cNvSpPr>
            <a:spLocks noGrp="1"/>
          </p:cNvSpPr>
          <p:nvPr>
            <p:ph idx="1"/>
          </p:nvPr>
        </p:nvSpPr>
        <p:spPr>
          <a:xfrm>
            <a:off x="612648" y="4267200"/>
            <a:ext cx="8153400" cy="2438400"/>
          </a:xfrm>
        </p:spPr>
        <p:txBody>
          <a:bodyPr>
            <a:normAutofit fontScale="92500" lnSpcReduction="20000"/>
          </a:bodyPr>
          <a:lstStyle/>
          <a:p>
            <a:r>
              <a:rPr lang="en-US" dirty="0"/>
              <a:t>Processing speed varies by person and conditions</a:t>
            </a:r>
          </a:p>
          <a:p>
            <a:r>
              <a:rPr lang="en-US" dirty="0"/>
              <a:t>Perceptual processor </a:t>
            </a:r>
          </a:p>
          <a:p>
            <a:pPr lvl="1"/>
            <a:r>
              <a:rPr lang="en-US" dirty="0"/>
              <a:t>Faster for strong stimuli, slower for week: Reading in the dark </a:t>
            </a:r>
          </a:p>
          <a:p>
            <a:r>
              <a:rPr lang="en-US" dirty="0"/>
              <a:t>Cognitive processor </a:t>
            </a:r>
          </a:p>
          <a:p>
            <a:pPr lvl="1"/>
            <a:r>
              <a:rPr lang="en-US" dirty="0"/>
              <a:t>Faster when loaded heavily: Exams, Games </a:t>
            </a:r>
          </a:p>
          <a:p>
            <a:pPr lvl="1"/>
            <a:endParaRPr lang="en-US" dirty="0"/>
          </a:p>
        </p:txBody>
      </p:sp>
      <p:pic>
        <p:nvPicPr>
          <p:cNvPr id="4" name="Picture 3"/>
          <p:cNvPicPr>
            <a:picLocks noChangeAspect="1"/>
          </p:cNvPicPr>
          <p:nvPr/>
        </p:nvPicPr>
        <p:blipFill>
          <a:blip r:embed="rId2"/>
          <a:stretch>
            <a:fillRect/>
          </a:stretch>
        </p:blipFill>
        <p:spPr>
          <a:xfrm>
            <a:off x="762000" y="2514600"/>
            <a:ext cx="3451977" cy="1600200"/>
          </a:xfrm>
          <a:prstGeom prst="rect">
            <a:avLst/>
          </a:prstGeom>
        </p:spPr>
      </p:pic>
      <p:sp>
        <p:nvSpPr>
          <p:cNvPr id="5" name="Content Placeholder 2"/>
          <p:cNvSpPr txBox="1">
            <a:spLocks/>
          </p:cNvSpPr>
          <p:nvPr/>
        </p:nvSpPr>
        <p:spPr>
          <a:xfrm>
            <a:off x="612648" y="1569720"/>
            <a:ext cx="8153400" cy="1173480"/>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r>
              <a:rPr lang="en-US" dirty="0"/>
              <a:t>Cycle time is the time needed to accept one input and produce one output</a:t>
            </a:r>
          </a:p>
          <a:p>
            <a:pPr marL="0" indent="0">
              <a:buNone/>
            </a:pPr>
            <a:endParaRPr lang="en-US" dirty="0"/>
          </a:p>
          <a:p>
            <a:pPr lvl="1"/>
            <a:endParaRPr lang="en-US" dirty="0"/>
          </a:p>
        </p:txBody>
      </p:sp>
    </p:spTree>
    <p:extLst>
      <p:ext uri="{BB962C8B-B14F-4D97-AF65-F5344CB8AC3E}">
        <p14:creationId xmlns:p14="http://schemas.microsoft.com/office/powerpoint/2010/main" val="2891159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Perceptual Processing </a:t>
            </a:r>
          </a:p>
        </p:txBody>
      </p:sp>
      <p:sp>
        <p:nvSpPr>
          <p:cNvPr id="3" name="Content Placeholder 2"/>
          <p:cNvSpPr>
            <a:spLocks noGrp="1"/>
          </p:cNvSpPr>
          <p:nvPr>
            <p:ph idx="1"/>
          </p:nvPr>
        </p:nvSpPr>
        <p:spPr/>
        <p:txBody>
          <a:bodyPr>
            <a:normAutofit/>
          </a:bodyPr>
          <a:lstStyle/>
          <a:p>
            <a:r>
              <a:rPr lang="en-US" dirty="0"/>
              <a:t>Cycle Time: </a:t>
            </a:r>
            <a:r>
              <a:rPr lang="en-US" dirty="0" err="1"/>
              <a:t>T</a:t>
            </a:r>
            <a:r>
              <a:rPr lang="en-US" baseline="-25000" dirty="0" err="1"/>
              <a:t>p</a:t>
            </a:r>
            <a:r>
              <a:rPr lang="en-US" dirty="0"/>
              <a:t> ≈ 100 </a:t>
            </a:r>
            <a:r>
              <a:rPr lang="en-US" dirty="0" err="1"/>
              <a:t>ms</a:t>
            </a:r>
            <a:r>
              <a:rPr lang="en-US" dirty="0"/>
              <a:t> </a:t>
            </a:r>
          </a:p>
          <a:p>
            <a:r>
              <a:rPr lang="en-US" dirty="0"/>
              <a:t>Organizes stimuli </a:t>
            </a:r>
          </a:p>
          <a:p>
            <a:r>
              <a:rPr lang="en-US" dirty="0"/>
              <a:t>Creates a scene </a:t>
            </a:r>
          </a:p>
          <a:p>
            <a:endParaRPr lang="en-US" dirty="0"/>
          </a:p>
          <a:p>
            <a:r>
              <a:rPr lang="en-US" dirty="0"/>
              <a:t>Perceptual Fusion 	</a:t>
            </a:r>
          </a:p>
          <a:p>
            <a:pPr lvl="1"/>
            <a:r>
              <a:rPr lang="en-US" dirty="0"/>
              <a:t>Two stimuli appearing within one PP cycle (</a:t>
            </a:r>
            <a:r>
              <a:rPr lang="en-US" dirty="0" err="1"/>
              <a:t>T</a:t>
            </a:r>
            <a:r>
              <a:rPr lang="en-US" baseline="-25000" dirty="0" err="1"/>
              <a:t>p</a:t>
            </a:r>
            <a:r>
              <a:rPr lang="en-US" dirty="0"/>
              <a:t> ≈ 100 </a:t>
            </a:r>
            <a:r>
              <a:rPr lang="en-US" dirty="0" err="1"/>
              <a:t>ms</a:t>
            </a:r>
            <a:r>
              <a:rPr lang="en-US" dirty="0"/>
              <a:t>): Movies </a:t>
            </a:r>
          </a:p>
          <a:p>
            <a:pPr lvl="1"/>
            <a:r>
              <a:rPr lang="en-US" dirty="0"/>
              <a:t>Causality is strongly influenced (e.g. </a:t>
            </a:r>
            <a:r>
              <a:rPr lang="en-US"/>
              <a:t>glass breaking) </a:t>
            </a:r>
            <a:endParaRPr lang="en-US" dirty="0"/>
          </a:p>
        </p:txBody>
      </p:sp>
    </p:spTree>
    <p:extLst>
      <p:ext uri="{BB962C8B-B14F-4D97-AF65-F5344CB8AC3E}">
        <p14:creationId xmlns:p14="http://schemas.microsoft.com/office/powerpoint/2010/main" val="42115648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Cognitive Processing </a:t>
            </a:r>
          </a:p>
        </p:txBody>
      </p:sp>
      <p:sp>
        <p:nvSpPr>
          <p:cNvPr id="3" name="Content Placeholder 2"/>
          <p:cNvSpPr>
            <a:spLocks noGrp="1"/>
          </p:cNvSpPr>
          <p:nvPr>
            <p:ph idx="1"/>
          </p:nvPr>
        </p:nvSpPr>
        <p:spPr>
          <a:xfrm>
            <a:off x="612648" y="1600200"/>
            <a:ext cx="8153400" cy="5257800"/>
          </a:xfrm>
        </p:spPr>
        <p:txBody>
          <a:bodyPr>
            <a:normAutofit fontScale="77500" lnSpcReduction="20000"/>
          </a:bodyPr>
          <a:lstStyle/>
          <a:p>
            <a:r>
              <a:rPr lang="en-US" dirty="0"/>
              <a:t>Cycle Time: T</a:t>
            </a:r>
            <a:r>
              <a:rPr lang="en-US" baseline="-25000" dirty="0"/>
              <a:t>c</a:t>
            </a:r>
            <a:r>
              <a:rPr lang="en-US" dirty="0"/>
              <a:t> ≈ 70 </a:t>
            </a:r>
            <a:r>
              <a:rPr lang="en-US" dirty="0" err="1"/>
              <a:t>ms</a:t>
            </a:r>
            <a:r>
              <a:rPr lang="en-US" dirty="0"/>
              <a:t> </a:t>
            </a:r>
          </a:p>
          <a:p>
            <a:r>
              <a:rPr lang="en-US" dirty="0"/>
              <a:t>Compares stimuli (comparisons)</a:t>
            </a:r>
          </a:p>
          <a:p>
            <a:r>
              <a:rPr lang="en-US" dirty="0"/>
              <a:t>Selects a response (decisions)</a:t>
            </a:r>
          </a:p>
          <a:p>
            <a:r>
              <a:rPr lang="en-US" dirty="0"/>
              <a:t>Types of decision making </a:t>
            </a:r>
          </a:p>
          <a:p>
            <a:pPr lvl="1"/>
            <a:r>
              <a:rPr lang="en-US" dirty="0"/>
              <a:t>Skill based</a:t>
            </a:r>
          </a:p>
          <a:p>
            <a:pPr lvl="2"/>
            <a:r>
              <a:rPr lang="en-US" dirty="0"/>
              <a:t>Skill is a procedure that has been leaned thoroughly from practice; walking talking, pointing, reading, driving etc.</a:t>
            </a:r>
          </a:p>
          <a:p>
            <a:pPr lvl="2"/>
            <a:r>
              <a:rPr lang="en-US" dirty="0"/>
              <a:t>Automatic responses that Require little or no attention: cutting vegetables </a:t>
            </a:r>
          </a:p>
          <a:p>
            <a:pPr lvl="1"/>
            <a:r>
              <a:rPr lang="en-US" dirty="0"/>
              <a:t>Rule based</a:t>
            </a:r>
          </a:p>
          <a:p>
            <a:pPr lvl="2"/>
            <a:r>
              <a:rPr lang="en-US" dirty="0"/>
              <a:t>Consciously processing a set of rules of the form </a:t>
            </a:r>
            <a:r>
              <a:rPr lang="en-US" i="1" dirty="0"/>
              <a:t>if X, then do Y</a:t>
            </a:r>
          </a:p>
          <a:p>
            <a:pPr lvl="2"/>
            <a:r>
              <a:rPr lang="en-US" dirty="0"/>
              <a:t>Typically made by novices or occasional performers of a task</a:t>
            </a:r>
          </a:p>
          <a:p>
            <a:pPr lvl="2"/>
            <a:r>
              <a:rPr lang="en-US" dirty="0"/>
              <a:t>Learner driving: is there a sign, is there a car in left side etc.</a:t>
            </a:r>
          </a:p>
          <a:p>
            <a:pPr lvl="2"/>
            <a:r>
              <a:rPr lang="en-US" dirty="0"/>
              <a:t>With practice the rules become skills</a:t>
            </a:r>
          </a:p>
          <a:p>
            <a:pPr lvl="1"/>
            <a:r>
              <a:rPr lang="en-US" dirty="0"/>
              <a:t>Knowledge based</a:t>
            </a:r>
          </a:p>
          <a:p>
            <a:pPr lvl="2"/>
            <a:r>
              <a:rPr lang="en-US" dirty="0"/>
              <a:t>To handle unfamiliar or unexpected problems: New software, car not starting etc.  </a:t>
            </a:r>
          </a:p>
          <a:p>
            <a:r>
              <a:rPr lang="en-US" dirty="0"/>
              <a:t>Efficiency is most important for well-learned procedures</a:t>
            </a:r>
          </a:p>
        </p:txBody>
      </p:sp>
    </p:spTree>
    <p:extLst>
      <p:ext uri="{BB962C8B-B14F-4D97-AF65-F5344CB8AC3E}">
        <p14:creationId xmlns:p14="http://schemas.microsoft.com/office/powerpoint/2010/main" val="38717247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Motor Processing </a:t>
            </a:r>
          </a:p>
        </p:txBody>
      </p:sp>
      <p:sp>
        <p:nvSpPr>
          <p:cNvPr id="3" name="Content Placeholder 2"/>
          <p:cNvSpPr>
            <a:spLocks noGrp="1"/>
          </p:cNvSpPr>
          <p:nvPr>
            <p:ph idx="1"/>
          </p:nvPr>
        </p:nvSpPr>
        <p:spPr>
          <a:xfrm>
            <a:off x="612648" y="1600200"/>
            <a:ext cx="8153400" cy="3733800"/>
          </a:xfrm>
        </p:spPr>
        <p:txBody>
          <a:bodyPr>
            <a:normAutofit fontScale="77500" lnSpcReduction="20000"/>
          </a:bodyPr>
          <a:lstStyle/>
          <a:p>
            <a:r>
              <a:rPr lang="en-US" dirty="0"/>
              <a:t>Motor processor can operate in two ways</a:t>
            </a:r>
          </a:p>
          <a:p>
            <a:r>
              <a:rPr lang="en-US" dirty="0"/>
              <a:t>Open Loop Control </a:t>
            </a:r>
          </a:p>
          <a:p>
            <a:pPr lvl="1"/>
            <a:r>
              <a:rPr lang="en-US" dirty="0"/>
              <a:t>Not dependent on feedback, motor processor runs by itself </a:t>
            </a:r>
          </a:p>
          <a:p>
            <a:pPr lvl="1"/>
            <a:r>
              <a:rPr lang="en-US" dirty="0"/>
              <a:t>Cycle time: T</a:t>
            </a:r>
            <a:r>
              <a:rPr lang="en-US" baseline="-25000" dirty="0"/>
              <a:t>m</a:t>
            </a:r>
            <a:r>
              <a:rPr lang="en-US" dirty="0"/>
              <a:t> ≈ 70 </a:t>
            </a:r>
            <a:r>
              <a:rPr lang="en-US" dirty="0" err="1"/>
              <a:t>ms</a:t>
            </a:r>
            <a:r>
              <a:rPr lang="en-US" dirty="0"/>
              <a:t> </a:t>
            </a:r>
          </a:p>
          <a:p>
            <a:r>
              <a:rPr lang="en-US" dirty="0"/>
              <a:t>Closed Loop Control </a:t>
            </a:r>
          </a:p>
          <a:p>
            <a:pPr lvl="1"/>
            <a:r>
              <a:rPr lang="en-US" dirty="0"/>
              <a:t>Depends upon the feedback: perceived and decision made about adjustment </a:t>
            </a:r>
          </a:p>
          <a:p>
            <a:pPr marL="685800" lvl="2">
              <a:spcBef>
                <a:spcPts val="1000"/>
              </a:spcBef>
            </a:pPr>
            <a:r>
              <a:rPr lang="en-US" dirty="0"/>
              <a:t>Cycle time: </a:t>
            </a:r>
            <a:r>
              <a:rPr lang="en-US" dirty="0" err="1"/>
              <a:t>T</a:t>
            </a:r>
            <a:r>
              <a:rPr lang="en-US" baseline="-25000" dirty="0" err="1"/>
              <a:t>p</a:t>
            </a:r>
            <a:r>
              <a:rPr lang="en-US" baseline="-25000" dirty="0"/>
              <a:t> </a:t>
            </a:r>
            <a:r>
              <a:rPr lang="en-US" dirty="0"/>
              <a:t>+ T</a:t>
            </a:r>
            <a:r>
              <a:rPr lang="en-US" baseline="-25000" dirty="0"/>
              <a:t>c</a:t>
            </a:r>
            <a:r>
              <a:rPr lang="en-US" dirty="0"/>
              <a:t> + T</a:t>
            </a:r>
            <a:r>
              <a:rPr lang="en-US" baseline="-25000" dirty="0"/>
              <a:t>m</a:t>
            </a:r>
            <a:r>
              <a:rPr lang="en-US" dirty="0"/>
              <a:t> ≈ 240 </a:t>
            </a:r>
            <a:r>
              <a:rPr lang="en-US" dirty="0" err="1"/>
              <a:t>ms</a:t>
            </a:r>
            <a:r>
              <a:rPr lang="en-US" dirty="0"/>
              <a:t> </a:t>
            </a:r>
          </a:p>
          <a:p>
            <a:r>
              <a:rPr lang="en-US" dirty="0"/>
              <a:t>Draw a </a:t>
            </a:r>
            <a:r>
              <a:rPr lang="en-US" dirty="0" err="1"/>
              <a:t>sawtooth</a:t>
            </a:r>
            <a:r>
              <a:rPr lang="en-US" dirty="0"/>
              <a:t> wave between two parallel lines for 5 seconds</a:t>
            </a:r>
          </a:p>
          <a:p>
            <a:pPr lvl="1"/>
            <a:r>
              <a:rPr lang="en-US" dirty="0"/>
              <a:t>Frequency of wave is dictated by open-loop control (T</a:t>
            </a:r>
            <a:r>
              <a:rPr lang="en-US" baseline="-25000" dirty="0"/>
              <a:t>m</a:t>
            </a:r>
            <a:r>
              <a:rPr lang="en-US" dirty="0"/>
              <a:t> )</a:t>
            </a:r>
          </a:p>
          <a:p>
            <a:pPr lvl="1"/>
            <a:r>
              <a:rPr lang="en-US" dirty="0"/>
              <a:t>Frequency of corrections is closed-loop control (</a:t>
            </a:r>
            <a:r>
              <a:rPr lang="en-US" dirty="0" err="1"/>
              <a:t>T</a:t>
            </a:r>
            <a:r>
              <a:rPr lang="en-US" baseline="-25000" dirty="0" err="1"/>
              <a:t>p</a:t>
            </a:r>
            <a:r>
              <a:rPr lang="en-US" dirty="0"/>
              <a:t> + </a:t>
            </a:r>
            <a:r>
              <a:rPr lang="en-US" dirty="0" err="1"/>
              <a:t>T</a:t>
            </a:r>
            <a:r>
              <a:rPr lang="en-US" baseline="-25000" dirty="0" err="1"/>
              <a:t>c</a:t>
            </a:r>
            <a:r>
              <a:rPr lang="en-US" dirty="0"/>
              <a:t> )</a:t>
            </a:r>
          </a:p>
        </p:txBody>
      </p:sp>
      <p:pic>
        <p:nvPicPr>
          <p:cNvPr id="4" name="Picture 3"/>
          <p:cNvPicPr>
            <a:picLocks noChangeAspect="1"/>
          </p:cNvPicPr>
          <p:nvPr/>
        </p:nvPicPr>
        <p:blipFill rotWithShape="1">
          <a:blip r:embed="rId3"/>
          <a:srcRect t="9150"/>
          <a:stretch/>
        </p:blipFill>
        <p:spPr>
          <a:xfrm>
            <a:off x="990600" y="5486400"/>
            <a:ext cx="6934200" cy="1323975"/>
          </a:xfrm>
          <a:prstGeom prst="rect">
            <a:avLst/>
          </a:prstGeom>
        </p:spPr>
      </p:pic>
    </p:spTree>
    <p:extLst>
      <p:ext uri="{BB962C8B-B14F-4D97-AF65-F5344CB8AC3E}">
        <p14:creationId xmlns:p14="http://schemas.microsoft.com/office/powerpoint/2010/main" val="13167738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endParaRPr lang="en-US" dirty="0"/>
          </a:p>
        </p:txBody>
      </p:sp>
      <p:sp>
        <p:nvSpPr>
          <p:cNvPr id="3" name="Title 2"/>
          <p:cNvSpPr>
            <a:spLocks noGrp="1"/>
          </p:cNvSpPr>
          <p:nvPr>
            <p:ph type="title"/>
          </p:nvPr>
        </p:nvSpPr>
        <p:spPr/>
        <p:txBody>
          <a:bodyPr/>
          <a:lstStyle/>
          <a:p>
            <a:r>
              <a:rPr lang="en-US" dirty="0"/>
              <a:t>Shortcuts</a:t>
            </a:r>
          </a:p>
        </p:txBody>
      </p:sp>
    </p:spTree>
    <p:extLst>
      <p:ext uri="{BB962C8B-B14F-4D97-AF65-F5344CB8AC3E}">
        <p14:creationId xmlns:p14="http://schemas.microsoft.com/office/powerpoint/2010/main" val="30961123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Keyboard Shortcuts </a:t>
            </a:r>
          </a:p>
        </p:txBody>
      </p:sp>
      <p:pic>
        <p:nvPicPr>
          <p:cNvPr id="3074" name="Picture 2"/>
          <p:cNvPicPr>
            <a:picLocks noGrp="1" noChangeAspect="1" noChangeArrowheads="1"/>
          </p:cNvPicPr>
          <p:nvPr>
            <p:ph sz="quarter" idx="1"/>
          </p:nvPr>
        </p:nvPicPr>
        <p:blipFill>
          <a:blip r:embed="rId3">
            <a:extLst>
              <a:ext uri="{28A0092B-C50C-407E-A947-70E740481C1C}">
                <a14:useLocalDpi xmlns:a14="http://schemas.microsoft.com/office/drawing/2010/main" val="0"/>
              </a:ext>
            </a:extLst>
          </a:blip>
          <a:srcRect/>
          <a:stretch>
            <a:fillRect/>
          </a:stretch>
        </p:blipFill>
        <p:spPr bwMode="auto">
          <a:xfrm>
            <a:off x="838200" y="1600200"/>
            <a:ext cx="7639479"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679259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Defaults and Pending deletes</a:t>
            </a:r>
          </a:p>
        </p:txBody>
      </p:sp>
      <p:sp>
        <p:nvSpPr>
          <p:cNvPr id="3" name="Content Placeholder 2"/>
          <p:cNvSpPr>
            <a:spLocks noGrp="1"/>
          </p:cNvSpPr>
          <p:nvPr>
            <p:ph sz="quarter" idx="1"/>
          </p:nvPr>
        </p:nvSpPr>
        <p:spPr/>
        <p:txBody>
          <a:bodyPr/>
          <a:lstStyle/>
          <a:p>
            <a:endParaRPr lang="en-US"/>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600200"/>
            <a:ext cx="8648700" cy="499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872194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History</a:t>
            </a:r>
          </a:p>
        </p:txBody>
      </p:sp>
      <p:sp>
        <p:nvSpPr>
          <p:cNvPr id="3" name="Content Placeholder 2"/>
          <p:cNvSpPr>
            <a:spLocks noGrp="1"/>
          </p:cNvSpPr>
          <p:nvPr>
            <p:ph sz="quarter" idx="1"/>
          </p:nvPr>
        </p:nvSpPr>
        <p:spPr/>
        <p:txBody>
          <a:bodyPr/>
          <a:lstStyle/>
          <a:p>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600200"/>
            <a:ext cx="8795349"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390678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Autocomplete</a:t>
            </a:r>
          </a:p>
        </p:txBody>
      </p:sp>
      <p:pic>
        <p:nvPicPr>
          <p:cNvPr id="6146"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931267" y="1600200"/>
            <a:ext cx="7516415"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421603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Aggregation</a:t>
            </a:r>
          </a:p>
        </p:txBody>
      </p:sp>
      <p:sp>
        <p:nvSpPr>
          <p:cNvPr id="3" name="Content Placeholder 2"/>
          <p:cNvSpPr>
            <a:spLocks noGrp="1"/>
          </p:cNvSpPr>
          <p:nvPr>
            <p:ph sz="quarter" idx="1"/>
          </p:nvPr>
        </p:nvSpPr>
        <p:spPr/>
        <p:txBody>
          <a:bodyPr/>
          <a:lstStyle/>
          <a:p>
            <a:endParaRPr lang="en-US"/>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1769" y="1524000"/>
            <a:ext cx="75057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070620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Aggregating questions</a:t>
            </a:r>
          </a:p>
        </p:txBody>
      </p:sp>
      <p:sp>
        <p:nvSpPr>
          <p:cNvPr id="3" name="Content Placeholder 2"/>
          <p:cNvSpPr>
            <a:spLocks noGrp="1"/>
          </p:cNvSpPr>
          <p:nvPr>
            <p:ph sz="quarter" idx="1"/>
          </p:nvPr>
        </p:nvSpPr>
        <p:spPr/>
        <p:txBody>
          <a:bodyPr/>
          <a:lstStyle/>
          <a:p>
            <a:endParaRPr lang="en-US"/>
          </a:p>
        </p:txBody>
      </p:sp>
      <p:pic>
        <p:nvPicPr>
          <p:cNvPr id="4" name="Picture 3"/>
          <p:cNvPicPr>
            <a:picLocks noChangeAspect="1"/>
          </p:cNvPicPr>
          <p:nvPr/>
        </p:nvPicPr>
        <p:blipFill>
          <a:blip r:embed="rId2"/>
          <a:stretch>
            <a:fillRect/>
          </a:stretch>
        </p:blipFill>
        <p:spPr>
          <a:xfrm>
            <a:off x="19662" y="1439241"/>
            <a:ext cx="9124337" cy="3970959"/>
          </a:xfrm>
          <a:prstGeom prst="rect">
            <a:avLst/>
          </a:prstGeom>
        </p:spPr>
      </p:pic>
    </p:spTree>
    <p:extLst>
      <p:ext uri="{BB962C8B-B14F-4D97-AF65-F5344CB8AC3E}">
        <p14:creationId xmlns:p14="http://schemas.microsoft.com/office/powerpoint/2010/main" val="41735600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5314"/>
            <a:ext cx="8153400" cy="990600"/>
          </a:xfrm>
        </p:spPr>
        <p:txBody>
          <a:bodyPr/>
          <a:lstStyle/>
          <a:p>
            <a:r>
              <a:rPr lang="en-US" dirty="0"/>
              <a:t>Anticipation</a:t>
            </a:r>
          </a:p>
        </p:txBody>
      </p:sp>
      <p:sp>
        <p:nvSpPr>
          <p:cNvPr id="3" name="Content Placeholder 2"/>
          <p:cNvSpPr>
            <a:spLocks noGrp="1"/>
          </p:cNvSpPr>
          <p:nvPr>
            <p:ph sz="quarter" idx="1"/>
          </p:nvPr>
        </p:nvSpPr>
        <p:spPr>
          <a:xfrm>
            <a:off x="0" y="6030685"/>
            <a:ext cx="8969829" cy="827315"/>
          </a:xfrm>
        </p:spPr>
        <p:txBody>
          <a:bodyPr>
            <a:normAutofit fontScale="92500" lnSpcReduction="20000"/>
          </a:bodyPr>
          <a:lstStyle/>
          <a:p>
            <a:r>
              <a:rPr lang="en-US" b="1" dirty="0"/>
              <a:t>Anticipation </a:t>
            </a:r>
            <a:r>
              <a:rPr lang="en-US" dirty="0"/>
              <a:t>means that a good design should put all needed information and tools within the user’s easy reach. </a:t>
            </a:r>
          </a:p>
        </p:txBody>
      </p:sp>
      <p:pic>
        <p:nvPicPr>
          <p:cNvPr id="819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7273" t="5840" r="6363" b="5110"/>
          <a:stretch/>
        </p:blipFill>
        <p:spPr bwMode="auto">
          <a:xfrm>
            <a:off x="685800" y="1417654"/>
            <a:ext cx="7239000"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482413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endParaRPr lang="en-US"/>
          </a:p>
        </p:txBody>
      </p:sp>
      <p:sp>
        <p:nvSpPr>
          <p:cNvPr id="3" name="Title 2"/>
          <p:cNvSpPr>
            <a:spLocks noGrp="1"/>
          </p:cNvSpPr>
          <p:nvPr>
            <p:ph type="title"/>
          </p:nvPr>
        </p:nvSpPr>
        <p:spPr/>
        <p:txBody>
          <a:bodyPr/>
          <a:lstStyle/>
          <a:p>
            <a:r>
              <a:rPr lang="en-US" dirty="0"/>
              <a:t>Pointing and steering</a:t>
            </a:r>
          </a:p>
        </p:txBody>
      </p:sp>
    </p:spTree>
    <p:extLst>
      <p:ext uri="{BB962C8B-B14F-4D97-AF65-F5344CB8AC3E}">
        <p14:creationId xmlns:p14="http://schemas.microsoft.com/office/powerpoint/2010/main" val="18712230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Fitts’s Law</a:t>
            </a:r>
          </a:p>
        </p:txBody>
      </p:sp>
      <p:sp>
        <p:nvSpPr>
          <p:cNvPr id="3" name="Content Placeholder 2"/>
          <p:cNvSpPr>
            <a:spLocks noGrp="1"/>
          </p:cNvSpPr>
          <p:nvPr>
            <p:ph sz="quarter" idx="1"/>
          </p:nvPr>
        </p:nvSpPr>
        <p:spPr/>
        <p:txBody>
          <a:bodyPr>
            <a:normAutofit fontScale="92500" lnSpcReduction="20000"/>
          </a:bodyPr>
          <a:lstStyle/>
          <a:p>
            <a:r>
              <a:rPr lang="en-US" dirty="0"/>
              <a:t>One of the principles underlying the ergonomics of graphical user interface design </a:t>
            </a:r>
          </a:p>
          <a:p>
            <a:endParaRPr lang="en-US" dirty="0"/>
          </a:p>
          <a:p>
            <a:r>
              <a:rPr lang="en-US" dirty="0"/>
              <a:t>Named for Paul </a:t>
            </a:r>
            <a:r>
              <a:rPr lang="en-US" dirty="0" err="1"/>
              <a:t>Fitts</a:t>
            </a:r>
            <a:r>
              <a:rPr lang="en-US" dirty="0"/>
              <a:t>, a psychologist at Ohio State University</a:t>
            </a:r>
          </a:p>
          <a:p>
            <a:endParaRPr lang="en-US" dirty="0"/>
          </a:p>
          <a:p>
            <a:r>
              <a:rPr lang="en-US" dirty="0" err="1"/>
              <a:t>Fitts</a:t>
            </a:r>
            <a:r>
              <a:rPr lang="en-US" dirty="0"/>
              <a:t>' model was originally formulated to project how quickly a human could point at a physical button, it turns out that the same set of rules governs how quickly someone can target an area on the screen with a mouse cursor.</a:t>
            </a:r>
          </a:p>
        </p:txBody>
      </p:sp>
    </p:spTree>
    <p:extLst>
      <p:ext uri="{BB962C8B-B14F-4D97-AF65-F5344CB8AC3E}">
        <p14:creationId xmlns:p14="http://schemas.microsoft.com/office/powerpoint/2010/main" val="36523603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Fitts’s Law</a:t>
            </a:r>
          </a:p>
        </p:txBody>
      </p:sp>
      <p:sp>
        <p:nvSpPr>
          <p:cNvPr id="3" name="Content Placeholder 2"/>
          <p:cNvSpPr>
            <a:spLocks noGrp="1"/>
          </p:cNvSpPr>
          <p:nvPr>
            <p:ph sz="quarter" idx="1"/>
          </p:nvPr>
        </p:nvSpPr>
        <p:spPr/>
        <p:txBody>
          <a:bodyPr>
            <a:normAutofit lnSpcReduction="10000"/>
          </a:bodyPr>
          <a:lstStyle/>
          <a:p>
            <a:r>
              <a:rPr lang="en-US" dirty="0"/>
              <a:t>It is a mathematical model of fine motor control which predicts how long it takes to move from one position to another as a function of the distance to and size of the target area.</a:t>
            </a:r>
          </a:p>
          <a:p>
            <a:r>
              <a:rPr lang="en-US" dirty="0"/>
              <a:t>The farthest away a target is, the longer it takes to acquire it with the mouse</a:t>
            </a:r>
          </a:p>
          <a:p>
            <a:r>
              <a:rPr lang="en-US" dirty="0"/>
              <a:t>The smaller a target is, the longer it takes to acquire it with the mouse</a:t>
            </a:r>
          </a:p>
          <a:p>
            <a:r>
              <a:rPr lang="en-US" dirty="0"/>
              <a:t>The inverse of both statements is true as well (closer and bigger targets can be more quickly acquired)</a:t>
            </a:r>
          </a:p>
        </p:txBody>
      </p:sp>
    </p:spTree>
    <p:extLst>
      <p:ext uri="{BB962C8B-B14F-4D97-AF65-F5344CB8AC3E}">
        <p14:creationId xmlns:p14="http://schemas.microsoft.com/office/powerpoint/2010/main" val="36830111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sz="quarter" idx="1"/>
          </p:nvPr>
        </p:nvSpPr>
        <p:spPr/>
        <p:txBody>
          <a:bodyPr/>
          <a:lstStyle/>
          <a:p>
            <a:r>
              <a:rPr lang="en-US" dirty="0"/>
              <a:t>If you want to hit board with marker is it difficult or easy. Assume you are standing beside the last bench of the class. </a:t>
            </a:r>
          </a:p>
          <a:p>
            <a:r>
              <a:rPr lang="en-US" dirty="0"/>
              <a:t> If you want to hit a Duster with marker is it difficult or easy. Assume you are standing beside the last bench of the class. </a:t>
            </a:r>
          </a:p>
          <a:p>
            <a:r>
              <a:rPr lang="en-US" dirty="0"/>
              <a:t>  If you want to hit a Duster with marker is it difficult or easy. Assume you are standing near the duster. </a:t>
            </a:r>
          </a:p>
          <a:p>
            <a:endParaRPr lang="en-US" dirty="0"/>
          </a:p>
          <a:p>
            <a:pPr marL="0" indent="0">
              <a:buNone/>
            </a:pPr>
            <a:endParaRPr lang="en-US" dirty="0"/>
          </a:p>
        </p:txBody>
      </p:sp>
    </p:spTree>
    <p:extLst>
      <p:ext uri="{BB962C8B-B14F-4D97-AF65-F5344CB8AC3E}">
        <p14:creationId xmlns:p14="http://schemas.microsoft.com/office/powerpoint/2010/main" val="2976137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2657"/>
            <a:ext cx="8153400" cy="990600"/>
          </a:xfrm>
        </p:spPr>
        <p:txBody>
          <a:bodyPr/>
          <a:lstStyle/>
          <a:p>
            <a:r>
              <a:rPr lang="en-US" dirty="0"/>
              <a:t>Fitts’s Law Formula</a:t>
            </a:r>
          </a:p>
        </p:txBody>
      </p:sp>
      <p:sp>
        <p:nvSpPr>
          <p:cNvPr id="3" name="Content Placeholder 2"/>
          <p:cNvSpPr>
            <a:spLocks noGrp="1"/>
          </p:cNvSpPr>
          <p:nvPr>
            <p:ph sz="quarter" idx="1"/>
          </p:nvPr>
        </p:nvSpPr>
        <p:spPr>
          <a:xfrm>
            <a:off x="38100" y="2258783"/>
            <a:ext cx="8153400" cy="4572000"/>
          </a:xfrm>
        </p:spPr>
        <p:txBody>
          <a:bodyPr>
            <a:normAutofit lnSpcReduction="10000"/>
          </a:bodyPr>
          <a:lstStyle/>
          <a:p>
            <a:r>
              <a:rPr lang="en-US" dirty="0"/>
              <a:t>Time MT to move your hand to target of size W at distance A away is: </a:t>
            </a:r>
          </a:p>
          <a:p>
            <a:endParaRPr lang="en-US" dirty="0"/>
          </a:p>
          <a:p>
            <a:pPr lvl="1"/>
            <a:r>
              <a:rPr lang="en-US" sz="2400" i="1" dirty="0"/>
              <a:t>MT</a:t>
            </a:r>
            <a:r>
              <a:rPr lang="en-US" sz="2400" dirty="0"/>
              <a:t> is the movement time to hit the target</a:t>
            </a:r>
          </a:p>
          <a:p>
            <a:pPr lvl="1"/>
            <a:r>
              <a:rPr lang="en-US" sz="2400" i="1" dirty="0"/>
              <a:t>a</a:t>
            </a:r>
            <a:r>
              <a:rPr lang="en-US" sz="2400" dirty="0"/>
              <a:t> and </a:t>
            </a:r>
            <a:r>
              <a:rPr lang="en-US" sz="2400" i="1" dirty="0"/>
              <a:t>b</a:t>
            </a:r>
            <a:r>
              <a:rPr lang="en-US" sz="2400" dirty="0"/>
              <a:t> are experimentally determined constants, that are device dependent.</a:t>
            </a:r>
          </a:p>
          <a:p>
            <a:pPr lvl="2"/>
            <a:r>
              <a:rPr lang="en-US" sz="2100" dirty="0"/>
              <a:t>a is the reaction time for getting your hand moving</a:t>
            </a:r>
          </a:p>
          <a:p>
            <a:pPr lvl="1"/>
            <a:r>
              <a:rPr lang="en-US" sz="2400" dirty="0"/>
              <a:t>c is a constant of 0, 0.5 or 1 </a:t>
            </a:r>
          </a:p>
          <a:p>
            <a:pPr lvl="1"/>
            <a:r>
              <a:rPr lang="en-US" sz="2400" i="1" dirty="0"/>
              <a:t>A</a:t>
            </a:r>
            <a:r>
              <a:rPr lang="en-US" sz="2400" dirty="0"/>
              <a:t> is the distance of the center of the target from the starting location </a:t>
            </a:r>
          </a:p>
          <a:p>
            <a:pPr lvl="1"/>
            <a:r>
              <a:rPr lang="en-US" sz="2400" i="1" dirty="0"/>
              <a:t>W</a:t>
            </a:r>
            <a:r>
              <a:rPr lang="en-US" sz="2400" dirty="0"/>
              <a:t> is the width of the target</a:t>
            </a:r>
          </a:p>
        </p:txBody>
      </p:sp>
      <p:sp>
        <p:nvSpPr>
          <p:cNvPr id="4" name="Rectangle 3"/>
          <p:cNvSpPr/>
          <p:nvPr/>
        </p:nvSpPr>
        <p:spPr>
          <a:xfrm>
            <a:off x="2708614" y="2976537"/>
            <a:ext cx="4800600" cy="523220"/>
          </a:xfrm>
          <a:prstGeom prst="rect">
            <a:avLst/>
          </a:prstGeom>
        </p:spPr>
        <p:txBody>
          <a:bodyPr wrap="square">
            <a:spAutoFit/>
          </a:bodyPr>
          <a:lstStyle/>
          <a:p>
            <a:r>
              <a:rPr lang="pl-PL" sz="2800" b="1" i="1" dirty="0"/>
              <a:t>MT</a:t>
            </a:r>
            <a:r>
              <a:rPr lang="pl-PL" sz="2800" b="1" dirty="0"/>
              <a:t> = </a:t>
            </a:r>
            <a:r>
              <a:rPr lang="pl-PL" sz="2800" b="1" i="1" dirty="0"/>
              <a:t>a</a:t>
            </a:r>
            <a:r>
              <a:rPr lang="pl-PL" sz="2800" b="1" dirty="0"/>
              <a:t> + </a:t>
            </a:r>
            <a:r>
              <a:rPr lang="pl-PL" sz="2800" b="1" i="1" dirty="0"/>
              <a:t>b</a:t>
            </a:r>
            <a:r>
              <a:rPr lang="pl-PL" sz="2800" b="1" dirty="0"/>
              <a:t> log</a:t>
            </a:r>
            <a:r>
              <a:rPr lang="pl-PL" sz="2800" b="1" baseline="-25000" dirty="0"/>
              <a:t>2</a:t>
            </a:r>
            <a:r>
              <a:rPr lang="pl-PL" sz="2800" b="1" dirty="0"/>
              <a:t>(2</a:t>
            </a:r>
            <a:r>
              <a:rPr lang="pl-PL" sz="2800" b="1" i="1" dirty="0"/>
              <a:t>A</a:t>
            </a:r>
            <a:r>
              <a:rPr lang="pl-PL" sz="2800" b="1" dirty="0"/>
              <a:t>/</a:t>
            </a:r>
            <a:r>
              <a:rPr lang="pl-PL" sz="2800" b="1" i="1" dirty="0"/>
              <a:t>W + c</a:t>
            </a:r>
            <a:r>
              <a:rPr lang="pl-PL" sz="2800" b="1" dirty="0"/>
              <a:t>)</a:t>
            </a:r>
            <a:endParaRPr lang="en-US" sz="2800" b="1" dirty="0"/>
          </a:p>
        </p:txBody>
      </p:sp>
      <p:pic>
        <p:nvPicPr>
          <p:cNvPr id="5" name="Picture 4"/>
          <p:cNvPicPr>
            <a:picLocks noChangeAspect="1"/>
          </p:cNvPicPr>
          <p:nvPr/>
        </p:nvPicPr>
        <p:blipFill>
          <a:blip r:embed="rId2"/>
          <a:stretch>
            <a:fillRect/>
          </a:stretch>
        </p:blipFill>
        <p:spPr>
          <a:xfrm>
            <a:off x="5874427" y="-1"/>
            <a:ext cx="3269574" cy="2280557"/>
          </a:xfrm>
          <a:prstGeom prst="rect">
            <a:avLst/>
          </a:prstGeom>
        </p:spPr>
      </p:pic>
      <p:pic>
        <p:nvPicPr>
          <p:cNvPr id="7" name="Picture 6">
            <a:extLst>
              <a:ext uri="{FF2B5EF4-FFF2-40B4-BE49-F238E27FC236}">
                <a16:creationId xmlns:a16="http://schemas.microsoft.com/office/drawing/2014/main" id="{31DF2551-30BD-4386-ABE7-5ACAC214E0FC}"/>
              </a:ext>
            </a:extLst>
          </p:cNvPr>
          <p:cNvPicPr>
            <a:picLocks noChangeAspect="1"/>
          </p:cNvPicPr>
          <p:nvPr/>
        </p:nvPicPr>
        <p:blipFill>
          <a:blip r:embed="rId3"/>
          <a:stretch>
            <a:fillRect/>
          </a:stretch>
        </p:blipFill>
        <p:spPr>
          <a:xfrm>
            <a:off x="635364" y="955924"/>
            <a:ext cx="4708059" cy="1302859"/>
          </a:xfrm>
          <a:prstGeom prst="rect">
            <a:avLst/>
          </a:prstGeom>
        </p:spPr>
      </p:pic>
    </p:spTree>
    <p:extLst>
      <p:ext uri="{BB962C8B-B14F-4D97-AF65-F5344CB8AC3E}">
        <p14:creationId xmlns:p14="http://schemas.microsoft.com/office/powerpoint/2010/main" val="1470800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BD66F-21A8-4105-91BE-DB92830627CF}"/>
              </a:ext>
            </a:extLst>
          </p:cNvPr>
          <p:cNvSpPr>
            <a:spLocks noGrp="1"/>
          </p:cNvSpPr>
          <p:nvPr>
            <p:ph type="title"/>
          </p:nvPr>
        </p:nvSpPr>
        <p:spPr/>
        <p:txBody>
          <a:bodyPr/>
          <a:lstStyle/>
          <a:p>
            <a:r>
              <a:rPr lang="en-US" dirty="0"/>
              <a:t>Our interest in fits law is </a:t>
            </a:r>
          </a:p>
        </p:txBody>
      </p:sp>
      <p:sp>
        <p:nvSpPr>
          <p:cNvPr id="3" name="Content Placeholder 2">
            <a:extLst>
              <a:ext uri="{FF2B5EF4-FFF2-40B4-BE49-F238E27FC236}">
                <a16:creationId xmlns:a16="http://schemas.microsoft.com/office/drawing/2014/main" id="{9ACFDA9A-8A0C-40E8-8CB5-2FFCE45DB7F3}"/>
              </a:ext>
            </a:extLst>
          </p:cNvPr>
          <p:cNvSpPr>
            <a:spLocks noGrp="1"/>
          </p:cNvSpPr>
          <p:nvPr>
            <p:ph sz="quarter" idx="1"/>
          </p:nvPr>
        </p:nvSpPr>
        <p:spPr/>
        <p:txBody>
          <a:bodyPr/>
          <a:lstStyle/>
          <a:p>
            <a:r>
              <a:rPr lang="en-US" dirty="0"/>
              <a:t>Difficulty index</a:t>
            </a:r>
          </a:p>
          <a:p>
            <a:r>
              <a:rPr lang="en-US" dirty="0"/>
              <a:t> Index of difficulty (ID) = </a:t>
            </a:r>
            <a:r>
              <a:rPr lang="pl-PL" sz="3200" b="1" dirty="0"/>
              <a:t>log</a:t>
            </a:r>
            <a:r>
              <a:rPr lang="pl-PL" sz="3200" b="1" baseline="-25000" dirty="0"/>
              <a:t>2</a:t>
            </a:r>
            <a:r>
              <a:rPr lang="pl-PL" sz="3200" b="1" dirty="0"/>
              <a:t>(</a:t>
            </a:r>
            <a:r>
              <a:rPr lang="pl-PL" sz="3200" b="1" i="1" dirty="0"/>
              <a:t>A</a:t>
            </a:r>
            <a:r>
              <a:rPr lang="pl-PL" sz="3200" b="1" dirty="0"/>
              <a:t>/</a:t>
            </a:r>
            <a:r>
              <a:rPr lang="pl-PL" sz="3200" b="1" i="1" dirty="0"/>
              <a:t>W + c</a:t>
            </a:r>
            <a:r>
              <a:rPr lang="pl-PL" sz="3200" b="1" dirty="0"/>
              <a:t>)</a:t>
            </a:r>
            <a:endParaRPr lang="en-US" sz="3200" b="1" dirty="0"/>
          </a:p>
          <a:p>
            <a:endParaRPr lang="en-US" dirty="0"/>
          </a:p>
        </p:txBody>
      </p:sp>
      <p:pic>
        <p:nvPicPr>
          <p:cNvPr id="4" name="Picture 3">
            <a:extLst>
              <a:ext uri="{FF2B5EF4-FFF2-40B4-BE49-F238E27FC236}">
                <a16:creationId xmlns:a16="http://schemas.microsoft.com/office/drawing/2014/main" id="{6E53698F-9479-4DF1-AC7C-DC28ECE6F781}"/>
              </a:ext>
            </a:extLst>
          </p:cNvPr>
          <p:cNvPicPr>
            <a:picLocks noChangeAspect="1"/>
          </p:cNvPicPr>
          <p:nvPr/>
        </p:nvPicPr>
        <p:blipFill>
          <a:blip r:embed="rId2"/>
          <a:stretch>
            <a:fillRect/>
          </a:stretch>
        </p:blipFill>
        <p:spPr>
          <a:xfrm>
            <a:off x="2362200" y="3124200"/>
            <a:ext cx="3269574" cy="2280557"/>
          </a:xfrm>
          <a:prstGeom prst="rect">
            <a:avLst/>
          </a:prstGeom>
        </p:spPr>
      </p:pic>
    </p:spTree>
    <p:extLst>
      <p:ext uri="{BB962C8B-B14F-4D97-AF65-F5344CB8AC3E}">
        <p14:creationId xmlns:p14="http://schemas.microsoft.com/office/powerpoint/2010/main" val="38886427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Implications of Fitts’s Law</a:t>
            </a:r>
          </a:p>
        </p:txBody>
      </p:sp>
      <p:sp>
        <p:nvSpPr>
          <p:cNvPr id="3" name="Content Placeholder 2"/>
          <p:cNvSpPr>
            <a:spLocks noGrp="1"/>
          </p:cNvSpPr>
          <p:nvPr>
            <p:ph sz="quarter" idx="1"/>
          </p:nvPr>
        </p:nvSpPr>
        <p:spPr/>
        <p:txBody>
          <a:bodyPr>
            <a:normAutofit/>
          </a:bodyPr>
          <a:lstStyle/>
          <a:p>
            <a:r>
              <a:rPr lang="en-US" dirty="0"/>
              <a:t>Greater mouse distances mean an increased </a:t>
            </a:r>
            <a:r>
              <a:rPr lang="en-US" b="1" i="1" dirty="0"/>
              <a:t>MT</a:t>
            </a:r>
            <a:r>
              <a:rPr lang="en-US" dirty="0"/>
              <a:t> target acquisition time.</a:t>
            </a:r>
          </a:p>
          <a:p>
            <a:pPr lvl="1"/>
            <a:r>
              <a:rPr lang="en-US" dirty="0"/>
              <a:t>Put the objects closer</a:t>
            </a:r>
          </a:p>
          <a:p>
            <a:pPr lvl="1"/>
            <a:r>
              <a:rPr lang="en-US" dirty="0"/>
              <a:t>Make the objects bigger</a:t>
            </a:r>
          </a:p>
        </p:txBody>
      </p:sp>
      <p:pic>
        <p:nvPicPr>
          <p:cNvPr id="5" name="Picture 4">
            <a:extLst>
              <a:ext uri="{FF2B5EF4-FFF2-40B4-BE49-F238E27FC236}">
                <a16:creationId xmlns:a16="http://schemas.microsoft.com/office/drawing/2014/main" id="{01020106-B08D-4A18-814B-86B4A2D01263}"/>
              </a:ext>
            </a:extLst>
          </p:cNvPr>
          <p:cNvPicPr>
            <a:picLocks noChangeAspect="1"/>
          </p:cNvPicPr>
          <p:nvPr/>
        </p:nvPicPr>
        <p:blipFill>
          <a:blip r:embed="rId3"/>
          <a:stretch>
            <a:fillRect/>
          </a:stretch>
        </p:blipFill>
        <p:spPr>
          <a:xfrm>
            <a:off x="4267200" y="3591379"/>
            <a:ext cx="4777409" cy="3233491"/>
          </a:xfrm>
          <a:prstGeom prst="rect">
            <a:avLst/>
          </a:prstGeom>
        </p:spPr>
      </p:pic>
    </p:spTree>
    <p:extLst>
      <p:ext uri="{BB962C8B-B14F-4D97-AF65-F5344CB8AC3E}">
        <p14:creationId xmlns:p14="http://schemas.microsoft.com/office/powerpoint/2010/main" val="13591500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8CBA1-CB7A-4ACD-9AD7-EBD5EB65F9D9}"/>
              </a:ext>
            </a:extLst>
          </p:cNvPr>
          <p:cNvSpPr>
            <a:spLocks noGrp="1"/>
          </p:cNvSpPr>
          <p:nvPr>
            <p:ph type="title"/>
          </p:nvPr>
        </p:nvSpPr>
        <p:spPr/>
        <p:txBody>
          <a:bodyPr>
            <a:normAutofit fontScale="90000"/>
          </a:bodyPr>
          <a:lstStyle/>
          <a:p>
            <a:br>
              <a:rPr lang="en-US" dirty="0"/>
            </a:br>
            <a:r>
              <a:rPr lang="en-US" dirty="0"/>
              <a:t>some implications/ examples</a:t>
            </a:r>
          </a:p>
        </p:txBody>
      </p:sp>
      <p:pic>
        <p:nvPicPr>
          <p:cNvPr id="5" name="Content Placeholder 4">
            <a:extLst>
              <a:ext uri="{FF2B5EF4-FFF2-40B4-BE49-F238E27FC236}">
                <a16:creationId xmlns:a16="http://schemas.microsoft.com/office/drawing/2014/main" id="{56FBB3C4-DC4E-4202-8416-E197EC56B55E}"/>
              </a:ext>
            </a:extLst>
          </p:cNvPr>
          <p:cNvPicPr>
            <a:picLocks noGrp="1" noChangeAspect="1"/>
          </p:cNvPicPr>
          <p:nvPr>
            <p:ph sz="quarter" idx="1"/>
          </p:nvPr>
        </p:nvPicPr>
        <p:blipFill>
          <a:blip r:embed="rId3"/>
          <a:stretch>
            <a:fillRect/>
          </a:stretch>
        </p:blipFill>
        <p:spPr>
          <a:xfrm>
            <a:off x="5206933" y="1370150"/>
            <a:ext cx="3927128" cy="2524125"/>
          </a:xfrm>
        </p:spPr>
      </p:pic>
      <p:pic>
        <p:nvPicPr>
          <p:cNvPr id="7" name="Picture 6">
            <a:extLst>
              <a:ext uri="{FF2B5EF4-FFF2-40B4-BE49-F238E27FC236}">
                <a16:creationId xmlns:a16="http://schemas.microsoft.com/office/drawing/2014/main" id="{771AE202-BAAD-44DD-A798-D2A4427072E5}"/>
              </a:ext>
            </a:extLst>
          </p:cNvPr>
          <p:cNvPicPr>
            <a:picLocks noChangeAspect="1"/>
          </p:cNvPicPr>
          <p:nvPr/>
        </p:nvPicPr>
        <p:blipFill>
          <a:blip r:embed="rId4"/>
          <a:stretch>
            <a:fillRect/>
          </a:stretch>
        </p:blipFill>
        <p:spPr>
          <a:xfrm>
            <a:off x="9939" y="3643312"/>
            <a:ext cx="4008840" cy="3209925"/>
          </a:xfrm>
          <a:prstGeom prst="rect">
            <a:avLst/>
          </a:prstGeom>
        </p:spPr>
      </p:pic>
      <p:pic>
        <p:nvPicPr>
          <p:cNvPr id="9" name="Picture 8">
            <a:extLst>
              <a:ext uri="{FF2B5EF4-FFF2-40B4-BE49-F238E27FC236}">
                <a16:creationId xmlns:a16="http://schemas.microsoft.com/office/drawing/2014/main" id="{099EABEC-6882-4C9E-89DE-1B8DD4F33E4E}"/>
              </a:ext>
            </a:extLst>
          </p:cNvPr>
          <p:cNvPicPr>
            <a:picLocks noChangeAspect="1"/>
          </p:cNvPicPr>
          <p:nvPr/>
        </p:nvPicPr>
        <p:blipFill>
          <a:blip r:embed="rId5"/>
          <a:stretch>
            <a:fillRect/>
          </a:stretch>
        </p:blipFill>
        <p:spPr>
          <a:xfrm>
            <a:off x="6819900" y="3890962"/>
            <a:ext cx="2324100" cy="2962275"/>
          </a:xfrm>
          <a:prstGeom prst="rect">
            <a:avLst/>
          </a:prstGeom>
        </p:spPr>
      </p:pic>
    </p:spTree>
    <p:extLst>
      <p:ext uri="{BB962C8B-B14F-4D97-AF65-F5344CB8AC3E}">
        <p14:creationId xmlns:p14="http://schemas.microsoft.com/office/powerpoint/2010/main" val="31684722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06086-8402-4A46-846A-2121C61EBF9A}"/>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D170E725-9B40-45AC-B529-A620F48E37A7}"/>
              </a:ext>
            </a:extLst>
          </p:cNvPr>
          <p:cNvSpPr>
            <a:spLocks noGrp="1"/>
          </p:cNvSpPr>
          <p:nvPr>
            <p:ph sz="quarter" idx="1"/>
          </p:nvPr>
        </p:nvSpPr>
        <p:spPr/>
        <p:txBody>
          <a:bodyPr/>
          <a:lstStyle/>
          <a:p>
            <a:r>
              <a:rPr lang="en-US" dirty="0"/>
              <a:t>What is the shortest distance for a mouse to move on the screen to perform an action?</a:t>
            </a:r>
          </a:p>
        </p:txBody>
      </p:sp>
    </p:spTree>
    <p:extLst>
      <p:ext uri="{BB962C8B-B14F-4D97-AF65-F5344CB8AC3E}">
        <p14:creationId xmlns:p14="http://schemas.microsoft.com/office/powerpoint/2010/main" val="24868672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2D003-DFA6-4F9B-9288-3D5E397E8386}"/>
              </a:ext>
            </a:extLst>
          </p:cNvPr>
          <p:cNvSpPr>
            <a:spLocks noGrp="1"/>
          </p:cNvSpPr>
          <p:nvPr>
            <p:ph type="title"/>
          </p:nvPr>
        </p:nvSpPr>
        <p:spPr/>
        <p:txBody>
          <a:bodyPr/>
          <a:lstStyle/>
          <a:p>
            <a:r>
              <a:rPr lang="en-US" dirty="0"/>
              <a:t>Pop up menu /Pie Menu  </a:t>
            </a:r>
          </a:p>
        </p:txBody>
      </p:sp>
      <p:pic>
        <p:nvPicPr>
          <p:cNvPr id="6" name="Content Placeholder 5">
            <a:extLst>
              <a:ext uri="{FF2B5EF4-FFF2-40B4-BE49-F238E27FC236}">
                <a16:creationId xmlns:a16="http://schemas.microsoft.com/office/drawing/2014/main" id="{2326604D-9A90-4D25-B527-AB316D4317EE}"/>
              </a:ext>
            </a:extLst>
          </p:cNvPr>
          <p:cNvPicPr>
            <a:picLocks noGrp="1" noChangeAspect="1"/>
          </p:cNvPicPr>
          <p:nvPr>
            <p:ph sz="quarter" idx="1"/>
          </p:nvPr>
        </p:nvPicPr>
        <p:blipFill>
          <a:blip r:embed="rId3"/>
          <a:stretch>
            <a:fillRect/>
          </a:stretch>
        </p:blipFill>
        <p:spPr>
          <a:xfrm>
            <a:off x="749576" y="2452685"/>
            <a:ext cx="3324225" cy="2790825"/>
          </a:xfrm>
        </p:spPr>
      </p:pic>
      <p:pic>
        <p:nvPicPr>
          <p:cNvPr id="4" name="Picture 3">
            <a:extLst>
              <a:ext uri="{FF2B5EF4-FFF2-40B4-BE49-F238E27FC236}">
                <a16:creationId xmlns:a16="http://schemas.microsoft.com/office/drawing/2014/main" id="{5545EADC-D3F7-4286-B5C4-0A16C127E848}"/>
              </a:ext>
            </a:extLst>
          </p:cNvPr>
          <p:cNvPicPr>
            <a:picLocks noChangeAspect="1"/>
          </p:cNvPicPr>
          <p:nvPr/>
        </p:nvPicPr>
        <p:blipFill>
          <a:blip r:embed="rId4"/>
          <a:stretch>
            <a:fillRect/>
          </a:stretch>
        </p:blipFill>
        <p:spPr>
          <a:xfrm>
            <a:off x="5070201" y="2252659"/>
            <a:ext cx="2914650" cy="3190875"/>
          </a:xfrm>
          <a:prstGeom prst="rect">
            <a:avLst/>
          </a:prstGeom>
        </p:spPr>
      </p:pic>
    </p:spTree>
    <p:extLst>
      <p:ext uri="{BB962C8B-B14F-4D97-AF65-F5344CB8AC3E}">
        <p14:creationId xmlns:p14="http://schemas.microsoft.com/office/powerpoint/2010/main" val="2256626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5A323-6753-4D2B-84DD-BAA36C8A3EE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F454604-A890-43CA-A029-D04D2FC0B845}"/>
              </a:ext>
            </a:extLst>
          </p:cNvPr>
          <p:cNvSpPr>
            <a:spLocks noGrp="1"/>
          </p:cNvSpPr>
          <p:nvPr>
            <p:ph sz="quarter" idx="1"/>
          </p:nvPr>
        </p:nvSpPr>
        <p:spPr/>
        <p:txBody>
          <a:bodyPr/>
          <a:lstStyle/>
          <a:p>
            <a:r>
              <a:rPr lang="en-US" dirty="0"/>
              <a:t>What is another easy place for a pointer to move to? </a:t>
            </a:r>
          </a:p>
        </p:txBody>
      </p:sp>
    </p:spTree>
    <p:extLst>
      <p:ext uri="{BB962C8B-B14F-4D97-AF65-F5344CB8AC3E}">
        <p14:creationId xmlns:p14="http://schemas.microsoft.com/office/powerpoint/2010/main" val="4827175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Mile‐High Menus &amp; Magic Corners</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600200"/>
            <a:ext cx="5410200" cy="173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Grp="1" noChangeAspect="1" noChangeArrowheads="1"/>
          </p:cNvPicPr>
          <p:nvPr>
            <p:ph sz="quarter" idx="1"/>
          </p:nvPr>
        </p:nvPicPr>
        <p:blipFill>
          <a:blip r:embed="rId3">
            <a:extLst>
              <a:ext uri="{28A0092B-C50C-407E-A947-70E740481C1C}">
                <a14:useLocalDpi xmlns:a14="http://schemas.microsoft.com/office/drawing/2010/main" val="0"/>
              </a:ext>
            </a:extLst>
          </a:blip>
          <a:srcRect/>
          <a:stretch>
            <a:fillRect/>
          </a:stretch>
        </p:blipFill>
        <p:spPr bwMode="auto">
          <a:xfrm>
            <a:off x="1828800" y="4284881"/>
            <a:ext cx="54102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1828800" y="5638800"/>
            <a:ext cx="5410200" cy="400110"/>
          </a:xfrm>
          <a:prstGeom prst="rect">
            <a:avLst/>
          </a:prstGeom>
        </p:spPr>
        <p:txBody>
          <a:bodyPr wrap="square">
            <a:spAutoFit/>
          </a:bodyPr>
          <a:lstStyle/>
          <a:p>
            <a:r>
              <a:rPr lang="en-US" sz="2000" i="1" dirty="0"/>
              <a:t>Larger, labeled controls can be clicked more quickly</a:t>
            </a:r>
            <a:endParaRPr lang="en-US" sz="2000" dirty="0"/>
          </a:p>
        </p:txBody>
      </p:sp>
    </p:spTree>
    <p:extLst>
      <p:ext uri="{BB962C8B-B14F-4D97-AF65-F5344CB8AC3E}">
        <p14:creationId xmlns:p14="http://schemas.microsoft.com/office/powerpoint/2010/main" val="2589776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a:t>
            </a:r>
          </a:p>
        </p:txBody>
      </p:sp>
      <p:sp>
        <p:nvSpPr>
          <p:cNvPr id="3" name="Content Placeholder 2"/>
          <p:cNvSpPr>
            <a:spLocks noGrp="1"/>
          </p:cNvSpPr>
          <p:nvPr>
            <p:ph sz="quarter" idx="1"/>
          </p:nvPr>
        </p:nvSpPr>
        <p:spPr/>
        <p:txBody>
          <a:bodyPr/>
          <a:lstStyle/>
          <a:p>
            <a:endParaRPr lang="en-US" i="1" dirty="0"/>
          </a:p>
          <a:p>
            <a:endParaRPr lang="en-US" i="1" dirty="0"/>
          </a:p>
          <a:p>
            <a:endParaRPr lang="en-US" i="1" dirty="0"/>
          </a:p>
          <a:p>
            <a:pPr marL="0" indent="0">
              <a:buNone/>
            </a:pPr>
            <a:r>
              <a:rPr lang="en-US" i="1" dirty="0"/>
              <a:t>	                                 </a:t>
            </a:r>
            <a:r>
              <a:rPr lang="en-US" sz="2000" i="1" dirty="0"/>
              <a:t>Mini Toolbar: Close to the cursor</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74310" y="1795835"/>
            <a:ext cx="4648200"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919" y="3347049"/>
            <a:ext cx="4419599"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28713" y="3800475"/>
            <a:ext cx="4152900" cy="2447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609600" y="4165473"/>
            <a:ext cx="3385479" cy="400110"/>
          </a:xfrm>
          <a:prstGeom prst="rect">
            <a:avLst/>
          </a:prstGeom>
        </p:spPr>
        <p:txBody>
          <a:bodyPr wrap="none">
            <a:spAutoFit/>
          </a:bodyPr>
          <a:lstStyle/>
          <a:p>
            <a:r>
              <a:rPr lang="en-US" sz="2000" i="1" dirty="0"/>
              <a:t>Quick Access that's a mile high...</a:t>
            </a:r>
          </a:p>
        </p:txBody>
      </p:sp>
      <p:sp>
        <p:nvSpPr>
          <p:cNvPr id="5" name="Rectangle 4"/>
          <p:cNvSpPr/>
          <p:nvPr/>
        </p:nvSpPr>
        <p:spPr>
          <a:xfrm>
            <a:off x="3581400" y="6211669"/>
            <a:ext cx="5441110" cy="400110"/>
          </a:xfrm>
          <a:prstGeom prst="rect">
            <a:avLst/>
          </a:prstGeom>
        </p:spPr>
        <p:txBody>
          <a:bodyPr wrap="square">
            <a:spAutoFit/>
          </a:bodyPr>
          <a:lstStyle/>
          <a:p>
            <a:r>
              <a:rPr lang="en-US" sz="2000" i="1" dirty="0"/>
              <a:t>Magic Corner: Office Button in the upper‐left corner</a:t>
            </a:r>
          </a:p>
        </p:txBody>
      </p:sp>
    </p:spTree>
    <p:extLst>
      <p:ext uri="{BB962C8B-B14F-4D97-AF65-F5344CB8AC3E}">
        <p14:creationId xmlns:p14="http://schemas.microsoft.com/office/powerpoint/2010/main" val="42298771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4BC91-E218-4844-91C1-F1B964202A91}"/>
              </a:ext>
            </a:extLst>
          </p:cNvPr>
          <p:cNvSpPr>
            <a:spLocks noGrp="1"/>
          </p:cNvSpPr>
          <p:nvPr>
            <p:ph type="title"/>
          </p:nvPr>
        </p:nvSpPr>
        <p:spPr/>
        <p:txBody>
          <a:bodyPr>
            <a:normAutofit fontScale="90000"/>
          </a:bodyPr>
          <a:lstStyle/>
          <a:p>
            <a:r>
              <a:rPr lang="en-US" dirty="0"/>
              <a:t>Place similar functionalities together.</a:t>
            </a:r>
          </a:p>
        </p:txBody>
      </p:sp>
      <p:pic>
        <p:nvPicPr>
          <p:cNvPr id="5" name="Content Placeholder 4">
            <a:extLst>
              <a:ext uri="{FF2B5EF4-FFF2-40B4-BE49-F238E27FC236}">
                <a16:creationId xmlns:a16="http://schemas.microsoft.com/office/drawing/2014/main" id="{AF50D660-2E40-42FA-95F2-A3654DB4C1D4}"/>
              </a:ext>
            </a:extLst>
          </p:cNvPr>
          <p:cNvPicPr>
            <a:picLocks noGrp="1" noChangeAspect="1"/>
          </p:cNvPicPr>
          <p:nvPr>
            <p:ph sz="quarter" idx="1"/>
          </p:nvPr>
        </p:nvPicPr>
        <p:blipFill>
          <a:blip r:embed="rId2"/>
          <a:stretch>
            <a:fillRect/>
          </a:stretch>
        </p:blipFill>
        <p:spPr>
          <a:xfrm>
            <a:off x="955675" y="2419350"/>
            <a:ext cx="7467600" cy="2857500"/>
          </a:xfrm>
        </p:spPr>
      </p:pic>
    </p:spTree>
    <p:extLst>
      <p:ext uri="{BB962C8B-B14F-4D97-AF65-F5344CB8AC3E}">
        <p14:creationId xmlns:p14="http://schemas.microsoft.com/office/powerpoint/2010/main" val="1716435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DBBF4-F1AC-4FE9-9BC0-B3BC8C539D69}"/>
              </a:ext>
            </a:extLst>
          </p:cNvPr>
          <p:cNvSpPr>
            <a:spLocks noGrp="1"/>
          </p:cNvSpPr>
          <p:nvPr>
            <p:ph type="title"/>
          </p:nvPr>
        </p:nvSpPr>
        <p:spPr/>
        <p:txBody>
          <a:bodyPr>
            <a:normAutofit fontScale="90000"/>
          </a:bodyPr>
          <a:lstStyle/>
          <a:p>
            <a:r>
              <a:rPr lang="en-US" dirty="0"/>
              <a:t>Using Fitts's Law will improve performance and reduce errors. </a:t>
            </a:r>
          </a:p>
        </p:txBody>
      </p:sp>
      <p:sp>
        <p:nvSpPr>
          <p:cNvPr id="3" name="Content Placeholder 2">
            <a:extLst>
              <a:ext uri="{FF2B5EF4-FFF2-40B4-BE49-F238E27FC236}">
                <a16:creationId xmlns:a16="http://schemas.microsoft.com/office/drawing/2014/main" id="{223D21CB-B544-4EC3-A59C-9118D75F1908}"/>
              </a:ext>
            </a:extLst>
          </p:cNvPr>
          <p:cNvSpPr>
            <a:spLocks noGrp="1"/>
          </p:cNvSpPr>
          <p:nvPr>
            <p:ph sz="quarter" idx="1"/>
          </p:nvPr>
        </p:nvSpPr>
        <p:spPr/>
        <p:txBody>
          <a:bodyPr/>
          <a:lstStyle/>
          <a:p>
            <a:endParaRPr lang="en-US"/>
          </a:p>
        </p:txBody>
      </p:sp>
      <p:pic>
        <p:nvPicPr>
          <p:cNvPr id="5" name="Picture 4">
            <a:extLst>
              <a:ext uri="{FF2B5EF4-FFF2-40B4-BE49-F238E27FC236}">
                <a16:creationId xmlns:a16="http://schemas.microsoft.com/office/drawing/2014/main" id="{B19B83A3-F621-4D6B-BC1E-3ACEB84838A2}"/>
              </a:ext>
            </a:extLst>
          </p:cNvPr>
          <p:cNvPicPr>
            <a:picLocks noChangeAspect="1"/>
          </p:cNvPicPr>
          <p:nvPr/>
        </p:nvPicPr>
        <p:blipFill>
          <a:blip r:embed="rId2"/>
          <a:stretch>
            <a:fillRect/>
          </a:stretch>
        </p:blipFill>
        <p:spPr>
          <a:xfrm>
            <a:off x="3376612" y="1700212"/>
            <a:ext cx="2390775" cy="3457575"/>
          </a:xfrm>
          <a:prstGeom prst="rect">
            <a:avLst/>
          </a:prstGeom>
        </p:spPr>
      </p:pic>
    </p:spTree>
    <p:extLst>
      <p:ext uri="{BB962C8B-B14F-4D97-AF65-F5344CB8AC3E}">
        <p14:creationId xmlns:p14="http://schemas.microsoft.com/office/powerpoint/2010/main" val="34754398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Steering tasks</a:t>
            </a:r>
          </a:p>
        </p:txBody>
      </p:sp>
      <p:sp>
        <p:nvSpPr>
          <p:cNvPr id="3" name="Content Placeholder 2"/>
          <p:cNvSpPr>
            <a:spLocks noGrp="1"/>
          </p:cNvSpPr>
          <p:nvPr>
            <p:ph sz="quarter" idx="1"/>
          </p:nvPr>
        </p:nvSpPr>
        <p:spPr/>
        <p:txBody>
          <a:bodyPr/>
          <a:lstStyle/>
          <a:p>
            <a:r>
              <a:rPr lang="en-US" dirty="0"/>
              <a:t>Time T to move your hand through a tunnel of length D and width S is: </a:t>
            </a:r>
          </a:p>
          <a:p>
            <a:pPr marL="685800" lvl="2" indent="0">
              <a:buNone/>
            </a:pPr>
            <a:r>
              <a:rPr lang="en-US" dirty="0"/>
              <a:t>T = a + b ( D/S)</a:t>
            </a:r>
          </a:p>
          <a:p>
            <a:r>
              <a:rPr lang="en-US" dirty="0"/>
              <a:t>Index of difficulty is linear, not logarithmic</a:t>
            </a:r>
          </a:p>
          <a:p>
            <a:pPr lvl="1"/>
            <a:r>
              <a:rPr lang="en-US" dirty="0"/>
              <a:t>So steering is much harder than pointing</a:t>
            </a:r>
          </a:p>
          <a:p>
            <a:r>
              <a:rPr lang="en-US" dirty="0"/>
              <a:t>Thus cascading submenus are hard to use</a:t>
            </a:r>
          </a:p>
          <a:p>
            <a:pPr marL="685800" lvl="2" indent="0">
              <a:buNone/>
            </a:pPr>
            <a:r>
              <a:rPr lang="en-US" sz="2900" dirty="0"/>
              <a:t>	</a:t>
            </a:r>
          </a:p>
        </p:txBody>
      </p:sp>
      <p:pic>
        <p:nvPicPr>
          <p:cNvPr id="4" name="Picture 3"/>
          <p:cNvPicPr>
            <a:picLocks noChangeAspect="1"/>
          </p:cNvPicPr>
          <p:nvPr/>
        </p:nvPicPr>
        <p:blipFill>
          <a:blip r:embed="rId3"/>
          <a:stretch>
            <a:fillRect/>
          </a:stretch>
        </p:blipFill>
        <p:spPr>
          <a:xfrm>
            <a:off x="914400" y="4659956"/>
            <a:ext cx="6657975" cy="1817044"/>
          </a:xfrm>
          <a:prstGeom prst="rect">
            <a:avLst/>
          </a:prstGeom>
        </p:spPr>
      </p:pic>
      <p:sp>
        <p:nvSpPr>
          <p:cNvPr id="5" name="TextBox 4"/>
          <p:cNvSpPr txBox="1"/>
          <p:nvPr/>
        </p:nvSpPr>
        <p:spPr>
          <a:xfrm>
            <a:off x="7853345" y="4929214"/>
            <a:ext cx="1247775" cy="923330"/>
          </a:xfrm>
          <a:prstGeom prst="rect">
            <a:avLst/>
          </a:prstGeom>
          <a:noFill/>
        </p:spPr>
        <p:txBody>
          <a:bodyPr wrap="square" rtlCol="0">
            <a:spAutoFit/>
          </a:bodyPr>
          <a:lstStyle/>
          <a:p>
            <a:r>
              <a:rPr lang="en-US" dirty="0"/>
              <a:t>Note:</a:t>
            </a:r>
          </a:p>
          <a:p>
            <a:r>
              <a:rPr lang="en-US" dirty="0"/>
              <a:t>D =&gt; A</a:t>
            </a:r>
          </a:p>
          <a:p>
            <a:r>
              <a:rPr lang="en-US" dirty="0"/>
              <a:t>S =&gt; W</a:t>
            </a:r>
          </a:p>
        </p:txBody>
      </p:sp>
    </p:spTree>
    <p:extLst>
      <p:ext uri="{BB962C8B-B14F-4D97-AF65-F5344CB8AC3E}">
        <p14:creationId xmlns:p14="http://schemas.microsoft.com/office/powerpoint/2010/main" val="13360611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Improve mouse efficiency</a:t>
            </a:r>
          </a:p>
        </p:txBody>
      </p:sp>
      <p:sp>
        <p:nvSpPr>
          <p:cNvPr id="3" name="Content Placeholder 2"/>
          <p:cNvSpPr>
            <a:spLocks noGrp="1"/>
          </p:cNvSpPr>
          <p:nvPr>
            <p:ph sz="quarter" idx="1"/>
          </p:nvPr>
        </p:nvSpPr>
        <p:spPr/>
        <p:txBody>
          <a:bodyPr/>
          <a:lstStyle/>
          <a:p>
            <a:r>
              <a:rPr lang="en-US" dirty="0"/>
              <a:t>Make frequently used targets big</a:t>
            </a:r>
          </a:p>
          <a:p>
            <a:r>
              <a:rPr lang="en-US" dirty="0"/>
              <a:t>Put targets used together near each other</a:t>
            </a:r>
          </a:p>
          <a:p>
            <a:r>
              <a:rPr lang="en-US" dirty="0"/>
              <a:t>Use screen corners and screen edges</a:t>
            </a:r>
          </a:p>
          <a:p>
            <a:r>
              <a:rPr lang="en-US" dirty="0"/>
              <a:t>Avoid steering tasks</a:t>
            </a:r>
          </a:p>
        </p:txBody>
      </p:sp>
    </p:spTree>
    <p:extLst>
      <p:ext uri="{BB962C8B-B14F-4D97-AF65-F5344CB8AC3E}">
        <p14:creationId xmlns:p14="http://schemas.microsoft.com/office/powerpoint/2010/main" val="13270980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8BC34-CFCD-4C89-A534-2693DCBD2DBA}"/>
              </a:ext>
            </a:extLst>
          </p:cNvPr>
          <p:cNvSpPr>
            <a:spLocks noGrp="1"/>
          </p:cNvSpPr>
          <p:nvPr>
            <p:ph type="title"/>
          </p:nvPr>
        </p:nvSpPr>
        <p:spPr/>
        <p:txBody>
          <a:bodyPr/>
          <a:lstStyle/>
          <a:p>
            <a:r>
              <a:rPr lang="en-US" dirty="0"/>
              <a:t>Exercise</a:t>
            </a:r>
          </a:p>
        </p:txBody>
      </p:sp>
      <p:pic>
        <p:nvPicPr>
          <p:cNvPr id="5" name="Content Placeholder 4">
            <a:extLst>
              <a:ext uri="{FF2B5EF4-FFF2-40B4-BE49-F238E27FC236}">
                <a16:creationId xmlns:a16="http://schemas.microsoft.com/office/drawing/2014/main" id="{E6262141-A391-4951-8A73-CE6111DCFCBE}"/>
              </a:ext>
            </a:extLst>
          </p:cNvPr>
          <p:cNvPicPr>
            <a:picLocks noGrp="1" noChangeAspect="1"/>
          </p:cNvPicPr>
          <p:nvPr>
            <p:ph sz="quarter" idx="1"/>
          </p:nvPr>
        </p:nvPicPr>
        <p:blipFill>
          <a:blip r:embed="rId3"/>
          <a:stretch>
            <a:fillRect/>
          </a:stretch>
        </p:blipFill>
        <p:spPr>
          <a:xfrm>
            <a:off x="28755" y="1777750"/>
            <a:ext cx="4816146" cy="4383817"/>
          </a:xfrm>
        </p:spPr>
      </p:pic>
      <p:sp>
        <p:nvSpPr>
          <p:cNvPr id="6" name="Content Placeholder 5">
            <a:extLst>
              <a:ext uri="{FF2B5EF4-FFF2-40B4-BE49-F238E27FC236}">
                <a16:creationId xmlns:a16="http://schemas.microsoft.com/office/drawing/2014/main" id="{9953CB4A-73B6-45A4-B01A-37202102E856}"/>
              </a:ext>
            </a:extLst>
          </p:cNvPr>
          <p:cNvSpPr>
            <a:spLocks noGrp="1"/>
          </p:cNvSpPr>
          <p:nvPr>
            <p:ph sz="quarter" idx="2"/>
          </p:nvPr>
        </p:nvSpPr>
        <p:spPr/>
        <p:txBody>
          <a:bodyPr>
            <a:normAutofit fontScale="92500" lnSpcReduction="10000"/>
          </a:bodyPr>
          <a:lstStyle/>
          <a:p>
            <a:r>
              <a:rPr lang="en-US" dirty="0"/>
              <a:t>Indicate giving reasons which target you think is fastest to reach with the mouse starting at location M. Assume that you can move your hand equally well in all directions, and that none of the targets are near a screen edge. Please include all calculations in your answer. </a:t>
            </a:r>
          </a:p>
        </p:txBody>
      </p:sp>
    </p:spTree>
    <p:extLst>
      <p:ext uri="{BB962C8B-B14F-4D97-AF65-F5344CB8AC3E}">
        <p14:creationId xmlns:p14="http://schemas.microsoft.com/office/powerpoint/2010/main" val="13501136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endParaRPr lang="en-US"/>
          </a:p>
        </p:txBody>
      </p:sp>
      <p:sp>
        <p:nvSpPr>
          <p:cNvPr id="3" name="Title 2"/>
          <p:cNvSpPr>
            <a:spLocks noGrp="1"/>
          </p:cNvSpPr>
          <p:nvPr>
            <p:ph type="title"/>
          </p:nvPr>
        </p:nvSpPr>
        <p:spPr/>
        <p:txBody>
          <a:bodyPr/>
          <a:lstStyle/>
          <a:p>
            <a:r>
              <a:rPr lang="en-US" dirty="0"/>
              <a:t>Keystroke Level Model (KLM)</a:t>
            </a:r>
          </a:p>
        </p:txBody>
      </p:sp>
    </p:spTree>
    <p:extLst>
      <p:ext uri="{BB962C8B-B14F-4D97-AF65-F5344CB8AC3E}">
        <p14:creationId xmlns:p14="http://schemas.microsoft.com/office/powerpoint/2010/main" val="42602538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D5BCF35-3806-422E-93BA-808E71324FED}"/>
              </a:ext>
            </a:extLst>
          </p:cNvPr>
          <p:cNvSpPr>
            <a:spLocks noGrp="1"/>
          </p:cNvSpPr>
          <p:nvPr>
            <p:ph type="title"/>
          </p:nvPr>
        </p:nvSpPr>
        <p:spPr/>
        <p:txBody>
          <a:bodyPr/>
          <a:lstStyle/>
          <a:p>
            <a:r>
              <a:rPr lang="en-US" dirty="0"/>
              <a:t>Keystroke Level Model (KLM)</a:t>
            </a:r>
          </a:p>
        </p:txBody>
      </p:sp>
      <p:sp>
        <p:nvSpPr>
          <p:cNvPr id="5" name="Content Placeholder 4">
            <a:extLst>
              <a:ext uri="{FF2B5EF4-FFF2-40B4-BE49-F238E27FC236}">
                <a16:creationId xmlns:a16="http://schemas.microsoft.com/office/drawing/2014/main" id="{BD0F01FE-3499-43D9-9728-626101F0C6AC}"/>
              </a:ext>
            </a:extLst>
          </p:cNvPr>
          <p:cNvSpPr>
            <a:spLocks noGrp="1"/>
          </p:cNvSpPr>
          <p:nvPr>
            <p:ph sz="quarter" idx="1"/>
          </p:nvPr>
        </p:nvSpPr>
        <p:spPr/>
        <p:txBody>
          <a:bodyPr>
            <a:normAutofit lnSpcReduction="10000"/>
          </a:bodyPr>
          <a:lstStyle/>
          <a:p>
            <a:r>
              <a:rPr lang="en-US" dirty="0"/>
              <a:t>Used to measure user performance time with interactive systems. </a:t>
            </a:r>
          </a:p>
          <a:p>
            <a:pPr marL="0" indent="0">
              <a:buNone/>
            </a:pPr>
            <a:r>
              <a:rPr lang="en-US" dirty="0"/>
              <a:t> </a:t>
            </a:r>
          </a:p>
          <a:p>
            <a:r>
              <a:rPr lang="en-US" dirty="0"/>
              <a:t>KLM is best suited to evaluate time specific tasks that requires less time for completion. </a:t>
            </a:r>
          </a:p>
          <a:p>
            <a:endParaRPr lang="en-US" dirty="0"/>
          </a:p>
          <a:p>
            <a:r>
              <a:rPr lang="en-US" dirty="0"/>
              <a:t>A method that can be used by individuals or companies seeking ways to estimate the time it takes to complete simple data input tasks using a computer and mouse. </a:t>
            </a:r>
          </a:p>
          <a:p>
            <a:endParaRPr lang="en-US" dirty="0"/>
          </a:p>
          <a:p>
            <a:endParaRPr lang="en-US" dirty="0"/>
          </a:p>
          <a:p>
            <a:endParaRPr lang="en-US" dirty="0"/>
          </a:p>
        </p:txBody>
      </p:sp>
    </p:spTree>
    <p:extLst>
      <p:ext uri="{BB962C8B-B14F-4D97-AF65-F5344CB8AC3E}">
        <p14:creationId xmlns:p14="http://schemas.microsoft.com/office/powerpoint/2010/main" val="21175551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D5BCF35-3806-422E-93BA-808E71324FED}"/>
              </a:ext>
            </a:extLst>
          </p:cNvPr>
          <p:cNvSpPr>
            <a:spLocks noGrp="1"/>
          </p:cNvSpPr>
          <p:nvPr>
            <p:ph type="title"/>
          </p:nvPr>
        </p:nvSpPr>
        <p:spPr/>
        <p:txBody>
          <a:bodyPr/>
          <a:lstStyle/>
          <a:p>
            <a:r>
              <a:rPr lang="en-US" dirty="0"/>
              <a:t>Keystroke Level Model (KLM)</a:t>
            </a:r>
          </a:p>
        </p:txBody>
      </p:sp>
      <p:sp>
        <p:nvSpPr>
          <p:cNvPr id="5" name="Content Placeholder 4">
            <a:extLst>
              <a:ext uri="{FF2B5EF4-FFF2-40B4-BE49-F238E27FC236}">
                <a16:creationId xmlns:a16="http://schemas.microsoft.com/office/drawing/2014/main" id="{BD0F01FE-3499-43D9-9728-626101F0C6AC}"/>
              </a:ext>
            </a:extLst>
          </p:cNvPr>
          <p:cNvSpPr>
            <a:spLocks noGrp="1"/>
          </p:cNvSpPr>
          <p:nvPr>
            <p:ph sz="quarter" idx="1"/>
          </p:nvPr>
        </p:nvSpPr>
        <p:spPr/>
        <p:txBody>
          <a:bodyPr>
            <a:normAutofit lnSpcReduction="10000"/>
          </a:bodyPr>
          <a:lstStyle/>
          <a:p>
            <a:r>
              <a:rPr lang="en-US" dirty="0"/>
              <a:t>It is not necessary to have an implemented or mocked-up design; the KLM requires only that the user interface be specified in enough detail to dictate the sequence of actions required to perform the tasks of interest.</a:t>
            </a:r>
          </a:p>
          <a:p>
            <a:endParaRPr lang="en-US" dirty="0"/>
          </a:p>
          <a:p>
            <a:r>
              <a:rPr lang="en-US" dirty="0"/>
              <a:t>The actions are termed keystroke level if they are at the level of actions like pressing keys, moving the mouse, pressing buttons, and so forth, as opposed to actions like "log onto system“.</a:t>
            </a:r>
          </a:p>
          <a:p>
            <a:endParaRPr lang="en-US" dirty="0"/>
          </a:p>
          <a:p>
            <a:endParaRPr lang="en-US" dirty="0"/>
          </a:p>
        </p:txBody>
      </p:sp>
    </p:spTree>
    <p:extLst>
      <p:ext uri="{BB962C8B-B14F-4D97-AF65-F5344CB8AC3E}">
        <p14:creationId xmlns:p14="http://schemas.microsoft.com/office/powerpoint/2010/main" val="8935013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8461248" cy="990600"/>
          </a:xfrm>
        </p:spPr>
        <p:txBody>
          <a:bodyPr>
            <a:normAutofit fontScale="90000"/>
          </a:bodyPr>
          <a:lstStyle/>
          <a:p>
            <a:r>
              <a:rPr lang="en-US" dirty="0"/>
              <a:t>Keystroke Level Model (KLM) - operators</a:t>
            </a:r>
          </a:p>
        </p:txBody>
      </p:sp>
      <p:sp>
        <p:nvSpPr>
          <p:cNvPr id="3" name="Content Placeholder 2"/>
          <p:cNvSpPr>
            <a:spLocks noGrp="1"/>
          </p:cNvSpPr>
          <p:nvPr>
            <p:ph sz="quarter" idx="1"/>
          </p:nvPr>
        </p:nvSpPr>
        <p:spPr/>
        <p:txBody>
          <a:bodyPr/>
          <a:lstStyle/>
          <a:p>
            <a:r>
              <a:rPr lang="en-US" dirty="0"/>
              <a:t>The basic actions are called operators.</a:t>
            </a:r>
            <a:endParaRPr lang="en-US" b="1" dirty="0"/>
          </a:p>
          <a:p>
            <a:pPr lvl="1"/>
            <a:r>
              <a:rPr lang="en-US" b="1" dirty="0"/>
              <a:t>K</a:t>
            </a:r>
            <a:r>
              <a:rPr lang="en-US" dirty="0"/>
              <a:t>eystroke</a:t>
            </a:r>
          </a:p>
          <a:p>
            <a:pPr lvl="1"/>
            <a:r>
              <a:rPr lang="en-US" b="1" dirty="0"/>
              <a:t>B</a:t>
            </a:r>
            <a:r>
              <a:rPr lang="en-US" dirty="0"/>
              <a:t>utton press or release with mouse</a:t>
            </a:r>
          </a:p>
          <a:p>
            <a:pPr lvl="1"/>
            <a:r>
              <a:rPr lang="en-US" b="1" dirty="0"/>
              <a:t>P</a:t>
            </a:r>
            <a:r>
              <a:rPr lang="en-US" dirty="0"/>
              <a:t>oint with mouse</a:t>
            </a:r>
          </a:p>
          <a:p>
            <a:pPr lvl="1"/>
            <a:r>
              <a:rPr lang="en-US" b="1" dirty="0"/>
              <a:t>D</a:t>
            </a:r>
            <a:r>
              <a:rPr lang="en-US" dirty="0"/>
              <a:t>raw line with mouse</a:t>
            </a:r>
          </a:p>
          <a:p>
            <a:pPr lvl="1"/>
            <a:r>
              <a:rPr lang="en-US" b="1" dirty="0"/>
              <a:t>H</a:t>
            </a:r>
            <a:r>
              <a:rPr lang="en-US" dirty="0"/>
              <a:t>ome hands between mouse and keyboard</a:t>
            </a:r>
          </a:p>
          <a:p>
            <a:pPr lvl="1"/>
            <a:r>
              <a:rPr lang="en-US" b="1" dirty="0"/>
              <a:t>M</a:t>
            </a:r>
            <a:r>
              <a:rPr lang="en-US" dirty="0"/>
              <a:t>entally prepare </a:t>
            </a:r>
          </a:p>
        </p:txBody>
      </p:sp>
    </p:spTree>
    <p:extLst>
      <p:ext uri="{BB962C8B-B14F-4D97-AF65-F5344CB8AC3E}">
        <p14:creationId xmlns:p14="http://schemas.microsoft.com/office/powerpoint/2010/main" val="13557287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8461248" cy="990600"/>
          </a:xfrm>
        </p:spPr>
        <p:txBody>
          <a:bodyPr>
            <a:normAutofit fontScale="90000"/>
          </a:bodyPr>
          <a:lstStyle/>
          <a:p>
            <a:r>
              <a:rPr lang="en-US" dirty="0"/>
              <a:t>Keystroke Level Model (KLM) - operators</a:t>
            </a:r>
          </a:p>
        </p:txBody>
      </p:sp>
      <p:sp>
        <p:nvSpPr>
          <p:cNvPr id="3" name="Content Placeholder 2"/>
          <p:cNvSpPr>
            <a:spLocks noGrp="1"/>
          </p:cNvSpPr>
          <p:nvPr>
            <p:ph sz="quarter" idx="1"/>
          </p:nvPr>
        </p:nvSpPr>
        <p:spPr/>
        <p:txBody>
          <a:bodyPr/>
          <a:lstStyle/>
          <a:p>
            <a:r>
              <a:rPr lang="en-US" dirty="0"/>
              <a:t>The basic actions are called operators.</a:t>
            </a:r>
            <a:endParaRPr lang="en-US" b="1" dirty="0"/>
          </a:p>
          <a:p>
            <a:pPr lvl="1"/>
            <a:r>
              <a:rPr lang="en-US" b="1" dirty="0"/>
              <a:t>P</a:t>
            </a:r>
            <a:r>
              <a:rPr lang="en-US" dirty="0"/>
              <a:t>oint with mouse</a:t>
            </a:r>
          </a:p>
          <a:p>
            <a:pPr lvl="2"/>
            <a:r>
              <a:rPr lang="en-US" dirty="0"/>
              <a:t>Moving from start point to end point. </a:t>
            </a:r>
          </a:p>
          <a:p>
            <a:pPr lvl="1"/>
            <a:r>
              <a:rPr lang="en-US" b="1" dirty="0"/>
              <a:t>D</a:t>
            </a:r>
            <a:r>
              <a:rPr lang="en-US" dirty="0"/>
              <a:t>raw line with mouse</a:t>
            </a:r>
          </a:p>
          <a:p>
            <a:pPr lvl="2"/>
            <a:r>
              <a:rPr lang="en-US" dirty="0"/>
              <a:t>Follows a </a:t>
            </a:r>
            <a:r>
              <a:rPr lang="en-US" dirty="0" err="1"/>
              <a:t>boundaried</a:t>
            </a:r>
            <a:r>
              <a:rPr lang="en-US" dirty="0"/>
              <a:t> path </a:t>
            </a:r>
          </a:p>
          <a:p>
            <a:pPr lvl="2"/>
            <a:r>
              <a:rPr lang="en-US" dirty="0"/>
              <a:t>Needs precision.</a:t>
            </a:r>
          </a:p>
        </p:txBody>
      </p:sp>
    </p:spTree>
    <p:extLst>
      <p:ext uri="{BB962C8B-B14F-4D97-AF65-F5344CB8AC3E}">
        <p14:creationId xmlns:p14="http://schemas.microsoft.com/office/powerpoint/2010/main" val="6053103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6A488-85DD-4A2C-8753-5EDB4243AA49}"/>
              </a:ext>
            </a:extLst>
          </p:cNvPr>
          <p:cNvSpPr>
            <a:spLocks noGrp="1"/>
          </p:cNvSpPr>
          <p:nvPr>
            <p:ph type="title"/>
          </p:nvPr>
        </p:nvSpPr>
        <p:spPr/>
        <p:txBody>
          <a:bodyPr/>
          <a:lstStyle/>
          <a:p>
            <a:r>
              <a:rPr lang="en-US" dirty="0"/>
              <a:t>Mental Preparation</a:t>
            </a:r>
          </a:p>
        </p:txBody>
      </p:sp>
      <p:sp>
        <p:nvSpPr>
          <p:cNvPr id="3" name="Content Placeholder 2">
            <a:extLst>
              <a:ext uri="{FF2B5EF4-FFF2-40B4-BE49-F238E27FC236}">
                <a16:creationId xmlns:a16="http://schemas.microsoft.com/office/drawing/2014/main" id="{50B14C74-6746-41F5-8F1A-CD4B8A392D22}"/>
              </a:ext>
            </a:extLst>
          </p:cNvPr>
          <p:cNvSpPr>
            <a:spLocks noGrp="1"/>
          </p:cNvSpPr>
          <p:nvPr>
            <p:ph sz="quarter" idx="1"/>
          </p:nvPr>
        </p:nvSpPr>
        <p:spPr/>
        <p:txBody>
          <a:bodyPr>
            <a:normAutofit fontScale="85000" lnSpcReduction="20000"/>
          </a:bodyPr>
          <a:lstStyle/>
          <a:p>
            <a:r>
              <a:rPr lang="en-US" sz="3200" dirty="0"/>
              <a:t>M merely represents the time to prepare mentally for the next </a:t>
            </a:r>
            <a:r>
              <a:rPr lang="en-US" sz="3200" b="1" dirty="0"/>
              <a:t>step </a:t>
            </a:r>
            <a:r>
              <a:rPr lang="en-US" sz="3200" dirty="0"/>
              <a:t>in the method </a:t>
            </a:r>
            <a:endParaRPr lang="en-US" dirty="0"/>
          </a:p>
          <a:p>
            <a:endParaRPr lang="en-US" dirty="0"/>
          </a:p>
          <a:p>
            <a:r>
              <a:rPr lang="en-US" dirty="0"/>
              <a:t>Highly variable from situation to situation or person to person.</a:t>
            </a:r>
          </a:p>
          <a:p>
            <a:endParaRPr lang="en-US" dirty="0"/>
          </a:p>
          <a:p>
            <a:r>
              <a:rPr lang="en-US" dirty="0"/>
              <a:t>Users are engaged in routine operation of a computer, there are pauses in the stream of actions that are about a second long and that are associated with routine acts such as remembering a filename or finding something on the screen. </a:t>
            </a:r>
          </a:p>
          <a:p>
            <a:endParaRPr lang="en-US" dirty="0"/>
          </a:p>
          <a:p>
            <a:r>
              <a:rPr lang="en-US" dirty="0"/>
              <a:t>The M operator is intended to represent this routine thinking.</a:t>
            </a:r>
          </a:p>
        </p:txBody>
      </p:sp>
    </p:spTree>
    <p:extLst>
      <p:ext uri="{BB962C8B-B14F-4D97-AF65-F5344CB8AC3E}">
        <p14:creationId xmlns:p14="http://schemas.microsoft.com/office/powerpoint/2010/main" val="22947761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Specific suggestions for activities that take an M</a:t>
            </a:r>
          </a:p>
        </p:txBody>
      </p:sp>
      <p:sp>
        <p:nvSpPr>
          <p:cNvPr id="3" name="Content Placeholder 2"/>
          <p:cNvSpPr>
            <a:spLocks noGrp="1"/>
          </p:cNvSpPr>
          <p:nvPr>
            <p:ph sz="quarter" idx="1"/>
          </p:nvPr>
        </p:nvSpPr>
        <p:spPr/>
        <p:txBody>
          <a:bodyPr>
            <a:normAutofit/>
          </a:bodyPr>
          <a:lstStyle/>
          <a:p>
            <a:r>
              <a:rPr lang="en-US" sz="3200" dirty="0"/>
              <a:t>Initiating a task</a:t>
            </a:r>
          </a:p>
          <a:p>
            <a:r>
              <a:rPr lang="en-US" sz="3200" dirty="0"/>
              <a:t>Retrieving a chunk from memory (recalling a DOS command)</a:t>
            </a:r>
          </a:p>
          <a:p>
            <a:r>
              <a:rPr lang="en-US" sz="3200" dirty="0"/>
              <a:t>Finding something on the screen (before every  pointing operator)</a:t>
            </a:r>
          </a:p>
          <a:p>
            <a:r>
              <a:rPr lang="en-US" sz="3200" dirty="0"/>
              <a:t>Thinking of a task parameter (before entering an input from the keyboard)</a:t>
            </a:r>
          </a:p>
          <a:p>
            <a:pPr marL="365760" lvl="1" indent="0">
              <a:buNone/>
            </a:pPr>
            <a:endParaRPr lang="en-US" dirty="0"/>
          </a:p>
        </p:txBody>
      </p:sp>
    </p:spTree>
    <p:extLst>
      <p:ext uri="{BB962C8B-B14F-4D97-AF65-F5344CB8AC3E}">
        <p14:creationId xmlns:p14="http://schemas.microsoft.com/office/powerpoint/2010/main" val="24450288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General suggestions for working with </a:t>
            </a:r>
            <a:r>
              <a:rPr lang="en-US" dirty="0" err="1"/>
              <a:t>Ms</a:t>
            </a:r>
            <a:endParaRPr lang="en-US" dirty="0"/>
          </a:p>
        </p:txBody>
      </p:sp>
      <p:sp>
        <p:nvSpPr>
          <p:cNvPr id="3" name="Content Placeholder 2"/>
          <p:cNvSpPr>
            <a:spLocks noGrp="1"/>
          </p:cNvSpPr>
          <p:nvPr>
            <p:ph sz="quarter" idx="1"/>
          </p:nvPr>
        </p:nvSpPr>
        <p:spPr/>
        <p:txBody>
          <a:bodyPr>
            <a:normAutofit/>
          </a:bodyPr>
          <a:lstStyle/>
          <a:p>
            <a:r>
              <a:rPr lang="en-US" b="1" i="1" dirty="0"/>
              <a:t>Consistency is key. </a:t>
            </a:r>
            <a:r>
              <a:rPr lang="en-US" dirty="0"/>
              <a:t>Consistency in </a:t>
            </a:r>
            <a:r>
              <a:rPr lang="en-US" b="1" dirty="0"/>
              <a:t>M </a:t>
            </a:r>
            <a:r>
              <a:rPr lang="en-US" dirty="0"/>
              <a:t>placement is more important than absolute accuracy - be sure that you follow the same rules or philosophy in assigning </a:t>
            </a:r>
            <a:r>
              <a:rPr lang="en-US" b="1" dirty="0" err="1"/>
              <a:t>M</a:t>
            </a:r>
            <a:r>
              <a:rPr lang="en-US" dirty="0" err="1"/>
              <a:t>s</a:t>
            </a:r>
            <a:r>
              <a:rPr lang="en-US" dirty="0"/>
              <a:t> to each alternative design.</a:t>
            </a:r>
          </a:p>
          <a:p>
            <a:r>
              <a:rPr lang="en-US" b="1" i="1" dirty="0"/>
              <a:t>Number of </a:t>
            </a:r>
            <a:r>
              <a:rPr lang="en-US" b="1" i="1" dirty="0" err="1"/>
              <a:t>Ms</a:t>
            </a:r>
            <a:r>
              <a:rPr lang="en-US" b="1" i="1" dirty="0"/>
              <a:t> is more important than placement. </a:t>
            </a:r>
            <a:r>
              <a:rPr lang="en-US" dirty="0"/>
              <a:t>Sometimes it's pretty clear what pieces of thinking the user might have to do, but the exact times or sequence in which they do these piece might be very unclear.</a:t>
            </a:r>
          </a:p>
          <a:p>
            <a:endParaRPr lang="en-US" dirty="0"/>
          </a:p>
        </p:txBody>
      </p:sp>
    </p:spTree>
    <p:extLst>
      <p:ext uri="{BB962C8B-B14F-4D97-AF65-F5344CB8AC3E}">
        <p14:creationId xmlns:p14="http://schemas.microsoft.com/office/powerpoint/2010/main" val="25015263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8E68F-C384-45D5-8646-2DA7EF8AE53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6AD98F8-E1FC-4987-BB53-C52DBAC987CB}"/>
              </a:ext>
            </a:extLst>
          </p:cNvPr>
          <p:cNvSpPr>
            <a:spLocks noGrp="1"/>
          </p:cNvSpPr>
          <p:nvPr>
            <p:ph sz="quarter" idx="1"/>
          </p:nvPr>
        </p:nvSpPr>
        <p:spPr/>
        <p:txBody>
          <a:bodyPr/>
          <a:lstStyle/>
          <a:p>
            <a:r>
              <a:rPr lang="en-US" dirty="0"/>
              <a:t>There is a standard set of operators for use in the KLM, whose execution times have been estimated from experimental data. </a:t>
            </a:r>
          </a:p>
        </p:txBody>
      </p:sp>
    </p:spTree>
    <p:extLst>
      <p:ext uri="{BB962C8B-B14F-4D97-AF65-F5344CB8AC3E}">
        <p14:creationId xmlns:p14="http://schemas.microsoft.com/office/powerpoint/2010/main" val="40808689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Estimated operator Times</a:t>
            </a:r>
          </a:p>
        </p:txBody>
      </p:sp>
      <p:sp>
        <p:nvSpPr>
          <p:cNvPr id="3" name="Content Placeholder 2"/>
          <p:cNvSpPr>
            <a:spLocks noGrp="1"/>
          </p:cNvSpPr>
          <p:nvPr>
            <p:ph sz="quarter" idx="1"/>
          </p:nvPr>
        </p:nvSpPr>
        <p:spPr/>
        <p:txBody>
          <a:bodyPr/>
          <a:lstStyle/>
          <a:p>
            <a:endParaRPr lang="en-US"/>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b="3279"/>
          <a:stretch/>
        </p:blipFill>
        <p:spPr bwMode="auto">
          <a:xfrm>
            <a:off x="457200" y="1524000"/>
            <a:ext cx="85344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042981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Estimated operator times</a:t>
            </a:r>
          </a:p>
        </p:txBody>
      </p:sp>
      <p:sp>
        <p:nvSpPr>
          <p:cNvPr id="3" name="Content Placeholder 2"/>
          <p:cNvSpPr>
            <a:spLocks noGrp="1"/>
          </p:cNvSpPr>
          <p:nvPr>
            <p:ph sz="quarter" idx="1"/>
          </p:nvPr>
        </p:nvSpPr>
        <p:spPr/>
        <p:txBody>
          <a:bodyPr/>
          <a:lstStyle/>
          <a:p>
            <a:endParaRPr lang="en-US"/>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750" y="1600200"/>
            <a:ext cx="8096250" cy="291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651451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Estimated operator times</a:t>
            </a:r>
          </a:p>
        </p:txBody>
      </p:sp>
      <p:sp>
        <p:nvSpPr>
          <p:cNvPr id="3" name="Content Placeholder 2"/>
          <p:cNvSpPr>
            <a:spLocks noGrp="1"/>
          </p:cNvSpPr>
          <p:nvPr>
            <p:ph sz="quarter" idx="1"/>
          </p:nvPr>
        </p:nvSpPr>
        <p:spPr/>
        <p:txBody>
          <a:bodyPr/>
          <a:lstStyle/>
          <a:p>
            <a:pPr marL="514350" indent="-514350">
              <a:buFont typeface="+mj-lt"/>
              <a:buAutoNum type="arabicPeriod"/>
            </a:pPr>
            <a:r>
              <a:rPr lang="en-US" dirty="0"/>
              <a:t>K = 0.28s</a:t>
            </a:r>
          </a:p>
          <a:p>
            <a:pPr marL="514350" indent="-514350">
              <a:buFont typeface="+mj-lt"/>
              <a:buAutoNum type="arabicPeriod"/>
            </a:pPr>
            <a:r>
              <a:rPr lang="en-US" dirty="0"/>
              <a:t>B = 0.1s</a:t>
            </a:r>
          </a:p>
          <a:p>
            <a:pPr marL="514350" indent="-514350">
              <a:buFont typeface="+mj-lt"/>
              <a:buAutoNum type="arabicPeriod"/>
            </a:pPr>
            <a:r>
              <a:rPr lang="en-US" dirty="0"/>
              <a:t>P = 1.1s</a:t>
            </a:r>
          </a:p>
          <a:p>
            <a:pPr marL="514350" indent="-514350">
              <a:buFont typeface="+mj-lt"/>
              <a:buAutoNum type="arabicPeriod"/>
            </a:pPr>
            <a:r>
              <a:rPr lang="en-US" dirty="0"/>
              <a:t>D = 1.1s (commonly)</a:t>
            </a:r>
          </a:p>
          <a:p>
            <a:pPr marL="514350" indent="-514350">
              <a:buFont typeface="+mj-lt"/>
              <a:buAutoNum type="arabicPeriod"/>
            </a:pPr>
            <a:r>
              <a:rPr lang="en-US" dirty="0"/>
              <a:t>H = 0.4s</a:t>
            </a:r>
          </a:p>
          <a:p>
            <a:pPr marL="514350" indent="-514350">
              <a:buFont typeface="+mj-lt"/>
              <a:buAutoNum type="arabicPeriod"/>
            </a:pPr>
            <a:r>
              <a:rPr lang="en-US" dirty="0"/>
              <a:t>M = 1.2s</a:t>
            </a:r>
          </a:p>
          <a:p>
            <a:pPr marL="514350" indent="-514350">
              <a:buFont typeface="+mj-lt"/>
              <a:buAutoNum type="arabicPeriod"/>
            </a:pPr>
            <a:endParaRPr lang="en-US" dirty="0"/>
          </a:p>
          <a:p>
            <a:pPr marL="514350" indent="-514350">
              <a:buFont typeface="+mj-lt"/>
              <a:buAutoNum type="arabicPeriod"/>
            </a:pPr>
            <a:endParaRPr lang="en-US" dirty="0"/>
          </a:p>
          <a:p>
            <a:endParaRPr lang="en-US" dirty="0"/>
          </a:p>
        </p:txBody>
      </p:sp>
    </p:spTree>
    <p:extLst>
      <p:ext uri="{BB962C8B-B14F-4D97-AF65-F5344CB8AC3E}">
        <p14:creationId xmlns:p14="http://schemas.microsoft.com/office/powerpoint/2010/main" val="3127832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KLM Analysis - Method</a:t>
            </a:r>
          </a:p>
        </p:txBody>
      </p:sp>
      <p:sp>
        <p:nvSpPr>
          <p:cNvPr id="3" name="Content Placeholder 2"/>
          <p:cNvSpPr>
            <a:spLocks noGrp="1"/>
          </p:cNvSpPr>
          <p:nvPr>
            <p:ph sz="quarter" idx="1"/>
          </p:nvPr>
        </p:nvSpPr>
        <p:spPr>
          <a:xfrm>
            <a:off x="612648" y="1600200"/>
            <a:ext cx="8153400" cy="5105400"/>
          </a:xfrm>
        </p:spPr>
        <p:txBody>
          <a:bodyPr>
            <a:noAutofit/>
          </a:bodyPr>
          <a:lstStyle/>
          <a:p>
            <a:r>
              <a:rPr lang="en-US" sz="2400" dirty="0"/>
              <a:t>Choose one or more representative task scenarios.</a:t>
            </a:r>
          </a:p>
          <a:p>
            <a:r>
              <a:rPr lang="en-US" sz="2400" dirty="0"/>
              <a:t>Have the design specified to the point that keystroke-level actions can be listed for the specific task scenarios.</a:t>
            </a:r>
          </a:p>
          <a:p>
            <a:r>
              <a:rPr lang="en-US" sz="2400" dirty="0"/>
              <a:t>For each task scenario, figure out the best way to do the task, or the way that you assume users will do it.</a:t>
            </a:r>
          </a:p>
          <a:p>
            <a:r>
              <a:rPr lang="en-US" sz="2400" dirty="0"/>
              <a:t>List the keystroke-level actions</a:t>
            </a:r>
          </a:p>
          <a:p>
            <a:r>
              <a:rPr lang="en-US" sz="2400" dirty="0"/>
              <a:t>Insert mental operators for when user has to stop and think.</a:t>
            </a:r>
          </a:p>
          <a:p>
            <a:r>
              <a:rPr lang="en-US" sz="2400" dirty="0"/>
              <a:t>Look up the standard execution time to each operator. Add up the execution times for the operators.</a:t>
            </a:r>
          </a:p>
          <a:p>
            <a:r>
              <a:rPr lang="en-US" sz="2400" dirty="0"/>
              <a:t>The total of the operator times is the estimated time to complete the task.</a:t>
            </a:r>
          </a:p>
        </p:txBody>
      </p:sp>
    </p:spTree>
    <p:extLst>
      <p:ext uri="{BB962C8B-B14F-4D97-AF65-F5344CB8AC3E}">
        <p14:creationId xmlns:p14="http://schemas.microsoft.com/office/powerpoint/2010/main" val="313131874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Assumptions</a:t>
            </a:r>
          </a:p>
        </p:txBody>
      </p:sp>
      <p:sp>
        <p:nvSpPr>
          <p:cNvPr id="3" name="Content Placeholder 2"/>
          <p:cNvSpPr>
            <a:spLocks noGrp="1"/>
          </p:cNvSpPr>
          <p:nvPr>
            <p:ph sz="quarter" idx="1"/>
          </p:nvPr>
        </p:nvSpPr>
        <p:spPr/>
        <p:txBody>
          <a:bodyPr>
            <a:normAutofit fontScale="92500" lnSpcReduction="10000"/>
          </a:bodyPr>
          <a:lstStyle/>
          <a:p>
            <a:r>
              <a:rPr lang="en-US" dirty="0"/>
              <a:t>The user is an expert in the domain and system being analyzed.</a:t>
            </a:r>
          </a:p>
          <a:p>
            <a:r>
              <a:rPr lang="en-US" dirty="0"/>
              <a:t>The user will start with her hands on the keyboard or stated otherwise.</a:t>
            </a:r>
          </a:p>
          <a:p>
            <a:r>
              <a:rPr lang="en-US" dirty="0"/>
              <a:t>The user is not interrupted during the tasks.</a:t>
            </a:r>
          </a:p>
          <a:p>
            <a:r>
              <a:rPr lang="en-US" dirty="0"/>
              <a:t>The user is familiar with the hardware.</a:t>
            </a:r>
          </a:p>
          <a:p>
            <a:r>
              <a:rPr lang="en-US" dirty="0"/>
              <a:t>The user's system has essentially instantaneous response time (or you will include a "Wait" operator).</a:t>
            </a:r>
          </a:p>
          <a:p>
            <a:r>
              <a:rPr lang="en-US" dirty="0"/>
              <a:t>The user is an average typist (and thus will take 0.28 seconds to press a key).</a:t>
            </a:r>
          </a:p>
          <a:p>
            <a:endParaRPr lang="en-US" dirty="0"/>
          </a:p>
        </p:txBody>
      </p:sp>
    </p:spTree>
    <p:extLst>
      <p:ext uri="{BB962C8B-B14F-4D97-AF65-F5344CB8AC3E}">
        <p14:creationId xmlns:p14="http://schemas.microsoft.com/office/powerpoint/2010/main" val="9853817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8C193-9041-403D-B999-E384A233F9A2}"/>
              </a:ext>
            </a:extLst>
          </p:cNvPr>
          <p:cNvSpPr>
            <a:spLocks noGrp="1"/>
          </p:cNvSpPr>
          <p:nvPr>
            <p:ph type="title"/>
          </p:nvPr>
        </p:nvSpPr>
        <p:spPr>
          <a:xfrm>
            <a:off x="612648" y="228600"/>
            <a:ext cx="8153400" cy="1143000"/>
          </a:xfrm>
        </p:spPr>
        <p:txBody>
          <a:bodyPr>
            <a:normAutofit fontScale="90000"/>
          </a:bodyPr>
          <a:lstStyle/>
          <a:p>
            <a:r>
              <a:rPr lang="en-US" dirty="0"/>
              <a:t>Scenario 1 : </a:t>
            </a:r>
            <a:br>
              <a:rPr lang="en-US" dirty="0"/>
            </a:br>
            <a:r>
              <a:rPr lang="en-US" dirty="0"/>
              <a:t>Deleting a file (Drag to Trash Can)</a:t>
            </a:r>
          </a:p>
        </p:txBody>
      </p:sp>
      <p:sp>
        <p:nvSpPr>
          <p:cNvPr id="3" name="Content Placeholder 2">
            <a:extLst>
              <a:ext uri="{FF2B5EF4-FFF2-40B4-BE49-F238E27FC236}">
                <a16:creationId xmlns:a16="http://schemas.microsoft.com/office/drawing/2014/main" id="{513CD0D7-4EFD-4EF7-A6DE-C879F1ADACDD}"/>
              </a:ext>
            </a:extLst>
          </p:cNvPr>
          <p:cNvSpPr>
            <a:spLocks noGrp="1"/>
          </p:cNvSpPr>
          <p:nvPr>
            <p:ph sz="quarter" idx="1"/>
          </p:nvPr>
        </p:nvSpPr>
        <p:spPr/>
        <p:txBody>
          <a:bodyPr/>
          <a:lstStyle/>
          <a:p>
            <a:r>
              <a:rPr lang="en-US" dirty="0"/>
              <a:t>One file is to be deleted</a:t>
            </a:r>
          </a:p>
          <a:p>
            <a:r>
              <a:rPr lang="en-US" dirty="0"/>
              <a:t>File icon is visible and can be pointed to </a:t>
            </a:r>
          </a:p>
          <a:p>
            <a:r>
              <a:rPr lang="en-US" dirty="0"/>
              <a:t>Trash can icon is visible and can be pointed to</a:t>
            </a:r>
          </a:p>
          <a:p>
            <a:r>
              <a:rPr lang="en-US" dirty="0"/>
              <a:t>Cursor must end up in the original window that the file icon was in </a:t>
            </a:r>
          </a:p>
          <a:p>
            <a:r>
              <a:rPr lang="en-US" dirty="0"/>
              <a:t>Hand starts and ends on mouse </a:t>
            </a:r>
          </a:p>
          <a:p>
            <a:r>
              <a:rPr lang="en-US" dirty="0"/>
              <a:t>User is average non-secretary typist.</a:t>
            </a:r>
          </a:p>
        </p:txBody>
      </p:sp>
    </p:spTree>
    <p:extLst>
      <p:ext uri="{BB962C8B-B14F-4D97-AF65-F5344CB8AC3E}">
        <p14:creationId xmlns:p14="http://schemas.microsoft.com/office/powerpoint/2010/main" val="378884951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08675-1C42-4F0F-989F-59699809CF32}"/>
              </a:ext>
            </a:extLst>
          </p:cNvPr>
          <p:cNvSpPr>
            <a:spLocks noGrp="1"/>
          </p:cNvSpPr>
          <p:nvPr>
            <p:ph type="title"/>
          </p:nvPr>
        </p:nvSpPr>
        <p:spPr/>
        <p:txBody>
          <a:bodyPr/>
          <a:lstStyle/>
          <a:p>
            <a:r>
              <a:rPr lang="en-US" dirty="0"/>
              <a:t>Action Sequence</a:t>
            </a:r>
          </a:p>
        </p:txBody>
      </p:sp>
      <p:sp>
        <p:nvSpPr>
          <p:cNvPr id="3" name="Content Placeholder 2">
            <a:extLst>
              <a:ext uri="{FF2B5EF4-FFF2-40B4-BE49-F238E27FC236}">
                <a16:creationId xmlns:a16="http://schemas.microsoft.com/office/drawing/2014/main" id="{62CA777C-1CBC-4015-B165-00F17C6E7399}"/>
              </a:ext>
            </a:extLst>
          </p:cNvPr>
          <p:cNvSpPr>
            <a:spLocks noGrp="1"/>
          </p:cNvSpPr>
          <p:nvPr>
            <p:ph sz="quarter" idx="1"/>
          </p:nvPr>
        </p:nvSpPr>
        <p:spPr/>
        <p:txBody>
          <a:bodyPr/>
          <a:lstStyle/>
          <a:p>
            <a:r>
              <a:rPr lang="en-US" dirty="0"/>
              <a:t>1. point to file icon </a:t>
            </a:r>
          </a:p>
          <a:p>
            <a:r>
              <a:rPr lang="en-US" dirty="0"/>
              <a:t>2. press and hold mouse button </a:t>
            </a:r>
          </a:p>
          <a:p>
            <a:r>
              <a:rPr lang="en-US" dirty="0"/>
              <a:t>3. drag file icon to trash can icon </a:t>
            </a:r>
          </a:p>
          <a:p>
            <a:r>
              <a:rPr lang="en-US" dirty="0"/>
              <a:t>4. release mouse button </a:t>
            </a:r>
          </a:p>
          <a:p>
            <a:r>
              <a:rPr lang="en-US" dirty="0"/>
              <a:t>5. point to original window</a:t>
            </a:r>
          </a:p>
          <a:p>
            <a:endParaRPr lang="en-US" dirty="0"/>
          </a:p>
          <a:p>
            <a:endParaRPr lang="en-US" dirty="0"/>
          </a:p>
        </p:txBody>
      </p:sp>
    </p:spTree>
    <p:extLst>
      <p:ext uri="{BB962C8B-B14F-4D97-AF65-F5344CB8AC3E}">
        <p14:creationId xmlns:p14="http://schemas.microsoft.com/office/powerpoint/2010/main" val="52459407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08675-1C42-4F0F-989F-59699809CF32}"/>
              </a:ext>
            </a:extLst>
          </p:cNvPr>
          <p:cNvSpPr>
            <a:spLocks noGrp="1"/>
          </p:cNvSpPr>
          <p:nvPr>
            <p:ph type="title"/>
          </p:nvPr>
        </p:nvSpPr>
        <p:spPr/>
        <p:txBody>
          <a:bodyPr/>
          <a:lstStyle/>
          <a:p>
            <a:r>
              <a:rPr lang="en-US" dirty="0"/>
              <a:t>Operator Sequence</a:t>
            </a:r>
          </a:p>
        </p:txBody>
      </p:sp>
      <p:sp>
        <p:nvSpPr>
          <p:cNvPr id="3" name="Content Placeholder 2">
            <a:extLst>
              <a:ext uri="{FF2B5EF4-FFF2-40B4-BE49-F238E27FC236}">
                <a16:creationId xmlns:a16="http://schemas.microsoft.com/office/drawing/2014/main" id="{62CA777C-1CBC-4015-B165-00F17C6E7399}"/>
              </a:ext>
            </a:extLst>
          </p:cNvPr>
          <p:cNvSpPr>
            <a:spLocks noGrp="1"/>
          </p:cNvSpPr>
          <p:nvPr>
            <p:ph sz="quarter" idx="1"/>
          </p:nvPr>
        </p:nvSpPr>
        <p:spPr/>
        <p:txBody>
          <a:bodyPr>
            <a:normAutofit fontScale="92500" lnSpcReduction="20000"/>
          </a:bodyPr>
          <a:lstStyle/>
          <a:p>
            <a:r>
              <a:rPr lang="en-US" dirty="0"/>
              <a:t>1. point to file icon P </a:t>
            </a:r>
          </a:p>
          <a:p>
            <a:r>
              <a:rPr lang="en-US" dirty="0"/>
              <a:t>2. press and hold mouse button B </a:t>
            </a:r>
          </a:p>
          <a:p>
            <a:r>
              <a:rPr lang="en-US" dirty="0"/>
              <a:t>3. drag file icon to trash can icon P </a:t>
            </a:r>
          </a:p>
          <a:p>
            <a:r>
              <a:rPr lang="en-US" dirty="0"/>
              <a:t>4. release mouse button B </a:t>
            </a:r>
          </a:p>
          <a:p>
            <a:r>
              <a:rPr lang="en-US" dirty="0"/>
              <a:t>5. point to original window P</a:t>
            </a:r>
          </a:p>
          <a:p>
            <a:endParaRPr lang="en-US" dirty="0"/>
          </a:p>
          <a:p>
            <a:endParaRPr lang="en-US" dirty="0"/>
          </a:p>
          <a:p>
            <a:r>
              <a:rPr lang="en-US" dirty="0"/>
              <a:t>Total time = 3P + 2B = 3*1.1 + 2*.1 = 3.5 sec</a:t>
            </a:r>
          </a:p>
          <a:p>
            <a:endParaRPr lang="en-US" dirty="0"/>
          </a:p>
          <a:p>
            <a:r>
              <a:rPr lang="en-US" dirty="0"/>
              <a:t>Put mental in above task. </a:t>
            </a:r>
          </a:p>
          <a:p>
            <a:endParaRPr lang="en-US" dirty="0"/>
          </a:p>
        </p:txBody>
      </p:sp>
    </p:spTree>
    <p:extLst>
      <p:ext uri="{BB962C8B-B14F-4D97-AF65-F5344CB8AC3E}">
        <p14:creationId xmlns:p14="http://schemas.microsoft.com/office/powerpoint/2010/main" val="423793479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8C193-9041-403D-B999-E384A233F9A2}"/>
              </a:ext>
            </a:extLst>
          </p:cNvPr>
          <p:cNvSpPr>
            <a:spLocks noGrp="1"/>
          </p:cNvSpPr>
          <p:nvPr>
            <p:ph type="title"/>
          </p:nvPr>
        </p:nvSpPr>
        <p:spPr/>
        <p:txBody>
          <a:bodyPr>
            <a:normAutofit fontScale="90000"/>
          </a:bodyPr>
          <a:lstStyle/>
          <a:p>
            <a:r>
              <a:rPr lang="en-US" dirty="0"/>
              <a:t>Scenario 1 : Deleting a file (Method B)</a:t>
            </a:r>
          </a:p>
        </p:txBody>
      </p:sp>
      <p:sp>
        <p:nvSpPr>
          <p:cNvPr id="3" name="Content Placeholder 2">
            <a:extLst>
              <a:ext uri="{FF2B5EF4-FFF2-40B4-BE49-F238E27FC236}">
                <a16:creationId xmlns:a16="http://schemas.microsoft.com/office/drawing/2014/main" id="{513CD0D7-4EFD-4EF7-A6DE-C879F1ADACDD}"/>
              </a:ext>
            </a:extLst>
          </p:cNvPr>
          <p:cNvSpPr>
            <a:spLocks noGrp="1"/>
          </p:cNvSpPr>
          <p:nvPr>
            <p:ph sz="quarter" idx="1"/>
          </p:nvPr>
        </p:nvSpPr>
        <p:spPr/>
        <p:txBody>
          <a:bodyPr/>
          <a:lstStyle/>
          <a:p>
            <a:r>
              <a:rPr lang="en-US" dirty="0"/>
              <a:t>In the new design, the procedure we intend people to use is to first select the file to be deleted, and then select DELETE on the FILE menu. </a:t>
            </a:r>
          </a:p>
        </p:txBody>
      </p:sp>
    </p:spTree>
    <p:extLst>
      <p:ext uri="{BB962C8B-B14F-4D97-AF65-F5344CB8AC3E}">
        <p14:creationId xmlns:p14="http://schemas.microsoft.com/office/powerpoint/2010/main" val="112716368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08675-1C42-4F0F-989F-59699809CF32}"/>
              </a:ext>
            </a:extLst>
          </p:cNvPr>
          <p:cNvSpPr>
            <a:spLocks noGrp="1"/>
          </p:cNvSpPr>
          <p:nvPr>
            <p:ph type="title"/>
          </p:nvPr>
        </p:nvSpPr>
        <p:spPr/>
        <p:txBody>
          <a:bodyPr/>
          <a:lstStyle/>
          <a:p>
            <a:r>
              <a:rPr lang="en-US" dirty="0"/>
              <a:t>Action Sequence</a:t>
            </a:r>
          </a:p>
        </p:txBody>
      </p:sp>
      <p:sp>
        <p:nvSpPr>
          <p:cNvPr id="3" name="Content Placeholder 2">
            <a:extLst>
              <a:ext uri="{FF2B5EF4-FFF2-40B4-BE49-F238E27FC236}">
                <a16:creationId xmlns:a16="http://schemas.microsoft.com/office/drawing/2014/main" id="{62CA777C-1CBC-4015-B165-00F17C6E7399}"/>
              </a:ext>
            </a:extLst>
          </p:cNvPr>
          <p:cNvSpPr>
            <a:spLocks noGrp="1"/>
          </p:cNvSpPr>
          <p:nvPr>
            <p:ph sz="quarter" idx="1"/>
          </p:nvPr>
        </p:nvSpPr>
        <p:spPr/>
        <p:txBody>
          <a:bodyPr/>
          <a:lstStyle/>
          <a:p>
            <a:r>
              <a:rPr lang="en-US" dirty="0"/>
              <a:t>1. point to file icon </a:t>
            </a:r>
          </a:p>
          <a:p>
            <a:r>
              <a:rPr lang="en-US" dirty="0"/>
              <a:t>2. click mouse button </a:t>
            </a:r>
          </a:p>
          <a:p>
            <a:r>
              <a:rPr lang="en-US" dirty="0"/>
              <a:t>3. point to file menu </a:t>
            </a:r>
          </a:p>
          <a:p>
            <a:r>
              <a:rPr lang="en-US" dirty="0"/>
              <a:t>4. click mouse button </a:t>
            </a:r>
          </a:p>
          <a:p>
            <a:r>
              <a:rPr lang="en-US" dirty="0"/>
              <a:t>5. point to DELETE item </a:t>
            </a:r>
          </a:p>
          <a:p>
            <a:r>
              <a:rPr lang="en-US" dirty="0"/>
              <a:t>6. click mouse button</a:t>
            </a:r>
          </a:p>
          <a:p>
            <a:r>
              <a:rPr lang="en-US" dirty="0"/>
              <a:t> 7. point to original window</a:t>
            </a:r>
          </a:p>
        </p:txBody>
      </p:sp>
    </p:spTree>
    <p:extLst>
      <p:ext uri="{BB962C8B-B14F-4D97-AF65-F5344CB8AC3E}">
        <p14:creationId xmlns:p14="http://schemas.microsoft.com/office/powerpoint/2010/main" val="301155839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08675-1C42-4F0F-989F-59699809CF32}"/>
              </a:ext>
            </a:extLst>
          </p:cNvPr>
          <p:cNvSpPr>
            <a:spLocks noGrp="1"/>
          </p:cNvSpPr>
          <p:nvPr>
            <p:ph type="title"/>
          </p:nvPr>
        </p:nvSpPr>
        <p:spPr/>
        <p:txBody>
          <a:bodyPr/>
          <a:lstStyle/>
          <a:p>
            <a:r>
              <a:rPr lang="en-US" dirty="0"/>
              <a:t>Operator Sequence</a:t>
            </a:r>
          </a:p>
        </p:txBody>
      </p:sp>
      <p:sp>
        <p:nvSpPr>
          <p:cNvPr id="3" name="Content Placeholder 2">
            <a:extLst>
              <a:ext uri="{FF2B5EF4-FFF2-40B4-BE49-F238E27FC236}">
                <a16:creationId xmlns:a16="http://schemas.microsoft.com/office/drawing/2014/main" id="{62CA777C-1CBC-4015-B165-00F17C6E7399}"/>
              </a:ext>
            </a:extLst>
          </p:cNvPr>
          <p:cNvSpPr>
            <a:spLocks noGrp="1"/>
          </p:cNvSpPr>
          <p:nvPr>
            <p:ph sz="quarter" idx="1"/>
          </p:nvPr>
        </p:nvSpPr>
        <p:spPr/>
        <p:txBody>
          <a:bodyPr>
            <a:normAutofit fontScale="85000" lnSpcReduction="20000"/>
          </a:bodyPr>
          <a:lstStyle/>
          <a:p>
            <a:r>
              <a:rPr lang="en-US" dirty="0"/>
              <a:t>1. point to file icon P </a:t>
            </a:r>
          </a:p>
          <a:p>
            <a:r>
              <a:rPr lang="en-US" dirty="0"/>
              <a:t>2. click mouse button BB </a:t>
            </a:r>
          </a:p>
          <a:p>
            <a:r>
              <a:rPr lang="en-US" dirty="0"/>
              <a:t>3. point to file menu P </a:t>
            </a:r>
          </a:p>
          <a:p>
            <a:r>
              <a:rPr lang="en-US" dirty="0"/>
              <a:t>4. click mouse button BB</a:t>
            </a:r>
          </a:p>
          <a:p>
            <a:r>
              <a:rPr lang="en-US" dirty="0"/>
              <a:t>5. point to DELETE item P </a:t>
            </a:r>
          </a:p>
          <a:p>
            <a:r>
              <a:rPr lang="en-US" dirty="0"/>
              <a:t>6. click mouse button BB </a:t>
            </a:r>
          </a:p>
          <a:p>
            <a:r>
              <a:rPr lang="en-US" dirty="0"/>
              <a:t>7. point to original window P </a:t>
            </a:r>
          </a:p>
          <a:p>
            <a:endParaRPr lang="en-US" dirty="0"/>
          </a:p>
          <a:p>
            <a:r>
              <a:rPr lang="en-US" dirty="0"/>
              <a:t>Total time = 4P + 6B = 4*1.1 + 6*.1 = 5.0 sec</a:t>
            </a:r>
          </a:p>
          <a:p>
            <a:endParaRPr lang="en-US" dirty="0"/>
          </a:p>
          <a:p>
            <a:r>
              <a:rPr lang="en-US" dirty="0"/>
              <a:t>Put mental in above task. </a:t>
            </a:r>
          </a:p>
          <a:p>
            <a:endParaRPr lang="en-US" dirty="0"/>
          </a:p>
        </p:txBody>
      </p:sp>
    </p:spTree>
    <p:extLst>
      <p:ext uri="{BB962C8B-B14F-4D97-AF65-F5344CB8AC3E}">
        <p14:creationId xmlns:p14="http://schemas.microsoft.com/office/powerpoint/2010/main" val="419018430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51F31-C3A8-4282-B0F6-D2BF1023F726}"/>
              </a:ext>
            </a:extLst>
          </p:cNvPr>
          <p:cNvSpPr>
            <a:spLocks noGrp="1"/>
          </p:cNvSpPr>
          <p:nvPr>
            <p:ph type="title"/>
          </p:nvPr>
        </p:nvSpPr>
        <p:spPr/>
        <p:txBody>
          <a:bodyPr>
            <a:normAutofit/>
          </a:bodyPr>
          <a:lstStyle/>
          <a:p>
            <a:r>
              <a:rPr lang="en-US" dirty="0"/>
              <a:t>Power key variation on new design.</a:t>
            </a:r>
          </a:p>
        </p:txBody>
      </p:sp>
      <p:sp>
        <p:nvSpPr>
          <p:cNvPr id="3" name="Content Placeholder 2">
            <a:extLst>
              <a:ext uri="{FF2B5EF4-FFF2-40B4-BE49-F238E27FC236}">
                <a16:creationId xmlns:a16="http://schemas.microsoft.com/office/drawing/2014/main" id="{D3F9DD5B-1FD6-450E-B938-E7BD7E185EAD}"/>
              </a:ext>
            </a:extLst>
          </p:cNvPr>
          <p:cNvSpPr>
            <a:spLocks noGrp="1"/>
          </p:cNvSpPr>
          <p:nvPr>
            <p:ph sz="quarter" idx="1"/>
          </p:nvPr>
        </p:nvSpPr>
        <p:spPr/>
        <p:txBody>
          <a:bodyPr/>
          <a:lstStyle/>
          <a:p>
            <a:r>
              <a:rPr lang="en-US" dirty="0"/>
              <a:t>We will add a "power key" for the delete file operation, such as ctrl + T (T for "trash"). For the sake of illustration, we assume that user uses both hands to type the power key, and so will have to move the hand from the mouse to the keyboard. The general procedure is now to select the file to be deleted, then hit the command keystroke for delete. He will move his hand back to mouse.  </a:t>
            </a:r>
          </a:p>
        </p:txBody>
      </p:sp>
    </p:spTree>
    <p:extLst>
      <p:ext uri="{BB962C8B-B14F-4D97-AF65-F5344CB8AC3E}">
        <p14:creationId xmlns:p14="http://schemas.microsoft.com/office/powerpoint/2010/main" val="136253665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529A8-6247-4C8A-BA5C-AD0FCE885AE3}"/>
              </a:ext>
            </a:extLst>
          </p:cNvPr>
          <p:cNvSpPr>
            <a:spLocks noGrp="1"/>
          </p:cNvSpPr>
          <p:nvPr>
            <p:ph type="title"/>
          </p:nvPr>
        </p:nvSpPr>
        <p:spPr/>
        <p:txBody>
          <a:bodyPr/>
          <a:lstStyle/>
          <a:p>
            <a:r>
              <a:rPr lang="en-US" dirty="0"/>
              <a:t>Operator sequence</a:t>
            </a:r>
          </a:p>
        </p:txBody>
      </p:sp>
      <p:sp>
        <p:nvSpPr>
          <p:cNvPr id="3" name="Content Placeholder 2">
            <a:extLst>
              <a:ext uri="{FF2B5EF4-FFF2-40B4-BE49-F238E27FC236}">
                <a16:creationId xmlns:a16="http://schemas.microsoft.com/office/drawing/2014/main" id="{CAAD80E1-1B39-4C2A-990F-A1CFDAF766AD}"/>
              </a:ext>
            </a:extLst>
          </p:cNvPr>
          <p:cNvSpPr>
            <a:spLocks noGrp="1"/>
          </p:cNvSpPr>
          <p:nvPr>
            <p:ph sz="quarter" idx="1"/>
          </p:nvPr>
        </p:nvSpPr>
        <p:spPr/>
        <p:txBody>
          <a:bodyPr>
            <a:normAutofit fontScale="92500" lnSpcReduction="20000"/>
          </a:bodyPr>
          <a:lstStyle/>
          <a:p>
            <a:r>
              <a:rPr lang="en-US" dirty="0"/>
              <a:t>1. point to file icon P </a:t>
            </a:r>
          </a:p>
          <a:p>
            <a:r>
              <a:rPr lang="en-US" dirty="0"/>
              <a:t>2. click mouse button BB </a:t>
            </a:r>
          </a:p>
          <a:p>
            <a:r>
              <a:rPr lang="en-US" dirty="0"/>
              <a:t>3. move hand to keyboard H </a:t>
            </a:r>
          </a:p>
          <a:p>
            <a:r>
              <a:rPr lang="en-US" dirty="0"/>
              <a:t>4. hit command key KK </a:t>
            </a:r>
          </a:p>
          <a:p>
            <a:r>
              <a:rPr lang="en-US" dirty="0"/>
              <a:t>5. move hand back to mouse H </a:t>
            </a:r>
          </a:p>
          <a:p>
            <a:endParaRPr lang="en-US" dirty="0"/>
          </a:p>
          <a:p>
            <a:r>
              <a:rPr lang="en-US" dirty="0"/>
              <a:t>Total time = P + 2B + 2H + 2K = 1.1 + .2 + .8 + .56 = 2.66 sec</a:t>
            </a:r>
          </a:p>
          <a:p>
            <a:endParaRPr lang="en-US" dirty="0"/>
          </a:p>
          <a:p>
            <a:r>
              <a:rPr lang="en-US" dirty="0"/>
              <a:t>Put mental in above task. </a:t>
            </a:r>
          </a:p>
          <a:p>
            <a:endParaRPr lang="en-US" dirty="0"/>
          </a:p>
        </p:txBody>
      </p:sp>
    </p:spTree>
    <p:extLst>
      <p:ext uri="{BB962C8B-B14F-4D97-AF65-F5344CB8AC3E}">
        <p14:creationId xmlns:p14="http://schemas.microsoft.com/office/powerpoint/2010/main" val="356038349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 deleting a word</a:t>
            </a:r>
          </a:p>
        </p:txBody>
      </p:sp>
      <p:sp>
        <p:nvSpPr>
          <p:cNvPr id="3" name="Content Placeholder 2"/>
          <p:cNvSpPr>
            <a:spLocks noGrp="1"/>
          </p:cNvSpPr>
          <p:nvPr>
            <p:ph sz="quarter" idx="1"/>
          </p:nvPr>
        </p:nvSpPr>
        <p:spPr>
          <a:xfrm>
            <a:off x="0" y="1600200"/>
            <a:ext cx="5711952" cy="4495800"/>
          </a:xfrm>
        </p:spPr>
        <p:txBody>
          <a:bodyPr>
            <a:normAutofit/>
          </a:bodyPr>
          <a:lstStyle/>
          <a:p>
            <a:r>
              <a:rPr lang="en-US" dirty="0"/>
              <a:t>Shift-click selection</a:t>
            </a:r>
          </a:p>
          <a:p>
            <a:pPr marL="880110" lvl="1" indent="-514350">
              <a:buFont typeface="+mj-lt"/>
              <a:buAutoNum type="arabicPeriod"/>
            </a:pPr>
            <a:r>
              <a:rPr lang="en-US" dirty="0"/>
              <a:t>Move pointer to the start of word</a:t>
            </a:r>
          </a:p>
          <a:p>
            <a:pPr marL="880110" lvl="1" indent="-514350">
              <a:buFont typeface="+mj-lt"/>
              <a:buAutoNum type="arabicPeriod"/>
            </a:pPr>
            <a:r>
              <a:rPr lang="en-US" dirty="0"/>
              <a:t>Click at the start of word</a:t>
            </a:r>
          </a:p>
          <a:p>
            <a:pPr marL="880110" lvl="1" indent="-514350">
              <a:buFont typeface="+mj-lt"/>
              <a:buAutoNum type="arabicPeriod"/>
            </a:pPr>
            <a:r>
              <a:rPr lang="en-US" dirty="0"/>
              <a:t>Move pointer to the end of word</a:t>
            </a:r>
          </a:p>
          <a:p>
            <a:pPr marL="880110" lvl="1" indent="-514350">
              <a:buFont typeface="+mj-lt"/>
              <a:buAutoNum type="arabicPeriod"/>
            </a:pPr>
            <a:r>
              <a:rPr lang="en-US" dirty="0"/>
              <a:t>Move hand to shift key</a:t>
            </a:r>
          </a:p>
          <a:p>
            <a:pPr marL="880110" lvl="1" indent="-514350">
              <a:buFont typeface="+mj-lt"/>
              <a:buAutoNum type="arabicPeriod"/>
            </a:pPr>
            <a:r>
              <a:rPr lang="en-US" dirty="0"/>
              <a:t>Press shift</a:t>
            </a:r>
          </a:p>
          <a:p>
            <a:pPr marL="880110" lvl="1" indent="-514350">
              <a:buFont typeface="+mj-lt"/>
              <a:buAutoNum type="arabicPeriod"/>
            </a:pPr>
            <a:r>
              <a:rPr lang="en-US" dirty="0"/>
              <a:t>Click to select</a:t>
            </a:r>
          </a:p>
          <a:p>
            <a:pPr marL="880110" lvl="1" indent="-514350">
              <a:buFont typeface="+mj-lt"/>
              <a:buAutoNum type="arabicPeriod"/>
            </a:pPr>
            <a:r>
              <a:rPr lang="en-US" dirty="0"/>
              <a:t>Move hand to the Del key</a:t>
            </a:r>
          </a:p>
          <a:p>
            <a:pPr marL="880110" lvl="1" indent="-514350">
              <a:buFont typeface="+mj-lt"/>
              <a:buAutoNum type="arabicPeriod"/>
            </a:pPr>
            <a:r>
              <a:rPr lang="en-US" dirty="0"/>
              <a:t>Press key</a:t>
            </a:r>
          </a:p>
          <a:p>
            <a:pPr marL="880110" lvl="1" indent="-514350">
              <a:buFont typeface="+mj-lt"/>
              <a:buAutoNum type="arabicPeriod"/>
            </a:pPr>
            <a:endParaRPr lang="en-US" dirty="0"/>
          </a:p>
        </p:txBody>
      </p:sp>
      <p:sp>
        <p:nvSpPr>
          <p:cNvPr id="4" name="Content Placeholder 2"/>
          <p:cNvSpPr txBox="1">
            <a:spLocks/>
          </p:cNvSpPr>
          <p:nvPr/>
        </p:nvSpPr>
        <p:spPr>
          <a:xfrm>
            <a:off x="7223744" y="2095500"/>
            <a:ext cx="1222248" cy="4495800"/>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r>
              <a:rPr lang="en-US" dirty="0"/>
              <a:t>P</a:t>
            </a:r>
          </a:p>
          <a:p>
            <a:r>
              <a:rPr lang="en-US" dirty="0"/>
              <a:t>B </a:t>
            </a:r>
            <a:r>
              <a:rPr lang="en-US" dirty="0" err="1"/>
              <a:t>B</a:t>
            </a:r>
            <a:endParaRPr lang="en-US" dirty="0"/>
          </a:p>
          <a:p>
            <a:r>
              <a:rPr lang="en-US" dirty="0"/>
              <a:t>P</a:t>
            </a:r>
          </a:p>
          <a:p>
            <a:r>
              <a:rPr lang="en-US" dirty="0"/>
              <a:t>H</a:t>
            </a:r>
          </a:p>
          <a:p>
            <a:r>
              <a:rPr lang="en-US" dirty="0"/>
              <a:t>K</a:t>
            </a:r>
          </a:p>
          <a:p>
            <a:r>
              <a:rPr lang="en-US" dirty="0"/>
              <a:t>B </a:t>
            </a:r>
            <a:r>
              <a:rPr lang="en-US" dirty="0" err="1"/>
              <a:t>B</a:t>
            </a:r>
            <a:endParaRPr lang="en-US" dirty="0"/>
          </a:p>
          <a:p>
            <a:r>
              <a:rPr lang="en-US" dirty="0"/>
              <a:t>H</a:t>
            </a:r>
          </a:p>
          <a:p>
            <a:r>
              <a:rPr lang="en-US" dirty="0"/>
              <a:t>K</a:t>
            </a:r>
          </a:p>
        </p:txBody>
      </p:sp>
      <p:cxnSp>
        <p:nvCxnSpPr>
          <p:cNvPr id="6" name="Straight Arrow Connector 5"/>
          <p:cNvCxnSpPr/>
          <p:nvPr/>
        </p:nvCxnSpPr>
        <p:spPr>
          <a:xfrm>
            <a:off x="5486400" y="2362200"/>
            <a:ext cx="1673352"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p:cNvCxnSpPr/>
          <p:nvPr/>
        </p:nvCxnSpPr>
        <p:spPr>
          <a:xfrm>
            <a:off x="4419600" y="2819400"/>
            <a:ext cx="2740152"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p:cNvCxnSpPr/>
          <p:nvPr/>
        </p:nvCxnSpPr>
        <p:spPr>
          <a:xfrm>
            <a:off x="5332476" y="3374320"/>
            <a:ext cx="1981200" cy="7620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p:cNvCxnSpPr/>
          <p:nvPr/>
        </p:nvCxnSpPr>
        <p:spPr>
          <a:xfrm>
            <a:off x="4020312" y="3831520"/>
            <a:ext cx="3267424" cy="17391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p:cNvCxnSpPr/>
          <p:nvPr/>
        </p:nvCxnSpPr>
        <p:spPr>
          <a:xfrm>
            <a:off x="2421550" y="4262826"/>
            <a:ext cx="4786954" cy="30479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p:cNvCxnSpPr/>
          <p:nvPr/>
        </p:nvCxnSpPr>
        <p:spPr>
          <a:xfrm>
            <a:off x="3002669" y="4761866"/>
            <a:ext cx="4285067" cy="26296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22" name="TextBox 21"/>
          <p:cNvSpPr txBox="1"/>
          <p:nvPr/>
        </p:nvSpPr>
        <p:spPr>
          <a:xfrm>
            <a:off x="505813" y="5974220"/>
            <a:ext cx="4113627" cy="923330"/>
          </a:xfrm>
          <a:prstGeom prst="rect">
            <a:avLst/>
          </a:prstGeom>
          <a:noFill/>
        </p:spPr>
        <p:txBody>
          <a:bodyPr wrap="none" rtlCol="0">
            <a:spAutoFit/>
          </a:bodyPr>
          <a:lstStyle/>
          <a:p>
            <a:r>
              <a:rPr lang="en-US" dirty="0"/>
              <a:t>Total = 2P + 4B + 2K + 2H</a:t>
            </a:r>
          </a:p>
          <a:p>
            <a:r>
              <a:rPr lang="en-US" dirty="0"/>
              <a:t>        = 2(1.1) + 4(0.1) + 2(0.28) + 2(0.4)</a:t>
            </a:r>
          </a:p>
          <a:p>
            <a:r>
              <a:rPr lang="en-US" dirty="0"/>
              <a:t>        = 3.96 seconds</a:t>
            </a:r>
          </a:p>
        </p:txBody>
      </p:sp>
      <p:cxnSp>
        <p:nvCxnSpPr>
          <p:cNvPr id="23" name="Straight Arrow Connector 22"/>
          <p:cNvCxnSpPr/>
          <p:nvPr/>
        </p:nvCxnSpPr>
        <p:spPr>
          <a:xfrm>
            <a:off x="4419600" y="5214263"/>
            <a:ext cx="2804144" cy="36943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p:cNvCxnSpPr/>
          <p:nvPr/>
        </p:nvCxnSpPr>
        <p:spPr>
          <a:xfrm>
            <a:off x="2210216" y="5668509"/>
            <a:ext cx="5075325" cy="46094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8883046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 deleting a word</a:t>
            </a:r>
          </a:p>
        </p:txBody>
      </p:sp>
      <p:sp>
        <p:nvSpPr>
          <p:cNvPr id="3" name="Content Placeholder 2"/>
          <p:cNvSpPr>
            <a:spLocks noGrp="1"/>
          </p:cNvSpPr>
          <p:nvPr>
            <p:ph sz="quarter" idx="1"/>
          </p:nvPr>
        </p:nvSpPr>
        <p:spPr>
          <a:xfrm>
            <a:off x="0" y="1600200"/>
            <a:ext cx="5711952" cy="4495800"/>
          </a:xfrm>
        </p:spPr>
        <p:txBody>
          <a:bodyPr>
            <a:normAutofit/>
          </a:bodyPr>
          <a:lstStyle/>
          <a:p>
            <a:r>
              <a:rPr lang="en-US" dirty="0"/>
              <a:t>Shift-click selection</a:t>
            </a:r>
          </a:p>
          <a:p>
            <a:pPr marL="880110" lvl="1" indent="-514350">
              <a:buFont typeface="+mj-lt"/>
              <a:buAutoNum type="arabicPeriod"/>
            </a:pPr>
            <a:r>
              <a:rPr lang="en-US" dirty="0"/>
              <a:t>Move pointer to the start of word</a:t>
            </a:r>
          </a:p>
          <a:p>
            <a:pPr marL="880110" lvl="1" indent="-514350">
              <a:buFont typeface="+mj-lt"/>
              <a:buAutoNum type="arabicPeriod"/>
            </a:pPr>
            <a:r>
              <a:rPr lang="en-US" dirty="0"/>
              <a:t>Click at the start of word</a:t>
            </a:r>
          </a:p>
          <a:p>
            <a:pPr marL="880110" lvl="1" indent="-514350">
              <a:buFont typeface="+mj-lt"/>
              <a:buAutoNum type="arabicPeriod"/>
            </a:pPr>
            <a:r>
              <a:rPr lang="en-US" dirty="0"/>
              <a:t>Move pointer to the end of word</a:t>
            </a:r>
          </a:p>
          <a:p>
            <a:pPr marL="880110" lvl="1" indent="-514350">
              <a:buFont typeface="+mj-lt"/>
              <a:buAutoNum type="arabicPeriod"/>
            </a:pPr>
            <a:r>
              <a:rPr lang="en-US" dirty="0"/>
              <a:t>Move hand to shift key</a:t>
            </a:r>
          </a:p>
          <a:p>
            <a:pPr marL="880110" lvl="1" indent="-514350">
              <a:buFont typeface="+mj-lt"/>
              <a:buAutoNum type="arabicPeriod"/>
            </a:pPr>
            <a:r>
              <a:rPr lang="en-US" dirty="0"/>
              <a:t>Press shift</a:t>
            </a:r>
          </a:p>
          <a:p>
            <a:pPr marL="880110" lvl="1" indent="-514350">
              <a:buFont typeface="+mj-lt"/>
              <a:buAutoNum type="arabicPeriod"/>
            </a:pPr>
            <a:r>
              <a:rPr lang="en-US" dirty="0"/>
              <a:t>Click to select</a:t>
            </a:r>
          </a:p>
          <a:p>
            <a:pPr marL="880110" lvl="1" indent="-514350">
              <a:buFont typeface="+mj-lt"/>
              <a:buAutoNum type="arabicPeriod"/>
            </a:pPr>
            <a:r>
              <a:rPr lang="en-US" dirty="0"/>
              <a:t>Move hand to the Del key</a:t>
            </a:r>
          </a:p>
          <a:p>
            <a:pPr marL="880110" lvl="1" indent="-514350">
              <a:buFont typeface="+mj-lt"/>
              <a:buAutoNum type="arabicPeriod"/>
            </a:pPr>
            <a:r>
              <a:rPr lang="en-US" dirty="0"/>
              <a:t>Press key</a:t>
            </a:r>
          </a:p>
          <a:p>
            <a:pPr marL="880110" lvl="1" indent="-514350">
              <a:buFont typeface="+mj-lt"/>
              <a:buAutoNum type="arabicPeriod"/>
            </a:pPr>
            <a:endParaRPr lang="en-US" dirty="0"/>
          </a:p>
        </p:txBody>
      </p:sp>
      <p:sp>
        <p:nvSpPr>
          <p:cNvPr id="4" name="Content Placeholder 2"/>
          <p:cNvSpPr txBox="1">
            <a:spLocks/>
          </p:cNvSpPr>
          <p:nvPr/>
        </p:nvSpPr>
        <p:spPr>
          <a:xfrm>
            <a:off x="7223744" y="1600200"/>
            <a:ext cx="1222248" cy="4991100"/>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r>
              <a:rPr lang="en-US" dirty="0"/>
              <a:t>M</a:t>
            </a:r>
          </a:p>
          <a:p>
            <a:r>
              <a:rPr lang="en-US" dirty="0"/>
              <a:t>P M</a:t>
            </a:r>
          </a:p>
          <a:p>
            <a:r>
              <a:rPr lang="en-US" dirty="0"/>
              <a:t>B </a:t>
            </a:r>
            <a:r>
              <a:rPr lang="en-US" dirty="0" err="1"/>
              <a:t>B</a:t>
            </a:r>
            <a:endParaRPr lang="en-US" dirty="0"/>
          </a:p>
          <a:p>
            <a:r>
              <a:rPr lang="en-US" dirty="0"/>
              <a:t>P M</a:t>
            </a:r>
          </a:p>
          <a:p>
            <a:r>
              <a:rPr lang="en-US" dirty="0"/>
              <a:t>H</a:t>
            </a:r>
          </a:p>
          <a:p>
            <a:r>
              <a:rPr lang="en-US" dirty="0"/>
              <a:t>K</a:t>
            </a:r>
          </a:p>
          <a:p>
            <a:r>
              <a:rPr lang="en-US" dirty="0"/>
              <a:t>B </a:t>
            </a:r>
            <a:r>
              <a:rPr lang="en-US" dirty="0" err="1"/>
              <a:t>B</a:t>
            </a:r>
            <a:endParaRPr lang="en-US" dirty="0"/>
          </a:p>
          <a:p>
            <a:r>
              <a:rPr lang="en-US" dirty="0"/>
              <a:t>H</a:t>
            </a:r>
          </a:p>
          <a:p>
            <a:r>
              <a:rPr lang="en-US" dirty="0"/>
              <a:t>K</a:t>
            </a:r>
          </a:p>
        </p:txBody>
      </p:sp>
      <p:cxnSp>
        <p:nvCxnSpPr>
          <p:cNvPr id="6" name="Straight Arrow Connector 5"/>
          <p:cNvCxnSpPr/>
          <p:nvPr/>
        </p:nvCxnSpPr>
        <p:spPr>
          <a:xfrm>
            <a:off x="5486400" y="2362200"/>
            <a:ext cx="1737344" cy="7620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p:cNvCxnSpPr/>
          <p:nvPr/>
        </p:nvCxnSpPr>
        <p:spPr>
          <a:xfrm>
            <a:off x="4419600" y="2819400"/>
            <a:ext cx="2804144" cy="15240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p:cNvCxnSpPr/>
          <p:nvPr/>
        </p:nvCxnSpPr>
        <p:spPr>
          <a:xfrm>
            <a:off x="5332476" y="3360280"/>
            <a:ext cx="1981200" cy="12961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p:cNvCxnSpPr/>
          <p:nvPr/>
        </p:nvCxnSpPr>
        <p:spPr>
          <a:xfrm>
            <a:off x="3969647" y="3848427"/>
            <a:ext cx="3344029" cy="14424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p:cNvCxnSpPr/>
          <p:nvPr/>
        </p:nvCxnSpPr>
        <p:spPr>
          <a:xfrm>
            <a:off x="2337570" y="4307493"/>
            <a:ext cx="4976106" cy="25557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p:cNvCxnSpPr/>
          <p:nvPr/>
        </p:nvCxnSpPr>
        <p:spPr>
          <a:xfrm>
            <a:off x="2836926" y="4757311"/>
            <a:ext cx="4386818" cy="331332"/>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22" name="TextBox 21"/>
          <p:cNvSpPr txBox="1"/>
          <p:nvPr/>
        </p:nvSpPr>
        <p:spPr>
          <a:xfrm>
            <a:off x="505813" y="5974220"/>
            <a:ext cx="4951997" cy="923330"/>
          </a:xfrm>
          <a:prstGeom prst="rect">
            <a:avLst/>
          </a:prstGeom>
          <a:noFill/>
        </p:spPr>
        <p:txBody>
          <a:bodyPr wrap="none" rtlCol="0">
            <a:spAutoFit/>
          </a:bodyPr>
          <a:lstStyle/>
          <a:p>
            <a:r>
              <a:rPr lang="en-US" dirty="0"/>
              <a:t>Total = 3M + 2P + 4B + 2K + 2H</a:t>
            </a:r>
          </a:p>
          <a:p>
            <a:r>
              <a:rPr lang="en-US" dirty="0"/>
              <a:t>        = 3(1.2) + 2(1.1) + 4(0.1) + 2(0.28) + 2(0.4)</a:t>
            </a:r>
          </a:p>
          <a:p>
            <a:r>
              <a:rPr lang="en-US" dirty="0"/>
              <a:t>        = 7.56 seconds</a:t>
            </a:r>
          </a:p>
        </p:txBody>
      </p:sp>
      <p:cxnSp>
        <p:nvCxnSpPr>
          <p:cNvPr id="23" name="Straight Arrow Connector 22"/>
          <p:cNvCxnSpPr/>
          <p:nvPr/>
        </p:nvCxnSpPr>
        <p:spPr>
          <a:xfrm>
            <a:off x="4419600" y="5209582"/>
            <a:ext cx="2804144" cy="36943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p:cNvCxnSpPr/>
          <p:nvPr/>
        </p:nvCxnSpPr>
        <p:spPr>
          <a:xfrm>
            <a:off x="2197304" y="5679093"/>
            <a:ext cx="5075325" cy="46094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p:cNvCxnSpPr/>
          <p:nvPr/>
        </p:nvCxnSpPr>
        <p:spPr>
          <a:xfrm flipH="1">
            <a:off x="7777718" y="875616"/>
            <a:ext cx="76200" cy="762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7398242" y="171450"/>
            <a:ext cx="1450848" cy="646331"/>
          </a:xfrm>
          <a:prstGeom prst="rect">
            <a:avLst/>
          </a:prstGeom>
          <a:noFill/>
        </p:spPr>
        <p:txBody>
          <a:bodyPr wrap="square" rtlCol="0">
            <a:spAutoFit/>
          </a:bodyPr>
          <a:lstStyle/>
          <a:p>
            <a:r>
              <a:rPr lang="en-US" dirty="0"/>
              <a:t>For initiating the task</a:t>
            </a:r>
          </a:p>
        </p:txBody>
      </p:sp>
    </p:spTree>
    <p:extLst>
      <p:ext uri="{BB962C8B-B14F-4D97-AF65-F5344CB8AC3E}">
        <p14:creationId xmlns:p14="http://schemas.microsoft.com/office/powerpoint/2010/main" val="240267694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Example: Deleting a Word using Del Key</a:t>
            </a:r>
          </a:p>
        </p:txBody>
      </p:sp>
      <p:sp>
        <p:nvSpPr>
          <p:cNvPr id="3" name="Content Placeholder 2"/>
          <p:cNvSpPr>
            <a:spLocks noGrp="1"/>
          </p:cNvSpPr>
          <p:nvPr>
            <p:ph sz="quarter" idx="1"/>
          </p:nvPr>
        </p:nvSpPr>
        <p:spPr/>
        <p:txBody>
          <a:bodyPr/>
          <a:lstStyle/>
          <a:p>
            <a:r>
              <a:rPr lang="en-US" dirty="0"/>
              <a:t>??</a:t>
            </a:r>
          </a:p>
          <a:p>
            <a:endParaRPr lang="en-US" dirty="0"/>
          </a:p>
          <a:p>
            <a:r>
              <a:rPr lang="en-US" dirty="0"/>
              <a:t>Total = ??</a:t>
            </a:r>
          </a:p>
        </p:txBody>
      </p:sp>
    </p:spTree>
    <p:extLst>
      <p:ext uri="{BB962C8B-B14F-4D97-AF65-F5344CB8AC3E}">
        <p14:creationId xmlns:p14="http://schemas.microsoft.com/office/powerpoint/2010/main" val="290683983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Limitations of KLM</a:t>
            </a:r>
          </a:p>
        </p:txBody>
      </p:sp>
      <p:sp>
        <p:nvSpPr>
          <p:cNvPr id="3" name="Content Placeholder 2"/>
          <p:cNvSpPr>
            <a:spLocks noGrp="1"/>
          </p:cNvSpPr>
          <p:nvPr>
            <p:ph sz="quarter" idx="1"/>
          </p:nvPr>
        </p:nvSpPr>
        <p:spPr/>
        <p:txBody>
          <a:bodyPr/>
          <a:lstStyle/>
          <a:p>
            <a:endParaRPr lang="en-US"/>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065" y="1676400"/>
            <a:ext cx="8667750" cy="499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612648" y="4495800"/>
            <a:ext cx="4568952" cy="3048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Rectangle 5"/>
          <p:cNvSpPr/>
          <p:nvPr/>
        </p:nvSpPr>
        <p:spPr>
          <a:xfrm>
            <a:off x="838200" y="5295900"/>
            <a:ext cx="7620000" cy="6477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16051274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a:t>
            </a:r>
          </a:p>
        </p:txBody>
      </p:sp>
      <p:sp>
        <p:nvSpPr>
          <p:cNvPr id="3" name="Content Placeholder 2"/>
          <p:cNvSpPr>
            <a:spLocks noGrp="1"/>
          </p:cNvSpPr>
          <p:nvPr>
            <p:ph sz="quarter" idx="1"/>
          </p:nvPr>
        </p:nvSpPr>
        <p:spPr/>
        <p:txBody>
          <a:bodyPr>
            <a:normAutofit lnSpcReduction="10000"/>
          </a:bodyPr>
          <a:lstStyle/>
          <a:p>
            <a:r>
              <a:rPr lang="en-US" dirty="0"/>
              <a:t>In Microsoft word, there is a menu of EDIT, after clicking on it a drop down menu occurs, we have to select FORMAT Option from it. A cascaded menu will appear. Choose BOLD from it.  The task is to select Bold format and then write HCI.</a:t>
            </a:r>
          </a:p>
          <a:p>
            <a:endParaRPr lang="en-US" dirty="0"/>
          </a:p>
          <a:p>
            <a:r>
              <a:rPr lang="en-US" dirty="0"/>
              <a:t>Assumptions:</a:t>
            </a:r>
          </a:p>
          <a:p>
            <a:pPr lvl="1"/>
            <a:r>
              <a:rPr lang="en-US" dirty="0"/>
              <a:t>Users hands are on keyboard as he was writing a word and pointer is somewhere on the screen. Microsoft word is maximized.</a:t>
            </a:r>
          </a:p>
          <a:p>
            <a:pPr lvl="1"/>
            <a:endParaRPr lang="en-US" dirty="0"/>
          </a:p>
        </p:txBody>
      </p:sp>
    </p:spTree>
    <p:extLst>
      <p:ext uri="{BB962C8B-B14F-4D97-AF65-F5344CB8AC3E}">
        <p14:creationId xmlns:p14="http://schemas.microsoft.com/office/powerpoint/2010/main" val="45672871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a:t>
            </a:r>
          </a:p>
        </p:txBody>
      </p:sp>
      <p:sp>
        <p:nvSpPr>
          <p:cNvPr id="3" name="Content Placeholder 2"/>
          <p:cNvSpPr>
            <a:spLocks noGrp="1"/>
          </p:cNvSpPr>
          <p:nvPr>
            <p:ph sz="quarter" idx="1"/>
          </p:nvPr>
        </p:nvSpPr>
        <p:spPr>
          <a:xfrm>
            <a:off x="612648" y="1600200"/>
            <a:ext cx="8153400" cy="1066800"/>
          </a:xfrm>
        </p:spPr>
        <p:txBody>
          <a:bodyPr/>
          <a:lstStyle/>
          <a:p>
            <a:r>
              <a:rPr lang="en-US" dirty="0"/>
              <a:t>M+H+MP+2B+MP+2B+D+MP+2B+H+M+3K</a:t>
            </a:r>
          </a:p>
        </p:txBody>
      </p:sp>
    </p:spTree>
    <p:extLst>
      <p:ext uri="{BB962C8B-B14F-4D97-AF65-F5344CB8AC3E}">
        <p14:creationId xmlns:p14="http://schemas.microsoft.com/office/powerpoint/2010/main" val="323256254"/>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11212</TotalTime>
  <Words>5475</Words>
  <Application>Microsoft Office PowerPoint</Application>
  <PresentationFormat>On-screen Show (4:3)</PresentationFormat>
  <Paragraphs>468</Paragraphs>
  <Slides>67</Slides>
  <Notes>30</Notes>
  <HiddenSlides>10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67</vt:i4>
      </vt:variant>
    </vt:vector>
  </HeadingPairs>
  <TitlesOfParts>
    <vt:vector size="73" baseType="lpstr">
      <vt:lpstr>Calibri</vt:lpstr>
      <vt:lpstr>Merriweather</vt:lpstr>
      <vt:lpstr>Tw Cen MT</vt:lpstr>
      <vt:lpstr>Wingdings</vt:lpstr>
      <vt:lpstr>Wingdings 2</vt:lpstr>
      <vt:lpstr>Median</vt:lpstr>
      <vt:lpstr>efficiency</vt:lpstr>
      <vt:lpstr>Topics</vt:lpstr>
      <vt:lpstr>Efficiency Hall of Shame </vt:lpstr>
      <vt:lpstr>Efficiency Hall of Fame or Shame? </vt:lpstr>
      <vt:lpstr>Efficiency Hall of Fame </vt:lpstr>
      <vt:lpstr>An interface with no shortcuts </vt:lpstr>
      <vt:lpstr>Which one is easy to point </vt:lpstr>
      <vt:lpstr>Human information processor</vt:lpstr>
      <vt:lpstr>Human Information Processing </vt:lpstr>
      <vt:lpstr>Processors</vt:lpstr>
      <vt:lpstr>Perceptual Processing </vt:lpstr>
      <vt:lpstr>Cognitive Processing </vt:lpstr>
      <vt:lpstr>Motor Processing </vt:lpstr>
      <vt:lpstr>Shortcuts</vt:lpstr>
      <vt:lpstr>Keyboard Shortcuts </vt:lpstr>
      <vt:lpstr>Defaults and Pending deletes</vt:lpstr>
      <vt:lpstr>History</vt:lpstr>
      <vt:lpstr>Autocomplete</vt:lpstr>
      <vt:lpstr>Aggregation</vt:lpstr>
      <vt:lpstr>Aggregating questions</vt:lpstr>
      <vt:lpstr>Anticipation</vt:lpstr>
      <vt:lpstr>Pointing and steering</vt:lpstr>
      <vt:lpstr>Fitts’s Law</vt:lpstr>
      <vt:lpstr>Fitts’s Law</vt:lpstr>
      <vt:lpstr>Example</vt:lpstr>
      <vt:lpstr>Fitts’s Law Formula</vt:lpstr>
      <vt:lpstr>Our interest in fits law is </vt:lpstr>
      <vt:lpstr>Implications of Fitts’s Law</vt:lpstr>
      <vt:lpstr> some implications/ examples</vt:lpstr>
      <vt:lpstr>PowerPoint Presentation</vt:lpstr>
      <vt:lpstr>Pop up menu /Pie Menu  </vt:lpstr>
      <vt:lpstr>PowerPoint Presentation</vt:lpstr>
      <vt:lpstr>Mile‐High Menus &amp; Magic Corners</vt:lpstr>
      <vt:lpstr>Examples</vt:lpstr>
      <vt:lpstr>Place similar functionalities together.</vt:lpstr>
      <vt:lpstr>Using Fitts's Law will improve performance and reduce errors. </vt:lpstr>
      <vt:lpstr>Steering tasks</vt:lpstr>
      <vt:lpstr>Improve mouse efficiency</vt:lpstr>
      <vt:lpstr>Exercise</vt:lpstr>
      <vt:lpstr>Keystroke Level Model (KLM)</vt:lpstr>
      <vt:lpstr>Keystroke Level Model (KLM)</vt:lpstr>
      <vt:lpstr>Keystroke Level Model (KLM)</vt:lpstr>
      <vt:lpstr>Keystroke Level Model (KLM) - operators</vt:lpstr>
      <vt:lpstr>Keystroke Level Model (KLM) - operators</vt:lpstr>
      <vt:lpstr>Mental Preparation</vt:lpstr>
      <vt:lpstr>Specific suggestions for activities that take an M</vt:lpstr>
      <vt:lpstr>General suggestions for working with Ms</vt:lpstr>
      <vt:lpstr>PowerPoint Presentation</vt:lpstr>
      <vt:lpstr>Estimated operator Times</vt:lpstr>
      <vt:lpstr>Estimated operator times</vt:lpstr>
      <vt:lpstr>Estimated operator times</vt:lpstr>
      <vt:lpstr>KLM Analysis - Method</vt:lpstr>
      <vt:lpstr>Assumptions</vt:lpstr>
      <vt:lpstr>Scenario 1 :  Deleting a file (Drag to Trash Can)</vt:lpstr>
      <vt:lpstr>Action Sequence</vt:lpstr>
      <vt:lpstr>Operator Sequence</vt:lpstr>
      <vt:lpstr>Scenario 1 : Deleting a file (Method B)</vt:lpstr>
      <vt:lpstr>Action Sequence</vt:lpstr>
      <vt:lpstr>Operator Sequence</vt:lpstr>
      <vt:lpstr>Power key variation on new design.</vt:lpstr>
      <vt:lpstr>Operator sequence</vt:lpstr>
      <vt:lpstr>Example – deleting a word</vt:lpstr>
      <vt:lpstr>Example – deleting a word</vt:lpstr>
      <vt:lpstr>Example: Deleting a Word using Del Key</vt:lpstr>
      <vt:lpstr>Limitations of KLM</vt:lpstr>
      <vt:lpstr>Activity</vt:lpstr>
      <vt:lpstr>Steps: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efficiency</dc:title>
  <dc:creator>UCP</dc:creator>
  <cp:lastModifiedBy>Sadaf Baloch</cp:lastModifiedBy>
  <cp:revision>351</cp:revision>
  <dcterms:created xsi:type="dcterms:W3CDTF">2015-09-30T08:44:57Z</dcterms:created>
  <dcterms:modified xsi:type="dcterms:W3CDTF">2020-12-28T11:54:02Z</dcterms:modified>
</cp:coreProperties>
</file>