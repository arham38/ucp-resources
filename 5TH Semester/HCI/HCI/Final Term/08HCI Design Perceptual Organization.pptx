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132"/>
  </p:notesMasterIdLst>
  <p:sldIdLst>
    <p:sldId id="404" r:id="rId2"/>
    <p:sldId id="790" r:id="rId3"/>
    <p:sldId id="893" r:id="rId4"/>
    <p:sldId id="894" r:id="rId5"/>
    <p:sldId id="791" r:id="rId6"/>
    <p:sldId id="838" r:id="rId7"/>
    <p:sldId id="839" r:id="rId8"/>
    <p:sldId id="840" r:id="rId9"/>
    <p:sldId id="797" r:id="rId10"/>
    <p:sldId id="798" r:id="rId11"/>
    <p:sldId id="793" r:id="rId12"/>
    <p:sldId id="794" r:id="rId13"/>
    <p:sldId id="795" r:id="rId14"/>
    <p:sldId id="796" r:id="rId15"/>
    <p:sldId id="761" r:id="rId16"/>
    <p:sldId id="765" r:id="rId17"/>
    <p:sldId id="762" r:id="rId18"/>
    <p:sldId id="763" r:id="rId19"/>
    <p:sldId id="766" r:id="rId20"/>
    <p:sldId id="764" r:id="rId21"/>
    <p:sldId id="767" r:id="rId22"/>
    <p:sldId id="768" r:id="rId23"/>
    <p:sldId id="769" r:id="rId24"/>
    <p:sldId id="774" r:id="rId25"/>
    <p:sldId id="775" r:id="rId26"/>
    <p:sldId id="799" r:id="rId27"/>
    <p:sldId id="770" r:id="rId28"/>
    <p:sldId id="771" r:id="rId29"/>
    <p:sldId id="772" r:id="rId30"/>
    <p:sldId id="773" r:id="rId31"/>
    <p:sldId id="777" r:id="rId32"/>
    <p:sldId id="844" r:id="rId33"/>
    <p:sldId id="845" r:id="rId34"/>
    <p:sldId id="841" r:id="rId35"/>
    <p:sldId id="778" r:id="rId36"/>
    <p:sldId id="842" r:id="rId37"/>
    <p:sldId id="776" r:id="rId38"/>
    <p:sldId id="800" r:id="rId39"/>
    <p:sldId id="816" r:id="rId40"/>
    <p:sldId id="801" r:id="rId41"/>
    <p:sldId id="802" r:id="rId42"/>
    <p:sldId id="850" r:id="rId43"/>
    <p:sldId id="852" r:id="rId44"/>
    <p:sldId id="851" r:id="rId45"/>
    <p:sldId id="847" r:id="rId46"/>
    <p:sldId id="848" r:id="rId47"/>
    <p:sldId id="849" r:id="rId48"/>
    <p:sldId id="804" r:id="rId49"/>
    <p:sldId id="805" r:id="rId50"/>
    <p:sldId id="806" r:id="rId51"/>
    <p:sldId id="807" r:id="rId52"/>
    <p:sldId id="808" r:id="rId53"/>
    <p:sldId id="853" r:id="rId54"/>
    <p:sldId id="846" r:id="rId55"/>
    <p:sldId id="810" r:id="rId56"/>
    <p:sldId id="861" r:id="rId57"/>
    <p:sldId id="817" r:id="rId58"/>
    <p:sldId id="859" r:id="rId59"/>
    <p:sldId id="860" r:id="rId60"/>
    <p:sldId id="854" r:id="rId61"/>
    <p:sldId id="855" r:id="rId62"/>
    <p:sldId id="856" r:id="rId63"/>
    <p:sldId id="857" r:id="rId64"/>
    <p:sldId id="813" r:id="rId65"/>
    <p:sldId id="818" r:id="rId66"/>
    <p:sldId id="837" r:id="rId67"/>
    <p:sldId id="819" r:id="rId68"/>
    <p:sldId id="862" r:id="rId69"/>
    <p:sldId id="863" r:id="rId70"/>
    <p:sldId id="864" r:id="rId71"/>
    <p:sldId id="821" r:id="rId72"/>
    <p:sldId id="820" r:id="rId73"/>
    <p:sldId id="891" r:id="rId74"/>
    <p:sldId id="822" r:id="rId75"/>
    <p:sldId id="825" r:id="rId76"/>
    <p:sldId id="823" r:id="rId77"/>
    <p:sldId id="881" r:id="rId78"/>
    <p:sldId id="892" r:id="rId79"/>
    <p:sldId id="826" r:id="rId80"/>
    <p:sldId id="865" r:id="rId81"/>
    <p:sldId id="866" r:id="rId82"/>
    <p:sldId id="809" r:id="rId83"/>
    <p:sldId id="827" r:id="rId84"/>
    <p:sldId id="867" r:id="rId85"/>
    <p:sldId id="896" r:id="rId86"/>
    <p:sldId id="868" r:id="rId87"/>
    <p:sldId id="653" r:id="rId88"/>
    <p:sldId id="873" r:id="rId89"/>
    <p:sldId id="783" r:id="rId90"/>
    <p:sldId id="870" r:id="rId91"/>
    <p:sldId id="832" r:id="rId92"/>
    <p:sldId id="869" r:id="rId93"/>
    <p:sldId id="784" r:id="rId94"/>
    <p:sldId id="880" r:id="rId95"/>
    <p:sldId id="871" r:id="rId96"/>
    <p:sldId id="644" r:id="rId97"/>
    <p:sldId id="785" r:id="rId98"/>
    <p:sldId id="872" r:id="rId99"/>
    <p:sldId id="646" r:id="rId100"/>
    <p:sldId id="651" r:id="rId101"/>
    <p:sldId id="833" r:id="rId102"/>
    <p:sldId id="836" r:id="rId103"/>
    <p:sldId id="834" r:id="rId104"/>
    <p:sldId id="835" r:id="rId105"/>
    <p:sldId id="874" r:id="rId106"/>
    <p:sldId id="875" r:id="rId107"/>
    <p:sldId id="671" r:id="rId108"/>
    <p:sldId id="672" r:id="rId109"/>
    <p:sldId id="876" r:id="rId110"/>
    <p:sldId id="673" r:id="rId111"/>
    <p:sldId id="877" r:id="rId112"/>
    <p:sldId id="878" r:id="rId113"/>
    <p:sldId id="879" r:id="rId114"/>
    <p:sldId id="701" r:id="rId115"/>
    <p:sldId id="702" r:id="rId116"/>
    <p:sldId id="882" r:id="rId117"/>
    <p:sldId id="883" r:id="rId118"/>
    <p:sldId id="703" r:id="rId119"/>
    <p:sldId id="895" r:id="rId120"/>
    <p:sldId id="782" r:id="rId121"/>
    <p:sldId id="704" r:id="rId122"/>
    <p:sldId id="705" r:id="rId123"/>
    <p:sldId id="884" r:id="rId124"/>
    <p:sldId id="886" r:id="rId125"/>
    <p:sldId id="887" r:id="rId126"/>
    <p:sldId id="885" r:id="rId127"/>
    <p:sldId id="890" r:id="rId128"/>
    <p:sldId id="843" r:id="rId129"/>
    <p:sldId id="532" r:id="rId130"/>
    <p:sldId id="533" r:id="rId1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69573" autoAdjust="0"/>
  </p:normalViewPr>
  <p:slideViewPr>
    <p:cSldViewPr>
      <p:cViewPr varScale="1">
        <p:scale>
          <a:sx n="62" d="100"/>
          <a:sy n="62" d="100"/>
        </p:scale>
        <p:origin x="1400" y="60"/>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1/25/2026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alleydog.com/glossary/definition.php?term=Taste"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scholarpedia.org/article/Gestalt_principles" TargetMode="External"/><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interaction-design.org/literature/article/the-laws-of-figure-ground-praegnanz-closure-and-common-fate-gestalt-principles-3" TargetMode="External"/><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Stimulus =</a:t>
            </a:r>
            <a:r>
              <a:rPr lang="en-US" baseline="0" dirty="0"/>
              <a:t> </a:t>
            </a:r>
            <a:r>
              <a:rPr lang="en-US" sz="1200" b="0" i="0" kern="1200" dirty="0">
                <a:solidFill>
                  <a:schemeClr val="tx1"/>
                </a:solidFill>
                <a:effectLst/>
                <a:latin typeface="+mn-lt"/>
                <a:ea typeface="+mn-ea"/>
                <a:cs typeface="+mn-cs"/>
              </a:rPr>
              <a:t>a thing or event that evokes a specific functional reaction in an organ or tissue.</a:t>
            </a:r>
            <a:endParaRPr lang="en-US" dirty="0"/>
          </a:p>
          <a:p>
            <a:endParaRPr lang="en-US" dirty="0"/>
          </a:p>
          <a:p>
            <a:r>
              <a:rPr lang="en-US" sz="1200" b="0" i="0" kern="1200" dirty="0">
                <a:solidFill>
                  <a:schemeClr val="tx1"/>
                </a:solidFill>
                <a:effectLst/>
                <a:latin typeface="+mn-lt"/>
                <a:ea typeface="+mn-ea"/>
                <a:cs typeface="+mn-cs"/>
              </a:rPr>
              <a:t>Sensory Information are things that the brain collects from your senses that give you information about the world around you. The five basic senses are </a:t>
            </a:r>
            <a:r>
              <a:rPr lang="en-US" sz="1200" b="0" i="0" u="sng" kern="1200" dirty="0">
                <a:solidFill>
                  <a:schemeClr val="tx1"/>
                </a:solidFill>
                <a:effectLst/>
                <a:latin typeface="+mn-lt"/>
                <a:ea typeface="+mn-ea"/>
                <a:cs typeface="+mn-cs"/>
                <a:hlinkClick r:id="rId3"/>
              </a:rPr>
              <a:t>taste</a:t>
            </a:r>
            <a:r>
              <a:rPr lang="en-US" sz="1200" b="0" i="0" kern="1200" dirty="0">
                <a:solidFill>
                  <a:schemeClr val="tx1"/>
                </a:solidFill>
                <a:effectLst/>
                <a:latin typeface="+mn-lt"/>
                <a:ea typeface="+mn-ea"/>
                <a:cs typeface="+mn-cs"/>
              </a:rPr>
              <a:t>, sight, smell, hearing, and touch. Sensory information is collected from sensory receptors that are located throughout your body (such as photoreceptor cells in your eyes for vision and taste receptor cells on your tongue for taste) and then sent to the brain where it is processed. Some examples of sensory information are the smell of baking bread (smell), the feel of a wool sweater (touch), the taste of an apple (taste), a song (hearing), and a painting (sight).</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a:t>
            </a:fld>
            <a:endParaRPr lang="en-US"/>
          </a:p>
        </p:txBody>
      </p:sp>
    </p:spTree>
    <p:extLst>
      <p:ext uri="{BB962C8B-B14F-4D97-AF65-F5344CB8AC3E}">
        <p14:creationId xmlns:p14="http://schemas.microsoft.com/office/powerpoint/2010/main" val="2208347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Stimulus =</a:t>
            </a:r>
            <a:r>
              <a:rPr lang="en-US" baseline="0" dirty="0"/>
              <a:t> </a:t>
            </a:r>
            <a:r>
              <a:rPr lang="en-US" sz="1200" b="0" i="0" kern="1200" dirty="0">
                <a:solidFill>
                  <a:schemeClr val="tx1"/>
                </a:solidFill>
                <a:effectLst/>
                <a:latin typeface="+mn-lt"/>
                <a:ea typeface="+mn-ea"/>
                <a:cs typeface="+mn-cs"/>
              </a:rPr>
              <a:t>a thing or event that evokes a specific functional reaction in an organ or tissue.</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5</a:t>
            </a:fld>
            <a:endParaRPr lang="en-US"/>
          </a:p>
        </p:txBody>
      </p:sp>
    </p:spTree>
    <p:extLst>
      <p:ext uri="{BB962C8B-B14F-4D97-AF65-F5344CB8AC3E}">
        <p14:creationId xmlns:p14="http://schemas.microsoft.com/office/powerpoint/2010/main" val="3410483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selection, organization, and interpretation of perceptions can differ among different people. Therefore, when people react differently in a situation, part of their behavior can be explained by examining their perceptual process, and how their perceptions are leading to their responses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6</a:t>
            </a:fld>
            <a:endParaRPr lang="en-US"/>
          </a:p>
        </p:txBody>
      </p:sp>
    </p:spTree>
    <p:extLst>
      <p:ext uri="{BB962C8B-B14F-4D97-AF65-F5344CB8AC3E}">
        <p14:creationId xmlns:p14="http://schemas.microsoft.com/office/powerpoint/2010/main" val="29015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yet certain processing can be done very quickly, implying low-level processing in parallel</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19</a:t>
            </a:fld>
            <a:endParaRPr lang="en-US"/>
          </a:p>
        </p:txBody>
      </p:sp>
    </p:spTree>
    <p:extLst>
      <p:ext uri="{BB962C8B-B14F-4D97-AF65-F5344CB8AC3E}">
        <p14:creationId xmlns:p14="http://schemas.microsoft.com/office/powerpoint/2010/main" val="3669048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https://www.csc2.ncsu.edu/faculty/healey/PP/index.html</a:t>
            </a:r>
          </a:p>
        </p:txBody>
      </p:sp>
      <p:sp>
        <p:nvSpPr>
          <p:cNvPr id="4" name="Slide Number Placeholder 3"/>
          <p:cNvSpPr>
            <a:spLocks noGrp="1"/>
          </p:cNvSpPr>
          <p:nvPr>
            <p:ph type="sldNum" sz="quarter" idx="10"/>
          </p:nvPr>
        </p:nvSpPr>
        <p:spPr/>
        <p:txBody>
          <a:bodyPr/>
          <a:lstStyle/>
          <a:p>
            <a:fld id="{A5E35D07-CE9A-41EA-8351-FED4C60B3E9A}" type="slidenum">
              <a:rPr lang="en-US" smtClean="0"/>
              <a:pPr/>
              <a:t>24</a:t>
            </a:fld>
            <a:endParaRPr lang="en-US"/>
          </a:p>
        </p:txBody>
      </p:sp>
    </p:spTree>
    <p:extLst>
      <p:ext uri="{BB962C8B-B14F-4D97-AF65-F5344CB8AC3E}">
        <p14:creationId xmlns:p14="http://schemas.microsoft.com/office/powerpoint/2010/main" val="2149784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simplest terms, gestalt theory is based on the idea that the human brain will attempt to simplify and organize complex images or designs that consist of many elements, by subconsciously arranging the parts into an organized system that creates a whole, rather than just a series of disparate elements. Our brains are built to see structure and patterns in order for us to better understand the environment that we’re living in.</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33</a:t>
            </a:fld>
            <a:endParaRPr lang="en-US"/>
          </a:p>
        </p:txBody>
      </p:sp>
    </p:spTree>
    <p:extLst>
      <p:ext uri="{BB962C8B-B14F-4D97-AF65-F5344CB8AC3E}">
        <p14:creationId xmlns:p14="http://schemas.microsoft.com/office/powerpoint/2010/main" val="1152516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Your brain is always trying to make sense of the world by comparing previous experiences or visual patterns and </a:t>
            </a:r>
            <a:r>
              <a:rPr lang="en-US" sz="1200" b="1" i="0" kern="1200" dirty="0">
                <a:solidFill>
                  <a:schemeClr val="tx1"/>
                </a:solidFill>
                <a:effectLst/>
                <a:latin typeface="+mn-lt"/>
                <a:ea typeface="+mn-ea"/>
                <a:cs typeface="+mn-cs"/>
              </a:rPr>
              <a:t>connecting the dots</a:t>
            </a:r>
            <a:r>
              <a:rPr lang="en-US" sz="1200" b="0" i="0" kern="1200" dirty="0">
                <a:solidFill>
                  <a:schemeClr val="tx1"/>
                </a:solidFill>
                <a:effectLst/>
                <a:latin typeface="+mn-lt"/>
                <a:ea typeface="+mn-ea"/>
                <a:cs typeface="+mn-cs"/>
              </a:rPr>
              <a:t>. It has its own “weird” way of perceiving shape and form, grouping information, fill in the gaps to </a:t>
            </a:r>
            <a:r>
              <a:rPr lang="en-US" sz="1200" b="1" i="0" kern="1200" dirty="0">
                <a:solidFill>
                  <a:schemeClr val="tx1"/>
                </a:solidFill>
                <a:effectLst/>
                <a:latin typeface="+mn-lt"/>
                <a:ea typeface="+mn-ea"/>
                <a:cs typeface="+mn-cs"/>
              </a:rPr>
              <a:t>draw the big picture</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34</a:t>
            </a:fld>
            <a:endParaRPr lang="en-US"/>
          </a:p>
        </p:txBody>
      </p:sp>
    </p:spTree>
    <p:extLst>
      <p:ext uri="{BB962C8B-B14F-4D97-AF65-F5344CB8AC3E}">
        <p14:creationId xmlns:p14="http://schemas.microsoft.com/office/powerpoint/2010/main" val="3650934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6962"/>
          </a:xfrm>
          <a:prstGeom prst="rect">
            <a:avLst/>
          </a:prstGeom>
          <a:noFill/>
          <a:ln w="9525">
            <a:noFill/>
            <a:miter lim="800000"/>
            <a:headEnd/>
            <a:tailEnd/>
          </a:ln>
          <a:effectLst/>
        </p:spPr>
        <p:txBody>
          <a:bodyPr wrap="none" anchor="ctr"/>
          <a:lstStyle/>
          <a:p>
            <a:endParaRPr lang="en-US"/>
          </a:p>
        </p:txBody>
      </p:sp>
      <p:sp>
        <p:nvSpPr>
          <p:cNvPr id="37891" name="Rectangle 3"/>
          <p:cNvSpPr>
            <a:spLocks noChangeArrowheads="1"/>
          </p:cNvSpPr>
          <p:nvPr/>
        </p:nvSpPr>
        <p:spPr bwMode="auto">
          <a:xfrm>
            <a:off x="3886200" y="8687039"/>
            <a:ext cx="2971800" cy="456962"/>
          </a:xfrm>
          <a:prstGeom prst="rect">
            <a:avLst/>
          </a:prstGeom>
          <a:noFill/>
          <a:ln w="9525">
            <a:noFill/>
            <a:miter lim="800000"/>
            <a:headEnd/>
            <a:tailEnd/>
          </a:ln>
          <a:effectLst/>
        </p:spPr>
        <p:txBody>
          <a:bodyPr lIns="19050" tIns="0" rIns="19050" bIns="0" anchor="b"/>
          <a:lstStyle/>
          <a:p>
            <a:pPr algn="r" eaLnBrk="0" hangingPunct="0"/>
            <a:r>
              <a:rPr lang="en-US" sz="1000" i="1">
                <a:latin typeface="Times New Roman" pitchFamily="18" charset="0"/>
              </a:rPr>
              <a:t>2</a:t>
            </a:r>
          </a:p>
        </p:txBody>
      </p:sp>
      <p:sp>
        <p:nvSpPr>
          <p:cNvPr id="37892" name="Rectangle 4"/>
          <p:cNvSpPr>
            <a:spLocks noChangeArrowheads="1"/>
          </p:cNvSpPr>
          <p:nvPr/>
        </p:nvSpPr>
        <p:spPr bwMode="auto">
          <a:xfrm>
            <a:off x="0" y="8687039"/>
            <a:ext cx="2971800" cy="456962"/>
          </a:xfrm>
          <a:prstGeom prst="rect">
            <a:avLst/>
          </a:prstGeom>
          <a:noFill/>
          <a:ln w="9525">
            <a:noFill/>
            <a:miter lim="800000"/>
            <a:headEnd/>
            <a:tailEnd/>
          </a:ln>
          <a:effectLst/>
        </p:spPr>
        <p:txBody>
          <a:bodyPr wrap="none" anchor="ctr"/>
          <a:lstStyle/>
          <a:p>
            <a:endParaRPr lang="en-US"/>
          </a:p>
        </p:txBody>
      </p:sp>
      <p:sp>
        <p:nvSpPr>
          <p:cNvPr id="37893" name="Rectangle 5"/>
          <p:cNvSpPr>
            <a:spLocks noChangeArrowheads="1"/>
          </p:cNvSpPr>
          <p:nvPr/>
        </p:nvSpPr>
        <p:spPr bwMode="auto">
          <a:xfrm>
            <a:off x="0" y="0"/>
            <a:ext cx="2971800" cy="456962"/>
          </a:xfrm>
          <a:prstGeom prst="rect">
            <a:avLst/>
          </a:prstGeom>
          <a:noFill/>
          <a:ln w="9525">
            <a:noFill/>
            <a:miter lim="800000"/>
            <a:headEnd/>
            <a:tailEnd/>
          </a:ln>
          <a:effectLst/>
        </p:spPr>
        <p:txBody>
          <a:bodyPr wrap="none" anchor="ctr"/>
          <a:lstStyle/>
          <a:p>
            <a:endParaRPr lang="en-US"/>
          </a:p>
        </p:txBody>
      </p:sp>
      <p:sp>
        <p:nvSpPr>
          <p:cNvPr id="37894" name="Rectangle 6"/>
          <p:cNvSpPr>
            <a:spLocks noChangeArrowheads="1"/>
          </p:cNvSpPr>
          <p:nvPr/>
        </p:nvSpPr>
        <p:spPr bwMode="auto">
          <a:xfrm>
            <a:off x="3886200" y="0"/>
            <a:ext cx="2971800" cy="456962"/>
          </a:xfrm>
          <a:prstGeom prst="rect">
            <a:avLst/>
          </a:prstGeom>
          <a:noFill/>
          <a:ln w="9525">
            <a:noFill/>
            <a:miter lim="800000"/>
            <a:headEnd/>
            <a:tailEnd/>
          </a:ln>
          <a:effectLst/>
        </p:spPr>
        <p:txBody>
          <a:bodyPr wrap="none" anchor="ctr"/>
          <a:lstStyle/>
          <a:p>
            <a:endParaRPr lang="en-US"/>
          </a:p>
        </p:txBody>
      </p:sp>
      <p:sp>
        <p:nvSpPr>
          <p:cNvPr id="37895" name="Rectangle 7"/>
          <p:cNvSpPr>
            <a:spLocks noChangeArrowheads="1"/>
          </p:cNvSpPr>
          <p:nvPr/>
        </p:nvSpPr>
        <p:spPr bwMode="auto">
          <a:xfrm>
            <a:off x="3886200" y="8687039"/>
            <a:ext cx="2971800" cy="456962"/>
          </a:xfrm>
          <a:prstGeom prst="rect">
            <a:avLst/>
          </a:prstGeom>
          <a:noFill/>
          <a:ln w="9525">
            <a:noFill/>
            <a:miter lim="800000"/>
            <a:headEnd/>
            <a:tailEnd/>
          </a:ln>
          <a:effectLst/>
        </p:spPr>
        <p:txBody>
          <a:bodyPr lIns="19050" tIns="0" rIns="19050" bIns="0" anchor="b"/>
          <a:lstStyle/>
          <a:p>
            <a:pPr algn="r" eaLnBrk="0" hangingPunct="0"/>
            <a:r>
              <a:rPr lang="en-US" sz="1000" i="1">
                <a:latin typeface="Times New Roman" pitchFamily="18" charset="0"/>
              </a:rPr>
              <a:t>2</a:t>
            </a:r>
          </a:p>
        </p:txBody>
      </p:sp>
      <p:sp>
        <p:nvSpPr>
          <p:cNvPr id="37896" name="Rectangle 8"/>
          <p:cNvSpPr>
            <a:spLocks noChangeArrowheads="1"/>
          </p:cNvSpPr>
          <p:nvPr/>
        </p:nvSpPr>
        <p:spPr bwMode="auto">
          <a:xfrm>
            <a:off x="0" y="8687039"/>
            <a:ext cx="2971800" cy="456962"/>
          </a:xfrm>
          <a:prstGeom prst="rect">
            <a:avLst/>
          </a:prstGeom>
          <a:noFill/>
          <a:ln w="9525">
            <a:noFill/>
            <a:miter lim="800000"/>
            <a:headEnd/>
            <a:tailEnd/>
          </a:ln>
          <a:effectLst/>
        </p:spPr>
        <p:txBody>
          <a:bodyPr wrap="none" anchor="ctr"/>
          <a:lstStyle/>
          <a:p>
            <a:endParaRPr lang="en-US"/>
          </a:p>
        </p:txBody>
      </p:sp>
      <p:sp>
        <p:nvSpPr>
          <p:cNvPr id="37897" name="Rectangle 9"/>
          <p:cNvSpPr>
            <a:spLocks noChangeArrowheads="1"/>
          </p:cNvSpPr>
          <p:nvPr/>
        </p:nvSpPr>
        <p:spPr bwMode="auto">
          <a:xfrm>
            <a:off x="0" y="0"/>
            <a:ext cx="2971800" cy="456962"/>
          </a:xfrm>
          <a:prstGeom prst="rect">
            <a:avLst/>
          </a:prstGeom>
          <a:noFill/>
          <a:ln w="9525">
            <a:noFill/>
            <a:miter lim="800000"/>
            <a:headEnd/>
            <a:tailEnd/>
          </a:ln>
          <a:effectLst/>
        </p:spPr>
        <p:txBody>
          <a:bodyPr wrap="none" anchor="ctr"/>
          <a:lstStyle/>
          <a:p>
            <a:endParaRPr lang="en-US"/>
          </a:p>
        </p:txBody>
      </p:sp>
      <p:sp>
        <p:nvSpPr>
          <p:cNvPr id="37898" name="Rectangle 10"/>
          <p:cNvSpPr>
            <a:spLocks noGrp="1" noChangeArrowheads="1"/>
          </p:cNvSpPr>
          <p:nvPr>
            <p:ph type="body" idx="1"/>
          </p:nvPr>
        </p:nvSpPr>
        <p:spPr>
          <a:ln/>
        </p:spPr>
        <p:txBody>
          <a:bodyPr/>
          <a:lstStyle/>
          <a:p>
            <a:endParaRPr lang="en-US"/>
          </a:p>
        </p:txBody>
      </p:sp>
      <p:sp>
        <p:nvSpPr>
          <p:cNvPr id="37899" name="Rectangle 11"/>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061753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39</a:t>
            </a:fld>
            <a:endParaRPr lang="en-US"/>
          </a:p>
        </p:txBody>
      </p:sp>
    </p:spTree>
    <p:extLst>
      <p:ext uri="{BB962C8B-B14F-4D97-AF65-F5344CB8AC3E}">
        <p14:creationId xmlns:p14="http://schemas.microsoft.com/office/powerpoint/2010/main" val="2580187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50317C-855E-45E4-8983-BF54D4535362}" type="slidenum">
              <a:rPr lang="en-US"/>
              <a:pPr/>
              <a:t>48</a:t>
            </a:fld>
            <a:endParaRPr lang="en-US"/>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9462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E4A3A8-939B-4B41-8503-DEB06AACAF07}" type="slidenum">
              <a:rPr lang="en-US"/>
              <a:pPr/>
              <a:t>49</a:t>
            </a:fld>
            <a:endParaRPr lang="en-US"/>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81159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Due to the field labels being closer to the fields under them, people would mistakenly believe that's where the information goes for "c." and "d." Yet, the information is supposed to be provided in the fields above the text labels.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53</a:t>
            </a:fld>
            <a:endParaRPr lang="en-US"/>
          </a:p>
        </p:txBody>
      </p:sp>
    </p:spTree>
    <p:extLst>
      <p:ext uri="{BB962C8B-B14F-4D97-AF65-F5344CB8AC3E}">
        <p14:creationId xmlns:p14="http://schemas.microsoft.com/office/powerpoint/2010/main" val="1016684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54</a:t>
            </a:fld>
            <a:endParaRPr lang="en-US"/>
          </a:p>
        </p:txBody>
      </p:sp>
    </p:spTree>
    <p:extLst>
      <p:ext uri="{BB962C8B-B14F-4D97-AF65-F5344CB8AC3E}">
        <p14:creationId xmlns:p14="http://schemas.microsoft.com/office/powerpoint/2010/main" val="3676348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83</a:t>
            </a:fld>
            <a:endParaRPr lang="en-US"/>
          </a:p>
        </p:txBody>
      </p:sp>
    </p:spTree>
    <p:extLst>
      <p:ext uri="{BB962C8B-B14F-4D97-AF65-F5344CB8AC3E}">
        <p14:creationId xmlns:p14="http://schemas.microsoft.com/office/powerpoint/2010/main" val="371335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typical textbook example of the law of symmetry (figure 4.B.), consists of a configuration of a number of brackets. When perceiving the configuration, we see three pairs of symmetrical brackets as opposed to 6 individual brackets, or two pairs and two singles. This happens despite what is suggested by some of the brackets immediate proximity to each other.</a:t>
            </a:r>
          </a:p>
          <a:p>
            <a:r>
              <a:rPr lang="en-US" sz="1200" b="0" i="0" kern="1200" dirty="0">
                <a:solidFill>
                  <a:schemeClr val="tx1"/>
                </a:solidFill>
                <a:effectLst/>
                <a:latin typeface="+mn-lt"/>
                <a:ea typeface="+mn-ea"/>
                <a:cs typeface="+mn-cs"/>
              </a:rPr>
              <a:t>In the above (figure 4.A), CSC Finland's logo is perceived as an integral whole although the two constituent geometrical shapes seem to be pointing in different directions and have differing </a:t>
            </a:r>
            <a:r>
              <a:rPr lang="en-US" sz="1200" b="0" i="0" kern="1200" dirty="0" err="1">
                <a:solidFill>
                  <a:schemeClr val="tx1"/>
                </a:solidFill>
                <a:effectLst/>
                <a:latin typeface="+mn-lt"/>
                <a:ea typeface="+mn-ea"/>
                <a:cs typeface="+mn-cs"/>
              </a:rPr>
              <a:t>colours</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84</a:t>
            </a:fld>
            <a:endParaRPr lang="en-US"/>
          </a:p>
        </p:txBody>
      </p:sp>
    </p:spTree>
    <p:extLst>
      <p:ext uri="{BB962C8B-B14F-4D97-AF65-F5344CB8AC3E}">
        <p14:creationId xmlns:p14="http://schemas.microsoft.com/office/powerpoint/2010/main" val="1584217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UI Elements that are symmetrical to each other helps to scan the content and recognize patterns. Symmetry allows users to focus on what is essential. Symmetrical navigation menus tend to be perceived as more stable. The principle is excellent to use when you design galleries or banners.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86</a:t>
            </a:fld>
            <a:endParaRPr lang="en-US"/>
          </a:p>
        </p:txBody>
      </p:sp>
    </p:spTree>
    <p:extLst>
      <p:ext uri="{BB962C8B-B14F-4D97-AF65-F5344CB8AC3E}">
        <p14:creationId xmlns:p14="http://schemas.microsoft.com/office/powerpoint/2010/main" val="20104903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http://www.scholarpedia.org/article/Gestalt_principles</a:t>
            </a:r>
            <a:r>
              <a:rPr lang="en-US" dirty="0"/>
              <a:t> </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101</a:t>
            </a:fld>
            <a:endParaRPr lang="en-US"/>
          </a:p>
        </p:txBody>
      </p:sp>
    </p:spTree>
    <p:extLst>
      <p:ext uri="{BB962C8B-B14F-4D97-AF65-F5344CB8AC3E}">
        <p14:creationId xmlns:p14="http://schemas.microsoft.com/office/powerpoint/2010/main" val="40152820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slide-out menu, for example, exploits this principle well. In the example below, the way that sub-menu items move into visibility as distinct groupings of elements all moving in concert shows us that the grouped links are related (within each group). I’m not suggesting that this is an optimal way to construct navigation, but the principle here is clear.</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106</a:t>
            </a:fld>
            <a:endParaRPr lang="en-US"/>
          </a:p>
        </p:txBody>
      </p:sp>
    </p:spTree>
    <p:extLst>
      <p:ext uri="{BB962C8B-B14F-4D97-AF65-F5344CB8AC3E}">
        <p14:creationId xmlns:p14="http://schemas.microsoft.com/office/powerpoint/2010/main" val="1914716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https://www.interaction-design.org/literature/article/the-laws-of-figure-ground-praegnanz-closure-and-common-fate-gestalt-principles-3</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114</a:t>
            </a:fld>
            <a:endParaRPr lang="en-US"/>
          </a:p>
        </p:txBody>
      </p:sp>
    </p:spTree>
    <p:extLst>
      <p:ext uri="{BB962C8B-B14F-4D97-AF65-F5344CB8AC3E}">
        <p14:creationId xmlns:p14="http://schemas.microsoft.com/office/powerpoint/2010/main" val="819599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D62ED09A-07D1-441F-823F-EE0354B40CE0}" type="slidenum">
              <a:rPr lang="en-US" smtClean="0"/>
              <a:pPr/>
              <a:t>115</a:t>
            </a:fld>
            <a:endParaRPr lang="en-US"/>
          </a:p>
        </p:txBody>
      </p:sp>
      <p:sp>
        <p:nvSpPr>
          <p:cNvPr id="67587" name="Rectangle 2"/>
          <p:cNvSpPr>
            <a:spLocks noGrp="1" noRot="1" noChangeAspect="1" noChangeArrowheads="1" noTextEdit="1"/>
          </p:cNvSpPr>
          <p:nvPr>
            <p:ph type="sldImg"/>
          </p:nvPr>
        </p:nvSpPr>
        <p:spPr>
          <a:solidFill>
            <a:srgbClr val="FFFFFF"/>
          </a:solidFill>
          <a:ln/>
        </p:spPr>
      </p:sp>
      <p:sp>
        <p:nvSpPr>
          <p:cNvPr id="6758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dirty="0"/>
          </a:p>
        </p:txBody>
      </p:sp>
    </p:spTree>
    <p:extLst>
      <p:ext uri="{BB962C8B-B14F-4D97-AF65-F5344CB8AC3E}">
        <p14:creationId xmlns:p14="http://schemas.microsoft.com/office/powerpoint/2010/main" val="2877640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D62ED09A-07D1-441F-823F-EE0354B40CE0}" type="slidenum">
              <a:rPr lang="en-US" smtClean="0"/>
              <a:pPr/>
              <a:t>118</a:t>
            </a:fld>
            <a:endParaRPr lang="en-US"/>
          </a:p>
        </p:txBody>
      </p:sp>
      <p:sp>
        <p:nvSpPr>
          <p:cNvPr id="67587" name="Rectangle 2"/>
          <p:cNvSpPr>
            <a:spLocks noGrp="1" noRot="1" noChangeAspect="1" noChangeArrowheads="1" noTextEdit="1"/>
          </p:cNvSpPr>
          <p:nvPr>
            <p:ph type="sldImg"/>
          </p:nvPr>
        </p:nvSpPr>
        <p:spPr>
          <a:solidFill>
            <a:srgbClr val="FFFFFF"/>
          </a:solidFill>
          <a:ln/>
        </p:spPr>
      </p:sp>
      <p:sp>
        <p:nvSpPr>
          <p:cNvPr id="67588"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z="1300" dirty="0"/>
              <a:t>(a) This is usually perceived as five circles, not as the nine shapes in (b).</a:t>
            </a:r>
            <a:endParaRPr lang="en-US" sz="1500" dirty="0"/>
          </a:p>
          <a:p>
            <a:pPr eaLnBrk="1" hangingPunct="1"/>
            <a:r>
              <a:rPr lang="en-US" sz="1000" dirty="0"/>
              <a:t>Principles of perceptual organization</a:t>
            </a:r>
          </a:p>
          <a:p>
            <a:pPr lvl="1" eaLnBrk="1" hangingPunct="1"/>
            <a:r>
              <a:rPr lang="en-US" u="sng" dirty="0" err="1"/>
              <a:t>Pragnanz</a:t>
            </a:r>
            <a:r>
              <a:rPr lang="en-US" u="sng" dirty="0"/>
              <a:t> (also called law of simplicity)</a:t>
            </a:r>
            <a:r>
              <a:rPr lang="en-US" dirty="0"/>
              <a:t> - every stimulus is seen as simply as possible</a:t>
            </a:r>
          </a:p>
          <a:p>
            <a:pPr eaLnBrk="1" hangingPunct="1"/>
            <a:endParaRPr lang="en-US" dirty="0"/>
          </a:p>
        </p:txBody>
      </p:sp>
    </p:spTree>
    <p:extLst>
      <p:ext uri="{BB962C8B-B14F-4D97-AF65-F5344CB8AC3E}">
        <p14:creationId xmlns:p14="http://schemas.microsoft.com/office/powerpoint/2010/main" val="2627950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fontAlgn="base"/>
            <a:r>
              <a:rPr lang="en-US" sz="1200" b="1" i="0" kern="1200" dirty="0">
                <a:solidFill>
                  <a:schemeClr val="tx1"/>
                </a:solidFill>
                <a:effectLst/>
                <a:latin typeface="+mn-lt"/>
                <a:ea typeface="+mn-ea"/>
                <a:cs typeface="+mn-cs"/>
              </a:rPr>
              <a:t>1. Strive for consistency.</a:t>
            </a:r>
          </a:p>
          <a:p>
            <a:pPr fontAlgn="base"/>
            <a:r>
              <a:rPr lang="en-US" sz="1200" b="0" i="0" kern="1200" dirty="0">
                <a:solidFill>
                  <a:schemeClr val="tx1"/>
                </a:solidFill>
                <a:effectLst/>
                <a:latin typeface="+mn-lt"/>
                <a:ea typeface="+mn-ea"/>
                <a:cs typeface="+mn-cs"/>
              </a:rPr>
              <a:t>Consistent sequences of actions should be required in similar situations; identical terminology should be used in prompts, menus, and help screens; and consistent color, layout, capitalization, fonts, and so on should be employed throughout. Exceptions, such as required confirmation of the delete command or no echoing of passwords, should be comprehensible and limited in number.</a:t>
            </a:r>
          </a:p>
          <a:p>
            <a:pPr fontAlgn="base"/>
            <a:r>
              <a:rPr lang="en-US" sz="1200" b="1" i="0" kern="1200" dirty="0">
                <a:solidFill>
                  <a:schemeClr val="tx1"/>
                </a:solidFill>
                <a:effectLst/>
                <a:latin typeface="+mn-lt"/>
                <a:ea typeface="+mn-ea"/>
                <a:cs typeface="+mn-cs"/>
              </a:rPr>
              <a:t>2. Cater to universal usability.</a:t>
            </a:r>
          </a:p>
          <a:p>
            <a:pPr fontAlgn="base"/>
            <a:r>
              <a:rPr lang="en-US" sz="1200" b="0" i="0" kern="1200" dirty="0">
                <a:solidFill>
                  <a:schemeClr val="tx1"/>
                </a:solidFill>
                <a:effectLst/>
                <a:latin typeface="+mn-lt"/>
                <a:ea typeface="+mn-ea"/>
                <a:cs typeface="+mn-cs"/>
              </a:rPr>
              <a:t>Recognize the needs of diverse users and design for plasticity, facilitating transformation of content. Novice to expert differences, age ranges, disabilities, and technological diversity each enrich the spectrum of requirements that guides design. Adding features for novices, such as explanations, and features for experts, such as shortcuts and faster pacing, can enrich the interface design and improve perceived system quality.</a:t>
            </a:r>
          </a:p>
          <a:p>
            <a:pPr fontAlgn="base"/>
            <a:r>
              <a:rPr lang="en-US" sz="1200" b="1" i="0" kern="1200" dirty="0">
                <a:solidFill>
                  <a:schemeClr val="tx1"/>
                </a:solidFill>
                <a:effectLst/>
                <a:latin typeface="+mn-lt"/>
                <a:ea typeface="+mn-ea"/>
                <a:cs typeface="+mn-cs"/>
              </a:rPr>
              <a:t>3. Offer informative feedback.</a:t>
            </a:r>
          </a:p>
          <a:p>
            <a:pPr fontAlgn="base"/>
            <a:r>
              <a:rPr lang="en-US" sz="1200" b="0" i="0" kern="1200" dirty="0">
                <a:solidFill>
                  <a:schemeClr val="tx1"/>
                </a:solidFill>
                <a:effectLst/>
                <a:latin typeface="+mn-lt"/>
                <a:ea typeface="+mn-ea"/>
                <a:cs typeface="+mn-cs"/>
              </a:rPr>
              <a:t>For every user action, there should be system feedback. For frequent and minor actions, the response can be modest, whereas for infrequent and major actions, the response should be more substantial. Visual presentation of the objects of interest provides a convenient environment for showing changes explicitly.</a:t>
            </a:r>
          </a:p>
          <a:p>
            <a:pPr fontAlgn="base"/>
            <a:r>
              <a:rPr lang="en-US" sz="1200" b="1" i="0" kern="1200" dirty="0">
                <a:solidFill>
                  <a:schemeClr val="tx1"/>
                </a:solidFill>
                <a:effectLst/>
                <a:latin typeface="+mn-lt"/>
                <a:ea typeface="+mn-ea"/>
                <a:cs typeface="+mn-cs"/>
              </a:rPr>
              <a:t>4. Design dialogs to yield closure.</a:t>
            </a:r>
          </a:p>
          <a:p>
            <a:pPr fontAlgn="base"/>
            <a:r>
              <a:rPr lang="en-US" sz="1200" b="0" i="0" kern="1200" dirty="0">
                <a:solidFill>
                  <a:schemeClr val="tx1"/>
                </a:solidFill>
                <a:effectLst/>
                <a:latin typeface="+mn-lt"/>
                <a:ea typeface="+mn-ea"/>
                <a:cs typeface="+mn-cs"/>
              </a:rPr>
              <a:t>Sequences of actions should be organized into groups with a beginning, middle, and end. Informative feedback at the completion of a group of actions gives operators the satisfaction of accomplishment, a sense of relief, a signal to drop contingency plans from their minds, and an indicator to prepare for the next group of actions. For example, e-commerce web sites move users from selecting products to the checkout, ending with a clear confirmation page that completes the transaction.</a:t>
            </a:r>
          </a:p>
          <a:p>
            <a:pPr fontAlgn="base"/>
            <a:r>
              <a:rPr lang="en-US" sz="1200" b="1" i="0" kern="1200" dirty="0">
                <a:solidFill>
                  <a:schemeClr val="tx1"/>
                </a:solidFill>
                <a:effectLst/>
                <a:latin typeface="+mn-lt"/>
                <a:ea typeface="+mn-ea"/>
                <a:cs typeface="+mn-cs"/>
              </a:rPr>
              <a:t>5. Prevent errors.</a:t>
            </a:r>
          </a:p>
          <a:p>
            <a:pPr fontAlgn="base"/>
            <a:r>
              <a:rPr lang="en-US" sz="1200" b="0" i="0" kern="1200" dirty="0">
                <a:solidFill>
                  <a:schemeClr val="tx1"/>
                </a:solidFill>
                <a:effectLst/>
                <a:latin typeface="+mn-lt"/>
                <a:ea typeface="+mn-ea"/>
                <a:cs typeface="+mn-cs"/>
              </a:rPr>
              <a:t>As much as possible, design the system such that users cannot make serious errors; for example, gray out menu items that are not appropriate and do not allow alphabetic characters in numeric entry fields. If a user makes an error, the interface should detect the error and offer simple, constructive, and specific instructions for recovery. For example, users should not have to retype an entire name-address form if they enter an invalid zip code, but rather should be guided to repair only the faulty part. Erroneous actions should leave the system state unchanged, or the interface should give instructions about restoring the state.</a:t>
            </a:r>
          </a:p>
          <a:p>
            <a:pPr fontAlgn="base"/>
            <a:r>
              <a:rPr lang="en-US" sz="1200" b="1" i="0" kern="1200" dirty="0">
                <a:solidFill>
                  <a:schemeClr val="tx1"/>
                </a:solidFill>
                <a:effectLst/>
                <a:latin typeface="+mn-lt"/>
                <a:ea typeface="+mn-ea"/>
                <a:cs typeface="+mn-cs"/>
              </a:rPr>
              <a:t>6. Permit easy reversal of actions.</a:t>
            </a:r>
          </a:p>
          <a:p>
            <a:pPr fontAlgn="base"/>
            <a:r>
              <a:rPr lang="en-US" sz="1200" b="0" i="0" kern="1200" dirty="0">
                <a:solidFill>
                  <a:schemeClr val="tx1"/>
                </a:solidFill>
                <a:effectLst/>
                <a:latin typeface="+mn-lt"/>
                <a:ea typeface="+mn-ea"/>
                <a:cs typeface="+mn-cs"/>
              </a:rPr>
              <a:t>As much as possible, actions should be reversible. This feature relieves anxiety, since the user knows that errors can be undone, and encourages exploration of unfamiliar options. The units of reversibility may be a single action, a data-entry task, or a complete group of actions, such as entry of a name-address block.</a:t>
            </a:r>
          </a:p>
          <a:p>
            <a:pPr fontAlgn="base"/>
            <a:r>
              <a:rPr lang="en-US" sz="1200" b="1" i="0" kern="1200" dirty="0">
                <a:solidFill>
                  <a:schemeClr val="tx1"/>
                </a:solidFill>
                <a:effectLst/>
                <a:latin typeface="+mn-lt"/>
                <a:ea typeface="+mn-ea"/>
                <a:cs typeface="+mn-cs"/>
              </a:rPr>
              <a:t>7. Support internal locus of control.</a:t>
            </a:r>
          </a:p>
          <a:p>
            <a:pPr fontAlgn="base"/>
            <a:r>
              <a:rPr lang="en-US" sz="1200" b="0" i="0" kern="1200" dirty="0">
                <a:solidFill>
                  <a:schemeClr val="tx1"/>
                </a:solidFill>
                <a:effectLst/>
                <a:latin typeface="+mn-lt"/>
                <a:ea typeface="+mn-ea"/>
                <a:cs typeface="+mn-cs"/>
              </a:rPr>
              <a:t>Experienced users strongly desire the sense that they are in charge of the interface and that the interface responds to their actions. They don’t want surprises or changes in familiar behavior, and they are annoyed by tedious data-entry sequences, difficulty in obtaining necessary information, and inability to produce their desired result.</a:t>
            </a:r>
          </a:p>
          <a:p>
            <a:pPr fontAlgn="base"/>
            <a:r>
              <a:rPr lang="en-US" sz="1200" b="1" i="0" kern="1200" dirty="0">
                <a:solidFill>
                  <a:schemeClr val="tx1"/>
                </a:solidFill>
                <a:effectLst/>
                <a:latin typeface="+mn-lt"/>
                <a:ea typeface="+mn-ea"/>
                <a:cs typeface="+mn-cs"/>
              </a:rPr>
              <a:t>8. Reduce short-term memory load.</a:t>
            </a:r>
          </a:p>
          <a:p>
            <a:pPr fontAlgn="base"/>
            <a:r>
              <a:rPr lang="en-US" sz="1200" b="0" i="0" kern="1200" dirty="0">
                <a:solidFill>
                  <a:schemeClr val="tx1"/>
                </a:solidFill>
                <a:effectLst/>
                <a:latin typeface="+mn-lt"/>
                <a:ea typeface="+mn-ea"/>
                <a:cs typeface="+mn-cs"/>
              </a:rPr>
              <a:t>Humans’ limited capacity for information processing in short-term memory (the rule of thumb is that we can remember "seven plus or minus two chunks" of information) requires that designers avoid interfaces in which users must remember information from one screen and then use that information on another screen. It means that cell phones should not require re-entry of phone numbers, web-site locations should remain visible, multiple-page displays should be consolidated, and sufficient training time should be allotted for complex sequences of actions.</a:t>
            </a:r>
          </a:p>
          <a:p>
            <a:pPr fontAlgn="base"/>
            <a:r>
              <a:rPr lang="en-US" sz="1200" b="0" i="0" kern="1200" dirty="0">
                <a:solidFill>
                  <a:schemeClr val="tx1"/>
                </a:solidFill>
                <a:effectLst/>
                <a:latin typeface="+mn-lt"/>
                <a:ea typeface="+mn-ea"/>
                <a:cs typeface="+mn-cs"/>
              </a:rPr>
              <a:t>These underlying principles must be interpreted, refined, and extended for each environment. They have their limitations, but they provide a good starting point for mobile, desktop, and web designers. The principles presented in the ensuing sections focus on increasing users’ productivity by providing simplified data-entry procedures, comprehensible displays, and rapid informative feedback to increase feelings of competence, mastery, and control over the system.</a:t>
            </a:r>
          </a:p>
        </p:txBody>
      </p:sp>
      <p:sp>
        <p:nvSpPr>
          <p:cNvPr id="4" name="Slide Number Placeholder 3"/>
          <p:cNvSpPr>
            <a:spLocks noGrp="1"/>
          </p:cNvSpPr>
          <p:nvPr>
            <p:ph type="sldNum" sz="quarter" idx="10"/>
          </p:nvPr>
        </p:nvSpPr>
        <p:spPr/>
        <p:txBody>
          <a:bodyPr/>
          <a:lstStyle/>
          <a:p>
            <a:fld id="{A5E35D07-CE9A-41EA-8351-FED4C60B3E9A}" type="slidenum">
              <a:rPr lang="en-US" smtClean="0"/>
              <a:pPr/>
              <a:t>129</a:t>
            </a:fld>
            <a:endParaRPr lang="en-US"/>
          </a:p>
        </p:txBody>
      </p:sp>
    </p:spTree>
    <p:extLst>
      <p:ext uri="{BB962C8B-B14F-4D97-AF65-F5344CB8AC3E}">
        <p14:creationId xmlns:p14="http://schemas.microsoft.com/office/powerpoint/2010/main" val="404573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pPr/>
              <a:t>1/25/2026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E233F16-6F8D-46A1-A057-776BA6AD2C46}" type="datetimeFigureOut">
              <a:rPr lang="en-US" smtClean="0"/>
              <a:pPr/>
              <a:t>1/25/2026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pPr/>
              <a:t>1/25/2026</a:t>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pPr/>
              <a:t>1/25/2026</a:t>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pPr/>
              <a:t>1/25/2026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pPr/>
              <a:t>1/25/2026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E8EB1F7E-1460-4293-A018-55C1201B2C1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pPr/>
              <a:t>1/25/2026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gif"/></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toptal.com/designers/graphic"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7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87.gi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1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371600"/>
            <a:ext cx="7848600" cy="1828800"/>
          </a:xfrm>
        </p:spPr>
        <p:txBody>
          <a:bodyPr>
            <a:normAutofit fontScale="90000"/>
          </a:bodyPr>
          <a:lstStyle/>
          <a:p>
            <a:r>
              <a:rPr lang="en-US" dirty="0"/>
              <a:t>Human Computer Interaction  </a:t>
            </a:r>
            <a:br>
              <a:rPr lang="en-US" dirty="0"/>
            </a:br>
            <a:endParaRPr lang="en-US" sz="3200" dirty="0"/>
          </a:p>
        </p:txBody>
      </p:sp>
      <p:sp>
        <p:nvSpPr>
          <p:cNvPr id="3" name="Subtitle 2"/>
          <p:cNvSpPr>
            <a:spLocks noGrp="1"/>
          </p:cNvSpPr>
          <p:nvPr>
            <p:ph type="subTitle" idx="1"/>
          </p:nvPr>
        </p:nvSpPr>
        <p:spPr/>
        <p:txBody>
          <a:bodyPr/>
          <a:lstStyle/>
          <a:p>
            <a:r>
              <a:rPr lang="en-US" dirty="0"/>
              <a:t>Design Perceptual Organization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Perception </a:t>
            </a:r>
          </a:p>
        </p:txBody>
      </p:sp>
      <p:sp>
        <p:nvSpPr>
          <p:cNvPr id="3" name="Content Placeholder 2"/>
          <p:cNvSpPr>
            <a:spLocks noGrp="1"/>
          </p:cNvSpPr>
          <p:nvPr>
            <p:ph sz="quarter" idx="1"/>
          </p:nvPr>
        </p:nvSpPr>
        <p:spPr/>
        <p:txBody>
          <a:bodyPr/>
          <a:lstStyle/>
          <a:p>
            <a:pPr fontAlgn="base"/>
            <a:r>
              <a:rPr lang="en-US" dirty="0"/>
              <a:t>Perception is the organization, identification, and interpretation of sensory information to represent and understand the environment.</a:t>
            </a:r>
          </a:p>
          <a:p>
            <a:pPr fontAlgn="base"/>
            <a:endParaRPr lang="en-US" dirty="0"/>
          </a:p>
          <a:p>
            <a:pPr fontAlgn="base"/>
            <a:r>
              <a:rPr lang="en-US" dirty="0"/>
              <a:t>People's behavior is based on their perception of what reality is, not on reality itself.</a:t>
            </a:r>
          </a:p>
          <a:p>
            <a:pPr marL="0" indent="0">
              <a:buNone/>
            </a:pPr>
            <a:endParaRPr lang="en-US" dirty="0"/>
          </a:p>
        </p:txBody>
      </p:sp>
      <p:pic>
        <p:nvPicPr>
          <p:cNvPr id="5" name="Picture 4">
            <a:extLst>
              <a:ext uri="{FF2B5EF4-FFF2-40B4-BE49-F238E27FC236}">
                <a16:creationId xmlns:a16="http://schemas.microsoft.com/office/drawing/2014/main" id="{30803EBE-0C9E-4135-BE1C-3821CDC5DC82}"/>
              </a:ext>
            </a:extLst>
          </p:cNvPr>
          <p:cNvPicPr>
            <a:picLocks noChangeAspect="1"/>
          </p:cNvPicPr>
          <p:nvPr/>
        </p:nvPicPr>
        <p:blipFill>
          <a:blip r:embed="rId3"/>
          <a:stretch>
            <a:fillRect/>
          </a:stretch>
        </p:blipFill>
        <p:spPr>
          <a:xfrm>
            <a:off x="5410200" y="4451436"/>
            <a:ext cx="3589218" cy="2406564"/>
          </a:xfrm>
          <a:prstGeom prst="rect">
            <a:avLst/>
          </a:prstGeom>
        </p:spPr>
      </p:pic>
    </p:spTree>
    <p:extLst>
      <p:ext uri="{BB962C8B-B14F-4D97-AF65-F5344CB8AC3E}">
        <p14:creationId xmlns:p14="http://schemas.microsoft.com/office/powerpoint/2010/main" val="3233568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82A4D-D681-4BF7-A69A-E7D5FEB41D58}"/>
              </a:ext>
            </a:extLst>
          </p:cNvPr>
          <p:cNvSpPr>
            <a:spLocks noGrp="1"/>
          </p:cNvSpPr>
          <p:nvPr>
            <p:ph type="title"/>
          </p:nvPr>
        </p:nvSpPr>
        <p:spPr/>
        <p:txBody>
          <a:bodyPr/>
          <a:lstStyle/>
          <a:p>
            <a:r>
              <a:rPr lang="en-US" dirty="0"/>
              <a:t>Perception vs reality</a:t>
            </a:r>
          </a:p>
        </p:txBody>
      </p:sp>
      <p:pic>
        <p:nvPicPr>
          <p:cNvPr id="5" name="Content Placeholder 4">
            <a:extLst>
              <a:ext uri="{FF2B5EF4-FFF2-40B4-BE49-F238E27FC236}">
                <a16:creationId xmlns:a16="http://schemas.microsoft.com/office/drawing/2014/main" id="{9681D7D7-6211-420F-BA52-3F7AC1CCA78A}"/>
              </a:ext>
            </a:extLst>
          </p:cNvPr>
          <p:cNvPicPr>
            <a:picLocks noGrp="1" noChangeAspect="1"/>
          </p:cNvPicPr>
          <p:nvPr>
            <p:ph sz="quarter" idx="1"/>
          </p:nvPr>
        </p:nvPicPr>
        <p:blipFill>
          <a:blip r:embed="rId2"/>
          <a:stretch>
            <a:fillRect/>
          </a:stretch>
        </p:blipFill>
        <p:spPr>
          <a:xfrm>
            <a:off x="2693987" y="2024062"/>
            <a:ext cx="3990975" cy="3648075"/>
          </a:xfrm>
        </p:spPr>
      </p:pic>
    </p:spTree>
    <p:extLst>
      <p:ext uri="{BB962C8B-B14F-4D97-AF65-F5344CB8AC3E}">
        <p14:creationId xmlns:p14="http://schemas.microsoft.com/office/powerpoint/2010/main" val="723392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5F617-D534-442B-82B8-414370CAF49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B2DD93E-E106-4927-ADBD-D9666A01A2BA}"/>
              </a:ext>
            </a:extLst>
          </p:cNvPr>
          <p:cNvPicPr>
            <a:picLocks noGrp="1" noChangeAspect="1"/>
          </p:cNvPicPr>
          <p:nvPr>
            <p:ph sz="quarter" idx="1"/>
          </p:nvPr>
        </p:nvPicPr>
        <p:blipFill>
          <a:blip r:embed="rId2"/>
          <a:stretch>
            <a:fillRect/>
          </a:stretch>
        </p:blipFill>
        <p:spPr>
          <a:xfrm>
            <a:off x="125557" y="609600"/>
            <a:ext cx="8892886" cy="6019800"/>
          </a:xfrm>
        </p:spPr>
      </p:pic>
    </p:spTree>
    <p:extLst>
      <p:ext uri="{BB962C8B-B14F-4D97-AF65-F5344CB8AC3E}">
        <p14:creationId xmlns:p14="http://schemas.microsoft.com/office/powerpoint/2010/main" val="3236987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process</a:t>
            </a:r>
          </a:p>
        </p:txBody>
      </p:sp>
      <p:sp>
        <p:nvSpPr>
          <p:cNvPr id="3" name="Content Placeholder 2"/>
          <p:cNvSpPr>
            <a:spLocks noGrp="1"/>
          </p:cNvSpPr>
          <p:nvPr>
            <p:ph sz="quarter" idx="1"/>
          </p:nvPr>
        </p:nvSpPr>
        <p:spPr/>
        <p:txBody>
          <a:bodyPr/>
          <a:lstStyle/>
          <a:p>
            <a:pPr marL="514350" indent="-514350">
              <a:buFont typeface="+mj-lt"/>
              <a:buAutoNum type="arabicPeriod"/>
            </a:pPr>
            <a:r>
              <a:rPr lang="en-US" dirty="0"/>
              <a:t>Stimuli</a:t>
            </a:r>
          </a:p>
          <a:p>
            <a:pPr marL="514350" indent="-514350">
              <a:buFont typeface="+mj-lt"/>
              <a:buAutoNum type="arabicPeriod"/>
            </a:pPr>
            <a:r>
              <a:rPr lang="en-US" dirty="0"/>
              <a:t>Receiving stimuli (or organizing)</a:t>
            </a:r>
          </a:p>
          <a:p>
            <a:pPr marL="514350" indent="-514350">
              <a:buFont typeface="+mj-lt"/>
              <a:buAutoNum type="arabicPeriod"/>
            </a:pPr>
            <a:r>
              <a:rPr lang="en-US" dirty="0"/>
              <a:t>Selective attention (or selecting stimuli)</a:t>
            </a:r>
          </a:p>
          <a:p>
            <a:pPr marL="514350" indent="-514350">
              <a:buFont typeface="+mj-lt"/>
              <a:buAutoNum type="arabicPeriod"/>
            </a:pPr>
            <a:r>
              <a:rPr lang="en-US" dirty="0"/>
              <a:t>Perceptual organization (</a:t>
            </a:r>
            <a:r>
              <a:rPr lang="en-US"/>
              <a:t>group stimuli </a:t>
            </a:r>
            <a:r>
              <a:rPr lang="en-US" dirty="0"/>
              <a:t>into </a:t>
            </a:r>
            <a:r>
              <a:rPr lang="en-US"/>
              <a:t>recognizable patterns)</a:t>
            </a:r>
            <a:endParaRPr lang="en-US" dirty="0"/>
          </a:p>
          <a:p>
            <a:pPr marL="514350" indent="-514350">
              <a:buFont typeface="+mj-lt"/>
              <a:buAutoNum type="arabicPeriod"/>
            </a:pPr>
            <a:r>
              <a:rPr lang="en-US" dirty="0"/>
              <a:t>Interpreting (assigning meaning)</a:t>
            </a:r>
          </a:p>
          <a:p>
            <a:pPr marL="514350" indent="-514350">
              <a:buFont typeface="+mj-lt"/>
              <a:buAutoNum type="arabicPeriod"/>
            </a:pPr>
            <a:r>
              <a:rPr lang="en-US" dirty="0"/>
              <a:t>Response</a:t>
            </a:r>
          </a:p>
        </p:txBody>
      </p:sp>
    </p:spTree>
    <p:extLst>
      <p:ext uri="{BB962C8B-B14F-4D97-AF65-F5344CB8AC3E}">
        <p14:creationId xmlns:p14="http://schemas.microsoft.com/office/powerpoint/2010/main" val="2063541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process</a:t>
            </a:r>
          </a:p>
        </p:txBody>
      </p:sp>
      <p:sp>
        <p:nvSpPr>
          <p:cNvPr id="3" name="Content Placeholder 2"/>
          <p:cNvSpPr>
            <a:spLocks noGrp="1"/>
          </p:cNvSpPr>
          <p:nvPr>
            <p:ph sz="quarter" idx="1"/>
          </p:nvPr>
        </p:nvSpPr>
        <p:spPr/>
        <p:txBody>
          <a:bodyPr>
            <a:normAutofit fontScale="92500" lnSpcReduction="20000"/>
          </a:bodyPr>
          <a:lstStyle/>
          <a:p>
            <a:pPr marL="0" indent="0" fontAlgn="base">
              <a:buNone/>
            </a:pPr>
            <a:r>
              <a:rPr lang="en-US" dirty="0"/>
              <a:t>The perceptual process is the sequence of psychological steps that a person uses to organize and interpret information from the outside world. </a:t>
            </a:r>
          </a:p>
          <a:p>
            <a:pPr marL="0" indent="0" fontAlgn="base">
              <a:buNone/>
            </a:pPr>
            <a:endParaRPr lang="en-US" dirty="0"/>
          </a:p>
          <a:p>
            <a:pPr marL="0" indent="0" fontAlgn="base">
              <a:buNone/>
            </a:pPr>
            <a:endParaRPr lang="en-US" dirty="0"/>
          </a:p>
          <a:p>
            <a:pPr marL="514350" indent="-514350" fontAlgn="base">
              <a:buFont typeface="+mj-lt"/>
              <a:buAutoNum type="arabicPeriod"/>
            </a:pPr>
            <a:r>
              <a:rPr lang="en-US" dirty="0"/>
              <a:t>Objects are present in the world.</a:t>
            </a:r>
          </a:p>
          <a:p>
            <a:pPr marL="514350" indent="-514350" fontAlgn="base">
              <a:buFont typeface="+mj-lt"/>
              <a:buAutoNum type="arabicPeriod"/>
            </a:pPr>
            <a:r>
              <a:rPr lang="en-US" dirty="0"/>
              <a:t>A person observes.</a:t>
            </a:r>
          </a:p>
          <a:p>
            <a:pPr marL="514350" indent="-514350" fontAlgn="base">
              <a:buFont typeface="+mj-lt"/>
              <a:buAutoNum type="arabicPeriod"/>
            </a:pPr>
            <a:r>
              <a:rPr lang="en-US" dirty="0"/>
              <a:t>The person uses perception to select objects.</a:t>
            </a:r>
          </a:p>
          <a:p>
            <a:pPr marL="514350" indent="-514350" fontAlgn="base">
              <a:buFont typeface="+mj-lt"/>
              <a:buAutoNum type="arabicPeriod"/>
            </a:pPr>
            <a:r>
              <a:rPr lang="en-US" dirty="0"/>
              <a:t>The person organizes the perception of objects.</a:t>
            </a:r>
          </a:p>
          <a:p>
            <a:pPr marL="514350" indent="-514350" fontAlgn="base">
              <a:buFont typeface="+mj-lt"/>
              <a:buAutoNum type="arabicPeriod"/>
            </a:pPr>
            <a:r>
              <a:rPr lang="en-US" dirty="0"/>
              <a:t>The person interprets the perceptions.</a:t>
            </a:r>
          </a:p>
          <a:p>
            <a:pPr marL="514350" indent="-514350" fontAlgn="base">
              <a:buFont typeface="+mj-lt"/>
              <a:buAutoNum type="arabicPeriod"/>
            </a:pPr>
            <a:r>
              <a:rPr lang="en-US" dirty="0"/>
              <a:t>The person responds.</a:t>
            </a:r>
          </a:p>
          <a:p>
            <a:pPr marL="514350" indent="-514350">
              <a:buFont typeface="+mj-lt"/>
              <a:buAutoNum type="arabicPeriod"/>
            </a:pPr>
            <a:endParaRPr lang="en-US" dirty="0"/>
          </a:p>
        </p:txBody>
      </p:sp>
    </p:spTree>
    <p:extLst>
      <p:ext uri="{BB962C8B-B14F-4D97-AF65-F5344CB8AC3E}">
        <p14:creationId xmlns:p14="http://schemas.microsoft.com/office/powerpoint/2010/main" val="610733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process</a:t>
            </a:r>
          </a:p>
        </p:txBody>
      </p:sp>
      <p:pic>
        <p:nvPicPr>
          <p:cNvPr id="4" name="Content Placeholder 3"/>
          <p:cNvPicPr>
            <a:picLocks noGrp="1" noChangeAspect="1"/>
          </p:cNvPicPr>
          <p:nvPr>
            <p:ph sz="quarter" idx="1"/>
          </p:nvPr>
        </p:nvPicPr>
        <p:blipFill>
          <a:blip r:embed="rId2"/>
          <a:stretch>
            <a:fillRect/>
          </a:stretch>
        </p:blipFill>
        <p:spPr>
          <a:xfrm>
            <a:off x="1061991" y="2133600"/>
            <a:ext cx="7254713" cy="3248025"/>
          </a:xfrm>
          <a:prstGeom prst="rect">
            <a:avLst/>
          </a:prstGeom>
        </p:spPr>
      </p:pic>
    </p:spTree>
    <p:extLst>
      <p:ext uri="{BB962C8B-B14F-4D97-AF65-F5344CB8AC3E}">
        <p14:creationId xmlns:p14="http://schemas.microsoft.com/office/powerpoint/2010/main" val="4162916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Selection</a:t>
            </a:r>
          </a:p>
        </p:txBody>
      </p:sp>
      <p:sp>
        <p:nvSpPr>
          <p:cNvPr id="3" name="Content Placeholder 2"/>
          <p:cNvSpPr>
            <a:spLocks noGrp="1"/>
          </p:cNvSpPr>
          <p:nvPr>
            <p:ph sz="quarter" idx="1"/>
          </p:nvPr>
        </p:nvSpPr>
        <p:spPr/>
        <p:txBody>
          <a:bodyPr>
            <a:normAutofit fontScale="85000" lnSpcReduction="20000"/>
          </a:bodyPr>
          <a:lstStyle/>
          <a:p>
            <a:pPr fontAlgn="base"/>
            <a:r>
              <a:rPr lang="en-US" dirty="0"/>
              <a:t>Size – A larger size makes it more likely an object will be selected.</a:t>
            </a:r>
          </a:p>
          <a:p>
            <a:pPr fontAlgn="base"/>
            <a:r>
              <a:rPr lang="en-US" dirty="0"/>
              <a:t>Intensity – Greater intensity, in brightness, for example, also increases perceptual selection.</a:t>
            </a:r>
          </a:p>
          <a:p>
            <a:pPr fontAlgn="base"/>
            <a:r>
              <a:rPr lang="en-US" dirty="0"/>
              <a:t>Contrast – When a perception stands clearly out against a background, there is a greater likelihood of selection.</a:t>
            </a:r>
          </a:p>
          <a:p>
            <a:pPr fontAlgn="base"/>
            <a:r>
              <a:rPr lang="en-US" dirty="0"/>
              <a:t>Motion – A moving perception is more likely to be selected.</a:t>
            </a:r>
          </a:p>
          <a:p>
            <a:pPr fontAlgn="base"/>
            <a:r>
              <a:rPr lang="en-US" dirty="0"/>
              <a:t>Repetition – Repetition increases perceptual selection.</a:t>
            </a:r>
          </a:p>
          <a:p>
            <a:pPr fontAlgn="base"/>
            <a:r>
              <a:rPr lang="en-US" dirty="0"/>
              <a:t>Novelty and familiarity – Both of these increase selection. When a perception is new, it stands out in a person’s experience. When it is familiar, it is likely to be selected because of this familiarity.</a:t>
            </a:r>
          </a:p>
          <a:p>
            <a:endParaRPr lang="en-US" dirty="0"/>
          </a:p>
        </p:txBody>
      </p:sp>
    </p:spTree>
    <p:extLst>
      <p:ext uri="{BB962C8B-B14F-4D97-AF65-F5344CB8AC3E}">
        <p14:creationId xmlns:p14="http://schemas.microsoft.com/office/powerpoint/2010/main" val="1118597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organization</a:t>
            </a:r>
          </a:p>
        </p:txBody>
      </p:sp>
      <p:sp>
        <p:nvSpPr>
          <p:cNvPr id="3" name="Content Placeholder 2"/>
          <p:cNvSpPr>
            <a:spLocks noGrp="1"/>
          </p:cNvSpPr>
          <p:nvPr>
            <p:ph sz="quarter" idx="1"/>
          </p:nvPr>
        </p:nvSpPr>
        <p:spPr/>
        <p:txBody>
          <a:bodyPr/>
          <a:lstStyle/>
          <a:p>
            <a:r>
              <a:rPr lang="en-US" dirty="0"/>
              <a:t>The process by which people group stimuli into recognizable patterns</a:t>
            </a:r>
          </a:p>
          <a:p>
            <a:pPr lvl="1"/>
            <a:r>
              <a:rPr lang="en-US" dirty="0"/>
              <a:t>What mental picture do you have for a wooden object with 4 legs?</a:t>
            </a:r>
          </a:p>
          <a:p>
            <a:pPr lvl="1"/>
            <a:r>
              <a:rPr lang="en-US" dirty="0"/>
              <a:t>When people actually see the above wooden object having these characteristics, they are able to organize information into meaningful whole and recognize the object to be a chair.</a:t>
            </a:r>
          </a:p>
        </p:txBody>
      </p:sp>
    </p:spTree>
    <p:extLst>
      <p:ext uri="{BB962C8B-B14F-4D97-AF65-F5344CB8AC3E}">
        <p14:creationId xmlns:p14="http://schemas.microsoft.com/office/powerpoint/2010/main" val="134677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Illusions </a:t>
            </a:r>
          </a:p>
        </p:txBody>
      </p:sp>
      <p:sp>
        <p:nvSpPr>
          <p:cNvPr id="3" name="Content Placeholder 2"/>
          <p:cNvSpPr>
            <a:spLocks noGrp="1"/>
          </p:cNvSpPr>
          <p:nvPr>
            <p:ph sz="quarter" idx="1"/>
          </p:nvPr>
        </p:nvSpPr>
        <p:spPr/>
        <p:txBody>
          <a:bodyPr/>
          <a:lstStyle/>
          <a:p>
            <a:r>
              <a:rPr lang="en-US" dirty="0"/>
              <a:t>They can be understood as reliable perceptual errors</a:t>
            </a:r>
          </a:p>
          <a:p>
            <a:r>
              <a:rPr lang="en-US" dirty="0"/>
              <a:t>People don’t perceive length, area, angle, brightness the way they “should”.</a:t>
            </a:r>
          </a:p>
        </p:txBody>
      </p:sp>
    </p:spTree>
    <p:extLst>
      <p:ext uri="{BB962C8B-B14F-4D97-AF65-F5344CB8AC3E}">
        <p14:creationId xmlns:p14="http://schemas.microsoft.com/office/powerpoint/2010/main" val="189625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Illusions </a:t>
            </a:r>
          </a:p>
        </p:txBody>
      </p:sp>
      <p:pic>
        <p:nvPicPr>
          <p:cNvPr id="4" name="Picture 8"/>
          <p:cNvPicPr>
            <a:picLocks noChangeArrowheads="1"/>
          </p:cNvPicPr>
          <p:nvPr/>
        </p:nvPicPr>
        <p:blipFill>
          <a:blip r:embed="rId2" cstate="print"/>
          <a:srcRect/>
          <a:stretch>
            <a:fillRect/>
          </a:stretch>
        </p:blipFill>
        <p:spPr bwMode="auto">
          <a:xfrm>
            <a:off x="2317750" y="1524000"/>
            <a:ext cx="4508500" cy="2208213"/>
          </a:xfrm>
          <a:prstGeom prst="rect">
            <a:avLst/>
          </a:prstGeom>
          <a:noFill/>
          <a:ln w="9525">
            <a:noFill/>
            <a:miter lim="800000"/>
            <a:headEnd/>
            <a:tailEnd/>
          </a:ln>
          <a:effectLst/>
        </p:spPr>
      </p:pic>
    </p:spTree>
    <p:extLst>
      <p:ext uri="{BB962C8B-B14F-4D97-AF65-F5344CB8AC3E}">
        <p14:creationId xmlns:p14="http://schemas.microsoft.com/office/powerpoint/2010/main" val="56026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Illusions </a:t>
            </a:r>
          </a:p>
        </p:txBody>
      </p:sp>
      <p:pic>
        <p:nvPicPr>
          <p:cNvPr id="5" name="Picture 10"/>
          <p:cNvPicPr>
            <a:picLocks noChangeArrowheads="1"/>
          </p:cNvPicPr>
          <p:nvPr/>
        </p:nvPicPr>
        <p:blipFill>
          <a:blip r:embed="rId2" cstate="print"/>
          <a:srcRect/>
          <a:stretch>
            <a:fillRect/>
          </a:stretch>
        </p:blipFill>
        <p:spPr bwMode="auto">
          <a:xfrm>
            <a:off x="2279650" y="3962400"/>
            <a:ext cx="4584700" cy="2393950"/>
          </a:xfrm>
          <a:prstGeom prst="rect">
            <a:avLst/>
          </a:prstGeom>
          <a:noFill/>
          <a:ln w="9525">
            <a:noFill/>
            <a:miter lim="800000"/>
            <a:headEnd/>
            <a:tailEnd/>
          </a:ln>
          <a:effectLst/>
        </p:spPr>
      </p:pic>
      <p:pic>
        <p:nvPicPr>
          <p:cNvPr id="6" name="Picture 8"/>
          <p:cNvPicPr>
            <a:picLocks noChangeArrowheads="1"/>
          </p:cNvPicPr>
          <p:nvPr/>
        </p:nvPicPr>
        <p:blipFill>
          <a:blip r:embed="rId3" cstate="print"/>
          <a:srcRect/>
          <a:stretch>
            <a:fillRect/>
          </a:stretch>
        </p:blipFill>
        <p:spPr bwMode="auto">
          <a:xfrm>
            <a:off x="2317750" y="1371600"/>
            <a:ext cx="4508500" cy="2208213"/>
          </a:xfrm>
          <a:prstGeom prst="rect">
            <a:avLst/>
          </a:prstGeom>
          <a:noFill/>
          <a:ln w="9525">
            <a:noFill/>
            <a:miter lim="800000"/>
            <a:headEnd/>
            <a:tailEnd/>
          </a:ln>
          <a:effectLst/>
        </p:spPr>
      </p:pic>
    </p:spTree>
    <p:extLst>
      <p:ext uri="{BB962C8B-B14F-4D97-AF65-F5344CB8AC3E}">
        <p14:creationId xmlns:p14="http://schemas.microsoft.com/office/powerpoint/2010/main" val="256084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10" descr="D:\Art\ch06\jpg\un06-p218-middlebottom.JPG"/>
          <p:cNvPicPr>
            <a:picLocks noChangeAspect="1" noChangeArrowheads="1"/>
          </p:cNvPicPr>
          <p:nvPr/>
        </p:nvPicPr>
        <p:blipFill>
          <a:blip r:embed="rId2" cstate="print"/>
          <a:srcRect/>
          <a:stretch>
            <a:fillRect/>
          </a:stretch>
        </p:blipFill>
        <p:spPr bwMode="auto">
          <a:xfrm>
            <a:off x="2057400" y="1905000"/>
            <a:ext cx="4495800" cy="4484688"/>
          </a:xfrm>
          <a:prstGeom prst="rect">
            <a:avLst/>
          </a:prstGeom>
          <a:noFill/>
        </p:spPr>
      </p:pic>
      <p:sp>
        <p:nvSpPr>
          <p:cNvPr id="2" name="Title 1"/>
          <p:cNvSpPr>
            <a:spLocks noGrp="1"/>
          </p:cNvSpPr>
          <p:nvPr>
            <p:ph type="title"/>
          </p:nvPr>
        </p:nvSpPr>
        <p:spPr/>
        <p:txBody>
          <a:bodyPr/>
          <a:lstStyle/>
          <a:p>
            <a:r>
              <a:rPr lang="en-US" dirty="0"/>
              <a:t>Perceptual Illusions </a:t>
            </a:r>
          </a:p>
        </p:txBody>
      </p:sp>
      <p:sp>
        <p:nvSpPr>
          <p:cNvPr id="3" name="Content Placeholder 2"/>
          <p:cNvSpPr>
            <a:spLocks noGrp="1"/>
          </p:cNvSpPr>
          <p:nvPr>
            <p:ph sz="quarter" idx="1"/>
          </p:nvPr>
        </p:nvSpPr>
        <p:spPr/>
        <p:txBody>
          <a:bodyPr/>
          <a:lstStyle/>
          <a:p>
            <a:pPr marL="0" indent="0">
              <a:buNone/>
            </a:pPr>
            <a:endParaRPr lang="en-US" dirty="0"/>
          </a:p>
          <a:p>
            <a:endParaRPr lang="en-US" dirty="0"/>
          </a:p>
          <a:p>
            <a:endParaRPr lang="en-US" dirty="0"/>
          </a:p>
          <a:p>
            <a:endParaRPr lang="en-US" dirty="0"/>
          </a:p>
          <a:p>
            <a:endParaRPr lang="en-US" dirty="0"/>
          </a:p>
          <a:p>
            <a:endParaRPr lang="en-US" dirty="0"/>
          </a:p>
          <a:p>
            <a:pPr>
              <a:buNone/>
            </a:pPr>
            <a:endParaRPr lang="en-US" dirty="0"/>
          </a:p>
        </p:txBody>
      </p:sp>
      <p:grpSp>
        <p:nvGrpSpPr>
          <p:cNvPr id="4" name="Group 4"/>
          <p:cNvGrpSpPr>
            <a:grpSpLocks/>
          </p:cNvGrpSpPr>
          <p:nvPr/>
        </p:nvGrpSpPr>
        <p:grpSpPr bwMode="auto">
          <a:xfrm>
            <a:off x="1295400" y="2743200"/>
            <a:ext cx="2133600" cy="1066800"/>
            <a:chOff x="2208" y="2880"/>
            <a:chExt cx="1344" cy="672"/>
          </a:xfrm>
        </p:grpSpPr>
        <p:grpSp>
          <p:nvGrpSpPr>
            <p:cNvPr id="5" name="Group 5"/>
            <p:cNvGrpSpPr>
              <a:grpSpLocks/>
            </p:cNvGrpSpPr>
            <p:nvPr/>
          </p:nvGrpSpPr>
          <p:grpSpPr bwMode="auto">
            <a:xfrm>
              <a:off x="2208" y="2880"/>
              <a:ext cx="1344" cy="288"/>
              <a:chOff x="3696" y="2880"/>
              <a:chExt cx="1344" cy="288"/>
            </a:xfrm>
          </p:grpSpPr>
          <p:grpSp>
            <p:nvGrpSpPr>
              <p:cNvPr id="6" name="Group 6"/>
              <p:cNvGrpSpPr>
                <a:grpSpLocks/>
              </p:cNvGrpSpPr>
              <p:nvPr/>
            </p:nvGrpSpPr>
            <p:grpSpPr bwMode="auto">
              <a:xfrm>
                <a:off x="4800" y="2880"/>
                <a:ext cx="240" cy="288"/>
                <a:chOff x="4272" y="2832"/>
                <a:chExt cx="240" cy="288"/>
              </a:xfrm>
            </p:grpSpPr>
            <p:sp>
              <p:nvSpPr>
                <p:cNvPr id="19" name="Line 7"/>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8"/>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 name="Group 9"/>
              <p:cNvGrpSpPr>
                <a:grpSpLocks/>
              </p:cNvGrpSpPr>
              <p:nvPr/>
            </p:nvGrpSpPr>
            <p:grpSpPr bwMode="auto">
              <a:xfrm flipH="1">
                <a:off x="3696" y="2880"/>
                <a:ext cx="240" cy="288"/>
                <a:chOff x="4272" y="2832"/>
                <a:chExt cx="240" cy="288"/>
              </a:xfrm>
            </p:grpSpPr>
            <p:sp>
              <p:nvSpPr>
                <p:cNvPr id="17" name="Line 10"/>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1"/>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 name="Line 12"/>
              <p:cNvSpPr>
                <a:spLocks noChangeShapeType="1"/>
              </p:cNvSpPr>
              <p:nvPr/>
            </p:nvSpPr>
            <p:spPr bwMode="auto">
              <a:xfrm flipH="1">
                <a:off x="3936" y="3024"/>
                <a:ext cx="864"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 name="Group 13"/>
            <p:cNvGrpSpPr>
              <a:grpSpLocks/>
            </p:cNvGrpSpPr>
            <p:nvPr/>
          </p:nvGrpSpPr>
          <p:grpSpPr bwMode="auto">
            <a:xfrm>
              <a:off x="2400" y="3264"/>
              <a:ext cx="960" cy="288"/>
              <a:chOff x="3888" y="3264"/>
              <a:chExt cx="960" cy="288"/>
            </a:xfrm>
          </p:grpSpPr>
          <p:grpSp>
            <p:nvGrpSpPr>
              <p:cNvPr id="14" name="Group 14"/>
              <p:cNvGrpSpPr>
                <a:grpSpLocks/>
              </p:cNvGrpSpPr>
              <p:nvPr/>
            </p:nvGrpSpPr>
            <p:grpSpPr bwMode="auto">
              <a:xfrm flipH="1">
                <a:off x="4608" y="3264"/>
                <a:ext cx="240" cy="288"/>
                <a:chOff x="4272" y="2832"/>
                <a:chExt cx="240" cy="288"/>
              </a:xfrm>
            </p:grpSpPr>
            <p:sp>
              <p:nvSpPr>
                <p:cNvPr id="12" name="Line 15"/>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16"/>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 name="Group 17"/>
              <p:cNvGrpSpPr>
                <a:grpSpLocks/>
              </p:cNvGrpSpPr>
              <p:nvPr/>
            </p:nvGrpSpPr>
            <p:grpSpPr bwMode="auto">
              <a:xfrm>
                <a:off x="3888" y="3264"/>
                <a:ext cx="240" cy="288"/>
                <a:chOff x="4272" y="2832"/>
                <a:chExt cx="240" cy="288"/>
              </a:xfrm>
            </p:grpSpPr>
            <p:sp>
              <p:nvSpPr>
                <p:cNvPr id="10" name="Line 18"/>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19"/>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9" name="Line 20"/>
              <p:cNvSpPr>
                <a:spLocks noChangeShapeType="1"/>
              </p:cNvSpPr>
              <p:nvPr/>
            </p:nvSpPr>
            <p:spPr bwMode="auto">
              <a:xfrm flipH="1">
                <a:off x="3936" y="3408"/>
                <a:ext cx="864"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1" name="Group 22"/>
          <p:cNvGrpSpPr>
            <a:grpSpLocks/>
          </p:cNvGrpSpPr>
          <p:nvPr/>
        </p:nvGrpSpPr>
        <p:grpSpPr bwMode="auto">
          <a:xfrm>
            <a:off x="5791200" y="2133600"/>
            <a:ext cx="1447800" cy="2057400"/>
            <a:chOff x="2448" y="1152"/>
            <a:chExt cx="912" cy="1296"/>
          </a:xfrm>
        </p:grpSpPr>
        <p:grpSp>
          <p:nvGrpSpPr>
            <p:cNvPr id="22" name="Group 23"/>
            <p:cNvGrpSpPr>
              <a:grpSpLocks/>
            </p:cNvGrpSpPr>
            <p:nvPr/>
          </p:nvGrpSpPr>
          <p:grpSpPr bwMode="auto">
            <a:xfrm>
              <a:off x="2448" y="1152"/>
              <a:ext cx="912" cy="1296"/>
              <a:chOff x="2448" y="1152"/>
              <a:chExt cx="912" cy="1296"/>
            </a:xfrm>
          </p:grpSpPr>
          <p:sp>
            <p:nvSpPr>
              <p:cNvPr id="25" name="AutoShape 24"/>
              <p:cNvSpPr>
                <a:spLocks noChangeArrowheads="1"/>
              </p:cNvSpPr>
              <p:nvPr/>
            </p:nvSpPr>
            <p:spPr bwMode="auto">
              <a:xfrm>
                <a:off x="2448" y="1152"/>
                <a:ext cx="384" cy="1296"/>
              </a:xfrm>
              <a:prstGeom prst="parallelogram">
                <a:avLst>
                  <a:gd name="adj" fmla="val 83856"/>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AutoShape 25"/>
              <p:cNvSpPr>
                <a:spLocks noChangeArrowheads="1"/>
              </p:cNvSpPr>
              <p:nvPr/>
            </p:nvSpPr>
            <p:spPr bwMode="auto">
              <a:xfrm flipH="1">
                <a:off x="2976" y="1152"/>
                <a:ext cx="384" cy="1296"/>
              </a:xfrm>
              <a:prstGeom prst="parallelogram">
                <a:avLst>
                  <a:gd name="adj" fmla="val 83856"/>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6"/>
              <p:cNvSpPr>
                <a:spLocks noChangeShapeType="1"/>
              </p:cNvSpPr>
              <p:nvPr/>
            </p:nvSpPr>
            <p:spPr bwMode="auto">
              <a:xfrm>
                <a:off x="2496" y="2304"/>
                <a:ext cx="768"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27"/>
              <p:cNvSpPr>
                <a:spLocks noChangeShapeType="1"/>
              </p:cNvSpPr>
              <p:nvPr/>
            </p:nvSpPr>
            <p:spPr bwMode="auto">
              <a:xfrm>
                <a:off x="2544" y="2160"/>
                <a:ext cx="720"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28"/>
              <p:cNvSpPr>
                <a:spLocks noChangeShapeType="1"/>
              </p:cNvSpPr>
              <p:nvPr/>
            </p:nvSpPr>
            <p:spPr bwMode="auto">
              <a:xfrm>
                <a:off x="2592" y="2016"/>
                <a:ext cx="624"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9"/>
              <p:cNvSpPr>
                <a:spLocks noChangeShapeType="1"/>
              </p:cNvSpPr>
              <p:nvPr/>
            </p:nvSpPr>
            <p:spPr bwMode="auto">
              <a:xfrm>
                <a:off x="2640" y="1872"/>
                <a:ext cx="528"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30"/>
              <p:cNvSpPr>
                <a:spLocks noChangeShapeType="1"/>
              </p:cNvSpPr>
              <p:nvPr/>
            </p:nvSpPr>
            <p:spPr bwMode="auto">
              <a:xfrm>
                <a:off x="2688" y="1728"/>
                <a:ext cx="432"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31"/>
              <p:cNvSpPr>
                <a:spLocks noChangeShapeType="1"/>
              </p:cNvSpPr>
              <p:nvPr/>
            </p:nvSpPr>
            <p:spPr bwMode="auto">
              <a:xfrm>
                <a:off x="2688" y="1584"/>
                <a:ext cx="432"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32"/>
              <p:cNvSpPr>
                <a:spLocks noChangeShapeType="1"/>
              </p:cNvSpPr>
              <p:nvPr/>
            </p:nvSpPr>
            <p:spPr bwMode="auto">
              <a:xfrm>
                <a:off x="2736" y="1440"/>
                <a:ext cx="336"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3"/>
              <p:cNvSpPr>
                <a:spLocks noChangeShapeType="1"/>
              </p:cNvSpPr>
              <p:nvPr/>
            </p:nvSpPr>
            <p:spPr bwMode="auto">
              <a:xfrm>
                <a:off x="2784" y="1296"/>
                <a:ext cx="240"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3" name="Rectangle 34"/>
            <p:cNvSpPr>
              <a:spLocks noChangeArrowheads="1"/>
            </p:cNvSpPr>
            <p:nvPr/>
          </p:nvSpPr>
          <p:spPr bwMode="auto">
            <a:xfrm>
              <a:off x="2688" y="2160"/>
              <a:ext cx="432" cy="192"/>
            </a:xfrm>
            <a:prstGeom prst="rect">
              <a:avLst/>
            </a:prstGeom>
            <a:solidFill>
              <a:schemeClr val="accent2"/>
            </a:solidFill>
            <a:ln w="9525">
              <a:solidFill>
                <a:srgbClr val="555A5E"/>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Rectangle 35"/>
            <p:cNvSpPr>
              <a:spLocks noChangeArrowheads="1"/>
            </p:cNvSpPr>
            <p:nvPr/>
          </p:nvSpPr>
          <p:spPr bwMode="auto">
            <a:xfrm>
              <a:off x="2688" y="1296"/>
              <a:ext cx="432" cy="192"/>
            </a:xfrm>
            <a:prstGeom prst="rect">
              <a:avLst/>
            </a:prstGeom>
            <a:solidFill>
              <a:schemeClr val="accent2"/>
            </a:solidFill>
            <a:ln w="9525">
              <a:solidFill>
                <a:srgbClr val="555A5E"/>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08474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Perceptual Illusions: Contextual</a:t>
            </a:r>
          </a:p>
        </p:txBody>
      </p:sp>
      <p:pic>
        <p:nvPicPr>
          <p:cNvPr id="4" name="Picture 5" descr="Page 5"/>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l="43227" t="40407" r="15087" b="48409"/>
          <a:stretch>
            <a:fillRect/>
          </a:stretch>
        </p:blipFill>
        <p:spPr bwMode="auto">
          <a:xfrm>
            <a:off x="304800" y="3048000"/>
            <a:ext cx="4343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Page 3"/>
          <p:cNvPicPr>
            <a:picLocks noChangeAspect="1" noChangeArrowheads="1"/>
          </p:cNvPicPr>
          <p:nvPr/>
        </p:nvPicPr>
        <p:blipFill>
          <a:blip r:embed="rId3" cstate="print">
            <a:extLst>
              <a:ext uri="{28A0092B-C50C-407E-A947-70E740481C1C}">
                <a14:useLocalDpi xmlns:a14="http://schemas.microsoft.com/office/drawing/2010/main" val="0"/>
              </a:ext>
            </a:extLst>
          </a:blip>
          <a:srcRect l="31779" t="65443" r="27172" b="10030"/>
          <a:stretch>
            <a:fillRect/>
          </a:stretch>
        </p:blipFill>
        <p:spPr bwMode="auto">
          <a:xfrm>
            <a:off x="5181600" y="1676400"/>
            <a:ext cx="23622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age 3 001"/>
          <p:cNvPicPr>
            <a:picLocks noChangeAspect="1" noChangeArrowheads="1"/>
          </p:cNvPicPr>
          <p:nvPr/>
        </p:nvPicPr>
        <p:blipFill>
          <a:blip r:embed="rId4" cstate="print">
            <a:extLst>
              <a:ext uri="{28A0092B-C50C-407E-A947-70E740481C1C}">
                <a14:useLocalDpi xmlns:a14="http://schemas.microsoft.com/office/drawing/2010/main" val="0"/>
              </a:ext>
            </a:extLst>
          </a:blip>
          <a:srcRect l="37710" t="5501" r="19192" b="68788"/>
          <a:stretch>
            <a:fillRect/>
          </a:stretch>
        </p:blipFill>
        <p:spPr bwMode="auto">
          <a:xfrm>
            <a:off x="5181600" y="3962400"/>
            <a:ext cx="24384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631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a:t>2. Pre-Attention </a:t>
            </a:r>
          </a:p>
        </p:txBody>
      </p:sp>
    </p:spTree>
    <p:extLst>
      <p:ext uri="{BB962C8B-B14F-4D97-AF65-F5344CB8AC3E}">
        <p14:creationId xmlns:p14="http://schemas.microsoft.com/office/powerpoint/2010/main" val="3383654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xfrm>
            <a:off x="609600" y="381000"/>
            <a:ext cx="7772400" cy="990600"/>
          </a:xfrm>
        </p:spPr>
        <p:txBody>
          <a:bodyPr/>
          <a:lstStyle/>
          <a:p>
            <a:r>
              <a:rPr lang="en-US" dirty="0">
                <a:solidFill>
                  <a:schemeClr val="tx1"/>
                </a:solidFill>
              </a:rPr>
              <a:t>Pre-attentive Processing</a:t>
            </a:r>
          </a:p>
        </p:txBody>
      </p:sp>
      <p:sp>
        <p:nvSpPr>
          <p:cNvPr id="275459" name="Rectangle 3"/>
          <p:cNvSpPr>
            <a:spLocks noGrp="1" noChangeArrowheads="1"/>
          </p:cNvSpPr>
          <p:nvPr>
            <p:ph sz="quarter" idx="1"/>
          </p:nvPr>
        </p:nvSpPr>
        <p:spPr>
          <a:xfrm>
            <a:off x="685800" y="1676400"/>
            <a:ext cx="7924800" cy="4114800"/>
          </a:xfrm>
        </p:spPr>
        <p:txBody>
          <a:bodyPr>
            <a:normAutofit lnSpcReduction="10000"/>
          </a:bodyPr>
          <a:lstStyle/>
          <a:p>
            <a:r>
              <a:rPr lang="en-US" dirty="0"/>
              <a:t>A limited set of visual properties are processed/detected very rapidly and accurately (pre-attentively i.e. without need for focusing attention) by the low level visual system.</a:t>
            </a:r>
          </a:p>
          <a:p>
            <a:r>
              <a:rPr lang="en-US" dirty="0"/>
              <a:t>This is important for design of graphics visualizations</a:t>
            </a:r>
            <a:endParaRPr lang="en-US" sz="2800" dirty="0"/>
          </a:p>
          <a:p>
            <a:pPr lvl="1"/>
            <a:r>
              <a:rPr lang="en-US" sz="2400" dirty="0"/>
              <a:t>what can be perceived immediately</a:t>
            </a:r>
          </a:p>
          <a:p>
            <a:pPr lvl="1"/>
            <a:r>
              <a:rPr lang="en-US" sz="2400" dirty="0"/>
              <a:t>what properties are good discriminators</a:t>
            </a:r>
          </a:p>
          <a:p>
            <a:pPr lvl="1"/>
            <a:r>
              <a:rPr lang="en-US" sz="2400" dirty="0"/>
              <a:t>what can mislead viewers</a:t>
            </a:r>
          </a:p>
        </p:txBody>
      </p:sp>
    </p:spTree>
    <p:extLst>
      <p:ext uri="{BB962C8B-B14F-4D97-AF65-F5344CB8AC3E}">
        <p14:creationId xmlns:p14="http://schemas.microsoft.com/office/powerpoint/2010/main" val="2767831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3’s ?</a:t>
            </a:r>
          </a:p>
        </p:txBody>
      </p:sp>
      <p:pic>
        <p:nvPicPr>
          <p:cNvPr id="1026" name="Picture 2"/>
          <p:cNvPicPr>
            <a:picLocks noChangeAspect="1" noChangeArrowheads="1"/>
          </p:cNvPicPr>
          <p:nvPr/>
        </p:nvPicPr>
        <p:blipFill>
          <a:blip r:embed="rId2" cstate="print"/>
          <a:srcRect/>
          <a:stretch>
            <a:fillRect/>
          </a:stretch>
        </p:blipFill>
        <p:spPr bwMode="auto">
          <a:xfrm>
            <a:off x="87086" y="1600200"/>
            <a:ext cx="8969829" cy="3657600"/>
          </a:xfrm>
          <a:prstGeom prst="rect">
            <a:avLst/>
          </a:prstGeom>
          <a:noFill/>
          <a:ln w="9525">
            <a:noFill/>
            <a:miter lim="800000"/>
            <a:headEnd/>
            <a:tailEnd/>
          </a:ln>
          <a:effectLst/>
        </p:spPr>
      </p:pic>
    </p:spTree>
    <p:extLst>
      <p:ext uri="{BB962C8B-B14F-4D97-AF65-F5344CB8AC3E}">
        <p14:creationId xmlns:p14="http://schemas.microsoft.com/office/powerpoint/2010/main" val="2295997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3’s ?</a:t>
            </a:r>
          </a:p>
        </p:txBody>
      </p:sp>
      <p:pic>
        <p:nvPicPr>
          <p:cNvPr id="2050" name="Picture 2"/>
          <p:cNvPicPr>
            <a:picLocks noChangeAspect="1" noChangeArrowheads="1"/>
          </p:cNvPicPr>
          <p:nvPr/>
        </p:nvPicPr>
        <p:blipFill>
          <a:blip r:embed="rId2" cstate="print"/>
          <a:srcRect/>
          <a:stretch>
            <a:fillRect/>
          </a:stretch>
        </p:blipFill>
        <p:spPr bwMode="auto">
          <a:xfrm>
            <a:off x="102987" y="1600200"/>
            <a:ext cx="8938026" cy="3657600"/>
          </a:xfrm>
          <a:prstGeom prst="rect">
            <a:avLst/>
          </a:prstGeom>
          <a:noFill/>
          <a:ln w="9525">
            <a:noFill/>
            <a:miter lim="800000"/>
            <a:headEnd/>
            <a:tailEnd/>
          </a:ln>
          <a:effectLst/>
        </p:spPr>
      </p:pic>
    </p:spTree>
    <p:extLst>
      <p:ext uri="{BB962C8B-B14F-4D97-AF65-F5344CB8AC3E}">
        <p14:creationId xmlns:p14="http://schemas.microsoft.com/office/powerpoint/2010/main" val="3238087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ln/>
        </p:spPr>
        <p:txBody>
          <a:bodyPr/>
          <a:lstStyle/>
          <a:p>
            <a:r>
              <a:rPr lang="en-US" dirty="0"/>
              <a:t>Pre-attentive Processing</a:t>
            </a:r>
          </a:p>
        </p:txBody>
      </p:sp>
      <p:sp>
        <p:nvSpPr>
          <p:cNvPr id="278531" name="Rectangle 3"/>
          <p:cNvSpPr>
            <a:spLocks noGrp="1" noChangeArrowheads="1"/>
          </p:cNvSpPr>
          <p:nvPr>
            <p:ph sz="quarter" idx="1"/>
          </p:nvPr>
        </p:nvSpPr>
        <p:spPr/>
        <p:txBody>
          <a:bodyPr/>
          <a:lstStyle/>
          <a:p>
            <a:r>
              <a:rPr lang="en-US" dirty="0"/>
              <a:t>&lt; 200 - 250ms qualifies as pre-attentive</a:t>
            </a:r>
          </a:p>
          <a:p>
            <a:pPr lvl="1"/>
            <a:r>
              <a:rPr lang="en-US" dirty="0"/>
              <a:t>eye movements take at least 200ms</a:t>
            </a:r>
          </a:p>
          <a:p>
            <a:endParaRPr lang="en-US" dirty="0"/>
          </a:p>
          <a:p>
            <a:r>
              <a:rPr lang="en-US" dirty="0"/>
              <a:t>If a decision takes a fixed amount of time regardless of the number of distractors, it is considered to be </a:t>
            </a:r>
            <a:r>
              <a:rPr lang="en-US" dirty="0" err="1"/>
              <a:t>preattentive</a:t>
            </a:r>
            <a:r>
              <a:rPr lang="en-US" dirty="0"/>
              <a:t>.</a:t>
            </a:r>
          </a:p>
        </p:txBody>
      </p:sp>
    </p:spTree>
    <p:extLst>
      <p:ext uri="{BB962C8B-B14F-4D97-AF65-F5344CB8AC3E}">
        <p14:creationId xmlns:p14="http://schemas.microsoft.com/office/powerpoint/2010/main" val="3530646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sz="quarter" idx="1"/>
          </p:nvPr>
        </p:nvSpPr>
        <p:spPr>
          <a:xfrm>
            <a:off x="279978" y="267541"/>
            <a:ext cx="7645977" cy="431426"/>
          </a:xfrm>
          <a:noFill/>
        </p:spPr>
        <p:txBody>
          <a:bodyPr lIns="0" tIns="0" rIns="0" bIns="0"/>
          <a:lstStyle/>
          <a:p>
            <a:pPr marL="0" indent="0" defTabSz="397470">
              <a:spcBef>
                <a:spcPct val="0"/>
              </a:spcBef>
              <a:buClr>
                <a:srgbClr val="000080"/>
              </a:buClr>
              <a:buSzPct val="90000"/>
              <a:buNone/>
            </a:pPr>
            <a:r>
              <a:rPr lang="en-US" sz="2700" b="1" dirty="0">
                <a:solidFill>
                  <a:srgbClr val="000000"/>
                </a:solidFill>
                <a:latin typeface="Arial" pitchFamily="34" charset="0"/>
              </a:rPr>
              <a:t>Pop-Out in Visual Search</a:t>
            </a:r>
            <a:endParaRPr lang="en-US" dirty="0"/>
          </a:p>
        </p:txBody>
      </p:sp>
      <p:grpSp>
        <p:nvGrpSpPr>
          <p:cNvPr id="2" name="Group 81"/>
          <p:cNvGrpSpPr>
            <a:grpSpLocks/>
          </p:cNvGrpSpPr>
          <p:nvPr/>
        </p:nvGrpSpPr>
        <p:grpSpPr bwMode="auto">
          <a:xfrm>
            <a:off x="838200" y="1534365"/>
            <a:ext cx="1610591" cy="1916206"/>
            <a:chOff x="214" y="780"/>
            <a:chExt cx="1116" cy="1368"/>
          </a:xfrm>
        </p:grpSpPr>
        <p:sp>
          <p:nvSpPr>
            <p:cNvPr id="66631" name="AutoShape 4"/>
            <p:cNvSpPr>
              <a:spLocks noChangeArrowheads="1"/>
            </p:cNvSpPr>
            <p:nvPr/>
          </p:nvSpPr>
          <p:spPr bwMode="auto">
            <a:xfrm flipV="1">
              <a:off x="333" y="1043"/>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32" name="AutoShape 5"/>
            <p:cNvSpPr>
              <a:spLocks noChangeArrowheads="1"/>
            </p:cNvSpPr>
            <p:nvPr/>
          </p:nvSpPr>
          <p:spPr bwMode="auto">
            <a:xfrm flipV="1">
              <a:off x="689" y="780"/>
              <a:ext cx="115" cy="440"/>
            </a:xfrm>
            <a:prstGeom prst="roundRect">
              <a:avLst>
                <a:gd name="adj" fmla="val 0"/>
              </a:avLst>
            </a:prstGeom>
            <a:solidFill>
              <a:srgbClr val="0000FF"/>
            </a:solidFill>
            <a:ln w="18485">
              <a:solidFill>
                <a:srgbClr val="0000FF"/>
              </a:solidFill>
              <a:round/>
              <a:headEnd/>
              <a:tailEnd/>
            </a:ln>
          </p:spPr>
          <p:txBody>
            <a:bodyPr wrap="none" anchor="ctr"/>
            <a:lstStyle/>
            <a:p>
              <a:endParaRPr lang="en-US"/>
            </a:p>
          </p:txBody>
        </p:sp>
        <p:sp>
          <p:nvSpPr>
            <p:cNvPr id="66633" name="AutoShape 6"/>
            <p:cNvSpPr>
              <a:spLocks noChangeArrowheads="1"/>
            </p:cNvSpPr>
            <p:nvPr/>
          </p:nvSpPr>
          <p:spPr bwMode="auto">
            <a:xfrm flipV="1">
              <a:off x="972" y="1105"/>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34" name="Text Box 8"/>
            <p:cNvSpPr txBox="1">
              <a:spLocks noChangeArrowheads="1"/>
            </p:cNvSpPr>
            <p:nvPr/>
          </p:nvSpPr>
          <p:spPr bwMode="auto">
            <a:xfrm>
              <a:off x="214" y="1908"/>
              <a:ext cx="1116" cy="240"/>
            </a:xfrm>
            <a:prstGeom prst="rect">
              <a:avLst/>
            </a:prstGeom>
            <a:noFill/>
            <a:ln w="9525">
              <a:noFill/>
              <a:miter lim="800000"/>
              <a:headEnd/>
              <a:tailEnd/>
            </a:ln>
          </p:spPr>
          <p:txBody>
            <a:bodyPr lIns="0" tIns="0" rIns="0" bIns="0"/>
            <a:lstStyle/>
            <a:p>
              <a:pPr defTabSz="397470">
                <a:buClr>
                  <a:srgbClr val="000080"/>
                </a:buClr>
                <a:buSzPct val="90000"/>
              </a:pPr>
              <a:r>
                <a:rPr lang="en-US" sz="2100" dirty="0">
                  <a:solidFill>
                    <a:srgbClr val="000000"/>
                  </a:solidFill>
                  <a:latin typeface="Arial" pitchFamily="34" charset="0"/>
                </a:rPr>
                <a:t>2 </a:t>
              </a:r>
              <a:r>
                <a:rPr lang="en-US" sz="2100" dirty="0" err="1">
                  <a:solidFill>
                    <a:srgbClr val="000000"/>
                  </a:solidFill>
                  <a:latin typeface="Arial" pitchFamily="34" charset="0"/>
                </a:rPr>
                <a:t>distractors</a:t>
              </a:r>
              <a:endParaRPr lang="en-US" sz="2200" dirty="0"/>
            </a:p>
          </p:txBody>
        </p:sp>
      </p:grpSp>
      <p:grpSp>
        <p:nvGrpSpPr>
          <p:cNvPr id="3" name="Group 80"/>
          <p:cNvGrpSpPr>
            <a:grpSpLocks/>
          </p:cNvGrpSpPr>
          <p:nvPr/>
        </p:nvGrpSpPr>
        <p:grpSpPr bwMode="auto">
          <a:xfrm>
            <a:off x="3002973" y="1255619"/>
            <a:ext cx="1741921" cy="2194952"/>
            <a:chOff x="1714" y="581"/>
            <a:chExt cx="1207" cy="1567"/>
          </a:xfrm>
        </p:grpSpPr>
        <p:sp>
          <p:nvSpPr>
            <p:cNvPr id="66624" name="AutoShape 10"/>
            <p:cNvSpPr>
              <a:spLocks noChangeArrowheads="1"/>
            </p:cNvSpPr>
            <p:nvPr/>
          </p:nvSpPr>
          <p:spPr bwMode="auto">
            <a:xfrm flipV="1">
              <a:off x="1714" y="1199"/>
              <a:ext cx="115"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5" name="AutoShape 11"/>
            <p:cNvSpPr>
              <a:spLocks noChangeArrowheads="1"/>
            </p:cNvSpPr>
            <p:nvPr/>
          </p:nvSpPr>
          <p:spPr bwMode="auto">
            <a:xfrm flipV="1">
              <a:off x="2071" y="760"/>
              <a:ext cx="115" cy="440"/>
            </a:xfrm>
            <a:prstGeom prst="roundRect">
              <a:avLst>
                <a:gd name="adj" fmla="val 0"/>
              </a:avLst>
            </a:prstGeom>
            <a:solidFill>
              <a:srgbClr val="0000FF"/>
            </a:solidFill>
            <a:ln w="18485">
              <a:solidFill>
                <a:srgbClr val="0000FF"/>
              </a:solidFill>
              <a:round/>
              <a:headEnd/>
              <a:tailEnd/>
            </a:ln>
          </p:spPr>
          <p:txBody>
            <a:bodyPr wrap="none" anchor="ctr"/>
            <a:lstStyle/>
            <a:p>
              <a:endParaRPr lang="en-US"/>
            </a:p>
          </p:txBody>
        </p:sp>
        <p:sp>
          <p:nvSpPr>
            <p:cNvPr id="66626" name="AutoShape 12"/>
            <p:cNvSpPr>
              <a:spLocks noChangeArrowheads="1"/>
            </p:cNvSpPr>
            <p:nvPr/>
          </p:nvSpPr>
          <p:spPr bwMode="auto">
            <a:xfrm flipV="1">
              <a:off x="1746" y="581"/>
              <a:ext cx="116"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7" name="AutoShape 13"/>
            <p:cNvSpPr>
              <a:spLocks noChangeArrowheads="1"/>
            </p:cNvSpPr>
            <p:nvPr/>
          </p:nvSpPr>
          <p:spPr bwMode="auto">
            <a:xfrm flipV="1">
              <a:off x="2081" y="1366"/>
              <a:ext cx="116"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8" name="AutoShape 14"/>
            <p:cNvSpPr>
              <a:spLocks noChangeArrowheads="1"/>
            </p:cNvSpPr>
            <p:nvPr/>
          </p:nvSpPr>
          <p:spPr bwMode="auto">
            <a:xfrm flipV="1">
              <a:off x="2426" y="706"/>
              <a:ext cx="116"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9" name="AutoShape 15"/>
            <p:cNvSpPr>
              <a:spLocks noChangeArrowheads="1"/>
            </p:cNvSpPr>
            <p:nvPr/>
          </p:nvSpPr>
          <p:spPr bwMode="auto">
            <a:xfrm flipV="1">
              <a:off x="2511" y="1314"/>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30" name="Text Box 17"/>
            <p:cNvSpPr txBox="1">
              <a:spLocks noChangeArrowheads="1"/>
            </p:cNvSpPr>
            <p:nvPr/>
          </p:nvSpPr>
          <p:spPr bwMode="auto">
            <a:xfrm>
              <a:off x="1806" y="1908"/>
              <a:ext cx="1115" cy="240"/>
            </a:xfrm>
            <a:prstGeom prst="rect">
              <a:avLst/>
            </a:prstGeom>
            <a:noFill/>
            <a:ln w="9525">
              <a:noFill/>
              <a:miter lim="800000"/>
              <a:headEnd/>
              <a:tailEnd/>
            </a:ln>
          </p:spPr>
          <p:txBody>
            <a:bodyPr lIns="0" tIns="0" rIns="0" bIns="0"/>
            <a:lstStyle/>
            <a:p>
              <a:pPr defTabSz="397470">
                <a:buClr>
                  <a:srgbClr val="000080"/>
                </a:buClr>
                <a:buSzPct val="90000"/>
              </a:pPr>
              <a:r>
                <a:rPr lang="en-US" sz="2100" dirty="0">
                  <a:solidFill>
                    <a:srgbClr val="000000"/>
                  </a:solidFill>
                  <a:latin typeface="Arial" pitchFamily="34" charset="0"/>
                </a:rPr>
                <a:t>5 </a:t>
              </a:r>
              <a:r>
                <a:rPr lang="en-US" sz="2100" dirty="0" err="1">
                  <a:solidFill>
                    <a:srgbClr val="000000"/>
                  </a:solidFill>
                  <a:latin typeface="Arial" pitchFamily="34" charset="0"/>
                </a:rPr>
                <a:t>distractors</a:t>
              </a:r>
              <a:endParaRPr lang="en-US" sz="2200" dirty="0"/>
            </a:p>
          </p:txBody>
        </p:sp>
      </p:grpSp>
      <p:grpSp>
        <p:nvGrpSpPr>
          <p:cNvPr id="4" name="Group 79"/>
          <p:cNvGrpSpPr>
            <a:grpSpLocks/>
          </p:cNvGrpSpPr>
          <p:nvPr/>
        </p:nvGrpSpPr>
        <p:grpSpPr bwMode="auto">
          <a:xfrm>
            <a:off x="5359689" y="1275230"/>
            <a:ext cx="2554432" cy="2136121"/>
            <a:chOff x="3347" y="623"/>
            <a:chExt cx="1770" cy="1525"/>
          </a:xfrm>
        </p:grpSpPr>
        <p:sp>
          <p:nvSpPr>
            <p:cNvPr id="66612" name="AutoShape 19"/>
            <p:cNvSpPr>
              <a:spLocks noChangeArrowheads="1"/>
            </p:cNvSpPr>
            <p:nvPr/>
          </p:nvSpPr>
          <p:spPr bwMode="auto">
            <a:xfrm flipV="1">
              <a:off x="3347" y="1242"/>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3" name="AutoShape 20"/>
            <p:cNvSpPr>
              <a:spLocks noChangeArrowheads="1"/>
            </p:cNvSpPr>
            <p:nvPr/>
          </p:nvSpPr>
          <p:spPr bwMode="auto">
            <a:xfrm flipV="1">
              <a:off x="3703" y="802"/>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4" name="AutoShape 21"/>
            <p:cNvSpPr>
              <a:spLocks noChangeArrowheads="1"/>
            </p:cNvSpPr>
            <p:nvPr/>
          </p:nvSpPr>
          <p:spPr bwMode="auto">
            <a:xfrm flipV="1">
              <a:off x="3379" y="623"/>
              <a:ext cx="115"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5" name="AutoShape 22"/>
            <p:cNvSpPr>
              <a:spLocks noChangeArrowheads="1"/>
            </p:cNvSpPr>
            <p:nvPr/>
          </p:nvSpPr>
          <p:spPr bwMode="auto">
            <a:xfrm flipV="1">
              <a:off x="3714" y="1409"/>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6" name="AutoShape 23"/>
            <p:cNvSpPr>
              <a:spLocks noChangeArrowheads="1"/>
            </p:cNvSpPr>
            <p:nvPr/>
          </p:nvSpPr>
          <p:spPr bwMode="auto">
            <a:xfrm flipV="1">
              <a:off x="4059" y="748"/>
              <a:ext cx="115"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7" name="AutoShape 24"/>
            <p:cNvSpPr>
              <a:spLocks noChangeArrowheads="1"/>
            </p:cNvSpPr>
            <p:nvPr/>
          </p:nvSpPr>
          <p:spPr bwMode="auto">
            <a:xfrm flipV="1">
              <a:off x="4143" y="1356"/>
              <a:ext cx="116"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8" name="AutoShape 25"/>
            <p:cNvSpPr>
              <a:spLocks noChangeArrowheads="1"/>
            </p:cNvSpPr>
            <p:nvPr/>
          </p:nvSpPr>
          <p:spPr bwMode="auto">
            <a:xfrm flipV="1">
              <a:off x="4341" y="1242"/>
              <a:ext cx="116" cy="440"/>
            </a:xfrm>
            <a:prstGeom prst="roundRect">
              <a:avLst>
                <a:gd name="adj" fmla="val 0"/>
              </a:avLst>
            </a:prstGeom>
            <a:solidFill>
              <a:srgbClr val="0000FF"/>
            </a:solidFill>
            <a:ln w="18485">
              <a:solidFill>
                <a:srgbClr val="0000FF"/>
              </a:solidFill>
              <a:round/>
              <a:headEnd/>
              <a:tailEnd/>
            </a:ln>
          </p:spPr>
          <p:txBody>
            <a:bodyPr wrap="none" anchor="ctr"/>
            <a:lstStyle/>
            <a:p>
              <a:endParaRPr lang="en-US"/>
            </a:p>
          </p:txBody>
        </p:sp>
        <p:sp>
          <p:nvSpPr>
            <p:cNvPr id="66619" name="AutoShape 26"/>
            <p:cNvSpPr>
              <a:spLocks noChangeArrowheads="1"/>
            </p:cNvSpPr>
            <p:nvPr/>
          </p:nvSpPr>
          <p:spPr bwMode="auto">
            <a:xfrm flipV="1">
              <a:off x="4541" y="707"/>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0" name="AutoShape 27"/>
            <p:cNvSpPr>
              <a:spLocks noChangeArrowheads="1"/>
            </p:cNvSpPr>
            <p:nvPr/>
          </p:nvSpPr>
          <p:spPr bwMode="auto">
            <a:xfrm flipV="1">
              <a:off x="4981" y="634"/>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1" name="AutoShape 28"/>
            <p:cNvSpPr>
              <a:spLocks noChangeArrowheads="1"/>
            </p:cNvSpPr>
            <p:nvPr/>
          </p:nvSpPr>
          <p:spPr bwMode="auto">
            <a:xfrm flipV="1">
              <a:off x="4709" y="1409"/>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2" name="AutoShape 29"/>
            <p:cNvSpPr>
              <a:spLocks noChangeArrowheads="1"/>
            </p:cNvSpPr>
            <p:nvPr/>
          </p:nvSpPr>
          <p:spPr bwMode="auto">
            <a:xfrm flipV="1">
              <a:off x="5002" y="1231"/>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3" name="Text Box 31"/>
            <p:cNvSpPr txBox="1">
              <a:spLocks noChangeArrowheads="1"/>
            </p:cNvSpPr>
            <p:nvPr/>
          </p:nvSpPr>
          <p:spPr bwMode="auto">
            <a:xfrm>
              <a:off x="3680" y="1908"/>
              <a:ext cx="1228" cy="240"/>
            </a:xfrm>
            <a:prstGeom prst="rect">
              <a:avLst/>
            </a:prstGeom>
            <a:noFill/>
            <a:ln w="9525">
              <a:noFill/>
              <a:miter lim="800000"/>
              <a:headEnd/>
              <a:tailEnd/>
            </a:ln>
          </p:spPr>
          <p:txBody>
            <a:bodyPr lIns="0" tIns="0" rIns="0" bIns="0"/>
            <a:lstStyle/>
            <a:p>
              <a:pPr defTabSz="397470">
                <a:buClr>
                  <a:srgbClr val="000080"/>
                </a:buClr>
                <a:buSzPct val="90000"/>
              </a:pPr>
              <a:r>
                <a:rPr lang="en-US" sz="2100" dirty="0">
                  <a:solidFill>
                    <a:srgbClr val="000000"/>
                  </a:solidFill>
                  <a:latin typeface="Arial" pitchFamily="34" charset="0"/>
                </a:rPr>
                <a:t>10 </a:t>
              </a:r>
              <a:r>
                <a:rPr lang="en-US" sz="2100" dirty="0" err="1">
                  <a:solidFill>
                    <a:srgbClr val="000000"/>
                  </a:solidFill>
                  <a:latin typeface="Arial" pitchFamily="34" charset="0"/>
                </a:rPr>
                <a:t>distractors</a:t>
              </a:r>
              <a:endParaRPr lang="en-US" sz="2200" dirty="0"/>
            </a:p>
          </p:txBody>
        </p:sp>
      </p:grpSp>
      <p:grpSp>
        <p:nvGrpSpPr>
          <p:cNvPr id="5" name="Group 36"/>
          <p:cNvGrpSpPr>
            <a:grpSpLocks/>
          </p:cNvGrpSpPr>
          <p:nvPr/>
        </p:nvGrpSpPr>
        <p:grpSpPr bwMode="auto">
          <a:xfrm>
            <a:off x="884382" y="3958197"/>
            <a:ext cx="1368136" cy="826434"/>
            <a:chOff x="246" y="2244"/>
            <a:chExt cx="948" cy="590"/>
          </a:xfrm>
        </p:grpSpPr>
        <p:sp>
          <p:nvSpPr>
            <p:cNvPr id="66609" name="Text Box 33"/>
            <p:cNvSpPr txBox="1">
              <a:spLocks noChangeArrowheads="1"/>
            </p:cNvSpPr>
            <p:nvPr/>
          </p:nvSpPr>
          <p:spPr bwMode="auto">
            <a:xfrm>
              <a:off x="572" y="2485"/>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10" name="Text Box 34"/>
            <p:cNvSpPr txBox="1">
              <a:spLocks noChangeArrowheads="1"/>
            </p:cNvSpPr>
            <p:nvPr/>
          </p:nvSpPr>
          <p:spPr bwMode="auto">
            <a:xfrm>
              <a:off x="246" y="2244"/>
              <a:ext cx="214"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O</a:t>
              </a:r>
              <a:endParaRPr lang="en-US" sz="2200" dirty="0"/>
            </a:p>
          </p:txBody>
        </p:sp>
        <p:sp>
          <p:nvSpPr>
            <p:cNvPr id="66611" name="Text Box 35"/>
            <p:cNvSpPr txBox="1">
              <a:spLocks noChangeArrowheads="1"/>
            </p:cNvSpPr>
            <p:nvPr/>
          </p:nvSpPr>
          <p:spPr bwMode="auto">
            <a:xfrm>
              <a:off x="1011" y="2526"/>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grpSp>
      <p:grpSp>
        <p:nvGrpSpPr>
          <p:cNvPr id="6" name="Group 43"/>
          <p:cNvGrpSpPr>
            <a:grpSpLocks/>
          </p:cNvGrpSpPr>
          <p:nvPr/>
        </p:nvGrpSpPr>
        <p:grpSpPr bwMode="auto">
          <a:xfrm>
            <a:off x="3258417" y="3914775"/>
            <a:ext cx="1409988" cy="1165412"/>
            <a:chOff x="1891" y="2213"/>
            <a:chExt cx="977" cy="832"/>
          </a:xfrm>
        </p:grpSpPr>
        <p:sp>
          <p:nvSpPr>
            <p:cNvPr id="66603" name="Text Box 37"/>
            <p:cNvSpPr txBox="1">
              <a:spLocks noChangeArrowheads="1"/>
            </p:cNvSpPr>
            <p:nvPr/>
          </p:nvSpPr>
          <p:spPr bwMode="auto">
            <a:xfrm>
              <a:off x="1974" y="2213"/>
              <a:ext cx="184"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4" name="Text Box 38"/>
            <p:cNvSpPr txBox="1">
              <a:spLocks noChangeArrowheads="1"/>
            </p:cNvSpPr>
            <p:nvPr/>
          </p:nvSpPr>
          <p:spPr bwMode="auto">
            <a:xfrm>
              <a:off x="2225" y="2401"/>
              <a:ext cx="21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O</a:t>
              </a:r>
              <a:endParaRPr lang="en-US" sz="2200" dirty="0"/>
            </a:p>
          </p:txBody>
        </p:sp>
        <p:sp>
          <p:nvSpPr>
            <p:cNvPr id="66605" name="Text Box 39"/>
            <p:cNvSpPr txBox="1">
              <a:spLocks noChangeArrowheads="1"/>
            </p:cNvSpPr>
            <p:nvPr/>
          </p:nvSpPr>
          <p:spPr bwMode="auto">
            <a:xfrm>
              <a:off x="2487" y="2255"/>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6" name="Text Box 40"/>
            <p:cNvSpPr txBox="1">
              <a:spLocks noChangeArrowheads="1"/>
            </p:cNvSpPr>
            <p:nvPr/>
          </p:nvSpPr>
          <p:spPr bwMode="auto">
            <a:xfrm>
              <a:off x="1891" y="2643"/>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7" name="Text Box 41"/>
            <p:cNvSpPr txBox="1">
              <a:spLocks noChangeArrowheads="1"/>
            </p:cNvSpPr>
            <p:nvPr/>
          </p:nvSpPr>
          <p:spPr bwMode="auto">
            <a:xfrm>
              <a:off x="2686" y="2496"/>
              <a:ext cx="182"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8" name="Text Box 42"/>
            <p:cNvSpPr txBox="1">
              <a:spLocks noChangeArrowheads="1"/>
            </p:cNvSpPr>
            <p:nvPr/>
          </p:nvSpPr>
          <p:spPr bwMode="auto">
            <a:xfrm>
              <a:off x="2215" y="2737"/>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grpSp>
      <p:grpSp>
        <p:nvGrpSpPr>
          <p:cNvPr id="7" name="Group 55"/>
          <p:cNvGrpSpPr>
            <a:grpSpLocks/>
          </p:cNvGrpSpPr>
          <p:nvPr/>
        </p:nvGrpSpPr>
        <p:grpSpPr bwMode="auto">
          <a:xfrm>
            <a:off x="5918200" y="3914775"/>
            <a:ext cx="2033444" cy="1516996"/>
            <a:chOff x="3734" y="2213"/>
            <a:chExt cx="1409" cy="1083"/>
          </a:xfrm>
        </p:grpSpPr>
        <p:sp>
          <p:nvSpPr>
            <p:cNvPr id="66592" name="Text Box 44"/>
            <p:cNvSpPr txBox="1">
              <a:spLocks noChangeArrowheads="1"/>
            </p:cNvSpPr>
            <p:nvPr/>
          </p:nvSpPr>
          <p:spPr bwMode="auto">
            <a:xfrm>
              <a:off x="4407" y="2213"/>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3" name="Text Box 45"/>
            <p:cNvSpPr txBox="1">
              <a:spLocks noChangeArrowheads="1"/>
            </p:cNvSpPr>
            <p:nvPr/>
          </p:nvSpPr>
          <p:spPr bwMode="auto">
            <a:xfrm>
              <a:off x="4658" y="2401"/>
              <a:ext cx="212"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O</a:t>
              </a:r>
              <a:endParaRPr lang="en-US" sz="2200" dirty="0"/>
            </a:p>
          </p:txBody>
        </p:sp>
        <p:sp>
          <p:nvSpPr>
            <p:cNvPr id="66594" name="Text Box 46"/>
            <p:cNvSpPr txBox="1">
              <a:spLocks noChangeArrowheads="1"/>
            </p:cNvSpPr>
            <p:nvPr/>
          </p:nvSpPr>
          <p:spPr bwMode="auto">
            <a:xfrm>
              <a:off x="4919" y="2255"/>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5" name="Text Box 47"/>
            <p:cNvSpPr txBox="1">
              <a:spLocks noChangeArrowheads="1"/>
            </p:cNvSpPr>
            <p:nvPr/>
          </p:nvSpPr>
          <p:spPr bwMode="auto">
            <a:xfrm>
              <a:off x="4323" y="2643"/>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6" name="Text Box 48"/>
            <p:cNvSpPr txBox="1">
              <a:spLocks noChangeArrowheads="1"/>
            </p:cNvSpPr>
            <p:nvPr/>
          </p:nvSpPr>
          <p:spPr bwMode="auto">
            <a:xfrm>
              <a:off x="4960" y="2716"/>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7" name="Text Box 49"/>
            <p:cNvSpPr txBox="1">
              <a:spLocks noChangeArrowheads="1"/>
            </p:cNvSpPr>
            <p:nvPr/>
          </p:nvSpPr>
          <p:spPr bwMode="auto">
            <a:xfrm>
              <a:off x="4647" y="2737"/>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8" name="Text Box 50"/>
            <p:cNvSpPr txBox="1">
              <a:spLocks noChangeArrowheads="1"/>
            </p:cNvSpPr>
            <p:nvPr/>
          </p:nvSpPr>
          <p:spPr bwMode="auto">
            <a:xfrm>
              <a:off x="4081" y="2841"/>
              <a:ext cx="182"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9" name="Text Box 51"/>
            <p:cNvSpPr txBox="1">
              <a:spLocks noChangeArrowheads="1"/>
            </p:cNvSpPr>
            <p:nvPr/>
          </p:nvSpPr>
          <p:spPr bwMode="auto">
            <a:xfrm>
              <a:off x="3881" y="2255"/>
              <a:ext cx="182"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0" name="Text Box 52"/>
            <p:cNvSpPr txBox="1">
              <a:spLocks noChangeArrowheads="1"/>
            </p:cNvSpPr>
            <p:nvPr/>
          </p:nvSpPr>
          <p:spPr bwMode="auto">
            <a:xfrm>
              <a:off x="4405" y="2989"/>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1" name="Text Box 53"/>
            <p:cNvSpPr txBox="1">
              <a:spLocks noChangeArrowheads="1"/>
            </p:cNvSpPr>
            <p:nvPr/>
          </p:nvSpPr>
          <p:spPr bwMode="auto">
            <a:xfrm>
              <a:off x="4079" y="2496"/>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2" name="Text Box 54"/>
            <p:cNvSpPr txBox="1">
              <a:spLocks noChangeArrowheads="1"/>
            </p:cNvSpPr>
            <p:nvPr/>
          </p:nvSpPr>
          <p:spPr bwMode="auto">
            <a:xfrm>
              <a:off x="3734" y="2528"/>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grpSp>
      <p:grpSp>
        <p:nvGrpSpPr>
          <p:cNvPr id="8" name="Group 59"/>
          <p:cNvGrpSpPr>
            <a:grpSpLocks/>
          </p:cNvGrpSpPr>
          <p:nvPr/>
        </p:nvGrpSpPr>
        <p:grpSpPr bwMode="auto">
          <a:xfrm>
            <a:off x="944996" y="5983101"/>
            <a:ext cx="1238250" cy="620526"/>
            <a:chOff x="278" y="3600"/>
            <a:chExt cx="858" cy="443"/>
          </a:xfrm>
        </p:grpSpPr>
        <p:sp>
          <p:nvSpPr>
            <p:cNvPr id="66589" name="Text Box 56"/>
            <p:cNvSpPr txBox="1">
              <a:spLocks noChangeArrowheads="1"/>
            </p:cNvSpPr>
            <p:nvPr/>
          </p:nvSpPr>
          <p:spPr bwMode="auto">
            <a:xfrm>
              <a:off x="581" y="3612"/>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90" name="Text Box 57"/>
            <p:cNvSpPr txBox="1">
              <a:spLocks noChangeArrowheads="1"/>
            </p:cNvSpPr>
            <p:nvPr/>
          </p:nvSpPr>
          <p:spPr bwMode="auto">
            <a:xfrm>
              <a:off x="968" y="3600"/>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L</a:t>
              </a:r>
              <a:endParaRPr lang="en-US" sz="2200" dirty="0"/>
            </a:p>
          </p:txBody>
        </p:sp>
        <p:sp>
          <p:nvSpPr>
            <p:cNvPr id="66591" name="Text Box 58"/>
            <p:cNvSpPr txBox="1">
              <a:spLocks noChangeArrowheads="1"/>
            </p:cNvSpPr>
            <p:nvPr/>
          </p:nvSpPr>
          <p:spPr bwMode="auto">
            <a:xfrm>
              <a:off x="278" y="3737"/>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grpSp>
      <p:grpSp>
        <p:nvGrpSpPr>
          <p:cNvPr id="9" name="Group 66"/>
          <p:cNvGrpSpPr>
            <a:grpSpLocks/>
          </p:cNvGrpSpPr>
          <p:nvPr/>
        </p:nvGrpSpPr>
        <p:grpSpPr bwMode="auto">
          <a:xfrm>
            <a:off x="3023178" y="5781395"/>
            <a:ext cx="1464830" cy="972110"/>
            <a:chOff x="1733" y="3496"/>
            <a:chExt cx="1015" cy="694"/>
          </a:xfrm>
        </p:grpSpPr>
        <p:sp>
          <p:nvSpPr>
            <p:cNvPr id="66583" name="Text Box 60"/>
            <p:cNvSpPr txBox="1">
              <a:spLocks noChangeArrowheads="1"/>
            </p:cNvSpPr>
            <p:nvPr/>
          </p:nvSpPr>
          <p:spPr bwMode="auto">
            <a:xfrm>
              <a:off x="2037" y="3496"/>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4" name="Text Box 61"/>
            <p:cNvSpPr txBox="1">
              <a:spLocks noChangeArrowheads="1"/>
            </p:cNvSpPr>
            <p:nvPr/>
          </p:nvSpPr>
          <p:spPr bwMode="auto">
            <a:xfrm>
              <a:off x="1879" y="3883"/>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L</a:t>
              </a:r>
              <a:endParaRPr lang="en-US" sz="2200" dirty="0"/>
            </a:p>
          </p:txBody>
        </p:sp>
        <p:sp>
          <p:nvSpPr>
            <p:cNvPr id="66585" name="Text Box 62"/>
            <p:cNvSpPr txBox="1">
              <a:spLocks noChangeArrowheads="1"/>
            </p:cNvSpPr>
            <p:nvPr/>
          </p:nvSpPr>
          <p:spPr bwMode="auto">
            <a:xfrm>
              <a:off x="1733" y="3622"/>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6" name="Text Box 63"/>
            <p:cNvSpPr txBox="1">
              <a:spLocks noChangeArrowheads="1"/>
            </p:cNvSpPr>
            <p:nvPr/>
          </p:nvSpPr>
          <p:spPr bwMode="auto">
            <a:xfrm>
              <a:off x="2235" y="3842"/>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7" name="Text Box 64"/>
            <p:cNvSpPr txBox="1">
              <a:spLocks noChangeArrowheads="1"/>
            </p:cNvSpPr>
            <p:nvPr/>
          </p:nvSpPr>
          <p:spPr bwMode="auto">
            <a:xfrm>
              <a:off x="2580" y="3810"/>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8" name="Text Box 65"/>
            <p:cNvSpPr txBox="1">
              <a:spLocks noChangeArrowheads="1"/>
            </p:cNvSpPr>
            <p:nvPr/>
          </p:nvSpPr>
          <p:spPr bwMode="auto">
            <a:xfrm>
              <a:off x="2413" y="3548"/>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grpSp>
      <p:grpSp>
        <p:nvGrpSpPr>
          <p:cNvPr id="10" name="Group 78"/>
          <p:cNvGrpSpPr>
            <a:grpSpLocks/>
          </p:cNvGrpSpPr>
          <p:nvPr/>
        </p:nvGrpSpPr>
        <p:grpSpPr bwMode="auto">
          <a:xfrm>
            <a:off x="6140450" y="5579689"/>
            <a:ext cx="1812636" cy="1354511"/>
            <a:chOff x="3909" y="3579"/>
            <a:chExt cx="1256" cy="967"/>
          </a:xfrm>
        </p:grpSpPr>
        <p:sp>
          <p:nvSpPr>
            <p:cNvPr id="66572" name="Text Box 67"/>
            <p:cNvSpPr txBox="1">
              <a:spLocks noChangeArrowheads="1"/>
            </p:cNvSpPr>
            <p:nvPr/>
          </p:nvSpPr>
          <p:spPr bwMode="auto">
            <a:xfrm>
              <a:off x="4235" y="3579"/>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3" name="Text Box 68"/>
            <p:cNvSpPr txBox="1">
              <a:spLocks noChangeArrowheads="1"/>
            </p:cNvSpPr>
            <p:nvPr/>
          </p:nvSpPr>
          <p:spPr bwMode="auto">
            <a:xfrm>
              <a:off x="3931" y="3705"/>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4" name="Text Box 69"/>
            <p:cNvSpPr txBox="1">
              <a:spLocks noChangeArrowheads="1"/>
            </p:cNvSpPr>
            <p:nvPr/>
          </p:nvSpPr>
          <p:spPr bwMode="auto">
            <a:xfrm>
              <a:off x="3909" y="4062"/>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5" name="Text Box 70"/>
            <p:cNvSpPr txBox="1">
              <a:spLocks noChangeArrowheads="1"/>
            </p:cNvSpPr>
            <p:nvPr/>
          </p:nvSpPr>
          <p:spPr bwMode="auto">
            <a:xfrm>
              <a:off x="4778" y="3893"/>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6" name="Text Box 71"/>
            <p:cNvSpPr txBox="1">
              <a:spLocks noChangeArrowheads="1"/>
            </p:cNvSpPr>
            <p:nvPr/>
          </p:nvSpPr>
          <p:spPr bwMode="auto">
            <a:xfrm>
              <a:off x="4611" y="3631"/>
              <a:ext cx="167"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7" name="Text Box 72"/>
            <p:cNvSpPr txBox="1">
              <a:spLocks noChangeArrowheads="1"/>
            </p:cNvSpPr>
            <p:nvPr/>
          </p:nvSpPr>
          <p:spPr bwMode="auto">
            <a:xfrm>
              <a:off x="4129" y="4240"/>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8" name="Text Box 73"/>
            <p:cNvSpPr txBox="1">
              <a:spLocks noChangeArrowheads="1"/>
            </p:cNvSpPr>
            <p:nvPr/>
          </p:nvSpPr>
          <p:spPr bwMode="auto">
            <a:xfrm>
              <a:off x="4161" y="3893"/>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L</a:t>
              </a:r>
              <a:endParaRPr lang="en-US" sz="2200" dirty="0"/>
            </a:p>
          </p:txBody>
        </p:sp>
        <p:sp>
          <p:nvSpPr>
            <p:cNvPr id="66579" name="Text Box 74"/>
            <p:cNvSpPr txBox="1">
              <a:spLocks noChangeArrowheads="1"/>
            </p:cNvSpPr>
            <p:nvPr/>
          </p:nvSpPr>
          <p:spPr bwMode="auto">
            <a:xfrm>
              <a:off x="4381" y="3935"/>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0" name="Text Box 75"/>
            <p:cNvSpPr txBox="1">
              <a:spLocks noChangeArrowheads="1"/>
            </p:cNvSpPr>
            <p:nvPr/>
          </p:nvSpPr>
          <p:spPr bwMode="auto">
            <a:xfrm>
              <a:off x="4998" y="3706"/>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1" name="Text Box 76"/>
            <p:cNvSpPr txBox="1">
              <a:spLocks noChangeArrowheads="1"/>
            </p:cNvSpPr>
            <p:nvPr/>
          </p:nvSpPr>
          <p:spPr bwMode="auto">
            <a:xfrm>
              <a:off x="4935" y="4176"/>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2" name="Text Box 77"/>
            <p:cNvSpPr txBox="1">
              <a:spLocks noChangeArrowheads="1"/>
            </p:cNvSpPr>
            <p:nvPr/>
          </p:nvSpPr>
          <p:spPr bwMode="auto">
            <a:xfrm>
              <a:off x="4569" y="4176"/>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grpSp>
    </p:spTree>
    <p:extLst>
      <p:ext uri="{BB962C8B-B14F-4D97-AF65-F5344CB8AC3E}">
        <p14:creationId xmlns:p14="http://schemas.microsoft.com/office/powerpoint/2010/main" val="446623985"/>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r>
              <a:rPr lang="en-US" dirty="0"/>
              <a:t>Example:  Color Selection</a:t>
            </a:r>
          </a:p>
        </p:txBody>
      </p:sp>
      <p:pic>
        <p:nvPicPr>
          <p:cNvPr id="276483" name="Picture 3" descr="G:\is247\admin\images\healy1.gif"/>
          <p:cNvPicPr>
            <a:picLocks noChangeAspect="1" noChangeArrowheads="1"/>
          </p:cNvPicPr>
          <p:nvPr/>
        </p:nvPicPr>
        <p:blipFill>
          <a:blip r:embed="rId2" cstate="print"/>
          <a:srcRect/>
          <a:stretch>
            <a:fillRect/>
          </a:stretch>
        </p:blipFill>
        <p:spPr bwMode="auto">
          <a:xfrm>
            <a:off x="990600" y="2057400"/>
            <a:ext cx="3019425" cy="2325688"/>
          </a:xfrm>
          <a:prstGeom prst="rect">
            <a:avLst/>
          </a:prstGeom>
          <a:noFill/>
        </p:spPr>
      </p:pic>
      <p:pic>
        <p:nvPicPr>
          <p:cNvPr id="276484" name="Picture 4" descr="G:\is247\admin\images\healey2.gif"/>
          <p:cNvPicPr>
            <a:picLocks noChangeAspect="1" noChangeArrowheads="1"/>
          </p:cNvPicPr>
          <p:nvPr/>
        </p:nvPicPr>
        <p:blipFill>
          <a:blip r:embed="rId3" cstate="print"/>
          <a:srcRect/>
          <a:stretch>
            <a:fillRect/>
          </a:stretch>
        </p:blipFill>
        <p:spPr bwMode="auto">
          <a:xfrm>
            <a:off x="5257800" y="2057400"/>
            <a:ext cx="3019425" cy="2325688"/>
          </a:xfrm>
          <a:prstGeom prst="rect">
            <a:avLst/>
          </a:prstGeom>
          <a:noFill/>
        </p:spPr>
      </p:pic>
      <p:sp>
        <p:nvSpPr>
          <p:cNvPr id="276485" name="Text Box 5"/>
          <p:cNvSpPr txBox="1">
            <a:spLocks noChangeArrowheads="1"/>
          </p:cNvSpPr>
          <p:nvPr/>
        </p:nvSpPr>
        <p:spPr bwMode="auto">
          <a:xfrm>
            <a:off x="1371600" y="4648200"/>
            <a:ext cx="6305550" cy="1196975"/>
          </a:xfrm>
          <a:prstGeom prst="rect">
            <a:avLst/>
          </a:prstGeom>
          <a:noFill/>
          <a:ln w="9525">
            <a:solidFill>
              <a:schemeClr val="tx1"/>
            </a:solidFill>
            <a:miter lim="800000"/>
            <a:headEnd/>
            <a:tailEnd/>
          </a:ln>
          <a:effectLst/>
        </p:spPr>
        <p:txBody>
          <a:bodyPr wrap="none">
            <a:spAutoFit/>
          </a:bodyPr>
          <a:lstStyle/>
          <a:p>
            <a:pPr eaLnBrk="0" hangingPunct="0"/>
            <a:r>
              <a:rPr lang="en-US"/>
              <a:t>Viewer can rapidly and accurately determine</a:t>
            </a:r>
          </a:p>
          <a:p>
            <a:pPr eaLnBrk="0" hangingPunct="0"/>
            <a:r>
              <a:rPr lang="en-US"/>
              <a:t>whether the target (red circle) is present or absent.</a:t>
            </a:r>
          </a:p>
          <a:p>
            <a:pPr eaLnBrk="0" hangingPunct="0"/>
            <a:r>
              <a:rPr lang="en-US"/>
              <a:t>Difference detected in color.</a:t>
            </a:r>
          </a:p>
        </p:txBody>
      </p:sp>
    </p:spTree>
    <p:extLst>
      <p:ext uri="{BB962C8B-B14F-4D97-AF65-F5344CB8AC3E}">
        <p14:creationId xmlns:p14="http://schemas.microsoft.com/office/powerpoint/2010/main" val="1720800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533400" y="533400"/>
            <a:ext cx="7772400" cy="990600"/>
          </a:xfrm>
        </p:spPr>
        <p:txBody>
          <a:bodyPr/>
          <a:lstStyle/>
          <a:p>
            <a:r>
              <a:rPr lang="en-US"/>
              <a:t>Example: Shape Selection</a:t>
            </a:r>
          </a:p>
        </p:txBody>
      </p:sp>
      <p:pic>
        <p:nvPicPr>
          <p:cNvPr id="277507" name="Picture 3" descr="G:\is247\admin\images\healey3.gif"/>
          <p:cNvPicPr>
            <a:picLocks noChangeAspect="1" noChangeArrowheads="1"/>
          </p:cNvPicPr>
          <p:nvPr/>
        </p:nvPicPr>
        <p:blipFill>
          <a:blip r:embed="rId2" cstate="print"/>
          <a:srcRect/>
          <a:stretch>
            <a:fillRect/>
          </a:stretch>
        </p:blipFill>
        <p:spPr bwMode="auto">
          <a:xfrm>
            <a:off x="914400" y="1916113"/>
            <a:ext cx="2867025" cy="2208212"/>
          </a:xfrm>
          <a:prstGeom prst="rect">
            <a:avLst/>
          </a:prstGeom>
          <a:noFill/>
        </p:spPr>
      </p:pic>
      <p:pic>
        <p:nvPicPr>
          <p:cNvPr id="277508" name="Picture 4" descr="G:\is247\admin\images\healey4.gif"/>
          <p:cNvPicPr>
            <a:picLocks noChangeAspect="1" noChangeArrowheads="1"/>
          </p:cNvPicPr>
          <p:nvPr/>
        </p:nvPicPr>
        <p:blipFill>
          <a:blip r:embed="rId3" cstate="print"/>
          <a:srcRect/>
          <a:stretch>
            <a:fillRect/>
          </a:stretch>
        </p:blipFill>
        <p:spPr bwMode="auto">
          <a:xfrm>
            <a:off x="5029200" y="1905000"/>
            <a:ext cx="2867025" cy="2208213"/>
          </a:xfrm>
          <a:prstGeom prst="rect">
            <a:avLst/>
          </a:prstGeom>
          <a:noFill/>
        </p:spPr>
      </p:pic>
      <p:sp>
        <p:nvSpPr>
          <p:cNvPr id="277509" name="Text Box 5"/>
          <p:cNvSpPr txBox="1">
            <a:spLocks noChangeArrowheads="1"/>
          </p:cNvSpPr>
          <p:nvPr/>
        </p:nvSpPr>
        <p:spPr bwMode="auto">
          <a:xfrm>
            <a:off x="1371600" y="5181600"/>
            <a:ext cx="6305550" cy="1196975"/>
          </a:xfrm>
          <a:prstGeom prst="rect">
            <a:avLst/>
          </a:prstGeom>
          <a:noFill/>
          <a:ln w="9525">
            <a:solidFill>
              <a:schemeClr val="tx1"/>
            </a:solidFill>
            <a:miter lim="800000"/>
            <a:headEnd/>
            <a:tailEnd/>
          </a:ln>
          <a:effectLst/>
        </p:spPr>
        <p:txBody>
          <a:bodyPr wrap="none">
            <a:spAutoFit/>
          </a:bodyPr>
          <a:lstStyle/>
          <a:p>
            <a:pPr eaLnBrk="0" hangingPunct="0"/>
            <a:r>
              <a:rPr lang="en-US"/>
              <a:t>Viewer can rapidly and accurately determine</a:t>
            </a:r>
          </a:p>
          <a:p>
            <a:pPr eaLnBrk="0" hangingPunct="0"/>
            <a:r>
              <a:rPr lang="en-US"/>
              <a:t>whether the target (red circle) is present or absent.</a:t>
            </a:r>
          </a:p>
          <a:p>
            <a:pPr eaLnBrk="0" hangingPunct="0"/>
            <a:r>
              <a:rPr lang="en-US"/>
              <a:t>Difference detected in form (curvature)</a:t>
            </a:r>
          </a:p>
        </p:txBody>
      </p:sp>
    </p:spTree>
    <p:extLst>
      <p:ext uri="{BB962C8B-B14F-4D97-AF65-F5344CB8AC3E}">
        <p14:creationId xmlns:p14="http://schemas.microsoft.com/office/powerpoint/2010/main" val="2272230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514350" y="152400"/>
            <a:ext cx="7772400" cy="990600"/>
          </a:xfrm>
        </p:spPr>
        <p:txBody>
          <a:bodyPr>
            <a:normAutofit/>
          </a:bodyPr>
          <a:lstStyle/>
          <a:p>
            <a:r>
              <a:rPr lang="en-US" dirty="0"/>
              <a:t>Example: Conjunction of Features</a:t>
            </a:r>
          </a:p>
        </p:txBody>
      </p:sp>
      <p:sp>
        <p:nvSpPr>
          <p:cNvPr id="279555" name="Text Box 3"/>
          <p:cNvSpPr txBox="1">
            <a:spLocks noChangeArrowheads="1"/>
          </p:cNvSpPr>
          <p:nvPr/>
        </p:nvSpPr>
        <p:spPr bwMode="auto">
          <a:xfrm>
            <a:off x="838200" y="4267200"/>
            <a:ext cx="7448550" cy="1562100"/>
          </a:xfrm>
          <a:prstGeom prst="rect">
            <a:avLst/>
          </a:prstGeom>
          <a:noFill/>
          <a:ln w="9525">
            <a:solidFill>
              <a:schemeClr val="tx1"/>
            </a:solidFill>
            <a:miter lim="800000"/>
            <a:headEnd/>
            <a:tailEnd/>
          </a:ln>
          <a:effectLst/>
        </p:spPr>
        <p:txBody>
          <a:bodyPr wrap="none">
            <a:spAutoFit/>
          </a:bodyPr>
          <a:lstStyle/>
          <a:p>
            <a:pPr eaLnBrk="0" hangingPunct="0"/>
            <a:r>
              <a:rPr lang="en-US"/>
              <a:t>Viewer </a:t>
            </a:r>
            <a:r>
              <a:rPr lang="en-US" i="1">
                <a:solidFill>
                  <a:schemeClr val="tx2"/>
                </a:solidFill>
              </a:rPr>
              <a:t>cannot</a:t>
            </a:r>
            <a:r>
              <a:rPr lang="en-US">
                <a:solidFill>
                  <a:srgbClr val="FF0066"/>
                </a:solidFill>
              </a:rPr>
              <a:t> </a:t>
            </a:r>
            <a:r>
              <a:rPr lang="en-US"/>
              <a:t>rapidly and accurately determine</a:t>
            </a:r>
          </a:p>
          <a:p>
            <a:pPr eaLnBrk="0" hangingPunct="0"/>
            <a:r>
              <a:rPr lang="en-US"/>
              <a:t>whether the target (red circle) is present or absent when </a:t>
            </a:r>
          </a:p>
          <a:p>
            <a:pPr eaLnBrk="0" hangingPunct="0"/>
            <a:r>
              <a:rPr lang="en-US"/>
              <a:t>target has two or more features, each of which are</a:t>
            </a:r>
          </a:p>
          <a:p>
            <a:pPr eaLnBrk="0" hangingPunct="0"/>
            <a:r>
              <a:rPr lang="en-US"/>
              <a:t>present in the distractors.  Viewer must search sequentially.</a:t>
            </a:r>
          </a:p>
        </p:txBody>
      </p:sp>
      <p:pic>
        <p:nvPicPr>
          <p:cNvPr id="279556" name="Picture 4" descr="G:\is247\admin\images\healey5.gif"/>
          <p:cNvPicPr>
            <a:picLocks noChangeAspect="1" noChangeArrowheads="1"/>
          </p:cNvPicPr>
          <p:nvPr/>
        </p:nvPicPr>
        <p:blipFill>
          <a:blip r:embed="rId2" cstate="print"/>
          <a:srcRect/>
          <a:stretch>
            <a:fillRect/>
          </a:stretch>
        </p:blipFill>
        <p:spPr bwMode="auto">
          <a:xfrm>
            <a:off x="4953000" y="1905000"/>
            <a:ext cx="2867025" cy="2208213"/>
          </a:xfrm>
          <a:prstGeom prst="rect">
            <a:avLst/>
          </a:prstGeom>
          <a:noFill/>
        </p:spPr>
      </p:pic>
      <p:pic>
        <p:nvPicPr>
          <p:cNvPr id="279557" name="Picture 5" descr="G:\is247\admin\images\healey6.gif"/>
          <p:cNvPicPr>
            <a:picLocks noChangeAspect="1" noChangeArrowheads="1"/>
          </p:cNvPicPr>
          <p:nvPr/>
        </p:nvPicPr>
        <p:blipFill>
          <a:blip r:embed="rId3" cstate="print"/>
          <a:srcRect/>
          <a:stretch>
            <a:fillRect/>
          </a:stretch>
        </p:blipFill>
        <p:spPr bwMode="auto">
          <a:xfrm>
            <a:off x="1143000" y="1916113"/>
            <a:ext cx="2867025" cy="2208212"/>
          </a:xfrm>
          <a:prstGeom prst="rect">
            <a:avLst/>
          </a:prstGeom>
          <a:noFill/>
        </p:spPr>
      </p:pic>
    </p:spTree>
    <p:extLst>
      <p:ext uri="{BB962C8B-B14F-4D97-AF65-F5344CB8AC3E}">
        <p14:creationId xmlns:p14="http://schemas.microsoft.com/office/powerpoint/2010/main" val="751814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Pre-attentive features</a:t>
            </a:r>
          </a:p>
        </p:txBody>
      </p:sp>
      <p:pic>
        <p:nvPicPr>
          <p:cNvPr id="3074" name="Picture 2"/>
          <p:cNvPicPr>
            <a:picLocks noChangeAspect="1" noChangeArrowheads="1"/>
          </p:cNvPicPr>
          <p:nvPr/>
        </p:nvPicPr>
        <p:blipFill>
          <a:blip r:embed="rId3" cstate="print"/>
          <a:srcRect/>
          <a:stretch>
            <a:fillRect/>
          </a:stretch>
        </p:blipFill>
        <p:spPr bwMode="auto">
          <a:xfrm>
            <a:off x="0" y="1524000"/>
            <a:ext cx="9144000" cy="2300450"/>
          </a:xfrm>
          <a:prstGeom prst="rect">
            <a:avLst/>
          </a:prstGeom>
          <a:noFill/>
          <a:ln w="9525">
            <a:noFill/>
            <a:miter lim="800000"/>
            <a:headEnd/>
            <a:tailEnd/>
          </a:ln>
          <a:effectLst/>
        </p:spPr>
      </p:pic>
      <p:pic>
        <p:nvPicPr>
          <p:cNvPr id="3" name="Picture 2"/>
          <p:cNvPicPr>
            <a:picLocks noChangeAspect="1"/>
          </p:cNvPicPr>
          <p:nvPr/>
        </p:nvPicPr>
        <p:blipFill rotWithShape="1">
          <a:blip r:embed="rId4"/>
          <a:srcRect b="3125"/>
          <a:stretch/>
        </p:blipFill>
        <p:spPr>
          <a:xfrm>
            <a:off x="2286000" y="4267200"/>
            <a:ext cx="4762321" cy="2362200"/>
          </a:xfrm>
          <a:prstGeom prst="rect">
            <a:avLst/>
          </a:prstGeom>
        </p:spPr>
      </p:pic>
      <p:pic>
        <p:nvPicPr>
          <p:cNvPr id="5" name="Picture 4"/>
          <p:cNvPicPr>
            <a:picLocks noChangeAspect="1"/>
          </p:cNvPicPr>
          <p:nvPr/>
        </p:nvPicPr>
        <p:blipFill rotWithShape="1">
          <a:blip r:embed="rId5"/>
          <a:srcRect b="3125"/>
          <a:stretch/>
        </p:blipFill>
        <p:spPr>
          <a:xfrm>
            <a:off x="0" y="4267200"/>
            <a:ext cx="2253498" cy="2362200"/>
          </a:xfrm>
          <a:prstGeom prst="rect">
            <a:avLst/>
          </a:prstGeom>
        </p:spPr>
      </p:pic>
    </p:spTree>
    <p:extLst>
      <p:ext uri="{BB962C8B-B14F-4D97-AF65-F5344CB8AC3E}">
        <p14:creationId xmlns:p14="http://schemas.microsoft.com/office/powerpoint/2010/main" val="3195205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Pre-attentive features</a:t>
            </a:r>
          </a:p>
        </p:txBody>
      </p:sp>
      <p:pic>
        <p:nvPicPr>
          <p:cNvPr id="3" name="Picture 2"/>
          <p:cNvPicPr>
            <a:picLocks noChangeAspect="1"/>
          </p:cNvPicPr>
          <p:nvPr/>
        </p:nvPicPr>
        <p:blipFill>
          <a:blip r:embed="rId2"/>
          <a:stretch>
            <a:fillRect/>
          </a:stretch>
        </p:blipFill>
        <p:spPr>
          <a:xfrm>
            <a:off x="0" y="1524000"/>
            <a:ext cx="9144000" cy="2258054"/>
          </a:xfrm>
          <a:prstGeom prst="rect">
            <a:avLst/>
          </a:prstGeom>
        </p:spPr>
      </p:pic>
      <p:pic>
        <p:nvPicPr>
          <p:cNvPr id="5" name="Picture 4"/>
          <p:cNvPicPr>
            <a:picLocks noChangeAspect="1"/>
          </p:cNvPicPr>
          <p:nvPr/>
        </p:nvPicPr>
        <p:blipFill>
          <a:blip r:embed="rId3"/>
          <a:stretch>
            <a:fillRect/>
          </a:stretch>
        </p:blipFill>
        <p:spPr>
          <a:xfrm>
            <a:off x="5105400" y="4205864"/>
            <a:ext cx="2057400" cy="2248525"/>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1200" y="4205864"/>
            <a:ext cx="2057398" cy="2069155"/>
          </a:xfrm>
          <a:prstGeom prst="rect">
            <a:avLst/>
          </a:prstGeom>
        </p:spPr>
      </p:pic>
      <p:pic>
        <p:nvPicPr>
          <p:cNvPr id="10" name="Picture 9"/>
          <p:cNvPicPr>
            <a:picLocks noChangeAspect="1"/>
          </p:cNvPicPr>
          <p:nvPr/>
        </p:nvPicPr>
        <p:blipFill>
          <a:blip r:embed="rId5"/>
          <a:stretch>
            <a:fillRect/>
          </a:stretch>
        </p:blipFill>
        <p:spPr>
          <a:xfrm>
            <a:off x="2677298" y="6314696"/>
            <a:ext cx="665202" cy="279385"/>
          </a:xfrm>
          <a:prstGeom prst="rect">
            <a:avLst/>
          </a:prstGeom>
        </p:spPr>
      </p:pic>
    </p:spTree>
    <p:extLst>
      <p:ext uri="{BB962C8B-B14F-4D97-AF65-F5344CB8AC3E}">
        <p14:creationId xmlns:p14="http://schemas.microsoft.com/office/powerpoint/2010/main" val="4136088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Pre-attentive features</a:t>
            </a:r>
          </a:p>
        </p:txBody>
      </p:sp>
      <p:pic>
        <p:nvPicPr>
          <p:cNvPr id="4" name="Picture 3"/>
          <p:cNvPicPr>
            <a:picLocks noChangeAspect="1"/>
          </p:cNvPicPr>
          <p:nvPr/>
        </p:nvPicPr>
        <p:blipFill rotWithShape="1">
          <a:blip r:embed="rId2"/>
          <a:srcRect r="48561"/>
          <a:stretch/>
        </p:blipFill>
        <p:spPr>
          <a:xfrm>
            <a:off x="2590800" y="2057400"/>
            <a:ext cx="3851421" cy="3810000"/>
          </a:xfrm>
          <a:prstGeom prst="rect">
            <a:avLst/>
          </a:prstGeom>
        </p:spPr>
      </p:pic>
    </p:spTree>
    <p:extLst>
      <p:ext uri="{BB962C8B-B14F-4D97-AF65-F5344CB8AC3E}">
        <p14:creationId xmlns:p14="http://schemas.microsoft.com/office/powerpoint/2010/main" val="759785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42454" y="152400"/>
            <a:ext cx="8520545" cy="950679"/>
          </a:xfrm>
        </p:spPr>
        <p:txBody>
          <a:bodyPr lIns="82058" tIns="41029" rIns="82058">
            <a:normAutofit/>
          </a:bodyPr>
          <a:lstStyle/>
          <a:p>
            <a:r>
              <a:rPr lang="en-US" dirty="0"/>
              <a:t>Influences on Perception</a:t>
            </a:r>
          </a:p>
        </p:txBody>
      </p:sp>
      <p:sp>
        <p:nvSpPr>
          <p:cNvPr id="35844" name="Oval 5"/>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5" name="Oval 6"/>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6" name="Oval 7"/>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7" name="Oval 8"/>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8" name="Oval 9"/>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9" name="Oval 10"/>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50" name="Line 11"/>
          <p:cNvSpPr>
            <a:spLocks noChangeShapeType="1"/>
          </p:cNvSpPr>
          <p:nvPr/>
        </p:nvSpPr>
        <p:spPr bwMode="auto">
          <a:xfrm>
            <a:off x="2909455"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51" name="Line 13"/>
          <p:cNvSpPr>
            <a:spLocks noChangeShapeType="1"/>
          </p:cNvSpPr>
          <p:nvPr/>
        </p:nvSpPr>
        <p:spPr bwMode="auto">
          <a:xfrm>
            <a:off x="1593273"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52" name="Line 14"/>
          <p:cNvSpPr>
            <a:spLocks noChangeShapeType="1"/>
          </p:cNvSpPr>
          <p:nvPr/>
        </p:nvSpPr>
        <p:spPr bwMode="auto">
          <a:xfrm>
            <a:off x="2978727" y="1882588"/>
            <a:ext cx="0" cy="470647"/>
          </a:xfrm>
          <a:prstGeom prst="line">
            <a:avLst/>
          </a:prstGeom>
          <a:noFill/>
          <a:ln w="9525">
            <a:solidFill>
              <a:schemeClr val="tx1"/>
            </a:solidFill>
            <a:round/>
            <a:headEnd/>
            <a:tailEnd/>
          </a:ln>
        </p:spPr>
        <p:txBody>
          <a:bodyPr lIns="82058" tIns="41029" rIns="82058" bIns="41029"/>
          <a:lstStyle/>
          <a:p>
            <a:endParaRPr lang="en-US"/>
          </a:p>
        </p:txBody>
      </p:sp>
      <p:sp>
        <p:nvSpPr>
          <p:cNvPr id="35853" name="Line 15"/>
          <p:cNvSpPr>
            <a:spLocks noChangeShapeType="1"/>
          </p:cNvSpPr>
          <p:nvPr/>
        </p:nvSpPr>
        <p:spPr bwMode="auto">
          <a:xfrm>
            <a:off x="1593273" y="2286000"/>
            <a:ext cx="1316182" cy="0"/>
          </a:xfrm>
          <a:prstGeom prst="line">
            <a:avLst/>
          </a:prstGeom>
          <a:noFill/>
          <a:ln w="9525">
            <a:solidFill>
              <a:schemeClr val="tx1"/>
            </a:solidFill>
            <a:round/>
            <a:headEnd/>
            <a:tailEnd/>
          </a:ln>
        </p:spPr>
        <p:txBody>
          <a:bodyPr lIns="82058" tIns="41029" rIns="82058" bIns="41029"/>
          <a:lstStyle/>
          <a:p>
            <a:endParaRPr lang="en-US"/>
          </a:p>
        </p:txBody>
      </p:sp>
      <p:sp>
        <p:nvSpPr>
          <p:cNvPr id="35854" name="Line 16"/>
          <p:cNvSpPr>
            <a:spLocks noChangeShapeType="1"/>
          </p:cNvSpPr>
          <p:nvPr/>
        </p:nvSpPr>
        <p:spPr bwMode="auto">
          <a:xfrm>
            <a:off x="1593273" y="1882588"/>
            <a:ext cx="1316182" cy="0"/>
          </a:xfrm>
          <a:prstGeom prst="line">
            <a:avLst/>
          </a:prstGeom>
          <a:noFill/>
          <a:ln w="9525">
            <a:solidFill>
              <a:schemeClr val="tx1"/>
            </a:solidFill>
            <a:round/>
            <a:headEnd/>
            <a:tailEnd/>
          </a:ln>
        </p:spPr>
        <p:txBody>
          <a:bodyPr lIns="82058" tIns="41029" rIns="82058" bIns="41029"/>
          <a:lstStyle/>
          <a:p>
            <a:endParaRPr lang="en-US"/>
          </a:p>
        </p:txBody>
      </p:sp>
      <p:sp>
        <p:nvSpPr>
          <p:cNvPr id="35855" name="Line 18"/>
          <p:cNvSpPr>
            <a:spLocks noChangeShapeType="1"/>
          </p:cNvSpPr>
          <p:nvPr/>
        </p:nvSpPr>
        <p:spPr bwMode="auto">
          <a:xfrm>
            <a:off x="4156364" y="1882588"/>
            <a:ext cx="0" cy="470647"/>
          </a:xfrm>
          <a:prstGeom prst="line">
            <a:avLst/>
          </a:prstGeom>
          <a:noFill/>
          <a:ln w="9525">
            <a:solidFill>
              <a:schemeClr val="tx1"/>
            </a:solidFill>
            <a:round/>
            <a:headEnd/>
            <a:tailEnd/>
          </a:ln>
        </p:spPr>
        <p:txBody>
          <a:bodyPr lIns="82058" tIns="41029" rIns="82058" bIns="41029"/>
          <a:lstStyle/>
          <a:p>
            <a:endParaRPr lang="en-US"/>
          </a:p>
        </p:txBody>
      </p:sp>
      <p:sp>
        <p:nvSpPr>
          <p:cNvPr id="35856" name="Line 19"/>
          <p:cNvSpPr>
            <a:spLocks noChangeShapeType="1"/>
          </p:cNvSpPr>
          <p:nvPr/>
        </p:nvSpPr>
        <p:spPr bwMode="auto">
          <a:xfrm>
            <a:off x="2978727" y="2353235"/>
            <a:ext cx="1177636" cy="0"/>
          </a:xfrm>
          <a:prstGeom prst="line">
            <a:avLst/>
          </a:prstGeom>
          <a:noFill/>
          <a:ln w="9525">
            <a:solidFill>
              <a:schemeClr val="tx1"/>
            </a:solidFill>
            <a:round/>
            <a:headEnd/>
            <a:tailEnd/>
          </a:ln>
        </p:spPr>
        <p:txBody>
          <a:bodyPr lIns="82058" tIns="41029" rIns="82058" bIns="41029"/>
          <a:lstStyle/>
          <a:p>
            <a:endParaRPr lang="en-US"/>
          </a:p>
        </p:txBody>
      </p:sp>
      <p:sp>
        <p:nvSpPr>
          <p:cNvPr id="35857" name="Line 20"/>
          <p:cNvSpPr>
            <a:spLocks noChangeShapeType="1"/>
          </p:cNvSpPr>
          <p:nvPr/>
        </p:nvSpPr>
        <p:spPr bwMode="auto">
          <a:xfrm>
            <a:off x="2978727" y="1882588"/>
            <a:ext cx="1177636" cy="0"/>
          </a:xfrm>
          <a:prstGeom prst="line">
            <a:avLst/>
          </a:prstGeom>
          <a:noFill/>
          <a:ln w="9525">
            <a:solidFill>
              <a:schemeClr val="tx1"/>
            </a:solidFill>
            <a:round/>
            <a:headEnd/>
            <a:tailEnd/>
          </a:ln>
        </p:spPr>
        <p:txBody>
          <a:bodyPr lIns="82058" tIns="41029" rIns="82058" bIns="41029"/>
          <a:lstStyle/>
          <a:p>
            <a:endParaRPr lang="en-US"/>
          </a:p>
        </p:txBody>
      </p:sp>
      <p:sp>
        <p:nvSpPr>
          <p:cNvPr id="35858" name="Line 21"/>
          <p:cNvSpPr>
            <a:spLocks noChangeShapeType="1"/>
          </p:cNvSpPr>
          <p:nvPr/>
        </p:nvSpPr>
        <p:spPr bwMode="auto">
          <a:xfrm>
            <a:off x="4294909"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59" name="Line 22"/>
          <p:cNvSpPr>
            <a:spLocks noChangeShapeType="1"/>
          </p:cNvSpPr>
          <p:nvPr/>
        </p:nvSpPr>
        <p:spPr bwMode="auto">
          <a:xfrm>
            <a:off x="5680364"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60" name="Line 24"/>
          <p:cNvSpPr>
            <a:spLocks noChangeShapeType="1"/>
          </p:cNvSpPr>
          <p:nvPr/>
        </p:nvSpPr>
        <p:spPr bwMode="auto">
          <a:xfrm>
            <a:off x="4294909" y="2286000"/>
            <a:ext cx="1385455" cy="0"/>
          </a:xfrm>
          <a:prstGeom prst="line">
            <a:avLst/>
          </a:prstGeom>
          <a:noFill/>
          <a:ln w="9525">
            <a:solidFill>
              <a:schemeClr val="tx1"/>
            </a:solidFill>
            <a:round/>
            <a:headEnd/>
            <a:tailEnd/>
          </a:ln>
        </p:spPr>
        <p:txBody>
          <a:bodyPr lIns="82058" tIns="41029" rIns="82058" bIns="41029"/>
          <a:lstStyle/>
          <a:p>
            <a:endParaRPr lang="en-US"/>
          </a:p>
        </p:txBody>
      </p:sp>
      <p:sp>
        <p:nvSpPr>
          <p:cNvPr id="35861" name="Line 25"/>
          <p:cNvSpPr>
            <a:spLocks noChangeShapeType="1"/>
          </p:cNvSpPr>
          <p:nvPr/>
        </p:nvSpPr>
        <p:spPr bwMode="auto">
          <a:xfrm>
            <a:off x="4294909" y="1882588"/>
            <a:ext cx="1385455" cy="0"/>
          </a:xfrm>
          <a:prstGeom prst="line">
            <a:avLst/>
          </a:prstGeom>
          <a:noFill/>
          <a:ln w="9525">
            <a:solidFill>
              <a:schemeClr val="tx1"/>
            </a:solidFill>
            <a:round/>
            <a:headEnd/>
            <a:tailEnd/>
          </a:ln>
        </p:spPr>
        <p:txBody>
          <a:bodyPr lIns="82058" tIns="41029" rIns="82058" bIns="41029"/>
          <a:lstStyle/>
          <a:p>
            <a:endParaRPr lang="en-US"/>
          </a:p>
        </p:txBody>
      </p:sp>
      <p:sp>
        <p:nvSpPr>
          <p:cNvPr id="35862" name="Oval 26"/>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3" name="Oval 27"/>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4" name="Oval 28"/>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5" name="Oval 29"/>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6" name="Oval 30"/>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7" name="Oval 31"/>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8" name="Line 32"/>
          <p:cNvSpPr>
            <a:spLocks noChangeShapeType="1"/>
          </p:cNvSpPr>
          <p:nvPr/>
        </p:nvSpPr>
        <p:spPr bwMode="auto">
          <a:xfrm>
            <a:off x="2078182" y="3697941"/>
            <a:ext cx="969818" cy="67235"/>
          </a:xfrm>
          <a:prstGeom prst="line">
            <a:avLst/>
          </a:prstGeom>
          <a:noFill/>
          <a:ln w="9525">
            <a:solidFill>
              <a:schemeClr val="tx1"/>
            </a:solidFill>
            <a:round/>
            <a:headEnd/>
            <a:tailEnd/>
          </a:ln>
        </p:spPr>
        <p:txBody>
          <a:bodyPr lIns="82058" tIns="41029" rIns="82058" bIns="41029"/>
          <a:lstStyle/>
          <a:p>
            <a:endParaRPr lang="en-US"/>
          </a:p>
        </p:txBody>
      </p:sp>
      <p:sp>
        <p:nvSpPr>
          <p:cNvPr id="35869" name="Line 34"/>
          <p:cNvSpPr>
            <a:spLocks noChangeShapeType="1"/>
          </p:cNvSpPr>
          <p:nvPr/>
        </p:nvSpPr>
        <p:spPr bwMode="auto">
          <a:xfrm flipV="1">
            <a:off x="4087091" y="3496235"/>
            <a:ext cx="1316182" cy="134471"/>
          </a:xfrm>
          <a:prstGeom prst="line">
            <a:avLst/>
          </a:prstGeom>
          <a:noFill/>
          <a:ln w="9525">
            <a:solidFill>
              <a:schemeClr val="tx1"/>
            </a:solidFill>
            <a:round/>
            <a:headEnd/>
            <a:tailEnd/>
          </a:ln>
        </p:spPr>
        <p:txBody>
          <a:bodyPr lIns="82058" tIns="41029" rIns="82058" bIns="41029"/>
          <a:lstStyle/>
          <a:p>
            <a:endParaRPr lang="en-US"/>
          </a:p>
        </p:txBody>
      </p:sp>
      <p:sp>
        <p:nvSpPr>
          <p:cNvPr id="35870" name="Oval 35"/>
          <p:cNvSpPr>
            <a:spLocks noChangeArrowheads="1"/>
          </p:cNvSpPr>
          <p:nvPr/>
        </p:nvSpPr>
        <p:spPr bwMode="auto">
          <a:xfrm>
            <a:off x="1454727" y="4975412"/>
            <a:ext cx="415636"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71" name="Oval 36"/>
          <p:cNvSpPr>
            <a:spLocks noChangeArrowheads="1"/>
          </p:cNvSpPr>
          <p:nvPr/>
        </p:nvSpPr>
        <p:spPr bwMode="auto">
          <a:xfrm>
            <a:off x="2701636" y="5042647"/>
            <a:ext cx="346364"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72" name="Oval 37"/>
          <p:cNvSpPr>
            <a:spLocks noChangeArrowheads="1"/>
          </p:cNvSpPr>
          <p:nvPr/>
        </p:nvSpPr>
        <p:spPr bwMode="auto">
          <a:xfrm>
            <a:off x="4017818" y="5109882"/>
            <a:ext cx="484909" cy="470647"/>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73" name="Oval 38"/>
          <p:cNvSpPr>
            <a:spLocks noChangeArrowheads="1"/>
          </p:cNvSpPr>
          <p:nvPr/>
        </p:nvSpPr>
        <p:spPr bwMode="auto">
          <a:xfrm>
            <a:off x="5680364" y="4706471"/>
            <a:ext cx="969818" cy="53788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Tree>
    <p:extLst>
      <p:ext uri="{BB962C8B-B14F-4D97-AF65-F5344CB8AC3E}">
        <p14:creationId xmlns:p14="http://schemas.microsoft.com/office/powerpoint/2010/main" val="2287475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42454" y="0"/>
            <a:ext cx="8520545" cy="1277471"/>
          </a:xfrm>
        </p:spPr>
        <p:txBody>
          <a:bodyPr lIns="82058" tIns="41029" rIns="82058">
            <a:normAutofit/>
          </a:bodyPr>
          <a:lstStyle/>
          <a:p>
            <a:r>
              <a:rPr lang="en-US" dirty="0"/>
              <a:t>Influences on Perception</a:t>
            </a:r>
          </a:p>
        </p:txBody>
      </p:sp>
      <p:sp>
        <p:nvSpPr>
          <p:cNvPr id="36868" name="Oval 4"/>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69" name="Oval 5"/>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0" name="Oval 6"/>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1" name="Oval 7"/>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2" name="Oval 8"/>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3" name="Oval 9"/>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4" name="Oval 22"/>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5" name="Oval 23"/>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6" name="Oval 24"/>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7" name="Oval 25"/>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8" name="Oval 26"/>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9" name="Oval 27"/>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0" name="Line 28"/>
          <p:cNvSpPr>
            <a:spLocks noChangeShapeType="1"/>
          </p:cNvSpPr>
          <p:nvPr/>
        </p:nvSpPr>
        <p:spPr bwMode="auto">
          <a:xfrm>
            <a:off x="2078182" y="3697941"/>
            <a:ext cx="969818" cy="67235"/>
          </a:xfrm>
          <a:prstGeom prst="line">
            <a:avLst/>
          </a:prstGeom>
          <a:noFill/>
          <a:ln w="9525">
            <a:solidFill>
              <a:schemeClr val="tx1"/>
            </a:solidFill>
            <a:round/>
            <a:headEnd/>
            <a:tailEnd/>
          </a:ln>
        </p:spPr>
        <p:txBody>
          <a:bodyPr lIns="82058" tIns="41029" rIns="82058" bIns="41029"/>
          <a:lstStyle/>
          <a:p>
            <a:endParaRPr lang="en-US"/>
          </a:p>
        </p:txBody>
      </p:sp>
      <p:sp>
        <p:nvSpPr>
          <p:cNvPr id="36881" name="Line 29"/>
          <p:cNvSpPr>
            <a:spLocks noChangeShapeType="1"/>
          </p:cNvSpPr>
          <p:nvPr/>
        </p:nvSpPr>
        <p:spPr bwMode="auto">
          <a:xfrm flipV="1">
            <a:off x="4087091" y="3496235"/>
            <a:ext cx="1316182" cy="134471"/>
          </a:xfrm>
          <a:prstGeom prst="line">
            <a:avLst/>
          </a:prstGeom>
          <a:noFill/>
          <a:ln w="9525">
            <a:solidFill>
              <a:schemeClr val="tx1"/>
            </a:solidFill>
            <a:round/>
            <a:headEnd/>
            <a:tailEnd/>
          </a:ln>
        </p:spPr>
        <p:txBody>
          <a:bodyPr lIns="82058" tIns="41029" rIns="82058" bIns="41029"/>
          <a:lstStyle/>
          <a:p>
            <a:endParaRPr lang="en-US"/>
          </a:p>
        </p:txBody>
      </p:sp>
      <p:sp>
        <p:nvSpPr>
          <p:cNvPr id="36882" name="Oval 30"/>
          <p:cNvSpPr>
            <a:spLocks noChangeArrowheads="1"/>
          </p:cNvSpPr>
          <p:nvPr/>
        </p:nvSpPr>
        <p:spPr bwMode="auto">
          <a:xfrm>
            <a:off x="1454727" y="4975412"/>
            <a:ext cx="415636"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3" name="Oval 31"/>
          <p:cNvSpPr>
            <a:spLocks noChangeArrowheads="1"/>
          </p:cNvSpPr>
          <p:nvPr/>
        </p:nvSpPr>
        <p:spPr bwMode="auto">
          <a:xfrm>
            <a:off x="2701636" y="5042647"/>
            <a:ext cx="346364"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4" name="Oval 32"/>
          <p:cNvSpPr>
            <a:spLocks noChangeArrowheads="1"/>
          </p:cNvSpPr>
          <p:nvPr/>
        </p:nvSpPr>
        <p:spPr bwMode="auto">
          <a:xfrm>
            <a:off x="4017818" y="5109882"/>
            <a:ext cx="484909" cy="470647"/>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5" name="Oval 33"/>
          <p:cNvSpPr>
            <a:spLocks noChangeArrowheads="1"/>
          </p:cNvSpPr>
          <p:nvPr/>
        </p:nvSpPr>
        <p:spPr bwMode="auto">
          <a:xfrm>
            <a:off x="5680364" y="4706471"/>
            <a:ext cx="969818" cy="53788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Tree>
    <p:extLst>
      <p:ext uri="{BB962C8B-B14F-4D97-AF65-F5344CB8AC3E}">
        <p14:creationId xmlns:p14="http://schemas.microsoft.com/office/powerpoint/2010/main" val="314075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Oval 4"/>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3" name="Oval 5"/>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4" name="Oval 6"/>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5" name="Oval 7"/>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6" name="Oval 8"/>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7" name="Oval 9"/>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8" name="Oval 10"/>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9" name="Oval 11"/>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0" name="Oval 12"/>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1" name="Oval 13"/>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2" name="Oval 14"/>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3" name="Oval 15"/>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4" name="Oval 18"/>
          <p:cNvSpPr>
            <a:spLocks noChangeArrowheads="1"/>
          </p:cNvSpPr>
          <p:nvPr/>
        </p:nvSpPr>
        <p:spPr bwMode="auto">
          <a:xfrm>
            <a:off x="1454727" y="4975412"/>
            <a:ext cx="415636"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5" name="Oval 19"/>
          <p:cNvSpPr>
            <a:spLocks noChangeArrowheads="1"/>
          </p:cNvSpPr>
          <p:nvPr/>
        </p:nvSpPr>
        <p:spPr bwMode="auto">
          <a:xfrm>
            <a:off x="2701636" y="5042647"/>
            <a:ext cx="346364"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6" name="Oval 20"/>
          <p:cNvSpPr>
            <a:spLocks noChangeArrowheads="1"/>
          </p:cNvSpPr>
          <p:nvPr/>
        </p:nvSpPr>
        <p:spPr bwMode="auto">
          <a:xfrm>
            <a:off x="4017818" y="5109882"/>
            <a:ext cx="484909" cy="470647"/>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7" name="Oval 21"/>
          <p:cNvSpPr>
            <a:spLocks noChangeArrowheads="1"/>
          </p:cNvSpPr>
          <p:nvPr/>
        </p:nvSpPr>
        <p:spPr bwMode="auto">
          <a:xfrm>
            <a:off x="5680364" y="4706471"/>
            <a:ext cx="969818" cy="53788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20" name="Rectangle 2"/>
          <p:cNvSpPr txBox="1">
            <a:spLocks noChangeArrowheads="1"/>
          </p:cNvSpPr>
          <p:nvPr/>
        </p:nvSpPr>
        <p:spPr>
          <a:xfrm>
            <a:off x="450273" y="-67236"/>
            <a:ext cx="8520545" cy="1277471"/>
          </a:xfrm>
          <a:prstGeom prst="rect">
            <a:avLst/>
          </a:prstGeom>
        </p:spPr>
        <p:txBody>
          <a:bodyPr vert="horz" lIns="82058" tIns="41029" rIns="82058"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r>
              <a:rPr lang="en-US"/>
              <a:t>Influences on Perception</a:t>
            </a:r>
            <a:endParaRPr lang="en-US" dirty="0"/>
          </a:p>
        </p:txBody>
      </p:sp>
    </p:spTree>
    <p:extLst>
      <p:ext uri="{BB962C8B-B14F-4D97-AF65-F5344CB8AC3E}">
        <p14:creationId xmlns:p14="http://schemas.microsoft.com/office/powerpoint/2010/main" val="1208846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07818" y="390806"/>
            <a:ext cx="8520545" cy="550489"/>
          </a:xfrm>
        </p:spPr>
        <p:txBody>
          <a:bodyPr lIns="82058" tIns="41029" rIns="82058">
            <a:normAutofit fontScale="90000"/>
          </a:bodyPr>
          <a:lstStyle/>
          <a:p>
            <a:r>
              <a:rPr lang="en-US" sz="3600" dirty="0"/>
              <a:t>Influences on Perception</a:t>
            </a:r>
          </a:p>
        </p:txBody>
      </p:sp>
      <p:sp>
        <p:nvSpPr>
          <p:cNvPr id="38916" name="Oval 4"/>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17" name="Oval 5"/>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18" name="Oval 6"/>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19" name="Oval 7"/>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0" name="Oval 8"/>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1" name="Oval 9"/>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2" name="Oval 22"/>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3" name="Oval 23"/>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4" name="Oval 24"/>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5" name="Oval 25"/>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6" name="Oval 26"/>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7" name="Oval 27"/>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8" name="Oval 30"/>
          <p:cNvSpPr>
            <a:spLocks noChangeArrowheads="1"/>
          </p:cNvSpPr>
          <p:nvPr/>
        </p:nvSpPr>
        <p:spPr bwMode="auto">
          <a:xfrm>
            <a:off x="1454727" y="4975412"/>
            <a:ext cx="415636" cy="403412"/>
          </a:xfrm>
          <a:prstGeom prst="ellipse">
            <a:avLst/>
          </a:prstGeom>
          <a:solidFill>
            <a:srgbClr val="FF0000"/>
          </a:solidFill>
          <a:ln w="9525">
            <a:solidFill>
              <a:srgbClr val="FF0000"/>
            </a:solidFill>
            <a:round/>
            <a:headEnd/>
            <a:tailEnd/>
          </a:ln>
        </p:spPr>
        <p:txBody>
          <a:bodyPr wrap="none" lIns="82058" tIns="41029" rIns="82058" bIns="41029" anchor="ctr"/>
          <a:lstStyle/>
          <a:p>
            <a:pPr algn="ctr"/>
            <a:endParaRPr lang="en-US">
              <a:solidFill>
                <a:srgbClr val="FF1313"/>
              </a:solidFill>
            </a:endParaRPr>
          </a:p>
        </p:txBody>
      </p:sp>
      <p:sp>
        <p:nvSpPr>
          <p:cNvPr id="38929" name="Oval 31"/>
          <p:cNvSpPr>
            <a:spLocks noChangeArrowheads="1"/>
          </p:cNvSpPr>
          <p:nvPr/>
        </p:nvSpPr>
        <p:spPr bwMode="auto">
          <a:xfrm>
            <a:off x="2701636" y="5042647"/>
            <a:ext cx="346364" cy="403412"/>
          </a:xfrm>
          <a:prstGeom prst="ellipse">
            <a:avLst/>
          </a:prstGeom>
          <a:solidFill>
            <a:srgbClr val="00FF00"/>
          </a:solidFill>
          <a:ln w="9525">
            <a:solidFill>
              <a:schemeClr val="tx1"/>
            </a:solidFill>
            <a:round/>
            <a:headEnd/>
            <a:tailEnd/>
          </a:ln>
        </p:spPr>
        <p:txBody>
          <a:bodyPr wrap="none" lIns="82058" tIns="41029" rIns="82058" bIns="41029" anchor="ctr"/>
          <a:lstStyle/>
          <a:p>
            <a:endParaRPr lang="en-US"/>
          </a:p>
        </p:txBody>
      </p:sp>
      <p:sp>
        <p:nvSpPr>
          <p:cNvPr id="38930" name="Oval 32"/>
          <p:cNvSpPr>
            <a:spLocks noChangeArrowheads="1"/>
          </p:cNvSpPr>
          <p:nvPr/>
        </p:nvSpPr>
        <p:spPr bwMode="auto">
          <a:xfrm>
            <a:off x="4017818" y="5109882"/>
            <a:ext cx="484909" cy="470647"/>
          </a:xfrm>
          <a:prstGeom prst="ellipse">
            <a:avLst/>
          </a:prstGeom>
          <a:solidFill>
            <a:srgbClr val="FF0000"/>
          </a:solidFill>
          <a:ln w="9525">
            <a:solidFill>
              <a:srgbClr val="FF0000"/>
            </a:solidFill>
            <a:round/>
            <a:headEnd/>
            <a:tailEnd/>
          </a:ln>
        </p:spPr>
        <p:txBody>
          <a:bodyPr wrap="none" lIns="82058" tIns="41029" rIns="82058" bIns="41029" anchor="ctr"/>
          <a:lstStyle/>
          <a:p>
            <a:endParaRPr lang="en-US"/>
          </a:p>
        </p:txBody>
      </p:sp>
      <p:sp>
        <p:nvSpPr>
          <p:cNvPr id="38931" name="Oval 33"/>
          <p:cNvSpPr>
            <a:spLocks noChangeArrowheads="1"/>
          </p:cNvSpPr>
          <p:nvPr/>
        </p:nvSpPr>
        <p:spPr bwMode="auto">
          <a:xfrm>
            <a:off x="5680364" y="4706471"/>
            <a:ext cx="969818" cy="537882"/>
          </a:xfrm>
          <a:prstGeom prst="ellipse">
            <a:avLst/>
          </a:prstGeom>
          <a:solidFill>
            <a:srgbClr val="00FF00"/>
          </a:solidFill>
          <a:ln w="9525">
            <a:solidFill>
              <a:schemeClr val="tx1"/>
            </a:solidFill>
            <a:round/>
            <a:headEnd/>
            <a:tailEnd/>
          </a:ln>
        </p:spPr>
        <p:txBody>
          <a:bodyPr wrap="none" lIns="82058" tIns="41029" rIns="82058" bIns="41029" anchor="ctr"/>
          <a:lstStyle/>
          <a:p>
            <a:endParaRPr lang="en-US"/>
          </a:p>
        </p:txBody>
      </p:sp>
    </p:spTree>
    <p:extLst>
      <p:ext uri="{BB962C8B-B14F-4D97-AF65-F5344CB8AC3E}">
        <p14:creationId xmlns:p14="http://schemas.microsoft.com/office/powerpoint/2010/main" val="848970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Gestalt principles (laws)</a:t>
            </a:r>
          </a:p>
        </p:txBody>
      </p:sp>
      <p:sp>
        <p:nvSpPr>
          <p:cNvPr id="3" name="Content Placeholder 2"/>
          <p:cNvSpPr>
            <a:spLocks noGrp="1"/>
          </p:cNvSpPr>
          <p:nvPr>
            <p:ph sz="quarter" idx="1"/>
          </p:nvPr>
        </p:nvSpPr>
        <p:spPr/>
        <p:txBody>
          <a:bodyPr>
            <a:normAutofit lnSpcReduction="10000"/>
          </a:bodyPr>
          <a:lstStyle/>
          <a:p>
            <a:r>
              <a:rPr lang="en-US" dirty="0"/>
              <a:t>Gestalt refers to </a:t>
            </a:r>
            <a:r>
              <a:rPr lang="en-US" i="1" dirty="0"/>
              <a:t>shape</a:t>
            </a:r>
            <a:r>
              <a:rPr lang="en-US" dirty="0"/>
              <a:t> or </a:t>
            </a:r>
            <a:r>
              <a:rPr lang="en-US" i="1" dirty="0"/>
              <a:t>form</a:t>
            </a:r>
            <a:r>
              <a:rPr lang="en-US" dirty="0"/>
              <a:t> in German.</a:t>
            </a:r>
          </a:p>
          <a:p>
            <a:endParaRPr lang="en-US" dirty="0"/>
          </a:p>
          <a:p>
            <a:endParaRPr lang="en-US" dirty="0"/>
          </a:p>
          <a:p>
            <a:r>
              <a:rPr lang="en-US" dirty="0"/>
              <a:t>They describe how the human eye perceives visual elements</a:t>
            </a:r>
          </a:p>
          <a:p>
            <a:endParaRPr lang="en-US" dirty="0"/>
          </a:p>
          <a:p>
            <a:endParaRPr lang="en-US" dirty="0"/>
          </a:p>
          <a:p>
            <a:r>
              <a:rPr lang="en-US" dirty="0"/>
              <a:t>In particular they tell us that complex images tend to be reduced to simpler shapes</a:t>
            </a:r>
          </a:p>
          <a:p>
            <a:endParaRPr lang="en-US" dirty="0"/>
          </a:p>
        </p:txBody>
      </p:sp>
    </p:spTree>
    <p:extLst>
      <p:ext uri="{BB962C8B-B14F-4D97-AF65-F5344CB8AC3E}">
        <p14:creationId xmlns:p14="http://schemas.microsoft.com/office/powerpoint/2010/main" val="3608124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Gestalt principles (laws)</a:t>
            </a:r>
          </a:p>
        </p:txBody>
      </p:sp>
      <p:sp>
        <p:nvSpPr>
          <p:cNvPr id="3" name="Content Placeholder 2"/>
          <p:cNvSpPr>
            <a:spLocks noGrp="1"/>
          </p:cNvSpPr>
          <p:nvPr>
            <p:ph sz="quarter" idx="1"/>
          </p:nvPr>
        </p:nvSpPr>
        <p:spPr/>
        <p:txBody>
          <a:bodyPr/>
          <a:lstStyle/>
          <a:p>
            <a:r>
              <a:rPr lang="en-US" dirty="0"/>
              <a:t>The </a:t>
            </a:r>
            <a:r>
              <a:rPr lang="en-US" i="1" dirty="0"/>
              <a:t>whole</a:t>
            </a:r>
            <a:r>
              <a:rPr lang="en-US" dirty="0"/>
              <a:t> is other than the sum of </a:t>
            </a:r>
            <a:r>
              <a:rPr lang="en-US" i="1" dirty="0"/>
              <a:t>parts</a:t>
            </a:r>
          </a:p>
          <a:p>
            <a:pPr lvl="1"/>
            <a:endParaRPr lang="en-US" dirty="0"/>
          </a:p>
          <a:p>
            <a:pPr lvl="1"/>
            <a:endParaRPr lang="en-US" dirty="0"/>
          </a:p>
          <a:p>
            <a:pPr lvl="1"/>
            <a:r>
              <a:rPr lang="en-US" dirty="0"/>
              <a:t>The human eye and brain perceive a unified shape in a different way to the way they perceive the individual parts of those shapes. This global whole is a separate entity that is not necessarily formed by the sum of its parts</a:t>
            </a:r>
            <a:r>
              <a:rPr lang="en-US" i="1" dirty="0"/>
              <a:t>.</a:t>
            </a:r>
          </a:p>
          <a:p>
            <a:endParaRPr lang="en-US" dirty="0"/>
          </a:p>
        </p:txBody>
      </p:sp>
    </p:spTree>
    <p:extLst>
      <p:ext uri="{BB962C8B-B14F-4D97-AF65-F5344CB8AC3E}">
        <p14:creationId xmlns:p14="http://schemas.microsoft.com/office/powerpoint/2010/main" val="735213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Gestalt principles (laws)</a:t>
            </a:r>
          </a:p>
        </p:txBody>
      </p:sp>
      <p:sp>
        <p:nvSpPr>
          <p:cNvPr id="3" name="Content Placeholder 2"/>
          <p:cNvSpPr>
            <a:spLocks noGrp="1"/>
          </p:cNvSpPr>
          <p:nvPr>
            <p:ph sz="quarter" idx="1"/>
          </p:nvPr>
        </p:nvSpPr>
        <p:spPr/>
        <p:txBody>
          <a:bodyPr/>
          <a:lstStyle/>
          <a:p>
            <a:r>
              <a:rPr lang="en-US" dirty="0"/>
              <a:t>The </a:t>
            </a:r>
            <a:r>
              <a:rPr lang="en-US" i="1" dirty="0"/>
              <a:t>whole</a:t>
            </a:r>
            <a:r>
              <a:rPr lang="en-US" dirty="0"/>
              <a:t> is other than the sum of </a:t>
            </a:r>
            <a:r>
              <a:rPr lang="en-US" i="1" dirty="0"/>
              <a:t>parts</a:t>
            </a:r>
          </a:p>
          <a:p>
            <a:pPr lvl="1"/>
            <a:endParaRPr lang="en-US" dirty="0"/>
          </a:p>
          <a:p>
            <a:pPr marL="365760" lvl="1" indent="0">
              <a:buNone/>
            </a:pPr>
            <a:endParaRPr lang="en-US" i="1" dirty="0"/>
          </a:p>
          <a:p>
            <a:endParaRPr lang="en-US" dirty="0"/>
          </a:p>
        </p:txBody>
      </p:sp>
      <p:pic>
        <p:nvPicPr>
          <p:cNvPr id="4" name="Picture 3"/>
          <p:cNvPicPr>
            <a:picLocks noChangeAspect="1"/>
          </p:cNvPicPr>
          <p:nvPr/>
        </p:nvPicPr>
        <p:blipFill>
          <a:blip r:embed="rId3"/>
          <a:stretch>
            <a:fillRect/>
          </a:stretch>
        </p:blipFill>
        <p:spPr>
          <a:xfrm>
            <a:off x="1600200" y="2362200"/>
            <a:ext cx="6486525" cy="4305300"/>
          </a:xfrm>
          <a:prstGeom prst="rect">
            <a:avLst/>
          </a:prstGeom>
        </p:spPr>
      </p:pic>
    </p:spTree>
    <p:extLst>
      <p:ext uri="{BB962C8B-B14F-4D97-AF65-F5344CB8AC3E}">
        <p14:creationId xmlns:p14="http://schemas.microsoft.com/office/powerpoint/2010/main" val="960376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457200"/>
            <a:ext cx="8153400" cy="990600"/>
          </a:xfrm>
        </p:spPr>
        <p:txBody>
          <a:bodyPr>
            <a:normAutofit fontScale="90000"/>
          </a:bodyPr>
          <a:lstStyle/>
          <a:p>
            <a:r>
              <a:rPr lang="en-US" dirty="0"/>
              <a:t>Have you ever wondered, why or how you make this association just by looking at a fluffy, blob of gas?</a:t>
            </a:r>
          </a:p>
        </p:txBody>
      </p:sp>
      <p:pic>
        <p:nvPicPr>
          <p:cNvPr id="4" name="Content Placeholder 3"/>
          <p:cNvPicPr>
            <a:picLocks noGrp="1" noChangeAspect="1"/>
          </p:cNvPicPr>
          <p:nvPr>
            <p:ph sz="quarter" idx="1"/>
          </p:nvPr>
        </p:nvPicPr>
        <p:blipFill>
          <a:blip r:embed="rId3"/>
          <a:stretch>
            <a:fillRect/>
          </a:stretch>
        </p:blipFill>
        <p:spPr>
          <a:xfrm>
            <a:off x="449992" y="2590800"/>
            <a:ext cx="8316056" cy="3243262"/>
          </a:xfrm>
          <a:prstGeom prst="rect">
            <a:avLst/>
          </a:prstGeom>
        </p:spPr>
      </p:pic>
    </p:spTree>
    <p:extLst>
      <p:ext uri="{BB962C8B-B14F-4D97-AF65-F5344CB8AC3E}">
        <p14:creationId xmlns:p14="http://schemas.microsoft.com/office/powerpoint/2010/main" val="2906091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Gestalt principles (laws)</a:t>
            </a:r>
          </a:p>
        </p:txBody>
      </p:sp>
      <p:sp>
        <p:nvSpPr>
          <p:cNvPr id="3" name="Content Placeholder 2"/>
          <p:cNvSpPr>
            <a:spLocks noGrp="1"/>
          </p:cNvSpPr>
          <p:nvPr>
            <p:ph sz="quarter" idx="1"/>
          </p:nvPr>
        </p:nvSpPr>
        <p:spPr/>
        <p:txBody>
          <a:bodyPr>
            <a:normAutofit/>
          </a:bodyPr>
          <a:lstStyle/>
          <a:p>
            <a:r>
              <a:rPr lang="en-US" dirty="0"/>
              <a:t>Having an understanding how your brain works will help you </a:t>
            </a:r>
            <a:r>
              <a:rPr lang="en-US" b="1" dirty="0"/>
              <a:t>become a wiser designer</a:t>
            </a:r>
          </a:p>
          <a:p>
            <a:endParaRPr lang="en-US" b="1" dirty="0"/>
          </a:p>
          <a:p>
            <a:r>
              <a:rPr lang="en-US" dirty="0"/>
              <a:t>It can help you determine which visual elements are most effective in any given situation, so you can use them to influence perception, direct attention and cause behavioral change. </a:t>
            </a:r>
          </a:p>
        </p:txBody>
      </p:sp>
    </p:spTree>
    <p:extLst>
      <p:ext uri="{BB962C8B-B14F-4D97-AF65-F5344CB8AC3E}">
        <p14:creationId xmlns:p14="http://schemas.microsoft.com/office/powerpoint/2010/main" val="2543561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Gestalt principles (laws)</a:t>
            </a:r>
          </a:p>
        </p:txBody>
      </p:sp>
      <p:sp>
        <p:nvSpPr>
          <p:cNvPr id="3" name="Content Placeholder 2"/>
          <p:cNvSpPr>
            <a:spLocks noGrp="1"/>
          </p:cNvSpPr>
          <p:nvPr>
            <p:ph sz="quarter" idx="1"/>
          </p:nvPr>
        </p:nvSpPr>
        <p:spPr/>
        <p:txBody>
          <a:bodyPr>
            <a:normAutofit/>
          </a:bodyPr>
          <a:lstStyle/>
          <a:p>
            <a:endParaRPr lang="en-US" dirty="0"/>
          </a:p>
          <a:p>
            <a:r>
              <a:rPr lang="en-US" dirty="0"/>
              <a:t>The implementation of Gestalt principles can greatly improve, not just the aesthetics of a design, but also its functionality and user-friendliness, and are a valuable set of ideas for any </a:t>
            </a:r>
            <a:r>
              <a:rPr lang="en-US" u="sng" dirty="0">
                <a:hlinkClick r:id="rId2"/>
              </a:rPr>
              <a:t>designer</a:t>
            </a:r>
            <a:r>
              <a:rPr lang="en-US" dirty="0"/>
              <a:t> to learn.</a:t>
            </a:r>
          </a:p>
        </p:txBody>
      </p:sp>
    </p:spTree>
    <p:extLst>
      <p:ext uri="{BB962C8B-B14F-4D97-AF65-F5344CB8AC3E}">
        <p14:creationId xmlns:p14="http://schemas.microsoft.com/office/powerpoint/2010/main" val="25922372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36867"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sp>
        <p:nvSpPr>
          <p:cNvPr id="36868" name="Rectangle 4"/>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36869" name="Rectangle 5"/>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sp>
        <p:nvSpPr>
          <p:cNvPr id="36870" name="Rectangle 6"/>
          <p:cNvSpPr>
            <a:spLocks noGrp="1" noChangeArrowheads="1"/>
          </p:cNvSpPr>
          <p:nvPr>
            <p:ph type="title"/>
          </p:nvPr>
        </p:nvSpPr>
        <p:spPr>
          <a:xfrm>
            <a:off x="533400" y="457200"/>
            <a:ext cx="8229600" cy="762000"/>
          </a:xfrm>
          <a:noFill/>
          <a:ln/>
        </p:spPr>
        <p:txBody>
          <a:bodyPr lIns="90488" tIns="44450" rIns="90488" bIns="44450"/>
          <a:lstStyle/>
          <a:p>
            <a:pPr>
              <a:lnSpc>
                <a:spcPct val="90000"/>
              </a:lnSpc>
            </a:pPr>
            <a:r>
              <a:rPr lang="en-US" dirty="0"/>
              <a:t>Gestalt principles (laws)</a:t>
            </a:r>
          </a:p>
        </p:txBody>
      </p:sp>
      <p:sp>
        <p:nvSpPr>
          <p:cNvPr id="36871" name="Rectangle 7"/>
          <p:cNvSpPr>
            <a:spLocks noGrp="1" noChangeArrowheads="1"/>
          </p:cNvSpPr>
          <p:nvPr>
            <p:ph sz="quarter" idx="1"/>
          </p:nvPr>
        </p:nvSpPr>
        <p:spPr>
          <a:xfrm>
            <a:off x="495300" y="1600200"/>
            <a:ext cx="8153400" cy="4876800"/>
          </a:xfrm>
          <a:noFill/>
          <a:ln/>
        </p:spPr>
        <p:txBody>
          <a:bodyPr lIns="92075" tIns="46038" rIns="92075" bIns="46038">
            <a:normAutofit/>
          </a:bodyPr>
          <a:lstStyle/>
          <a:p>
            <a:pPr marL="685800" indent="-457200">
              <a:buFont typeface="+mj-lt"/>
              <a:buAutoNum type="arabicPeriod"/>
            </a:pPr>
            <a:r>
              <a:rPr lang="en-US" sz="2400" dirty="0"/>
              <a:t>Proximity</a:t>
            </a:r>
          </a:p>
          <a:p>
            <a:pPr marL="685800" indent="-457200">
              <a:buFont typeface="+mj-lt"/>
              <a:buAutoNum type="arabicPeriod"/>
            </a:pPr>
            <a:r>
              <a:rPr lang="en-US" sz="2400" dirty="0"/>
              <a:t>Symmetry</a:t>
            </a:r>
          </a:p>
          <a:p>
            <a:pPr marL="685800" indent="-457200">
              <a:buFont typeface="+mj-lt"/>
              <a:buAutoNum type="arabicPeriod"/>
            </a:pPr>
            <a:r>
              <a:rPr lang="en-US" sz="2400" dirty="0"/>
              <a:t>Closure</a:t>
            </a:r>
          </a:p>
          <a:p>
            <a:pPr marL="685800" indent="-457200">
              <a:buFont typeface="+mj-lt"/>
              <a:buAutoNum type="arabicPeriod"/>
            </a:pPr>
            <a:r>
              <a:rPr lang="en-US" sz="2400" dirty="0"/>
              <a:t>Similarity</a:t>
            </a:r>
          </a:p>
          <a:p>
            <a:pPr marL="685800" indent="-457200">
              <a:buFont typeface="+mj-lt"/>
              <a:buAutoNum type="arabicPeriod"/>
            </a:pPr>
            <a:r>
              <a:rPr lang="en-US" sz="2400" dirty="0"/>
              <a:t>Common fate</a:t>
            </a:r>
          </a:p>
          <a:p>
            <a:pPr marL="685800" indent="-457200">
              <a:buFont typeface="+mj-lt"/>
              <a:buAutoNum type="arabicPeriod"/>
            </a:pPr>
            <a:r>
              <a:rPr lang="en-US" sz="2400" dirty="0"/>
              <a:t>Continuity</a:t>
            </a:r>
          </a:p>
          <a:p>
            <a:pPr marL="685800" indent="-457200">
              <a:buFont typeface="+mj-lt"/>
              <a:buAutoNum type="arabicPeriod"/>
            </a:pPr>
            <a:r>
              <a:rPr lang="en-US" sz="2400" dirty="0"/>
              <a:t>Figure-ground</a:t>
            </a:r>
            <a:endParaRPr lang="en-US" sz="2200" dirty="0"/>
          </a:p>
          <a:p>
            <a:pPr marL="640080" indent="-457200">
              <a:buFont typeface="+mj-lt"/>
              <a:buAutoNum type="arabicPeriod"/>
            </a:pPr>
            <a:r>
              <a:rPr lang="en-US" sz="2500" dirty="0"/>
              <a:t>Connectedness </a:t>
            </a:r>
          </a:p>
          <a:p>
            <a:pPr marL="640080" indent="-457200">
              <a:buFont typeface="+mj-lt"/>
              <a:buAutoNum type="arabicPeriod"/>
            </a:pPr>
            <a:r>
              <a:rPr lang="en-US" sz="2500" dirty="0"/>
              <a:t>Simplicity </a:t>
            </a:r>
          </a:p>
          <a:p>
            <a:pPr marL="640080" indent="-457200">
              <a:buFont typeface="+mj-lt"/>
              <a:buAutoNum type="arabicPeriod"/>
            </a:pPr>
            <a:r>
              <a:rPr lang="en-US" sz="2500" dirty="0"/>
              <a:t>Past Experience</a:t>
            </a:r>
          </a:p>
        </p:txBody>
      </p:sp>
    </p:spTree>
    <p:extLst>
      <p:ext uri="{BB962C8B-B14F-4D97-AF65-F5344CB8AC3E}">
        <p14:creationId xmlns:p14="http://schemas.microsoft.com/office/powerpoint/2010/main" val="312718474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743200"/>
            <a:ext cx="7808913" cy="3886200"/>
          </a:xfrm>
        </p:spPr>
        <p:txBody>
          <a:bodyPr/>
          <a:lstStyle/>
          <a:p>
            <a:r>
              <a:rPr lang="en-US" dirty="0"/>
              <a:t>Objects that are near to each other are seen as being more related than objects that are father apart.</a:t>
            </a:r>
          </a:p>
          <a:p>
            <a:endParaRPr lang="en-US" dirty="0"/>
          </a:p>
          <a:p>
            <a:endParaRPr lang="en-US" dirty="0"/>
          </a:p>
        </p:txBody>
      </p:sp>
      <p:sp>
        <p:nvSpPr>
          <p:cNvPr id="2" name="Title 1"/>
          <p:cNvSpPr>
            <a:spLocks noGrp="1"/>
          </p:cNvSpPr>
          <p:nvPr>
            <p:ph type="title"/>
          </p:nvPr>
        </p:nvSpPr>
        <p:spPr/>
        <p:txBody>
          <a:bodyPr/>
          <a:lstStyle/>
          <a:p>
            <a:r>
              <a:rPr lang="en-US" dirty="0"/>
              <a:t>Principle of Proximity </a:t>
            </a:r>
          </a:p>
        </p:txBody>
      </p:sp>
    </p:spTree>
    <p:extLst>
      <p:ext uri="{BB962C8B-B14F-4D97-AF65-F5344CB8AC3E}">
        <p14:creationId xmlns:p14="http://schemas.microsoft.com/office/powerpoint/2010/main" val="39114613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sp>
        <p:nvSpPr>
          <p:cNvPr id="3" name="Content Placeholder 2"/>
          <p:cNvSpPr>
            <a:spLocks noGrp="1"/>
          </p:cNvSpPr>
          <p:nvPr>
            <p:ph sz="quarter" idx="1"/>
          </p:nvPr>
        </p:nvSpPr>
        <p:spPr/>
        <p:txBody>
          <a:bodyPr>
            <a:normAutofit/>
          </a:bodyPr>
          <a:lstStyle/>
          <a:p>
            <a:r>
              <a:rPr lang="en-US" dirty="0"/>
              <a:t>The distance between objects effects our perception of the objects.</a:t>
            </a:r>
          </a:p>
          <a:p>
            <a:endParaRPr lang="en-US" dirty="0"/>
          </a:p>
          <a:p>
            <a:r>
              <a:rPr lang="en-US" dirty="0"/>
              <a:t>Are the objects grouped, or not?</a:t>
            </a:r>
          </a:p>
          <a:p>
            <a:endParaRPr lang="en-US" dirty="0"/>
          </a:p>
          <a:p>
            <a:r>
              <a:rPr lang="en-US" dirty="0"/>
              <a:t>Objects that are close together are perceived as being grouped.</a:t>
            </a:r>
          </a:p>
        </p:txBody>
      </p:sp>
    </p:spTree>
    <p:extLst>
      <p:ext uri="{BB962C8B-B14F-4D97-AF65-F5344CB8AC3E}">
        <p14:creationId xmlns:p14="http://schemas.microsoft.com/office/powerpoint/2010/main" val="27883288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pic>
        <p:nvPicPr>
          <p:cNvPr id="4" name="Picture 3"/>
          <p:cNvPicPr>
            <a:picLocks noChangeAspect="1"/>
          </p:cNvPicPr>
          <p:nvPr/>
        </p:nvPicPr>
        <p:blipFill>
          <a:blip r:embed="rId2"/>
          <a:stretch>
            <a:fillRect/>
          </a:stretch>
        </p:blipFill>
        <p:spPr>
          <a:xfrm>
            <a:off x="0" y="2125878"/>
            <a:ext cx="9144000" cy="3939172"/>
          </a:xfrm>
          <a:prstGeom prst="rect">
            <a:avLst/>
          </a:prstGeom>
        </p:spPr>
      </p:pic>
    </p:spTree>
    <p:extLst>
      <p:ext uri="{BB962C8B-B14F-4D97-AF65-F5344CB8AC3E}">
        <p14:creationId xmlns:p14="http://schemas.microsoft.com/office/powerpoint/2010/main" val="1656045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pic>
        <p:nvPicPr>
          <p:cNvPr id="4" name="Picture 3"/>
          <p:cNvPicPr>
            <a:picLocks noChangeAspect="1"/>
          </p:cNvPicPr>
          <p:nvPr/>
        </p:nvPicPr>
        <p:blipFill>
          <a:blip r:embed="rId2"/>
          <a:stretch>
            <a:fillRect/>
          </a:stretch>
        </p:blipFill>
        <p:spPr>
          <a:xfrm>
            <a:off x="0" y="2438400"/>
            <a:ext cx="9105057" cy="3874195"/>
          </a:xfrm>
          <a:prstGeom prst="rect">
            <a:avLst/>
          </a:prstGeom>
        </p:spPr>
      </p:pic>
    </p:spTree>
    <p:extLst>
      <p:ext uri="{BB962C8B-B14F-4D97-AF65-F5344CB8AC3E}">
        <p14:creationId xmlns:p14="http://schemas.microsoft.com/office/powerpoint/2010/main" val="6674551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969962" y="2376487"/>
            <a:ext cx="7439025" cy="2943225"/>
          </a:xfrm>
          <a:prstGeom prst="rect">
            <a:avLst/>
          </a:prstGeom>
        </p:spPr>
      </p:pic>
    </p:spTree>
    <p:extLst>
      <p:ext uri="{BB962C8B-B14F-4D97-AF65-F5344CB8AC3E}">
        <p14:creationId xmlns:p14="http://schemas.microsoft.com/office/powerpoint/2010/main" val="42270623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Proximity</a:t>
            </a:r>
          </a:p>
        </p:txBody>
      </p:sp>
      <p:sp>
        <p:nvSpPr>
          <p:cNvPr id="3" name="Content Placeholder 2"/>
          <p:cNvSpPr>
            <a:spLocks noGrp="1"/>
          </p:cNvSpPr>
          <p:nvPr>
            <p:ph sz="quarter" idx="1"/>
          </p:nvPr>
        </p:nvSpPr>
        <p:spPr/>
        <p:txBody>
          <a:bodyPr>
            <a:normAutofit fontScale="92500" lnSpcReduction="20000"/>
          </a:bodyPr>
          <a:lstStyle/>
          <a:p>
            <a:r>
              <a:rPr lang="en-US" dirty="0"/>
              <a:t>Proximity may be used to group content and action controls that are related to each other. </a:t>
            </a:r>
          </a:p>
          <a:p>
            <a:endParaRPr lang="en-US" dirty="0"/>
          </a:p>
          <a:p>
            <a:r>
              <a:rPr lang="en-US" dirty="0"/>
              <a:t>It is also bonded with White space that plays an essential role in the principle.</a:t>
            </a:r>
          </a:p>
          <a:p>
            <a:endParaRPr lang="en-US" dirty="0"/>
          </a:p>
          <a:p>
            <a:r>
              <a:rPr lang="en-US" dirty="0"/>
              <a:t>It boosts the relations between elements and strengthens the designer’s intention. </a:t>
            </a:r>
          </a:p>
          <a:p>
            <a:pPr marL="0" indent="0">
              <a:buNone/>
            </a:pPr>
            <a:endParaRPr lang="en-US" dirty="0"/>
          </a:p>
          <a:p>
            <a:r>
              <a:rPr lang="en-US" dirty="0"/>
              <a:t> In the end, users are able to scan content faster and accomplish their goals much more efficiently.</a:t>
            </a:r>
          </a:p>
        </p:txBody>
      </p:sp>
    </p:spTree>
    <p:extLst>
      <p:ext uri="{BB962C8B-B14F-4D97-AF65-F5344CB8AC3E}">
        <p14:creationId xmlns:p14="http://schemas.microsoft.com/office/powerpoint/2010/main" val="1472379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462702" y="1981200"/>
            <a:ext cx="8303346" cy="3929063"/>
          </a:xfrm>
          <a:prstGeom prst="rect">
            <a:avLst/>
          </a:prstGeom>
        </p:spPr>
      </p:pic>
    </p:spTree>
    <p:extLst>
      <p:ext uri="{BB962C8B-B14F-4D97-AF65-F5344CB8AC3E}">
        <p14:creationId xmlns:p14="http://schemas.microsoft.com/office/powerpoint/2010/main" val="33290405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0608" y="533400"/>
            <a:ext cx="9133392" cy="5623560"/>
          </a:xfrm>
          <a:prstGeom prst="rect">
            <a:avLst/>
          </a:prstGeom>
        </p:spPr>
      </p:pic>
    </p:spTree>
    <p:extLst>
      <p:ext uri="{BB962C8B-B14F-4D97-AF65-F5344CB8AC3E}">
        <p14:creationId xmlns:p14="http://schemas.microsoft.com/office/powerpoint/2010/main" val="27625248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446212" y="1895475"/>
            <a:ext cx="6486525" cy="3905250"/>
          </a:xfrm>
          <a:prstGeom prst="rect">
            <a:avLst/>
          </a:prstGeom>
        </p:spPr>
      </p:pic>
    </p:spTree>
    <p:extLst>
      <p:ext uri="{BB962C8B-B14F-4D97-AF65-F5344CB8AC3E}">
        <p14:creationId xmlns:p14="http://schemas.microsoft.com/office/powerpoint/2010/main" val="26919805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570037" y="1743075"/>
            <a:ext cx="6238875" cy="4210050"/>
          </a:xfrm>
          <a:prstGeom prst="rect">
            <a:avLst/>
          </a:prstGeom>
        </p:spPr>
      </p:pic>
    </p:spTree>
    <p:extLst>
      <p:ext uri="{BB962C8B-B14F-4D97-AF65-F5344CB8AC3E}">
        <p14:creationId xmlns:p14="http://schemas.microsoft.com/office/powerpoint/2010/main" val="16297966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before"/>
          <p:cNvPicPr>
            <a:picLocks noGrp="1" noChangeAspect="1" noChangeArrowheads="1"/>
          </p:cNvPicPr>
          <p:nvPr>
            <p:ph idx="4294967295"/>
          </p:nvPr>
        </p:nvPicPr>
        <p:blipFill>
          <a:blip r:embed="rId3" cstate="print"/>
          <a:srcRect/>
          <a:stretch>
            <a:fillRect/>
          </a:stretch>
        </p:blipFill>
        <p:spPr>
          <a:xfrm>
            <a:off x="0" y="0"/>
            <a:ext cx="8880475" cy="6858000"/>
          </a:xfrm>
          <a:noFill/>
          <a:ln/>
        </p:spPr>
      </p:pic>
    </p:spTree>
    <p:extLst>
      <p:ext uri="{BB962C8B-B14F-4D97-AF65-F5344CB8AC3E}">
        <p14:creationId xmlns:p14="http://schemas.microsoft.com/office/powerpoint/2010/main" val="83690168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BetterProximity"/>
          <p:cNvPicPr>
            <a:picLocks noGrp="1" noChangeAspect="1" noChangeArrowheads="1"/>
          </p:cNvPicPr>
          <p:nvPr>
            <p:ph idx="4294967295"/>
          </p:nvPr>
        </p:nvPicPr>
        <p:blipFill>
          <a:blip r:embed="rId3" cstate="print"/>
          <a:stretch>
            <a:fillRect/>
          </a:stretch>
        </p:blipFill>
        <p:spPr>
          <a:xfrm>
            <a:off x="-1" y="9698"/>
            <a:ext cx="8966073" cy="6848302"/>
          </a:xfrm>
          <a:noFill/>
          <a:ln/>
        </p:spPr>
      </p:pic>
    </p:spTree>
    <p:extLst>
      <p:ext uri="{BB962C8B-B14F-4D97-AF65-F5344CB8AC3E}">
        <p14:creationId xmlns:p14="http://schemas.microsoft.com/office/powerpoint/2010/main" val="365323096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4" name="Picture 2" descr="http://images.sixrevisions.com/2010/08/18-07_yahoo_web_form.png"/>
          <p:cNvPicPr>
            <a:picLocks noChangeAspect="1" noChangeArrowheads="1"/>
          </p:cNvPicPr>
          <p:nvPr/>
        </p:nvPicPr>
        <p:blipFill rotWithShape="1">
          <a:blip r:embed="rId2" cstate="print"/>
          <a:srcRect l="8748" t="3333" r="7277" b="1111"/>
          <a:stretch/>
        </p:blipFill>
        <p:spPr bwMode="auto">
          <a:xfrm>
            <a:off x="33251" y="0"/>
            <a:ext cx="7655443" cy="6858000"/>
          </a:xfrm>
          <a:prstGeom prst="rect">
            <a:avLst/>
          </a:prstGeom>
          <a:noFill/>
        </p:spPr>
      </p:pic>
    </p:spTree>
    <p:extLst>
      <p:ext uri="{BB962C8B-B14F-4D97-AF65-F5344CB8AC3E}">
        <p14:creationId xmlns:p14="http://schemas.microsoft.com/office/powerpoint/2010/main" val="12393291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Picture 8" descr="ebay"/>
          <p:cNvPicPr>
            <a:picLocks noChangeAspect="1" noChangeArrowheads="1"/>
          </p:cNvPicPr>
          <p:nvPr/>
        </p:nvPicPr>
        <p:blipFill>
          <a:blip r:embed="rId2" cstate="print"/>
          <a:srcRect/>
          <a:stretch>
            <a:fillRect/>
          </a:stretch>
        </p:blipFill>
        <p:spPr bwMode="auto">
          <a:xfrm>
            <a:off x="685800" y="4240213"/>
            <a:ext cx="8077200" cy="2008187"/>
          </a:xfrm>
          <a:prstGeom prst="rect">
            <a:avLst/>
          </a:prstGeom>
          <a:noFill/>
        </p:spPr>
      </p:pic>
      <p:pic>
        <p:nvPicPr>
          <p:cNvPr id="5" name="Picture 9" descr="coastalliving"/>
          <p:cNvPicPr>
            <a:picLocks noChangeAspect="1" noChangeArrowheads="1"/>
          </p:cNvPicPr>
          <p:nvPr/>
        </p:nvPicPr>
        <p:blipFill>
          <a:blip r:embed="rId3" cstate="print"/>
          <a:srcRect b="37254"/>
          <a:stretch>
            <a:fillRect/>
          </a:stretch>
        </p:blipFill>
        <p:spPr bwMode="auto">
          <a:xfrm>
            <a:off x="838200" y="1600200"/>
            <a:ext cx="3124200" cy="2382838"/>
          </a:xfrm>
          <a:prstGeom prst="rect">
            <a:avLst/>
          </a:prstGeom>
          <a:noFill/>
        </p:spPr>
      </p:pic>
      <p:pic>
        <p:nvPicPr>
          <p:cNvPr id="6" name="Picture 10" descr="lowes"/>
          <p:cNvPicPr>
            <a:picLocks noChangeAspect="1" noChangeArrowheads="1"/>
          </p:cNvPicPr>
          <p:nvPr/>
        </p:nvPicPr>
        <p:blipFill>
          <a:blip r:embed="rId4" cstate="print"/>
          <a:srcRect r="33080"/>
          <a:stretch>
            <a:fillRect/>
          </a:stretch>
        </p:blipFill>
        <p:spPr bwMode="auto">
          <a:xfrm>
            <a:off x="5029200" y="1905000"/>
            <a:ext cx="3352800" cy="1981200"/>
          </a:xfrm>
          <a:prstGeom prst="rect">
            <a:avLst/>
          </a:prstGeom>
          <a:noFill/>
        </p:spPr>
      </p:pic>
    </p:spTree>
    <p:extLst>
      <p:ext uri="{BB962C8B-B14F-4D97-AF65-F5344CB8AC3E}">
        <p14:creationId xmlns:p14="http://schemas.microsoft.com/office/powerpoint/2010/main" val="1118012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 </a:t>
            </a:r>
          </a:p>
        </p:txBody>
      </p:sp>
      <p:pic>
        <p:nvPicPr>
          <p:cNvPr id="239618" name="Picture 2"/>
          <p:cNvPicPr>
            <a:picLocks noChangeAspect="1" noChangeArrowheads="1"/>
          </p:cNvPicPr>
          <p:nvPr/>
        </p:nvPicPr>
        <p:blipFill>
          <a:blip r:embed="rId2" cstate="print"/>
          <a:srcRect/>
          <a:stretch>
            <a:fillRect/>
          </a:stretch>
        </p:blipFill>
        <p:spPr bwMode="auto">
          <a:xfrm>
            <a:off x="13114" y="2451480"/>
            <a:ext cx="4330286" cy="2536815"/>
          </a:xfrm>
          <a:prstGeom prst="rect">
            <a:avLst/>
          </a:prstGeom>
          <a:noFill/>
          <a:ln w="9525">
            <a:noFill/>
            <a:miter lim="800000"/>
            <a:headEnd/>
            <a:tailEnd/>
          </a:ln>
          <a:effectLst/>
        </p:spPr>
      </p:pic>
      <p:pic>
        <p:nvPicPr>
          <p:cNvPr id="239619" name="Picture 3"/>
          <p:cNvPicPr>
            <a:picLocks noChangeAspect="1" noChangeArrowheads="1"/>
          </p:cNvPicPr>
          <p:nvPr/>
        </p:nvPicPr>
        <p:blipFill>
          <a:blip r:embed="rId3" cstate="print"/>
          <a:srcRect/>
          <a:stretch>
            <a:fillRect/>
          </a:stretch>
        </p:blipFill>
        <p:spPr bwMode="auto">
          <a:xfrm>
            <a:off x="4648200" y="2495806"/>
            <a:ext cx="4495800" cy="2492490"/>
          </a:xfrm>
          <a:prstGeom prst="rect">
            <a:avLst/>
          </a:prstGeom>
          <a:noFill/>
          <a:ln w="9525">
            <a:noFill/>
            <a:miter lim="800000"/>
            <a:headEnd/>
            <a:tailEnd/>
          </a:ln>
          <a:effectLst/>
        </p:spPr>
      </p:pic>
    </p:spTree>
    <p:extLst>
      <p:ext uri="{BB962C8B-B14F-4D97-AF65-F5344CB8AC3E}">
        <p14:creationId xmlns:p14="http://schemas.microsoft.com/office/powerpoint/2010/main" val="27855778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3"/>
          <a:stretch>
            <a:fillRect/>
          </a:stretch>
        </p:blipFill>
        <p:spPr>
          <a:xfrm>
            <a:off x="152400" y="1981200"/>
            <a:ext cx="8755558" cy="2819400"/>
          </a:xfrm>
          <a:prstGeom prst="rect">
            <a:avLst/>
          </a:prstGeom>
        </p:spPr>
      </p:pic>
    </p:spTree>
    <p:extLst>
      <p:ext uri="{BB962C8B-B14F-4D97-AF65-F5344CB8AC3E}">
        <p14:creationId xmlns:p14="http://schemas.microsoft.com/office/powerpoint/2010/main" val="10152551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sp>
        <p:nvSpPr>
          <p:cNvPr id="3" name="Content Placeholder 2"/>
          <p:cNvSpPr>
            <a:spLocks noGrp="1"/>
          </p:cNvSpPr>
          <p:nvPr>
            <p:ph sz="quarter" idx="1"/>
          </p:nvPr>
        </p:nvSpPr>
        <p:spPr/>
        <p:txBody>
          <a:bodyPr>
            <a:normAutofit/>
          </a:bodyPr>
          <a:lstStyle/>
          <a:p>
            <a:r>
              <a:rPr lang="en-US" dirty="0"/>
              <a:t>If your intent is that items in a user interface are to be “read” by the user as being grouped, place them in close proximity.</a:t>
            </a:r>
          </a:p>
          <a:p>
            <a:endParaRPr lang="en-US" dirty="0"/>
          </a:p>
          <a:p>
            <a:endParaRPr lang="en-US" dirty="0"/>
          </a:p>
          <a:p>
            <a:r>
              <a:rPr lang="en-US" dirty="0"/>
              <a:t>If items in the user interface are not intended to be “read” as being grouped, be careful to allow  enough space between them.</a:t>
            </a:r>
          </a:p>
        </p:txBody>
      </p:sp>
    </p:spTree>
    <p:extLst>
      <p:ext uri="{BB962C8B-B14F-4D97-AF65-F5344CB8AC3E}">
        <p14:creationId xmlns:p14="http://schemas.microsoft.com/office/powerpoint/2010/main" val="28962062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2000" y="2743200"/>
            <a:ext cx="7732713" cy="1673225"/>
          </a:xfrm>
        </p:spPr>
        <p:txBody>
          <a:bodyPr>
            <a:normAutofit fontScale="92500" lnSpcReduction="10000"/>
          </a:bodyPr>
          <a:lstStyle/>
          <a:p>
            <a:r>
              <a:rPr lang="en-US" dirty="0"/>
              <a:t>The human eye tends to build a relationship between similar elements within a design. Similarity can be achieved using basic elements such as shapes, colors, and size.</a:t>
            </a:r>
          </a:p>
        </p:txBody>
      </p:sp>
      <p:sp>
        <p:nvSpPr>
          <p:cNvPr id="2" name="Title 1"/>
          <p:cNvSpPr>
            <a:spLocks noGrp="1"/>
          </p:cNvSpPr>
          <p:nvPr>
            <p:ph type="title"/>
          </p:nvPr>
        </p:nvSpPr>
        <p:spPr/>
        <p:txBody>
          <a:bodyPr>
            <a:normAutofit/>
          </a:bodyPr>
          <a:lstStyle/>
          <a:p>
            <a:r>
              <a:rPr lang="en-US" dirty="0"/>
              <a:t>Principle of Similarity </a:t>
            </a:r>
          </a:p>
        </p:txBody>
      </p:sp>
    </p:spTree>
    <p:extLst>
      <p:ext uri="{BB962C8B-B14F-4D97-AF65-F5344CB8AC3E}">
        <p14:creationId xmlns:p14="http://schemas.microsoft.com/office/powerpoint/2010/main" val="7130676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431925" y="1757362"/>
            <a:ext cx="6515100" cy="4181475"/>
          </a:xfrm>
          <a:prstGeom prst="rect">
            <a:avLst/>
          </a:prstGeom>
        </p:spPr>
      </p:pic>
    </p:spTree>
    <p:extLst>
      <p:ext uri="{BB962C8B-B14F-4D97-AF65-F5344CB8AC3E}">
        <p14:creationId xmlns:p14="http://schemas.microsoft.com/office/powerpoint/2010/main" val="36801777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Similarity </a:t>
            </a:r>
          </a:p>
        </p:txBody>
      </p:sp>
      <p:sp>
        <p:nvSpPr>
          <p:cNvPr id="3" name="Content Placeholder 2"/>
          <p:cNvSpPr>
            <a:spLocks noGrp="1"/>
          </p:cNvSpPr>
          <p:nvPr>
            <p:ph sz="quarter" idx="1"/>
          </p:nvPr>
        </p:nvSpPr>
        <p:spPr/>
        <p:txBody>
          <a:bodyPr/>
          <a:lstStyle/>
          <a:p>
            <a:r>
              <a:rPr lang="en-US" dirty="0"/>
              <a:t>Objects that look similar appear to be grouped</a:t>
            </a:r>
          </a:p>
          <a:p>
            <a:endParaRPr lang="en-US" dirty="0"/>
          </a:p>
          <a:p>
            <a:r>
              <a:rPr lang="en-US" dirty="0"/>
              <a:t>This is a good thing, when it is done intentionally.</a:t>
            </a:r>
          </a:p>
          <a:p>
            <a:endParaRPr lang="en-US" dirty="0"/>
          </a:p>
          <a:p>
            <a:r>
              <a:rPr lang="en-US" dirty="0"/>
              <a:t>Other than color, size and shape other factors that strengthen the similarity: shadow </a:t>
            </a:r>
            <a:r>
              <a:rPr lang="en-US"/>
              <a:t>&amp; texture etc</a:t>
            </a:r>
            <a:r>
              <a:rPr lang="en-US" dirty="0"/>
              <a:t>.</a:t>
            </a:r>
          </a:p>
        </p:txBody>
      </p:sp>
    </p:spTree>
    <p:extLst>
      <p:ext uri="{BB962C8B-B14F-4D97-AF65-F5344CB8AC3E}">
        <p14:creationId xmlns:p14="http://schemas.microsoft.com/office/powerpoint/2010/main" val="21288927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20000"/>
          </a:bodyPr>
          <a:lstStyle/>
          <a:p>
            <a:r>
              <a:rPr lang="en-US" dirty="0"/>
              <a:t>When users notice similar element in the UI, they categorize them as particular patterns. </a:t>
            </a:r>
          </a:p>
          <a:p>
            <a:endParaRPr lang="en-US" dirty="0"/>
          </a:p>
          <a:p>
            <a:r>
              <a:rPr lang="en-US" dirty="0"/>
              <a:t>Thanks to this they quickly recognize the meaning of specific UI controls. </a:t>
            </a:r>
          </a:p>
          <a:p>
            <a:endParaRPr lang="en-US" dirty="0"/>
          </a:p>
          <a:p>
            <a:r>
              <a:rPr lang="en-US" dirty="0"/>
              <a:t>This is why it is so crucial for the primary buttons to look the same on every page.</a:t>
            </a:r>
          </a:p>
          <a:p>
            <a:endParaRPr lang="en-US" dirty="0"/>
          </a:p>
          <a:p>
            <a:r>
              <a:rPr lang="en-US" dirty="0"/>
              <a:t>In the group of “similar” elements, We tend to see objects with the similarity of colors first, then size and in the end shape.</a:t>
            </a:r>
          </a:p>
        </p:txBody>
      </p:sp>
    </p:spTree>
    <p:extLst>
      <p:ext uri="{BB962C8B-B14F-4D97-AF65-F5344CB8AC3E}">
        <p14:creationId xmlns:p14="http://schemas.microsoft.com/office/powerpoint/2010/main" val="39320112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434904" y="1828800"/>
            <a:ext cx="8508888" cy="3881437"/>
          </a:xfrm>
          <a:prstGeom prst="rect">
            <a:avLst/>
          </a:prstGeom>
        </p:spPr>
      </p:pic>
    </p:spTree>
    <p:extLst>
      <p:ext uri="{BB962C8B-B14F-4D97-AF65-F5344CB8AC3E}">
        <p14:creationId xmlns:p14="http://schemas.microsoft.com/office/powerpoint/2010/main" val="24472939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75397" y="1600200"/>
            <a:ext cx="8968603" cy="4953000"/>
          </a:xfrm>
          <a:prstGeom prst="rect">
            <a:avLst/>
          </a:prstGeom>
        </p:spPr>
      </p:pic>
    </p:spTree>
    <p:extLst>
      <p:ext uri="{BB962C8B-B14F-4D97-AF65-F5344CB8AC3E}">
        <p14:creationId xmlns:p14="http://schemas.microsoft.com/office/powerpoint/2010/main" val="8947405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762000" y="1752600"/>
            <a:ext cx="7423150" cy="3949933"/>
          </a:xfrm>
          <a:prstGeom prst="rect">
            <a:avLst/>
          </a:prstGeom>
        </p:spPr>
      </p:pic>
    </p:spTree>
    <p:extLst>
      <p:ext uri="{BB962C8B-B14F-4D97-AF65-F5344CB8AC3E}">
        <p14:creationId xmlns:p14="http://schemas.microsoft.com/office/powerpoint/2010/main" val="16908758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quarter" idx="1"/>
          </p:nvPr>
        </p:nvPicPr>
        <p:blipFill>
          <a:blip r:embed="rId2"/>
          <a:stretch>
            <a:fillRect/>
          </a:stretch>
        </p:blipFill>
        <p:spPr>
          <a:xfrm>
            <a:off x="457200" y="41941"/>
            <a:ext cx="7696200" cy="6921328"/>
          </a:xfrm>
          <a:prstGeom prst="rect">
            <a:avLst/>
          </a:prstGeom>
        </p:spPr>
      </p:pic>
    </p:spTree>
    <p:extLst>
      <p:ext uri="{BB962C8B-B14F-4D97-AF65-F5344CB8AC3E}">
        <p14:creationId xmlns:p14="http://schemas.microsoft.com/office/powerpoint/2010/main" val="39472444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914400" y="15240"/>
            <a:ext cx="7086600" cy="6748547"/>
          </a:xfrm>
          <a:prstGeom prst="rect">
            <a:avLst/>
          </a:prstGeom>
        </p:spPr>
      </p:pic>
    </p:spTree>
    <p:extLst>
      <p:ext uri="{BB962C8B-B14F-4D97-AF65-F5344CB8AC3E}">
        <p14:creationId xmlns:p14="http://schemas.microsoft.com/office/powerpoint/2010/main" val="29342081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Similarity </a:t>
            </a:r>
          </a:p>
        </p:txBody>
      </p:sp>
      <p:pic>
        <p:nvPicPr>
          <p:cNvPr id="179202" name="Picture 2" descr="Source: Mads Soegaard"/>
          <p:cNvPicPr>
            <a:picLocks noChangeAspect="1" noChangeArrowheads="1"/>
          </p:cNvPicPr>
          <p:nvPr/>
        </p:nvPicPr>
        <p:blipFill>
          <a:blip r:embed="rId2" cstate="print"/>
          <a:srcRect/>
          <a:stretch>
            <a:fillRect/>
          </a:stretch>
        </p:blipFill>
        <p:spPr bwMode="auto">
          <a:xfrm>
            <a:off x="1967552" y="1371600"/>
            <a:ext cx="5633144" cy="5334000"/>
          </a:xfrm>
          <a:prstGeom prst="rect">
            <a:avLst/>
          </a:prstGeom>
          <a:noFill/>
        </p:spPr>
      </p:pic>
    </p:spTree>
    <p:extLst>
      <p:ext uri="{BB962C8B-B14F-4D97-AF65-F5344CB8AC3E}">
        <p14:creationId xmlns:p14="http://schemas.microsoft.com/office/powerpoint/2010/main" val="15745821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819400"/>
            <a:ext cx="7123113" cy="3733800"/>
          </a:xfrm>
        </p:spPr>
        <p:txBody>
          <a:bodyPr/>
          <a:lstStyle/>
          <a:p>
            <a:r>
              <a:rPr lang="en-US" dirty="0"/>
              <a:t>We tend to perceive figures or objects as belonging together if they appear to form a continuous pattern.</a:t>
            </a:r>
          </a:p>
          <a:p>
            <a:endParaRPr lang="en-US" dirty="0"/>
          </a:p>
          <a:p>
            <a:r>
              <a:rPr lang="en-US" dirty="0"/>
              <a:t>The human eye follows the paths, lines, and curves of a design, and prefers to see a continuous flow of visual elements rather than separated objects.</a:t>
            </a:r>
          </a:p>
        </p:txBody>
      </p:sp>
      <p:sp>
        <p:nvSpPr>
          <p:cNvPr id="2" name="Title 1"/>
          <p:cNvSpPr>
            <a:spLocks noGrp="1"/>
          </p:cNvSpPr>
          <p:nvPr>
            <p:ph type="title"/>
          </p:nvPr>
        </p:nvSpPr>
        <p:spPr/>
        <p:txBody>
          <a:bodyPr/>
          <a:lstStyle/>
          <a:p>
            <a:r>
              <a:rPr lang="en-US" dirty="0"/>
              <a:t>Principle of Continuity </a:t>
            </a:r>
          </a:p>
        </p:txBody>
      </p:sp>
    </p:spTree>
    <p:extLst>
      <p:ext uri="{BB962C8B-B14F-4D97-AF65-F5344CB8AC3E}">
        <p14:creationId xmlns:p14="http://schemas.microsoft.com/office/powerpoint/2010/main" val="28493175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Continuity </a:t>
            </a:r>
          </a:p>
        </p:txBody>
      </p:sp>
      <p:sp>
        <p:nvSpPr>
          <p:cNvPr id="3" name="Content Placeholder 2"/>
          <p:cNvSpPr>
            <a:spLocks noGrp="1"/>
          </p:cNvSpPr>
          <p:nvPr>
            <p:ph sz="quarter" idx="1"/>
          </p:nvPr>
        </p:nvSpPr>
        <p:spPr/>
        <p:txBody>
          <a:bodyPr/>
          <a:lstStyle/>
          <a:p>
            <a:r>
              <a:rPr lang="en-US" dirty="0"/>
              <a:t>Visual perception is based on continuous forms, not disconnected segments</a:t>
            </a:r>
          </a:p>
          <a:p>
            <a:endParaRPr lang="en-US" dirty="0"/>
          </a:p>
        </p:txBody>
      </p:sp>
      <p:pic>
        <p:nvPicPr>
          <p:cNvPr id="4" name="Picture 3"/>
          <p:cNvPicPr>
            <a:picLocks noChangeAspect="1"/>
          </p:cNvPicPr>
          <p:nvPr/>
        </p:nvPicPr>
        <p:blipFill>
          <a:blip r:embed="rId2"/>
          <a:stretch>
            <a:fillRect/>
          </a:stretch>
        </p:blipFill>
        <p:spPr>
          <a:xfrm>
            <a:off x="3493960" y="3724275"/>
            <a:ext cx="2390775" cy="2371725"/>
          </a:xfrm>
          <a:prstGeom prst="rect">
            <a:avLst/>
          </a:prstGeom>
        </p:spPr>
      </p:pic>
    </p:spTree>
    <p:extLst>
      <p:ext uri="{BB962C8B-B14F-4D97-AF65-F5344CB8AC3E}">
        <p14:creationId xmlns:p14="http://schemas.microsoft.com/office/powerpoint/2010/main" val="29447040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Principle of Continuity </a:t>
            </a:r>
          </a:p>
        </p:txBody>
      </p:sp>
      <p:pic>
        <p:nvPicPr>
          <p:cNvPr id="4" name="Picture 7"/>
          <p:cNvPicPr>
            <a:picLocks noChangeAspect="1" noChangeArrowheads="1"/>
          </p:cNvPicPr>
          <p:nvPr/>
        </p:nvPicPr>
        <p:blipFill>
          <a:blip r:embed="rId2" cstate="print"/>
          <a:srcRect t="11594" b="18841"/>
          <a:stretch>
            <a:fillRect/>
          </a:stretch>
        </p:blipFill>
        <p:spPr bwMode="auto">
          <a:xfrm>
            <a:off x="990600" y="2438400"/>
            <a:ext cx="7162800" cy="3737113"/>
          </a:xfrm>
          <a:prstGeom prst="rect">
            <a:avLst/>
          </a:prstGeom>
          <a:noFill/>
          <a:ln w="22225" algn="ctr">
            <a:noFill/>
            <a:miter lim="800000"/>
            <a:headEnd/>
            <a:tailEnd type="none" w="lg" len="lg"/>
          </a:ln>
        </p:spPr>
      </p:pic>
    </p:spTree>
    <p:extLst>
      <p:ext uri="{BB962C8B-B14F-4D97-AF65-F5344CB8AC3E}">
        <p14:creationId xmlns:p14="http://schemas.microsoft.com/office/powerpoint/2010/main" val="12196041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sz="quarter" idx="1"/>
          </p:nvPr>
        </p:nvPicPr>
        <p:blipFill>
          <a:blip r:embed="rId2"/>
          <a:stretch>
            <a:fillRect/>
          </a:stretch>
        </p:blipFill>
        <p:spPr>
          <a:xfrm>
            <a:off x="612648" y="2286000"/>
            <a:ext cx="7324725" cy="3876675"/>
          </a:xfrm>
          <a:prstGeom prst="rect">
            <a:avLst/>
          </a:prstGeom>
        </p:spPr>
      </p:pic>
      <p:sp>
        <p:nvSpPr>
          <p:cNvPr id="5" name="Rectangle 4"/>
          <p:cNvSpPr/>
          <p:nvPr/>
        </p:nvSpPr>
        <p:spPr>
          <a:xfrm>
            <a:off x="612648" y="1639669"/>
            <a:ext cx="6245352" cy="646331"/>
          </a:xfrm>
          <a:prstGeom prst="rect">
            <a:avLst/>
          </a:prstGeom>
        </p:spPr>
        <p:txBody>
          <a:bodyPr wrap="square">
            <a:spAutoFit/>
          </a:bodyPr>
          <a:lstStyle/>
          <a:p>
            <a:r>
              <a:rPr lang="en-US" dirty="0">
                <a:solidFill>
                  <a:srgbClr val="262D3D"/>
                </a:solidFill>
                <a:latin typeface="Merriweather"/>
              </a:rPr>
              <a:t>human eye will follow the smoothest path when viewing lines, regardless of how the lines were actually drawn.</a:t>
            </a:r>
            <a:endParaRPr lang="en-US" dirty="0"/>
          </a:p>
        </p:txBody>
      </p:sp>
    </p:spTree>
    <p:extLst>
      <p:ext uri="{BB962C8B-B14F-4D97-AF65-F5344CB8AC3E}">
        <p14:creationId xmlns:p14="http://schemas.microsoft.com/office/powerpoint/2010/main" val="36700872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Since the eye naturally follows a line, placing items in a series in a line will naturally draw the eye from one item to the next. </a:t>
            </a:r>
          </a:p>
          <a:p>
            <a:endParaRPr lang="en-US" dirty="0"/>
          </a:p>
          <a:p>
            <a:r>
              <a:rPr lang="en-US" dirty="0"/>
              <a:t>Horizontal sliders are one such example, as are related product listings on sites like Amazon.</a:t>
            </a:r>
          </a:p>
        </p:txBody>
      </p:sp>
    </p:spTree>
    <p:extLst>
      <p:ext uri="{BB962C8B-B14F-4D97-AF65-F5344CB8AC3E}">
        <p14:creationId xmlns:p14="http://schemas.microsoft.com/office/powerpoint/2010/main" val="15783510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008062" y="2276475"/>
            <a:ext cx="7362825" cy="3143250"/>
          </a:xfrm>
          <a:prstGeom prst="rect">
            <a:avLst/>
          </a:prstGeom>
        </p:spPr>
      </p:pic>
    </p:spTree>
    <p:extLst>
      <p:ext uri="{BB962C8B-B14F-4D97-AF65-F5344CB8AC3E}">
        <p14:creationId xmlns:p14="http://schemas.microsoft.com/office/powerpoint/2010/main" val="32083469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Continuity </a:t>
            </a:r>
          </a:p>
        </p:txBody>
      </p:sp>
      <p:pic>
        <p:nvPicPr>
          <p:cNvPr id="274434" name="Picture 2" descr="linear presentation"/>
          <p:cNvPicPr>
            <a:picLocks noChangeAspect="1" noChangeArrowheads="1"/>
          </p:cNvPicPr>
          <p:nvPr/>
        </p:nvPicPr>
        <p:blipFill rotWithShape="1">
          <a:blip r:embed="rId2" cstate="print"/>
          <a:srcRect l="1464" t="13659" r="1951" b="13171"/>
          <a:stretch/>
        </p:blipFill>
        <p:spPr bwMode="auto">
          <a:xfrm>
            <a:off x="0" y="1828800"/>
            <a:ext cx="9131105" cy="4611669"/>
          </a:xfrm>
          <a:prstGeom prst="rect">
            <a:avLst/>
          </a:prstGeom>
          <a:noFill/>
        </p:spPr>
      </p:pic>
      <p:cxnSp>
        <p:nvCxnSpPr>
          <p:cNvPr id="8" name="Straight Connector 7"/>
          <p:cNvCxnSpPr/>
          <p:nvPr/>
        </p:nvCxnSpPr>
        <p:spPr>
          <a:xfrm>
            <a:off x="5257800" y="3429000"/>
            <a:ext cx="838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6096000" y="2057400"/>
            <a:ext cx="0" cy="1371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248400" y="2362200"/>
            <a:ext cx="0" cy="1905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248400" y="2362200"/>
            <a:ext cx="762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486400" y="1673999"/>
            <a:ext cx="1904752" cy="369332"/>
          </a:xfrm>
          <a:prstGeom prst="rect">
            <a:avLst/>
          </a:prstGeom>
          <a:noFill/>
        </p:spPr>
        <p:txBody>
          <a:bodyPr wrap="none" rtlCol="0">
            <a:spAutoFit/>
          </a:bodyPr>
          <a:lstStyle/>
          <a:p>
            <a:r>
              <a:rPr lang="en-US" b="1" dirty="0"/>
              <a:t>Use of numbering</a:t>
            </a:r>
          </a:p>
        </p:txBody>
      </p:sp>
      <p:sp>
        <p:nvSpPr>
          <p:cNvPr id="20" name="TextBox 19"/>
          <p:cNvSpPr txBox="1"/>
          <p:nvPr/>
        </p:nvSpPr>
        <p:spPr>
          <a:xfrm>
            <a:off x="7010400" y="2177534"/>
            <a:ext cx="1539268" cy="369332"/>
          </a:xfrm>
          <a:prstGeom prst="rect">
            <a:avLst/>
          </a:prstGeom>
          <a:noFill/>
        </p:spPr>
        <p:txBody>
          <a:bodyPr wrap="none" rtlCol="0">
            <a:spAutoFit/>
          </a:bodyPr>
          <a:lstStyle/>
          <a:p>
            <a:r>
              <a:rPr lang="en-US" b="1" dirty="0"/>
              <a:t>Use of arrows</a:t>
            </a:r>
          </a:p>
        </p:txBody>
      </p:sp>
    </p:spTree>
    <p:extLst>
      <p:ext uri="{BB962C8B-B14F-4D97-AF65-F5344CB8AC3E}">
        <p14:creationId xmlns:p14="http://schemas.microsoft.com/office/powerpoint/2010/main" val="32498792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Continuity </a:t>
            </a:r>
          </a:p>
        </p:txBody>
      </p:sp>
      <p:pic>
        <p:nvPicPr>
          <p:cNvPr id="275458" name="Picture 2" descr="a graph"/>
          <p:cNvPicPr>
            <a:picLocks noChangeAspect="1" noChangeArrowheads="1"/>
          </p:cNvPicPr>
          <p:nvPr/>
        </p:nvPicPr>
        <p:blipFill rotWithShape="1">
          <a:blip r:embed="rId2" cstate="print"/>
          <a:srcRect l="4673" t="9812" r="4673" b="13085"/>
          <a:stretch/>
        </p:blipFill>
        <p:spPr bwMode="auto">
          <a:xfrm>
            <a:off x="5543" y="1524000"/>
            <a:ext cx="9138458" cy="5181600"/>
          </a:xfrm>
          <a:prstGeom prst="rect">
            <a:avLst/>
          </a:prstGeom>
          <a:noFill/>
        </p:spPr>
      </p:pic>
    </p:spTree>
    <p:extLst>
      <p:ext uri="{BB962C8B-B14F-4D97-AF65-F5344CB8AC3E}">
        <p14:creationId xmlns:p14="http://schemas.microsoft.com/office/powerpoint/2010/main" val="37990335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Elements arranged in a straight line or a smooth curve are perceived as a group and are interpreted as being more related than elements not on the line or curve.</a:t>
            </a:r>
          </a:p>
        </p:txBody>
      </p:sp>
      <p:pic>
        <p:nvPicPr>
          <p:cNvPr id="5" name="Picture 4">
            <a:extLst>
              <a:ext uri="{FF2B5EF4-FFF2-40B4-BE49-F238E27FC236}">
                <a16:creationId xmlns:a16="http://schemas.microsoft.com/office/drawing/2014/main" id="{D1DD1427-AABA-41CE-A42A-543803ADC1DE}"/>
              </a:ext>
            </a:extLst>
          </p:cNvPr>
          <p:cNvPicPr>
            <a:picLocks noChangeAspect="1"/>
          </p:cNvPicPr>
          <p:nvPr/>
        </p:nvPicPr>
        <p:blipFill>
          <a:blip r:embed="rId2"/>
          <a:stretch>
            <a:fillRect/>
          </a:stretch>
        </p:blipFill>
        <p:spPr>
          <a:xfrm>
            <a:off x="1104900" y="3626886"/>
            <a:ext cx="6934200" cy="2830061"/>
          </a:xfrm>
          <a:prstGeom prst="rect">
            <a:avLst/>
          </a:prstGeom>
        </p:spPr>
      </p:pic>
    </p:spTree>
    <p:extLst>
      <p:ext uri="{BB962C8B-B14F-4D97-AF65-F5344CB8AC3E}">
        <p14:creationId xmlns:p14="http://schemas.microsoft.com/office/powerpoint/2010/main" val="32832917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3886200"/>
          </a:xfrm>
        </p:spPr>
        <p:txBody>
          <a:bodyPr>
            <a:normAutofit/>
          </a:bodyPr>
          <a:lstStyle/>
          <a:p>
            <a:pPr algn="just"/>
            <a:r>
              <a:rPr lang="en-US" dirty="0"/>
              <a:t>The law of Closure explains how we perceive incomplete shapes. When there is missing information in an image, the eye ignores the missing information and fills in the gaps with lines, color or patterns from the surrounding area to complete the image.</a:t>
            </a:r>
          </a:p>
          <a:p>
            <a:pPr algn="just"/>
            <a:endParaRPr lang="en-US" dirty="0"/>
          </a:p>
          <a:p>
            <a:pPr algn="just"/>
            <a:r>
              <a:rPr lang="en-US" dirty="0"/>
              <a:t>We can use this law to achieve visual effects.</a:t>
            </a:r>
          </a:p>
        </p:txBody>
      </p:sp>
      <p:sp>
        <p:nvSpPr>
          <p:cNvPr id="2" name="Title 1"/>
          <p:cNvSpPr>
            <a:spLocks noGrp="1"/>
          </p:cNvSpPr>
          <p:nvPr>
            <p:ph type="title"/>
          </p:nvPr>
        </p:nvSpPr>
        <p:spPr/>
        <p:txBody>
          <a:bodyPr/>
          <a:lstStyle/>
          <a:p>
            <a:r>
              <a:rPr lang="en-US" dirty="0"/>
              <a:t>Principle of Closure </a:t>
            </a:r>
          </a:p>
        </p:txBody>
      </p:sp>
    </p:spTree>
    <p:extLst>
      <p:ext uri="{BB962C8B-B14F-4D97-AF65-F5344CB8AC3E}">
        <p14:creationId xmlns:p14="http://schemas.microsoft.com/office/powerpoint/2010/main" val="7370300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Closure </a:t>
            </a:r>
          </a:p>
        </p:txBody>
      </p:sp>
      <p:sp>
        <p:nvSpPr>
          <p:cNvPr id="3" name="Content Placeholder 2"/>
          <p:cNvSpPr>
            <a:spLocks noGrp="1"/>
          </p:cNvSpPr>
          <p:nvPr>
            <p:ph sz="quarter" idx="1"/>
          </p:nvPr>
        </p:nvSpPr>
        <p:spPr/>
        <p:txBody>
          <a:bodyPr/>
          <a:lstStyle/>
          <a:p>
            <a:r>
              <a:rPr lang="en-US" dirty="0"/>
              <a:t>We automatically attempt to complete “open” objects so that we perceive them as whole.</a:t>
            </a:r>
          </a:p>
          <a:p>
            <a:endParaRPr lang="en-US" dirty="0"/>
          </a:p>
          <a:p>
            <a:r>
              <a:rPr lang="en-US" dirty="0"/>
              <a:t>Our visual system can interpret totally blank areas as objects.</a:t>
            </a:r>
          </a:p>
          <a:p>
            <a:endParaRPr lang="en-US" dirty="0"/>
          </a:p>
          <a:p>
            <a:r>
              <a:rPr lang="en-US" dirty="0"/>
              <a:t>This is what graphic designers refer to as “white space”</a:t>
            </a:r>
          </a:p>
        </p:txBody>
      </p:sp>
    </p:spTree>
    <p:extLst>
      <p:ext uri="{BB962C8B-B14F-4D97-AF65-F5344CB8AC3E}">
        <p14:creationId xmlns:p14="http://schemas.microsoft.com/office/powerpoint/2010/main" val="1543070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Closure </a:t>
            </a:r>
          </a:p>
        </p:txBody>
      </p:sp>
      <p:pic>
        <p:nvPicPr>
          <p:cNvPr id="4" name="Picture 4"/>
          <p:cNvPicPr>
            <a:picLocks noChangeAspect="1" noChangeArrowheads="1"/>
          </p:cNvPicPr>
          <p:nvPr/>
        </p:nvPicPr>
        <p:blipFill>
          <a:blip r:embed="rId2" cstate="print"/>
          <a:srcRect/>
          <a:stretch>
            <a:fillRect/>
          </a:stretch>
        </p:blipFill>
        <p:spPr bwMode="auto">
          <a:xfrm>
            <a:off x="604335" y="5181600"/>
            <a:ext cx="7982001" cy="1676400"/>
          </a:xfrm>
          <a:prstGeom prst="rect">
            <a:avLst/>
          </a:prstGeom>
          <a:noFill/>
          <a:ln w="22225" algn="ctr">
            <a:noFill/>
            <a:miter lim="800000"/>
            <a:headEnd/>
            <a:tailEnd type="none" w="lg" len="lg"/>
          </a:ln>
        </p:spPr>
      </p:pic>
      <p:pic>
        <p:nvPicPr>
          <p:cNvPr id="231426" name="Picture 2" descr="http://replicatorinc.com/blog/wp-content/uploads/2009/10/law-of-closure.jpg"/>
          <p:cNvPicPr>
            <a:picLocks noChangeAspect="1" noChangeArrowheads="1"/>
          </p:cNvPicPr>
          <p:nvPr/>
        </p:nvPicPr>
        <p:blipFill rotWithShape="1">
          <a:blip r:embed="rId3" cstate="print"/>
          <a:srcRect l="24310" t="3867" r="25967" b="3315"/>
          <a:stretch/>
        </p:blipFill>
        <p:spPr bwMode="auto">
          <a:xfrm>
            <a:off x="5375069" y="1511530"/>
            <a:ext cx="3768931" cy="3517670"/>
          </a:xfrm>
          <a:prstGeom prst="rect">
            <a:avLst/>
          </a:prstGeom>
          <a:noFill/>
        </p:spPr>
      </p:pic>
      <p:pic>
        <p:nvPicPr>
          <p:cNvPr id="7" name="Picture 6"/>
          <p:cNvPicPr>
            <a:picLocks noChangeAspect="1"/>
          </p:cNvPicPr>
          <p:nvPr/>
        </p:nvPicPr>
        <p:blipFill rotWithShape="1">
          <a:blip r:embed="rId4"/>
          <a:srcRect l="5498" t="9566" r="14776" b="6679"/>
          <a:stretch/>
        </p:blipFill>
        <p:spPr>
          <a:xfrm>
            <a:off x="0" y="1523999"/>
            <a:ext cx="3505202" cy="3505201"/>
          </a:xfrm>
          <a:prstGeom prst="rect">
            <a:avLst/>
          </a:prstGeom>
        </p:spPr>
      </p:pic>
    </p:spTree>
    <p:extLst>
      <p:ext uri="{BB962C8B-B14F-4D97-AF65-F5344CB8AC3E}">
        <p14:creationId xmlns:p14="http://schemas.microsoft.com/office/powerpoint/2010/main" val="9665176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917575" y="2190750"/>
            <a:ext cx="7543800" cy="3314700"/>
          </a:xfrm>
          <a:prstGeom prst="rect">
            <a:avLst/>
          </a:prstGeom>
        </p:spPr>
      </p:pic>
    </p:spTree>
    <p:extLst>
      <p:ext uri="{BB962C8B-B14F-4D97-AF65-F5344CB8AC3E}">
        <p14:creationId xmlns:p14="http://schemas.microsoft.com/office/powerpoint/2010/main" val="13757968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We resolve ambiguity by adding in missing data in such a way that we perceive whole objects. We are biased towards perceiving continuous forms rather than disconnected pieces.</a:t>
            </a:r>
          </a:p>
        </p:txBody>
      </p:sp>
      <p:pic>
        <p:nvPicPr>
          <p:cNvPr id="4" name="Picture 3"/>
          <p:cNvPicPr>
            <a:picLocks noChangeAspect="1"/>
          </p:cNvPicPr>
          <p:nvPr/>
        </p:nvPicPr>
        <p:blipFill>
          <a:blip r:embed="rId2"/>
          <a:stretch>
            <a:fillRect/>
          </a:stretch>
        </p:blipFill>
        <p:spPr>
          <a:xfrm>
            <a:off x="304800" y="3886200"/>
            <a:ext cx="8162925" cy="2876550"/>
          </a:xfrm>
          <a:prstGeom prst="rect">
            <a:avLst/>
          </a:prstGeom>
        </p:spPr>
      </p:pic>
    </p:spTree>
    <p:extLst>
      <p:ext uri="{BB962C8B-B14F-4D97-AF65-F5344CB8AC3E}">
        <p14:creationId xmlns:p14="http://schemas.microsoft.com/office/powerpoint/2010/main" val="1159521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Closure </a:t>
            </a:r>
          </a:p>
        </p:txBody>
      </p:sp>
      <p:pic>
        <p:nvPicPr>
          <p:cNvPr id="4" name="Picture 3"/>
          <p:cNvPicPr>
            <a:picLocks noChangeAspect="1"/>
          </p:cNvPicPr>
          <p:nvPr/>
        </p:nvPicPr>
        <p:blipFill rotWithShape="1">
          <a:blip r:embed="rId2"/>
          <a:srcRect r="840"/>
          <a:stretch/>
        </p:blipFill>
        <p:spPr>
          <a:xfrm>
            <a:off x="612648" y="2590800"/>
            <a:ext cx="7845552" cy="2590800"/>
          </a:xfrm>
          <a:prstGeom prst="rect">
            <a:avLst/>
          </a:prstGeom>
        </p:spPr>
      </p:pic>
    </p:spTree>
    <p:extLst>
      <p:ext uri="{BB962C8B-B14F-4D97-AF65-F5344CB8AC3E}">
        <p14:creationId xmlns:p14="http://schemas.microsoft.com/office/powerpoint/2010/main" val="3074398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can this be applied?</a:t>
            </a:r>
            <a:br>
              <a:rPr lang="en-US" b="1" dirty="0"/>
            </a:br>
            <a:endParaRPr lang="en-US" dirty="0"/>
          </a:p>
        </p:txBody>
      </p:sp>
      <p:sp>
        <p:nvSpPr>
          <p:cNvPr id="3" name="Content Placeholder 2"/>
          <p:cNvSpPr>
            <a:spLocks noGrp="1"/>
          </p:cNvSpPr>
          <p:nvPr>
            <p:ph sz="quarter" idx="1"/>
          </p:nvPr>
        </p:nvSpPr>
        <p:spPr/>
        <p:txBody>
          <a:bodyPr>
            <a:normAutofit/>
          </a:bodyPr>
          <a:lstStyle/>
          <a:p>
            <a:r>
              <a:rPr lang="en-US" dirty="0"/>
              <a:t>Loading states, completion meters are great examples of this.</a:t>
            </a:r>
          </a:p>
          <a:p>
            <a:endParaRPr lang="en-US" dirty="0"/>
          </a:p>
          <a:p>
            <a:r>
              <a:rPr lang="en-US" dirty="0"/>
              <a:t>The law of closure was used to make the solution more understandable to the user. </a:t>
            </a:r>
          </a:p>
          <a:p>
            <a:endParaRPr lang="en-US" dirty="0"/>
          </a:p>
          <a:p>
            <a:r>
              <a:rPr lang="en-US" dirty="0"/>
              <a:t>The other usage of closure is negative space. We see it in logos and iconography. It makes the design more readable or even enjoyable.</a:t>
            </a:r>
          </a:p>
        </p:txBody>
      </p:sp>
    </p:spTree>
    <p:extLst>
      <p:ext uri="{BB962C8B-B14F-4D97-AF65-F5344CB8AC3E}">
        <p14:creationId xmlns:p14="http://schemas.microsoft.com/office/powerpoint/2010/main" val="41212258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589087" y="2409825"/>
            <a:ext cx="6200775" cy="2876550"/>
          </a:xfrm>
          <a:prstGeom prst="rect">
            <a:avLst/>
          </a:prstGeom>
        </p:spPr>
      </p:pic>
    </p:spTree>
    <p:extLst>
      <p:ext uri="{BB962C8B-B14F-4D97-AF65-F5344CB8AC3E}">
        <p14:creationId xmlns:p14="http://schemas.microsoft.com/office/powerpoint/2010/main" val="27050098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371600" y="2743200"/>
            <a:ext cx="7123113" cy="4114800"/>
          </a:xfrm>
        </p:spPr>
        <p:txBody>
          <a:bodyPr>
            <a:normAutofit/>
          </a:bodyPr>
          <a:lstStyle/>
          <a:p>
            <a:r>
              <a:rPr lang="en-US" dirty="0"/>
              <a:t>When we look at certain objects, we see them as symmetrical shapes that form around their center.</a:t>
            </a:r>
          </a:p>
          <a:p>
            <a:endParaRPr lang="en-US" dirty="0"/>
          </a:p>
          <a:p>
            <a:r>
              <a:rPr lang="en-US" dirty="0"/>
              <a:t>Humans like symmetry, and find it aesthetically appealing.</a:t>
            </a:r>
          </a:p>
          <a:p>
            <a:endParaRPr lang="en-US" dirty="0"/>
          </a:p>
          <a:p>
            <a:endParaRPr lang="en-US" dirty="0"/>
          </a:p>
        </p:txBody>
      </p:sp>
      <p:sp>
        <p:nvSpPr>
          <p:cNvPr id="3" name="Title 2"/>
          <p:cNvSpPr>
            <a:spLocks noGrp="1"/>
          </p:cNvSpPr>
          <p:nvPr>
            <p:ph type="title"/>
          </p:nvPr>
        </p:nvSpPr>
        <p:spPr/>
        <p:txBody>
          <a:bodyPr/>
          <a:lstStyle/>
          <a:p>
            <a:r>
              <a:rPr lang="en-US" dirty="0"/>
              <a:t>Principle of Symmetry</a:t>
            </a:r>
          </a:p>
        </p:txBody>
      </p:sp>
    </p:spTree>
    <p:extLst>
      <p:ext uri="{BB962C8B-B14F-4D97-AF65-F5344CB8AC3E}">
        <p14:creationId xmlns:p14="http://schemas.microsoft.com/office/powerpoint/2010/main" val="22212032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Symmetry</a:t>
            </a:r>
          </a:p>
        </p:txBody>
      </p:sp>
      <p:sp>
        <p:nvSpPr>
          <p:cNvPr id="3" name="Content Placeholder 2"/>
          <p:cNvSpPr>
            <a:spLocks noGrp="1"/>
          </p:cNvSpPr>
          <p:nvPr>
            <p:ph sz="quarter" idx="1"/>
          </p:nvPr>
        </p:nvSpPr>
        <p:spPr/>
        <p:txBody>
          <a:bodyPr>
            <a:normAutofit/>
          </a:bodyPr>
          <a:lstStyle/>
          <a:p>
            <a:r>
              <a:rPr lang="en-US" dirty="0"/>
              <a:t>The goal of our visual system: </a:t>
            </a:r>
            <a:r>
              <a:rPr lang="en-US" i="1" dirty="0"/>
              <a:t>reduce complexity</a:t>
            </a:r>
          </a:p>
          <a:p>
            <a:r>
              <a:rPr lang="en-US"/>
              <a:t>We interpret </a:t>
            </a:r>
            <a:r>
              <a:rPr lang="en-US" dirty="0"/>
              <a:t>data in our visual field in more than one way, but always with the goal of simplification</a:t>
            </a:r>
          </a:p>
          <a:p>
            <a:r>
              <a:rPr lang="en-US" dirty="0"/>
              <a:t>Organizing objects into symmetrical shapes allows for easier understanding</a:t>
            </a:r>
          </a:p>
          <a:p>
            <a:r>
              <a:rPr lang="en-US" dirty="0"/>
              <a:t>It’s automatic</a:t>
            </a:r>
          </a:p>
          <a:p>
            <a:r>
              <a:rPr lang="en-US" dirty="0"/>
              <a:t>Symmetry is the primary principle used to interpret three dimensional renderings on a two dimensional display.</a:t>
            </a:r>
          </a:p>
          <a:p>
            <a:endParaRPr lang="en-US" dirty="0"/>
          </a:p>
        </p:txBody>
      </p:sp>
    </p:spTree>
    <p:extLst>
      <p:ext uri="{BB962C8B-B14F-4D97-AF65-F5344CB8AC3E}">
        <p14:creationId xmlns:p14="http://schemas.microsoft.com/office/powerpoint/2010/main" val="39271870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3"/>
          <a:stretch>
            <a:fillRect/>
          </a:stretch>
        </p:blipFill>
        <p:spPr>
          <a:xfrm>
            <a:off x="1565275" y="2419350"/>
            <a:ext cx="6248400" cy="2857500"/>
          </a:xfrm>
          <a:prstGeom prst="rect">
            <a:avLst/>
          </a:prstGeom>
        </p:spPr>
      </p:pic>
      <p:pic>
        <p:nvPicPr>
          <p:cNvPr id="3" name="Picture 2"/>
          <p:cNvPicPr>
            <a:picLocks noChangeAspect="1"/>
          </p:cNvPicPr>
          <p:nvPr/>
        </p:nvPicPr>
        <p:blipFill>
          <a:blip r:embed="rId4"/>
          <a:stretch>
            <a:fillRect/>
          </a:stretch>
        </p:blipFill>
        <p:spPr>
          <a:xfrm>
            <a:off x="7146798" y="333375"/>
            <a:ext cx="1619250" cy="781050"/>
          </a:xfrm>
          <a:prstGeom prst="rect">
            <a:avLst/>
          </a:prstGeom>
        </p:spPr>
      </p:pic>
    </p:spTree>
    <p:extLst>
      <p:ext uri="{BB962C8B-B14F-4D97-AF65-F5344CB8AC3E}">
        <p14:creationId xmlns:p14="http://schemas.microsoft.com/office/powerpoint/2010/main" val="22994629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50D3-E3E7-4DA4-B726-BCCF3A389FF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967FBD9-3B6F-480C-A9C2-966B7140AF1F}"/>
              </a:ext>
            </a:extLst>
          </p:cNvPr>
          <p:cNvPicPr>
            <a:picLocks noGrp="1" noChangeAspect="1"/>
          </p:cNvPicPr>
          <p:nvPr>
            <p:ph sz="quarter" idx="1"/>
          </p:nvPr>
        </p:nvPicPr>
        <p:blipFill>
          <a:blip r:embed="rId2"/>
          <a:stretch>
            <a:fillRect/>
          </a:stretch>
        </p:blipFill>
        <p:spPr>
          <a:xfrm>
            <a:off x="2819400" y="1523999"/>
            <a:ext cx="3733800" cy="5332633"/>
          </a:xfrm>
        </p:spPr>
      </p:pic>
    </p:spTree>
    <p:extLst>
      <p:ext uri="{BB962C8B-B14F-4D97-AF65-F5344CB8AC3E}">
        <p14:creationId xmlns:p14="http://schemas.microsoft.com/office/powerpoint/2010/main" val="6034488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3"/>
          <a:stretch>
            <a:fillRect/>
          </a:stretch>
        </p:blipFill>
        <p:spPr>
          <a:xfrm>
            <a:off x="936625" y="2352675"/>
            <a:ext cx="7505700" cy="2990850"/>
          </a:xfrm>
          <a:prstGeom prst="rect">
            <a:avLst/>
          </a:prstGeom>
        </p:spPr>
      </p:pic>
    </p:spTree>
    <p:extLst>
      <p:ext uri="{BB962C8B-B14F-4D97-AF65-F5344CB8AC3E}">
        <p14:creationId xmlns:p14="http://schemas.microsoft.com/office/powerpoint/2010/main" val="30159403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2743200"/>
            <a:ext cx="8113713" cy="3886200"/>
          </a:xfrm>
        </p:spPr>
        <p:txBody>
          <a:bodyPr>
            <a:normAutofit/>
          </a:bodyPr>
          <a:lstStyle/>
          <a:p>
            <a:r>
              <a:rPr lang="en-US" dirty="0"/>
              <a:t>How the human eye separates shapes from the background in a design.</a:t>
            </a:r>
          </a:p>
          <a:p>
            <a:endParaRPr lang="en-US" dirty="0"/>
          </a:p>
          <a:p>
            <a:r>
              <a:rPr lang="en-US" dirty="0"/>
              <a:t>Elements are perceived as either figures (distinct elements of focus) or ground (the background or landscape on which the figures rest).</a:t>
            </a:r>
          </a:p>
        </p:txBody>
      </p:sp>
      <p:sp>
        <p:nvSpPr>
          <p:cNvPr id="2" name="Title 1"/>
          <p:cNvSpPr>
            <a:spLocks noGrp="1"/>
          </p:cNvSpPr>
          <p:nvPr>
            <p:ph type="title"/>
          </p:nvPr>
        </p:nvSpPr>
        <p:spPr/>
        <p:txBody>
          <a:bodyPr/>
          <a:lstStyle/>
          <a:p>
            <a:r>
              <a:rPr lang="en-US" dirty="0"/>
              <a:t>Principle of Figure-Ground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pic>
        <p:nvPicPr>
          <p:cNvPr id="6" name="Content Placeholder 5"/>
          <p:cNvPicPr>
            <a:picLocks noGrp="1" noChangeAspect="1"/>
          </p:cNvPicPr>
          <p:nvPr>
            <p:ph sz="quarter" idx="1"/>
          </p:nvPr>
        </p:nvPicPr>
        <p:blipFill>
          <a:blip r:embed="rId2"/>
          <a:stretch>
            <a:fillRect/>
          </a:stretch>
        </p:blipFill>
        <p:spPr>
          <a:xfrm>
            <a:off x="1022350" y="2247900"/>
            <a:ext cx="7334250" cy="3200400"/>
          </a:xfrm>
          <a:prstGeom prst="rect">
            <a:avLst/>
          </a:prstGeom>
        </p:spPr>
      </p:pic>
    </p:spTree>
    <p:extLst>
      <p:ext uri="{BB962C8B-B14F-4D97-AF65-F5344CB8AC3E}">
        <p14:creationId xmlns:p14="http://schemas.microsoft.com/office/powerpoint/2010/main" val="29378125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Figure-Ground </a:t>
            </a:r>
          </a:p>
        </p:txBody>
      </p:sp>
      <p:sp>
        <p:nvSpPr>
          <p:cNvPr id="3" name="Content Placeholder 2"/>
          <p:cNvSpPr>
            <a:spLocks noGrp="1"/>
          </p:cNvSpPr>
          <p:nvPr>
            <p:ph sz="quarter" idx="1"/>
          </p:nvPr>
        </p:nvSpPr>
        <p:spPr/>
        <p:txBody>
          <a:bodyPr>
            <a:normAutofit/>
          </a:bodyPr>
          <a:lstStyle/>
          <a:p>
            <a:r>
              <a:rPr lang="en-US" dirty="0"/>
              <a:t>There are two main factors that affect the way we perceive the figure and the ground in any given design.</a:t>
            </a:r>
          </a:p>
          <a:p>
            <a:pPr marL="514350" indent="-514350">
              <a:buFont typeface="+mj-lt"/>
              <a:buAutoNum type="arabicPeriod"/>
            </a:pPr>
            <a:r>
              <a:rPr lang="en-US" dirty="0"/>
              <a:t>Size of the figure when compared to the background</a:t>
            </a:r>
          </a:p>
          <a:p>
            <a:pPr marL="834390" lvl="1" indent="-514350"/>
            <a:r>
              <a:rPr lang="en-US" dirty="0"/>
              <a:t>Bigger image is ground and smaller one is figure</a:t>
            </a:r>
          </a:p>
          <a:p>
            <a:pPr marL="514350" indent="-514350">
              <a:buFont typeface="+mj-lt"/>
              <a:buAutoNum type="arabicPeriod"/>
            </a:pPr>
            <a:r>
              <a:rPr lang="en-US" dirty="0"/>
              <a:t>Contrast between the figure and the ground</a:t>
            </a:r>
          </a:p>
          <a:p>
            <a:pPr lvl="1"/>
            <a:r>
              <a:rPr lang="en-US" dirty="0"/>
              <a:t>Black color for text (figure) and white color for page (ground)</a:t>
            </a:r>
          </a:p>
        </p:txBody>
      </p:sp>
    </p:spTree>
    <p:extLst>
      <p:ext uri="{BB962C8B-B14F-4D97-AF65-F5344CB8AC3E}">
        <p14:creationId xmlns:p14="http://schemas.microsoft.com/office/powerpoint/2010/main" val="16335556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2362200" y="693420"/>
            <a:ext cx="4659645" cy="5783580"/>
          </a:xfrm>
          <a:prstGeom prst="rect">
            <a:avLst/>
          </a:prstGeom>
        </p:spPr>
      </p:pic>
    </p:spTree>
    <p:extLst>
      <p:ext uri="{BB962C8B-B14F-4D97-AF65-F5344CB8AC3E}">
        <p14:creationId xmlns:p14="http://schemas.microsoft.com/office/powerpoint/2010/main" val="19213814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Figure-Ground </a:t>
            </a:r>
          </a:p>
        </p:txBody>
      </p:sp>
      <p:sp>
        <p:nvSpPr>
          <p:cNvPr id="3" name="Content Placeholder 2"/>
          <p:cNvSpPr>
            <a:spLocks noGrp="1"/>
          </p:cNvSpPr>
          <p:nvPr>
            <p:ph sz="quarter" idx="1"/>
          </p:nvPr>
        </p:nvSpPr>
        <p:spPr/>
        <p:txBody>
          <a:bodyPr/>
          <a:lstStyle/>
          <a:p>
            <a:r>
              <a:rPr lang="en-US" dirty="0"/>
              <a:t>Our mind separates the visual field into figure (the foreground) and ground (the background)</a:t>
            </a:r>
          </a:p>
          <a:p>
            <a:r>
              <a:rPr lang="en-US" dirty="0"/>
              <a:t>When objects overlap, we tend to see the smaller object as existing in the foreground and the larger object as in the background</a:t>
            </a:r>
          </a:p>
          <a:p>
            <a:r>
              <a:rPr lang="en-US" dirty="0"/>
              <a:t>Objects in our primary attention seem to be in the foreground, while everything else seems to fade into the background.</a:t>
            </a:r>
          </a:p>
        </p:txBody>
      </p:sp>
    </p:spTree>
    <p:extLst>
      <p:ext uri="{BB962C8B-B14F-4D97-AF65-F5344CB8AC3E}">
        <p14:creationId xmlns:p14="http://schemas.microsoft.com/office/powerpoint/2010/main" val="6428338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898525" y="2009775"/>
            <a:ext cx="7581900" cy="3676650"/>
          </a:xfrm>
          <a:prstGeom prst="rect">
            <a:avLst/>
          </a:prstGeom>
        </p:spPr>
      </p:pic>
    </p:spTree>
    <p:extLst>
      <p:ext uri="{BB962C8B-B14F-4D97-AF65-F5344CB8AC3E}">
        <p14:creationId xmlns:p14="http://schemas.microsoft.com/office/powerpoint/2010/main" val="7839369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Figure-Ground </a:t>
            </a:r>
          </a:p>
        </p:txBody>
      </p:sp>
      <p:sp>
        <p:nvSpPr>
          <p:cNvPr id="3" name="Content Placeholder 2"/>
          <p:cNvSpPr>
            <a:spLocks noGrp="1"/>
          </p:cNvSpPr>
          <p:nvPr>
            <p:ph sz="quarter" idx="1"/>
          </p:nvPr>
        </p:nvSpPr>
        <p:spPr>
          <a:xfrm>
            <a:off x="612648" y="1600200"/>
            <a:ext cx="8153400" cy="5257800"/>
          </a:xfrm>
        </p:spPr>
        <p:txBody>
          <a:bodyPr>
            <a:normAutofit fontScale="92500"/>
          </a:bodyPr>
          <a:lstStyle/>
          <a:p>
            <a:r>
              <a:rPr lang="en-US" dirty="0"/>
              <a:t>The relationship between figure and ground can be classified into three categories</a:t>
            </a:r>
          </a:p>
          <a:p>
            <a:pPr marL="514350" indent="-514350">
              <a:buFont typeface="+mj-lt"/>
              <a:buAutoNum type="arabicPeriod"/>
            </a:pPr>
            <a:r>
              <a:rPr lang="en-US" dirty="0"/>
              <a:t>Stable</a:t>
            </a:r>
          </a:p>
          <a:p>
            <a:pPr lvl="1"/>
            <a:r>
              <a:rPr lang="en-US" dirty="0"/>
              <a:t>The figure will be clearly identifiable from the background</a:t>
            </a:r>
          </a:p>
          <a:p>
            <a:pPr marL="514350" indent="-514350">
              <a:buFont typeface="+mj-lt"/>
              <a:buAutoNum type="arabicPeriod"/>
            </a:pPr>
            <a:r>
              <a:rPr lang="en-US" dirty="0"/>
              <a:t>Reversible</a:t>
            </a:r>
          </a:p>
          <a:p>
            <a:pPr lvl="1"/>
            <a:r>
              <a:rPr lang="en-US" dirty="0"/>
              <a:t>The figure and background have near-equal density. This enables the eye to flip the figure with the background. This can be used to create visual illusions.</a:t>
            </a:r>
          </a:p>
          <a:p>
            <a:pPr marL="514350" indent="-514350">
              <a:buFont typeface="+mj-lt"/>
              <a:buAutoNum type="arabicPeriod"/>
            </a:pPr>
            <a:r>
              <a:rPr lang="en-US" dirty="0"/>
              <a:t>Ambiguous </a:t>
            </a:r>
          </a:p>
          <a:p>
            <a:pPr lvl="1"/>
            <a:r>
              <a:rPr lang="en-US" dirty="0"/>
              <a:t>There is a little distinction between the ground and the figure. At any point, a single element might be both figure and ground at the same time.</a:t>
            </a:r>
          </a:p>
          <a:p>
            <a:pPr lvl="1"/>
            <a:endParaRPr lang="en-US" dirty="0"/>
          </a:p>
        </p:txBody>
      </p:sp>
    </p:spTree>
    <p:extLst>
      <p:ext uri="{BB962C8B-B14F-4D97-AF65-F5344CB8AC3E}">
        <p14:creationId xmlns:p14="http://schemas.microsoft.com/office/powerpoint/2010/main" val="8017045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Stable</a:t>
            </a:r>
          </a:p>
        </p:txBody>
      </p:sp>
      <p:pic>
        <p:nvPicPr>
          <p:cNvPr id="1026" name="Picture 2" descr="Image result for picture"/>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90600" y="1752600"/>
            <a:ext cx="7347857"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58908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reversible</a:t>
            </a:r>
          </a:p>
        </p:txBody>
      </p:sp>
      <p:pic>
        <p:nvPicPr>
          <p:cNvPr id="4" name="Content Placeholder 3"/>
          <p:cNvPicPr>
            <a:picLocks noGrp="1" noChangeAspect="1"/>
          </p:cNvPicPr>
          <p:nvPr>
            <p:ph sz="quarter" idx="1"/>
          </p:nvPr>
        </p:nvPicPr>
        <p:blipFill>
          <a:blip r:embed="rId2"/>
          <a:stretch>
            <a:fillRect/>
          </a:stretch>
        </p:blipFill>
        <p:spPr>
          <a:xfrm>
            <a:off x="1414083" y="1600200"/>
            <a:ext cx="6550783" cy="4495800"/>
          </a:xfrm>
          <a:prstGeom prst="rect">
            <a:avLst/>
          </a:prstGeom>
        </p:spPr>
      </p:pic>
    </p:spTree>
    <p:extLst>
      <p:ext uri="{BB962C8B-B14F-4D97-AF65-F5344CB8AC3E}">
        <p14:creationId xmlns:p14="http://schemas.microsoft.com/office/powerpoint/2010/main" val="16290850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Figure-Ground - reversible </a:t>
            </a:r>
          </a:p>
        </p:txBody>
      </p:sp>
      <p:pic>
        <p:nvPicPr>
          <p:cNvPr id="4" name="Picture 9" descr="\\Bfw_1\shares\New_Media\Public\Worth Sites in progress\Myers Psychology 7E\Image and Lecture Gallery\figure-06-04.jpg"/>
          <p:cNvPicPr>
            <a:picLocks noChangeAspect="1" noChangeArrowheads="1"/>
          </p:cNvPicPr>
          <p:nvPr/>
        </p:nvPicPr>
        <p:blipFill>
          <a:blip r:embed="rId2" cstate="print"/>
          <a:srcRect/>
          <a:stretch>
            <a:fillRect/>
          </a:stretch>
        </p:blipFill>
        <p:spPr bwMode="auto">
          <a:xfrm>
            <a:off x="2723004" y="1981200"/>
            <a:ext cx="3932688" cy="3124200"/>
          </a:xfrm>
          <a:prstGeom prst="rect">
            <a:avLst/>
          </a:prstGeom>
          <a:noFill/>
        </p:spPr>
      </p:pic>
      <p:sp>
        <p:nvSpPr>
          <p:cNvPr id="3" name="AutoShape 2" descr="data:image/png;base64,iVBORw0KGgoAAAANSUhEUgAAAQMAAADCCAMAAAB6zFdcAAAAhFBMVEX///8AAACoqKiPj4/q6urMzMx9fX38/PyMjIy7u7vY2Njk5OT29vaioqLd3d35+fnDw8NERESVlZWwsLDw8PBkZGQtLS1ISEicnJx0dHRqamqGhobR0dGAgIBNTU0zMzMjIyMXFxdbW1s3NzcoKCgcHBxvb28QEBBmZmZdXV0TExNFRUV0kKtfAAAMu0lEQVR4nO2d2ZaiMBCGFUF2RMBuF9zQdul5//cbQJZAIAtJAPv4XcwZsQ3kB5JKVSWZTD58+PDhwzthujtN03au48iV44bjDHRFeJy1XSKxl3eZ5nzbZa0X6/iAprAXz5fQ973vw+E4BTl4Mv6XSC5AacfID19HrfTzectaOk/U5+1r2shyz1ayUS3u9EhvfpCrovK4enZCw9k21//FzQiYypcftQLT4vIPw7cKlrxBVT9DonxkzZjqkWulvFV8xC0k5laZbvg3AgViLuRFBrYkJT/xpZjiqGxHYHnb+Mgy/7AZ8FGQdY1Mgen0d0taqAK2gdNV5OnG64vA0ADBn+4k2BUiiKohnuWUAp2wUB365XGTqTBZhPfysD8JTvn/iRXmiwtdK5qLiS8zQZ41/Pg+yyXUveKgO5kUzyFj39MJFb5dOHTSXkyNmh6wk519vZByYexJWDwJ/TeMFmFTWMEnL9+L7mfo9/YkUzEXIe4Wg6Kl5GCRUmF2UGA63dGZM5sd9DgsMzvDXGUHTMCMZLNBaJGRFlE7tFdp6o/trdJNRJqRNiuW+7JKVubEzQ2oXpsEs8UoxmJ1OZvj7yqFfGVtq59+ekzKhtHjWEcMakcF4rvY8YSBdQBkv369TKLXJxcYUHCsJBr5u7MGR4bTmqBJ/kxveXrkK3648t50HR8Md3yqiYS+UyxoM5gVJTzHX98xZwYNh7SmSmIxxQ9C3lFs0odUfLvAIMH07kLFWY6vvd7nnwhrSepSYQ5M91rcwu7j//yaxUVdjLRx2IkePuwZNJhq9dLKIdeByCXkAIUd5axNiI8fXodiFZXsiDhM74dFg1mlsOB2yL94OoR9humV7cLX7tU5hMXLoGcmvNAewmdRoK5B2fOvKXpNFXCobNMuIRk1VjU4h3yrXaFpPNNRg3LMRTvyhUZrej6EXQcTI322PHFGY8gmAahBoeaJ3nJST9ViJevVDCRDiqzJEDd6uE/ZKDRQzWyss7UJh9QV5KrpGNfYzf+TWUyPTjYpAc4vLw30+gFalDNY7katazAV5XOvqc+uAYNNV/WxBkpdA0GeJf8fXw0OTM9rxVjbhXUNBNkIXfwmCA0OjJdzBgr+hd6FqZDYC8NgqUkDG3UuEoyGEwAaCPE1s4wU6hr4PKJDDcYKoMGc/QQQiwN8ys4ayAbqVIT4F+gEUjmkEKFBAJ2QQQNy3JnnzVoemnWDBoWfQchzMIwG8+R3p8ulsYmDWiipNKQFaMChReykQRFQ+4KdDxPo9ZRyo1mIBt3c6ewagCMk2PaDNSjeDwEa0IbWuGkAVjSqvRGQe1cq/1iABjwk6KgB4E1dVb+BNPDLDvxvaaAa5Xv/rH5V9+kAveVYNeg6RgKsoepYCPGGCtCA1XWQQJGMUmNeFlJpGHvVgMmdnNM9xrIow69PsF3sVYN5+8n60AB8F8EQPkIDyI/PzOAaAK5MwFfYrgEuaNWBwTUAaus3Hq3DXGWIwTWYAClwZbOotJ+MucoQw2uwLiNcxcAblQbAXuc6XTQ4nWsHlkyXYMP1Q2jww1xliA4aaFBIZsF0CaW3oKxf+9kF+NapNTjY8NvKFgDTSzMtj9I3uRQzuoRuMNBqkPjNjbojmjEIWI4acpsbkSg7uAZnPzHmoCA1Y/yr9OIcMn9Ku4tzJSDWRqfBy/8HOaIZYz+AJ+vRfIISETFXCg0uWSq91fitqyhdbxGgQRqiQoX+RGhAMlHjRRHbIMhi9Kje2opHU3HaCk24kGbJ00CceZDnTrv2Cf/HaR4NMRRTBRr8rxwgO/cyzEa2pJM77hSuJQlfXA5Fejh3DbLez4rwf5pBExYkLvQpJgNDxp85u6WbPU0+M4UG5FGehxAJgBlULRyTQPJCpnU4CdFAjAT4K9gm89DIu48cmvknxKUL0+BJXT8CDjSdGGGc57dzlhMWDvkHMFSXG5D1DGdRCsQtAocEBAg6zyeZlSKmY3zRcQYPEsrMYqLMOJETmyz6Fg/LaTZZULhWFgS2InOiE5KGFmFXn5LeBcUl9voQ9I8iX4VJrXO6b7Z+GJJbhCiWpIad6uJapYPgOX5ATtJBT8YlrEncBeTuP4Q7PeWJL4KNl293b8tBcuPmF9YE5ow5zfAR3Spt2By3BFhJD51FM5/8+kqqpV0CZOfQw0xPJx0PzRTFQ10IJZQOD/eMKEtMtatQDOIJIV8eIgfxAPazTA6cGMkIffSpXYOtqKkbVSzi9T8G0KC3BQB4NgXTZJ2nR8KTvG9o1UDgVK4aAY+U1QaIM7baNIj6XAKBeVJPI8QpW20a9Dj5PzYP4az5HjUwrs2//xJaZxg+w4RudWjpmQRkHKCxuHeRxNai2RL3ExNXQRFwSeKuQNi3t/TNQ6yQRLdKFj8N2tya/T8GCciopyANgrbWeKgl0xyisCpPDVqjXSLizIRw9bdjNbDaB2x9VLYNxkUh6DRoj/KI9aPiCPk5m9EaKFL7UKlXA7EJ9mnQJBoYiAkUdj8jZhTWho9XDTFLG2mMfPGYNMsBHu3CqSU7ycAUPuBKolV031syW01wD6fKLtZdIXIRHGoW3jrDThuJJbXzce+DUSLD9/Gj9J9h+wQElhEjT5z4X5NuWantKudBlNPT94i5O3yd8e+pQcyaU1DqnTWYqOapxQPEpIHw4BpnZBFvxNCVosYIN3vOnoe+VxXmgslzpBW/DcPvPtCFxWIRSL7v84lebkdiLHdEzgj8+ymmY5s5WjOpE0q3dTrHtCsLM1bH6M3Q180Rt2socxivsggYVlkYJLyAx13SbSG1ZXLFjO9JCLf5oO+w2RI4vnc35gjm8A61GnWn+9WMR9GNtoxsOHZjnWgRmK7ejebAg732TBnA9dY2twy/83roStdwPD43l4pROdVSnPjh13Y7jWmEdNF0iqHm6LbxyzGVzplsupI0IeR/P76+AeQRURuAP9nsdpqFG8c+jLa8I3mc+np18pALwczKgrE1iw04GmEKDzgZnOoBErD0A3+MUJ+jgwZfcwVs4OUj8q/fUYMUxXXb4ui+W3WIuHTdyvtoEKMuVNOPKfuMue8rat1JTBvZfysNctTCaGzwkctlW3D2A1lGT994Ww1QlOvY7rO5oAouTvPHNCjsw2vZ6we4BvIvaRDo2WO/jCSgkcTuB/N3NFhLuU+tuiEwfn2Nv6JBIUC6DRVAiDcV3keD+XT6fbs9aj6V+e12A/pCA6oPganwNhrgx5HbJzwMtggCMILnOrdCP4EG2bId/ml+Q1XCNYnDcZhxo+nTr0nVOkt6aa+ba6GTRWlvgwQeF4n7eEsb+DX1qnfpoWnaTneM5pBZoJNukTZM5vZrTkmHNcRNBQDpFveIve69zmsrebVTGyEbASWYNIOmYTwouUuEeA9vKqwDje/gR9iNQFP0cvzfRJe4FcgQtyoSmkIDnqubm26XZMbBZrKU1g63B3EOBSQixcXPl7kMloZRakC6+5o1u//8/EZJUrMHXLbkrdfJNz/1PJS9nzT2zeuSAgwYYgKsXkITDfSUH/8tM1pSL74t+fV84WIMV4F1xAFo8EWWGEUeLTCN0mzAzJXhv9cCBeDohzQT5LHBRAwOm03N8gzQwZnvQWNsoAZL4itx9HUUQTH3yzOKIk/X9XrrtlDQg2ahOxnjqY6C6X5rSxXaN7fFTRqjWYZSAFUNhEws8rGpagMn4VQ1+OW/F86KwHHC/aR01DxCv1xvieqQbArFtLkHD6CEG16Dp0B2pmTbYg0/jwUa2PFpoBDzesenAZxi/XBRDi1n9Xw+I9/VW4Y4ju5K0YpmCd/hNWiahHuct87BdkrNNvOUwgVo3pKP9AlcAjajoqR9p9vHbLaDuvyA/9q8w/jPKiBnopyOV82qXiT3NbZGoAG08QwMGDSdqLNNc4N/n17XXgLl9jcj0IBs4bDawM6b7yu/eu7nQBtJtfTSgAuhABB5fufQ8FZxSyr3ErvCf4Whoms1yDKTI48sEkPlTR+NBqRukTuJyy+g2zR1hS+xJ0jf4Cc2CkK72JCgHTc6YJyJL9ptd3iEuOWjYbpuFCwCg2JVSU9zTccBR5gLxzG0WZfp4OOa3Ek7a3cj2TkddjDJGbrWVVQRq0riGNucDRGrSmIY45zG26pXCcY62332LWjh4Trf30NXFYVn9yDDeGyjFmTHcSQtZSbg9Yg0yRndpFYUQZF0FLLv6/MdJgW99WIHKm1qSbJzq94QfXtvKIzB34u+sN5t8SMi1qQq7MY9YZMNkyB8tn/P5X7IcVy0D/LfZmw2sBB8ROr6ZRRe0h5QreX1DNf/69cJ3qrrZ0V1zHKVyI0ZG1Z/qw/88OHDhw8fPnz48OHDhw9/gv8MGbKQ5cX6Aw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7" y="228600"/>
            <a:ext cx="8528177" cy="990600"/>
          </a:xfrm>
        </p:spPr>
        <p:txBody>
          <a:bodyPr>
            <a:normAutofit fontScale="90000"/>
          </a:bodyPr>
          <a:lstStyle/>
          <a:p>
            <a:r>
              <a:rPr lang="en-US" dirty="0"/>
              <a:t>Principle of Figure-Ground - ambiguous</a:t>
            </a:r>
          </a:p>
        </p:txBody>
      </p:sp>
      <p:pic>
        <p:nvPicPr>
          <p:cNvPr id="2050" name="Picture 2" descr="Image result for M.C. Esch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9140825" cy="457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1633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sz="quarter" idx="1"/>
          </p:nvPr>
        </p:nvPicPr>
        <p:blipFill>
          <a:blip r:embed="rId2"/>
          <a:stretch>
            <a:fillRect/>
          </a:stretch>
        </p:blipFill>
        <p:spPr>
          <a:xfrm>
            <a:off x="865187" y="1666875"/>
            <a:ext cx="7648575" cy="4362450"/>
          </a:xfrm>
          <a:prstGeom prst="rect">
            <a:avLst/>
          </a:prstGeom>
        </p:spPr>
      </p:pic>
    </p:spTree>
    <p:extLst>
      <p:ext uri="{BB962C8B-B14F-4D97-AF65-F5344CB8AC3E}">
        <p14:creationId xmlns:p14="http://schemas.microsoft.com/office/powerpoint/2010/main" val="19491873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Using Principle of Figure-Ground  </a:t>
            </a:r>
          </a:p>
        </p:txBody>
      </p:sp>
      <p:pic>
        <p:nvPicPr>
          <p:cNvPr id="23" name="Picture 2"/>
          <p:cNvPicPr>
            <a:picLocks noChangeAspect="1" noChangeArrowheads="1"/>
          </p:cNvPicPr>
          <p:nvPr/>
        </p:nvPicPr>
        <p:blipFill>
          <a:blip r:embed="rId2" cstate="print"/>
          <a:srcRect/>
          <a:stretch>
            <a:fillRect/>
          </a:stretch>
        </p:blipFill>
        <p:spPr bwMode="auto">
          <a:xfrm>
            <a:off x="5334000" y="2133600"/>
            <a:ext cx="3581400" cy="1027019"/>
          </a:xfrm>
          <a:prstGeom prst="rect">
            <a:avLst/>
          </a:prstGeom>
          <a:noFill/>
          <a:ln w="9525">
            <a:noFill/>
            <a:miter lim="800000"/>
            <a:headEnd/>
            <a:tailEnd/>
          </a:ln>
          <a:effectLst/>
        </p:spPr>
      </p:pic>
      <p:pic>
        <p:nvPicPr>
          <p:cNvPr id="26" name="Picture 2" descr="examples of effective and ineffective navigation structure"/>
          <p:cNvPicPr>
            <a:picLocks noChangeAspect="1" noChangeArrowheads="1"/>
          </p:cNvPicPr>
          <p:nvPr/>
        </p:nvPicPr>
        <p:blipFill>
          <a:blip r:embed="rId3" cstate="print"/>
          <a:srcRect/>
          <a:stretch>
            <a:fillRect/>
          </a:stretch>
        </p:blipFill>
        <p:spPr bwMode="auto">
          <a:xfrm>
            <a:off x="228600" y="2032537"/>
            <a:ext cx="4648200" cy="1918306"/>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Using Principle of Figure-Ground </a:t>
            </a:r>
          </a:p>
        </p:txBody>
      </p:sp>
      <p:pic>
        <p:nvPicPr>
          <p:cNvPr id="262146" name="Picture 2" descr="the complex made simple for determining what is content and what is background"/>
          <p:cNvPicPr>
            <a:picLocks noChangeAspect="1" noChangeArrowheads="1"/>
          </p:cNvPicPr>
          <p:nvPr/>
        </p:nvPicPr>
        <p:blipFill>
          <a:blip r:embed="rId2" cstate="print"/>
          <a:srcRect/>
          <a:stretch>
            <a:fillRect/>
          </a:stretch>
        </p:blipFill>
        <p:spPr bwMode="auto">
          <a:xfrm>
            <a:off x="516178" y="1752600"/>
            <a:ext cx="8323022" cy="4267200"/>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a:bodyPr>
          <a:lstStyle/>
          <a:p>
            <a:pPr fontAlgn="base"/>
            <a:r>
              <a:rPr lang="en-US" dirty="0"/>
              <a:t>Visual elements moving together in the same direction simultaneously tend to be perceived as a group.</a:t>
            </a:r>
          </a:p>
          <a:p>
            <a:pPr fontAlgn="base"/>
            <a:endParaRPr lang="en-US" dirty="0"/>
          </a:p>
          <a:p>
            <a:endParaRPr lang="en-US" dirty="0"/>
          </a:p>
        </p:txBody>
      </p:sp>
      <p:sp>
        <p:nvSpPr>
          <p:cNvPr id="2" name="Title 1"/>
          <p:cNvSpPr>
            <a:spLocks noGrp="1"/>
          </p:cNvSpPr>
          <p:nvPr>
            <p:ph type="title"/>
          </p:nvPr>
        </p:nvSpPr>
        <p:spPr/>
        <p:txBody>
          <a:bodyPr/>
          <a:lstStyle/>
          <a:p>
            <a:r>
              <a:rPr lang="en-US" dirty="0"/>
              <a:t>Principle of Common Fate </a:t>
            </a:r>
          </a:p>
        </p:txBody>
      </p:sp>
    </p:spTree>
    <p:extLst>
      <p:ext uri="{BB962C8B-B14F-4D97-AF65-F5344CB8AC3E}">
        <p14:creationId xmlns:p14="http://schemas.microsoft.com/office/powerpoint/2010/main" val="33412179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Common Fate </a:t>
            </a:r>
          </a:p>
        </p:txBody>
      </p:sp>
      <p:sp>
        <p:nvSpPr>
          <p:cNvPr id="3" name="Content Placeholder 2"/>
          <p:cNvSpPr>
            <a:spLocks noGrp="1"/>
          </p:cNvSpPr>
          <p:nvPr>
            <p:ph sz="quarter" idx="1"/>
          </p:nvPr>
        </p:nvSpPr>
        <p:spPr/>
        <p:txBody>
          <a:bodyPr/>
          <a:lstStyle/>
          <a:p>
            <a:r>
              <a:rPr lang="en-US" dirty="0"/>
              <a:t>This principal deals with motion and animated objects</a:t>
            </a:r>
          </a:p>
          <a:p>
            <a:r>
              <a:rPr lang="en-US" dirty="0"/>
              <a:t>All things being equal, if a group of objects moves in a similar way, they are perceived to be a related group</a:t>
            </a:r>
          </a:p>
          <a:p>
            <a:r>
              <a:rPr lang="en-US" dirty="0"/>
              <a:t>Common motion = common fate</a:t>
            </a:r>
          </a:p>
        </p:txBody>
      </p:sp>
    </p:spTree>
    <p:extLst>
      <p:ext uri="{BB962C8B-B14F-4D97-AF65-F5344CB8AC3E}">
        <p14:creationId xmlns:p14="http://schemas.microsoft.com/office/powerpoint/2010/main" val="8813729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Common Fate </a:t>
            </a:r>
          </a:p>
        </p:txBody>
      </p:sp>
      <p:pic>
        <p:nvPicPr>
          <p:cNvPr id="308226" name="Picture 2" descr="File:Red-billed quelea flocking at waterhole.jpg"/>
          <p:cNvPicPr>
            <a:picLocks noChangeAspect="1" noChangeArrowheads="1"/>
          </p:cNvPicPr>
          <p:nvPr/>
        </p:nvPicPr>
        <p:blipFill>
          <a:blip r:embed="rId2" cstate="print"/>
          <a:srcRect/>
          <a:stretch>
            <a:fillRect/>
          </a:stretch>
        </p:blipFill>
        <p:spPr bwMode="auto">
          <a:xfrm>
            <a:off x="1219200" y="1561407"/>
            <a:ext cx="7112000" cy="5334000"/>
          </a:xfrm>
          <a:prstGeom prst="rect">
            <a:avLst/>
          </a:prstGeom>
          <a:noFill/>
        </p:spPr>
      </p:pic>
    </p:spTree>
    <p:extLst>
      <p:ext uri="{BB962C8B-B14F-4D97-AF65-F5344CB8AC3E}">
        <p14:creationId xmlns:p14="http://schemas.microsoft.com/office/powerpoint/2010/main" val="32482686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Common Fate </a:t>
            </a:r>
          </a:p>
        </p:txBody>
      </p:sp>
      <p:sp>
        <p:nvSpPr>
          <p:cNvPr id="312322" name="AutoShape 2" descr="slide-out men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Picture 5" descr="common-fate"/>
          <p:cNvPicPr>
            <a:picLocks noChangeAspect="1" noChangeArrowheads="1"/>
          </p:cNvPicPr>
          <p:nvPr/>
        </p:nvPicPr>
        <p:blipFill>
          <a:blip r:embed="rId2" cstate="print"/>
          <a:srcRect l="3922" t="7843" r="21568" b="5882"/>
          <a:stretch>
            <a:fillRect/>
          </a:stretch>
        </p:blipFill>
        <p:spPr bwMode="auto">
          <a:xfrm>
            <a:off x="5257800" y="1524000"/>
            <a:ext cx="3657600" cy="2117725"/>
          </a:xfrm>
          <a:prstGeom prst="rect">
            <a:avLst/>
          </a:prstGeom>
          <a:noFill/>
        </p:spPr>
      </p:pic>
      <p:pic>
        <p:nvPicPr>
          <p:cNvPr id="6" name="Picture 4" descr="slide-out menu"/>
          <p:cNvPicPr>
            <a:picLocks noChangeAspect="1" noChangeArrowheads="1"/>
          </p:cNvPicPr>
          <p:nvPr/>
        </p:nvPicPr>
        <p:blipFill>
          <a:blip r:embed="rId3" cstate="print"/>
          <a:srcRect/>
          <a:stretch>
            <a:fillRect/>
          </a:stretch>
        </p:blipFill>
        <p:spPr bwMode="auto">
          <a:xfrm>
            <a:off x="247650" y="3705224"/>
            <a:ext cx="6000750" cy="3000376"/>
          </a:xfrm>
          <a:prstGeom prst="rect">
            <a:avLst/>
          </a:prstGeom>
          <a:noFill/>
        </p:spPr>
      </p:pic>
      <p:sp>
        <p:nvSpPr>
          <p:cNvPr id="3" name="Rectangle 2"/>
          <p:cNvSpPr/>
          <p:nvPr/>
        </p:nvSpPr>
        <p:spPr>
          <a:xfrm>
            <a:off x="612648" y="1815880"/>
            <a:ext cx="4572000" cy="646331"/>
          </a:xfrm>
          <a:prstGeom prst="rect">
            <a:avLst/>
          </a:prstGeom>
        </p:spPr>
        <p:txBody>
          <a:bodyPr>
            <a:spAutoFit/>
          </a:bodyPr>
          <a:lstStyle/>
          <a:p>
            <a:r>
              <a:rPr lang="en-US" dirty="0">
                <a:solidFill>
                  <a:srgbClr val="404040"/>
                </a:solidFill>
                <a:latin typeface="Roboto" panose="02000000000000000000" pitchFamily="2" charset="0"/>
              </a:rPr>
              <a:t>when objects point in the same direction, we see them as a related group.</a:t>
            </a:r>
            <a:endParaRPr lang="en-US" dirty="0"/>
          </a:p>
        </p:txBody>
      </p:sp>
    </p:spTree>
    <p:extLst>
      <p:ext uri="{BB962C8B-B14F-4D97-AF65-F5344CB8AC3E}">
        <p14:creationId xmlns:p14="http://schemas.microsoft.com/office/powerpoint/2010/main" val="2774410124"/>
      </p:ext>
    </p:extLst>
  </p:cSld>
  <p:clrMapOvr>
    <a:masterClrMapping/>
  </p:clrMapOvr>
  <mc:AlternateContent xmlns:mc="http://schemas.openxmlformats.org/markup-compatibility/2006">
    <mc:Choice xmlns:p14="http://schemas.microsoft.com/office/powerpoint/2010/main" Requires="p14">
      <p:transition spd="slow" p14:dur="2000" advTm="1213"/>
    </mc:Choice>
    <mc:Fallback>
      <p:transition spd="slow" advTm="1213"/>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fontAlgn="base"/>
            <a:endParaRPr lang="en-US" dirty="0"/>
          </a:p>
          <a:p>
            <a:pPr fontAlgn="base"/>
            <a:r>
              <a:rPr lang="en-US" dirty="0"/>
              <a:t>For example, in Microsoft Windows or Mac OS, if you select a number of icons and then drag-and-drop them, partially-transparent copies of all of the selected icons move together </a:t>
            </a:r>
          </a:p>
          <a:p>
            <a:endParaRPr lang="en-US" dirty="0"/>
          </a:p>
        </p:txBody>
      </p:sp>
    </p:spTree>
    <p:extLst>
      <p:ext uri="{BB962C8B-B14F-4D97-AF65-F5344CB8AC3E}">
        <p14:creationId xmlns:p14="http://schemas.microsoft.com/office/powerpoint/2010/main" val="20221147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3"/>
          <a:stretch>
            <a:fillRect/>
          </a:stretch>
        </p:blipFill>
        <p:spPr>
          <a:xfrm>
            <a:off x="889000" y="2176462"/>
            <a:ext cx="7600950" cy="3343275"/>
          </a:xfrm>
          <a:prstGeom prst="rect">
            <a:avLst/>
          </a:prstGeom>
        </p:spPr>
      </p:pic>
    </p:spTree>
    <p:extLst>
      <p:ext uri="{BB962C8B-B14F-4D97-AF65-F5344CB8AC3E}">
        <p14:creationId xmlns:p14="http://schemas.microsoft.com/office/powerpoint/2010/main" val="156410366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743200"/>
            <a:ext cx="7808913" cy="1673225"/>
          </a:xfrm>
        </p:spPr>
        <p:txBody>
          <a:bodyPr>
            <a:normAutofit fontScale="85000" lnSpcReduction="10000"/>
          </a:bodyPr>
          <a:lstStyle/>
          <a:p>
            <a:r>
              <a:rPr lang="en-US" dirty="0"/>
              <a:t>The law of connectedness states that elements that are connected to each other using colors, lines, frames, or other shapes are perceived as a single unit when compared with other elements that are not linked in the same manner.</a:t>
            </a:r>
          </a:p>
        </p:txBody>
      </p:sp>
      <p:sp>
        <p:nvSpPr>
          <p:cNvPr id="2" name="Title 1"/>
          <p:cNvSpPr>
            <a:spLocks noGrp="1"/>
          </p:cNvSpPr>
          <p:nvPr>
            <p:ph type="title"/>
          </p:nvPr>
        </p:nvSpPr>
        <p:spPr/>
        <p:txBody>
          <a:bodyPr/>
          <a:lstStyle/>
          <a:p>
            <a:r>
              <a:rPr lang="en-US" dirty="0"/>
              <a:t>Principle of Connectedness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Connectedness </a:t>
            </a:r>
          </a:p>
        </p:txBody>
      </p:sp>
      <p:pic>
        <p:nvPicPr>
          <p:cNvPr id="269314" name="Picture 2" descr="uniform connectedness"/>
          <p:cNvPicPr>
            <a:picLocks noChangeAspect="1" noChangeArrowheads="1"/>
          </p:cNvPicPr>
          <p:nvPr/>
        </p:nvPicPr>
        <p:blipFill rotWithShape="1">
          <a:blip r:embed="rId2" cstate="print"/>
          <a:srcRect l="12000" t="3999" r="12000" b="10001"/>
          <a:stretch/>
        </p:blipFill>
        <p:spPr bwMode="auto">
          <a:xfrm>
            <a:off x="2010217" y="1476374"/>
            <a:ext cx="7133784" cy="5381626"/>
          </a:xfrm>
          <a:prstGeom prst="rect">
            <a:avLst/>
          </a:prstGeom>
          <a:noFill/>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rotWithShape="1">
          <a:blip r:embed="rId2"/>
          <a:srcRect t="18385"/>
          <a:stretch/>
        </p:blipFill>
        <p:spPr>
          <a:xfrm>
            <a:off x="1308100" y="2971800"/>
            <a:ext cx="6762750" cy="2262187"/>
          </a:xfrm>
          <a:prstGeom prst="rect">
            <a:avLst/>
          </a:prstGeom>
        </p:spPr>
      </p:pic>
    </p:spTree>
    <p:extLst>
      <p:ext uri="{BB962C8B-B14F-4D97-AF65-F5344CB8AC3E}">
        <p14:creationId xmlns:p14="http://schemas.microsoft.com/office/powerpoint/2010/main" val="338178305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Connectedness </a:t>
            </a:r>
          </a:p>
        </p:txBody>
      </p:sp>
      <p:pic>
        <p:nvPicPr>
          <p:cNvPr id="268290" name="Picture 2" descr="tabs"/>
          <p:cNvPicPr>
            <a:picLocks noChangeAspect="1" noChangeArrowheads="1"/>
          </p:cNvPicPr>
          <p:nvPr/>
        </p:nvPicPr>
        <p:blipFill>
          <a:blip r:embed="rId2" cstate="print"/>
          <a:srcRect/>
          <a:stretch>
            <a:fillRect/>
          </a:stretch>
        </p:blipFill>
        <p:spPr bwMode="auto">
          <a:xfrm>
            <a:off x="76200" y="2145790"/>
            <a:ext cx="8991600" cy="3416810"/>
          </a:xfrm>
          <a:prstGeom prst="rect">
            <a:avLst/>
          </a:prstGeom>
          <a:noFill/>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rotWithShape="1">
          <a:blip r:embed="rId2"/>
          <a:srcRect t="12122"/>
          <a:stretch/>
        </p:blipFill>
        <p:spPr>
          <a:xfrm>
            <a:off x="0" y="1600200"/>
            <a:ext cx="9329245" cy="4114800"/>
          </a:xfrm>
          <a:prstGeom prst="rect">
            <a:avLst/>
          </a:prstGeom>
        </p:spPr>
      </p:pic>
    </p:spTree>
    <p:extLst>
      <p:ext uri="{BB962C8B-B14F-4D97-AF65-F5344CB8AC3E}">
        <p14:creationId xmlns:p14="http://schemas.microsoft.com/office/powerpoint/2010/main" val="2744126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457200" y="533400"/>
            <a:ext cx="7997754" cy="5867400"/>
          </a:xfrm>
          <a:prstGeom prst="rect">
            <a:avLst/>
          </a:prstGeom>
        </p:spPr>
      </p:pic>
    </p:spTree>
    <p:extLst>
      <p:ext uri="{BB962C8B-B14F-4D97-AF65-F5344CB8AC3E}">
        <p14:creationId xmlns:p14="http://schemas.microsoft.com/office/powerpoint/2010/main" val="41878829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838200" y="533400"/>
            <a:ext cx="7696200" cy="5913798"/>
          </a:xfrm>
          <a:prstGeom prst="rect">
            <a:avLst/>
          </a:prstGeom>
        </p:spPr>
      </p:pic>
    </p:spTree>
    <p:extLst>
      <p:ext uri="{BB962C8B-B14F-4D97-AF65-F5344CB8AC3E}">
        <p14:creationId xmlns:p14="http://schemas.microsoft.com/office/powerpoint/2010/main" val="4820449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3886200"/>
          </a:xfrm>
        </p:spPr>
        <p:txBody>
          <a:bodyPr>
            <a:normAutofit/>
          </a:bodyPr>
          <a:lstStyle/>
          <a:p>
            <a:r>
              <a:rPr lang="en-US" dirty="0" err="1"/>
              <a:t>Prägnanz</a:t>
            </a:r>
            <a:r>
              <a:rPr lang="en-US" dirty="0"/>
              <a:t> is a German word that means “good figure”</a:t>
            </a:r>
          </a:p>
          <a:p>
            <a:endParaRPr lang="en-US" dirty="0"/>
          </a:p>
          <a:p>
            <a:r>
              <a:rPr lang="en-US" dirty="0"/>
              <a:t>The human eye likes to find simplicity and order in complex shapes</a:t>
            </a:r>
          </a:p>
        </p:txBody>
      </p:sp>
      <p:sp>
        <p:nvSpPr>
          <p:cNvPr id="2" name="Title 1"/>
          <p:cNvSpPr>
            <a:spLocks noGrp="1"/>
          </p:cNvSpPr>
          <p:nvPr>
            <p:ph type="title"/>
          </p:nvPr>
        </p:nvSpPr>
        <p:spPr/>
        <p:txBody>
          <a:bodyPr>
            <a:normAutofit fontScale="90000"/>
          </a:bodyPr>
          <a:lstStyle/>
          <a:p>
            <a:r>
              <a:rPr lang="en-US" dirty="0"/>
              <a:t>Principle of Simplicity (or </a:t>
            </a:r>
            <a:r>
              <a:rPr lang="en-US" dirty="0" err="1"/>
              <a:t>Prägnanz</a:t>
            </a:r>
            <a:r>
              <a:rPr lang="en-US" dirty="0"/>
              <a:t>)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Principle of Simplicity </a:t>
            </a:r>
          </a:p>
        </p:txBody>
      </p:sp>
      <p:grpSp>
        <p:nvGrpSpPr>
          <p:cNvPr id="2" name="Group 57"/>
          <p:cNvGrpSpPr>
            <a:grpSpLocks/>
          </p:cNvGrpSpPr>
          <p:nvPr/>
        </p:nvGrpSpPr>
        <p:grpSpPr bwMode="auto">
          <a:xfrm>
            <a:off x="1762125" y="2517775"/>
            <a:ext cx="2559050" cy="1481138"/>
            <a:chOff x="1110" y="1586"/>
            <a:chExt cx="1612" cy="933"/>
          </a:xfrm>
        </p:grpSpPr>
        <p:sp>
          <p:nvSpPr>
            <p:cNvPr id="10" name="AutoShape 55"/>
            <p:cNvSpPr>
              <a:spLocks noChangeArrowheads="1"/>
            </p:cNvSpPr>
            <p:nvPr/>
          </p:nvSpPr>
          <p:spPr bwMode="auto">
            <a:xfrm flipV="1">
              <a:off x="1110" y="1586"/>
              <a:ext cx="792" cy="933"/>
            </a:xfrm>
            <a:prstGeom prst="roundRect">
              <a:avLst>
                <a:gd name="adj" fmla="val 0"/>
              </a:avLst>
            </a:prstGeom>
            <a:noFill/>
            <a:ln w="18485">
              <a:solidFill>
                <a:srgbClr val="000000"/>
              </a:solidFill>
              <a:round/>
              <a:headEnd/>
              <a:tailEnd/>
            </a:ln>
          </p:spPr>
          <p:txBody>
            <a:bodyPr wrap="none" anchor="ctr"/>
            <a:lstStyle/>
            <a:p>
              <a:endParaRPr lang="en-US"/>
            </a:p>
          </p:txBody>
        </p:sp>
        <p:sp>
          <p:nvSpPr>
            <p:cNvPr id="11" name="Oval 56"/>
            <p:cNvSpPr>
              <a:spLocks noChangeArrowheads="1"/>
            </p:cNvSpPr>
            <p:nvPr/>
          </p:nvSpPr>
          <p:spPr bwMode="auto">
            <a:xfrm>
              <a:off x="1597" y="1771"/>
              <a:ext cx="1125" cy="498"/>
            </a:xfrm>
            <a:prstGeom prst="ellipse">
              <a:avLst/>
            </a:prstGeom>
            <a:noFill/>
            <a:ln w="18485">
              <a:solidFill>
                <a:srgbClr val="000000"/>
              </a:solidFill>
              <a:round/>
              <a:headEnd/>
              <a:tailEnd/>
            </a:ln>
          </p:spPr>
          <p:txBody>
            <a:bodyPr wrap="none" anchor="ctr"/>
            <a:lstStyle/>
            <a:p>
              <a:endParaRPr lang="en-US"/>
            </a:p>
          </p:txBody>
        </p:sp>
      </p:grpSp>
      <p:grpSp>
        <p:nvGrpSpPr>
          <p:cNvPr id="3" name="Group 63"/>
          <p:cNvGrpSpPr>
            <a:grpSpLocks/>
          </p:cNvGrpSpPr>
          <p:nvPr/>
        </p:nvGrpSpPr>
        <p:grpSpPr bwMode="auto">
          <a:xfrm>
            <a:off x="5013325" y="2506663"/>
            <a:ext cx="3178175" cy="1476375"/>
            <a:chOff x="3158" y="1579"/>
            <a:chExt cx="2002" cy="930"/>
          </a:xfrm>
        </p:grpSpPr>
        <p:grpSp>
          <p:nvGrpSpPr>
            <p:cNvPr id="4" name="Group 61"/>
            <p:cNvGrpSpPr>
              <a:grpSpLocks/>
            </p:cNvGrpSpPr>
            <p:nvPr/>
          </p:nvGrpSpPr>
          <p:grpSpPr bwMode="auto">
            <a:xfrm>
              <a:off x="3158" y="1579"/>
              <a:ext cx="2002" cy="930"/>
              <a:chOff x="3158" y="1579"/>
              <a:chExt cx="2002" cy="930"/>
            </a:xfrm>
          </p:grpSpPr>
          <p:sp>
            <p:nvSpPr>
              <p:cNvPr id="15" name="Freeform 58"/>
              <p:cNvSpPr>
                <a:spLocks/>
              </p:cNvSpPr>
              <p:nvPr/>
            </p:nvSpPr>
            <p:spPr bwMode="auto">
              <a:xfrm>
                <a:off x="3158" y="1579"/>
                <a:ext cx="792" cy="930"/>
              </a:xfrm>
              <a:custGeom>
                <a:avLst/>
                <a:gdLst>
                  <a:gd name="T0" fmla="*/ 780 w 792"/>
                  <a:gd name="T1" fmla="*/ 224 h 930"/>
                  <a:gd name="T2" fmla="*/ 791 w 792"/>
                  <a:gd name="T3" fmla="*/ 224 h 930"/>
                  <a:gd name="T4" fmla="*/ 788 w 792"/>
                  <a:gd name="T5" fmla="*/ 0 h 930"/>
                  <a:gd name="T6" fmla="*/ 0 w 792"/>
                  <a:gd name="T7" fmla="*/ 7 h 930"/>
                  <a:gd name="T8" fmla="*/ 0 w 792"/>
                  <a:gd name="T9" fmla="*/ 929 h 930"/>
                  <a:gd name="T10" fmla="*/ 780 w 792"/>
                  <a:gd name="T11" fmla="*/ 929 h 930"/>
                  <a:gd name="T12" fmla="*/ 780 w 792"/>
                  <a:gd name="T13" fmla="*/ 657 h 930"/>
                  <a:gd name="T14" fmla="*/ 0 60000 65536"/>
                  <a:gd name="T15" fmla="*/ 0 60000 65536"/>
                  <a:gd name="T16" fmla="*/ 0 60000 65536"/>
                  <a:gd name="T17" fmla="*/ 0 60000 65536"/>
                  <a:gd name="T18" fmla="*/ 0 60000 65536"/>
                  <a:gd name="T19" fmla="*/ 0 60000 65536"/>
                  <a:gd name="T20" fmla="*/ 0 60000 65536"/>
                  <a:gd name="T21" fmla="*/ 0 w 792"/>
                  <a:gd name="T22" fmla="*/ 0 h 930"/>
                  <a:gd name="T23" fmla="*/ 792 w 792"/>
                  <a:gd name="T24" fmla="*/ 930 h 9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2" h="930">
                    <a:moveTo>
                      <a:pt x="780" y="224"/>
                    </a:moveTo>
                    <a:lnTo>
                      <a:pt x="791" y="224"/>
                    </a:lnTo>
                    <a:lnTo>
                      <a:pt x="788" y="0"/>
                    </a:lnTo>
                    <a:lnTo>
                      <a:pt x="0" y="7"/>
                    </a:lnTo>
                    <a:lnTo>
                      <a:pt x="0" y="929"/>
                    </a:lnTo>
                    <a:lnTo>
                      <a:pt x="780" y="929"/>
                    </a:lnTo>
                    <a:lnTo>
                      <a:pt x="780" y="657"/>
                    </a:lnTo>
                  </a:path>
                </a:pathLst>
              </a:custGeom>
              <a:noFill/>
              <a:ln w="18485">
                <a:solidFill>
                  <a:srgbClr val="000080"/>
                </a:solidFill>
                <a:round/>
                <a:headEnd/>
                <a:tailEnd/>
              </a:ln>
            </p:spPr>
            <p:txBody>
              <a:bodyPr/>
              <a:lstStyle/>
              <a:p>
                <a:endParaRPr lang="en-US"/>
              </a:p>
            </p:txBody>
          </p:sp>
          <p:sp>
            <p:nvSpPr>
              <p:cNvPr id="16" name="Freeform 59"/>
              <p:cNvSpPr>
                <a:spLocks/>
              </p:cNvSpPr>
              <p:nvPr/>
            </p:nvSpPr>
            <p:spPr bwMode="auto">
              <a:xfrm>
                <a:off x="3648" y="1808"/>
                <a:ext cx="298" cy="426"/>
              </a:xfrm>
              <a:custGeom>
                <a:avLst/>
                <a:gdLst>
                  <a:gd name="T0" fmla="*/ 297 w 298"/>
                  <a:gd name="T1" fmla="*/ 0 h 426"/>
                  <a:gd name="T2" fmla="*/ 269 w 298"/>
                  <a:gd name="T3" fmla="*/ 10 h 426"/>
                  <a:gd name="T4" fmla="*/ 242 w 298"/>
                  <a:gd name="T5" fmla="*/ 19 h 426"/>
                  <a:gd name="T6" fmla="*/ 215 w 298"/>
                  <a:gd name="T7" fmla="*/ 29 h 426"/>
                  <a:gd name="T8" fmla="*/ 190 w 298"/>
                  <a:gd name="T9" fmla="*/ 38 h 426"/>
                  <a:gd name="T10" fmla="*/ 164 w 298"/>
                  <a:gd name="T11" fmla="*/ 49 h 426"/>
                  <a:gd name="T12" fmla="*/ 139 w 298"/>
                  <a:gd name="T13" fmla="*/ 60 h 426"/>
                  <a:gd name="T14" fmla="*/ 115 w 298"/>
                  <a:gd name="T15" fmla="*/ 72 h 426"/>
                  <a:gd name="T16" fmla="*/ 94 w 298"/>
                  <a:gd name="T17" fmla="*/ 83 h 426"/>
                  <a:gd name="T18" fmla="*/ 73 w 298"/>
                  <a:gd name="T19" fmla="*/ 97 h 426"/>
                  <a:gd name="T20" fmla="*/ 54 w 298"/>
                  <a:gd name="T21" fmla="*/ 110 h 426"/>
                  <a:gd name="T22" fmla="*/ 38 w 298"/>
                  <a:gd name="T23" fmla="*/ 125 h 426"/>
                  <a:gd name="T24" fmla="*/ 25 w 298"/>
                  <a:gd name="T25" fmla="*/ 140 h 426"/>
                  <a:gd name="T26" fmla="*/ 13 w 298"/>
                  <a:gd name="T27" fmla="*/ 157 h 426"/>
                  <a:gd name="T28" fmla="*/ 6 w 298"/>
                  <a:gd name="T29" fmla="*/ 174 h 426"/>
                  <a:gd name="T30" fmla="*/ 0 w 298"/>
                  <a:gd name="T31" fmla="*/ 194 h 426"/>
                  <a:gd name="T32" fmla="*/ 0 w 298"/>
                  <a:gd name="T33" fmla="*/ 213 h 426"/>
                  <a:gd name="T34" fmla="*/ 0 w 298"/>
                  <a:gd name="T35" fmla="*/ 235 h 426"/>
                  <a:gd name="T36" fmla="*/ 6 w 298"/>
                  <a:gd name="T37" fmla="*/ 254 h 426"/>
                  <a:gd name="T38" fmla="*/ 13 w 298"/>
                  <a:gd name="T39" fmla="*/ 273 h 426"/>
                  <a:gd name="T40" fmla="*/ 25 w 298"/>
                  <a:gd name="T41" fmla="*/ 290 h 426"/>
                  <a:gd name="T42" fmla="*/ 38 w 298"/>
                  <a:gd name="T43" fmla="*/ 306 h 426"/>
                  <a:gd name="T44" fmla="*/ 55 w 298"/>
                  <a:gd name="T45" fmla="*/ 321 h 426"/>
                  <a:gd name="T46" fmla="*/ 73 w 298"/>
                  <a:gd name="T47" fmla="*/ 335 h 426"/>
                  <a:gd name="T48" fmla="*/ 94 w 298"/>
                  <a:gd name="T49" fmla="*/ 347 h 426"/>
                  <a:gd name="T50" fmla="*/ 116 w 298"/>
                  <a:gd name="T51" fmla="*/ 359 h 426"/>
                  <a:gd name="T52" fmla="*/ 139 w 298"/>
                  <a:gd name="T53" fmla="*/ 370 h 426"/>
                  <a:gd name="T54" fmla="*/ 164 w 298"/>
                  <a:gd name="T55" fmla="*/ 381 h 426"/>
                  <a:gd name="T56" fmla="*/ 190 w 298"/>
                  <a:gd name="T57" fmla="*/ 390 h 426"/>
                  <a:gd name="T58" fmla="*/ 216 w 298"/>
                  <a:gd name="T59" fmla="*/ 400 h 426"/>
                  <a:gd name="T60" fmla="*/ 243 w 298"/>
                  <a:gd name="T61" fmla="*/ 409 h 426"/>
                  <a:gd name="T62" fmla="*/ 270 w 298"/>
                  <a:gd name="T63" fmla="*/ 418 h 426"/>
                  <a:gd name="T64" fmla="*/ 297 w 298"/>
                  <a:gd name="T65" fmla="*/ 425 h 4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98"/>
                  <a:gd name="T100" fmla="*/ 0 h 426"/>
                  <a:gd name="T101" fmla="*/ 298 w 298"/>
                  <a:gd name="T102" fmla="*/ 426 h 4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98" h="426">
                    <a:moveTo>
                      <a:pt x="297" y="0"/>
                    </a:moveTo>
                    <a:lnTo>
                      <a:pt x="269" y="10"/>
                    </a:lnTo>
                    <a:lnTo>
                      <a:pt x="242" y="19"/>
                    </a:lnTo>
                    <a:lnTo>
                      <a:pt x="215" y="29"/>
                    </a:lnTo>
                    <a:lnTo>
                      <a:pt x="190" y="38"/>
                    </a:lnTo>
                    <a:lnTo>
                      <a:pt x="164" y="49"/>
                    </a:lnTo>
                    <a:lnTo>
                      <a:pt x="139" y="60"/>
                    </a:lnTo>
                    <a:lnTo>
                      <a:pt x="115" y="72"/>
                    </a:lnTo>
                    <a:lnTo>
                      <a:pt x="94" y="83"/>
                    </a:lnTo>
                    <a:lnTo>
                      <a:pt x="73" y="97"/>
                    </a:lnTo>
                    <a:lnTo>
                      <a:pt x="54" y="110"/>
                    </a:lnTo>
                    <a:lnTo>
                      <a:pt x="38" y="125"/>
                    </a:lnTo>
                    <a:lnTo>
                      <a:pt x="25" y="140"/>
                    </a:lnTo>
                    <a:lnTo>
                      <a:pt x="13" y="157"/>
                    </a:lnTo>
                    <a:lnTo>
                      <a:pt x="6" y="174"/>
                    </a:lnTo>
                    <a:lnTo>
                      <a:pt x="0" y="194"/>
                    </a:lnTo>
                    <a:lnTo>
                      <a:pt x="0" y="213"/>
                    </a:lnTo>
                    <a:lnTo>
                      <a:pt x="0" y="235"/>
                    </a:lnTo>
                    <a:lnTo>
                      <a:pt x="6" y="254"/>
                    </a:lnTo>
                    <a:lnTo>
                      <a:pt x="13" y="273"/>
                    </a:lnTo>
                    <a:lnTo>
                      <a:pt x="25" y="290"/>
                    </a:lnTo>
                    <a:lnTo>
                      <a:pt x="38" y="306"/>
                    </a:lnTo>
                    <a:lnTo>
                      <a:pt x="55" y="321"/>
                    </a:lnTo>
                    <a:lnTo>
                      <a:pt x="73" y="335"/>
                    </a:lnTo>
                    <a:lnTo>
                      <a:pt x="94" y="347"/>
                    </a:lnTo>
                    <a:lnTo>
                      <a:pt x="116" y="359"/>
                    </a:lnTo>
                    <a:lnTo>
                      <a:pt x="139" y="370"/>
                    </a:lnTo>
                    <a:lnTo>
                      <a:pt x="164" y="381"/>
                    </a:lnTo>
                    <a:lnTo>
                      <a:pt x="190" y="390"/>
                    </a:lnTo>
                    <a:lnTo>
                      <a:pt x="216" y="400"/>
                    </a:lnTo>
                    <a:lnTo>
                      <a:pt x="243" y="409"/>
                    </a:lnTo>
                    <a:lnTo>
                      <a:pt x="270" y="418"/>
                    </a:lnTo>
                    <a:lnTo>
                      <a:pt x="297" y="425"/>
                    </a:lnTo>
                  </a:path>
                </a:pathLst>
              </a:custGeom>
              <a:noFill/>
              <a:ln w="18485">
                <a:solidFill>
                  <a:srgbClr val="000080"/>
                </a:solidFill>
                <a:round/>
                <a:headEnd/>
                <a:tailEnd/>
              </a:ln>
            </p:spPr>
            <p:txBody>
              <a:bodyPr/>
              <a:lstStyle/>
              <a:p>
                <a:endParaRPr lang="en-US"/>
              </a:p>
            </p:txBody>
          </p:sp>
          <p:sp>
            <p:nvSpPr>
              <p:cNvPr id="17" name="Freeform 60"/>
              <p:cNvSpPr>
                <a:spLocks/>
              </p:cNvSpPr>
              <p:nvPr/>
            </p:nvSpPr>
            <p:spPr bwMode="auto">
              <a:xfrm>
                <a:off x="4337" y="1775"/>
                <a:ext cx="823" cy="495"/>
              </a:xfrm>
              <a:custGeom>
                <a:avLst/>
                <a:gdLst>
                  <a:gd name="T0" fmla="*/ 0 w 823"/>
                  <a:gd name="T1" fmla="*/ 458 h 495"/>
                  <a:gd name="T2" fmla="*/ 71 w 823"/>
                  <a:gd name="T3" fmla="*/ 477 h 495"/>
                  <a:gd name="T4" fmla="*/ 144 w 823"/>
                  <a:gd name="T5" fmla="*/ 487 h 495"/>
                  <a:gd name="T6" fmla="*/ 216 w 823"/>
                  <a:gd name="T7" fmla="*/ 494 h 495"/>
                  <a:gd name="T8" fmla="*/ 288 w 823"/>
                  <a:gd name="T9" fmla="*/ 494 h 495"/>
                  <a:gd name="T10" fmla="*/ 358 w 823"/>
                  <a:gd name="T11" fmla="*/ 490 h 495"/>
                  <a:gd name="T12" fmla="*/ 426 w 823"/>
                  <a:gd name="T13" fmla="*/ 482 h 495"/>
                  <a:gd name="T14" fmla="*/ 491 w 823"/>
                  <a:gd name="T15" fmla="*/ 469 h 495"/>
                  <a:gd name="T16" fmla="*/ 553 w 823"/>
                  <a:gd name="T17" fmla="*/ 453 h 495"/>
                  <a:gd name="T18" fmla="*/ 609 w 823"/>
                  <a:gd name="T19" fmla="*/ 434 h 495"/>
                  <a:gd name="T20" fmla="*/ 661 w 823"/>
                  <a:gd name="T21" fmla="*/ 412 h 495"/>
                  <a:gd name="T22" fmla="*/ 706 w 823"/>
                  <a:gd name="T23" fmla="*/ 388 h 495"/>
                  <a:gd name="T24" fmla="*/ 746 w 823"/>
                  <a:gd name="T25" fmla="*/ 362 h 495"/>
                  <a:gd name="T26" fmla="*/ 777 w 823"/>
                  <a:gd name="T27" fmla="*/ 334 h 495"/>
                  <a:gd name="T28" fmla="*/ 801 w 823"/>
                  <a:gd name="T29" fmla="*/ 305 h 495"/>
                  <a:gd name="T30" fmla="*/ 816 w 823"/>
                  <a:gd name="T31" fmla="*/ 276 h 495"/>
                  <a:gd name="T32" fmla="*/ 822 w 823"/>
                  <a:gd name="T33" fmla="*/ 246 h 495"/>
                  <a:gd name="T34" fmla="*/ 816 w 823"/>
                  <a:gd name="T35" fmla="*/ 213 h 495"/>
                  <a:gd name="T36" fmla="*/ 801 w 823"/>
                  <a:gd name="T37" fmla="*/ 181 h 495"/>
                  <a:gd name="T38" fmla="*/ 776 w 823"/>
                  <a:gd name="T39" fmla="*/ 151 h 495"/>
                  <a:gd name="T40" fmla="*/ 745 w 823"/>
                  <a:gd name="T41" fmla="*/ 123 h 495"/>
                  <a:gd name="T42" fmla="*/ 705 w 823"/>
                  <a:gd name="T43" fmla="*/ 97 h 495"/>
                  <a:gd name="T44" fmla="*/ 658 w 823"/>
                  <a:gd name="T45" fmla="*/ 74 h 495"/>
                  <a:gd name="T46" fmla="*/ 606 w 823"/>
                  <a:gd name="T47" fmla="*/ 54 h 495"/>
                  <a:gd name="T48" fmla="*/ 549 w 823"/>
                  <a:gd name="T49" fmla="*/ 35 h 495"/>
                  <a:gd name="T50" fmla="*/ 487 w 823"/>
                  <a:gd name="T51" fmla="*/ 21 h 495"/>
                  <a:gd name="T52" fmla="*/ 422 w 823"/>
                  <a:gd name="T53" fmla="*/ 10 h 495"/>
                  <a:gd name="T54" fmla="*/ 354 w 823"/>
                  <a:gd name="T55" fmla="*/ 4 h 495"/>
                  <a:gd name="T56" fmla="*/ 284 w 823"/>
                  <a:gd name="T57" fmla="*/ 0 h 495"/>
                  <a:gd name="T58" fmla="*/ 212 w 823"/>
                  <a:gd name="T59" fmla="*/ 2 h 495"/>
                  <a:gd name="T60" fmla="*/ 141 w 823"/>
                  <a:gd name="T61" fmla="*/ 7 h 495"/>
                  <a:gd name="T62" fmla="*/ 69 w 823"/>
                  <a:gd name="T63" fmla="*/ 18 h 495"/>
                  <a:gd name="T64" fmla="*/ 0 w 823"/>
                  <a:gd name="T65" fmla="*/ 33 h 4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23"/>
                  <a:gd name="T100" fmla="*/ 0 h 495"/>
                  <a:gd name="T101" fmla="*/ 823 w 823"/>
                  <a:gd name="T102" fmla="*/ 495 h 4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23" h="495">
                    <a:moveTo>
                      <a:pt x="0" y="458"/>
                    </a:moveTo>
                    <a:lnTo>
                      <a:pt x="71" y="477"/>
                    </a:lnTo>
                    <a:lnTo>
                      <a:pt x="144" y="487"/>
                    </a:lnTo>
                    <a:lnTo>
                      <a:pt x="216" y="494"/>
                    </a:lnTo>
                    <a:lnTo>
                      <a:pt x="288" y="494"/>
                    </a:lnTo>
                    <a:lnTo>
                      <a:pt x="358" y="490"/>
                    </a:lnTo>
                    <a:lnTo>
                      <a:pt x="426" y="482"/>
                    </a:lnTo>
                    <a:lnTo>
                      <a:pt x="491" y="469"/>
                    </a:lnTo>
                    <a:lnTo>
                      <a:pt x="553" y="453"/>
                    </a:lnTo>
                    <a:lnTo>
                      <a:pt x="609" y="434"/>
                    </a:lnTo>
                    <a:lnTo>
                      <a:pt x="661" y="412"/>
                    </a:lnTo>
                    <a:lnTo>
                      <a:pt x="706" y="388"/>
                    </a:lnTo>
                    <a:lnTo>
                      <a:pt x="746" y="362"/>
                    </a:lnTo>
                    <a:lnTo>
                      <a:pt x="777" y="334"/>
                    </a:lnTo>
                    <a:lnTo>
                      <a:pt x="801" y="305"/>
                    </a:lnTo>
                    <a:lnTo>
                      <a:pt x="816" y="276"/>
                    </a:lnTo>
                    <a:lnTo>
                      <a:pt x="822" y="246"/>
                    </a:lnTo>
                    <a:lnTo>
                      <a:pt x="816" y="213"/>
                    </a:lnTo>
                    <a:lnTo>
                      <a:pt x="801" y="181"/>
                    </a:lnTo>
                    <a:lnTo>
                      <a:pt x="776" y="151"/>
                    </a:lnTo>
                    <a:lnTo>
                      <a:pt x="745" y="123"/>
                    </a:lnTo>
                    <a:lnTo>
                      <a:pt x="705" y="97"/>
                    </a:lnTo>
                    <a:lnTo>
                      <a:pt x="658" y="74"/>
                    </a:lnTo>
                    <a:lnTo>
                      <a:pt x="606" y="54"/>
                    </a:lnTo>
                    <a:lnTo>
                      <a:pt x="549" y="35"/>
                    </a:lnTo>
                    <a:lnTo>
                      <a:pt x="487" y="21"/>
                    </a:lnTo>
                    <a:lnTo>
                      <a:pt x="422" y="10"/>
                    </a:lnTo>
                    <a:lnTo>
                      <a:pt x="354" y="4"/>
                    </a:lnTo>
                    <a:lnTo>
                      <a:pt x="284" y="0"/>
                    </a:lnTo>
                    <a:lnTo>
                      <a:pt x="212" y="2"/>
                    </a:lnTo>
                    <a:lnTo>
                      <a:pt x="141" y="7"/>
                    </a:lnTo>
                    <a:lnTo>
                      <a:pt x="69" y="18"/>
                    </a:lnTo>
                    <a:lnTo>
                      <a:pt x="0" y="33"/>
                    </a:lnTo>
                  </a:path>
                </a:pathLst>
              </a:custGeom>
              <a:noFill/>
              <a:ln w="18485">
                <a:solidFill>
                  <a:srgbClr val="000080"/>
                </a:solidFill>
                <a:round/>
                <a:headEnd/>
                <a:tailEnd/>
              </a:ln>
            </p:spPr>
            <p:txBody>
              <a:bodyPr/>
              <a:lstStyle/>
              <a:p>
                <a:endParaRPr lang="en-US"/>
              </a:p>
            </p:txBody>
          </p:sp>
        </p:grpSp>
        <p:sp>
          <p:nvSpPr>
            <p:cNvPr id="14" name="Line 62"/>
            <p:cNvSpPr>
              <a:spLocks noChangeShapeType="1"/>
            </p:cNvSpPr>
            <p:nvPr/>
          </p:nvSpPr>
          <p:spPr bwMode="auto">
            <a:xfrm>
              <a:off x="4336" y="1805"/>
              <a:ext cx="0" cy="435"/>
            </a:xfrm>
            <a:prstGeom prst="line">
              <a:avLst/>
            </a:prstGeom>
            <a:noFill/>
            <a:ln w="18485">
              <a:solidFill>
                <a:srgbClr val="000080"/>
              </a:solidFill>
              <a:round/>
              <a:headEnd/>
              <a:tailEnd/>
            </a:ln>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rotWithShape="1">
          <a:blip r:embed="rId2"/>
          <a:srcRect r="52117"/>
          <a:stretch/>
        </p:blipFill>
        <p:spPr>
          <a:xfrm>
            <a:off x="612648" y="1828800"/>
            <a:ext cx="3730752" cy="4086225"/>
          </a:xfrm>
          <a:prstGeom prst="rect">
            <a:avLst/>
          </a:prstGeom>
        </p:spPr>
      </p:pic>
    </p:spTree>
    <p:extLst>
      <p:ext uri="{BB962C8B-B14F-4D97-AF65-F5344CB8AC3E}">
        <p14:creationId xmlns:p14="http://schemas.microsoft.com/office/powerpoint/2010/main" val="34033738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793750" y="1804987"/>
            <a:ext cx="7791450" cy="4086225"/>
          </a:xfrm>
          <a:prstGeom prst="rect">
            <a:avLst/>
          </a:prstGeom>
        </p:spPr>
      </p:pic>
    </p:spTree>
    <p:extLst>
      <p:ext uri="{BB962C8B-B14F-4D97-AF65-F5344CB8AC3E}">
        <p14:creationId xmlns:p14="http://schemas.microsoft.com/office/powerpoint/2010/main" val="34352312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descr="0513"/>
          <p:cNvPicPr>
            <a:picLocks noChangeAspect="1" noChangeArrowheads="1"/>
          </p:cNvPicPr>
          <p:nvPr/>
        </p:nvPicPr>
        <p:blipFill>
          <a:blip r:embed="rId3" cstate="print"/>
          <a:srcRect b="3343"/>
          <a:stretch>
            <a:fillRect/>
          </a:stretch>
        </p:blipFill>
        <p:spPr bwMode="auto">
          <a:xfrm>
            <a:off x="76200" y="2514600"/>
            <a:ext cx="3962400" cy="3810000"/>
          </a:xfrm>
          <a:prstGeom prst="rect">
            <a:avLst/>
          </a:prstGeom>
          <a:noFill/>
          <a:ln w="9525">
            <a:noFill/>
            <a:miter lim="800000"/>
            <a:headEnd/>
            <a:tailEnd/>
          </a:ln>
        </p:spPr>
      </p:pic>
      <p:pic>
        <p:nvPicPr>
          <p:cNvPr id="5" name="Picture 3"/>
          <p:cNvPicPr>
            <a:picLocks noChangeAspect="1" noChangeArrowheads="1"/>
          </p:cNvPicPr>
          <p:nvPr/>
        </p:nvPicPr>
        <p:blipFill>
          <a:blip r:embed="rId4" cstate="print"/>
          <a:srcRect/>
          <a:stretch>
            <a:fillRect/>
          </a:stretch>
        </p:blipFill>
        <p:spPr>
          <a:xfrm>
            <a:off x="4963886" y="1752600"/>
            <a:ext cx="4180114" cy="5029200"/>
          </a:xfrm>
          <a:prstGeom prst="rect">
            <a:avLst/>
          </a:prstGeom>
        </p:spPr>
      </p:pic>
      <p:sp>
        <p:nvSpPr>
          <p:cNvPr id="8" name="Title 7"/>
          <p:cNvSpPr>
            <a:spLocks noGrp="1"/>
          </p:cNvSpPr>
          <p:nvPr>
            <p:ph type="title"/>
          </p:nvPr>
        </p:nvSpPr>
        <p:spPr/>
        <p:txBody>
          <a:bodyPr/>
          <a:lstStyle/>
          <a:p>
            <a:r>
              <a:rPr lang="en-US" dirty="0"/>
              <a:t>Principle of Simplicity </a:t>
            </a: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5EDF-D0DB-479B-A87D-D78EE88B8D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050623-0FC7-46BA-95F3-4ADCA211222E}"/>
              </a:ext>
            </a:extLst>
          </p:cNvPr>
          <p:cNvSpPr>
            <a:spLocks noGrp="1"/>
          </p:cNvSpPr>
          <p:nvPr>
            <p:ph sz="quarter" idx="1"/>
          </p:nvPr>
        </p:nvSpPr>
        <p:spPr/>
        <p:txBody>
          <a:bodyPr/>
          <a:lstStyle/>
          <a:p>
            <a:r>
              <a:rPr lang="en-US" b="0" i="0" dirty="0">
                <a:solidFill>
                  <a:srgbClr val="262D3D"/>
                </a:solidFill>
                <a:effectLst/>
                <a:latin typeface="Merriweather"/>
              </a:rPr>
              <a:t>For example, a monochrome version of the Olympic logo is seen as a series of overlapping circles rather than a collection of curved lines.</a:t>
            </a:r>
            <a:endParaRPr lang="en-US" dirty="0"/>
          </a:p>
        </p:txBody>
      </p:sp>
      <p:pic>
        <p:nvPicPr>
          <p:cNvPr id="5" name="Picture 4">
            <a:extLst>
              <a:ext uri="{FF2B5EF4-FFF2-40B4-BE49-F238E27FC236}">
                <a16:creationId xmlns:a16="http://schemas.microsoft.com/office/drawing/2014/main" id="{717A3796-21A0-4E71-A778-225138A7744C}"/>
              </a:ext>
            </a:extLst>
          </p:cNvPr>
          <p:cNvPicPr>
            <a:picLocks noChangeAspect="1"/>
          </p:cNvPicPr>
          <p:nvPr/>
        </p:nvPicPr>
        <p:blipFill>
          <a:blip r:embed="rId2"/>
          <a:stretch>
            <a:fillRect/>
          </a:stretch>
        </p:blipFill>
        <p:spPr>
          <a:xfrm>
            <a:off x="1219200" y="3352800"/>
            <a:ext cx="6429375" cy="3105150"/>
          </a:xfrm>
          <a:prstGeom prst="rect">
            <a:avLst/>
          </a:prstGeom>
        </p:spPr>
      </p:pic>
    </p:spTree>
    <p:extLst>
      <p:ext uri="{BB962C8B-B14F-4D97-AF65-F5344CB8AC3E}">
        <p14:creationId xmlns:p14="http://schemas.microsoft.com/office/powerpoint/2010/main" val="296105378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Simplicity </a:t>
            </a:r>
          </a:p>
        </p:txBody>
      </p:sp>
      <p:pic>
        <p:nvPicPr>
          <p:cNvPr id="4" name="Picture 3"/>
          <p:cNvPicPr>
            <a:picLocks noChangeAspect="1"/>
          </p:cNvPicPr>
          <p:nvPr/>
        </p:nvPicPr>
        <p:blipFill>
          <a:blip r:embed="rId2"/>
          <a:stretch>
            <a:fillRect/>
          </a:stretch>
        </p:blipFill>
        <p:spPr>
          <a:xfrm>
            <a:off x="12572" y="1524001"/>
            <a:ext cx="9082982" cy="5313018"/>
          </a:xfrm>
          <a:prstGeom prst="rect">
            <a:avLst/>
          </a:prstGeom>
        </p:spPr>
      </p:pic>
    </p:spTree>
    <p:extLst>
      <p:ext uri="{BB962C8B-B14F-4D97-AF65-F5344CB8AC3E}">
        <p14:creationId xmlns:p14="http://schemas.microsoft.com/office/powerpoint/2010/main" val="300593086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Simplicity </a:t>
            </a:r>
          </a:p>
        </p:txBody>
      </p:sp>
      <p:pic>
        <p:nvPicPr>
          <p:cNvPr id="5" name="Picture 8" descr="twitterThen1"/>
          <p:cNvPicPr>
            <a:picLocks noChangeAspect="1" noChangeArrowheads="1"/>
          </p:cNvPicPr>
          <p:nvPr/>
        </p:nvPicPr>
        <p:blipFill>
          <a:blip r:embed="rId2" cstate="print"/>
          <a:srcRect/>
          <a:stretch>
            <a:fillRect/>
          </a:stretch>
        </p:blipFill>
        <p:spPr bwMode="auto">
          <a:xfrm>
            <a:off x="374748" y="1524000"/>
            <a:ext cx="8629200" cy="5334000"/>
          </a:xfrm>
          <a:prstGeom prst="rect">
            <a:avLst/>
          </a:prstGeom>
          <a:noFill/>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Simplicity </a:t>
            </a:r>
          </a:p>
        </p:txBody>
      </p:sp>
      <p:pic>
        <p:nvPicPr>
          <p:cNvPr id="4" name="Picture 10" descr="twitter-now"/>
          <p:cNvPicPr>
            <a:picLocks noChangeAspect="1" noChangeArrowheads="1"/>
          </p:cNvPicPr>
          <p:nvPr/>
        </p:nvPicPr>
        <p:blipFill>
          <a:blip r:embed="rId2" cstate="print"/>
          <a:srcRect l="10976" r="11649"/>
          <a:stretch>
            <a:fillRect/>
          </a:stretch>
        </p:blipFill>
        <p:spPr bwMode="auto">
          <a:xfrm>
            <a:off x="458542" y="1524000"/>
            <a:ext cx="8461611" cy="5334000"/>
          </a:xfrm>
          <a:prstGeom prst="rect">
            <a:avLst/>
          </a:prstGeom>
          <a:noFill/>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r>
              <a:rPr lang="en-US" dirty="0"/>
              <a:t>Elements tend to be grouped together if they were together often in the past experience of the observer</a:t>
            </a:r>
          </a:p>
        </p:txBody>
      </p:sp>
      <p:sp>
        <p:nvSpPr>
          <p:cNvPr id="2" name="Title 1"/>
          <p:cNvSpPr>
            <a:spLocks noGrp="1"/>
          </p:cNvSpPr>
          <p:nvPr>
            <p:ph type="title"/>
          </p:nvPr>
        </p:nvSpPr>
        <p:spPr/>
        <p:txBody>
          <a:bodyPr/>
          <a:lstStyle/>
          <a:p>
            <a:r>
              <a:rPr lang="en-US" dirty="0"/>
              <a:t>Principle of Past Experience</a:t>
            </a:r>
          </a:p>
        </p:txBody>
      </p:sp>
    </p:spTree>
    <p:extLst>
      <p:ext uri="{BB962C8B-B14F-4D97-AF65-F5344CB8AC3E}">
        <p14:creationId xmlns:p14="http://schemas.microsoft.com/office/powerpoint/2010/main" val="90514247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Principle of Past Experience</a:t>
            </a:r>
          </a:p>
        </p:txBody>
      </p:sp>
      <p:pic>
        <p:nvPicPr>
          <p:cNvPr id="6" name="Content Placeholder 5"/>
          <p:cNvPicPr>
            <a:picLocks noGrp="1" noChangeAspect="1"/>
          </p:cNvPicPr>
          <p:nvPr>
            <p:ph sz="quarter" idx="1"/>
          </p:nvPr>
        </p:nvPicPr>
        <p:blipFill rotWithShape="1">
          <a:blip r:embed="rId2"/>
          <a:srcRect r="34540"/>
          <a:stretch/>
        </p:blipFill>
        <p:spPr>
          <a:xfrm>
            <a:off x="-100041" y="2133600"/>
            <a:ext cx="9167841" cy="3200400"/>
          </a:xfrm>
          <a:prstGeom prst="rect">
            <a:avLst/>
          </a:prstGeom>
        </p:spPr>
      </p:pic>
    </p:spTree>
    <p:extLst>
      <p:ext uri="{BB962C8B-B14F-4D97-AF65-F5344CB8AC3E}">
        <p14:creationId xmlns:p14="http://schemas.microsoft.com/office/powerpoint/2010/main" val="187769363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Past Experience</a:t>
            </a:r>
          </a:p>
        </p:txBody>
      </p:sp>
      <p:sp>
        <p:nvSpPr>
          <p:cNvPr id="3" name="Content Placeholder 2"/>
          <p:cNvSpPr>
            <a:spLocks noGrp="1"/>
          </p:cNvSpPr>
          <p:nvPr>
            <p:ph sz="quarter" idx="1"/>
          </p:nvPr>
        </p:nvSpPr>
        <p:spPr/>
        <p:txBody>
          <a:bodyPr/>
          <a:lstStyle/>
          <a:p>
            <a:r>
              <a:rPr lang="en-US" dirty="0"/>
              <a:t>In print perhaps the most potent Gestalt principle is proximity: </a:t>
            </a:r>
          </a:p>
          <a:p>
            <a:endParaRPr lang="en-US" dirty="0"/>
          </a:p>
          <a:p>
            <a:r>
              <a:rPr lang="en-US" dirty="0"/>
              <a:t>Simply inserting larger blank spaces between words than between letters helps group together the letters correctly, and establish </a:t>
            </a:r>
            <a:r>
              <a:rPr lang="en-US" i="1" dirty="0"/>
              <a:t>words.</a:t>
            </a:r>
            <a:endParaRPr lang="en-US" dirty="0"/>
          </a:p>
        </p:txBody>
      </p:sp>
    </p:spTree>
    <p:extLst>
      <p:ext uri="{BB962C8B-B14F-4D97-AF65-F5344CB8AC3E}">
        <p14:creationId xmlns:p14="http://schemas.microsoft.com/office/powerpoint/2010/main" val="17170207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Past Experience</a:t>
            </a:r>
          </a:p>
        </p:txBody>
      </p:sp>
      <p:sp>
        <p:nvSpPr>
          <p:cNvPr id="3" name="Content Placeholder 2"/>
          <p:cNvSpPr>
            <a:spLocks noGrp="1"/>
          </p:cNvSpPr>
          <p:nvPr>
            <p:ph sz="quarter" idx="1"/>
          </p:nvPr>
        </p:nvSpPr>
        <p:spPr/>
        <p:txBody>
          <a:bodyPr/>
          <a:lstStyle/>
          <a:p>
            <a:r>
              <a:rPr lang="en-US" dirty="0"/>
              <a:t>The importance of blank spaces is demonstrated by the difficulty: </a:t>
            </a:r>
          </a:p>
          <a:p>
            <a:endParaRPr lang="en-US" dirty="0"/>
          </a:p>
          <a:p>
            <a:pPr marL="0" indent="0">
              <a:buNone/>
            </a:pPr>
            <a:r>
              <a:rPr lang="en-US" dirty="0" err="1"/>
              <a:t>wehavewhenreadingtextnotseparatedbyblanks</a:t>
            </a:r>
            <a:r>
              <a:rPr lang="en-US" dirty="0"/>
              <a:t> an dev </a:t>
            </a:r>
            <a:r>
              <a:rPr lang="en-US" dirty="0" err="1"/>
              <a:t>enmor</a:t>
            </a:r>
            <a:r>
              <a:rPr lang="en-US" dirty="0"/>
              <a:t> </a:t>
            </a:r>
            <a:r>
              <a:rPr lang="en-US" dirty="0" err="1"/>
              <a:t>ew</a:t>
            </a:r>
            <a:r>
              <a:rPr lang="en-US" dirty="0"/>
              <a:t> </a:t>
            </a:r>
            <a:r>
              <a:rPr lang="en-US" dirty="0" err="1"/>
              <a:t>henbl</a:t>
            </a:r>
            <a:r>
              <a:rPr lang="en-US" dirty="0"/>
              <a:t> an </a:t>
            </a:r>
            <a:r>
              <a:rPr lang="en-US" dirty="0" err="1"/>
              <a:t>kspa</a:t>
            </a:r>
            <a:r>
              <a:rPr lang="en-US" dirty="0"/>
              <a:t> </a:t>
            </a:r>
            <a:r>
              <a:rPr lang="en-US" dirty="0" err="1"/>
              <a:t>cesap</a:t>
            </a:r>
            <a:r>
              <a:rPr lang="en-US" dirty="0"/>
              <a:t> pea </a:t>
            </a:r>
            <a:r>
              <a:rPr lang="en-US" dirty="0" err="1"/>
              <a:t>rinwr</a:t>
            </a:r>
            <a:r>
              <a:rPr lang="en-US" dirty="0"/>
              <a:t> </a:t>
            </a:r>
            <a:r>
              <a:rPr lang="en-US" dirty="0" err="1"/>
              <a:t>ongpl</a:t>
            </a:r>
            <a:r>
              <a:rPr lang="en-US" dirty="0"/>
              <a:t> aces.</a:t>
            </a:r>
          </a:p>
        </p:txBody>
      </p:sp>
    </p:spTree>
    <p:extLst>
      <p:ext uri="{BB962C8B-B14F-4D97-AF65-F5344CB8AC3E}">
        <p14:creationId xmlns:p14="http://schemas.microsoft.com/office/powerpoint/2010/main" val="156814176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past experience </a:t>
            </a:r>
          </a:p>
        </p:txBody>
      </p:sp>
      <p:pic>
        <p:nvPicPr>
          <p:cNvPr id="4" name="Content Placeholder 3" descr="icons-nounproject"/>
          <p:cNvPicPr>
            <a:picLocks noGrp="1" noChangeAspect="1" noChangeArrowheads="1"/>
          </p:cNvPicPr>
          <p:nvPr>
            <p:ph sz="quarter" idx="1"/>
          </p:nvPr>
        </p:nvPicPr>
        <p:blipFill>
          <a:blip r:embed="rId2" cstate="print"/>
          <a:srcRect b="6013"/>
          <a:stretch>
            <a:fillRect/>
          </a:stretch>
        </p:blipFill>
        <p:spPr bwMode="auto">
          <a:xfrm>
            <a:off x="2408237" y="2214312"/>
            <a:ext cx="4562475" cy="3267576"/>
          </a:xfrm>
          <a:prstGeom prst="rect">
            <a:avLst/>
          </a:prstGeom>
          <a:noFill/>
        </p:spPr>
      </p:pic>
    </p:spTree>
    <p:extLst>
      <p:ext uri="{BB962C8B-B14F-4D97-AF65-F5344CB8AC3E}">
        <p14:creationId xmlns:p14="http://schemas.microsoft.com/office/powerpoint/2010/main" val="8545282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580898" y="1752600"/>
            <a:ext cx="8185150" cy="4343782"/>
          </a:xfrm>
          <a:prstGeom prst="rect">
            <a:avLst/>
          </a:prstGeom>
        </p:spPr>
      </p:pic>
    </p:spTree>
    <p:extLst>
      <p:ext uri="{BB962C8B-B14F-4D97-AF65-F5344CB8AC3E}">
        <p14:creationId xmlns:p14="http://schemas.microsoft.com/office/powerpoint/2010/main" val="168217897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Shneiderman’s</a:t>
            </a:r>
            <a:r>
              <a:rPr lang="en-GB" dirty="0"/>
              <a:t> 8 Golden Rules</a:t>
            </a:r>
            <a:endParaRPr lang="en-US" dirty="0"/>
          </a:p>
        </p:txBody>
      </p:sp>
      <p:sp>
        <p:nvSpPr>
          <p:cNvPr id="3" name="Content Placeholder 2"/>
          <p:cNvSpPr>
            <a:spLocks noGrp="1"/>
          </p:cNvSpPr>
          <p:nvPr>
            <p:ph sz="quarter" idx="1"/>
          </p:nvPr>
        </p:nvSpPr>
        <p:spPr/>
        <p:txBody>
          <a:bodyPr/>
          <a:lstStyle/>
          <a:p>
            <a:pPr marL="514350" lvl="0" indent="-514350">
              <a:buFont typeface="+mj-lt"/>
              <a:buAutoNum type="arabicPeriod"/>
            </a:pPr>
            <a:r>
              <a:rPr lang="en-GB" i="1" dirty="0"/>
              <a:t>Strive for consistency </a:t>
            </a:r>
            <a:endParaRPr lang="en-US" dirty="0"/>
          </a:p>
          <a:p>
            <a:pPr marL="514350" lvl="0" indent="-514350">
              <a:buFont typeface="+mj-lt"/>
              <a:buAutoNum type="arabicPeriod"/>
            </a:pPr>
            <a:r>
              <a:rPr lang="en-US" i="1" dirty="0"/>
              <a:t>Enable frequent users to use shortcuts</a:t>
            </a:r>
          </a:p>
          <a:p>
            <a:pPr marL="514350" lvl="0" indent="-514350">
              <a:buFont typeface="+mj-lt"/>
              <a:buAutoNum type="arabicPeriod"/>
            </a:pPr>
            <a:r>
              <a:rPr lang="en-GB" i="1" dirty="0"/>
              <a:t>Offer informative feedback </a:t>
            </a:r>
            <a:endParaRPr lang="en-US" dirty="0"/>
          </a:p>
          <a:p>
            <a:pPr marL="514350" lvl="0" indent="-514350">
              <a:buFont typeface="+mj-lt"/>
              <a:buAutoNum type="arabicPeriod"/>
            </a:pPr>
            <a:r>
              <a:rPr lang="en-GB" i="1" dirty="0"/>
              <a:t>Design dialogs to yield closure </a:t>
            </a:r>
            <a:endParaRPr lang="en-US" dirty="0"/>
          </a:p>
          <a:p>
            <a:pPr marL="514350" lvl="0" indent="-514350">
              <a:buFont typeface="+mj-lt"/>
              <a:buAutoNum type="arabicPeriod"/>
            </a:pPr>
            <a:r>
              <a:rPr lang="en-GB" i="1" dirty="0"/>
              <a:t>Offer error prevention and simple error handling </a:t>
            </a:r>
            <a:endParaRPr lang="en-US" dirty="0"/>
          </a:p>
          <a:p>
            <a:pPr marL="514350" lvl="0" indent="-514350">
              <a:buFont typeface="+mj-lt"/>
              <a:buAutoNum type="arabicPeriod"/>
            </a:pPr>
            <a:r>
              <a:rPr lang="en-GB" i="1" dirty="0"/>
              <a:t>Permit easy reversal of actions </a:t>
            </a:r>
            <a:endParaRPr lang="en-US" dirty="0"/>
          </a:p>
          <a:p>
            <a:pPr marL="514350" lvl="0" indent="-514350">
              <a:buFont typeface="+mj-lt"/>
              <a:buAutoNum type="arabicPeriod"/>
            </a:pPr>
            <a:r>
              <a:rPr lang="en-GB" i="1" dirty="0"/>
              <a:t>Support internal locus of control </a:t>
            </a:r>
            <a:endParaRPr lang="en-US" dirty="0"/>
          </a:p>
          <a:p>
            <a:pPr marL="514350" lvl="0" indent="-514350">
              <a:buFont typeface="+mj-lt"/>
              <a:buAutoNum type="arabicPeriod"/>
            </a:pPr>
            <a:r>
              <a:rPr lang="en-GB" i="1" dirty="0"/>
              <a:t>Reduce short-term memory load</a:t>
            </a:r>
            <a:r>
              <a:rPr lang="en-GB" dirty="0"/>
              <a:t> </a:t>
            </a:r>
            <a:endParaRPr lang="en-US" dirty="0"/>
          </a:p>
        </p:txBody>
      </p:sp>
    </p:spTree>
    <p:extLst>
      <p:ext uri="{BB962C8B-B14F-4D97-AF65-F5344CB8AC3E}">
        <p14:creationId xmlns:p14="http://schemas.microsoft.com/office/powerpoint/2010/main" val="34407963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Norman’s 7 Principles</a:t>
            </a:r>
            <a:endParaRPr lang="en-US" dirty="0"/>
          </a:p>
        </p:txBody>
      </p:sp>
      <p:sp>
        <p:nvSpPr>
          <p:cNvPr id="3" name="Content Placeholder 2"/>
          <p:cNvSpPr>
            <a:spLocks noGrp="1"/>
          </p:cNvSpPr>
          <p:nvPr>
            <p:ph sz="quarter" idx="1"/>
          </p:nvPr>
        </p:nvSpPr>
        <p:spPr/>
        <p:txBody>
          <a:bodyPr>
            <a:normAutofit fontScale="92500" lnSpcReduction="10000"/>
          </a:bodyPr>
          <a:lstStyle/>
          <a:p>
            <a:pPr marL="514350" lvl="0" indent="-514350">
              <a:buFont typeface="+mj-lt"/>
              <a:buAutoNum type="arabicPeriod"/>
            </a:pPr>
            <a:r>
              <a:rPr lang="en-GB" i="1" dirty="0"/>
              <a:t>Use both knowledge in the world and   knowledge in the head.</a:t>
            </a:r>
            <a:endParaRPr lang="en-US" dirty="0"/>
          </a:p>
          <a:p>
            <a:pPr marL="514350" lvl="0" indent="-514350">
              <a:buFont typeface="+mj-lt"/>
              <a:buAutoNum type="arabicPeriod"/>
            </a:pPr>
            <a:r>
              <a:rPr lang="en-GB" i="1" dirty="0"/>
              <a:t>Simplify the structure of tasks.</a:t>
            </a:r>
            <a:endParaRPr lang="en-US" dirty="0"/>
          </a:p>
          <a:p>
            <a:pPr marL="514350" lvl="0" indent="-514350">
              <a:buFont typeface="+mj-lt"/>
              <a:buAutoNum type="arabicPeriod"/>
            </a:pPr>
            <a:r>
              <a:rPr lang="en-GB" i="1" dirty="0"/>
              <a:t>Make things visible: bridge the gulfs of  Execution and Evaluation.</a:t>
            </a:r>
            <a:endParaRPr lang="en-US" dirty="0"/>
          </a:p>
          <a:p>
            <a:pPr marL="514350" lvl="0" indent="-514350">
              <a:buFont typeface="+mj-lt"/>
              <a:buAutoNum type="arabicPeriod"/>
            </a:pPr>
            <a:r>
              <a:rPr lang="en-GB" i="1" dirty="0"/>
              <a:t>Get the mappings right.</a:t>
            </a:r>
            <a:endParaRPr lang="en-US" dirty="0"/>
          </a:p>
          <a:p>
            <a:pPr marL="514350" lvl="0" indent="-514350">
              <a:buFont typeface="+mj-lt"/>
              <a:buAutoNum type="arabicPeriod"/>
            </a:pPr>
            <a:r>
              <a:rPr lang="en-GB" i="1" dirty="0"/>
              <a:t>Exploit the power of constraints, both natural and artificial.</a:t>
            </a:r>
            <a:endParaRPr lang="en-US" dirty="0"/>
          </a:p>
          <a:p>
            <a:pPr marL="514350" lvl="0" indent="-514350">
              <a:buFont typeface="+mj-lt"/>
              <a:buAutoNum type="arabicPeriod"/>
            </a:pPr>
            <a:r>
              <a:rPr lang="en-GB" i="1" dirty="0"/>
              <a:t>Design for error.</a:t>
            </a:r>
            <a:endParaRPr lang="en-US" dirty="0"/>
          </a:p>
          <a:p>
            <a:pPr marL="514350" lvl="0" indent="-514350">
              <a:buFont typeface="+mj-lt"/>
              <a:buAutoNum type="arabicPeriod"/>
            </a:pPr>
            <a:r>
              <a:rPr lang="en-GB" i="1" dirty="0"/>
              <a:t>When all else fails, standardize.</a:t>
            </a:r>
            <a:r>
              <a:rPr lang="en-GB" dirty="0"/>
              <a:t> </a:t>
            </a:r>
            <a:endParaRPr lang="en-US" dirty="0"/>
          </a:p>
        </p:txBody>
      </p:sp>
    </p:spTree>
    <p:extLst>
      <p:ext uri="{BB962C8B-B14F-4D97-AF65-F5344CB8AC3E}">
        <p14:creationId xmlns:p14="http://schemas.microsoft.com/office/powerpoint/2010/main" val="171580053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11079</TotalTime>
  <Words>3854</Words>
  <Application>Microsoft Office PowerPoint</Application>
  <PresentationFormat>On-screen Show (4:3)</PresentationFormat>
  <Paragraphs>388</Paragraphs>
  <Slides>130</Slides>
  <Notes>22</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130</vt:i4>
      </vt:variant>
    </vt:vector>
  </HeadingPairs>
  <TitlesOfParts>
    <vt:vector size="139" baseType="lpstr">
      <vt:lpstr>Arial</vt:lpstr>
      <vt:lpstr>Calibri</vt:lpstr>
      <vt:lpstr>Merriweather</vt:lpstr>
      <vt:lpstr>Roboto</vt:lpstr>
      <vt:lpstr>Times New Roman</vt:lpstr>
      <vt:lpstr>Tw Cen MT</vt:lpstr>
      <vt:lpstr>Wingdings</vt:lpstr>
      <vt:lpstr>Wingdings 2</vt:lpstr>
      <vt:lpstr>Median</vt:lpstr>
      <vt:lpstr>Human Computer Interaction   </vt:lpstr>
      <vt:lpstr>Perception </vt:lpstr>
      <vt:lpstr>Perception vs reality</vt:lpstr>
      <vt:lpstr>PowerPoint Presentation</vt:lpstr>
      <vt:lpstr>Perceptual process</vt:lpstr>
      <vt:lpstr>Perceptual process</vt:lpstr>
      <vt:lpstr>Perceptual process</vt:lpstr>
      <vt:lpstr>Perceptual Selection</vt:lpstr>
      <vt:lpstr>Perceptual organization</vt:lpstr>
      <vt:lpstr>Perceptual Illusions </vt:lpstr>
      <vt:lpstr>Perceptual Illusions </vt:lpstr>
      <vt:lpstr>Perceptual Illusions </vt:lpstr>
      <vt:lpstr>Perceptual Illusions </vt:lpstr>
      <vt:lpstr>Perceptual Illusions: Contextual</vt:lpstr>
      <vt:lpstr>2. Pre-Attention </vt:lpstr>
      <vt:lpstr>Pre-attentive Processing</vt:lpstr>
      <vt:lpstr>How many 3’s ?</vt:lpstr>
      <vt:lpstr>How many 3’s ?</vt:lpstr>
      <vt:lpstr>Pre-attentive Processing</vt:lpstr>
      <vt:lpstr>PowerPoint Presentation</vt:lpstr>
      <vt:lpstr>Example:  Color Selection</vt:lpstr>
      <vt:lpstr>Example: Shape Selection</vt:lpstr>
      <vt:lpstr>Example: Conjunction of Features</vt:lpstr>
      <vt:lpstr>Pre-attentive features</vt:lpstr>
      <vt:lpstr>Pre-attentive features</vt:lpstr>
      <vt:lpstr>Pre-attentive features</vt:lpstr>
      <vt:lpstr>Influences on Perception</vt:lpstr>
      <vt:lpstr>Influences on Perception</vt:lpstr>
      <vt:lpstr>PowerPoint Presentation</vt:lpstr>
      <vt:lpstr>Influences on Perception</vt:lpstr>
      <vt:lpstr>Gestalt principles (laws)</vt:lpstr>
      <vt:lpstr>Gestalt principles (laws)</vt:lpstr>
      <vt:lpstr>Gestalt principles (laws)</vt:lpstr>
      <vt:lpstr>Have you ever wondered, why or how you make this association just by looking at a fluffy, blob of gas?</vt:lpstr>
      <vt:lpstr>Gestalt principles (laws)</vt:lpstr>
      <vt:lpstr>Gestalt principles (laws)</vt:lpstr>
      <vt:lpstr>Gestalt principles (laws)</vt:lpstr>
      <vt:lpstr>Principle of Proximity </vt:lpstr>
      <vt:lpstr>Principle of Proximity</vt:lpstr>
      <vt:lpstr>Principle of Proximity</vt:lpstr>
      <vt:lpstr>Principle of Proximity</vt:lpstr>
      <vt:lpstr>PowerPoint Presentation</vt:lpstr>
      <vt:lpstr>Proximity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vt:lpstr>
      <vt:lpstr>Principle of Proximity </vt:lpstr>
      <vt:lpstr>PowerPoint Presentation</vt:lpstr>
      <vt:lpstr>Principle of Proximity</vt:lpstr>
      <vt:lpstr>Principle of Similarity </vt:lpstr>
      <vt:lpstr>PowerPoint Presentation</vt:lpstr>
      <vt:lpstr>Principle of Similarity </vt:lpstr>
      <vt:lpstr>PowerPoint Presentation</vt:lpstr>
      <vt:lpstr>PowerPoint Presentation</vt:lpstr>
      <vt:lpstr>PowerPoint Presentation</vt:lpstr>
      <vt:lpstr>PowerPoint Presentation</vt:lpstr>
      <vt:lpstr>PowerPoint Presentation</vt:lpstr>
      <vt:lpstr>PowerPoint Presentation</vt:lpstr>
      <vt:lpstr>Principle of Similarity </vt:lpstr>
      <vt:lpstr>Principle of Continuity </vt:lpstr>
      <vt:lpstr>Principle of Continuity </vt:lpstr>
      <vt:lpstr>Principle of Continuity </vt:lpstr>
      <vt:lpstr>PowerPoint Presentation</vt:lpstr>
      <vt:lpstr>PowerPoint Presentation</vt:lpstr>
      <vt:lpstr>PowerPoint Presentation</vt:lpstr>
      <vt:lpstr>Principle of Continuity </vt:lpstr>
      <vt:lpstr>Principle of Continuity </vt:lpstr>
      <vt:lpstr>PowerPoint Presentation</vt:lpstr>
      <vt:lpstr>Principle of Closure </vt:lpstr>
      <vt:lpstr>Principle of Closure </vt:lpstr>
      <vt:lpstr>Principle of Closure </vt:lpstr>
      <vt:lpstr>PowerPoint Presentation</vt:lpstr>
      <vt:lpstr>PowerPoint Presentation</vt:lpstr>
      <vt:lpstr>Principle of Closure </vt:lpstr>
      <vt:lpstr>How can this be applied? </vt:lpstr>
      <vt:lpstr>PowerPoint Presentation</vt:lpstr>
      <vt:lpstr>Principle of Symmetry</vt:lpstr>
      <vt:lpstr>Principle of Symmetry</vt:lpstr>
      <vt:lpstr>PowerPoint Presentation</vt:lpstr>
      <vt:lpstr>PowerPoint Presentation</vt:lpstr>
      <vt:lpstr>PowerPoint Presentation</vt:lpstr>
      <vt:lpstr>Principle of Figure-Ground </vt:lpstr>
      <vt:lpstr>PowerPoint Presentation</vt:lpstr>
      <vt:lpstr>Principle of Figure-Ground </vt:lpstr>
      <vt:lpstr>PowerPoint Presentation</vt:lpstr>
      <vt:lpstr>Principle of Figure-Ground </vt:lpstr>
      <vt:lpstr>PowerPoint Presentation</vt:lpstr>
      <vt:lpstr>Principle of Figure-Ground </vt:lpstr>
      <vt:lpstr>Stable</vt:lpstr>
      <vt:lpstr>reversible</vt:lpstr>
      <vt:lpstr>Principle of Figure-Ground - reversible </vt:lpstr>
      <vt:lpstr>Principle of Figure-Ground - ambiguous</vt:lpstr>
      <vt:lpstr>PowerPoint Presentation</vt:lpstr>
      <vt:lpstr>Using Principle of Figure-Ground  </vt:lpstr>
      <vt:lpstr>Using Principle of Figure-Ground </vt:lpstr>
      <vt:lpstr>Principle of Common Fate </vt:lpstr>
      <vt:lpstr>Principle of Common Fate </vt:lpstr>
      <vt:lpstr>Principle of Common Fate </vt:lpstr>
      <vt:lpstr>Principle of Common Fate </vt:lpstr>
      <vt:lpstr>PowerPoint Presentation</vt:lpstr>
      <vt:lpstr>PowerPoint Presentation</vt:lpstr>
      <vt:lpstr>Principle of Connectedness </vt:lpstr>
      <vt:lpstr>Principle of Connectedness </vt:lpstr>
      <vt:lpstr>PowerPoint Presentation</vt:lpstr>
      <vt:lpstr>Principle of Connectedness </vt:lpstr>
      <vt:lpstr>PowerPoint Presentation</vt:lpstr>
      <vt:lpstr>PowerPoint Presentation</vt:lpstr>
      <vt:lpstr>PowerPoint Presentation</vt:lpstr>
      <vt:lpstr>Principle of Simplicity (or Prägnanz) </vt:lpstr>
      <vt:lpstr>Principle of Simplicity </vt:lpstr>
      <vt:lpstr>PowerPoint Presentation</vt:lpstr>
      <vt:lpstr>PowerPoint Presentation</vt:lpstr>
      <vt:lpstr>Principle of Simplicity </vt:lpstr>
      <vt:lpstr>PowerPoint Presentation</vt:lpstr>
      <vt:lpstr>Principle of Simplicity </vt:lpstr>
      <vt:lpstr>Principle of Simplicity </vt:lpstr>
      <vt:lpstr>Principle of Simplicity </vt:lpstr>
      <vt:lpstr>Principle of Past Experience</vt:lpstr>
      <vt:lpstr>Principle of Past Experience</vt:lpstr>
      <vt:lpstr>Principle of Past Experience</vt:lpstr>
      <vt:lpstr>Principle of Past Experience</vt:lpstr>
      <vt:lpstr>Principle of past experience </vt:lpstr>
      <vt:lpstr>PowerPoint Presentation</vt:lpstr>
      <vt:lpstr>Shneiderman’s 8 Golden Rules</vt:lpstr>
      <vt:lpstr>Norman’s 7 Principles</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Arham Bhatti</cp:lastModifiedBy>
  <cp:revision>637</cp:revision>
  <dcterms:created xsi:type="dcterms:W3CDTF">2010-02-07T17:56:13Z</dcterms:created>
  <dcterms:modified xsi:type="dcterms:W3CDTF">2026-01-25T18:42:28Z</dcterms:modified>
</cp:coreProperties>
</file>