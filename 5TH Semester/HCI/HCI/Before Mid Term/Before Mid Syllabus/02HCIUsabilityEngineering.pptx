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16" r:id="rId2"/>
  </p:sldMasterIdLst>
  <p:notesMasterIdLst>
    <p:notesMasterId r:id="rId73"/>
  </p:notesMasterIdLst>
  <p:sldIdLst>
    <p:sldId id="404" r:id="rId3"/>
    <p:sldId id="419" r:id="rId4"/>
    <p:sldId id="444" r:id="rId5"/>
    <p:sldId id="442" r:id="rId6"/>
    <p:sldId id="499" r:id="rId7"/>
    <p:sldId id="500" r:id="rId8"/>
    <p:sldId id="482" r:id="rId9"/>
    <p:sldId id="405" r:id="rId10"/>
    <p:sldId id="457" r:id="rId11"/>
    <p:sldId id="478" r:id="rId12"/>
    <p:sldId id="458" r:id="rId13"/>
    <p:sldId id="459" r:id="rId14"/>
    <p:sldId id="480" r:id="rId15"/>
    <p:sldId id="522" r:id="rId16"/>
    <p:sldId id="510" r:id="rId17"/>
    <p:sldId id="481" r:id="rId18"/>
    <p:sldId id="483" r:id="rId19"/>
    <p:sldId id="511" r:id="rId20"/>
    <p:sldId id="484" r:id="rId21"/>
    <p:sldId id="464" r:id="rId22"/>
    <p:sldId id="465" r:id="rId23"/>
    <p:sldId id="466" r:id="rId24"/>
    <p:sldId id="492" r:id="rId25"/>
    <p:sldId id="493" r:id="rId26"/>
    <p:sldId id="494" r:id="rId27"/>
    <p:sldId id="512" r:id="rId28"/>
    <p:sldId id="485" r:id="rId29"/>
    <p:sldId id="501" r:id="rId30"/>
    <p:sldId id="513" r:id="rId31"/>
    <p:sldId id="486" r:id="rId32"/>
    <p:sldId id="467" r:id="rId33"/>
    <p:sldId id="487" r:id="rId34"/>
    <p:sldId id="523" r:id="rId35"/>
    <p:sldId id="524" r:id="rId36"/>
    <p:sldId id="514" r:id="rId37"/>
    <p:sldId id="470" r:id="rId38"/>
    <p:sldId id="496" r:id="rId39"/>
    <p:sldId id="495" r:id="rId40"/>
    <p:sldId id="497" r:id="rId41"/>
    <p:sldId id="422" r:id="rId42"/>
    <p:sldId id="461" r:id="rId43"/>
    <p:sldId id="473" r:id="rId44"/>
    <p:sldId id="516" r:id="rId45"/>
    <p:sldId id="455" r:id="rId46"/>
    <p:sldId id="502" r:id="rId47"/>
    <p:sldId id="503" r:id="rId48"/>
    <p:sldId id="504" r:id="rId49"/>
    <p:sldId id="505" r:id="rId50"/>
    <p:sldId id="506" r:id="rId51"/>
    <p:sldId id="507" r:id="rId52"/>
    <p:sldId id="508" r:id="rId53"/>
    <p:sldId id="472" r:id="rId54"/>
    <p:sldId id="517" r:id="rId55"/>
    <p:sldId id="450" r:id="rId56"/>
    <p:sldId id="451" r:id="rId57"/>
    <p:sldId id="453" r:id="rId58"/>
    <p:sldId id="449" r:id="rId59"/>
    <p:sldId id="443" r:id="rId60"/>
    <p:sldId id="476" r:id="rId61"/>
    <p:sldId id="498" r:id="rId62"/>
    <p:sldId id="518" r:id="rId63"/>
    <p:sldId id="474" r:id="rId64"/>
    <p:sldId id="509" r:id="rId65"/>
    <p:sldId id="520" r:id="rId66"/>
    <p:sldId id="521" r:id="rId67"/>
    <p:sldId id="475" r:id="rId68"/>
    <p:sldId id="519" r:id="rId69"/>
    <p:sldId id="488" r:id="rId70"/>
    <p:sldId id="407" r:id="rId71"/>
    <p:sldId id="423"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130" autoAdjust="0"/>
  </p:normalViewPr>
  <p:slideViewPr>
    <p:cSldViewPr>
      <p:cViewPr varScale="1">
        <p:scale>
          <a:sx n="31" d="100"/>
          <a:sy n="31" d="100"/>
        </p:scale>
        <p:origin x="165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10/17/2021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a:t>
            </a:fld>
            <a:endParaRPr lang="en-US"/>
          </a:p>
        </p:txBody>
      </p:sp>
    </p:spTree>
    <p:extLst>
      <p:ext uri="{BB962C8B-B14F-4D97-AF65-F5344CB8AC3E}">
        <p14:creationId xmlns:p14="http://schemas.microsoft.com/office/powerpoint/2010/main" val="2403818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1" i="0" dirty="0">
                <a:solidFill>
                  <a:srgbClr val="333333"/>
                </a:solidFill>
                <a:effectLst/>
                <a:latin typeface="Arial" panose="020B0604020202020204" pitchFamily="34" charset="0"/>
              </a:rPr>
              <a:t>Reference book</a:t>
            </a:r>
          </a:p>
          <a:p>
            <a:pPr algn="l" rtl="0"/>
            <a:r>
              <a:rPr lang="en-US" b="1" i="0" dirty="0">
                <a:solidFill>
                  <a:srgbClr val="333333"/>
                </a:solidFill>
                <a:effectLst/>
                <a:latin typeface="Arial" panose="020B0604020202020204" pitchFamily="34" charset="0"/>
              </a:rPr>
              <a:t>Usability Engineering</a:t>
            </a:r>
          </a:p>
          <a:p>
            <a:r>
              <a:rPr lang="en-US" b="0" i="0" dirty="0">
                <a:solidFill>
                  <a:srgbClr val="333333"/>
                </a:solidFill>
                <a:effectLst/>
                <a:latin typeface="Arial" panose="020B0604020202020204" pitchFamily="34" charset="0"/>
              </a:rPr>
              <a:t>By Jakob Nielsen</a:t>
            </a:r>
            <a:endParaRPr lang="en-US" dirty="0"/>
          </a:p>
          <a:p>
            <a:endParaRPr lang="en-US" dirty="0"/>
          </a:p>
          <a:p>
            <a:r>
              <a:rPr lang="en-US" dirty="0"/>
              <a:t>Utility is the question of whether the functionality of the System in principle can do what is needed,</a:t>
            </a:r>
            <a:r>
              <a:rPr lang="en-US" baseline="0" dirty="0"/>
              <a:t> and usability is the question of how well users can use that functionality.</a:t>
            </a:r>
          </a:p>
          <a:p>
            <a:endParaRPr lang="en-US" baseline="0" dirty="0"/>
          </a:p>
          <a:p>
            <a:r>
              <a:rPr lang="en-US" dirty="0"/>
              <a:t>https://books.google.com.pk/books?id=95As2OF67f0C&amp;pg=PA25&amp;lpg=PA25&amp;dq=a+model+of+the+attributes+of+system+acceptability+by+nielsen&amp;source=bl&amp;ots=3aAFCofs0r&amp;sig=Lu7rHDREEZ_Ig3pxUlwOWQ50dK0&amp;hl=en&amp;sa=X&amp;ei=t2onVdvVCcneaLDfgiA&amp;redir_esc=y#v=onepage&amp;q=a%20model%20of%20the%20attributes%20of%20system%20acceptability%20by%20nielsen&amp;f=false</a:t>
            </a:r>
          </a:p>
        </p:txBody>
      </p:sp>
      <p:sp>
        <p:nvSpPr>
          <p:cNvPr id="4" name="Slide Number Placeholder 3"/>
          <p:cNvSpPr>
            <a:spLocks noGrp="1"/>
          </p:cNvSpPr>
          <p:nvPr>
            <p:ph type="sldNum" sz="quarter" idx="10"/>
          </p:nvPr>
        </p:nvSpPr>
        <p:spPr/>
        <p:txBody>
          <a:bodyPr/>
          <a:lstStyle/>
          <a:p>
            <a:fld id="{A5E35D07-CE9A-41EA-8351-FED4C60B3E9A}" type="slidenum">
              <a:rPr lang="en-US" smtClean="0"/>
              <a:pPr/>
              <a:t>4</a:t>
            </a:fld>
            <a:endParaRPr lang="en-US"/>
          </a:p>
        </p:txBody>
      </p:sp>
    </p:spTree>
    <p:extLst>
      <p:ext uri="{BB962C8B-B14F-4D97-AF65-F5344CB8AC3E}">
        <p14:creationId xmlns:p14="http://schemas.microsoft.com/office/powerpoint/2010/main" val="2793514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16" eaLnBrk="0" hangingPunct="0">
              <a:defRPr sz="3100" b="1">
                <a:solidFill>
                  <a:schemeClr val="tx1"/>
                </a:solidFill>
                <a:latin typeface="Gill Sans MT" pitchFamily="34" charset="0"/>
                <a:cs typeface="Arial" charset="0"/>
              </a:defRPr>
            </a:lvl1pPr>
            <a:lvl2pPr marL="702703" indent="-270271" defTabSz="914416" eaLnBrk="0" hangingPunct="0">
              <a:defRPr sz="3100" b="1">
                <a:solidFill>
                  <a:schemeClr val="tx1"/>
                </a:solidFill>
                <a:latin typeface="Gill Sans MT" pitchFamily="34" charset="0"/>
                <a:cs typeface="Arial" charset="0"/>
              </a:defRPr>
            </a:lvl2pPr>
            <a:lvl3pPr marL="1081082" indent="-216216" defTabSz="914416" eaLnBrk="0" hangingPunct="0">
              <a:defRPr sz="3100" b="1">
                <a:solidFill>
                  <a:schemeClr val="tx1"/>
                </a:solidFill>
                <a:latin typeface="Gill Sans MT" pitchFamily="34" charset="0"/>
                <a:cs typeface="Arial" charset="0"/>
              </a:defRPr>
            </a:lvl3pPr>
            <a:lvl4pPr marL="1513515" indent="-216216" defTabSz="914416" eaLnBrk="0" hangingPunct="0">
              <a:defRPr sz="3100" b="1">
                <a:solidFill>
                  <a:schemeClr val="tx1"/>
                </a:solidFill>
                <a:latin typeface="Gill Sans MT" pitchFamily="34" charset="0"/>
                <a:cs typeface="Arial" charset="0"/>
              </a:defRPr>
            </a:lvl4pPr>
            <a:lvl5pPr marL="1945947" indent="-216216" defTabSz="914416" eaLnBrk="0" hangingPunct="0">
              <a:defRPr sz="3100" b="1">
                <a:solidFill>
                  <a:schemeClr val="tx1"/>
                </a:solidFill>
                <a:latin typeface="Gill Sans MT" pitchFamily="34" charset="0"/>
                <a:cs typeface="Arial" charset="0"/>
              </a:defRPr>
            </a:lvl5pPr>
            <a:lvl6pPr marL="2378381" indent="-216216" defTabSz="914416" eaLnBrk="0" fontAlgn="base" hangingPunct="0">
              <a:spcBef>
                <a:spcPct val="0"/>
              </a:spcBef>
              <a:spcAft>
                <a:spcPct val="0"/>
              </a:spcAft>
              <a:defRPr sz="3100" b="1">
                <a:solidFill>
                  <a:schemeClr val="tx1"/>
                </a:solidFill>
                <a:latin typeface="Gill Sans MT" pitchFamily="34" charset="0"/>
                <a:cs typeface="Arial" charset="0"/>
              </a:defRPr>
            </a:lvl6pPr>
            <a:lvl7pPr marL="2810813" indent="-216216" defTabSz="914416" eaLnBrk="0" fontAlgn="base" hangingPunct="0">
              <a:spcBef>
                <a:spcPct val="0"/>
              </a:spcBef>
              <a:spcAft>
                <a:spcPct val="0"/>
              </a:spcAft>
              <a:defRPr sz="3100" b="1">
                <a:solidFill>
                  <a:schemeClr val="tx1"/>
                </a:solidFill>
                <a:latin typeface="Gill Sans MT" pitchFamily="34" charset="0"/>
                <a:cs typeface="Arial" charset="0"/>
              </a:defRPr>
            </a:lvl7pPr>
            <a:lvl8pPr marL="3243246" indent="-216216" defTabSz="914416" eaLnBrk="0" fontAlgn="base" hangingPunct="0">
              <a:spcBef>
                <a:spcPct val="0"/>
              </a:spcBef>
              <a:spcAft>
                <a:spcPct val="0"/>
              </a:spcAft>
              <a:defRPr sz="3100" b="1">
                <a:solidFill>
                  <a:schemeClr val="tx1"/>
                </a:solidFill>
                <a:latin typeface="Gill Sans MT" pitchFamily="34" charset="0"/>
                <a:cs typeface="Arial" charset="0"/>
              </a:defRPr>
            </a:lvl8pPr>
            <a:lvl9pPr marL="3675678" indent="-216216" defTabSz="914416" eaLnBrk="0" fontAlgn="base" hangingPunct="0">
              <a:spcBef>
                <a:spcPct val="0"/>
              </a:spcBef>
              <a:spcAft>
                <a:spcPct val="0"/>
              </a:spcAft>
              <a:defRPr sz="3100" b="1">
                <a:solidFill>
                  <a:schemeClr val="tx1"/>
                </a:solidFill>
                <a:latin typeface="Gill Sans MT" pitchFamily="34" charset="0"/>
                <a:cs typeface="Arial" charset="0"/>
              </a:defRPr>
            </a:lvl9pPr>
          </a:lstStyle>
          <a:p>
            <a:pPr eaLnBrk="1" hangingPunct="1"/>
            <a:fld id="{4462957E-C989-421A-BFB0-7925D2B9593B}" type="slidenum">
              <a:rPr lang="en-US" sz="1200" b="0">
                <a:solidFill>
                  <a:prstClr val="black"/>
                </a:solidFill>
                <a:latin typeface="Arial" charset="0"/>
              </a:rPr>
              <a:pPr eaLnBrk="1" hangingPunct="1"/>
              <a:t>9</a:t>
            </a:fld>
            <a:endParaRPr lang="en-US" sz="1200" b="0">
              <a:solidFill>
                <a:prstClr val="black"/>
              </a:solidFill>
              <a:latin typeface="Arial"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Gimp is an open-source image editing program, comparable to Adobe Photoshop.  Gimp’s designers made a strange choice for its menus. Gimp windows have no menu bar.  Instead, all Gimp menus are accessed from a </a:t>
            </a:r>
            <a:r>
              <a:rPr lang="en-US" i="1" dirty="0"/>
              <a:t>context menu</a:t>
            </a:r>
            <a:r>
              <a:rPr lang="en-US" dirty="0"/>
              <a:t>, which pops up on right-click.</a:t>
            </a:r>
          </a:p>
          <a:p>
            <a:pPr eaLnBrk="1" hangingPunct="1"/>
            <a:r>
              <a:rPr lang="en-US" dirty="0"/>
              <a:t>This is certainly inconsistent with other applications, and new users are likely to stumble trying to find, for example, the File menu, which never appears on a context menu in other applications.  (I certainly stumbled as a new user of Gimp.)  But Gimp’s designers were probably thinking about expert users when they made this decision.  A context menu should be faster to invoke, since you don’t have to move the mouse up to the menu bar.  A context menu can be popped up anywhere.  So it should be faster.  Right?  Wrong….</a:t>
            </a:r>
          </a:p>
          <a:p>
            <a:pPr eaLnBrk="1" hangingPunct="1"/>
            <a:endParaRPr lang="en-US" dirty="0"/>
          </a:p>
        </p:txBody>
      </p:sp>
    </p:spTree>
    <p:extLst>
      <p:ext uri="{BB962C8B-B14F-4D97-AF65-F5344CB8AC3E}">
        <p14:creationId xmlns:p14="http://schemas.microsoft.com/office/powerpoint/2010/main" val="2324529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Certainly, there are some systems for which one can afford to train users extensively to overcome a hard-to-learn interface, but in most cases, systems need to be easy to learn. </a:t>
            </a:r>
          </a:p>
        </p:txBody>
      </p:sp>
      <p:sp>
        <p:nvSpPr>
          <p:cNvPr id="4" name="Slide Number Placeholder 3"/>
          <p:cNvSpPr>
            <a:spLocks noGrp="1"/>
          </p:cNvSpPr>
          <p:nvPr>
            <p:ph type="sldNum" sz="quarter" idx="5"/>
          </p:nvPr>
        </p:nvSpPr>
        <p:spPr/>
        <p:txBody>
          <a:bodyPr/>
          <a:lstStyle/>
          <a:p>
            <a:fld id="{A5E35D07-CE9A-41EA-8351-FED4C60B3E9A}" type="slidenum">
              <a:rPr lang="en-US" smtClean="0"/>
              <a:pPr/>
              <a:t>10</a:t>
            </a:fld>
            <a:endParaRPr lang="en-US"/>
          </a:p>
        </p:txBody>
      </p:sp>
    </p:spTree>
    <p:extLst>
      <p:ext uri="{BB962C8B-B14F-4D97-AF65-F5344CB8AC3E}">
        <p14:creationId xmlns:p14="http://schemas.microsoft.com/office/powerpoint/2010/main" val="3158246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When computers first appeared in the world, there were some assumptions about how people would learn how to use the software. Programmers assumed that users would read the manual first – obviously not true. Companies assumed that their employees would take a class first – not always true. Even now that we have online help built into virtually every desktop application, and web page help often just a search engine query away, users don’t go to the help first or read overviews.</a:t>
            </a:r>
          </a:p>
          <a:p>
            <a:r>
              <a:rPr lang="en-US" sz="1200" b="0" i="0" u="none" strike="noStrike" kern="1200" baseline="0" dirty="0">
                <a:solidFill>
                  <a:schemeClr val="tx1"/>
                </a:solidFill>
                <a:latin typeface="+mn-lt"/>
                <a:ea typeface="+mn-ea"/>
                <a:cs typeface="+mn-cs"/>
              </a:rPr>
              <a:t>All these statements have to be caveated, because in some circumstances – some applications, some tasks, some users – these might very well be the way the user learns. Very complex, professional-level tools might well be encountered in a formal training situation – that’s how pilots learn how to use in-cockpit software, for example. And some users (very few of them) *do* read manuals.</a:t>
            </a:r>
          </a:p>
          <a:p>
            <a:r>
              <a:rPr lang="en-US" sz="1200" b="0" i="0" u="none" strike="noStrike" kern="1200" baseline="0" dirty="0">
                <a:solidFill>
                  <a:schemeClr val="tx1"/>
                </a:solidFill>
                <a:latin typeface="+mn-lt"/>
                <a:ea typeface="+mn-ea"/>
                <a:cs typeface="+mn-cs"/>
              </a:rPr>
              <a:t>Nearly all the general statements we make in this class should be interpreted as “It Depends.” There will be contexts and situations in which they’re not true, and that’s one of the complexities of UI design.</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11</a:t>
            </a:fld>
            <a:endParaRPr lang="en-US"/>
          </a:p>
        </p:txBody>
      </p:sp>
    </p:spTree>
    <p:extLst>
      <p:ext uri="{BB962C8B-B14F-4D97-AF65-F5344CB8AC3E}">
        <p14:creationId xmlns:p14="http://schemas.microsoft.com/office/powerpoint/2010/main" val="4019131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So users don’t try to learn first – instead, they typically try to do what they want to do, and explore the interface to see if they can figure out how to do it. This practice is usually called </a:t>
            </a:r>
            <a:r>
              <a:rPr lang="en-US" sz="1200" b="1" i="0" u="none" strike="noStrike" kern="1200" baseline="0" dirty="0">
                <a:solidFill>
                  <a:schemeClr val="tx1"/>
                </a:solidFill>
                <a:latin typeface="+mn-lt"/>
                <a:ea typeface="+mn-ea"/>
                <a:cs typeface="+mn-cs"/>
              </a:rPr>
              <a:t>learning by doing</a:t>
            </a:r>
            <a:r>
              <a:rPr lang="en-US" sz="1200" b="0" i="0" u="none" strike="noStrike" kern="1200" baseline="0" dirty="0">
                <a:solidFill>
                  <a:schemeClr val="tx1"/>
                </a:solidFill>
                <a:latin typeface="+mn-lt"/>
                <a:ea typeface="+mn-ea"/>
                <a:cs typeface="+mn-cs"/>
              </a:rPr>
              <a:t>, and it means that the user is starting out with a goal already in mind; they are more interested in achieving that goal than in learning the user interface (so any learning that happens will be secondary); and the burden is on the user interface to clearly communicate how to use it and help the user achieve their first goal at the same time.</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12</a:t>
            </a:fld>
            <a:endParaRPr lang="en-US"/>
          </a:p>
        </p:txBody>
      </p:sp>
    </p:spTree>
    <p:extLst>
      <p:ext uri="{BB962C8B-B14F-4D97-AF65-F5344CB8AC3E}">
        <p14:creationId xmlns:p14="http://schemas.microsoft.com/office/powerpoint/2010/main" val="272917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E35D07-CE9A-41EA-8351-FED4C60B3E9A}" type="slidenum">
              <a:rPr lang="en-US" smtClean="0"/>
              <a:pPr/>
              <a:t>13</a:t>
            </a:fld>
            <a:endParaRPr lang="en-US"/>
          </a:p>
        </p:txBody>
      </p:sp>
    </p:spTree>
    <p:extLst>
      <p:ext uri="{BB962C8B-B14F-4D97-AF65-F5344CB8AC3E}">
        <p14:creationId xmlns:p14="http://schemas.microsoft.com/office/powerpoint/2010/main" val="3965651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Once a user has taken the time to learn how to navigate a website and find what they are looking for; they need to be able to remember how to do it when they come back. A website needs to have high memorability. Memorability is a measure of how easy a website is to remember after a substantial time-lapse between visits.</a:t>
            </a:r>
          </a:p>
          <a:p>
            <a:r>
              <a:rPr lang="en-US" sz="1200" b="0" i="0" kern="1200" dirty="0">
                <a:solidFill>
                  <a:schemeClr val="tx1"/>
                </a:solidFill>
                <a:effectLst/>
                <a:latin typeface="+mn-lt"/>
                <a:ea typeface="+mn-ea"/>
                <a:cs typeface="+mn-cs"/>
              </a:rPr>
              <a:t>If a website has good learnability and memorability, visitors are sure to keep coming back for more. When we are designing a website we try to maximize the memorability by creating logical steps and consistent design throughout the site.</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16</a:t>
            </a:fld>
            <a:endParaRPr lang="en-US"/>
          </a:p>
        </p:txBody>
      </p:sp>
    </p:spTree>
    <p:extLst>
      <p:ext uri="{BB962C8B-B14F-4D97-AF65-F5344CB8AC3E}">
        <p14:creationId xmlns:p14="http://schemas.microsoft.com/office/powerpoint/2010/main" val="312867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giving enough information about the error so that user can make a decision? </a:t>
            </a:r>
          </a:p>
          <a:p>
            <a:r>
              <a:rPr lang="en-US" dirty="0"/>
              <a:t>Suppose you selected all cookie files and selected to delete them in one go. You get one dialogue to delete each of them. What button is missing? </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20</a:t>
            </a:fld>
            <a:endParaRPr lang="en-US"/>
          </a:p>
        </p:txBody>
      </p:sp>
    </p:spTree>
    <p:extLst>
      <p:ext uri="{BB962C8B-B14F-4D97-AF65-F5344CB8AC3E}">
        <p14:creationId xmlns:p14="http://schemas.microsoft.com/office/powerpoint/2010/main" val="420355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file upload to remote site. </a:t>
            </a:r>
          </a:p>
          <a:p>
            <a:r>
              <a:rPr lang="en-US" dirty="0"/>
              <a:t>What if you know there is a </a:t>
            </a:r>
            <a:r>
              <a:rPr lang="en-US" dirty="0" err="1"/>
              <a:t>a</a:t>
            </a:r>
            <a:r>
              <a:rPr lang="en-US" dirty="0"/>
              <a:t> file you don’t want to delete. What would you do ? </a:t>
            </a:r>
          </a:p>
          <a:p>
            <a:endParaRPr lang="en-US" dirty="0"/>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21</a:t>
            </a:fld>
            <a:endParaRPr lang="en-US"/>
          </a:p>
        </p:txBody>
      </p:sp>
    </p:spTree>
    <p:extLst>
      <p:ext uri="{BB962C8B-B14F-4D97-AF65-F5344CB8AC3E}">
        <p14:creationId xmlns:p14="http://schemas.microsoft.com/office/powerpoint/2010/main" val="2559773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E35D07-CE9A-41EA-8351-FED4C60B3E9A}" type="slidenum">
              <a:rPr lang="en-US" smtClean="0"/>
              <a:pPr/>
              <a:t>22</a:t>
            </a:fld>
            <a:endParaRPr lang="en-US"/>
          </a:p>
        </p:txBody>
      </p:sp>
    </p:spTree>
    <p:extLst>
      <p:ext uri="{BB962C8B-B14F-4D97-AF65-F5344CB8AC3E}">
        <p14:creationId xmlns:p14="http://schemas.microsoft.com/office/powerpoint/2010/main" val="3369133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then giving a menu of clothing(only)</a:t>
            </a:r>
            <a:r>
              <a:rPr lang="en-US" baseline="0" dirty="0"/>
              <a:t> if your website gives you the accurate thing to choose from menu it will be rather more effective. </a:t>
            </a:r>
          </a:p>
          <a:p>
            <a:r>
              <a:rPr lang="en-US" baseline="0" dirty="0"/>
              <a:t>Effectiveness if all about accuracy and completeness.</a:t>
            </a:r>
          </a:p>
          <a:p>
            <a:endParaRPr lang="en-US" dirty="0"/>
          </a:p>
          <a:p>
            <a:r>
              <a:rPr lang="en-US" sz="1200" b="0" i="0" kern="1200" dirty="0">
                <a:solidFill>
                  <a:schemeClr val="tx1"/>
                </a:solidFill>
                <a:effectLst/>
                <a:latin typeface="+mn-lt"/>
                <a:ea typeface="+mn-ea"/>
                <a:cs typeface="+mn-cs"/>
              </a:rPr>
              <a:t>Effectiveness is about the high degree of accuracy under which users can complete their goals. The product has to be able to support the user while performing tasks.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Effectiveness is about the high degree of accuracy under which users can complete their goals. The product has to be able to support the user while performing tasks.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28</a:t>
            </a:fld>
            <a:endParaRPr lang="en-US"/>
          </a:p>
        </p:txBody>
      </p:sp>
    </p:spTree>
    <p:extLst>
      <p:ext uri="{BB962C8B-B14F-4D97-AF65-F5344CB8AC3E}">
        <p14:creationId xmlns:p14="http://schemas.microsoft.com/office/powerpoint/2010/main" val="4217556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Certainly, there are some systems for which one can afford to train users extensively to overcome a hard-to-learn interface, but in most cases, systems need to be easy to learn. </a:t>
            </a:r>
          </a:p>
        </p:txBody>
      </p:sp>
      <p:sp>
        <p:nvSpPr>
          <p:cNvPr id="4" name="Slide Number Placeholder 3"/>
          <p:cNvSpPr>
            <a:spLocks noGrp="1"/>
          </p:cNvSpPr>
          <p:nvPr>
            <p:ph type="sldNum" sz="quarter" idx="5"/>
          </p:nvPr>
        </p:nvSpPr>
        <p:spPr/>
        <p:txBody>
          <a:bodyPr/>
          <a:lstStyle/>
          <a:p>
            <a:fld id="{A5E35D07-CE9A-41EA-8351-FED4C60B3E9A}" type="slidenum">
              <a:rPr lang="en-US" smtClean="0"/>
              <a:pPr/>
              <a:t>30</a:t>
            </a:fld>
            <a:endParaRPr lang="en-US"/>
          </a:p>
        </p:txBody>
      </p:sp>
    </p:spTree>
    <p:extLst>
      <p:ext uri="{BB962C8B-B14F-4D97-AF65-F5344CB8AC3E}">
        <p14:creationId xmlns:p14="http://schemas.microsoft.com/office/powerpoint/2010/main" val="1142055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u="none" strike="noStrike" kern="1200" baseline="0" dirty="0">
                <a:solidFill>
                  <a:schemeClr val="tx1"/>
                </a:solidFill>
                <a:latin typeface="+mn-lt"/>
                <a:ea typeface="+mn-ea"/>
                <a:cs typeface="+mn-cs"/>
              </a:rPr>
              <a:t>An unfortunately common strategy for error prevention is the </a:t>
            </a:r>
            <a:r>
              <a:rPr lang="en-US" sz="1200" b="1" i="0" u="none" strike="noStrike" kern="1200" baseline="0" dirty="0">
                <a:solidFill>
                  <a:schemeClr val="tx1"/>
                </a:solidFill>
                <a:latin typeface="+mn-lt"/>
                <a:ea typeface="+mn-ea"/>
                <a:cs typeface="+mn-cs"/>
              </a:rPr>
              <a:t>confirmation dialog</a:t>
            </a:r>
            <a:r>
              <a:rPr lang="en-US" sz="1200" b="0" i="0" u="none" strike="noStrike" kern="1200" baseline="0" dirty="0">
                <a:solidFill>
                  <a:schemeClr val="tx1"/>
                </a:solidFill>
                <a:latin typeface="+mn-lt"/>
                <a:ea typeface="+mn-ea"/>
                <a:cs typeface="+mn-cs"/>
              </a:rPr>
              <a:t>, or “Are you sure?” dialog.</a:t>
            </a:r>
          </a:p>
          <a:p>
            <a:r>
              <a:rPr lang="en-US" sz="1200" b="0" i="0" u="none" strike="noStrike" kern="1200" baseline="0" dirty="0">
                <a:solidFill>
                  <a:schemeClr val="tx1"/>
                </a:solidFill>
                <a:latin typeface="+mn-lt"/>
                <a:ea typeface="+mn-ea"/>
                <a:cs typeface="+mn-cs"/>
              </a:rPr>
              <a:t>It’s not a good approach, and should be used only sparingly, for several reasons:</a:t>
            </a:r>
          </a:p>
          <a:p>
            <a:r>
              <a:rPr lang="en-US" sz="1200" b="0" i="0" u="none" strike="noStrike" kern="1200" baseline="0" dirty="0">
                <a:solidFill>
                  <a:schemeClr val="tx1"/>
                </a:solidFill>
                <a:latin typeface="+mn-lt"/>
                <a:ea typeface="+mn-ea"/>
                <a:cs typeface="+mn-cs"/>
              </a:rPr>
              <a:t>• Confirmation dialogs can substantially reduce the efficiency of the interface. In the example above, a</a:t>
            </a:r>
          </a:p>
          <a:p>
            <a:r>
              <a:rPr lang="en-US" sz="1200" b="0" i="0" u="none" strike="noStrike" kern="1200" baseline="0" dirty="0">
                <a:solidFill>
                  <a:schemeClr val="tx1"/>
                </a:solidFill>
                <a:latin typeface="+mn-lt"/>
                <a:ea typeface="+mn-ea"/>
                <a:cs typeface="+mn-cs"/>
              </a:rPr>
              <a:t>confirmation dialog pops up whenever the user deletes something, forcing the user to make two button presses</a:t>
            </a:r>
          </a:p>
          <a:p>
            <a:r>
              <a:rPr lang="en-US" sz="1200" b="0" i="0" u="none" strike="noStrike" kern="1200" baseline="0" dirty="0">
                <a:solidFill>
                  <a:schemeClr val="tx1"/>
                </a:solidFill>
                <a:latin typeface="+mn-lt"/>
                <a:ea typeface="+mn-ea"/>
                <a:cs typeface="+mn-cs"/>
              </a:rPr>
              <a:t>for every delete, instead of just one. Frequent commands should avoid confirmations.</a:t>
            </a:r>
          </a:p>
          <a:p>
            <a:r>
              <a:rPr lang="en-US" sz="1200" b="0" i="0" u="none" strike="noStrike" kern="1200" baseline="0" dirty="0">
                <a:solidFill>
                  <a:schemeClr val="tx1"/>
                </a:solidFill>
                <a:latin typeface="+mn-lt"/>
                <a:ea typeface="+mn-ea"/>
                <a:cs typeface="+mn-cs"/>
              </a:rPr>
              <a:t>• If a confirmation dialog is frequently seen – for example, every time the Delete button is pressed – then the</a:t>
            </a:r>
          </a:p>
          <a:p>
            <a:r>
              <a:rPr lang="en-US" sz="1200" b="0" i="0" u="none" strike="noStrike" kern="1200" baseline="0" dirty="0">
                <a:solidFill>
                  <a:schemeClr val="tx1"/>
                </a:solidFill>
                <a:latin typeface="+mn-lt"/>
                <a:ea typeface="+mn-ea"/>
                <a:cs typeface="+mn-cs"/>
              </a:rPr>
              <a:t>expert users will learn to expect it, and will start to include it in their habitual procedure. In other words, to</a:t>
            </a:r>
          </a:p>
          <a:p>
            <a:r>
              <a:rPr lang="en-US" sz="1200" b="0" i="0" u="none" strike="noStrike" kern="1200" baseline="0" dirty="0">
                <a:solidFill>
                  <a:schemeClr val="tx1"/>
                </a:solidFill>
                <a:latin typeface="+mn-lt"/>
                <a:ea typeface="+mn-ea"/>
                <a:cs typeface="+mn-cs"/>
              </a:rPr>
              <a:t>delete something, the user will learn to push Delete and then OK, without reading or even thinking about the</a:t>
            </a:r>
          </a:p>
          <a:p>
            <a:r>
              <a:rPr lang="en-US" sz="1200" b="0" i="0" u="none" strike="noStrike" kern="1200" baseline="0" dirty="0">
                <a:solidFill>
                  <a:schemeClr val="tx1"/>
                </a:solidFill>
                <a:latin typeface="+mn-lt"/>
                <a:ea typeface="+mn-ea"/>
                <a:cs typeface="+mn-cs"/>
              </a:rPr>
              <a:t>confirmation dialog! The dialog has then completely lost its effectiveness, serving only to slow down the</a:t>
            </a:r>
          </a:p>
          <a:p>
            <a:r>
              <a:rPr lang="en-US" sz="1200" b="0" i="0" u="none" strike="noStrike" kern="1200" baseline="0" dirty="0">
                <a:solidFill>
                  <a:schemeClr val="tx1"/>
                </a:solidFill>
                <a:latin typeface="+mn-lt"/>
                <a:ea typeface="+mn-ea"/>
                <a:cs typeface="+mn-cs"/>
              </a:rPr>
              <a:t>interface without actually preventing any errors.</a:t>
            </a:r>
          </a:p>
          <a:p>
            <a:r>
              <a:rPr lang="en-US" sz="1200" b="0" i="0" u="none" strike="noStrike" kern="1200" baseline="0" dirty="0">
                <a:solidFill>
                  <a:schemeClr val="tx1"/>
                </a:solidFill>
                <a:latin typeface="+mn-lt"/>
                <a:ea typeface="+mn-ea"/>
                <a:cs typeface="+mn-cs"/>
              </a:rPr>
              <a:t>In general, reversibility (i.e. </a:t>
            </a:r>
            <a:r>
              <a:rPr lang="en-US" sz="1200" b="1" i="0" u="none" strike="noStrike" kern="1200" baseline="0" dirty="0">
                <a:solidFill>
                  <a:schemeClr val="tx1"/>
                </a:solidFill>
                <a:latin typeface="+mn-lt"/>
                <a:ea typeface="+mn-ea"/>
                <a:cs typeface="+mn-cs"/>
              </a:rPr>
              <a:t>undo</a:t>
            </a:r>
            <a:r>
              <a:rPr lang="en-US" sz="1200" b="0" i="0" u="none" strike="noStrike" kern="1200" baseline="0" dirty="0">
                <a:solidFill>
                  <a:schemeClr val="tx1"/>
                </a:solidFill>
                <a:latin typeface="+mn-lt"/>
                <a:ea typeface="+mn-ea"/>
                <a:cs typeface="+mn-cs"/>
              </a:rPr>
              <a:t>) is a far better solution than confirmation. Even a web interface can provide</a:t>
            </a:r>
          </a:p>
          <a:p>
            <a:r>
              <a:rPr lang="en-US" sz="1200" b="0" i="0" u="none" strike="noStrike" kern="1200" baseline="0" dirty="0">
                <a:solidFill>
                  <a:schemeClr val="tx1"/>
                </a:solidFill>
                <a:latin typeface="+mn-lt"/>
                <a:ea typeface="+mn-ea"/>
                <a:cs typeface="+mn-cs"/>
              </a:rPr>
              <a:t>at least single-level undo (undoing the last operation). Operations that are very hard to reverse may deserve</a:t>
            </a:r>
          </a:p>
          <a:p>
            <a:r>
              <a:rPr lang="en-US" sz="1200" b="0" i="0" u="none" strike="noStrike" kern="1200" baseline="0" dirty="0">
                <a:solidFill>
                  <a:schemeClr val="tx1"/>
                </a:solidFill>
                <a:latin typeface="+mn-lt"/>
                <a:ea typeface="+mn-ea"/>
                <a:cs typeface="+mn-cs"/>
              </a:rPr>
              <a:t>confirmation, however. For example, quitting an application with unsaved work is hard to undo – but a </a:t>
            </a:r>
            <a:r>
              <a:rPr lang="en-US" sz="1200" b="0" i="0" u="none" strike="noStrike" kern="1200" baseline="0" dirty="0" err="1">
                <a:solidFill>
                  <a:schemeClr val="tx1"/>
                </a:solidFill>
                <a:latin typeface="+mn-lt"/>
                <a:ea typeface="+mn-ea"/>
                <a:cs typeface="+mn-cs"/>
              </a:rPr>
              <a:t>welldesigned</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application could make even this undoable, using automatic save or keeping unsaved drafts in a</a:t>
            </a:r>
          </a:p>
          <a:p>
            <a:r>
              <a:rPr lang="en-US" sz="1200" b="0" i="0" u="none" strike="noStrike" kern="1200" baseline="0" dirty="0">
                <a:solidFill>
                  <a:schemeClr val="tx1"/>
                </a:solidFill>
                <a:latin typeface="+mn-lt"/>
                <a:ea typeface="+mn-ea"/>
                <a:cs typeface="+mn-cs"/>
              </a:rPr>
              <a:t>special directory.		</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31</a:t>
            </a:fld>
            <a:endParaRPr lang="en-US"/>
          </a:p>
        </p:txBody>
      </p:sp>
    </p:spTree>
    <p:extLst>
      <p:ext uri="{BB962C8B-B14F-4D97-AF65-F5344CB8AC3E}">
        <p14:creationId xmlns:p14="http://schemas.microsoft.com/office/powerpoint/2010/main" val="3456824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Learnability</a:t>
            </a:r>
            <a:r>
              <a:rPr lang="en-US" sz="1200" b="0" i="0" kern="1200" dirty="0">
                <a:solidFill>
                  <a:schemeClr val="tx1"/>
                </a:solidFill>
                <a:effectLst/>
                <a:latin typeface="+mn-lt"/>
                <a:ea typeface="+mn-ea"/>
                <a:cs typeface="+mn-cs"/>
              </a:rPr>
              <a:t>: The system should be easy to learn so that user can rapidly start getting some work done with the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Efficiency</a:t>
            </a:r>
            <a:r>
              <a:rPr lang="en-US" sz="1200" b="0" i="0" kern="1200" dirty="0">
                <a:solidFill>
                  <a:schemeClr val="tx1"/>
                </a:solidFill>
                <a:effectLst/>
                <a:latin typeface="+mn-lt"/>
                <a:ea typeface="+mn-ea"/>
                <a:cs typeface="+mn-cs"/>
              </a:rPr>
              <a:t>: Once users have learned the design, how quickly can they perform tasks?</a:t>
            </a:r>
            <a:endParaRPr lang="en-US" sz="1200" b="1" i="0" kern="1200" dirty="0">
              <a:solidFill>
                <a:schemeClr val="tx1"/>
              </a:solidFill>
              <a:effectLst/>
              <a:latin typeface="+mn-lt"/>
              <a:ea typeface="+mn-ea"/>
              <a:cs typeface="+mn-cs"/>
            </a:endParaRPr>
          </a:p>
          <a:p>
            <a:pPr rtl="0"/>
            <a:r>
              <a:rPr lang="en-US" sz="1200" b="1" i="0" kern="1200" dirty="0">
                <a:solidFill>
                  <a:schemeClr val="tx1"/>
                </a:solidFill>
                <a:effectLst/>
                <a:latin typeface="+mn-lt"/>
                <a:ea typeface="+mn-ea"/>
                <a:cs typeface="+mn-cs"/>
              </a:rPr>
              <a:t>Memorability</a:t>
            </a:r>
            <a:r>
              <a:rPr lang="en-US" sz="1200" b="0" i="0" kern="1200" dirty="0">
                <a:solidFill>
                  <a:schemeClr val="tx1"/>
                </a:solidFill>
                <a:effectLst/>
                <a:latin typeface="+mn-lt"/>
                <a:ea typeface="+mn-ea"/>
                <a:cs typeface="+mn-cs"/>
              </a:rPr>
              <a:t>: When users return to the design after a period of not using it, how easily can they reestablish proficiency?</a:t>
            </a:r>
          </a:p>
          <a:p>
            <a:pPr rtl="0"/>
            <a:r>
              <a:rPr lang="en-US" sz="1200" b="1" i="0" kern="1200" dirty="0">
                <a:solidFill>
                  <a:schemeClr val="tx1"/>
                </a:solidFill>
                <a:effectLst/>
                <a:latin typeface="+mn-lt"/>
                <a:ea typeface="+mn-ea"/>
                <a:cs typeface="+mn-cs"/>
              </a:rPr>
              <a:t>Errors</a:t>
            </a:r>
            <a:r>
              <a:rPr lang="en-US" sz="1200" b="0" i="0" kern="1200" dirty="0">
                <a:solidFill>
                  <a:schemeClr val="tx1"/>
                </a:solidFill>
                <a:effectLst/>
                <a:latin typeface="+mn-lt"/>
                <a:ea typeface="+mn-ea"/>
                <a:cs typeface="+mn-cs"/>
              </a:rPr>
              <a:t>: How many errors do users make, how severe are these errors, and how easily can they recover from the errors?</a:t>
            </a:r>
          </a:p>
          <a:p>
            <a:pPr rtl="0"/>
            <a:r>
              <a:rPr lang="en-US" sz="1200" b="1" i="0" kern="1200" dirty="0">
                <a:solidFill>
                  <a:schemeClr val="tx1"/>
                </a:solidFill>
                <a:effectLst/>
                <a:latin typeface="+mn-lt"/>
                <a:ea typeface="+mn-ea"/>
                <a:cs typeface="+mn-cs"/>
              </a:rPr>
              <a:t>Satisfaction</a:t>
            </a:r>
            <a:r>
              <a:rPr lang="en-US" sz="1200" b="0" i="0" kern="1200" dirty="0">
                <a:solidFill>
                  <a:schemeClr val="tx1"/>
                </a:solidFill>
                <a:effectLst/>
                <a:latin typeface="+mn-lt"/>
                <a:ea typeface="+mn-ea"/>
                <a:cs typeface="+mn-cs"/>
              </a:rPr>
              <a:t>: How pleasant is it to use the design?</a:t>
            </a:r>
          </a:p>
        </p:txBody>
      </p:sp>
      <p:sp>
        <p:nvSpPr>
          <p:cNvPr id="4" name="Slide Number Placeholder 3"/>
          <p:cNvSpPr>
            <a:spLocks noGrp="1"/>
          </p:cNvSpPr>
          <p:nvPr>
            <p:ph type="sldNum" sz="quarter" idx="10"/>
          </p:nvPr>
        </p:nvSpPr>
        <p:spPr/>
        <p:txBody>
          <a:bodyPr/>
          <a:lstStyle/>
          <a:p>
            <a:fld id="{A5E35D07-CE9A-41EA-8351-FED4C60B3E9A}" type="slidenum">
              <a:rPr lang="en-US" smtClean="0"/>
              <a:pPr/>
              <a:t>40</a:t>
            </a:fld>
            <a:endParaRPr lang="en-US"/>
          </a:p>
        </p:txBody>
      </p:sp>
    </p:spTree>
    <p:extLst>
      <p:ext uri="{BB962C8B-B14F-4D97-AF65-F5344CB8AC3E}">
        <p14:creationId xmlns:p14="http://schemas.microsoft.com/office/powerpoint/2010/main" val="3352019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ease of learning, in fact zero learning</a:t>
            </a:r>
          </a:p>
          <a:p>
            <a:pPr marL="228600" indent="-228600">
              <a:buAutoNum type="arabicPeriod"/>
            </a:pPr>
            <a:r>
              <a:rPr lang="en-US" dirty="0"/>
              <a:t>Efficiency</a:t>
            </a:r>
          </a:p>
          <a:p>
            <a:pPr marL="228600" indent="-228600">
              <a:buAutoNum type="arabicPeriod"/>
            </a:pPr>
            <a:r>
              <a:rPr lang="en-US" dirty="0"/>
              <a:t>stability and security </a:t>
            </a:r>
          </a:p>
        </p:txBody>
      </p:sp>
      <p:sp>
        <p:nvSpPr>
          <p:cNvPr id="4" name="Slide Number Placeholder 3"/>
          <p:cNvSpPr>
            <a:spLocks noGrp="1"/>
          </p:cNvSpPr>
          <p:nvPr>
            <p:ph type="sldNum" sz="quarter" idx="5"/>
          </p:nvPr>
        </p:nvSpPr>
        <p:spPr/>
        <p:txBody>
          <a:bodyPr/>
          <a:lstStyle/>
          <a:p>
            <a:fld id="{A5E35D07-CE9A-41EA-8351-FED4C60B3E9A}" type="slidenum">
              <a:rPr lang="en-US" smtClean="0"/>
              <a:pPr/>
              <a:t>42</a:t>
            </a:fld>
            <a:endParaRPr lang="en-US"/>
          </a:p>
        </p:txBody>
      </p:sp>
    </p:spTree>
    <p:extLst>
      <p:ext uri="{BB962C8B-B14F-4D97-AF65-F5344CB8AC3E}">
        <p14:creationId xmlns:p14="http://schemas.microsoft.com/office/powerpoint/2010/main" val="2422887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can’t remember the proper code to use when an alarm goes off in a nuclear power plant, a catastrophic event affecting many people over several generations might occur. </a:t>
            </a:r>
          </a:p>
          <a:p>
            <a:pPr marL="228600" indent="-228600">
              <a:buAutoNum type="arabicPeriod"/>
            </a:pPr>
            <a:r>
              <a:rPr lang="en-US" dirty="0"/>
              <a:t>learnability, memorability</a:t>
            </a:r>
          </a:p>
          <a:p>
            <a:pPr marL="228600" indent="-228600">
              <a:buAutoNum type="arabicPeriod"/>
            </a:pPr>
            <a:r>
              <a:rPr lang="en-US" dirty="0"/>
              <a:t>Effectiveness, error management</a:t>
            </a:r>
          </a:p>
        </p:txBody>
      </p:sp>
      <p:sp>
        <p:nvSpPr>
          <p:cNvPr id="4" name="Slide Number Placeholder 3"/>
          <p:cNvSpPr>
            <a:spLocks noGrp="1"/>
          </p:cNvSpPr>
          <p:nvPr>
            <p:ph type="sldNum" sz="quarter" idx="5"/>
          </p:nvPr>
        </p:nvSpPr>
        <p:spPr/>
        <p:txBody>
          <a:bodyPr/>
          <a:lstStyle/>
          <a:p>
            <a:fld id="{A5E35D07-CE9A-41EA-8351-FED4C60B3E9A}" type="slidenum">
              <a:rPr lang="en-US" smtClean="0"/>
              <a:pPr/>
              <a:t>43</a:t>
            </a:fld>
            <a:endParaRPr lang="en-US"/>
          </a:p>
        </p:txBody>
      </p:sp>
    </p:spTree>
    <p:extLst>
      <p:ext uri="{BB962C8B-B14F-4D97-AF65-F5344CB8AC3E}">
        <p14:creationId xmlns:p14="http://schemas.microsoft.com/office/powerpoint/2010/main" val="1105280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eriod"/>
            </a:pPr>
            <a:r>
              <a:rPr lang="en-US" dirty="0"/>
              <a:t>Easy to use, effective efficient,</a:t>
            </a:r>
            <a:r>
              <a:rPr lang="en-US" baseline="0" dirty="0"/>
              <a:t> easy to learn , fun and entertaining</a:t>
            </a:r>
          </a:p>
          <a:p>
            <a:pPr marL="228600" indent="-228600">
              <a:buAutoNum type="alphaLcPeriod"/>
            </a:pPr>
            <a:r>
              <a:rPr lang="en-US" baseline="0" dirty="0"/>
              <a:t>Easy to learn, effective , efficient , motivating and rewarding</a:t>
            </a:r>
          </a:p>
          <a:p>
            <a:pPr marL="228600" indent="-228600">
              <a:buAutoNum type="alphaLcPeriod"/>
            </a:pPr>
            <a:r>
              <a:rPr lang="en-US" baseline="0" dirty="0"/>
              <a:t>Easy to learn easy to use, motivating, emotionally satisfactory</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44</a:t>
            </a:fld>
            <a:endParaRPr lang="en-US"/>
          </a:p>
        </p:txBody>
      </p:sp>
    </p:spTree>
    <p:extLst>
      <p:ext uri="{BB962C8B-B14F-4D97-AF65-F5344CB8AC3E}">
        <p14:creationId xmlns:p14="http://schemas.microsoft.com/office/powerpoint/2010/main" val="4117939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52</a:t>
            </a:fld>
            <a:endParaRPr lang="en-US"/>
          </a:p>
        </p:txBody>
      </p:sp>
    </p:spTree>
    <p:extLst>
      <p:ext uri="{BB962C8B-B14F-4D97-AF65-F5344CB8AC3E}">
        <p14:creationId xmlns:p14="http://schemas.microsoft.com/office/powerpoint/2010/main" val="962265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57</a:t>
            </a:fld>
            <a:endParaRPr lang="en-US"/>
          </a:p>
        </p:txBody>
      </p:sp>
    </p:spTree>
    <p:extLst>
      <p:ext uri="{BB962C8B-B14F-4D97-AF65-F5344CB8AC3E}">
        <p14:creationId xmlns:p14="http://schemas.microsoft.com/office/powerpoint/2010/main" val="1665210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5E5E5E"/>
                </a:solidFill>
                <a:effectLst/>
                <a:latin typeface="Open Sans"/>
              </a:rPr>
              <a:t>Age</a:t>
            </a:r>
            <a:r>
              <a:rPr lang="en-US" b="0" i="0" dirty="0">
                <a:solidFill>
                  <a:srgbClr val="5E5E5E"/>
                </a:solidFill>
                <a:effectLst/>
                <a:latin typeface="Open Sans"/>
              </a:rPr>
              <a:t> – What is the general age range of your current customers? Knowing this data will help you when choosing your target segment in social media ads.</a:t>
            </a:r>
          </a:p>
          <a:p>
            <a:pPr algn="l">
              <a:buFont typeface="Arial" panose="020B0604020202020204" pitchFamily="34" charset="0"/>
              <a:buChar char="•"/>
            </a:pPr>
            <a:r>
              <a:rPr lang="en-US" b="1" i="0" dirty="0">
                <a:solidFill>
                  <a:srgbClr val="5E5E5E"/>
                </a:solidFill>
                <a:effectLst/>
                <a:latin typeface="Open Sans"/>
              </a:rPr>
              <a:t>Gender</a:t>
            </a:r>
            <a:r>
              <a:rPr lang="en-US" b="0" i="0" dirty="0">
                <a:solidFill>
                  <a:srgbClr val="5E5E5E"/>
                </a:solidFill>
                <a:effectLst/>
                <a:latin typeface="Open Sans"/>
              </a:rPr>
              <a:t> – Are your current customers mostly male or female? This will help you better understand their specific needs and wants that are perhaps unique to their gender.</a:t>
            </a:r>
          </a:p>
          <a:p>
            <a:pPr algn="l">
              <a:buFont typeface="Arial" panose="020B0604020202020204" pitchFamily="34" charset="0"/>
              <a:buChar char="•"/>
            </a:pPr>
            <a:r>
              <a:rPr lang="en-US" b="1" i="0" dirty="0">
                <a:solidFill>
                  <a:srgbClr val="5E5E5E"/>
                </a:solidFill>
                <a:effectLst/>
                <a:latin typeface="Open Sans"/>
              </a:rPr>
              <a:t>Income</a:t>
            </a:r>
            <a:r>
              <a:rPr lang="en-US" b="0" i="0" dirty="0">
                <a:solidFill>
                  <a:srgbClr val="5E5E5E"/>
                </a:solidFill>
                <a:effectLst/>
                <a:latin typeface="Open Sans"/>
              </a:rPr>
              <a:t> – How much money do your customers have to spend on your products or services? Are they able to make repeat purchases or do they need to save up for your product? Are there any financial barriers that you need to address?</a:t>
            </a:r>
          </a:p>
          <a:p>
            <a:pPr algn="l">
              <a:buFont typeface="Arial" panose="020B0604020202020204" pitchFamily="34" charset="0"/>
              <a:buChar char="•"/>
            </a:pPr>
            <a:r>
              <a:rPr lang="en-US" b="1" i="0" dirty="0">
                <a:solidFill>
                  <a:srgbClr val="5E5E5E"/>
                </a:solidFill>
                <a:effectLst/>
                <a:latin typeface="Open Sans"/>
              </a:rPr>
              <a:t>Location</a:t>
            </a:r>
            <a:r>
              <a:rPr lang="en-US" b="0" i="0" dirty="0">
                <a:solidFill>
                  <a:srgbClr val="5E5E5E"/>
                </a:solidFill>
                <a:effectLst/>
                <a:latin typeface="Open Sans"/>
              </a:rPr>
              <a:t> – Where do your customers live and what time zone are they in? What are some cultural issues that are unique to their location (</a:t>
            </a:r>
            <a:r>
              <a:rPr lang="en-US" b="0" i="0" dirty="0" err="1">
                <a:solidFill>
                  <a:srgbClr val="5E5E5E"/>
                </a:solidFill>
                <a:effectLst/>
                <a:latin typeface="Open Sans"/>
              </a:rPr>
              <a:t>ie</a:t>
            </a:r>
            <a:r>
              <a:rPr lang="en-US" b="0" i="0" dirty="0">
                <a:solidFill>
                  <a:srgbClr val="5E5E5E"/>
                </a:solidFill>
                <a:effectLst/>
                <a:latin typeface="Open Sans"/>
              </a:rPr>
              <a:t> products targeting American football versus real football</a:t>
            </a:r>
          </a:p>
          <a:p>
            <a:pPr algn="l">
              <a:buFont typeface="Arial" panose="020B0604020202020204" pitchFamily="34" charset="0"/>
              <a:buChar char="•"/>
            </a:pPr>
            <a:r>
              <a:rPr lang="en-US" b="1" i="0" dirty="0">
                <a:solidFill>
                  <a:srgbClr val="5E5E5E"/>
                </a:solidFill>
                <a:effectLst/>
                <a:latin typeface="Open Sans"/>
              </a:rPr>
              <a:t>Behavior</a:t>
            </a:r>
            <a:r>
              <a:rPr lang="en-US" b="0" i="0" dirty="0">
                <a:solidFill>
                  <a:srgbClr val="5E5E5E"/>
                </a:solidFill>
                <a:effectLst/>
                <a:latin typeface="Open Sans"/>
              </a:rPr>
              <a:t> – How do your customers hang out online? Which pages or brands do they follow and what is their preferred social media platform? What kinds of content do they consume and can you incorporate that into your content marketing strategy?</a:t>
            </a:r>
          </a:p>
          <a:p>
            <a:pPr algn="l">
              <a:buFont typeface="Arial" panose="020B0604020202020204" pitchFamily="34" charset="0"/>
              <a:buChar char="•"/>
            </a:pPr>
            <a:r>
              <a:rPr lang="en-US" b="1" i="0" dirty="0">
                <a:solidFill>
                  <a:srgbClr val="5E5E5E"/>
                </a:solidFill>
                <a:effectLst/>
                <a:latin typeface="Open Sans"/>
              </a:rPr>
              <a:t>Lifestyle</a:t>
            </a:r>
            <a:r>
              <a:rPr lang="en-US" b="0" i="0" dirty="0">
                <a:solidFill>
                  <a:srgbClr val="5E5E5E"/>
                </a:solidFill>
                <a:effectLst/>
                <a:latin typeface="Open Sans"/>
              </a:rPr>
              <a:t> – How do your customers spend their free time? What kinds of products or services do they need to support those hobbies?</a:t>
            </a:r>
          </a:p>
          <a:p>
            <a:pPr algn="l">
              <a:buFont typeface="Arial" panose="020B0604020202020204" pitchFamily="34" charset="0"/>
              <a:buChar char="•"/>
            </a:pPr>
            <a:r>
              <a:rPr lang="en-US" b="1" i="0" dirty="0">
                <a:solidFill>
                  <a:srgbClr val="5E5E5E"/>
                </a:solidFill>
                <a:effectLst/>
                <a:latin typeface="Open Sans"/>
              </a:rPr>
              <a:t>Values</a:t>
            </a:r>
            <a:r>
              <a:rPr lang="en-US" b="0" i="0" dirty="0">
                <a:solidFill>
                  <a:srgbClr val="5E5E5E"/>
                </a:solidFill>
                <a:effectLst/>
                <a:latin typeface="Open Sans"/>
              </a:rPr>
              <a:t> – What are their general beliefs and values? Does this influence their brand loyalty, where they purchase products or what kinds of products they purchase</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61</a:t>
            </a:fld>
            <a:endParaRPr lang="en-US"/>
          </a:p>
        </p:txBody>
      </p:sp>
    </p:spTree>
    <p:extLst>
      <p:ext uri="{BB962C8B-B14F-4D97-AF65-F5344CB8AC3E}">
        <p14:creationId xmlns:p14="http://schemas.microsoft.com/office/powerpoint/2010/main" val="1939671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User classes will differ based on the type of software you are writing, and the audience it is designed for. For example, I created a database application which had two user classes: traders and administrators.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62</a:t>
            </a:fld>
            <a:endParaRPr lang="en-US"/>
          </a:p>
        </p:txBody>
      </p:sp>
    </p:spTree>
    <p:extLst>
      <p:ext uri="{BB962C8B-B14F-4D97-AF65-F5344CB8AC3E}">
        <p14:creationId xmlns:p14="http://schemas.microsoft.com/office/powerpoint/2010/main" val="588294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Seller &amp; buyer, buyer-&gt; boys and </a:t>
            </a:r>
            <a:r>
              <a:rPr lang="en-US" dirty="0" err="1"/>
              <a:t>girks</a:t>
            </a:r>
            <a:r>
              <a:rPr lang="en-US" dirty="0">
                <a:sym typeface="Wingdings" panose="05000000000000000000" pitchFamily="2" charset="2"/>
              </a:rPr>
              <a:t> boys need efficiency and effectiveness. Girls need?? Learnability same. </a:t>
            </a:r>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65</a:t>
            </a:fld>
            <a:endParaRPr lang="en-US"/>
          </a:p>
        </p:txBody>
      </p:sp>
    </p:spTree>
    <p:extLst>
      <p:ext uri="{BB962C8B-B14F-4D97-AF65-F5344CB8AC3E}">
        <p14:creationId xmlns:p14="http://schemas.microsoft.com/office/powerpoint/2010/main" val="1927171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dirty="0"/>
              <a:t>Effectiveness</a:t>
            </a:r>
            <a:endParaRPr lang="en-US" dirty="0"/>
          </a:p>
          <a:p>
            <a:pPr>
              <a:buFont typeface="Monotype Sorts" pitchFamily="2" charset="2"/>
              <a:buNone/>
            </a:pPr>
            <a:r>
              <a:rPr lang="en-US" dirty="0"/>
              <a:t>The extent to which users can achieve their task goals.</a:t>
            </a:r>
          </a:p>
          <a:p>
            <a:pPr>
              <a:buFont typeface="Monotype Sorts" pitchFamily="2" charset="2"/>
              <a:buNone/>
            </a:pPr>
            <a:r>
              <a:rPr lang="en-US" sz="2800" dirty="0"/>
              <a:t>Effectiveness measures the degree of accuracy and/or  completion </a:t>
            </a:r>
          </a:p>
          <a:p>
            <a:pPr lvl="1">
              <a:buFont typeface="Monotype Sorts" pitchFamily="2" charset="2"/>
              <a:buNone/>
            </a:pPr>
            <a:r>
              <a:rPr lang="en-US" sz="2400" dirty="0" err="1"/>
              <a:t>e.g.,if</a:t>
            </a:r>
            <a:r>
              <a:rPr lang="en-US" sz="2400" dirty="0"/>
              <a:t> desired task goal is to locate information on a web site then: </a:t>
            </a:r>
          </a:p>
          <a:p>
            <a:pPr lvl="1">
              <a:buFont typeface="Monotype Sorts" pitchFamily="2" charset="2"/>
              <a:buNone/>
            </a:pPr>
            <a:r>
              <a:rPr lang="en-US" sz="2400" dirty="0"/>
              <a:t>	Effectiveness= success of user in locating the correct data </a:t>
            </a:r>
          </a:p>
          <a:p>
            <a:r>
              <a:rPr lang="en-US" sz="2800" dirty="0"/>
              <a:t>If the outcome is ALL or NOTHING then effectiveness is an absolute value</a:t>
            </a:r>
          </a:p>
          <a:p>
            <a:pPr lvl="1">
              <a:buFont typeface="Monotype Sorts" pitchFamily="2" charset="2"/>
              <a:buNone/>
            </a:pPr>
            <a:r>
              <a:rPr lang="en-US" sz="2400" dirty="0"/>
              <a:t>-User either locates info or does not...</a:t>
            </a:r>
          </a:p>
          <a:p>
            <a:r>
              <a:rPr lang="en-US" sz="2800" dirty="0"/>
              <a:t>If outcome can be graded, (user can be partially right) then effectiveness should be measured as a scale</a:t>
            </a:r>
          </a:p>
          <a:p>
            <a:pPr lvl="1">
              <a:buFont typeface="Monotype Sorts" pitchFamily="2" charset="2"/>
              <a:buNone/>
            </a:pPr>
            <a:r>
              <a:rPr lang="en-US" sz="2400" dirty="0"/>
              <a:t>-As a %, or a score from 1 (poor) to 5 (complete)</a:t>
            </a:r>
          </a:p>
          <a:p>
            <a:r>
              <a:rPr lang="en-US" sz="2800" dirty="0"/>
              <a:t>Scale should be determined by evaluator in conjunction with developers and users </a:t>
            </a:r>
          </a:p>
          <a:p>
            <a:endParaRPr lang="en-US" dirty="0"/>
          </a:p>
          <a:p>
            <a:r>
              <a:rPr lang="en-US" sz="1200" b="1" i="0" kern="1200" dirty="0">
                <a:solidFill>
                  <a:schemeClr val="tx1"/>
                </a:solidFill>
                <a:effectLst/>
                <a:latin typeface="+mn-lt"/>
                <a:ea typeface="+mn-ea"/>
                <a:cs typeface="+mn-cs"/>
              </a:rPr>
              <a:t>Efficiency</a:t>
            </a:r>
            <a:endParaRPr lang="en-US" dirty="0"/>
          </a:p>
          <a:p>
            <a:r>
              <a:rPr lang="en-US" dirty="0"/>
              <a:t>Measures resources used to perform task </a:t>
            </a:r>
          </a:p>
          <a:p>
            <a:pPr lvl="1"/>
            <a:r>
              <a:rPr lang="en-US" dirty="0"/>
              <a:t>i.e., time, effort, cost, </a:t>
            </a:r>
          </a:p>
          <a:p>
            <a:endParaRPr lang="en-US" dirty="0"/>
          </a:p>
          <a:p>
            <a:r>
              <a:rPr lang="en-US" sz="2800" dirty="0"/>
              <a:t>In case of Web site use, efficiency might equal time taken to complete a task or the navigation path followed etc.</a:t>
            </a:r>
          </a:p>
          <a:p>
            <a:r>
              <a:rPr lang="en-US" dirty="0"/>
              <a:t>Time taken to complete task</a:t>
            </a:r>
          </a:p>
          <a:p>
            <a:pPr lvl="1"/>
            <a:r>
              <a:rPr lang="en-US" dirty="0"/>
              <a:t>Compared across tasks, across users or against a benchmark score</a:t>
            </a:r>
          </a:p>
          <a:p>
            <a:r>
              <a:rPr lang="en-US" dirty="0"/>
              <a:t>Number of steps taken </a:t>
            </a:r>
          </a:p>
          <a:p>
            <a:r>
              <a:rPr lang="en-US" dirty="0"/>
              <a:t>Number of deviations from ideal path</a:t>
            </a:r>
          </a:p>
          <a:p>
            <a:pPr>
              <a:buFont typeface="Monotype Sorts" pitchFamily="2" charset="2"/>
              <a:buNone/>
            </a:pPr>
            <a:endParaRPr lang="en-US" dirty="0"/>
          </a:p>
          <a:p>
            <a:pPr>
              <a:buFont typeface="Monotype Sorts" pitchFamily="2" charset="2"/>
              <a:buNone/>
            </a:pPr>
            <a:r>
              <a:rPr lang="en-US" sz="2800" dirty="0"/>
              <a:t>Such variables are frequently highly positively correlated - but they needn’t be.</a:t>
            </a:r>
          </a:p>
          <a:p>
            <a:r>
              <a:rPr lang="en-US" sz="1200" b="1" i="0" kern="1200" dirty="0">
                <a:solidFill>
                  <a:schemeClr val="tx1"/>
                </a:solidFill>
                <a:effectLst/>
                <a:latin typeface="+mn-lt"/>
                <a:ea typeface="+mn-ea"/>
                <a:cs typeface="+mn-cs"/>
              </a:rPr>
              <a:t>Satisfaction</a:t>
            </a:r>
            <a:r>
              <a:rPr lang="en-US" sz="1200" b="0" i="0" kern="1200" dirty="0">
                <a:solidFill>
                  <a:schemeClr val="tx1"/>
                </a:solidFill>
                <a:effectLst/>
                <a:latin typeface="+mn-lt"/>
                <a:ea typeface="+mn-ea"/>
                <a:cs typeface="+mn-cs"/>
              </a:rPr>
              <a:t>: </a:t>
            </a:r>
            <a:endParaRPr lang="en-US" dirty="0"/>
          </a:p>
          <a:p>
            <a:r>
              <a:rPr lang="en-US" dirty="0"/>
              <a:t>Measures the affective reaction (likes, dislikes, attitudinal response) of users to the application</a:t>
            </a:r>
          </a:p>
          <a:p>
            <a:r>
              <a:rPr lang="en-US" dirty="0"/>
              <a:t>Assumed to be influenced but not the same as effectiveness or efficiency e.g., </a:t>
            </a:r>
          </a:p>
          <a:p>
            <a:pPr lvl="1"/>
            <a:r>
              <a:rPr lang="en-US" sz="2400" dirty="0"/>
              <a:t>2 applications with equal effectiveness, and efficiency, may not be equally satisfying to use</a:t>
            </a:r>
          </a:p>
          <a:p>
            <a:pPr lvl="1"/>
            <a:r>
              <a:rPr lang="en-US" sz="2400" dirty="0"/>
              <a:t>or What users like might not be what they need!</a:t>
            </a:r>
          </a:p>
          <a:p>
            <a:endParaRPr lang="en-US" dirty="0"/>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69</a:t>
            </a:fld>
            <a:endParaRPr lang="en-US"/>
          </a:p>
        </p:txBody>
      </p:sp>
    </p:spTree>
    <p:extLst>
      <p:ext uri="{BB962C8B-B14F-4D97-AF65-F5344CB8AC3E}">
        <p14:creationId xmlns:p14="http://schemas.microsoft.com/office/powerpoint/2010/main" val="2715603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10/17/2021</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10/17/2021</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10/17/2021</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10/17/2021</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10/17/2021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10/17/2021</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5" name="Line 8"/>
          <p:cNvSpPr>
            <a:spLocks noChangeShapeType="1"/>
          </p:cNvSpPr>
          <p:nvPr/>
        </p:nvSpPr>
        <p:spPr bwMode="auto">
          <a:xfrm>
            <a:off x="762000" y="57912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3074"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rgbClr val="800080"/>
                </a:solidFill>
              </a:defRPr>
            </a:lvl1pPr>
          </a:lstStyle>
          <a:p>
            <a:r>
              <a:rPr lang="en-US"/>
              <a:t>Click to edit Master subtitle style</a:t>
            </a:r>
          </a:p>
        </p:txBody>
      </p:sp>
      <p:sp>
        <p:nvSpPr>
          <p:cNvPr id="6" name="Rectangle 4"/>
          <p:cNvSpPr>
            <a:spLocks noGrp="1" noChangeArrowheads="1"/>
          </p:cNvSpPr>
          <p:nvPr>
            <p:ph type="dt" sz="half" idx="10"/>
          </p:nvPr>
        </p:nvSpPr>
        <p:spPr>
          <a:xfrm>
            <a:off x="685800" y="6248400"/>
            <a:ext cx="1905000" cy="457200"/>
          </a:xfrm>
        </p:spPr>
        <p:txBody>
          <a:bodyPr/>
          <a:lstStyle>
            <a:lvl1pPr>
              <a:defRPr>
                <a:solidFill>
                  <a:schemeClr val="tx1"/>
                </a:solidFill>
              </a:defRPr>
            </a:lvl1pPr>
          </a:lstStyle>
          <a:p>
            <a:pPr>
              <a:defRPr/>
            </a:pPr>
            <a:r>
              <a:rPr lang="en-US">
                <a:solidFill>
                  <a:srgbClr val="000000"/>
                </a:solidFill>
              </a:rPr>
              <a:t>CSE 331 Autumn 2011</a:t>
            </a:r>
          </a:p>
        </p:txBody>
      </p:sp>
      <p:sp>
        <p:nvSpPr>
          <p:cNvPr id="7" name="Rectangle 5"/>
          <p:cNvSpPr>
            <a:spLocks noGrp="1" noChangeArrowheads="1"/>
          </p:cNvSpPr>
          <p:nvPr>
            <p:ph type="ftr" sz="quarter" idx="11"/>
          </p:nvPr>
        </p:nvSpPr>
        <p:spPr>
          <a:xfrm>
            <a:off x="3124200" y="6248400"/>
            <a:ext cx="2895600" cy="457200"/>
          </a:xfrm>
        </p:spPr>
        <p:txBody>
          <a:bodyPr/>
          <a:lstStyle>
            <a:lvl1pPr>
              <a:defRPr>
                <a:solidFill>
                  <a:schemeClr val="tx1"/>
                </a:solidFill>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xfrm>
            <a:off x="6553200" y="6248400"/>
            <a:ext cx="1905000" cy="457200"/>
          </a:xfrm>
        </p:spPr>
        <p:txBody>
          <a:bodyPr/>
          <a:lstStyle>
            <a:lvl1pPr>
              <a:defRPr>
                <a:solidFill>
                  <a:schemeClr val="tx1"/>
                </a:solidFill>
              </a:defRPr>
            </a:lvl1pPr>
          </a:lstStyle>
          <a:p>
            <a:pPr>
              <a:defRPr/>
            </a:pPr>
            <a:fld id="{41F6C098-13F0-41FA-8110-EA511399211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96921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DACF16-E0F0-4B7F-BDAB-0ED6A37A383D}" type="slidenum">
              <a:rPr lang="en-US"/>
              <a:pPr>
                <a:defRPr/>
              </a:pPr>
              <a:t>‹#›</a:t>
            </a:fld>
            <a:endParaRPr lang="en-US"/>
          </a:p>
        </p:txBody>
      </p:sp>
    </p:spTree>
    <p:extLst>
      <p:ext uri="{BB962C8B-B14F-4D97-AF65-F5344CB8AC3E}">
        <p14:creationId xmlns:p14="http://schemas.microsoft.com/office/powerpoint/2010/main" val="1970470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1C4CED-1F2F-4C0D-A4F7-58F3EB91B2B2}" type="slidenum">
              <a:rPr lang="en-US"/>
              <a:pPr>
                <a:defRPr/>
              </a:pPr>
              <a:t>‹#›</a:t>
            </a:fld>
            <a:endParaRPr lang="en-US"/>
          </a:p>
        </p:txBody>
      </p:sp>
    </p:spTree>
    <p:extLst>
      <p:ext uri="{BB962C8B-B14F-4D97-AF65-F5344CB8AC3E}">
        <p14:creationId xmlns:p14="http://schemas.microsoft.com/office/powerpoint/2010/main" val="2314663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FEBA81-96FB-474D-A3C6-C60125E85AA7}" type="slidenum">
              <a:rPr lang="en-US"/>
              <a:pPr>
                <a:defRPr/>
              </a:pPr>
              <a:t>‹#›</a:t>
            </a:fld>
            <a:endParaRPr lang="en-US"/>
          </a:p>
        </p:txBody>
      </p:sp>
    </p:spTree>
    <p:extLst>
      <p:ext uri="{BB962C8B-B14F-4D97-AF65-F5344CB8AC3E}">
        <p14:creationId xmlns:p14="http://schemas.microsoft.com/office/powerpoint/2010/main" val="1936795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7C9CD30-6C9D-46DE-B266-6B0D81F43848}" type="slidenum">
              <a:rPr lang="en-US"/>
              <a:pPr>
                <a:defRPr/>
              </a:pPr>
              <a:t>‹#›</a:t>
            </a:fld>
            <a:endParaRPr lang="en-US"/>
          </a:p>
        </p:txBody>
      </p:sp>
    </p:spTree>
    <p:extLst>
      <p:ext uri="{BB962C8B-B14F-4D97-AF65-F5344CB8AC3E}">
        <p14:creationId xmlns:p14="http://schemas.microsoft.com/office/powerpoint/2010/main" val="2288683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3AE8722-9256-42EB-B779-63A99D304B0B}" type="slidenum">
              <a:rPr lang="en-US"/>
              <a:pPr>
                <a:defRPr/>
              </a:pPr>
              <a:t>‹#›</a:t>
            </a:fld>
            <a:endParaRPr lang="en-US"/>
          </a:p>
        </p:txBody>
      </p:sp>
    </p:spTree>
    <p:extLst>
      <p:ext uri="{BB962C8B-B14F-4D97-AF65-F5344CB8AC3E}">
        <p14:creationId xmlns:p14="http://schemas.microsoft.com/office/powerpoint/2010/main" val="411975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C3983B7-E459-4701-B580-D0BD95C5F317}" type="slidenum">
              <a:rPr lang="en-US"/>
              <a:pPr>
                <a:defRPr/>
              </a:pPr>
              <a:t>‹#›</a:t>
            </a:fld>
            <a:endParaRPr lang="en-US"/>
          </a:p>
        </p:txBody>
      </p:sp>
    </p:spTree>
    <p:extLst>
      <p:ext uri="{BB962C8B-B14F-4D97-AF65-F5344CB8AC3E}">
        <p14:creationId xmlns:p14="http://schemas.microsoft.com/office/powerpoint/2010/main" val="40358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8AE64B7-D971-4815-8FF7-96068F85D20E}" type="slidenum">
              <a:rPr lang="en-US"/>
              <a:pPr>
                <a:defRPr/>
              </a:pPr>
              <a:t>‹#›</a:t>
            </a:fld>
            <a:endParaRPr lang="en-US"/>
          </a:p>
        </p:txBody>
      </p:sp>
    </p:spTree>
    <p:extLst>
      <p:ext uri="{BB962C8B-B14F-4D97-AF65-F5344CB8AC3E}">
        <p14:creationId xmlns:p14="http://schemas.microsoft.com/office/powerpoint/2010/main" val="2613535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C115EA6-3B7E-4A7B-BCDE-0EB3FFF8293C}" type="slidenum">
              <a:rPr lang="en-US"/>
              <a:pPr>
                <a:defRPr/>
              </a:pPr>
              <a:t>‹#›</a:t>
            </a:fld>
            <a:endParaRPr lang="en-US"/>
          </a:p>
        </p:txBody>
      </p:sp>
    </p:spTree>
    <p:extLst>
      <p:ext uri="{BB962C8B-B14F-4D97-AF65-F5344CB8AC3E}">
        <p14:creationId xmlns:p14="http://schemas.microsoft.com/office/powerpoint/2010/main" val="3459507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43ACDB-C1BA-4139-A3B5-ECE71C1D9EEC}" type="slidenum">
              <a:rPr lang="en-US"/>
              <a:pPr>
                <a:defRPr/>
              </a:pPr>
              <a:t>‹#›</a:t>
            </a:fld>
            <a:endParaRPr lang="en-US"/>
          </a:p>
        </p:txBody>
      </p:sp>
    </p:spTree>
    <p:extLst>
      <p:ext uri="{BB962C8B-B14F-4D97-AF65-F5344CB8AC3E}">
        <p14:creationId xmlns:p14="http://schemas.microsoft.com/office/powerpoint/2010/main" val="28233617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CSE 331 Autumn 2011</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C5BC84-1DEC-4E9D-8DD0-2C203C7304FF}" type="slidenum">
              <a:rPr lang="en-US"/>
              <a:pPr>
                <a:defRPr/>
              </a:pPr>
              <a:t>‹#›</a:t>
            </a:fld>
            <a:endParaRPr lang="en-US"/>
          </a:p>
        </p:txBody>
      </p:sp>
    </p:spTree>
    <p:extLst>
      <p:ext uri="{BB962C8B-B14F-4D97-AF65-F5344CB8AC3E}">
        <p14:creationId xmlns:p14="http://schemas.microsoft.com/office/powerpoint/2010/main" val="1400712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10/17/2021</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002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800080"/>
                </a:solidFill>
              </a:defRPr>
            </a:lvl1pPr>
          </a:lstStyle>
          <a:p>
            <a:pPr fontAlgn="base">
              <a:spcBef>
                <a:spcPct val="0"/>
              </a:spcBef>
              <a:spcAft>
                <a:spcPct val="0"/>
              </a:spcAft>
              <a:defRPr/>
            </a:pPr>
            <a:r>
              <a:rPr lang="en-US">
                <a:latin typeface="Times New Roman" pitchFamily="18" charset="0"/>
              </a:rPr>
              <a:t>CSE 331 Autumn 2011</a:t>
            </a:r>
          </a:p>
        </p:txBody>
      </p:sp>
      <p:sp>
        <p:nvSpPr>
          <p:cNvPr id="1029" name="Rectangle 5"/>
          <p:cNvSpPr>
            <a:spLocks noGrp="1" noChangeArrowheads="1"/>
          </p:cNvSpPr>
          <p:nvPr>
            <p:ph type="ftr" sz="quarter" idx="3"/>
          </p:nvPr>
        </p:nvSpPr>
        <p:spPr bwMode="auto">
          <a:xfrm>
            <a:off x="2895600" y="64008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800080"/>
                </a:solidFill>
              </a:defRPr>
            </a:lvl1pPr>
          </a:lstStyle>
          <a:p>
            <a:pPr fontAlgn="base">
              <a:spcBef>
                <a:spcPct val="0"/>
              </a:spcBef>
              <a:spcAft>
                <a:spcPct val="0"/>
              </a:spcAft>
              <a:defRPr/>
            </a:pPr>
            <a:endParaRPr lang="en-US">
              <a:latin typeface="Times New Roman" pitchFamily="18" charset="0"/>
            </a:endParaRPr>
          </a:p>
        </p:txBody>
      </p:sp>
      <p:sp>
        <p:nvSpPr>
          <p:cNvPr id="103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800080"/>
                </a:solidFill>
              </a:defRPr>
            </a:lvl1pPr>
          </a:lstStyle>
          <a:p>
            <a:pPr fontAlgn="base">
              <a:spcBef>
                <a:spcPct val="0"/>
              </a:spcBef>
              <a:spcAft>
                <a:spcPct val="0"/>
              </a:spcAft>
              <a:defRPr/>
            </a:pPr>
            <a:fld id="{12A14B3B-27EA-4853-B4FC-2EDFCA0593C9}" type="slidenum">
              <a:rPr lang="en-US">
                <a:latin typeface="Times New Roman" pitchFamily="18" charset="0"/>
              </a:rPr>
              <a:pPr fontAlgn="base">
                <a:spcBef>
                  <a:spcPct val="0"/>
                </a:spcBef>
                <a:spcAft>
                  <a:spcPct val="0"/>
                </a:spcAft>
                <a:defRPr/>
              </a:pPr>
              <a:t>‹#›</a:t>
            </a:fld>
            <a:endParaRPr lang="en-US">
              <a:latin typeface="Times New Roman" pitchFamily="18" charset="0"/>
            </a:endParaRPr>
          </a:p>
        </p:txBody>
      </p:sp>
      <p:sp>
        <p:nvSpPr>
          <p:cNvPr id="1031"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Tree>
    <p:extLst>
      <p:ext uri="{BB962C8B-B14F-4D97-AF65-F5344CB8AC3E}">
        <p14:creationId xmlns:p14="http://schemas.microsoft.com/office/powerpoint/2010/main" val="27177789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dt="0"/>
  <p:txStyles>
    <p:titleStyle>
      <a:lvl1pPr algn="l" rtl="0" eaLnBrk="0" fontAlgn="base" hangingPunct="0">
        <a:spcBef>
          <a:spcPct val="0"/>
        </a:spcBef>
        <a:spcAft>
          <a:spcPct val="0"/>
        </a:spcAft>
        <a:defRPr sz="3600">
          <a:solidFill>
            <a:srgbClr val="800080"/>
          </a:solidFill>
          <a:latin typeface="+mj-lt"/>
          <a:ea typeface="+mj-ea"/>
          <a:cs typeface="+mj-cs"/>
        </a:defRPr>
      </a:lvl1pPr>
      <a:lvl2pPr algn="l" rtl="0" eaLnBrk="0" fontAlgn="base" hangingPunct="0">
        <a:spcBef>
          <a:spcPct val="0"/>
        </a:spcBef>
        <a:spcAft>
          <a:spcPct val="0"/>
        </a:spcAft>
        <a:defRPr sz="3600">
          <a:solidFill>
            <a:srgbClr val="800080"/>
          </a:solidFill>
          <a:latin typeface="Arial" charset="0"/>
        </a:defRPr>
      </a:lvl2pPr>
      <a:lvl3pPr algn="l" rtl="0" eaLnBrk="0" fontAlgn="base" hangingPunct="0">
        <a:spcBef>
          <a:spcPct val="0"/>
        </a:spcBef>
        <a:spcAft>
          <a:spcPct val="0"/>
        </a:spcAft>
        <a:defRPr sz="3600">
          <a:solidFill>
            <a:srgbClr val="800080"/>
          </a:solidFill>
          <a:latin typeface="Arial" charset="0"/>
        </a:defRPr>
      </a:lvl3pPr>
      <a:lvl4pPr algn="l" rtl="0" eaLnBrk="0" fontAlgn="base" hangingPunct="0">
        <a:spcBef>
          <a:spcPct val="0"/>
        </a:spcBef>
        <a:spcAft>
          <a:spcPct val="0"/>
        </a:spcAft>
        <a:defRPr sz="3600">
          <a:solidFill>
            <a:srgbClr val="800080"/>
          </a:solidFill>
          <a:latin typeface="Arial" charset="0"/>
        </a:defRPr>
      </a:lvl4pPr>
      <a:lvl5pPr algn="l" rtl="0" eaLnBrk="0" fontAlgn="base" hangingPunct="0">
        <a:spcBef>
          <a:spcPct val="0"/>
        </a:spcBef>
        <a:spcAft>
          <a:spcPct val="0"/>
        </a:spcAft>
        <a:defRPr sz="3600">
          <a:solidFill>
            <a:srgbClr val="800080"/>
          </a:solidFill>
          <a:latin typeface="Arial" charset="0"/>
        </a:defRPr>
      </a:lvl5pPr>
      <a:lvl6pPr marL="457200" algn="l" rtl="0" eaLnBrk="1" fontAlgn="base" hangingPunct="1">
        <a:spcBef>
          <a:spcPct val="0"/>
        </a:spcBef>
        <a:spcAft>
          <a:spcPct val="0"/>
        </a:spcAft>
        <a:defRPr sz="3600">
          <a:solidFill>
            <a:srgbClr val="800080"/>
          </a:solidFill>
          <a:latin typeface="Arial" charset="0"/>
        </a:defRPr>
      </a:lvl6pPr>
      <a:lvl7pPr marL="914400" algn="l" rtl="0" eaLnBrk="1" fontAlgn="base" hangingPunct="1">
        <a:spcBef>
          <a:spcPct val="0"/>
        </a:spcBef>
        <a:spcAft>
          <a:spcPct val="0"/>
        </a:spcAft>
        <a:defRPr sz="3600">
          <a:solidFill>
            <a:srgbClr val="800080"/>
          </a:solidFill>
          <a:latin typeface="Arial" charset="0"/>
        </a:defRPr>
      </a:lvl7pPr>
      <a:lvl8pPr marL="1371600" algn="l" rtl="0" eaLnBrk="1" fontAlgn="base" hangingPunct="1">
        <a:spcBef>
          <a:spcPct val="0"/>
        </a:spcBef>
        <a:spcAft>
          <a:spcPct val="0"/>
        </a:spcAft>
        <a:defRPr sz="3600">
          <a:solidFill>
            <a:srgbClr val="800080"/>
          </a:solidFill>
          <a:latin typeface="Arial" charset="0"/>
        </a:defRPr>
      </a:lvl8pPr>
      <a:lvl9pPr marL="1828800" algn="l" rtl="0" eaLnBrk="1" fontAlgn="base" hangingPunct="1">
        <a:spcBef>
          <a:spcPct val="0"/>
        </a:spcBef>
        <a:spcAft>
          <a:spcPct val="0"/>
        </a:spcAft>
        <a:defRPr sz="3600">
          <a:solidFill>
            <a:srgbClr val="800080"/>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hyperlink" Target="https://research-methodology.net/mcdonalds-segmentation-targeting-and-positioning/"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447800"/>
            <a:ext cx="77724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sz="2800" dirty="0"/>
              <a:t>Usability Engineering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776662"/>
          </a:xfrm>
        </p:spPr>
        <p:txBody>
          <a:bodyPr>
            <a:normAutofit/>
          </a:bodyPr>
          <a:lstStyle/>
          <a:p>
            <a:pPr marL="342900" indent="-342900">
              <a:buFont typeface="Arial" pitchFamily="34" charset="0"/>
              <a:buChar char="•"/>
            </a:pPr>
            <a:r>
              <a:rPr lang="en-US" sz="3200" dirty="0"/>
              <a:t>Attributes of system acceptability</a:t>
            </a:r>
            <a:endParaRPr lang="en-US" sz="2400" dirty="0"/>
          </a:p>
          <a:p>
            <a:pPr marL="57150" indent="-285750">
              <a:buFont typeface="Arial" pitchFamily="34" charset="0"/>
              <a:buChar char="•"/>
            </a:pPr>
            <a:r>
              <a:rPr lang="en-US" sz="3200" dirty="0"/>
              <a:t>Usability and User Experience</a:t>
            </a:r>
          </a:p>
          <a:p>
            <a:pPr marL="57150" indent="-285750">
              <a:buFont typeface="Arial" pitchFamily="34" charset="0"/>
              <a:buChar char="•"/>
            </a:pPr>
            <a:r>
              <a:rPr lang="en-US" sz="3200" dirty="0"/>
              <a:t>Interdisciplinary Nature of HCI  </a:t>
            </a:r>
          </a:p>
          <a:p>
            <a:pPr marL="57150" indent="-285750">
              <a:buFont typeface="Arial" pitchFamily="34" charset="0"/>
              <a:buChar char="•"/>
            </a:pPr>
            <a:r>
              <a:rPr lang="en-US" sz="3200" dirty="0"/>
              <a:t>Target Market &amp; User Classification</a:t>
            </a:r>
          </a:p>
          <a:p>
            <a:pPr marL="57150" indent="-285750">
              <a:buFont typeface="Arial" pitchFamily="34" charset="0"/>
              <a:buChar char="•"/>
            </a:pPr>
            <a:endParaRPr lang="en-US" sz="3200" dirty="0"/>
          </a:p>
        </p:txBody>
      </p:sp>
      <p:sp>
        <p:nvSpPr>
          <p:cNvPr id="2" name="Title 1"/>
          <p:cNvSpPr>
            <a:spLocks noGrp="1"/>
          </p:cNvSpPr>
          <p:nvPr>
            <p:ph type="title"/>
          </p:nvPr>
        </p:nvSpPr>
        <p:spPr/>
        <p:txBody>
          <a:bodyPr/>
          <a:lstStyle/>
          <a:p>
            <a:r>
              <a:rPr lang="en-US" dirty="0"/>
              <a:t>Today’s Lecture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Engineering</a:t>
            </a:r>
          </a:p>
        </p:txBody>
      </p:sp>
      <p:sp>
        <p:nvSpPr>
          <p:cNvPr id="3" name="Content Placeholder 2"/>
          <p:cNvSpPr>
            <a:spLocks noGrp="1"/>
          </p:cNvSpPr>
          <p:nvPr>
            <p:ph sz="quarter" idx="1"/>
          </p:nvPr>
        </p:nvSpPr>
        <p:spPr/>
        <p:txBody>
          <a:bodyPr/>
          <a:lstStyle/>
          <a:p>
            <a:pPr algn="ctr">
              <a:buNone/>
            </a:pPr>
            <a:endParaRPr lang="en-US" dirty="0"/>
          </a:p>
          <a:p>
            <a:pPr algn="ctr">
              <a:buNone/>
            </a:pPr>
            <a:endParaRPr lang="en-US" dirty="0"/>
          </a:p>
          <a:p>
            <a:pPr algn="ctr">
              <a:buNone/>
            </a:pPr>
            <a:r>
              <a:rPr lang="en-US" dirty="0"/>
              <a:t>An iterative process to improve usability of a system.</a:t>
            </a:r>
          </a:p>
        </p:txBody>
      </p:sp>
    </p:spTree>
    <p:extLst>
      <p:ext uri="{BB962C8B-B14F-4D97-AF65-F5344CB8AC3E}">
        <p14:creationId xmlns:p14="http://schemas.microsoft.com/office/powerpoint/2010/main" val="142501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Attributes of System Acceptability</a:t>
            </a:r>
          </a:p>
        </p:txBody>
      </p:sp>
      <p:pic>
        <p:nvPicPr>
          <p:cNvPr id="1026" name="Picture 2"/>
          <p:cNvPicPr>
            <a:picLocks noGrp="1" noChangeAspect="1" noChangeArrowheads="1"/>
          </p:cNvPicPr>
          <p:nvPr>
            <p:ph sz="quarter" idx="1"/>
          </p:nvPr>
        </p:nvPicPr>
        <p:blipFill>
          <a:blip r:embed="rId3" cstate="print"/>
          <a:srcRect/>
          <a:stretch>
            <a:fillRect/>
          </a:stretch>
        </p:blipFill>
        <p:spPr bwMode="auto">
          <a:xfrm>
            <a:off x="315488" y="1628774"/>
            <a:ext cx="8637345" cy="4695826"/>
          </a:xfrm>
          <a:prstGeom prst="rect">
            <a:avLst/>
          </a:prstGeom>
          <a:noFill/>
          <a:ln w="9525">
            <a:noFill/>
            <a:miter lim="800000"/>
            <a:headEnd/>
            <a:tailEnd/>
          </a:ln>
          <a:effectLst/>
        </p:spPr>
      </p:pic>
    </p:spTree>
    <p:extLst>
      <p:ext uri="{BB962C8B-B14F-4D97-AF65-F5344CB8AC3E}">
        <p14:creationId xmlns:p14="http://schemas.microsoft.com/office/powerpoint/2010/main" val="2397265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Users can do what they need to or want to do. </a:t>
            </a:r>
          </a:p>
        </p:txBody>
      </p:sp>
      <p:sp>
        <p:nvSpPr>
          <p:cNvPr id="4" name="Title 3"/>
          <p:cNvSpPr>
            <a:spLocks noGrp="1"/>
          </p:cNvSpPr>
          <p:nvPr>
            <p:ph type="title"/>
          </p:nvPr>
        </p:nvSpPr>
        <p:spPr/>
        <p:txBody>
          <a:bodyPr/>
          <a:lstStyle/>
          <a:p>
            <a:r>
              <a:rPr lang="en-US" dirty="0"/>
              <a:t>Utility</a:t>
            </a:r>
          </a:p>
        </p:txBody>
      </p:sp>
    </p:spTree>
    <p:extLst>
      <p:ext uri="{BB962C8B-B14F-4D97-AF65-F5344CB8AC3E}">
        <p14:creationId xmlns:p14="http://schemas.microsoft.com/office/powerpoint/2010/main" val="61023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Utility</a:t>
            </a:r>
          </a:p>
        </p:txBody>
      </p:sp>
      <p:sp>
        <p:nvSpPr>
          <p:cNvPr id="5" name="Text Placeholder 4"/>
          <p:cNvSpPr>
            <a:spLocks noGrp="1"/>
          </p:cNvSpPr>
          <p:nvPr>
            <p:ph sz="quarter" idx="1"/>
          </p:nvPr>
        </p:nvSpPr>
        <p:spPr/>
        <p:txBody>
          <a:bodyPr/>
          <a:lstStyle/>
          <a:p>
            <a:r>
              <a:rPr lang="en-US" dirty="0"/>
              <a:t>High utility </a:t>
            </a:r>
          </a:p>
          <a:p>
            <a:pPr lvl="1"/>
            <a:r>
              <a:rPr lang="en-US" dirty="0"/>
              <a:t> Scientific calculator provides many mathematical operations, built-in formulae, and is programmable </a:t>
            </a:r>
          </a:p>
          <a:p>
            <a:r>
              <a:rPr lang="en-US" dirty="0"/>
              <a:t>Low utility</a:t>
            </a:r>
          </a:p>
          <a:p>
            <a:pPr lvl="1"/>
            <a:r>
              <a:rPr lang="en-US" dirty="0"/>
              <a:t> Software drawing tool does not allow free-hand drawing but only supports polygon shape drawing</a:t>
            </a:r>
          </a:p>
        </p:txBody>
      </p:sp>
    </p:spTree>
    <p:extLst>
      <p:ext uri="{BB962C8B-B14F-4D97-AF65-F5344CB8AC3E}">
        <p14:creationId xmlns:p14="http://schemas.microsoft.com/office/powerpoint/2010/main" val="3723021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More than just </a:t>
            </a:r>
            <a:r>
              <a:rPr lang="en-US" b="1" dirty="0"/>
              <a:t>‘easy to use’</a:t>
            </a:r>
          </a:p>
        </p:txBody>
      </p:sp>
      <p:sp>
        <p:nvSpPr>
          <p:cNvPr id="4" name="Title 3"/>
          <p:cNvSpPr>
            <a:spLocks noGrp="1"/>
          </p:cNvSpPr>
          <p:nvPr>
            <p:ph type="title"/>
          </p:nvPr>
        </p:nvSpPr>
        <p:spPr/>
        <p:txBody>
          <a:bodyPr/>
          <a:lstStyle/>
          <a:p>
            <a:r>
              <a:rPr lang="en-US" dirty="0"/>
              <a:t>Usability </a:t>
            </a:r>
          </a:p>
        </p:txBody>
      </p:sp>
      <p:pic>
        <p:nvPicPr>
          <p:cNvPr id="6" name="Picture 5"/>
          <p:cNvPicPr>
            <a:picLocks noChangeAspect="1"/>
          </p:cNvPicPr>
          <p:nvPr/>
        </p:nvPicPr>
        <p:blipFill>
          <a:blip r:embed="rId2"/>
          <a:stretch>
            <a:fillRect/>
          </a:stretch>
        </p:blipFill>
        <p:spPr>
          <a:xfrm>
            <a:off x="1143000" y="3564572"/>
            <a:ext cx="6705600" cy="2162175"/>
          </a:xfrm>
          <a:prstGeom prst="rect">
            <a:avLst/>
          </a:prstGeom>
        </p:spPr>
      </p:pic>
    </p:spTree>
    <p:extLst>
      <p:ext uri="{BB962C8B-B14F-4D97-AF65-F5344CB8AC3E}">
        <p14:creationId xmlns:p14="http://schemas.microsoft.com/office/powerpoint/2010/main" val="1014665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a:t>
            </a:r>
          </a:p>
        </p:txBody>
      </p:sp>
      <p:sp>
        <p:nvSpPr>
          <p:cNvPr id="3" name="Content Placeholder 2"/>
          <p:cNvSpPr>
            <a:spLocks noGrp="1"/>
          </p:cNvSpPr>
          <p:nvPr>
            <p:ph sz="quarter" idx="1"/>
          </p:nvPr>
        </p:nvSpPr>
        <p:spPr/>
        <p:txBody>
          <a:bodyPr>
            <a:normAutofit fontScale="92500" lnSpcReduction="20000"/>
          </a:bodyPr>
          <a:lstStyle/>
          <a:p>
            <a:pPr>
              <a:buNone/>
            </a:pPr>
            <a:r>
              <a:rPr lang="en-US" dirty="0"/>
              <a:t>The ISO defines usability as </a:t>
            </a:r>
          </a:p>
          <a:p>
            <a:pPr algn="just">
              <a:buNone/>
            </a:pPr>
            <a:endParaRPr lang="en-US" dirty="0"/>
          </a:p>
          <a:p>
            <a:pPr algn="just">
              <a:buNone/>
            </a:pPr>
            <a:r>
              <a:rPr lang="en-US" dirty="0"/>
              <a:t>“the extent to which a product can be used by specified users to achieve specified goals with effectiveness, efficiency and satisfaction in a specified context of use.” </a:t>
            </a:r>
          </a:p>
          <a:p>
            <a:pPr algn="just">
              <a:buNone/>
            </a:pPr>
            <a:endParaRPr lang="en-US" i="1" dirty="0"/>
          </a:p>
          <a:p>
            <a:pPr algn="r">
              <a:buNone/>
            </a:pPr>
            <a:r>
              <a:rPr lang="en-US" i="1" dirty="0"/>
              <a:t>ISO [1998]. Ergonomic Requirements for Office Work with Visual Display Terminals (VDTs) – Part 11: Guidance on Usability </a:t>
            </a:r>
          </a:p>
          <a:p>
            <a:pPr algn="r">
              <a:buNone/>
            </a:pPr>
            <a:r>
              <a:rPr lang="en-US" i="1" dirty="0"/>
              <a:t>(ISO 9241-11:1998)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dirty="0"/>
              <a:t>Usability?</a:t>
            </a:r>
          </a:p>
        </p:txBody>
      </p:sp>
      <p:grpSp>
        <p:nvGrpSpPr>
          <p:cNvPr id="8196" name="Group 7"/>
          <p:cNvGrpSpPr>
            <a:grpSpLocks/>
          </p:cNvGrpSpPr>
          <p:nvPr/>
        </p:nvGrpSpPr>
        <p:grpSpPr bwMode="auto">
          <a:xfrm>
            <a:off x="3581400" y="1524000"/>
            <a:ext cx="5105400" cy="4576763"/>
            <a:chOff x="624" y="576"/>
            <a:chExt cx="3552" cy="3171"/>
          </a:xfrm>
        </p:grpSpPr>
        <p:pic>
          <p:nvPicPr>
            <p:cNvPr id="81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576"/>
              <a:ext cx="3552" cy="3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sm" len="sm"/>
                  <a:tailEnd type="none" w="sm" len="sm"/>
                </a14:hiddenLine>
              </a:ext>
            </a:extLst>
          </p:spPr>
        </p:pic>
        <p:sp>
          <p:nvSpPr>
            <p:cNvPr id="8198" name="AutoShape 5"/>
            <p:cNvSpPr>
              <a:spLocks noChangeArrowheads="1"/>
            </p:cNvSpPr>
            <p:nvPr/>
          </p:nvSpPr>
          <p:spPr bwMode="auto">
            <a:xfrm rot="-7439973">
              <a:off x="1704" y="1464"/>
              <a:ext cx="288" cy="144"/>
            </a:xfrm>
            <a:prstGeom prst="rightArrow">
              <a:avLst>
                <a:gd name="adj1" fmla="val 25000"/>
                <a:gd name="adj2" fmla="val 127083"/>
              </a:avLst>
            </a:prstGeom>
            <a:solidFill>
              <a:schemeClr val="bg1"/>
            </a:solidFill>
            <a:ln w="12700" algn="ctr">
              <a:solidFill>
                <a:schemeClr val="tx1"/>
              </a:solidFill>
              <a:miter lim="800000"/>
              <a:headEnd type="none" w="sm" len="sm"/>
              <a:tailEnd type="none" w="sm" len="sm"/>
            </a:ln>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grpSp>
      <p:sp>
        <p:nvSpPr>
          <p:cNvPr id="3" name="TextBox 2"/>
          <p:cNvSpPr txBox="1"/>
          <p:nvPr/>
        </p:nvSpPr>
        <p:spPr>
          <a:xfrm>
            <a:off x="533400" y="1752600"/>
            <a:ext cx="2819400" cy="3046988"/>
          </a:xfrm>
          <a:prstGeom prst="rect">
            <a:avLst/>
          </a:prstGeom>
          <a:noFill/>
        </p:spPr>
        <p:txBody>
          <a:bodyPr wrap="square" rtlCol="0">
            <a:spAutoFit/>
          </a:bodyPr>
          <a:lstStyle/>
          <a:p>
            <a:pPr fontAlgn="base">
              <a:spcBef>
                <a:spcPct val="0"/>
              </a:spcBef>
              <a:spcAft>
                <a:spcPct val="0"/>
              </a:spcAft>
            </a:pPr>
            <a:r>
              <a:rPr lang="en-US" sz="2400" dirty="0">
                <a:solidFill>
                  <a:srgbClr val="000000"/>
                </a:solidFill>
                <a:cs typeface="Times New Roman" pitchFamily="18" charset="0"/>
              </a:rPr>
              <a:t>Gimp windows had no menus – instead, right-click to get a popup menu and navigate further.  Is this a fast way to select commands?</a:t>
            </a:r>
          </a:p>
        </p:txBody>
      </p:sp>
      <p:sp>
        <p:nvSpPr>
          <p:cNvPr id="2" name="Slide Number Placeholder 1"/>
          <p:cNvSpPr>
            <a:spLocks noGrp="1"/>
          </p:cNvSpPr>
          <p:nvPr>
            <p:ph type="sldNum" sz="quarter" idx="12"/>
          </p:nvPr>
        </p:nvSpPr>
        <p:spPr/>
        <p:txBody>
          <a:bodyPr/>
          <a:lstStyle/>
          <a:p>
            <a:pPr>
              <a:defRPr/>
            </a:pPr>
            <a:fld id="{13AE8722-9256-42EB-B779-63A99D304B0B}" type="slidenum">
              <a:rPr lang="en-US" smtClean="0"/>
              <a:pPr>
                <a:defRPr/>
              </a:pPr>
              <a:t>9</a:t>
            </a:fld>
            <a:endParaRPr lang="en-US"/>
          </a:p>
        </p:txBody>
      </p:sp>
    </p:spTree>
    <p:extLst>
      <p:ext uri="{BB962C8B-B14F-4D97-AF65-F5344CB8AC3E}">
        <p14:creationId xmlns:p14="http://schemas.microsoft.com/office/powerpoint/2010/main" val="4018187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normAutofit fontScale="85000" lnSpcReduction="20000"/>
          </a:bodyPr>
          <a:lstStyle/>
          <a:p>
            <a:endParaRPr lang="en-US" dirty="0"/>
          </a:p>
          <a:p>
            <a:r>
              <a:rPr lang="en-US" dirty="0"/>
              <a:t>How easy is the system to learn for a </a:t>
            </a:r>
            <a:r>
              <a:rPr lang="en-US" b="1" dirty="0"/>
              <a:t>novice user</a:t>
            </a:r>
            <a:r>
              <a:rPr lang="en-US" dirty="0"/>
              <a:t>?</a:t>
            </a:r>
          </a:p>
          <a:p>
            <a:endParaRPr lang="en-US" dirty="0"/>
          </a:p>
          <a:p>
            <a:r>
              <a:rPr lang="en-US" dirty="0"/>
              <a:t>How we learn a New User interface?</a:t>
            </a:r>
          </a:p>
        </p:txBody>
      </p:sp>
      <p:sp>
        <p:nvSpPr>
          <p:cNvPr id="4" name="Title 3"/>
          <p:cNvSpPr>
            <a:spLocks noGrp="1"/>
          </p:cNvSpPr>
          <p:nvPr>
            <p:ph type="title"/>
          </p:nvPr>
        </p:nvSpPr>
        <p:spPr/>
        <p:txBody>
          <a:bodyPr/>
          <a:lstStyle/>
          <a:p>
            <a:r>
              <a:rPr lang="en-US" dirty="0"/>
              <a:t>1. Learnability</a:t>
            </a:r>
          </a:p>
        </p:txBody>
      </p:sp>
    </p:spTree>
    <p:extLst>
      <p:ext uri="{BB962C8B-B14F-4D97-AF65-F5344CB8AC3E}">
        <p14:creationId xmlns:p14="http://schemas.microsoft.com/office/powerpoint/2010/main" val="348924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5" y="228600"/>
            <a:ext cx="8470773" cy="990600"/>
          </a:xfrm>
        </p:spPr>
        <p:txBody>
          <a:bodyPr>
            <a:normAutofit/>
          </a:bodyPr>
          <a:lstStyle/>
          <a:p>
            <a:r>
              <a:rPr lang="en-US" dirty="0"/>
              <a:t>How we learn a New User interface?</a:t>
            </a:r>
          </a:p>
        </p:txBody>
      </p:sp>
      <p:pic>
        <p:nvPicPr>
          <p:cNvPr id="4" name="Content Placeholder 3"/>
          <p:cNvPicPr>
            <a:picLocks noGrp="1" noChangeAspect="1"/>
          </p:cNvPicPr>
          <p:nvPr>
            <p:ph sz="quarter" idx="1"/>
          </p:nvPr>
        </p:nvPicPr>
        <p:blipFill>
          <a:blip r:embed="rId3"/>
          <a:stretch>
            <a:fillRect/>
          </a:stretch>
        </p:blipFill>
        <p:spPr>
          <a:xfrm>
            <a:off x="1201824" y="1600200"/>
            <a:ext cx="6975301" cy="4495800"/>
          </a:xfrm>
          <a:prstGeom prst="rect">
            <a:avLst/>
          </a:prstGeom>
        </p:spPr>
      </p:pic>
    </p:spTree>
    <p:extLst>
      <p:ext uri="{BB962C8B-B14F-4D97-AF65-F5344CB8AC3E}">
        <p14:creationId xmlns:p14="http://schemas.microsoft.com/office/powerpoint/2010/main" val="4003662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People Learn by Doing </a:t>
            </a:r>
          </a:p>
        </p:txBody>
      </p:sp>
      <p:sp>
        <p:nvSpPr>
          <p:cNvPr id="3" name="Content Placeholder 2"/>
          <p:cNvSpPr>
            <a:spLocks noGrp="1"/>
          </p:cNvSpPr>
          <p:nvPr>
            <p:ph sz="quarter" idx="1"/>
          </p:nvPr>
        </p:nvSpPr>
        <p:spPr/>
        <p:txBody>
          <a:bodyPr/>
          <a:lstStyle/>
          <a:p>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47801"/>
            <a:ext cx="92963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7990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Rectangle 1032"/>
          <p:cNvSpPr>
            <a:spLocks noGrp="1" noChangeArrowheads="1"/>
          </p:cNvSpPr>
          <p:nvPr>
            <p:ph type="title"/>
          </p:nvPr>
        </p:nvSpPr>
        <p:spPr/>
        <p:txBody>
          <a:bodyPr>
            <a:normAutofit fontScale="90000"/>
          </a:bodyPr>
          <a:lstStyle/>
          <a:p>
            <a:r>
              <a:rPr lang="en-US" dirty="0"/>
              <a:t>Input format, example and default helps learnability</a:t>
            </a:r>
          </a:p>
        </p:txBody>
      </p:sp>
      <p:sp>
        <p:nvSpPr>
          <p:cNvPr id="80905" name="Rectangle 1033"/>
          <p:cNvSpPr>
            <a:spLocks noGrp="1" noChangeArrowheads="1"/>
          </p:cNvSpPr>
          <p:nvPr>
            <p:ph sz="quarter" idx="1"/>
          </p:nvPr>
        </p:nvSpPr>
        <p:spPr/>
        <p:txBody>
          <a:bodyPr/>
          <a:lstStyle/>
          <a:p>
            <a:pPr marL="0" indent="0">
              <a:buNone/>
            </a:pPr>
            <a:br>
              <a:rPr lang="en-US" dirty="0"/>
            </a:br>
            <a:br>
              <a:rPr lang="en-US" dirty="0"/>
            </a:br>
            <a:br>
              <a:rPr lang="en-US" dirty="0"/>
            </a:br>
            <a:br>
              <a:rPr lang="en-US" dirty="0"/>
            </a:br>
            <a:br>
              <a:rPr lang="en-US" dirty="0"/>
            </a:br>
            <a:br>
              <a:rPr lang="en-US" dirty="0"/>
            </a:br>
            <a:endParaRPr lang="en-US" dirty="0"/>
          </a:p>
        </p:txBody>
      </p:sp>
      <p:pic>
        <p:nvPicPr>
          <p:cNvPr id="80901" name="Picture 1029"/>
          <p:cNvPicPr>
            <a:picLocks noChangeAspect="1" noChangeArrowheads="1"/>
          </p:cNvPicPr>
          <p:nvPr/>
        </p:nvPicPr>
        <p:blipFill>
          <a:blip r:embed="rId3" cstate="print"/>
          <a:srcRect/>
          <a:stretch>
            <a:fillRect/>
          </a:stretch>
        </p:blipFill>
        <p:spPr bwMode="auto">
          <a:xfrm>
            <a:off x="473300" y="2209801"/>
            <a:ext cx="3610347" cy="3311854"/>
          </a:xfrm>
          <a:prstGeom prst="rect">
            <a:avLst/>
          </a:prstGeom>
          <a:noFill/>
          <a:ln w="12699">
            <a:noFill/>
            <a:miter lim="800000"/>
            <a:headEnd type="none" w="sm" len="sm"/>
            <a:tailEnd type="none" w="sm" len="sm"/>
          </a:ln>
          <a:effectLst/>
        </p:spPr>
      </p:pic>
      <p:pic>
        <p:nvPicPr>
          <p:cNvPr id="80903" name="Picture 1031"/>
          <p:cNvPicPr>
            <a:picLocks noChangeAspect="1" noChangeArrowheads="1"/>
          </p:cNvPicPr>
          <p:nvPr/>
        </p:nvPicPr>
        <p:blipFill>
          <a:blip r:embed="rId4" cstate="print"/>
          <a:srcRect/>
          <a:stretch>
            <a:fillRect/>
          </a:stretch>
        </p:blipFill>
        <p:spPr bwMode="auto">
          <a:xfrm>
            <a:off x="4151689" y="1981200"/>
            <a:ext cx="4976226" cy="3686093"/>
          </a:xfrm>
          <a:prstGeom prst="rect">
            <a:avLst/>
          </a:prstGeom>
          <a:noFill/>
          <a:ln w="12699">
            <a:noFill/>
            <a:miter lim="800000"/>
            <a:headEnd type="none" w="sm" len="sm"/>
            <a:tailEnd type="none" w="sm" len="sm"/>
          </a:ln>
          <a:effectLst/>
        </p:spPr>
      </p:pic>
    </p:spTree>
    <p:extLst>
      <p:ext uri="{BB962C8B-B14F-4D97-AF65-F5344CB8AC3E}">
        <p14:creationId xmlns:p14="http://schemas.microsoft.com/office/powerpoint/2010/main" val="233779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F702-3D09-4D7E-A152-8EB584950536}"/>
              </a:ext>
            </a:extLst>
          </p:cNvPr>
          <p:cNvSpPr>
            <a:spLocks noGrp="1"/>
          </p:cNvSpPr>
          <p:nvPr>
            <p:ph type="title"/>
          </p:nvPr>
        </p:nvSpPr>
        <p:spPr/>
        <p:txBody>
          <a:bodyPr>
            <a:normAutofit fontScale="90000"/>
          </a:bodyPr>
          <a:lstStyle/>
          <a:p>
            <a:r>
              <a:rPr lang="en-US" dirty="0"/>
              <a:t>Use familiar icons to improve learnability</a:t>
            </a:r>
            <a:endParaRPr lang="en-PK" dirty="0"/>
          </a:p>
        </p:txBody>
      </p:sp>
      <p:pic>
        <p:nvPicPr>
          <p:cNvPr id="5" name="Content Placeholder 4">
            <a:extLst>
              <a:ext uri="{FF2B5EF4-FFF2-40B4-BE49-F238E27FC236}">
                <a16:creationId xmlns:a16="http://schemas.microsoft.com/office/drawing/2014/main" id="{86A1E40E-1B9A-456D-B89C-82148F215B45}"/>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17101" y="2362200"/>
            <a:ext cx="7144747" cy="2438400"/>
          </a:xfrm>
        </p:spPr>
      </p:pic>
    </p:spTree>
    <p:extLst>
      <p:ext uri="{BB962C8B-B14F-4D97-AF65-F5344CB8AC3E}">
        <p14:creationId xmlns:p14="http://schemas.microsoft.com/office/powerpoint/2010/main" val="234177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337-30C3-4F28-B65C-458690212A5A}"/>
              </a:ext>
            </a:extLst>
          </p:cNvPr>
          <p:cNvSpPr>
            <a:spLocks noGrp="1"/>
          </p:cNvSpPr>
          <p:nvPr>
            <p:ph type="title"/>
          </p:nvPr>
        </p:nvSpPr>
        <p:spPr/>
        <p:txBody>
          <a:bodyPr/>
          <a:lstStyle/>
          <a:p>
            <a:r>
              <a:rPr lang="en-US" dirty="0"/>
              <a:t>How will we measure learnability?</a:t>
            </a:r>
          </a:p>
        </p:txBody>
      </p:sp>
      <p:sp>
        <p:nvSpPr>
          <p:cNvPr id="3" name="Content Placeholder 2">
            <a:extLst>
              <a:ext uri="{FF2B5EF4-FFF2-40B4-BE49-F238E27FC236}">
                <a16:creationId xmlns:a16="http://schemas.microsoft.com/office/drawing/2014/main" id="{9B492C0F-3B23-403F-9913-0B6108CE8C88}"/>
              </a:ext>
            </a:extLst>
          </p:cNvPr>
          <p:cNvSpPr>
            <a:spLocks noGrp="1"/>
          </p:cNvSpPr>
          <p:nvPr>
            <p:ph sz="quarter" idx="1"/>
          </p:nvPr>
        </p:nvSpPr>
        <p:spPr/>
        <p:txBody>
          <a:bodyPr/>
          <a:lstStyle/>
          <a:p>
            <a:r>
              <a:rPr lang="en-US" dirty="0"/>
              <a:t>Time </a:t>
            </a:r>
          </a:p>
          <a:p>
            <a:r>
              <a:rPr lang="en-US" dirty="0"/>
              <a:t>No of retries</a:t>
            </a:r>
          </a:p>
          <a:p>
            <a:r>
              <a:rPr lang="en-US" dirty="0"/>
              <a:t>No of errors produced</a:t>
            </a:r>
          </a:p>
          <a:p>
            <a:endParaRPr lang="en-US" dirty="0"/>
          </a:p>
          <a:p>
            <a:endParaRPr lang="en-US" dirty="0"/>
          </a:p>
          <a:p>
            <a:r>
              <a:rPr lang="en-US" dirty="0"/>
              <a:t>Can time be solely relied upon as a measurement? </a:t>
            </a:r>
          </a:p>
        </p:txBody>
      </p:sp>
    </p:spTree>
    <p:extLst>
      <p:ext uri="{BB962C8B-B14F-4D97-AF65-F5344CB8AC3E}">
        <p14:creationId xmlns:p14="http://schemas.microsoft.com/office/powerpoint/2010/main" val="102181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How easy a system is to remember how to use, once learned for a returning user. </a:t>
            </a:r>
          </a:p>
        </p:txBody>
      </p:sp>
      <p:sp>
        <p:nvSpPr>
          <p:cNvPr id="4" name="Title 3"/>
          <p:cNvSpPr>
            <a:spLocks noGrp="1"/>
          </p:cNvSpPr>
          <p:nvPr>
            <p:ph type="title"/>
          </p:nvPr>
        </p:nvSpPr>
        <p:spPr/>
        <p:txBody>
          <a:bodyPr/>
          <a:lstStyle/>
          <a:p>
            <a:r>
              <a:rPr lang="en-US" dirty="0"/>
              <a:t>2. Memorability</a:t>
            </a:r>
          </a:p>
        </p:txBody>
      </p:sp>
    </p:spTree>
    <p:extLst>
      <p:ext uri="{BB962C8B-B14F-4D97-AF65-F5344CB8AC3E}">
        <p14:creationId xmlns:p14="http://schemas.microsoft.com/office/powerpoint/2010/main" val="408124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Memorability </a:t>
            </a:r>
          </a:p>
        </p:txBody>
      </p:sp>
      <p:sp>
        <p:nvSpPr>
          <p:cNvPr id="5" name="Content Placeholder 4"/>
          <p:cNvSpPr>
            <a:spLocks noGrp="1"/>
          </p:cNvSpPr>
          <p:nvPr>
            <p:ph sz="quarter" idx="1"/>
          </p:nvPr>
        </p:nvSpPr>
        <p:spPr/>
        <p:txBody>
          <a:bodyPr/>
          <a:lstStyle/>
          <a:p>
            <a:r>
              <a:rPr lang="en-US" dirty="0"/>
              <a:t>If a website has good learnability and memorability, visitors are sure to keep coming back for more. </a:t>
            </a:r>
          </a:p>
          <a:p>
            <a:endParaRPr lang="en-US" dirty="0"/>
          </a:p>
          <a:p>
            <a:r>
              <a:rPr lang="en-US" dirty="0"/>
              <a:t>When we are designing a website </a:t>
            </a:r>
          </a:p>
          <a:p>
            <a:pPr lvl="1"/>
            <a:r>
              <a:rPr lang="en-US" dirty="0"/>
              <a:t>create logical steps</a:t>
            </a:r>
          </a:p>
          <a:p>
            <a:pPr lvl="1"/>
            <a:r>
              <a:rPr lang="en-US" dirty="0"/>
              <a:t>consistent design throughout the site</a:t>
            </a:r>
          </a:p>
          <a:p>
            <a:pPr lvl="1"/>
            <a:r>
              <a:rPr lang="en-US" dirty="0"/>
              <a:t>Meaningful icons etc.</a:t>
            </a:r>
          </a:p>
        </p:txBody>
      </p:sp>
    </p:spTree>
    <p:extLst>
      <p:ext uri="{BB962C8B-B14F-4D97-AF65-F5344CB8AC3E}">
        <p14:creationId xmlns:p14="http://schemas.microsoft.com/office/powerpoint/2010/main" val="373611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337-30C3-4F28-B65C-458690212A5A}"/>
              </a:ext>
            </a:extLst>
          </p:cNvPr>
          <p:cNvSpPr>
            <a:spLocks noGrp="1"/>
          </p:cNvSpPr>
          <p:nvPr>
            <p:ph type="title"/>
          </p:nvPr>
        </p:nvSpPr>
        <p:spPr/>
        <p:txBody>
          <a:bodyPr/>
          <a:lstStyle/>
          <a:p>
            <a:r>
              <a:rPr lang="en-US" dirty="0"/>
              <a:t>How will we measure memorability?</a:t>
            </a:r>
          </a:p>
        </p:txBody>
      </p:sp>
      <p:sp>
        <p:nvSpPr>
          <p:cNvPr id="3" name="Content Placeholder 2">
            <a:extLst>
              <a:ext uri="{FF2B5EF4-FFF2-40B4-BE49-F238E27FC236}">
                <a16:creationId xmlns:a16="http://schemas.microsoft.com/office/drawing/2014/main" id="{9B492C0F-3B23-403F-9913-0B6108CE8C88}"/>
              </a:ext>
            </a:extLst>
          </p:cNvPr>
          <p:cNvSpPr>
            <a:spLocks noGrp="1"/>
          </p:cNvSpPr>
          <p:nvPr>
            <p:ph sz="quarter" idx="1"/>
          </p:nvPr>
        </p:nvSpPr>
        <p:spPr/>
        <p:txBody>
          <a:bodyPr/>
          <a:lstStyle/>
          <a:p>
            <a:r>
              <a:rPr lang="en-US" dirty="0"/>
              <a:t>Time </a:t>
            </a:r>
          </a:p>
          <a:p>
            <a:r>
              <a:rPr lang="en-US" dirty="0"/>
              <a:t>No of retries</a:t>
            </a:r>
          </a:p>
          <a:p>
            <a:r>
              <a:rPr lang="en-US" dirty="0"/>
              <a:t>No of errors produced</a:t>
            </a:r>
          </a:p>
          <a:p>
            <a:endParaRPr lang="en-US" dirty="0"/>
          </a:p>
          <a:p>
            <a:pPr marL="0" indent="0">
              <a:buNone/>
            </a:pPr>
            <a:endParaRPr lang="en-US" dirty="0"/>
          </a:p>
        </p:txBody>
      </p:sp>
    </p:spTree>
    <p:extLst>
      <p:ext uri="{BB962C8B-B14F-4D97-AF65-F5344CB8AC3E}">
        <p14:creationId xmlns:p14="http://schemas.microsoft.com/office/powerpoint/2010/main" val="203171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Refers to the way a system supports expert/experienced users in carrying out their tasks.</a:t>
            </a:r>
          </a:p>
          <a:p>
            <a:endParaRPr lang="en-US" dirty="0"/>
          </a:p>
          <a:p>
            <a:endParaRPr lang="en-US" dirty="0"/>
          </a:p>
        </p:txBody>
      </p:sp>
      <p:sp>
        <p:nvSpPr>
          <p:cNvPr id="4" name="Title 3"/>
          <p:cNvSpPr>
            <a:spLocks noGrp="1"/>
          </p:cNvSpPr>
          <p:nvPr>
            <p:ph type="title"/>
          </p:nvPr>
        </p:nvSpPr>
        <p:spPr/>
        <p:txBody>
          <a:bodyPr/>
          <a:lstStyle/>
          <a:p>
            <a:r>
              <a:rPr lang="en-US" dirty="0"/>
              <a:t>3. Efficiency </a:t>
            </a:r>
          </a:p>
        </p:txBody>
      </p:sp>
    </p:spTree>
    <p:extLst>
      <p:ext uri="{BB962C8B-B14F-4D97-AF65-F5344CB8AC3E}">
        <p14:creationId xmlns:p14="http://schemas.microsoft.com/office/powerpoint/2010/main" val="2925474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sp>
        <p:nvSpPr>
          <p:cNvPr id="3" name="Content Placeholder 2"/>
          <p:cNvSpPr>
            <a:spLocks noGrp="1"/>
          </p:cNvSpPr>
          <p:nvPr>
            <p:ph sz="quarter" idx="1"/>
          </p:nvPr>
        </p:nvSpPr>
        <p:spPr/>
        <p:txBody>
          <a:bodyPr/>
          <a:lstStyle/>
          <a:p>
            <a:endParaRPr 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 y="1866900"/>
            <a:ext cx="8839201"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0089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sp>
        <p:nvSpPr>
          <p:cNvPr id="3" name="Content Placeholder 2"/>
          <p:cNvSpPr>
            <a:spLocks noGrp="1"/>
          </p:cNvSpPr>
          <p:nvPr>
            <p:ph sz="quarter" idx="1"/>
          </p:nvPr>
        </p:nvSpPr>
        <p:spPr>
          <a:xfrm>
            <a:off x="688848" y="2133600"/>
            <a:ext cx="7689385" cy="4495800"/>
          </a:xfrm>
        </p:spPr>
        <p:txBody>
          <a:bodyPr/>
          <a:lstStyle/>
          <a:p>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66888"/>
            <a:ext cx="8839200" cy="439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394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a:t>
            </a:r>
          </a:p>
        </p:txBody>
      </p:sp>
      <p:pic>
        <p:nvPicPr>
          <p:cNvPr id="8194"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7772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3144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Keyboard Shortcuts </a:t>
            </a:r>
          </a:p>
        </p:txBody>
      </p:sp>
      <p:pic>
        <p:nvPicPr>
          <p:cNvPr id="3074" name="Picture 2"/>
          <p:cNvPicPr>
            <a:picLocks noGrp="1" noChangeAspect="1" noChangeArrowheads="1"/>
          </p:cNvPicPr>
          <p:nvPr>
            <p:ph sz="quarter" idx="1"/>
          </p:nvPr>
        </p:nvPicPr>
        <p:blipFill rotWithShape="1">
          <a:blip r:embed="rId2">
            <a:extLst>
              <a:ext uri="{28A0092B-C50C-407E-A947-70E740481C1C}">
                <a14:useLocalDpi xmlns:a14="http://schemas.microsoft.com/office/drawing/2010/main" val="0"/>
              </a:ext>
            </a:extLst>
          </a:blip>
          <a:srcRect t="25423"/>
          <a:stretch/>
        </p:blipFill>
        <p:spPr bwMode="auto">
          <a:xfrm>
            <a:off x="838200" y="2743200"/>
            <a:ext cx="7639479"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1397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795349"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3329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Autocomplete</a:t>
            </a:r>
          </a:p>
        </p:txBody>
      </p:sp>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31267" y="1600200"/>
            <a:ext cx="751641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7105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337-30C3-4F28-B65C-458690212A5A}"/>
              </a:ext>
            </a:extLst>
          </p:cNvPr>
          <p:cNvSpPr>
            <a:spLocks noGrp="1"/>
          </p:cNvSpPr>
          <p:nvPr>
            <p:ph type="title"/>
          </p:nvPr>
        </p:nvSpPr>
        <p:spPr/>
        <p:txBody>
          <a:bodyPr/>
          <a:lstStyle/>
          <a:p>
            <a:r>
              <a:rPr lang="en-US" dirty="0"/>
              <a:t>How will we measure efficiency?</a:t>
            </a:r>
          </a:p>
        </p:txBody>
      </p:sp>
      <p:sp>
        <p:nvSpPr>
          <p:cNvPr id="3" name="Content Placeholder 2">
            <a:extLst>
              <a:ext uri="{FF2B5EF4-FFF2-40B4-BE49-F238E27FC236}">
                <a16:creationId xmlns:a16="http://schemas.microsoft.com/office/drawing/2014/main" id="{9B492C0F-3B23-403F-9913-0B6108CE8C88}"/>
              </a:ext>
            </a:extLst>
          </p:cNvPr>
          <p:cNvSpPr>
            <a:spLocks noGrp="1"/>
          </p:cNvSpPr>
          <p:nvPr>
            <p:ph sz="quarter" idx="1"/>
          </p:nvPr>
        </p:nvSpPr>
        <p:spPr/>
        <p:txBody>
          <a:bodyPr/>
          <a:lstStyle/>
          <a:p>
            <a:r>
              <a:rPr lang="en-US" dirty="0"/>
              <a:t>Time </a:t>
            </a:r>
          </a:p>
          <a:p>
            <a:endParaRPr lang="en-US" dirty="0"/>
          </a:p>
          <a:p>
            <a:pPr marL="0" indent="0">
              <a:buNone/>
            </a:pPr>
            <a:endParaRPr lang="en-US" dirty="0"/>
          </a:p>
        </p:txBody>
      </p:sp>
    </p:spTree>
    <p:extLst>
      <p:ext uri="{BB962C8B-B14F-4D97-AF65-F5344CB8AC3E}">
        <p14:creationId xmlns:p14="http://schemas.microsoft.com/office/powerpoint/2010/main" val="81459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normAutofit fontScale="77500" lnSpcReduction="20000"/>
          </a:bodyPr>
          <a:lstStyle/>
          <a:p>
            <a:r>
              <a:rPr lang="en-US" dirty="0"/>
              <a:t>Refers to how good a system at doing what it is supposed to do with an experienced user</a:t>
            </a:r>
          </a:p>
          <a:p>
            <a:endParaRPr lang="en-US" dirty="0"/>
          </a:p>
          <a:p>
            <a:r>
              <a:rPr lang="en-US" dirty="0"/>
              <a:t>Effectiveness is the completeness and accuracy with which users achieve specified goals</a:t>
            </a:r>
          </a:p>
          <a:p>
            <a:endParaRPr lang="en-US" dirty="0"/>
          </a:p>
        </p:txBody>
      </p:sp>
      <p:sp>
        <p:nvSpPr>
          <p:cNvPr id="4" name="Title 3"/>
          <p:cNvSpPr>
            <a:spLocks noGrp="1"/>
          </p:cNvSpPr>
          <p:nvPr>
            <p:ph type="title"/>
          </p:nvPr>
        </p:nvSpPr>
        <p:spPr/>
        <p:txBody>
          <a:bodyPr/>
          <a:lstStyle/>
          <a:p>
            <a:r>
              <a:rPr lang="en-US" dirty="0"/>
              <a:t>4. Effectiveness</a:t>
            </a:r>
          </a:p>
        </p:txBody>
      </p:sp>
    </p:spTree>
    <p:extLst>
      <p:ext uri="{BB962C8B-B14F-4D97-AF65-F5344CB8AC3E}">
        <p14:creationId xmlns:p14="http://schemas.microsoft.com/office/powerpoint/2010/main" val="1279772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 Effectiveness</a:t>
            </a:r>
          </a:p>
        </p:txBody>
      </p:sp>
      <p:pic>
        <p:nvPicPr>
          <p:cNvPr id="2" name="Content Placeholder 1"/>
          <p:cNvPicPr>
            <a:picLocks noGrp="1" noChangeAspect="1"/>
          </p:cNvPicPr>
          <p:nvPr>
            <p:ph sz="quarter" idx="1"/>
          </p:nvPr>
        </p:nvPicPr>
        <p:blipFill>
          <a:blip r:embed="rId3"/>
          <a:stretch>
            <a:fillRect/>
          </a:stretch>
        </p:blipFill>
        <p:spPr>
          <a:xfrm>
            <a:off x="612648" y="1502589"/>
            <a:ext cx="7998491" cy="5355411"/>
          </a:xfrm>
          <a:prstGeom prst="rect">
            <a:avLst/>
          </a:prstGeom>
        </p:spPr>
      </p:pic>
    </p:spTree>
    <p:extLst>
      <p:ext uri="{BB962C8B-B14F-4D97-AF65-F5344CB8AC3E}">
        <p14:creationId xmlns:p14="http://schemas.microsoft.com/office/powerpoint/2010/main" val="2849790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337-30C3-4F28-B65C-458690212A5A}"/>
              </a:ext>
            </a:extLst>
          </p:cNvPr>
          <p:cNvSpPr>
            <a:spLocks noGrp="1"/>
          </p:cNvSpPr>
          <p:nvPr>
            <p:ph type="title"/>
          </p:nvPr>
        </p:nvSpPr>
        <p:spPr/>
        <p:txBody>
          <a:bodyPr/>
          <a:lstStyle/>
          <a:p>
            <a:r>
              <a:rPr lang="en-US" dirty="0"/>
              <a:t>How will we measure effectiveness?</a:t>
            </a:r>
          </a:p>
        </p:txBody>
      </p:sp>
      <p:sp>
        <p:nvSpPr>
          <p:cNvPr id="3" name="Content Placeholder 2">
            <a:extLst>
              <a:ext uri="{FF2B5EF4-FFF2-40B4-BE49-F238E27FC236}">
                <a16:creationId xmlns:a16="http://schemas.microsoft.com/office/drawing/2014/main" id="{9B492C0F-3B23-403F-9913-0B6108CE8C88}"/>
              </a:ext>
            </a:extLst>
          </p:cNvPr>
          <p:cNvSpPr>
            <a:spLocks noGrp="1"/>
          </p:cNvSpPr>
          <p:nvPr>
            <p:ph sz="quarter" idx="1"/>
          </p:nvPr>
        </p:nvSpPr>
        <p:spPr/>
        <p:txBody>
          <a:bodyPr/>
          <a:lstStyle/>
          <a:p>
            <a:r>
              <a:rPr lang="en-US" dirty="0"/>
              <a:t>Did the user got his task done completely?</a:t>
            </a:r>
          </a:p>
        </p:txBody>
      </p:sp>
    </p:spTree>
    <p:extLst>
      <p:ext uri="{BB962C8B-B14F-4D97-AF65-F5344CB8AC3E}">
        <p14:creationId xmlns:p14="http://schemas.microsoft.com/office/powerpoint/2010/main" val="159767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fontScale="92500" lnSpcReduction="20000"/>
          </a:bodyPr>
          <a:lstStyle/>
          <a:p>
            <a:r>
              <a:rPr lang="en-US" dirty="0"/>
              <a:t>Refers to how good a system is to help users when something fails.</a:t>
            </a:r>
          </a:p>
          <a:p>
            <a:endParaRPr lang="en-US" dirty="0"/>
          </a:p>
          <a:p>
            <a:r>
              <a:rPr lang="en-US" dirty="0"/>
              <a:t>What can be different steps for this ?</a:t>
            </a:r>
          </a:p>
        </p:txBody>
      </p:sp>
      <p:sp>
        <p:nvSpPr>
          <p:cNvPr id="3" name="Title 2"/>
          <p:cNvSpPr>
            <a:spLocks noGrp="1"/>
          </p:cNvSpPr>
          <p:nvPr>
            <p:ph type="title"/>
          </p:nvPr>
        </p:nvSpPr>
        <p:spPr/>
        <p:txBody>
          <a:bodyPr/>
          <a:lstStyle/>
          <a:p>
            <a:r>
              <a:rPr lang="en-US" dirty="0"/>
              <a:t>5. Error Prevention </a:t>
            </a:r>
          </a:p>
        </p:txBody>
      </p:sp>
    </p:spTree>
    <p:extLst>
      <p:ext uri="{BB962C8B-B14F-4D97-AF65-F5344CB8AC3E}">
        <p14:creationId xmlns:p14="http://schemas.microsoft.com/office/powerpoint/2010/main" val="230175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Prevention</a:t>
            </a:r>
          </a:p>
        </p:txBody>
      </p:sp>
      <p:pic>
        <p:nvPicPr>
          <p:cNvPr id="9218"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839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279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Prevention</a:t>
            </a:r>
          </a:p>
        </p:txBody>
      </p:sp>
      <p:sp>
        <p:nvSpPr>
          <p:cNvPr id="3" name="Content Placeholder 2"/>
          <p:cNvSpPr>
            <a:spLocks noGrp="1"/>
          </p:cNvSpPr>
          <p:nvPr>
            <p:ph sz="quarter" idx="1"/>
          </p:nvPr>
        </p:nvSpPr>
        <p:spPr/>
        <p:txBody>
          <a:bodyPr/>
          <a:lstStyle/>
          <a:p>
            <a:r>
              <a:rPr lang="en-US" dirty="0"/>
              <a:t>Error messages</a:t>
            </a:r>
          </a:p>
          <a:p>
            <a:r>
              <a:rPr lang="en-US" dirty="0"/>
              <a:t>Error handling</a:t>
            </a:r>
          </a:p>
          <a:p>
            <a:r>
              <a:rPr lang="en-US" dirty="0"/>
              <a:t>Put constraints to avoid errors</a:t>
            </a:r>
          </a:p>
          <a:p>
            <a:r>
              <a:rPr lang="en-US" dirty="0"/>
              <a:t>Support undo </a:t>
            </a:r>
          </a:p>
          <a:p>
            <a:r>
              <a:rPr lang="en-US" dirty="0"/>
              <a:t>Confirmation dialogue</a:t>
            </a:r>
          </a:p>
          <a:p>
            <a:endParaRPr lang="en-US" dirty="0"/>
          </a:p>
        </p:txBody>
      </p:sp>
    </p:spTree>
    <p:extLst>
      <p:ext uri="{BB962C8B-B14F-4D97-AF65-F5344CB8AC3E}">
        <p14:creationId xmlns:p14="http://schemas.microsoft.com/office/powerpoint/2010/main" val="2689432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7C0B22-0082-4F23-9184-1A0BED2F5621}"/>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65667" y="1752600"/>
            <a:ext cx="7992533" cy="4495800"/>
          </a:xfrm>
        </p:spPr>
      </p:pic>
    </p:spTree>
    <p:extLst>
      <p:ext uri="{BB962C8B-B14F-4D97-AF65-F5344CB8AC3E}">
        <p14:creationId xmlns:p14="http://schemas.microsoft.com/office/powerpoint/2010/main" val="3461689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884998-11FA-41EE-93BB-BE7D3C9EB70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40731" y="1600200"/>
            <a:ext cx="6297487" cy="4495800"/>
          </a:xfrm>
        </p:spPr>
      </p:pic>
    </p:spTree>
    <p:extLst>
      <p:ext uri="{BB962C8B-B14F-4D97-AF65-F5344CB8AC3E}">
        <p14:creationId xmlns:p14="http://schemas.microsoft.com/office/powerpoint/2010/main" val="1359906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337-30C3-4F28-B65C-458690212A5A}"/>
              </a:ext>
            </a:extLst>
          </p:cNvPr>
          <p:cNvSpPr>
            <a:spLocks noGrp="1"/>
          </p:cNvSpPr>
          <p:nvPr>
            <p:ph type="title"/>
          </p:nvPr>
        </p:nvSpPr>
        <p:spPr/>
        <p:txBody>
          <a:bodyPr>
            <a:normAutofit fontScale="90000"/>
          </a:bodyPr>
          <a:lstStyle/>
          <a:p>
            <a:r>
              <a:rPr lang="en-US" dirty="0"/>
              <a:t>How will we measure error prevention?</a:t>
            </a:r>
          </a:p>
        </p:txBody>
      </p:sp>
      <p:sp>
        <p:nvSpPr>
          <p:cNvPr id="3" name="Content Placeholder 2">
            <a:extLst>
              <a:ext uri="{FF2B5EF4-FFF2-40B4-BE49-F238E27FC236}">
                <a16:creationId xmlns:a16="http://schemas.microsoft.com/office/drawing/2014/main" id="{9B492C0F-3B23-403F-9913-0B6108CE8C88}"/>
              </a:ext>
            </a:extLst>
          </p:cNvPr>
          <p:cNvSpPr>
            <a:spLocks noGrp="1"/>
          </p:cNvSpPr>
          <p:nvPr>
            <p:ph sz="quarter" idx="1"/>
          </p:nvPr>
        </p:nvSpPr>
        <p:spPr/>
        <p:txBody>
          <a:bodyPr/>
          <a:lstStyle/>
          <a:p>
            <a:r>
              <a:rPr lang="en-US" dirty="0"/>
              <a:t>How many errors were produced?</a:t>
            </a:r>
          </a:p>
          <a:p>
            <a:r>
              <a:rPr lang="en-US" dirty="0"/>
              <a:t>How many errors messages were understood by the user?</a:t>
            </a:r>
          </a:p>
          <a:p>
            <a:r>
              <a:rPr lang="en-US" dirty="0"/>
              <a:t>How many users exit the errors gracefully?</a:t>
            </a:r>
          </a:p>
        </p:txBody>
      </p:sp>
    </p:spTree>
    <p:extLst>
      <p:ext uri="{BB962C8B-B14F-4D97-AF65-F5344CB8AC3E}">
        <p14:creationId xmlns:p14="http://schemas.microsoft.com/office/powerpoint/2010/main" val="129907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fontScale="85000" lnSpcReduction="20000"/>
          </a:bodyPr>
          <a:lstStyle/>
          <a:p>
            <a:pPr marL="0" indent="0">
              <a:buNone/>
            </a:pPr>
            <a:r>
              <a:rPr lang="en-US" dirty="0"/>
              <a:t>Satisfaction refers to how pleasant it is to use the system</a:t>
            </a:r>
          </a:p>
          <a:p>
            <a:pPr marL="0" indent="0">
              <a:buNone/>
            </a:pPr>
            <a:endParaRPr lang="en-US" dirty="0"/>
          </a:p>
          <a:p>
            <a:pPr marL="0" indent="0">
              <a:buNone/>
            </a:pPr>
            <a:endParaRPr lang="en-US" dirty="0"/>
          </a:p>
          <a:p>
            <a:pPr marL="0" indent="0">
              <a:buNone/>
            </a:pPr>
            <a:r>
              <a:rPr lang="en-US" dirty="0"/>
              <a:t>How can we measure this? </a:t>
            </a:r>
          </a:p>
        </p:txBody>
      </p:sp>
      <p:sp>
        <p:nvSpPr>
          <p:cNvPr id="2" name="Title 1"/>
          <p:cNvSpPr>
            <a:spLocks noGrp="1"/>
          </p:cNvSpPr>
          <p:nvPr>
            <p:ph type="title"/>
          </p:nvPr>
        </p:nvSpPr>
        <p:spPr/>
        <p:txBody>
          <a:bodyPr/>
          <a:lstStyle/>
          <a:p>
            <a:r>
              <a:rPr lang="en-US" dirty="0"/>
              <a:t>6. Satisfaction</a:t>
            </a:r>
          </a:p>
        </p:txBody>
      </p:sp>
    </p:spTree>
    <p:extLst>
      <p:ext uri="{BB962C8B-B14F-4D97-AF65-F5344CB8AC3E}">
        <p14:creationId xmlns:p14="http://schemas.microsoft.com/office/powerpoint/2010/main" val="2275512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852862"/>
          </a:xfrm>
        </p:spPr>
        <p:txBody>
          <a:bodyPr>
            <a:normAutofit/>
          </a:bodyPr>
          <a:lstStyle/>
          <a:p>
            <a:r>
              <a:rPr lang="en-US" dirty="0"/>
              <a:t>The user experience is the holistic combination of everything that the user</a:t>
            </a:r>
          </a:p>
          <a:p>
            <a:pPr lvl="1"/>
            <a:r>
              <a:rPr lang="en-US" dirty="0"/>
              <a:t>Sees</a:t>
            </a:r>
          </a:p>
          <a:p>
            <a:pPr lvl="1"/>
            <a:r>
              <a:rPr lang="en-US" dirty="0"/>
              <a:t>Touches</a:t>
            </a:r>
          </a:p>
          <a:p>
            <a:pPr lvl="1"/>
            <a:r>
              <a:rPr lang="en-US" dirty="0"/>
              <a:t>Feels</a:t>
            </a:r>
          </a:p>
          <a:p>
            <a:pPr lvl="1"/>
            <a:r>
              <a:rPr lang="en-US" dirty="0"/>
              <a:t>Interacts with</a:t>
            </a:r>
          </a:p>
          <a:p>
            <a:endParaRPr lang="en-US" dirty="0"/>
          </a:p>
        </p:txBody>
      </p:sp>
      <p:sp>
        <p:nvSpPr>
          <p:cNvPr id="2" name="Title 1"/>
          <p:cNvSpPr>
            <a:spLocks noGrp="1"/>
          </p:cNvSpPr>
          <p:nvPr>
            <p:ph type="title"/>
          </p:nvPr>
        </p:nvSpPr>
        <p:spPr/>
        <p:txBody>
          <a:bodyPr>
            <a:normAutofit/>
          </a:bodyPr>
          <a:lstStyle/>
          <a:p>
            <a:r>
              <a:rPr lang="en-US" dirty="0"/>
              <a:t>User Experience – A Definition</a:t>
            </a:r>
          </a:p>
        </p:txBody>
      </p:sp>
    </p:spTree>
    <p:extLst>
      <p:ext uri="{BB962C8B-B14F-4D97-AF65-F5344CB8AC3E}">
        <p14:creationId xmlns:p14="http://schemas.microsoft.com/office/powerpoint/2010/main" val="1564413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28938"/>
            <a:ext cx="7772400" cy="1338262"/>
          </a:xfrm>
        </p:spPr>
        <p:txBody>
          <a:bodyPr/>
          <a:lstStyle/>
          <a:p>
            <a:endParaRPr lang="en-US" dirty="0"/>
          </a:p>
        </p:txBody>
      </p:sp>
      <p:sp>
        <p:nvSpPr>
          <p:cNvPr id="18" name="Title 17"/>
          <p:cNvSpPr>
            <a:spLocks noGrp="1"/>
          </p:cNvSpPr>
          <p:nvPr>
            <p:ph type="title"/>
          </p:nvPr>
        </p:nvSpPr>
        <p:spPr>
          <a:xfrm>
            <a:off x="722313" y="1333500"/>
            <a:ext cx="7772400" cy="1362075"/>
          </a:xfrm>
        </p:spPr>
        <p:txBody>
          <a:bodyPr/>
          <a:lstStyle/>
          <a:p>
            <a:endParaRPr lang="en-US"/>
          </a:p>
        </p:txBody>
      </p:sp>
      <p:pic>
        <p:nvPicPr>
          <p:cNvPr id="4" name="Picture 2" descr="j02929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562350"/>
            <a:ext cx="1843088" cy="1819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a:grpSpLocks/>
          </p:cNvGrpSpPr>
          <p:nvPr/>
        </p:nvGrpSpPr>
        <p:grpSpPr bwMode="auto">
          <a:xfrm>
            <a:off x="6324600" y="2949575"/>
            <a:ext cx="1371600" cy="2514600"/>
            <a:chOff x="3552" y="1248"/>
            <a:chExt cx="864" cy="1584"/>
          </a:xfrm>
        </p:grpSpPr>
        <p:sp>
          <p:nvSpPr>
            <p:cNvPr id="6" name="Oval 5"/>
            <p:cNvSpPr>
              <a:spLocks noChangeArrowheads="1"/>
            </p:cNvSpPr>
            <p:nvPr/>
          </p:nvSpPr>
          <p:spPr bwMode="blackWhite">
            <a:xfrm>
              <a:off x="3696" y="1248"/>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p:cNvSpPr>
              <a:spLocks noChangeShapeType="1"/>
            </p:cNvSpPr>
            <p:nvPr/>
          </p:nvSpPr>
          <p:spPr bwMode="blackWhite">
            <a:xfrm>
              <a:off x="3984" y="1824"/>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p:cNvSpPr>
              <a:spLocks noChangeShapeType="1"/>
            </p:cNvSpPr>
            <p:nvPr/>
          </p:nvSpPr>
          <p:spPr bwMode="blackWhite">
            <a:xfrm flipH="1">
              <a:off x="3552"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8"/>
            <p:cNvSpPr>
              <a:spLocks noChangeShapeType="1"/>
            </p:cNvSpPr>
            <p:nvPr/>
          </p:nvSpPr>
          <p:spPr bwMode="blackWhite">
            <a:xfrm>
              <a:off x="3984"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9"/>
            <p:cNvSpPr>
              <a:spLocks noChangeShapeType="1"/>
            </p:cNvSpPr>
            <p:nvPr/>
          </p:nvSpPr>
          <p:spPr bwMode="blackWhite">
            <a:xfrm>
              <a:off x="3552" y="20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Line 10"/>
          <p:cNvSpPr>
            <a:spLocks noChangeShapeType="1"/>
          </p:cNvSpPr>
          <p:nvPr/>
        </p:nvSpPr>
        <p:spPr bwMode="blackWhite">
          <a:xfrm>
            <a:off x="3505200" y="4244975"/>
            <a:ext cx="24384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11"/>
          <p:cNvSpPr txBox="1">
            <a:spLocks noChangeArrowheads="1"/>
          </p:cNvSpPr>
          <p:nvPr/>
        </p:nvSpPr>
        <p:spPr bwMode="blackWhite">
          <a:xfrm>
            <a:off x="6553200" y="5653088"/>
            <a:ext cx="920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Human</a:t>
            </a:r>
          </a:p>
        </p:txBody>
      </p:sp>
      <p:sp>
        <p:nvSpPr>
          <p:cNvPr id="13" name="Text Box 12"/>
          <p:cNvSpPr txBox="1">
            <a:spLocks noChangeArrowheads="1"/>
          </p:cNvSpPr>
          <p:nvPr/>
        </p:nvSpPr>
        <p:spPr bwMode="blackWhite">
          <a:xfrm>
            <a:off x="1600200" y="5616575"/>
            <a:ext cx="118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Computer</a:t>
            </a:r>
          </a:p>
        </p:txBody>
      </p:sp>
      <p:sp>
        <p:nvSpPr>
          <p:cNvPr id="14" name="Text Box 13"/>
          <p:cNvSpPr txBox="1">
            <a:spLocks noChangeArrowheads="1"/>
          </p:cNvSpPr>
          <p:nvPr/>
        </p:nvSpPr>
        <p:spPr bwMode="blackWhite">
          <a:xfrm>
            <a:off x="4083050" y="4411663"/>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Interaction</a:t>
            </a:r>
          </a:p>
        </p:txBody>
      </p:sp>
      <p:sp>
        <p:nvSpPr>
          <p:cNvPr id="15" name="Text Box 14"/>
          <p:cNvSpPr txBox="1">
            <a:spLocks noChangeArrowheads="1"/>
          </p:cNvSpPr>
          <p:nvPr/>
        </p:nvSpPr>
        <p:spPr bwMode="blackWhite">
          <a:xfrm>
            <a:off x="6007100" y="2057400"/>
            <a:ext cx="1974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User Experience</a:t>
            </a:r>
          </a:p>
        </p:txBody>
      </p:sp>
      <p:sp>
        <p:nvSpPr>
          <p:cNvPr id="16" name="Text Box 15"/>
          <p:cNvSpPr txBox="1">
            <a:spLocks noChangeArrowheads="1"/>
          </p:cNvSpPr>
          <p:nvPr/>
        </p:nvSpPr>
        <p:spPr bwMode="blackWhite">
          <a:xfrm>
            <a:off x="1778000" y="2057400"/>
            <a:ext cx="113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Usability</a:t>
            </a:r>
          </a:p>
        </p:txBody>
      </p:sp>
      <p:sp>
        <p:nvSpPr>
          <p:cNvPr id="17" name="Text Box 17"/>
          <p:cNvSpPr txBox="1">
            <a:spLocks noChangeArrowheads="1"/>
          </p:cNvSpPr>
          <p:nvPr/>
        </p:nvSpPr>
        <p:spPr bwMode="blackWhite">
          <a:xfrm>
            <a:off x="228600" y="3733800"/>
            <a:ext cx="113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Interface</a:t>
            </a:r>
          </a:p>
        </p:txBody>
      </p:sp>
    </p:spTree>
    <p:extLst>
      <p:ext uri="{BB962C8B-B14F-4D97-AF65-F5344CB8AC3E}">
        <p14:creationId xmlns:p14="http://schemas.microsoft.com/office/powerpoint/2010/main" val="358358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Experience Goals</a:t>
            </a:r>
          </a:p>
        </p:txBody>
      </p:sp>
      <p:sp>
        <p:nvSpPr>
          <p:cNvPr id="4" name="Rectangle 3"/>
          <p:cNvSpPr txBox="1">
            <a:spLocks noChangeArrowheads="1"/>
          </p:cNvSpPr>
          <p:nvPr/>
        </p:nvSpPr>
        <p:spPr>
          <a:xfrm>
            <a:off x="457200" y="1600199"/>
            <a:ext cx="2667000" cy="452596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Enjoyable</a:t>
            </a:r>
          </a:p>
          <a:p>
            <a:endParaRPr lang="en-US" dirty="0"/>
          </a:p>
          <a:p>
            <a:r>
              <a:rPr lang="en-US" dirty="0"/>
              <a:t>Fun</a:t>
            </a:r>
          </a:p>
          <a:p>
            <a:endParaRPr lang="en-US" dirty="0"/>
          </a:p>
          <a:p>
            <a:r>
              <a:rPr lang="en-US" dirty="0"/>
              <a:t>Entertaining</a:t>
            </a:r>
          </a:p>
          <a:p>
            <a:endParaRPr lang="en-US" dirty="0"/>
          </a:p>
          <a:p>
            <a:r>
              <a:rPr lang="en-US" dirty="0"/>
              <a:t>Helpful</a:t>
            </a:r>
          </a:p>
          <a:p>
            <a:endParaRPr lang="en-US" dirty="0"/>
          </a:p>
          <a:p>
            <a:r>
              <a:rPr lang="en-US" dirty="0"/>
              <a:t>Motivating</a:t>
            </a:r>
          </a:p>
        </p:txBody>
      </p:sp>
      <p:sp>
        <p:nvSpPr>
          <p:cNvPr id="5" name="Rectangle 4"/>
          <p:cNvSpPr>
            <a:spLocks noChangeArrowheads="1"/>
          </p:cNvSpPr>
          <p:nvPr/>
        </p:nvSpPr>
        <p:spPr bwMode="auto">
          <a:xfrm>
            <a:off x="4191000" y="1600200"/>
            <a:ext cx="335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74320" indent="-274320">
              <a:lnSpc>
                <a:spcPct val="90000"/>
              </a:lnSpc>
              <a:spcBef>
                <a:spcPts val="580"/>
              </a:spcBef>
              <a:buClr>
                <a:schemeClr val="accent1"/>
              </a:buClr>
              <a:buSzPct val="85000"/>
              <a:buFont typeface="Wingdings 2"/>
              <a:buChar char=""/>
            </a:pPr>
            <a:r>
              <a:rPr lang="en-US" sz="2400" dirty="0"/>
              <a:t>Aesthetically Pleasing</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Supportive to Creativity</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Rewarding</a:t>
            </a:r>
          </a:p>
          <a:p>
            <a:pPr marL="274320" indent="-274320">
              <a:lnSpc>
                <a:spcPct val="90000"/>
              </a:lnSpc>
              <a:spcBef>
                <a:spcPts val="580"/>
              </a:spcBef>
              <a:buClr>
                <a:schemeClr val="accent1"/>
              </a:buClr>
              <a:buSzPct val="85000"/>
              <a:buFont typeface="Wingdings 2"/>
              <a:buChar char=""/>
            </a:pPr>
            <a:endParaRPr lang="en-US" sz="2400" dirty="0"/>
          </a:p>
          <a:p>
            <a:pPr marL="274320" indent="-274320">
              <a:lnSpc>
                <a:spcPct val="90000"/>
              </a:lnSpc>
              <a:spcBef>
                <a:spcPts val="580"/>
              </a:spcBef>
              <a:buClr>
                <a:schemeClr val="accent1"/>
              </a:buClr>
              <a:buSzPct val="85000"/>
              <a:buFont typeface="Wingdings 2"/>
              <a:buChar char=""/>
            </a:pPr>
            <a:r>
              <a:rPr lang="en-US" sz="2400" dirty="0"/>
              <a:t>Emotionally </a:t>
            </a:r>
            <a:r>
              <a:rPr lang="en-US" sz="2400" dirty="0" err="1"/>
              <a:t>Fullfilling</a:t>
            </a:r>
            <a:endParaRPr lang="en-US" sz="2400" dirty="0"/>
          </a:p>
        </p:txBody>
      </p:sp>
    </p:spTree>
    <p:extLst>
      <p:ext uri="{BB962C8B-B14F-4D97-AF65-F5344CB8AC3E}">
        <p14:creationId xmlns:p14="http://schemas.microsoft.com/office/powerpoint/2010/main" val="3670771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Measureable Usability Attributes</a:t>
            </a:r>
            <a:endParaRPr lang="en-US" sz="2000" i="1" dirty="0"/>
          </a:p>
        </p:txBody>
      </p:sp>
      <p:sp>
        <p:nvSpPr>
          <p:cNvPr id="3" name="Content Placeholder 2"/>
          <p:cNvSpPr>
            <a:spLocks noGrp="1"/>
          </p:cNvSpPr>
          <p:nvPr>
            <p:ph sz="quarter" idx="1"/>
          </p:nvPr>
        </p:nvSpPr>
        <p:spPr/>
        <p:txBody>
          <a:bodyPr>
            <a:normAutofit/>
          </a:bodyPr>
          <a:lstStyle/>
          <a:p>
            <a:r>
              <a:rPr lang="en-US" sz="2800" b="1" dirty="0"/>
              <a:t>Learnability</a:t>
            </a:r>
            <a:r>
              <a:rPr lang="en-US" sz="2800" dirty="0"/>
              <a:t>: ease of learning for novice users.</a:t>
            </a:r>
          </a:p>
          <a:p>
            <a:r>
              <a:rPr lang="en-US" sz="2800" b="1" dirty="0"/>
              <a:t>Efficiency</a:t>
            </a:r>
            <a:r>
              <a:rPr lang="en-US" sz="2800" dirty="0"/>
              <a:t>: steady-state performance of expert users.</a:t>
            </a:r>
          </a:p>
          <a:p>
            <a:r>
              <a:rPr lang="en-US" sz="2800" b="1" dirty="0"/>
              <a:t>Errors</a:t>
            </a:r>
            <a:r>
              <a:rPr lang="en-US" sz="2800" dirty="0"/>
              <a:t>: error rate for minor and catastrophic errors.</a:t>
            </a:r>
          </a:p>
          <a:p>
            <a:r>
              <a:rPr lang="en-US" sz="2800" b="1" dirty="0"/>
              <a:t>Memorability</a:t>
            </a:r>
            <a:r>
              <a:rPr lang="en-US" sz="2800" dirty="0"/>
              <a:t>: ease of using system intermittently for casual users.</a:t>
            </a:r>
          </a:p>
          <a:p>
            <a:r>
              <a:rPr lang="en-US" sz="2800" b="1" dirty="0"/>
              <a:t>Effectiveness</a:t>
            </a:r>
            <a:r>
              <a:rPr lang="en-US" sz="2800" dirty="0"/>
              <a:t>: completeness with which expert users achieve their goal.</a:t>
            </a:r>
          </a:p>
          <a:p>
            <a:r>
              <a:rPr lang="en-US" sz="2800" b="1" dirty="0"/>
              <a:t>Satisfaction</a:t>
            </a:r>
            <a:r>
              <a:rPr lang="en-US" sz="2800" dirty="0"/>
              <a:t>: how satisfying a system is to use, from user’s point of view.</a:t>
            </a:r>
          </a:p>
        </p:txBody>
      </p:sp>
    </p:spTree>
    <p:extLst>
      <p:ext uri="{BB962C8B-B14F-4D97-AF65-F5344CB8AC3E}">
        <p14:creationId xmlns:p14="http://schemas.microsoft.com/office/powerpoint/2010/main" val="9470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4444"/>
          <a:stretch/>
        </p:blipFill>
        <p:spPr bwMode="auto">
          <a:xfrm>
            <a:off x="0" y="1524000"/>
            <a:ext cx="9144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971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is Important</a:t>
            </a:r>
          </a:p>
        </p:txBody>
      </p:sp>
      <p:sp>
        <p:nvSpPr>
          <p:cNvPr id="3" name="Content Placeholder 2"/>
          <p:cNvSpPr>
            <a:spLocks noGrp="1"/>
          </p:cNvSpPr>
          <p:nvPr>
            <p:ph sz="quarter" idx="1"/>
          </p:nvPr>
        </p:nvSpPr>
        <p:spPr/>
        <p:txBody>
          <a:bodyPr>
            <a:normAutofit fontScale="92500" lnSpcReduction="10000"/>
          </a:bodyPr>
          <a:lstStyle/>
          <a:p>
            <a:pPr lvl="1"/>
            <a:r>
              <a:rPr lang="en-US" dirty="0"/>
              <a:t>A web site used only once by millions of people has such a strong need for _______________________</a:t>
            </a:r>
          </a:p>
          <a:p>
            <a:pPr lvl="1"/>
            <a:endParaRPr lang="en-US" dirty="0"/>
          </a:p>
          <a:p>
            <a:pPr lvl="1"/>
            <a:r>
              <a:rPr lang="en-US" dirty="0"/>
              <a:t>A stock trading program used on a daily basis by expert traders, for whom lost seconds translate to lost dollars, must put_______________ above all else.</a:t>
            </a:r>
          </a:p>
          <a:p>
            <a:pPr lvl="1"/>
            <a:endParaRPr lang="en-US" dirty="0"/>
          </a:p>
          <a:p>
            <a:pPr lvl="1"/>
            <a:r>
              <a:rPr lang="en-US" dirty="0"/>
              <a:t>A military application may needs the ___________the most </a:t>
            </a:r>
          </a:p>
          <a:p>
            <a:pPr lvl="1"/>
            <a:endParaRPr lang="en-US" dirty="0"/>
          </a:p>
          <a:p>
            <a:r>
              <a:rPr lang="en-US" dirty="0"/>
              <a:t>Researching the user and the context is thus very important</a:t>
            </a:r>
          </a:p>
        </p:txBody>
      </p:sp>
    </p:spTree>
    <p:extLst>
      <p:ext uri="{BB962C8B-B14F-4D97-AF65-F5344CB8AC3E}">
        <p14:creationId xmlns:p14="http://schemas.microsoft.com/office/powerpoint/2010/main" val="1026286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is Important</a:t>
            </a:r>
          </a:p>
        </p:txBody>
      </p:sp>
      <p:sp>
        <p:nvSpPr>
          <p:cNvPr id="3" name="Content Placeholder 2"/>
          <p:cNvSpPr>
            <a:spLocks noGrp="1"/>
          </p:cNvSpPr>
          <p:nvPr>
            <p:ph sz="quarter" idx="1"/>
          </p:nvPr>
        </p:nvSpPr>
        <p:spPr/>
        <p:txBody>
          <a:bodyPr>
            <a:normAutofit/>
          </a:bodyPr>
          <a:lstStyle/>
          <a:p>
            <a:pPr lvl="1"/>
            <a:r>
              <a:rPr lang="en-US" dirty="0"/>
              <a:t>For something like a bank automated teller machine (ATM) or information kiosk in a museum, __________ might be the major focus of usability practitioners.</a:t>
            </a:r>
          </a:p>
          <a:p>
            <a:pPr lvl="1"/>
            <a:endParaRPr lang="en-US" dirty="0"/>
          </a:p>
          <a:p>
            <a:pPr lvl="1"/>
            <a:endParaRPr lang="en-US" dirty="0"/>
          </a:p>
          <a:p>
            <a:pPr lvl="1"/>
            <a:r>
              <a:rPr lang="en-US" dirty="0"/>
              <a:t>For complex systems such as jet planes, railway systems, and nuclear power plants, the critical dimensions might be __________________. </a:t>
            </a:r>
          </a:p>
        </p:txBody>
      </p:sp>
    </p:spTree>
    <p:extLst>
      <p:ext uri="{BB962C8B-B14F-4D97-AF65-F5344CB8AC3E}">
        <p14:creationId xmlns:p14="http://schemas.microsoft.com/office/powerpoint/2010/main" val="3451620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5800" y="1752600"/>
            <a:ext cx="7772400" cy="4572000"/>
          </a:xfrm>
        </p:spPr>
        <p:txBody>
          <a:bodyPr>
            <a:normAutofit lnSpcReduction="10000"/>
          </a:bodyPr>
          <a:lstStyle/>
          <a:p>
            <a:pPr marL="0" indent="0">
              <a:buNone/>
            </a:pPr>
            <a:r>
              <a:rPr lang="en-US" b="1" dirty="0"/>
              <a:t>What do you think are the key usability goals and user experience goals for following examples?</a:t>
            </a:r>
          </a:p>
          <a:p>
            <a:r>
              <a:rPr lang="en-US" dirty="0"/>
              <a:t>A mobile device that allows young children to communicate with each other and play collaborative games</a:t>
            </a:r>
          </a:p>
          <a:p>
            <a:r>
              <a:rPr lang="en-US" dirty="0"/>
              <a:t>A video and computer conferencing system that allows students to learn at home</a:t>
            </a:r>
          </a:p>
          <a:p>
            <a:r>
              <a:rPr lang="en-US" dirty="0"/>
              <a:t>An online community that provides support for people who have recently been bereaved</a:t>
            </a:r>
          </a:p>
        </p:txBody>
      </p:sp>
    </p:spTree>
    <p:extLst>
      <p:ext uri="{BB962C8B-B14F-4D97-AF65-F5344CB8AC3E}">
        <p14:creationId xmlns:p14="http://schemas.microsoft.com/office/powerpoint/2010/main" val="7608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sz="quarter" idx="1"/>
          </p:nvPr>
        </p:nvSpPr>
        <p:spPr/>
        <p:txBody>
          <a:bodyPr>
            <a:normAutofit/>
          </a:bodyPr>
          <a:lstStyle/>
          <a:p>
            <a:pPr marL="0" indent="0">
              <a:buNone/>
            </a:pPr>
            <a:r>
              <a:rPr lang="en-US" b="1" dirty="0"/>
              <a:t>Q: </a:t>
            </a:r>
            <a:r>
              <a:rPr lang="en-US" dirty="0"/>
              <a:t>Which of these is not attributes of usability?</a:t>
            </a:r>
          </a:p>
          <a:p>
            <a:pPr lvl="0"/>
            <a:r>
              <a:rPr lang="en-US" dirty="0"/>
              <a:t>Learnability</a:t>
            </a:r>
          </a:p>
          <a:p>
            <a:pPr lvl="0"/>
            <a:r>
              <a:rPr lang="en-US" dirty="0"/>
              <a:t>Efficiency</a:t>
            </a:r>
          </a:p>
          <a:p>
            <a:pPr lvl="0"/>
            <a:r>
              <a:rPr lang="en-US" dirty="0"/>
              <a:t>Effectiveness</a:t>
            </a:r>
          </a:p>
          <a:p>
            <a:pPr lvl="0"/>
            <a:r>
              <a:rPr lang="en-US" dirty="0"/>
              <a:t>Utility</a:t>
            </a:r>
          </a:p>
          <a:p>
            <a:pPr marL="0" indent="0">
              <a:buNone/>
            </a:pPr>
            <a:endParaRPr lang="en-US" dirty="0"/>
          </a:p>
        </p:txBody>
      </p:sp>
    </p:spTree>
    <p:extLst>
      <p:ext uri="{BB962C8B-B14F-4D97-AF65-F5344CB8AC3E}">
        <p14:creationId xmlns:p14="http://schemas.microsoft.com/office/powerpoint/2010/main" val="2042399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marL="0" indent="0">
              <a:buNone/>
            </a:pPr>
            <a:r>
              <a:rPr lang="en-US" b="1" dirty="0"/>
              <a:t>Q: </a:t>
            </a:r>
            <a:r>
              <a:rPr lang="en-US" dirty="0"/>
              <a:t>Learnability should be defined as</a:t>
            </a:r>
            <a:r>
              <a:rPr lang="en-US" b="1" dirty="0"/>
              <a:t> </a:t>
            </a:r>
            <a:endParaRPr lang="en-US" dirty="0"/>
          </a:p>
          <a:p>
            <a:pPr lvl="0"/>
            <a:r>
              <a:rPr lang="en-US" dirty="0"/>
              <a:t>Ease of learning for novice users.</a:t>
            </a:r>
          </a:p>
          <a:p>
            <a:pPr lvl="0"/>
            <a:r>
              <a:rPr lang="en-US" dirty="0"/>
              <a:t>Ease of learning for intermediate users.</a:t>
            </a:r>
          </a:p>
          <a:p>
            <a:pPr lvl="0"/>
            <a:r>
              <a:rPr lang="en-US" dirty="0"/>
              <a:t>Ease of learning for expert users.</a:t>
            </a:r>
          </a:p>
          <a:p>
            <a:pPr lvl="0"/>
            <a:r>
              <a:rPr lang="en-US" dirty="0"/>
              <a:t>Ease of using system intermittently for casual users.</a:t>
            </a:r>
          </a:p>
          <a:p>
            <a:pPr marL="0" indent="0">
              <a:buNone/>
            </a:pPr>
            <a:endParaRPr lang="en-US" dirty="0"/>
          </a:p>
        </p:txBody>
      </p:sp>
    </p:spTree>
    <p:extLst>
      <p:ext uri="{BB962C8B-B14F-4D97-AF65-F5344CB8AC3E}">
        <p14:creationId xmlns:p14="http://schemas.microsoft.com/office/powerpoint/2010/main" val="4078839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b="1" dirty="0"/>
              <a:t>Q: </a:t>
            </a:r>
            <a:r>
              <a:rPr lang="en-US" dirty="0"/>
              <a:t>Effectiveness should be defined as</a:t>
            </a:r>
          </a:p>
          <a:p>
            <a:pPr lvl="0"/>
            <a:r>
              <a:rPr lang="en-US" dirty="0"/>
              <a:t>Number of utilities present in the system</a:t>
            </a:r>
          </a:p>
          <a:p>
            <a:pPr lvl="0"/>
            <a:r>
              <a:rPr lang="en-US" dirty="0"/>
              <a:t>Completeness with which users achieve their goal.</a:t>
            </a:r>
          </a:p>
          <a:p>
            <a:pPr lvl="0"/>
            <a:r>
              <a:rPr lang="en-US" dirty="0"/>
              <a:t>No of steps taken to perform the task for Expert user</a:t>
            </a:r>
          </a:p>
          <a:p>
            <a:pPr lvl="0"/>
            <a:r>
              <a:rPr lang="en-US" dirty="0"/>
              <a:t>Time taken to perform the task for expert user</a:t>
            </a:r>
          </a:p>
          <a:p>
            <a:endParaRPr lang="en-US" dirty="0"/>
          </a:p>
        </p:txBody>
      </p:sp>
    </p:spTree>
    <p:extLst>
      <p:ext uri="{BB962C8B-B14F-4D97-AF65-F5344CB8AC3E}">
        <p14:creationId xmlns:p14="http://schemas.microsoft.com/office/powerpoint/2010/main" val="2060980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b="1" dirty="0"/>
              <a:t>Q: </a:t>
            </a:r>
            <a:r>
              <a:rPr lang="en-US" dirty="0"/>
              <a:t>Errors should be defined as</a:t>
            </a:r>
          </a:p>
          <a:p>
            <a:pPr lvl="0"/>
            <a:r>
              <a:rPr lang="en-US" dirty="0"/>
              <a:t>Number of errors while performing task by Expert user</a:t>
            </a:r>
          </a:p>
          <a:p>
            <a:pPr lvl="0"/>
            <a:r>
              <a:rPr lang="en-US" dirty="0"/>
              <a:t>Number of errors while performing task by novice user</a:t>
            </a:r>
          </a:p>
          <a:p>
            <a:pPr lvl="0"/>
            <a:r>
              <a:rPr lang="en-US" dirty="0"/>
              <a:t>Number of errors while performing task by intermediate  user</a:t>
            </a:r>
          </a:p>
          <a:p>
            <a:pPr lvl="0"/>
            <a:r>
              <a:rPr lang="en-US" dirty="0"/>
              <a:t>Number of errors while performing task by any user</a:t>
            </a:r>
          </a:p>
          <a:p>
            <a:endParaRPr lang="en-US" dirty="0"/>
          </a:p>
        </p:txBody>
      </p:sp>
    </p:spTree>
    <p:extLst>
      <p:ext uri="{BB962C8B-B14F-4D97-AF65-F5344CB8AC3E}">
        <p14:creationId xmlns:p14="http://schemas.microsoft.com/office/powerpoint/2010/main" val="534027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b="1" dirty="0"/>
              <a:t>Q: </a:t>
            </a:r>
            <a:r>
              <a:rPr lang="en-US" dirty="0"/>
              <a:t>Satisfaction should be defined as</a:t>
            </a:r>
          </a:p>
          <a:p>
            <a:pPr lvl="0"/>
            <a:r>
              <a:rPr lang="en-US" dirty="0"/>
              <a:t>How much functionalities system is providing to perform</a:t>
            </a:r>
          </a:p>
          <a:p>
            <a:pPr lvl="0"/>
            <a:r>
              <a:rPr lang="en-US" dirty="0"/>
              <a:t>How satisfying a system is to use, from user’s point of view.</a:t>
            </a:r>
          </a:p>
          <a:p>
            <a:pPr lvl="0"/>
            <a:r>
              <a:rPr lang="en-US" dirty="0"/>
              <a:t>System is available 24*7</a:t>
            </a:r>
          </a:p>
          <a:p>
            <a:pPr lvl="0"/>
            <a:r>
              <a:rPr lang="en-US" dirty="0"/>
              <a:t>All of the above</a:t>
            </a:r>
          </a:p>
          <a:p>
            <a:endParaRPr lang="en-US" dirty="0"/>
          </a:p>
        </p:txBody>
      </p:sp>
    </p:spTree>
    <p:extLst>
      <p:ext uri="{BB962C8B-B14F-4D97-AF65-F5344CB8AC3E}">
        <p14:creationId xmlns:p14="http://schemas.microsoft.com/office/powerpoint/2010/main" val="3239165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b="1" dirty="0"/>
              <a:t>Q: </a:t>
            </a:r>
            <a:r>
              <a:rPr lang="en-US" dirty="0"/>
              <a:t>How user learn the system</a:t>
            </a:r>
          </a:p>
          <a:p>
            <a:pPr lvl="0"/>
            <a:r>
              <a:rPr lang="en-US" dirty="0"/>
              <a:t>Learn by doing</a:t>
            </a:r>
          </a:p>
          <a:p>
            <a:pPr lvl="0"/>
            <a:r>
              <a:rPr lang="en-US" dirty="0"/>
              <a:t>Learn by watching</a:t>
            </a:r>
          </a:p>
          <a:p>
            <a:pPr lvl="0"/>
            <a:r>
              <a:rPr lang="en-US" dirty="0"/>
              <a:t>Learn by reading manuals</a:t>
            </a:r>
          </a:p>
          <a:p>
            <a:pPr lvl="0"/>
            <a:r>
              <a:rPr lang="en-US" dirty="0"/>
              <a:t>All of the above</a:t>
            </a:r>
          </a:p>
          <a:p>
            <a:endParaRPr lang="en-US" dirty="0"/>
          </a:p>
        </p:txBody>
      </p:sp>
    </p:spTree>
    <p:extLst>
      <p:ext uri="{BB962C8B-B14F-4D97-AF65-F5344CB8AC3E}">
        <p14:creationId xmlns:p14="http://schemas.microsoft.com/office/powerpoint/2010/main" val="16410386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pPr marL="0" indent="0">
              <a:buNone/>
            </a:pPr>
            <a:r>
              <a:rPr lang="en-US" b="1" dirty="0"/>
              <a:t>Q: </a:t>
            </a:r>
            <a:r>
              <a:rPr lang="en-US" dirty="0"/>
              <a:t>What do you think are the key usability goals and user experience goals a mobile device that allows young children to communicate with each other and play collaborative games</a:t>
            </a:r>
          </a:p>
          <a:p>
            <a:pPr lvl="0"/>
            <a:r>
              <a:rPr lang="en-US" dirty="0"/>
              <a:t>Easy to learn, effective, efficient, easy to learn , fun and entertaining</a:t>
            </a:r>
          </a:p>
          <a:p>
            <a:pPr lvl="0"/>
            <a:r>
              <a:rPr lang="en-US" dirty="0"/>
              <a:t>Easy to learn, effective , motivating and rewarding</a:t>
            </a:r>
          </a:p>
          <a:p>
            <a:pPr lvl="0"/>
            <a:r>
              <a:rPr lang="en-US" dirty="0"/>
              <a:t>Easy to learn,  easy to use, motivating, emotionally satisfactory</a:t>
            </a:r>
          </a:p>
          <a:p>
            <a:pPr lvl="0"/>
            <a:r>
              <a:rPr lang="en-US" dirty="0"/>
              <a:t>Easy to use, memorable, motivating, helpful</a:t>
            </a:r>
          </a:p>
          <a:p>
            <a:endParaRPr lang="en-US" dirty="0"/>
          </a:p>
        </p:txBody>
      </p:sp>
    </p:spTree>
    <p:extLst>
      <p:ext uri="{BB962C8B-B14F-4D97-AF65-F5344CB8AC3E}">
        <p14:creationId xmlns:p14="http://schemas.microsoft.com/office/powerpoint/2010/main" val="7113613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dirty="0"/>
          </a:p>
        </p:txBody>
      </p:sp>
      <p:sp>
        <p:nvSpPr>
          <p:cNvPr id="3" name="Title 2"/>
          <p:cNvSpPr>
            <a:spLocks noGrp="1"/>
          </p:cNvSpPr>
          <p:nvPr>
            <p:ph type="title"/>
          </p:nvPr>
        </p:nvSpPr>
        <p:spPr/>
        <p:txBody>
          <a:bodyPr/>
          <a:lstStyle/>
          <a:p>
            <a:endParaRPr lang="en-US"/>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
            <a:ext cx="91440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1839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4DD20DE-5F66-4E5F-B02D-4282AFB3D6E9}"/>
              </a:ext>
            </a:extLst>
          </p:cNvPr>
          <p:cNvSpPr>
            <a:spLocks noGrp="1"/>
          </p:cNvSpPr>
          <p:nvPr>
            <p:ph type="body" idx="1"/>
          </p:nvPr>
        </p:nvSpPr>
        <p:spPr/>
        <p:txBody>
          <a:bodyPr/>
          <a:lstStyle/>
          <a:p>
            <a:endParaRPr lang="en-US"/>
          </a:p>
        </p:txBody>
      </p:sp>
      <p:sp>
        <p:nvSpPr>
          <p:cNvPr id="4" name="Title 3">
            <a:extLst>
              <a:ext uri="{FF2B5EF4-FFF2-40B4-BE49-F238E27FC236}">
                <a16:creationId xmlns:a16="http://schemas.microsoft.com/office/drawing/2014/main" id="{5981C1CC-9D98-485B-A737-6E5A52761FA4}"/>
              </a:ext>
            </a:extLst>
          </p:cNvPr>
          <p:cNvSpPr>
            <a:spLocks noGrp="1"/>
          </p:cNvSpPr>
          <p:nvPr>
            <p:ph type="title"/>
          </p:nvPr>
        </p:nvSpPr>
        <p:spPr/>
        <p:txBody>
          <a:bodyPr/>
          <a:lstStyle/>
          <a:p>
            <a:r>
              <a:rPr lang="en-US" dirty="0"/>
              <a:t>Self Study</a:t>
            </a:r>
          </a:p>
        </p:txBody>
      </p:sp>
    </p:spTree>
    <p:extLst>
      <p:ext uri="{BB962C8B-B14F-4D97-AF65-F5344CB8AC3E}">
        <p14:creationId xmlns:p14="http://schemas.microsoft.com/office/powerpoint/2010/main" val="25678359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Interdisciplinary Nature of HCI</a:t>
            </a:r>
          </a:p>
        </p:txBody>
      </p:sp>
      <p:sp>
        <p:nvSpPr>
          <p:cNvPr id="3" name="Content Placeholder 2"/>
          <p:cNvSpPr>
            <a:spLocks noGrp="1"/>
          </p:cNvSpPr>
          <p:nvPr>
            <p:ph sz="quarter" idx="1"/>
          </p:nvPr>
        </p:nvSpPr>
        <p:spPr/>
        <p:txBody>
          <a:bodyPr>
            <a:normAutofit fontScale="92500" lnSpcReduction="10000"/>
          </a:bodyPr>
          <a:lstStyle/>
          <a:p>
            <a:r>
              <a:rPr lang="en-US" dirty="0"/>
              <a:t>HCI is understanding the Complex Relationship between Human and Computers</a:t>
            </a:r>
          </a:p>
          <a:p>
            <a:endParaRPr lang="en-US" dirty="0"/>
          </a:p>
          <a:p>
            <a:r>
              <a:rPr lang="en-US" dirty="0"/>
              <a:t>Two Distinct “Species”</a:t>
            </a:r>
          </a:p>
          <a:p>
            <a:endParaRPr lang="en-US" dirty="0"/>
          </a:p>
          <a:p>
            <a:r>
              <a:rPr lang="en-US" dirty="0"/>
              <a:t>Successful Integration is dependent upon the a better understanding of both Species</a:t>
            </a:r>
          </a:p>
          <a:p>
            <a:endParaRPr lang="en-US" dirty="0"/>
          </a:p>
          <a:p>
            <a:r>
              <a:rPr lang="en-US" dirty="0"/>
              <a:t>Hence HCI borrows and establishes its roots in Disciplines concerned with both</a:t>
            </a:r>
          </a:p>
          <a:p>
            <a:endParaRPr lang="en-US" dirty="0"/>
          </a:p>
        </p:txBody>
      </p:sp>
    </p:spTree>
    <p:extLst>
      <p:ext uri="{BB962C8B-B14F-4D97-AF65-F5344CB8AC3E}">
        <p14:creationId xmlns:p14="http://schemas.microsoft.com/office/powerpoint/2010/main" val="20193071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Interdisciplinary Nature of HCI – Human Side</a:t>
            </a:r>
          </a:p>
        </p:txBody>
      </p:sp>
      <p:sp>
        <p:nvSpPr>
          <p:cNvPr id="3" name="Content Placeholder 2"/>
          <p:cNvSpPr>
            <a:spLocks noGrp="1"/>
          </p:cNvSpPr>
          <p:nvPr>
            <p:ph sz="quarter" idx="1"/>
          </p:nvPr>
        </p:nvSpPr>
        <p:spPr/>
        <p:txBody>
          <a:bodyPr>
            <a:normAutofit fontScale="85000" lnSpcReduction="10000"/>
          </a:bodyPr>
          <a:lstStyle/>
          <a:p>
            <a:r>
              <a:rPr lang="en-US" dirty="0"/>
              <a:t>Cognitive Psychology</a:t>
            </a:r>
          </a:p>
          <a:p>
            <a:pPr lvl="1"/>
            <a:r>
              <a:rPr lang="en-US" dirty="0"/>
              <a:t>Understanding human behavior and mental processes</a:t>
            </a:r>
          </a:p>
          <a:p>
            <a:r>
              <a:rPr lang="en-US" dirty="0"/>
              <a:t>Social Organizational Psychology</a:t>
            </a:r>
          </a:p>
          <a:p>
            <a:pPr lvl="1"/>
            <a:r>
              <a:rPr lang="en-US" dirty="0"/>
              <a:t>Studying nature and causes of human behavior in social context</a:t>
            </a:r>
          </a:p>
          <a:p>
            <a:pPr>
              <a:lnSpc>
                <a:spcPct val="90000"/>
              </a:lnSpc>
            </a:pPr>
            <a:r>
              <a:rPr lang="en-US" dirty="0"/>
              <a:t>Ergonomics and human Factors</a:t>
            </a:r>
          </a:p>
          <a:p>
            <a:pPr lvl="1">
              <a:lnSpc>
                <a:spcPct val="90000"/>
              </a:lnSpc>
            </a:pPr>
            <a:r>
              <a:rPr lang="en-US" dirty="0"/>
              <a:t>It is the study of designing equipment and devices that fit the human body and its cognitive abilities.</a:t>
            </a:r>
          </a:p>
          <a:p>
            <a:pPr>
              <a:lnSpc>
                <a:spcPct val="90000"/>
              </a:lnSpc>
            </a:pPr>
            <a:r>
              <a:rPr lang="en-US" dirty="0"/>
              <a:t>Linguistics</a:t>
            </a:r>
          </a:p>
          <a:p>
            <a:pPr lvl="1">
              <a:lnSpc>
                <a:spcPct val="90000"/>
              </a:lnSpc>
            </a:pPr>
            <a:r>
              <a:rPr lang="en-US" dirty="0"/>
              <a:t>Linguistics is the scientific study of language</a:t>
            </a:r>
          </a:p>
          <a:p>
            <a:pPr>
              <a:lnSpc>
                <a:spcPct val="90000"/>
              </a:lnSpc>
            </a:pPr>
            <a:r>
              <a:rPr lang="en-US" dirty="0"/>
              <a:t>Sociology</a:t>
            </a:r>
          </a:p>
          <a:p>
            <a:pPr lvl="1">
              <a:lnSpc>
                <a:spcPct val="90000"/>
              </a:lnSpc>
            </a:pPr>
            <a:r>
              <a:rPr lang="en-US" dirty="0"/>
              <a:t>Sociology is the academic study of social behavior, its origins, development, organization, and institutions.</a:t>
            </a:r>
          </a:p>
          <a:p>
            <a:endParaRPr lang="en-US" dirty="0"/>
          </a:p>
        </p:txBody>
      </p:sp>
    </p:spTree>
    <p:extLst>
      <p:ext uri="{BB962C8B-B14F-4D97-AF65-F5344CB8AC3E}">
        <p14:creationId xmlns:p14="http://schemas.microsoft.com/office/powerpoint/2010/main" val="25087294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Interdisciplinary Nature of HCI – Computer Side</a:t>
            </a:r>
          </a:p>
        </p:txBody>
      </p:sp>
      <p:sp>
        <p:nvSpPr>
          <p:cNvPr id="3" name="Content Placeholder 2"/>
          <p:cNvSpPr>
            <a:spLocks noGrp="1"/>
          </p:cNvSpPr>
          <p:nvPr>
            <p:ph sz="quarter" idx="1"/>
          </p:nvPr>
        </p:nvSpPr>
        <p:spPr>
          <a:xfrm>
            <a:off x="612648" y="1600200"/>
            <a:ext cx="8153400" cy="5791200"/>
          </a:xfrm>
        </p:spPr>
        <p:txBody>
          <a:bodyPr>
            <a:noAutofit/>
          </a:bodyPr>
          <a:lstStyle/>
          <a:p>
            <a:pPr>
              <a:lnSpc>
                <a:spcPct val="90000"/>
              </a:lnSpc>
            </a:pPr>
            <a:r>
              <a:rPr lang="en-US" sz="2400" dirty="0"/>
              <a:t>Computer Science</a:t>
            </a:r>
          </a:p>
          <a:p>
            <a:pPr lvl="1">
              <a:lnSpc>
                <a:spcPct val="90000"/>
              </a:lnSpc>
            </a:pPr>
            <a:r>
              <a:rPr lang="en-US" sz="2400" dirty="0"/>
              <a:t>Provides knowledge about capability of technology</a:t>
            </a:r>
          </a:p>
          <a:p>
            <a:pPr lvl="1">
              <a:lnSpc>
                <a:spcPct val="90000"/>
              </a:lnSpc>
            </a:pPr>
            <a:r>
              <a:rPr lang="en-US" sz="2400" dirty="0"/>
              <a:t>Developing techniques to support software design, development and maintenance</a:t>
            </a:r>
            <a:endParaRPr lang="en-US" dirty="0"/>
          </a:p>
          <a:p>
            <a:pPr>
              <a:lnSpc>
                <a:spcPct val="90000"/>
              </a:lnSpc>
            </a:pPr>
            <a:r>
              <a:rPr lang="en-US" sz="2400" dirty="0"/>
              <a:t>Artificial Intelligence</a:t>
            </a:r>
          </a:p>
          <a:p>
            <a:pPr lvl="1">
              <a:lnSpc>
                <a:spcPct val="90000"/>
              </a:lnSpc>
            </a:pPr>
            <a:r>
              <a:rPr lang="en-US" sz="2400" dirty="0"/>
              <a:t>Intelligent Computing concerned with simulating human behavior</a:t>
            </a:r>
          </a:p>
          <a:p>
            <a:pPr lvl="1">
              <a:lnSpc>
                <a:spcPct val="90000"/>
              </a:lnSpc>
            </a:pPr>
            <a:r>
              <a:rPr lang="en-US" sz="2400" dirty="0"/>
              <a:t>HCI – development of expert and tutoring systems</a:t>
            </a:r>
          </a:p>
          <a:p>
            <a:pPr>
              <a:lnSpc>
                <a:spcPct val="90000"/>
              </a:lnSpc>
            </a:pPr>
            <a:r>
              <a:rPr lang="en-US" sz="2400" dirty="0"/>
              <a:t>Engineering and Design</a:t>
            </a:r>
          </a:p>
          <a:p>
            <a:pPr lvl="1">
              <a:lnSpc>
                <a:spcPct val="90000"/>
              </a:lnSpc>
            </a:pPr>
            <a:r>
              <a:rPr lang="en-US" sz="2400" dirty="0"/>
              <a:t>Engineering takes finding of sciences and utilizes them in the production of artifacts</a:t>
            </a:r>
          </a:p>
          <a:p>
            <a:pPr lvl="1">
              <a:lnSpc>
                <a:spcPct val="90000"/>
              </a:lnSpc>
            </a:pPr>
            <a:r>
              <a:rPr lang="en-US" sz="2400"/>
              <a:t>Design </a:t>
            </a:r>
            <a:r>
              <a:rPr lang="en-US" sz="2400" dirty="0"/>
              <a:t>contributes creative skills and knowledge to this process</a:t>
            </a:r>
          </a:p>
          <a:p>
            <a:pPr lvl="1">
              <a:lnSpc>
                <a:spcPct val="90000"/>
              </a:lnSpc>
            </a:pPr>
            <a:endParaRPr lang="en-US" dirty="0"/>
          </a:p>
        </p:txBody>
      </p:sp>
    </p:spTree>
    <p:extLst>
      <p:ext uri="{BB962C8B-B14F-4D97-AF65-F5344CB8AC3E}">
        <p14:creationId xmlns:p14="http://schemas.microsoft.com/office/powerpoint/2010/main" val="679305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HCI: AN Interdisciplinary Area </a:t>
            </a:r>
          </a:p>
        </p:txBody>
      </p:sp>
      <p:pic>
        <p:nvPicPr>
          <p:cNvPr id="6146" name="Picture 2" descr="Z:\HCI\Lectures\HCI.png"/>
          <p:cNvPicPr>
            <a:picLocks noGrp="1" noChangeAspect="1" noChangeArrowheads="1"/>
          </p:cNvPicPr>
          <p:nvPr>
            <p:ph sz="quarter" idx="1"/>
          </p:nvPr>
        </p:nvPicPr>
        <p:blipFill>
          <a:blip r:embed="rId3" cstate="print"/>
          <a:srcRect/>
          <a:stretch>
            <a:fillRect/>
          </a:stretch>
        </p:blipFill>
        <p:spPr bwMode="auto">
          <a:xfrm>
            <a:off x="2209800" y="1447800"/>
            <a:ext cx="4419600" cy="5209356"/>
          </a:xfrm>
          <a:prstGeom prst="rect">
            <a:avLst/>
          </a:prstGeom>
          <a:noFill/>
        </p:spPr>
      </p:pic>
    </p:spTree>
    <p:extLst>
      <p:ext uri="{BB962C8B-B14F-4D97-AF65-F5344CB8AC3E}">
        <p14:creationId xmlns:p14="http://schemas.microsoft.com/office/powerpoint/2010/main" val="2473840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Material	</a:t>
            </a:r>
          </a:p>
        </p:txBody>
      </p:sp>
      <p:sp>
        <p:nvSpPr>
          <p:cNvPr id="3" name="Content Placeholder 2"/>
          <p:cNvSpPr>
            <a:spLocks noGrp="1"/>
          </p:cNvSpPr>
          <p:nvPr>
            <p:ph sz="quarter" idx="1"/>
          </p:nvPr>
        </p:nvSpPr>
        <p:spPr/>
        <p:txBody>
          <a:bodyPr/>
          <a:lstStyle/>
          <a:p>
            <a:r>
              <a:rPr lang="en-US" dirty="0"/>
              <a:t>Interaction Design: Beyond Human - Computer Interaction (3rd ed.), by Yvonne Rogers, Helen Sharp, Jenny </a:t>
            </a:r>
            <a:r>
              <a:rPr lang="en-US" dirty="0" err="1"/>
              <a:t>Preece</a:t>
            </a:r>
            <a:r>
              <a:rPr lang="en-US" dirty="0"/>
              <a:t>. Wiley, 2011. </a:t>
            </a:r>
          </a:p>
          <a:p>
            <a:r>
              <a:rPr lang="en-US" dirty="0"/>
              <a:t>Human-Computer Interaction (3rd ed.), by Alan Dix - Janet Finlay - Gregory </a:t>
            </a:r>
            <a:r>
              <a:rPr lang="en-US" dirty="0" err="1"/>
              <a:t>Abowd</a:t>
            </a:r>
            <a:r>
              <a:rPr lang="en-US" dirty="0"/>
              <a:t> - Russell Beale PRENTICE HALL 2004 </a:t>
            </a:r>
          </a:p>
          <a:p>
            <a:r>
              <a:rPr lang="en-US" dirty="0"/>
              <a:t>Usability Engineering  edited by </a:t>
            </a:r>
            <a:r>
              <a:rPr lang="en-US" dirty="0" err="1"/>
              <a:t>Jakob</a:t>
            </a:r>
            <a:r>
              <a:rPr lang="en-US" dirty="0"/>
              <a:t> Nielsen</a:t>
            </a:r>
          </a:p>
          <a:p>
            <a:endParaRPr lang="en-US" dirty="0"/>
          </a:p>
        </p:txBody>
      </p:sp>
    </p:spTree>
    <p:extLst>
      <p:ext uri="{BB962C8B-B14F-4D97-AF65-F5344CB8AC3E}">
        <p14:creationId xmlns:p14="http://schemas.microsoft.com/office/powerpoint/2010/main" val="3799594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371601" y="2743200"/>
            <a:ext cx="6858000" cy="3810000"/>
          </a:xfrm>
        </p:spPr>
        <p:txBody>
          <a:bodyPr>
            <a:normAutofit fontScale="92500"/>
          </a:bodyPr>
          <a:lstStyle/>
          <a:p>
            <a:r>
              <a:rPr lang="en-US" dirty="0"/>
              <a:t>A particular group of consumers at which a product or service is aimed.</a:t>
            </a:r>
          </a:p>
          <a:p>
            <a:endParaRPr lang="en-US" dirty="0"/>
          </a:p>
          <a:p>
            <a:r>
              <a:rPr lang="en-US" dirty="0"/>
              <a:t>They have certain characteristics as demographics or psychological and behavioral patterns.</a:t>
            </a:r>
          </a:p>
          <a:p>
            <a:endParaRPr lang="en-US" dirty="0"/>
          </a:p>
          <a:p>
            <a:r>
              <a:rPr lang="en-US" dirty="0"/>
              <a:t>"schools are a key target market for the educational apps"</a:t>
            </a:r>
          </a:p>
          <a:p>
            <a:endParaRPr lang="en-US" dirty="0"/>
          </a:p>
        </p:txBody>
      </p:sp>
      <p:sp>
        <p:nvSpPr>
          <p:cNvPr id="3" name="Title 2"/>
          <p:cNvSpPr>
            <a:spLocks noGrp="1"/>
          </p:cNvSpPr>
          <p:nvPr>
            <p:ph type="title"/>
          </p:nvPr>
        </p:nvSpPr>
        <p:spPr/>
        <p:txBody>
          <a:bodyPr/>
          <a:lstStyle/>
          <a:p>
            <a:r>
              <a:rPr lang="en-US" dirty="0"/>
              <a:t>Target Market</a:t>
            </a:r>
          </a:p>
        </p:txBody>
      </p:sp>
    </p:spTree>
    <p:extLst>
      <p:ext uri="{BB962C8B-B14F-4D97-AF65-F5344CB8AC3E}">
        <p14:creationId xmlns:p14="http://schemas.microsoft.com/office/powerpoint/2010/main" val="1779562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Target Market</a:t>
            </a:r>
          </a:p>
        </p:txBody>
      </p:sp>
      <p:sp>
        <p:nvSpPr>
          <p:cNvPr id="2" name="Text Placeholder 1"/>
          <p:cNvSpPr>
            <a:spLocks noGrp="1"/>
          </p:cNvSpPr>
          <p:nvPr>
            <p:ph sz="quarter" idx="1"/>
          </p:nvPr>
        </p:nvSpPr>
        <p:spPr/>
        <p:txBody>
          <a:bodyPr>
            <a:normAutofit/>
          </a:bodyPr>
          <a:lstStyle/>
          <a:p>
            <a:r>
              <a:rPr lang="en-US" dirty="0"/>
              <a:t>Example:</a:t>
            </a:r>
          </a:p>
          <a:p>
            <a:endParaRPr lang="en-US" dirty="0"/>
          </a:p>
          <a:p>
            <a:r>
              <a:rPr lang="en-US" dirty="0">
                <a:hlinkClick r:id="rId2"/>
              </a:rPr>
              <a:t>McDonald’s targets</a:t>
            </a:r>
            <a:r>
              <a:rPr lang="en-US" dirty="0"/>
              <a:t> students, employees, and professionals in the age group of 8 to 45 years belonging to low &amp; middle-income groups and having an easy-going and careless personality</a:t>
            </a:r>
          </a:p>
          <a:p>
            <a:endParaRPr lang="en-US" dirty="0"/>
          </a:p>
        </p:txBody>
      </p:sp>
    </p:spTree>
    <p:extLst>
      <p:ext uri="{BB962C8B-B14F-4D97-AF65-F5344CB8AC3E}">
        <p14:creationId xmlns:p14="http://schemas.microsoft.com/office/powerpoint/2010/main" val="21407112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7D9C-0288-4B6C-8F22-D153D4287BEF}"/>
              </a:ext>
            </a:extLst>
          </p:cNvPr>
          <p:cNvSpPr>
            <a:spLocks noGrp="1"/>
          </p:cNvSpPr>
          <p:nvPr>
            <p:ph type="title"/>
          </p:nvPr>
        </p:nvSpPr>
        <p:spPr/>
        <p:txBody>
          <a:bodyPr/>
          <a:lstStyle/>
          <a:p>
            <a:r>
              <a:rPr lang="en-US" dirty="0"/>
              <a:t>Target market</a:t>
            </a:r>
          </a:p>
        </p:txBody>
      </p:sp>
      <p:sp>
        <p:nvSpPr>
          <p:cNvPr id="3" name="Content Placeholder 2">
            <a:extLst>
              <a:ext uri="{FF2B5EF4-FFF2-40B4-BE49-F238E27FC236}">
                <a16:creationId xmlns:a16="http://schemas.microsoft.com/office/drawing/2014/main" id="{BD28F8EA-5AF9-4617-8511-1B1636987833}"/>
              </a:ext>
            </a:extLst>
          </p:cNvPr>
          <p:cNvSpPr>
            <a:spLocks noGrp="1"/>
          </p:cNvSpPr>
          <p:nvPr>
            <p:ph sz="quarter" idx="1"/>
          </p:nvPr>
        </p:nvSpPr>
        <p:spPr/>
        <p:txBody>
          <a:bodyPr>
            <a:normAutofit fontScale="55000" lnSpcReduction="20000"/>
          </a:bodyPr>
          <a:lstStyle/>
          <a:p>
            <a:pPr algn="l">
              <a:buFont typeface="Arial" panose="020B0604020202020204" pitchFamily="34" charset="0"/>
              <a:buChar char="•"/>
            </a:pPr>
            <a:r>
              <a:rPr lang="en-US" b="1" i="0" dirty="0">
                <a:solidFill>
                  <a:srgbClr val="5E5E5E"/>
                </a:solidFill>
                <a:effectLst/>
                <a:latin typeface="Open Sans"/>
              </a:rPr>
              <a:t>Age</a:t>
            </a:r>
            <a:r>
              <a:rPr lang="en-US" b="0" i="0" dirty="0">
                <a:solidFill>
                  <a:srgbClr val="5E5E5E"/>
                </a:solidFill>
                <a:effectLst/>
                <a:latin typeface="Open Sans"/>
              </a:rPr>
              <a:t> – What is the general age range of your current customers? </a:t>
            </a:r>
          </a:p>
          <a:p>
            <a:pPr algn="l">
              <a:buFont typeface="Arial" panose="020B0604020202020204" pitchFamily="34" charset="0"/>
              <a:buChar char="•"/>
            </a:pPr>
            <a:endParaRPr lang="en-US" b="1" i="0" dirty="0">
              <a:solidFill>
                <a:srgbClr val="5E5E5E"/>
              </a:solidFill>
              <a:effectLst/>
              <a:latin typeface="Open Sans"/>
            </a:endParaRPr>
          </a:p>
          <a:p>
            <a:pPr algn="l">
              <a:buFont typeface="Arial" panose="020B0604020202020204" pitchFamily="34" charset="0"/>
              <a:buChar char="•"/>
            </a:pPr>
            <a:r>
              <a:rPr lang="en-US" b="1" i="0" dirty="0">
                <a:solidFill>
                  <a:srgbClr val="5E5E5E"/>
                </a:solidFill>
                <a:effectLst/>
                <a:latin typeface="Open Sans"/>
              </a:rPr>
              <a:t>Gender</a:t>
            </a:r>
            <a:r>
              <a:rPr lang="en-US" b="0" i="0" dirty="0">
                <a:solidFill>
                  <a:srgbClr val="5E5E5E"/>
                </a:solidFill>
                <a:effectLst/>
                <a:latin typeface="Open Sans"/>
              </a:rPr>
              <a:t> – Are your current customers mostly male or female? </a:t>
            </a:r>
          </a:p>
          <a:p>
            <a:pPr algn="l">
              <a:buFont typeface="Arial" panose="020B0604020202020204" pitchFamily="34" charset="0"/>
              <a:buChar char="•"/>
            </a:pPr>
            <a:endParaRPr lang="en-US" b="1" i="0" dirty="0">
              <a:solidFill>
                <a:srgbClr val="5E5E5E"/>
              </a:solidFill>
              <a:effectLst/>
              <a:latin typeface="Open Sans"/>
            </a:endParaRPr>
          </a:p>
          <a:p>
            <a:pPr algn="l">
              <a:buFont typeface="Arial" panose="020B0604020202020204" pitchFamily="34" charset="0"/>
              <a:buChar char="•"/>
            </a:pPr>
            <a:r>
              <a:rPr lang="en-US" b="1" i="0" dirty="0">
                <a:solidFill>
                  <a:srgbClr val="5E5E5E"/>
                </a:solidFill>
                <a:effectLst/>
                <a:latin typeface="Open Sans"/>
              </a:rPr>
              <a:t>Income</a:t>
            </a:r>
            <a:r>
              <a:rPr lang="en-US" b="0" i="0" dirty="0">
                <a:solidFill>
                  <a:srgbClr val="5E5E5E"/>
                </a:solidFill>
                <a:effectLst/>
                <a:latin typeface="Open Sans"/>
              </a:rPr>
              <a:t> – How much money do your customers have to spend on your products or services? Are they able to make repeat purchases or do they need to save up for your product? </a:t>
            </a:r>
          </a:p>
          <a:p>
            <a:pPr algn="l">
              <a:buFont typeface="Arial" panose="020B0604020202020204" pitchFamily="34" charset="0"/>
              <a:buChar char="•"/>
            </a:pPr>
            <a:endParaRPr lang="en-US" b="1" i="0" dirty="0">
              <a:solidFill>
                <a:srgbClr val="5E5E5E"/>
              </a:solidFill>
              <a:effectLst/>
              <a:latin typeface="Open Sans"/>
            </a:endParaRPr>
          </a:p>
          <a:p>
            <a:pPr algn="l">
              <a:buFont typeface="Arial" panose="020B0604020202020204" pitchFamily="34" charset="0"/>
              <a:buChar char="•"/>
            </a:pPr>
            <a:r>
              <a:rPr lang="en-US" b="1" i="0" dirty="0">
                <a:solidFill>
                  <a:srgbClr val="5E5E5E"/>
                </a:solidFill>
                <a:effectLst/>
                <a:latin typeface="Open Sans"/>
              </a:rPr>
              <a:t>Location</a:t>
            </a:r>
            <a:r>
              <a:rPr lang="en-US" b="0" i="0" dirty="0">
                <a:solidFill>
                  <a:srgbClr val="5E5E5E"/>
                </a:solidFill>
                <a:effectLst/>
                <a:latin typeface="Open Sans"/>
              </a:rPr>
              <a:t> – Where do your customers live and what time zone are they in? What are some cultural issues that are unique to their location </a:t>
            </a:r>
          </a:p>
          <a:p>
            <a:pPr algn="l">
              <a:buFont typeface="Arial" panose="020B0604020202020204" pitchFamily="34" charset="0"/>
              <a:buChar char="•"/>
            </a:pPr>
            <a:endParaRPr lang="en-US" b="1" i="0" dirty="0">
              <a:solidFill>
                <a:srgbClr val="5E5E5E"/>
              </a:solidFill>
              <a:effectLst/>
              <a:latin typeface="Open Sans"/>
            </a:endParaRPr>
          </a:p>
          <a:p>
            <a:pPr algn="l">
              <a:buFont typeface="Arial" panose="020B0604020202020204" pitchFamily="34" charset="0"/>
              <a:buChar char="•"/>
            </a:pPr>
            <a:r>
              <a:rPr lang="en-US" b="1" i="0" dirty="0">
                <a:solidFill>
                  <a:srgbClr val="5E5E5E"/>
                </a:solidFill>
                <a:effectLst/>
                <a:latin typeface="Open Sans"/>
              </a:rPr>
              <a:t>Behavior</a:t>
            </a:r>
            <a:r>
              <a:rPr lang="en-US" b="0" i="0" dirty="0">
                <a:solidFill>
                  <a:srgbClr val="5E5E5E"/>
                </a:solidFill>
                <a:effectLst/>
                <a:latin typeface="Open Sans"/>
              </a:rPr>
              <a:t> – How do your customers hang out online? Which pages or brands do they follow and what is their preferred social media platform? </a:t>
            </a:r>
          </a:p>
          <a:p>
            <a:pPr algn="l">
              <a:buFont typeface="Arial" panose="020B0604020202020204" pitchFamily="34" charset="0"/>
              <a:buChar char="•"/>
            </a:pPr>
            <a:endParaRPr lang="en-US" dirty="0">
              <a:solidFill>
                <a:srgbClr val="5E5E5E"/>
              </a:solidFill>
              <a:latin typeface="Open Sans"/>
            </a:endParaRPr>
          </a:p>
          <a:p>
            <a:pPr algn="l">
              <a:buFont typeface="Arial" panose="020B0604020202020204" pitchFamily="34" charset="0"/>
              <a:buChar char="•"/>
            </a:pPr>
            <a:r>
              <a:rPr lang="en-US" b="1" i="0" dirty="0">
                <a:solidFill>
                  <a:srgbClr val="5E5E5E"/>
                </a:solidFill>
                <a:effectLst/>
                <a:latin typeface="Open Sans"/>
              </a:rPr>
              <a:t>Lifestyle</a:t>
            </a:r>
            <a:r>
              <a:rPr lang="en-US" b="0" i="0" dirty="0">
                <a:solidFill>
                  <a:srgbClr val="5E5E5E"/>
                </a:solidFill>
                <a:effectLst/>
                <a:latin typeface="Open Sans"/>
              </a:rPr>
              <a:t> – How do your customers spend their free time? </a:t>
            </a:r>
          </a:p>
          <a:p>
            <a:pPr algn="l">
              <a:buFont typeface="Arial" panose="020B0604020202020204" pitchFamily="34" charset="0"/>
              <a:buChar char="•"/>
            </a:pPr>
            <a:endParaRPr lang="en-US" b="1" i="0" dirty="0">
              <a:solidFill>
                <a:srgbClr val="5E5E5E"/>
              </a:solidFill>
              <a:effectLst/>
              <a:latin typeface="Open Sans"/>
            </a:endParaRPr>
          </a:p>
          <a:p>
            <a:pPr algn="l">
              <a:buFont typeface="Arial" panose="020B0604020202020204" pitchFamily="34" charset="0"/>
              <a:buChar char="•"/>
            </a:pPr>
            <a:r>
              <a:rPr lang="en-US" b="1" i="0" dirty="0">
                <a:solidFill>
                  <a:srgbClr val="5E5E5E"/>
                </a:solidFill>
                <a:effectLst/>
                <a:latin typeface="Open Sans"/>
              </a:rPr>
              <a:t>Values</a:t>
            </a:r>
            <a:r>
              <a:rPr lang="en-US" b="0" i="0" dirty="0">
                <a:solidFill>
                  <a:srgbClr val="5E5E5E"/>
                </a:solidFill>
                <a:effectLst/>
                <a:latin typeface="Open Sans"/>
              </a:rPr>
              <a:t> – What are their general beliefs and values</a:t>
            </a:r>
            <a:endParaRPr lang="en-US" dirty="0"/>
          </a:p>
        </p:txBody>
      </p:sp>
    </p:spTree>
    <p:extLst>
      <p:ext uri="{BB962C8B-B14F-4D97-AF65-F5344CB8AC3E}">
        <p14:creationId xmlns:p14="http://schemas.microsoft.com/office/powerpoint/2010/main" val="857690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219200" y="2726575"/>
            <a:ext cx="7315200" cy="4114800"/>
          </a:xfrm>
        </p:spPr>
        <p:txBody>
          <a:bodyPr>
            <a:normAutofit fontScale="85000" lnSpcReduction="10000"/>
          </a:bodyPr>
          <a:lstStyle/>
          <a:p>
            <a:r>
              <a:rPr lang="en-US" dirty="0"/>
              <a:t>There are 3 main </a:t>
            </a:r>
            <a:r>
              <a:rPr lang="en-US" b="1" dirty="0"/>
              <a:t>types of user</a:t>
            </a:r>
          </a:p>
          <a:p>
            <a:pPr marL="514350" indent="-514350">
              <a:buFont typeface="+mj-lt"/>
              <a:buAutoNum type="arabicPeriod"/>
            </a:pPr>
            <a:r>
              <a:rPr lang="en-US" dirty="0"/>
              <a:t>Novice</a:t>
            </a:r>
          </a:p>
          <a:p>
            <a:pPr marL="514350" indent="-514350">
              <a:buFont typeface="+mj-lt"/>
              <a:buAutoNum type="arabicPeriod"/>
            </a:pPr>
            <a:r>
              <a:rPr lang="en-US" dirty="0"/>
              <a:t>Knowledgeable / intermittent user/ Casual user </a:t>
            </a:r>
          </a:p>
          <a:p>
            <a:pPr marL="514350" indent="-514350">
              <a:buFont typeface="+mj-lt"/>
              <a:buAutoNum type="arabicPeriod"/>
            </a:pPr>
            <a:r>
              <a:rPr lang="en-US" dirty="0"/>
              <a:t>Expert / frequent user</a:t>
            </a:r>
          </a:p>
          <a:p>
            <a:endParaRPr lang="en-US" dirty="0"/>
          </a:p>
          <a:p>
            <a:r>
              <a:rPr lang="en-US" dirty="0"/>
              <a:t>Users can however, be </a:t>
            </a:r>
            <a:r>
              <a:rPr lang="en-US" b="1" dirty="0"/>
              <a:t>classified</a:t>
            </a:r>
            <a:r>
              <a:rPr lang="en-US" dirty="0"/>
              <a:t> in any other way that is appropriate to the system being built. </a:t>
            </a:r>
            <a:r>
              <a:rPr lang="en-US" b="1" dirty="0"/>
              <a:t>(user classes)</a:t>
            </a:r>
          </a:p>
          <a:p>
            <a:pPr marL="514350" indent="-514350">
              <a:buFont typeface="+mj-lt"/>
              <a:buAutoNum type="arabicPeriod"/>
            </a:pPr>
            <a:r>
              <a:rPr lang="en-US" dirty="0"/>
              <a:t>	Some users may have keyboard skills, others not.</a:t>
            </a:r>
          </a:p>
          <a:p>
            <a:pPr marL="514350" indent="-514350">
              <a:buFont typeface="+mj-lt"/>
              <a:buAutoNum type="arabicPeriod"/>
            </a:pPr>
            <a:r>
              <a:rPr lang="en-US" dirty="0"/>
              <a:t>	Some users may have knowledge of other similar systems, others not.</a:t>
            </a:r>
          </a:p>
          <a:p>
            <a:endParaRPr lang="en-US" dirty="0"/>
          </a:p>
        </p:txBody>
      </p:sp>
      <p:sp>
        <p:nvSpPr>
          <p:cNvPr id="3" name="Title 2"/>
          <p:cNvSpPr>
            <a:spLocks noGrp="1"/>
          </p:cNvSpPr>
          <p:nvPr>
            <p:ph type="title"/>
          </p:nvPr>
        </p:nvSpPr>
        <p:spPr/>
        <p:txBody>
          <a:bodyPr/>
          <a:lstStyle/>
          <a:p>
            <a:r>
              <a:rPr lang="en-US" dirty="0"/>
              <a:t>User Classification</a:t>
            </a:r>
          </a:p>
        </p:txBody>
      </p:sp>
    </p:spTree>
    <p:extLst>
      <p:ext uri="{BB962C8B-B14F-4D97-AF65-F5344CB8AC3E}">
        <p14:creationId xmlns:p14="http://schemas.microsoft.com/office/powerpoint/2010/main" val="39399390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User Classes</a:t>
            </a:r>
          </a:p>
        </p:txBody>
      </p:sp>
      <p:sp>
        <p:nvSpPr>
          <p:cNvPr id="5" name="Content Placeholder 4"/>
          <p:cNvSpPr>
            <a:spLocks noGrp="1"/>
          </p:cNvSpPr>
          <p:nvPr>
            <p:ph sz="quarter" idx="1"/>
          </p:nvPr>
        </p:nvSpPr>
        <p:spPr/>
        <p:txBody>
          <a:bodyPr/>
          <a:lstStyle/>
          <a:p>
            <a:r>
              <a:rPr lang="en-US" dirty="0"/>
              <a:t>What will be user classes for UCP portal ? </a:t>
            </a:r>
          </a:p>
          <a:p>
            <a:endParaRPr lang="en-US" dirty="0"/>
          </a:p>
          <a:p>
            <a:r>
              <a:rPr lang="en-US" dirty="0"/>
              <a:t>What will be user classes for ATM ? </a:t>
            </a:r>
          </a:p>
          <a:p>
            <a:endParaRPr lang="en-US" dirty="0"/>
          </a:p>
          <a:p>
            <a:r>
              <a:rPr lang="en-US" dirty="0"/>
              <a:t>What will be user classes for </a:t>
            </a:r>
            <a:r>
              <a:rPr lang="en-US" dirty="0" err="1"/>
              <a:t>facebook</a:t>
            </a:r>
            <a:r>
              <a:rPr lang="en-US" dirty="0"/>
              <a:t>?</a:t>
            </a:r>
          </a:p>
        </p:txBody>
      </p:sp>
    </p:spTree>
    <p:extLst>
      <p:ext uri="{BB962C8B-B14F-4D97-AF65-F5344CB8AC3E}">
        <p14:creationId xmlns:p14="http://schemas.microsoft.com/office/powerpoint/2010/main" val="37151807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User Classes</a:t>
            </a:r>
          </a:p>
        </p:txBody>
      </p:sp>
      <p:sp>
        <p:nvSpPr>
          <p:cNvPr id="5" name="Content Placeholder 4"/>
          <p:cNvSpPr>
            <a:spLocks noGrp="1"/>
          </p:cNvSpPr>
          <p:nvPr>
            <p:ph sz="quarter" idx="1"/>
          </p:nvPr>
        </p:nvSpPr>
        <p:spPr/>
        <p:txBody>
          <a:bodyPr/>
          <a:lstStyle/>
          <a:p>
            <a:r>
              <a:rPr lang="en-US" dirty="0"/>
              <a:t>When two user groups are there who behave differently with the system or system behaves differently with them. </a:t>
            </a:r>
          </a:p>
        </p:txBody>
      </p:sp>
    </p:spTree>
    <p:extLst>
      <p:ext uri="{BB962C8B-B14F-4D97-AF65-F5344CB8AC3E}">
        <p14:creationId xmlns:p14="http://schemas.microsoft.com/office/powerpoint/2010/main" val="3022804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82E5-7553-490A-843F-A4E58B349622}"/>
              </a:ext>
            </a:extLst>
          </p:cNvPr>
          <p:cNvSpPr>
            <a:spLocks noGrp="1"/>
          </p:cNvSpPr>
          <p:nvPr>
            <p:ph type="title"/>
          </p:nvPr>
        </p:nvSpPr>
        <p:spPr/>
        <p:txBody>
          <a:bodyPr/>
          <a:lstStyle/>
          <a:p>
            <a:r>
              <a:rPr lang="en-US" dirty="0"/>
              <a:t>Identify user classes</a:t>
            </a:r>
          </a:p>
        </p:txBody>
      </p:sp>
      <p:sp>
        <p:nvSpPr>
          <p:cNvPr id="3" name="Content Placeholder 2">
            <a:extLst>
              <a:ext uri="{FF2B5EF4-FFF2-40B4-BE49-F238E27FC236}">
                <a16:creationId xmlns:a16="http://schemas.microsoft.com/office/drawing/2014/main" id="{5889B67B-EBBA-49A6-B3B5-E547A2DCB6C8}"/>
              </a:ext>
            </a:extLst>
          </p:cNvPr>
          <p:cNvSpPr>
            <a:spLocks noGrp="1"/>
          </p:cNvSpPr>
          <p:nvPr>
            <p:ph sz="quarter" idx="1"/>
          </p:nvPr>
        </p:nvSpPr>
        <p:spPr/>
        <p:txBody>
          <a:bodyPr/>
          <a:lstStyle/>
          <a:p>
            <a:r>
              <a:rPr lang="en-US" dirty="0"/>
              <a:t>E-commerce website</a:t>
            </a:r>
          </a:p>
        </p:txBody>
      </p:sp>
    </p:spTree>
    <p:extLst>
      <p:ext uri="{BB962C8B-B14F-4D97-AF65-F5344CB8AC3E}">
        <p14:creationId xmlns:p14="http://schemas.microsoft.com/office/powerpoint/2010/main" val="15300646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User Classification</a:t>
            </a:r>
          </a:p>
        </p:txBody>
      </p:sp>
      <p:sp>
        <p:nvSpPr>
          <p:cNvPr id="2" name="Text Placeholder 1"/>
          <p:cNvSpPr>
            <a:spLocks noGrp="1"/>
          </p:cNvSpPr>
          <p:nvPr>
            <p:ph sz="quarter" idx="1"/>
          </p:nvPr>
        </p:nvSpPr>
        <p:spPr/>
        <p:txBody>
          <a:bodyPr>
            <a:normAutofit/>
          </a:bodyPr>
          <a:lstStyle/>
          <a:p>
            <a:r>
              <a:rPr lang="en-US" dirty="0"/>
              <a:t>The advantages of classification mean that generalizations can be made about users and their needs.</a:t>
            </a:r>
          </a:p>
          <a:p>
            <a:pPr marL="457200" indent="-457200">
              <a:buFont typeface="Arial" panose="020B0604020202020204" pitchFamily="34" charset="0"/>
              <a:buChar char="•"/>
            </a:pPr>
            <a:r>
              <a:rPr lang="en-US" dirty="0"/>
              <a:t>This doesn’t necessarily mean that the best system has been designed for every individual.</a:t>
            </a:r>
          </a:p>
          <a:p>
            <a:pPr marL="457200" indent="-457200">
              <a:buFont typeface="Arial" panose="020B0604020202020204" pitchFamily="34" charset="0"/>
              <a:buChar char="•"/>
            </a:pPr>
            <a:r>
              <a:rPr lang="en-US" dirty="0"/>
              <a:t>It means that the system has been designed to fit the a user group</a:t>
            </a:r>
          </a:p>
          <a:p>
            <a:endParaRPr lang="en-US" dirty="0"/>
          </a:p>
        </p:txBody>
      </p:sp>
    </p:spTree>
    <p:extLst>
      <p:ext uri="{BB962C8B-B14F-4D97-AF65-F5344CB8AC3E}">
        <p14:creationId xmlns:p14="http://schemas.microsoft.com/office/powerpoint/2010/main" val="13741716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887D-38C6-47F3-8B83-281E23D7AF9F}"/>
              </a:ext>
            </a:extLst>
          </p:cNvPr>
          <p:cNvSpPr>
            <a:spLocks noGrp="1"/>
          </p:cNvSpPr>
          <p:nvPr>
            <p:ph type="title"/>
          </p:nvPr>
        </p:nvSpPr>
        <p:spPr/>
        <p:txBody>
          <a:bodyPr/>
          <a:lstStyle/>
          <a:p>
            <a:r>
              <a:rPr lang="en-US" dirty="0"/>
              <a:t>User classification</a:t>
            </a:r>
          </a:p>
        </p:txBody>
      </p:sp>
      <p:sp>
        <p:nvSpPr>
          <p:cNvPr id="3" name="Content Placeholder 2">
            <a:extLst>
              <a:ext uri="{FF2B5EF4-FFF2-40B4-BE49-F238E27FC236}">
                <a16:creationId xmlns:a16="http://schemas.microsoft.com/office/drawing/2014/main" id="{849E0804-4517-4871-90B3-EA6CCEEE3496}"/>
              </a:ext>
            </a:extLst>
          </p:cNvPr>
          <p:cNvSpPr>
            <a:spLocks noGrp="1"/>
          </p:cNvSpPr>
          <p:nvPr>
            <p:ph sz="quarter" idx="1"/>
          </p:nvPr>
        </p:nvSpPr>
        <p:spPr/>
        <p:txBody>
          <a:bodyPr/>
          <a:lstStyle/>
          <a:p>
            <a:r>
              <a:rPr lang="en-US" dirty="0"/>
              <a:t>One of the advantage is at the time of installation one can </a:t>
            </a:r>
            <a:r>
              <a:rPr lang="en-US"/>
              <a:t>set profile </a:t>
            </a:r>
            <a:r>
              <a:rPr lang="en-US" dirty="0"/>
              <a:t>+ no of options. </a:t>
            </a:r>
          </a:p>
        </p:txBody>
      </p:sp>
    </p:spTree>
    <p:extLst>
      <p:ext uri="{BB962C8B-B14F-4D97-AF65-F5344CB8AC3E}">
        <p14:creationId xmlns:p14="http://schemas.microsoft.com/office/powerpoint/2010/main" val="3191805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Class Activity</a:t>
            </a:r>
          </a:p>
        </p:txBody>
      </p:sp>
    </p:spTree>
    <p:extLst>
      <p:ext uri="{BB962C8B-B14F-4D97-AF65-F5344CB8AC3E}">
        <p14:creationId xmlns:p14="http://schemas.microsoft.com/office/powerpoint/2010/main" val="42504542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Usability Attributes</a:t>
            </a:r>
          </a:p>
        </p:txBody>
      </p:sp>
      <p:sp>
        <p:nvSpPr>
          <p:cNvPr id="3" name="Content Placeholder 2"/>
          <p:cNvSpPr>
            <a:spLocks noGrp="1"/>
          </p:cNvSpPr>
          <p:nvPr>
            <p:ph sz="quarter" idx="1"/>
          </p:nvPr>
        </p:nvSpPr>
        <p:spPr/>
        <p:txBody>
          <a:bodyPr>
            <a:normAutofit fontScale="92500" lnSpcReduction="20000"/>
          </a:bodyPr>
          <a:lstStyle/>
          <a:p>
            <a:r>
              <a:rPr lang="en-US" b="1" dirty="0"/>
              <a:t>Learnability</a:t>
            </a:r>
            <a:r>
              <a:rPr lang="en-US" dirty="0"/>
              <a:t>: </a:t>
            </a:r>
          </a:p>
          <a:p>
            <a:pPr lvl="1"/>
            <a:r>
              <a:rPr lang="en-US" dirty="0"/>
              <a:t>pick novice users of system, measure time to perform certain tasks.</a:t>
            </a:r>
          </a:p>
          <a:p>
            <a:pPr marL="365760" lvl="1" indent="0">
              <a:buNone/>
            </a:pPr>
            <a:endParaRPr lang="en-US" dirty="0"/>
          </a:p>
          <a:p>
            <a:r>
              <a:rPr lang="en-US" b="1" dirty="0"/>
              <a:t>Efficiency</a:t>
            </a:r>
            <a:r>
              <a:rPr lang="en-US" dirty="0"/>
              <a:t>: </a:t>
            </a:r>
          </a:p>
          <a:p>
            <a:pPr lvl="1"/>
            <a:r>
              <a:rPr lang="en-US" dirty="0"/>
              <a:t>decide definition of expertise, get sample expert users (difficult), measure time to perform typical tasks.</a:t>
            </a:r>
          </a:p>
          <a:p>
            <a:endParaRPr lang="en-US" b="1" dirty="0"/>
          </a:p>
          <a:p>
            <a:r>
              <a:rPr lang="en-US" b="1" dirty="0"/>
              <a:t>Errors</a:t>
            </a:r>
            <a:r>
              <a:rPr lang="en-US" dirty="0"/>
              <a:t>: </a:t>
            </a:r>
          </a:p>
          <a:p>
            <a:pPr lvl="1"/>
            <a:r>
              <a:rPr lang="en-US" dirty="0"/>
              <a:t>count minor and catastrophic errors made by users while performing some specified task. For example, number of deviations from optimal click path.</a:t>
            </a:r>
          </a:p>
        </p:txBody>
      </p:sp>
    </p:spTree>
    <p:extLst>
      <p:ext uri="{BB962C8B-B14F-4D97-AF65-F5344CB8AC3E}">
        <p14:creationId xmlns:p14="http://schemas.microsoft.com/office/powerpoint/2010/main" val="34471515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Usability Attributes</a:t>
            </a:r>
          </a:p>
        </p:txBody>
      </p:sp>
      <p:sp>
        <p:nvSpPr>
          <p:cNvPr id="3" name="Content Placeholder 2"/>
          <p:cNvSpPr>
            <a:spLocks noGrp="1"/>
          </p:cNvSpPr>
          <p:nvPr>
            <p:ph sz="quarter" idx="1"/>
          </p:nvPr>
        </p:nvSpPr>
        <p:spPr/>
        <p:txBody>
          <a:bodyPr>
            <a:normAutofit fontScale="92500" lnSpcReduction="20000"/>
          </a:bodyPr>
          <a:lstStyle/>
          <a:p>
            <a:r>
              <a:rPr lang="en-US" b="1" dirty="0"/>
              <a:t>Memorability</a:t>
            </a:r>
            <a:r>
              <a:rPr lang="en-US" dirty="0"/>
              <a:t>: </a:t>
            </a:r>
          </a:p>
          <a:p>
            <a:pPr lvl="1"/>
            <a:r>
              <a:rPr lang="en-US" dirty="0"/>
              <a:t>get sample casual users (away from system for certain time), </a:t>
            </a:r>
          </a:p>
          <a:p>
            <a:endParaRPr lang="en-US" b="1" dirty="0"/>
          </a:p>
          <a:p>
            <a:r>
              <a:rPr lang="en-US" b="1" dirty="0"/>
              <a:t>Effectiveness</a:t>
            </a:r>
            <a:r>
              <a:rPr lang="en-US" dirty="0"/>
              <a:t>: </a:t>
            </a:r>
          </a:p>
          <a:p>
            <a:pPr lvl="1"/>
            <a:r>
              <a:rPr lang="en-US" dirty="0"/>
              <a:t>decide on definition of success. For example, number of substitution words spotted in a text, or binary measure of success (order completed or not).</a:t>
            </a:r>
          </a:p>
          <a:p>
            <a:endParaRPr lang="en-US" b="1" dirty="0"/>
          </a:p>
          <a:p>
            <a:r>
              <a:rPr lang="en-US" b="1" dirty="0"/>
              <a:t>Satisfaction</a:t>
            </a:r>
            <a:r>
              <a:rPr lang="en-US" dirty="0"/>
              <a:t>: </a:t>
            </a:r>
          </a:p>
          <a:p>
            <a:pPr lvl="1"/>
            <a:r>
              <a:rPr lang="en-US" dirty="0"/>
              <a:t>ask users’ subjective opinion (questionnaire), after trying system for real task.</a:t>
            </a:r>
          </a:p>
          <a:p>
            <a:pPr marL="365760" lvl="1" indent="0">
              <a:buNone/>
            </a:pPr>
            <a:endParaRPr lang="en-US" dirty="0"/>
          </a:p>
        </p:txBody>
      </p:sp>
    </p:spTree>
    <p:extLst>
      <p:ext uri="{BB962C8B-B14F-4D97-AF65-F5344CB8AC3E}">
        <p14:creationId xmlns:p14="http://schemas.microsoft.com/office/powerpoint/2010/main" val="39780201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simple">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21954</TotalTime>
  <Words>3870</Words>
  <Application>Microsoft Office PowerPoint</Application>
  <PresentationFormat>On-screen Show (4:3)</PresentationFormat>
  <Paragraphs>406</Paragraphs>
  <Slides>70</Slides>
  <Notes>24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70</vt:i4>
      </vt:variant>
    </vt:vector>
  </HeadingPairs>
  <TitlesOfParts>
    <vt:vector size="80" baseType="lpstr">
      <vt:lpstr>Arial</vt:lpstr>
      <vt:lpstr>Calibri</vt:lpstr>
      <vt:lpstr>Monotype Sorts</vt:lpstr>
      <vt:lpstr>Open Sans</vt:lpstr>
      <vt:lpstr>Times New Roman</vt:lpstr>
      <vt:lpstr>Tw Cen MT</vt:lpstr>
      <vt:lpstr>Wingdings</vt:lpstr>
      <vt:lpstr>Wingdings 2</vt:lpstr>
      <vt:lpstr>Median</vt:lpstr>
      <vt:lpstr>simple</vt:lpstr>
      <vt:lpstr>Human Computer Interaction   </vt:lpstr>
      <vt:lpstr>Today’s Lecture</vt:lpstr>
      <vt:lpstr>Usability Engineering</vt:lpstr>
      <vt:lpstr>Attributes of System Acceptability</vt:lpstr>
      <vt:lpstr>Utility</vt:lpstr>
      <vt:lpstr>Utility</vt:lpstr>
      <vt:lpstr>Usability </vt:lpstr>
      <vt:lpstr>Usability </vt:lpstr>
      <vt:lpstr>Usability?</vt:lpstr>
      <vt:lpstr>1. Learnability</vt:lpstr>
      <vt:lpstr>How we learn a New User interface?</vt:lpstr>
      <vt:lpstr>People Learn by Doing </vt:lpstr>
      <vt:lpstr>Input format, example and default helps learnability</vt:lpstr>
      <vt:lpstr>Use familiar icons to improve learnability</vt:lpstr>
      <vt:lpstr>How will we measure learnability?</vt:lpstr>
      <vt:lpstr>2. Memorability</vt:lpstr>
      <vt:lpstr>Memorability </vt:lpstr>
      <vt:lpstr>How will we measure memorability?</vt:lpstr>
      <vt:lpstr>3. Efficiency </vt:lpstr>
      <vt:lpstr>Efficiency</vt:lpstr>
      <vt:lpstr>Efficiency</vt:lpstr>
      <vt:lpstr>Efficiency</vt:lpstr>
      <vt:lpstr>Keyboard Shortcuts </vt:lpstr>
      <vt:lpstr>History</vt:lpstr>
      <vt:lpstr>Autocomplete</vt:lpstr>
      <vt:lpstr>How will we measure efficiency?</vt:lpstr>
      <vt:lpstr>4. Effectiveness</vt:lpstr>
      <vt:lpstr>4. Effectiveness</vt:lpstr>
      <vt:lpstr>How will we measure effectiveness?</vt:lpstr>
      <vt:lpstr>5. Error Prevention </vt:lpstr>
      <vt:lpstr>Error Prevention</vt:lpstr>
      <vt:lpstr>Error Prevention</vt:lpstr>
      <vt:lpstr>PowerPoint Presentation</vt:lpstr>
      <vt:lpstr>PowerPoint Presentation</vt:lpstr>
      <vt:lpstr>How will we measure error prevention?</vt:lpstr>
      <vt:lpstr>6. Satisfaction</vt:lpstr>
      <vt:lpstr>User Experience – A Definition</vt:lpstr>
      <vt:lpstr>PowerPoint Presentation</vt:lpstr>
      <vt:lpstr>User Experience Goals</vt:lpstr>
      <vt:lpstr>Measureable Usability Attributes</vt:lpstr>
      <vt:lpstr>PowerPoint Presentation</vt:lpstr>
      <vt:lpstr>Context is Important</vt:lpstr>
      <vt:lpstr>Context is Important</vt:lpstr>
      <vt:lpstr>PowerPoint Presentation</vt:lpstr>
      <vt:lpstr>Recap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Self Study</vt:lpstr>
      <vt:lpstr>Interdisciplinary Nature of HCI</vt:lpstr>
      <vt:lpstr>Interdisciplinary Nature of HCI – Human Side</vt:lpstr>
      <vt:lpstr>Interdisciplinary Nature of HCI – Computer Side</vt:lpstr>
      <vt:lpstr>HCI: AN Interdisciplinary Area </vt:lpstr>
      <vt:lpstr>Reference Material </vt:lpstr>
      <vt:lpstr>Target Market</vt:lpstr>
      <vt:lpstr>Target Market</vt:lpstr>
      <vt:lpstr>Target market</vt:lpstr>
      <vt:lpstr>User Classification</vt:lpstr>
      <vt:lpstr>User Classes</vt:lpstr>
      <vt:lpstr>User Classes</vt:lpstr>
      <vt:lpstr>Identify user classes</vt:lpstr>
      <vt:lpstr>User Classification</vt:lpstr>
      <vt:lpstr>User classification</vt:lpstr>
      <vt:lpstr>Class Activity</vt:lpstr>
      <vt:lpstr>Measuring Usability Attributes</vt:lpstr>
      <vt:lpstr>Measuring Usability Attributes</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Rida Maryam</cp:lastModifiedBy>
  <cp:revision>493</cp:revision>
  <dcterms:created xsi:type="dcterms:W3CDTF">2010-02-07T17:56:13Z</dcterms:created>
  <dcterms:modified xsi:type="dcterms:W3CDTF">2021-10-17T10:57:36Z</dcterms:modified>
</cp:coreProperties>
</file>