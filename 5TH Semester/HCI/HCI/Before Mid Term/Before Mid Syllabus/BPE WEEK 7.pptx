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63" r:id="rId5"/>
    <p:sldId id="441" r:id="rId6"/>
    <p:sldId id="442" r:id="rId7"/>
    <p:sldId id="444" r:id="rId8"/>
    <p:sldId id="445" r:id="rId9"/>
    <p:sldId id="446" r:id="rId10"/>
    <p:sldId id="448" r:id="rId11"/>
    <p:sldId id="449" r:id="rId12"/>
    <p:sldId id="450" r:id="rId13"/>
    <p:sldId id="454" r:id="rId14"/>
    <p:sldId id="462" r:id="rId15"/>
    <p:sldId id="456" r:id="rId16"/>
    <p:sldId id="457" r:id="rId17"/>
    <p:sldId id="458" r:id="rId18"/>
    <p:sldId id="459" r:id="rId19"/>
    <p:sldId id="460" r:id="rId20"/>
    <p:sldId id="4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98" autoAdjust="0"/>
  </p:normalViewPr>
  <p:slideViewPr>
    <p:cSldViewPr snapToGrid="0">
      <p:cViewPr varScale="1">
        <p:scale>
          <a:sx n="43" d="100"/>
          <a:sy n="43" d="100"/>
        </p:scale>
        <p:origin x="87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0D272-305C-421E-A9EF-95D63D599B42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E7DFA-63CC-4ED7-B30E-ACF88B4B89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16E63-7886-43BC-8DD4-4F14C3DD7360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C5307-140F-447F-BCBA-BB92E3A290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D2957-8595-499F-896A-E9A0888D0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8115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753034"/>
            <a:ext cx="6815446" cy="3887390"/>
          </a:xfrm>
        </p:spPr>
        <p:txBody>
          <a:bodyPr anchor="t">
            <a:normAutofit/>
          </a:bodyPr>
          <a:lstStyle>
            <a:lvl1pPr>
              <a:defRPr sz="8500" spc="-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21B6D9B-E3FB-48D2-A477-5B73E221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640424"/>
            <a:ext cx="6437555" cy="1303176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3533" y="0"/>
            <a:ext cx="4082983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4716EF3-1422-48C0-BC49-14FAC3550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anchor="b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4038600" cy="3429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7B51DFB6-C977-4551-BE38-57688D7FF0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5300" y="0"/>
            <a:ext cx="4076701" cy="3429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4100" y="3841750"/>
            <a:ext cx="6599238" cy="229608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188F17E-DD3B-4CCC-957F-5A69144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815C-8BF3-4ECF-A945-A2A7C2983AF9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3698AF-A86A-4D69-8272-76C9C191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E2DC86-4009-449C-8F4E-779A8C76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9523655" cy="1501327"/>
          </a:xfrm>
        </p:spPr>
        <p:txBody>
          <a:bodyPr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71630E1-6506-4E93-BB6A-0604E0D049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286000"/>
            <a:ext cx="5067300" cy="4572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1BAB65B-02AF-4992-85D0-8E98AB1B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E115BC-4A4C-4385-82D5-106D1FAC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887" y="2899186"/>
            <a:ext cx="5610113" cy="3284359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CD3EB2B-80EF-4DC6-B2B6-F4B56844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C3E33A-8A0A-4767-A4D9-CD895637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D940D-6D44-4DF9-9322-B4B11F7EDCD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6EB31F-C5DF-49FF-8DEA-86AC0C1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086599" cy="45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FE912F-46EC-49B0-9C9A-DE9CBDF9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53035"/>
            <a:ext cx="5945393" cy="2366683"/>
          </a:xfrm>
        </p:spPr>
        <p:txBody>
          <a:bodyPr>
            <a:normAutofit/>
          </a:bodyPr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sz="6000"/>
              <a:t>Click to edit Master title style</a:t>
            </a:r>
            <a:endParaRPr lang="en-US" sz="6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F32D81-1E24-45B8-A09D-EEAD404D8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3075868"/>
            <a:ext cx="5945393" cy="110833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C7900-0694-4FDF-B29C-24016C0B9C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533900"/>
            <a:ext cx="7086598" cy="2324100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F1BABA-5C8C-4693-BD5A-974A171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D71BA6F2-2182-4910-8DA6-71E5AB2745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86600" y="0"/>
            <a:ext cx="5105400" cy="45339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83DCD7D2-7B94-48E9-9DCA-E72E1BCE4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6598" y="4533900"/>
            <a:ext cx="5105402" cy="23241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253B29-520A-4014-A821-4F52F57C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B60DEE-1456-46C0-A3E5-4CAF3E12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722F022-211C-4882-844C-086FEA6806AA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F4DD58-525D-4728-A769-9F38711D5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862FE-7A72-432B-9888-FB389D35B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8" y="875030"/>
            <a:ext cx="2384425" cy="5068570"/>
          </a:xfrm>
        </p:spPr>
        <p:txBody>
          <a:bodyPr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 to add text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256B58A-EC2F-48AB-BF2D-AB678AF0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3DA1-34CB-434E-99AF-EA31D28A194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2000" y="876300"/>
            <a:ext cx="8607425" cy="4749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B48D9BB-04DF-4542-8DF6-C4C78753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2742E1-6009-4FFB-A391-37B987F5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FEABB-56CC-491D-830B-02C0466D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F3EF5A-453C-4D68-BA86-2FB1DE61C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7" y="996950"/>
            <a:ext cx="2384425" cy="4946650"/>
          </a:xfrm>
        </p:spPr>
        <p:txBody>
          <a:bodyPr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 to add text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9321BA0-41E1-404D-9063-DF281D18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CEA4-8F84-4893-8A45-28DB0AE2068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2650" y="996950"/>
            <a:ext cx="8367713" cy="45450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99D2EA6-8453-4240-88D1-460E269D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DD4984-9B40-488F-B903-2E041955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  <a:gradFill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rIns="731520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1963" y="4089656"/>
            <a:ext cx="8950035" cy="2796566"/>
          </a:xfrm>
          <a:gradFill>
            <a:gsLst>
              <a:gs pos="77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tIns="640080" rIns="731520" anchor="t">
            <a:normAutofit/>
          </a:bodyPr>
          <a:lstStyle>
            <a:lvl1pPr marL="0" indent="0" algn="r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subtitle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79A2161-66FE-4C11-AD83-5824307C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1399727-F37D-4748-90E8-B5B6F531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9DE4FD1-0950-4A6A-8167-F0E9C622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D6D940D-6D44-4DF9-9322-B4B11F7EDCD0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42DEE-636F-4A79-B56A-5AF989E1F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5C9195-04C9-4D9A-B613-44A5F5900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98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31863" y="1695450"/>
            <a:ext cx="10328275" cy="4314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20B3F9-9DEF-4500-91D7-25F0B5E9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E504E9-EAD2-4BE5-9736-CED43FF2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B613-AF5E-423F-A78B-94F856BF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F922A0-5527-4314-A2EA-E5CF34EF9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EC4CB6-956E-48EB-86AC-B40D89D74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759" y="194783"/>
            <a:ext cx="10022841" cy="760892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A4250-BD33-40AE-934A-A473029C5CA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6112" y="1560513"/>
            <a:ext cx="10899776" cy="4341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1E7CA1-3FAA-4961-8BAC-93AB2EF6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0CC547-8B7E-4C4B-9B2A-04BD498A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245B-9DC4-457D-AB68-8E3BBB85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9680" y="190500"/>
            <a:ext cx="10036292" cy="773776"/>
          </a:xfrm>
        </p:spPr>
        <p:txBody>
          <a:bodyPr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43" y="1764139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243" y="2374900"/>
            <a:ext cx="4756714" cy="33655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7467" y="1764031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7467" y="2374900"/>
            <a:ext cx="4756714" cy="33655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97352E-C52D-43BE-BCE2-2D71FE03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051A8D-592F-40C1-A65D-E1F17B07C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79600" y="183988"/>
            <a:ext cx="9406372" cy="803380"/>
          </a:xfrm>
        </p:spPr>
        <p:txBody>
          <a:bodyPr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300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193" y="2374899"/>
            <a:ext cx="3327366" cy="348557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2317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2317" y="2374899"/>
            <a:ext cx="3327366" cy="348557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EF04CC-F1B1-495C-BA2F-F28A5D97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57B66A6-EBC5-4A75-B938-7148B7A1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3DD707-C769-4868-9B2F-1BF7ABBC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53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sv-SE" altLang="en-US"/>
              <a:t>Click to edit Master title style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sv-SE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03, 2012.</a:t>
            </a:r>
            <a:endParaRPr lang="sv-SE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3D8D2-148E-4337-908F-B232757D6C53}" type="slidenum">
              <a:rPr lang="sv-SE" altLang="en-US"/>
              <a:pPr>
                <a:defRPr/>
              </a:pPr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190362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 sz="105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2335214" y="1182111"/>
            <a:ext cx="7646987" cy="2674937"/>
          </a:xfrm>
        </p:spPr>
        <p:txBody>
          <a:bodyPr/>
          <a:lstStyle/>
          <a:p>
            <a:pPr algn="ctr"/>
            <a:r>
              <a:rPr lang="en-GB" altLang="en-US" dirty="0"/>
              <a:t>Business Process Engineering</a:t>
            </a:r>
            <a:br>
              <a:rPr lang="en-GB" altLang="en-US" dirty="0"/>
            </a:br>
            <a:r>
              <a:rPr lang="en-GB" altLang="en-US" dirty="0"/>
              <a:t>Week # 7</a:t>
            </a:r>
            <a:endParaRPr lang="en-US" alt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3635376" y="4365625"/>
            <a:ext cx="4849813" cy="857250"/>
          </a:xfrm>
        </p:spPr>
        <p:txBody>
          <a:bodyPr/>
          <a:lstStyle/>
          <a:p>
            <a:pPr algn="ctr"/>
            <a:r>
              <a:rPr lang="en-US" altLang="en-US"/>
              <a:t>FALL-2025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58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BBD6-A223-4F7C-9982-344CB33B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Purpose</a:t>
            </a:r>
            <a:endParaRPr lang="en-US" dirty="0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3D18C24-2695-4978-A652-CB83025F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altLang="en-US"/>
              <a:t>A simpler business process notation when compared with BPMN notation</a:t>
            </a:r>
          </a:p>
          <a:p>
            <a:r>
              <a:rPr lang="en-GB" altLang="en-US"/>
              <a:t>Helps to map ideal processes in a consistent, simple to understand and readable way without reference to any supporting document</a:t>
            </a:r>
          </a:p>
          <a:p>
            <a:r>
              <a:rPr lang="en-GB" altLang="en-US"/>
              <a:t>IDEF0 is used to model business functions</a:t>
            </a:r>
          </a:p>
          <a:p>
            <a:r>
              <a:rPr lang="en-GB" altLang="en-US"/>
              <a:t>As IDEF uses simple English and graphics, it allows business users and subject matter experts to work together to quickly understand, review, improve and design business </a:t>
            </a:r>
          </a:p>
          <a:p>
            <a:r>
              <a:rPr lang="en-GB" altLang="en-US"/>
              <a:t>With an IDEF guideline of 3–6 boxes in each map, unnecessary detail is excluded.</a:t>
            </a:r>
          </a:p>
          <a:p>
            <a:r>
              <a:rPr lang="en-GB" altLang="en-US"/>
              <a:t>When more detail is required, this is shown by creating child maps.</a:t>
            </a: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92C9B8E-0360-4C24-B1BD-E4EF2B3B4D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92B4FAD-B1BE-4979-8605-3129F3E0EE60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6338-9C9D-4C8B-9B3F-26B66F55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45541"/>
            <a:ext cx="10552176" cy="1499616"/>
          </a:xfrm>
        </p:spPr>
        <p:txBody>
          <a:bodyPr/>
          <a:lstStyle/>
          <a:p>
            <a:pPr>
              <a:defRPr/>
            </a:pPr>
            <a:r>
              <a:rPr lang="en-GB" dirty="0"/>
              <a:t>IDEF0 Symbols</a:t>
            </a:r>
            <a:endParaRPr lang="en-US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2AF5FB73-7FC2-4518-B38F-3A0924AD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901" y="1412875"/>
            <a:ext cx="4938713" cy="1295400"/>
          </a:xfrm>
        </p:spPr>
        <p:txBody>
          <a:bodyPr>
            <a:normAutofit fontScale="92500" lnSpcReduction="10000"/>
          </a:bodyPr>
          <a:lstStyle/>
          <a:p>
            <a:pPr marL="82550" indent="0">
              <a:buNone/>
            </a:pPr>
            <a:r>
              <a:rPr lang="en-GB" altLang="en-US" sz="2400"/>
              <a:t>Box defines functions, processes or a whole enterprise</a:t>
            </a:r>
          </a:p>
          <a:p>
            <a:pPr marL="82550" indent="0">
              <a:buNone/>
            </a:pPr>
            <a:r>
              <a:rPr lang="en-GB" altLang="en-US" sz="2400"/>
              <a:t>Mapping starts with a box</a:t>
            </a:r>
            <a:endParaRPr lang="en-US" altLang="en-US" sz="2400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B77FE8AE-3D9C-4483-8BFF-A83B0336A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27DDB5-2C64-4CF6-806D-7F70711BE0A8}" type="slidenum">
              <a:rPr lang="en-GB" altLang="en-US" smtClean="0">
                <a:solidFill>
                  <a:srgbClr val="B5A788"/>
                </a:solidFill>
              </a:rPr>
              <a:pPr/>
              <a:t>3</a:t>
            </a:fld>
            <a:endParaRPr lang="en-GB" altLang="en-US">
              <a:solidFill>
                <a:srgbClr val="B5A788"/>
              </a:solidFill>
            </a:endParaRP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64AA04A2-FB56-4ACF-A9B9-816DA8933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4" y="1628776"/>
            <a:ext cx="2505075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Content Placeholder 2">
            <a:extLst>
              <a:ext uri="{FF2B5EF4-FFF2-40B4-BE49-F238E27FC236}">
                <a16:creationId xmlns:a16="http://schemas.microsoft.com/office/drawing/2014/main" id="{D6467F04-891C-46D7-A8D9-D95C6FB9A24D}"/>
              </a:ext>
            </a:extLst>
          </p:cNvPr>
          <p:cNvSpPr txBox="1">
            <a:spLocks/>
          </p:cNvSpPr>
          <p:nvPr/>
        </p:nvSpPr>
        <p:spPr bwMode="auto">
          <a:xfrm>
            <a:off x="5553076" y="2781300"/>
            <a:ext cx="49053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/>
              <a:t>Arrows show connections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/>
              <a:t>Tunnelled arrows show the scope of arrows in a hierarchical model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/>
              <a:t>Used to signify </a:t>
            </a:r>
            <a:r>
              <a:rPr lang="en-GB" altLang="en-US" sz="2400" b="1" dirty="0"/>
              <a:t>I</a:t>
            </a:r>
            <a:r>
              <a:rPr lang="en-GB" altLang="en-US" sz="2400" dirty="0"/>
              <a:t>nputs, </a:t>
            </a:r>
            <a:r>
              <a:rPr lang="en-GB" altLang="en-US" sz="2400" b="1" dirty="0"/>
              <a:t>C</a:t>
            </a:r>
            <a:r>
              <a:rPr lang="en-GB" altLang="en-US" sz="2400" dirty="0"/>
              <a:t>ontrols, </a:t>
            </a:r>
            <a:r>
              <a:rPr lang="en-GB" altLang="en-US" sz="2400" b="1" dirty="0"/>
              <a:t>O</a:t>
            </a:r>
            <a:r>
              <a:rPr lang="en-GB" altLang="en-US" sz="2400" dirty="0"/>
              <a:t>utputs and </a:t>
            </a:r>
            <a:r>
              <a:rPr lang="en-GB" altLang="en-US" sz="2400" b="1" dirty="0"/>
              <a:t>M</a:t>
            </a:r>
            <a:r>
              <a:rPr lang="en-GB" altLang="en-US" sz="2400" dirty="0"/>
              <a:t>echanisms (</a:t>
            </a:r>
            <a:r>
              <a:rPr lang="en-GB" altLang="en-US" sz="2400" b="1" dirty="0"/>
              <a:t>ICOM</a:t>
            </a:r>
            <a:r>
              <a:rPr lang="en-GB" altLang="en-US" sz="2400" dirty="0"/>
              <a:t>) </a:t>
            </a:r>
            <a:endParaRPr lang="en-US" altLang="en-US" sz="2400" dirty="0"/>
          </a:p>
        </p:txBody>
      </p:sp>
      <p:sp>
        <p:nvSpPr>
          <p:cNvPr id="11271" name="Content Placeholder 2">
            <a:extLst>
              <a:ext uri="{FF2B5EF4-FFF2-40B4-BE49-F238E27FC236}">
                <a16:creationId xmlns:a16="http://schemas.microsoft.com/office/drawing/2014/main" id="{6B460436-3A03-462C-A847-F9594DDA7571}"/>
              </a:ext>
            </a:extLst>
          </p:cNvPr>
          <p:cNvSpPr txBox="1">
            <a:spLocks/>
          </p:cNvSpPr>
          <p:nvPr/>
        </p:nvSpPr>
        <p:spPr bwMode="auto">
          <a:xfrm>
            <a:off x="5553076" y="5084763"/>
            <a:ext cx="421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en-US" sz="2400"/>
              <a:t>Labels define the purpose of arrows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EF08-6E33-49EF-8817-2F8CA866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IDEF0 Functional View – </a:t>
            </a:r>
            <a:br>
              <a:rPr lang="en-GB" dirty="0"/>
            </a:br>
            <a:r>
              <a:rPr lang="en-GB" dirty="0"/>
              <a:t>Example: Making a Cup of Coffee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8D9AF7-EFBF-49A7-80BF-C66B5FB44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E2B8104D-0D06-494C-9E90-2BEC02C1BD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4C9F39B-65A5-4288-87B1-8C7DC63BCE11}" type="slidenum">
              <a:rPr lang="en-GB" altLang="en-US" smtClean="0"/>
              <a:pPr/>
              <a:t>4</a:t>
            </a:fld>
            <a:endParaRPr lang="en-GB" altLang="en-US"/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44910670-C96D-42E6-B843-4183FAF74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2449513"/>
            <a:ext cx="8728075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72248-D85B-465D-A17D-16B06E7D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Safely and reliably transport family of four and luggage at reasonable cost</a:t>
            </a:r>
            <a:endParaRPr 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439DC0BC-359D-45CC-8A57-2E24BDA82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Consider the process:</a:t>
            </a:r>
          </a:p>
          <a:p>
            <a:pPr lvl="1"/>
            <a:r>
              <a:rPr lang="en-GB" altLang="en-US" dirty="0"/>
              <a:t>What we want it to do?</a:t>
            </a:r>
          </a:p>
          <a:p>
            <a:pPr lvl="1"/>
            <a:r>
              <a:rPr lang="en-US" altLang="en-US" dirty="0"/>
              <a:t>What resources it needs?</a:t>
            </a:r>
          </a:p>
          <a:p>
            <a:pPr lvl="1"/>
            <a:r>
              <a:rPr lang="en-US" altLang="en-US" dirty="0"/>
              <a:t>What rules apply to its use?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2DD7F89-E142-455D-93F9-6540E689A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6ADF3F-ABF9-4146-A395-8FFA312A06FC}" type="slidenum">
              <a:rPr lang="en-GB" altLang="en-US" smtClean="0"/>
              <a:pPr/>
              <a:t>5</a:t>
            </a:fld>
            <a:endParaRPr lang="en-GB" altLang="en-US"/>
          </a:p>
        </p:txBody>
      </p:sp>
      <p:sp>
        <p:nvSpPr>
          <p:cNvPr id="14341" name="Content Placeholder 2">
            <a:extLst>
              <a:ext uri="{FF2B5EF4-FFF2-40B4-BE49-F238E27FC236}">
                <a16:creationId xmlns:a16="http://schemas.microsoft.com/office/drawing/2014/main" id="{E1BF56A4-9F2A-44E9-A438-B9C9F1544DF4}"/>
              </a:ext>
            </a:extLst>
          </p:cNvPr>
          <p:cNvSpPr txBox="1">
            <a:spLocks/>
          </p:cNvSpPr>
          <p:nvPr/>
        </p:nvSpPr>
        <p:spPr bwMode="auto">
          <a:xfrm>
            <a:off x="1097279" y="3748088"/>
            <a:ext cx="9016779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r>
              <a:rPr lang="en-GB" altLang="en-US" dirty="0"/>
              <a:t>As a driver:</a:t>
            </a:r>
          </a:p>
          <a:p>
            <a:pPr lvl="1"/>
            <a:r>
              <a:rPr lang="en-GB" altLang="en-US" dirty="0"/>
              <a:t>May only be interested in the fuel and tyres</a:t>
            </a:r>
          </a:p>
          <a:p>
            <a:r>
              <a:rPr lang="en-US" altLang="en-US" dirty="0"/>
              <a:t>As a mechanic:</a:t>
            </a:r>
          </a:p>
          <a:p>
            <a:pPr lvl="1"/>
            <a:r>
              <a:rPr lang="en-US" altLang="en-US" dirty="0"/>
              <a:t>Why the engine won’t start?</a:t>
            </a:r>
          </a:p>
          <a:p>
            <a:pPr lvl="1"/>
            <a:r>
              <a:rPr lang="en-US" altLang="en-US" dirty="0"/>
              <a:t>Might go down to the lowest level of decomposition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499C7A-2401-4F8A-AE7D-CE8BC6C2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A0 – Context Map</a:t>
            </a:r>
            <a:endParaRPr lang="en-US" dirty="0"/>
          </a:p>
        </p:txBody>
      </p:sp>
      <p:pic>
        <p:nvPicPr>
          <p:cNvPr id="15362" name="Content Placeholder 4">
            <a:extLst>
              <a:ext uri="{FF2B5EF4-FFF2-40B4-BE49-F238E27FC236}">
                <a16:creationId xmlns:a16="http://schemas.microsoft.com/office/drawing/2014/main" id="{14579C13-42F8-4AED-AA6C-A2E1688FF5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1079" y="1864740"/>
            <a:ext cx="8211696" cy="4791744"/>
          </a:xfrm>
        </p:spPr>
      </p:pic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118B1AF2-27BC-40AF-A98E-05641E0DDD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7AE9C9-435B-4B66-81D3-19AFBFDEB300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47C8-3D12-4458-BB12-CB1F2D79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IDEF0 Model: </a:t>
            </a:r>
            <a:br>
              <a:rPr lang="en-GB" sz="3600" dirty="0"/>
            </a:br>
            <a:r>
              <a:rPr lang="en-GB" sz="3600" dirty="0"/>
              <a:t>Bake Bread for Public Sale</a:t>
            </a:r>
            <a:br>
              <a:rPr lang="en-GB" sz="3600" dirty="0"/>
            </a:br>
            <a:r>
              <a:rPr lang="en-GB" sz="3600" dirty="0"/>
              <a:t>Inputs, Controls, Outputs, Mechanism (ICOM) </a:t>
            </a:r>
            <a:endParaRPr lang="en-US" sz="36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139DC-71F3-434C-B96F-8CC03B46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262D2FB-52A3-4812-922A-170D02D0B8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078F97-DCDB-460D-A3EE-08A90B59DD53}" type="slidenum">
              <a:rPr lang="en-GB" altLang="en-US" smtClean="0"/>
              <a:pPr/>
              <a:t>7</a:t>
            </a:fld>
            <a:endParaRPr lang="en-GB" altLang="en-US"/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E7029536-4DF0-40FF-8CE0-5A899632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765300"/>
            <a:ext cx="874395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B7A4-9F91-4C35-BC03-874DBD9F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46623"/>
            <a:ext cx="10552176" cy="1499616"/>
          </a:xfrm>
        </p:spPr>
        <p:txBody>
          <a:bodyPr/>
          <a:lstStyle/>
          <a:p>
            <a:r>
              <a:rPr lang="en-GB" dirty="0"/>
              <a:t>IDEF0 Example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9065B7-734D-48DD-B57F-2B8F7FD0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4AD6F22-461F-44CC-9BE8-C75CB024E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BBA0171-F0DD-4723-9A9F-C88222289CD6}" type="slidenum">
              <a:rPr lang="en-GB" altLang="en-US" smtClean="0"/>
              <a:pPr/>
              <a:t>8</a:t>
            </a:fld>
            <a:endParaRPr lang="en-GB" altLang="en-US"/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17F7C87F-5F45-415C-A860-47C9B8BD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646239"/>
            <a:ext cx="870108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AB44-288B-4C09-A22B-F3A9C966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Decomposition of Step 3: Make Bread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B44BA0-88F2-4935-BB97-5B88DC108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A64FA45E-ABD8-4B34-BD2F-B516AAFDEC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5F3026-8864-4008-83BA-3AD6C71D2754}" type="slidenum">
              <a:rPr lang="en-GB" altLang="en-US" smtClean="0"/>
              <a:pPr/>
              <a:t>9</a:t>
            </a:fld>
            <a:endParaRPr lang="en-GB" altLang="en-US"/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289DEA2C-80B3-4300-A2AF-902C9B74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38" y="1277505"/>
            <a:ext cx="7269163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F72E-7963-4ED4-9650-975541AF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Workflow Diagram</a:t>
            </a:r>
            <a:endParaRPr lang="en-US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F38A407-E61D-4A24-858B-B6B0FADBD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/>
              <a:t>Provides a graphic overview of the business process</a:t>
            </a:r>
          </a:p>
          <a:p>
            <a:r>
              <a:rPr lang="en-GB" altLang="en-US"/>
              <a:t>Uses standardized symbols and shapes to step by step show how a work is completed from start to finish</a:t>
            </a:r>
          </a:p>
          <a:p>
            <a:r>
              <a:rPr lang="en-GB" altLang="en-US"/>
              <a:t>Shows who is responsible for work at what point in the process</a:t>
            </a:r>
          </a:p>
          <a:p>
            <a:r>
              <a:rPr lang="en-GB" altLang="en-US"/>
              <a:t>Can help define, standardize and identify critical areas of your process</a:t>
            </a:r>
          </a:p>
          <a:p>
            <a:r>
              <a:rPr lang="en-GB" altLang="en-US"/>
              <a:t>Help employees understand their roles and the order in which work is completed</a:t>
            </a:r>
          </a:p>
          <a:p>
            <a:r>
              <a:rPr lang="en-GB" altLang="en-US"/>
              <a:t>Originated from manufacturing industry</a:t>
            </a: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A2E2E93D-D544-4625-9376-7D566D61D3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2545EC-3549-46A7-A3C5-EB1A937BFF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F1BF-FD8A-4F1C-B62C-423D4328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595"/>
            <a:ext cx="10552176" cy="1499616"/>
          </a:xfrm>
        </p:spPr>
        <p:txBody>
          <a:bodyPr/>
          <a:lstStyle/>
          <a:p>
            <a:r>
              <a:rPr lang="en-GB" dirty="0"/>
              <a:t>Workflow Diagram Components</a:t>
            </a:r>
            <a:endParaRPr lang="en-US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E404AFF-0190-49C6-A446-ADE6E3344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6340"/>
            <a:ext cx="10552176" cy="4197096"/>
          </a:xfrm>
        </p:spPr>
        <p:txBody>
          <a:bodyPr/>
          <a:lstStyle/>
          <a:p>
            <a:r>
              <a:rPr lang="en-GB" altLang="en-US" dirty="0"/>
              <a:t>Signifies starting and ending points of the process</a:t>
            </a:r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142A822-C22F-4306-BF7D-E59F771B2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1180FB-DD57-4250-A0A0-8AF9A8B22911}" type="slidenum">
              <a:rPr lang="en-GB" altLang="en-US" smtClean="0"/>
              <a:pPr/>
              <a:t>11</a:t>
            </a:fld>
            <a:endParaRPr lang="en-GB" altLang="en-US"/>
          </a:p>
        </p:txBody>
      </p:sp>
      <p:pic>
        <p:nvPicPr>
          <p:cNvPr id="21509" name="Picture 4">
            <a:extLst>
              <a:ext uri="{FF2B5EF4-FFF2-40B4-BE49-F238E27FC236}">
                <a16:creationId xmlns:a16="http://schemas.microsoft.com/office/drawing/2014/main" id="{80A51D16-A2A5-408C-83D6-15140430A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917997"/>
            <a:ext cx="19240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AF8A5CB6-8A11-4E9A-A777-743AF3DB4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1951"/>
            <a:ext cx="4572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7">
            <a:extLst>
              <a:ext uri="{FF2B5EF4-FFF2-40B4-BE49-F238E27FC236}">
                <a16:creationId xmlns:a16="http://schemas.microsoft.com/office/drawing/2014/main" id="{F9F02577-CD3C-40B2-B1AA-D10ACE45F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542" y="2905125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8">
            <a:extLst>
              <a:ext uri="{FF2B5EF4-FFF2-40B4-BE49-F238E27FC236}">
                <a16:creationId xmlns:a16="http://schemas.microsoft.com/office/drawing/2014/main" id="{299E81EE-33C5-4A8F-9FE3-A3B32E98E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1" y="2792414"/>
            <a:ext cx="23526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Content Placeholder 2">
            <a:extLst>
              <a:ext uri="{FF2B5EF4-FFF2-40B4-BE49-F238E27FC236}">
                <a16:creationId xmlns:a16="http://schemas.microsoft.com/office/drawing/2014/main" id="{8155CB49-5B10-47B4-BA1A-D16C4B69EA1B}"/>
              </a:ext>
            </a:extLst>
          </p:cNvPr>
          <p:cNvSpPr txBox="1">
            <a:spLocks/>
          </p:cNvSpPr>
          <p:nvPr/>
        </p:nvSpPr>
        <p:spPr bwMode="auto">
          <a:xfrm>
            <a:off x="5403850" y="3068638"/>
            <a:ext cx="4292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en-US" sz="2400"/>
              <a:t>Denotes instructions or actions </a:t>
            </a:r>
            <a:endParaRPr lang="en-US" altLang="en-US" sz="2400"/>
          </a:p>
        </p:txBody>
      </p:sp>
      <p:pic>
        <p:nvPicPr>
          <p:cNvPr id="21514" name="Picture 10">
            <a:extLst>
              <a:ext uri="{FF2B5EF4-FFF2-40B4-BE49-F238E27FC236}">
                <a16:creationId xmlns:a16="http://schemas.microsoft.com/office/drawing/2014/main" id="{07FB5AED-4835-4F59-AF2B-63B76C477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688" y="4297364"/>
            <a:ext cx="23431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5" name="Content Placeholder 2">
            <a:extLst>
              <a:ext uri="{FF2B5EF4-FFF2-40B4-BE49-F238E27FC236}">
                <a16:creationId xmlns:a16="http://schemas.microsoft.com/office/drawing/2014/main" id="{57A16BAB-750B-41C1-BA8F-A00348AFC0E4}"/>
              </a:ext>
            </a:extLst>
          </p:cNvPr>
          <p:cNvSpPr txBox="1">
            <a:spLocks/>
          </p:cNvSpPr>
          <p:nvPr/>
        </p:nvSpPr>
        <p:spPr bwMode="auto">
          <a:xfrm>
            <a:off x="5403851" y="4076701"/>
            <a:ext cx="486727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en-US" sz="2400"/>
              <a:t>Indicates where a decision must be made, after which the workflow proceeds in two separate paths after a “yes” or “no” decision</a:t>
            </a:r>
            <a:endParaRPr lang="en-US" altLang="en-US" sz="2400"/>
          </a:p>
        </p:txBody>
      </p:sp>
      <p:pic>
        <p:nvPicPr>
          <p:cNvPr id="21516" name="Picture 12">
            <a:extLst>
              <a:ext uri="{FF2B5EF4-FFF2-40B4-BE49-F238E27FC236}">
                <a16:creationId xmlns:a16="http://schemas.microsoft.com/office/drawing/2014/main" id="{B10EF42A-B1C5-43FE-BBC7-8A1522AF0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6053138"/>
            <a:ext cx="2114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Content Placeholder 2">
            <a:extLst>
              <a:ext uri="{FF2B5EF4-FFF2-40B4-BE49-F238E27FC236}">
                <a16:creationId xmlns:a16="http://schemas.microsoft.com/office/drawing/2014/main" id="{CF130047-3BC4-4849-960A-D2A95135470B}"/>
              </a:ext>
            </a:extLst>
          </p:cNvPr>
          <p:cNvSpPr txBox="1">
            <a:spLocks/>
          </p:cNvSpPr>
          <p:nvPr/>
        </p:nvSpPr>
        <p:spPr bwMode="auto">
          <a:xfrm>
            <a:off x="5411788" y="6021388"/>
            <a:ext cx="4292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096963" indent="-173038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296988" indent="-182563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en-US" sz="2400"/>
              <a:t>Points toward the next step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7484-4ED9-4C8E-94C5-1099A61A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Usages of Workflow Diagrams</a:t>
            </a:r>
            <a:endParaRPr lang="en-US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EE56E7FE-B01F-4A3C-8381-644EEDD1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/>
              <a:t>Process Analysis and Improvement</a:t>
            </a:r>
          </a:p>
          <a:p>
            <a:pPr lvl="1"/>
            <a:r>
              <a:rPr lang="en-GB" altLang="en-US"/>
              <a:t>Through visualization, a throughout understanding of how a certain business process works is obtained to find potential weaknesses or improvements.</a:t>
            </a:r>
          </a:p>
          <a:p>
            <a:r>
              <a:rPr lang="en-GB" altLang="en-US"/>
              <a:t>Process Instruction</a:t>
            </a:r>
          </a:p>
          <a:p>
            <a:pPr lvl="1"/>
            <a:r>
              <a:rPr lang="en-GB" altLang="en-US"/>
              <a:t>A lot of know-how in any company is based on tribal knowledge i.e., If a key employee leaves the organization, the others can get confused on how to carry out a specific process. If the process has visual representation then the employees can check the process </a:t>
            </a:r>
          </a:p>
          <a:p>
            <a:r>
              <a:rPr lang="en-GB" altLang="en-US"/>
              <a:t>Tracking &amp; Management</a:t>
            </a:r>
          </a:p>
          <a:p>
            <a:pPr lvl="1"/>
            <a:r>
              <a:rPr lang="en-GB" altLang="en-US"/>
              <a:t>Can be used to keep track of the process in real-time i.e., who’s responsible for what ? What’s the deadline? Whether there are any hold-ups ? etc.,</a:t>
            </a: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CFF369E5-13AF-486C-A601-3999E9FA6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6F591B4-767A-43FD-8E7A-975E6DE74BEA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7" name="Picture 4">
            <a:extLst>
              <a:ext uri="{FF2B5EF4-FFF2-40B4-BE49-F238E27FC236}">
                <a16:creationId xmlns:a16="http://schemas.microsoft.com/office/drawing/2014/main" id="{59747A57-70EC-4122-A122-BCEDEA4E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867" y="3133400"/>
            <a:ext cx="7373938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162956-74B5-4AF0-8426-2928050A0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63" y="18583"/>
            <a:ext cx="10552176" cy="1499616"/>
          </a:xfrm>
        </p:spPr>
        <p:txBody>
          <a:bodyPr/>
          <a:lstStyle/>
          <a:p>
            <a:r>
              <a:rPr lang="en-GB" dirty="0"/>
              <a:t>Example: Order Shipment</a:t>
            </a:r>
            <a:endParaRPr lang="en-US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3A6C566-1F16-4306-B385-07D74BCDF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95" y="1402613"/>
            <a:ext cx="7052807" cy="4845462"/>
          </a:xfrm>
        </p:spPr>
        <p:txBody>
          <a:bodyPr/>
          <a:lstStyle/>
          <a:p>
            <a:r>
              <a:rPr lang="en-GB" altLang="en-US" dirty="0"/>
              <a:t>Customer places the order</a:t>
            </a:r>
          </a:p>
          <a:p>
            <a:r>
              <a:rPr lang="en-GB" altLang="en-US" dirty="0"/>
              <a:t>Transaction is confirmed and money received</a:t>
            </a:r>
          </a:p>
          <a:p>
            <a:r>
              <a:rPr lang="en-GB" altLang="en-US" dirty="0"/>
              <a:t>Item is sent to fulfilment centre for shipment</a:t>
            </a:r>
          </a:p>
          <a:p>
            <a:r>
              <a:rPr lang="en-GB" altLang="en-US" dirty="0"/>
              <a:t>Item is shipped to the customer</a:t>
            </a:r>
          </a:p>
          <a:p>
            <a:endParaRPr lang="en-US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4721E91-C79F-4D6A-A212-DDAD2DD862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D6B7C4-2E99-47EC-9D6C-5E9BE5AF92B9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1BA3-CF77-48CA-8BED-D8C01E39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Content Marketing</a:t>
            </a:r>
            <a:endParaRPr 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DE0BCC6-DE47-4060-8996-821A252D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/>
              <a:t>Writer creates a draft of the article and sends it to the editor</a:t>
            </a:r>
          </a:p>
          <a:p>
            <a:r>
              <a:rPr lang="en-GB" altLang="en-US"/>
              <a:t>Editor either approves the article and passes it to the designer or sends it back to the writer with instructions on what to fix</a:t>
            </a:r>
          </a:p>
          <a:p>
            <a:r>
              <a:rPr lang="en-GB" altLang="en-US"/>
              <a:t>The editor, as per writer instructions, creates the appropriate visual assets. Sends it over to the marketer for setup</a:t>
            </a:r>
          </a:p>
          <a:p>
            <a:r>
              <a:rPr lang="en-US" altLang="en-US"/>
              <a:t>The marketer uploads the article on WordPress or CMS, optimizes it for search, shares it with influencers, etc.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5974DB8-1056-4BFA-9779-E89054266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5BAD3D2-B77B-471D-8F99-0C1EC5822690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4834-1F32-4D22-BFC9-3008BDB1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Content Marketing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9BCD83-F2E0-4F76-A5E7-987F557A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AB93A43F-BE0D-454B-A9B6-1906AA5E0C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D20115-6ABA-4CEF-948E-E53992D46EFD}" type="slidenum">
              <a:rPr lang="en-GB" altLang="en-US" smtClean="0"/>
              <a:pPr/>
              <a:t>15</a:t>
            </a:fld>
            <a:endParaRPr lang="en-GB" altLang="en-US"/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978A0CF4-D9E9-45C1-943E-5272D654D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9" y="2095500"/>
            <a:ext cx="9012237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4355-AD65-4814-9ED0-F30E29F0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Employee Onboarding</a:t>
            </a:r>
            <a:endParaRPr lang="en-US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320AFA6-7E20-451E-B751-EEE8E4E5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/>
              <a:t>HR sends out all the paperwork to the employee</a:t>
            </a:r>
          </a:p>
          <a:p>
            <a:r>
              <a:rPr lang="en-GB" altLang="en-US"/>
              <a:t>The employee sends back the filled-in documents</a:t>
            </a:r>
          </a:p>
          <a:p>
            <a:r>
              <a:rPr lang="en-GB" altLang="en-US"/>
              <a:t>The HR passes them along to company management for signature and approval</a:t>
            </a:r>
          </a:p>
          <a:p>
            <a:r>
              <a:rPr lang="en-GB" altLang="en-US"/>
              <a:t>Office manager ensures that the workspace and company software are both ready for the new employee</a:t>
            </a:r>
          </a:p>
          <a:p>
            <a:r>
              <a:rPr lang="en-GB" altLang="en-US"/>
              <a:t>Once the new hire shows up, “employee orientation” starts</a:t>
            </a: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217CD92B-4679-4238-A007-990DBDD51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487EE6-60B7-41FD-89D3-1F6EE4A84FF9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8CBF-258A-41F3-8E5B-50D32E3B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Employee Onboarding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9240D9-27C3-4874-81B7-8AA492A1C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ED50DFFE-6F46-40C9-AB61-44C9A2D069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31D226-0F02-441F-960F-796BDE9E49C7}" type="slidenum">
              <a:rPr lang="en-GB" altLang="en-US" smtClean="0"/>
              <a:pPr/>
              <a:t>17</a:t>
            </a:fld>
            <a:endParaRPr lang="en-GB" altLang="en-US"/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358D1E6E-6242-474B-85E8-B9DD14B93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2090738"/>
            <a:ext cx="9021762" cy="294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757C30-AE9A-4680-90EB-19D282EC2B7C}">
  <ds:schemaRefs>
    <ds:schemaRef ds:uri="http://purl.org/dc/terms/"/>
    <ds:schemaRef ds:uri="71af3243-3dd4-4a8d-8c0d-dd76da1f02a5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230e9df3-be65-4c73-a93b-d1236ebd677e"/>
    <ds:schemaRef ds:uri="16c05727-aa75-4e4a-9b5f-8a80a116589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5CCB28C-7D26-4A36-9CFC-D739C28F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F0BF08-C674-44E3-8BFC-85BC65E09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 block design</Template>
  <TotalTime>21</TotalTime>
  <Words>701</Words>
  <Application>Microsoft Office PowerPoint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Avenir Next LT Pro</vt:lpstr>
      <vt:lpstr>Calibri</vt:lpstr>
      <vt:lpstr>Gill Sans MT</vt:lpstr>
      <vt:lpstr>Verdana</vt:lpstr>
      <vt:lpstr>Wingdings</vt:lpstr>
      <vt:lpstr>Wingdings 2</vt:lpstr>
      <vt:lpstr>ColorBlockVTI</vt:lpstr>
      <vt:lpstr>Business Process Engineering Week # 7</vt:lpstr>
      <vt:lpstr>Basic Purpose</vt:lpstr>
      <vt:lpstr>IDEF0 Symbols</vt:lpstr>
      <vt:lpstr>IDEF0 Functional View –  Example: Making a Cup of Coffee </vt:lpstr>
      <vt:lpstr>Safely and reliably transport family of four and luggage at reasonable cost</vt:lpstr>
      <vt:lpstr>A0 – Context Map</vt:lpstr>
      <vt:lpstr>IDEF0 Model:  Bake Bread for Public Sale Inputs, Controls, Outputs, Mechanism (ICOM) </vt:lpstr>
      <vt:lpstr>IDEF0 Example</vt:lpstr>
      <vt:lpstr>Decomposition of Step 3: Make Bread </vt:lpstr>
      <vt:lpstr>Workflow Diagram</vt:lpstr>
      <vt:lpstr>Workflow Diagram Components</vt:lpstr>
      <vt:lpstr>3 Usages of Workflow Diagrams</vt:lpstr>
      <vt:lpstr>Example: Order Shipment</vt:lpstr>
      <vt:lpstr>Example: Content Marketing</vt:lpstr>
      <vt:lpstr>Example: Content Marketing</vt:lpstr>
      <vt:lpstr>Example: Employee Onboarding</vt:lpstr>
      <vt:lpstr>Example: Employee Onboarding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Haroon Abdul Waheed Majid</dc:creator>
  <cp:lastModifiedBy>Saher Zia</cp:lastModifiedBy>
  <cp:revision>13</cp:revision>
  <dcterms:created xsi:type="dcterms:W3CDTF">2023-03-13T07:21:25Z</dcterms:created>
  <dcterms:modified xsi:type="dcterms:W3CDTF">2025-11-17T07:22:22Z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