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comment1.xml" ContentType="application/vnd.openxmlformats-officedocument.presentationml.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1"/>
  </p:sldMasterIdLst>
  <p:notesMasterIdLst>
    <p:notesMasterId r:id="rId85"/>
  </p:notesMasterIdLst>
  <p:sldIdLst>
    <p:sldId id="404" r:id="rId2"/>
    <p:sldId id="520" r:id="rId3"/>
    <p:sldId id="572" r:id="rId4"/>
    <p:sldId id="518" r:id="rId5"/>
    <p:sldId id="521" r:id="rId6"/>
    <p:sldId id="456" r:id="rId7"/>
    <p:sldId id="542" r:id="rId8"/>
    <p:sldId id="610" r:id="rId9"/>
    <p:sldId id="459" r:id="rId10"/>
    <p:sldId id="604" r:id="rId11"/>
    <p:sldId id="411" r:id="rId12"/>
    <p:sldId id="584" r:id="rId13"/>
    <p:sldId id="612" r:id="rId14"/>
    <p:sldId id="557" r:id="rId15"/>
    <p:sldId id="558" r:id="rId16"/>
    <p:sldId id="568" r:id="rId17"/>
    <p:sldId id="605" r:id="rId18"/>
    <p:sldId id="589" r:id="rId19"/>
    <p:sldId id="607" r:id="rId20"/>
    <p:sldId id="606" r:id="rId21"/>
    <p:sldId id="608" r:id="rId22"/>
    <p:sldId id="586" r:id="rId23"/>
    <p:sldId id="587" r:id="rId24"/>
    <p:sldId id="588" r:id="rId25"/>
    <p:sldId id="609" r:id="rId26"/>
    <p:sldId id="590" r:id="rId27"/>
    <p:sldId id="600" r:id="rId28"/>
    <p:sldId id="591" r:id="rId29"/>
    <p:sldId id="613" r:id="rId30"/>
    <p:sldId id="559" r:id="rId31"/>
    <p:sldId id="575" r:id="rId32"/>
    <p:sldId id="577" r:id="rId33"/>
    <p:sldId id="413" r:id="rId34"/>
    <p:sldId id="611" r:id="rId35"/>
    <p:sldId id="495" r:id="rId36"/>
    <p:sldId id="496" r:id="rId37"/>
    <p:sldId id="499" r:id="rId38"/>
    <p:sldId id="544" r:id="rId39"/>
    <p:sldId id="546" r:id="rId40"/>
    <p:sldId id="545" r:id="rId41"/>
    <p:sldId id="548" r:id="rId42"/>
    <p:sldId id="549" r:id="rId43"/>
    <p:sldId id="550" r:id="rId44"/>
    <p:sldId id="551" r:id="rId45"/>
    <p:sldId id="552" r:id="rId46"/>
    <p:sldId id="569" r:id="rId47"/>
    <p:sldId id="553" r:id="rId48"/>
    <p:sldId id="505" r:id="rId49"/>
    <p:sldId id="570" r:id="rId50"/>
    <p:sldId id="571" r:id="rId51"/>
    <p:sldId id="578" r:id="rId52"/>
    <p:sldId id="579" r:id="rId53"/>
    <p:sldId id="594" r:id="rId54"/>
    <p:sldId id="595" r:id="rId55"/>
    <p:sldId id="596" r:id="rId56"/>
    <p:sldId id="597" r:id="rId57"/>
    <p:sldId id="598" r:id="rId58"/>
    <p:sldId id="599" r:id="rId59"/>
    <p:sldId id="560" r:id="rId60"/>
    <p:sldId id="581" r:id="rId61"/>
    <p:sldId id="561" r:id="rId62"/>
    <p:sldId id="562" r:id="rId63"/>
    <p:sldId id="565" r:id="rId64"/>
    <p:sldId id="566" r:id="rId65"/>
    <p:sldId id="580" r:id="rId66"/>
    <p:sldId id="582" r:id="rId67"/>
    <p:sldId id="583" r:id="rId68"/>
    <p:sldId id="573" r:id="rId69"/>
    <p:sldId id="564" r:id="rId70"/>
    <p:sldId id="567" r:id="rId71"/>
    <p:sldId id="522" r:id="rId72"/>
    <p:sldId id="574" r:id="rId73"/>
    <p:sldId id="537" r:id="rId74"/>
    <p:sldId id="585" r:id="rId75"/>
    <p:sldId id="556" r:id="rId76"/>
    <p:sldId id="555" r:id="rId77"/>
    <p:sldId id="536" r:id="rId78"/>
    <p:sldId id="519" r:id="rId79"/>
    <p:sldId id="514" r:id="rId80"/>
    <p:sldId id="515" r:id="rId81"/>
    <p:sldId id="516" r:id="rId82"/>
    <p:sldId id="517" r:id="rId83"/>
    <p:sldId id="525" r:id="rId8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daf Baloch" initials="SB" lastIdx="1" clrIdx="0">
    <p:extLst>
      <p:ext uri="{19B8F6BF-5375-455C-9EA6-DF929625EA0E}">
        <p15:presenceInfo xmlns:p15="http://schemas.microsoft.com/office/powerpoint/2012/main" userId="28b4981db38cc94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416" autoAdjust="0"/>
  </p:normalViewPr>
  <p:slideViewPr>
    <p:cSldViewPr>
      <p:cViewPr varScale="1">
        <p:scale>
          <a:sx n="61" d="100"/>
          <a:sy n="61" d="100"/>
        </p:scale>
        <p:origin x="165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10-12T08:22:37.379" idx="1">
    <p:pos x="10" y="10"/>
    <p:text/>
    <p:extLst>
      <p:ext uri="{C676402C-5697-4E1C-873F-D02D1690AC5C}">
        <p15:threadingInfo xmlns:p15="http://schemas.microsoft.com/office/powerpoint/2012/main" timeZoneBias="-30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71EF33-497A-4AB8-9E2A-EDA89E2657AC}" type="datetimeFigureOut">
              <a:rPr lang="en-US" smtClean="0"/>
              <a:pPr/>
              <a:t>9/29/2025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E35D07-CE9A-41EA-8351-FED4C60B3E9A}" type="slidenum">
              <a:rPr lang="en-US" smtClean="0"/>
              <a:pPr/>
              <a:t>‹#›</a:t>
            </a:fld>
            <a:endParaRPr lang="en-US"/>
          </a:p>
        </p:txBody>
      </p:sp>
    </p:spTree>
    <p:extLst>
      <p:ext uri="{BB962C8B-B14F-4D97-AF65-F5344CB8AC3E}">
        <p14:creationId xmlns:p14="http://schemas.microsoft.com/office/powerpoint/2010/main" val="171217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mockplus.com/blog/post/understanding-responsive-web-design"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a:t>
            </a:fld>
            <a:endParaRPr lang="en-US"/>
          </a:p>
        </p:txBody>
      </p:sp>
    </p:spTree>
    <p:extLst>
      <p:ext uri="{BB962C8B-B14F-4D97-AF65-F5344CB8AC3E}">
        <p14:creationId xmlns:p14="http://schemas.microsoft.com/office/powerpoint/2010/main" val="3332776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11</a:t>
            </a:fld>
            <a:endParaRPr lang="en-US"/>
          </a:p>
        </p:txBody>
      </p:sp>
    </p:spTree>
    <p:extLst>
      <p:ext uri="{BB962C8B-B14F-4D97-AF65-F5344CB8AC3E}">
        <p14:creationId xmlns:p14="http://schemas.microsoft.com/office/powerpoint/2010/main" val="1260491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Some doors even have labels on them to describe its function.  It seems poorly-designed if they need labels, don't you think?</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12</a:t>
            </a:fld>
            <a:endParaRPr lang="en-US"/>
          </a:p>
        </p:txBody>
      </p:sp>
    </p:spTree>
    <p:extLst>
      <p:ext uri="{BB962C8B-B14F-4D97-AF65-F5344CB8AC3E}">
        <p14:creationId xmlns:p14="http://schemas.microsoft.com/office/powerpoint/2010/main" val="374107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51515"/>
                </a:solidFill>
                <a:effectLst/>
                <a:latin typeface="Gotham SSm A"/>
              </a:rPr>
              <a:t>Why do pant size labels never indicate which number is waist and which is length? Not everyone was simply born with this knowledge.</a:t>
            </a:r>
          </a:p>
          <a:p>
            <a:pPr algn="l"/>
            <a:r>
              <a:rPr lang="en-US" b="0" i="0" dirty="0">
                <a:solidFill>
                  <a:srgbClr val="151515"/>
                </a:solidFill>
                <a:effectLst/>
                <a:latin typeface="Gotham SSm A"/>
              </a:rPr>
              <a:t>All it takes is a simple “W” and a “L”.</a:t>
            </a:r>
          </a:p>
          <a:p>
            <a:pPr algn="l"/>
            <a:r>
              <a:rPr lang="en-US" b="0" i="0" dirty="0">
                <a:solidFill>
                  <a:srgbClr val="151515"/>
                </a:solidFill>
                <a:effectLst/>
                <a:latin typeface="Gotham SSm A"/>
              </a:rPr>
              <a:t>Good design should be internally coherent to the user— it shouldn’t require an external explanation.</a:t>
            </a:r>
          </a:p>
          <a:p>
            <a:br>
              <a:rPr lang="en-US" dirty="0"/>
            </a:br>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17</a:t>
            </a:fld>
            <a:endParaRPr lang="en-US"/>
          </a:p>
        </p:txBody>
      </p:sp>
    </p:spTree>
    <p:extLst>
      <p:ext uri="{BB962C8B-B14F-4D97-AF65-F5344CB8AC3E}">
        <p14:creationId xmlns:p14="http://schemas.microsoft.com/office/powerpoint/2010/main" val="3537863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sockets , different sizes of plugs will give you a problem. </a:t>
            </a:r>
          </a:p>
        </p:txBody>
      </p:sp>
      <p:sp>
        <p:nvSpPr>
          <p:cNvPr id="4" name="Slide Number Placeholder 3"/>
          <p:cNvSpPr>
            <a:spLocks noGrp="1"/>
          </p:cNvSpPr>
          <p:nvPr>
            <p:ph type="sldNum" sz="quarter" idx="5"/>
          </p:nvPr>
        </p:nvSpPr>
        <p:spPr/>
        <p:txBody>
          <a:bodyPr/>
          <a:lstStyle/>
          <a:p>
            <a:fld id="{A5E35D07-CE9A-41EA-8351-FED4C60B3E9A}" type="slidenum">
              <a:rPr lang="en-US" smtClean="0"/>
              <a:pPr/>
              <a:t>18</a:t>
            </a:fld>
            <a:endParaRPr lang="en-US"/>
          </a:p>
        </p:txBody>
      </p:sp>
    </p:spTree>
    <p:extLst>
      <p:ext uri="{BB962C8B-B14F-4D97-AF65-F5344CB8AC3E}">
        <p14:creationId xmlns:p14="http://schemas.microsoft.com/office/powerpoint/2010/main" val="2162320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left handed seats</a:t>
            </a:r>
          </a:p>
        </p:txBody>
      </p:sp>
      <p:sp>
        <p:nvSpPr>
          <p:cNvPr id="4" name="Slide Number Placeholder 3"/>
          <p:cNvSpPr>
            <a:spLocks noGrp="1"/>
          </p:cNvSpPr>
          <p:nvPr>
            <p:ph type="sldNum" sz="quarter" idx="5"/>
          </p:nvPr>
        </p:nvSpPr>
        <p:spPr/>
        <p:txBody>
          <a:bodyPr/>
          <a:lstStyle/>
          <a:p>
            <a:fld id="{A5E35D07-CE9A-41EA-8351-FED4C60B3E9A}" type="slidenum">
              <a:rPr lang="en-US" smtClean="0"/>
              <a:pPr/>
              <a:t>19</a:t>
            </a:fld>
            <a:endParaRPr lang="en-US"/>
          </a:p>
        </p:txBody>
      </p:sp>
    </p:spTree>
    <p:extLst>
      <p:ext uri="{BB962C8B-B14F-4D97-AF65-F5344CB8AC3E}">
        <p14:creationId xmlns:p14="http://schemas.microsoft.com/office/powerpoint/2010/main" val="1885628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51515"/>
                </a:solidFill>
                <a:effectLst/>
                <a:latin typeface="Gotham SSm A"/>
              </a:rPr>
              <a:t>Why are social media icons in print ads? A magazine is not a computer— no one can click icons!</a:t>
            </a:r>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20</a:t>
            </a:fld>
            <a:endParaRPr lang="en-US"/>
          </a:p>
        </p:txBody>
      </p:sp>
    </p:spTree>
    <p:extLst>
      <p:ext uri="{BB962C8B-B14F-4D97-AF65-F5344CB8AC3E}">
        <p14:creationId xmlns:p14="http://schemas.microsoft.com/office/powerpoint/2010/main" val="1443734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have so many buttons. That a user does not need.  How to make a good remote interface?  Discuss. </a:t>
            </a:r>
          </a:p>
        </p:txBody>
      </p:sp>
      <p:sp>
        <p:nvSpPr>
          <p:cNvPr id="4" name="Slide Number Placeholder 3"/>
          <p:cNvSpPr>
            <a:spLocks noGrp="1"/>
          </p:cNvSpPr>
          <p:nvPr>
            <p:ph type="sldNum" sz="quarter" idx="5"/>
          </p:nvPr>
        </p:nvSpPr>
        <p:spPr/>
        <p:txBody>
          <a:bodyPr/>
          <a:lstStyle/>
          <a:p>
            <a:fld id="{A5E35D07-CE9A-41EA-8351-FED4C60B3E9A}" type="slidenum">
              <a:rPr lang="en-US" smtClean="0"/>
              <a:pPr/>
              <a:t>25</a:t>
            </a:fld>
            <a:endParaRPr lang="en-US"/>
          </a:p>
        </p:txBody>
      </p:sp>
    </p:spTree>
    <p:extLst>
      <p:ext uri="{BB962C8B-B14F-4D97-AF65-F5344CB8AC3E}">
        <p14:creationId xmlns:p14="http://schemas.microsoft.com/office/powerpoint/2010/main" val="1997011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browsing a website, we’d like to see it with a clear and fresh contrast. This can help us better read and understand the info there, and thus knows how to conduct the operation. If there’s no contrast included, both of the color combination and overall display of the website will make us overwhelmed. It’s pretty difficult to read the content from the below website.</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30</a:t>
            </a:fld>
            <a:endParaRPr lang="en-US"/>
          </a:p>
        </p:txBody>
      </p:sp>
    </p:spTree>
    <p:extLst>
      <p:ext uri="{BB962C8B-B14F-4D97-AF65-F5344CB8AC3E}">
        <p14:creationId xmlns:p14="http://schemas.microsoft.com/office/powerpoint/2010/main" val="4260795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It’s pretty popular to use </a:t>
            </a:r>
            <a:r>
              <a:rPr lang="en-US" sz="1200" b="0" i="0" u="none" strike="noStrike" kern="1200" dirty="0">
                <a:solidFill>
                  <a:schemeClr val="tx1"/>
                </a:solidFill>
                <a:effectLst/>
                <a:latin typeface="+mn-lt"/>
                <a:ea typeface="+mn-ea"/>
                <a:cs typeface="+mn-cs"/>
                <a:hlinkClick r:id="rId3"/>
              </a:rPr>
              <a:t>responsive design</a:t>
            </a:r>
            <a:r>
              <a:rPr lang="en-US" sz="1200" b="0" i="0" u="none"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cause we find there’s no reason for us to make a website which cannot adapt to the given resolution and device size. It’s a must especially for shopping cart websites/Apps whose target audiences are coming from mobile.</a:t>
            </a:r>
          </a:p>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31</a:t>
            </a:fld>
            <a:endParaRPr lang="en-US"/>
          </a:p>
        </p:txBody>
      </p:sp>
    </p:spTree>
    <p:extLst>
      <p:ext uri="{BB962C8B-B14F-4D97-AF65-F5344CB8AC3E}">
        <p14:creationId xmlns:p14="http://schemas.microsoft.com/office/powerpoint/2010/main" val="558184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34</a:t>
            </a:fld>
            <a:endParaRPr lang="en-US"/>
          </a:p>
        </p:txBody>
      </p:sp>
    </p:spTree>
    <p:extLst>
      <p:ext uri="{BB962C8B-B14F-4D97-AF65-F5344CB8AC3E}">
        <p14:creationId xmlns:p14="http://schemas.microsoft.com/office/powerpoint/2010/main" val="28105614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223C50"/>
                </a:solidFill>
                <a:effectLst/>
                <a:latin typeface="TradeGothic"/>
              </a:rPr>
              <a:t>Jeff says:</a:t>
            </a:r>
            <a:r>
              <a:rPr lang="en-US" b="0" i="0" dirty="0">
                <a:solidFill>
                  <a:srgbClr val="223C50"/>
                </a:solidFill>
                <a:effectLst/>
                <a:latin typeface="TradeGothic"/>
              </a:rPr>
              <a:t> Ideally, it should </a:t>
            </a:r>
            <a:r>
              <a:rPr lang="en-US" b="0" i="1" dirty="0">
                <a:solidFill>
                  <a:srgbClr val="223C50"/>
                </a:solidFill>
                <a:effectLst/>
                <a:latin typeface="TradeGothic"/>
              </a:rPr>
              <a:t>actually</a:t>
            </a:r>
            <a:r>
              <a:rPr lang="en-US" b="0" i="0" dirty="0">
                <a:solidFill>
                  <a:srgbClr val="223C50"/>
                </a:solidFill>
                <a:effectLst/>
                <a:latin typeface="TradeGothic"/>
              </a:rPr>
              <a:t> delete the message. But if (for some reason) that’s not possible, they should be clear about what’s actually going to happen in the messaging. What they’re doing here is blocking the message instead of deleting it. If you’re going to block it, say you’re going to block it. Maybe they could call it something like “obscure this message” so that it sets the stage for the user to understand what is happening.</a:t>
            </a:r>
          </a:p>
          <a:p>
            <a:pPr algn="l"/>
            <a:r>
              <a:rPr lang="en-US" b="1" i="0" dirty="0">
                <a:solidFill>
                  <a:srgbClr val="223C50"/>
                </a:solidFill>
                <a:effectLst/>
                <a:latin typeface="TradeGothic"/>
              </a:rPr>
              <a:t>Amy says:</a:t>
            </a:r>
            <a:r>
              <a:rPr lang="en-US" b="0" i="0" dirty="0">
                <a:solidFill>
                  <a:srgbClr val="223C50"/>
                </a:solidFill>
                <a:effectLst/>
                <a:latin typeface="TradeGothic"/>
              </a:rPr>
              <a:t> Another approach, like in Gmail, is to offer the sender a grace period of, say, 10 seconds—during which time the sender is able to delete the message without the recipient knowing.</a:t>
            </a:r>
          </a:p>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54</a:t>
            </a:fld>
            <a:endParaRPr lang="en-US"/>
          </a:p>
        </p:txBody>
      </p:sp>
    </p:spTree>
    <p:extLst>
      <p:ext uri="{BB962C8B-B14F-4D97-AF65-F5344CB8AC3E}">
        <p14:creationId xmlns:p14="http://schemas.microsoft.com/office/powerpoint/2010/main" val="21172549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23C50"/>
                </a:solidFill>
                <a:effectLst/>
                <a:latin typeface="TradeGothic"/>
              </a:rPr>
              <a:t>Auto-anything means the designers have made huge assumptions about the users’ desires. The Netflix </a:t>
            </a:r>
            <a:r>
              <a:rPr lang="en-US" b="0" i="0" dirty="0" err="1">
                <a:solidFill>
                  <a:srgbClr val="223C50"/>
                </a:solidFill>
                <a:effectLst/>
                <a:latin typeface="TradeGothic"/>
              </a:rPr>
              <a:t>autoplay</a:t>
            </a:r>
            <a:r>
              <a:rPr lang="en-US" b="0" i="0" dirty="0">
                <a:solidFill>
                  <a:srgbClr val="223C50"/>
                </a:solidFill>
                <a:effectLst/>
                <a:latin typeface="TradeGothic"/>
              </a:rPr>
              <a:t> feature has been perturbing viewers since it was first rolled out in 2015. Even a split-second hover over the TV show or film thumbnail instigates the auto-play of a looped trailer or montage. This means that if users want to see the details or information of the show they’ve  clicked on or hovered over, they’re unable to do so without a loud trailer playing.</a:t>
            </a:r>
          </a:p>
          <a:p>
            <a:endParaRPr lang="en-US" b="0" i="0" dirty="0">
              <a:solidFill>
                <a:srgbClr val="223C50"/>
              </a:solidFill>
              <a:effectLst/>
              <a:latin typeface="TradeGothic"/>
            </a:endParaRPr>
          </a:p>
          <a:p>
            <a:pPr algn="l"/>
            <a:r>
              <a:rPr lang="en-US" b="1" i="0" dirty="0">
                <a:solidFill>
                  <a:srgbClr val="223C50"/>
                </a:solidFill>
                <a:effectLst/>
                <a:latin typeface="TradeGothic"/>
              </a:rPr>
              <a:t>eff says:</a:t>
            </a:r>
            <a:r>
              <a:rPr lang="en-US" b="0" i="0" dirty="0">
                <a:solidFill>
                  <a:srgbClr val="223C50"/>
                </a:solidFill>
                <a:effectLst/>
                <a:latin typeface="TradeGothic"/>
              </a:rPr>
              <a:t> I really hate this feature. I find myself tiptoeing around the hover areas with my mouse in the margins so I don’t trigger the </a:t>
            </a:r>
            <a:r>
              <a:rPr lang="en-US" b="0" i="0" dirty="0" err="1">
                <a:solidFill>
                  <a:srgbClr val="223C50"/>
                </a:solidFill>
                <a:effectLst/>
                <a:latin typeface="TradeGothic"/>
              </a:rPr>
              <a:t>autoplay</a:t>
            </a:r>
            <a:r>
              <a:rPr lang="en-US" b="0" i="0" dirty="0">
                <a:solidFill>
                  <a:srgbClr val="223C50"/>
                </a:solidFill>
                <a:effectLst/>
                <a:latin typeface="TradeGothic"/>
              </a:rPr>
              <a:t>. Audio is the biggest problem here, so it shouldn’t be set as ‘on’ by default. This is a rule that has been around since </a:t>
            </a:r>
            <a:r>
              <a:rPr lang="en-US" b="0" i="0" dirty="0" err="1">
                <a:solidFill>
                  <a:srgbClr val="223C50"/>
                </a:solidFill>
                <a:effectLst/>
                <a:latin typeface="TradeGothic"/>
              </a:rPr>
              <a:t>MySpace</a:t>
            </a:r>
            <a:r>
              <a:rPr lang="en-US" b="0" i="0" dirty="0">
                <a:solidFill>
                  <a:srgbClr val="223C50"/>
                </a:solidFill>
                <a:effectLst/>
                <a:latin typeface="TradeGothic"/>
              </a:rPr>
              <a:t> offended everyone with auto-play music in the early 2000s. Even Facebook and Instagram know better by setting videos to mute by default.</a:t>
            </a:r>
          </a:p>
          <a:p>
            <a:pPr algn="l"/>
            <a:r>
              <a:rPr lang="en-US" b="0" i="0" dirty="0">
                <a:solidFill>
                  <a:srgbClr val="223C50"/>
                </a:solidFill>
                <a:effectLst/>
                <a:latin typeface="TradeGothic"/>
              </a:rPr>
              <a:t>Netflix is obviously trying to boost engagement, and I know they do a lot of A/B testing, so I’m sure they have data that this increases views. But I think this is a case of watching the wrong metrics. I would run an A/B test where audio is muted by default, vs. the annoying way. Check to see how many users exhibit rage behavior such as erratic scrolling or exiting the platform. In other words, mute it!</a:t>
            </a:r>
          </a:p>
          <a:p>
            <a:endParaRPr lang="en-US" b="0" i="0" dirty="0">
              <a:solidFill>
                <a:srgbClr val="223C50"/>
              </a:solidFill>
              <a:effectLst/>
              <a:latin typeface="TradeGothic"/>
            </a:endParaRPr>
          </a:p>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55</a:t>
            </a:fld>
            <a:endParaRPr lang="en-US"/>
          </a:p>
        </p:txBody>
      </p:sp>
    </p:spTree>
    <p:extLst>
      <p:ext uri="{BB962C8B-B14F-4D97-AF65-F5344CB8AC3E}">
        <p14:creationId xmlns:p14="http://schemas.microsoft.com/office/powerpoint/2010/main" val="42422427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23C50"/>
                </a:solidFill>
                <a:effectLst/>
                <a:latin typeface="TradeGothic"/>
              </a:rPr>
              <a:t> There’s no indication of what the users’ options are here. There should be a clear sense of just how many pictures need to be deleted in order to take a new picture in that moment, or just how much storage needs to be cleared. Without this snapshot information, users are less inclined to head to settings to make the necessary amendments.</a:t>
            </a:r>
          </a:p>
          <a:p>
            <a:pPr algn="l"/>
            <a:r>
              <a:rPr lang="en-US" b="1" i="0" dirty="0">
                <a:solidFill>
                  <a:srgbClr val="223C50"/>
                </a:solidFill>
                <a:effectLst/>
                <a:latin typeface="TradeGothic"/>
              </a:rPr>
              <a:t>Amy says:</a:t>
            </a:r>
            <a:r>
              <a:rPr lang="en-US" b="0" i="0" dirty="0">
                <a:solidFill>
                  <a:srgbClr val="223C50"/>
                </a:solidFill>
                <a:effectLst/>
                <a:latin typeface="TradeGothic"/>
              </a:rPr>
              <a:t> The worst thing about this for me is the lack of information. If I hit ‘done’ what will happen? If I hit ‘settings’ will it take me to exactly the right place I need to be in order to take the photo and tell me what I need to do? I think not! It’s a check-mate—all the while I’ve missed the perfect photo opportunity while wasting time trying to figure out which button to choose. A better solution would be to provide two distinctly different button labels that describe exactly what happens next.</a:t>
            </a:r>
          </a:p>
          <a:p>
            <a:pPr algn="l"/>
            <a:r>
              <a:rPr lang="en-US" b="1" i="0" dirty="0">
                <a:solidFill>
                  <a:srgbClr val="223C50"/>
                </a:solidFill>
                <a:effectLst/>
                <a:latin typeface="TradeGothic"/>
              </a:rPr>
              <a:t>Jeff says:</a:t>
            </a:r>
            <a:r>
              <a:rPr lang="en-US" b="0" i="0" dirty="0">
                <a:solidFill>
                  <a:srgbClr val="223C50"/>
                </a:solidFill>
                <a:effectLst/>
                <a:latin typeface="TradeGothic"/>
              </a:rPr>
              <a:t> I actually switched to the Google Pixel because Apple constantly bugs you for updates which ultimately slow down your phone. The way that Google Photos navigates this is much better: they offer a smart suggestion for photos that can be deleted. Perhaps photos of printouts of text are good candidates, as many people take pictures of things to remember them, then they are never looked at again. Really, ANY suggestion for ways to help that aren’t blocking a potential life-changing photographic moment would be useful. It is a difficult problem, but they are offering the appearance of functionality without actually letting the user function.</a:t>
            </a:r>
          </a:p>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56</a:t>
            </a:fld>
            <a:endParaRPr lang="en-US"/>
          </a:p>
        </p:txBody>
      </p:sp>
    </p:spTree>
    <p:extLst>
      <p:ext uri="{BB962C8B-B14F-4D97-AF65-F5344CB8AC3E}">
        <p14:creationId xmlns:p14="http://schemas.microsoft.com/office/powerpoint/2010/main" val="2095548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223C50"/>
                </a:solidFill>
                <a:effectLst/>
                <a:latin typeface="TradeGothic"/>
              </a:rPr>
              <a:t>Why it’s bad UX:</a:t>
            </a:r>
            <a:r>
              <a:rPr lang="en-US" b="0" i="0" dirty="0">
                <a:solidFill>
                  <a:srgbClr val="223C50"/>
                </a:solidFill>
                <a:effectLst/>
                <a:latin typeface="TradeGothic"/>
              </a:rPr>
              <a:t> Long dropdowns with no subheadings or filters are hugely time-consuming for users, especially those who are unsure of what they’re looking for.</a:t>
            </a:r>
          </a:p>
          <a:p>
            <a:pPr algn="l"/>
            <a:r>
              <a:rPr lang="en-US" b="1" i="0" dirty="0">
                <a:solidFill>
                  <a:srgbClr val="223C50"/>
                </a:solidFill>
                <a:effectLst/>
                <a:latin typeface="TradeGothic"/>
              </a:rPr>
              <a:t>Jeff says:</a:t>
            </a:r>
            <a:r>
              <a:rPr lang="en-US" b="0" i="0" dirty="0">
                <a:solidFill>
                  <a:srgbClr val="223C50"/>
                </a:solidFill>
                <a:effectLst/>
                <a:latin typeface="TradeGothic"/>
              </a:rPr>
              <a:t> Throwing giant lists of things into a dropdown is like throwing all your dirty clothes into a closet and slamming it shut. It does the trick, but it won’t help you in the future. Instead, organize the countries based on natural divisions—like Europe or Asia. Even better, filter the dropdowns to only include countries within one continent at a time. Once they’ve decided their continent, the dropdown should only show countries within that area.</a:t>
            </a:r>
          </a:p>
          <a:p>
            <a:pPr algn="l"/>
            <a:r>
              <a:rPr lang="en-US" b="1" i="0" dirty="0">
                <a:solidFill>
                  <a:srgbClr val="223C50"/>
                </a:solidFill>
                <a:effectLst/>
                <a:latin typeface="TradeGothic"/>
              </a:rPr>
              <a:t>Amy says:</a:t>
            </a:r>
            <a:r>
              <a:rPr lang="en-US" b="0" i="0" dirty="0">
                <a:solidFill>
                  <a:srgbClr val="223C50"/>
                </a:solidFill>
                <a:effectLst/>
                <a:latin typeface="TradeGothic"/>
              </a:rPr>
              <a:t> In some cases, a text entry field with autocomplete would do the job. Filter options are also a great way to narrow down the list in the first place.</a:t>
            </a:r>
          </a:p>
          <a:p>
            <a:pPr algn="l"/>
            <a:r>
              <a:rPr lang="en-US" b="1" i="0" dirty="0">
                <a:solidFill>
                  <a:srgbClr val="223C50"/>
                </a:solidFill>
                <a:effectLst/>
                <a:latin typeface="TradeGothic"/>
              </a:rPr>
              <a:t>The key takeaway:</a:t>
            </a:r>
            <a:r>
              <a:rPr lang="en-US" b="0" i="0" dirty="0">
                <a:solidFill>
                  <a:srgbClr val="223C50"/>
                </a:solidFill>
                <a:effectLst/>
                <a:latin typeface="TradeGothic"/>
              </a:rPr>
              <a:t> Dropdowns should be avoided if there are more than 10 options.</a:t>
            </a:r>
          </a:p>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57</a:t>
            </a:fld>
            <a:endParaRPr lang="en-US"/>
          </a:p>
        </p:txBody>
      </p:sp>
    </p:spTree>
    <p:extLst>
      <p:ext uri="{BB962C8B-B14F-4D97-AF65-F5344CB8AC3E}">
        <p14:creationId xmlns:p14="http://schemas.microsoft.com/office/powerpoint/2010/main" val="35979298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223C50"/>
                </a:solidFill>
                <a:effectLst/>
                <a:latin typeface="TradeGothic"/>
              </a:rPr>
              <a:t>:</a:t>
            </a:r>
            <a:r>
              <a:rPr lang="en-US" b="0" i="0" dirty="0">
                <a:solidFill>
                  <a:srgbClr val="223C50"/>
                </a:solidFill>
                <a:effectLst/>
                <a:latin typeface="TradeGothic"/>
              </a:rPr>
              <a:t> At a glance, users who are used to the near-standardization of an explicit amount of stars representing the rating might assume that the product in question only received a 1-star rating. Having a star next to a number is anti-intuitive to consumers, and thus it may not even register as a rating at all.</a:t>
            </a:r>
          </a:p>
          <a:p>
            <a:pPr algn="l"/>
            <a:r>
              <a:rPr lang="en-US" b="1" i="0" dirty="0">
                <a:solidFill>
                  <a:srgbClr val="223C50"/>
                </a:solidFill>
                <a:effectLst/>
                <a:latin typeface="TradeGothic"/>
              </a:rPr>
              <a:t>Jeff says:</a:t>
            </a:r>
            <a:r>
              <a:rPr lang="en-US" b="0" i="0" dirty="0">
                <a:solidFill>
                  <a:srgbClr val="223C50"/>
                </a:solidFill>
                <a:effectLst/>
                <a:latin typeface="TradeGothic"/>
              </a:rPr>
              <a:t> I’m so used to using apps like Twitter that at first, I thought this was five different people giving it a star. This is not what the designer intended, I’m sure. They were probably trying to save space and thought “I can design something better than the rest of the designers on the planet.” There is a reason why you shouldn’t ignore design heuristics: people expect things to work similarly across the internet. I know that can be annoying when you’re fresh out of design school, but it’s the reality.</a:t>
            </a:r>
          </a:p>
          <a:p>
            <a:pPr algn="l"/>
            <a:r>
              <a:rPr lang="en-US" b="1" i="0" dirty="0">
                <a:solidFill>
                  <a:srgbClr val="223C50"/>
                </a:solidFill>
                <a:effectLst/>
                <a:latin typeface="TradeGothic"/>
              </a:rPr>
              <a:t>Amy says:</a:t>
            </a:r>
            <a:r>
              <a:rPr lang="en-US" b="0" i="0" dirty="0">
                <a:solidFill>
                  <a:srgbClr val="223C50"/>
                </a:solidFill>
                <a:effectLst/>
                <a:latin typeface="TradeGothic"/>
              </a:rPr>
              <a:t> Just show the 5 stars in the first way that you imagined it in your head. Stop trying to win an award, and design things that are usable.</a:t>
            </a:r>
          </a:p>
          <a:p>
            <a:pPr algn="l"/>
            <a:r>
              <a:rPr lang="en-US" b="1" i="0" dirty="0">
                <a:solidFill>
                  <a:srgbClr val="223C50"/>
                </a:solidFill>
                <a:effectLst/>
                <a:latin typeface="TradeGothic"/>
              </a:rPr>
              <a:t>The key takeaway:</a:t>
            </a:r>
            <a:r>
              <a:rPr lang="en-US" b="0" i="0" dirty="0">
                <a:solidFill>
                  <a:srgbClr val="223C50"/>
                </a:solidFill>
                <a:effectLst/>
                <a:latin typeface="TradeGothic"/>
              </a:rPr>
              <a:t> Don’t make your users have to work extra hard to decipher your own personal ‘unique’ way of doing things.</a:t>
            </a:r>
          </a:p>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58</a:t>
            </a:fld>
            <a:endParaRPr lang="en-US"/>
          </a:p>
        </p:txBody>
      </p:sp>
    </p:spTree>
    <p:extLst>
      <p:ext uri="{BB962C8B-B14F-4D97-AF65-F5344CB8AC3E}">
        <p14:creationId xmlns:p14="http://schemas.microsoft.com/office/powerpoint/2010/main" val="1743468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a:t>http://www.dailymotion.com/video/x7fxmz_angry-man-computer-smash-too-funny_fun</a:t>
            </a:r>
          </a:p>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61</a:t>
            </a:fld>
            <a:endParaRPr lang="en-US"/>
          </a:p>
        </p:txBody>
      </p:sp>
    </p:spTree>
    <p:extLst>
      <p:ext uri="{BB962C8B-B14F-4D97-AF65-F5344CB8AC3E}">
        <p14:creationId xmlns:p14="http://schemas.microsoft.com/office/powerpoint/2010/main" val="35866758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dirty="0">
                <a:solidFill>
                  <a:schemeClr val="tx1"/>
                </a:solidFill>
                <a:effectLst/>
                <a:latin typeface="+mn-lt"/>
                <a:ea typeface="+mn-ea"/>
                <a:cs typeface="+mn-cs"/>
              </a:rPr>
              <a:t>tasks </a:t>
            </a:r>
            <a:r>
              <a:rPr lang="en-US" sz="1200" b="0" i="0" kern="1200" dirty="0">
                <a:solidFill>
                  <a:schemeClr val="tx1"/>
                </a:solidFill>
                <a:effectLst/>
                <a:latin typeface="+mn-lt"/>
                <a:ea typeface="+mn-ea"/>
                <a:cs typeface="+mn-cs"/>
              </a:rPr>
              <a:t>- operations on the concepts of the domain</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dirty="0">
                <a:solidFill>
                  <a:schemeClr val="tx1"/>
                </a:solidFill>
                <a:effectLst/>
                <a:latin typeface="+mn-lt"/>
                <a:ea typeface="+mn-ea"/>
                <a:cs typeface="+mn-cs"/>
              </a:rPr>
              <a:t>core language </a:t>
            </a:r>
            <a:r>
              <a:rPr lang="en-US" sz="1200" b="0" i="0" kern="1200" dirty="0">
                <a:solidFill>
                  <a:schemeClr val="tx1"/>
                </a:solidFill>
                <a:effectLst/>
                <a:latin typeface="+mn-lt"/>
                <a:ea typeface="+mn-ea"/>
                <a:cs typeface="+mn-cs"/>
              </a:rPr>
              <a:t>- language that describes the computational attributes of the domain relevant to the system state</a:t>
            </a: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Articulation</a:t>
            </a:r>
            <a:r>
              <a:rPr lang="en-US" sz="1200" b="0" i="0" kern="1200" dirty="0">
                <a:solidFill>
                  <a:schemeClr val="tx1"/>
                </a:solidFill>
                <a:effectLst/>
                <a:latin typeface="+mn-lt"/>
                <a:ea typeface="+mn-ea"/>
                <a:cs typeface="+mn-cs"/>
              </a:rPr>
              <a:t> is the user's translation of their task into the input language.  Consider a user who wants to turn on the lights at the far end of a room.</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Poor Articulation</a:t>
            </a:r>
          </a:p>
          <a:p>
            <a:r>
              <a:rPr lang="en-US" sz="1200" b="0" i="0" kern="1200" dirty="0">
                <a:solidFill>
                  <a:schemeClr val="tx1"/>
                </a:solidFill>
                <a:effectLst/>
                <a:latin typeface="+mn-lt"/>
                <a:ea typeface="+mn-ea"/>
                <a:cs typeface="+mn-cs"/>
              </a:rPr>
              <a:t>	The user sees a bank of </a:t>
            </a:r>
            <a:r>
              <a:rPr lang="en-US" sz="1200" b="0" i="0" kern="1200" dirty="0" err="1">
                <a:solidFill>
                  <a:schemeClr val="tx1"/>
                </a:solidFill>
                <a:effectLst/>
                <a:latin typeface="+mn-lt"/>
                <a:ea typeface="+mn-ea"/>
                <a:cs typeface="+mn-cs"/>
              </a:rPr>
              <a:t>unlabelled</a:t>
            </a:r>
            <a:r>
              <a:rPr lang="en-US" sz="1200" b="0" i="0" kern="1200" dirty="0">
                <a:solidFill>
                  <a:schemeClr val="tx1"/>
                </a:solidFill>
                <a:effectLst/>
                <a:latin typeface="+mn-lt"/>
                <a:ea typeface="+mn-ea"/>
                <a:cs typeface="+mn-cs"/>
              </a:rPr>
              <a:t> switches.  The user has no idea which switch controls the lights at the far end of the room. The problem here is that the 	</a:t>
            </a:r>
            <a:r>
              <a:rPr lang="en-US" sz="1200" b="0" i="0" kern="1200" dirty="0" err="1">
                <a:solidFill>
                  <a:schemeClr val="tx1"/>
                </a:solidFill>
                <a:effectLst/>
                <a:latin typeface="+mn-lt"/>
                <a:ea typeface="+mn-ea"/>
                <a:cs typeface="+mn-cs"/>
              </a:rPr>
              <a:t>langauge</a:t>
            </a:r>
            <a:r>
              <a:rPr lang="en-US" sz="1200" b="0" i="0" kern="1200" dirty="0">
                <a:solidFill>
                  <a:schemeClr val="tx1"/>
                </a:solidFill>
                <a:effectLst/>
                <a:latin typeface="+mn-lt"/>
                <a:ea typeface="+mn-ea"/>
                <a:cs typeface="+mn-cs"/>
              </a:rPr>
              <a:t> provided (the </a:t>
            </a:r>
            <a:r>
              <a:rPr lang="en-US" sz="1200" b="0" i="0" kern="1200" dirty="0" err="1">
                <a:solidFill>
                  <a:schemeClr val="tx1"/>
                </a:solidFill>
                <a:effectLst/>
                <a:latin typeface="+mn-lt"/>
                <a:ea typeface="+mn-ea"/>
                <a:cs typeface="+mn-cs"/>
              </a:rPr>
              <a:t>unlabelled</a:t>
            </a:r>
            <a:r>
              <a:rPr lang="en-US" sz="1200" b="0" i="0" kern="1200" dirty="0">
                <a:solidFill>
                  <a:schemeClr val="tx1"/>
                </a:solidFill>
                <a:effectLst/>
                <a:latin typeface="+mn-lt"/>
                <a:ea typeface="+mn-ea"/>
                <a:cs typeface="+mn-cs"/>
              </a:rPr>
              <a:t> switches) does not allow the user to articulate the goal (turn on the lights at the far end of the room).</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Good Articulation</a:t>
            </a:r>
          </a:p>
          <a:p>
            <a:r>
              <a:rPr lang="en-US" sz="1200" b="0" i="0" kern="1200" dirty="0">
                <a:solidFill>
                  <a:schemeClr val="tx1"/>
                </a:solidFill>
                <a:effectLst/>
                <a:latin typeface="+mn-lt"/>
                <a:ea typeface="+mn-ea"/>
                <a:cs typeface="+mn-cs"/>
              </a:rPr>
              <a:t>	The switches are clearly labelled.  The user articulates their task of pressing the switch that is labelled "the far end of the room".</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language provided here 	(the labelled switches) allows the user to articulate their task without difficulty.</a:t>
            </a:r>
          </a:p>
          <a:p>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Performance</a:t>
            </a:r>
          </a:p>
          <a:p>
            <a:r>
              <a:rPr lang="en-US" sz="1200" b="0" i="0" kern="1200" dirty="0">
                <a:solidFill>
                  <a:schemeClr val="tx1"/>
                </a:solidFill>
                <a:effectLst/>
                <a:latin typeface="+mn-lt"/>
                <a:ea typeface="+mn-ea"/>
                <a:cs typeface="+mn-cs"/>
              </a:rPr>
              <a:t>	Performance is the interface's translation of the input language into stimuli to the system.  This translation is determined by the designer or programmer (not 	the user). </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Poor Performance</a:t>
            </a:r>
          </a:p>
          <a:p>
            <a:r>
              <a:rPr lang="en-US" sz="1200" b="0" i="0" kern="1200" dirty="0">
                <a:solidFill>
                  <a:schemeClr val="tx1"/>
                </a:solidFill>
                <a:effectLst/>
                <a:latin typeface="+mn-lt"/>
                <a:ea typeface="+mn-ea"/>
                <a:cs typeface="+mn-cs"/>
              </a:rPr>
              <a:t>	Consider a remote control for a television without a button for turning off the television.  The user must go directly to the device and turn it off on the control </a:t>
            </a:r>
          </a:p>
          <a:p>
            <a:r>
              <a:rPr lang="en-US" sz="1200" b="0" i="0" kern="1200" dirty="0">
                <a:solidFill>
                  <a:schemeClr val="tx1"/>
                </a:solidFill>
                <a:effectLst/>
                <a:latin typeface="+mn-lt"/>
                <a:ea typeface="+mn-ea"/>
                <a:cs typeface="+mn-cs"/>
              </a:rPr>
              <a:t>	panel.</a:t>
            </a:r>
          </a:p>
          <a:p>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Presentation</a:t>
            </a:r>
          </a:p>
          <a:p>
            <a:r>
              <a:rPr lang="en-US" sz="1200" b="0" i="0" kern="1200" dirty="0">
                <a:solidFill>
                  <a:schemeClr val="tx1"/>
                </a:solidFill>
                <a:effectLst/>
                <a:latin typeface="+mn-lt"/>
                <a:ea typeface="+mn-ea"/>
                <a:cs typeface="+mn-cs"/>
              </a:rPr>
              <a:t>	Presentation is the translation of the system's new state into the output language of the interface.  This translation is determined by the designer or 	programmer. </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Poor Presentation</a:t>
            </a:r>
          </a:p>
          <a:p>
            <a:r>
              <a:rPr lang="en-US" sz="1200" b="0" i="0" kern="1200" dirty="0">
                <a:solidFill>
                  <a:schemeClr val="tx1"/>
                </a:solidFill>
                <a:effectLst/>
                <a:latin typeface="+mn-lt"/>
                <a:ea typeface="+mn-ea"/>
                <a:cs typeface="+mn-cs"/>
              </a:rPr>
              <a:t>	Consider writing an essay using a word processor.  You need to see the effects of your editing as a whole.  However, the word processor only displays the 	immediate paragraph without the surrounding text or other pages.  The surrounding text and other pages may have changed as well during the editing.  In 	effect, all of the state changes cannot be displayed in the output language.  You cannot readily confirm the effect of your editing throughout the essay. </a:t>
            </a:r>
          </a:p>
          <a:p>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Observation</a:t>
            </a:r>
          </a:p>
          <a:p>
            <a:r>
              <a:rPr lang="en-US" sz="1200" b="0" i="0" kern="1200" dirty="0">
                <a:solidFill>
                  <a:schemeClr val="tx1"/>
                </a:solidFill>
                <a:effectLst/>
                <a:latin typeface="+mn-lt"/>
                <a:ea typeface="+mn-ea"/>
                <a:cs typeface="+mn-cs"/>
              </a:rPr>
              <a:t>	Observation is the translation of the output language into personal understanding.  This translation is done by the user.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https://cs.senecac.on.ca/~bth740/pages/content/model.html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68</a:t>
            </a:fld>
            <a:endParaRPr lang="en-US"/>
          </a:p>
        </p:txBody>
      </p:sp>
    </p:spTree>
    <p:extLst>
      <p:ext uri="{BB962C8B-B14F-4D97-AF65-F5344CB8AC3E}">
        <p14:creationId xmlns:p14="http://schemas.microsoft.com/office/powerpoint/2010/main" val="31747987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69</a:t>
            </a:fld>
            <a:endParaRPr lang="en-US"/>
          </a:p>
        </p:txBody>
      </p:sp>
    </p:spTree>
    <p:extLst>
      <p:ext uri="{BB962C8B-B14F-4D97-AF65-F5344CB8AC3E}">
        <p14:creationId xmlns:p14="http://schemas.microsoft.com/office/powerpoint/2010/main" val="24664788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Generally, each iteration of the UCD approach involves four distinct phases. First, as designers working in teams, we try to understand the </a:t>
            </a:r>
            <a:r>
              <a:rPr lang="en-US" sz="1200" b="0" i="1" kern="1200" dirty="0">
                <a:solidFill>
                  <a:schemeClr val="tx1"/>
                </a:solidFill>
                <a:effectLst/>
                <a:latin typeface="+mn-lt"/>
                <a:ea typeface="+mn-ea"/>
                <a:cs typeface="+mn-cs"/>
              </a:rPr>
              <a:t>context</a:t>
            </a:r>
            <a:r>
              <a:rPr lang="en-US" sz="1200" b="0" i="0" kern="1200" dirty="0">
                <a:solidFill>
                  <a:schemeClr val="tx1"/>
                </a:solidFill>
                <a:effectLst/>
                <a:latin typeface="+mn-lt"/>
                <a:ea typeface="+mn-ea"/>
                <a:cs typeface="+mn-cs"/>
              </a:rPr>
              <a:t> in which users may use a system. Then, we identify and specify the users’ </a:t>
            </a:r>
            <a:r>
              <a:rPr lang="en-US" sz="1200" b="0" i="1" kern="1200" dirty="0">
                <a:solidFill>
                  <a:schemeClr val="tx1"/>
                </a:solidFill>
                <a:effectLst/>
                <a:latin typeface="+mn-lt"/>
                <a:ea typeface="+mn-ea"/>
                <a:cs typeface="+mn-cs"/>
              </a:rPr>
              <a:t>requirements</a:t>
            </a:r>
            <a:r>
              <a:rPr lang="en-US" sz="1200" b="0" i="0" kern="1200" dirty="0">
                <a:solidFill>
                  <a:schemeClr val="tx1"/>
                </a:solidFill>
                <a:effectLst/>
                <a:latin typeface="+mn-lt"/>
                <a:ea typeface="+mn-ea"/>
                <a:cs typeface="+mn-cs"/>
              </a:rPr>
              <a:t>. A </a:t>
            </a:r>
            <a:r>
              <a:rPr lang="en-US" sz="1200" b="0" i="1" kern="1200" dirty="0">
                <a:solidFill>
                  <a:schemeClr val="tx1"/>
                </a:solidFill>
                <a:effectLst/>
                <a:latin typeface="+mn-lt"/>
                <a:ea typeface="+mn-ea"/>
                <a:cs typeface="+mn-cs"/>
              </a:rPr>
              <a:t>design</a:t>
            </a:r>
            <a:r>
              <a:rPr lang="en-US" sz="1200" b="0" i="0" kern="1200" dirty="0">
                <a:solidFill>
                  <a:schemeClr val="tx1"/>
                </a:solidFill>
                <a:effectLst/>
                <a:latin typeface="+mn-lt"/>
                <a:ea typeface="+mn-ea"/>
                <a:cs typeface="+mn-cs"/>
              </a:rPr>
              <a:t> phase follows, in which the design team develops solutions. The team then proceeds to an </a:t>
            </a:r>
            <a:r>
              <a:rPr lang="en-US" sz="1200" b="0" i="1" kern="1200" dirty="0">
                <a:solidFill>
                  <a:schemeClr val="tx1"/>
                </a:solidFill>
                <a:effectLst/>
                <a:latin typeface="+mn-lt"/>
                <a:ea typeface="+mn-ea"/>
                <a:cs typeface="+mn-cs"/>
              </a:rPr>
              <a:t>evaluation</a:t>
            </a:r>
            <a:r>
              <a:rPr lang="en-US" sz="1200" b="0" i="0" kern="1200" dirty="0">
                <a:solidFill>
                  <a:schemeClr val="tx1"/>
                </a:solidFill>
                <a:effectLst/>
                <a:latin typeface="+mn-lt"/>
                <a:ea typeface="+mn-ea"/>
                <a:cs typeface="+mn-cs"/>
              </a:rPr>
              <a:t> phase. Here, you assess the outcomes of the evaluation against the users’ context and requirements, to check how well a design is performing. More specifically, you see how close it is to a level that matches the users’ specific context and satisfies all of their relevant needs. From here, your team makes further iterations of these four phases, and you continue until the evaluation results are satisfactory.</a:t>
            </a:r>
          </a:p>
          <a:p>
            <a:br>
              <a:rPr lang="en-US" dirty="0"/>
            </a:b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75</a:t>
            </a:fld>
            <a:endParaRPr lang="en-US"/>
          </a:p>
        </p:txBody>
      </p:sp>
    </p:spTree>
    <p:extLst>
      <p:ext uri="{BB962C8B-B14F-4D97-AF65-F5344CB8AC3E}">
        <p14:creationId xmlns:p14="http://schemas.microsoft.com/office/powerpoint/2010/main" val="34041086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With close user involvement, products are more likely to meet users’ expectations and requirements. This leads to increased sales and lower costs incurred by customer services.</a:t>
            </a:r>
          </a:p>
          <a:p>
            <a:r>
              <a:rPr lang="en-US" sz="1200" b="0" i="0" kern="1200" dirty="0">
                <a:solidFill>
                  <a:schemeClr val="tx1"/>
                </a:solidFill>
                <a:effectLst/>
                <a:latin typeface="+mn-lt"/>
                <a:ea typeface="+mn-ea"/>
                <a:cs typeface="+mn-cs"/>
              </a:rPr>
              <a:t>Systems designers tailor products for people in specific contexts and with specific tasks, thereby reducing the chances of situations with a high risk of human error arising. UCD leads to safer products.</a:t>
            </a:r>
          </a:p>
          <a:p>
            <a:r>
              <a:rPr lang="en-US" sz="1200" b="0" i="0" kern="1200" dirty="0">
                <a:solidFill>
                  <a:schemeClr val="tx1"/>
                </a:solidFill>
                <a:effectLst/>
                <a:latin typeface="+mn-lt"/>
                <a:ea typeface="+mn-ea"/>
                <a:cs typeface="+mn-cs"/>
              </a:rPr>
              <a:t>Putting designers in close contact with users means a deeper sense of empathy emerges. This is essential in creating ethical designs that respect privacy and the quality of life.</a:t>
            </a:r>
          </a:p>
          <a:p>
            <a:r>
              <a:rPr lang="en-US" sz="1200" b="0" i="0" kern="1200" dirty="0">
                <a:solidFill>
                  <a:schemeClr val="tx1"/>
                </a:solidFill>
                <a:effectLst/>
                <a:latin typeface="+mn-lt"/>
                <a:ea typeface="+mn-ea"/>
                <a:cs typeface="+mn-cs"/>
              </a:rPr>
              <a:t>By focusing on all users of a product, designers can recognize the diversity of cultures and human values through UCD – a step in the right direction towards creating sustainable businesses.</a:t>
            </a:r>
          </a:p>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76</a:t>
            </a:fld>
            <a:endParaRPr lang="en-US"/>
          </a:p>
        </p:txBody>
      </p:sp>
    </p:spTree>
    <p:extLst>
      <p:ext uri="{BB962C8B-B14F-4D97-AF65-F5344CB8AC3E}">
        <p14:creationId xmlns:p14="http://schemas.microsoft.com/office/powerpoint/2010/main" val="23857964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0" i="0" u="none" strike="noStrike" kern="1200" baseline="0" dirty="0">
                <a:solidFill>
                  <a:schemeClr val="tx1"/>
                </a:solidFill>
                <a:latin typeface="+mn-lt"/>
                <a:ea typeface="+mn-ea"/>
                <a:cs typeface="+mn-cs"/>
              </a:rPr>
              <a:t>One airline’s IFE was so frustrating for the flight attendants to use that many of them</a:t>
            </a:r>
          </a:p>
          <a:p>
            <a:r>
              <a:rPr lang="en-US" sz="1200" b="0" i="0" u="none" strike="noStrike" kern="1200" baseline="0" dirty="0">
                <a:solidFill>
                  <a:schemeClr val="tx1"/>
                </a:solidFill>
                <a:latin typeface="+mn-lt"/>
                <a:ea typeface="+mn-ea"/>
                <a:cs typeface="+mn-cs"/>
              </a:rPr>
              <a:t>were bidding to fly shorter, local routes to avoid having to learn and use the difficult</a:t>
            </a:r>
          </a:p>
          <a:p>
            <a:r>
              <a:rPr lang="en-US" sz="1200" b="0" i="0" u="none" strike="noStrike" kern="1200" baseline="0" dirty="0">
                <a:solidFill>
                  <a:schemeClr val="tx1"/>
                </a:solidFill>
                <a:latin typeface="+mn-lt"/>
                <a:ea typeface="+mn-ea"/>
                <a:cs typeface="+mn-cs"/>
              </a:rPr>
              <a:t>systems. This is remarkable considering that the time-honored airline route-bidding</a:t>
            </a:r>
          </a:p>
          <a:p>
            <a:r>
              <a:rPr lang="en-US" sz="1200" b="0" i="0" u="none" strike="noStrike" kern="1200" baseline="0" dirty="0">
                <a:solidFill>
                  <a:schemeClr val="tx1"/>
                </a:solidFill>
                <a:latin typeface="+mn-lt"/>
                <a:ea typeface="+mn-ea"/>
                <a:cs typeface="+mn-cs"/>
              </a:rPr>
              <a:t>process is based on seniority, and that those same long-distance routes have always been</a:t>
            </a:r>
          </a:p>
          <a:p>
            <a:r>
              <a:rPr lang="en-US" sz="1200" b="0" i="0" u="none" strike="noStrike" kern="1200" baseline="0" dirty="0">
                <a:solidFill>
                  <a:schemeClr val="tx1"/>
                </a:solidFill>
                <a:latin typeface="+mn-lt"/>
                <a:ea typeface="+mn-ea"/>
                <a:cs typeface="+mn-cs"/>
              </a:rPr>
              <a:t>considered the most desirable plums because of their lengthy layovers in exotic locales</a:t>
            </a:r>
          </a:p>
          <a:p>
            <a:r>
              <a:rPr lang="en-US" sz="1200" b="0" i="0" u="none" strike="noStrike" kern="1200" baseline="0" dirty="0">
                <a:solidFill>
                  <a:schemeClr val="tx1"/>
                </a:solidFill>
                <a:latin typeface="+mn-lt"/>
                <a:ea typeface="+mn-ea"/>
                <a:cs typeface="+mn-cs"/>
              </a:rPr>
              <a:t>like Singapore or Paris. For flight attendants to bid for unglamorous, unromantic yo-yo</a:t>
            </a:r>
          </a:p>
          <a:p>
            <a:r>
              <a:rPr lang="en-US" sz="1200" b="0" i="0" u="none" strike="noStrike" kern="1200" baseline="0" dirty="0">
                <a:solidFill>
                  <a:schemeClr val="tx1"/>
                </a:solidFill>
                <a:latin typeface="+mn-lt"/>
                <a:ea typeface="+mn-ea"/>
                <a:cs typeface="+mn-cs"/>
              </a:rPr>
              <a:t>flights from Denver-to-Dallas or LA-to-San Francisco just to avoid the IFE indicated a</a:t>
            </a:r>
          </a:p>
          <a:p>
            <a:r>
              <a:rPr lang="en-US" sz="1200" b="0" i="0" u="none" strike="noStrike" kern="1200" baseline="0" dirty="0">
                <a:solidFill>
                  <a:schemeClr val="tx1"/>
                </a:solidFill>
                <a:latin typeface="+mn-lt"/>
                <a:ea typeface="+mn-ea"/>
                <a:cs typeface="+mn-cs"/>
              </a:rPr>
              <a:t>serious morale problem. Any airline that inflicted bad tools on its most prized</a:t>
            </a:r>
          </a:p>
          <a:p>
            <a:r>
              <a:rPr lang="en-US" sz="1200" b="0" i="0" u="none" strike="noStrike" kern="1200" baseline="0" dirty="0">
                <a:solidFill>
                  <a:schemeClr val="tx1"/>
                </a:solidFill>
                <a:latin typeface="+mn-lt"/>
                <a:ea typeface="+mn-ea"/>
                <a:cs typeface="+mn-cs"/>
              </a:rPr>
              <a:t>employee—the ones who spent the most time with the customer---was making a foolish</a:t>
            </a:r>
          </a:p>
          <a:p>
            <a:r>
              <a:rPr lang="en-US" sz="1200" b="0" i="0" u="none" strike="noStrike" kern="1200" baseline="0" dirty="0">
                <a:solidFill>
                  <a:schemeClr val="tx1"/>
                </a:solidFill>
                <a:latin typeface="+mn-lt"/>
                <a:ea typeface="+mn-ea"/>
                <a:cs typeface="+mn-cs"/>
              </a:rPr>
              <a:t>decision and was profligately discarding money, customer loyalty, and staff loyalty.</a:t>
            </a:r>
          </a:p>
          <a:p>
            <a:r>
              <a:rPr lang="en-US" sz="1200" b="0" i="0" u="none" strike="noStrike" kern="1200" baseline="0" dirty="0">
                <a:solidFill>
                  <a:schemeClr val="tx1"/>
                </a:solidFill>
                <a:latin typeface="+mn-lt"/>
                <a:ea typeface="+mn-ea"/>
                <a:cs typeface="+mn-cs"/>
              </a:rPr>
              <a:t>The computer-IFE of another large airline was even worse. The airline had created an inflight</a:t>
            </a:r>
          </a:p>
          <a:p>
            <a:r>
              <a:rPr lang="en-US" sz="1200" b="0" i="0" u="none" strike="noStrike" kern="1200" baseline="0" dirty="0">
                <a:solidFill>
                  <a:schemeClr val="tx1"/>
                </a:solidFill>
                <a:latin typeface="+mn-lt"/>
                <a:ea typeface="+mn-ea"/>
                <a:cs typeface="+mn-cs"/>
              </a:rPr>
              <a:t>entertainment system that linked movie delivery with the cash collection function.</a:t>
            </a:r>
          </a:p>
          <a:p>
            <a:r>
              <a:rPr lang="en-US" sz="1200" b="0" i="0" u="none" strike="noStrike" kern="1200" baseline="0" dirty="0">
                <a:solidFill>
                  <a:schemeClr val="tx1"/>
                </a:solidFill>
                <a:latin typeface="+mn-lt"/>
                <a:ea typeface="+mn-ea"/>
                <a:cs typeface="+mn-cs"/>
              </a:rPr>
              <a:t>In a sealed et airplane flying at 37,000 feet, cash collection procedures had typically been</a:t>
            </a:r>
          </a:p>
          <a:p>
            <a:r>
              <a:rPr lang="en-US" sz="1200" b="0" i="0" u="none" strike="noStrike" kern="1200" baseline="0" dirty="0">
                <a:solidFill>
                  <a:schemeClr val="tx1"/>
                </a:solidFill>
                <a:latin typeface="+mn-lt"/>
                <a:ea typeface="+mn-ea"/>
                <a:cs typeface="+mn-cs"/>
              </a:rPr>
              <a:t>quite laissez-faire; after all, nobody was going to sneak out the back door. Flight</a:t>
            </a:r>
          </a:p>
          <a:p>
            <a:r>
              <a:rPr lang="en-US" sz="1200" b="0" i="0" u="none" strike="noStrike" kern="1200" baseline="0" dirty="0">
                <a:solidFill>
                  <a:schemeClr val="tx1"/>
                </a:solidFill>
                <a:latin typeface="+mn-lt"/>
                <a:ea typeface="+mn-ea"/>
                <a:cs typeface="+mn-cs"/>
              </a:rPr>
              <a:t>attendants delivered goods and services when it was convenient and collected cash in</a:t>
            </a:r>
          </a:p>
          <a:p>
            <a:r>
              <a:rPr lang="en-US" sz="1200" b="0" i="0" u="none" strike="noStrike" kern="1200" baseline="0" dirty="0">
                <a:solidFill>
                  <a:schemeClr val="tx1"/>
                </a:solidFill>
                <a:latin typeface="+mn-lt"/>
                <a:ea typeface="+mn-ea"/>
                <a:cs typeface="+mn-cs"/>
              </a:rPr>
              <a:t>only a very loosely coupled fashion. This kept them from running unnecessarily up and</a:t>
            </a:r>
          </a:p>
          <a:p>
            <a:r>
              <a:rPr lang="en-US" sz="1200" b="0" i="0" u="none" strike="noStrike" kern="1200" baseline="0" dirty="0">
                <a:solidFill>
                  <a:schemeClr val="tx1"/>
                </a:solidFill>
                <a:latin typeface="+mn-lt"/>
                <a:ea typeface="+mn-ea"/>
                <a:cs typeface="+mn-cs"/>
              </a:rPr>
              <a:t>down the narrow aisles. Sure there were occasional errors, but never more than a few</a:t>
            </a:r>
          </a:p>
          <a:p>
            <a:r>
              <a:rPr lang="en-US" sz="1200" b="0" i="0" u="none" strike="noStrike" kern="1200" baseline="0" dirty="0">
                <a:solidFill>
                  <a:schemeClr val="tx1"/>
                </a:solidFill>
                <a:latin typeface="+mn-lt"/>
                <a:ea typeface="+mn-ea"/>
                <a:cs typeface="+mn-cs"/>
              </a:rPr>
              <a:t>dollars were involved, and the system was quite human and forgiving; everyone was</a:t>
            </a:r>
          </a:p>
          <a:p>
            <a:r>
              <a:rPr lang="en-US" sz="1200" b="0" i="0" u="none" strike="noStrike" kern="1200" baseline="0" dirty="0">
                <a:solidFill>
                  <a:schemeClr val="tx1"/>
                </a:solidFill>
                <a:latin typeface="+mn-lt"/>
                <a:ea typeface="+mn-ea"/>
                <a:cs typeface="+mn-cs"/>
              </a:rPr>
              <a:t>happy and the work was not oppressive.</a:t>
            </a:r>
          </a:p>
          <a:p>
            <a:r>
              <a:rPr lang="en-US" sz="1200" b="0" i="0" u="none" strike="noStrike" kern="1200" baseline="0" dirty="0">
                <a:solidFill>
                  <a:schemeClr val="tx1"/>
                </a:solidFill>
                <a:latin typeface="+mn-lt"/>
                <a:ea typeface="+mn-ea"/>
                <a:cs typeface="+mn-cs"/>
              </a:rPr>
              <a:t>With cash-collection connected to content delivery by computer, the flight attendant had</a:t>
            </a:r>
          </a:p>
          <a:p>
            <a:r>
              <a:rPr lang="en-US" sz="1200" b="0" i="0" u="none" strike="noStrike" kern="1200" baseline="0" dirty="0">
                <a:solidFill>
                  <a:schemeClr val="tx1"/>
                </a:solidFill>
                <a:latin typeface="+mn-lt"/>
                <a:ea typeface="+mn-ea"/>
                <a:cs typeface="+mn-cs"/>
              </a:rPr>
              <a:t>to first get the cash from the passenger, then walk all the way to the head-end of the</a:t>
            </a:r>
          </a:p>
          <a:p>
            <a:r>
              <a:rPr lang="en-US" sz="1200" b="0" i="0" u="none" strike="noStrike" kern="1200" baseline="0" dirty="0">
                <a:solidFill>
                  <a:schemeClr val="tx1"/>
                </a:solidFill>
                <a:latin typeface="+mn-lt"/>
                <a:ea typeface="+mn-ea"/>
                <a:cs typeface="+mn-cs"/>
              </a:rPr>
              <a:t>cabin, where the attendant’s console was, enter an attendant password, then perform a</a:t>
            </a:r>
          </a:p>
          <a:p>
            <a:r>
              <a:rPr lang="en-US" sz="1200" b="0" i="0" u="none" strike="noStrike" kern="1200" baseline="0" dirty="0">
                <a:solidFill>
                  <a:schemeClr val="tx1"/>
                </a:solidFill>
                <a:latin typeface="+mn-lt"/>
                <a:ea typeface="+mn-ea"/>
                <a:cs typeface="+mn-cs"/>
              </a:rPr>
              <a:t>cash register-like transaction. Only when that transaction was completed could the</a:t>
            </a:r>
          </a:p>
          <a:p>
            <a:r>
              <a:rPr lang="en-US" sz="1200" b="0" i="0" u="none" strike="noStrike" kern="1200" baseline="0" dirty="0">
                <a:solidFill>
                  <a:schemeClr val="tx1"/>
                </a:solidFill>
                <a:latin typeface="+mn-lt"/>
                <a:ea typeface="+mn-ea"/>
                <a:cs typeface="+mn-cs"/>
              </a:rPr>
              <a:t>passenger actually view a movie or listen to music. This inane product design forced the</a:t>
            </a:r>
          </a:p>
          <a:p>
            <a:r>
              <a:rPr lang="en-US" sz="1200" b="0" i="0" u="none" strike="noStrike" kern="1200" baseline="0" dirty="0">
                <a:solidFill>
                  <a:schemeClr val="tx1"/>
                </a:solidFill>
                <a:latin typeface="+mn-lt"/>
                <a:ea typeface="+mn-ea"/>
                <a:cs typeface="+mn-cs"/>
              </a:rPr>
              <a:t>flight attendants to walk up and down those narrow aisles hundreds of extra times during</a:t>
            </a:r>
          </a:p>
          <a:p>
            <a:r>
              <a:rPr lang="en-US" sz="1200" b="0" i="0" u="none" strike="noStrike" kern="1200" baseline="0" dirty="0">
                <a:solidFill>
                  <a:schemeClr val="tx1"/>
                </a:solidFill>
                <a:latin typeface="+mn-lt"/>
                <a:ea typeface="+mn-ea"/>
                <a:cs typeface="+mn-cs"/>
              </a:rPr>
              <a:t>a typical trip. Out of sheer frustration, the flight attendants would trip the circuit breaker</a:t>
            </a:r>
          </a:p>
          <a:p>
            <a:r>
              <a:rPr lang="en-US" sz="1200" b="0" i="0" u="none" strike="noStrike" kern="1200" baseline="0" dirty="0">
                <a:solidFill>
                  <a:schemeClr val="tx1"/>
                </a:solidFill>
                <a:latin typeface="+mn-lt"/>
                <a:ea typeface="+mn-ea"/>
                <a:cs typeface="+mn-cs"/>
              </a:rPr>
              <a:t>on the in-flight entertainment system at the beginning of each long flight, shortly after</a:t>
            </a:r>
          </a:p>
          <a:p>
            <a:r>
              <a:rPr lang="en-US" sz="1200" b="0" i="0" u="none" strike="noStrike" kern="1200" baseline="0" dirty="0">
                <a:solidFill>
                  <a:schemeClr val="tx1"/>
                </a:solidFill>
                <a:latin typeface="+mn-lt"/>
                <a:ea typeface="+mn-ea"/>
                <a:cs typeface="+mn-cs"/>
              </a:rPr>
              <a:t>departure. They would then blandly announce to the passengers that, sorry, the system</a:t>
            </a:r>
          </a:p>
          <a:p>
            <a:r>
              <a:rPr lang="en-US" sz="1200" b="0" i="0" u="none" strike="noStrike" kern="1200" baseline="0" dirty="0">
                <a:solidFill>
                  <a:schemeClr val="tx1"/>
                </a:solidFill>
                <a:latin typeface="+mn-lt"/>
                <a:ea typeface="+mn-ea"/>
                <a:cs typeface="+mn-cs"/>
              </a:rPr>
              <a:t>was broken and there would be no movie on this flight.</a:t>
            </a:r>
          </a:p>
          <a:p>
            <a:r>
              <a:rPr lang="en-US" sz="1200" b="0" i="0" u="none" strike="noStrike" kern="1200" baseline="0" dirty="0">
                <a:solidFill>
                  <a:schemeClr val="tx1"/>
                </a:solidFill>
                <a:latin typeface="+mn-lt"/>
                <a:ea typeface="+mn-ea"/>
                <a:cs typeface="+mn-cs"/>
              </a:rPr>
              <a:t>The airline had spent millions of dollars constructing a system so obnoxious that its users</a:t>
            </a:r>
          </a:p>
          <a:p>
            <a:r>
              <a:rPr lang="en-US" sz="1200" b="0" i="0" u="none" strike="noStrike" kern="1200" baseline="0" dirty="0">
                <a:solidFill>
                  <a:schemeClr val="tx1"/>
                </a:solidFill>
                <a:latin typeface="+mn-lt"/>
                <a:ea typeface="+mn-ea"/>
                <a:cs typeface="+mn-cs"/>
              </a:rPr>
              <a:t>deliberately turned it off to avoid interacting with it. The thousands of bored passengers</a:t>
            </a:r>
          </a:p>
          <a:p>
            <a:r>
              <a:rPr lang="en-US" sz="1200" b="0" i="0" u="none" strike="noStrike" kern="1200" baseline="0" dirty="0">
                <a:solidFill>
                  <a:schemeClr val="tx1"/>
                </a:solidFill>
                <a:latin typeface="+mn-lt"/>
                <a:ea typeface="+mn-ea"/>
                <a:cs typeface="+mn-cs"/>
              </a:rPr>
              <a:t>were merely innocent victims. And this happened on long, overseas trips typically packed</a:t>
            </a:r>
          </a:p>
          <a:p>
            <a:r>
              <a:rPr lang="en-US" sz="1200" b="0" i="0" u="none" strike="noStrike" kern="1200" baseline="0" dirty="0">
                <a:solidFill>
                  <a:schemeClr val="tx1"/>
                </a:solidFill>
                <a:latin typeface="+mn-lt"/>
                <a:ea typeface="+mn-ea"/>
                <a:cs typeface="+mn-cs"/>
              </a:rPr>
              <a:t>with much-sought-after frequent flyers. I cannot put a dollar figure</a:t>
            </a:r>
          </a:p>
          <a:p>
            <a:r>
              <a:rPr lang="en-US" sz="1200" b="0" i="0" u="none" strike="noStrike" kern="1200" baseline="0" dirty="0">
                <a:solidFill>
                  <a:schemeClr val="tx1"/>
                </a:solidFill>
                <a:latin typeface="+mn-lt"/>
                <a:ea typeface="+mn-ea"/>
                <a:cs typeface="+mn-cs"/>
              </a:rPr>
              <a:t>On the expense this caused the airline, but I can say with conviction that it was</a:t>
            </a:r>
          </a:p>
          <a:p>
            <a:r>
              <a:rPr lang="en-US" sz="1200" b="0" i="0" u="none" strike="noStrike" kern="1200" baseline="0" dirty="0">
                <a:solidFill>
                  <a:schemeClr val="tx1"/>
                </a:solidFill>
                <a:latin typeface="+mn-lt"/>
                <a:ea typeface="+mn-ea"/>
                <a:cs typeface="+mn-cs"/>
              </a:rPr>
              <a:t>catastrophically expensive.</a:t>
            </a:r>
          </a:p>
          <a:p>
            <a:r>
              <a:rPr lang="en-US" sz="1200" b="0" i="0" u="none" strike="noStrike" kern="1200" baseline="0" dirty="0">
                <a:solidFill>
                  <a:schemeClr val="tx1"/>
                </a:solidFill>
                <a:latin typeface="+mn-lt"/>
                <a:ea typeface="+mn-ea"/>
                <a:cs typeface="+mn-cs"/>
              </a:rPr>
              <a:t>The software inside the IFEs worked with flawless precision, but was a resounding failure</a:t>
            </a:r>
          </a:p>
          <a:p>
            <a:r>
              <a:rPr lang="en-US" sz="1200" b="0" i="0" u="none" strike="noStrike" kern="1200" baseline="0" dirty="0">
                <a:solidFill>
                  <a:schemeClr val="tx1"/>
                </a:solidFill>
                <a:latin typeface="+mn-lt"/>
                <a:ea typeface="+mn-ea"/>
                <a:cs typeface="+mn-cs"/>
              </a:rPr>
              <a:t>because it misbehaved with its human keepers.</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77</a:t>
            </a:fld>
            <a:endParaRPr lang="en-US"/>
          </a:p>
        </p:txBody>
      </p:sp>
    </p:spTree>
    <p:extLst>
      <p:ext uri="{BB962C8B-B14F-4D97-AF65-F5344CB8AC3E}">
        <p14:creationId xmlns:p14="http://schemas.microsoft.com/office/powerpoint/2010/main" val="4986328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83</a:t>
            </a:fld>
            <a:endParaRPr lang="en-US"/>
          </a:p>
        </p:txBody>
      </p:sp>
    </p:spTree>
    <p:extLst>
      <p:ext uri="{BB962C8B-B14F-4D97-AF65-F5344CB8AC3E}">
        <p14:creationId xmlns:p14="http://schemas.microsoft.com/office/powerpoint/2010/main" val="3593117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3E233F16-6F8D-46A1-A057-776BA6AD2C46}" type="datetimeFigureOut">
              <a:rPr lang="en-US" smtClean="0"/>
              <a:pPr/>
              <a:t>9/29/2025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E181D6C9-1B9F-49AE-AE07-342A3A6A70E0}"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E233F16-6F8D-46A1-A057-776BA6AD2C46}"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3E233F16-6F8D-46A1-A057-776BA6AD2C46}" type="datetimeFigureOut">
              <a:rPr lang="en-US" smtClean="0"/>
              <a:pPr/>
              <a:t>9/29/2025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181D6C9-1B9F-49AE-AE07-342A3A6A70E0}"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3E233F16-6F8D-46A1-A057-776BA6AD2C46}" type="datetimeFigureOut">
              <a:rPr lang="en-US" smtClean="0"/>
              <a:pPr/>
              <a:t>9/29/2025</a:t>
            </a:fld>
            <a:endParaRPr lang="en-US"/>
          </a:p>
        </p:txBody>
      </p:sp>
      <p:sp>
        <p:nvSpPr>
          <p:cNvPr id="10" name="Slide Number Placeholder 9"/>
          <p:cNvSpPr>
            <a:spLocks noGrp="1"/>
          </p:cNvSpPr>
          <p:nvPr>
            <p:ph type="sldNum" sz="quarter" idx="16"/>
          </p:nvPr>
        </p:nvSpPr>
        <p:spPr/>
        <p:txBody>
          <a:bodyPr rtlCol="0"/>
          <a:lstStyle/>
          <a:p>
            <a:fld id="{E181D6C9-1B9F-49AE-AE07-342A3A6A70E0}"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3E233F16-6F8D-46A1-A057-776BA6AD2C46}" type="datetimeFigureOut">
              <a:rPr lang="en-US" smtClean="0"/>
              <a:pPr/>
              <a:t>9/29/2025</a:t>
            </a:fld>
            <a:endParaRPr lang="en-US"/>
          </a:p>
        </p:txBody>
      </p:sp>
      <p:sp>
        <p:nvSpPr>
          <p:cNvPr id="12" name="Slide Number Placeholder 11"/>
          <p:cNvSpPr>
            <a:spLocks noGrp="1"/>
          </p:cNvSpPr>
          <p:nvPr>
            <p:ph type="sldNum" sz="quarter" idx="16"/>
          </p:nvPr>
        </p:nvSpPr>
        <p:spPr/>
        <p:txBody>
          <a:bodyPr rtlCol="0"/>
          <a:lstStyle/>
          <a:p>
            <a:fld id="{E181D6C9-1B9F-49AE-AE07-342A3A6A70E0}"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E233F16-6F8D-46A1-A057-776BA6AD2C46}" type="datetimeFigureOut">
              <a:rPr lang="en-US" smtClean="0"/>
              <a:pPr/>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33F16-6F8D-46A1-A057-776BA6AD2C46}" type="datetimeFigureOut">
              <a:rPr lang="en-US" smtClean="0"/>
              <a:pPr/>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181D6C9-1B9F-49AE-AE07-342A3A6A70E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3E233F16-6F8D-46A1-A057-776BA6AD2C46}"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3E233F16-6F8D-46A1-A057-776BA6AD2C46}" type="datetimeFigureOut">
              <a:rPr lang="en-US" smtClean="0"/>
              <a:pPr/>
              <a:t>9/29/2025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181D6C9-1B9F-49AE-AE07-342A3A6A70E0}"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3E233F16-6F8D-46A1-A057-776BA6AD2C46}" type="datetimeFigureOut">
              <a:rPr lang="en-US" smtClean="0"/>
              <a:pPr/>
              <a:t>9/29/2025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181D6C9-1B9F-49AE-AE07-342A3A6A70E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3E233F16-6F8D-46A1-A057-776BA6AD2C46}" type="datetimeFigureOut">
              <a:rPr lang="en-US" smtClean="0"/>
              <a:pPr/>
              <a:t>9/29/2025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181D6C9-1B9F-49AE-AE07-342A3A6A70E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3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2.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0"/>
            <a:ext cx="7467600" cy="1828800"/>
          </a:xfrm>
        </p:spPr>
        <p:txBody>
          <a:bodyPr>
            <a:normAutofit fontScale="90000"/>
          </a:bodyPr>
          <a:lstStyle/>
          <a:p>
            <a:r>
              <a:rPr lang="en-US" dirty="0"/>
              <a:t>Human Computer Interaction  </a:t>
            </a:r>
            <a:br>
              <a:rPr lang="en-US" dirty="0"/>
            </a:br>
            <a:endParaRPr lang="en-US" sz="3200" dirty="0"/>
          </a:p>
        </p:txBody>
      </p:sp>
      <p:sp>
        <p:nvSpPr>
          <p:cNvPr id="3" name="Subtitle 2"/>
          <p:cNvSpPr>
            <a:spLocks noGrp="1"/>
          </p:cNvSpPr>
          <p:nvPr>
            <p:ph type="subTitle" idx="1"/>
          </p:nvPr>
        </p:nvSpPr>
        <p:spPr/>
        <p:txBody>
          <a:bodyPr/>
          <a:lstStyle/>
          <a:p>
            <a:r>
              <a:rPr lang="en-US" sz="2800" dirty="0"/>
              <a:t>Introduction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D6D31-E8FA-4374-8815-06EFE8C901B2}"/>
              </a:ext>
            </a:extLst>
          </p:cNvPr>
          <p:cNvSpPr>
            <a:spLocks noGrp="1"/>
          </p:cNvSpPr>
          <p:nvPr>
            <p:ph type="title"/>
          </p:nvPr>
        </p:nvSpPr>
        <p:spPr/>
        <p:txBody>
          <a:bodyPr/>
          <a:lstStyle/>
          <a:p>
            <a:pPr>
              <a:defRPr/>
            </a:pPr>
            <a:r>
              <a:rPr lang="en-US" dirty="0"/>
              <a:t> Introduction</a:t>
            </a:r>
          </a:p>
        </p:txBody>
      </p:sp>
      <p:sp>
        <p:nvSpPr>
          <p:cNvPr id="6147" name="Content Placeholder 2">
            <a:extLst>
              <a:ext uri="{FF2B5EF4-FFF2-40B4-BE49-F238E27FC236}">
                <a16:creationId xmlns:a16="http://schemas.microsoft.com/office/drawing/2014/main" id="{E944B858-CCE9-4C45-8C22-B7CE5AD15838}"/>
              </a:ext>
            </a:extLst>
          </p:cNvPr>
          <p:cNvSpPr>
            <a:spLocks noGrp="1"/>
          </p:cNvSpPr>
          <p:nvPr>
            <p:ph idx="1"/>
          </p:nvPr>
        </p:nvSpPr>
        <p:spPr/>
        <p:txBody>
          <a:bodyPr>
            <a:normAutofit/>
          </a:bodyPr>
          <a:lstStyle/>
          <a:p>
            <a:pPr eaLnBrk="1" hangingPunct="1"/>
            <a:r>
              <a:rPr lang="en-US" altLang="en-US" b="1" dirty="0"/>
              <a:t>Instructor: </a:t>
            </a:r>
            <a:r>
              <a:rPr lang="en-US" altLang="en-US" dirty="0"/>
              <a:t>Dr. Anam Mustaqeem</a:t>
            </a:r>
          </a:p>
          <a:p>
            <a:pPr lvl="1" eaLnBrk="1" hangingPunct="1"/>
            <a:r>
              <a:rPr lang="en-US" altLang="en-US" dirty="0"/>
              <a:t>PhD in Software Engineering</a:t>
            </a:r>
          </a:p>
          <a:p>
            <a:pPr marL="365760" lvl="1" indent="0" eaLnBrk="1" hangingPunct="1">
              <a:buNone/>
            </a:pPr>
            <a:endParaRPr lang="en-US" altLang="en-US" dirty="0"/>
          </a:p>
          <a:p>
            <a:pPr eaLnBrk="1" hangingPunct="1"/>
            <a:r>
              <a:rPr lang="en-US" altLang="en-US" b="1" dirty="0"/>
              <a:t>Email:  </a:t>
            </a:r>
            <a:r>
              <a:rPr lang="en-US" altLang="en-US" dirty="0"/>
              <a:t>anam.mustaqeem@ucp.edu.pk </a:t>
            </a:r>
          </a:p>
          <a:p>
            <a:pPr eaLnBrk="1" hangingPunct="1"/>
            <a:r>
              <a:rPr lang="en-US" altLang="en-US" dirty="0"/>
              <a:t>Office: Building A , F303, cabin 2 </a:t>
            </a:r>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lvl="1" eaLnBrk="1" hangingPunct="1"/>
            <a:endParaRPr lang="en-US" altLang="en-US" dirty="0"/>
          </a:p>
        </p:txBody>
      </p:sp>
      <p:sp>
        <p:nvSpPr>
          <p:cNvPr id="6148" name="Slide Number Placeholder 3">
            <a:extLst>
              <a:ext uri="{FF2B5EF4-FFF2-40B4-BE49-F238E27FC236}">
                <a16:creationId xmlns:a16="http://schemas.microsoft.com/office/drawing/2014/main" id="{DA3E16A6-E4D4-4350-A433-42A9AB616E8A}"/>
              </a:ext>
            </a:extLst>
          </p:cNvPr>
          <p:cNvSpPr>
            <a:spLocks noGrp="1"/>
          </p:cNvSpPr>
          <p:nvPr>
            <p:ph type="sldNum" sz="quarter" idx="12"/>
          </p:nvPr>
        </p:nvSpPr>
        <p:spPr bwMode="auto">
          <a:noFill/>
          <a:ln>
            <a:round/>
            <a:headEnd/>
            <a:tailEnd/>
          </a:ln>
          <a:extLst>
            <a:ext uri="{909E8E84-426E-40DD-AFC4-6F175D3DCCD1}">
              <a14:hiddenFill xmlns:a14="http://schemas.microsoft.com/office/drawing/2010/main">
                <a:solidFill>
                  <a:srgbClr val="FFFFFF"/>
                </a:solidFill>
              </a14:hiddenFill>
            </a:ext>
          </a:extLst>
        </p:spPr>
        <p:txBody>
          <a:bodyPr>
            <a:normAutofit fontScale="55000" lnSpcReduction="20000"/>
          </a:bodyPr>
          <a:lstStyle>
            <a:lvl1pPr>
              <a:spcBef>
                <a:spcPct val="20000"/>
              </a:spcBef>
              <a:buClr>
                <a:schemeClr val="accent1"/>
              </a:buClr>
              <a:buFont typeface="Arial" panose="020B0604020202020204" pitchFamily="34" charset="0"/>
              <a:buChar char="•"/>
              <a:defRPr sz="1650">
                <a:solidFill>
                  <a:schemeClr val="tx1"/>
                </a:solidFill>
                <a:latin typeface="Calibri" panose="020F0502020204030204" pitchFamily="34" charset="0"/>
              </a:defRPr>
            </a:lvl1pPr>
            <a:lvl2pPr marL="557213" indent="-214313">
              <a:spcBef>
                <a:spcPct val="20000"/>
              </a:spcBef>
              <a:buClr>
                <a:schemeClr val="accent2"/>
              </a:buClr>
              <a:buFont typeface="Arial" panose="020B0604020202020204" pitchFamily="34" charset="0"/>
              <a:buChar char="•"/>
              <a:defRPr sz="1500">
                <a:solidFill>
                  <a:schemeClr val="tx1"/>
                </a:solidFill>
                <a:latin typeface="Calibri" panose="020F0502020204030204" pitchFamily="34" charset="0"/>
              </a:defRPr>
            </a:lvl2pPr>
            <a:lvl3pPr marL="857250" indent="-171450">
              <a:spcBef>
                <a:spcPct val="20000"/>
              </a:spcBef>
              <a:buClr>
                <a:srgbClr val="D2CB6C"/>
              </a:buClr>
              <a:buFont typeface="Arial" panose="020B0604020202020204" pitchFamily="34" charset="0"/>
              <a:buChar char="•"/>
              <a:defRPr>
                <a:solidFill>
                  <a:schemeClr val="tx1"/>
                </a:solidFill>
                <a:latin typeface="Calibri" panose="020F0502020204030204" pitchFamily="34" charset="0"/>
              </a:defRPr>
            </a:lvl3pPr>
            <a:lvl4pPr marL="1200150" indent="-171450">
              <a:spcBef>
                <a:spcPct val="20000"/>
              </a:spcBef>
              <a:buClr>
                <a:srgbClr val="95A39D"/>
              </a:buClr>
              <a:buFont typeface="Arial" panose="020B0604020202020204" pitchFamily="34" charset="0"/>
              <a:buChar char="•"/>
              <a:defRPr sz="1200">
                <a:solidFill>
                  <a:schemeClr val="tx1"/>
                </a:solidFill>
                <a:latin typeface="Calibri" panose="020F0502020204030204" pitchFamily="34" charset="0"/>
              </a:defRPr>
            </a:lvl4pPr>
            <a:lvl5pPr marL="1543050" indent="-171450">
              <a:spcBef>
                <a:spcPct val="20000"/>
              </a:spcBef>
              <a:buClr>
                <a:srgbClr val="C89F5D"/>
              </a:buClr>
              <a:buFont typeface="Arial" panose="020B0604020202020204" pitchFamily="34" charset="0"/>
              <a:buChar char="•"/>
              <a:defRPr sz="1050">
                <a:solidFill>
                  <a:schemeClr val="tx1"/>
                </a:solidFill>
                <a:latin typeface="Calibri" panose="020F0502020204030204" pitchFamily="34" charset="0"/>
              </a:defRPr>
            </a:lvl5pPr>
            <a:lvl6pPr marL="1885950" indent="-171450" eaLnBrk="0" fontAlgn="base" hangingPunct="0">
              <a:spcBef>
                <a:spcPct val="20000"/>
              </a:spcBef>
              <a:spcAft>
                <a:spcPct val="0"/>
              </a:spcAft>
              <a:buClr>
                <a:srgbClr val="C89F5D"/>
              </a:buClr>
              <a:buFont typeface="Arial" panose="020B0604020202020204" pitchFamily="34" charset="0"/>
              <a:buChar char="•"/>
              <a:defRPr sz="1050">
                <a:solidFill>
                  <a:schemeClr val="tx1"/>
                </a:solidFill>
                <a:latin typeface="Calibri" panose="020F0502020204030204" pitchFamily="34" charset="0"/>
              </a:defRPr>
            </a:lvl6pPr>
            <a:lvl7pPr marL="2228850" indent="-171450" eaLnBrk="0" fontAlgn="base" hangingPunct="0">
              <a:spcBef>
                <a:spcPct val="20000"/>
              </a:spcBef>
              <a:spcAft>
                <a:spcPct val="0"/>
              </a:spcAft>
              <a:buClr>
                <a:srgbClr val="C89F5D"/>
              </a:buClr>
              <a:buFont typeface="Arial" panose="020B0604020202020204" pitchFamily="34" charset="0"/>
              <a:buChar char="•"/>
              <a:defRPr sz="1050">
                <a:solidFill>
                  <a:schemeClr val="tx1"/>
                </a:solidFill>
                <a:latin typeface="Calibri" panose="020F0502020204030204" pitchFamily="34" charset="0"/>
              </a:defRPr>
            </a:lvl7pPr>
            <a:lvl8pPr marL="2571750" indent="-171450" eaLnBrk="0" fontAlgn="base" hangingPunct="0">
              <a:spcBef>
                <a:spcPct val="20000"/>
              </a:spcBef>
              <a:spcAft>
                <a:spcPct val="0"/>
              </a:spcAft>
              <a:buClr>
                <a:srgbClr val="C89F5D"/>
              </a:buClr>
              <a:buFont typeface="Arial" panose="020B0604020202020204" pitchFamily="34" charset="0"/>
              <a:buChar char="•"/>
              <a:defRPr sz="1050">
                <a:solidFill>
                  <a:schemeClr val="tx1"/>
                </a:solidFill>
                <a:latin typeface="Calibri" panose="020F0502020204030204" pitchFamily="34" charset="0"/>
              </a:defRPr>
            </a:lvl8pPr>
            <a:lvl9pPr marL="2914650" indent="-171450" eaLnBrk="0" fontAlgn="base" hangingPunct="0">
              <a:spcBef>
                <a:spcPct val="20000"/>
              </a:spcBef>
              <a:spcAft>
                <a:spcPct val="0"/>
              </a:spcAft>
              <a:buClr>
                <a:srgbClr val="C89F5D"/>
              </a:buClr>
              <a:buFont typeface="Arial" panose="020B0604020202020204" pitchFamily="34" charset="0"/>
              <a:buChar char="•"/>
              <a:defRPr sz="1050">
                <a:solidFill>
                  <a:schemeClr val="tx1"/>
                </a:solidFill>
                <a:latin typeface="Calibri" panose="020F0502020204030204" pitchFamily="34" charset="0"/>
              </a:defRPr>
            </a:lvl9pPr>
          </a:lstStyle>
          <a:p>
            <a:pPr>
              <a:spcBef>
                <a:spcPct val="0"/>
              </a:spcBef>
              <a:buClrTx/>
              <a:buFontTx/>
              <a:buNone/>
            </a:pPr>
            <a:r>
              <a:rPr lang="en-US" altLang="en-US" sz="1350">
                <a:solidFill>
                  <a:srgbClr val="FFFFFF"/>
                </a:solidFill>
                <a:latin typeface="Times New Roman" panose="02020603050405020304" pitchFamily="18" charset="0"/>
              </a:rPr>
              <a:t>Slide 1-</a:t>
            </a:r>
            <a:fld id="{F3D69949-DF1E-43F4-B33A-E7B2A92BDCD4}" type="slidenum">
              <a:rPr lang="en-US" altLang="en-US" sz="1350">
                <a:solidFill>
                  <a:srgbClr val="FFFFFF"/>
                </a:solidFill>
                <a:latin typeface="Times New Roman" panose="02020603050405020304" pitchFamily="18" charset="0"/>
              </a:rPr>
              <a:pPr>
                <a:spcBef>
                  <a:spcPct val="0"/>
                </a:spcBef>
                <a:buClrTx/>
                <a:buFontTx/>
                <a:buNone/>
              </a:pPr>
              <a:t>2</a:t>
            </a:fld>
            <a:endParaRPr lang="en-US" altLang="en-US" sz="1350">
              <a:solidFill>
                <a:srgbClr val="FFFFFF"/>
              </a:solidFill>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Weightages</a:t>
            </a:r>
          </a:p>
        </p:txBody>
      </p:sp>
      <p:graphicFrame>
        <p:nvGraphicFramePr>
          <p:cNvPr id="6" name="Table 5"/>
          <p:cNvGraphicFramePr>
            <a:graphicFrameLocks noGrp="1"/>
          </p:cNvGraphicFramePr>
          <p:nvPr>
            <p:extLst>
              <p:ext uri="{D42A27DB-BD31-4B8C-83A1-F6EECF244321}">
                <p14:modId xmlns:p14="http://schemas.microsoft.com/office/powerpoint/2010/main" val="4284494965"/>
              </p:ext>
            </p:extLst>
          </p:nvPr>
        </p:nvGraphicFramePr>
        <p:xfrm>
          <a:off x="152400" y="1752600"/>
          <a:ext cx="8839199" cy="4495800"/>
        </p:xfrm>
        <a:graphic>
          <a:graphicData uri="http://schemas.openxmlformats.org/drawingml/2006/table">
            <a:tbl>
              <a:tblPr lastRow="1" bandRow="1">
                <a:tableStyleId>{5C22544A-7EE6-4342-B048-85BDC9FD1C3A}</a:tableStyleId>
              </a:tblPr>
              <a:tblGrid>
                <a:gridCol w="2209800">
                  <a:extLst>
                    <a:ext uri="{9D8B030D-6E8A-4147-A177-3AD203B41FA5}">
                      <a16:colId xmlns:a16="http://schemas.microsoft.com/office/drawing/2014/main" val="20000"/>
                    </a:ext>
                  </a:extLst>
                </a:gridCol>
                <a:gridCol w="734354">
                  <a:extLst>
                    <a:ext uri="{9D8B030D-6E8A-4147-A177-3AD203B41FA5}">
                      <a16:colId xmlns:a16="http://schemas.microsoft.com/office/drawing/2014/main" val="20001"/>
                    </a:ext>
                  </a:extLst>
                </a:gridCol>
                <a:gridCol w="1094794">
                  <a:extLst>
                    <a:ext uri="{9D8B030D-6E8A-4147-A177-3AD203B41FA5}">
                      <a16:colId xmlns:a16="http://schemas.microsoft.com/office/drawing/2014/main" val="20002"/>
                    </a:ext>
                  </a:extLst>
                </a:gridCol>
                <a:gridCol w="4800251">
                  <a:extLst>
                    <a:ext uri="{9D8B030D-6E8A-4147-A177-3AD203B41FA5}">
                      <a16:colId xmlns:a16="http://schemas.microsoft.com/office/drawing/2014/main" val="20003"/>
                    </a:ext>
                  </a:extLst>
                </a:gridCol>
              </a:tblGrid>
              <a:tr h="370840">
                <a:tc>
                  <a:txBody>
                    <a:bodyPr/>
                    <a:lstStyle/>
                    <a:p>
                      <a:r>
                        <a:rPr lang="en-US" dirty="0"/>
                        <a:t>Quizzes</a:t>
                      </a:r>
                    </a:p>
                  </a:txBody>
                  <a:tcPr/>
                </a:tc>
                <a:tc>
                  <a:txBody>
                    <a:bodyPr/>
                    <a:lstStyle/>
                    <a:p>
                      <a:r>
                        <a:rPr lang="en-US" dirty="0"/>
                        <a:t>4</a:t>
                      </a:r>
                    </a:p>
                  </a:txBody>
                  <a:tcPr/>
                </a:tc>
                <a:tc>
                  <a:txBody>
                    <a:bodyPr/>
                    <a:lstStyle/>
                    <a:p>
                      <a:r>
                        <a:rPr lang="en-US" baseline="0" dirty="0"/>
                        <a:t>12 %</a:t>
                      </a:r>
                      <a:endParaRPr lang="en-US" dirty="0"/>
                    </a:p>
                  </a:txBody>
                  <a:tcPr/>
                </a:tc>
                <a:tc>
                  <a:txBody>
                    <a:bodyPr/>
                    <a:lstStyle/>
                    <a:p>
                      <a:pPr marL="285750" indent="-285750">
                        <a:buFont typeface="Arial" panose="020B0604020202020204" pitchFamily="34" charset="0"/>
                        <a:buChar char="•"/>
                      </a:pPr>
                      <a:r>
                        <a:rPr lang="en-US" dirty="0"/>
                        <a:t>No re-takes allowed</a:t>
                      </a:r>
                    </a:p>
                    <a:p>
                      <a:pPr marL="285750" indent="-285750">
                        <a:buFont typeface="Arial" panose="020B0604020202020204" pitchFamily="34" charset="0"/>
                        <a:buChar char="•"/>
                      </a:pPr>
                      <a:r>
                        <a:rPr lang="en-US" dirty="0"/>
                        <a:t>Strict actions will be taken in case of plagiarism</a:t>
                      </a:r>
                    </a:p>
                  </a:txBody>
                  <a:tcPr/>
                </a:tc>
                <a:extLst>
                  <a:ext uri="{0D108BD9-81ED-4DB2-BD59-A6C34878D82A}">
                    <a16:rowId xmlns:a16="http://schemas.microsoft.com/office/drawing/2014/main" val="10000"/>
                  </a:ext>
                </a:extLst>
              </a:tr>
              <a:tr h="370840">
                <a:tc>
                  <a:txBody>
                    <a:bodyPr/>
                    <a:lstStyle/>
                    <a:p>
                      <a:r>
                        <a:rPr lang="en-US" dirty="0"/>
                        <a:t>Assignments</a:t>
                      </a:r>
                    </a:p>
                  </a:txBody>
                  <a:tcPr/>
                </a:tc>
                <a:tc>
                  <a:txBody>
                    <a:bodyPr/>
                    <a:lstStyle/>
                    <a:p>
                      <a:r>
                        <a:rPr lang="en-US"/>
                        <a:t>4</a:t>
                      </a:r>
                      <a:endParaRPr lang="en-US" dirty="0"/>
                    </a:p>
                  </a:txBody>
                  <a:tcPr/>
                </a:tc>
                <a:tc>
                  <a:txBody>
                    <a:bodyPr/>
                    <a:lstStyle/>
                    <a:p>
                      <a:r>
                        <a:rPr lang="en-US" dirty="0"/>
                        <a:t>12 %</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 case of late submission 25% marks will</a:t>
                      </a:r>
                      <a:r>
                        <a:rPr lang="en-US" baseline="0" dirty="0"/>
                        <a:t> be deducted per day i.e. if the late submission is being allowed</a:t>
                      </a:r>
                      <a:endParaRPr lang="en-US" dirty="0"/>
                    </a:p>
                  </a:txBody>
                  <a:tcPr/>
                </a:tc>
                <a:extLst>
                  <a:ext uri="{0D108BD9-81ED-4DB2-BD59-A6C34878D82A}">
                    <a16:rowId xmlns:a16="http://schemas.microsoft.com/office/drawing/2014/main" val="10001"/>
                  </a:ext>
                </a:extLst>
              </a:tr>
              <a:tr h="370840">
                <a:tc>
                  <a:txBody>
                    <a:bodyPr/>
                    <a:lstStyle/>
                    <a:p>
                      <a:r>
                        <a:rPr lang="en-US" dirty="0"/>
                        <a:t>Mid Term</a:t>
                      </a:r>
                    </a:p>
                  </a:txBody>
                  <a:tcPr/>
                </a:tc>
                <a:tc>
                  <a:txBody>
                    <a:bodyPr/>
                    <a:lstStyle/>
                    <a:p>
                      <a:r>
                        <a:rPr lang="en-US" dirty="0"/>
                        <a:t>1</a:t>
                      </a:r>
                    </a:p>
                  </a:txBody>
                  <a:tcPr/>
                </a:tc>
                <a:tc>
                  <a:txBody>
                    <a:bodyPr/>
                    <a:lstStyle/>
                    <a:p>
                      <a:r>
                        <a:rPr lang="en-US" dirty="0"/>
                        <a:t>20 %</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Strict actions will be taken in case of plagiarism</a:t>
                      </a:r>
                    </a:p>
                  </a:txBody>
                  <a:tcPr/>
                </a:tc>
                <a:extLst>
                  <a:ext uri="{0D108BD9-81ED-4DB2-BD59-A6C34878D82A}">
                    <a16:rowId xmlns:a16="http://schemas.microsoft.com/office/drawing/2014/main" val="10002"/>
                  </a:ext>
                </a:extLst>
              </a:tr>
              <a:tr h="370840">
                <a:tc>
                  <a:txBody>
                    <a:bodyPr/>
                    <a:lstStyle/>
                    <a:p>
                      <a:r>
                        <a:rPr lang="en-US" dirty="0"/>
                        <a:t>Project</a:t>
                      </a:r>
                    </a:p>
                  </a:txBody>
                  <a:tcPr/>
                </a:tc>
                <a:tc>
                  <a:txBody>
                    <a:bodyPr/>
                    <a:lstStyle/>
                    <a:p>
                      <a:r>
                        <a:rPr lang="en-US" dirty="0"/>
                        <a:t>1</a:t>
                      </a:r>
                    </a:p>
                  </a:txBody>
                  <a:tcPr/>
                </a:tc>
                <a:tc>
                  <a:txBody>
                    <a:bodyPr/>
                    <a:lstStyle/>
                    <a:p>
                      <a:r>
                        <a:rPr lang="en-US" dirty="0"/>
                        <a:t>10 %</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 case of late submission 25% marks will</a:t>
                      </a:r>
                      <a:r>
                        <a:rPr lang="en-US" baseline="0" dirty="0"/>
                        <a:t> be deducted per day i.e. if the late submission </a:t>
                      </a:r>
                      <a:r>
                        <a:rPr lang="en-US" baseline="0"/>
                        <a:t>is being </a:t>
                      </a:r>
                      <a:r>
                        <a:rPr lang="en-US" baseline="0" dirty="0"/>
                        <a:t>allowed</a:t>
                      </a:r>
                      <a:endParaRPr lang="en-US" dirty="0"/>
                    </a:p>
                  </a:txBody>
                  <a:tcPr/>
                </a:tc>
                <a:extLst>
                  <a:ext uri="{0D108BD9-81ED-4DB2-BD59-A6C34878D82A}">
                    <a16:rowId xmlns:a16="http://schemas.microsoft.com/office/drawing/2014/main" val="10003"/>
                  </a:ext>
                </a:extLst>
              </a:tr>
              <a:tr h="370840">
                <a:tc>
                  <a:txBody>
                    <a:bodyPr/>
                    <a:lstStyle/>
                    <a:p>
                      <a:r>
                        <a:rPr lang="en-US" dirty="0"/>
                        <a:t>Class Activities</a:t>
                      </a:r>
                    </a:p>
                  </a:txBody>
                  <a:tcPr/>
                </a:tc>
                <a:tc>
                  <a:txBody>
                    <a:bodyPr/>
                    <a:lstStyle/>
                    <a:p>
                      <a:r>
                        <a:rPr lang="en-US" dirty="0"/>
                        <a:t>10</a:t>
                      </a:r>
                    </a:p>
                  </a:txBody>
                  <a:tcPr/>
                </a:tc>
                <a:tc>
                  <a:txBody>
                    <a:bodyPr/>
                    <a:lstStyle/>
                    <a:p>
                      <a:r>
                        <a:rPr lang="en-US" dirty="0"/>
                        <a:t>6%</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To be done</a:t>
                      </a:r>
                      <a:r>
                        <a:rPr lang="en-US" baseline="0" dirty="0"/>
                        <a:t> and submitted in class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If you are absent, then you have missed your class activity, nothing can be done about it.</a:t>
                      </a:r>
                      <a:endParaRPr lang="en-US" dirty="0"/>
                    </a:p>
                  </a:txBody>
                  <a:tcPr/>
                </a:tc>
                <a:extLst>
                  <a:ext uri="{0D108BD9-81ED-4DB2-BD59-A6C34878D82A}">
                    <a16:rowId xmlns:a16="http://schemas.microsoft.com/office/drawing/2014/main" val="10004"/>
                  </a:ext>
                </a:extLst>
              </a:tr>
              <a:tr h="370840">
                <a:tc>
                  <a:txBody>
                    <a:bodyPr/>
                    <a:lstStyle/>
                    <a:p>
                      <a:r>
                        <a:rPr lang="en-US" dirty="0"/>
                        <a:t>Final</a:t>
                      </a:r>
                      <a:r>
                        <a:rPr lang="en-US" baseline="0" dirty="0"/>
                        <a:t> Term</a:t>
                      </a:r>
                      <a:endParaRPr lang="en-US" dirty="0"/>
                    </a:p>
                  </a:txBody>
                  <a:tcPr/>
                </a:tc>
                <a:tc>
                  <a:txBody>
                    <a:bodyPr/>
                    <a:lstStyle/>
                    <a:p>
                      <a:r>
                        <a:rPr lang="en-US" dirty="0"/>
                        <a:t>1</a:t>
                      </a:r>
                    </a:p>
                  </a:txBody>
                  <a:tcPr/>
                </a:tc>
                <a:tc>
                  <a:txBody>
                    <a:bodyPr/>
                    <a:lstStyle/>
                    <a:p>
                      <a:r>
                        <a:rPr lang="en-US" dirty="0"/>
                        <a:t>40 %</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Strict actions will be taken in case of plagiarism</a:t>
                      </a:r>
                    </a:p>
                  </a:txBody>
                  <a:tcPr/>
                </a:tc>
                <a:extLst>
                  <a:ext uri="{0D108BD9-81ED-4DB2-BD59-A6C34878D82A}">
                    <a16:rowId xmlns:a16="http://schemas.microsoft.com/office/drawing/2014/main" val="10005"/>
                  </a:ext>
                </a:extLst>
              </a:tr>
              <a:tr h="370840">
                <a:tc>
                  <a:txBody>
                    <a:bodyPr/>
                    <a:lstStyle/>
                    <a:p>
                      <a:r>
                        <a:rPr lang="en-US" dirty="0"/>
                        <a:t>Total</a:t>
                      </a:r>
                    </a:p>
                  </a:txBody>
                  <a:tcPr/>
                </a:tc>
                <a:tc>
                  <a:txBody>
                    <a:bodyPr/>
                    <a:lstStyle/>
                    <a:p>
                      <a:endParaRPr lang="en-US" dirty="0"/>
                    </a:p>
                  </a:txBody>
                  <a:tcPr/>
                </a:tc>
                <a:tc>
                  <a:txBody>
                    <a:bodyPr/>
                    <a:lstStyle/>
                    <a:p>
                      <a:r>
                        <a:rPr lang="en-US" dirty="0"/>
                        <a:t>100 %</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6351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547938"/>
            <a:ext cx="7772400" cy="2862262"/>
          </a:xfrm>
        </p:spPr>
        <p:txBody>
          <a:bodyPr>
            <a:normAutofit/>
          </a:bodyPr>
          <a:lstStyle/>
          <a:p>
            <a:pPr marL="457200" indent="-457200">
              <a:buFont typeface="+mj-lt"/>
              <a:buAutoNum type="arabicPeriod"/>
            </a:pPr>
            <a:r>
              <a:rPr lang="en-US" dirty="0"/>
              <a:t>Bad Designs vs Good Designs</a:t>
            </a:r>
          </a:p>
          <a:p>
            <a:pPr marL="457200" indent="-457200">
              <a:buFont typeface="+mj-lt"/>
              <a:buAutoNum type="arabicPeriod"/>
            </a:pPr>
            <a:r>
              <a:rPr lang="en-US" dirty="0"/>
              <a:t>Human Computer Interaction</a:t>
            </a:r>
            <a:endParaRPr lang="en-US" sz="2400" dirty="0"/>
          </a:p>
          <a:p>
            <a:pPr marL="457200" indent="-457200">
              <a:buFont typeface="+mj-lt"/>
              <a:buAutoNum type="arabicPeriod"/>
            </a:pPr>
            <a:r>
              <a:rPr lang="en-US" dirty="0"/>
              <a:t>Focus of SE vs HCI</a:t>
            </a:r>
          </a:p>
          <a:p>
            <a:pPr marL="457200" indent="-457200">
              <a:buFont typeface="+mj-lt"/>
              <a:buAutoNum type="arabicPeriod"/>
            </a:pPr>
            <a:r>
              <a:rPr lang="en-US" dirty="0"/>
              <a:t>History of User Interfaces  </a:t>
            </a:r>
          </a:p>
        </p:txBody>
      </p:sp>
      <p:sp>
        <p:nvSpPr>
          <p:cNvPr id="2" name="Title 1"/>
          <p:cNvSpPr>
            <a:spLocks noGrp="1"/>
          </p:cNvSpPr>
          <p:nvPr>
            <p:ph type="title"/>
          </p:nvPr>
        </p:nvSpPr>
        <p:spPr/>
        <p:txBody>
          <a:bodyPr/>
          <a:lstStyle/>
          <a:p>
            <a:r>
              <a:rPr lang="en-US" dirty="0"/>
              <a:t>Today’s Lecture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Bad Designs are everywhere </a:t>
            </a:r>
          </a:p>
        </p:txBody>
      </p:sp>
      <p:sp>
        <p:nvSpPr>
          <p:cNvPr id="4" name="TextBox 3">
            <a:extLst>
              <a:ext uri="{FF2B5EF4-FFF2-40B4-BE49-F238E27FC236}">
                <a16:creationId xmlns:a16="http://schemas.microsoft.com/office/drawing/2014/main" id="{06C16267-CE97-4398-B202-FECCCEF4EE61}"/>
              </a:ext>
            </a:extLst>
          </p:cNvPr>
          <p:cNvSpPr txBox="1"/>
          <p:nvPr/>
        </p:nvSpPr>
        <p:spPr>
          <a:xfrm>
            <a:off x="266700" y="2819400"/>
            <a:ext cx="8610600" cy="3539430"/>
          </a:xfrm>
          <a:prstGeom prst="rect">
            <a:avLst/>
          </a:prstGeom>
          <a:noFill/>
        </p:spPr>
        <p:txBody>
          <a:bodyPr wrap="square">
            <a:spAutoFit/>
          </a:bodyPr>
          <a:lstStyle/>
          <a:p>
            <a:pPr algn="ctr">
              <a:buNone/>
            </a:pPr>
            <a:r>
              <a:rPr lang="en-US" sz="3200" b="1" dirty="0"/>
              <a:t>Computers are every where </a:t>
            </a:r>
          </a:p>
          <a:p>
            <a:pPr algn="ctr">
              <a:buNone/>
            </a:pPr>
            <a:endParaRPr lang="en-US" sz="3200" b="1" dirty="0"/>
          </a:p>
          <a:p>
            <a:pPr algn="ctr">
              <a:buNone/>
            </a:pPr>
            <a:r>
              <a:rPr lang="en-US" sz="3200" b="1" dirty="0"/>
              <a:t>And </a:t>
            </a:r>
          </a:p>
          <a:p>
            <a:pPr algn="ctr">
              <a:buNone/>
            </a:pPr>
            <a:endParaRPr lang="en-US" sz="3200" b="1" dirty="0"/>
          </a:p>
          <a:p>
            <a:pPr algn="ctr">
              <a:buNone/>
            </a:pPr>
            <a:r>
              <a:rPr lang="en-US" sz="3200" b="1" dirty="0"/>
              <a:t>Their good design is very important </a:t>
            </a:r>
          </a:p>
          <a:p>
            <a:pPr algn="ctr">
              <a:buNone/>
            </a:pPr>
            <a:endParaRPr lang="en-US" sz="3200" b="1" dirty="0"/>
          </a:p>
          <a:p>
            <a:pPr algn="ctr">
              <a:buNone/>
            </a:pPr>
            <a:r>
              <a:rPr lang="en-US" sz="3200" b="1" dirty="0"/>
              <a:t>(Don Norman Design Principles)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Did You Ever Hate Your Computer? </a:t>
            </a:r>
          </a:p>
        </p:txBody>
      </p:sp>
      <p:pic>
        <p:nvPicPr>
          <p:cNvPr id="13316" name="Picture 4" descr="http://www.techfume.com/wp-content/uploads/2011/02/break-computers-i-hate-computer-6-reasons.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5550" y="1676400"/>
            <a:ext cx="4851580"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744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Facts</a:t>
            </a:r>
          </a:p>
        </p:txBody>
      </p:sp>
      <p:sp>
        <p:nvSpPr>
          <p:cNvPr id="3" name="Content Placeholder 2"/>
          <p:cNvSpPr>
            <a:spLocks noGrp="1"/>
          </p:cNvSpPr>
          <p:nvPr>
            <p:ph sz="quarter" idx="1"/>
          </p:nvPr>
        </p:nvSpPr>
        <p:spPr/>
        <p:txBody>
          <a:bodyPr>
            <a:normAutofit/>
          </a:bodyPr>
          <a:lstStyle/>
          <a:p>
            <a:r>
              <a:rPr lang="en-US" dirty="0"/>
              <a:t>1 in every 4 computers has been physically attacked by its owner - Novatech (British PC Manufacturer)</a:t>
            </a:r>
          </a:p>
          <a:p>
            <a:endParaRPr lang="en-US" dirty="0"/>
          </a:p>
          <a:p>
            <a:r>
              <a:rPr lang="en-US" dirty="0"/>
              <a:t>Almost </a:t>
            </a:r>
            <a:r>
              <a:rPr lang="en-US" dirty="0">
                <a:cs typeface="Arial" charset="0"/>
              </a:rPr>
              <a:t>⅓</a:t>
            </a:r>
            <a:r>
              <a:rPr lang="en-US" dirty="0"/>
              <a:t> of people have physically attacked a computer – National Opinion Poll/Symantec </a:t>
            </a:r>
          </a:p>
          <a:p>
            <a:endParaRPr lang="en-US" dirty="0"/>
          </a:p>
          <a:p>
            <a:r>
              <a:rPr lang="en-US" dirty="0"/>
              <a:t>67% experienced frustration and anger – National Opinion Poll/Symantec </a:t>
            </a:r>
          </a:p>
          <a:p>
            <a:endParaRPr lang="en-US" dirty="0"/>
          </a:p>
          <a:p>
            <a:pPr marL="0" indent="0">
              <a:buNone/>
            </a:pPr>
            <a:endParaRPr lang="en-US" dirty="0"/>
          </a:p>
        </p:txBody>
      </p:sp>
    </p:spTree>
    <p:extLst>
      <p:ext uri="{BB962C8B-B14F-4D97-AF65-F5344CB8AC3E}">
        <p14:creationId xmlns:p14="http://schemas.microsoft.com/office/powerpoint/2010/main" val="3670569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AD316B5-3DAC-4CC6-ABB9-041ED5DA5B02}"/>
              </a:ext>
            </a:extLst>
          </p:cNvPr>
          <p:cNvSpPr>
            <a:spLocks noGrp="1"/>
          </p:cNvSpPr>
          <p:nvPr>
            <p:ph type="body" idx="1"/>
          </p:nvPr>
        </p:nvSpPr>
        <p:spPr/>
        <p:txBody>
          <a:bodyPr/>
          <a:lstStyle/>
          <a:p>
            <a:endParaRPr lang="en-US" dirty="0"/>
          </a:p>
        </p:txBody>
      </p:sp>
      <p:sp>
        <p:nvSpPr>
          <p:cNvPr id="4" name="Title 3">
            <a:extLst>
              <a:ext uri="{FF2B5EF4-FFF2-40B4-BE49-F238E27FC236}">
                <a16:creationId xmlns:a16="http://schemas.microsoft.com/office/drawing/2014/main" id="{CF0CA70C-BCAB-4EBA-BFBC-7420F1E6033E}"/>
              </a:ext>
            </a:extLst>
          </p:cNvPr>
          <p:cNvSpPr>
            <a:spLocks noGrp="1"/>
          </p:cNvSpPr>
          <p:nvPr>
            <p:ph type="title"/>
          </p:nvPr>
        </p:nvSpPr>
        <p:spPr/>
        <p:txBody>
          <a:bodyPr/>
          <a:lstStyle/>
          <a:p>
            <a:r>
              <a:rPr lang="en-US" dirty="0"/>
              <a:t>Real Life Examples</a:t>
            </a:r>
          </a:p>
        </p:txBody>
      </p:sp>
    </p:spTree>
    <p:extLst>
      <p:ext uri="{BB962C8B-B14F-4D97-AF65-F5344CB8AC3E}">
        <p14:creationId xmlns:p14="http://schemas.microsoft.com/office/powerpoint/2010/main" val="4046371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Good or Bad ?</a:t>
            </a:r>
          </a:p>
        </p:txBody>
      </p:sp>
      <p:pic>
        <p:nvPicPr>
          <p:cNvPr id="4" name="Picture 3"/>
          <p:cNvPicPr>
            <a:picLocks noChangeAspect="1" noChangeArrowheads="1"/>
          </p:cNvPicPr>
          <p:nvPr/>
        </p:nvPicPr>
        <p:blipFill>
          <a:blip r:embed="rId2" cstate="print"/>
          <a:srcRect/>
          <a:stretch>
            <a:fillRect/>
          </a:stretch>
        </p:blipFill>
        <p:spPr bwMode="auto">
          <a:xfrm>
            <a:off x="2667000" y="1676400"/>
            <a:ext cx="3539704" cy="4095750"/>
          </a:xfrm>
          <a:prstGeom prst="rect">
            <a:avLst/>
          </a:prstGeom>
          <a:noFill/>
          <a:ln w="9525">
            <a:noFill/>
            <a:miter lim="800000"/>
            <a:headEnd/>
            <a:tailEnd/>
          </a:ln>
          <a:effectLst/>
        </p:spPr>
      </p:pic>
    </p:spTree>
    <p:extLst>
      <p:ext uri="{BB962C8B-B14F-4D97-AF65-F5344CB8AC3E}">
        <p14:creationId xmlns:p14="http://schemas.microsoft.com/office/powerpoint/2010/main" val="2036718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D0889-8109-4FD0-B840-E9FFD54F701A}"/>
              </a:ext>
            </a:extLst>
          </p:cNvPr>
          <p:cNvSpPr>
            <a:spLocks noGrp="1"/>
          </p:cNvSpPr>
          <p:nvPr>
            <p:ph type="title"/>
          </p:nvPr>
        </p:nvSpPr>
        <p:spPr/>
        <p:txBody>
          <a:bodyPr/>
          <a:lstStyle/>
          <a:p>
            <a:r>
              <a:rPr lang="en-US" dirty="0"/>
              <a:t>Can it be used?</a:t>
            </a:r>
          </a:p>
        </p:txBody>
      </p:sp>
      <p:pic>
        <p:nvPicPr>
          <p:cNvPr id="5" name="Content Placeholder 4">
            <a:extLst>
              <a:ext uri="{FF2B5EF4-FFF2-40B4-BE49-F238E27FC236}">
                <a16:creationId xmlns:a16="http://schemas.microsoft.com/office/drawing/2014/main" id="{01DA0E56-F892-4EBE-92A2-703F7745008F}"/>
              </a:ext>
            </a:extLst>
          </p:cNvPr>
          <p:cNvPicPr>
            <a:picLocks noGrp="1" noChangeAspect="1"/>
          </p:cNvPicPr>
          <p:nvPr>
            <p:ph sz="quarter" idx="1"/>
          </p:nvPr>
        </p:nvPicPr>
        <p:blipFill>
          <a:blip r:embed="rId2"/>
          <a:stretch>
            <a:fillRect/>
          </a:stretch>
        </p:blipFill>
        <p:spPr>
          <a:xfrm>
            <a:off x="1631086" y="2133600"/>
            <a:ext cx="5881828" cy="3848334"/>
          </a:xfrm>
        </p:spPr>
      </p:pic>
    </p:spTree>
    <p:extLst>
      <p:ext uri="{BB962C8B-B14F-4D97-AF65-F5344CB8AC3E}">
        <p14:creationId xmlns:p14="http://schemas.microsoft.com/office/powerpoint/2010/main" val="1727788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Bad Designs are Everywhere </a:t>
            </a:r>
          </a:p>
        </p:txBody>
      </p:sp>
      <p:pic>
        <p:nvPicPr>
          <p:cNvPr id="7" name="Picture 5" descr="Z:\HCI\Lectures\Bad Designs\doors2.jpg"/>
          <p:cNvPicPr>
            <a:picLocks noChangeAspect="1" noChangeArrowheads="1"/>
          </p:cNvPicPr>
          <p:nvPr/>
        </p:nvPicPr>
        <p:blipFill>
          <a:blip r:embed="rId3" cstate="print"/>
          <a:srcRect/>
          <a:stretch>
            <a:fillRect/>
          </a:stretch>
        </p:blipFill>
        <p:spPr bwMode="auto">
          <a:xfrm>
            <a:off x="2514600" y="1524000"/>
            <a:ext cx="3810000" cy="4868334"/>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label necessary?</a:t>
            </a:r>
          </a:p>
        </p:txBody>
      </p:sp>
      <p:pic>
        <p:nvPicPr>
          <p:cNvPr id="4" name="Content Placeholder 3"/>
          <p:cNvPicPr>
            <a:picLocks noGrp="1" noChangeAspect="1"/>
          </p:cNvPicPr>
          <p:nvPr>
            <p:ph sz="quarter" idx="1"/>
          </p:nvPr>
        </p:nvPicPr>
        <p:blipFill>
          <a:blip r:embed="rId3"/>
          <a:stretch>
            <a:fillRect/>
          </a:stretch>
        </p:blipFill>
        <p:spPr>
          <a:xfrm>
            <a:off x="2590800" y="1435964"/>
            <a:ext cx="3962400" cy="5193436"/>
          </a:xfrm>
          <a:prstGeom prst="rect">
            <a:avLst/>
          </a:prstGeom>
        </p:spPr>
      </p:pic>
    </p:spTree>
    <p:extLst>
      <p:ext uri="{BB962C8B-B14F-4D97-AF65-F5344CB8AC3E}">
        <p14:creationId xmlns:p14="http://schemas.microsoft.com/office/powerpoint/2010/main" val="1682539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ABEDE-FDCD-47A1-BA25-C2974838F4B2}"/>
              </a:ext>
            </a:extLst>
          </p:cNvPr>
          <p:cNvSpPr>
            <a:spLocks noGrp="1"/>
          </p:cNvSpPr>
          <p:nvPr>
            <p:ph type="title"/>
          </p:nvPr>
        </p:nvSpPr>
        <p:spPr/>
        <p:txBody>
          <a:bodyPr/>
          <a:lstStyle/>
          <a:p>
            <a:r>
              <a:rPr lang="en-US" dirty="0"/>
              <a:t>Improvement</a:t>
            </a:r>
          </a:p>
        </p:txBody>
      </p:sp>
      <p:pic>
        <p:nvPicPr>
          <p:cNvPr id="4" name="Content Placeholder 3">
            <a:extLst>
              <a:ext uri="{FF2B5EF4-FFF2-40B4-BE49-F238E27FC236}">
                <a16:creationId xmlns:a16="http://schemas.microsoft.com/office/drawing/2014/main" id="{629EA12A-ABF8-40DC-84FD-48DFD7D8B054}"/>
              </a:ext>
            </a:extLst>
          </p:cNvPr>
          <p:cNvPicPr>
            <a:picLocks noGrp="1" noChangeAspect="1"/>
          </p:cNvPicPr>
          <p:nvPr>
            <p:ph sz="quarter" idx="1"/>
          </p:nvPr>
        </p:nvPicPr>
        <p:blipFill>
          <a:blip r:embed="rId2"/>
          <a:stretch>
            <a:fillRect/>
          </a:stretch>
        </p:blipFill>
        <p:spPr>
          <a:xfrm>
            <a:off x="2374900" y="2486025"/>
            <a:ext cx="4629150" cy="2724150"/>
          </a:xfrm>
          <a:prstGeom prst="rect">
            <a:avLst/>
          </a:prstGeom>
        </p:spPr>
      </p:pic>
    </p:spTree>
    <p:extLst>
      <p:ext uri="{BB962C8B-B14F-4D97-AF65-F5344CB8AC3E}">
        <p14:creationId xmlns:p14="http://schemas.microsoft.com/office/powerpoint/2010/main" val="1774699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or Bad?</a:t>
            </a:r>
          </a:p>
        </p:txBody>
      </p:sp>
      <p:pic>
        <p:nvPicPr>
          <p:cNvPr id="1026" name="Picture 2" descr="Image result for real life bad design examp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752600"/>
            <a:ext cx="428625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502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For whom would you design like this?</a:t>
            </a:r>
          </a:p>
        </p:txBody>
      </p:sp>
      <p:pic>
        <p:nvPicPr>
          <p:cNvPr id="2050" name="Picture 2" descr="http://assets.dornob.com/wp-content/uploads/2014/04/door-to-nowher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0112" y="1600200"/>
            <a:ext cx="4457700" cy="4114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653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use?</a:t>
            </a:r>
          </a:p>
        </p:txBody>
      </p:sp>
      <p:pic>
        <p:nvPicPr>
          <p:cNvPr id="5122" name="Picture 2" descr="https://www.wired.com/images_blogs/design/2014/03/13_glas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00200"/>
            <a:ext cx="3886200" cy="44958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imwm.org/wordpress/wp-content/uploads/2012/11/Creative-coffe-cup-design-11-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610818"/>
            <a:ext cx="3276600"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279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174EE-1E9A-4EA1-A402-1222DDA69A79}"/>
              </a:ext>
            </a:extLst>
          </p:cNvPr>
          <p:cNvSpPr>
            <a:spLocks noGrp="1"/>
          </p:cNvSpPr>
          <p:nvPr>
            <p:ph type="title"/>
          </p:nvPr>
        </p:nvSpPr>
        <p:spPr/>
        <p:txBody>
          <a:bodyPr/>
          <a:lstStyle/>
          <a:p>
            <a:r>
              <a:rPr lang="en-US" dirty="0"/>
              <a:t>What is the problem? </a:t>
            </a:r>
          </a:p>
        </p:txBody>
      </p:sp>
      <p:pic>
        <p:nvPicPr>
          <p:cNvPr id="5" name="Content Placeholder 4">
            <a:extLst>
              <a:ext uri="{FF2B5EF4-FFF2-40B4-BE49-F238E27FC236}">
                <a16:creationId xmlns:a16="http://schemas.microsoft.com/office/drawing/2014/main" id="{36291D35-2A86-44F3-B678-DF38819F71BF}"/>
              </a:ext>
            </a:extLst>
          </p:cNvPr>
          <p:cNvPicPr>
            <a:picLocks noGrp="1" noChangeAspect="1"/>
          </p:cNvPicPr>
          <p:nvPr>
            <p:ph sz="quarter" idx="1"/>
          </p:nvPr>
        </p:nvPicPr>
        <p:blipFill>
          <a:blip r:embed="rId3"/>
          <a:stretch>
            <a:fillRect/>
          </a:stretch>
        </p:blipFill>
        <p:spPr>
          <a:xfrm>
            <a:off x="1872876" y="1600200"/>
            <a:ext cx="5633198" cy="4495800"/>
          </a:xfrm>
        </p:spPr>
      </p:pic>
    </p:spTree>
    <p:extLst>
      <p:ext uri="{BB962C8B-B14F-4D97-AF65-F5344CB8AC3E}">
        <p14:creationId xmlns:p14="http://schemas.microsoft.com/office/powerpoint/2010/main" val="1763226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Good and bad design</a:t>
            </a:r>
            <a:endParaRPr lang="en-US" dirty="0"/>
          </a:p>
        </p:txBody>
      </p:sp>
      <p:pic>
        <p:nvPicPr>
          <p:cNvPr id="4" name="Picture 3">
            <a:extLst>
              <a:ext uri="{FF2B5EF4-FFF2-40B4-BE49-F238E27FC236}">
                <a16:creationId xmlns:a16="http://schemas.microsoft.com/office/drawing/2014/main" id="{96B381A8-76E2-473E-AD17-EAA9B5EFC0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1838597"/>
            <a:ext cx="7010400" cy="4762500"/>
          </a:xfrm>
          <a:prstGeom prst="rect">
            <a:avLst/>
          </a:prstGeom>
        </p:spPr>
      </p:pic>
    </p:spTree>
    <p:extLst>
      <p:ext uri="{BB962C8B-B14F-4D97-AF65-F5344CB8AC3E}">
        <p14:creationId xmlns:p14="http://schemas.microsoft.com/office/powerpoint/2010/main" val="1890526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C4080-E1B4-4EB6-BDA8-B59A2B784B9F}"/>
              </a:ext>
            </a:extLst>
          </p:cNvPr>
          <p:cNvSpPr>
            <a:spLocks noGrp="1"/>
          </p:cNvSpPr>
          <p:nvPr>
            <p:ph type="title"/>
          </p:nvPr>
        </p:nvSpPr>
        <p:spPr/>
        <p:txBody>
          <a:bodyPr/>
          <a:lstStyle/>
          <a:p>
            <a:r>
              <a:rPr lang="en-US" dirty="0"/>
              <a:t>A class </a:t>
            </a:r>
          </a:p>
        </p:txBody>
      </p:sp>
      <p:pic>
        <p:nvPicPr>
          <p:cNvPr id="5" name="Content Placeholder 4">
            <a:extLst>
              <a:ext uri="{FF2B5EF4-FFF2-40B4-BE49-F238E27FC236}">
                <a16:creationId xmlns:a16="http://schemas.microsoft.com/office/drawing/2014/main" id="{734CF4E5-2A9D-4C74-8234-6F404B8A1438}"/>
              </a:ext>
            </a:extLst>
          </p:cNvPr>
          <p:cNvPicPr>
            <a:picLocks noGrp="1" noChangeAspect="1"/>
          </p:cNvPicPr>
          <p:nvPr>
            <p:ph sz="quarter" idx="1"/>
          </p:nvPr>
        </p:nvPicPr>
        <p:blipFill>
          <a:blip r:embed="rId3"/>
          <a:stretch>
            <a:fillRect/>
          </a:stretch>
        </p:blipFill>
        <p:spPr>
          <a:xfrm>
            <a:off x="1002785" y="2033334"/>
            <a:ext cx="7373379" cy="3629532"/>
          </a:xfrm>
        </p:spPr>
      </p:pic>
    </p:spTree>
    <p:extLst>
      <p:ext uri="{BB962C8B-B14F-4D97-AF65-F5344CB8AC3E}">
        <p14:creationId xmlns:p14="http://schemas.microsoft.com/office/powerpoint/2010/main" val="684046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870E2-DD5E-4575-89A8-08C997B5C07D}"/>
              </a:ext>
            </a:extLst>
          </p:cNvPr>
          <p:cNvSpPr>
            <a:spLocks noGrp="1"/>
          </p:cNvSpPr>
          <p:nvPr>
            <p:ph type="title"/>
          </p:nvPr>
        </p:nvSpPr>
        <p:spPr/>
        <p:txBody>
          <a:bodyPr>
            <a:normAutofit fontScale="90000"/>
          </a:bodyPr>
          <a:lstStyle/>
          <a:p>
            <a:r>
              <a:rPr lang="en-US" dirty="0"/>
              <a:t>A magazine page. What is the issue?</a:t>
            </a:r>
          </a:p>
        </p:txBody>
      </p:sp>
      <p:pic>
        <p:nvPicPr>
          <p:cNvPr id="5" name="Content Placeholder 4">
            <a:extLst>
              <a:ext uri="{FF2B5EF4-FFF2-40B4-BE49-F238E27FC236}">
                <a16:creationId xmlns:a16="http://schemas.microsoft.com/office/drawing/2014/main" id="{1DB9AB45-22AE-45B0-A88F-2B1FDBB5C4E8}"/>
              </a:ext>
            </a:extLst>
          </p:cNvPr>
          <p:cNvPicPr>
            <a:picLocks noGrp="1" noChangeAspect="1"/>
          </p:cNvPicPr>
          <p:nvPr>
            <p:ph sz="quarter" idx="1"/>
          </p:nvPr>
        </p:nvPicPr>
        <p:blipFill>
          <a:blip r:embed="rId3"/>
          <a:stretch>
            <a:fillRect/>
          </a:stretch>
        </p:blipFill>
        <p:spPr>
          <a:xfrm>
            <a:off x="978969" y="1752307"/>
            <a:ext cx="7421011" cy="4191585"/>
          </a:xfrm>
        </p:spPr>
      </p:pic>
    </p:spTree>
    <p:extLst>
      <p:ext uri="{BB962C8B-B14F-4D97-AF65-F5344CB8AC3E}">
        <p14:creationId xmlns:p14="http://schemas.microsoft.com/office/powerpoint/2010/main" val="1304846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01816-3A71-442C-A068-48E18EAC7058}"/>
              </a:ext>
            </a:extLst>
          </p:cNvPr>
          <p:cNvSpPr>
            <a:spLocks noGrp="1"/>
          </p:cNvSpPr>
          <p:nvPr>
            <p:ph type="title"/>
          </p:nvPr>
        </p:nvSpPr>
        <p:spPr/>
        <p:txBody>
          <a:bodyPr/>
          <a:lstStyle/>
          <a:p>
            <a:r>
              <a:rPr lang="en-US" dirty="0"/>
              <a:t>A microwave </a:t>
            </a:r>
          </a:p>
        </p:txBody>
      </p:sp>
      <p:pic>
        <p:nvPicPr>
          <p:cNvPr id="5" name="Content Placeholder 4">
            <a:extLst>
              <a:ext uri="{FF2B5EF4-FFF2-40B4-BE49-F238E27FC236}">
                <a16:creationId xmlns:a16="http://schemas.microsoft.com/office/drawing/2014/main" id="{EB38E93A-A647-489E-86D0-0CFD10841380}"/>
              </a:ext>
            </a:extLst>
          </p:cNvPr>
          <p:cNvPicPr>
            <a:picLocks noGrp="1" noChangeAspect="1"/>
          </p:cNvPicPr>
          <p:nvPr>
            <p:ph sz="quarter" idx="1"/>
          </p:nvPr>
        </p:nvPicPr>
        <p:blipFill>
          <a:blip r:embed="rId2"/>
          <a:stretch>
            <a:fillRect/>
          </a:stretch>
        </p:blipFill>
        <p:spPr>
          <a:xfrm>
            <a:off x="950390" y="1690386"/>
            <a:ext cx="7478169" cy="4315427"/>
          </a:xfrm>
        </p:spPr>
      </p:pic>
    </p:spTree>
    <p:extLst>
      <p:ext uri="{BB962C8B-B14F-4D97-AF65-F5344CB8AC3E}">
        <p14:creationId xmlns:p14="http://schemas.microsoft.com/office/powerpoint/2010/main" val="12345957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7C0CC-9443-4D34-A560-E5BF87D46E92}"/>
              </a:ext>
            </a:extLst>
          </p:cNvPr>
          <p:cNvSpPr>
            <a:spLocks noGrp="1"/>
          </p:cNvSpPr>
          <p:nvPr>
            <p:ph type="title"/>
          </p:nvPr>
        </p:nvSpPr>
        <p:spPr/>
        <p:txBody>
          <a:bodyPr/>
          <a:lstStyle/>
          <a:p>
            <a:r>
              <a:rPr lang="en-US" dirty="0"/>
              <a:t>Bad Designs are Everywhere </a:t>
            </a:r>
            <a:endParaRPr lang="en-PK" dirty="0"/>
          </a:p>
        </p:txBody>
      </p:sp>
      <p:pic>
        <p:nvPicPr>
          <p:cNvPr id="5" name="Content Placeholder 4">
            <a:extLst>
              <a:ext uri="{FF2B5EF4-FFF2-40B4-BE49-F238E27FC236}">
                <a16:creationId xmlns:a16="http://schemas.microsoft.com/office/drawing/2014/main" id="{55CAC59A-CD74-40ED-AB8F-EE1D7B8728CB}"/>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981200" y="1600200"/>
            <a:ext cx="5638800" cy="5029200"/>
          </a:xfrm>
        </p:spPr>
      </p:pic>
    </p:spTree>
    <p:extLst>
      <p:ext uri="{BB962C8B-B14F-4D97-AF65-F5344CB8AC3E}">
        <p14:creationId xmlns:p14="http://schemas.microsoft.com/office/powerpoint/2010/main" val="3332703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7C0CC-9443-4D34-A560-E5BF87D46E92}"/>
              </a:ext>
            </a:extLst>
          </p:cNvPr>
          <p:cNvSpPr>
            <a:spLocks noGrp="1"/>
          </p:cNvSpPr>
          <p:nvPr>
            <p:ph type="title"/>
          </p:nvPr>
        </p:nvSpPr>
        <p:spPr/>
        <p:txBody>
          <a:bodyPr/>
          <a:lstStyle/>
          <a:p>
            <a:r>
              <a:rPr lang="en-US" dirty="0"/>
              <a:t>Too pretty? </a:t>
            </a:r>
            <a:endParaRPr lang="en-PK" dirty="0"/>
          </a:p>
        </p:txBody>
      </p:sp>
      <p:pic>
        <p:nvPicPr>
          <p:cNvPr id="7" name="Content Placeholder 6">
            <a:extLst>
              <a:ext uri="{FF2B5EF4-FFF2-40B4-BE49-F238E27FC236}">
                <a16:creationId xmlns:a16="http://schemas.microsoft.com/office/drawing/2014/main" id="{A2844A46-25FF-4E12-BD38-603BD78DE128}"/>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981200" y="1600200"/>
            <a:ext cx="5257800" cy="5029200"/>
          </a:xfrm>
        </p:spPr>
      </p:pic>
    </p:spTree>
    <p:extLst>
      <p:ext uri="{BB962C8B-B14F-4D97-AF65-F5344CB8AC3E}">
        <p14:creationId xmlns:p14="http://schemas.microsoft.com/office/powerpoint/2010/main" val="3904806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7C0CC-9443-4D34-A560-E5BF87D46E92}"/>
              </a:ext>
            </a:extLst>
          </p:cNvPr>
          <p:cNvSpPr>
            <a:spLocks noGrp="1"/>
          </p:cNvSpPr>
          <p:nvPr>
            <p:ph type="title"/>
          </p:nvPr>
        </p:nvSpPr>
        <p:spPr/>
        <p:txBody>
          <a:bodyPr/>
          <a:lstStyle/>
          <a:p>
            <a:r>
              <a:rPr lang="en-US" dirty="0"/>
              <a:t>How would you open?</a:t>
            </a:r>
            <a:endParaRPr lang="en-PK" dirty="0"/>
          </a:p>
        </p:txBody>
      </p:sp>
      <p:pic>
        <p:nvPicPr>
          <p:cNvPr id="6" name="Content Placeholder 5">
            <a:extLst>
              <a:ext uri="{FF2B5EF4-FFF2-40B4-BE49-F238E27FC236}">
                <a16:creationId xmlns:a16="http://schemas.microsoft.com/office/drawing/2014/main" id="{DDFE0CC1-1670-4244-9144-F0C3AB93EB6A}"/>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692275" y="1447800"/>
            <a:ext cx="5994400" cy="5410200"/>
          </a:xfrm>
        </p:spPr>
      </p:pic>
    </p:spTree>
    <p:extLst>
      <p:ext uri="{BB962C8B-B14F-4D97-AF65-F5344CB8AC3E}">
        <p14:creationId xmlns:p14="http://schemas.microsoft.com/office/powerpoint/2010/main" val="4217289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83108-8FCA-4107-BC06-4BD799353166}"/>
              </a:ext>
            </a:extLst>
          </p:cNvPr>
          <p:cNvSpPr>
            <a:spLocks noGrp="1"/>
          </p:cNvSpPr>
          <p:nvPr>
            <p:ph type="title"/>
          </p:nvPr>
        </p:nvSpPr>
        <p:spPr/>
        <p:txBody>
          <a:bodyPr/>
          <a:lstStyle/>
          <a:p>
            <a:r>
              <a:rPr lang="en-US" dirty="0"/>
              <a:t>Which one is better?</a:t>
            </a:r>
          </a:p>
        </p:txBody>
      </p:sp>
      <p:pic>
        <p:nvPicPr>
          <p:cNvPr id="5" name="Content Placeholder 4">
            <a:extLst>
              <a:ext uri="{FF2B5EF4-FFF2-40B4-BE49-F238E27FC236}">
                <a16:creationId xmlns:a16="http://schemas.microsoft.com/office/drawing/2014/main" id="{D9C2F0FC-5A9F-4BA0-80C2-04C9957393C6}"/>
              </a:ext>
            </a:extLst>
          </p:cNvPr>
          <p:cNvPicPr>
            <a:picLocks noGrp="1" noChangeAspect="1"/>
          </p:cNvPicPr>
          <p:nvPr>
            <p:ph sz="quarter" idx="1"/>
          </p:nvPr>
        </p:nvPicPr>
        <p:blipFill>
          <a:blip r:embed="rId3"/>
          <a:stretch>
            <a:fillRect/>
          </a:stretch>
        </p:blipFill>
        <p:spPr>
          <a:xfrm>
            <a:off x="1536260" y="2104781"/>
            <a:ext cx="6306430" cy="3486637"/>
          </a:xfrm>
        </p:spPr>
      </p:pic>
    </p:spTree>
    <p:extLst>
      <p:ext uri="{BB962C8B-B14F-4D97-AF65-F5344CB8AC3E}">
        <p14:creationId xmlns:p14="http://schemas.microsoft.com/office/powerpoint/2010/main" val="3665826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1AA4B91-4013-43DA-B5EC-D14D097CA302}"/>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752600" y="1752600"/>
            <a:ext cx="6019800" cy="4648200"/>
          </a:xfrm>
        </p:spPr>
      </p:pic>
    </p:spTree>
    <p:extLst>
      <p:ext uri="{BB962C8B-B14F-4D97-AF65-F5344CB8AC3E}">
        <p14:creationId xmlns:p14="http://schemas.microsoft.com/office/powerpoint/2010/main" val="640859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58EFD-E3C6-4B82-8D5E-DC4F6786A49F}"/>
              </a:ext>
            </a:extLst>
          </p:cNvPr>
          <p:cNvSpPr>
            <a:spLocks noGrp="1"/>
          </p:cNvSpPr>
          <p:nvPr>
            <p:ph type="title"/>
          </p:nvPr>
        </p:nvSpPr>
        <p:spPr/>
        <p:txBody>
          <a:bodyPr/>
          <a:lstStyle/>
          <a:p>
            <a:r>
              <a:rPr lang="en-US" dirty="0"/>
              <a:t>Parking area’s Schedule</a:t>
            </a:r>
          </a:p>
        </p:txBody>
      </p:sp>
      <p:pic>
        <p:nvPicPr>
          <p:cNvPr id="5" name="Content Placeholder 4">
            <a:extLst>
              <a:ext uri="{FF2B5EF4-FFF2-40B4-BE49-F238E27FC236}">
                <a16:creationId xmlns:a16="http://schemas.microsoft.com/office/drawing/2014/main" id="{31E6D75D-A6FA-4B91-ACF7-C0FD742C73E7}"/>
              </a:ext>
            </a:extLst>
          </p:cNvPr>
          <p:cNvPicPr>
            <a:picLocks noGrp="1" noChangeAspect="1"/>
          </p:cNvPicPr>
          <p:nvPr>
            <p:ph sz="quarter" idx="1"/>
          </p:nvPr>
        </p:nvPicPr>
        <p:blipFill>
          <a:blip r:embed="rId2"/>
          <a:stretch>
            <a:fillRect/>
          </a:stretch>
        </p:blipFill>
        <p:spPr>
          <a:xfrm>
            <a:off x="2751040" y="1447800"/>
            <a:ext cx="3641919" cy="5275794"/>
          </a:xfrm>
        </p:spPr>
      </p:pic>
    </p:spTree>
    <p:extLst>
      <p:ext uri="{BB962C8B-B14F-4D97-AF65-F5344CB8AC3E}">
        <p14:creationId xmlns:p14="http://schemas.microsoft.com/office/powerpoint/2010/main" val="4224986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6B83E-3465-4722-8554-D6BB50038206}"/>
              </a:ext>
            </a:extLst>
          </p:cNvPr>
          <p:cNvSpPr>
            <a:spLocks noGrp="1"/>
          </p:cNvSpPr>
          <p:nvPr>
            <p:ph type="title"/>
          </p:nvPr>
        </p:nvSpPr>
        <p:spPr/>
        <p:txBody>
          <a:bodyPr/>
          <a:lstStyle/>
          <a:p>
            <a:r>
              <a:rPr lang="en-US" dirty="0"/>
              <a:t>Improvement</a:t>
            </a:r>
          </a:p>
        </p:txBody>
      </p:sp>
      <p:pic>
        <p:nvPicPr>
          <p:cNvPr id="5" name="Content Placeholder 4">
            <a:extLst>
              <a:ext uri="{FF2B5EF4-FFF2-40B4-BE49-F238E27FC236}">
                <a16:creationId xmlns:a16="http://schemas.microsoft.com/office/drawing/2014/main" id="{26FA3C11-2234-4A69-801E-A390B32EE2E7}"/>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981200" y="1600200"/>
            <a:ext cx="5334000" cy="4495800"/>
          </a:xfrm>
        </p:spPr>
      </p:pic>
    </p:spTree>
    <p:extLst>
      <p:ext uri="{BB962C8B-B14F-4D97-AF65-F5344CB8AC3E}">
        <p14:creationId xmlns:p14="http://schemas.microsoft.com/office/powerpoint/2010/main" val="9760284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6D07322-20DE-4967-8B6A-2744F2F0024F}"/>
              </a:ext>
            </a:extLst>
          </p:cNvPr>
          <p:cNvSpPr>
            <a:spLocks noGrp="1"/>
          </p:cNvSpPr>
          <p:nvPr>
            <p:ph type="body" idx="1"/>
          </p:nvPr>
        </p:nvSpPr>
        <p:spPr/>
        <p:txBody>
          <a:bodyPr/>
          <a:lstStyle/>
          <a:p>
            <a:endParaRPr lang="en-US" dirty="0"/>
          </a:p>
        </p:txBody>
      </p:sp>
      <p:sp>
        <p:nvSpPr>
          <p:cNvPr id="4" name="Title 3">
            <a:extLst>
              <a:ext uri="{FF2B5EF4-FFF2-40B4-BE49-F238E27FC236}">
                <a16:creationId xmlns:a16="http://schemas.microsoft.com/office/drawing/2014/main" id="{9CB5DD82-DAE3-4B2E-AC0B-C5345F475901}"/>
              </a:ext>
            </a:extLst>
          </p:cNvPr>
          <p:cNvSpPr>
            <a:spLocks noGrp="1"/>
          </p:cNvSpPr>
          <p:nvPr>
            <p:ph type="title"/>
          </p:nvPr>
        </p:nvSpPr>
        <p:spPr/>
        <p:txBody>
          <a:bodyPr/>
          <a:lstStyle/>
          <a:p>
            <a:r>
              <a:rPr lang="en-US" dirty="0"/>
              <a:t>Bad design in Computer</a:t>
            </a:r>
          </a:p>
        </p:txBody>
      </p:sp>
    </p:spTree>
    <p:extLst>
      <p:ext uri="{BB962C8B-B14F-4D97-AF65-F5344CB8AC3E}">
        <p14:creationId xmlns:p14="http://schemas.microsoft.com/office/powerpoint/2010/main" val="15728231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or Bad?</a:t>
            </a:r>
          </a:p>
        </p:txBody>
      </p:sp>
      <p:pic>
        <p:nvPicPr>
          <p:cNvPr id="4" name="Picture 3"/>
          <p:cNvPicPr>
            <a:picLocks noChangeAspect="1"/>
          </p:cNvPicPr>
          <p:nvPr/>
        </p:nvPicPr>
        <p:blipFill rotWithShape="1">
          <a:blip r:embed="rId3"/>
          <a:srcRect l="16826"/>
          <a:stretch/>
        </p:blipFill>
        <p:spPr>
          <a:xfrm>
            <a:off x="228600" y="1600200"/>
            <a:ext cx="8972838" cy="4343400"/>
          </a:xfrm>
          <a:prstGeom prst="rect">
            <a:avLst/>
          </a:prstGeom>
        </p:spPr>
      </p:pic>
    </p:spTree>
    <p:extLst>
      <p:ext uri="{BB962C8B-B14F-4D97-AF65-F5344CB8AC3E}">
        <p14:creationId xmlns:p14="http://schemas.microsoft.com/office/powerpoint/2010/main" val="15944044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Left: Mobile interface</a:t>
            </a:r>
            <a:br>
              <a:rPr lang="en-US" dirty="0"/>
            </a:br>
            <a:r>
              <a:rPr lang="en-US" dirty="0"/>
              <a:t>Right: </a:t>
            </a:r>
            <a:r>
              <a:rPr lang="en-US"/>
              <a:t>Computer Interface</a:t>
            </a:r>
            <a:endParaRPr lang="en-US" dirty="0"/>
          </a:p>
        </p:txBody>
      </p:sp>
      <p:pic>
        <p:nvPicPr>
          <p:cNvPr id="4" name="Content Placeholder 3"/>
          <p:cNvPicPr>
            <a:picLocks noGrp="1" noChangeAspect="1"/>
          </p:cNvPicPr>
          <p:nvPr>
            <p:ph sz="quarter" idx="1"/>
          </p:nvPr>
        </p:nvPicPr>
        <p:blipFill>
          <a:blip r:embed="rId3"/>
          <a:stretch>
            <a:fillRect/>
          </a:stretch>
        </p:blipFill>
        <p:spPr>
          <a:xfrm>
            <a:off x="0" y="1600200"/>
            <a:ext cx="9019478" cy="3505200"/>
          </a:xfrm>
          <a:prstGeom prst="rect">
            <a:avLst/>
          </a:prstGeom>
        </p:spPr>
      </p:pic>
    </p:spTree>
    <p:extLst>
      <p:ext uri="{BB962C8B-B14F-4D97-AF65-F5344CB8AC3E}">
        <p14:creationId xmlns:p14="http://schemas.microsoft.com/office/powerpoint/2010/main" val="3770881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
          </p:nvPr>
        </p:nvPicPr>
        <p:blipFill>
          <a:blip r:embed="rId2"/>
          <a:stretch>
            <a:fillRect/>
          </a:stretch>
        </p:blipFill>
        <p:spPr>
          <a:xfrm>
            <a:off x="1371600" y="1071695"/>
            <a:ext cx="6297936" cy="5786305"/>
          </a:xfrm>
          <a:prstGeom prst="rect">
            <a:avLst/>
          </a:prstGeom>
        </p:spPr>
      </p:pic>
    </p:spTree>
    <p:extLst>
      <p:ext uri="{BB962C8B-B14F-4D97-AF65-F5344CB8AC3E}">
        <p14:creationId xmlns:p14="http://schemas.microsoft.com/office/powerpoint/2010/main" val="23612667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Good and bad design</a:t>
            </a:r>
            <a:endParaRPr lang="en-US" dirty="0"/>
          </a:p>
        </p:txBody>
      </p:sp>
      <p:pic>
        <p:nvPicPr>
          <p:cNvPr id="3074" name="Picture 2" descr="Z:\HCI\Lectures\Bad Designs\mouseconnector8b.jpg"/>
          <p:cNvPicPr>
            <a:picLocks noChangeAspect="1" noChangeArrowheads="1"/>
          </p:cNvPicPr>
          <p:nvPr/>
        </p:nvPicPr>
        <p:blipFill>
          <a:blip r:embed="rId2" cstate="print"/>
          <a:srcRect/>
          <a:stretch>
            <a:fillRect/>
          </a:stretch>
        </p:blipFill>
        <p:spPr bwMode="auto">
          <a:xfrm>
            <a:off x="6324600" y="3810000"/>
            <a:ext cx="1231900" cy="2311400"/>
          </a:xfrm>
          <a:prstGeom prst="rect">
            <a:avLst/>
          </a:prstGeom>
          <a:noFill/>
          <a:ln w="76200">
            <a:solidFill>
              <a:srgbClr val="00B050"/>
            </a:solidFill>
          </a:ln>
        </p:spPr>
      </p:pic>
      <p:pic>
        <p:nvPicPr>
          <p:cNvPr id="3075" name="Picture 3" descr="Z:\HCI\Lectures\Bad Designs\mouseconnector3.jpg"/>
          <p:cNvPicPr>
            <a:picLocks noChangeAspect="1" noChangeArrowheads="1"/>
          </p:cNvPicPr>
          <p:nvPr/>
        </p:nvPicPr>
        <p:blipFill>
          <a:blip r:embed="rId3" cstate="print"/>
          <a:srcRect/>
          <a:stretch>
            <a:fillRect/>
          </a:stretch>
        </p:blipFill>
        <p:spPr bwMode="auto">
          <a:xfrm>
            <a:off x="685799" y="2057400"/>
            <a:ext cx="4332043" cy="3276600"/>
          </a:xfrm>
          <a:prstGeom prst="rect">
            <a:avLst/>
          </a:prstGeom>
          <a:noFill/>
          <a:ln w="76200">
            <a:solidFill>
              <a:srgbClr val="C00000"/>
            </a:solidFill>
          </a:ln>
        </p:spPr>
      </p:pic>
      <p:pic>
        <p:nvPicPr>
          <p:cNvPr id="3076" name="Picture 4" descr="Z:\HCI\Lectures\Bad Designs\mouseconnector4b.jpg"/>
          <p:cNvPicPr>
            <a:picLocks noChangeAspect="1" noChangeArrowheads="1"/>
          </p:cNvPicPr>
          <p:nvPr/>
        </p:nvPicPr>
        <p:blipFill>
          <a:blip r:embed="rId4" cstate="print"/>
          <a:srcRect/>
          <a:stretch>
            <a:fillRect/>
          </a:stretch>
        </p:blipFill>
        <p:spPr bwMode="auto">
          <a:xfrm>
            <a:off x="6324600" y="1447800"/>
            <a:ext cx="1244600" cy="1714500"/>
          </a:xfrm>
          <a:prstGeom prst="rect">
            <a:avLst/>
          </a:prstGeom>
          <a:noFill/>
          <a:ln w="76200">
            <a:solidFill>
              <a:srgbClr val="00B050"/>
            </a:solid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Bad Designs are Everywhere </a:t>
            </a:r>
          </a:p>
        </p:txBody>
      </p:sp>
      <p:pic>
        <p:nvPicPr>
          <p:cNvPr id="4" name="Picture 4" descr="Z:\HCI\Lectures\Bad Designs\USB.jpg">
            <a:extLst>
              <a:ext uri="{FF2B5EF4-FFF2-40B4-BE49-F238E27FC236}">
                <a16:creationId xmlns:a16="http://schemas.microsoft.com/office/drawing/2014/main" id="{79463C66-ED62-47E8-8AB9-AEAFA3C7594D}"/>
              </a:ext>
            </a:extLst>
          </p:cNvPr>
          <p:cNvPicPr>
            <a:picLocks noChangeAspect="1" noChangeArrowheads="1"/>
          </p:cNvPicPr>
          <p:nvPr/>
        </p:nvPicPr>
        <p:blipFill>
          <a:blip r:embed="rId3" cstate="print"/>
          <a:srcRect/>
          <a:stretch>
            <a:fillRect/>
          </a:stretch>
        </p:blipFill>
        <p:spPr bwMode="auto">
          <a:xfrm>
            <a:off x="2057400" y="2209800"/>
            <a:ext cx="4495800" cy="3364706"/>
          </a:xfrm>
          <a:prstGeom prst="rect">
            <a:avLst/>
          </a:prstGeom>
          <a:noFill/>
        </p:spPr>
      </p:pic>
    </p:spTree>
    <p:extLst>
      <p:ext uri="{BB962C8B-B14F-4D97-AF65-F5344CB8AC3E}">
        <p14:creationId xmlns:p14="http://schemas.microsoft.com/office/powerpoint/2010/main" val="25056332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a:t>
            </a:r>
          </a:p>
        </p:txBody>
      </p:sp>
      <p:pic>
        <p:nvPicPr>
          <p:cNvPr id="3074" name="Picture 2" descr="https://chasemor.files.wordpress.com/2010/11/baddesign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6" y="16238"/>
            <a:ext cx="9144000" cy="6841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5549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a:t>
            </a:r>
          </a:p>
        </p:txBody>
      </p:sp>
      <p:pic>
        <p:nvPicPr>
          <p:cNvPr id="4" name="Picture 4"/>
          <p:cNvPicPr>
            <a:picLocks noChangeAspect="1" noChangeArrowheads="1"/>
          </p:cNvPicPr>
          <p:nvPr/>
        </p:nvPicPr>
        <p:blipFill>
          <a:blip r:embed="rId2" cstate="print"/>
          <a:srcRect/>
          <a:stretch>
            <a:fillRect/>
          </a:stretch>
        </p:blipFill>
        <p:spPr bwMode="auto">
          <a:xfrm>
            <a:off x="1859714" y="1419126"/>
            <a:ext cx="5074486" cy="5286474"/>
          </a:xfrm>
          <a:prstGeom prst="rect">
            <a:avLst/>
          </a:prstGeom>
          <a:noFill/>
          <a:ln w="9525">
            <a:noFill/>
            <a:miter lim="800000"/>
            <a:headEnd/>
            <a:tailEnd/>
          </a:ln>
          <a:effectLst/>
        </p:spPr>
      </p:pic>
    </p:spTree>
    <p:extLst>
      <p:ext uri="{BB962C8B-B14F-4D97-AF65-F5344CB8AC3E}">
        <p14:creationId xmlns:p14="http://schemas.microsoft.com/office/powerpoint/2010/main" val="13610947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Useless Error Messages </a:t>
            </a:r>
          </a:p>
        </p:txBody>
      </p:sp>
      <p:pic>
        <p:nvPicPr>
          <p:cNvPr id="7170" name="Picture 2" descr="Cryptic inde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3604" y="1676400"/>
            <a:ext cx="6327796" cy="20574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Oh, OK, that makes sens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4906" y="4267200"/>
            <a:ext cx="6286494"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38753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or Bad?</a:t>
            </a:r>
          </a:p>
        </p:txBody>
      </p:sp>
      <p:sp>
        <p:nvSpPr>
          <p:cNvPr id="3" name="Content Placeholder 2"/>
          <p:cNvSpPr>
            <a:spLocks noGrp="1"/>
          </p:cNvSpPr>
          <p:nvPr>
            <p:ph sz="quarter" idx="1"/>
          </p:nvPr>
        </p:nvSpPr>
        <p:spPr/>
        <p:txBody>
          <a:bodyPr/>
          <a:lstStyle/>
          <a:p>
            <a:endParaRPr lang="en-US"/>
          </a:p>
        </p:txBody>
      </p:sp>
      <p:pic>
        <p:nvPicPr>
          <p:cNvPr id="1026" name="Picture 2" descr="http://courses.csail.mit.edu/6.831/2014/readings/assets/L01/Pictures/0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95400"/>
            <a:ext cx="8763000" cy="556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44276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Redesign</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95450"/>
            <a:ext cx="8305799" cy="501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13567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or Bad?</a:t>
            </a:r>
          </a:p>
        </p:txBody>
      </p:sp>
      <p:sp>
        <p:nvSpPr>
          <p:cNvPr id="3" name="Content Placeholder 2"/>
          <p:cNvSpPr>
            <a:spLocks noGrp="1"/>
          </p:cNvSpPr>
          <p:nvPr>
            <p:ph sz="quarter" idx="1"/>
          </p:nvPr>
        </p:nvSpPr>
        <p:spPr/>
        <p:txBody>
          <a:bodyPr/>
          <a:lstStyle/>
          <a:p>
            <a:endParaRPr 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 y="1524000"/>
            <a:ext cx="8039100" cy="478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21522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Designs are Everywhere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41" y="1362670"/>
            <a:ext cx="9076159" cy="5495330"/>
          </a:xfrm>
          <a:prstGeom prst="rect">
            <a:avLst/>
          </a:prstGeom>
        </p:spPr>
      </p:pic>
    </p:spTree>
    <p:extLst>
      <p:ext uri="{BB962C8B-B14F-4D97-AF65-F5344CB8AC3E}">
        <p14:creationId xmlns:p14="http://schemas.microsoft.com/office/powerpoint/2010/main" val="9508266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Designs are Everywhere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47800"/>
            <a:ext cx="9144000" cy="5133474"/>
          </a:xfrm>
          <a:prstGeom prst="rect">
            <a:avLst/>
          </a:prstGeom>
        </p:spPr>
      </p:pic>
    </p:spTree>
    <p:extLst>
      <p:ext uri="{BB962C8B-B14F-4D97-AF65-F5344CB8AC3E}">
        <p14:creationId xmlns:p14="http://schemas.microsoft.com/office/powerpoint/2010/main" val="10560306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Designs are Everywhere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577" y="1905000"/>
            <a:ext cx="6347823" cy="4385974"/>
          </a:xfrm>
          <a:prstGeom prst="rect">
            <a:avLst/>
          </a:prstGeom>
        </p:spPr>
      </p:pic>
    </p:spTree>
    <p:extLst>
      <p:ext uri="{BB962C8B-B14F-4D97-AF65-F5344CB8AC3E}">
        <p14:creationId xmlns:p14="http://schemas.microsoft.com/office/powerpoint/2010/main" val="25416998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Designs are Everywhere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950" y="581025"/>
            <a:ext cx="7658100" cy="5895975"/>
          </a:xfrm>
          <a:prstGeom prst="rect">
            <a:avLst/>
          </a:prstGeom>
        </p:spPr>
      </p:pic>
    </p:spTree>
    <p:extLst>
      <p:ext uri="{BB962C8B-B14F-4D97-AF65-F5344CB8AC3E}">
        <p14:creationId xmlns:p14="http://schemas.microsoft.com/office/powerpoint/2010/main" val="34723251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Designs are Everywhere </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2500" r="7500" b="24050"/>
          <a:stretch/>
        </p:blipFill>
        <p:spPr>
          <a:xfrm>
            <a:off x="108423" y="1219200"/>
            <a:ext cx="9035577" cy="5350199"/>
          </a:xfrm>
          <a:prstGeom prst="rect">
            <a:avLst/>
          </a:prstGeom>
        </p:spPr>
      </p:pic>
    </p:spTree>
    <p:extLst>
      <p:ext uri="{BB962C8B-B14F-4D97-AF65-F5344CB8AC3E}">
        <p14:creationId xmlns:p14="http://schemas.microsoft.com/office/powerpoint/2010/main" val="14280467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mage result for good UI design in HCI"/>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8308" y="2136475"/>
            <a:ext cx="6492914" cy="2671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05927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Designs are Everywhere </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43509"/>
          <a:stretch/>
        </p:blipFill>
        <p:spPr>
          <a:xfrm>
            <a:off x="0" y="1657350"/>
            <a:ext cx="9084777" cy="3752850"/>
          </a:xfrm>
          <a:prstGeom prst="rect">
            <a:avLst/>
          </a:prstGeom>
        </p:spPr>
      </p:pic>
    </p:spTree>
    <p:extLst>
      <p:ext uri="{BB962C8B-B14F-4D97-AF65-F5344CB8AC3E}">
        <p14:creationId xmlns:p14="http://schemas.microsoft.com/office/powerpoint/2010/main" val="14939374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 </a:t>
            </a:r>
          </a:p>
        </p:txBody>
      </p:sp>
      <p:sp>
        <p:nvSpPr>
          <p:cNvPr id="3" name="Content Placeholder 2"/>
          <p:cNvSpPr>
            <a:spLocks noGrp="1"/>
          </p:cNvSpPr>
          <p:nvPr>
            <p:ph sz="quarter" idx="1"/>
          </p:nvPr>
        </p:nvSpPr>
        <p:spPr/>
        <p:txBody>
          <a:bodyPr/>
          <a:lstStyle/>
          <a:p>
            <a:pPr algn="ctr">
              <a:buNone/>
            </a:pPr>
            <a:endParaRPr lang="en-US" b="1" dirty="0"/>
          </a:p>
          <a:p>
            <a:pPr algn="ctr">
              <a:buNone/>
            </a:pPr>
            <a:endParaRPr lang="en-US" b="1" dirty="0"/>
          </a:p>
          <a:p>
            <a:pPr algn="ctr">
              <a:buNone/>
            </a:pPr>
            <a:r>
              <a:rPr lang="en-US" b="1" dirty="0"/>
              <a:t>Better Designs! </a:t>
            </a:r>
          </a:p>
        </p:txBody>
      </p:sp>
    </p:spTree>
    <p:extLst>
      <p:ext uri="{BB962C8B-B14F-4D97-AF65-F5344CB8AC3E}">
        <p14:creationId xmlns:p14="http://schemas.microsoft.com/office/powerpoint/2010/main" val="38510552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Good Design</a:t>
            </a:r>
          </a:p>
        </p:txBody>
      </p:sp>
      <p:pic>
        <p:nvPicPr>
          <p:cNvPr id="8194" name="Picture 2" descr="Image result for good interface desig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81924" y="2125266"/>
            <a:ext cx="4780153" cy="3666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03892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Image result for good interface desig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2057400"/>
            <a:ext cx="7002585" cy="4071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60124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97972"/>
            <a:ext cx="8153400" cy="990600"/>
          </a:xfrm>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784098" y="2076450"/>
            <a:ext cx="7810500" cy="3790950"/>
          </a:xfrm>
          <a:prstGeom prst="rect">
            <a:avLst/>
          </a:prstGeom>
        </p:spPr>
      </p:pic>
    </p:spTree>
    <p:extLst>
      <p:ext uri="{BB962C8B-B14F-4D97-AF65-F5344CB8AC3E}">
        <p14:creationId xmlns:p14="http://schemas.microsoft.com/office/powerpoint/2010/main" val="8354186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97971"/>
            <a:ext cx="8153400" cy="990600"/>
          </a:xfrm>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0" y="1158198"/>
            <a:ext cx="9139757" cy="5242602"/>
          </a:xfrm>
          <a:prstGeom prst="rect">
            <a:avLst/>
          </a:prstGeom>
        </p:spPr>
      </p:pic>
    </p:spTree>
    <p:extLst>
      <p:ext uri="{BB962C8B-B14F-4D97-AF65-F5344CB8AC3E}">
        <p14:creationId xmlns:p14="http://schemas.microsoft.com/office/powerpoint/2010/main" val="22365265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CF24D-9827-40DD-8CF0-0919164427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A84A51-A535-4A93-8CC6-57AC82816ECF}"/>
              </a:ext>
            </a:extLst>
          </p:cNvPr>
          <p:cNvSpPr>
            <a:spLocks noGrp="1"/>
          </p:cNvSpPr>
          <p:nvPr>
            <p:ph sz="quarter" idx="1"/>
          </p:nvPr>
        </p:nvSpPr>
        <p:spPr/>
        <p:txBody>
          <a:bodyPr/>
          <a:lstStyle/>
          <a:p>
            <a:endParaRPr lang="en-US"/>
          </a:p>
        </p:txBody>
      </p:sp>
      <p:pic>
        <p:nvPicPr>
          <p:cNvPr id="5" name="Picture 4">
            <a:extLst>
              <a:ext uri="{FF2B5EF4-FFF2-40B4-BE49-F238E27FC236}">
                <a16:creationId xmlns:a16="http://schemas.microsoft.com/office/drawing/2014/main" id="{E0E02E6B-BCEC-443C-A35A-8C1F82F8C014}"/>
              </a:ext>
            </a:extLst>
          </p:cNvPr>
          <p:cNvPicPr>
            <a:picLocks noChangeAspect="1"/>
          </p:cNvPicPr>
          <p:nvPr/>
        </p:nvPicPr>
        <p:blipFill>
          <a:blip r:embed="rId2"/>
          <a:stretch>
            <a:fillRect/>
          </a:stretch>
        </p:blipFill>
        <p:spPr>
          <a:xfrm>
            <a:off x="2433339" y="1085523"/>
            <a:ext cx="4277322" cy="4686954"/>
          </a:xfrm>
          <a:prstGeom prst="rect">
            <a:avLst/>
          </a:prstGeom>
        </p:spPr>
      </p:pic>
    </p:spTree>
    <p:extLst>
      <p:ext uri="{BB962C8B-B14F-4D97-AF65-F5344CB8AC3E}">
        <p14:creationId xmlns:p14="http://schemas.microsoft.com/office/powerpoint/2010/main" val="18168635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92B4F-4080-4BFD-B34B-74B8C6A214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92FF3E2-A9AA-4C52-8A3E-7C98D1200E2B}"/>
              </a:ext>
            </a:extLst>
          </p:cNvPr>
          <p:cNvSpPr>
            <a:spLocks noGrp="1"/>
          </p:cNvSpPr>
          <p:nvPr>
            <p:ph sz="quarter" idx="1"/>
          </p:nvPr>
        </p:nvSpPr>
        <p:spPr/>
        <p:txBody>
          <a:bodyPr/>
          <a:lstStyle/>
          <a:p>
            <a:endParaRPr lang="en-US"/>
          </a:p>
        </p:txBody>
      </p:sp>
      <p:pic>
        <p:nvPicPr>
          <p:cNvPr id="5" name="Picture 4">
            <a:extLst>
              <a:ext uri="{FF2B5EF4-FFF2-40B4-BE49-F238E27FC236}">
                <a16:creationId xmlns:a16="http://schemas.microsoft.com/office/drawing/2014/main" id="{56048E6F-09DF-4C17-964A-EC371FC7015E}"/>
              </a:ext>
            </a:extLst>
          </p:cNvPr>
          <p:cNvPicPr>
            <a:picLocks noChangeAspect="1"/>
          </p:cNvPicPr>
          <p:nvPr/>
        </p:nvPicPr>
        <p:blipFill>
          <a:blip r:embed="rId3"/>
          <a:stretch>
            <a:fillRect/>
          </a:stretch>
        </p:blipFill>
        <p:spPr>
          <a:xfrm>
            <a:off x="980574" y="1733313"/>
            <a:ext cx="7182852" cy="3391373"/>
          </a:xfrm>
          <a:prstGeom prst="rect">
            <a:avLst/>
          </a:prstGeom>
        </p:spPr>
      </p:pic>
    </p:spTree>
    <p:extLst>
      <p:ext uri="{BB962C8B-B14F-4D97-AF65-F5344CB8AC3E}">
        <p14:creationId xmlns:p14="http://schemas.microsoft.com/office/powerpoint/2010/main" val="23739277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EC10B-06F4-49D6-92DE-E7523674B85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FE0A4A5-AA0B-4811-AECF-CFDA056455E8}"/>
              </a:ext>
            </a:extLst>
          </p:cNvPr>
          <p:cNvPicPr>
            <a:picLocks noGrp="1" noChangeAspect="1"/>
          </p:cNvPicPr>
          <p:nvPr>
            <p:ph sz="quarter" idx="1"/>
          </p:nvPr>
        </p:nvPicPr>
        <p:blipFill>
          <a:blip r:embed="rId3"/>
          <a:stretch>
            <a:fillRect/>
          </a:stretch>
        </p:blipFill>
        <p:spPr>
          <a:xfrm>
            <a:off x="1502918" y="1971413"/>
            <a:ext cx="6373114" cy="3753374"/>
          </a:xfrm>
        </p:spPr>
      </p:pic>
    </p:spTree>
    <p:extLst>
      <p:ext uri="{BB962C8B-B14F-4D97-AF65-F5344CB8AC3E}">
        <p14:creationId xmlns:p14="http://schemas.microsoft.com/office/powerpoint/2010/main" val="36432100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D8AD-806E-4F82-B6AD-F860A6274C1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4DE0F5B-AE67-46AD-A958-78193113FB58}"/>
              </a:ext>
            </a:extLst>
          </p:cNvPr>
          <p:cNvPicPr>
            <a:picLocks noGrp="1" noChangeAspect="1"/>
          </p:cNvPicPr>
          <p:nvPr>
            <p:ph sz="quarter" idx="1"/>
          </p:nvPr>
        </p:nvPicPr>
        <p:blipFill>
          <a:blip r:embed="rId3"/>
          <a:stretch>
            <a:fillRect/>
          </a:stretch>
        </p:blipFill>
        <p:spPr>
          <a:xfrm>
            <a:off x="1447800" y="1828800"/>
            <a:ext cx="6080450" cy="3976860"/>
          </a:xfrm>
        </p:spPr>
      </p:pic>
    </p:spTree>
    <p:extLst>
      <p:ext uri="{BB962C8B-B14F-4D97-AF65-F5344CB8AC3E}">
        <p14:creationId xmlns:p14="http://schemas.microsoft.com/office/powerpoint/2010/main" val="16080050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4E578-BC79-4893-83E4-174D34B6F08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E9B8D61-600F-4C0F-9F92-4E261A7201D1}"/>
              </a:ext>
            </a:extLst>
          </p:cNvPr>
          <p:cNvPicPr>
            <a:picLocks noGrp="1" noChangeAspect="1"/>
          </p:cNvPicPr>
          <p:nvPr>
            <p:ph sz="quarter" idx="1"/>
          </p:nvPr>
        </p:nvPicPr>
        <p:blipFill>
          <a:blip r:embed="rId3"/>
          <a:stretch>
            <a:fillRect/>
          </a:stretch>
        </p:blipFill>
        <p:spPr>
          <a:xfrm>
            <a:off x="1498154" y="1661807"/>
            <a:ext cx="6382641" cy="4372585"/>
          </a:xfrm>
        </p:spPr>
      </p:pic>
    </p:spTree>
    <p:extLst>
      <p:ext uri="{BB962C8B-B14F-4D97-AF65-F5344CB8AC3E}">
        <p14:creationId xmlns:p14="http://schemas.microsoft.com/office/powerpoint/2010/main" val="857662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4D98F-19A1-410D-BFE4-578BD27B79A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F4FBD57-FFB7-406F-9B26-ED23D883F531}"/>
              </a:ext>
            </a:extLst>
          </p:cNvPr>
          <p:cNvPicPr>
            <a:picLocks noGrp="1" noChangeAspect="1"/>
          </p:cNvPicPr>
          <p:nvPr>
            <p:ph sz="quarter" idx="1"/>
          </p:nvPr>
        </p:nvPicPr>
        <p:blipFill>
          <a:blip r:embed="rId3"/>
          <a:stretch>
            <a:fillRect/>
          </a:stretch>
        </p:blipFill>
        <p:spPr>
          <a:xfrm>
            <a:off x="1068529" y="3219362"/>
            <a:ext cx="4540237" cy="3105238"/>
          </a:xfrm>
        </p:spPr>
      </p:pic>
    </p:spTree>
    <p:extLst>
      <p:ext uri="{BB962C8B-B14F-4D97-AF65-F5344CB8AC3E}">
        <p14:creationId xmlns:p14="http://schemas.microsoft.com/office/powerpoint/2010/main" val="6729321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590800"/>
            <a:ext cx="7467600" cy="3505200"/>
          </a:xfrm>
        </p:spPr>
        <p:txBody>
          <a:bodyPr>
            <a:normAutofit lnSpcReduction="10000"/>
          </a:bodyPr>
          <a:lstStyle/>
          <a:p>
            <a:endParaRPr lang="en-US" dirty="0"/>
          </a:p>
          <a:p>
            <a:r>
              <a:rPr lang="en-US" dirty="0"/>
              <a:t>Discipline concerned with:</a:t>
            </a:r>
          </a:p>
          <a:p>
            <a:r>
              <a:rPr lang="en-US" dirty="0">
                <a:sym typeface="Wingdings" panose="05000000000000000000" pitchFamily="2" charset="2"/>
              </a:rPr>
              <a:t></a:t>
            </a:r>
            <a:r>
              <a:rPr lang="en-US" dirty="0"/>
              <a:t>Design</a:t>
            </a:r>
          </a:p>
          <a:p>
            <a:r>
              <a:rPr lang="en-US" dirty="0">
                <a:sym typeface="Wingdings" panose="05000000000000000000" pitchFamily="2" charset="2"/>
              </a:rPr>
              <a:t></a:t>
            </a:r>
            <a:r>
              <a:rPr lang="en-US" dirty="0"/>
              <a:t>Implementation</a:t>
            </a:r>
          </a:p>
          <a:p>
            <a:r>
              <a:rPr lang="en-US" dirty="0">
                <a:sym typeface="Wingdings" panose="05000000000000000000" pitchFamily="2" charset="2"/>
              </a:rPr>
              <a:t></a:t>
            </a:r>
            <a:r>
              <a:rPr lang="en-US" dirty="0"/>
              <a:t>Evaluation </a:t>
            </a:r>
          </a:p>
          <a:p>
            <a:r>
              <a:rPr lang="en-US" dirty="0"/>
              <a:t>Of interactive computer system for human use and major study of phenomena surrounding them.</a:t>
            </a:r>
          </a:p>
        </p:txBody>
      </p:sp>
      <p:sp>
        <p:nvSpPr>
          <p:cNvPr id="2" name="Title 1"/>
          <p:cNvSpPr>
            <a:spLocks noGrp="1"/>
          </p:cNvSpPr>
          <p:nvPr>
            <p:ph type="title"/>
          </p:nvPr>
        </p:nvSpPr>
        <p:spPr/>
        <p:txBody>
          <a:bodyPr/>
          <a:lstStyle/>
          <a:p>
            <a:r>
              <a:rPr lang="en-US" dirty="0"/>
              <a:t>Human Computer Interaction </a:t>
            </a:r>
          </a:p>
        </p:txBody>
      </p:sp>
    </p:spTree>
    <p:extLst>
      <p:ext uri="{BB962C8B-B14F-4D97-AF65-F5344CB8AC3E}">
        <p14:creationId xmlns:p14="http://schemas.microsoft.com/office/powerpoint/2010/main" val="38549016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1" name="Rectangle 13"/>
          <p:cNvSpPr>
            <a:spLocks noGrp="1" noChangeArrowheads="1"/>
          </p:cNvSpPr>
          <p:nvPr>
            <p:ph type="title"/>
          </p:nvPr>
        </p:nvSpPr>
        <p:spPr/>
        <p:txBody>
          <a:bodyPr>
            <a:normAutofit/>
          </a:bodyPr>
          <a:lstStyle/>
          <a:p>
            <a:r>
              <a:rPr lang="en-US"/>
              <a:t>Human Computer Interaction</a:t>
            </a:r>
          </a:p>
        </p:txBody>
      </p:sp>
      <p:sp>
        <p:nvSpPr>
          <p:cNvPr id="7182" name="Rectangle 14"/>
          <p:cNvSpPr>
            <a:spLocks noGrp="1" noChangeArrowheads="1"/>
          </p:cNvSpPr>
          <p:nvPr>
            <p:ph sz="quarter" idx="1"/>
          </p:nvPr>
        </p:nvSpPr>
        <p:spPr>
          <a:xfrm>
            <a:off x="914400" y="1447800"/>
            <a:ext cx="7772400" cy="4800600"/>
          </a:xfrm>
        </p:spPr>
        <p:txBody>
          <a:bodyPr>
            <a:normAutofit lnSpcReduction="10000"/>
          </a:bodyPr>
          <a:lstStyle/>
          <a:p>
            <a:pPr>
              <a:buNone/>
            </a:pPr>
            <a:br>
              <a:rPr lang="en-US" dirty="0"/>
            </a:br>
            <a:br>
              <a:rPr lang="en-US" dirty="0"/>
            </a:br>
            <a:br>
              <a:rPr lang="en-US" dirty="0"/>
            </a:br>
            <a:br>
              <a:rPr lang="en-US" dirty="0"/>
            </a:br>
            <a:r>
              <a:rPr lang="en-US" dirty="0"/>
              <a:t>	</a:t>
            </a:r>
            <a:br>
              <a:rPr lang="en-US" dirty="0"/>
            </a:br>
            <a:br>
              <a:rPr lang="en-US" dirty="0"/>
            </a:br>
            <a:br>
              <a:rPr lang="en-US" dirty="0"/>
            </a:br>
            <a:br>
              <a:rPr lang="en-US" dirty="0"/>
            </a:br>
            <a:br>
              <a:rPr lang="en-US" dirty="0"/>
            </a:br>
            <a:br>
              <a:rPr lang="en-US" dirty="0"/>
            </a:br>
            <a:endParaRPr lang="en-US" dirty="0"/>
          </a:p>
          <a:p>
            <a:pPr>
              <a:buNone/>
            </a:pPr>
            <a:endParaRPr lang="en-US" dirty="0"/>
          </a:p>
          <a:p>
            <a:pPr>
              <a:buNone/>
            </a:pPr>
            <a:endParaRPr lang="en-US" dirty="0"/>
          </a:p>
          <a:p>
            <a:endParaRPr lang="en-US" dirty="0"/>
          </a:p>
        </p:txBody>
      </p:sp>
      <p:grpSp>
        <p:nvGrpSpPr>
          <p:cNvPr id="2" name="Group 58"/>
          <p:cNvGrpSpPr>
            <a:grpSpLocks/>
          </p:cNvGrpSpPr>
          <p:nvPr/>
        </p:nvGrpSpPr>
        <p:grpSpPr bwMode="auto">
          <a:xfrm>
            <a:off x="1062704" y="2362200"/>
            <a:ext cx="7253288" cy="3279775"/>
            <a:chOff x="430" y="1351"/>
            <a:chExt cx="4569" cy="2066"/>
          </a:xfrm>
        </p:grpSpPr>
        <p:sp>
          <p:nvSpPr>
            <p:cNvPr id="7172" name="Oval 4"/>
            <p:cNvSpPr>
              <a:spLocks noChangeArrowheads="1"/>
            </p:cNvSpPr>
            <p:nvPr/>
          </p:nvSpPr>
          <p:spPr bwMode="auto">
            <a:xfrm>
              <a:off x="1069" y="1351"/>
              <a:ext cx="2593" cy="1669"/>
            </a:xfrm>
            <a:prstGeom prst="ellipse">
              <a:avLst/>
            </a:prstGeom>
            <a:solidFill>
              <a:schemeClr val="bg1"/>
            </a:solidFill>
            <a:ln w="12699">
              <a:solidFill>
                <a:schemeClr val="tx1"/>
              </a:solidFill>
              <a:round/>
              <a:headEnd/>
              <a:tailEnd/>
            </a:ln>
            <a:effectLst/>
          </p:spPr>
          <p:txBody>
            <a:bodyPr wrap="none" anchor="ctr"/>
            <a:lstStyle/>
            <a:p>
              <a:endParaRPr lang="en-US"/>
            </a:p>
          </p:txBody>
        </p:sp>
        <p:sp>
          <p:nvSpPr>
            <p:cNvPr id="7173" name="Rectangle 5"/>
            <p:cNvSpPr>
              <a:spLocks noChangeArrowheads="1"/>
            </p:cNvSpPr>
            <p:nvPr/>
          </p:nvSpPr>
          <p:spPr bwMode="auto">
            <a:xfrm>
              <a:off x="430" y="1614"/>
              <a:ext cx="652" cy="214"/>
            </a:xfrm>
            <a:prstGeom prst="rect">
              <a:avLst/>
            </a:prstGeom>
            <a:noFill/>
            <a:ln w="9525">
              <a:noFill/>
              <a:miter lim="800000"/>
              <a:headEnd/>
              <a:tailEnd/>
            </a:ln>
            <a:effectLst/>
          </p:spPr>
          <p:txBody>
            <a:bodyPr wrap="none" lIns="92075" tIns="46038" rIns="92075" bIns="46038">
              <a:spAutoFit/>
            </a:bodyPr>
            <a:lstStyle/>
            <a:p>
              <a:pPr eaLnBrk="0" hangingPunct="0">
                <a:lnSpc>
                  <a:spcPct val="90000"/>
                </a:lnSpc>
                <a:spcBef>
                  <a:spcPct val="30000"/>
                </a:spcBef>
              </a:pPr>
              <a:r>
                <a:rPr lang="en-US" sz="1800" b="1">
                  <a:latin typeface="Verdana" charset="0"/>
                </a:rPr>
                <a:t>design</a:t>
              </a:r>
            </a:p>
          </p:txBody>
        </p:sp>
        <p:sp>
          <p:nvSpPr>
            <p:cNvPr id="7174" name="Rectangle 6"/>
            <p:cNvSpPr>
              <a:spLocks noChangeArrowheads="1"/>
            </p:cNvSpPr>
            <p:nvPr/>
          </p:nvSpPr>
          <p:spPr bwMode="auto">
            <a:xfrm>
              <a:off x="3606" y="1569"/>
              <a:ext cx="1393" cy="214"/>
            </a:xfrm>
            <a:prstGeom prst="rect">
              <a:avLst/>
            </a:prstGeom>
            <a:noFill/>
            <a:ln w="9525">
              <a:noFill/>
              <a:miter lim="800000"/>
              <a:headEnd/>
              <a:tailEnd/>
            </a:ln>
            <a:effectLst/>
          </p:spPr>
          <p:txBody>
            <a:bodyPr wrap="none" lIns="92075" tIns="46038" rIns="92075" bIns="46038">
              <a:spAutoFit/>
            </a:bodyPr>
            <a:lstStyle/>
            <a:p>
              <a:pPr eaLnBrk="0" hangingPunct="0">
                <a:lnSpc>
                  <a:spcPct val="90000"/>
                </a:lnSpc>
                <a:spcBef>
                  <a:spcPct val="30000"/>
                </a:spcBef>
              </a:pPr>
              <a:r>
                <a:rPr lang="en-US" sz="1800" b="1">
                  <a:latin typeface="Verdana" charset="0"/>
                </a:rPr>
                <a:t>implementation</a:t>
              </a:r>
            </a:p>
          </p:txBody>
        </p:sp>
        <p:sp>
          <p:nvSpPr>
            <p:cNvPr id="7175" name="Rectangle 7"/>
            <p:cNvSpPr>
              <a:spLocks noChangeArrowheads="1"/>
            </p:cNvSpPr>
            <p:nvPr/>
          </p:nvSpPr>
          <p:spPr bwMode="auto">
            <a:xfrm>
              <a:off x="1882" y="3203"/>
              <a:ext cx="967" cy="214"/>
            </a:xfrm>
            <a:prstGeom prst="rect">
              <a:avLst/>
            </a:prstGeom>
            <a:noFill/>
            <a:ln w="9525">
              <a:noFill/>
              <a:miter lim="800000"/>
              <a:headEnd/>
              <a:tailEnd/>
            </a:ln>
            <a:effectLst/>
          </p:spPr>
          <p:txBody>
            <a:bodyPr wrap="none" lIns="92075" tIns="46038" rIns="92075" bIns="46038">
              <a:spAutoFit/>
            </a:bodyPr>
            <a:lstStyle/>
            <a:p>
              <a:pPr eaLnBrk="0" hangingPunct="0">
                <a:lnSpc>
                  <a:spcPct val="90000"/>
                </a:lnSpc>
                <a:spcBef>
                  <a:spcPct val="30000"/>
                </a:spcBef>
              </a:pPr>
              <a:r>
                <a:rPr lang="en-US" sz="1800" b="1">
                  <a:latin typeface="Verdana" charset="0"/>
                </a:rPr>
                <a:t>evaluation</a:t>
              </a:r>
            </a:p>
          </p:txBody>
        </p:sp>
        <p:sp>
          <p:nvSpPr>
            <p:cNvPr id="7176" name="AutoShape 8"/>
            <p:cNvSpPr>
              <a:spLocks noChangeArrowheads="1"/>
            </p:cNvSpPr>
            <p:nvPr/>
          </p:nvSpPr>
          <p:spPr bwMode="auto">
            <a:xfrm>
              <a:off x="2192" y="2869"/>
              <a:ext cx="314" cy="336"/>
            </a:xfrm>
            <a:prstGeom prst="leftArrow">
              <a:avLst>
                <a:gd name="adj1" fmla="val 75009"/>
                <a:gd name="adj2" fmla="val 49995"/>
              </a:avLst>
            </a:prstGeom>
            <a:solidFill>
              <a:schemeClr val="bg1"/>
            </a:solidFill>
            <a:ln w="12699">
              <a:solidFill>
                <a:schemeClr val="tx1"/>
              </a:solidFill>
              <a:miter lim="800000"/>
              <a:headEnd/>
              <a:tailEnd/>
            </a:ln>
            <a:effectLst/>
          </p:spPr>
          <p:txBody>
            <a:bodyPr wrap="none" anchor="ctr"/>
            <a:lstStyle/>
            <a:p>
              <a:endParaRPr lang="en-US"/>
            </a:p>
          </p:txBody>
        </p:sp>
        <p:sp>
          <p:nvSpPr>
            <p:cNvPr id="7177" name="AutoShape 9"/>
            <p:cNvSpPr>
              <a:spLocks noChangeArrowheads="1"/>
            </p:cNvSpPr>
            <p:nvPr/>
          </p:nvSpPr>
          <p:spPr bwMode="auto">
            <a:xfrm rot="17520000">
              <a:off x="1023" y="1656"/>
              <a:ext cx="318" cy="438"/>
            </a:xfrm>
            <a:prstGeom prst="rightArrow">
              <a:avLst>
                <a:gd name="adj1" fmla="val 50000"/>
                <a:gd name="adj2" fmla="val 50005"/>
              </a:avLst>
            </a:prstGeom>
            <a:solidFill>
              <a:schemeClr val="bg1"/>
            </a:solidFill>
            <a:ln w="12699">
              <a:solidFill>
                <a:schemeClr val="tx1"/>
              </a:solidFill>
              <a:miter lim="800000"/>
              <a:headEnd/>
              <a:tailEnd/>
            </a:ln>
            <a:effectLst/>
          </p:spPr>
          <p:txBody>
            <a:bodyPr wrap="none" anchor="ctr"/>
            <a:lstStyle/>
            <a:p>
              <a:endParaRPr lang="en-US"/>
            </a:p>
          </p:txBody>
        </p:sp>
        <p:sp>
          <p:nvSpPr>
            <p:cNvPr id="7178" name="AutoShape 10"/>
            <p:cNvSpPr>
              <a:spLocks noChangeArrowheads="1"/>
            </p:cNvSpPr>
            <p:nvPr/>
          </p:nvSpPr>
          <p:spPr bwMode="auto">
            <a:xfrm rot="3540000">
              <a:off x="3358" y="1656"/>
              <a:ext cx="318" cy="437"/>
            </a:xfrm>
            <a:prstGeom prst="rightArrow">
              <a:avLst>
                <a:gd name="adj1" fmla="val 50000"/>
                <a:gd name="adj2" fmla="val 50005"/>
              </a:avLst>
            </a:prstGeom>
            <a:solidFill>
              <a:schemeClr val="bg1"/>
            </a:solidFill>
            <a:ln w="12699">
              <a:solidFill>
                <a:schemeClr val="tx1"/>
              </a:solidFill>
              <a:miter lim="800000"/>
              <a:headEnd/>
              <a:tailEnd/>
            </a:ln>
            <a:effectLst/>
          </p:spPr>
          <p:txBody>
            <a:bodyPr wrap="none" anchor="ctr"/>
            <a:lstStyle/>
            <a:p>
              <a:endParaRPr lang="en-US"/>
            </a:p>
          </p:txBody>
        </p:sp>
        <p:grpSp>
          <p:nvGrpSpPr>
            <p:cNvPr id="3" name="Group 16"/>
            <p:cNvGrpSpPr>
              <a:grpSpLocks noChangeAspect="1"/>
            </p:cNvGrpSpPr>
            <p:nvPr/>
          </p:nvGrpSpPr>
          <p:grpSpPr bwMode="auto">
            <a:xfrm>
              <a:off x="1837" y="1706"/>
              <a:ext cx="998" cy="1068"/>
              <a:chOff x="1565" y="1934"/>
              <a:chExt cx="998" cy="1068"/>
            </a:xfrm>
          </p:grpSpPr>
          <p:sp>
            <p:nvSpPr>
              <p:cNvPr id="7183" name="AutoShape 15"/>
              <p:cNvSpPr>
                <a:spLocks noChangeAspect="1" noChangeArrowheads="1" noTextEdit="1"/>
              </p:cNvSpPr>
              <p:nvPr/>
            </p:nvSpPr>
            <p:spPr bwMode="auto">
              <a:xfrm>
                <a:off x="1565" y="1934"/>
                <a:ext cx="998" cy="1068"/>
              </a:xfrm>
              <a:prstGeom prst="rect">
                <a:avLst/>
              </a:prstGeom>
              <a:noFill/>
              <a:ln w="9525">
                <a:noFill/>
                <a:miter lim="800000"/>
                <a:headEnd/>
                <a:tailEnd/>
              </a:ln>
            </p:spPr>
            <p:txBody>
              <a:bodyPr/>
              <a:lstStyle/>
              <a:p>
                <a:endParaRPr lang="en-US"/>
              </a:p>
            </p:txBody>
          </p:sp>
          <p:grpSp>
            <p:nvGrpSpPr>
              <p:cNvPr id="4" name="Group 27"/>
              <p:cNvGrpSpPr>
                <a:grpSpLocks/>
              </p:cNvGrpSpPr>
              <p:nvPr/>
            </p:nvGrpSpPr>
            <p:grpSpPr bwMode="auto">
              <a:xfrm>
                <a:off x="1568" y="1940"/>
                <a:ext cx="630" cy="1056"/>
                <a:chOff x="1568" y="1940"/>
                <a:chExt cx="630" cy="1056"/>
              </a:xfrm>
            </p:grpSpPr>
            <p:sp>
              <p:nvSpPr>
                <p:cNvPr id="7185" name="Freeform 17"/>
                <p:cNvSpPr>
                  <a:spLocks/>
                </p:cNvSpPr>
                <p:nvPr/>
              </p:nvSpPr>
              <p:spPr bwMode="auto">
                <a:xfrm>
                  <a:off x="1612" y="2406"/>
                  <a:ext cx="305" cy="590"/>
                </a:xfrm>
                <a:custGeom>
                  <a:avLst/>
                  <a:gdLst/>
                  <a:ahLst/>
                  <a:cxnLst>
                    <a:cxn ang="0">
                      <a:pos x="160" y="0"/>
                    </a:cxn>
                    <a:cxn ang="0">
                      <a:pos x="132" y="11"/>
                    </a:cxn>
                    <a:cxn ang="0">
                      <a:pos x="99" y="45"/>
                    </a:cxn>
                    <a:cxn ang="0">
                      <a:pos x="63" y="96"/>
                    </a:cxn>
                    <a:cxn ang="0">
                      <a:pos x="31" y="161"/>
                    </a:cxn>
                    <a:cxn ang="0">
                      <a:pos x="7" y="228"/>
                    </a:cxn>
                    <a:cxn ang="0">
                      <a:pos x="1" y="307"/>
                    </a:cxn>
                    <a:cxn ang="0">
                      <a:pos x="1" y="374"/>
                    </a:cxn>
                    <a:cxn ang="0">
                      <a:pos x="12" y="461"/>
                    </a:cxn>
                    <a:cxn ang="0">
                      <a:pos x="42" y="533"/>
                    </a:cxn>
                    <a:cxn ang="0">
                      <a:pos x="97" y="606"/>
                    </a:cxn>
                    <a:cxn ang="0">
                      <a:pos x="153" y="696"/>
                    </a:cxn>
                    <a:cxn ang="0">
                      <a:pos x="203" y="766"/>
                    </a:cxn>
                    <a:cxn ang="0">
                      <a:pos x="246" y="820"/>
                    </a:cxn>
                    <a:cxn ang="0">
                      <a:pos x="285" y="897"/>
                    </a:cxn>
                    <a:cxn ang="0">
                      <a:pos x="316" y="1004"/>
                    </a:cxn>
                    <a:cxn ang="0">
                      <a:pos x="343" y="1059"/>
                    </a:cxn>
                    <a:cxn ang="0">
                      <a:pos x="370" y="1093"/>
                    </a:cxn>
                    <a:cxn ang="0">
                      <a:pos x="411" y="1110"/>
                    </a:cxn>
                    <a:cxn ang="0">
                      <a:pos x="494" y="1105"/>
                    </a:cxn>
                    <a:cxn ang="0">
                      <a:pos x="667" y="1093"/>
                    </a:cxn>
                    <a:cxn ang="0">
                      <a:pos x="823" y="1184"/>
                    </a:cxn>
                    <a:cxn ang="0">
                      <a:pos x="844" y="1365"/>
                    </a:cxn>
                    <a:cxn ang="0">
                      <a:pos x="825" y="1553"/>
                    </a:cxn>
                    <a:cxn ang="0">
                      <a:pos x="813" y="1664"/>
                    </a:cxn>
                    <a:cxn ang="0">
                      <a:pos x="742" y="1670"/>
                    </a:cxn>
                    <a:cxn ang="0">
                      <a:pos x="309" y="1770"/>
                    </a:cxn>
                    <a:cxn ang="0">
                      <a:pos x="792" y="1737"/>
                    </a:cxn>
                    <a:cxn ang="0">
                      <a:pos x="887" y="1645"/>
                    </a:cxn>
                    <a:cxn ang="0">
                      <a:pos x="897" y="1432"/>
                    </a:cxn>
                    <a:cxn ang="0">
                      <a:pos x="904" y="1168"/>
                    </a:cxn>
                    <a:cxn ang="0">
                      <a:pos x="915" y="867"/>
                    </a:cxn>
                  </a:cxnLst>
                  <a:rect l="0" t="0" r="r" b="b"/>
                  <a:pathLst>
                    <a:path w="915" h="1770">
                      <a:moveTo>
                        <a:pt x="329" y="198"/>
                      </a:moveTo>
                      <a:lnTo>
                        <a:pt x="160" y="0"/>
                      </a:lnTo>
                      <a:lnTo>
                        <a:pt x="145" y="3"/>
                      </a:lnTo>
                      <a:lnTo>
                        <a:pt x="132" y="11"/>
                      </a:lnTo>
                      <a:lnTo>
                        <a:pt x="118" y="24"/>
                      </a:lnTo>
                      <a:lnTo>
                        <a:pt x="99" y="45"/>
                      </a:lnTo>
                      <a:lnTo>
                        <a:pt x="81" y="70"/>
                      </a:lnTo>
                      <a:lnTo>
                        <a:pt x="63" y="96"/>
                      </a:lnTo>
                      <a:lnTo>
                        <a:pt x="48" y="124"/>
                      </a:lnTo>
                      <a:lnTo>
                        <a:pt x="31" y="161"/>
                      </a:lnTo>
                      <a:lnTo>
                        <a:pt x="18" y="195"/>
                      </a:lnTo>
                      <a:lnTo>
                        <a:pt x="7" y="228"/>
                      </a:lnTo>
                      <a:lnTo>
                        <a:pt x="4" y="268"/>
                      </a:lnTo>
                      <a:lnTo>
                        <a:pt x="1" y="307"/>
                      </a:lnTo>
                      <a:lnTo>
                        <a:pt x="0" y="339"/>
                      </a:lnTo>
                      <a:lnTo>
                        <a:pt x="1" y="374"/>
                      </a:lnTo>
                      <a:lnTo>
                        <a:pt x="5" y="418"/>
                      </a:lnTo>
                      <a:lnTo>
                        <a:pt x="12" y="461"/>
                      </a:lnTo>
                      <a:lnTo>
                        <a:pt x="24" y="497"/>
                      </a:lnTo>
                      <a:lnTo>
                        <a:pt x="42" y="533"/>
                      </a:lnTo>
                      <a:lnTo>
                        <a:pt x="70" y="570"/>
                      </a:lnTo>
                      <a:lnTo>
                        <a:pt x="97" y="606"/>
                      </a:lnTo>
                      <a:lnTo>
                        <a:pt x="122" y="646"/>
                      </a:lnTo>
                      <a:lnTo>
                        <a:pt x="153" y="696"/>
                      </a:lnTo>
                      <a:lnTo>
                        <a:pt x="177" y="735"/>
                      </a:lnTo>
                      <a:lnTo>
                        <a:pt x="203" y="766"/>
                      </a:lnTo>
                      <a:lnTo>
                        <a:pt x="223" y="796"/>
                      </a:lnTo>
                      <a:lnTo>
                        <a:pt x="246" y="820"/>
                      </a:lnTo>
                      <a:lnTo>
                        <a:pt x="270" y="846"/>
                      </a:lnTo>
                      <a:lnTo>
                        <a:pt x="285" y="897"/>
                      </a:lnTo>
                      <a:lnTo>
                        <a:pt x="298" y="947"/>
                      </a:lnTo>
                      <a:lnTo>
                        <a:pt x="316" y="1004"/>
                      </a:lnTo>
                      <a:lnTo>
                        <a:pt x="331" y="1034"/>
                      </a:lnTo>
                      <a:lnTo>
                        <a:pt x="343" y="1059"/>
                      </a:lnTo>
                      <a:lnTo>
                        <a:pt x="357" y="1080"/>
                      </a:lnTo>
                      <a:lnTo>
                        <a:pt x="370" y="1093"/>
                      </a:lnTo>
                      <a:lnTo>
                        <a:pt x="390" y="1104"/>
                      </a:lnTo>
                      <a:lnTo>
                        <a:pt x="411" y="1110"/>
                      </a:lnTo>
                      <a:lnTo>
                        <a:pt x="433" y="1111"/>
                      </a:lnTo>
                      <a:lnTo>
                        <a:pt x="494" y="1105"/>
                      </a:lnTo>
                      <a:lnTo>
                        <a:pt x="577" y="1096"/>
                      </a:lnTo>
                      <a:lnTo>
                        <a:pt x="667" y="1093"/>
                      </a:lnTo>
                      <a:lnTo>
                        <a:pt x="816" y="1120"/>
                      </a:lnTo>
                      <a:lnTo>
                        <a:pt x="823" y="1184"/>
                      </a:lnTo>
                      <a:lnTo>
                        <a:pt x="833" y="1266"/>
                      </a:lnTo>
                      <a:lnTo>
                        <a:pt x="844" y="1365"/>
                      </a:lnTo>
                      <a:lnTo>
                        <a:pt x="834" y="1472"/>
                      </a:lnTo>
                      <a:lnTo>
                        <a:pt x="825" y="1553"/>
                      </a:lnTo>
                      <a:lnTo>
                        <a:pt x="817" y="1658"/>
                      </a:lnTo>
                      <a:lnTo>
                        <a:pt x="813" y="1664"/>
                      </a:lnTo>
                      <a:lnTo>
                        <a:pt x="804" y="1669"/>
                      </a:lnTo>
                      <a:lnTo>
                        <a:pt x="742" y="1670"/>
                      </a:lnTo>
                      <a:lnTo>
                        <a:pt x="309" y="1685"/>
                      </a:lnTo>
                      <a:lnTo>
                        <a:pt x="309" y="1770"/>
                      </a:lnTo>
                      <a:lnTo>
                        <a:pt x="537" y="1753"/>
                      </a:lnTo>
                      <a:lnTo>
                        <a:pt x="792" y="1737"/>
                      </a:lnTo>
                      <a:lnTo>
                        <a:pt x="885" y="1731"/>
                      </a:lnTo>
                      <a:lnTo>
                        <a:pt x="887" y="1645"/>
                      </a:lnTo>
                      <a:lnTo>
                        <a:pt x="891" y="1548"/>
                      </a:lnTo>
                      <a:lnTo>
                        <a:pt x="897" y="1432"/>
                      </a:lnTo>
                      <a:lnTo>
                        <a:pt x="900" y="1300"/>
                      </a:lnTo>
                      <a:lnTo>
                        <a:pt x="904" y="1168"/>
                      </a:lnTo>
                      <a:lnTo>
                        <a:pt x="910" y="1043"/>
                      </a:lnTo>
                      <a:lnTo>
                        <a:pt x="915" y="867"/>
                      </a:lnTo>
                      <a:lnTo>
                        <a:pt x="329" y="198"/>
                      </a:lnTo>
                      <a:close/>
                    </a:path>
                  </a:pathLst>
                </a:custGeom>
                <a:solidFill>
                  <a:srgbClr val="000080"/>
                </a:solidFill>
                <a:ln w="3175">
                  <a:solidFill>
                    <a:srgbClr val="000000"/>
                  </a:solidFill>
                  <a:prstDash val="solid"/>
                  <a:round/>
                  <a:headEnd/>
                  <a:tailEnd/>
                </a:ln>
              </p:spPr>
              <p:txBody>
                <a:bodyPr/>
                <a:lstStyle/>
                <a:p>
                  <a:endParaRPr lang="en-US"/>
                </a:p>
              </p:txBody>
            </p:sp>
            <p:grpSp>
              <p:nvGrpSpPr>
                <p:cNvPr id="5" name="Group 26"/>
                <p:cNvGrpSpPr>
                  <a:grpSpLocks/>
                </p:cNvGrpSpPr>
                <p:nvPr/>
              </p:nvGrpSpPr>
              <p:grpSpPr bwMode="auto">
                <a:xfrm>
                  <a:off x="1568" y="1940"/>
                  <a:ext cx="630" cy="1051"/>
                  <a:chOff x="1568" y="1940"/>
                  <a:chExt cx="630" cy="1051"/>
                </a:xfrm>
              </p:grpSpPr>
              <p:sp>
                <p:nvSpPr>
                  <p:cNvPr id="7186" name="Freeform 18"/>
                  <p:cNvSpPr>
                    <a:spLocks/>
                  </p:cNvSpPr>
                  <p:nvPr/>
                </p:nvSpPr>
                <p:spPr bwMode="auto">
                  <a:xfrm>
                    <a:off x="1568" y="1940"/>
                    <a:ext cx="630" cy="1051"/>
                  </a:xfrm>
                  <a:custGeom>
                    <a:avLst/>
                    <a:gdLst/>
                    <a:ahLst/>
                    <a:cxnLst>
                      <a:cxn ang="0">
                        <a:pos x="105" y="577"/>
                      </a:cxn>
                      <a:cxn ang="0">
                        <a:pos x="112" y="528"/>
                      </a:cxn>
                      <a:cxn ang="0">
                        <a:pos x="0" y="391"/>
                      </a:cxn>
                      <a:cxn ang="0">
                        <a:pos x="95" y="428"/>
                      </a:cxn>
                      <a:cxn ang="0">
                        <a:pos x="64" y="282"/>
                      </a:cxn>
                      <a:cxn ang="0">
                        <a:pos x="140" y="284"/>
                      </a:cxn>
                      <a:cxn ang="0">
                        <a:pos x="278" y="401"/>
                      </a:cxn>
                      <a:cxn ang="0">
                        <a:pos x="322" y="376"/>
                      </a:cxn>
                      <a:cxn ang="0">
                        <a:pos x="347" y="349"/>
                      </a:cxn>
                      <a:cxn ang="0">
                        <a:pos x="395" y="342"/>
                      </a:cxn>
                      <a:cxn ang="0">
                        <a:pos x="428" y="321"/>
                      </a:cxn>
                      <a:cxn ang="0">
                        <a:pos x="462" y="262"/>
                      </a:cxn>
                      <a:cxn ang="0">
                        <a:pos x="461" y="120"/>
                      </a:cxn>
                      <a:cxn ang="0">
                        <a:pos x="502" y="238"/>
                      </a:cxn>
                      <a:cxn ang="0">
                        <a:pos x="515" y="140"/>
                      </a:cxn>
                      <a:cxn ang="0">
                        <a:pos x="533" y="302"/>
                      </a:cxn>
                      <a:cxn ang="0">
                        <a:pos x="608" y="398"/>
                      </a:cxn>
                      <a:cxn ang="0">
                        <a:pos x="795" y="495"/>
                      </a:cxn>
                      <a:cxn ang="0">
                        <a:pos x="960" y="603"/>
                      </a:cxn>
                      <a:cxn ang="0">
                        <a:pos x="1025" y="700"/>
                      </a:cxn>
                      <a:cxn ang="0">
                        <a:pos x="924" y="748"/>
                      </a:cxn>
                      <a:cxn ang="0">
                        <a:pos x="901" y="1023"/>
                      </a:cxn>
                      <a:cxn ang="0">
                        <a:pos x="926" y="1212"/>
                      </a:cxn>
                      <a:cxn ang="0">
                        <a:pos x="890" y="1246"/>
                      </a:cxn>
                      <a:cxn ang="0">
                        <a:pos x="797" y="1235"/>
                      </a:cxn>
                      <a:cxn ang="0">
                        <a:pos x="866" y="1439"/>
                      </a:cxn>
                      <a:cxn ang="0">
                        <a:pos x="994" y="1708"/>
                      </a:cxn>
                      <a:cxn ang="0">
                        <a:pos x="1211" y="2028"/>
                      </a:cxn>
                      <a:cxn ang="0">
                        <a:pos x="1264" y="2258"/>
                      </a:cxn>
                      <a:cxn ang="0">
                        <a:pos x="1356" y="2617"/>
                      </a:cxn>
                      <a:cxn ang="0">
                        <a:pos x="1468" y="2829"/>
                      </a:cxn>
                      <a:cxn ang="0">
                        <a:pos x="1554" y="2871"/>
                      </a:cxn>
                      <a:cxn ang="0">
                        <a:pos x="1678" y="2912"/>
                      </a:cxn>
                      <a:cxn ang="0">
                        <a:pos x="1810" y="2997"/>
                      </a:cxn>
                      <a:cxn ang="0">
                        <a:pos x="1880" y="3063"/>
                      </a:cxn>
                      <a:cxn ang="0">
                        <a:pos x="1887" y="3127"/>
                      </a:cxn>
                      <a:cxn ang="0">
                        <a:pos x="1762" y="3152"/>
                      </a:cxn>
                      <a:cxn ang="0">
                        <a:pos x="1272" y="3150"/>
                      </a:cxn>
                      <a:cxn ang="0">
                        <a:pos x="1198" y="3137"/>
                      </a:cxn>
                      <a:cxn ang="0">
                        <a:pos x="1161" y="2652"/>
                      </a:cxn>
                      <a:cxn ang="0">
                        <a:pos x="1117" y="2364"/>
                      </a:cxn>
                      <a:cxn ang="0">
                        <a:pos x="1034" y="2318"/>
                      </a:cxn>
                      <a:cxn ang="0">
                        <a:pos x="875" y="2303"/>
                      </a:cxn>
                      <a:cxn ang="0">
                        <a:pos x="595" y="2321"/>
                      </a:cxn>
                      <a:cxn ang="0">
                        <a:pos x="531" y="2306"/>
                      </a:cxn>
                      <a:cxn ang="0">
                        <a:pos x="494" y="2266"/>
                      </a:cxn>
                      <a:cxn ang="0">
                        <a:pos x="465" y="2187"/>
                      </a:cxn>
                      <a:cxn ang="0">
                        <a:pos x="397" y="1994"/>
                      </a:cxn>
                      <a:cxn ang="0">
                        <a:pos x="319" y="1826"/>
                      </a:cxn>
                      <a:cxn ang="0">
                        <a:pos x="292" y="1738"/>
                      </a:cxn>
                      <a:cxn ang="0">
                        <a:pos x="264" y="1290"/>
                      </a:cxn>
                      <a:cxn ang="0">
                        <a:pos x="227" y="939"/>
                      </a:cxn>
                      <a:cxn ang="0">
                        <a:pos x="176" y="739"/>
                      </a:cxn>
                    </a:cxnLst>
                    <a:rect l="0" t="0" r="r" b="b"/>
                    <a:pathLst>
                      <a:path w="1888" h="3152">
                        <a:moveTo>
                          <a:pt x="149" y="684"/>
                        </a:moveTo>
                        <a:lnTo>
                          <a:pt x="128" y="642"/>
                        </a:lnTo>
                        <a:lnTo>
                          <a:pt x="105" y="577"/>
                        </a:lnTo>
                        <a:lnTo>
                          <a:pt x="73" y="520"/>
                        </a:lnTo>
                        <a:lnTo>
                          <a:pt x="0" y="449"/>
                        </a:lnTo>
                        <a:lnTo>
                          <a:pt x="112" y="528"/>
                        </a:lnTo>
                        <a:lnTo>
                          <a:pt x="118" y="514"/>
                        </a:lnTo>
                        <a:lnTo>
                          <a:pt x="124" y="505"/>
                        </a:lnTo>
                        <a:lnTo>
                          <a:pt x="0" y="391"/>
                        </a:lnTo>
                        <a:lnTo>
                          <a:pt x="61" y="425"/>
                        </a:lnTo>
                        <a:lnTo>
                          <a:pt x="31" y="330"/>
                        </a:lnTo>
                        <a:lnTo>
                          <a:pt x="95" y="428"/>
                        </a:lnTo>
                        <a:lnTo>
                          <a:pt x="164" y="470"/>
                        </a:lnTo>
                        <a:lnTo>
                          <a:pt x="179" y="464"/>
                        </a:lnTo>
                        <a:lnTo>
                          <a:pt x="64" y="282"/>
                        </a:lnTo>
                        <a:lnTo>
                          <a:pt x="136" y="337"/>
                        </a:lnTo>
                        <a:lnTo>
                          <a:pt x="214" y="461"/>
                        </a:lnTo>
                        <a:lnTo>
                          <a:pt x="140" y="284"/>
                        </a:lnTo>
                        <a:lnTo>
                          <a:pt x="258" y="403"/>
                        </a:lnTo>
                        <a:lnTo>
                          <a:pt x="185" y="269"/>
                        </a:lnTo>
                        <a:lnTo>
                          <a:pt x="278" y="401"/>
                        </a:lnTo>
                        <a:lnTo>
                          <a:pt x="297" y="382"/>
                        </a:lnTo>
                        <a:lnTo>
                          <a:pt x="195" y="211"/>
                        </a:lnTo>
                        <a:lnTo>
                          <a:pt x="322" y="376"/>
                        </a:lnTo>
                        <a:lnTo>
                          <a:pt x="340" y="376"/>
                        </a:lnTo>
                        <a:lnTo>
                          <a:pt x="253" y="229"/>
                        </a:lnTo>
                        <a:lnTo>
                          <a:pt x="347" y="349"/>
                        </a:lnTo>
                        <a:lnTo>
                          <a:pt x="290" y="204"/>
                        </a:lnTo>
                        <a:lnTo>
                          <a:pt x="351" y="302"/>
                        </a:lnTo>
                        <a:lnTo>
                          <a:pt x="395" y="342"/>
                        </a:lnTo>
                        <a:lnTo>
                          <a:pt x="336" y="157"/>
                        </a:lnTo>
                        <a:lnTo>
                          <a:pt x="383" y="272"/>
                        </a:lnTo>
                        <a:lnTo>
                          <a:pt x="428" y="321"/>
                        </a:lnTo>
                        <a:lnTo>
                          <a:pt x="363" y="21"/>
                        </a:lnTo>
                        <a:lnTo>
                          <a:pt x="427" y="184"/>
                        </a:lnTo>
                        <a:lnTo>
                          <a:pt x="462" y="262"/>
                        </a:lnTo>
                        <a:lnTo>
                          <a:pt x="434" y="147"/>
                        </a:lnTo>
                        <a:lnTo>
                          <a:pt x="490" y="311"/>
                        </a:lnTo>
                        <a:lnTo>
                          <a:pt x="461" y="120"/>
                        </a:lnTo>
                        <a:lnTo>
                          <a:pt x="494" y="0"/>
                        </a:lnTo>
                        <a:lnTo>
                          <a:pt x="474" y="134"/>
                        </a:lnTo>
                        <a:lnTo>
                          <a:pt x="502" y="238"/>
                        </a:lnTo>
                        <a:lnTo>
                          <a:pt x="505" y="119"/>
                        </a:lnTo>
                        <a:lnTo>
                          <a:pt x="548" y="80"/>
                        </a:lnTo>
                        <a:lnTo>
                          <a:pt x="515" y="140"/>
                        </a:lnTo>
                        <a:lnTo>
                          <a:pt x="521" y="275"/>
                        </a:lnTo>
                        <a:lnTo>
                          <a:pt x="545" y="211"/>
                        </a:lnTo>
                        <a:lnTo>
                          <a:pt x="533" y="302"/>
                        </a:lnTo>
                        <a:lnTo>
                          <a:pt x="557" y="336"/>
                        </a:lnTo>
                        <a:lnTo>
                          <a:pt x="586" y="380"/>
                        </a:lnTo>
                        <a:lnTo>
                          <a:pt x="608" y="398"/>
                        </a:lnTo>
                        <a:lnTo>
                          <a:pt x="660" y="425"/>
                        </a:lnTo>
                        <a:lnTo>
                          <a:pt x="745" y="468"/>
                        </a:lnTo>
                        <a:lnTo>
                          <a:pt x="795" y="495"/>
                        </a:lnTo>
                        <a:lnTo>
                          <a:pt x="852" y="523"/>
                        </a:lnTo>
                        <a:lnTo>
                          <a:pt x="905" y="559"/>
                        </a:lnTo>
                        <a:lnTo>
                          <a:pt x="960" y="603"/>
                        </a:lnTo>
                        <a:lnTo>
                          <a:pt x="1004" y="650"/>
                        </a:lnTo>
                        <a:lnTo>
                          <a:pt x="1019" y="681"/>
                        </a:lnTo>
                        <a:lnTo>
                          <a:pt x="1025" y="700"/>
                        </a:lnTo>
                        <a:lnTo>
                          <a:pt x="1019" y="712"/>
                        </a:lnTo>
                        <a:lnTo>
                          <a:pt x="993" y="727"/>
                        </a:lnTo>
                        <a:lnTo>
                          <a:pt x="924" y="748"/>
                        </a:lnTo>
                        <a:lnTo>
                          <a:pt x="858" y="766"/>
                        </a:lnTo>
                        <a:lnTo>
                          <a:pt x="858" y="850"/>
                        </a:lnTo>
                        <a:lnTo>
                          <a:pt x="901" y="1023"/>
                        </a:lnTo>
                        <a:lnTo>
                          <a:pt x="917" y="1094"/>
                        </a:lnTo>
                        <a:lnTo>
                          <a:pt x="928" y="1194"/>
                        </a:lnTo>
                        <a:lnTo>
                          <a:pt x="926" y="1212"/>
                        </a:lnTo>
                        <a:lnTo>
                          <a:pt x="919" y="1228"/>
                        </a:lnTo>
                        <a:lnTo>
                          <a:pt x="905" y="1238"/>
                        </a:lnTo>
                        <a:lnTo>
                          <a:pt x="890" y="1246"/>
                        </a:lnTo>
                        <a:lnTo>
                          <a:pt x="876" y="1247"/>
                        </a:lnTo>
                        <a:lnTo>
                          <a:pt x="831" y="1240"/>
                        </a:lnTo>
                        <a:lnTo>
                          <a:pt x="797" y="1235"/>
                        </a:lnTo>
                        <a:lnTo>
                          <a:pt x="793" y="1281"/>
                        </a:lnTo>
                        <a:lnTo>
                          <a:pt x="808" y="1325"/>
                        </a:lnTo>
                        <a:lnTo>
                          <a:pt x="866" y="1439"/>
                        </a:lnTo>
                        <a:lnTo>
                          <a:pt x="896" y="1506"/>
                        </a:lnTo>
                        <a:lnTo>
                          <a:pt x="934" y="1589"/>
                        </a:lnTo>
                        <a:lnTo>
                          <a:pt x="994" y="1708"/>
                        </a:lnTo>
                        <a:lnTo>
                          <a:pt x="1013" y="1806"/>
                        </a:lnTo>
                        <a:lnTo>
                          <a:pt x="1122" y="1934"/>
                        </a:lnTo>
                        <a:lnTo>
                          <a:pt x="1211" y="2028"/>
                        </a:lnTo>
                        <a:lnTo>
                          <a:pt x="1223" y="2075"/>
                        </a:lnTo>
                        <a:lnTo>
                          <a:pt x="1249" y="2172"/>
                        </a:lnTo>
                        <a:lnTo>
                          <a:pt x="1264" y="2258"/>
                        </a:lnTo>
                        <a:lnTo>
                          <a:pt x="1284" y="2346"/>
                        </a:lnTo>
                        <a:lnTo>
                          <a:pt x="1321" y="2508"/>
                        </a:lnTo>
                        <a:lnTo>
                          <a:pt x="1356" y="2617"/>
                        </a:lnTo>
                        <a:lnTo>
                          <a:pt x="1421" y="2777"/>
                        </a:lnTo>
                        <a:lnTo>
                          <a:pt x="1444" y="2805"/>
                        </a:lnTo>
                        <a:lnTo>
                          <a:pt x="1468" y="2829"/>
                        </a:lnTo>
                        <a:lnTo>
                          <a:pt x="1491" y="2849"/>
                        </a:lnTo>
                        <a:lnTo>
                          <a:pt x="1509" y="2862"/>
                        </a:lnTo>
                        <a:lnTo>
                          <a:pt x="1554" y="2871"/>
                        </a:lnTo>
                        <a:lnTo>
                          <a:pt x="1577" y="2874"/>
                        </a:lnTo>
                        <a:lnTo>
                          <a:pt x="1624" y="2892"/>
                        </a:lnTo>
                        <a:lnTo>
                          <a:pt x="1678" y="2912"/>
                        </a:lnTo>
                        <a:lnTo>
                          <a:pt x="1724" y="2935"/>
                        </a:lnTo>
                        <a:lnTo>
                          <a:pt x="1765" y="2963"/>
                        </a:lnTo>
                        <a:lnTo>
                          <a:pt x="1810" y="2997"/>
                        </a:lnTo>
                        <a:lnTo>
                          <a:pt x="1839" y="3019"/>
                        </a:lnTo>
                        <a:lnTo>
                          <a:pt x="1868" y="3046"/>
                        </a:lnTo>
                        <a:lnTo>
                          <a:pt x="1880" y="3063"/>
                        </a:lnTo>
                        <a:lnTo>
                          <a:pt x="1888" y="3089"/>
                        </a:lnTo>
                        <a:lnTo>
                          <a:pt x="1887" y="3104"/>
                        </a:lnTo>
                        <a:lnTo>
                          <a:pt x="1887" y="3127"/>
                        </a:lnTo>
                        <a:lnTo>
                          <a:pt x="1873" y="3130"/>
                        </a:lnTo>
                        <a:lnTo>
                          <a:pt x="1842" y="3134"/>
                        </a:lnTo>
                        <a:lnTo>
                          <a:pt x="1762" y="3152"/>
                        </a:lnTo>
                        <a:lnTo>
                          <a:pt x="1646" y="3137"/>
                        </a:lnTo>
                        <a:lnTo>
                          <a:pt x="1449" y="3150"/>
                        </a:lnTo>
                        <a:lnTo>
                          <a:pt x="1272" y="3150"/>
                        </a:lnTo>
                        <a:lnTo>
                          <a:pt x="1227" y="3146"/>
                        </a:lnTo>
                        <a:lnTo>
                          <a:pt x="1210" y="3143"/>
                        </a:lnTo>
                        <a:lnTo>
                          <a:pt x="1198" y="3137"/>
                        </a:lnTo>
                        <a:lnTo>
                          <a:pt x="1192" y="3094"/>
                        </a:lnTo>
                        <a:lnTo>
                          <a:pt x="1182" y="2951"/>
                        </a:lnTo>
                        <a:lnTo>
                          <a:pt x="1161" y="2652"/>
                        </a:lnTo>
                        <a:lnTo>
                          <a:pt x="1152" y="2521"/>
                        </a:lnTo>
                        <a:lnTo>
                          <a:pt x="1133" y="2410"/>
                        </a:lnTo>
                        <a:lnTo>
                          <a:pt x="1117" y="2364"/>
                        </a:lnTo>
                        <a:lnTo>
                          <a:pt x="1098" y="2342"/>
                        </a:lnTo>
                        <a:lnTo>
                          <a:pt x="1072" y="2331"/>
                        </a:lnTo>
                        <a:lnTo>
                          <a:pt x="1034" y="2318"/>
                        </a:lnTo>
                        <a:lnTo>
                          <a:pt x="998" y="2309"/>
                        </a:lnTo>
                        <a:lnTo>
                          <a:pt x="945" y="2306"/>
                        </a:lnTo>
                        <a:lnTo>
                          <a:pt x="875" y="2303"/>
                        </a:lnTo>
                        <a:lnTo>
                          <a:pt x="743" y="2312"/>
                        </a:lnTo>
                        <a:lnTo>
                          <a:pt x="626" y="2319"/>
                        </a:lnTo>
                        <a:lnTo>
                          <a:pt x="595" y="2321"/>
                        </a:lnTo>
                        <a:lnTo>
                          <a:pt x="572" y="2319"/>
                        </a:lnTo>
                        <a:lnTo>
                          <a:pt x="548" y="2313"/>
                        </a:lnTo>
                        <a:lnTo>
                          <a:pt x="531" y="2306"/>
                        </a:lnTo>
                        <a:lnTo>
                          <a:pt x="516" y="2297"/>
                        </a:lnTo>
                        <a:lnTo>
                          <a:pt x="505" y="2284"/>
                        </a:lnTo>
                        <a:lnTo>
                          <a:pt x="494" y="2266"/>
                        </a:lnTo>
                        <a:lnTo>
                          <a:pt x="486" y="2245"/>
                        </a:lnTo>
                        <a:lnTo>
                          <a:pt x="475" y="2218"/>
                        </a:lnTo>
                        <a:lnTo>
                          <a:pt x="465" y="2187"/>
                        </a:lnTo>
                        <a:lnTo>
                          <a:pt x="440" y="2121"/>
                        </a:lnTo>
                        <a:lnTo>
                          <a:pt x="420" y="2058"/>
                        </a:lnTo>
                        <a:lnTo>
                          <a:pt x="397" y="1994"/>
                        </a:lnTo>
                        <a:lnTo>
                          <a:pt x="373" y="1936"/>
                        </a:lnTo>
                        <a:lnTo>
                          <a:pt x="341" y="1867"/>
                        </a:lnTo>
                        <a:lnTo>
                          <a:pt x="319" y="1826"/>
                        </a:lnTo>
                        <a:lnTo>
                          <a:pt x="303" y="1791"/>
                        </a:lnTo>
                        <a:lnTo>
                          <a:pt x="295" y="1771"/>
                        </a:lnTo>
                        <a:lnTo>
                          <a:pt x="292" y="1738"/>
                        </a:lnTo>
                        <a:lnTo>
                          <a:pt x="286" y="1640"/>
                        </a:lnTo>
                        <a:lnTo>
                          <a:pt x="272" y="1400"/>
                        </a:lnTo>
                        <a:lnTo>
                          <a:pt x="264" y="1290"/>
                        </a:lnTo>
                        <a:lnTo>
                          <a:pt x="278" y="1191"/>
                        </a:lnTo>
                        <a:lnTo>
                          <a:pt x="286" y="1093"/>
                        </a:lnTo>
                        <a:lnTo>
                          <a:pt x="227" y="939"/>
                        </a:lnTo>
                        <a:lnTo>
                          <a:pt x="207" y="864"/>
                        </a:lnTo>
                        <a:lnTo>
                          <a:pt x="190" y="797"/>
                        </a:lnTo>
                        <a:lnTo>
                          <a:pt x="176" y="739"/>
                        </a:lnTo>
                        <a:lnTo>
                          <a:pt x="149" y="684"/>
                        </a:lnTo>
                        <a:close/>
                      </a:path>
                    </a:pathLst>
                  </a:custGeom>
                  <a:solidFill>
                    <a:srgbClr val="DFDFFF"/>
                  </a:solidFill>
                  <a:ln w="3175">
                    <a:solidFill>
                      <a:srgbClr val="000000"/>
                    </a:solidFill>
                    <a:prstDash val="solid"/>
                    <a:round/>
                    <a:headEnd/>
                    <a:tailEnd/>
                  </a:ln>
                </p:spPr>
                <p:txBody>
                  <a:bodyPr/>
                  <a:lstStyle/>
                  <a:p>
                    <a:endParaRPr lang="en-US"/>
                  </a:p>
                </p:txBody>
              </p:sp>
              <p:grpSp>
                <p:nvGrpSpPr>
                  <p:cNvPr id="6" name="Group 25"/>
                  <p:cNvGrpSpPr>
                    <a:grpSpLocks/>
                  </p:cNvGrpSpPr>
                  <p:nvPr/>
                </p:nvGrpSpPr>
                <p:grpSpPr bwMode="auto">
                  <a:xfrm>
                    <a:off x="1700" y="2077"/>
                    <a:ext cx="184" cy="502"/>
                    <a:chOff x="1700" y="2077"/>
                    <a:chExt cx="184" cy="502"/>
                  </a:xfrm>
                </p:grpSpPr>
                <p:grpSp>
                  <p:nvGrpSpPr>
                    <p:cNvPr id="7" name="Group 21"/>
                    <p:cNvGrpSpPr>
                      <a:grpSpLocks/>
                    </p:cNvGrpSpPr>
                    <p:nvPr/>
                  </p:nvGrpSpPr>
                  <p:grpSpPr bwMode="auto">
                    <a:xfrm>
                      <a:off x="1736" y="2077"/>
                      <a:ext cx="44" cy="102"/>
                      <a:chOff x="1736" y="2077"/>
                      <a:chExt cx="44" cy="102"/>
                    </a:xfrm>
                  </p:grpSpPr>
                  <p:sp>
                    <p:nvSpPr>
                      <p:cNvPr id="7187" name="Oval 19"/>
                      <p:cNvSpPr>
                        <a:spLocks noChangeArrowheads="1"/>
                      </p:cNvSpPr>
                      <p:nvPr/>
                    </p:nvSpPr>
                    <p:spPr bwMode="auto">
                      <a:xfrm>
                        <a:off x="1766" y="2104"/>
                        <a:ext cx="14" cy="75"/>
                      </a:xfrm>
                      <a:prstGeom prst="ellipse">
                        <a:avLst/>
                      </a:prstGeom>
                      <a:solidFill>
                        <a:srgbClr val="DFDFFF"/>
                      </a:solidFill>
                      <a:ln w="3175">
                        <a:solidFill>
                          <a:srgbClr val="000000"/>
                        </a:solidFill>
                        <a:round/>
                        <a:headEnd/>
                        <a:tailEnd/>
                      </a:ln>
                    </p:spPr>
                    <p:txBody>
                      <a:bodyPr/>
                      <a:lstStyle/>
                      <a:p>
                        <a:endParaRPr lang="en-US"/>
                      </a:p>
                    </p:txBody>
                  </p:sp>
                  <p:sp>
                    <p:nvSpPr>
                      <p:cNvPr id="7188" name="Freeform 20"/>
                      <p:cNvSpPr>
                        <a:spLocks/>
                      </p:cNvSpPr>
                      <p:nvPr/>
                    </p:nvSpPr>
                    <p:spPr bwMode="auto">
                      <a:xfrm>
                        <a:off x="1736" y="2077"/>
                        <a:ext cx="21" cy="44"/>
                      </a:xfrm>
                      <a:custGeom>
                        <a:avLst/>
                        <a:gdLst/>
                        <a:ahLst/>
                        <a:cxnLst>
                          <a:cxn ang="0">
                            <a:pos x="65" y="0"/>
                          </a:cxn>
                          <a:cxn ang="0">
                            <a:pos x="47" y="3"/>
                          </a:cxn>
                          <a:cxn ang="0">
                            <a:pos x="32" y="9"/>
                          </a:cxn>
                          <a:cxn ang="0">
                            <a:pos x="21" y="20"/>
                          </a:cxn>
                          <a:cxn ang="0">
                            <a:pos x="12" y="34"/>
                          </a:cxn>
                          <a:cxn ang="0">
                            <a:pos x="6" y="58"/>
                          </a:cxn>
                          <a:cxn ang="0">
                            <a:pos x="1" y="86"/>
                          </a:cxn>
                          <a:cxn ang="0">
                            <a:pos x="0" y="107"/>
                          </a:cxn>
                          <a:cxn ang="0">
                            <a:pos x="2" y="133"/>
                          </a:cxn>
                        </a:cxnLst>
                        <a:rect l="0" t="0" r="r" b="b"/>
                        <a:pathLst>
                          <a:path w="65" h="133">
                            <a:moveTo>
                              <a:pt x="65" y="0"/>
                            </a:moveTo>
                            <a:lnTo>
                              <a:pt x="47" y="3"/>
                            </a:lnTo>
                            <a:lnTo>
                              <a:pt x="32" y="9"/>
                            </a:lnTo>
                            <a:lnTo>
                              <a:pt x="21" y="20"/>
                            </a:lnTo>
                            <a:lnTo>
                              <a:pt x="12" y="34"/>
                            </a:lnTo>
                            <a:lnTo>
                              <a:pt x="6" y="58"/>
                            </a:lnTo>
                            <a:lnTo>
                              <a:pt x="1" y="86"/>
                            </a:lnTo>
                            <a:lnTo>
                              <a:pt x="0" y="107"/>
                            </a:lnTo>
                            <a:lnTo>
                              <a:pt x="2" y="133"/>
                            </a:lnTo>
                          </a:path>
                        </a:pathLst>
                      </a:custGeom>
                      <a:noFill/>
                      <a:ln w="3175">
                        <a:solidFill>
                          <a:srgbClr val="000000"/>
                        </a:solidFill>
                        <a:prstDash val="solid"/>
                        <a:round/>
                        <a:headEnd/>
                        <a:tailEnd/>
                      </a:ln>
                    </p:spPr>
                    <p:txBody>
                      <a:bodyPr/>
                      <a:lstStyle/>
                      <a:p>
                        <a:endParaRPr lang="en-US"/>
                      </a:p>
                    </p:txBody>
                  </p:sp>
                </p:grpSp>
                <p:grpSp>
                  <p:nvGrpSpPr>
                    <p:cNvPr id="8" name="Group 24"/>
                    <p:cNvGrpSpPr>
                      <a:grpSpLocks/>
                    </p:cNvGrpSpPr>
                    <p:nvPr/>
                  </p:nvGrpSpPr>
                  <p:grpSpPr bwMode="auto">
                    <a:xfrm>
                      <a:off x="1700" y="2285"/>
                      <a:ext cx="184" cy="294"/>
                      <a:chOff x="1700" y="2285"/>
                      <a:chExt cx="184" cy="294"/>
                    </a:xfrm>
                  </p:grpSpPr>
                  <p:sp>
                    <p:nvSpPr>
                      <p:cNvPr id="7190" name="Freeform 22"/>
                      <p:cNvSpPr>
                        <a:spLocks/>
                      </p:cNvSpPr>
                      <p:nvPr/>
                    </p:nvSpPr>
                    <p:spPr bwMode="auto">
                      <a:xfrm>
                        <a:off x="1700" y="2452"/>
                        <a:ext cx="184" cy="127"/>
                      </a:xfrm>
                      <a:custGeom>
                        <a:avLst/>
                        <a:gdLst/>
                        <a:ahLst/>
                        <a:cxnLst>
                          <a:cxn ang="0">
                            <a:pos x="0" y="0"/>
                          </a:cxn>
                          <a:cxn ang="0">
                            <a:pos x="27" y="40"/>
                          </a:cxn>
                          <a:cxn ang="0">
                            <a:pos x="74" y="107"/>
                          </a:cxn>
                          <a:cxn ang="0">
                            <a:pos x="126" y="176"/>
                          </a:cxn>
                          <a:cxn ang="0">
                            <a:pos x="174" y="240"/>
                          </a:cxn>
                          <a:cxn ang="0">
                            <a:pos x="215" y="287"/>
                          </a:cxn>
                          <a:cxn ang="0">
                            <a:pos x="249" y="320"/>
                          </a:cxn>
                          <a:cxn ang="0">
                            <a:pos x="270" y="339"/>
                          </a:cxn>
                          <a:cxn ang="0">
                            <a:pos x="295" y="354"/>
                          </a:cxn>
                          <a:cxn ang="0">
                            <a:pos x="328" y="364"/>
                          </a:cxn>
                          <a:cxn ang="0">
                            <a:pos x="367" y="375"/>
                          </a:cxn>
                          <a:cxn ang="0">
                            <a:pos x="402" y="381"/>
                          </a:cxn>
                          <a:cxn ang="0">
                            <a:pos x="426" y="379"/>
                          </a:cxn>
                          <a:cxn ang="0">
                            <a:pos x="453" y="366"/>
                          </a:cxn>
                          <a:cxn ang="0">
                            <a:pos x="476" y="354"/>
                          </a:cxn>
                          <a:cxn ang="0">
                            <a:pos x="499" y="345"/>
                          </a:cxn>
                          <a:cxn ang="0">
                            <a:pos x="524" y="338"/>
                          </a:cxn>
                          <a:cxn ang="0">
                            <a:pos x="553" y="335"/>
                          </a:cxn>
                        </a:cxnLst>
                        <a:rect l="0" t="0" r="r" b="b"/>
                        <a:pathLst>
                          <a:path w="553" h="381">
                            <a:moveTo>
                              <a:pt x="0" y="0"/>
                            </a:moveTo>
                            <a:lnTo>
                              <a:pt x="27" y="40"/>
                            </a:lnTo>
                            <a:lnTo>
                              <a:pt x="74" y="107"/>
                            </a:lnTo>
                            <a:lnTo>
                              <a:pt x="126" y="176"/>
                            </a:lnTo>
                            <a:lnTo>
                              <a:pt x="174" y="240"/>
                            </a:lnTo>
                            <a:lnTo>
                              <a:pt x="215" y="287"/>
                            </a:lnTo>
                            <a:lnTo>
                              <a:pt x="249" y="320"/>
                            </a:lnTo>
                            <a:lnTo>
                              <a:pt x="270" y="339"/>
                            </a:lnTo>
                            <a:lnTo>
                              <a:pt x="295" y="354"/>
                            </a:lnTo>
                            <a:lnTo>
                              <a:pt x="328" y="364"/>
                            </a:lnTo>
                            <a:lnTo>
                              <a:pt x="367" y="375"/>
                            </a:lnTo>
                            <a:lnTo>
                              <a:pt x="402" y="381"/>
                            </a:lnTo>
                            <a:lnTo>
                              <a:pt x="426" y="379"/>
                            </a:lnTo>
                            <a:lnTo>
                              <a:pt x="453" y="366"/>
                            </a:lnTo>
                            <a:lnTo>
                              <a:pt x="476" y="354"/>
                            </a:lnTo>
                            <a:lnTo>
                              <a:pt x="499" y="345"/>
                            </a:lnTo>
                            <a:lnTo>
                              <a:pt x="524" y="338"/>
                            </a:lnTo>
                            <a:lnTo>
                              <a:pt x="553" y="335"/>
                            </a:lnTo>
                          </a:path>
                        </a:pathLst>
                      </a:custGeom>
                      <a:noFill/>
                      <a:ln w="3175">
                        <a:solidFill>
                          <a:srgbClr val="000000"/>
                        </a:solidFill>
                        <a:prstDash val="solid"/>
                        <a:round/>
                        <a:headEnd/>
                        <a:tailEnd/>
                      </a:ln>
                    </p:spPr>
                    <p:txBody>
                      <a:bodyPr/>
                      <a:lstStyle/>
                      <a:p>
                        <a:endParaRPr lang="en-US"/>
                      </a:p>
                    </p:txBody>
                  </p:sp>
                  <p:sp>
                    <p:nvSpPr>
                      <p:cNvPr id="7191" name="Freeform 23"/>
                      <p:cNvSpPr>
                        <a:spLocks/>
                      </p:cNvSpPr>
                      <p:nvPr/>
                    </p:nvSpPr>
                    <p:spPr bwMode="auto">
                      <a:xfrm>
                        <a:off x="1726" y="2285"/>
                        <a:ext cx="107" cy="217"/>
                      </a:xfrm>
                      <a:custGeom>
                        <a:avLst/>
                        <a:gdLst/>
                        <a:ahLst/>
                        <a:cxnLst>
                          <a:cxn ang="0">
                            <a:pos x="320" y="244"/>
                          </a:cxn>
                          <a:cxn ang="0">
                            <a:pos x="309" y="199"/>
                          </a:cxn>
                          <a:cxn ang="0">
                            <a:pos x="304" y="161"/>
                          </a:cxn>
                          <a:cxn ang="0">
                            <a:pos x="302" y="113"/>
                          </a:cxn>
                          <a:cxn ang="0">
                            <a:pos x="305" y="85"/>
                          </a:cxn>
                          <a:cxn ang="0">
                            <a:pos x="310" y="61"/>
                          </a:cxn>
                          <a:cxn ang="0">
                            <a:pos x="308" y="30"/>
                          </a:cxn>
                          <a:cxn ang="0">
                            <a:pos x="302" y="6"/>
                          </a:cxn>
                          <a:cxn ang="0">
                            <a:pos x="296" y="3"/>
                          </a:cxn>
                          <a:cxn ang="0">
                            <a:pos x="290" y="6"/>
                          </a:cxn>
                          <a:cxn ang="0">
                            <a:pos x="275" y="30"/>
                          </a:cxn>
                          <a:cxn ang="0">
                            <a:pos x="257" y="51"/>
                          </a:cxn>
                          <a:cxn ang="0">
                            <a:pos x="232" y="51"/>
                          </a:cxn>
                          <a:cxn ang="0">
                            <a:pos x="221" y="24"/>
                          </a:cxn>
                          <a:cxn ang="0">
                            <a:pos x="211" y="8"/>
                          </a:cxn>
                          <a:cxn ang="0">
                            <a:pos x="191" y="5"/>
                          </a:cxn>
                          <a:cxn ang="0">
                            <a:pos x="171" y="0"/>
                          </a:cxn>
                          <a:cxn ang="0">
                            <a:pos x="160" y="24"/>
                          </a:cxn>
                          <a:cxn ang="0">
                            <a:pos x="153" y="49"/>
                          </a:cxn>
                          <a:cxn ang="0">
                            <a:pos x="122" y="49"/>
                          </a:cxn>
                          <a:cxn ang="0">
                            <a:pos x="115" y="39"/>
                          </a:cxn>
                          <a:cxn ang="0">
                            <a:pos x="104" y="24"/>
                          </a:cxn>
                          <a:cxn ang="0">
                            <a:pos x="93" y="18"/>
                          </a:cxn>
                          <a:cxn ang="0">
                            <a:pos x="83" y="19"/>
                          </a:cxn>
                          <a:cxn ang="0">
                            <a:pos x="72" y="27"/>
                          </a:cxn>
                          <a:cxn ang="0">
                            <a:pos x="66" y="39"/>
                          </a:cxn>
                          <a:cxn ang="0">
                            <a:pos x="66" y="112"/>
                          </a:cxn>
                          <a:cxn ang="0">
                            <a:pos x="49" y="106"/>
                          </a:cxn>
                          <a:cxn ang="0">
                            <a:pos x="26" y="98"/>
                          </a:cxn>
                          <a:cxn ang="0">
                            <a:pos x="8" y="101"/>
                          </a:cxn>
                          <a:cxn ang="0">
                            <a:pos x="6" y="109"/>
                          </a:cxn>
                          <a:cxn ang="0">
                            <a:pos x="6" y="122"/>
                          </a:cxn>
                          <a:cxn ang="0">
                            <a:pos x="13" y="156"/>
                          </a:cxn>
                          <a:cxn ang="0">
                            <a:pos x="23" y="193"/>
                          </a:cxn>
                          <a:cxn ang="0">
                            <a:pos x="28" y="214"/>
                          </a:cxn>
                          <a:cxn ang="0">
                            <a:pos x="0" y="354"/>
                          </a:cxn>
                          <a:cxn ang="0">
                            <a:pos x="13" y="369"/>
                          </a:cxn>
                          <a:cxn ang="0">
                            <a:pos x="40" y="390"/>
                          </a:cxn>
                          <a:cxn ang="0">
                            <a:pos x="121" y="449"/>
                          </a:cxn>
                          <a:cxn ang="0">
                            <a:pos x="151" y="449"/>
                          </a:cxn>
                          <a:cxn ang="0">
                            <a:pos x="193" y="497"/>
                          </a:cxn>
                          <a:cxn ang="0">
                            <a:pos x="303" y="650"/>
                          </a:cxn>
                        </a:cxnLst>
                        <a:rect l="0" t="0" r="r" b="b"/>
                        <a:pathLst>
                          <a:path w="320" h="650">
                            <a:moveTo>
                              <a:pt x="320" y="244"/>
                            </a:moveTo>
                            <a:lnTo>
                              <a:pt x="309" y="199"/>
                            </a:lnTo>
                            <a:lnTo>
                              <a:pt x="304" y="161"/>
                            </a:lnTo>
                            <a:lnTo>
                              <a:pt x="302" y="113"/>
                            </a:lnTo>
                            <a:lnTo>
                              <a:pt x="305" y="85"/>
                            </a:lnTo>
                            <a:lnTo>
                              <a:pt x="310" y="61"/>
                            </a:lnTo>
                            <a:lnTo>
                              <a:pt x="308" y="30"/>
                            </a:lnTo>
                            <a:lnTo>
                              <a:pt x="302" y="6"/>
                            </a:lnTo>
                            <a:lnTo>
                              <a:pt x="296" y="3"/>
                            </a:lnTo>
                            <a:lnTo>
                              <a:pt x="290" y="6"/>
                            </a:lnTo>
                            <a:lnTo>
                              <a:pt x="275" y="30"/>
                            </a:lnTo>
                            <a:lnTo>
                              <a:pt x="257" y="51"/>
                            </a:lnTo>
                            <a:lnTo>
                              <a:pt x="232" y="51"/>
                            </a:lnTo>
                            <a:lnTo>
                              <a:pt x="221" y="24"/>
                            </a:lnTo>
                            <a:lnTo>
                              <a:pt x="211" y="8"/>
                            </a:lnTo>
                            <a:lnTo>
                              <a:pt x="191" y="5"/>
                            </a:lnTo>
                            <a:lnTo>
                              <a:pt x="171" y="0"/>
                            </a:lnTo>
                            <a:lnTo>
                              <a:pt x="160" y="24"/>
                            </a:lnTo>
                            <a:lnTo>
                              <a:pt x="153" y="49"/>
                            </a:lnTo>
                            <a:lnTo>
                              <a:pt x="122" y="49"/>
                            </a:lnTo>
                            <a:lnTo>
                              <a:pt x="115" y="39"/>
                            </a:lnTo>
                            <a:lnTo>
                              <a:pt x="104" y="24"/>
                            </a:lnTo>
                            <a:lnTo>
                              <a:pt x="93" y="18"/>
                            </a:lnTo>
                            <a:lnTo>
                              <a:pt x="83" y="19"/>
                            </a:lnTo>
                            <a:lnTo>
                              <a:pt x="72" y="27"/>
                            </a:lnTo>
                            <a:lnTo>
                              <a:pt x="66" y="39"/>
                            </a:lnTo>
                            <a:lnTo>
                              <a:pt x="66" y="112"/>
                            </a:lnTo>
                            <a:lnTo>
                              <a:pt x="49" y="106"/>
                            </a:lnTo>
                            <a:lnTo>
                              <a:pt x="26" y="98"/>
                            </a:lnTo>
                            <a:lnTo>
                              <a:pt x="8" y="101"/>
                            </a:lnTo>
                            <a:lnTo>
                              <a:pt x="6" y="109"/>
                            </a:lnTo>
                            <a:lnTo>
                              <a:pt x="6" y="122"/>
                            </a:lnTo>
                            <a:lnTo>
                              <a:pt x="13" y="156"/>
                            </a:lnTo>
                            <a:lnTo>
                              <a:pt x="23" y="193"/>
                            </a:lnTo>
                            <a:lnTo>
                              <a:pt x="28" y="214"/>
                            </a:lnTo>
                            <a:lnTo>
                              <a:pt x="0" y="354"/>
                            </a:lnTo>
                            <a:lnTo>
                              <a:pt x="13" y="369"/>
                            </a:lnTo>
                            <a:lnTo>
                              <a:pt x="40" y="390"/>
                            </a:lnTo>
                            <a:lnTo>
                              <a:pt x="121" y="449"/>
                            </a:lnTo>
                            <a:lnTo>
                              <a:pt x="151" y="449"/>
                            </a:lnTo>
                            <a:lnTo>
                              <a:pt x="193" y="497"/>
                            </a:lnTo>
                            <a:lnTo>
                              <a:pt x="303" y="650"/>
                            </a:lnTo>
                          </a:path>
                        </a:pathLst>
                      </a:custGeom>
                      <a:noFill/>
                      <a:ln w="3175">
                        <a:solidFill>
                          <a:srgbClr val="000000"/>
                        </a:solidFill>
                        <a:prstDash val="solid"/>
                        <a:round/>
                        <a:headEnd/>
                        <a:tailEnd/>
                      </a:ln>
                    </p:spPr>
                    <p:txBody>
                      <a:bodyPr/>
                      <a:lstStyle/>
                      <a:p>
                        <a:endParaRPr lang="en-US"/>
                      </a:p>
                    </p:txBody>
                  </p:sp>
                </p:grpSp>
              </p:grpSp>
            </p:grpSp>
          </p:grpSp>
          <p:grpSp>
            <p:nvGrpSpPr>
              <p:cNvPr id="9" name="Group 56"/>
              <p:cNvGrpSpPr>
                <a:grpSpLocks/>
              </p:cNvGrpSpPr>
              <p:nvPr/>
            </p:nvGrpSpPr>
            <p:grpSpPr bwMode="auto">
              <a:xfrm>
                <a:off x="1898" y="2007"/>
                <a:ext cx="661" cy="990"/>
                <a:chOff x="1898" y="2007"/>
                <a:chExt cx="661" cy="990"/>
              </a:xfrm>
            </p:grpSpPr>
            <p:sp>
              <p:nvSpPr>
                <p:cNvPr id="7196" name="Freeform 28"/>
                <p:cNvSpPr>
                  <a:spLocks/>
                </p:cNvSpPr>
                <p:nvPr/>
              </p:nvSpPr>
              <p:spPr bwMode="auto">
                <a:xfrm>
                  <a:off x="1898" y="2478"/>
                  <a:ext cx="503" cy="519"/>
                </a:xfrm>
                <a:custGeom>
                  <a:avLst/>
                  <a:gdLst/>
                  <a:ahLst/>
                  <a:cxnLst>
                    <a:cxn ang="0">
                      <a:pos x="1510" y="1552"/>
                    </a:cxn>
                    <a:cxn ang="0">
                      <a:pos x="1510" y="752"/>
                    </a:cxn>
                    <a:cxn ang="0">
                      <a:pos x="1488" y="114"/>
                    </a:cxn>
                    <a:cxn ang="0">
                      <a:pos x="749" y="0"/>
                    </a:cxn>
                    <a:cxn ang="0">
                      <a:pos x="25" y="131"/>
                    </a:cxn>
                    <a:cxn ang="0">
                      <a:pos x="0" y="752"/>
                    </a:cxn>
                    <a:cxn ang="0">
                      <a:pos x="0" y="1540"/>
                    </a:cxn>
                    <a:cxn ang="0">
                      <a:pos x="127" y="1540"/>
                    </a:cxn>
                    <a:cxn ang="0">
                      <a:pos x="140" y="418"/>
                    </a:cxn>
                    <a:cxn ang="0">
                      <a:pos x="1370" y="418"/>
                    </a:cxn>
                    <a:cxn ang="0">
                      <a:pos x="1383" y="1557"/>
                    </a:cxn>
                    <a:cxn ang="0">
                      <a:pos x="1510" y="1552"/>
                    </a:cxn>
                  </a:cxnLst>
                  <a:rect l="0" t="0" r="r" b="b"/>
                  <a:pathLst>
                    <a:path w="1510" h="1557">
                      <a:moveTo>
                        <a:pt x="1510" y="1552"/>
                      </a:moveTo>
                      <a:lnTo>
                        <a:pt x="1510" y="752"/>
                      </a:lnTo>
                      <a:lnTo>
                        <a:pt x="1488" y="114"/>
                      </a:lnTo>
                      <a:lnTo>
                        <a:pt x="749" y="0"/>
                      </a:lnTo>
                      <a:lnTo>
                        <a:pt x="25" y="131"/>
                      </a:lnTo>
                      <a:lnTo>
                        <a:pt x="0" y="752"/>
                      </a:lnTo>
                      <a:lnTo>
                        <a:pt x="0" y="1540"/>
                      </a:lnTo>
                      <a:lnTo>
                        <a:pt x="127" y="1540"/>
                      </a:lnTo>
                      <a:lnTo>
                        <a:pt x="140" y="418"/>
                      </a:lnTo>
                      <a:lnTo>
                        <a:pt x="1370" y="418"/>
                      </a:lnTo>
                      <a:lnTo>
                        <a:pt x="1383" y="1557"/>
                      </a:lnTo>
                      <a:lnTo>
                        <a:pt x="1510" y="1552"/>
                      </a:lnTo>
                      <a:close/>
                    </a:path>
                  </a:pathLst>
                </a:custGeom>
                <a:solidFill>
                  <a:srgbClr val="000080"/>
                </a:solidFill>
                <a:ln w="3175">
                  <a:solidFill>
                    <a:srgbClr val="000000"/>
                  </a:solidFill>
                  <a:prstDash val="solid"/>
                  <a:round/>
                  <a:headEnd/>
                  <a:tailEnd/>
                </a:ln>
              </p:spPr>
              <p:txBody>
                <a:bodyPr/>
                <a:lstStyle/>
                <a:p>
                  <a:endParaRPr lang="en-US"/>
                </a:p>
              </p:txBody>
            </p:sp>
            <p:grpSp>
              <p:nvGrpSpPr>
                <p:cNvPr id="10" name="Group 55"/>
                <p:cNvGrpSpPr>
                  <a:grpSpLocks/>
                </p:cNvGrpSpPr>
                <p:nvPr/>
              </p:nvGrpSpPr>
              <p:grpSpPr bwMode="auto">
                <a:xfrm>
                  <a:off x="1958" y="2007"/>
                  <a:ext cx="601" cy="774"/>
                  <a:chOff x="1958" y="2007"/>
                  <a:chExt cx="601" cy="774"/>
                </a:xfrm>
              </p:grpSpPr>
              <p:grpSp>
                <p:nvGrpSpPr>
                  <p:cNvPr id="11" name="Group 45"/>
                  <p:cNvGrpSpPr>
                    <a:grpSpLocks/>
                  </p:cNvGrpSpPr>
                  <p:nvPr/>
                </p:nvGrpSpPr>
                <p:grpSpPr bwMode="auto">
                  <a:xfrm>
                    <a:off x="1958" y="2466"/>
                    <a:ext cx="212" cy="166"/>
                    <a:chOff x="1958" y="2466"/>
                    <a:chExt cx="212" cy="166"/>
                  </a:xfrm>
                </p:grpSpPr>
                <p:grpSp>
                  <p:nvGrpSpPr>
                    <p:cNvPr id="12" name="Group 32"/>
                    <p:cNvGrpSpPr>
                      <a:grpSpLocks/>
                    </p:cNvGrpSpPr>
                    <p:nvPr/>
                  </p:nvGrpSpPr>
                  <p:grpSpPr bwMode="auto">
                    <a:xfrm>
                      <a:off x="1958" y="2466"/>
                      <a:ext cx="212" cy="166"/>
                      <a:chOff x="1958" y="2466"/>
                      <a:chExt cx="212" cy="166"/>
                    </a:xfrm>
                  </p:grpSpPr>
                  <p:sp>
                    <p:nvSpPr>
                      <p:cNvPr id="7197" name="Freeform 29"/>
                      <p:cNvSpPr>
                        <a:spLocks/>
                      </p:cNvSpPr>
                      <p:nvPr/>
                    </p:nvSpPr>
                    <p:spPr bwMode="auto">
                      <a:xfrm>
                        <a:off x="1961" y="2466"/>
                        <a:ext cx="209" cy="138"/>
                      </a:xfrm>
                      <a:custGeom>
                        <a:avLst/>
                        <a:gdLst/>
                        <a:ahLst/>
                        <a:cxnLst>
                          <a:cxn ang="0">
                            <a:pos x="0" y="91"/>
                          </a:cxn>
                          <a:cxn ang="0">
                            <a:pos x="288" y="0"/>
                          </a:cxn>
                          <a:cxn ang="0">
                            <a:pos x="627" y="298"/>
                          </a:cxn>
                          <a:cxn ang="0">
                            <a:pos x="332" y="415"/>
                          </a:cxn>
                          <a:cxn ang="0">
                            <a:pos x="172" y="246"/>
                          </a:cxn>
                          <a:cxn ang="0">
                            <a:pos x="123" y="195"/>
                          </a:cxn>
                          <a:cxn ang="0">
                            <a:pos x="0" y="91"/>
                          </a:cxn>
                        </a:cxnLst>
                        <a:rect l="0" t="0" r="r" b="b"/>
                        <a:pathLst>
                          <a:path w="627" h="415">
                            <a:moveTo>
                              <a:pt x="0" y="91"/>
                            </a:moveTo>
                            <a:lnTo>
                              <a:pt x="288" y="0"/>
                            </a:lnTo>
                            <a:lnTo>
                              <a:pt x="627" y="298"/>
                            </a:lnTo>
                            <a:lnTo>
                              <a:pt x="332" y="415"/>
                            </a:lnTo>
                            <a:lnTo>
                              <a:pt x="172" y="246"/>
                            </a:lnTo>
                            <a:lnTo>
                              <a:pt x="123" y="195"/>
                            </a:lnTo>
                            <a:lnTo>
                              <a:pt x="0" y="91"/>
                            </a:lnTo>
                            <a:close/>
                          </a:path>
                        </a:pathLst>
                      </a:custGeom>
                      <a:solidFill>
                        <a:srgbClr val="C0C0C0"/>
                      </a:solidFill>
                      <a:ln w="3175">
                        <a:solidFill>
                          <a:srgbClr val="000000"/>
                        </a:solidFill>
                        <a:prstDash val="solid"/>
                        <a:round/>
                        <a:headEnd/>
                        <a:tailEnd/>
                      </a:ln>
                    </p:spPr>
                    <p:txBody>
                      <a:bodyPr/>
                      <a:lstStyle/>
                      <a:p>
                        <a:endParaRPr lang="en-US"/>
                      </a:p>
                    </p:txBody>
                  </p:sp>
                  <p:sp>
                    <p:nvSpPr>
                      <p:cNvPr id="7198" name="Freeform 30"/>
                      <p:cNvSpPr>
                        <a:spLocks/>
                      </p:cNvSpPr>
                      <p:nvPr/>
                    </p:nvSpPr>
                    <p:spPr bwMode="auto">
                      <a:xfrm>
                        <a:off x="2067" y="2565"/>
                        <a:ext cx="103" cy="67"/>
                      </a:xfrm>
                      <a:custGeom>
                        <a:avLst/>
                        <a:gdLst/>
                        <a:ahLst/>
                        <a:cxnLst>
                          <a:cxn ang="0">
                            <a:pos x="14" y="117"/>
                          </a:cxn>
                          <a:cxn ang="0">
                            <a:pos x="310" y="0"/>
                          </a:cxn>
                          <a:cxn ang="0">
                            <a:pos x="310" y="53"/>
                          </a:cxn>
                          <a:cxn ang="0">
                            <a:pos x="0" y="200"/>
                          </a:cxn>
                          <a:cxn ang="0">
                            <a:pos x="14" y="117"/>
                          </a:cxn>
                        </a:cxnLst>
                        <a:rect l="0" t="0" r="r" b="b"/>
                        <a:pathLst>
                          <a:path w="310" h="200">
                            <a:moveTo>
                              <a:pt x="14" y="117"/>
                            </a:moveTo>
                            <a:lnTo>
                              <a:pt x="310" y="0"/>
                            </a:lnTo>
                            <a:lnTo>
                              <a:pt x="310" y="53"/>
                            </a:lnTo>
                            <a:lnTo>
                              <a:pt x="0" y="200"/>
                            </a:lnTo>
                            <a:lnTo>
                              <a:pt x="14" y="117"/>
                            </a:lnTo>
                            <a:close/>
                          </a:path>
                        </a:pathLst>
                      </a:custGeom>
                      <a:solidFill>
                        <a:srgbClr val="C0C0C0"/>
                      </a:solidFill>
                      <a:ln w="3175">
                        <a:solidFill>
                          <a:srgbClr val="000000"/>
                        </a:solidFill>
                        <a:prstDash val="solid"/>
                        <a:round/>
                        <a:headEnd/>
                        <a:tailEnd/>
                      </a:ln>
                    </p:spPr>
                    <p:txBody>
                      <a:bodyPr/>
                      <a:lstStyle/>
                      <a:p>
                        <a:endParaRPr lang="en-US"/>
                      </a:p>
                    </p:txBody>
                  </p:sp>
                  <p:sp>
                    <p:nvSpPr>
                      <p:cNvPr id="7199" name="Freeform 31"/>
                      <p:cNvSpPr>
                        <a:spLocks/>
                      </p:cNvSpPr>
                      <p:nvPr/>
                    </p:nvSpPr>
                    <p:spPr bwMode="auto">
                      <a:xfrm>
                        <a:off x="1958" y="2495"/>
                        <a:ext cx="113" cy="137"/>
                      </a:xfrm>
                      <a:custGeom>
                        <a:avLst/>
                        <a:gdLst/>
                        <a:ahLst/>
                        <a:cxnLst>
                          <a:cxn ang="0">
                            <a:pos x="144" y="117"/>
                          </a:cxn>
                          <a:cxn ang="0">
                            <a:pos x="254" y="232"/>
                          </a:cxn>
                          <a:cxn ang="0">
                            <a:pos x="339" y="326"/>
                          </a:cxn>
                          <a:cxn ang="0">
                            <a:pos x="325" y="410"/>
                          </a:cxn>
                          <a:cxn ang="0">
                            <a:pos x="207" y="293"/>
                          </a:cxn>
                          <a:cxn ang="0">
                            <a:pos x="100" y="186"/>
                          </a:cxn>
                          <a:cxn ang="0">
                            <a:pos x="0" y="88"/>
                          </a:cxn>
                          <a:cxn ang="0">
                            <a:pos x="9" y="0"/>
                          </a:cxn>
                          <a:cxn ang="0">
                            <a:pos x="69" y="54"/>
                          </a:cxn>
                          <a:cxn ang="0">
                            <a:pos x="144" y="117"/>
                          </a:cxn>
                        </a:cxnLst>
                        <a:rect l="0" t="0" r="r" b="b"/>
                        <a:pathLst>
                          <a:path w="339" h="410">
                            <a:moveTo>
                              <a:pt x="144" y="117"/>
                            </a:moveTo>
                            <a:lnTo>
                              <a:pt x="254" y="232"/>
                            </a:lnTo>
                            <a:lnTo>
                              <a:pt x="339" y="326"/>
                            </a:lnTo>
                            <a:lnTo>
                              <a:pt x="325" y="410"/>
                            </a:lnTo>
                            <a:lnTo>
                              <a:pt x="207" y="293"/>
                            </a:lnTo>
                            <a:lnTo>
                              <a:pt x="100" y="186"/>
                            </a:lnTo>
                            <a:lnTo>
                              <a:pt x="0" y="88"/>
                            </a:lnTo>
                            <a:lnTo>
                              <a:pt x="9" y="0"/>
                            </a:lnTo>
                            <a:lnTo>
                              <a:pt x="69" y="54"/>
                            </a:lnTo>
                            <a:lnTo>
                              <a:pt x="144" y="117"/>
                            </a:lnTo>
                            <a:close/>
                          </a:path>
                        </a:pathLst>
                      </a:custGeom>
                      <a:solidFill>
                        <a:srgbClr val="C0C0C0"/>
                      </a:solidFill>
                      <a:ln w="3175">
                        <a:solidFill>
                          <a:srgbClr val="000000"/>
                        </a:solidFill>
                        <a:prstDash val="solid"/>
                        <a:round/>
                        <a:headEnd/>
                        <a:tailEnd/>
                      </a:ln>
                    </p:spPr>
                    <p:txBody>
                      <a:bodyPr/>
                      <a:lstStyle/>
                      <a:p>
                        <a:endParaRPr lang="en-US"/>
                      </a:p>
                    </p:txBody>
                  </p:sp>
                </p:grpSp>
                <p:grpSp>
                  <p:nvGrpSpPr>
                    <p:cNvPr id="13" name="Group 44"/>
                    <p:cNvGrpSpPr>
                      <a:grpSpLocks/>
                    </p:cNvGrpSpPr>
                    <p:nvPr/>
                  </p:nvGrpSpPr>
                  <p:grpSpPr bwMode="auto">
                    <a:xfrm>
                      <a:off x="1991" y="2488"/>
                      <a:ext cx="138" cy="95"/>
                      <a:chOff x="1991" y="2488"/>
                      <a:chExt cx="138" cy="95"/>
                    </a:xfrm>
                  </p:grpSpPr>
                  <p:grpSp>
                    <p:nvGrpSpPr>
                      <p:cNvPr id="14" name="Group 36"/>
                      <p:cNvGrpSpPr>
                        <a:grpSpLocks/>
                      </p:cNvGrpSpPr>
                      <p:nvPr/>
                    </p:nvGrpSpPr>
                    <p:grpSpPr bwMode="auto">
                      <a:xfrm>
                        <a:off x="2001" y="2494"/>
                        <a:ext cx="125" cy="88"/>
                        <a:chOff x="2001" y="2494"/>
                        <a:chExt cx="125" cy="88"/>
                      </a:xfrm>
                    </p:grpSpPr>
                    <p:sp>
                      <p:nvSpPr>
                        <p:cNvPr id="7201" name="Freeform 33"/>
                        <p:cNvSpPr>
                          <a:spLocks/>
                        </p:cNvSpPr>
                        <p:nvPr/>
                      </p:nvSpPr>
                      <p:spPr bwMode="auto">
                        <a:xfrm>
                          <a:off x="2052" y="2494"/>
                          <a:ext cx="74" cy="73"/>
                        </a:xfrm>
                        <a:custGeom>
                          <a:avLst/>
                          <a:gdLst/>
                          <a:ahLst/>
                          <a:cxnLst>
                            <a:cxn ang="0">
                              <a:pos x="0" y="0"/>
                            </a:cxn>
                            <a:cxn ang="0">
                              <a:pos x="86" y="92"/>
                            </a:cxn>
                            <a:cxn ang="0">
                              <a:pos x="222" y="220"/>
                            </a:cxn>
                          </a:cxnLst>
                          <a:rect l="0" t="0" r="r" b="b"/>
                          <a:pathLst>
                            <a:path w="222" h="220">
                              <a:moveTo>
                                <a:pt x="0" y="0"/>
                              </a:moveTo>
                              <a:lnTo>
                                <a:pt x="86" y="92"/>
                              </a:lnTo>
                              <a:lnTo>
                                <a:pt x="222" y="220"/>
                              </a:lnTo>
                            </a:path>
                          </a:pathLst>
                        </a:custGeom>
                        <a:noFill/>
                        <a:ln w="3175">
                          <a:solidFill>
                            <a:srgbClr val="000000"/>
                          </a:solidFill>
                          <a:prstDash val="solid"/>
                          <a:round/>
                          <a:headEnd/>
                          <a:tailEnd/>
                        </a:ln>
                      </p:spPr>
                      <p:txBody>
                        <a:bodyPr/>
                        <a:lstStyle/>
                        <a:p>
                          <a:endParaRPr lang="en-US"/>
                        </a:p>
                      </p:txBody>
                    </p:sp>
                    <p:sp>
                      <p:nvSpPr>
                        <p:cNvPr id="7202" name="Freeform 34"/>
                        <p:cNvSpPr>
                          <a:spLocks/>
                        </p:cNvSpPr>
                        <p:nvPr/>
                      </p:nvSpPr>
                      <p:spPr bwMode="auto">
                        <a:xfrm>
                          <a:off x="2029" y="2499"/>
                          <a:ext cx="71" cy="73"/>
                        </a:xfrm>
                        <a:custGeom>
                          <a:avLst/>
                          <a:gdLst/>
                          <a:ahLst/>
                          <a:cxnLst>
                            <a:cxn ang="0">
                              <a:pos x="0" y="0"/>
                            </a:cxn>
                            <a:cxn ang="0">
                              <a:pos x="115" y="118"/>
                            </a:cxn>
                            <a:cxn ang="0">
                              <a:pos x="212" y="219"/>
                            </a:cxn>
                          </a:cxnLst>
                          <a:rect l="0" t="0" r="r" b="b"/>
                          <a:pathLst>
                            <a:path w="212" h="219">
                              <a:moveTo>
                                <a:pt x="0" y="0"/>
                              </a:moveTo>
                              <a:lnTo>
                                <a:pt x="115" y="118"/>
                              </a:lnTo>
                              <a:lnTo>
                                <a:pt x="212" y="219"/>
                              </a:lnTo>
                            </a:path>
                          </a:pathLst>
                        </a:custGeom>
                        <a:noFill/>
                        <a:ln w="3175">
                          <a:solidFill>
                            <a:srgbClr val="000000"/>
                          </a:solidFill>
                          <a:prstDash val="solid"/>
                          <a:round/>
                          <a:headEnd/>
                          <a:tailEnd/>
                        </a:ln>
                      </p:spPr>
                      <p:txBody>
                        <a:bodyPr/>
                        <a:lstStyle/>
                        <a:p>
                          <a:endParaRPr lang="en-US"/>
                        </a:p>
                      </p:txBody>
                    </p:sp>
                    <p:sp>
                      <p:nvSpPr>
                        <p:cNvPr id="7203" name="Freeform 35"/>
                        <p:cNvSpPr>
                          <a:spLocks/>
                        </p:cNvSpPr>
                        <p:nvPr/>
                      </p:nvSpPr>
                      <p:spPr bwMode="auto">
                        <a:xfrm>
                          <a:off x="2001" y="2509"/>
                          <a:ext cx="86" cy="73"/>
                        </a:xfrm>
                        <a:custGeom>
                          <a:avLst/>
                          <a:gdLst/>
                          <a:ahLst/>
                          <a:cxnLst>
                            <a:cxn ang="0">
                              <a:pos x="0" y="0"/>
                            </a:cxn>
                            <a:cxn ang="0">
                              <a:pos x="117" y="83"/>
                            </a:cxn>
                            <a:cxn ang="0">
                              <a:pos x="190" y="153"/>
                            </a:cxn>
                            <a:cxn ang="0">
                              <a:pos x="257" y="220"/>
                            </a:cxn>
                          </a:cxnLst>
                          <a:rect l="0" t="0" r="r" b="b"/>
                          <a:pathLst>
                            <a:path w="257" h="220">
                              <a:moveTo>
                                <a:pt x="0" y="0"/>
                              </a:moveTo>
                              <a:lnTo>
                                <a:pt x="117" y="83"/>
                              </a:lnTo>
                              <a:lnTo>
                                <a:pt x="190" y="153"/>
                              </a:lnTo>
                              <a:lnTo>
                                <a:pt x="257" y="220"/>
                              </a:lnTo>
                            </a:path>
                          </a:pathLst>
                        </a:custGeom>
                        <a:noFill/>
                        <a:ln w="3175">
                          <a:solidFill>
                            <a:srgbClr val="000000"/>
                          </a:solidFill>
                          <a:prstDash val="solid"/>
                          <a:round/>
                          <a:headEnd/>
                          <a:tailEnd/>
                        </a:ln>
                      </p:spPr>
                      <p:txBody>
                        <a:bodyPr/>
                        <a:lstStyle/>
                        <a:p>
                          <a:endParaRPr lang="en-US"/>
                        </a:p>
                      </p:txBody>
                    </p:sp>
                  </p:grpSp>
                  <p:grpSp>
                    <p:nvGrpSpPr>
                      <p:cNvPr id="15" name="Group 43"/>
                      <p:cNvGrpSpPr>
                        <a:grpSpLocks/>
                      </p:cNvGrpSpPr>
                      <p:nvPr/>
                    </p:nvGrpSpPr>
                    <p:grpSpPr bwMode="auto">
                      <a:xfrm>
                        <a:off x="1991" y="2488"/>
                        <a:ext cx="138" cy="95"/>
                        <a:chOff x="1991" y="2488"/>
                        <a:chExt cx="138" cy="95"/>
                      </a:xfrm>
                    </p:grpSpPr>
                    <p:sp>
                      <p:nvSpPr>
                        <p:cNvPr id="7205" name="Line 37"/>
                        <p:cNvSpPr>
                          <a:spLocks noChangeShapeType="1"/>
                        </p:cNvSpPr>
                        <p:nvPr/>
                      </p:nvSpPr>
                      <p:spPr bwMode="auto">
                        <a:xfrm flipV="1">
                          <a:off x="1991" y="2488"/>
                          <a:ext cx="64" cy="21"/>
                        </a:xfrm>
                        <a:prstGeom prst="line">
                          <a:avLst/>
                        </a:prstGeom>
                        <a:noFill/>
                        <a:ln w="3175">
                          <a:solidFill>
                            <a:srgbClr val="000000"/>
                          </a:solidFill>
                          <a:round/>
                          <a:headEnd/>
                          <a:tailEnd/>
                        </a:ln>
                      </p:spPr>
                      <p:txBody>
                        <a:bodyPr/>
                        <a:lstStyle/>
                        <a:p>
                          <a:endParaRPr lang="en-US"/>
                        </a:p>
                      </p:txBody>
                    </p:sp>
                    <p:sp>
                      <p:nvSpPr>
                        <p:cNvPr id="7206" name="Line 38"/>
                        <p:cNvSpPr>
                          <a:spLocks noChangeShapeType="1"/>
                        </p:cNvSpPr>
                        <p:nvPr/>
                      </p:nvSpPr>
                      <p:spPr bwMode="auto">
                        <a:xfrm flipV="1">
                          <a:off x="2015" y="2506"/>
                          <a:ext cx="58" cy="19"/>
                        </a:xfrm>
                        <a:prstGeom prst="line">
                          <a:avLst/>
                        </a:prstGeom>
                        <a:noFill/>
                        <a:ln w="3175">
                          <a:solidFill>
                            <a:srgbClr val="000000"/>
                          </a:solidFill>
                          <a:round/>
                          <a:headEnd/>
                          <a:tailEnd/>
                        </a:ln>
                      </p:spPr>
                      <p:txBody>
                        <a:bodyPr/>
                        <a:lstStyle/>
                        <a:p>
                          <a:endParaRPr lang="en-US"/>
                        </a:p>
                      </p:txBody>
                    </p:sp>
                    <p:sp>
                      <p:nvSpPr>
                        <p:cNvPr id="7207" name="Line 39"/>
                        <p:cNvSpPr>
                          <a:spLocks noChangeShapeType="1"/>
                        </p:cNvSpPr>
                        <p:nvPr/>
                      </p:nvSpPr>
                      <p:spPr bwMode="auto">
                        <a:xfrm flipV="1">
                          <a:off x="2034" y="2517"/>
                          <a:ext cx="56" cy="23"/>
                        </a:xfrm>
                        <a:prstGeom prst="line">
                          <a:avLst/>
                        </a:prstGeom>
                        <a:noFill/>
                        <a:ln w="3175">
                          <a:solidFill>
                            <a:srgbClr val="000000"/>
                          </a:solidFill>
                          <a:round/>
                          <a:headEnd/>
                          <a:tailEnd/>
                        </a:ln>
                      </p:spPr>
                      <p:txBody>
                        <a:bodyPr/>
                        <a:lstStyle/>
                        <a:p>
                          <a:endParaRPr lang="en-US"/>
                        </a:p>
                      </p:txBody>
                    </p:sp>
                    <p:sp>
                      <p:nvSpPr>
                        <p:cNvPr id="7208" name="Line 40"/>
                        <p:cNvSpPr>
                          <a:spLocks noChangeShapeType="1"/>
                        </p:cNvSpPr>
                        <p:nvPr/>
                      </p:nvSpPr>
                      <p:spPr bwMode="auto">
                        <a:xfrm flipV="1">
                          <a:off x="2049" y="2534"/>
                          <a:ext cx="53" cy="21"/>
                        </a:xfrm>
                        <a:prstGeom prst="line">
                          <a:avLst/>
                        </a:prstGeom>
                        <a:noFill/>
                        <a:ln w="3175">
                          <a:solidFill>
                            <a:srgbClr val="000000"/>
                          </a:solidFill>
                          <a:round/>
                          <a:headEnd/>
                          <a:tailEnd/>
                        </a:ln>
                      </p:spPr>
                      <p:txBody>
                        <a:bodyPr/>
                        <a:lstStyle/>
                        <a:p>
                          <a:endParaRPr lang="en-US"/>
                        </a:p>
                      </p:txBody>
                    </p:sp>
                    <p:sp>
                      <p:nvSpPr>
                        <p:cNvPr id="7209" name="Line 41"/>
                        <p:cNvSpPr>
                          <a:spLocks noChangeShapeType="1"/>
                        </p:cNvSpPr>
                        <p:nvPr/>
                      </p:nvSpPr>
                      <p:spPr bwMode="auto">
                        <a:xfrm flipV="1">
                          <a:off x="2067" y="2542"/>
                          <a:ext cx="53" cy="26"/>
                        </a:xfrm>
                        <a:prstGeom prst="line">
                          <a:avLst/>
                        </a:prstGeom>
                        <a:noFill/>
                        <a:ln w="3175">
                          <a:solidFill>
                            <a:srgbClr val="000000"/>
                          </a:solidFill>
                          <a:round/>
                          <a:headEnd/>
                          <a:tailEnd/>
                        </a:ln>
                      </p:spPr>
                      <p:txBody>
                        <a:bodyPr/>
                        <a:lstStyle/>
                        <a:p>
                          <a:endParaRPr lang="en-US"/>
                        </a:p>
                      </p:txBody>
                    </p:sp>
                    <p:sp>
                      <p:nvSpPr>
                        <p:cNvPr id="7210" name="Line 42"/>
                        <p:cNvSpPr>
                          <a:spLocks noChangeShapeType="1"/>
                        </p:cNvSpPr>
                        <p:nvPr/>
                      </p:nvSpPr>
                      <p:spPr bwMode="auto">
                        <a:xfrm flipV="1">
                          <a:off x="2074" y="2561"/>
                          <a:ext cx="55" cy="22"/>
                        </a:xfrm>
                        <a:prstGeom prst="line">
                          <a:avLst/>
                        </a:prstGeom>
                        <a:noFill/>
                        <a:ln w="3175">
                          <a:solidFill>
                            <a:srgbClr val="000000"/>
                          </a:solidFill>
                          <a:round/>
                          <a:headEnd/>
                          <a:tailEnd/>
                        </a:ln>
                      </p:spPr>
                      <p:txBody>
                        <a:bodyPr/>
                        <a:lstStyle/>
                        <a:p>
                          <a:endParaRPr lang="en-US"/>
                        </a:p>
                      </p:txBody>
                    </p:sp>
                  </p:grpSp>
                </p:grpSp>
              </p:grpSp>
              <p:grpSp>
                <p:nvGrpSpPr>
                  <p:cNvPr id="16" name="Group 54"/>
                  <p:cNvGrpSpPr>
                    <a:grpSpLocks/>
                  </p:cNvGrpSpPr>
                  <p:nvPr/>
                </p:nvGrpSpPr>
                <p:grpSpPr bwMode="auto">
                  <a:xfrm>
                    <a:off x="2089" y="2007"/>
                    <a:ext cx="470" cy="774"/>
                    <a:chOff x="2089" y="2007"/>
                    <a:chExt cx="470" cy="774"/>
                  </a:xfrm>
                </p:grpSpPr>
                <p:sp>
                  <p:nvSpPr>
                    <p:cNvPr id="7214" name="Freeform 46"/>
                    <p:cNvSpPr>
                      <a:spLocks/>
                    </p:cNvSpPr>
                    <p:nvPr/>
                  </p:nvSpPr>
                  <p:spPr bwMode="auto">
                    <a:xfrm>
                      <a:off x="2124" y="2571"/>
                      <a:ext cx="108" cy="81"/>
                    </a:xfrm>
                    <a:custGeom>
                      <a:avLst/>
                      <a:gdLst/>
                      <a:ahLst/>
                      <a:cxnLst>
                        <a:cxn ang="0">
                          <a:pos x="0" y="68"/>
                        </a:cxn>
                        <a:cxn ang="0">
                          <a:pos x="5" y="114"/>
                        </a:cxn>
                        <a:cxn ang="0">
                          <a:pos x="17" y="161"/>
                        </a:cxn>
                        <a:cxn ang="0">
                          <a:pos x="35" y="193"/>
                        </a:cxn>
                        <a:cxn ang="0">
                          <a:pos x="64" y="220"/>
                        </a:cxn>
                        <a:cxn ang="0">
                          <a:pos x="102" y="236"/>
                        </a:cxn>
                        <a:cxn ang="0">
                          <a:pos x="138" y="241"/>
                        </a:cxn>
                        <a:cxn ang="0">
                          <a:pos x="180" y="232"/>
                        </a:cxn>
                        <a:cxn ang="0">
                          <a:pos x="215" y="204"/>
                        </a:cxn>
                        <a:cxn ang="0">
                          <a:pos x="242" y="158"/>
                        </a:cxn>
                        <a:cxn ang="0">
                          <a:pos x="250" y="109"/>
                        </a:cxn>
                        <a:cxn ang="0">
                          <a:pos x="268" y="68"/>
                        </a:cxn>
                        <a:cxn ang="0">
                          <a:pos x="292" y="30"/>
                        </a:cxn>
                        <a:cxn ang="0">
                          <a:pos x="324" y="0"/>
                        </a:cxn>
                      </a:cxnLst>
                      <a:rect l="0" t="0" r="r" b="b"/>
                      <a:pathLst>
                        <a:path w="324" h="241">
                          <a:moveTo>
                            <a:pt x="0" y="68"/>
                          </a:moveTo>
                          <a:lnTo>
                            <a:pt x="5" y="114"/>
                          </a:lnTo>
                          <a:lnTo>
                            <a:pt x="17" y="161"/>
                          </a:lnTo>
                          <a:lnTo>
                            <a:pt x="35" y="193"/>
                          </a:lnTo>
                          <a:lnTo>
                            <a:pt x="64" y="220"/>
                          </a:lnTo>
                          <a:lnTo>
                            <a:pt x="102" y="236"/>
                          </a:lnTo>
                          <a:lnTo>
                            <a:pt x="138" y="241"/>
                          </a:lnTo>
                          <a:lnTo>
                            <a:pt x="180" y="232"/>
                          </a:lnTo>
                          <a:lnTo>
                            <a:pt x="215" y="204"/>
                          </a:lnTo>
                          <a:lnTo>
                            <a:pt x="242" y="158"/>
                          </a:lnTo>
                          <a:lnTo>
                            <a:pt x="250" y="109"/>
                          </a:lnTo>
                          <a:lnTo>
                            <a:pt x="268" y="68"/>
                          </a:lnTo>
                          <a:lnTo>
                            <a:pt x="292" y="30"/>
                          </a:lnTo>
                          <a:lnTo>
                            <a:pt x="324" y="0"/>
                          </a:lnTo>
                        </a:path>
                      </a:pathLst>
                    </a:custGeom>
                    <a:noFill/>
                    <a:ln w="3175">
                      <a:solidFill>
                        <a:srgbClr val="000000"/>
                      </a:solidFill>
                      <a:prstDash val="solid"/>
                      <a:round/>
                      <a:headEnd/>
                      <a:tailEnd/>
                    </a:ln>
                  </p:spPr>
                  <p:txBody>
                    <a:bodyPr/>
                    <a:lstStyle/>
                    <a:p>
                      <a:endParaRPr lang="en-US"/>
                    </a:p>
                  </p:txBody>
                </p:sp>
                <p:grpSp>
                  <p:nvGrpSpPr>
                    <p:cNvPr id="17" name="Group 53"/>
                    <p:cNvGrpSpPr>
                      <a:grpSpLocks/>
                    </p:cNvGrpSpPr>
                    <p:nvPr/>
                  </p:nvGrpSpPr>
                  <p:grpSpPr bwMode="auto">
                    <a:xfrm>
                      <a:off x="2089" y="2007"/>
                      <a:ext cx="470" cy="774"/>
                      <a:chOff x="2089" y="2007"/>
                      <a:chExt cx="470" cy="774"/>
                    </a:xfrm>
                  </p:grpSpPr>
                  <p:grpSp>
                    <p:nvGrpSpPr>
                      <p:cNvPr id="18" name="Group 49"/>
                      <p:cNvGrpSpPr>
                        <a:grpSpLocks/>
                      </p:cNvGrpSpPr>
                      <p:nvPr/>
                    </p:nvGrpSpPr>
                    <p:grpSpPr bwMode="auto">
                      <a:xfrm>
                        <a:off x="2089" y="2007"/>
                        <a:ext cx="470" cy="591"/>
                        <a:chOff x="2089" y="2007"/>
                        <a:chExt cx="470" cy="591"/>
                      </a:xfrm>
                    </p:grpSpPr>
                    <p:sp>
                      <p:nvSpPr>
                        <p:cNvPr id="7215" name="Freeform 47"/>
                        <p:cNvSpPr>
                          <a:spLocks/>
                        </p:cNvSpPr>
                        <p:nvPr/>
                      </p:nvSpPr>
                      <p:spPr bwMode="auto">
                        <a:xfrm>
                          <a:off x="2089" y="2007"/>
                          <a:ext cx="470" cy="591"/>
                        </a:xfrm>
                        <a:custGeom>
                          <a:avLst/>
                          <a:gdLst/>
                          <a:ahLst/>
                          <a:cxnLst>
                            <a:cxn ang="0">
                              <a:pos x="264" y="358"/>
                            </a:cxn>
                            <a:cxn ang="0">
                              <a:pos x="298" y="236"/>
                            </a:cxn>
                            <a:cxn ang="0">
                              <a:pos x="320" y="159"/>
                            </a:cxn>
                            <a:cxn ang="0">
                              <a:pos x="328" y="135"/>
                            </a:cxn>
                            <a:cxn ang="0">
                              <a:pos x="341" y="116"/>
                            </a:cxn>
                            <a:cxn ang="0">
                              <a:pos x="349" y="107"/>
                            </a:cxn>
                            <a:cxn ang="0">
                              <a:pos x="363" y="101"/>
                            </a:cxn>
                            <a:cxn ang="0">
                              <a:pos x="542" y="58"/>
                            </a:cxn>
                            <a:cxn ang="0">
                              <a:pos x="734" y="16"/>
                            </a:cxn>
                            <a:cxn ang="0">
                              <a:pos x="908" y="0"/>
                            </a:cxn>
                            <a:cxn ang="0">
                              <a:pos x="1007" y="0"/>
                            </a:cxn>
                            <a:cxn ang="0">
                              <a:pos x="1212" y="13"/>
                            </a:cxn>
                            <a:cxn ang="0">
                              <a:pos x="1361" y="22"/>
                            </a:cxn>
                            <a:cxn ang="0">
                              <a:pos x="1383" y="25"/>
                            </a:cxn>
                            <a:cxn ang="0">
                              <a:pos x="1396" y="33"/>
                            </a:cxn>
                            <a:cxn ang="0">
                              <a:pos x="1405" y="42"/>
                            </a:cxn>
                            <a:cxn ang="0">
                              <a:pos x="1411" y="54"/>
                            </a:cxn>
                            <a:cxn ang="0">
                              <a:pos x="1412" y="70"/>
                            </a:cxn>
                            <a:cxn ang="0">
                              <a:pos x="1404" y="119"/>
                            </a:cxn>
                            <a:cxn ang="0">
                              <a:pos x="1376" y="278"/>
                            </a:cxn>
                            <a:cxn ang="0">
                              <a:pos x="1355" y="397"/>
                            </a:cxn>
                            <a:cxn ang="0">
                              <a:pos x="1307" y="665"/>
                            </a:cxn>
                            <a:cxn ang="0">
                              <a:pos x="1276" y="830"/>
                            </a:cxn>
                            <a:cxn ang="0">
                              <a:pos x="1191" y="1216"/>
                            </a:cxn>
                            <a:cxn ang="0">
                              <a:pos x="1110" y="1525"/>
                            </a:cxn>
                            <a:cxn ang="0">
                              <a:pos x="1095" y="1585"/>
                            </a:cxn>
                            <a:cxn ang="0">
                              <a:pos x="1086" y="1619"/>
                            </a:cxn>
                            <a:cxn ang="0">
                              <a:pos x="1078" y="1652"/>
                            </a:cxn>
                            <a:cxn ang="0">
                              <a:pos x="1068" y="1670"/>
                            </a:cxn>
                            <a:cxn ang="0">
                              <a:pos x="1055" y="1691"/>
                            </a:cxn>
                            <a:cxn ang="0">
                              <a:pos x="1040" y="1699"/>
                            </a:cxn>
                            <a:cxn ang="0">
                              <a:pos x="1014" y="1707"/>
                            </a:cxn>
                            <a:cxn ang="0">
                              <a:pos x="966" y="1713"/>
                            </a:cxn>
                            <a:cxn ang="0">
                              <a:pos x="885" y="1713"/>
                            </a:cxn>
                            <a:cxn ang="0">
                              <a:pos x="817" y="1722"/>
                            </a:cxn>
                            <a:cxn ang="0">
                              <a:pos x="728" y="1740"/>
                            </a:cxn>
                            <a:cxn ang="0">
                              <a:pos x="635" y="1759"/>
                            </a:cxn>
                            <a:cxn ang="0">
                              <a:pos x="572" y="1771"/>
                            </a:cxn>
                            <a:cxn ang="0">
                              <a:pos x="495" y="1771"/>
                            </a:cxn>
                            <a:cxn ang="0">
                              <a:pos x="479" y="1759"/>
                            </a:cxn>
                            <a:cxn ang="0">
                              <a:pos x="42" y="1407"/>
                            </a:cxn>
                            <a:cxn ang="0">
                              <a:pos x="22" y="1383"/>
                            </a:cxn>
                            <a:cxn ang="0">
                              <a:pos x="6" y="1359"/>
                            </a:cxn>
                            <a:cxn ang="0">
                              <a:pos x="0" y="1332"/>
                            </a:cxn>
                            <a:cxn ang="0">
                              <a:pos x="0" y="1299"/>
                            </a:cxn>
                            <a:cxn ang="0">
                              <a:pos x="6" y="1271"/>
                            </a:cxn>
                            <a:cxn ang="0">
                              <a:pos x="131" y="836"/>
                            </a:cxn>
                            <a:cxn ang="0">
                              <a:pos x="209" y="558"/>
                            </a:cxn>
                            <a:cxn ang="0">
                              <a:pos x="264" y="358"/>
                            </a:cxn>
                          </a:cxnLst>
                          <a:rect l="0" t="0" r="r" b="b"/>
                          <a:pathLst>
                            <a:path w="1412" h="1771">
                              <a:moveTo>
                                <a:pt x="264" y="358"/>
                              </a:moveTo>
                              <a:lnTo>
                                <a:pt x="298" y="236"/>
                              </a:lnTo>
                              <a:lnTo>
                                <a:pt x="320" y="159"/>
                              </a:lnTo>
                              <a:lnTo>
                                <a:pt x="328" y="135"/>
                              </a:lnTo>
                              <a:lnTo>
                                <a:pt x="341" y="116"/>
                              </a:lnTo>
                              <a:lnTo>
                                <a:pt x="349" y="107"/>
                              </a:lnTo>
                              <a:lnTo>
                                <a:pt x="363" y="101"/>
                              </a:lnTo>
                              <a:lnTo>
                                <a:pt x="542" y="58"/>
                              </a:lnTo>
                              <a:lnTo>
                                <a:pt x="734" y="16"/>
                              </a:lnTo>
                              <a:lnTo>
                                <a:pt x="908" y="0"/>
                              </a:lnTo>
                              <a:lnTo>
                                <a:pt x="1007" y="0"/>
                              </a:lnTo>
                              <a:lnTo>
                                <a:pt x="1212" y="13"/>
                              </a:lnTo>
                              <a:lnTo>
                                <a:pt x="1361" y="22"/>
                              </a:lnTo>
                              <a:lnTo>
                                <a:pt x="1383" y="25"/>
                              </a:lnTo>
                              <a:lnTo>
                                <a:pt x="1396" y="33"/>
                              </a:lnTo>
                              <a:lnTo>
                                <a:pt x="1405" y="42"/>
                              </a:lnTo>
                              <a:lnTo>
                                <a:pt x="1411" y="54"/>
                              </a:lnTo>
                              <a:lnTo>
                                <a:pt x="1412" y="70"/>
                              </a:lnTo>
                              <a:lnTo>
                                <a:pt x="1404" y="119"/>
                              </a:lnTo>
                              <a:lnTo>
                                <a:pt x="1376" y="278"/>
                              </a:lnTo>
                              <a:lnTo>
                                <a:pt x="1355" y="397"/>
                              </a:lnTo>
                              <a:lnTo>
                                <a:pt x="1307" y="665"/>
                              </a:lnTo>
                              <a:lnTo>
                                <a:pt x="1276" y="830"/>
                              </a:lnTo>
                              <a:lnTo>
                                <a:pt x="1191" y="1216"/>
                              </a:lnTo>
                              <a:lnTo>
                                <a:pt x="1110" y="1525"/>
                              </a:lnTo>
                              <a:lnTo>
                                <a:pt x="1095" y="1585"/>
                              </a:lnTo>
                              <a:lnTo>
                                <a:pt x="1086" y="1619"/>
                              </a:lnTo>
                              <a:lnTo>
                                <a:pt x="1078" y="1652"/>
                              </a:lnTo>
                              <a:lnTo>
                                <a:pt x="1068" y="1670"/>
                              </a:lnTo>
                              <a:lnTo>
                                <a:pt x="1055" y="1691"/>
                              </a:lnTo>
                              <a:lnTo>
                                <a:pt x="1040" y="1699"/>
                              </a:lnTo>
                              <a:lnTo>
                                <a:pt x="1014" y="1707"/>
                              </a:lnTo>
                              <a:lnTo>
                                <a:pt x="966" y="1713"/>
                              </a:lnTo>
                              <a:lnTo>
                                <a:pt x="885" y="1713"/>
                              </a:lnTo>
                              <a:lnTo>
                                <a:pt x="817" y="1722"/>
                              </a:lnTo>
                              <a:lnTo>
                                <a:pt x="728" y="1740"/>
                              </a:lnTo>
                              <a:lnTo>
                                <a:pt x="635" y="1759"/>
                              </a:lnTo>
                              <a:lnTo>
                                <a:pt x="572" y="1771"/>
                              </a:lnTo>
                              <a:lnTo>
                                <a:pt x="495" y="1771"/>
                              </a:lnTo>
                              <a:lnTo>
                                <a:pt x="479" y="1759"/>
                              </a:lnTo>
                              <a:lnTo>
                                <a:pt x="42" y="1407"/>
                              </a:lnTo>
                              <a:lnTo>
                                <a:pt x="22" y="1383"/>
                              </a:lnTo>
                              <a:lnTo>
                                <a:pt x="6" y="1359"/>
                              </a:lnTo>
                              <a:lnTo>
                                <a:pt x="0" y="1332"/>
                              </a:lnTo>
                              <a:lnTo>
                                <a:pt x="0" y="1299"/>
                              </a:lnTo>
                              <a:lnTo>
                                <a:pt x="6" y="1271"/>
                              </a:lnTo>
                              <a:lnTo>
                                <a:pt x="131" y="836"/>
                              </a:lnTo>
                              <a:lnTo>
                                <a:pt x="209" y="558"/>
                              </a:lnTo>
                              <a:lnTo>
                                <a:pt x="264" y="358"/>
                              </a:lnTo>
                              <a:close/>
                            </a:path>
                          </a:pathLst>
                        </a:custGeom>
                        <a:solidFill>
                          <a:srgbClr val="C0C0C0"/>
                        </a:solidFill>
                        <a:ln w="3175">
                          <a:solidFill>
                            <a:srgbClr val="000000"/>
                          </a:solidFill>
                          <a:prstDash val="solid"/>
                          <a:round/>
                          <a:headEnd/>
                          <a:tailEnd/>
                        </a:ln>
                      </p:spPr>
                      <p:txBody>
                        <a:bodyPr/>
                        <a:lstStyle/>
                        <a:p>
                          <a:endParaRPr lang="en-US"/>
                        </a:p>
                      </p:txBody>
                    </p:sp>
                    <p:sp>
                      <p:nvSpPr>
                        <p:cNvPr id="7216" name="Freeform 48"/>
                        <p:cNvSpPr>
                          <a:spLocks/>
                        </p:cNvSpPr>
                        <p:nvPr/>
                      </p:nvSpPr>
                      <p:spPr bwMode="auto">
                        <a:xfrm>
                          <a:off x="2113" y="2066"/>
                          <a:ext cx="280" cy="448"/>
                        </a:xfrm>
                        <a:custGeom>
                          <a:avLst/>
                          <a:gdLst/>
                          <a:ahLst/>
                          <a:cxnLst>
                            <a:cxn ang="0">
                              <a:pos x="192" y="402"/>
                            </a:cxn>
                            <a:cxn ang="0">
                              <a:pos x="252" y="209"/>
                            </a:cxn>
                            <a:cxn ang="0">
                              <a:pos x="306" y="36"/>
                            </a:cxn>
                            <a:cxn ang="0">
                              <a:pos x="314" y="29"/>
                            </a:cxn>
                            <a:cxn ang="0">
                              <a:pos x="323" y="26"/>
                            </a:cxn>
                            <a:cxn ang="0">
                              <a:pos x="341" y="23"/>
                            </a:cxn>
                            <a:cxn ang="0">
                              <a:pos x="581" y="2"/>
                            </a:cxn>
                            <a:cxn ang="0">
                              <a:pos x="816" y="0"/>
                            </a:cxn>
                            <a:cxn ang="0">
                              <a:pos x="829" y="3"/>
                            </a:cxn>
                            <a:cxn ang="0">
                              <a:pos x="835" y="9"/>
                            </a:cxn>
                            <a:cxn ang="0">
                              <a:pos x="840" y="26"/>
                            </a:cxn>
                            <a:cxn ang="0">
                              <a:pos x="822" y="148"/>
                            </a:cxn>
                            <a:cxn ang="0">
                              <a:pos x="785" y="252"/>
                            </a:cxn>
                            <a:cxn ang="0">
                              <a:pos x="723" y="447"/>
                            </a:cxn>
                            <a:cxn ang="0">
                              <a:pos x="604" y="778"/>
                            </a:cxn>
                            <a:cxn ang="0">
                              <a:pos x="499" y="1068"/>
                            </a:cxn>
                            <a:cxn ang="0">
                              <a:pos x="473" y="1177"/>
                            </a:cxn>
                            <a:cxn ang="0">
                              <a:pos x="457" y="1249"/>
                            </a:cxn>
                            <a:cxn ang="0">
                              <a:pos x="440" y="1292"/>
                            </a:cxn>
                            <a:cxn ang="0">
                              <a:pos x="425" y="1322"/>
                            </a:cxn>
                            <a:cxn ang="0">
                              <a:pos x="414" y="1337"/>
                            </a:cxn>
                            <a:cxn ang="0">
                              <a:pos x="405" y="1345"/>
                            </a:cxn>
                            <a:cxn ang="0">
                              <a:pos x="391" y="1346"/>
                            </a:cxn>
                            <a:cxn ang="0">
                              <a:pos x="376" y="1342"/>
                            </a:cxn>
                            <a:cxn ang="0">
                              <a:pos x="353" y="1325"/>
                            </a:cxn>
                            <a:cxn ang="0">
                              <a:pos x="327" y="1303"/>
                            </a:cxn>
                            <a:cxn ang="0">
                              <a:pos x="303" y="1276"/>
                            </a:cxn>
                            <a:cxn ang="0">
                              <a:pos x="275" y="1249"/>
                            </a:cxn>
                            <a:cxn ang="0">
                              <a:pos x="248" y="1226"/>
                            </a:cxn>
                            <a:cxn ang="0">
                              <a:pos x="12" y="1107"/>
                            </a:cxn>
                            <a:cxn ang="0">
                              <a:pos x="3" y="1099"/>
                            </a:cxn>
                            <a:cxn ang="0">
                              <a:pos x="0" y="1087"/>
                            </a:cxn>
                            <a:cxn ang="0">
                              <a:pos x="2" y="1072"/>
                            </a:cxn>
                            <a:cxn ang="0">
                              <a:pos x="6" y="1058"/>
                            </a:cxn>
                            <a:cxn ang="0">
                              <a:pos x="192" y="402"/>
                            </a:cxn>
                          </a:cxnLst>
                          <a:rect l="0" t="0" r="r" b="b"/>
                          <a:pathLst>
                            <a:path w="840" h="1346">
                              <a:moveTo>
                                <a:pt x="192" y="402"/>
                              </a:moveTo>
                              <a:lnTo>
                                <a:pt x="252" y="209"/>
                              </a:lnTo>
                              <a:lnTo>
                                <a:pt x="306" y="36"/>
                              </a:lnTo>
                              <a:lnTo>
                                <a:pt x="314" y="29"/>
                              </a:lnTo>
                              <a:lnTo>
                                <a:pt x="323" y="26"/>
                              </a:lnTo>
                              <a:lnTo>
                                <a:pt x="341" y="23"/>
                              </a:lnTo>
                              <a:lnTo>
                                <a:pt x="581" y="2"/>
                              </a:lnTo>
                              <a:lnTo>
                                <a:pt x="816" y="0"/>
                              </a:lnTo>
                              <a:lnTo>
                                <a:pt x="829" y="3"/>
                              </a:lnTo>
                              <a:lnTo>
                                <a:pt x="835" y="9"/>
                              </a:lnTo>
                              <a:lnTo>
                                <a:pt x="840" y="26"/>
                              </a:lnTo>
                              <a:lnTo>
                                <a:pt x="822" y="148"/>
                              </a:lnTo>
                              <a:lnTo>
                                <a:pt x="785" y="252"/>
                              </a:lnTo>
                              <a:lnTo>
                                <a:pt x="723" y="447"/>
                              </a:lnTo>
                              <a:lnTo>
                                <a:pt x="604" y="778"/>
                              </a:lnTo>
                              <a:lnTo>
                                <a:pt x="499" y="1068"/>
                              </a:lnTo>
                              <a:lnTo>
                                <a:pt x="473" y="1177"/>
                              </a:lnTo>
                              <a:lnTo>
                                <a:pt x="457" y="1249"/>
                              </a:lnTo>
                              <a:lnTo>
                                <a:pt x="440" y="1292"/>
                              </a:lnTo>
                              <a:lnTo>
                                <a:pt x="425" y="1322"/>
                              </a:lnTo>
                              <a:lnTo>
                                <a:pt x="414" y="1337"/>
                              </a:lnTo>
                              <a:lnTo>
                                <a:pt x="405" y="1345"/>
                              </a:lnTo>
                              <a:lnTo>
                                <a:pt x="391" y="1346"/>
                              </a:lnTo>
                              <a:lnTo>
                                <a:pt x="376" y="1342"/>
                              </a:lnTo>
                              <a:lnTo>
                                <a:pt x="353" y="1325"/>
                              </a:lnTo>
                              <a:lnTo>
                                <a:pt x="327" y="1303"/>
                              </a:lnTo>
                              <a:lnTo>
                                <a:pt x="303" y="1276"/>
                              </a:lnTo>
                              <a:lnTo>
                                <a:pt x="275" y="1249"/>
                              </a:lnTo>
                              <a:lnTo>
                                <a:pt x="248" y="1226"/>
                              </a:lnTo>
                              <a:lnTo>
                                <a:pt x="12" y="1107"/>
                              </a:lnTo>
                              <a:lnTo>
                                <a:pt x="3" y="1099"/>
                              </a:lnTo>
                              <a:lnTo>
                                <a:pt x="0" y="1087"/>
                              </a:lnTo>
                              <a:lnTo>
                                <a:pt x="2" y="1072"/>
                              </a:lnTo>
                              <a:lnTo>
                                <a:pt x="6" y="1058"/>
                              </a:lnTo>
                              <a:lnTo>
                                <a:pt x="192" y="402"/>
                              </a:lnTo>
                              <a:close/>
                            </a:path>
                          </a:pathLst>
                        </a:custGeom>
                        <a:solidFill>
                          <a:srgbClr val="005F5F"/>
                        </a:solidFill>
                        <a:ln w="3175">
                          <a:solidFill>
                            <a:srgbClr val="000000"/>
                          </a:solidFill>
                          <a:prstDash val="solid"/>
                          <a:round/>
                          <a:headEnd/>
                          <a:tailEnd/>
                        </a:ln>
                      </p:spPr>
                      <p:txBody>
                        <a:bodyPr/>
                        <a:lstStyle/>
                        <a:p>
                          <a:endParaRPr lang="en-US"/>
                        </a:p>
                      </p:txBody>
                    </p:sp>
                  </p:grpSp>
                  <p:grpSp>
                    <p:nvGrpSpPr>
                      <p:cNvPr id="19" name="Group 52"/>
                      <p:cNvGrpSpPr>
                        <a:grpSpLocks/>
                      </p:cNvGrpSpPr>
                      <p:nvPr/>
                    </p:nvGrpSpPr>
                    <p:grpSpPr bwMode="auto">
                      <a:xfrm>
                        <a:off x="2427" y="2527"/>
                        <a:ext cx="75" cy="254"/>
                        <a:chOff x="2427" y="2527"/>
                        <a:chExt cx="75" cy="254"/>
                      </a:xfrm>
                    </p:grpSpPr>
                    <p:sp>
                      <p:nvSpPr>
                        <p:cNvPr id="7218" name="Freeform 50"/>
                        <p:cNvSpPr>
                          <a:spLocks/>
                        </p:cNvSpPr>
                        <p:nvPr/>
                      </p:nvSpPr>
                      <p:spPr bwMode="auto">
                        <a:xfrm>
                          <a:off x="2433" y="2536"/>
                          <a:ext cx="69" cy="245"/>
                        </a:xfrm>
                        <a:custGeom>
                          <a:avLst/>
                          <a:gdLst/>
                          <a:ahLst/>
                          <a:cxnLst>
                            <a:cxn ang="0">
                              <a:pos x="0" y="0"/>
                            </a:cxn>
                            <a:cxn ang="0">
                              <a:pos x="7" y="49"/>
                            </a:cxn>
                            <a:cxn ang="0">
                              <a:pos x="17" y="87"/>
                            </a:cxn>
                            <a:cxn ang="0">
                              <a:pos x="34" y="119"/>
                            </a:cxn>
                            <a:cxn ang="0">
                              <a:pos x="62" y="140"/>
                            </a:cxn>
                            <a:cxn ang="0">
                              <a:pos x="96" y="157"/>
                            </a:cxn>
                            <a:cxn ang="0">
                              <a:pos x="122" y="185"/>
                            </a:cxn>
                            <a:cxn ang="0">
                              <a:pos x="144" y="220"/>
                            </a:cxn>
                            <a:cxn ang="0">
                              <a:pos x="166" y="280"/>
                            </a:cxn>
                            <a:cxn ang="0">
                              <a:pos x="174" y="329"/>
                            </a:cxn>
                            <a:cxn ang="0">
                              <a:pos x="167" y="368"/>
                            </a:cxn>
                            <a:cxn ang="0">
                              <a:pos x="144" y="403"/>
                            </a:cxn>
                            <a:cxn ang="0">
                              <a:pos x="123" y="436"/>
                            </a:cxn>
                            <a:cxn ang="0">
                              <a:pos x="109" y="469"/>
                            </a:cxn>
                            <a:cxn ang="0">
                              <a:pos x="98" y="512"/>
                            </a:cxn>
                            <a:cxn ang="0">
                              <a:pos x="93" y="561"/>
                            </a:cxn>
                            <a:cxn ang="0">
                              <a:pos x="104" y="607"/>
                            </a:cxn>
                            <a:cxn ang="0">
                              <a:pos x="118" y="638"/>
                            </a:cxn>
                            <a:cxn ang="0">
                              <a:pos x="149" y="678"/>
                            </a:cxn>
                            <a:cxn ang="0">
                              <a:pos x="174" y="705"/>
                            </a:cxn>
                            <a:cxn ang="0">
                              <a:pos x="207" y="735"/>
                            </a:cxn>
                          </a:cxnLst>
                          <a:rect l="0" t="0" r="r" b="b"/>
                          <a:pathLst>
                            <a:path w="207" h="735">
                              <a:moveTo>
                                <a:pt x="0" y="0"/>
                              </a:moveTo>
                              <a:lnTo>
                                <a:pt x="7" y="49"/>
                              </a:lnTo>
                              <a:lnTo>
                                <a:pt x="17" y="87"/>
                              </a:lnTo>
                              <a:lnTo>
                                <a:pt x="34" y="119"/>
                              </a:lnTo>
                              <a:lnTo>
                                <a:pt x="62" y="140"/>
                              </a:lnTo>
                              <a:lnTo>
                                <a:pt x="96" y="157"/>
                              </a:lnTo>
                              <a:lnTo>
                                <a:pt x="122" y="185"/>
                              </a:lnTo>
                              <a:lnTo>
                                <a:pt x="144" y="220"/>
                              </a:lnTo>
                              <a:lnTo>
                                <a:pt x="166" y="280"/>
                              </a:lnTo>
                              <a:lnTo>
                                <a:pt x="174" y="329"/>
                              </a:lnTo>
                              <a:lnTo>
                                <a:pt x="167" y="368"/>
                              </a:lnTo>
                              <a:lnTo>
                                <a:pt x="144" y="403"/>
                              </a:lnTo>
                              <a:lnTo>
                                <a:pt x="123" y="436"/>
                              </a:lnTo>
                              <a:lnTo>
                                <a:pt x="109" y="469"/>
                              </a:lnTo>
                              <a:lnTo>
                                <a:pt x="98" y="512"/>
                              </a:lnTo>
                              <a:lnTo>
                                <a:pt x="93" y="561"/>
                              </a:lnTo>
                              <a:lnTo>
                                <a:pt x="104" y="607"/>
                              </a:lnTo>
                              <a:lnTo>
                                <a:pt x="118" y="638"/>
                              </a:lnTo>
                              <a:lnTo>
                                <a:pt x="149" y="678"/>
                              </a:lnTo>
                              <a:lnTo>
                                <a:pt x="174" y="705"/>
                              </a:lnTo>
                              <a:lnTo>
                                <a:pt x="207" y="735"/>
                              </a:lnTo>
                            </a:path>
                          </a:pathLst>
                        </a:custGeom>
                        <a:noFill/>
                        <a:ln w="3175">
                          <a:solidFill>
                            <a:srgbClr val="000000"/>
                          </a:solidFill>
                          <a:prstDash val="solid"/>
                          <a:round/>
                          <a:headEnd/>
                          <a:tailEnd/>
                        </a:ln>
                      </p:spPr>
                      <p:txBody>
                        <a:bodyPr/>
                        <a:lstStyle/>
                        <a:p>
                          <a:endParaRPr lang="en-US"/>
                        </a:p>
                      </p:txBody>
                    </p:sp>
                    <p:sp>
                      <p:nvSpPr>
                        <p:cNvPr id="7219" name="Oval 51"/>
                        <p:cNvSpPr>
                          <a:spLocks noChangeArrowheads="1"/>
                        </p:cNvSpPr>
                        <p:nvPr/>
                      </p:nvSpPr>
                      <p:spPr bwMode="auto">
                        <a:xfrm>
                          <a:off x="2427" y="2527"/>
                          <a:ext cx="12" cy="15"/>
                        </a:xfrm>
                        <a:prstGeom prst="ellipse">
                          <a:avLst/>
                        </a:prstGeom>
                        <a:solidFill>
                          <a:srgbClr val="000000"/>
                        </a:solidFill>
                        <a:ln w="3175">
                          <a:solidFill>
                            <a:srgbClr val="000000"/>
                          </a:solidFill>
                          <a:round/>
                          <a:headEnd/>
                          <a:tailEnd/>
                        </a:ln>
                      </p:spPr>
                      <p:txBody>
                        <a:bodyPr/>
                        <a:lstStyle/>
                        <a:p>
                          <a:endParaRPr lang="en-US"/>
                        </a:p>
                      </p:txBody>
                    </p:sp>
                  </p:grpSp>
                </p:grpSp>
              </p:grpSp>
            </p:grpSp>
          </p:grpSp>
        </p:grpSp>
      </p:grpSp>
    </p:spTree>
    <p:extLst>
      <p:ext uri="{BB962C8B-B14F-4D97-AF65-F5344CB8AC3E}">
        <p14:creationId xmlns:p14="http://schemas.microsoft.com/office/powerpoint/2010/main" val="3793094212"/>
      </p:ext>
    </p:extLst>
  </p:cSld>
  <p:clrMapOvr>
    <a:masterClrMapping/>
  </p:clrMapOvr>
  <p:transition>
    <p:dissolv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624138"/>
            <a:ext cx="7772400" cy="4005262"/>
          </a:xfrm>
        </p:spPr>
        <p:txBody>
          <a:bodyPr>
            <a:normAutofit/>
          </a:bodyPr>
          <a:lstStyle/>
          <a:p>
            <a:r>
              <a:rPr lang="en-US" dirty="0"/>
              <a:t>Bright Side</a:t>
            </a:r>
          </a:p>
          <a:p>
            <a:pPr marL="1005840" lvl="1" indent="-457200">
              <a:buFont typeface="+mj-lt"/>
              <a:buAutoNum type="arabicPeriod"/>
            </a:pPr>
            <a:r>
              <a:rPr lang="en-US" sz="2000" dirty="0"/>
              <a:t>Computers are enabling new discoveries </a:t>
            </a:r>
          </a:p>
          <a:p>
            <a:pPr marL="1005840" lvl="1" indent="-457200">
              <a:buFont typeface="+mj-lt"/>
              <a:buAutoNum type="arabicPeriod"/>
            </a:pPr>
            <a:r>
              <a:rPr lang="en-US" sz="2000" dirty="0"/>
              <a:t>Leading to efficiency</a:t>
            </a:r>
          </a:p>
          <a:p>
            <a:pPr marL="1005840" lvl="1" indent="-457200">
              <a:buFont typeface="+mj-lt"/>
              <a:buAutoNum type="arabicPeriod"/>
            </a:pPr>
            <a:r>
              <a:rPr lang="en-US" sz="2000" dirty="0"/>
              <a:t>Making out life easy and convenient</a:t>
            </a:r>
          </a:p>
          <a:p>
            <a:r>
              <a:rPr lang="en-US" dirty="0"/>
              <a:t>Dark Side</a:t>
            </a:r>
          </a:p>
          <a:p>
            <a:pPr marL="1005840" lvl="1" indent="-457200">
              <a:buFont typeface="+mj-lt"/>
              <a:buAutoNum type="arabicPeriod"/>
            </a:pPr>
            <a:r>
              <a:rPr lang="en-US" sz="2000" dirty="0"/>
              <a:t>Computers are annoying us</a:t>
            </a:r>
          </a:p>
          <a:p>
            <a:pPr marL="1005840" lvl="1" indent="-457200">
              <a:buFont typeface="+mj-lt"/>
              <a:buAutoNum type="arabicPeriod"/>
            </a:pPr>
            <a:r>
              <a:rPr lang="en-US" sz="2000" dirty="0"/>
              <a:t>They are infuriating us</a:t>
            </a:r>
          </a:p>
          <a:p>
            <a:pPr marL="1005840" lvl="1" indent="-457200">
              <a:buFont typeface="+mj-lt"/>
              <a:buAutoNum type="arabicPeriod"/>
            </a:pPr>
            <a:r>
              <a:rPr lang="en-US" sz="2000" dirty="0"/>
              <a:t>They even kill a few of us </a:t>
            </a:r>
          </a:p>
          <a:p>
            <a:pPr marL="1005840" lvl="1" indent="-457200">
              <a:buFont typeface="+mj-lt"/>
              <a:buAutoNum type="arabicPeriod"/>
            </a:pPr>
            <a:endParaRPr lang="en-US" dirty="0"/>
          </a:p>
          <a:p>
            <a:endParaRPr lang="en-US" dirty="0"/>
          </a:p>
        </p:txBody>
      </p:sp>
      <p:sp>
        <p:nvSpPr>
          <p:cNvPr id="2" name="Title 1"/>
          <p:cNvSpPr>
            <a:spLocks noGrp="1"/>
          </p:cNvSpPr>
          <p:nvPr>
            <p:ph type="title"/>
          </p:nvPr>
        </p:nvSpPr>
        <p:spPr>
          <a:xfrm>
            <a:off x="1371600" y="1524000"/>
            <a:ext cx="7620000" cy="1066800"/>
          </a:xfrm>
        </p:spPr>
        <p:txBody>
          <a:bodyPr>
            <a:normAutofit/>
          </a:bodyPr>
          <a:lstStyle/>
          <a:p>
            <a:r>
              <a:rPr lang="en-US" dirty="0"/>
              <a:t>Computer is becoming Ubiquitous</a:t>
            </a:r>
          </a:p>
        </p:txBody>
      </p:sp>
    </p:spTree>
    <p:extLst>
      <p:ext uri="{BB962C8B-B14F-4D97-AF65-F5344CB8AC3E}">
        <p14:creationId xmlns:p14="http://schemas.microsoft.com/office/powerpoint/2010/main" val="30061405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normAutofit lnSpcReduction="10000"/>
          </a:bodyPr>
          <a:lstStyle/>
          <a:p>
            <a:r>
              <a:rPr lang="en-US" dirty="0"/>
              <a:t>HCI plays a role to bridge up the gap between the interfaces of machines and human understanding that we have seen in previous examples</a:t>
            </a:r>
          </a:p>
        </p:txBody>
      </p:sp>
      <p:sp>
        <p:nvSpPr>
          <p:cNvPr id="2" name="Title 1"/>
          <p:cNvSpPr>
            <a:spLocks noGrp="1"/>
          </p:cNvSpPr>
          <p:nvPr>
            <p:ph type="title"/>
          </p:nvPr>
        </p:nvSpPr>
        <p:spPr/>
        <p:txBody>
          <a:bodyPr/>
          <a:lstStyle/>
          <a:p>
            <a:r>
              <a:rPr lang="en-US" dirty="0"/>
              <a:t>Role of HCI</a:t>
            </a:r>
          </a:p>
        </p:txBody>
      </p:sp>
    </p:spTree>
    <p:extLst>
      <p:ext uri="{BB962C8B-B14F-4D97-AF65-F5344CB8AC3E}">
        <p14:creationId xmlns:p14="http://schemas.microsoft.com/office/powerpoint/2010/main" val="32009437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Human Computer Interaction </a:t>
            </a:r>
          </a:p>
        </p:txBody>
      </p:sp>
      <p:sp>
        <p:nvSpPr>
          <p:cNvPr id="3" name="Content Placeholder 2"/>
          <p:cNvSpPr>
            <a:spLocks noGrp="1"/>
          </p:cNvSpPr>
          <p:nvPr>
            <p:ph sz="quarter" idx="1"/>
          </p:nvPr>
        </p:nvSpPr>
        <p:spPr/>
        <p:txBody>
          <a:bodyPr/>
          <a:lstStyle/>
          <a:p>
            <a:r>
              <a:rPr lang="en-US" dirty="0"/>
              <a:t>The Humans </a:t>
            </a:r>
          </a:p>
          <a:p>
            <a:r>
              <a:rPr lang="en-US" dirty="0"/>
              <a:t>The Computers </a:t>
            </a:r>
          </a:p>
          <a:p>
            <a:r>
              <a:rPr lang="en-US" dirty="0"/>
              <a:t>The Interaction </a:t>
            </a:r>
          </a:p>
        </p:txBody>
      </p:sp>
      <p:pic>
        <p:nvPicPr>
          <p:cNvPr id="4" name="Picture 5" descr="j029298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3432175"/>
            <a:ext cx="1843088" cy="1819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5" name="Group 13"/>
          <p:cNvGrpSpPr>
            <a:grpSpLocks/>
          </p:cNvGrpSpPr>
          <p:nvPr/>
        </p:nvGrpSpPr>
        <p:grpSpPr bwMode="auto">
          <a:xfrm>
            <a:off x="6324600" y="2819400"/>
            <a:ext cx="1371600" cy="2514600"/>
            <a:chOff x="3552" y="1248"/>
            <a:chExt cx="864" cy="1584"/>
          </a:xfrm>
        </p:grpSpPr>
        <p:sp>
          <p:nvSpPr>
            <p:cNvPr id="6" name="Oval 7"/>
            <p:cNvSpPr>
              <a:spLocks noChangeArrowheads="1"/>
            </p:cNvSpPr>
            <p:nvPr/>
          </p:nvSpPr>
          <p:spPr bwMode="blackWhite">
            <a:xfrm>
              <a:off x="3696" y="1248"/>
              <a:ext cx="576" cy="57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8"/>
            <p:cNvSpPr>
              <a:spLocks noChangeShapeType="1"/>
            </p:cNvSpPr>
            <p:nvPr/>
          </p:nvSpPr>
          <p:spPr bwMode="blackWhite">
            <a:xfrm>
              <a:off x="3984" y="1824"/>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9"/>
            <p:cNvSpPr>
              <a:spLocks noChangeShapeType="1"/>
            </p:cNvSpPr>
            <p:nvPr/>
          </p:nvSpPr>
          <p:spPr bwMode="blackWhite">
            <a:xfrm flipH="1">
              <a:off x="3552" y="240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Line 10"/>
            <p:cNvSpPr>
              <a:spLocks noChangeShapeType="1"/>
            </p:cNvSpPr>
            <p:nvPr/>
          </p:nvSpPr>
          <p:spPr bwMode="blackWhite">
            <a:xfrm>
              <a:off x="3984" y="240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11"/>
            <p:cNvSpPr>
              <a:spLocks noChangeShapeType="1"/>
            </p:cNvSpPr>
            <p:nvPr/>
          </p:nvSpPr>
          <p:spPr bwMode="blackWhite">
            <a:xfrm>
              <a:off x="3552" y="206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1" name="Line 12"/>
          <p:cNvSpPr>
            <a:spLocks noChangeShapeType="1"/>
          </p:cNvSpPr>
          <p:nvPr/>
        </p:nvSpPr>
        <p:spPr bwMode="blackWhite">
          <a:xfrm>
            <a:off x="3505200" y="4114800"/>
            <a:ext cx="243840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Text Box 14"/>
          <p:cNvSpPr txBox="1">
            <a:spLocks noChangeArrowheads="1"/>
          </p:cNvSpPr>
          <p:nvPr/>
        </p:nvSpPr>
        <p:spPr bwMode="blackWhite">
          <a:xfrm>
            <a:off x="6553200" y="5522913"/>
            <a:ext cx="920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b="0"/>
              <a:t>Human</a:t>
            </a:r>
          </a:p>
        </p:txBody>
      </p:sp>
      <p:sp>
        <p:nvSpPr>
          <p:cNvPr id="13" name="Text Box 15"/>
          <p:cNvSpPr txBox="1">
            <a:spLocks noChangeArrowheads="1"/>
          </p:cNvSpPr>
          <p:nvPr/>
        </p:nvSpPr>
        <p:spPr bwMode="blackWhite">
          <a:xfrm>
            <a:off x="1600200" y="5486400"/>
            <a:ext cx="1187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b="0"/>
              <a:t>Computer</a:t>
            </a:r>
          </a:p>
        </p:txBody>
      </p:sp>
      <p:sp>
        <p:nvSpPr>
          <p:cNvPr id="14" name="Text Box 16"/>
          <p:cNvSpPr txBox="1">
            <a:spLocks noChangeArrowheads="1"/>
          </p:cNvSpPr>
          <p:nvPr/>
        </p:nvSpPr>
        <p:spPr bwMode="blackWhite">
          <a:xfrm>
            <a:off x="4083050" y="4281488"/>
            <a:ext cx="1250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b="0"/>
              <a:t>Interaction</a:t>
            </a:r>
          </a:p>
        </p:txBody>
      </p:sp>
    </p:spTree>
    <p:extLst>
      <p:ext uri="{BB962C8B-B14F-4D97-AF65-F5344CB8AC3E}">
        <p14:creationId xmlns:p14="http://schemas.microsoft.com/office/powerpoint/2010/main" val="28428206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Human                  Computer</a:t>
            </a:r>
          </a:p>
        </p:txBody>
      </p:sp>
      <p:sp>
        <p:nvSpPr>
          <p:cNvPr id="3" name="Content Placeholder 2"/>
          <p:cNvSpPr>
            <a:spLocks noGrp="1"/>
          </p:cNvSpPr>
          <p:nvPr>
            <p:ph sz="quarter" idx="1"/>
          </p:nvPr>
        </p:nvSpPr>
        <p:spPr>
          <a:xfrm>
            <a:off x="838200" y="1524000"/>
            <a:ext cx="2590800" cy="4572000"/>
          </a:xfrm>
        </p:spPr>
        <p:txBody>
          <a:bodyPr>
            <a:normAutofit fontScale="92500" lnSpcReduction="10000"/>
          </a:bodyPr>
          <a:lstStyle/>
          <a:p>
            <a:r>
              <a:rPr lang="en-US" dirty="0"/>
              <a:t>Complex</a:t>
            </a:r>
          </a:p>
          <a:p>
            <a:endParaRPr lang="en-US" dirty="0"/>
          </a:p>
          <a:p>
            <a:r>
              <a:rPr lang="en-US" dirty="0"/>
              <a:t>Intelligent</a:t>
            </a:r>
          </a:p>
          <a:p>
            <a:endParaRPr lang="en-US" dirty="0"/>
          </a:p>
          <a:p>
            <a:r>
              <a:rPr lang="en-US" dirty="0"/>
              <a:t>Free will</a:t>
            </a:r>
          </a:p>
          <a:p>
            <a:endParaRPr lang="en-US" dirty="0"/>
          </a:p>
          <a:p>
            <a:r>
              <a:rPr lang="en-US" dirty="0"/>
              <a:t>Range of emotions</a:t>
            </a:r>
          </a:p>
          <a:p>
            <a:endParaRPr lang="en-US" dirty="0"/>
          </a:p>
          <a:p>
            <a:r>
              <a:rPr lang="en-US" dirty="0"/>
              <a:t>Make mistakes</a:t>
            </a:r>
          </a:p>
          <a:p>
            <a:endParaRPr lang="en-US" dirty="0"/>
          </a:p>
        </p:txBody>
      </p:sp>
      <p:sp>
        <p:nvSpPr>
          <p:cNvPr id="5" name="Rectangle 3"/>
          <p:cNvSpPr txBox="1">
            <a:spLocks noChangeArrowheads="1"/>
          </p:cNvSpPr>
          <p:nvPr/>
        </p:nvSpPr>
        <p:spPr>
          <a:xfrm>
            <a:off x="4800600" y="1600200"/>
            <a:ext cx="3352800" cy="4525963"/>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dirty="0"/>
              <a:t>Dumb</a:t>
            </a:r>
          </a:p>
          <a:p>
            <a:endParaRPr lang="en-US" dirty="0"/>
          </a:p>
          <a:p>
            <a:r>
              <a:rPr lang="en-US" dirty="0"/>
              <a:t>Unintelligent</a:t>
            </a:r>
          </a:p>
          <a:p>
            <a:endParaRPr lang="en-US" dirty="0"/>
          </a:p>
          <a:p>
            <a:r>
              <a:rPr lang="en-US" dirty="0"/>
              <a:t>Only do what they are told to do</a:t>
            </a:r>
          </a:p>
          <a:p>
            <a:r>
              <a:rPr lang="en-US" dirty="0"/>
              <a:t>Emotionless</a:t>
            </a:r>
          </a:p>
          <a:p>
            <a:endParaRPr lang="en-US" dirty="0"/>
          </a:p>
          <a:p>
            <a:r>
              <a:rPr lang="en-US" dirty="0"/>
              <a:t>Don’t make mistakes</a:t>
            </a:r>
          </a:p>
        </p:txBody>
      </p:sp>
    </p:spTree>
    <p:extLst>
      <p:ext uri="{BB962C8B-B14F-4D97-AF65-F5344CB8AC3E}">
        <p14:creationId xmlns:p14="http://schemas.microsoft.com/office/powerpoint/2010/main" val="23043386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&amp; computer</a:t>
            </a:r>
          </a:p>
        </p:txBody>
      </p:sp>
      <p:sp>
        <p:nvSpPr>
          <p:cNvPr id="3" name="Content Placeholder 2"/>
          <p:cNvSpPr>
            <a:spLocks noGrp="1"/>
          </p:cNvSpPr>
          <p:nvPr>
            <p:ph sz="quarter" idx="1"/>
          </p:nvPr>
        </p:nvSpPr>
        <p:spPr/>
        <p:txBody>
          <a:bodyPr/>
          <a:lstStyle/>
          <a:p>
            <a:r>
              <a:rPr lang="en-US" dirty="0"/>
              <a:t>Language</a:t>
            </a:r>
          </a:p>
          <a:p>
            <a:r>
              <a:rPr lang="en-US" dirty="0"/>
              <a:t>Speed</a:t>
            </a:r>
          </a:p>
          <a:p>
            <a:r>
              <a:rPr lang="en-US" dirty="0"/>
              <a:t>Energy </a:t>
            </a:r>
          </a:p>
          <a:p>
            <a:r>
              <a:rPr lang="en-US" dirty="0"/>
              <a:t>Brain vs Processor </a:t>
            </a:r>
          </a:p>
        </p:txBody>
      </p:sp>
    </p:spTree>
    <p:extLst>
      <p:ext uri="{BB962C8B-B14F-4D97-AF65-F5344CB8AC3E}">
        <p14:creationId xmlns:p14="http://schemas.microsoft.com/office/powerpoint/2010/main" val="10687925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Interaction </a:t>
            </a:r>
          </a:p>
        </p:txBody>
      </p:sp>
      <p:sp>
        <p:nvSpPr>
          <p:cNvPr id="3" name="Content Placeholder 2"/>
          <p:cNvSpPr>
            <a:spLocks noGrp="1"/>
          </p:cNvSpPr>
          <p:nvPr>
            <p:ph sz="quarter" idx="1"/>
          </p:nvPr>
        </p:nvSpPr>
        <p:spPr/>
        <p:txBody>
          <a:bodyPr>
            <a:normAutofit/>
          </a:bodyPr>
          <a:lstStyle/>
          <a:p>
            <a:r>
              <a:rPr lang="en-US" dirty="0"/>
              <a:t>If we want to communicate with a device which speaks a language that is different from us </a:t>
            </a:r>
          </a:p>
          <a:p>
            <a:endParaRPr lang="en-US" dirty="0"/>
          </a:p>
          <a:p>
            <a:r>
              <a:rPr lang="en-US" dirty="0"/>
              <a:t>Then we need …. </a:t>
            </a:r>
          </a:p>
          <a:p>
            <a:endParaRPr lang="en-US" dirty="0"/>
          </a:p>
          <a:p>
            <a:r>
              <a:rPr lang="en-US" dirty="0"/>
              <a:t>Translator  </a:t>
            </a:r>
            <a:r>
              <a:rPr lang="en-US" dirty="0">
                <a:sym typeface="Wingdings" panose="05000000000000000000" pitchFamily="2" charset="2"/>
              </a:rPr>
              <a:t> ??</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E.g. </a:t>
            </a:r>
            <a:r>
              <a:rPr lang="en-US" dirty="0" err="1">
                <a:sym typeface="Wingdings" panose="05000000000000000000" pitchFamily="2" charset="2"/>
              </a:rPr>
              <a:t>Ms</a:t>
            </a:r>
            <a:r>
              <a:rPr lang="en-US" dirty="0">
                <a:sym typeface="Wingdings" panose="05000000000000000000" pitchFamily="2" charset="2"/>
              </a:rPr>
              <a:t> Word bold text functionality</a:t>
            </a:r>
          </a:p>
          <a:p>
            <a:pPr marL="0" indent="0">
              <a:buNone/>
            </a:pPr>
            <a:endParaRPr lang="en-US" dirty="0">
              <a:sym typeface="Wingdings" panose="05000000000000000000" pitchFamily="2" charset="2"/>
            </a:endParaRPr>
          </a:p>
        </p:txBody>
      </p:sp>
    </p:spTree>
    <p:extLst>
      <p:ext uri="{BB962C8B-B14F-4D97-AF65-F5344CB8AC3E}">
        <p14:creationId xmlns:p14="http://schemas.microsoft.com/office/powerpoint/2010/main" val="3659574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Interaction</a:t>
            </a:r>
          </a:p>
        </p:txBody>
      </p:sp>
      <p:sp>
        <p:nvSpPr>
          <p:cNvPr id="3" name="Content Placeholder 2"/>
          <p:cNvSpPr>
            <a:spLocks noGrp="1"/>
          </p:cNvSpPr>
          <p:nvPr>
            <p:ph sz="quarter" idx="1"/>
          </p:nvPr>
        </p:nvSpPr>
        <p:spPr/>
        <p:txBody>
          <a:bodyPr/>
          <a:lstStyle/>
          <a:p>
            <a:r>
              <a:rPr lang="en-US" dirty="0"/>
              <a:t>Communication between user and system </a:t>
            </a:r>
          </a:p>
          <a:p>
            <a:endParaRPr lang="en-US" dirty="0"/>
          </a:p>
          <a:p>
            <a:r>
              <a:rPr lang="en-US" dirty="0"/>
              <a:t>Experience of Interface </a:t>
            </a:r>
          </a:p>
          <a:p>
            <a:endParaRPr lang="en-US" dirty="0"/>
          </a:p>
          <a:p>
            <a:r>
              <a:rPr lang="en-US" dirty="0"/>
              <a:t>Conveying information from one party to another</a:t>
            </a:r>
          </a:p>
          <a:p>
            <a:endParaRPr lang="en-US" dirty="0"/>
          </a:p>
          <a:p>
            <a:r>
              <a:rPr lang="en-US" dirty="0"/>
              <a:t>Translation between languages</a:t>
            </a:r>
          </a:p>
          <a:p>
            <a:endParaRPr lang="en-US" dirty="0"/>
          </a:p>
          <a:p>
            <a:endParaRPr lang="en-US" dirty="0"/>
          </a:p>
        </p:txBody>
      </p:sp>
    </p:spTree>
    <p:extLst>
      <p:ext uri="{BB962C8B-B14F-4D97-AF65-F5344CB8AC3E}">
        <p14:creationId xmlns:p14="http://schemas.microsoft.com/office/powerpoint/2010/main" val="26236687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93806" cy="994172"/>
          </a:xfrm>
        </p:spPr>
        <p:txBody>
          <a:bodyPr>
            <a:normAutofit fontScale="90000"/>
          </a:bodyPr>
          <a:lstStyle/>
          <a:p>
            <a:r>
              <a:rPr lang="en-US" dirty="0"/>
              <a:t>Interaction Model: </a:t>
            </a:r>
            <a:r>
              <a:rPr lang="en-US" dirty="0" err="1"/>
              <a:t>Abowd</a:t>
            </a:r>
            <a:r>
              <a:rPr lang="en-US" dirty="0"/>
              <a:t> and Beale Framework </a:t>
            </a:r>
          </a:p>
        </p:txBody>
      </p:sp>
      <p:pic>
        <p:nvPicPr>
          <p:cNvPr id="4" name="Picture 2"/>
          <p:cNvPicPr>
            <a:picLocks noGrp="1" noChangeAspect="1" noChangeArrowheads="1"/>
          </p:cNvPicPr>
          <p:nvPr>
            <p:ph sz="quarter" idx="1"/>
          </p:nvPr>
        </p:nvPicPr>
        <p:blipFill>
          <a:blip r:embed="rId3" cstate="print"/>
          <a:stretch>
            <a:fillRect/>
          </a:stretch>
        </p:blipFill>
        <p:spPr bwMode="auto">
          <a:xfrm>
            <a:off x="2895600" y="2329860"/>
            <a:ext cx="5196756" cy="3352417"/>
          </a:xfrm>
          <a:prstGeom prst="rect">
            <a:avLst/>
          </a:prstGeom>
          <a:noFill/>
          <a:ln w="9525">
            <a:noFill/>
            <a:miter lim="800000"/>
            <a:headEnd/>
            <a:tailEnd/>
          </a:ln>
          <a:effectLst/>
        </p:spPr>
      </p:pic>
      <p:cxnSp>
        <p:nvCxnSpPr>
          <p:cNvPr id="6" name="Straight Connector 5"/>
          <p:cNvCxnSpPr/>
          <p:nvPr/>
        </p:nvCxnSpPr>
        <p:spPr>
          <a:xfrm flipV="1">
            <a:off x="77273" y="4006069"/>
            <a:ext cx="8432442" cy="972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614750" y="3199975"/>
            <a:ext cx="1950344" cy="437043"/>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100" dirty="0">
                <a:solidFill>
                  <a:schemeClr val="accent2"/>
                </a:solidFill>
              </a:rPr>
              <a:t>Evaluation Area</a:t>
            </a:r>
          </a:p>
        </p:txBody>
      </p:sp>
      <p:sp>
        <p:nvSpPr>
          <p:cNvPr id="9" name="Content Placeholder 2"/>
          <p:cNvSpPr txBox="1">
            <a:spLocks/>
          </p:cNvSpPr>
          <p:nvPr/>
        </p:nvSpPr>
        <p:spPr>
          <a:xfrm>
            <a:off x="627040" y="4191000"/>
            <a:ext cx="1950344" cy="298090"/>
          </a:xfrm>
          <a:prstGeom prst="rect">
            <a:avLst/>
          </a:prstGeom>
        </p:spPr>
        <p:txBody>
          <a:bodyPr vert="horz" lIns="68580" tIns="34290" rIns="68580" bIns="3429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100" dirty="0">
                <a:solidFill>
                  <a:schemeClr val="accent2"/>
                </a:solidFill>
              </a:rPr>
              <a:t>Execution Area</a:t>
            </a:r>
          </a:p>
        </p:txBody>
      </p:sp>
    </p:spTree>
    <p:extLst>
      <p:ext uri="{BB962C8B-B14F-4D97-AF65-F5344CB8AC3E}">
        <p14:creationId xmlns:p14="http://schemas.microsoft.com/office/powerpoint/2010/main" val="19261165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Human-Computer Interaction </a:t>
            </a:r>
          </a:p>
        </p:txBody>
      </p:sp>
      <p:sp>
        <p:nvSpPr>
          <p:cNvPr id="3" name="Content Placeholder 2"/>
          <p:cNvSpPr>
            <a:spLocks noGrp="1"/>
          </p:cNvSpPr>
          <p:nvPr>
            <p:ph sz="quarter" idx="1"/>
          </p:nvPr>
        </p:nvSpPr>
        <p:spPr/>
        <p:txBody>
          <a:bodyPr>
            <a:normAutofit fontScale="77500" lnSpcReduction="20000"/>
          </a:bodyPr>
          <a:lstStyle/>
          <a:p>
            <a:r>
              <a:rPr lang="en-US" dirty="0"/>
              <a:t>What </a:t>
            </a:r>
          </a:p>
          <a:p>
            <a:pPr lvl="1"/>
            <a:r>
              <a:rPr lang="en-US" dirty="0"/>
              <a:t>the study of </a:t>
            </a:r>
            <a:r>
              <a:rPr lang="en-US" i="1" dirty="0"/>
              <a:t>interaction between people and computer-based systems</a:t>
            </a:r>
          </a:p>
          <a:p>
            <a:pPr lvl="1"/>
            <a:r>
              <a:rPr lang="en-US" dirty="0"/>
              <a:t>concern with the </a:t>
            </a:r>
            <a:r>
              <a:rPr lang="en-US" i="1" dirty="0"/>
              <a:t>physical, psychological and theoretical aspects of this process</a:t>
            </a:r>
          </a:p>
          <a:p>
            <a:endParaRPr lang="en-US" i="1" dirty="0"/>
          </a:p>
          <a:p>
            <a:r>
              <a:rPr lang="en-US" dirty="0"/>
              <a:t>Why </a:t>
            </a:r>
          </a:p>
          <a:p>
            <a:pPr lvl="1"/>
            <a:r>
              <a:rPr lang="en-US" i="1" dirty="0"/>
              <a:t>to enable us to design interactive products to support people in their everyday and working lives</a:t>
            </a:r>
          </a:p>
          <a:p>
            <a:endParaRPr lang="en-US" dirty="0"/>
          </a:p>
          <a:p>
            <a:r>
              <a:rPr lang="en-US" dirty="0"/>
              <a:t>Goals </a:t>
            </a:r>
          </a:p>
          <a:p>
            <a:pPr lvl="1"/>
            <a:r>
              <a:rPr lang="en-US" dirty="0"/>
              <a:t>Usability</a:t>
            </a:r>
          </a:p>
          <a:p>
            <a:pPr lvl="1"/>
            <a:r>
              <a:rPr lang="en-US" dirty="0" err="1"/>
              <a:t>Pleasurability</a:t>
            </a:r>
            <a:endParaRPr lang="en-US" dirty="0"/>
          </a:p>
          <a:p>
            <a:pPr lvl="1"/>
            <a:r>
              <a:rPr lang="en-US" dirty="0"/>
              <a:t>User experience and emotions</a:t>
            </a:r>
          </a:p>
        </p:txBody>
      </p:sp>
    </p:spTree>
    <p:extLst>
      <p:ext uri="{BB962C8B-B14F-4D97-AF65-F5344CB8AC3E}">
        <p14:creationId xmlns:p14="http://schemas.microsoft.com/office/powerpoint/2010/main" val="34705613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547938"/>
            <a:ext cx="7772400" cy="2252662"/>
          </a:xfrm>
        </p:spPr>
        <p:txBody>
          <a:bodyPr>
            <a:normAutofit fontScale="92500" lnSpcReduction="20000"/>
          </a:bodyPr>
          <a:lstStyle/>
          <a:p>
            <a:pPr marL="457200" indent="-457200">
              <a:buFont typeface="+mj-lt"/>
              <a:buAutoNum type="arabicPeriod"/>
            </a:pPr>
            <a:r>
              <a:rPr lang="en-US" dirty="0"/>
              <a:t>Is all computer aided equipment inherently hard to use?</a:t>
            </a:r>
          </a:p>
          <a:p>
            <a:pPr marL="457200" indent="-457200">
              <a:buFont typeface="+mj-lt"/>
              <a:buAutoNum type="arabicPeriod"/>
            </a:pPr>
            <a:r>
              <a:rPr lang="en-US" dirty="0"/>
              <a:t>Paradox</a:t>
            </a:r>
          </a:p>
          <a:p>
            <a:pPr marL="1005840" lvl="1" indent="-457200">
              <a:buFont typeface="+mj-lt"/>
              <a:buAutoNum type="arabicPeriod"/>
            </a:pPr>
            <a:r>
              <a:rPr lang="en-US" dirty="0"/>
              <a:t>Computerized tools hard to use</a:t>
            </a:r>
          </a:p>
          <a:p>
            <a:pPr marL="1005840" lvl="1" indent="-457200">
              <a:buFont typeface="+mj-lt"/>
              <a:buAutoNum type="arabicPeriod"/>
            </a:pPr>
            <a:r>
              <a:rPr lang="en-US" dirty="0"/>
              <a:t>Computers were invented to make life easy, convenient and efficient</a:t>
            </a:r>
          </a:p>
          <a:p>
            <a:pPr algn="ctr"/>
            <a:r>
              <a:rPr lang="en-US" dirty="0"/>
              <a:t>So who is to be blamed?</a:t>
            </a:r>
          </a:p>
          <a:p>
            <a:endParaRPr lang="en-US" dirty="0"/>
          </a:p>
          <a:p>
            <a:endParaRPr lang="en-US" sz="4600" b="1" dirty="0"/>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3792982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122238"/>
            <a:ext cx="7543800" cy="858837"/>
          </a:xfrm>
        </p:spPr>
        <p:txBody>
          <a:bodyPr>
            <a:normAutofit/>
          </a:bodyPr>
          <a:lstStyle/>
          <a:p>
            <a:pPr eaLnBrk="1" hangingPunct="1"/>
            <a:r>
              <a:rPr lang="en-GB" sz="2600" dirty="0"/>
              <a:t>How do we design good interfaces?</a:t>
            </a:r>
          </a:p>
        </p:txBody>
      </p:sp>
      <p:sp>
        <p:nvSpPr>
          <p:cNvPr id="13315" name="Rectangle 3"/>
          <p:cNvSpPr>
            <a:spLocks noChangeArrowheads="1"/>
          </p:cNvSpPr>
          <p:nvPr/>
        </p:nvSpPr>
        <p:spPr bwMode="auto">
          <a:xfrm>
            <a:off x="477838" y="2076450"/>
            <a:ext cx="1684337" cy="798513"/>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GB" b="1"/>
              <a:t>Requirements</a:t>
            </a:r>
          </a:p>
        </p:txBody>
      </p:sp>
      <p:sp>
        <p:nvSpPr>
          <p:cNvPr id="13316" name="Rectangle 4"/>
          <p:cNvSpPr>
            <a:spLocks noChangeArrowheads="1"/>
          </p:cNvSpPr>
          <p:nvPr/>
        </p:nvSpPr>
        <p:spPr bwMode="auto">
          <a:xfrm>
            <a:off x="2173288" y="2886075"/>
            <a:ext cx="1684337" cy="7683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GB" b="1"/>
              <a:t>Design</a:t>
            </a:r>
          </a:p>
        </p:txBody>
      </p:sp>
      <p:sp>
        <p:nvSpPr>
          <p:cNvPr id="13317" name="Rectangle 5"/>
          <p:cNvSpPr>
            <a:spLocks noChangeArrowheads="1"/>
          </p:cNvSpPr>
          <p:nvPr/>
        </p:nvSpPr>
        <p:spPr bwMode="auto">
          <a:xfrm>
            <a:off x="3868738" y="3668713"/>
            <a:ext cx="1684337" cy="7683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GB" b="1"/>
              <a:t>Implement</a:t>
            </a:r>
          </a:p>
        </p:txBody>
      </p:sp>
      <p:sp>
        <p:nvSpPr>
          <p:cNvPr id="13318" name="Rectangle 6"/>
          <p:cNvSpPr>
            <a:spLocks noChangeArrowheads="1"/>
          </p:cNvSpPr>
          <p:nvPr/>
        </p:nvSpPr>
        <p:spPr bwMode="auto">
          <a:xfrm>
            <a:off x="5583238" y="4437063"/>
            <a:ext cx="1684337" cy="7683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GB" b="1"/>
              <a:t>Test</a:t>
            </a:r>
          </a:p>
        </p:txBody>
      </p:sp>
      <p:sp>
        <p:nvSpPr>
          <p:cNvPr id="13319" name="Rectangle 7"/>
          <p:cNvSpPr>
            <a:spLocks noChangeArrowheads="1"/>
          </p:cNvSpPr>
          <p:nvPr/>
        </p:nvSpPr>
        <p:spPr bwMode="auto">
          <a:xfrm>
            <a:off x="7281863" y="5205413"/>
            <a:ext cx="1684337" cy="7683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GB" b="1"/>
              <a:t>Maintain</a:t>
            </a:r>
          </a:p>
        </p:txBody>
      </p:sp>
      <p:sp>
        <p:nvSpPr>
          <p:cNvPr id="13320" name="AutoShape 8"/>
          <p:cNvSpPr>
            <a:spLocks noChangeArrowheads="1"/>
          </p:cNvSpPr>
          <p:nvPr/>
        </p:nvSpPr>
        <p:spPr bwMode="auto">
          <a:xfrm rot="5400000">
            <a:off x="2163763" y="2103438"/>
            <a:ext cx="766762" cy="766762"/>
          </a:xfrm>
          <a:custGeom>
            <a:avLst/>
            <a:gdLst>
              <a:gd name="T0" fmla="*/ 19060640 w 21600"/>
              <a:gd name="T1" fmla="*/ 0 h 21600"/>
              <a:gd name="T2" fmla="*/ 19060640 w 21600"/>
              <a:gd name="T3" fmla="*/ 15320614 h 21600"/>
              <a:gd name="T4" fmla="*/ 4079031 w 21600"/>
              <a:gd name="T5" fmla="*/ 27218701 h 21600"/>
              <a:gd name="T6" fmla="*/ 27218701 w 21600"/>
              <a:gd name="T7" fmla="*/ 766030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12700">
            <a:solidFill>
              <a:schemeClr val="tx1"/>
            </a:solidFill>
            <a:miter lim="800000"/>
            <a:headEnd type="none" w="sm" len="sm"/>
            <a:tailEnd type="none" w="sm" len="sm"/>
          </a:ln>
        </p:spPr>
        <p:txBody>
          <a:bodyPr wrap="none" anchor="ctr"/>
          <a:lstStyle/>
          <a:p>
            <a:endParaRPr lang="en-US"/>
          </a:p>
        </p:txBody>
      </p:sp>
      <p:sp>
        <p:nvSpPr>
          <p:cNvPr id="13321" name="AutoShape 9"/>
          <p:cNvSpPr>
            <a:spLocks noChangeArrowheads="1"/>
          </p:cNvSpPr>
          <p:nvPr/>
        </p:nvSpPr>
        <p:spPr bwMode="auto">
          <a:xfrm rot="5400000">
            <a:off x="3846513" y="2884488"/>
            <a:ext cx="766762" cy="766762"/>
          </a:xfrm>
          <a:custGeom>
            <a:avLst/>
            <a:gdLst>
              <a:gd name="T0" fmla="*/ 19060640 w 21600"/>
              <a:gd name="T1" fmla="*/ 0 h 21600"/>
              <a:gd name="T2" fmla="*/ 19060640 w 21600"/>
              <a:gd name="T3" fmla="*/ 15320614 h 21600"/>
              <a:gd name="T4" fmla="*/ 4079031 w 21600"/>
              <a:gd name="T5" fmla="*/ 27218701 h 21600"/>
              <a:gd name="T6" fmla="*/ 27218701 w 21600"/>
              <a:gd name="T7" fmla="*/ 766030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12700">
            <a:solidFill>
              <a:schemeClr val="tx1"/>
            </a:solidFill>
            <a:miter lim="800000"/>
            <a:headEnd type="none" w="sm" len="sm"/>
            <a:tailEnd type="none" w="sm" len="sm"/>
          </a:ln>
        </p:spPr>
        <p:txBody>
          <a:bodyPr wrap="none" anchor="ctr"/>
          <a:lstStyle/>
          <a:p>
            <a:endParaRPr lang="en-US"/>
          </a:p>
        </p:txBody>
      </p:sp>
      <p:sp>
        <p:nvSpPr>
          <p:cNvPr id="13322" name="AutoShape 10"/>
          <p:cNvSpPr>
            <a:spLocks noChangeArrowheads="1"/>
          </p:cNvSpPr>
          <p:nvPr/>
        </p:nvSpPr>
        <p:spPr bwMode="auto">
          <a:xfrm rot="5400000">
            <a:off x="5557838" y="3668713"/>
            <a:ext cx="766762" cy="766762"/>
          </a:xfrm>
          <a:custGeom>
            <a:avLst/>
            <a:gdLst>
              <a:gd name="T0" fmla="*/ 19060640 w 21600"/>
              <a:gd name="T1" fmla="*/ 0 h 21600"/>
              <a:gd name="T2" fmla="*/ 19060640 w 21600"/>
              <a:gd name="T3" fmla="*/ 15320614 h 21600"/>
              <a:gd name="T4" fmla="*/ 4079031 w 21600"/>
              <a:gd name="T5" fmla="*/ 27218701 h 21600"/>
              <a:gd name="T6" fmla="*/ 27218701 w 21600"/>
              <a:gd name="T7" fmla="*/ 766030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12700">
            <a:solidFill>
              <a:schemeClr val="tx1"/>
            </a:solidFill>
            <a:miter lim="800000"/>
            <a:headEnd type="none" w="sm" len="sm"/>
            <a:tailEnd type="none" w="sm" len="sm"/>
          </a:ln>
        </p:spPr>
        <p:txBody>
          <a:bodyPr wrap="none" anchor="ctr"/>
          <a:lstStyle/>
          <a:p>
            <a:endParaRPr lang="en-US"/>
          </a:p>
        </p:txBody>
      </p:sp>
      <p:sp>
        <p:nvSpPr>
          <p:cNvPr id="13323" name="AutoShape 11"/>
          <p:cNvSpPr>
            <a:spLocks noChangeArrowheads="1"/>
          </p:cNvSpPr>
          <p:nvPr/>
        </p:nvSpPr>
        <p:spPr bwMode="auto">
          <a:xfrm rot="5400000">
            <a:off x="7270750" y="4438650"/>
            <a:ext cx="766763" cy="766763"/>
          </a:xfrm>
          <a:custGeom>
            <a:avLst/>
            <a:gdLst>
              <a:gd name="T0" fmla="*/ 19060701 w 21600"/>
              <a:gd name="T1" fmla="*/ 0 h 21600"/>
              <a:gd name="T2" fmla="*/ 19060701 w 21600"/>
              <a:gd name="T3" fmla="*/ 15320634 h 21600"/>
              <a:gd name="T4" fmla="*/ 4079037 w 21600"/>
              <a:gd name="T5" fmla="*/ 27218772 h 21600"/>
              <a:gd name="T6" fmla="*/ 27218772 w 21600"/>
              <a:gd name="T7" fmla="*/ 766031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12700">
            <a:solidFill>
              <a:schemeClr val="tx1"/>
            </a:solidFill>
            <a:miter lim="800000"/>
            <a:headEnd type="none" w="sm" len="sm"/>
            <a:tailEnd type="none" w="sm" len="sm"/>
          </a:ln>
        </p:spPr>
        <p:txBody>
          <a:bodyPr wrap="none" anchor="ctr"/>
          <a:lstStyle/>
          <a:p>
            <a:endParaRPr lang="en-US"/>
          </a:p>
        </p:txBody>
      </p:sp>
      <p:sp>
        <p:nvSpPr>
          <p:cNvPr id="13324" name="Text Box 12"/>
          <p:cNvSpPr txBox="1">
            <a:spLocks noChangeArrowheads="1"/>
          </p:cNvSpPr>
          <p:nvPr/>
        </p:nvSpPr>
        <p:spPr bwMode="auto">
          <a:xfrm>
            <a:off x="395288" y="5454650"/>
            <a:ext cx="2122487" cy="519113"/>
          </a:xfrm>
          <a:prstGeom prst="rect">
            <a:avLst/>
          </a:prstGeom>
          <a:noFill/>
          <a:ln w="12700">
            <a:noFill/>
            <a:miter lim="800000"/>
            <a:headEnd type="none" w="sm" len="sm"/>
            <a:tailEnd type="none" w="sm" len="sm"/>
          </a:ln>
        </p:spPr>
        <p:txBody>
          <a:bodyPr wrap="none">
            <a:spAutoFit/>
          </a:bodyPr>
          <a:lstStyle/>
          <a:p>
            <a:r>
              <a:rPr lang="en-GB" sz="2800" dirty="0"/>
              <a:t>Not like this!</a:t>
            </a:r>
          </a:p>
        </p:txBody>
      </p:sp>
    </p:spTree>
    <p:extLst>
      <p:ext uri="{BB962C8B-B14F-4D97-AF65-F5344CB8AC3E}">
        <p14:creationId xmlns:p14="http://schemas.microsoft.com/office/powerpoint/2010/main" val="174382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https://www.zentao.pm/file.php?f=201712/f_2a1ca764ce384a33d056f8256f6a1ce5&amp;t=jpg&amp;o=&amp;s=&amp;v=1512957254"/>
          <p:cNvPicPr>
            <a:picLocks noChangeAspect="1" noChangeArrowheads="1"/>
          </p:cNvPicPr>
          <p:nvPr/>
        </p:nvPicPr>
        <p:blipFill rotWithShape="1">
          <a:blip r:embed="rId2">
            <a:extLst>
              <a:ext uri="{28A0092B-C50C-407E-A947-70E740481C1C}">
                <a14:useLocalDpi xmlns:a14="http://schemas.microsoft.com/office/drawing/2010/main" val="0"/>
              </a:ext>
            </a:extLst>
          </a:blip>
          <a:srcRect l="1457" t="3544" r="2397" b="4293"/>
          <a:stretch/>
        </p:blipFill>
        <p:spPr bwMode="auto">
          <a:xfrm>
            <a:off x="9074" y="1066800"/>
            <a:ext cx="9134926" cy="5397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25051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p:txBody>
          <a:bodyPr>
            <a:normAutofit/>
          </a:bodyPr>
          <a:lstStyle/>
          <a:p>
            <a:r>
              <a:rPr lang="en-US" dirty="0"/>
              <a:t>HCI and Software Engineering</a:t>
            </a:r>
          </a:p>
        </p:txBody>
      </p:sp>
      <p:sp>
        <p:nvSpPr>
          <p:cNvPr id="5" name="Rectangle 3"/>
          <p:cNvSpPr txBox="1">
            <a:spLocks noChangeArrowheads="1"/>
          </p:cNvSpPr>
          <p:nvPr/>
        </p:nvSpPr>
        <p:spPr>
          <a:xfrm>
            <a:off x="457200" y="1600200"/>
            <a:ext cx="8229600" cy="4525963"/>
          </a:xfrm>
          <a:prstGeom prst="rect">
            <a:avLst/>
          </a:prstGeom>
        </p:spPr>
        <p:txBody>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dirty="0"/>
              <a:t>Software engineers focus on internal workings of software</a:t>
            </a:r>
          </a:p>
          <a:p>
            <a:pPr lvl="1"/>
            <a:r>
              <a:rPr lang="en-US" dirty="0"/>
              <a:t>Engineers believe that since they made it, can use it, everyone can use it</a:t>
            </a:r>
          </a:p>
          <a:p>
            <a:pPr lvl="1"/>
            <a:r>
              <a:rPr lang="en-US" dirty="0"/>
              <a:t>“If WE can use it, YOU can use it. If you can’t, YOU must be STUPID”</a:t>
            </a:r>
          </a:p>
          <a:p>
            <a:pPr lvl="1"/>
            <a:r>
              <a:rPr lang="en-US" dirty="0"/>
              <a:t>“Users are stupid” – anonymous</a:t>
            </a:r>
          </a:p>
          <a:p>
            <a:pPr lvl="1"/>
            <a:r>
              <a:rPr lang="en-US" dirty="0"/>
              <a:t>“Users are dummies” – anonymous</a:t>
            </a:r>
          </a:p>
          <a:p>
            <a:r>
              <a:rPr lang="en-US" dirty="0"/>
              <a:t>In HCI we are concerned with external workings of software</a:t>
            </a:r>
          </a:p>
        </p:txBody>
      </p:sp>
    </p:spTree>
    <p:extLst>
      <p:ext uri="{BB962C8B-B14F-4D97-AF65-F5344CB8AC3E}">
        <p14:creationId xmlns:p14="http://schemas.microsoft.com/office/powerpoint/2010/main" val="30918584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Emphasis on user</a:t>
            </a:r>
          </a:p>
        </p:txBody>
      </p:sp>
      <p:sp>
        <p:nvSpPr>
          <p:cNvPr id="3" name="Content Placeholder 2"/>
          <p:cNvSpPr>
            <a:spLocks noGrp="1"/>
          </p:cNvSpPr>
          <p:nvPr>
            <p:ph sz="quarter" idx="1"/>
          </p:nvPr>
        </p:nvSpPr>
        <p:spPr/>
        <p:txBody>
          <a:bodyPr>
            <a:normAutofit/>
          </a:bodyPr>
          <a:lstStyle/>
          <a:p>
            <a:r>
              <a:rPr lang="en-US" dirty="0"/>
              <a:t>Who is he? </a:t>
            </a:r>
          </a:p>
          <a:p>
            <a:r>
              <a:rPr lang="en-US" dirty="0"/>
              <a:t>In which environment he works? </a:t>
            </a:r>
          </a:p>
          <a:p>
            <a:r>
              <a:rPr lang="en-US" dirty="0"/>
              <a:t>How he works? </a:t>
            </a:r>
          </a:p>
          <a:p>
            <a:r>
              <a:rPr lang="en-US" dirty="0"/>
              <a:t>What work he does?</a:t>
            </a:r>
          </a:p>
          <a:p>
            <a:r>
              <a:rPr lang="en-US" dirty="0"/>
              <a:t>How he performs his tasks?</a:t>
            </a:r>
          </a:p>
          <a:p>
            <a:pPr marL="0" indent="0">
              <a:buNone/>
            </a:pPr>
            <a:endParaRPr lang="en-US" dirty="0"/>
          </a:p>
          <a:p>
            <a:endParaRPr lang="en-US" dirty="0"/>
          </a:p>
        </p:txBody>
      </p:sp>
    </p:spTree>
    <p:extLst>
      <p:ext uri="{BB962C8B-B14F-4D97-AF65-F5344CB8AC3E}">
        <p14:creationId xmlns:p14="http://schemas.microsoft.com/office/powerpoint/2010/main" val="27769825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Centered Design </a:t>
            </a:r>
          </a:p>
        </p:txBody>
      </p:sp>
      <p:pic>
        <p:nvPicPr>
          <p:cNvPr id="1030" name="Picture 6" descr="User-Centered Desi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76400"/>
            <a:ext cx="6956775"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1944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Centered Design </a:t>
            </a:r>
          </a:p>
        </p:txBody>
      </p:sp>
      <p:sp>
        <p:nvSpPr>
          <p:cNvPr id="3" name="Content Placeholder 2"/>
          <p:cNvSpPr>
            <a:spLocks noGrp="1"/>
          </p:cNvSpPr>
          <p:nvPr>
            <p:ph sz="quarter" idx="1"/>
          </p:nvPr>
        </p:nvSpPr>
        <p:spPr/>
        <p:txBody>
          <a:bodyPr/>
          <a:lstStyle/>
          <a:p>
            <a:r>
              <a:rPr lang="en-US" dirty="0"/>
              <a:t>Usability is about communicating with users </a:t>
            </a:r>
          </a:p>
          <a:p>
            <a:pPr lvl="1"/>
            <a:r>
              <a:rPr lang="en-US" dirty="0"/>
              <a:t>Which you (designer) are not</a:t>
            </a:r>
          </a:p>
          <a:p>
            <a:pPr lvl="1"/>
            <a:r>
              <a:rPr lang="en-US" dirty="0"/>
              <a:t>Different than other software engineering </a:t>
            </a:r>
          </a:p>
          <a:p>
            <a:pPr lvl="1"/>
            <a:endParaRPr lang="en-US" dirty="0"/>
          </a:p>
          <a:p>
            <a:r>
              <a:rPr lang="en-US" dirty="0"/>
              <a:t>Users can seldom express accurately what they want </a:t>
            </a:r>
          </a:p>
          <a:p>
            <a:pPr lvl="1"/>
            <a:r>
              <a:rPr lang="en-US" dirty="0"/>
              <a:t>Get their needs out of their environment </a:t>
            </a:r>
          </a:p>
          <a:p>
            <a:endParaRPr lang="en-US" dirty="0"/>
          </a:p>
          <a:p>
            <a:r>
              <a:rPr lang="en-US" dirty="0"/>
              <a:t>Users are never wrong </a:t>
            </a:r>
          </a:p>
          <a:p>
            <a:pPr lvl="1"/>
            <a:endParaRPr lang="en-US" dirty="0"/>
          </a:p>
        </p:txBody>
      </p:sp>
    </p:spTree>
    <p:extLst>
      <p:ext uri="{BB962C8B-B14F-4D97-AF65-F5344CB8AC3E}">
        <p14:creationId xmlns:p14="http://schemas.microsoft.com/office/powerpoint/2010/main" val="42732308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is HCI Important? </a:t>
            </a:r>
          </a:p>
        </p:txBody>
      </p:sp>
      <p:sp>
        <p:nvSpPr>
          <p:cNvPr id="3" name="Content Placeholder 2"/>
          <p:cNvSpPr>
            <a:spLocks noGrp="1"/>
          </p:cNvSpPr>
          <p:nvPr>
            <p:ph sz="quarter" idx="1"/>
          </p:nvPr>
        </p:nvSpPr>
        <p:spPr/>
        <p:txBody>
          <a:bodyPr>
            <a:normAutofit fontScale="92500" lnSpcReduction="10000"/>
          </a:bodyPr>
          <a:lstStyle/>
          <a:p>
            <a:r>
              <a:rPr lang="en-US" dirty="0">
                <a:solidFill>
                  <a:srgbClr val="000000"/>
                </a:solidFill>
              </a:rPr>
              <a:t>80% of software lifecycle costs occur after the product is released, in the maintenance phase - of that work, 80 % is due to unmet or unforeseen user requirements; only 20 % is due to bugs or reliability problems (</a:t>
            </a:r>
            <a:r>
              <a:rPr lang="en-US" i="1" dirty="0">
                <a:solidFill>
                  <a:srgbClr val="000000"/>
                </a:solidFill>
              </a:rPr>
              <a:t>IEEE Software</a:t>
            </a:r>
            <a:r>
              <a:rPr lang="en-US" dirty="0">
                <a:solidFill>
                  <a:srgbClr val="000000"/>
                </a:solidFill>
              </a:rPr>
              <a:t>)</a:t>
            </a:r>
          </a:p>
          <a:p>
            <a:endParaRPr lang="en-US" dirty="0"/>
          </a:p>
          <a:p>
            <a:endParaRPr lang="en-US" dirty="0"/>
          </a:p>
          <a:p>
            <a:r>
              <a:rPr lang="en-US" dirty="0"/>
              <a:t>Business Success   </a:t>
            </a:r>
            <a:r>
              <a:rPr lang="en-US" sz="2800" dirty="0">
                <a:latin typeface="Tahoma" charset="0"/>
                <a:cs typeface="Times New Roman" pitchFamily="18" charset="0"/>
                <a:sym typeface="Symbol" pitchFamily="18" charset="2"/>
              </a:rPr>
              <a:t>  </a:t>
            </a:r>
            <a:r>
              <a:rPr lang="en-US" dirty="0"/>
              <a:t>User Experience</a:t>
            </a:r>
          </a:p>
          <a:p>
            <a:pPr marL="320040" lvl="1" indent="0">
              <a:lnSpc>
                <a:spcPct val="80000"/>
              </a:lnSpc>
              <a:buNone/>
            </a:pPr>
            <a:endParaRPr lang="en-US" dirty="0"/>
          </a:p>
          <a:p>
            <a:r>
              <a:rPr lang="en-US" dirty="0"/>
              <a:t>IFE Example</a:t>
            </a:r>
          </a:p>
          <a:p>
            <a:endParaRPr lang="en-US" dirty="0"/>
          </a:p>
          <a:p>
            <a:endParaRPr lang="en-US" dirty="0"/>
          </a:p>
        </p:txBody>
      </p:sp>
    </p:spTree>
    <p:extLst>
      <p:ext uri="{BB962C8B-B14F-4D97-AF65-F5344CB8AC3E}">
        <p14:creationId xmlns:p14="http://schemas.microsoft.com/office/powerpoint/2010/main" val="16709165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dirty="0"/>
              <a:t>Self Study</a:t>
            </a:r>
          </a:p>
        </p:txBody>
      </p:sp>
      <p:sp>
        <p:nvSpPr>
          <p:cNvPr id="2" name="Title 1"/>
          <p:cNvSpPr>
            <a:spLocks noGrp="1"/>
          </p:cNvSpPr>
          <p:nvPr>
            <p:ph type="title"/>
          </p:nvPr>
        </p:nvSpPr>
        <p:spPr/>
        <p:txBody>
          <a:bodyPr/>
          <a:lstStyle/>
          <a:p>
            <a:r>
              <a:rPr lang="en-US" dirty="0"/>
              <a:t>5. History of User Interfaces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r>
              <a:rPr lang="en-US"/>
              <a:t>A Brief History of User Interfaces</a:t>
            </a:r>
          </a:p>
        </p:txBody>
      </p:sp>
      <p:sp>
        <p:nvSpPr>
          <p:cNvPr id="34819" name="Rectangle 3"/>
          <p:cNvSpPr>
            <a:spLocks noGrp="1" noChangeArrowheads="1"/>
          </p:cNvSpPr>
          <p:nvPr>
            <p:ph sz="quarter" idx="1"/>
          </p:nvPr>
        </p:nvSpPr>
        <p:spPr/>
        <p:txBody>
          <a:bodyPr/>
          <a:lstStyle/>
          <a:p>
            <a:r>
              <a:rPr lang="en-US" dirty="0"/>
              <a:t>Batch-processing</a:t>
            </a:r>
          </a:p>
          <a:p>
            <a:pPr lvl="1"/>
            <a:r>
              <a:rPr lang="en-US" dirty="0"/>
              <a:t>No interactive capabilities</a:t>
            </a:r>
          </a:p>
          <a:p>
            <a:pPr lvl="1"/>
            <a:r>
              <a:rPr lang="en-US" dirty="0"/>
              <a:t>All user input specified in advance (punch cards, ...)</a:t>
            </a:r>
          </a:p>
          <a:p>
            <a:pPr lvl="1"/>
            <a:r>
              <a:rPr lang="en-US" dirty="0"/>
              <a:t>All system output collected at end of program run (printouts,...)</a:t>
            </a:r>
          </a:p>
          <a:p>
            <a:pPr lvl="1"/>
            <a:r>
              <a:rPr lang="en-US" dirty="0"/>
              <a:t>Applications have no user interface component distinguishable from File I/O</a:t>
            </a:r>
          </a:p>
          <a:p>
            <a:pPr lvl="1"/>
            <a:r>
              <a:rPr lang="en-US" dirty="0"/>
              <a:t>Job Control Languages (example: IBM3090–JCL): specify job and parameters</a:t>
            </a:r>
          </a:p>
          <a:p>
            <a:pPr lvl="1"/>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r>
              <a:rPr lang="en-US"/>
              <a:t>A Brief History of User Interfaces</a:t>
            </a:r>
          </a:p>
        </p:txBody>
      </p:sp>
      <p:sp>
        <p:nvSpPr>
          <p:cNvPr id="35843" name="Rectangle 3"/>
          <p:cNvSpPr>
            <a:spLocks noGrp="1" noChangeArrowheads="1"/>
          </p:cNvSpPr>
          <p:nvPr>
            <p:ph sz="quarter" idx="1"/>
          </p:nvPr>
        </p:nvSpPr>
        <p:spPr>
          <a:xfrm>
            <a:off x="685800" y="1676400"/>
            <a:ext cx="7772400" cy="4114800"/>
          </a:xfrm>
        </p:spPr>
        <p:txBody>
          <a:bodyPr>
            <a:normAutofit fontScale="92500" lnSpcReduction="10000"/>
          </a:bodyPr>
          <a:lstStyle/>
          <a:p>
            <a:r>
              <a:rPr lang="en-US" dirty="0"/>
              <a:t>Time-sharing Systems</a:t>
            </a:r>
          </a:p>
          <a:p>
            <a:pPr lvl="1"/>
            <a:r>
              <a:rPr lang="en-US" dirty="0"/>
              <a:t>Command-line based interaction with simple terminal</a:t>
            </a:r>
          </a:p>
          <a:p>
            <a:pPr lvl="1"/>
            <a:r>
              <a:rPr lang="en-US" dirty="0"/>
              <a:t>Similar program structure</a:t>
            </a:r>
          </a:p>
          <a:p>
            <a:pPr lvl="1"/>
            <a:r>
              <a:rPr lang="en-US" dirty="0"/>
              <a:t>Applications read arguments from the command line, return results</a:t>
            </a:r>
          </a:p>
          <a:p>
            <a:pPr lvl="1"/>
            <a:r>
              <a:rPr lang="en-US" dirty="0"/>
              <a:t>Example: still visible in Unix commands</a:t>
            </a:r>
          </a:p>
          <a:p>
            <a:r>
              <a:rPr lang="en-US" dirty="0"/>
              <a:t>Full-screen textual interfaces</a:t>
            </a:r>
          </a:p>
          <a:p>
            <a:pPr lvl="1"/>
            <a:r>
              <a:rPr lang="en-US" dirty="0"/>
              <a:t>Interaction starts to feel "real-time" (example: vi)</a:t>
            </a:r>
          </a:p>
          <a:p>
            <a:pPr lvl="1"/>
            <a:r>
              <a:rPr lang="en-US" dirty="0"/>
              <a:t>Applications receive UI input and react immediately in main "loop" (threading becomes important)</a:t>
            </a:r>
          </a:p>
          <a:p>
            <a:pPr lvl="1"/>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r>
              <a:rPr lang="en-US"/>
              <a:t>A Brief History of User Interfaces</a:t>
            </a:r>
          </a:p>
        </p:txBody>
      </p:sp>
      <p:sp>
        <p:nvSpPr>
          <p:cNvPr id="36867" name="Rectangle 3"/>
          <p:cNvSpPr>
            <a:spLocks noGrp="1" noChangeArrowheads="1"/>
          </p:cNvSpPr>
          <p:nvPr>
            <p:ph sz="quarter" idx="1"/>
          </p:nvPr>
        </p:nvSpPr>
        <p:spPr/>
        <p:txBody>
          <a:bodyPr>
            <a:normAutofit/>
          </a:bodyPr>
          <a:lstStyle/>
          <a:p>
            <a:r>
              <a:rPr lang="en-US" dirty="0"/>
              <a:t>Menu-based systems</a:t>
            </a:r>
          </a:p>
          <a:p>
            <a:pPr lvl="1"/>
            <a:r>
              <a:rPr lang="en-US" dirty="0"/>
              <a:t>Discover "Read &amp; Select" over "Memorize &amp; Type" advantage</a:t>
            </a:r>
          </a:p>
          <a:p>
            <a:pPr lvl="1"/>
            <a:r>
              <a:rPr lang="en-US" dirty="0"/>
              <a:t>Still text-based!</a:t>
            </a:r>
          </a:p>
          <a:p>
            <a:pPr lvl="1"/>
            <a:r>
              <a:rPr lang="en-US" dirty="0"/>
              <a:t>Example: UCSD Pascal Development Environment</a:t>
            </a:r>
          </a:p>
          <a:p>
            <a:pPr lvl="1"/>
            <a:r>
              <a:rPr lang="en-US" dirty="0"/>
              <a:t>Applications have explicit UI component</a:t>
            </a:r>
          </a:p>
          <a:p>
            <a:pPr lvl="1"/>
            <a:r>
              <a:rPr lang="en-US" dirty="0"/>
              <a:t>But: choices are limited to a particular menu item at a time (hierarchical selection)</a:t>
            </a:r>
          </a:p>
          <a:p>
            <a:pPr lvl="1"/>
            <a:r>
              <a:rPr lang="en-US" dirty="0"/>
              <a:t>Application still "in control"</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a:bodyPr>
          <a:lstStyle/>
          <a:p>
            <a:r>
              <a:rPr lang="en-US"/>
              <a:t>A Brief History of User Interfaces</a:t>
            </a:r>
          </a:p>
        </p:txBody>
      </p:sp>
      <p:sp>
        <p:nvSpPr>
          <p:cNvPr id="38915" name="Rectangle 3"/>
          <p:cNvSpPr>
            <a:spLocks noGrp="1" noChangeArrowheads="1"/>
          </p:cNvSpPr>
          <p:nvPr>
            <p:ph sz="quarter" idx="1"/>
          </p:nvPr>
        </p:nvSpPr>
        <p:spPr>
          <a:xfrm>
            <a:off x="685800" y="1676400"/>
            <a:ext cx="7772400" cy="4114800"/>
          </a:xfrm>
        </p:spPr>
        <p:txBody>
          <a:bodyPr>
            <a:normAutofit fontScale="92500" lnSpcReduction="20000"/>
          </a:bodyPr>
          <a:lstStyle/>
          <a:p>
            <a:r>
              <a:rPr lang="en-US" dirty="0"/>
              <a:t>Graphical User Interface Systems</a:t>
            </a:r>
          </a:p>
          <a:p>
            <a:pPr lvl="1"/>
            <a:r>
              <a:rPr lang="en-US" dirty="0"/>
              <a:t>From character generator to bitmap display (Alto/Star/Lisa..)</a:t>
            </a:r>
          </a:p>
          <a:p>
            <a:pPr lvl="1"/>
            <a:r>
              <a:rPr lang="en-US" dirty="0"/>
              <a:t>Pointing devices in addition to keyboard</a:t>
            </a:r>
          </a:p>
          <a:p>
            <a:pPr lvl="1">
              <a:buFont typeface="Wingdings" charset="2"/>
              <a:buNone/>
            </a:pPr>
            <a:r>
              <a:rPr lang="en-US" dirty="0"/>
              <a:t>-&gt; Event-based program structure</a:t>
            </a:r>
          </a:p>
          <a:p>
            <a:pPr lvl="2"/>
            <a:r>
              <a:rPr lang="en-US" dirty="0"/>
              <a:t>Most dramatic paradigm shift for application development</a:t>
            </a:r>
          </a:p>
          <a:p>
            <a:pPr lvl="2"/>
            <a:r>
              <a:rPr lang="en-US" dirty="0"/>
              <a:t>User is "in control"</a:t>
            </a:r>
          </a:p>
          <a:p>
            <a:pPr lvl="2"/>
            <a:r>
              <a:rPr lang="en-US" dirty="0"/>
              <a:t>Application only reacts to user (or system) events</a:t>
            </a:r>
          </a:p>
          <a:p>
            <a:pPr lvl="2"/>
            <a:r>
              <a:rPr lang="en-US" dirty="0"/>
              <a:t>Callback paradigm</a:t>
            </a:r>
          </a:p>
          <a:p>
            <a:pPr lvl="1"/>
            <a:r>
              <a:rPr lang="en-US" dirty="0"/>
              <a:t>Event handling</a:t>
            </a:r>
          </a:p>
          <a:p>
            <a:pPr lvl="2"/>
            <a:r>
              <a:rPr lang="en-US" dirty="0"/>
              <a:t>Initially application-explicit</a:t>
            </a:r>
          </a:p>
          <a:p>
            <a:pPr lvl="2"/>
            <a:r>
              <a:rPr lang="en-US" dirty="0"/>
              <a:t>Later system-implicit</a:t>
            </a:r>
          </a:p>
          <a:p>
            <a:pPr lvl="2"/>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547938"/>
            <a:ext cx="7772400" cy="3852862"/>
          </a:xfrm>
        </p:spPr>
        <p:txBody>
          <a:bodyPr>
            <a:normAutofit fontScale="92500" lnSpcReduction="20000"/>
          </a:bodyPr>
          <a:lstStyle/>
          <a:p>
            <a:pPr marL="514350" indent="-514350">
              <a:buFont typeface="+mj-lt"/>
              <a:buAutoNum type="arabicPeriod"/>
            </a:pPr>
            <a:r>
              <a:rPr lang="en-US" dirty="0"/>
              <a:t>Human-Computer Interaction (3rd ed.), by Alan Dix - Janet Finlay - Gregory </a:t>
            </a:r>
            <a:r>
              <a:rPr lang="en-US" dirty="0" err="1"/>
              <a:t>Abowd</a:t>
            </a:r>
            <a:r>
              <a:rPr lang="en-US" dirty="0"/>
              <a:t> - Russell Beale PRENTICE HALL 2004 </a:t>
            </a:r>
          </a:p>
          <a:p>
            <a:pPr marL="514350" indent="-514350">
              <a:buFont typeface="+mj-lt"/>
              <a:buAutoNum type="arabicPeriod"/>
            </a:pPr>
            <a:endParaRPr lang="en-US" dirty="0"/>
          </a:p>
          <a:p>
            <a:pPr marL="514350" indent="-514350">
              <a:buFont typeface="+mj-lt"/>
              <a:buAutoNum type="arabicPeriod"/>
            </a:pPr>
            <a:r>
              <a:rPr lang="en-US" dirty="0"/>
              <a:t>Interaction Design: Beyond Human - Computer Interaction (3rd ed.), by Yvonne Rogers, Helen Sharp, Jenny </a:t>
            </a:r>
            <a:r>
              <a:rPr lang="en-US" dirty="0" err="1"/>
              <a:t>Preece</a:t>
            </a:r>
            <a:r>
              <a:rPr lang="en-US" dirty="0"/>
              <a:t>. Wiley, 2011. </a:t>
            </a:r>
          </a:p>
          <a:p>
            <a:pPr marL="514350" indent="-514350">
              <a:buFont typeface="+mj-lt"/>
              <a:buAutoNum type="arabicPeriod"/>
            </a:pPr>
            <a:endParaRPr lang="en-US" dirty="0"/>
          </a:p>
          <a:p>
            <a:pPr marL="514350" indent="-514350">
              <a:buFont typeface="+mj-lt"/>
              <a:buAutoNum type="arabicPeriod"/>
            </a:pPr>
            <a:r>
              <a:rPr lang="en-US" dirty="0"/>
              <a:t>The Design of Everyday Things, by Donald Norman. Currency/Doubleday, 1990.</a:t>
            </a:r>
          </a:p>
          <a:p>
            <a:endParaRPr lang="en-US" dirty="0"/>
          </a:p>
        </p:txBody>
      </p:sp>
      <p:sp>
        <p:nvSpPr>
          <p:cNvPr id="2" name="Title 1"/>
          <p:cNvSpPr>
            <a:spLocks noGrp="1"/>
          </p:cNvSpPr>
          <p:nvPr>
            <p:ph type="title"/>
          </p:nvPr>
        </p:nvSpPr>
        <p:spPr/>
        <p:txBody>
          <a:bodyPr/>
          <a:lstStyle/>
          <a:p>
            <a:r>
              <a:rPr lang="en-US" dirty="0"/>
              <a:t>6. Course Reference Material </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16404</TotalTime>
  <Words>3840</Words>
  <Application>Microsoft Office PowerPoint</Application>
  <PresentationFormat>On-screen Show (4:3)</PresentationFormat>
  <Paragraphs>395</Paragraphs>
  <Slides>83</Slides>
  <Notes>23</Notes>
  <HiddenSlides>8</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83</vt:i4>
      </vt:variant>
    </vt:vector>
  </HeadingPairs>
  <TitlesOfParts>
    <vt:vector size="94" baseType="lpstr">
      <vt:lpstr>Arial</vt:lpstr>
      <vt:lpstr>Calibri</vt:lpstr>
      <vt:lpstr>Gotham SSm A</vt:lpstr>
      <vt:lpstr>Tahoma</vt:lpstr>
      <vt:lpstr>Times New Roman</vt:lpstr>
      <vt:lpstr>TradeGothic</vt:lpstr>
      <vt:lpstr>Tw Cen MT</vt:lpstr>
      <vt:lpstr>Verdana</vt:lpstr>
      <vt:lpstr>Wingdings</vt:lpstr>
      <vt:lpstr>Wingdings 2</vt:lpstr>
      <vt:lpstr>Median</vt:lpstr>
      <vt:lpstr>Human Computer Interaction   </vt:lpstr>
      <vt:lpstr> Introduction</vt:lpstr>
      <vt:lpstr>Weightages</vt:lpstr>
      <vt:lpstr>Today’s Lecture </vt:lpstr>
      <vt:lpstr>Bad Designs are everywhere </vt:lpstr>
      <vt:lpstr>Did You Ever Hate Your Computer? </vt:lpstr>
      <vt:lpstr>Facts</vt:lpstr>
      <vt:lpstr>Real Life Examples</vt:lpstr>
      <vt:lpstr>Good or Bad ?</vt:lpstr>
      <vt:lpstr>Can it be used?</vt:lpstr>
      <vt:lpstr>Bad Designs are Everywhere </vt:lpstr>
      <vt:lpstr>Is label necessary?</vt:lpstr>
      <vt:lpstr>Improvement</vt:lpstr>
      <vt:lpstr>Good or Bad?</vt:lpstr>
      <vt:lpstr>For whom would you design like this?</vt:lpstr>
      <vt:lpstr>How to use?</vt:lpstr>
      <vt:lpstr>What is the problem? </vt:lpstr>
      <vt:lpstr>Good and bad design</vt:lpstr>
      <vt:lpstr>A class </vt:lpstr>
      <vt:lpstr>A magazine page. What is the issue?</vt:lpstr>
      <vt:lpstr>A microwave </vt:lpstr>
      <vt:lpstr>Bad Designs are Everywhere </vt:lpstr>
      <vt:lpstr>Too pretty? </vt:lpstr>
      <vt:lpstr>How would you open?</vt:lpstr>
      <vt:lpstr>Which one is better?</vt:lpstr>
      <vt:lpstr>PowerPoint Presentation</vt:lpstr>
      <vt:lpstr>Parking area’s Schedule</vt:lpstr>
      <vt:lpstr>Improvement</vt:lpstr>
      <vt:lpstr>Bad design in Computer</vt:lpstr>
      <vt:lpstr>Good or Bad?</vt:lpstr>
      <vt:lpstr>Left: Mobile interface Right: Computer Interface</vt:lpstr>
      <vt:lpstr>PowerPoint Presentation</vt:lpstr>
      <vt:lpstr>Good and bad design</vt:lpstr>
      <vt:lpstr>Bad Designs are Everywhere </vt:lpstr>
      <vt:lpstr>Bad Design</vt:lpstr>
      <vt:lpstr>Bad Design</vt:lpstr>
      <vt:lpstr>Useless Error Messages </vt:lpstr>
      <vt:lpstr>Good or Bad?</vt:lpstr>
      <vt:lpstr>Redesign</vt:lpstr>
      <vt:lpstr>Good or Bad?</vt:lpstr>
      <vt:lpstr>Bad Designs are Everywhere </vt:lpstr>
      <vt:lpstr>Bad Designs are Everywhere </vt:lpstr>
      <vt:lpstr>Bad Designs are Everywhere </vt:lpstr>
      <vt:lpstr>Bad Designs are Everywhere </vt:lpstr>
      <vt:lpstr>Bad Designs are Everywhere </vt:lpstr>
      <vt:lpstr>PowerPoint Presentation</vt:lpstr>
      <vt:lpstr>Bad Designs are Everywhere </vt:lpstr>
      <vt:lpstr>Solutions! </vt:lpstr>
      <vt:lpstr>Good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Human Computer Interaction </vt:lpstr>
      <vt:lpstr>Human Computer Interaction</vt:lpstr>
      <vt:lpstr>Computer is becoming Ubiquitous</vt:lpstr>
      <vt:lpstr>Role of HCI</vt:lpstr>
      <vt:lpstr>Human Computer Interaction </vt:lpstr>
      <vt:lpstr>Human                  Computer</vt:lpstr>
      <vt:lpstr>Human &amp; computer</vt:lpstr>
      <vt:lpstr>Interaction </vt:lpstr>
      <vt:lpstr>Interaction</vt:lpstr>
      <vt:lpstr>Interaction Model: Abowd and Beale Framework </vt:lpstr>
      <vt:lpstr>Human-Computer Interaction </vt:lpstr>
      <vt:lpstr>PowerPoint Presentation</vt:lpstr>
      <vt:lpstr>How do we design good interfaces?</vt:lpstr>
      <vt:lpstr>PowerPoint Presentation</vt:lpstr>
      <vt:lpstr>HCI and Software Engineering</vt:lpstr>
      <vt:lpstr>Emphasis on user</vt:lpstr>
      <vt:lpstr>User Centered Design </vt:lpstr>
      <vt:lpstr>User Centered Design </vt:lpstr>
      <vt:lpstr>Why is HCI Important? </vt:lpstr>
      <vt:lpstr>5. History of User Interfaces </vt:lpstr>
      <vt:lpstr>A Brief History of User Interfaces</vt:lpstr>
      <vt:lpstr>A Brief History of User Interfaces</vt:lpstr>
      <vt:lpstr>A Brief History of User Interfaces</vt:lpstr>
      <vt:lpstr>A Brief History of User Interfaces</vt:lpstr>
      <vt:lpstr>6. Course Reference Material </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Sonia</dc:creator>
  <cp:lastModifiedBy>Dr Anam Mustaqeem</cp:lastModifiedBy>
  <cp:revision>387</cp:revision>
  <dcterms:created xsi:type="dcterms:W3CDTF">2010-02-07T17:56:13Z</dcterms:created>
  <dcterms:modified xsi:type="dcterms:W3CDTF">2025-09-29T04:06:46Z</dcterms:modified>
</cp:coreProperties>
</file>