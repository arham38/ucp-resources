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53" r:id="rId2"/>
    <p:sldId id="507" r:id="rId3"/>
    <p:sldId id="268" r:id="rId4"/>
    <p:sldId id="271" r:id="rId5"/>
    <p:sldId id="273" r:id="rId6"/>
    <p:sldId id="272" r:id="rId7"/>
    <p:sldId id="505" r:id="rId8"/>
    <p:sldId id="489" r:id="rId9"/>
    <p:sldId id="343" r:id="rId10"/>
    <p:sldId id="508" r:id="rId11"/>
    <p:sldId id="379" r:id="rId12"/>
    <p:sldId id="537" r:id="rId13"/>
    <p:sldId id="536" r:id="rId14"/>
    <p:sldId id="274" r:id="rId15"/>
    <p:sldId id="528" r:id="rId16"/>
    <p:sldId id="539" r:id="rId17"/>
    <p:sldId id="540" r:id="rId18"/>
    <p:sldId id="541" r:id="rId19"/>
    <p:sldId id="289" r:id="rId20"/>
    <p:sldId id="524" r:id="rId21"/>
    <p:sldId id="291" r:id="rId22"/>
    <p:sldId id="542" r:id="rId23"/>
    <p:sldId id="290" r:id="rId24"/>
    <p:sldId id="533" r:id="rId25"/>
    <p:sldId id="531" r:id="rId26"/>
    <p:sldId id="53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582" autoAdjust="0"/>
  </p:normalViewPr>
  <p:slideViewPr>
    <p:cSldViewPr snapToGrid="0">
      <p:cViewPr varScale="1">
        <p:scale>
          <a:sx n="76" d="100"/>
          <a:sy n="76" d="100"/>
        </p:scale>
        <p:origin x="29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58C62C-A5D5-49F7-873A-68367E0A442F}"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5C0B1-90DB-4890-B9DF-2D4E42EB5ADE}" type="slidenum">
              <a:rPr lang="en-US" smtClean="0"/>
              <a:t>‹#›</a:t>
            </a:fld>
            <a:endParaRPr lang="en-US"/>
          </a:p>
        </p:txBody>
      </p:sp>
    </p:spTree>
    <p:extLst>
      <p:ext uri="{BB962C8B-B14F-4D97-AF65-F5344CB8AC3E}">
        <p14:creationId xmlns:p14="http://schemas.microsoft.com/office/powerpoint/2010/main" val="3929878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E2B17D-D1E4-46FC-91FC-F57F8469F8A9}" type="slidenum">
              <a:rPr lang="en-US" smtClean="0"/>
              <a:t>7</a:t>
            </a:fld>
            <a:endParaRPr lang="en-US" dirty="0"/>
          </a:p>
        </p:txBody>
      </p:sp>
    </p:spTree>
    <p:extLst>
      <p:ext uri="{BB962C8B-B14F-4D97-AF65-F5344CB8AC3E}">
        <p14:creationId xmlns:p14="http://schemas.microsoft.com/office/powerpoint/2010/main" val="622360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11</a:t>
            </a:fld>
            <a:endParaRPr lang="en-US" dirty="0"/>
          </a:p>
        </p:txBody>
      </p:sp>
    </p:spTree>
    <p:extLst>
      <p:ext uri="{BB962C8B-B14F-4D97-AF65-F5344CB8AC3E}">
        <p14:creationId xmlns:p14="http://schemas.microsoft.com/office/powerpoint/2010/main" val="185901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3 types of user</a:t>
            </a:r>
          </a:p>
          <a:p>
            <a:r>
              <a:rPr lang="en-US" dirty="0"/>
              <a:t>1 students</a:t>
            </a:r>
          </a:p>
          <a:p>
            <a:r>
              <a:rPr lang="en-US" dirty="0"/>
              <a:t>2 teachers</a:t>
            </a:r>
          </a:p>
          <a:p>
            <a:r>
              <a:rPr lang="en-US" dirty="0"/>
              <a:t>3 Management</a:t>
            </a:r>
          </a:p>
        </p:txBody>
      </p:sp>
      <p:sp>
        <p:nvSpPr>
          <p:cNvPr id="4" name="Slide Number Placeholder 3"/>
          <p:cNvSpPr>
            <a:spLocks noGrp="1"/>
          </p:cNvSpPr>
          <p:nvPr>
            <p:ph type="sldNum" sz="quarter" idx="10"/>
          </p:nvPr>
        </p:nvSpPr>
        <p:spPr/>
        <p:txBody>
          <a:bodyPr/>
          <a:lstStyle/>
          <a:p>
            <a:fld id="{B5B68AD7-5399-4F75-B228-60C6EB62B29C}" type="slidenum">
              <a:rPr lang="en-US" smtClean="0"/>
              <a:pPr/>
              <a:t>19</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when you embark on your user interviews, you’ll want to avoid asking what they want. Asking people what they want will lead you to the wrong insights. You will not discover the root cause of a problem, but rather what they envision as their own ideal solution.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 alternative method is to examine what people do, rather than what they say they do. This approach is based on a simple premise: the best predictor of future </a:t>
            </a:r>
            <a:r>
              <a:rPr lang="en-US" sz="1200" b="0" i="0" kern="1200" dirty="0" err="1">
                <a:solidFill>
                  <a:schemeClr val="tx1"/>
                </a:solidFill>
                <a:effectLst/>
                <a:latin typeface="+mn-lt"/>
                <a:ea typeface="+mn-ea"/>
                <a:cs typeface="+mn-cs"/>
              </a:rPr>
              <a:t>behaviour</a:t>
            </a:r>
            <a:r>
              <a:rPr lang="en-US" sz="1200" b="0" i="0" kern="1200" dirty="0">
                <a:solidFill>
                  <a:schemeClr val="tx1"/>
                </a:solidFill>
                <a:effectLst/>
                <a:latin typeface="+mn-lt"/>
                <a:ea typeface="+mn-ea"/>
                <a:cs typeface="+mn-cs"/>
              </a:rPr>
              <a:t> is past </a:t>
            </a:r>
            <a:r>
              <a:rPr lang="en-US" sz="1200" b="0" i="0" kern="1200" dirty="0" err="1">
                <a:solidFill>
                  <a:schemeClr val="tx1"/>
                </a:solidFill>
                <a:effectLst/>
                <a:latin typeface="+mn-lt"/>
                <a:ea typeface="+mn-ea"/>
                <a:cs typeface="+mn-cs"/>
              </a:rPr>
              <a:t>behaviour</a:t>
            </a:r>
            <a:r>
              <a:rPr lang="en-US" sz="1200" b="0" i="0" kern="1200" dirty="0">
                <a:solidFill>
                  <a:schemeClr val="tx1"/>
                </a:solidFill>
                <a:effectLst/>
                <a:latin typeface="+mn-lt"/>
                <a:ea typeface="+mn-ea"/>
                <a:cs typeface="+mn-cs"/>
              </a:rPr>
              <a:t>. What people do is a better indicator of the underlying user need than what people say.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3 better questions to ask. And I ask these all the time:</a:t>
            </a:r>
          </a:p>
          <a:p>
            <a:r>
              <a:rPr lang="en-US" sz="1200" b="0" i="0" kern="1200" dirty="0">
                <a:solidFill>
                  <a:schemeClr val="tx1"/>
                </a:solidFill>
                <a:effectLst/>
                <a:latin typeface="+mn-lt"/>
                <a:ea typeface="+mn-ea"/>
                <a:cs typeface="+mn-cs"/>
              </a:rPr>
              <a:t>What are you trying to get done? (Gather context)</a:t>
            </a:r>
          </a:p>
          <a:p>
            <a:r>
              <a:rPr lang="en-US" sz="1200" b="0" i="0" kern="1200" dirty="0">
                <a:solidFill>
                  <a:schemeClr val="tx1"/>
                </a:solidFill>
                <a:effectLst/>
                <a:latin typeface="+mn-lt"/>
                <a:ea typeface="+mn-ea"/>
                <a:cs typeface="+mn-cs"/>
              </a:rPr>
              <a:t>How do you currently do this? (Analyze workflow)</a:t>
            </a:r>
          </a:p>
          <a:p>
            <a:r>
              <a:rPr lang="en-US" sz="1200" b="0" i="0" kern="1200" dirty="0">
                <a:solidFill>
                  <a:schemeClr val="tx1"/>
                </a:solidFill>
                <a:effectLst/>
                <a:latin typeface="+mn-lt"/>
                <a:ea typeface="+mn-ea"/>
                <a:cs typeface="+mn-cs"/>
              </a:rPr>
              <a:t>What could be better about how you do this? (Find opportunities)</a:t>
            </a:r>
          </a:p>
          <a:p>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20</a:t>
            </a:fld>
            <a:endParaRPr lang="en-US"/>
          </a:p>
        </p:txBody>
      </p:sp>
    </p:spTree>
    <p:extLst>
      <p:ext uri="{BB962C8B-B14F-4D97-AF65-F5344CB8AC3E}">
        <p14:creationId xmlns:p14="http://schemas.microsoft.com/office/powerpoint/2010/main" val="863217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1DE81-9766-4FAF-B876-73167844F6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82AFE4-7236-41DE-A2D8-3F6BA7BA01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F344D8-D613-443C-9F93-097A44432D81}"/>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5" name="Footer Placeholder 4">
            <a:extLst>
              <a:ext uri="{FF2B5EF4-FFF2-40B4-BE49-F238E27FC236}">
                <a16:creationId xmlns:a16="http://schemas.microsoft.com/office/drawing/2014/main" id="{2F816B03-C795-47DD-9077-84DEF56DD8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79214-650F-4060-A8B4-71ED04BAFB97}"/>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3491609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3EE7-F171-4FC5-939C-1BE3F87A9A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CC5E7D-15F9-4BB4-94B6-2AAF985AC0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F0F77A-D268-4F55-B601-A930E843072C}"/>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5" name="Footer Placeholder 4">
            <a:extLst>
              <a:ext uri="{FF2B5EF4-FFF2-40B4-BE49-F238E27FC236}">
                <a16:creationId xmlns:a16="http://schemas.microsoft.com/office/drawing/2014/main" id="{74C6A0CF-2028-4CE7-B3B3-4D63F4D436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FCB8F-FC22-4F18-B9C4-6EE2039B757C}"/>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2378736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CCEAC-793A-445D-B178-2C3D78B738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CA7B20-76C2-438D-828D-74C60C88AF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05002A-FB4C-45FB-AEBF-8E27BFC3AD59}"/>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5" name="Footer Placeholder 4">
            <a:extLst>
              <a:ext uri="{FF2B5EF4-FFF2-40B4-BE49-F238E27FC236}">
                <a16:creationId xmlns:a16="http://schemas.microsoft.com/office/drawing/2014/main" id="{A7317F0C-0903-4603-8823-2EE0FF74C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CD66F-11FA-41C8-9E0F-96BDBF694D6B}"/>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3006356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7515F-6D50-481D-B3F4-0EB20C3F4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87CC45-7822-4A69-ABC2-9A0F07B260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040C03-3925-4125-AC92-24CB2C68BE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1B82D-CC81-4A34-A40E-BB3044C0A26B}"/>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6" name="Footer Placeholder 5">
            <a:extLst>
              <a:ext uri="{FF2B5EF4-FFF2-40B4-BE49-F238E27FC236}">
                <a16:creationId xmlns:a16="http://schemas.microsoft.com/office/drawing/2014/main" id="{24AEE7D3-435F-4E68-A23A-06BEE66A6F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3259D3-22F4-43BF-91A9-30E295C7D742}"/>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3131500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723DA-53EA-4E18-A153-82CFB13BF0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90C18F-8366-4EF0-A46B-DA5E1176DE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FB72B5-CFA2-4458-8287-170190D970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066A43-C6BB-45BD-81B5-E725FB9D7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E0EBF1-E3AF-4FE9-96D7-15476F4AD2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F75C0-79A5-48B4-B2AE-0B57534C7315}"/>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8" name="Footer Placeholder 7">
            <a:extLst>
              <a:ext uri="{FF2B5EF4-FFF2-40B4-BE49-F238E27FC236}">
                <a16:creationId xmlns:a16="http://schemas.microsoft.com/office/drawing/2014/main" id="{74CB2EC8-430E-475F-83EE-E64C9A2E3C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B74402-D675-4D1D-B154-AD757BF22216}"/>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3359049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FC67F-4C6A-464F-BEB7-CDDB86CE8B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3BADB7-22ED-422C-BC5A-5A6F2982EAAF}"/>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4" name="Footer Placeholder 3">
            <a:extLst>
              <a:ext uri="{FF2B5EF4-FFF2-40B4-BE49-F238E27FC236}">
                <a16:creationId xmlns:a16="http://schemas.microsoft.com/office/drawing/2014/main" id="{EF119A04-D59B-46B6-95BB-29B998A1CE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50B029-10CE-46CD-B687-1153967AF483}"/>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2496293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134EEE-8778-4764-9324-FD5BEC5FEF96}"/>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3" name="Footer Placeholder 2">
            <a:extLst>
              <a:ext uri="{FF2B5EF4-FFF2-40B4-BE49-F238E27FC236}">
                <a16:creationId xmlns:a16="http://schemas.microsoft.com/office/drawing/2014/main" id="{2B1E4BC8-BB93-41B6-8465-EEDD01F16F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5F8772-DE25-461F-A052-7E96F819B73F}"/>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53500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C86A8-9A31-4A7F-A07E-7885091CE4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976734-0766-49A0-B7BC-7194A37DAF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649180-A1A7-4FA0-A095-7254AED72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1BCEBE-0F4F-41AA-BD61-DB1E5D2015DE}"/>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6" name="Footer Placeholder 5">
            <a:extLst>
              <a:ext uri="{FF2B5EF4-FFF2-40B4-BE49-F238E27FC236}">
                <a16:creationId xmlns:a16="http://schemas.microsoft.com/office/drawing/2014/main" id="{A19B17DC-2C0D-4DF9-876C-04200BE085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BC19F-68D8-4C8A-A8A3-1C8173CE1216}"/>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2255386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293AF-65E6-4F78-9C66-84FE473BC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E82C60-05E2-493F-B044-0704A10748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CC6567-C624-4B93-86D4-96661518D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86D25A-5CE4-4E88-A706-E7A3624F999F}"/>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6" name="Footer Placeholder 5">
            <a:extLst>
              <a:ext uri="{FF2B5EF4-FFF2-40B4-BE49-F238E27FC236}">
                <a16:creationId xmlns:a16="http://schemas.microsoft.com/office/drawing/2014/main" id="{E176FAB8-F8AC-47A3-A372-C8A3154DDD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C211AE-BACB-4B64-A343-9BD0E1A034FB}"/>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391538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DFFE-AB13-428D-8007-E777227201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BC9A16-AE8E-4192-B8C7-69948204E2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CC40F0-A750-42CF-B2B4-2E4720DAEB2A}"/>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5" name="Footer Placeholder 4">
            <a:extLst>
              <a:ext uri="{FF2B5EF4-FFF2-40B4-BE49-F238E27FC236}">
                <a16:creationId xmlns:a16="http://schemas.microsoft.com/office/drawing/2014/main" id="{6BD70C4F-B6DD-4AEB-9216-142C5677F6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C6C66-2BA5-4826-9C42-7B0D6AAA9987}"/>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2713792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94C055-CD03-49ED-9A6F-D116A04E13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BD21A4-8B64-497B-BE17-724C5D59ED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846555-4F98-4135-9031-D6F508B2432D}"/>
              </a:ext>
            </a:extLst>
          </p:cNvPr>
          <p:cNvSpPr>
            <a:spLocks noGrp="1"/>
          </p:cNvSpPr>
          <p:nvPr>
            <p:ph type="dt" sz="half" idx="10"/>
          </p:nvPr>
        </p:nvSpPr>
        <p:spPr/>
        <p:txBody>
          <a:bodyPr/>
          <a:lstStyle/>
          <a:p>
            <a:fld id="{C95BD14F-7B00-4732-AC4E-8C9B60C3A2AB}" type="datetimeFigureOut">
              <a:rPr lang="en-US" smtClean="0"/>
              <a:t>11/23/2025</a:t>
            </a:fld>
            <a:endParaRPr lang="en-US"/>
          </a:p>
        </p:txBody>
      </p:sp>
      <p:sp>
        <p:nvSpPr>
          <p:cNvPr id="5" name="Footer Placeholder 4">
            <a:extLst>
              <a:ext uri="{FF2B5EF4-FFF2-40B4-BE49-F238E27FC236}">
                <a16:creationId xmlns:a16="http://schemas.microsoft.com/office/drawing/2014/main" id="{CDB20DA2-20A0-4476-ABA9-708532698C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7B739-1D93-48B7-9A2D-60CF74391519}"/>
              </a:ext>
            </a:extLst>
          </p:cNvPr>
          <p:cNvSpPr>
            <a:spLocks noGrp="1"/>
          </p:cNvSpPr>
          <p:nvPr>
            <p:ph type="sldNum" sz="quarter" idx="12"/>
          </p:nvPr>
        </p:nvSpPr>
        <p:spPr/>
        <p:txBody>
          <a:bodyPr/>
          <a:lstStyle/>
          <a:p>
            <a:fld id="{F27C86AC-9B92-421A-BC75-EFFFF5FC0E64}" type="slidenum">
              <a:rPr lang="en-US" smtClean="0"/>
              <a:t>‹#›</a:t>
            </a:fld>
            <a:endParaRPr lang="en-US"/>
          </a:p>
        </p:txBody>
      </p:sp>
    </p:spTree>
    <p:extLst>
      <p:ext uri="{BB962C8B-B14F-4D97-AF65-F5344CB8AC3E}">
        <p14:creationId xmlns:p14="http://schemas.microsoft.com/office/powerpoint/2010/main" val="4231589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285A85-F999-411C-BC63-F7B1AB768B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EA0071-2DEC-4205-A00A-F3B9BC4A14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66FF0-5EA8-4B05-B555-49E393E658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5BD14F-7B00-4732-AC4E-8C9B60C3A2AB}" type="datetimeFigureOut">
              <a:rPr lang="en-US" smtClean="0"/>
              <a:t>11/23/2025</a:t>
            </a:fld>
            <a:endParaRPr lang="en-US"/>
          </a:p>
        </p:txBody>
      </p:sp>
      <p:sp>
        <p:nvSpPr>
          <p:cNvPr id="5" name="Footer Placeholder 4">
            <a:extLst>
              <a:ext uri="{FF2B5EF4-FFF2-40B4-BE49-F238E27FC236}">
                <a16:creationId xmlns:a16="http://schemas.microsoft.com/office/drawing/2014/main" id="{D8FBB167-482B-4BFD-AD43-B8B40558C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74935A-8FAC-463B-9DBC-3BBC6ACC1C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7C86AC-9B92-421A-BC75-EFFFF5FC0E64}" type="slidenum">
              <a:rPr lang="en-US" smtClean="0"/>
              <a:t>‹#›</a:t>
            </a:fld>
            <a:endParaRPr lang="en-US"/>
          </a:p>
        </p:txBody>
      </p:sp>
    </p:spTree>
    <p:extLst>
      <p:ext uri="{BB962C8B-B14F-4D97-AF65-F5344CB8AC3E}">
        <p14:creationId xmlns:p14="http://schemas.microsoft.com/office/powerpoint/2010/main" val="3444520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medium.theuxblog.com/user-experience-primary-and-secondary-users-in-healthcare-8dd4c5c6149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medium.muz.li/coffee-ethnography-4ee31901286d" TargetMode="External"/><Relationship Id="rId2" Type="http://schemas.openxmlformats.org/officeDocument/2006/relationships/hyperlink" Target="https://medium.com/@userfocus/what-is-design-ethnography-b0a3f8f0339c" TargetMode="External"/><Relationship Id="rId1" Type="http://schemas.openxmlformats.org/officeDocument/2006/relationships/slideLayout" Target="../slideLayouts/slideLayout2.xml"/><Relationship Id="rId4" Type="http://schemas.openxmlformats.org/officeDocument/2006/relationships/hyperlink" Target="https://medium.com/thinking-design/better-understanding-users-through-ethnography-fd6f6395d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7AEC-987B-41D5-BD55-D1EC0737C2CF}"/>
              </a:ext>
            </a:extLst>
          </p:cNvPr>
          <p:cNvSpPr>
            <a:spLocks noGrp="1"/>
          </p:cNvSpPr>
          <p:nvPr>
            <p:ph type="title"/>
          </p:nvPr>
        </p:nvSpPr>
        <p:spPr/>
        <p:txBody>
          <a:bodyPr/>
          <a:lstStyle/>
          <a:p>
            <a:r>
              <a:rPr lang="en-US" dirty="0"/>
              <a:t>Need Finding  </a:t>
            </a:r>
          </a:p>
        </p:txBody>
      </p:sp>
      <p:sp>
        <p:nvSpPr>
          <p:cNvPr id="3" name="Text Placeholder 2">
            <a:extLst>
              <a:ext uri="{FF2B5EF4-FFF2-40B4-BE49-F238E27FC236}">
                <a16:creationId xmlns:a16="http://schemas.microsoft.com/office/drawing/2014/main" id="{1980AF93-D565-4406-9D23-671E238ABAC1}"/>
              </a:ext>
            </a:extLst>
          </p:cNvPr>
          <p:cNvSpPr>
            <a:spLocks noGrp="1"/>
          </p:cNvSpPr>
          <p:nvPr>
            <p:ph type="body" idx="1"/>
          </p:nvPr>
        </p:nvSpPr>
        <p:spPr>
          <a:xfrm>
            <a:off x="831850" y="4589463"/>
            <a:ext cx="5448180" cy="1500187"/>
          </a:xfrm>
        </p:spPr>
        <p:txBody>
          <a:bodyPr/>
          <a:lstStyle/>
          <a:p>
            <a:r>
              <a:rPr lang="en-US" dirty="0"/>
              <a:t>The process of understanding users, finding requirements, and Analyzing Data </a:t>
            </a:r>
          </a:p>
        </p:txBody>
      </p:sp>
      <p:pic>
        <p:nvPicPr>
          <p:cNvPr id="1026" name="Picture 2" descr="Image result for ideation">
            <a:extLst>
              <a:ext uri="{FF2B5EF4-FFF2-40B4-BE49-F238E27FC236}">
                <a16:creationId xmlns:a16="http://schemas.microsoft.com/office/drawing/2014/main" id="{739C3F8C-DF04-4408-88FC-90BD0FCBCB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3853" y="429968"/>
            <a:ext cx="5080599" cy="4047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103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B731-48F1-4B1F-AD67-B2058D798921}"/>
              </a:ext>
            </a:extLst>
          </p:cNvPr>
          <p:cNvSpPr>
            <a:spLocks noGrp="1"/>
          </p:cNvSpPr>
          <p:nvPr>
            <p:ph type="title"/>
          </p:nvPr>
        </p:nvSpPr>
        <p:spPr/>
        <p:txBody>
          <a:bodyPr/>
          <a:lstStyle/>
          <a:p>
            <a:r>
              <a:rPr lang="en-US" dirty="0"/>
              <a:t>Know Thy Users </a:t>
            </a:r>
          </a:p>
        </p:txBody>
      </p:sp>
      <p:sp>
        <p:nvSpPr>
          <p:cNvPr id="3" name="Text Placeholder 2">
            <a:extLst>
              <a:ext uri="{FF2B5EF4-FFF2-40B4-BE49-F238E27FC236}">
                <a16:creationId xmlns:a16="http://schemas.microsoft.com/office/drawing/2014/main" id="{CDC85584-CFA0-4D46-93A8-0C5E12AFBA94}"/>
              </a:ext>
            </a:extLst>
          </p:cNvPr>
          <p:cNvSpPr>
            <a:spLocks noGrp="1"/>
          </p:cNvSpPr>
          <p:nvPr>
            <p:ph type="body" idx="1"/>
          </p:nvPr>
        </p:nvSpPr>
        <p:spPr/>
        <p:txBody>
          <a:bodyPr/>
          <a:lstStyle/>
          <a:p>
            <a:pPr algn="ctr"/>
            <a:r>
              <a:rPr lang="en-US" i="1" dirty="0"/>
              <a:t>I’m a very selfish designer: when I design, I design it for me. </a:t>
            </a:r>
          </a:p>
          <a:p>
            <a:pPr algn="ctr"/>
            <a:r>
              <a:rPr lang="en-US" i="1" dirty="0"/>
              <a:t>And so </a:t>
            </a:r>
          </a:p>
          <a:p>
            <a:pPr algn="ctr"/>
            <a:r>
              <a:rPr lang="en-US" i="1" dirty="0"/>
              <a:t>my first task is to become you.</a:t>
            </a:r>
          </a:p>
          <a:p>
            <a:endParaRPr lang="en-US" dirty="0"/>
          </a:p>
        </p:txBody>
      </p:sp>
    </p:spTree>
    <p:extLst>
      <p:ext uri="{BB962C8B-B14F-4D97-AF65-F5344CB8AC3E}">
        <p14:creationId xmlns:p14="http://schemas.microsoft.com/office/powerpoint/2010/main" val="3536932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Step into Shoes of the User</a:t>
            </a:r>
          </a:p>
        </p:txBody>
      </p:sp>
      <p:sp>
        <p:nvSpPr>
          <p:cNvPr id="9" name="Content Placeholder 8"/>
          <p:cNvSpPr>
            <a:spLocks noGrp="1"/>
          </p:cNvSpPr>
          <p:nvPr>
            <p:ph sz="quarter" idx="1"/>
          </p:nvPr>
        </p:nvSpPr>
        <p:spPr/>
        <p:txBody>
          <a:bodyPr/>
          <a:lstStyle/>
          <a:p>
            <a:r>
              <a:rPr lang="en-US" dirty="0"/>
              <a:t>You are most probably  different from the user</a:t>
            </a:r>
          </a:p>
          <a:p>
            <a:r>
              <a:rPr lang="en-US" dirty="0"/>
              <a:t>It is not possible that you design a system according to needs of the user</a:t>
            </a:r>
          </a:p>
          <a:p>
            <a:r>
              <a:rPr lang="en-US" dirty="0"/>
              <a:t>You need to observe the life of the user before you can design a system that would be useful to your user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Trucker’s Example</a:t>
            </a:r>
          </a:p>
        </p:txBody>
      </p:sp>
      <p:sp>
        <p:nvSpPr>
          <p:cNvPr id="5" name="Content Placeholder 4"/>
          <p:cNvSpPr>
            <a:spLocks noGrp="1"/>
          </p:cNvSpPr>
          <p:nvPr>
            <p:ph sz="quarter" idx="1"/>
          </p:nvPr>
        </p:nvSpPr>
        <p:spPr/>
        <p:txBody>
          <a:bodyPr/>
          <a:lstStyle/>
          <a:p>
            <a:r>
              <a:rPr lang="en-US" dirty="0"/>
              <a:t>The makers of a GPS system for truckers observed that their system is underutilized</a:t>
            </a:r>
          </a:p>
          <a:p>
            <a:r>
              <a:rPr lang="en-US" dirty="0"/>
              <a:t>WHY??? What do you think</a:t>
            </a:r>
          </a:p>
          <a:p>
            <a:pPr lvl="1"/>
            <a:endParaRPr lang="en-US" dirty="0"/>
          </a:p>
          <a:p>
            <a:endParaRPr lang="en-US" dirty="0"/>
          </a:p>
        </p:txBody>
      </p:sp>
      <p:pic>
        <p:nvPicPr>
          <p:cNvPr id="25602" name="Picture 2" descr="http://t1.gstatic.com/images?q=tbn:ANd9GcTUOXArqmIL2aTGnDYVllmPaVr-GZHfYPuVS1YCOGpg2ztoSzjQUw"/>
          <p:cNvPicPr>
            <a:picLocks noChangeAspect="1" noChangeArrowheads="1"/>
          </p:cNvPicPr>
          <p:nvPr/>
        </p:nvPicPr>
        <p:blipFill>
          <a:blip r:embed="rId2" cstate="print"/>
          <a:srcRect/>
          <a:stretch>
            <a:fillRect/>
          </a:stretch>
        </p:blipFill>
        <p:spPr bwMode="auto">
          <a:xfrm>
            <a:off x="5943600" y="1752600"/>
            <a:ext cx="4724400" cy="3582672"/>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Trucker’s Example</a:t>
            </a:r>
          </a:p>
        </p:txBody>
      </p:sp>
      <p:sp>
        <p:nvSpPr>
          <p:cNvPr id="5" name="Content Placeholder 4"/>
          <p:cNvSpPr>
            <a:spLocks noGrp="1"/>
          </p:cNvSpPr>
          <p:nvPr>
            <p:ph sz="quarter" idx="1"/>
          </p:nvPr>
        </p:nvSpPr>
        <p:spPr/>
        <p:txBody>
          <a:bodyPr/>
          <a:lstStyle/>
          <a:p>
            <a:r>
              <a:rPr lang="en-US" dirty="0"/>
              <a:t>On closer examination</a:t>
            </a:r>
          </a:p>
          <a:p>
            <a:pPr lvl="1"/>
            <a:r>
              <a:rPr lang="en-US" dirty="0"/>
              <a:t>Truckers have large fingers</a:t>
            </a:r>
          </a:p>
          <a:p>
            <a:pPr lvl="1"/>
            <a:r>
              <a:rPr lang="en-US" dirty="0"/>
              <a:t>They wear gloves a lot</a:t>
            </a:r>
          </a:p>
          <a:p>
            <a:pPr lvl="1"/>
            <a:endParaRPr lang="en-US" dirty="0"/>
          </a:p>
          <a:p>
            <a:endParaRPr lang="en-US" dirty="0"/>
          </a:p>
        </p:txBody>
      </p:sp>
      <p:pic>
        <p:nvPicPr>
          <p:cNvPr id="25602" name="Picture 2" descr="http://t1.gstatic.com/images?q=tbn:ANd9GcTUOXArqmIL2aTGnDYVllmPaVr-GZHfYPuVS1YCOGpg2ztoSzjQUw"/>
          <p:cNvPicPr>
            <a:picLocks noChangeAspect="1" noChangeArrowheads="1"/>
          </p:cNvPicPr>
          <p:nvPr/>
        </p:nvPicPr>
        <p:blipFill>
          <a:blip r:embed="rId2" cstate="print"/>
          <a:srcRect/>
          <a:stretch>
            <a:fillRect/>
          </a:stretch>
        </p:blipFill>
        <p:spPr bwMode="auto">
          <a:xfrm>
            <a:off x="5943600" y="1752600"/>
            <a:ext cx="4724400" cy="3582672"/>
          </a:xfrm>
          <a:prstGeom prst="rect">
            <a:avLst/>
          </a:prstGeom>
          <a:noFill/>
        </p:spPr>
      </p:pic>
      <p:sp>
        <p:nvSpPr>
          <p:cNvPr id="6" name="TextBox 5"/>
          <p:cNvSpPr txBox="1"/>
          <p:nvPr/>
        </p:nvSpPr>
        <p:spPr>
          <a:xfrm>
            <a:off x="2209800" y="5638800"/>
            <a:ext cx="7924800" cy="523220"/>
          </a:xfrm>
          <a:prstGeom prst="rect">
            <a:avLst/>
          </a:prstGeom>
          <a:noFill/>
        </p:spPr>
        <p:txBody>
          <a:bodyPr wrap="square" rtlCol="0">
            <a:spAutoFit/>
          </a:bodyPr>
          <a:lstStyle/>
          <a:p>
            <a:r>
              <a:rPr lang="en-US" sz="2800" dirty="0"/>
              <a:t>HCI experts recommend deep understanding of users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Redesigned :large screen and stylus</a:t>
            </a:r>
          </a:p>
        </p:txBody>
      </p:sp>
      <p:pic>
        <p:nvPicPr>
          <p:cNvPr id="41986" name="Picture 2" descr="http://blog.fleetowner.com/trucks_at_work/wp-content/uploads/2010/10/qualcomm200.jpg"/>
          <p:cNvPicPr>
            <a:picLocks noChangeAspect="1" noChangeArrowheads="1"/>
          </p:cNvPicPr>
          <p:nvPr/>
        </p:nvPicPr>
        <p:blipFill>
          <a:blip r:embed="rId2" cstate="print"/>
          <a:srcRect/>
          <a:stretch>
            <a:fillRect/>
          </a:stretch>
        </p:blipFill>
        <p:spPr bwMode="auto">
          <a:xfrm>
            <a:off x="2971800" y="1447800"/>
            <a:ext cx="5486400" cy="44196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388FC-3839-4894-B13D-DAA54D00C19A}"/>
              </a:ext>
            </a:extLst>
          </p:cNvPr>
          <p:cNvSpPr>
            <a:spLocks noGrp="1"/>
          </p:cNvSpPr>
          <p:nvPr>
            <p:ph type="title"/>
          </p:nvPr>
        </p:nvSpPr>
        <p:spPr/>
        <p:txBody>
          <a:bodyPr/>
          <a:lstStyle/>
          <a:p>
            <a:r>
              <a:rPr lang="en-US" dirty="0"/>
              <a:t>Preliminary Research and Analysis  </a:t>
            </a:r>
          </a:p>
        </p:txBody>
      </p:sp>
      <p:sp>
        <p:nvSpPr>
          <p:cNvPr id="3" name="Content Placeholder 2">
            <a:extLst>
              <a:ext uri="{FF2B5EF4-FFF2-40B4-BE49-F238E27FC236}">
                <a16:creationId xmlns:a16="http://schemas.microsoft.com/office/drawing/2014/main" id="{8C380497-510D-43E4-9F27-D71B571FE3DE}"/>
              </a:ext>
            </a:extLst>
          </p:cNvPr>
          <p:cNvSpPr>
            <a:spLocks noGrp="1"/>
          </p:cNvSpPr>
          <p:nvPr>
            <p:ph idx="1"/>
          </p:nvPr>
        </p:nvSpPr>
        <p:spPr/>
        <p:txBody>
          <a:bodyPr>
            <a:normAutofit/>
          </a:bodyPr>
          <a:lstStyle/>
          <a:p>
            <a:pPr marL="514350" indent="-514350">
              <a:buFont typeface="+mj-lt"/>
              <a:buAutoNum type="arabicPeriod"/>
            </a:pPr>
            <a:r>
              <a:rPr lang="en-US" dirty="0"/>
              <a:t>Identify Target Market </a:t>
            </a:r>
          </a:p>
          <a:p>
            <a:pPr marL="514350" indent="-514350">
              <a:buFont typeface="+mj-lt"/>
              <a:buAutoNum type="arabicPeriod"/>
            </a:pPr>
            <a:endParaRPr lang="en-US" dirty="0"/>
          </a:p>
          <a:p>
            <a:pPr marL="514350" indent="-514350">
              <a:buFont typeface="+mj-lt"/>
              <a:buAutoNum type="arabicPeriod"/>
            </a:pPr>
            <a:r>
              <a:rPr lang="en-US" dirty="0"/>
              <a:t>Identify user classes </a:t>
            </a:r>
          </a:p>
          <a:p>
            <a:pPr lvl="1"/>
            <a:r>
              <a:rPr lang="en-US" dirty="0"/>
              <a:t>By going into the users</a:t>
            </a:r>
          </a:p>
          <a:p>
            <a:pPr lvl="1"/>
            <a:r>
              <a:rPr lang="en-US" dirty="0"/>
              <a:t>By surveying </a:t>
            </a:r>
          </a:p>
          <a:p>
            <a:pPr lvl="1"/>
            <a:r>
              <a:rPr lang="en-US" dirty="0"/>
              <a:t>By interviewing </a:t>
            </a:r>
          </a:p>
          <a:p>
            <a:pPr lvl="1"/>
            <a:r>
              <a:rPr lang="en-US" dirty="0"/>
              <a:t>By ethnography  </a:t>
            </a:r>
          </a:p>
        </p:txBody>
      </p:sp>
    </p:spTree>
    <p:extLst>
      <p:ext uri="{BB962C8B-B14F-4D97-AF65-F5344CB8AC3E}">
        <p14:creationId xmlns:p14="http://schemas.microsoft.com/office/powerpoint/2010/main" val="125433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Target Market Analysis </a:t>
            </a:r>
          </a:p>
        </p:txBody>
      </p:sp>
      <p:sp>
        <p:nvSpPr>
          <p:cNvPr id="3" name="Content Placeholder 2"/>
          <p:cNvSpPr>
            <a:spLocks noGrp="1"/>
          </p:cNvSpPr>
          <p:nvPr>
            <p:ph sz="quarter" idx="1"/>
          </p:nvPr>
        </p:nvSpPr>
        <p:spPr/>
        <p:txBody>
          <a:bodyPr>
            <a:normAutofit/>
          </a:bodyPr>
          <a:lstStyle/>
          <a:p>
            <a:r>
              <a:rPr lang="en-US" dirty="0"/>
              <a:t>Shall be all inclusive, as well as all exclusive </a:t>
            </a:r>
          </a:p>
          <a:p>
            <a:endParaRPr lang="en-US" dirty="0"/>
          </a:p>
          <a:p>
            <a:r>
              <a:rPr lang="en-US" dirty="0"/>
              <a:t>Do not focus on only the “best” or most experienced users</a:t>
            </a:r>
          </a:p>
          <a:p>
            <a:endParaRPr lang="en-US" dirty="0"/>
          </a:p>
          <a:p>
            <a:r>
              <a:rPr lang="en-US" dirty="0"/>
              <a:t>Consider a range of users to ensure that your product works for at least 80% of your user population. </a:t>
            </a:r>
          </a:p>
          <a:p>
            <a:endParaRPr lang="en-US" dirty="0"/>
          </a:p>
          <a:p>
            <a:r>
              <a:rPr lang="en-US" dirty="0"/>
              <a:t>However, it is not impracticable to target 90–95% of the population. </a:t>
            </a:r>
          </a:p>
          <a:p>
            <a:endParaRPr lang="en-US" dirty="0"/>
          </a:p>
        </p:txBody>
      </p:sp>
    </p:spTree>
    <p:extLst>
      <p:ext uri="{BB962C8B-B14F-4D97-AF65-F5344CB8AC3E}">
        <p14:creationId xmlns:p14="http://schemas.microsoft.com/office/powerpoint/2010/main" val="1405651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Target Market Analysis </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Who: </a:t>
            </a:r>
            <a:r>
              <a:rPr lang="en-US" dirty="0">
                <a:ea typeface="+mn-lt"/>
                <a:cs typeface="+mn-lt"/>
              </a:rPr>
              <a:t>Start with questioning yourself about who is going to buy your product. Are they children, teens, millennials, or baby boomers? Are they males or females? Are they service classed or self-employed? What’s their yearly income?</a:t>
            </a:r>
            <a:endParaRPr lang="en-US" dirty="0">
              <a:cs typeface="Calibri"/>
            </a:endParaRPr>
          </a:p>
          <a:p>
            <a:r>
              <a:rPr lang="en-US" b="1" dirty="0">
                <a:ea typeface="+mn-lt"/>
                <a:cs typeface="+mn-lt"/>
              </a:rPr>
              <a:t>What: </a:t>
            </a:r>
            <a:r>
              <a:rPr lang="en-US" dirty="0">
                <a:ea typeface="+mn-lt"/>
                <a:cs typeface="+mn-lt"/>
              </a:rPr>
              <a:t>What type of products and services do they buy now and what do they expect from it? Does your product fits their requirements?</a:t>
            </a:r>
            <a:endParaRPr lang="en-US" dirty="0"/>
          </a:p>
          <a:p>
            <a:r>
              <a:rPr lang="en-US" b="1" dirty="0">
                <a:ea typeface="+mn-lt"/>
                <a:cs typeface="+mn-lt"/>
              </a:rPr>
              <a:t>When: </a:t>
            </a:r>
            <a:r>
              <a:rPr lang="en-US" dirty="0">
                <a:ea typeface="+mn-lt"/>
                <a:cs typeface="+mn-lt"/>
              </a:rPr>
              <a:t>When do they buy the product? Is it daily or rarely? When do they use the product?</a:t>
            </a:r>
            <a:endParaRPr lang="en-US" dirty="0"/>
          </a:p>
          <a:p>
            <a:r>
              <a:rPr lang="en-US" b="1" dirty="0">
                <a:ea typeface="+mn-lt"/>
                <a:cs typeface="+mn-lt"/>
              </a:rPr>
              <a:t>Where: </a:t>
            </a:r>
            <a:r>
              <a:rPr lang="en-US" dirty="0">
                <a:ea typeface="+mn-lt"/>
                <a:cs typeface="+mn-lt"/>
              </a:rPr>
              <a:t>Where do they live? Where do they use the product?</a:t>
            </a:r>
            <a:endParaRPr lang="en-US" dirty="0"/>
          </a:p>
          <a:p>
            <a:r>
              <a:rPr lang="en-US" b="1" dirty="0">
                <a:ea typeface="+mn-lt"/>
                <a:cs typeface="+mn-lt"/>
              </a:rPr>
              <a:t>Why: </a:t>
            </a:r>
            <a:r>
              <a:rPr lang="en-US" dirty="0">
                <a:ea typeface="+mn-lt"/>
                <a:cs typeface="+mn-lt"/>
              </a:rPr>
              <a:t>Do they buy it because it’s their need, or is it a luxury product for them?</a:t>
            </a:r>
            <a:endParaRPr lang="en-US" dirty="0"/>
          </a:p>
          <a:p>
            <a:pPr lvl="1"/>
            <a:endParaRPr lang="en-US" dirty="0">
              <a:cs typeface="Calibri"/>
            </a:endParaRPr>
          </a:p>
          <a:p>
            <a:endParaRPr lang="en-US" dirty="0"/>
          </a:p>
        </p:txBody>
      </p:sp>
    </p:spTree>
    <p:extLst>
      <p:ext uri="{BB962C8B-B14F-4D97-AF65-F5344CB8AC3E}">
        <p14:creationId xmlns:p14="http://schemas.microsoft.com/office/powerpoint/2010/main" val="1290617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BC92-25CA-4925-BA8C-C4B3E24C4B0C}"/>
              </a:ext>
            </a:extLst>
          </p:cNvPr>
          <p:cNvSpPr>
            <a:spLocks noGrp="1"/>
          </p:cNvSpPr>
          <p:nvPr>
            <p:ph type="title"/>
          </p:nvPr>
        </p:nvSpPr>
        <p:spPr/>
        <p:txBody>
          <a:bodyPr/>
          <a:lstStyle/>
          <a:p>
            <a:r>
              <a:rPr lang="en-US" dirty="0"/>
              <a:t>User Classification </a:t>
            </a:r>
          </a:p>
        </p:txBody>
      </p:sp>
      <p:pic>
        <p:nvPicPr>
          <p:cNvPr id="4" name="Picture 2" descr="Figure 1: UX relates to the primary user, Co-experience relates to the shared experience by the system of both users, and secondary UX relates to the secondary user. The solid arrows indicate interaction, while the dotted arrow indicates indirect interaction.">
            <a:extLst>
              <a:ext uri="{FF2B5EF4-FFF2-40B4-BE49-F238E27FC236}">
                <a16:creationId xmlns:a16="http://schemas.microsoft.com/office/drawing/2014/main" id="{7C6AB780-7C2D-4667-AFEE-C3A92A35E7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7933" y="1397021"/>
            <a:ext cx="11396134" cy="4063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144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63BB9-9667-47C8-898A-5EA75B32512B}"/>
              </a:ext>
            </a:extLst>
          </p:cNvPr>
          <p:cNvSpPr>
            <a:spLocks noGrp="1"/>
          </p:cNvSpPr>
          <p:nvPr>
            <p:ph type="title"/>
          </p:nvPr>
        </p:nvSpPr>
        <p:spPr/>
        <p:txBody>
          <a:bodyPr/>
          <a:lstStyle/>
          <a:p>
            <a:r>
              <a:rPr lang="en-US" dirty="0"/>
              <a:t>Primary/Secondary Users </a:t>
            </a:r>
          </a:p>
        </p:txBody>
      </p:sp>
      <p:pic>
        <p:nvPicPr>
          <p:cNvPr id="1026" name="Picture 2" descr="Fig. 1. Descriptive model for face-to-face interaction showing location of primary and secondary users with respect to shared technology usage.">
            <a:extLst>
              <a:ext uri="{FF2B5EF4-FFF2-40B4-BE49-F238E27FC236}">
                <a16:creationId xmlns:a16="http://schemas.microsoft.com/office/drawing/2014/main" id="{DA3207A9-F0F5-456A-BD60-B241D9A4073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7498" b="7425"/>
          <a:stretch/>
        </p:blipFill>
        <p:spPr bwMode="auto">
          <a:xfrm>
            <a:off x="1850145" y="1755386"/>
            <a:ext cx="9146558"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723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0A723-3B93-4E3A-BFD6-88AF4211DFF8}"/>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E7B737CB-B6AA-4F4E-A95B-332A55DC2DA6}"/>
              </a:ext>
            </a:extLst>
          </p:cNvPr>
          <p:cNvSpPr>
            <a:spLocks noGrp="1"/>
          </p:cNvSpPr>
          <p:nvPr>
            <p:ph idx="1"/>
          </p:nvPr>
        </p:nvSpPr>
        <p:spPr/>
        <p:txBody>
          <a:bodyPr/>
          <a:lstStyle/>
          <a:p>
            <a:r>
              <a:rPr lang="en-US" dirty="0">
                <a:hlinkClick r:id="rId2"/>
              </a:rPr>
              <a:t>https://medium.theuxblog.com/user-experience-primary-and-secondary-users-in-healthcare-8dd4c5c61490</a:t>
            </a:r>
            <a:r>
              <a:rPr lang="en-US" dirty="0"/>
              <a:t> </a:t>
            </a:r>
          </a:p>
          <a:p>
            <a:endParaRPr lang="en-US" dirty="0"/>
          </a:p>
        </p:txBody>
      </p:sp>
    </p:spTree>
    <p:extLst>
      <p:ext uri="{BB962C8B-B14F-4D97-AF65-F5344CB8AC3E}">
        <p14:creationId xmlns:p14="http://schemas.microsoft.com/office/powerpoint/2010/main" val="1355785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6A254-D873-4090-B34A-93008F923FB0}"/>
              </a:ext>
            </a:extLst>
          </p:cNvPr>
          <p:cNvSpPr>
            <a:spLocks noGrp="1"/>
          </p:cNvSpPr>
          <p:nvPr>
            <p:ph type="title"/>
          </p:nvPr>
        </p:nvSpPr>
        <p:spPr/>
        <p:txBody>
          <a:bodyPr/>
          <a:lstStyle/>
          <a:p>
            <a:r>
              <a:rPr lang="en-US" dirty="0"/>
              <a:t>User Research </a:t>
            </a:r>
          </a:p>
        </p:txBody>
      </p:sp>
      <p:sp>
        <p:nvSpPr>
          <p:cNvPr id="3" name="Text Placeholder 2">
            <a:extLst>
              <a:ext uri="{FF2B5EF4-FFF2-40B4-BE49-F238E27FC236}">
                <a16:creationId xmlns:a16="http://schemas.microsoft.com/office/drawing/2014/main" id="{8B33D454-222B-4F86-8F2F-55E465132AAD}"/>
              </a:ext>
            </a:extLst>
          </p:cNvPr>
          <p:cNvSpPr>
            <a:spLocks noGrp="1"/>
          </p:cNvSpPr>
          <p:nvPr>
            <p:ph type="body" idx="1"/>
          </p:nvPr>
        </p:nvSpPr>
        <p:spPr/>
        <p:txBody>
          <a:bodyPr/>
          <a:lstStyle/>
          <a:p>
            <a:r>
              <a:rPr lang="en-US" dirty="0"/>
              <a:t>Ethnography and Interviewing </a:t>
            </a:r>
          </a:p>
        </p:txBody>
      </p:sp>
    </p:spTree>
    <p:extLst>
      <p:ext uri="{BB962C8B-B14F-4D97-AF65-F5344CB8AC3E}">
        <p14:creationId xmlns:p14="http://schemas.microsoft.com/office/powerpoint/2010/main" val="627841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Ethnography</a:t>
            </a:r>
          </a:p>
        </p:txBody>
      </p:sp>
      <p:sp>
        <p:nvSpPr>
          <p:cNvPr id="3" name="Content Placeholder 2"/>
          <p:cNvSpPr>
            <a:spLocks noGrp="1"/>
          </p:cNvSpPr>
          <p:nvPr>
            <p:ph sz="quarter" idx="1"/>
          </p:nvPr>
        </p:nvSpPr>
        <p:spPr/>
        <p:txBody>
          <a:bodyPr/>
          <a:lstStyle/>
          <a:p>
            <a:r>
              <a:rPr lang="en-US" dirty="0"/>
              <a:t>Ethnography is Greek word</a:t>
            </a:r>
          </a:p>
          <a:p>
            <a:pPr marL="0" indent="0">
              <a:buNone/>
            </a:pPr>
            <a:endParaRPr lang="en-US" dirty="0"/>
          </a:p>
          <a:p>
            <a:pPr lvl="1"/>
            <a:r>
              <a:rPr lang="en-US" dirty="0"/>
              <a:t>Ethno =folk, people, nation</a:t>
            </a:r>
          </a:p>
          <a:p>
            <a:pPr lvl="1"/>
            <a:r>
              <a:rPr lang="en-US" dirty="0"/>
              <a:t>Grapho= I write</a:t>
            </a:r>
          </a:p>
          <a:p>
            <a:pPr marL="457200" lvl="1" indent="0">
              <a:buNone/>
            </a:pPr>
            <a:endParaRPr lang="en-US" dirty="0"/>
          </a:p>
          <a:p>
            <a:r>
              <a:rPr lang="en-US" dirty="0"/>
              <a:t>Systematic </a:t>
            </a:r>
            <a:r>
              <a:rPr lang="en-US" b="0" i="0" dirty="0">
                <a:solidFill>
                  <a:srgbClr val="202124"/>
                </a:solidFill>
                <a:effectLst/>
                <a:latin typeface="Calibri" panose="020F0502020204030204" pitchFamily="34" charset="0"/>
                <a:cs typeface="Calibri" panose="020F0502020204030204" pitchFamily="34" charset="0"/>
              </a:rPr>
              <a:t>description or study of peoples and cultures with their customs, habits, and mutual differences</a:t>
            </a:r>
            <a:endParaRPr lang="en-US" dirty="0">
              <a:latin typeface="Calibri" panose="020F0502020204030204" pitchFamily="34" charset="0"/>
              <a:cs typeface="Calibri" panose="020F0502020204030204" pitchFamily="34" charset="0"/>
            </a:endParaRPr>
          </a:p>
        </p:txBody>
      </p:sp>
      <p:pic>
        <p:nvPicPr>
          <p:cNvPr id="43010" name="Picture 2" descr="https://mariamz.files.wordpress.com/2011/05/salul.jpg"/>
          <p:cNvPicPr>
            <a:picLocks noChangeAspect="1" noChangeArrowheads="1"/>
          </p:cNvPicPr>
          <p:nvPr/>
        </p:nvPicPr>
        <p:blipFill>
          <a:blip r:embed="rId2" cstate="print"/>
          <a:srcRect/>
          <a:stretch>
            <a:fillRect/>
          </a:stretch>
        </p:blipFill>
        <p:spPr bwMode="auto">
          <a:xfrm>
            <a:off x="6096000" y="1143001"/>
            <a:ext cx="4343400" cy="4267201"/>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ADF4D93F-5BF0-4A37-BC6F-4F7CBE61F8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3684" y="1182414"/>
            <a:ext cx="11067392" cy="553369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84640CB0-7E6F-4316-89B0-EE16DC8F96D0}"/>
              </a:ext>
            </a:extLst>
          </p:cNvPr>
          <p:cNvSpPr>
            <a:spLocks noGrp="1"/>
          </p:cNvSpPr>
          <p:nvPr>
            <p:ph type="title"/>
          </p:nvPr>
        </p:nvSpPr>
        <p:spPr>
          <a:xfrm>
            <a:off x="838200" y="365126"/>
            <a:ext cx="10515600" cy="1053772"/>
          </a:xfrm>
        </p:spPr>
        <p:txBody>
          <a:bodyPr/>
          <a:lstStyle/>
          <a:p>
            <a:r>
              <a:rPr lang="en-US" dirty="0"/>
              <a:t>Ethnography  </a:t>
            </a:r>
          </a:p>
        </p:txBody>
      </p:sp>
    </p:spTree>
    <p:extLst>
      <p:ext uri="{BB962C8B-B14F-4D97-AF65-F5344CB8AC3E}">
        <p14:creationId xmlns:p14="http://schemas.microsoft.com/office/powerpoint/2010/main" val="57751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896" y="46037"/>
            <a:ext cx="10515600" cy="1325563"/>
          </a:xfrm>
        </p:spPr>
        <p:txBody>
          <a:bodyPr/>
          <a:lstStyle/>
          <a:p>
            <a:r>
              <a:rPr lang="en-US" dirty="0"/>
              <a:t>Some points to observe</a:t>
            </a:r>
          </a:p>
        </p:txBody>
      </p:sp>
      <p:sp>
        <p:nvSpPr>
          <p:cNvPr id="3" name="Content Placeholder 2"/>
          <p:cNvSpPr>
            <a:spLocks noGrp="1"/>
          </p:cNvSpPr>
          <p:nvPr>
            <p:ph idx="1"/>
          </p:nvPr>
        </p:nvSpPr>
        <p:spPr>
          <a:xfrm>
            <a:off x="838200" y="1060704"/>
            <a:ext cx="10515600" cy="5116259"/>
          </a:xfrm>
        </p:spPr>
        <p:txBody>
          <a:bodyPr>
            <a:normAutofit fontScale="85000" lnSpcReduction="20000"/>
          </a:bodyPr>
          <a:lstStyle/>
          <a:p>
            <a:r>
              <a:rPr lang="en-US" dirty="0"/>
              <a:t>Who is present?</a:t>
            </a:r>
          </a:p>
          <a:p>
            <a:r>
              <a:rPr lang="en-US" dirty="0"/>
              <a:t>What is their role?</a:t>
            </a:r>
          </a:p>
          <a:p>
            <a:r>
              <a:rPr lang="en-US" dirty="0"/>
              <a:t>What is happening?</a:t>
            </a:r>
          </a:p>
          <a:p>
            <a:r>
              <a:rPr lang="en-US" dirty="0"/>
              <a:t>When does the activity occur?</a:t>
            </a:r>
          </a:p>
          <a:p>
            <a:r>
              <a:rPr lang="en-US" dirty="0"/>
              <a:t>Where is it happening?</a:t>
            </a:r>
          </a:p>
          <a:p>
            <a:r>
              <a:rPr lang="en-US" dirty="0"/>
              <a:t>Why is it happening?</a:t>
            </a:r>
          </a:p>
          <a:p>
            <a:r>
              <a:rPr lang="en-US" dirty="0"/>
              <a:t>How is the activity organized?</a:t>
            </a:r>
          </a:p>
          <a:p>
            <a:endParaRPr lang="en-US" dirty="0"/>
          </a:p>
          <a:p>
            <a:pPr algn="ctr"/>
            <a:r>
              <a:rPr lang="en-US" b="1" dirty="0"/>
              <a:t>What do people do now</a:t>
            </a:r>
          </a:p>
          <a:p>
            <a:pPr algn="ctr"/>
            <a:r>
              <a:rPr lang="en-US" b="1" dirty="0"/>
              <a:t>What are their goals and motivations</a:t>
            </a:r>
            <a:endParaRPr lang="en-US" dirty="0"/>
          </a:p>
          <a:p>
            <a:endParaRPr lang="en-US" dirty="0"/>
          </a:p>
          <a:p>
            <a:pPr marL="0" indent="0">
              <a:buNone/>
            </a:pPr>
            <a:r>
              <a:rPr lang="en-US" dirty="0"/>
              <a:t>Communication patterns show who talks to whom, and how often. For communication-intensive products, such as telephony, email, or advertising, this information is vital.</a:t>
            </a:r>
          </a:p>
          <a:p>
            <a:endParaRPr lang="en-US" dirty="0"/>
          </a:p>
        </p:txBody>
      </p:sp>
    </p:spTree>
    <p:extLst>
      <p:ext uri="{BB962C8B-B14F-4D97-AF65-F5344CB8AC3E}">
        <p14:creationId xmlns:p14="http://schemas.microsoft.com/office/powerpoint/2010/main" val="2888261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Conditions Required</a:t>
            </a:r>
            <a:br>
              <a:rPr lang="en-US" b="1" dirty="0"/>
            </a:br>
            <a:endParaRPr lang="en-US" dirty="0"/>
          </a:p>
        </p:txBody>
      </p:sp>
      <p:sp>
        <p:nvSpPr>
          <p:cNvPr id="3" name="Content Placeholder 2"/>
          <p:cNvSpPr>
            <a:spLocks noGrp="1"/>
          </p:cNvSpPr>
          <p:nvPr>
            <p:ph idx="1"/>
          </p:nvPr>
        </p:nvSpPr>
        <p:spPr/>
        <p:txBody>
          <a:bodyPr>
            <a:normAutofit/>
          </a:bodyPr>
          <a:lstStyle/>
          <a:p>
            <a:r>
              <a:rPr lang="en-US" dirty="0"/>
              <a:t>The environment should be the normal working environment.</a:t>
            </a:r>
          </a:p>
          <a:p>
            <a:r>
              <a:rPr lang="en-US" dirty="0"/>
              <a:t>Ethnography studies a real life scenario as it unfolds.</a:t>
            </a:r>
          </a:p>
          <a:p>
            <a:r>
              <a:rPr lang="en-US" dirty="0"/>
              <a:t>Permission of the management and users may be required for any or all of this task.</a:t>
            </a:r>
          </a:p>
          <a:p>
            <a:r>
              <a:rPr lang="en-US" dirty="0"/>
              <a:t>Will need one of the following:</a:t>
            </a:r>
          </a:p>
          <a:p>
            <a:pPr lvl="1"/>
            <a:r>
              <a:rPr lang="en-US" dirty="0"/>
              <a:t>Notes &amp; still camera</a:t>
            </a:r>
          </a:p>
          <a:p>
            <a:pPr lvl="1"/>
            <a:r>
              <a:rPr lang="en-US" dirty="0"/>
              <a:t>Audio &amp; still camera</a:t>
            </a:r>
          </a:p>
          <a:p>
            <a:pPr lvl="1"/>
            <a:r>
              <a:rPr lang="en-US" dirty="0"/>
              <a:t>Video</a:t>
            </a:r>
          </a:p>
          <a:p>
            <a:endParaRPr lang="en-US" dirty="0"/>
          </a:p>
        </p:txBody>
      </p:sp>
    </p:spTree>
    <p:extLst>
      <p:ext uri="{BB962C8B-B14F-4D97-AF65-F5344CB8AC3E}">
        <p14:creationId xmlns:p14="http://schemas.microsoft.com/office/powerpoint/2010/main" val="1348323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a:t>
            </a:r>
          </a:p>
        </p:txBody>
      </p:sp>
      <p:sp>
        <p:nvSpPr>
          <p:cNvPr id="3" name="Content Placeholder 2"/>
          <p:cNvSpPr>
            <a:spLocks noGrp="1"/>
          </p:cNvSpPr>
          <p:nvPr>
            <p:ph idx="1"/>
          </p:nvPr>
        </p:nvSpPr>
        <p:spPr>
          <a:xfrm>
            <a:off x="838200" y="1517904"/>
            <a:ext cx="10515600" cy="4659059"/>
          </a:xfrm>
        </p:spPr>
        <p:txBody>
          <a:bodyPr>
            <a:normAutofit/>
          </a:bodyPr>
          <a:lstStyle/>
          <a:p>
            <a:r>
              <a:rPr lang="en-US" dirty="0"/>
              <a:t>Only successful when accepted by the people in the setting. Reluctance on the part of the subjects results in modified behavior and hence invalid results.</a:t>
            </a:r>
          </a:p>
          <a:p>
            <a:r>
              <a:rPr lang="en-US" dirty="0"/>
              <a:t>Even though the evaluator tries to remain as unobtrusive as possible their presence may still affect the performance of the observed workers.</a:t>
            </a:r>
          </a:p>
          <a:p>
            <a:r>
              <a:rPr lang="en-US" dirty="0"/>
              <a:t>The study can be difficult to pin down to a time frame</a:t>
            </a:r>
          </a:p>
          <a:p>
            <a:r>
              <a:rPr lang="en-US" dirty="0"/>
              <a:t>Analyzing video and data logs can be time-consuming.</a:t>
            </a:r>
          </a:p>
          <a:p>
            <a:pPr marL="0" indent="0">
              <a:buNone/>
            </a:pPr>
            <a:endParaRPr lang="en-US" dirty="0"/>
          </a:p>
        </p:txBody>
      </p:sp>
    </p:spTree>
    <p:extLst>
      <p:ext uri="{BB962C8B-B14F-4D97-AF65-F5344CB8AC3E}">
        <p14:creationId xmlns:p14="http://schemas.microsoft.com/office/powerpoint/2010/main" val="3818852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Interview Potential Users</a:t>
            </a:r>
          </a:p>
        </p:txBody>
      </p:sp>
      <p:sp>
        <p:nvSpPr>
          <p:cNvPr id="5" name="Content Placeholder 4"/>
          <p:cNvSpPr>
            <a:spLocks noGrp="1"/>
          </p:cNvSpPr>
          <p:nvPr>
            <p:ph sz="quarter" idx="1"/>
          </p:nvPr>
        </p:nvSpPr>
        <p:spPr/>
        <p:txBody>
          <a:bodyPr>
            <a:normAutofit/>
          </a:bodyPr>
          <a:lstStyle/>
          <a:p>
            <a:r>
              <a:rPr lang="en-US" dirty="0"/>
              <a:t>You must interview people who are potential users of your system</a:t>
            </a:r>
          </a:p>
          <a:p>
            <a:r>
              <a:rPr lang="en-US" dirty="0"/>
              <a:t>They can be :</a:t>
            </a:r>
          </a:p>
          <a:p>
            <a:pPr lvl="1"/>
            <a:r>
              <a:rPr lang="en-US" dirty="0"/>
              <a:t>Current users of a software system:</a:t>
            </a:r>
          </a:p>
          <a:p>
            <a:pPr lvl="2"/>
            <a:r>
              <a:rPr lang="en-US" dirty="0"/>
              <a:t>The problems they face are potential places to improve</a:t>
            </a:r>
          </a:p>
          <a:p>
            <a:pPr lvl="1"/>
            <a:r>
              <a:rPr lang="en-US" dirty="0"/>
              <a:t>Not use a software system</a:t>
            </a:r>
          </a:p>
          <a:p>
            <a:pPr lvl="2"/>
            <a:r>
              <a:rPr lang="en-US" dirty="0"/>
              <a:t>Goal: broaden the number of user</a:t>
            </a:r>
          </a:p>
          <a:p>
            <a:pPr lvl="2"/>
            <a:r>
              <a:rPr lang="en-US" dirty="0"/>
              <a:t>Try to find out they</a:t>
            </a:r>
            <a:r>
              <a:rPr lang="en-US" b="1" dirty="0"/>
              <a:t> barriers </a:t>
            </a:r>
            <a:r>
              <a:rPr lang="en-US" dirty="0"/>
              <a:t>they see and their</a:t>
            </a:r>
            <a:r>
              <a:rPr lang="en-US" b="1" dirty="0"/>
              <a:t> go</a:t>
            </a:r>
            <a:r>
              <a:rPr lang="en-US" dirty="0"/>
              <a:t>als</a:t>
            </a:r>
          </a:p>
          <a:p>
            <a:pPr marL="914400" lvl="2" indent="0">
              <a:buNone/>
            </a:pPr>
            <a:endParaRPr lang="en-US" dirty="0"/>
          </a:p>
          <a:p>
            <a:r>
              <a:rPr lang="en-US" dirty="0"/>
              <a:t>Who should you interview if you are redesigning UCP Portal???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BFADA4-69FE-47F8-B63F-162229F09704}"/>
              </a:ext>
            </a:extLst>
          </p:cNvPr>
          <p:cNvPicPr>
            <a:picLocks noChangeAspect="1"/>
          </p:cNvPicPr>
          <p:nvPr/>
        </p:nvPicPr>
        <p:blipFill>
          <a:blip r:embed="rId3"/>
          <a:stretch>
            <a:fillRect/>
          </a:stretch>
        </p:blipFill>
        <p:spPr>
          <a:xfrm>
            <a:off x="5218386" y="116054"/>
            <a:ext cx="3427798" cy="877174"/>
          </a:xfrm>
          <a:prstGeom prst="rect">
            <a:avLst/>
          </a:prstGeom>
        </p:spPr>
      </p:pic>
      <p:pic>
        <p:nvPicPr>
          <p:cNvPr id="5" name="Picture 4">
            <a:extLst>
              <a:ext uri="{FF2B5EF4-FFF2-40B4-BE49-F238E27FC236}">
                <a16:creationId xmlns:a16="http://schemas.microsoft.com/office/drawing/2014/main" id="{EAD2CD75-96DE-4DA0-8BBD-592181C04D39}"/>
              </a:ext>
            </a:extLst>
          </p:cNvPr>
          <p:cNvPicPr>
            <a:picLocks noChangeAspect="1"/>
          </p:cNvPicPr>
          <p:nvPr/>
        </p:nvPicPr>
        <p:blipFill>
          <a:blip r:embed="rId4"/>
          <a:stretch>
            <a:fillRect/>
          </a:stretch>
        </p:blipFill>
        <p:spPr>
          <a:xfrm>
            <a:off x="205424" y="676753"/>
            <a:ext cx="11923512" cy="6048260"/>
          </a:xfrm>
          <a:prstGeom prst="rect">
            <a:avLst/>
          </a:prstGeom>
        </p:spPr>
      </p:pic>
    </p:spTree>
    <p:extLst>
      <p:ext uri="{BB962C8B-B14F-4D97-AF65-F5344CB8AC3E}">
        <p14:creationId xmlns:p14="http://schemas.microsoft.com/office/powerpoint/2010/main" val="205638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Tips</a:t>
            </a:r>
          </a:p>
        </p:txBody>
      </p:sp>
      <p:sp>
        <p:nvSpPr>
          <p:cNvPr id="3" name="Content Placeholder 2"/>
          <p:cNvSpPr>
            <a:spLocks noGrp="1"/>
          </p:cNvSpPr>
          <p:nvPr>
            <p:ph sz="quarter" idx="1"/>
          </p:nvPr>
        </p:nvSpPr>
        <p:spPr/>
        <p:txBody>
          <a:bodyPr>
            <a:normAutofit/>
          </a:bodyPr>
          <a:lstStyle/>
          <a:p>
            <a:r>
              <a:rPr lang="en-US" dirty="0"/>
              <a:t>Ask Questions neutrally</a:t>
            </a:r>
          </a:p>
          <a:p>
            <a:pPr lvl="1"/>
            <a:r>
              <a:rPr lang="en-US" dirty="0"/>
              <a:t>“What do you think about shopping “ is better than “don’t you think shopping is great”</a:t>
            </a:r>
          </a:p>
          <a:p>
            <a:r>
              <a:rPr lang="en-US" dirty="0"/>
              <a:t>Look for inconsistencies</a:t>
            </a:r>
          </a:p>
          <a:p>
            <a:pPr lvl="1"/>
            <a:r>
              <a:rPr lang="en-US" dirty="0"/>
              <a:t>What people do and what they say are usually different</a:t>
            </a:r>
          </a:p>
          <a:p>
            <a:r>
              <a:rPr lang="en-US" dirty="0"/>
              <a:t>Watch for the body Language</a:t>
            </a:r>
          </a:p>
          <a:p>
            <a:r>
              <a:rPr lang="en-US" dirty="0"/>
              <a:t>Don’t ask yes/no questions</a:t>
            </a:r>
          </a:p>
          <a:p>
            <a:pPr lvl="1"/>
            <a:r>
              <a:rPr lang="en-US" dirty="0"/>
              <a:t>You need stories, even if they are not true. They tell you about how they think about the world</a:t>
            </a:r>
          </a:p>
          <a:p>
            <a:endParaRPr lang="en-US" dirty="0"/>
          </a:p>
        </p:txBody>
      </p:sp>
    </p:spTree>
    <p:extLst>
      <p:ext uri="{BB962C8B-B14F-4D97-AF65-F5344CB8AC3E}">
        <p14:creationId xmlns:p14="http://schemas.microsoft.com/office/powerpoint/2010/main" val="2902188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max/726/1*I1cQH8rT5K5QD3ezDDv6KA.pn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47904"/>
          <a:stretch/>
        </p:blipFill>
        <p:spPr bwMode="auto">
          <a:xfrm>
            <a:off x="396603" y="554178"/>
            <a:ext cx="3363977" cy="59853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miro.medium.com/max/726/1*I1cQH8rT5K5QD3ezDDv6KA.png"/>
          <p:cNvPicPr>
            <a:picLocks noChangeAspect="1" noChangeArrowheads="1"/>
          </p:cNvPicPr>
          <p:nvPr/>
        </p:nvPicPr>
        <p:blipFill rotWithShape="1">
          <a:blip r:embed="rId2">
            <a:extLst>
              <a:ext uri="{28A0092B-C50C-407E-A947-70E740481C1C}">
                <a14:useLocalDpi xmlns:a14="http://schemas.microsoft.com/office/drawing/2010/main" val="0"/>
              </a:ext>
            </a:extLst>
          </a:blip>
          <a:srcRect t="52096"/>
          <a:stretch/>
        </p:blipFill>
        <p:spPr bwMode="auto">
          <a:xfrm>
            <a:off x="5204578" y="406400"/>
            <a:ext cx="3587442" cy="6133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620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Spend Time During an Interview</a:t>
            </a:r>
          </a:p>
        </p:txBody>
      </p:sp>
      <p:pic>
        <p:nvPicPr>
          <p:cNvPr id="44034" name="Picture 2"/>
          <p:cNvPicPr>
            <a:picLocks noChangeAspect="1" noChangeArrowheads="1"/>
          </p:cNvPicPr>
          <p:nvPr/>
        </p:nvPicPr>
        <p:blipFill>
          <a:blip r:embed="rId2" cstate="print"/>
          <a:srcRect/>
          <a:stretch>
            <a:fillRect/>
          </a:stretch>
        </p:blipFill>
        <p:spPr bwMode="auto">
          <a:xfrm>
            <a:off x="2209800" y="1689339"/>
            <a:ext cx="8001001" cy="4025661"/>
          </a:xfrm>
          <a:prstGeom prst="rect">
            <a:avLst/>
          </a:prstGeom>
          <a:noFill/>
          <a:ln w="9525">
            <a:noFill/>
            <a:miter lim="800000"/>
            <a:headEnd/>
            <a:tailEnd/>
          </a:ln>
        </p:spPr>
      </p:pic>
    </p:spTree>
    <p:extLst>
      <p:ext uri="{BB962C8B-B14F-4D97-AF65-F5344CB8AC3E}">
        <p14:creationId xmlns:p14="http://schemas.microsoft.com/office/powerpoint/2010/main" val="524663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6895-6399-4777-9269-FA890CD3493D}"/>
              </a:ext>
            </a:extLst>
          </p:cNvPr>
          <p:cNvSpPr>
            <a:spLocks noGrp="1"/>
          </p:cNvSpPr>
          <p:nvPr>
            <p:ph type="title"/>
          </p:nvPr>
        </p:nvSpPr>
        <p:spPr/>
        <p:txBody>
          <a:bodyPr/>
          <a:lstStyle/>
          <a:p>
            <a:r>
              <a:rPr lang="en-US" dirty="0"/>
              <a:t>Recruiting Criteria </a:t>
            </a:r>
          </a:p>
        </p:txBody>
      </p:sp>
      <p:sp>
        <p:nvSpPr>
          <p:cNvPr id="3" name="Content Placeholder 2">
            <a:extLst>
              <a:ext uri="{FF2B5EF4-FFF2-40B4-BE49-F238E27FC236}">
                <a16:creationId xmlns:a16="http://schemas.microsoft.com/office/drawing/2014/main" id="{C3253C93-7B1F-4134-B70D-96274DCF5F9C}"/>
              </a:ext>
            </a:extLst>
          </p:cNvPr>
          <p:cNvSpPr>
            <a:spLocks noGrp="1"/>
          </p:cNvSpPr>
          <p:nvPr>
            <p:ph idx="1"/>
          </p:nvPr>
        </p:nvSpPr>
        <p:spPr/>
        <p:txBody>
          <a:bodyPr>
            <a:normAutofit/>
          </a:bodyPr>
          <a:lstStyle/>
          <a:p>
            <a:r>
              <a:rPr lang="en-US" dirty="0"/>
              <a:t>Typical user</a:t>
            </a:r>
          </a:p>
          <a:p>
            <a:r>
              <a:rPr lang="en-US" dirty="0"/>
              <a:t>Non-user</a:t>
            </a:r>
          </a:p>
          <a:p>
            <a:r>
              <a:rPr lang="en-US" dirty="0"/>
              <a:t>Extreme user</a:t>
            </a:r>
          </a:p>
          <a:p>
            <a:r>
              <a:rPr lang="en-US" dirty="0"/>
              <a:t>Expert user</a:t>
            </a:r>
          </a:p>
          <a:p>
            <a:r>
              <a:rPr lang="en-US" dirty="0"/>
              <a:t>Wannabe user</a:t>
            </a:r>
          </a:p>
          <a:p>
            <a:r>
              <a:rPr lang="en-US" dirty="0"/>
              <a:t>Should-be user</a:t>
            </a:r>
          </a:p>
          <a:p>
            <a:r>
              <a:rPr lang="en-US" dirty="0"/>
              <a:t>Hater</a:t>
            </a:r>
          </a:p>
          <a:p>
            <a:r>
              <a:rPr lang="en-US" dirty="0"/>
              <a:t>Loyal to competitor</a:t>
            </a:r>
          </a:p>
        </p:txBody>
      </p:sp>
      <p:pic>
        <p:nvPicPr>
          <p:cNvPr id="4" name="Picture 4" descr="Image result for interviews">
            <a:extLst>
              <a:ext uri="{FF2B5EF4-FFF2-40B4-BE49-F238E27FC236}">
                <a16:creationId xmlns:a16="http://schemas.microsoft.com/office/drawing/2014/main" id="{703008B4-DE59-4015-A745-6AA357FFA9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53326" y="1825625"/>
            <a:ext cx="7329124" cy="4580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124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7E052-98DB-4530-A5E3-390CB9AFB32F}"/>
              </a:ext>
            </a:extLst>
          </p:cNvPr>
          <p:cNvSpPr>
            <a:spLocks noGrp="1"/>
          </p:cNvSpPr>
          <p:nvPr>
            <p:ph type="title"/>
          </p:nvPr>
        </p:nvSpPr>
        <p:spPr/>
        <p:txBody>
          <a:bodyPr/>
          <a:lstStyle/>
          <a:p>
            <a:r>
              <a:rPr lang="en-US" dirty="0"/>
              <a:t>Assignment </a:t>
            </a:r>
          </a:p>
        </p:txBody>
      </p:sp>
      <p:sp>
        <p:nvSpPr>
          <p:cNvPr id="3" name="Content Placeholder 2">
            <a:extLst>
              <a:ext uri="{FF2B5EF4-FFF2-40B4-BE49-F238E27FC236}">
                <a16:creationId xmlns:a16="http://schemas.microsoft.com/office/drawing/2014/main" id="{A08C7D07-3AAE-46BD-B5D8-0C5AD8A0BB68}"/>
              </a:ext>
            </a:extLst>
          </p:cNvPr>
          <p:cNvSpPr>
            <a:spLocks noGrp="1"/>
          </p:cNvSpPr>
          <p:nvPr>
            <p:ph idx="1"/>
          </p:nvPr>
        </p:nvSpPr>
        <p:spPr/>
        <p:txBody>
          <a:bodyPr/>
          <a:lstStyle/>
          <a:p>
            <a:r>
              <a:rPr lang="en-US" dirty="0"/>
              <a:t>After user Observation and Interviews, submit the following assignment</a:t>
            </a:r>
          </a:p>
          <a:p>
            <a:pPr lvl="1"/>
            <a:r>
              <a:rPr lang="en-US" dirty="0"/>
              <a:t>User needs</a:t>
            </a:r>
          </a:p>
          <a:p>
            <a:pPr lvl="1"/>
            <a:r>
              <a:rPr lang="en-US" dirty="0"/>
              <a:t>Photos and captions </a:t>
            </a:r>
          </a:p>
          <a:p>
            <a:pPr lvl="1"/>
            <a:endParaRPr lang="en-US" dirty="0"/>
          </a:p>
          <a:p>
            <a:pPr lvl="1"/>
            <a:endParaRPr lang="en-US" dirty="0"/>
          </a:p>
        </p:txBody>
      </p:sp>
    </p:spTree>
    <p:extLst>
      <p:ext uri="{BB962C8B-B14F-4D97-AF65-F5344CB8AC3E}">
        <p14:creationId xmlns:p14="http://schemas.microsoft.com/office/powerpoint/2010/main" val="3463582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CCCA7-C2BC-47BA-B28A-139D57565FB4}"/>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ED28BB85-32F2-45F3-97CF-5DA5B4C88D6B}"/>
              </a:ext>
            </a:extLst>
          </p:cNvPr>
          <p:cNvSpPr>
            <a:spLocks noGrp="1"/>
          </p:cNvSpPr>
          <p:nvPr>
            <p:ph idx="1"/>
          </p:nvPr>
        </p:nvSpPr>
        <p:spPr/>
        <p:txBody>
          <a:bodyPr>
            <a:normAutofit/>
          </a:bodyPr>
          <a:lstStyle/>
          <a:p>
            <a:r>
              <a:rPr lang="en-US" dirty="0"/>
              <a:t>See the “05-Empathy Field Guide.pdf” on Portal </a:t>
            </a:r>
          </a:p>
          <a:p>
            <a:endParaRPr lang="en-US" dirty="0">
              <a:hlinkClick r:id="rId2"/>
            </a:endParaRPr>
          </a:p>
          <a:p>
            <a:r>
              <a:rPr lang="en-US" dirty="0">
                <a:hlinkClick r:id="rId2"/>
              </a:rPr>
              <a:t>https://medium.com/@userfocus/what-is-design-ethnography-b0a3f8f0339c</a:t>
            </a:r>
            <a:r>
              <a:rPr lang="en-US" dirty="0"/>
              <a:t> </a:t>
            </a:r>
          </a:p>
          <a:p>
            <a:endParaRPr lang="en-US" dirty="0"/>
          </a:p>
          <a:p>
            <a:r>
              <a:rPr lang="en-US" dirty="0">
                <a:hlinkClick r:id="rId3"/>
              </a:rPr>
              <a:t>https://medium.muz.li/coffee-ethnography-4ee31901286d</a:t>
            </a:r>
            <a:r>
              <a:rPr lang="en-US" dirty="0"/>
              <a:t> </a:t>
            </a:r>
          </a:p>
          <a:p>
            <a:endParaRPr lang="en-US" dirty="0"/>
          </a:p>
          <a:p>
            <a:r>
              <a:rPr lang="en-US" dirty="0">
                <a:hlinkClick r:id="rId4"/>
              </a:rPr>
              <a:t>https://medium.com/thinking-design/better-understanding-users-through-ethnography-fd6f6395d4</a:t>
            </a:r>
            <a:r>
              <a:rPr lang="en-US" dirty="0"/>
              <a:t> </a:t>
            </a:r>
          </a:p>
        </p:txBody>
      </p:sp>
    </p:spTree>
    <p:extLst>
      <p:ext uri="{BB962C8B-B14F-4D97-AF65-F5344CB8AC3E}">
        <p14:creationId xmlns:p14="http://schemas.microsoft.com/office/powerpoint/2010/main" val="2892725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TotalTime>
  <Words>1010</Words>
  <Application>Microsoft Office PowerPoint</Application>
  <PresentationFormat>Widescreen</PresentationFormat>
  <Paragraphs>137</Paragraphs>
  <Slides>26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Need Finding  </vt:lpstr>
      <vt:lpstr>Know Thy Users </vt:lpstr>
      <vt:lpstr>Step into Shoes of the User</vt:lpstr>
      <vt:lpstr>Trucker’s Example</vt:lpstr>
      <vt:lpstr>Trucker’s Example</vt:lpstr>
      <vt:lpstr>Redesigned :large screen and stylus</vt:lpstr>
      <vt:lpstr>Preliminary Research and Analysis  </vt:lpstr>
      <vt:lpstr>Preliminary Target Market Analysis </vt:lpstr>
      <vt:lpstr>Preliminary Target Market Analysis </vt:lpstr>
      <vt:lpstr>User Classification </vt:lpstr>
      <vt:lpstr>Primary/Secondary Users </vt:lpstr>
      <vt:lpstr>Resources </vt:lpstr>
      <vt:lpstr>User Research </vt:lpstr>
      <vt:lpstr>Ethnography</vt:lpstr>
      <vt:lpstr>Ethnography  </vt:lpstr>
      <vt:lpstr>Some points to observe</vt:lpstr>
      <vt:lpstr>Conditions Required </vt:lpstr>
      <vt:lpstr>Limitations</vt:lpstr>
      <vt:lpstr> Interview Potential Users</vt:lpstr>
      <vt:lpstr>PowerPoint Presentation</vt:lpstr>
      <vt:lpstr>Some Tips</vt:lpstr>
      <vt:lpstr>PowerPoint Presentation</vt:lpstr>
      <vt:lpstr>How to Spend Time During an Interview</vt:lpstr>
      <vt:lpstr>Recruiting Criteria </vt:lpstr>
      <vt:lpstr>Assignment </vt:lpstr>
      <vt:lpstr>Resources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Need Finding  </dc:title>
  <dc:creator>Sadaf Baloch</dc:creator>
  <cp:lastModifiedBy>Arham Bhatti</cp:lastModifiedBy>
  <cp:revision>8</cp:revision>
  <dcterms:created xsi:type="dcterms:W3CDTF">2020-11-09T05:56:53Z</dcterms:created>
  <dcterms:modified xsi:type="dcterms:W3CDTF">2025-11-23T03:56:12Z</dcterms:modified>
</cp:coreProperties>
</file>