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510" r:id="rId2"/>
    <p:sldId id="509" r:id="rId3"/>
    <p:sldId id="362" r:id="rId4"/>
    <p:sldId id="381" r:id="rId5"/>
    <p:sldId id="270" r:id="rId6"/>
    <p:sldId id="271" r:id="rId7"/>
    <p:sldId id="515" r:id="rId8"/>
    <p:sldId id="543" r:id="rId9"/>
    <p:sldId id="544" r:id="rId10"/>
    <p:sldId id="511" r:id="rId11"/>
    <p:sldId id="545" r:id="rId12"/>
    <p:sldId id="546" r:id="rId13"/>
    <p:sldId id="547" r:id="rId14"/>
    <p:sldId id="548" r:id="rId15"/>
    <p:sldId id="549" r:id="rId16"/>
    <p:sldId id="550" r:id="rId17"/>
    <p:sldId id="551" r:id="rId18"/>
    <p:sldId id="516" r:id="rId19"/>
    <p:sldId id="513" r:id="rId20"/>
    <p:sldId id="514" r:id="rId21"/>
    <p:sldId id="506" r:id="rId22"/>
    <p:sldId id="512" r:id="rId23"/>
    <p:sldId id="380" r:id="rId24"/>
    <p:sldId id="538" r:id="rId25"/>
    <p:sldId id="272" r:id="rId26"/>
    <p:sldId id="517" r:id="rId27"/>
    <p:sldId id="552" r:id="rId28"/>
    <p:sldId id="553" r:id="rId29"/>
    <p:sldId id="554" r:id="rId30"/>
  </p:sldIdLst>
  <p:sldSz cx="12192000" cy="6858000"/>
  <p:notesSz cx="6858000" cy="10001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85CAFA-CA6F-4298-86E7-5FAA68F86554}">
          <p14:sldIdLst/>
        </p14:section>
        <p14:section name="Preliminary Analysis" id="{259A8C50-9C1D-4154-9FC0-4D0F4F800675}">
          <p14:sldIdLst/>
        </p14:section>
        <p14:section name="User Research" id="{9B141A96-2152-43C9-836F-3D71804BA504}">
          <p14:sldIdLst/>
        </p14:section>
        <p14:section name="User Modelling" id="{B1DC985C-0CA3-46D7-A71A-D42FF8CFF895}">
          <p14:sldIdLst>
            <p14:sldId id="510"/>
            <p14:sldId id="509"/>
            <p14:sldId id="362"/>
            <p14:sldId id="381"/>
            <p14:sldId id="270"/>
            <p14:sldId id="271"/>
            <p14:sldId id="515"/>
            <p14:sldId id="543"/>
            <p14:sldId id="544"/>
            <p14:sldId id="511"/>
            <p14:sldId id="545"/>
            <p14:sldId id="546"/>
            <p14:sldId id="547"/>
            <p14:sldId id="548"/>
            <p14:sldId id="549"/>
            <p14:sldId id="550"/>
            <p14:sldId id="551"/>
            <p14:sldId id="516"/>
            <p14:sldId id="513"/>
            <p14:sldId id="514"/>
            <p14:sldId id="506"/>
            <p14:sldId id="512"/>
            <p14:sldId id="380"/>
            <p14:sldId id="538"/>
            <p14:sldId id="272"/>
            <p14:sldId id="517"/>
            <p14:sldId id="552"/>
            <p14:sldId id="553"/>
            <p14:sldId id="554"/>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sT ." initials="M." lastIdx="11" clrIdx="0">
    <p:extLst>
      <p:ext uri="{19B8F6BF-5375-455C-9EA6-DF929625EA0E}">
        <p15:presenceInfo xmlns:p15="http://schemas.microsoft.com/office/powerpoint/2012/main" userId="5156833f1983e9af" providerId="Windows Live"/>
      </p:ext>
    </p:extLst>
  </p:cmAuthor>
  <p:cmAuthor id="2" name="Sadaf Baloch" initials="SB" lastIdx="3" clrIdx="1">
    <p:extLst>
      <p:ext uri="{19B8F6BF-5375-455C-9EA6-DF929625EA0E}">
        <p15:presenceInfo xmlns:p15="http://schemas.microsoft.com/office/powerpoint/2012/main" userId="S::sadaf.baloch@ucp.edu.pk::2cdfe0ab-03ea-46b2-8263-c67d3be957c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4" autoAdjust="0"/>
    <p:restoredTop sz="90724" autoAdjust="0"/>
  </p:normalViewPr>
  <p:slideViewPr>
    <p:cSldViewPr snapToGrid="0">
      <p:cViewPr varScale="1">
        <p:scale>
          <a:sx n="65" d="100"/>
          <a:sy n="65" d="100"/>
        </p:scale>
        <p:origin x="9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6BF83A-216F-4208-BE74-07046102302F}" type="datetimeFigureOut">
              <a:rPr lang="en-US" smtClean="0"/>
              <a:t>11/18/2020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E2B17D-D1E4-46FC-91FC-F57F8469F8A9}" type="slidenum">
              <a:rPr lang="en-US" smtClean="0"/>
              <a:t>‹#›</a:t>
            </a:fld>
            <a:endParaRPr lang="en-US"/>
          </a:p>
        </p:txBody>
      </p:sp>
    </p:spTree>
    <p:extLst>
      <p:ext uri="{BB962C8B-B14F-4D97-AF65-F5344CB8AC3E}">
        <p14:creationId xmlns:p14="http://schemas.microsoft.com/office/powerpoint/2010/main" val="276216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careerfoundry.com/en/blog/ux-design/stage-two-design-thinking-define-the-proble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inflectra.com/Ideas/Topic/Test-Cases.aspx"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www.inflectra.com/Ideas/Topic/User-Stories.aspx"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latin typeface="DIN Next W01 Light"/>
              </a:rPr>
              <a:t>2. Why do you need a persona?</a:t>
            </a:r>
          </a:p>
          <a:p>
            <a:pPr algn="l"/>
            <a:r>
              <a:rPr lang="en-US" b="0" i="0" dirty="0">
                <a:solidFill>
                  <a:srgbClr val="333333"/>
                </a:solidFill>
                <a:effectLst/>
                <a:latin typeface="TradeGothicNextW01-Ligh 693250"/>
              </a:rPr>
              <a:t>Whether you’re developing a smartphone app or a mobile-responsive website, it’s very important to understand who will be using the product. In order to solve a real user problem, you need to have a </a:t>
            </a:r>
            <a:r>
              <a:rPr lang="en-US" b="0" i="0" u="none" strike="noStrike" dirty="0">
                <a:solidFill>
                  <a:srgbClr val="85B9C5"/>
                </a:solidFill>
                <a:effectLst/>
                <a:latin typeface="Trade Gothic Next W01"/>
                <a:hlinkClick r:id="rId3"/>
              </a:rPr>
              <a:t>clear problem statement</a:t>
            </a:r>
            <a:r>
              <a:rPr lang="en-US" b="0" i="0" dirty="0">
                <a:solidFill>
                  <a:srgbClr val="333333"/>
                </a:solidFill>
                <a:effectLst/>
                <a:latin typeface="TradeGothicNextW01-Ligh 693250"/>
              </a:rPr>
              <a:t> in mind; in order to write this problem statement, you first need to understand your users and their needs</a:t>
            </a:r>
          </a:p>
          <a:p>
            <a:endParaRPr lang="en-US" dirty="0"/>
          </a:p>
        </p:txBody>
      </p:sp>
      <p:sp>
        <p:nvSpPr>
          <p:cNvPr id="4" name="Slide Number Placeholder 3"/>
          <p:cNvSpPr>
            <a:spLocks noGrp="1"/>
          </p:cNvSpPr>
          <p:nvPr>
            <p:ph type="sldNum" sz="quarter" idx="5"/>
          </p:nvPr>
        </p:nvSpPr>
        <p:spPr/>
        <p:txBody>
          <a:bodyPr/>
          <a:lstStyle/>
          <a:p>
            <a:fld id="{84E2B17D-D1E4-46FC-91FC-F57F8469F8A9}" type="slidenum">
              <a:rPr lang="en-US" smtClean="0"/>
              <a:t>4</a:t>
            </a:fld>
            <a:endParaRPr lang="en-US"/>
          </a:p>
        </p:txBody>
      </p:sp>
    </p:spTree>
    <p:extLst>
      <p:ext uri="{BB962C8B-B14F-4D97-AF65-F5344CB8AC3E}">
        <p14:creationId xmlns:p14="http://schemas.microsoft.com/office/powerpoint/2010/main" val="2238731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Creating a psychographic profile enables you to better understand why your user behaves in a certain way—including why they use your product.</a:t>
            </a:r>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13</a:t>
            </a:fld>
            <a:endParaRPr lang="en-US"/>
          </a:p>
        </p:txBody>
      </p:sp>
    </p:spTree>
    <p:extLst>
      <p:ext uri="{BB962C8B-B14F-4D97-AF65-F5344CB8AC3E}">
        <p14:creationId xmlns:p14="http://schemas.microsoft.com/office/powerpoint/2010/main" val="3533279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Creating a psychographic profile enables you to better understand why your user behaves in a certain way—including why they use your product.</a:t>
            </a:r>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14</a:t>
            </a:fld>
            <a:endParaRPr lang="en-US"/>
          </a:p>
        </p:txBody>
      </p:sp>
    </p:spTree>
    <p:extLst>
      <p:ext uri="{BB962C8B-B14F-4D97-AF65-F5344CB8AC3E}">
        <p14:creationId xmlns:p14="http://schemas.microsoft.com/office/powerpoint/2010/main" val="1199081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Creating a psychographic profile enables you to better understand why your user behaves in a certain way—including why they use your product.</a:t>
            </a:r>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15</a:t>
            </a:fld>
            <a:endParaRPr lang="en-US"/>
          </a:p>
        </p:txBody>
      </p:sp>
    </p:spTree>
    <p:extLst>
      <p:ext uri="{BB962C8B-B14F-4D97-AF65-F5344CB8AC3E}">
        <p14:creationId xmlns:p14="http://schemas.microsoft.com/office/powerpoint/2010/main" val="625719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Creating a psychographic profile enables you to better understand why your user behaves in a certain way—including why they use your product.</a:t>
            </a:r>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16</a:t>
            </a:fld>
            <a:endParaRPr lang="en-US"/>
          </a:p>
        </p:txBody>
      </p:sp>
    </p:spTree>
    <p:extLst>
      <p:ext uri="{BB962C8B-B14F-4D97-AF65-F5344CB8AC3E}">
        <p14:creationId xmlns:p14="http://schemas.microsoft.com/office/powerpoint/2010/main" val="2479457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contents</a:t>
            </a:r>
            <a:r>
              <a:rPr lang="en-US" baseline="0" dirty="0"/>
              <a:t> </a:t>
            </a:r>
          </a:p>
          <a:p>
            <a:r>
              <a:rPr lang="en-US" baseline="0" dirty="0"/>
              <a:t>Persona context motivation end goal seq of steps</a:t>
            </a:r>
          </a:p>
          <a:p>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25</a:t>
            </a:fld>
            <a:endParaRPr lang="en-US"/>
          </a:p>
        </p:txBody>
      </p:sp>
    </p:spTree>
    <p:extLst>
      <p:ext uri="{BB962C8B-B14F-4D97-AF65-F5344CB8AC3E}">
        <p14:creationId xmlns:p14="http://schemas.microsoft.com/office/powerpoint/2010/main" val="3648496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example, in our fictitious online library system, the functionality for managing returns would need to handle the separate situations where a borrower returns a book early and when he/she returns it late. Although the same functionality is involved, they are different situations and the system would need to handle the separate conditions in each </a:t>
            </a:r>
            <a:r>
              <a:rPr lang="en-US" sz="1200" b="1" i="0" kern="1200" dirty="0">
                <a:solidFill>
                  <a:schemeClr val="tx1"/>
                </a:solidFill>
                <a:effectLst/>
                <a:latin typeface="+mn-lt"/>
                <a:ea typeface="+mn-ea"/>
                <a:cs typeface="+mn-cs"/>
              </a:rPr>
              <a:t>use case</a:t>
            </a:r>
            <a:r>
              <a:rPr lang="en-US" sz="1200" b="0" i="0" kern="1200" dirty="0">
                <a:solidFill>
                  <a:schemeClr val="tx1"/>
                </a:solidFill>
                <a:effectLst/>
                <a:latin typeface="+mn-lt"/>
                <a:ea typeface="+mn-ea"/>
                <a:cs typeface="+mn-cs"/>
              </a:rPr>
              <a:t>. Therefore use-cases are a valuable way of uncovering implied functionality that occurs due to different ways in which the system will be used. Also use-cases provide a great starting point for the </a:t>
            </a:r>
            <a:r>
              <a:rPr lang="en-US" sz="1200" b="0" i="0" u="none" strike="noStrike" kern="1200" dirty="0">
                <a:solidFill>
                  <a:schemeClr val="tx1"/>
                </a:solidFill>
                <a:effectLst/>
                <a:latin typeface="+mn-lt"/>
                <a:ea typeface="+mn-ea"/>
                <a:cs typeface="+mn-cs"/>
                <a:hlinkClick r:id="rId3"/>
              </a:rPr>
              <a:t>test cases</a:t>
            </a:r>
            <a:r>
              <a:rPr lang="en-US" sz="1200" b="0" i="0" kern="1200" dirty="0">
                <a:solidFill>
                  <a:schemeClr val="tx1"/>
                </a:solidFill>
                <a:effectLst/>
                <a:latin typeface="+mn-lt"/>
                <a:ea typeface="+mn-ea"/>
                <a:cs typeface="+mn-cs"/>
              </a:rPr>
              <a:t> that will be used to test the system.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These are similar to use cases in terms of what they seek to accomplish - a description of the how the system will carry out a specified business process to fulfill the stated requirements. However unlike a use case which is a step-by-step enumeration of the tasks carried out during a process (with the associated actors), a scenario is much more free-form.</a:t>
            </a:r>
          </a:p>
          <a:p>
            <a:r>
              <a:rPr lang="en-US" sz="1200" b="0" i="0" kern="1200" dirty="0">
                <a:solidFill>
                  <a:schemeClr val="tx1"/>
                </a:solidFill>
                <a:effectLst/>
                <a:latin typeface="+mn-lt"/>
                <a:ea typeface="+mn-ea"/>
                <a:cs typeface="+mn-cs"/>
              </a:rPr>
              <a:t>A </a:t>
            </a:r>
            <a:r>
              <a:rPr lang="en-US" sz="1200" b="0" i="0" u="none" strike="noStrike" kern="1200" dirty="0">
                <a:solidFill>
                  <a:schemeClr val="tx1"/>
                </a:solidFill>
                <a:effectLst/>
                <a:latin typeface="+mn-lt"/>
                <a:ea typeface="+mn-ea"/>
                <a:cs typeface="+mn-cs"/>
                <a:hlinkClick r:id="rId4"/>
              </a:rPr>
              <a:t>user story</a:t>
            </a:r>
            <a:r>
              <a:rPr lang="en-US" sz="1200" b="0" i="0" kern="1200" dirty="0">
                <a:solidFill>
                  <a:schemeClr val="tx1"/>
                </a:solidFill>
                <a:effectLst/>
                <a:latin typeface="+mn-lt"/>
                <a:ea typeface="+mn-ea"/>
                <a:cs typeface="+mn-cs"/>
              </a:rPr>
              <a:t> is typically a narrative that describes how a user would experience the functionality of the system. As the name suggests it is a "short story" that describes the tasks they carry out, what information they see and how they interact with the system.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perfect user scenario comes in a way of a short story that clearly defines the context in which the product is used. It gives answers to such important questions as: Who is the user of our product? What does this user want to accomplish with our product? How is this user going to achieve her goals? Why does this user choose our product over other available options?</a:t>
            </a:r>
          </a:p>
          <a:p>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26</a:t>
            </a:fld>
            <a:endParaRPr lang="en-US"/>
          </a:p>
        </p:txBody>
      </p:sp>
    </p:spTree>
    <p:extLst>
      <p:ext uri="{BB962C8B-B14F-4D97-AF65-F5344CB8AC3E}">
        <p14:creationId xmlns:p14="http://schemas.microsoft.com/office/powerpoint/2010/main" val="516810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they are short, but descriptive. User stories do not capture every detail about the user, her background, her ideas and motivations. Instead, they give an immediate understanding of what we are trying to accomplish with our product.</a:t>
            </a:r>
            <a:endParaRPr lang="en-US" dirty="0"/>
          </a:p>
        </p:txBody>
      </p:sp>
      <p:sp>
        <p:nvSpPr>
          <p:cNvPr id="4" name="Slide Number Placeholder 3"/>
          <p:cNvSpPr>
            <a:spLocks noGrp="1"/>
          </p:cNvSpPr>
          <p:nvPr>
            <p:ph type="sldNum" sz="quarter" idx="10"/>
          </p:nvPr>
        </p:nvSpPr>
        <p:spPr/>
        <p:txBody>
          <a:bodyPr/>
          <a:lstStyle/>
          <a:p>
            <a:fld id="{84E2B17D-D1E4-46FC-91FC-F57F8469F8A9}" type="slidenum">
              <a:rPr lang="en-US" smtClean="0"/>
              <a:t>29</a:t>
            </a:fld>
            <a:endParaRPr lang="en-US"/>
          </a:p>
        </p:txBody>
      </p:sp>
    </p:spTree>
    <p:extLst>
      <p:ext uri="{BB962C8B-B14F-4D97-AF65-F5344CB8AC3E}">
        <p14:creationId xmlns:p14="http://schemas.microsoft.com/office/powerpoint/2010/main" val="3577597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3DC809B-8B90-4719-85AD-028366CCF037}"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1899649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C809B-8B90-4719-85AD-028366CCF037}"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2532196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3DC809B-8B90-4719-85AD-028366CCF037}"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3210307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3DC809B-8B90-4719-85AD-028366CCF037}" type="datetimeFigureOut">
              <a:rPr lang="en-US" smtClean="0"/>
              <a:t>11/18/2020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2131294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3DC809B-8B90-4719-85AD-028366CCF037}" type="datetimeFigureOut">
              <a:rPr lang="en-US" smtClean="0"/>
              <a:t>11/18/2020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1115489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3DC809B-8B90-4719-85AD-028366CCF037}" type="datetimeFigureOut">
              <a:rPr lang="en-US" smtClean="0"/>
              <a:t>11/18/2020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1002909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DC809B-8B90-4719-85AD-028366CCF037}" type="datetimeFigureOut">
              <a:rPr lang="en-US" smtClean="0"/>
              <a:t>11/18/2020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3444488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DC809B-8B90-4719-85AD-028366CCF037}" type="datetimeFigureOut">
              <a:rPr lang="en-US" smtClean="0"/>
              <a:t>11/18/2020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2519925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DC809B-8B90-4719-85AD-028366CCF037}" type="datetimeFigureOut">
              <a:rPr lang="en-US" smtClean="0"/>
              <a:t>11/18/2020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362222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C809B-8B90-4719-85AD-028366CCF037}"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724807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C809B-8B90-4719-85AD-028366CCF037}" type="datetimeFigureOut">
              <a:rPr lang="en-US" smtClean="0"/>
              <a:t>11/18/2020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0BD36D-CB3D-4FAA-9E11-1E8960B6FEFB}" type="slidenum">
              <a:rPr lang="en-US" smtClean="0"/>
              <a:t>‹#›</a:t>
            </a:fld>
            <a:endParaRPr lang="en-US"/>
          </a:p>
        </p:txBody>
      </p:sp>
    </p:spTree>
    <p:extLst>
      <p:ext uri="{BB962C8B-B14F-4D97-AF65-F5344CB8AC3E}">
        <p14:creationId xmlns:p14="http://schemas.microsoft.com/office/powerpoint/2010/main" val="1793462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C809B-8B90-4719-85AD-028366CCF037}" type="datetimeFigureOut">
              <a:rPr lang="en-US" smtClean="0"/>
              <a:t>11/18/2020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0BD36D-CB3D-4FAA-9E11-1E8960B6FEFB}" type="slidenum">
              <a:rPr lang="en-US" smtClean="0"/>
              <a:t>‹#›</a:t>
            </a:fld>
            <a:endParaRPr lang="en-US"/>
          </a:p>
        </p:txBody>
      </p:sp>
    </p:spTree>
    <p:extLst>
      <p:ext uri="{BB962C8B-B14F-4D97-AF65-F5344CB8AC3E}">
        <p14:creationId xmlns:p14="http://schemas.microsoft.com/office/powerpoint/2010/main" val="550901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smashingmagazine.com/2014/08/a-closer-look-at-personas-part-1/" TargetMode="External"/><Relationship Id="rId2" Type="http://schemas.openxmlformats.org/officeDocument/2006/relationships/hyperlink" Target="https://careerfoundry.com/en/blog/ux-design/how-to-define-a-user-persona/"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F95A1-CF35-4791-B39A-055BDFE89303}"/>
              </a:ext>
            </a:extLst>
          </p:cNvPr>
          <p:cNvSpPr>
            <a:spLocks noGrp="1"/>
          </p:cNvSpPr>
          <p:nvPr>
            <p:ph type="title"/>
          </p:nvPr>
        </p:nvSpPr>
        <p:spPr/>
        <p:txBody>
          <a:bodyPr/>
          <a:lstStyle/>
          <a:p>
            <a:r>
              <a:rPr lang="en-US" dirty="0"/>
              <a:t>User Modelling </a:t>
            </a:r>
          </a:p>
        </p:txBody>
      </p:sp>
      <p:sp>
        <p:nvSpPr>
          <p:cNvPr id="3" name="Content Placeholder 2">
            <a:extLst>
              <a:ext uri="{FF2B5EF4-FFF2-40B4-BE49-F238E27FC236}">
                <a16:creationId xmlns:a16="http://schemas.microsoft.com/office/drawing/2014/main" id="{2F325214-C64A-4C7F-9A48-B6EC1FE93F11}"/>
              </a:ext>
            </a:extLst>
          </p:cNvPr>
          <p:cNvSpPr>
            <a:spLocks noGrp="1"/>
          </p:cNvSpPr>
          <p:nvPr>
            <p:ph idx="1"/>
          </p:nvPr>
        </p:nvSpPr>
        <p:spPr/>
        <p:txBody>
          <a:bodyPr/>
          <a:lstStyle/>
          <a:p>
            <a:r>
              <a:rPr lang="en-US" dirty="0"/>
              <a:t>Revise your target market definition and classification </a:t>
            </a:r>
          </a:p>
          <a:p>
            <a:endParaRPr lang="en-US" dirty="0"/>
          </a:p>
          <a:p>
            <a:r>
              <a:rPr lang="en-US" dirty="0"/>
              <a:t>Build the following </a:t>
            </a:r>
          </a:p>
          <a:p>
            <a:pPr marL="914400" lvl="1" indent="-457200">
              <a:buFont typeface="+mj-lt"/>
              <a:buAutoNum type="arabicPeriod"/>
            </a:pPr>
            <a:r>
              <a:rPr lang="en-US" dirty="0"/>
              <a:t>Class profiles </a:t>
            </a:r>
          </a:p>
          <a:p>
            <a:pPr marL="914400" lvl="1" indent="-457200">
              <a:buFont typeface="+mj-lt"/>
              <a:buAutoNum type="arabicPeriod"/>
            </a:pPr>
            <a:r>
              <a:rPr lang="en-US" dirty="0"/>
              <a:t>Personae </a:t>
            </a:r>
          </a:p>
          <a:p>
            <a:pPr marL="914400" lvl="1" indent="-457200">
              <a:buFont typeface="+mj-lt"/>
              <a:buAutoNum type="arabicPeriod"/>
            </a:pPr>
            <a:r>
              <a:rPr lang="en-US" dirty="0"/>
              <a:t>Scenarios (Storyboards) </a:t>
            </a:r>
          </a:p>
          <a:p>
            <a:endParaRPr lang="en-US" dirty="0"/>
          </a:p>
        </p:txBody>
      </p:sp>
    </p:spTree>
    <p:extLst>
      <p:ext uri="{BB962C8B-B14F-4D97-AF65-F5344CB8AC3E}">
        <p14:creationId xmlns:p14="http://schemas.microsoft.com/office/powerpoint/2010/main" val="785852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DAB84-3A1E-482A-BA96-C86BE75E8B20}"/>
              </a:ext>
            </a:extLst>
          </p:cNvPr>
          <p:cNvSpPr>
            <a:spLocks noGrp="1"/>
          </p:cNvSpPr>
          <p:nvPr>
            <p:ph type="title"/>
          </p:nvPr>
        </p:nvSpPr>
        <p:spPr/>
        <p:txBody>
          <a:bodyPr/>
          <a:lstStyle/>
          <a:p>
            <a:r>
              <a:rPr lang="en-US" dirty="0"/>
              <a:t>Class Profile: Travel Agent (Primary) </a:t>
            </a:r>
          </a:p>
        </p:txBody>
      </p:sp>
      <p:pic>
        <p:nvPicPr>
          <p:cNvPr id="4" name="Content Placeholder 3">
            <a:extLst>
              <a:ext uri="{FF2B5EF4-FFF2-40B4-BE49-F238E27FC236}">
                <a16:creationId xmlns:a16="http://schemas.microsoft.com/office/drawing/2014/main" id="{B74739A0-94AF-43F8-9A68-9DEE93439204}"/>
              </a:ext>
            </a:extLst>
          </p:cNvPr>
          <p:cNvPicPr>
            <a:picLocks noGrp="1" noChangeAspect="1"/>
          </p:cNvPicPr>
          <p:nvPr>
            <p:ph idx="1"/>
          </p:nvPr>
        </p:nvPicPr>
        <p:blipFill>
          <a:blip r:embed="rId2" cstate="print"/>
          <a:stretch>
            <a:fillRect/>
          </a:stretch>
        </p:blipFill>
        <p:spPr>
          <a:xfrm>
            <a:off x="481262" y="1327483"/>
            <a:ext cx="11085095" cy="5437226"/>
          </a:xfrm>
          <a:prstGeom prst="rect">
            <a:avLst/>
          </a:prstGeom>
        </p:spPr>
      </p:pic>
    </p:spTree>
    <p:extLst>
      <p:ext uri="{BB962C8B-B14F-4D97-AF65-F5344CB8AC3E}">
        <p14:creationId xmlns:p14="http://schemas.microsoft.com/office/powerpoint/2010/main" val="2497699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039D4-D81F-4E1E-9DDD-9F081C75FB27}"/>
              </a:ext>
            </a:extLst>
          </p:cNvPr>
          <p:cNvSpPr>
            <a:spLocks noGrp="1"/>
          </p:cNvSpPr>
          <p:nvPr>
            <p:ph type="title"/>
          </p:nvPr>
        </p:nvSpPr>
        <p:spPr/>
        <p:txBody>
          <a:bodyPr/>
          <a:lstStyle/>
          <a:p>
            <a:r>
              <a:rPr lang="en-US" dirty="0"/>
              <a:t>Personae </a:t>
            </a:r>
          </a:p>
        </p:txBody>
      </p:sp>
      <p:sp>
        <p:nvSpPr>
          <p:cNvPr id="3" name="Text Placeholder 2">
            <a:extLst>
              <a:ext uri="{FF2B5EF4-FFF2-40B4-BE49-F238E27FC236}">
                <a16:creationId xmlns:a16="http://schemas.microsoft.com/office/drawing/2014/main" id="{0D9596C4-A771-43A5-BD00-CB6832F26C57}"/>
              </a:ext>
            </a:extLst>
          </p:cNvPr>
          <p:cNvSpPr>
            <a:spLocks noGrp="1"/>
          </p:cNvSpPr>
          <p:nvPr>
            <p:ph type="body" idx="1"/>
          </p:nvPr>
        </p:nvSpPr>
        <p:spPr/>
        <p:txBody>
          <a:bodyPr/>
          <a:lstStyle/>
          <a:p>
            <a:r>
              <a:rPr lang="en-US" dirty="0"/>
              <a:t>The non-Elastic User </a:t>
            </a:r>
          </a:p>
        </p:txBody>
      </p:sp>
      <p:pic>
        <p:nvPicPr>
          <p:cNvPr id="4" name="Picture 3">
            <a:extLst>
              <a:ext uri="{FF2B5EF4-FFF2-40B4-BE49-F238E27FC236}">
                <a16:creationId xmlns:a16="http://schemas.microsoft.com/office/drawing/2014/main" id="{F3EDEF6F-1E55-4F8D-B750-903EB6EEC2CD}"/>
              </a:ext>
            </a:extLst>
          </p:cNvPr>
          <p:cNvPicPr>
            <a:picLocks noChangeAspect="1" noChangeArrowheads="1"/>
          </p:cNvPicPr>
          <p:nvPr/>
        </p:nvPicPr>
        <p:blipFill>
          <a:blip r:embed="rId2" cstate="print"/>
          <a:srcRect/>
          <a:stretch>
            <a:fillRect/>
          </a:stretch>
        </p:blipFill>
        <p:spPr bwMode="auto">
          <a:xfrm>
            <a:off x="5884423" y="234517"/>
            <a:ext cx="5463027" cy="6388965"/>
          </a:xfrm>
          <a:prstGeom prst="rect">
            <a:avLst/>
          </a:prstGeom>
          <a:noFill/>
          <a:ln w="9525">
            <a:noFill/>
            <a:miter lim="800000"/>
            <a:headEnd/>
            <a:tailEnd/>
          </a:ln>
          <a:effectLst/>
        </p:spPr>
      </p:pic>
    </p:spTree>
    <p:extLst>
      <p:ext uri="{BB962C8B-B14F-4D97-AF65-F5344CB8AC3E}">
        <p14:creationId xmlns:p14="http://schemas.microsoft.com/office/powerpoint/2010/main" val="799042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A5B40-BF66-4B9E-8C73-E84462F17738}"/>
              </a:ext>
            </a:extLst>
          </p:cNvPr>
          <p:cNvSpPr>
            <a:spLocks noGrp="1"/>
          </p:cNvSpPr>
          <p:nvPr>
            <p:ph type="title"/>
          </p:nvPr>
        </p:nvSpPr>
        <p:spPr/>
        <p:txBody>
          <a:bodyPr/>
          <a:lstStyle/>
          <a:p>
            <a:r>
              <a:rPr lang="en-US" dirty="0"/>
              <a:t>Personas </a:t>
            </a:r>
          </a:p>
        </p:txBody>
      </p:sp>
      <p:sp>
        <p:nvSpPr>
          <p:cNvPr id="3" name="Content Placeholder 2">
            <a:extLst>
              <a:ext uri="{FF2B5EF4-FFF2-40B4-BE49-F238E27FC236}">
                <a16:creationId xmlns:a16="http://schemas.microsoft.com/office/drawing/2014/main" id="{B9195FE1-B97C-489E-BED2-E8828F73C09F}"/>
              </a:ext>
            </a:extLst>
          </p:cNvPr>
          <p:cNvSpPr>
            <a:spLocks noGrp="1"/>
          </p:cNvSpPr>
          <p:nvPr>
            <p:ph idx="1"/>
          </p:nvPr>
        </p:nvSpPr>
        <p:spPr/>
        <p:txBody>
          <a:bodyPr/>
          <a:lstStyle/>
          <a:p>
            <a:r>
              <a:rPr lang="en-US" dirty="0"/>
              <a:t>At least One representative of each class</a:t>
            </a:r>
          </a:p>
          <a:p>
            <a:endParaRPr lang="en-US" dirty="0"/>
          </a:p>
        </p:txBody>
      </p:sp>
    </p:spTree>
    <p:extLst>
      <p:ext uri="{BB962C8B-B14F-4D97-AF65-F5344CB8AC3E}">
        <p14:creationId xmlns:p14="http://schemas.microsoft.com/office/powerpoint/2010/main" val="1936689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Persona </a:t>
            </a:r>
          </a:p>
        </p:txBody>
      </p:sp>
      <p:sp>
        <p:nvSpPr>
          <p:cNvPr id="3" name="Content Placeholder 2"/>
          <p:cNvSpPr>
            <a:spLocks noGrp="1"/>
          </p:cNvSpPr>
          <p:nvPr>
            <p:ph sz="quarter" idx="1"/>
          </p:nvPr>
        </p:nvSpPr>
        <p:spPr/>
        <p:txBody>
          <a:bodyPr>
            <a:normAutofit fontScale="92500" lnSpcReduction="10000"/>
          </a:bodyPr>
          <a:lstStyle/>
          <a:p>
            <a:r>
              <a:rPr lang="en-US" dirty="0"/>
              <a:t>Never refer to “the user”, instead refer to a very specific individual, a persona.</a:t>
            </a:r>
          </a:p>
          <a:p>
            <a:endParaRPr lang="en-US" dirty="0"/>
          </a:p>
          <a:p>
            <a:r>
              <a:rPr lang="en-US" dirty="0"/>
              <a:t>Take a class profile and then fill in details to create a “typical” user </a:t>
            </a:r>
          </a:p>
          <a:p>
            <a:pPr lvl="1"/>
            <a:r>
              <a:rPr lang="en-US" b="1" dirty="0"/>
              <a:t>At least One representative of each class</a:t>
            </a:r>
          </a:p>
          <a:p>
            <a:endParaRPr lang="en-US" dirty="0"/>
          </a:p>
          <a:p>
            <a:r>
              <a:rPr lang="en-US" dirty="0"/>
              <a:t>From the insight you gained in your interviews, you now invent user archetypes</a:t>
            </a:r>
            <a:r>
              <a:rPr lang="en-US" b="1" dirty="0"/>
              <a:t> </a:t>
            </a:r>
            <a:r>
              <a:rPr lang="en-US" dirty="0"/>
              <a:t>to represent the main user groups of your product.</a:t>
            </a:r>
          </a:p>
          <a:p>
            <a:endParaRPr lang="en-US" dirty="0"/>
          </a:p>
          <a:p>
            <a:r>
              <a:rPr lang="en-US" dirty="0"/>
              <a:t>In other words, you make up pretend users and design for them.</a:t>
            </a:r>
          </a:p>
          <a:p>
            <a:endParaRPr lang="en-US" dirty="0"/>
          </a:p>
        </p:txBody>
      </p:sp>
    </p:spTree>
    <p:extLst>
      <p:ext uri="{BB962C8B-B14F-4D97-AF65-F5344CB8AC3E}">
        <p14:creationId xmlns:p14="http://schemas.microsoft.com/office/powerpoint/2010/main" val="4212578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Persona </a:t>
            </a:r>
          </a:p>
        </p:txBody>
      </p:sp>
      <p:sp>
        <p:nvSpPr>
          <p:cNvPr id="3" name="Content Placeholder 2"/>
          <p:cNvSpPr>
            <a:spLocks noGrp="1"/>
          </p:cNvSpPr>
          <p:nvPr>
            <p:ph sz="quarter" idx="1"/>
          </p:nvPr>
        </p:nvSpPr>
        <p:spPr/>
        <p:txBody>
          <a:bodyPr>
            <a:normAutofit/>
          </a:bodyPr>
          <a:lstStyle/>
          <a:p>
            <a:r>
              <a:rPr lang="pt-BR" dirty="0"/>
              <a:t>A persona is a </a:t>
            </a:r>
            <a:r>
              <a:rPr lang="pt-BR" b="1" dirty="0"/>
              <a:t>prototypical user</a:t>
            </a:r>
            <a:r>
              <a:rPr lang="pt-BR" dirty="0"/>
              <a:t>:</a:t>
            </a:r>
          </a:p>
          <a:p>
            <a:pPr lvl="1"/>
            <a:r>
              <a:rPr lang="en-US" dirty="0"/>
              <a:t>An imaginary, but very specific, example of a particular type of user.</a:t>
            </a:r>
          </a:p>
          <a:p>
            <a:pPr lvl="1"/>
            <a:r>
              <a:rPr lang="en-US" dirty="0"/>
              <a:t>Not “real”, but hypothetical.</a:t>
            </a:r>
          </a:p>
          <a:p>
            <a:endParaRPr lang="en-US" dirty="0"/>
          </a:p>
          <a:p>
            <a:r>
              <a:rPr lang="en-US" dirty="0"/>
              <a:t>A persona is used to role-play through an interface design and check if the design would meet the needs of such a user.</a:t>
            </a:r>
          </a:p>
          <a:p>
            <a:endParaRPr lang="en-US" b="1" dirty="0"/>
          </a:p>
          <a:p>
            <a:r>
              <a:rPr lang="en-US" dirty="0"/>
              <a:t>It is more important to define the persona in </a:t>
            </a:r>
            <a:r>
              <a:rPr lang="en-US" b="1" dirty="0"/>
              <a:t>great and specific detail</a:t>
            </a:r>
            <a:r>
              <a:rPr lang="en-US" dirty="0"/>
              <a:t>, so that it cannot wiggle under the pressure of development.</a:t>
            </a:r>
          </a:p>
          <a:p>
            <a:endParaRPr lang="en-US" b="1" dirty="0"/>
          </a:p>
        </p:txBody>
      </p:sp>
    </p:spTree>
    <p:extLst>
      <p:ext uri="{BB962C8B-B14F-4D97-AF65-F5344CB8AC3E}">
        <p14:creationId xmlns:p14="http://schemas.microsoft.com/office/powerpoint/2010/main" val="1055739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ult for persona ux">
            <a:extLst>
              <a:ext uri="{FF2B5EF4-FFF2-40B4-BE49-F238E27FC236}">
                <a16:creationId xmlns:a16="http://schemas.microsoft.com/office/drawing/2014/main" id="{BF5962DD-1CA3-45C1-B017-F0E5B9080C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2837" y="190569"/>
            <a:ext cx="10002982" cy="652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020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Persona </a:t>
            </a:r>
          </a:p>
        </p:txBody>
      </p:sp>
      <p:sp>
        <p:nvSpPr>
          <p:cNvPr id="3" name="Content Placeholder 2"/>
          <p:cNvSpPr>
            <a:spLocks noGrp="1"/>
          </p:cNvSpPr>
          <p:nvPr>
            <p:ph idx="1"/>
          </p:nvPr>
        </p:nvSpPr>
        <p:spPr/>
        <p:txBody>
          <a:bodyPr/>
          <a:lstStyle/>
          <a:p>
            <a:r>
              <a:rPr lang="en-US" dirty="0"/>
              <a:t>A persona clarifies who is in your target audience by answering the following questions:</a:t>
            </a:r>
          </a:p>
          <a:p>
            <a:pPr lvl="1"/>
            <a:endParaRPr lang="en-US" dirty="0"/>
          </a:p>
          <a:p>
            <a:pPr lvl="1"/>
            <a:r>
              <a:rPr lang="en-US" dirty="0"/>
              <a:t>What are the current behavior patterns of my users?</a:t>
            </a:r>
          </a:p>
          <a:p>
            <a:pPr lvl="1"/>
            <a:r>
              <a:rPr lang="en-US" dirty="0"/>
              <a:t>What are the needs and goals of my users?</a:t>
            </a:r>
          </a:p>
          <a:p>
            <a:pPr lvl="1"/>
            <a:r>
              <a:rPr lang="en-US" dirty="0"/>
              <a:t>What issues and pain-points do they currently face within the given context?</a:t>
            </a:r>
          </a:p>
          <a:p>
            <a:endParaRPr lang="en-US" dirty="0"/>
          </a:p>
        </p:txBody>
      </p:sp>
    </p:spTree>
    <p:extLst>
      <p:ext uri="{BB962C8B-B14F-4D97-AF65-F5344CB8AC3E}">
        <p14:creationId xmlns:p14="http://schemas.microsoft.com/office/powerpoint/2010/main" val="2553827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46073" y="379413"/>
            <a:ext cx="11223220" cy="5884607"/>
          </a:xfrm>
          <a:prstGeom prst="rect">
            <a:avLst/>
          </a:prstGeom>
        </p:spPr>
      </p:pic>
    </p:spTree>
    <p:extLst>
      <p:ext uri="{BB962C8B-B14F-4D97-AF65-F5344CB8AC3E}">
        <p14:creationId xmlns:p14="http://schemas.microsoft.com/office/powerpoint/2010/main" val="4069627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68585-5216-4EC8-A638-FC5F18C1485C}"/>
              </a:ext>
            </a:extLst>
          </p:cNvPr>
          <p:cNvSpPr>
            <a:spLocks noGrp="1"/>
          </p:cNvSpPr>
          <p:nvPr>
            <p:ph type="title"/>
          </p:nvPr>
        </p:nvSpPr>
        <p:spPr/>
        <p:txBody>
          <a:bodyPr/>
          <a:lstStyle/>
          <a:p>
            <a:endParaRPr lang="en-US"/>
          </a:p>
        </p:txBody>
      </p:sp>
      <p:pic>
        <p:nvPicPr>
          <p:cNvPr id="2050" name="Picture 2">
            <a:extLst>
              <a:ext uri="{FF2B5EF4-FFF2-40B4-BE49-F238E27FC236}">
                <a16:creationId xmlns:a16="http://schemas.microsoft.com/office/drawing/2014/main" id="{C98E8153-7841-463F-B237-6660387B04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8554" y="223134"/>
            <a:ext cx="11620228"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967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You Define A User Persona?</a:t>
            </a:r>
            <a:br>
              <a:rPr lang="en-US" dirty="0"/>
            </a:b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b="1" dirty="0"/>
              <a:t>Header</a:t>
            </a:r>
          </a:p>
          <a:p>
            <a:pPr marL="514350" indent="-514350">
              <a:buFont typeface="+mj-lt"/>
              <a:buAutoNum type="arabicPeriod"/>
            </a:pPr>
            <a:r>
              <a:rPr lang="en-US" b="1" dirty="0"/>
              <a:t>Demographic Profile</a:t>
            </a:r>
            <a:endParaRPr lang="en-US" dirty="0"/>
          </a:p>
          <a:p>
            <a:pPr marL="514350" indent="-514350">
              <a:buFont typeface="+mj-lt"/>
              <a:buAutoNum type="arabicPeriod"/>
            </a:pPr>
            <a:r>
              <a:rPr lang="en-US" b="1" dirty="0"/>
              <a:t>End Goal(s)</a:t>
            </a:r>
          </a:p>
          <a:p>
            <a:pPr marL="514350" indent="-514350">
              <a:buFont typeface="+mj-lt"/>
              <a:buAutoNum type="arabicPeriod"/>
            </a:pPr>
            <a:endParaRPr lang="en-US" b="1" dirty="0"/>
          </a:p>
          <a:p>
            <a:pPr marL="0" indent="0">
              <a:buNone/>
            </a:pPr>
            <a:r>
              <a:rPr lang="en-US" dirty="0"/>
              <a:t>Let’s imagine you’re designing a travel app. The foundations of your user persona could look like this: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09899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You Define A User Persona?</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b="1" dirty="0"/>
              <a:t>Header</a:t>
            </a:r>
          </a:p>
          <a:p>
            <a:pPr marL="0" indent="0">
              <a:buNone/>
            </a:pPr>
            <a:endParaRPr lang="en-US" dirty="0"/>
          </a:p>
          <a:p>
            <a:pPr marL="0" indent="0">
              <a:buNone/>
            </a:pPr>
            <a:r>
              <a:rPr lang="en-US" b="1" dirty="0"/>
              <a:t>Name:</a:t>
            </a:r>
            <a:r>
              <a:rPr lang="en-US" dirty="0"/>
              <a:t> Savannah Rodriguez</a:t>
            </a:r>
            <a:br>
              <a:rPr lang="en-US" dirty="0"/>
            </a:br>
            <a:r>
              <a:rPr lang="en-US" b="1" dirty="0"/>
              <a:t>Summary quote:</a:t>
            </a:r>
            <a:r>
              <a:rPr lang="en-US" dirty="0"/>
              <a:t> “Take me to undiscovered holiday destinations away from the tourist traps.”</a:t>
            </a:r>
          </a:p>
          <a:p>
            <a:pPr marL="0" indent="0">
              <a:buNone/>
            </a:pPr>
            <a:endParaRPr lang="en-US" dirty="0"/>
          </a:p>
          <a:p>
            <a:pPr marL="0" indent="0">
              <a:buNone/>
            </a:pPr>
            <a:endParaRPr lang="en-US" dirty="0"/>
          </a:p>
          <a:p>
            <a:pPr marL="0" indent="0">
              <a:buNone/>
            </a:pPr>
            <a:endParaRPr lang="en-US" dirty="0"/>
          </a:p>
          <a:p>
            <a:pPr marL="0" indent="0">
              <a:buNone/>
            </a:pPr>
            <a:r>
              <a:rPr lang="en-US" dirty="0"/>
              <a:t>This first step might seem simple, but these features ensure that your persona is memorable, keeping the design team focused on who they are designing for.</a:t>
            </a:r>
          </a:p>
          <a:p>
            <a:pPr marL="0" indent="0">
              <a:buNone/>
            </a:pPr>
            <a:endParaRPr lang="en-US" dirty="0"/>
          </a:p>
        </p:txBody>
      </p:sp>
    </p:spTree>
    <p:extLst>
      <p:ext uri="{BB962C8B-B14F-4D97-AF65-F5344CB8AC3E}">
        <p14:creationId xmlns:p14="http://schemas.microsoft.com/office/powerpoint/2010/main" val="2837617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You Define A User Persona?</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b="1" dirty="0"/>
              <a:t>2. Demographic Profile</a:t>
            </a:r>
            <a:r>
              <a:rPr lang="en-US" dirty="0"/>
              <a:t> : based on user research. </a:t>
            </a:r>
          </a:p>
          <a:p>
            <a:r>
              <a:rPr lang="en-US" dirty="0"/>
              <a:t>personal background</a:t>
            </a:r>
          </a:p>
          <a:p>
            <a:pPr lvl="1"/>
            <a:r>
              <a:rPr lang="en-US" dirty="0"/>
              <a:t>age, gender, ethnicity, education, persona group (e.g. working moms), and family status (e.g. single, married with children, widowed, etc.).</a:t>
            </a:r>
          </a:p>
          <a:p>
            <a:endParaRPr lang="en-US" dirty="0"/>
          </a:p>
          <a:p>
            <a:pPr marL="0" indent="0">
              <a:buNone/>
            </a:pPr>
            <a:r>
              <a:rPr lang="en-US" dirty="0"/>
              <a:t>Example: Savannah, 52 years old, divorced mother of two, has a Master’s degree in chemistry.</a:t>
            </a:r>
          </a:p>
          <a:p>
            <a:pPr marL="0" indent="0">
              <a:buNone/>
            </a:pPr>
            <a:endParaRPr lang="en-US" dirty="0"/>
          </a:p>
        </p:txBody>
      </p:sp>
    </p:spTree>
    <p:extLst>
      <p:ext uri="{BB962C8B-B14F-4D97-AF65-F5344CB8AC3E}">
        <p14:creationId xmlns:p14="http://schemas.microsoft.com/office/powerpoint/2010/main" val="407269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You Define A User Persona?</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b="1" dirty="0"/>
              <a:t>2. Demographic Profile</a:t>
            </a:r>
            <a:r>
              <a:rPr lang="en-US" dirty="0"/>
              <a:t> : based on user research. </a:t>
            </a:r>
          </a:p>
          <a:p>
            <a:r>
              <a:rPr lang="en-US" dirty="0"/>
              <a:t>professional background</a:t>
            </a:r>
          </a:p>
          <a:p>
            <a:pPr lvl="1"/>
            <a:r>
              <a:rPr lang="en-US" dirty="0"/>
              <a:t>job occupation, income level, and work experience</a:t>
            </a:r>
          </a:p>
          <a:p>
            <a:endParaRPr lang="en-US" dirty="0"/>
          </a:p>
          <a:p>
            <a:endParaRPr lang="en-US" dirty="0"/>
          </a:p>
          <a:p>
            <a:pPr marL="0" indent="0">
              <a:buNone/>
            </a:pPr>
            <a:r>
              <a:rPr lang="en-US" dirty="0"/>
              <a:t>Savannah works full-time at a pharmaceuticals company and earns around $65,000 per year. </a:t>
            </a:r>
          </a:p>
          <a:p>
            <a:pPr lvl="1"/>
            <a:endParaRPr lang="en-US" dirty="0"/>
          </a:p>
          <a:p>
            <a:pPr marL="0" indent="0">
              <a:buNone/>
            </a:pPr>
            <a:endParaRPr lang="en-US" dirty="0"/>
          </a:p>
        </p:txBody>
      </p:sp>
    </p:spTree>
    <p:extLst>
      <p:ext uri="{BB962C8B-B14F-4D97-AF65-F5344CB8AC3E}">
        <p14:creationId xmlns:p14="http://schemas.microsoft.com/office/powerpoint/2010/main" val="295881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You Define A User Persona?</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b="1" dirty="0"/>
              <a:t>2. Demographic Profile</a:t>
            </a:r>
            <a:r>
              <a:rPr lang="en-US" dirty="0"/>
              <a:t> : based on user research. </a:t>
            </a:r>
          </a:p>
          <a:p>
            <a:r>
              <a:rPr lang="en-US" dirty="0"/>
              <a:t>user environment</a:t>
            </a:r>
          </a:p>
          <a:p>
            <a:pPr lvl="1"/>
            <a:r>
              <a:rPr lang="en-US" dirty="0"/>
              <a:t>the physical, social, and technological context of the user. What technological devices do users have access to? Do they spend most of their time in a corporate office or a home office? And how often do they collaborate with others? </a:t>
            </a:r>
          </a:p>
          <a:p>
            <a:pPr marL="0" indent="0">
              <a:buNone/>
            </a:pPr>
            <a:r>
              <a:rPr lang="en-US" dirty="0"/>
              <a:t>Savannah’s user environment could be in her office, mostly on a laptop, but also on her iPad when commuting to and from work.</a:t>
            </a:r>
          </a:p>
          <a:p>
            <a:pPr marL="0" indent="0">
              <a:buNone/>
            </a:pPr>
            <a:endParaRPr lang="en-US" dirty="0"/>
          </a:p>
        </p:txBody>
      </p:sp>
    </p:spTree>
    <p:extLst>
      <p:ext uri="{BB962C8B-B14F-4D97-AF65-F5344CB8AC3E}">
        <p14:creationId xmlns:p14="http://schemas.microsoft.com/office/powerpoint/2010/main" val="1665195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You Define A User Persona?</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a:t>2. Demographic Profile</a:t>
            </a:r>
            <a:r>
              <a:rPr lang="en-US" dirty="0"/>
              <a:t> : based on user research. </a:t>
            </a:r>
          </a:p>
          <a:p>
            <a:r>
              <a:rPr lang="en-US" dirty="0"/>
              <a:t>Psychographics</a:t>
            </a:r>
          </a:p>
          <a:p>
            <a:pPr lvl="1"/>
            <a:r>
              <a:rPr lang="en-US" dirty="0"/>
              <a:t>attitudes, interests, motivations, and pain points</a:t>
            </a:r>
          </a:p>
          <a:p>
            <a:pPr lvl="1"/>
            <a:endParaRPr lang="en-US" dirty="0"/>
          </a:p>
          <a:p>
            <a:pPr lvl="1"/>
            <a:endParaRPr lang="en-US" dirty="0"/>
          </a:p>
          <a:p>
            <a:pPr marL="0" indent="0">
              <a:buNone/>
            </a:pPr>
            <a:r>
              <a:rPr lang="en-US" dirty="0"/>
              <a:t>Savannah enjoys luxury spa retreats, hates tourist traps</a:t>
            </a:r>
          </a:p>
          <a:p>
            <a:pPr marL="0" indent="0">
              <a:buNone/>
            </a:pPr>
            <a:r>
              <a:rPr lang="en-US" dirty="0"/>
              <a:t>Appreciates an element of exclusivity</a:t>
            </a:r>
          </a:p>
          <a:p>
            <a:pPr marL="0" indent="0">
              <a:buNone/>
            </a:pPr>
            <a:r>
              <a:rPr lang="en-US" dirty="0"/>
              <a:t>Enjoys trying authentic local cuisine</a:t>
            </a:r>
          </a:p>
          <a:p>
            <a:pPr marL="0" indent="0">
              <a:buNone/>
            </a:pPr>
            <a:r>
              <a:rPr lang="en-US" dirty="0"/>
              <a:t>Prefers to travel alone or with one other person</a:t>
            </a:r>
          </a:p>
          <a:p>
            <a:pPr marL="0" indent="0">
              <a:buNone/>
            </a:pPr>
            <a:r>
              <a:rPr lang="en-US" dirty="0"/>
              <a:t>Tends to favor quality over economy</a:t>
            </a:r>
          </a:p>
          <a:p>
            <a:pPr lvl="1"/>
            <a:endParaRPr lang="en-US" dirty="0"/>
          </a:p>
          <a:p>
            <a:pPr lvl="1"/>
            <a:endParaRPr lang="en-US" dirty="0"/>
          </a:p>
          <a:p>
            <a:pPr marL="0" indent="0">
              <a:buNone/>
            </a:pPr>
            <a:endParaRPr lang="en-US" dirty="0"/>
          </a:p>
        </p:txBody>
      </p:sp>
    </p:spTree>
    <p:extLst>
      <p:ext uri="{BB962C8B-B14F-4D97-AF65-F5344CB8AC3E}">
        <p14:creationId xmlns:p14="http://schemas.microsoft.com/office/powerpoint/2010/main" val="159627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You Define A User Persona?</a:t>
            </a:r>
            <a:br>
              <a:rPr lang="en-US" dirty="0"/>
            </a:br>
            <a:endParaRPr lang="en-US" dirty="0"/>
          </a:p>
        </p:txBody>
      </p:sp>
      <p:sp>
        <p:nvSpPr>
          <p:cNvPr id="3" name="Content Placeholder 2"/>
          <p:cNvSpPr>
            <a:spLocks noGrp="1"/>
          </p:cNvSpPr>
          <p:nvPr>
            <p:ph idx="1"/>
          </p:nvPr>
        </p:nvSpPr>
        <p:spPr/>
        <p:txBody>
          <a:bodyPr/>
          <a:lstStyle/>
          <a:p>
            <a:pPr marL="0" indent="0">
              <a:buNone/>
            </a:pPr>
            <a:r>
              <a:rPr lang="en-US" b="1" dirty="0"/>
              <a:t>3.	End Goal(s)</a:t>
            </a:r>
          </a:p>
          <a:p>
            <a:pPr marL="0" indent="0">
              <a:buNone/>
            </a:pPr>
            <a:r>
              <a:rPr lang="en-US" dirty="0"/>
              <a:t>Helps answer the question: what do users want or need to accomplish by using your product? </a:t>
            </a:r>
          </a:p>
          <a:p>
            <a:pPr marL="0" indent="0">
              <a:buNone/>
            </a:pPr>
            <a:r>
              <a:rPr lang="en-US" dirty="0"/>
              <a:t>End goals are the main driving forces of your users and determine what the persona wants or needs to fulfill.</a:t>
            </a:r>
          </a:p>
          <a:p>
            <a:pPr marL="0" indent="0">
              <a:buNone/>
            </a:pPr>
            <a:endParaRPr lang="en-US" dirty="0"/>
          </a:p>
          <a:p>
            <a:pPr marL="0" indent="0">
              <a:buNone/>
            </a:pPr>
            <a:r>
              <a:rPr lang="en-US" dirty="0"/>
              <a:t>In Savannah’s case, her end goal when using your holiday-booking app is to discover and book luxurious, off-the-beaten-track holiday destinations.</a:t>
            </a:r>
          </a:p>
          <a:p>
            <a:pPr marL="0" indent="0">
              <a:buNone/>
            </a:pPr>
            <a:endParaRPr lang="en-US" dirty="0"/>
          </a:p>
        </p:txBody>
      </p:sp>
    </p:spTree>
    <p:extLst>
      <p:ext uri="{BB962C8B-B14F-4D97-AF65-F5344CB8AC3E}">
        <p14:creationId xmlns:p14="http://schemas.microsoft.com/office/powerpoint/2010/main" val="308604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persona ux">
            <a:extLst>
              <a:ext uri="{FF2B5EF4-FFF2-40B4-BE49-F238E27FC236}">
                <a16:creationId xmlns:a16="http://schemas.microsoft.com/office/drawing/2014/main" id="{B91D7550-5E3D-4EAF-964D-73E3F32400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8657" y="176197"/>
            <a:ext cx="11236036" cy="6527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069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persona ux">
            <a:extLst>
              <a:ext uri="{FF2B5EF4-FFF2-40B4-BE49-F238E27FC236}">
                <a16:creationId xmlns:a16="http://schemas.microsoft.com/office/drawing/2014/main" id="{4DDBF3CA-5EF1-459B-A3BC-B6BC928D37A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3119" y="166260"/>
            <a:ext cx="11087722" cy="6449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5525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persona ux">
            <a:extLst>
              <a:ext uri="{FF2B5EF4-FFF2-40B4-BE49-F238E27FC236}">
                <a16:creationId xmlns:a16="http://schemas.microsoft.com/office/drawing/2014/main" id="{F2E86F93-2493-47B0-A121-5824F0E4A6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399" y="249384"/>
            <a:ext cx="11887200" cy="6420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65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3718-B4DE-4054-A79A-6AC8A6D63890}"/>
              </a:ext>
            </a:extLst>
          </p:cNvPr>
          <p:cNvSpPr>
            <a:spLocks noGrp="1"/>
          </p:cNvSpPr>
          <p:nvPr>
            <p:ph type="title"/>
          </p:nvPr>
        </p:nvSpPr>
        <p:spPr/>
        <p:txBody>
          <a:bodyPr/>
          <a:lstStyle/>
          <a:p>
            <a:r>
              <a:rPr lang="en-US" dirty="0"/>
              <a:t>Resources </a:t>
            </a:r>
          </a:p>
        </p:txBody>
      </p:sp>
      <p:sp>
        <p:nvSpPr>
          <p:cNvPr id="3" name="Content Placeholder 2">
            <a:extLst>
              <a:ext uri="{FF2B5EF4-FFF2-40B4-BE49-F238E27FC236}">
                <a16:creationId xmlns:a16="http://schemas.microsoft.com/office/drawing/2014/main" id="{2984BC8D-9864-4E76-A87A-0121AD935AE8}"/>
              </a:ext>
            </a:extLst>
          </p:cNvPr>
          <p:cNvSpPr>
            <a:spLocks noGrp="1"/>
          </p:cNvSpPr>
          <p:nvPr>
            <p:ph idx="1"/>
          </p:nvPr>
        </p:nvSpPr>
        <p:spPr/>
        <p:txBody>
          <a:bodyPr/>
          <a:lstStyle/>
          <a:p>
            <a:r>
              <a:rPr lang="en-US" dirty="0"/>
              <a:t>See “05-Ten Steps to Personas.pdf” on Portal </a:t>
            </a:r>
          </a:p>
          <a:p>
            <a:endParaRPr lang="en-US" dirty="0">
              <a:hlinkClick r:id="rId2"/>
            </a:endParaRPr>
          </a:p>
          <a:p>
            <a:r>
              <a:rPr lang="en-US" dirty="0">
                <a:hlinkClick r:id="rId2"/>
              </a:rPr>
              <a:t>https://careerfoundry.com/en/blog/ux-design/how-to-define-a-user-persona/</a:t>
            </a:r>
            <a:r>
              <a:rPr lang="en-US" dirty="0"/>
              <a:t> </a:t>
            </a:r>
          </a:p>
          <a:p>
            <a:endParaRPr lang="en-US" dirty="0"/>
          </a:p>
          <a:p>
            <a:r>
              <a:rPr lang="en-US" dirty="0">
                <a:hlinkClick r:id="rId3"/>
              </a:rPr>
              <a:t>https://www.smashingmagazine.com/2014/08/a-closer-look-at-personas-part-1/</a:t>
            </a:r>
            <a:r>
              <a:rPr lang="en-US" dirty="0"/>
              <a:t> </a:t>
            </a:r>
          </a:p>
          <a:p>
            <a:endParaRPr lang="en-US" dirty="0"/>
          </a:p>
        </p:txBody>
      </p:sp>
    </p:spTree>
    <p:extLst>
      <p:ext uri="{BB962C8B-B14F-4D97-AF65-F5344CB8AC3E}">
        <p14:creationId xmlns:p14="http://schemas.microsoft.com/office/powerpoint/2010/main" val="23711356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A07DF-E9E4-47BF-A5CC-39CA565CE81E}"/>
              </a:ext>
            </a:extLst>
          </p:cNvPr>
          <p:cNvSpPr>
            <a:spLocks noGrp="1"/>
          </p:cNvSpPr>
          <p:nvPr>
            <p:ph type="title"/>
          </p:nvPr>
        </p:nvSpPr>
        <p:spPr/>
        <p:txBody>
          <a:bodyPr/>
          <a:lstStyle/>
          <a:p>
            <a:r>
              <a:rPr lang="en-US" dirty="0"/>
              <a:t>Scenarios </a:t>
            </a:r>
          </a:p>
        </p:txBody>
      </p:sp>
      <p:sp>
        <p:nvSpPr>
          <p:cNvPr id="3" name="Text Placeholder 2">
            <a:extLst>
              <a:ext uri="{FF2B5EF4-FFF2-40B4-BE49-F238E27FC236}">
                <a16:creationId xmlns:a16="http://schemas.microsoft.com/office/drawing/2014/main" id="{5592B9CC-F950-4D29-9A69-73F3E4CAE8E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23414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9F9D2076-CF01-402E-9375-26FBC16053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78776" y="234757"/>
            <a:ext cx="8557908" cy="6388486"/>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E7EA8C99-84FC-4CE9-B19A-96751107C79B}"/>
              </a:ext>
            </a:extLst>
          </p:cNvPr>
          <p:cNvSpPr txBox="1">
            <a:spLocks/>
          </p:cNvSpPr>
          <p:nvPr/>
        </p:nvSpPr>
        <p:spPr>
          <a:xfrm>
            <a:off x="838200" y="567559"/>
            <a:ext cx="3008586"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dirty="0"/>
              <a:t>User Scenario </a:t>
            </a:r>
          </a:p>
          <a:p>
            <a:pPr marL="0" indent="0">
              <a:buNone/>
            </a:pPr>
            <a:r>
              <a:rPr lang="en-US" sz="2400" dirty="0"/>
              <a:t>A precise description of a persona using an interface to achieve a goal</a:t>
            </a:r>
          </a:p>
          <a:p>
            <a:pPr marL="0" indent="0">
              <a:buNone/>
            </a:pPr>
            <a:endParaRPr lang="en-US" dirty="0"/>
          </a:p>
        </p:txBody>
      </p:sp>
    </p:spTree>
    <p:extLst>
      <p:ext uri="{BB962C8B-B14F-4D97-AF65-F5344CB8AC3E}">
        <p14:creationId xmlns:p14="http://schemas.microsoft.com/office/powerpoint/2010/main" val="2567630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Scenarios </a:t>
            </a:r>
          </a:p>
        </p:txBody>
      </p:sp>
      <p:sp>
        <p:nvSpPr>
          <p:cNvPr id="3" name="Content Placeholder 2"/>
          <p:cNvSpPr>
            <a:spLocks noGrp="1"/>
          </p:cNvSpPr>
          <p:nvPr>
            <p:ph sz="quarter" idx="1"/>
          </p:nvPr>
        </p:nvSpPr>
        <p:spPr/>
        <p:txBody>
          <a:bodyPr>
            <a:normAutofit/>
          </a:bodyPr>
          <a:lstStyle/>
          <a:p>
            <a:r>
              <a:rPr lang="en-US" dirty="0"/>
              <a:t>Scenarios normally include descriptions about: </a:t>
            </a:r>
          </a:p>
          <a:p>
            <a:pPr lvl="1"/>
            <a:r>
              <a:rPr lang="en-US" dirty="0"/>
              <a:t>The individual user (i.e., the persona)</a:t>
            </a:r>
          </a:p>
          <a:p>
            <a:pPr lvl="1"/>
            <a:r>
              <a:rPr lang="en-US" dirty="0"/>
              <a:t>The task or situation </a:t>
            </a:r>
          </a:p>
          <a:p>
            <a:pPr lvl="1"/>
            <a:r>
              <a:rPr lang="en-US" dirty="0"/>
              <a:t>The user’s desired outcome/goal for that task </a:t>
            </a:r>
          </a:p>
          <a:p>
            <a:pPr lvl="1"/>
            <a:r>
              <a:rPr lang="en-US" dirty="0"/>
              <a:t>Procedure and task flow information </a:t>
            </a:r>
          </a:p>
          <a:p>
            <a:pPr lvl="1"/>
            <a:r>
              <a:rPr lang="en-US" dirty="0"/>
              <a:t>Envisioned features/functionality the user will need/use. </a:t>
            </a:r>
          </a:p>
          <a:p>
            <a:endParaRPr lang="en-US" dirty="0"/>
          </a:p>
          <a:p>
            <a:r>
              <a:rPr lang="en-US" dirty="0"/>
              <a:t>Success and/or failure scenarios </a:t>
            </a:r>
          </a:p>
          <a:p>
            <a:pPr lvl="1"/>
            <a:r>
              <a:rPr lang="en-US" dirty="0"/>
              <a:t>You may also want to include exceptions. What are some of the rare events that happen? </a:t>
            </a:r>
          </a:p>
        </p:txBody>
      </p:sp>
    </p:spTree>
    <p:extLst>
      <p:ext uri="{BB962C8B-B14F-4D97-AF65-F5344CB8AC3E}">
        <p14:creationId xmlns:p14="http://schemas.microsoft.com/office/powerpoint/2010/main" val="92227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Sally plans her vacation </a:t>
            </a:r>
          </a:p>
        </p:txBody>
      </p:sp>
      <p:sp>
        <p:nvSpPr>
          <p:cNvPr id="3" name="Content Placeholder 2"/>
          <p:cNvSpPr>
            <a:spLocks noGrp="1"/>
          </p:cNvSpPr>
          <p:nvPr>
            <p:ph sz="quarter" idx="1"/>
          </p:nvPr>
        </p:nvSpPr>
        <p:spPr>
          <a:xfrm>
            <a:off x="838199" y="1447800"/>
            <a:ext cx="10910455" cy="5181600"/>
          </a:xfrm>
        </p:spPr>
        <p:txBody>
          <a:bodyPr>
            <a:normAutofit/>
          </a:bodyPr>
          <a:lstStyle/>
          <a:p>
            <a:pPr marL="0" indent="0" algn="just">
              <a:buNone/>
            </a:pPr>
            <a:r>
              <a:rPr lang="en-US" dirty="0"/>
              <a:t>Sally needs to plan a vacation for her family. She decides to hop on TravelSmart.com and do both the research and reservations there. She begins by researching the top family-friendly destinations as recommended by TravelSmart.com customers. She wants to compare the travel time, travel costs, hotel costs, hotel availability, and amusement activities for each destination. For each of those criteria, Sally gave a weighting to help her make her decision. She finally settled on the destination that required the least travel time, cheapest travel costs, moderate hotel costs, good availability, and a large selection of activities for the whole family. From that spot, Sally begins searching for the flights and hotels that meet her criteria. She decides to save those results for later because she wants to be sure the whole family is in agreement before she makes the reservations with her credit card.</a:t>
            </a:r>
          </a:p>
        </p:txBody>
      </p:sp>
    </p:spTree>
    <p:extLst>
      <p:ext uri="{BB962C8B-B14F-4D97-AF65-F5344CB8AC3E}">
        <p14:creationId xmlns:p14="http://schemas.microsoft.com/office/powerpoint/2010/main" val="3256063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result for scenario ux">
            <a:extLst>
              <a:ext uri="{FF2B5EF4-FFF2-40B4-BE49-F238E27FC236}">
                <a16:creationId xmlns:a16="http://schemas.microsoft.com/office/drawing/2014/main" id="{1AD970A7-62D5-49F2-9E1E-2EC4CD912ED8}"/>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441435" y="161614"/>
            <a:ext cx="11130456" cy="6522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048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066800" y="0"/>
            <a:ext cx="10058400" cy="6783186"/>
          </a:xfrm>
          <a:prstGeom prst="rect">
            <a:avLst/>
          </a:prstGeom>
        </p:spPr>
      </p:pic>
    </p:spTree>
    <p:extLst>
      <p:ext uri="{BB962C8B-B14F-4D97-AF65-F5344CB8AC3E}">
        <p14:creationId xmlns:p14="http://schemas.microsoft.com/office/powerpoint/2010/main" val="4092625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235242" y="-141492"/>
            <a:ext cx="9721516" cy="6999492"/>
          </a:xfrm>
          <a:prstGeom prst="rect">
            <a:avLst/>
          </a:prstGeom>
        </p:spPr>
      </p:pic>
    </p:spTree>
    <p:extLst>
      <p:ext uri="{BB962C8B-B14F-4D97-AF65-F5344CB8AC3E}">
        <p14:creationId xmlns:p14="http://schemas.microsoft.com/office/powerpoint/2010/main" val="14369937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story</a:t>
            </a:r>
          </a:p>
        </p:txBody>
      </p:sp>
      <p:pic>
        <p:nvPicPr>
          <p:cNvPr id="4" name="Content Placeholder 3"/>
          <p:cNvPicPr>
            <a:picLocks noGrp="1" noChangeAspect="1"/>
          </p:cNvPicPr>
          <p:nvPr>
            <p:ph idx="1"/>
          </p:nvPr>
        </p:nvPicPr>
        <p:blipFill>
          <a:blip r:embed="rId3"/>
          <a:stretch>
            <a:fillRect/>
          </a:stretch>
        </p:blipFill>
        <p:spPr>
          <a:xfrm>
            <a:off x="0" y="2990548"/>
            <a:ext cx="12192000" cy="1332089"/>
          </a:xfrm>
          <a:prstGeom prst="rect">
            <a:avLst/>
          </a:prstGeom>
        </p:spPr>
      </p:pic>
    </p:spTree>
    <p:extLst>
      <p:ext uri="{BB962C8B-B14F-4D97-AF65-F5344CB8AC3E}">
        <p14:creationId xmlns:p14="http://schemas.microsoft.com/office/powerpoint/2010/main" val="598881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29522</TotalTime>
  <Words>1533</Words>
  <Application>Microsoft Office PowerPoint</Application>
  <PresentationFormat>Widescreen</PresentationFormat>
  <Paragraphs>130</Paragraphs>
  <Slides>29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Calibri Light</vt:lpstr>
      <vt:lpstr>DIN Next W01 Light</vt:lpstr>
      <vt:lpstr>Trade Gothic Next W01</vt:lpstr>
      <vt:lpstr>TradeGothicNextW01-Ligh 693250</vt:lpstr>
      <vt:lpstr>Office Theme</vt:lpstr>
      <vt:lpstr>User Modelling </vt:lpstr>
      <vt:lpstr>Class Profile: Travel Agent (Primary) </vt:lpstr>
      <vt:lpstr>Personae </vt:lpstr>
      <vt:lpstr>Personas </vt:lpstr>
      <vt:lpstr>The Persona </vt:lpstr>
      <vt:lpstr>The Persona </vt:lpstr>
      <vt:lpstr>PowerPoint Presentation</vt:lpstr>
      <vt:lpstr>The Persona </vt:lpstr>
      <vt:lpstr>PowerPoint Presentation</vt:lpstr>
      <vt:lpstr>PowerPoint Presentation</vt:lpstr>
      <vt:lpstr>How Do You Define A User Persona? </vt:lpstr>
      <vt:lpstr>How Do You Define A User Persona? </vt:lpstr>
      <vt:lpstr>How Do You Define A User Persona? </vt:lpstr>
      <vt:lpstr>How Do You Define A User Persona? </vt:lpstr>
      <vt:lpstr>How Do You Define A User Persona? </vt:lpstr>
      <vt:lpstr>How Do You Define A User Persona? </vt:lpstr>
      <vt:lpstr>How Do You Define A User Persona? </vt:lpstr>
      <vt:lpstr>PowerPoint Presentation</vt:lpstr>
      <vt:lpstr>PowerPoint Presentation</vt:lpstr>
      <vt:lpstr>PowerPoint Presentation</vt:lpstr>
      <vt:lpstr>Resources </vt:lpstr>
      <vt:lpstr>Scenarios </vt:lpstr>
      <vt:lpstr>PowerPoint Presentation</vt:lpstr>
      <vt:lpstr>Creating Scenarios </vt:lpstr>
      <vt:lpstr>Sally plans her vacation </vt:lpstr>
      <vt:lpstr>PowerPoint Presentation</vt:lpstr>
      <vt:lpstr>PowerPoint Presentation</vt:lpstr>
      <vt:lpstr>PowerPoint Presentation</vt:lpstr>
      <vt:lpstr>User story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Ethnography</dc:title>
  <dc:creator>sadaf.baloch</dc:creator>
  <cp:lastModifiedBy>Sadaf Baloch</cp:lastModifiedBy>
  <cp:revision>383</cp:revision>
  <dcterms:created xsi:type="dcterms:W3CDTF">2019-09-26T19:35:35Z</dcterms:created>
  <dcterms:modified xsi:type="dcterms:W3CDTF">2020-11-18T05:16:22Z</dcterms:modified>
</cp:coreProperties>
</file>