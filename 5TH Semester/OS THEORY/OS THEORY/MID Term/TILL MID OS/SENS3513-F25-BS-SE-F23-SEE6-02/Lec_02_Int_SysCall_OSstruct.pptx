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6"/>
  </p:notesMasterIdLst>
  <p:handoutMasterIdLst>
    <p:handoutMasterId r:id="rId67"/>
  </p:handoutMasterIdLst>
  <p:sldIdLst>
    <p:sldId id="256" r:id="rId2"/>
    <p:sldId id="275" r:id="rId3"/>
    <p:sldId id="468" r:id="rId4"/>
    <p:sldId id="555" r:id="rId5"/>
    <p:sldId id="493" r:id="rId6"/>
    <p:sldId id="497" r:id="rId7"/>
    <p:sldId id="557" r:id="rId8"/>
    <p:sldId id="562" r:id="rId9"/>
    <p:sldId id="505" r:id="rId10"/>
    <p:sldId id="558" r:id="rId11"/>
    <p:sldId id="561" r:id="rId12"/>
    <p:sldId id="473" r:id="rId13"/>
    <p:sldId id="559" r:id="rId14"/>
    <p:sldId id="560" r:id="rId15"/>
    <p:sldId id="490" r:id="rId16"/>
    <p:sldId id="417" r:id="rId17"/>
    <p:sldId id="429" r:id="rId18"/>
    <p:sldId id="552" r:id="rId19"/>
    <p:sldId id="419" r:id="rId20"/>
    <p:sldId id="475" r:id="rId21"/>
    <p:sldId id="421" r:id="rId22"/>
    <p:sldId id="422" r:id="rId23"/>
    <p:sldId id="423" r:id="rId24"/>
    <p:sldId id="425" r:id="rId25"/>
    <p:sldId id="480" r:id="rId26"/>
    <p:sldId id="336" r:id="rId27"/>
    <p:sldId id="277" r:id="rId28"/>
    <p:sldId id="379" r:id="rId29"/>
    <p:sldId id="380" r:id="rId30"/>
    <p:sldId id="436" r:id="rId31"/>
    <p:sldId id="278" r:id="rId32"/>
    <p:sldId id="365" r:id="rId33"/>
    <p:sldId id="289" r:id="rId34"/>
    <p:sldId id="377" r:id="rId35"/>
    <p:sldId id="437" r:id="rId36"/>
    <p:sldId id="553" r:id="rId37"/>
    <p:sldId id="506" r:id="rId38"/>
    <p:sldId id="367" r:id="rId39"/>
    <p:sldId id="550" r:id="rId40"/>
    <p:sldId id="563" r:id="rId41"/>
    <p:sldId id="293" r:id="rId42"/>
    <p:sldId id="295" r:id="rId43"/>
    <p:sldId id="296" r:id="rId44"/>
    <p:sldId id="280" r:id="rId45"/>
    <p:sldId id="349" r:id="rId46"/>
    <p:sldId id="343" r:id="rId47"/>
    <p:sldId id="350" r:id="rId48"/>
    <p:sldId id="339" r:id="rId49"/>
    <p:sldId id="508" r:id="rId50"/>
    <p:sldId id="302" r:id="rId51"/>
    <p:sldId id="329" r:id="rId52"/>
    <p:sldId id="351" r:id="rId53"/>
    <p:sldId id="438" r:id="rId54"/>
    <p:sldId id="353" r:id="rId55"/>
    <p:sldId id="564" r:id="rId56"/>
    <p:sldId id="306" r:id="rId57"/>
    <p:sldId id="307" r:id="rId58"/>
    <p:sldId id="510" r:id="rId59"/>
    <p:sldId id="354" r:id="rId60"/>
    <p:sldId id="313" r:id="rId61"/>
    <p:sldId id="371" r:id="rId62"/>
    <p:sldId id="314" r:id="rId63"/>
    <p:sldId id="355" r:id="rId64"/>
    <p:sldId id="357" r:id="rId6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917"/>
    <p:restoredTop sz="93792" autoAdjust="0"/>
  </p:normalViewPr>
  <p:slideViewPr>
    <p:cSldViewPr snapToGrid="0">
      <p:cViewPr varScale="1">
        <p:scale>
          <a:sx n="61" d="100"/>
          <a:sy n="61" d="100"/>
        </p:scale>
        <p:origin x="128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114A89C-1C73-4D44-A8BC-42BAA055C1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BDAB79E-6014-4A3D-84DF-A7CEB339BC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0D5592A-E44D-4423-B07A-957389C43B8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1FDBA55-75B0-4E79-BF0F-BC11D59E5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01873986-C89E-4478-9B6A-F6B0BF3B5D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5A858E-881C-46A6-B3BB-38AF66B8F9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6C7A83-A047-4863-99DC-443A82A895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A60EB1-DAFD-4AE9-AB03-60CC4D8EEE9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281DC59-26C3-4F7F-8E43-93FC93CCE3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2C085E6-91D9-44E7-80E9-718A60124C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950034D-84CE-4525-AFD4-671AE6465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A890F1-2F48-45ED-9750-542EA7D8C9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6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7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317E-4A00-4ABF-2056-A1AEB2AF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F633C31D-995B-B5A7-D320-453440156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FB1EE8FC-B3EE-D3FE-DE99-574D9FC13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8A952B5A-DD4A-B81A-12C0-453FA7A03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84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08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5F97-4512-99B7-FF2D-1D26B4DF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15C59-D029-86B2-0410-41D77504A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93CBA-6F8A-99B5-55AE-281F78872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3710-7F72-79B9-BCC4-38EF3BF7D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7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DA57-AB39-5F3B-E0ED-998C2898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5A3F7-E764-3E39-1BB6-15DC3E449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C1C8D-F7FF-D871-00D4-AB184C85D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32825-03CF-78A5-3D23-323507964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58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B1ABE3-7495-4F27-8466-A83A6316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AB51EC2-9DAA-4A25-97D8-1FD619E54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4664-80F2-0C7F-84BA-970A1BC9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323C6-84E9-E6C3-14B6-7F5B2CECA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8461C-68D8-D629-0574-DD2326DC8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A4586-BF4F-8F8D-0485-FC3C4D7A3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35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64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49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A55C65A-3BB8-4C4D-AEA1-3229F021D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570280-4FF2-4E66-8C6A-EFD1536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66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231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95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5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54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5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23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138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52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479304-D0E3-440A-A086-9BB2C9CFA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6656675-4F11-44EE-82F1-FC6523A1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819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57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01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58421E6-E063-489A-8DF8-5F745E5E4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E92DC9-9D0F-4D4C-91FC-78D0BF0662BE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B7DAC96-1713-46BA-A342-1270F3A89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6B80E63-F60F-4332-9942-3F6416C22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07A81BB-96CB-4FBB-BD88-CC3658B57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DD7F04E-9A25-4DC3-8673-2856EE538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E8E015A-A900-45D1-8E21-4D4C7F581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F5AE06-AC16-4C3D-AAAD-B4FC1F4406E5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BEFE14-B474-43E0-8C51-D424A37B8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504A065-E088-4655-A67E-8FE45E396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4F45F0E-DA1B-4093-B016-7B3B6EA0A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2FF164-6E8A-4BC1-B191-9D9705F2419E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332595-CDB0-4A7B-95ED-0E9FB6220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34B16C-62B1-4DE4-BAA8-BDAFA4CB4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416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546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FC9295D-20C0-40F6-A890-07561CD02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ED19BE-233D-4E15-858D-397EA24C558C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0945398-3953-4662-8AB2-3599D735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564743-CEA6-4703-B1E3-72C2EA375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8241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FC9295D-20C0-40F6-A890-07561CD02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ED19BE-233D-4E15-858D-397EA24C558C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0945398-3953-4662-8AB2-3599D735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564743-CEA6-4703-B1E3-72C2EA375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1873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E56B275-0BAF-4D11-8861-A6AD21BD7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51DE52-A2FA-4DD9-8778-F3F9593F4483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A31EF38-9D9C-4353-9BE3-64660DFC1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C6D288B-294C-425D-B18E-3E0F65AD6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ECB1-DE96-697D-23F4-7ACAAB65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1337AE9-04E7-7C5C-F536-AC83C8941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ADBD1-0CFE-4524-B710-0FA45B67A62C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FD8019E-198B-DCDF-4317-6149E50EA5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F6E2CF1-397E-3730-58F1-034E9E0CE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534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507351B-D712-437E-98E7-F662A7430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2DF0B5-6DB1-40E4-9D70-8430FC6C4E9F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FC88A25-20C1-4AB0-93D3-5CD9170E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D605D-FC05-4B6D-A985-DA551A53D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45F60E8-26A3-44B1-86D8-9C36811F53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6AA71C-5868-45F1-8571-E62C9C187BD1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5B0F2F1-AA3B-4D59-8C21-560A66CEF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BCF461-AEF4-401D-A191-C0EBC12EA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41FF45DF-B6DF-B087-D941-706E409D48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AD6BE0-BD41-4923-84B1-AF8A8737D96B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30E7FBF6-412F-99F5-1F6F-AA66C2E1CA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B7A652CE-5ECC-23D5-2DB0-68BA3C87F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49C35A4-2B09-4044-B684-3B5B5F968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8F1016-771D-4116-83C0-1A8A1142BC71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DD9E6BF-77D7-41D8-8E40-BCC9A7C43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CFA8695-0190-4832-B30E-DCEC8A596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E047762-40E7-43E4-9B43-6F5B9B32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0E5D39-9A86-4ED8-8691-ECA7B1C1AF77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21DBEC8-DA42-4F41-9C7D-8E648A61D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B717F07-BEFA-48AC-9D42-A9B51A92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14A1A8-4D19-49E4-AD69-33EE6FA1E3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AB6457-4452-4B30-ACCB-2E4E288B7868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B2F8D86-D304-421E-AE9F-BEFAD389F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769BACE-8F2A-4C1E-AEFD-C18F7DDF4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81F381B3-7525-474E-9C43-F88DC367D4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9371C7-F45E-455A-A9E4-05362E4A5B96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54032B0-F7C0-4AE1-8D19-AD35261EE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699C746-96D7-49CC-B84A-08A0F7E56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C4C0C4A-430D-41D5-A904-65099801C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B63C8E0-78C6-4F6F-BA2A-43761169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1294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B2C34C3-250A-468E-9851-CC70D79D9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33955B-1D85-408C-9962-CCCFD1FD963F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D1DE534-1DD7-4472-AA58-C1DE0867D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FC13BC3-8933-45F1-9859-967FA4C5C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704E6CA-49C0-4A2A-AEC1-BB04B55A4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58379-05CF-4CC2-AD21-075AE5A4BA6F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4E6DB56-0C3E-477D-B270-81C5BEB64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A9C3227-4B51-4748-9D4A-8F77C8BB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7783A79-83B8-4D49-BBC2-5D548B427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8928C3-9072-42C2-A825-768E263084C4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DB4D94A-E0FC-49E4-83E5-A10A268ED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5357CA5-7158-4580-8BAB-76FAF590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8684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F4269-A1EF-30F9-5C9F-ABFF7580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58C272C-83AE-5325-848B-70C7E6C6D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D74938-55F7-4DC8-8764-970D10855290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4A205EC-F24D-9261-0C3D-0A88BE532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E5C3545-740D-6052-8BF0-F0776EC44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200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60C12AF-FD80-4BCF-8312-D4A136EA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3A00BB-B4EE-42A4-AC24-302EB7D43EBC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2A2FE60-2ABA-4FD7-97DD-436C8BB9A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5EC551F-647E-4616-B2E2-80AFFE0CA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A139EA7E-C5A3-4A16-AE42-C345AB123C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57B5D2-DE8D-4EF9-889E-79B8E6EF3011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F853F4E3-8609-4C8C-A077-0E107BD51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5D9017D7-59E4-444C-8B7D-582A16EDD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2AF9071-C2C8-4AE5-BF05-7904ECEB5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99B845-CED4-49E0-AFEF-48FD2C002C7A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4B359B74-A383-48FE-9C98-33D67BCB9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0CA34FAE-AB9D-469A-A39F-2D79F9D91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6882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ACECBD7C-C5C5-49AB-A072-BF89D7C9BD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672991-CDC8-4F84-B8EB-CEEB23288ED8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A73A052-CF76-4A71-B05B-5EEB72534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77FC5D12-EFEF-4B63-BAC5-16C49C6E5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14AB2F1-7ECF-4654-B476-67C4FF1936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372007-FB99-4F76-A744-2252F6525800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CA4A4BF-9303-4366-B3C9-87C09BA7C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0B9BD875-4589-4ADD-BA0B-1F2DD177B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5F0601A3-B0CC-45B3-BBD4-0046CD87C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6E5EEC-C07B-41DB-9CC3-1F02D0C0767C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E277AD2-08FD-4FEB-9A71-97B80E63E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23FE59D0-CE1B-473F-8138-7566D6FAE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1306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754BB5C6-30D5-E178-1244-9E9B833C2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3B442A-C391-4E9F-9CEE-C19EF1A0E2B7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6746CCF-DE34-B72C-CB54-50D1A1471B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7EBC8114-1E7A-9FD9-4A79-322936D9F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7F536C2-9FE0-4E79-A5E0-AFC384E498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491145-9F31-486F-A264-8B0A4A9C13B7}" type="slidenum">
              <a:rPr lang="en-US" altLang="en-US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70963F-80A9-4E2C-BCB3-A8CDD51A9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E07D860-A14E-4FF1-8A49-679D6FBCD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296D8EEA-686B-4379-9B06-52B63A1D3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6CA01E-772D-40E8-9027-AB0D47C6C4E8}" type="slidenum">
              <a:rPr lang="en-US" altLang="en-US">
                <a:latin typeface="Times New Roman" panose="02020603050405020304" pitchFamily="18" charset="0"/>
              </a:rPr>
              <a:pPr/>
              <a:t>64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D8E1EBF-2FD7-4B13-B103-9850A8F9C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119EDC26-9459-43B0-9D0F-8C9D2D2BD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CFC14DB-8A99-44CB-BA83-39417D26C1AF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530489F-79EC-4897-869D-780965D7E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83414BD-B475-4106-B6CC-2A825BC14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5EEFC8D-4A80-4C8D-BB98-5471F8FF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E292785-34F4-4129-BCFD-B22D0AC1F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0D32FCA-31DE-4EA5-82C1-CF345076A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090E6124-7B97-4EBF-8990-F55FBAA11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449F6A7-C9D3-4C68-84CF-E1FEED2C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7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720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793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373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730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5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03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189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17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86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668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EFAC327-3B14-405A-AECD-695170F6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B7308704-6884-478D-913D-858724364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6878CA-A75D-4410-AFD2-1992D970E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D23273-AE1D-4273-BD10-D4215E10B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A52FF0B1-98D3-422D-A027-A89A77277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A460C49-6450-4AA7-B172-624D0E8FA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9885932-7748-44D3-A5FA-3EA2C19FA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  <a:endParaRPr lang="en-US" altLang="en-US" sz="1800" dirty="0">
              <a:solidFill>
                <a:srgbClr val="008000"/>
              </a:solidFill>
              <a:latin typeface="Gill Sans MT" panose="020B0502020104020203" pitchFamily="34" charset="0"/>
            </a:endParaRP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 Structure &amp; Services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4707" y="130231"/>
            <a:ext cx="8066088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324348"/>
            <a:ext cx="7618413" cy="52484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000" dirty="0"/>
              <a:t>Interrupts &amp; Exceptions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OS Protection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Dual Mode Operation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Operating System Services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User Interface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Programmer Interface - System Calls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OS Design / Structure</a:t>
            </a:r>
          </a:p>
          <a:p>
            <a:pPr>
              <a:spcBef>
                <a:spcPts val="1200"/>
              </a:spcBef>
            </a:pPr>
            <a:r>
              <a:rPr lang="en-US" altLang="en-US" sz="2000" dirty="0"/>
              <a:t>Unix / Linux directory structure</a:t>
            </a:r>
          </a:p>
          <a:p>
            <a:pPr>
              <a:spcBef>
                <a:spcPts val="1200"/>
              </a:spcBef>
            </a:pPr>
            <a:endParaRPr lang="en-US" altLang="en-US" sz="2000" dirty="0"/>
          </a:p>
          <a:p>
            <a:pPr>
              <a:spcBef>
                <a:spcPts val="1200"/>
              </a:spcBef>
            </a:pPr>
            <a:endParaRPr lang="en-US" altLang="en-US" sz="2000" dirty="0"/>
          </a:p>
          <a:p>
            <a:pPr>
              <a:spcBef>
                <a:spcPts val="1200"/>
              </a:spcBef>
            </a:pPr>
            <a:endParaRPr lang="en-US" altLang="en-US" sz="20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CBCE2F-8F72-FC9C-1A19-D48C0A8FBCB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92629" y="0"/>
            <a:ext cx="7611291" cy="783771"/>
          </a:xfrm>
        </p:spPr>
        <p:txBody>
          <a:bodyPr>
            <a:noAutofit/>
          </a:bodyPr>
          <a:lstStyle/>
          <a:p>
            <a:r>
              <a:rPr lang="en-US" sz="3600" b="1" dirty="0"/>
              <a:t>Interrupts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375920" y="1061178"/>
            <a:ext cx="8402320" cy="5354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96875" indent="-3873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Operating system </a:t>
            </a:r>
            <a:r>
              <a:rPr lang="en-US" altLang="en-US" sz="2300" dirty="0">
                <a:latin typeface="+mj-lt"/>
                <a:cs typeface="Calibri" panose="020F0502020204030204" pitchFamily="34" charset="0"/>
              </a:rPr>
              <a:t>→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en-US" sz="23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 Driven</a:t>
            </a:r>
          </a:p>
          <a:p>
            <a:pPr marL="396875" indent="-38735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 –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mechanism to allow system to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to events &amp; signals from H/W or S/W</a:t>
            </a:r>
            <a:endParaRPr lang="en-US" sz="22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ctr">
              <a:lnSpc>
                <a:spcPct val="110000"/>
              </a:lnSpc>
              <a:spcBef>
                <a:spcPts val="2400"/>
              </a:spcBef>
              <a:spcAft>
                <a:spcPts val="1200"/>
              </a:spcAft>
              <a:defRPr/>
            </a:pPr>
            <a:r>
              <a:rPr lang="en-NZ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“Interrupt is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event/signal that </a:t>
            </a:r>
            <a:b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temporarily halts normal execution of a process, </a:t>
            </a:r>
            <a:b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handle a specific event or request</a:t>
            </a:r>
            <a:r>
              <a:rPr lang="en-NZ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kumimoji="1" lang="en-NZ" sz="22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NZ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4075" lvl="1" indent="-342900" defTabSz="828675" eaLnBrk="1" fontAlgn="auto" hangingPunct="1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n-US" altLang="en-US" sz="21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from devices external to CPU</a:t>
            </a:r>
            <a:endParaRPr lang="en-US" sz="2100" dirty="0"/>
          </a:p>
          <a:p>
            <a:pPr marL="854075" lvl="1" indent="-342900" defTabSz="828675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Interrupt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from programs running on CPU</a:t>
            </a:r>
            <a:endParaRPr lang="en-US" sz="2100" dirty="0"/>
          </a:p>
          <a:p>
            <a:pPr marL="396875" indent="-342900" eaLnBrk="1" fontAlgn="auto" hangingPunct="1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interrupt occurs… </a:t>
            </a:r>
          </a:p>
          <a:p>
            <a:pPr marL="854075" lvl="1" indent="-342900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current execution of program is paused</a:t>
            </a:r>
          </a:p>
          <a:p>
            <a:pPr marL="854075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control transferred to OS, to perform interrupt specific task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88FBAD8-2397-9751-8C57-A9265816DFF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54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E2C6DD-93CF-78F4-3816-B0EF55046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3454"/>
              </p:ext>
            </p:extLst>
          </p:nvPr>
        </p:nvGraphicFramePr>
        <p:xfrm>
          <a:off x="406400" y="1082704"/>
          <a:ext cx="8552873" cy="5131983"/>
        </p:xfrm>
        <a:graphic>
          <a:graphicData uri="http://schemas.openxmlformats.org/drawingml/2006/table">
            <a:tbl>
              <a:tblPr/>
              <a:tblGrid>
                <a:gridCol w="1129084">
                  <a:extLst>
                    <a:ext uri="{9D8B030D-6E8A-4147-A177-3AD203B41FA5}">
                      <a16:colId xmlns:a16="http://schemas.microsoft.com/office/drawing/2014/main" val="383513477"/>
                    </a:ext>
                  </a:extLst>
                </a:gridCol>
                <a:gridCol w="1232804">
                  <a:extLst>
                    <a:ext uri="{9D8B030D-6E8A-4147-A177-3AD203B41FA5}">
                      <a16:colId xmlns:a16="http://schemas.microsoft.com/office/drawing/2014/main" val="2319641276"/>
                    </a:ext>
                  </a:extLst>
                </a:gridCol>
                <a:gridCol w="2054278">
                  <a:extLst>
                    <a:ext uri="{9D8B030D-6E8A-4147-A177-3AD203B41FA5}">
                      <a16:colId xmlns:a16="http://schemas.microsoft.com/office/drawing/2014/main" val="2973437956"/>
                    </a:ext>
                  </a:extLst>
                </a:gridCol>
                <a:gridCol w="2056783">
                  <a:extLst>
                    <a:ext uri="{9D8B030D-6E8A-4147-A177-3AD203B41FA5}">
                      <a16:colId xmlns:a16="http://schemas.microsoft.com/office/drawing/2014/main" val="1385443781"/>
                    </a:ext>
                  </a:extLst>
                </a:gridCol>
                <a:gridCol w="2079924">
                  <a:extLst>
                    <a:ext uri="{9D8B030D-6E8A-4147-A177-3AD203B41FA5}">
                      <a16:colId xmlns:a16="http://schemas.microsoft.com/office/drawing/2014/main" val="1663819010"/>
                    </a:ext>
                  </a:extLst>
                </a:gridCol>
              </a:tblGrid>
              <a:tr h="533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Generated By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6243"/>
                  </a:ext>
                </a:extLst>
              </a:tr>
              <a:tr h="1371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Hardware Interrupt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devices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Device controller; send signal to CPU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(via system bus)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Notify CPU that device needs attention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keyboard key press, mouse movement, Disk I/O complete, N/W pkt arrival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353875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Software Interrupt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Executing program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 call mech,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 explicit CPU instruction 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 program request OS for service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 calls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read(), write(),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 0x80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31494"/>
                  </a:ext>
                </a:extLst>
              </a:tr>
              <a:tr h="1036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Trap / Exception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Executing program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 detects error,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 special condition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Handle errors, transfer control to OS for recovery</a:t>
                      </a:r>
                    </a:p>
                  </a:txBody>
                  <a:tcPr marL="43150" marR="43150" marT="91440" marB="1828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divide by zero,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invalid memory access, page fault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676486"/>
                  </a:ext>
                </a:extLst>
              </a:tr>
              <a:tr h="97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Timer Interrupt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Internal hardware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 timer (programmable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clock)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Enable multitasking </a:t>
                      </a:r>
                      <a:b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&amp; CPU scheduling</a:t>
                      </a: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 timer generates interrupt every 10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150" marR="43150" marT="91440" marB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96628"/>
                  </a:ext>
                </a:extLst>
              </a:tr>
            </a:tbl>
          </a:graphicData>
        </a:graphic>
      </p:graphicFrame>
      <p:sp>
        <p:nvSpPr>
          <p:cNvPr id="3" name="Rectangle 1026">
            <a:extLst>
              <a:ext uri="{FF2B5EF4-FFF2-40B4-BE49-F238E27FC236}">
                <a16:creationId xmlns:a16="http://schemas.microsoft.com/office/drawing/2014/main" id="{FBB818B0-4B12-3DD6-7998-B01ED47537A4}"/>
              </a:ext>
            </a:extLst>
          </p:cNvPr>
          <p:cNvSpPr txBox="1">
            <a:spLocks noChangeArrowheads="1"/>
          </p:cNvSpPr>
          <p:nvPr/>
        </p:nvSpPr>
        <p:spPr>
          <a:xfrm>
            <a:off x="809626" y="95250"/>
            <a:ext cx="7779204" cy="745490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sz="3600" kern="0" dirty="0"/>
              <a:t>Interrupt Types</a:t>
            </a:r>
          </a:p>
        </p:txBody>
      </p:sp>
    </p:spTree>
    <p:extLst>
      <p:ext uri="{BB962C8B-B14F-4D97-AF65-F5344CB8AC3E}">
        <p14:creationId xmlns:p14="http://schemas.microsoft.com/office/powerpoint/2010/main" val="22495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6150" y="195263"/>
            <a:ext cx="7591425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Interrupt Handling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29804" y="1102854"/>
            <a:ext cx="8572682" cy="537414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When CPU receives Interrupt </a:t>
            </a:r>
            <a:endParaRPr lang="en-US" altLang="en-US" sz="2300" dirty="0">
              <a:latin typeface="Abadi" panose="020B060402010402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control transferred to a fixed location in memory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gives starting address of </a:t>
            </a:r>
            <a:r>
              <a:rPr lang="en-US" alt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Service Routine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1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ISR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executed – performs interrupt specific action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When interrupt servicing is done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resumes execution of the interrupted process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address of last instruction executed was earlier saved</a:t>
            </a:r>
            <a:endParaRPr lang="en-US" altLang="en-US" sz="21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return address now reloaded in </a:t>
            </a:r>
            <a:r>
              <a:rPr lang="en-US" alt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may also have saved CPU state, before handling the interrupt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state – </a:t>
            </a:r>
            <a:r>
              <a:rPr lang="en-US" altLang="en-US" sz="21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of CPU registers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state restored before resuming interrupted instruction</a:t>
            </a:r>
          </a:p>
          <a:p>
            <a:pPr lvl="1">
              <a:spcBef>
                <a:spcPts val="600"/>
              </a:spcBef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E24105-682A-1A08-27E9-7D2218364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6150" y="195263"/>
            <a:ext cx="7591425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Interrupt Handling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29804" y="1102854"/>
            <a:ext cx="8572682" cy="537414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How do Interrupts transfer control to appropriate ISR…???</a:t>
            </a:r>
          </a:p>
          <a:p>
            <a:pPr>
              <a:spcBef>
                <a:spcPts val="2400"/>
              </a:spcBef>
            </a:pPr>
            <a:r>
              <a:rPr lang="en-US" altLang="en-US" sz="23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routine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 generic ISR is invoked; examines interrupt related info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calls the specific interrupt handler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step process</a:t>
            </a:r>
          </a:p>
          <a:p>
            <a:pPr marL="403225" indent="-346075">
              <a:spcBef>
                <a:spcPts val="2400"/>
              </a:spcBef>
            </a:pPr>
            <a:r>
              <a:rPr lang="en-US" altLang="en-US" sz="23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Vector No. &amp; Interrupt Descriptor T</a:t>
            </a:r>
            <a:r>
              <a:rPr lang="en-US" altLang="en-US" sz="2300" b="1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able</a:t>
            </a:r>
            <a:endParaRPr lang="en-US" altLang="en-US" sz="2300" b="1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IDT is a table of pointers stored in memory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IDT indexed by 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 Vector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number  – 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device or event</a:t>
            </a:r>
            <a:endParaRPr lang="en-US" altLang="en-US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each entry holds address of an ISR  –  </a:t>
            </a:r>
            <a:r>
              <a:rPr lang="en-US" alt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specific device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uses interrupt vector to call ISR directly  – 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intermediary routine</a:t>
            </a:r>
            <a:endParaRPr lang="en-US" altLang="en-US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faster method</a:t>
            </a:r>
          </a:p>
          <a:p>
            <a:pPr>
              <a:spcBef>
                <a:spcPts val="600"/>
              </a:spcBef>
            </a:pPr>
            <a:endParaRPr lang="en-US" alt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E24105-682A-1A08-27E9-7D2218364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168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4FBF-C92D-39B1-153E-70C0F5FB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6">
            <a:extLst>
              <a:ext uri="{FF2B5EF4-FFF2-40B4-BE49-F238E27FC236}">
                <a16:creationId xmlns:a16="http://schemas.microsoft.com/office/drawing/2014/main" id="{D0535568-5671-38E7-A49C-94D44BEB50BC}"/>
              </a:ext>
            </a:extLst>
          </p:cNvPr>
          <p:cNvSpPr txBox="1">
            <a:spLocks noChangeArrowheads="1"/>
          </p:cNvSpPr>
          <p:nvPr/>
        </p:nvSpPr>
        <p:spPr>
          <a:xfrm>
            <a:off x="809626" y="95250"/>
            <a:ext cx="7779204" cy="745490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sz="3600" kern="0" dirty="0"/>
              <a:t>Simplified Linux IDT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E47AA48-8448-70A4-6189-B361627B2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566064"/>
              </p:ext>
            </p:extLst>
          </p:nvPr>
        </p:nvGraphicFramePr>
        <p:xfrm>
          <a:off x="640304" y="1325852"/>
          <a:ext cx="8117848" cy="4816329"/>
        </p:xfrm>
        <a:graphic>
          <a:graphicData uri="http://schemas.openxmlformats.org/drawingml/2006/table">
            <a:tbl>
              <a:tblPr/>
              <a:tblGrid>
                <a:gridCol w="1575311">
                  <a:extLst>
                    <a:ext uri="{9D8B030D-6E8A-4147-A177-3AD203B41FA5}">
                      <a16:colId xmlns:a16="http://schemas.microsoft.com/office/drawing/2014/main" val="869865789"/>
                    </a:ext>
                  </a:extLst>
                </a:gridCol>
                <a:gridCol w="3363298">
                  <a:extLst>
                    <a:ext uri="{9D8B030D-6E8A-4147-A177-3AD203B41FA5}">
                      <a16:colId xmlns:a16="http://schemas.microsoft.com/office/drawing/2014/main" val="2745522187"/>
                    </a:ext>
                  </a:extLst>
                </a:gridCol>
                <a:gridCol w="3179239">
                  <a:extLst>
                    <a:ext uri="{9D8B030D-6E8A-4147-A177-3AD203B41FA5}">
                      <a16:colId xmlns:a16="http://schemas.microsoft.com/office/drawing/2014/main" val="3381441887"/>
                    </a:ext>
                  </a:extLst>
                </a:gridCol>
              </a:tblGrid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Vector No.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Interrupt Source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Handler / ISR Function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73162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0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Divide-by-zero (CPU exception)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do_divide_error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660622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13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General protection fault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do_general_protection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71952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14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Page fault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do_page_fault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271975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32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System timer (IRQ0)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timer_interrupt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633909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33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Keyboard (IRQ1)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keyboard_interrupt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49833"/>
                  </a:ext>
                </a:extLst>
              </a:tr>
              <a:tr h="57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46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Disk controller (IRQ14)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ata_interrupt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547477"/>
                  </a:ext>
                </a:extLst>
              </a:tr>
              <a:tr h="8163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/>
                        <a:t>128 (0x80)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Software interrupt / System call</a:t>
                      </a:r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system_call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dirty="0"/>
                    </a:p>
                  </a:txBody>
                  <a:tcPr marL="76792" marR="76792" marT="38396" marB="383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97301"/>
                  </a:ext>
                </a:extLst>
              </a:tr>
            </a:tbl>
          </a:graphicData>
        </a:graphic>
      </p:graphicFrame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8A2F223-F617-1386-FA1B-9EFAF0ABA57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40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25D2-ABE1-73DA-B30B-0DDF1E3C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EC83DA-26E8-96BB-81D8-90140E0C2B9E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D720F734-9114-2AC6-4151-E5ABAC32A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163445"/>
            <a:ext cx="8267700" cy="137541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Input Output (I/O)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0D76E30-EB8F-CFE7-C506-FF670C5F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D865C73-EC99-AAD5-8DA2-92802ED5E75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07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8398329" cy="809625"/>
          </a:xfrm>
        </p:spPr>
        <p:txBody>
          <a:bodyPr>
            <a:noAutofit/>
          </a:bodyPr>
          <a:lstStyle/>
          <a:p>
            <a:r>
              <a:rPr lang="en-US" sz="3600" b="1" dirty="0"/>
              <a:t>I</a:t>
            </a:r>
            <a:r>
              <a:rPr lang="en-US" sz="3600" dirty="0"/>
              <a:t>nput Output Operation</a:t>
            </a:r>
            <a:endParaRPr lang="en-US" sz="3600" b="1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16560" y="1071338"/>
            <a:ext cx="8585926" cy="560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0800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Input/Output (I/O)</a:t>
            </a:r>
          </a:p>
          <a:p>
            <a:pPr marL="9525" algn="ctr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data between </a:t>
            </a:r>
            <a:b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memory and external device, </a:t>
            </a:r>
            <a:b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disk, keyboard, printer, or network interface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9625" lvl="1" indent="-34290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reading file from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→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sending data </a:t>
            </a:r>
            <a:r>
              <a:rPr lang="en-US" altLang="en-US" sz="2000" dirty="0">
                <a:cs typeface="Calibri" panose="020F0502020204030204" pitchFamily="34" charset="0"/>
              </a:rPr>
              <a:t>→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printer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receiving </a:t>
            </a:r>
            <a:r>
              <a:rPr lang="en-US" altLang="en-US" sz="2000" dirty="0">
                <a:cs typeface="Calibri" panose="020F0502020204030204" pitchFamily="34" charset="0"/>
              </a:rPr>
              <a:t>→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network packets into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466725" lvl="1">
              <a:spcBef>
                <a:spcPts val="600"/>
              </a:spcBef>
              <a:spcAft>
                <a:spcPts val="0"/>
              </a:spcAft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 indent="-3365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Methods of performing I/O 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Polling based I/O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Interrupt driven I/O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DMA based I/O</a:t>
            </a:r>
          </a:p>
          <a:p>
            <a:pPr marL="352425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88FBAD8-2397-9751-8C57-A9265816DFF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86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8895C-73BB-30C5-6ACF-42E710CB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E8800F26-014A-C2B2-7F9F-F8703EFC057A}"/>
              </a:ext>
            </a:extLst>
          </p:cNvPr>
          <p:cNvSpPr txBox="1">
            <a:spLocks noChangeArrowheads="1"/>
          </p:cNvSpPr>
          <p:nvPr/>
        </p:nvSpPr>
        <p:spPr>
          <a:xfrm>
            <a:off x="416560" y="1071338"/>
            <a:ext cx="8585926" cy="560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0800">
              <a:spcBef>
                <a:spcPts val="180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Polling Based I/O 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User process requests I/O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system calls – read(), write()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repeatedly checks in a loop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is device ready to perform I/O…??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device is ready :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transfers data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between device / memory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During transfer process, CPU remains busy handling I/O operation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simple &amp; inefficient 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but wastage of CPU time – 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 for transfer to complete</a:t>
            </a:r>
          </a:p>
          <a:p>
            <a:pPr marL="466725" lvl="1">
              <a:spcBef>
                <a:spcPts val="1800"/>
              </a:spcBef>
              <a:spcAft>
                <a:spcPts val="0"/>
              </a:spcAft>
              <a:defRPr/>
            </a:pP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CPU could have performed other useful work..!!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2200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07F1F05-EBEB-82B2-613D-E71D51C7E4B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Rectangle 1026">
            <a:extLst>
              <a:ext uri="{FF2B5EF4-FFF2-40B4-BE49-F238E27FC236}">
                <a16:creationId xmlns:a16="http://schemas.microsoft.com/office/drawing/2014/main" id="{92B3837E-B610-0B8A-043E-8F2184EB2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8398329" cy="809625"/>
          </a:xfrm>
        </p:spPr>
        <p:txBody>
          <a:bodyPr>
            <a:noAutofit/>
          </a:bodyPr>
          <a:lstStyle/>
          <a:p>
            <a:r>
              <a:rPr lang="en-US" sz="3600" b="1" dirty="0"/>
              <a:t>I</a:t>
            </a:r>
            <a:r>
              <a:rPr lang="en-US" sz="3600" dirty="0"/>
              <a:t>nput Output (I/O)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8582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0633-A0A4-43E2-0196-89379D4D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>
            <a:extLst>
              <a:ext uri="{FF2B5EF4-FFF2-40B4-BE49-F238E27FC236}">
                <a16:creationId xmlns:a16="http://schemas.microsoft.com/office/drawing/2014/main" id="{F3C3DF10-4028-9983-6C22-B598A9579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8398329" cy="809625"/>
          </a:xfrm>
        </p:spPr>
        <p:txBody>
          <a:bodyPr>
            <a:noAutofit/>
          </a:bodyPr>
          <a:lstStyle/>
          <a:p>
            <a:r>
              <a:rPr lang="en-US" sz="3600" b="1" dirty="0"/>
              <a:t>I</a:t>
            </a:r>
            <a:r>
              <a:rPr lang="en-US" sz="3600" dirty="0"/>
              <a:t>nput Output (I/O)</a:t>
            </a:r>
            <a:endParaRPr lang="en-US" sz="3600" b="1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878EA01-5C84-9028-DDA2-29880BE989F0}"/>
              </a:ext>
            </a:extLst>
          </p:cNvPr>
          <p:cNvSpPr txBox="1">
            <a:spLocks noChangeArrowheads="1"/>
          </p:cNvSpPr>
          <p:nvPr/>
        </p:nvSpPr>
        <p:spPr>
          <a:xfrm>
            <a:off x="416560" y="1071338"/>
            <a:ext cx="8585926" cy="560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0800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 Driven I/O 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 indent="-33655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For I/O operation, process requests the OS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(System Call)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handler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calls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device driver </a:t>
            </a:r>
            <a:r>
              <a:rPr lang="en-US" altLang="en-US" sz="2000" dirty="0">
                <a:cs typeface="Calibri" panose="020F0502020204030204" pitchFamily="34" charset="0"/>
              </a:rPr>
              <a:t>→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09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lang="en-US" altLang="en-US" sz="2000" dirty="0"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configures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 controller </a:t>
            </a:r>
            <a:r>
              <a:rPr lang="en-US" altLang="en-US" sz="2000" dirty="0">
                <a:cs typeface="Calibri" panose="020F0502020204030204" pitchFamily="34" charset="0"/>
              </a:rPr>
              <a:t>→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starts I/O</a:t>
            </a:r>
          </a:p>
          <a:p>
            <a:pPr marL="8109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back to earlier processing  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(now free for other tasks)</a:t>
            </a:r>
          </a:p>
          <a:p>
            <a:pPr marL="353700" indent="-342900">
              <a:spcBef>
                <a:spcPts val="24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I/O completes, device controller generates</a:t>
            </a:r>
            <a:r>
              <a:rPr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interrupt</a:t>
            </a:r>
          </a:p>
          <a:p>
            <a:pPr marL="810900" lvl="1" indent="-342900" defTabSz="7429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transfers control to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ISR</a:t>
            </a:r>
          </a:p>
          <a:p>
            <a:pPr marL="810900" lvl="1" indent="-342900" defTabSz="7429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ISR  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processes interrupt &amp; returns</a:t>
            </a:r>
          </a:p>
          <a:p>
            <a:pPr marL="810900" lvl="1" indent="-342900" defTabSz="7429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 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completes the transfer, or schedules next block</a:t>
            </a:r>
          </a:p>
          <a:p>
            <a:pPr marL="353700" indent="-342900" defTabSz="7429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Device interrupts CPU for each block of data transferred</a:t>
            </a:r>
          </a:p>
          <a:p>
            <a:pPr marL="810900" lvl="1" indent="-342900" defTabSz="7429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has to frequently handle data transfers &amp; context switches</a:t>
            </a:r>
          </a:p>
          <a:p>
            <a:pPr marL="468000" lvl="1" defTabSz="742950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But CPU not continuously busy with device..!!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F58A2D4-EB0A-BEB6-085B-9AA6F3FFD86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808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>
            <a:extLst>
              <a:ext uri="{FF2B5EF4-FFF2-40B4-BE49-F238E27FC236}">
                <a16:creationId xmlns:a16="http://schemas.microsoft.com/office/drawing/2014/main" id="{E86048AC-75FB-4CAE-AB8A-81F852B9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336" y="92982"/>
            <a:ext cx="7055758" cy="660616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32770" name="Rectangle 2">
            <a:extLst>
              <a:ext uri="{FF2B5EF4-FFF2-40B4-BE49-F238E27FC236}">
                <a16:creationId xmlns:a16="http://schemas.microsoft.com/office/drawing/2014/main" id="{0378DBB6-3E76-4D5D-BCF4-7322E5DC03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8343" y="1315870"/>
            <a:ext cx="1580633" cy="168958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en-US" sz="2400" dirty="0"/>
              <a:t>Interrupt driven </a:t>
            </a:r>
            <a:br>
              <a:rPr lang="en-US" altLang="en-US" sz="2400" dirty="0"/>
            </a:br>
            <a:r>
              <a:rPr lang="en-US" altLang="en-US" sz="2400" dirty="0"/>
              <a:t>I/O Cycle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4D3BC07-3120-84EA-AA20-9506B5E19A7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C46B-CCDA-1625-944E-02AD3DAF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81EF3AF2-C2A1-8267-1227-A24A8EE0B34E}"/>
              </a:ext>
            </a:extLst>
          </p:cNvPr>
          <p:cNvSpPr txBox="1">
            <a:spLocks noChangeArrowheads="1"/>
          </p:cNvSpPr>
          <p:nvPr/>
        </p:nvSpPr>
        <p:spPr>
          <a:xfrm>
            <a:off x="416560" y="1071338"/>
            <a:ext cx="8585926" cy="560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0800">
              <a:spcBef>
                <a:spcPts val="1800"/>
              </a:spcBef>
              <a:spcAft>
                <a:spcPts val="0"/>
              </a:spcAft>
              <a:defRPr/>
            </a:pPr>
            <a:r>
              <a:rPr lang="en-US" sz="23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 Memory Access (DMA) </a:t>
            </a:r>
          </a:p>
          <a:p>
            <a:pPr marL="10800" algn="ctr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data transfer directly between device &amp; main memory, </a:t>
            </a:r>
            <a:b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continuous involvement of CPU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User process requests I/O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system calls – read(), write()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thru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 driver,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DMA controller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source/destination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DMA controller transfers data directly between device &amp; memory 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CPU involvement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transfer complete : 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DMA controller generates interrupt to notify CPU</a:t>
            </a:r>
          </a:p>
          <a:p>
            <a:pPr marL="809625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wakes up the waiting process</a:t>
            </a:r>
          </a:p>
          <a:p>
            <a:pPr marL="9525" algn="ctr">
              <a:spcBef>
                <a:spcPts val="180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large or high-speed data transfers</a:t>
            </a:r>
          </a:p>
          <a:p>
            <a:pPr marL="346075" indent="-336550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2200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6A1E13E-1602-A31B-07F6-C5BB81AAF00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21276FE0-67C3-4BAA-686F-6D44A772E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8398329" cy="809625"/>
          </a:xfrm>
        </p:spPr>
        <p:txBody>
          <a:bodyPr>
            <a:noAutofit/>
          </a:bodyPr>
          <a:lstStyle/>
          <a:p>
            <a:r>
              <a:rPr lang="en-US" sz="3600" b="1" dirty="0"/>
              <a:t>I</a:t>
            </a:r>
            <a:r>
              <a:rPr lang="en-US" sz="3600" dirty="0"/>
              <a:t>nput Output (I/O)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5557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7AD812-ABB9-BBF0-AC19-648BC1392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77490"/>
              </p:ext>
            </p:extLst>
          </p:nvPr>
        </p:nvGraphicFramePr>
        <p:xfrm>
          <a:off x="647700" y="1476375"/>
          <a:ext cx="7991475" cy="3556438"/>
        </p:xfrm>
        <a:graphic>
          <a:graphicData uri="http://schemas.openxmlformats.org/drawingml/2006/table">
            <a:tbl>
              <a:tblPr/>
              <a:tblGrid>
                <a:gridCol w="2181225">
                  <a:extLst>
                    <a:ext uri="{9D8B030D-6E8A-4147-A177-3AD203B41FA5}">
                      <a16:colId xmlns:a16="http://schemas.microsoft.com/office/drawing/2014/main" val="1891339274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3642429219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4147633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7843081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I/O Method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Who Transfers Data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CPU Role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Efficiency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6948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Polling Based I/O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Actively checks device, moves data itself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5079"/>
                  </a:ext>
                </a:extLst>
              </a:tr>
              <a:tr h="1070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Interrupt Driven I/O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CPU (in ISR)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Waits for interrupt for each block of data,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then moves more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68145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DMA Based I/O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DMA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Sets up DMA transfer,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then free until 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661335"/>
                  </a:ext>
                </a:extLst>
              </a:tr>
            </a:tbl>
          </a:graphicData>
        </a:graphic>
      </p:graphicFrame>
      <p:sp>
        <p:nvSpPr>
          <p:cNvPr id="5" name="Rectangle 1026">
            <a:extLst>
              <a:ext uri="{FF2B5EF4-FFF2-40B4-BE49-F238E27FC236}">
                <a16:creationId xmlns:a16="http://schemas.microsoft.com/office/drawing/2014/main" id="{9AEE3F89-3C8E-E69E-1051-6A86EC1BB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8398329" cy="809625"/>
          </a:xfrm>
        </p:spPr>
        <p:txBody>
          <a:bodyPr>
            <a:noAutofit/>
          </a:bodyPr>
          <a:lstStyle/>
          <a:p>
            <a:r>
              <a:rPr lang="en-US" sz="3600" b="1" dirty="0"/>
              <a:t>I</a:t>
            </a:r>
            <a:r>
              <a:rPr lang="en-US" sz="3600" dirty="0"/>
              <a:t>nput Output (I/O)</a:t>
            </a:r>
            <a:endParaRPr lang="en-US" sz="3600" b="1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A00D6D1-BD04-B7E5-E98B-CD7A85D893B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682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2163445"/>
            <a:ext cx="8267700" cy="137541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Protection &amp;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Dual Mode Operation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69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81050" y="76200"/>
            <a:ext cx="7775121" cy="762000"/>
          </a:xfrm>
        </p:spPr>
        <p:txBody>
          <a:bodyPr>
            <a:noAutofit/>
          </a:bodyPr>
          <a:lstStyle/>
          <a:p>
            <a:r>
              <a:rPr lang="en-US" altLang="en-US" dirty="0"/>
              <a:t>Protection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00050" y="1143000"/>
            <a:ext cx="840486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time sharing systems, error in one program can potentially cause harm to other programs or system 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directly send commands to hard disk, to overwrite files of some other program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directly access memory of some other program, to alter their data or leak passwords</a:t>
            </a:r>
          </a:p>
          <a:p>
            <a:pPr algn="ctr">
              <a:lnSpc>
                <a:spcPct val="110000"/>
              </a:lnSpc>
              <a:spcBef>
                <a:spcPts val="1800"/>
              </a:spcBef>
            </a:pP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to </a:t>
            </a:r>
            <a:r>
              <a:rPr lang="en-US" alt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user level code </a:t>
            </a:r>
            <a:br>
              <a:rPr lang="en-US" alt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performing privileged operations </a:t>
            </a:r>
            <a:br>
              <a:rPr lang="en-US" alt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potentially harm other programs, or the system</a:t>
            </a:r>
          </a:p>
          <a:p>
            <a:pPr marL="342900" indent="-342900">
              <a:spcBef>
                <a:spcPts val="3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Modes of Operation – 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provide protection </a:t>
            </a:r>
          </a:p>
          <a:p>
            <a:pPr marL="741363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mode      </a:t>
            </a:r>
          </a:p>
          <a:p>
            <a:pPr marL="741363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mode 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(also monitor/system/supervisor mode)</a:t>
            </a:r>
            <a:endParaRPr lang="en-US" sz="20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2D739F-0A03-F483-B1BD-98930EFFA60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866BADE-D230-495A-94F4-5193A1998D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409316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Dual Mode Operation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85FC6BD-4EBE-4675-8C44-D83682A4CA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76373" y="1233490"/>
            <a:ext cx="8462827" cy="5119686"/>
          </a:xfrm>
        </p:spPr>
        <p:txBody>
          <a:bodyPr/>
          <a:lstStyle/>
          <a:p>
            <a:pPr marL="0" lvl="1" indent="0" algn="ctr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altLang="en-US" sz="2100" i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CPU Mode bit prevents user level code </a:t>
            </a:r>
            <a:br>
              <a:rPr lang="en-US" altLang="en-US" sz="2100" i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i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executing privileged instructions</a:t>
            </a:r>
            <a:br>
              <a:rPr lang="en-US" altLang="en-US" sz="2100" i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potentially harm other programs, or the system</a:t>
            </a:r>
            <a:endParaRPr lang="en-US" altLang="en-US" sz="2100" i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Mode bit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–  stored in 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Processor Status Register </a:t>
            </a:r>
          </a:p>
          <a:p>
            <a:pPr lvl="1" defTabSz="838200">
              <a:spcBef>
                <a:spcPts val="1800"/>
              </a:spcBef>
              <a:spcAft>
                <a:spcPts val="0"/>
              </a:spcAft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 bit “0”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	CPU in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mode 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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kernel code running  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 defTabSz="838200">
              <a:spcBef>
                <a:spcPts val="600"/>
              </a:spcBef>
              <a:spcAft>
                <a:spcPts val="0"/>
              </a:spcAft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 bit “1” 	CPU in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mode 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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user code running     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instructions to perform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privileged operations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executed only with CPU in kernel mode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user process cannot set </a:t>
            </a: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 bit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to</a:t>
            </a: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“kernel”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need to request OS for privileged tasks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8F1FD16-CB8D-1AC1-0B51-688475A168B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418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Transition - User to Kernel Mode</a:t>
            </a:r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577B7B49-686A-43F8-AEBF-B723806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76" y="3741408"/>
            <a:ext cx="7998886" cy="2558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A7D0E7-F156-51F6-1042-EB5A8F19DC3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E6634B-3E1A-9021-2309-6F0FB0276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99" y="1096453"/>
            <a:ext cx="8644528" cy="2458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User level code makes a </a:t>
            </a:r>
            <a:r>
              <a:rPr lang="en-US" sz="22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</a:t>
            </a:r>
            <a:r>
              <a:rPr 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– 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equest OS kernel for privileged operation</a:t>
            </a:r>
          </a:p>
          <a:p>
            <a:pPr marL="690563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generates software interrupt</a:t>
            </a:r>
          </a:p>
          <a:p>
            <a:pPr marL="690563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switches to kernel mode</a:t>
            </a:r>
          </a:p>
          <a:p>
            <a:pPr marL="690563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kernel code then runs to perform the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privileged operation</a:t>
            </a:r>
          </a:p>
          <a:p>
            <a:pPr>
              <a:spcBef>
                <a:spcPts val="600"/>
              </a:spcBef>
            </a:pPr>
            <a:endParaRPr lang="en-US" altLang="en-US" sz="22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200" kern="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EB0C6A-9060-436B-2367-8EEA2CE5F27B}"/>
              </a:ext>
            </a:extLst>
          </p:cNvPr>
          <p:cNvGrpSpPr>
            <a:grpSpLocks/>
          </p:cNvGrpSpPr>
          <p:nvPr/>
        </p:nvGrpSpPr>
        <p:grpSpPr bwMode="auto">
          <a:xfrm>
            <a:off x="5697400" y="1925062"/>
            <a:ext cx="2622007" cy="1087479"/>
            <a:chOff x="1152" y="1852"/>
            <a:chExt cx="2832" cy="11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8B102F-16CB-CFD3-14EE-858A062CF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256"/>
              <a:ext cx="672" cy="7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Helvetica" pitchFamily="34" charset="0"/>
                </a:rPr>
                <a:t>kernel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059A7D-BE62-6D7B-CB5F-1F6C2A0D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256"/>
              <a:ext cx="672" cy="72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Helvetica" pitchFamily="34" charset="0"/>
                </a:rPr>
                <a:t>user</a:t>
              </a:r>
            </a:p>
          </p:txBody>
        </p:sp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4261B304-4B97-6230-9A29-7165A75DA011}"/>
                </a:ext>
              </a:extLst>
            </p:cNvPr>
            <p:cNvCxnSpPr>
              <a:cxnSpLocks noChangeShapeType="1"/>
              <a:stCxn id="7" idx="0"/>
              <a:endCxn id="6" idx="0"/>
            </p:cNvCxnSpPr>
            <p:nvPr/>
          </p:nvCxnSpPr>
          <p:spPr bwMode="auto">
            <a:xfrm rot="16200000" flipH="1" flipV="1">
              <a:off x="2567" y="1177"/>
              <a:ext cx="1" cy="2160"/>
            </a:xfrm>
            <a:prstGeom prst="curvedConnector3">
              <a:avLst>
                <a:gd name="adj1" fmla="val -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C74387C5-699E-AF9C-DED1-2EBB646C17CF}"/>
                </a:ext>
              </a:extLst>
            </p:cNvPr>
            <p:cNvCxnSpPr>
              <a:cxnSpLocks noChangeShapeType="1"/>
              <a:stCxn id="6" idx="4"/>
              <a:endCxn id="7" idx="4"/>
            </p:cNvCxnSpPr>
            <p:nvPr/>
          </p:nvCxnSpPr>
          <p:spPr bwMode="auto">
            <a:xfrm rot="16200000" flipH="1">
              <a:off x="2567" y="1897"/>
              <a:ext cx="1" cy="2160"/>
            </a:xfrm>
            <a:prstGeom prst="curvedConnector3">
              <a:avLst>
                <a:gd name="adj1" fmla="val 14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00B3F5D0-E44B-D0F1-426A-F864F705F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52"/>
              <a:ext cx="770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>
                  <a:latin typeface="Helvetica" pitchFamily="34" charset="0"/>
                </a:rPr>
                <a:t>Interrupt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E92457A-A82E-E308-D408-087D4D95B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" y="2764"/>
              <a:ext cx="119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latin typeface="Helvetica" pitchFamily="34" charset="0"/>
                </a:rPr>
                <a:t>set user mode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058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34143" y="76200"/>
            <a:ext cx="7449457" cy="669924"/>
          </a:xfrm>
        </p:spPr>
        <p:txBody>
          <a:bodyPr>
            <a:noAutofit/>
          </a:bodyPr>
          <a:lstStyle/>
          <a:p>
            <a:r>
              <a:rPr lang="en-US" dirty="0"/>
              <a:t>P</a:t>
            </a:r>
            <a:r>
              <a:rPr lang="en-US" sz="3200" b="1" dirty="0"/>
              <a:t>rotecting Processes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175660"/>
            <a:ext cx="8403771" cy="5333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to protect processes…!!</a:t>
            </a:r>
          </a:p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Protection of I/O devices</a:t>
            </a:r>
          </a:p>
          <a:p>
            <a:pPr marL="854075" lvl="1" indent="-346075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User code should not have direct access to I/O device</a:t>
            </a:r>
          </a:p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Protection of Memory</a:t>
            </a:r>
          </a:p>
          <a:p>
            <a:pPr marL="854075" lvl="1" indent="-346075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One user process should not be able to access address space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of another process</a:t>
            </a:r>
          </a:p>
          <a:p>
            <a:pPr marL="457200" marR="0" lvl="0" indent="-457200" algn="l" defTabSz="914400" rtl="0" eaLnBrk="1" fontAlgn="auto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Preemptive switching from task to task</a:t>
            </a:r>
          </a:p>
          <a:p>
            <a:pPr marL="854075" lvl="1" indent="-346075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User code must not be able to disable/alter CPU timer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CF7BB72-BE1A-57E0-BEB7-36427E921AC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97428" y="25400"/>
            <a:ext cx="7315201" cy="730250"/>
          </a:xfrm>
        </p:spPr>
        <p:txBody>
          <a:bodyPr>
            <a:noAutofit/>
          </a:bodyPr>
          <a:lstStyle/>
          <a:p>
            <a:r>
              <a:rPr lang="en-US" b="1" dirty="0"/>
              <a:t>I/O Protection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7648" y="1123134"/>
            <a:ext cx="8501743" cy="5352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7663" marR="0" lvl="0" indent="-347663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All I/O instructions are privileged instructions</a:t>
            </a:r>
          </a:p>
          <a:p>
            <a:pPr marL="804863" lvl="1" indent="-347663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user process not allowed to execute I/O instructions directly</a:t>
            </a:r>
          </a:p>
          <a:p>
            <a:pPr marL="347663" marR="0" lvl="0" indent="-347663" algn="l" defTabSz="914400" rtl="0" eaLnBrk="1" fontAlgn="auto" latinLnBrk="0" hangingPunct="1">
              <a:spcBef>
                <a:spcPts val="3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Users request I/O via </a:t>
            </a:r>
            <a:r>
              <a:rPr 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Calls</a:t>
            </a:r>
          </a:p>
          <a:p>
            <a:pPr marL="804863" lvl="1" indent="-347663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OS then performs the I/O operation – open/read file</a:t>
            </a:r>
          </a:p>
          <a:p>
            <a:pPr marL="347663" marR="0" lvl="0" indent="-347663" algn="l" defTabSz="914400" rtl="0" eaLnBrk="1" fontAlgn="auto" latinLnBrk="0" hangingPunct="1">
              <a:spcBef>
                <a:spcPts val="3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 of System call in Linux to display ‘msg’ on monitor screen</a:t>
            </a:r>
          </a:p>
          <a:p>
            <a:pPr marL="914400" lvl="1" indent="-457200" defTabSz="971550">
              <a:spcBef>
                <a:spcPts val="1200"/>
              </a:spcBef>
              <a:defRPr/>
            </a:pP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sz="19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4	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load system call number for </a:t>
            </a:r>
            <a:r>
              <a:rPr lang="en-US" sz="19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sys_write</a:t>
            </a:r>
            <a:endParaRPr lang="en-US" sz="19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71550">
              <a:spcBef>
                <a:spcPts val="1200"/>
              </a:spcBef>
              <a:defRPr/>
            </a:pP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sz="19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	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specify file descriptor 1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endParaRPr lang="en-US" sz="19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71550">
              <a:spcBef>
                <a:spcPts val="1200"/>
              </a:spcBef>
              <a:defRPr/>
            </a:pP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sz="19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ecx</a:t>
            </a: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msg	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address of message</a:t>
            </a:r>
          </a:p>
          <a:p>
            <a:pPr marL="914400" lvl="1" indent="-457200" defTabSz="971550">
              <a:spcBef>
                <a:spcPts val="1200"/>
              </a:spcBef>
              <a:defRPr/>
            </a:pP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sz="19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edx</a:t>
            </a: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9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number of bytes to write</a:t>
            </a:r>
          </a:p>
          <a:p>
            <a:pPr marL="914400" lvl="1" indent="-457200" defTabSz="971550">
              <a:spcBef>
                <a:spcPts val="1200"/>
              </a:spcBef>
              <a:defRPr/>
            </a:pPr>
            <a:r>
              <a:rPr 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0x80	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generate software interrupt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19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kernel performs write()</a:t>
            </a:r>
          </a:p>
          <a:p>
            <a:pPr marL="347663" indent="-347663" eaLnBrk="1" fontAlgn="auto" hangingPunct="1">
              <a:spcBef>
                <a:spcPts val="24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A7F4A58-EDF6-247E-145C-624D2FBD613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106680"/>
            <a:ext cx="8498840" cy="609600"/>
          </a:xfrm>
        </p:spPr>
        <p:txBody>
          <a:bodyPr>
            <a:noAutofit/>
          </a:bodyPr>
          <a:lstStyle/>
          <a:p>
            <a:r>
              <a:rPr lang="en-US" dirty="0"/>
              <a:t>Memory Protection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59226" y="1118506"/>
            <a:ext cx="8643257" cy="5072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7663" marR="0" lvl="0" indent="-347663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Address Space </a:t>
            </a:r>
          </a:p>
          <a:p>
            <a:pPr marL="685800" lvl="1" indent="-338138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loaded, each process is allocated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space</a:t>
            </a:r>
          </a:p>
          <a:p>
            <a:pPr marL="685800" lvl="1" indent="-338138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can legally access only its own region in main memory</a:t>
            </a:r>
          </a:p>
          <a:p>
            <a:pPr marL="685800" lvl="1" indent="-338138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no access allowed outside its address space</a:t>
            </a:r>
          </a:p>
          <a:p>
            <a:pPr marL="347663" marR="0" lvl="0" indent="-347663" algn="l" defTabSz="914400" rtl="0" eaLnBrk="1" fontAlgn="auto" latinLnBrk="0" hangingPunct="1">
              <a:spcBef>
                <a:spcPts val="2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90562" lvl="1" indent="-342900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uses two registers to restrict a process within its own address space –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 of memory addresses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90562" lvl="1" indent="-3429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Register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47762" lvl="2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holds starting address of “Address Space” assigned to process</a:t>
            </a:r>
          </a:p>
          <a:p>
            <a:pPr marL="690562" lvl="1" indent="-3429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 Register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47762" lvl="2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contains size of “Address Space” allocated to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FEE6BB8-DD12-3156-EEC0-A13D530AA75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86" y="76200"/>
            <a:ext cx="8523514" cy="609600"/>
          </a:xfrm>
        </p:spPr>
        <p:txBody>
          <a:bodyPr>
            <a:noAutofit/>
          </a:bodyPr>
          <a:lstStyle/>
          <a:p>
            <a:r>
              <a:rPr lang="en-US" b="1" dirty="0"/>
              <a:t>Memory Protection</a:t>
            </a: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3"/>
          <a:srcRect l="14474" t="1021" r="14644" b="1794"/>
          <a:stretch>
            <a:fillRect/>
          </a:stretch>
        </p:blipFill>
        <p:spPr bwMode="auto">
          <a:xfrm>
            <a:off x="2190035" y="1438046"/>
            <a:ext cx="5106116" cy="4766811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8589B56-07DF-0E29-3097-17E24FF1B2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/>
          <a:srcRect l="519" t="23012" r="180" b="23203"/>
          <a:stretch>
            <a:fillRect/>
          </a:stretch>
        </p:blipFill>
        <p:spPr bwMode="auto">
          <a:xfrm>
            <a:off x="490809" y="1499189"/>
            <a:ext cx="8162381" cy="4017691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ffectLst/>
        </p:spPr>
      </p:pic>
      <p:sp>
        <p:nvSpPr>
          <p:cNvPr id="3" name="Rectangle 1026">
            <a:extLst>
              <a:ext uri="{FF2B5EF4-FFF2-40B4-BE49-F238E27FC236}">
                <a16:creationId xmlns:a16="http://schemas.microsoft.com/office/drawing/2014/main" id="{30A076BE-E700-C911-9166-DBB1D76A1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086" y="76200"/>
            <a:ext cx="8523514" cy="609600"/>
          </a:xfrm>
        </p:spPr>
        <p:txBody>
          <a:bodyPr>
            <a:noAutofit/>
          </a:bodyPr>
          <a:lstStyle/>
          <a:p>
            <a:r>
              <a:rPr lang="en-US" b="1" dirty="0"/>
              <a:t>Memory Protection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440960A-AF76-95C8-C2F1-CC6A1E0E4FF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04A0B0-210F-A4E0-0782-5ACCEC65F410}"/>
              </a:ext>
            </a:extLst>
          </p:cNvPr>
          <p:cNvSpPr/>
          <p:nvPr/>
        </p:nvSpPr>
        <p:spPr bwMode="auto">
          <a:xfrm>
            <a:off x="8849360" y="5516880"/>
            <a:ext cx="294640" cy="558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70112" y="0"/>
            <a:ext cx="8218717" cy="802640"/>
          </a:xfrm>
        </p:spPr>
        <p:txBody>
          <a:bodyPr>
            <a:noAutofit/>
          </a:bodyPr>
          <a:lstStyle/>
          <a:p>
            <a:r>
              <a:rPr lang="en-US" dirty="0"/>
              <a:t>CPU Protection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98687" y="1134201"/>
            <a:ext cx="8632371" cy="5278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7663" marR="0" lvl="0" indent="-347663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 multitasking/time-sharing, many processes need execution</a:t>
            </a:r>
          </a:p>
          <a:p>
            <a:pPr marL="739775" lvl="1" indent="-3476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must not stay with one process indefinitely</a:t>
            </a:r>
          </a:p>
          <a:p>
            <a:pPr marL="347663" marR="0" lvl="0" indent="-347663" algn="l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Protection implementation</a:t>
            </a:r>
          </a:p>
          <a:p>
            <a:pPr marL="739775" lvl="1" indent="-347663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Timer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used to generate interrupt after specified time period </a:t>
            </a:r>
          </a:p>
          <a:p>
            <a:pPr marL="739775" lvl="1" indent="-347663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timer </a:t>
            </a:r>
            <a:r>
              <a:rPr lang="en-US" sz="21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(counter register)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loaded with predefined time value &amp; decremented every clock tick</a:t>
            </a:r>
          </a:p>
          <a:p>
            <a:pPr marL="739775" lvl="1" indent="-347663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when timer value==0, interrupt occurs </a:t>
            </a:r>
          </a:p>
          <a:p>
            <a:pPr marL="739775" lvl="1" indent="-347663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ISR executed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CPU switches to another process</a:t>
            </a:r>
          </a:p>
          <a:p>
            <a:pPr marL="282575" indent="-347663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kumimoji="1" 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Timer is loaded   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5012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by using a privileged instruction </a:t>
            </a:r>
          </a:p>
          <a:p>
            <a:pPr marL="735012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only admin can assign time slice to processes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F065F87-3879-AE0B-8889-39EA8289460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Operating System Services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376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84A6F67-063F-4959-9060-0C6E5AFA8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188" y="206375"/>
            <a:ext cx="7918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881CA9B9-B059-4545-AFC1-C78134667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" t="1559" r="346" b="1947"/>
          <a:stretch/>
        </p:blipFill>
        <p:spPr bwMode="auto">
          <a:xfrm>
            <a:off x="233680" y="1270000"/>
            <a:ext cx="89103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1EFDB41-EBB0-EDE9-A401-CDF2BEB159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47152"/>
            <a:ext cx="7448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OS Services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169" y="1065484"/>
            <a:ext cx="8417608" cy="5635204"/>
          </a:xfrm>
          <a:noFill/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altLang="en-US" sz="2500" b="1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 Helpful to Users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Interface –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almost all OS have user interface (UI)</a:t>
            </a:r>
          </a:p>
          <a:p>
            <a:pPr marL="803275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Command-Line (CLI)</a:t>
            </a:r>
            <a:b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Graphics User Interface (GUI)  </a:t>
            </a:r>
            <a:b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Touch-screen 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 execution –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system must be able to: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load programs into memory, &amp; run 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end execution, normally or abnormally 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(indicating error)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operations –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running program may require I/O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may involve a file, or I/O device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users cannot control I/O devices, OS must provide the means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6DB5F81-E579-81D4-E563-DE03123DB40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47152"/>
            <a:ext cx="7448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OS Services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8368" y="1063306"/>
            <a:ext cx="8624437" cy="5499328"/>
          </a:xfrm>
          <a:noFill/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File-system manipulation –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programs need to:</a:t>
            </a:r>
          </a:p>
          <a:p>
            <a:pPr marL="741363" lvl="1" indent="0">
              <a:spcBef>
                <a:spcPts val="1200"/>
              </a:spcBef>
              <a:buNone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read/write files &amp; directories  	list file Info </a:t>
            </a:r>
          </a:p>
          <a:p>
            <a:pPr marL="741363" lvl="1" indent="0">
              <a:spcBef>
                <a:spcPts val="600"/>
              </a:spcBef>
              <a:buNone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create, search &amp; delete files 	manage permissions</a:t>
            </a:r>
          </a:p>
          <a:p>
            <a:pPr>
              <a:spcBef>
                <a:spcPts val="24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Communications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processes may exchange information:</a:t>
            </a:r>
          </a:p>
          <a:p>
            <a:pPr lvl="1"/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on same computer,  or between computers over network</a:t>
            </a:r>
          </a:p>
          <a:p>
            <a:pPr lvl="1"/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via pipes,  shared memory,  or message passing</a:t>
            </a:r>
          </a:p>
          <a:p>
            <a:pPr>
              <a:spcBef>
                <a:spcPts val="24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detection – 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constantly be aware of possible errors:</a:t>
            </a:r>
          </a:p>
          <a:p>
            <a:pPr lvl="1"/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may occur in CPU, memory, I/O devices, user programs</a:t>
            </a:r>
          </a:p>
          <a:p>
            <a:pPr lvl="1"/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OS to take appropriate action for correct &amp; consistent computing</a:t>
            </a:r>
          </a:p>
          <a:p>
            <a:pPr lvl="1"/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debugging facility also allows users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 &amp; programmers to use system efficiently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6DB5F81-E579-81D4-E563-DE03123DB40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17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47152"/>
            <a:ext cx="7448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OS Services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8048" y="1042986"/>
            <a:ext cx="8432577" cy="5499328"/>
          </a:xfrm>
          <a:noFill/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400" b="1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 for Efficient System Op</a:t>
            </a:r>
          </a:p>
          <a:p>
            <a:pPr>
              <a:spcBef>
                <a:spcPts val="12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allocation –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when multiple users or jobs run concurrently, resources need to be allocated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9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en-US" sz="19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(CPU cycles,  main memory,  file storage,  I/O devices)</a:t>
            </a:r>
          </a:p>
          <a:p>
            <a:pPr>
              <a:spcBef>
                <a:spcPts val="24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Logging –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keep track of which user is using how much resources,  what activities are performed by whom</a:t>
            </a:r>
          </a:p>
          <a:p>
            <a:pPr>
              <a:spcBef>
                <a:spcPts val="2400"/>
              </a:spcBef>
            </a:pP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Protection &amp; security –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 multiuser or networked systems, owners need to control access to info/resources</a:t>
            </a:r>
          </a:p>
          <a:p>
            <a:pPr lvl="1" defTabSz="990600">
              <a:spcBef>
                <a:spcPts val="1200"/>
              </a:spcBef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Controlled access 	– 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concurrent processes not to interfere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		      with each other</a:t>
            </a:r>
          </a:p>
          <a:p>
            <a:pPr lvl="1" defTabSz="990600">
              <a:spcBef>
                <a:spcPts val="1200"/>
              </a:spcBef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authentication	– 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protect I/O devices from invalid access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		      attempts</a:t>
            </a:r>
          </a:p>
          <a:p>
            <a:pPr marL="2000250" lvl="5" indent="0">
              <a:spcBef>
                <a:spcPts val="600"/>
              </a:spcBef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>
              <a:spcBef>
                <a:spcPts val="600"/>
              </a:spcBef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6DB5F81-E579-81D4-E563-DE03123DB40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71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User Interface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143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8B5D98-8B47-4D7E-ACEF-BDB67E334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7888" y="220663"/>
            <a:ext cx="81454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Command Line Interface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E634D89-B552-404F-9BDB-6AB7E838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5811" y="1127443"/>
            <a:ext cx="8435929" cy="548957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Text-based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method to interact with computer system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usually implemented as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program</a:t>
            </a:r>
          </a:p>
          <a:p>
            <a:pPr>
              <a:spcBef>
                <a:spcPts val="18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Interacts with OS kernel to manage &amp; control the system</a:t>
            </a: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en-US" sz="2200" i="1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“Allows users </a:t>
            </a:r>
            <a:r>
              <a:rPr lang="en-US" sz="2200" i="1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directly communicate with OS or </a:t>
            </a:r>
            <a:br>
              <a:rPr lang="en-US" sz="2200" i="1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kern="1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executing program”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text-based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&amp; text-based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responses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specific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commands;  perform particular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common tasks include:</a:t>
            </a:r>
          </a:p>
          <a:p>
            <a:pPr marL="457200" lvl="1" indent="0" algn="ctr">
              <a:spcBef>
                <a:spcPts val="1200"/>
              </a:spcBef>
              <a:buNone/>
            </a:pPr>
            <a:r>
              <a:rPr lang="en-US" sz="2200" i="1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management,  software installation &amp; configuration, </a:t>
            </a:r>
            <a:br>
              <a:rPr lang="en-US" sz="2200" i="1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running scripts,  system administration,  </a:t>
            </a:r>
            <a:r>
              <a:rPr lang="en-US" sz="2200" i="1" dirty="0" err="1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altLang="en-US" sz="2200" i="1" dirty="0">
              <a:solidFill>
                <a:srgbClr val="0033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Multiple flavors implemented – 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shells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E9A2F31-9FA7-3C86-F507-ED235FDECC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6DF5F8A-F2E3-4D74-9C52-A032EB053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188" y="220663"/>
            <a:ext cx="73977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Bourne</a:t>
            </a:r>
            <a:r>
              <a:rPr lang="en-US" altLang="en-US" dirty="0"/>
              <a:t> Shell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D914458-B50A-A453-3D91-FB11BD2F178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 descr="fig2.2.pdf">
            <a:extLst>
              <a:ext uri="{FF2B5EF4-FFF2-40B4-BE49-F238E27FC236}">
                <a16:creationId xmlns:a16="http://schemas.microsoft.com/office/drawing/2014/main" id="{21D397E2-6AC6-E172-5D40-BE4D09A32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90" y="905280"/>
            <a:ext cx="7397750" cy="595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02E63FB-6DD1-46DC-8471-F576D57E7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9" y="214313"/>
            <a:ext cx="685768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GUI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7BD939-320C-4E60-8319-6ADBC111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3176" y="1082357"/>
            <a:ext cx="8392887" cy="537940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User Interface  – 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 friendly way to interact with the system</a:t>
            </a:r>
          </a:p>
          <a:p>
            <a:pPr lvl="1">
              <a:spcBef>
                <a:spcPts val="1200"/>
              </a:spcBef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Icons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files, programs, actions,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commands entered by moving cursor &amp; clicking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 mouse, keyboard, touchscreen)</a:t>
            </a:r>
          </a:p>
          <a:p>
            <a:pPr lvl="1"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cursor over objects in GUI cause various actions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    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(provide info, options, execute function, open folder)</a:t>
            </a:r>
          </a:p>
          <a:p>
            <a:pPr>
              <a:spcBef>
                <a:spcPts val="30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Many OS include both CLI &amp; GUI interfaces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MS Windows is GUI based, with CLI based </a:t>
            </a:r>
            <a:r>
              <a:rPr lang="ja-JP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ja-JP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 shell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Apple Mac OS X has </a:t>
            </a:r>
            <a:r>
              <a:rPr lang="ja-JP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ja-JP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Aqua</a:t>
            </a:r>
            <a:r>
              <a:rPr lang="ja-JP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n-US" altLang="ja-JP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GUI, with shell facility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Unix / Linux have both CLI &amp; GUI 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(KDE, GNOME)</a:t>
            </a:r>
          </a:p>
          <a:p>
            <a:pPr lvl="1">
              <a:spcBef>
                <a:spcPts val="600"/>
              </a:spcBef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1CF9FC3-D1AA-0839-802F-4A720F4A304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E085D8E-E398-4442-A204-AD137376E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28600"/>
            <a:ext cx="77152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E55E5F6-E4A2-477B-85A4-044819521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9889" y="1244374"/>
            <a:ext cx="4240893" cy="4983706"/>
          </a:xfrm>
        </p:spPr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sz="23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Touchscreen devices require new interfaces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mouse not possible, or </a:t>
            </a:r>
            <a:b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not desired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actions &amp; selection based on gestures</a:t>
            </a:r>
          </a:p>
          <a:p>
            <a:pPr marL="741363" lvl="1" indent="0">
              <a:spcBef>
                <a:spcPts val="1200"/>
              </a:spcBef>
              <a:buNone/>
              <a:defRPr/>
            </a:pPr>
            <a:r>
              <a:rPr lang="en-US" sz="2000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(tap,  swipe,  long press, </a:t>
            </a:r>
            <a:br>
              <a:rPr lang="en-US" sz="2000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pinch &amp; zoom)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virtual keyboard for text entry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100" dirty="0"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voice commands</a:t>
            </a:r>
          </a:p>
          <a:p>
            <a:pPr marL="0" indent="0">
              <a:spcBef>
                <a:spcPts val="1200"/>
              </a:spcBef>
              <a:buFont typeface="Monotype Sorts" charset="0"/>
              <a:buNone/>
              <a:defRPr/>
            </a:pPr>
            <a:endParaRPr lang="en-US" sz="2300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  <a:buFont typeface="Monotype Sorts" charset="0"/>
              <a:buChar char="l"/>
              <a:defRPr/>
            </a:pPr>
            <a:endParaRPr lang="en-US" sz="2300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0138E25-292F-B0C6-0109-3C23ACB83B2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 descr="ipad.pdf">
            <a:extLst>
              <a:ext uri="{FF2B5EF4-FFF2-40B4-BE49-F238E27FC236}">
                <a16:creationId xmlns:a16="http://schemas.microsoft.com/office/drawing/2014/main" id="{F14D91B6-5230-7563-A8AF-F59932EDB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1134268"/>
            <a:ext cx="3941278" cy="5255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93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489201"/>
            <a:ext cx="8267700" cy="112775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Programmer Interface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842699-2411-46DA-9E86-71B3FFE9F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Calls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749591-DE3A-4DDD-A1C5-F25581574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968" y="1144224"/>
            <a:ext cx="8407082" cy="5398088"/>
          </a:xfrm>
        </p:spPr>
        <p:txBody>
          <a:bodyPr/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“System call is an</a:t>
            </a:r>
            <a:r>
              <a:rPr lang="en-US" alt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 between OS &amp; User programs”</a:t>
            </a:r>
          </a:p>
          <a:p>
            <a:pPr>
              <a:spcBef>
                <a:spcPts val="18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Allows user-level process to request services from OS</a:t>
            </a:r>
            <a:endParaRPr lang="en-US" sz="2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controlled way for programs to perform privileged operations</a:t>
            </a:r>
          </a:p>
          <a:p>
            <a:pPr>
              <a:spcBef>
                <a:spcPts val="18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Common examples:</a:t>
            </a:r>
          </a:p>
          <a:p>
            <a:pPr lvl="1" defTabSz="800100"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operations: 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open(),   read(),   write(),   close() </a:t>
            </a:r>
          </a:p>
          <a:p>
            <a:pPr lvl="1" defTabSz="800100">
              <a:spcBef>
                <a:spcPts val="400"/>
              </a:spcBef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control: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fork(),     exec(),   exit()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System calls are made available in OS as </a:t>
            </a:r>
            <a:r>
              <a:rPr lang="en-US" alt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callable</a:t>
            </a:r>
            <a:r>
              <a:rPr lang="en-US" alt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routines</a:t>
            </a:r>
            <a:r>
              <a:rPr lang="en-US" alt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written in high-level language (C or C++)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part of kernel code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run in kernel mode</a:t>
            </a:r>
          </a:p>
          <a:p>
            <a:pPr>
              <a:spcBef>
                <a:spcPts val="1800"/>
              </a:spcBef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E212BC7-9C58-8210-819A-82C8CD7509D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10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842699-2411-46DA-9E86-71B3FFE9F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749591-DE3A-4DDD-A1C5-F25581574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88" y="1139779"/>
            <a:ext cx="8362632" cy="5408976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 programs access system calls via an 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300" i="1" dirty="0">
              <a:solidFill>
                <a:srgbClr val="33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of std C/C++ library functions (</a:t>
            </a:r>
            <a:r>
              <a:rPr lang="en-US" altLang="en-US" sz="2200" i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glibc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 to Apps</a:t>
            </a:r>
            <a:endParaRPr lang="en-US" altLang="en-US" sz="22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invokes relevant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</a:t>
            </a: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generates software interrupt – 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80h 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in Unix/Linux 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Common APIs: </a:t>
            </a:r>
          </a:p>
          <a:p>
            <a:pPr lvl="1" defTabSz="1143000">
              <a:spcBef>
                <a:spcPts val="6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Win32 API	: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Windows </a:t>
            </a:r>
          </a:p>
          <a:p>
            <a:pPr lvl="1" defTabSz="1143000">
              <a:spcBef>
                <a:spcPts val="6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POSIX API  	: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POSIX-based systems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(UNIX, Linux, Mac OS X)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E212BC7-9C58-8210-819A-82C8CD7509D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048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4CA8D7-4B90-E164-1E20-8D1D305D962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F400C-4D07-E3C7-D99E-F8B4DA42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21" y="2182879"/>
            <a:ext cx="6396434" cy="1652677"/>
          </a:xfrm>
          <a:prstGeom prst="rect">
            <a:avLst/>
          </a:prstGeom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DAFB207-0A9D-C9EE-8B5D-039DD94C7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077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Standard API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DF1A33-7183-7D63-3787-AEC73F218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1093424"/>
            <a:ext cx="8229826" cy="102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21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system calls &amp; library functions 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obtained from </a:t>
            </a:r>
            <a:r>
              <a:rPr lang="en-US" altLang="en-US" sz="21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“man pages” </a:t>
            </a:r>
          </a:p>
          <a:p>
            <a:pPr>
              <a:spcBef>
                <a:spcPts val="12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standard C / C++ library function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read()</a:t>
            </a:r>
            <a:endParaRPr lang="en-US" altLang="en-US" sz="21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AA1E3AF-5BAB-630A-F7FC-B9D4B62EF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36" y="4162085"/>
            <a:ext cx="6772354" cy="1162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19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US" altLang="en-US" sz="1900" b="1" kern="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altLang="en-US" sz="19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		:  file descriptor to be used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9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*</a:t>
            </a:r>
            <a:r>
              <a:rPr lang="en-US" altLang="en-US" sz="1900" b="1" kern="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</a:t>
            </a: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	:  buffer where data will be read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900" b="1" kern="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size_t</a:t>
            </a:r>
            <a:r>
              <a:rPr lang="en-US" altLang="en-US" sz="19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count</a:t>
            </a: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	:  max number of bytes to be read into </a:t>
            </a:r>
            <a:r>
              <a:rPr lang="en-US" altLang="en-US" sz="19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buf</a:t>
            </a:r>
            <a:endParaRPr lang="en-US" altLang="en-US" sz="19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19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9A9CDC-4256-B44D-7F1C-327FEE051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1530" y="5413238"/>
            <a:ext cx="4572952" cy="93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returns number of bytes read </a:t>
            </a:r>
          </a:p>
          <a:p>
            <a:pPr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return value 0     </a:t>
            </a:r>
            <a:r>
              <a:rPr lang="en-US" altLang="en-US" sz="1900" kern="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  end of file</a:t>
            </a:r>
          </a:p>
          <a:p>
            <a:pPr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return value -1    </a:t>
            </a:r>
            <a:r>
              <a:rPr lang="en-US" altLang="en-US" sz="1900" kern="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1900" kern="0" dirty="0">
                <a:latin typeface="Calibri" panose="020F0502020204030204" pitchFamily="34" charset="0"/>
                <a:cs typeface="Calibri" panose="020F0502020204030204" pitchFamily="34" charset="0"/>
              </a:rPr>
              <a:t>  error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2FCF-3FD0-99CA-83CB-45E7D82D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D82DA-6EC2-89A4-62FA-5246C3E74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590" y="1051877"/>
            <a:ext cx="6644640" cy="5580698"/>
          </a:xfrm>
          <a:noFill/>
        </p:spPr>
        <p:txBody>
          <a:bodyPr/>
          <a:lstStyle/>
          <a:p>
            <a:pPr marL="0" marR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 main ( )  {</a:t>
            </a:r>
          </a:p>
          <a:p>
            <a:pPr marL="0" marR="0" indent="0" defTabSz="457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int 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"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example.txt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O_CREAT | O_WRONLY );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	const  char* message = "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Hello, system calls…\n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message,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strlen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(message) );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	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 defTabSz="4572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	char  buffer [ 100 ];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"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example.txt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O_RDONLY );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	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ssize_t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bytesRead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buffer,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sizeof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(buffer) );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	buffer [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bytesRead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= '\0';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</a:t>
            </a:r>
            <a:r>
              <a:rPr lang="en-US" sz="200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"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from file: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%s", buffer );</a:t>
            </a:r>
          </a:p>
          <a:p>
            <a:pPr marL="0" marR="0" indent="0" defTabSz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	</a:t>
            </a:r>
            <a:r>
              <a:rPr lang="en-US" sz="20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fd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);</a:t>
            </a:r>
          </a:p>
          <a:p>
            <a:pPr marL="0" marR="0" indent="0" defTabSz="4572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return 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3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97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12937-69A3-6F3C-F5AB-C64AD184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DBCFA08-7F15-238F-555D-ECEB3556E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79898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Call Interface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89FD28E-E033-9E65-EE54-CCC453437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4494" y="1034732"/>
            <a:ext cx="8529412" cy="568266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provides a </a:t>
            </a:r>
            <a:r>
              <a:rPr lang="en-US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Interface </a:t>
            </a:r>
            <a:endParaRPr lang="en-US" sz="23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maintains </a:t>
            </a:r>
            <a:r>
              <a:rPr lang="en-US" alt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table,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indexed by </a:t>
            </a:r>
            <a:r>
              <a:rPr lang="en-US" alt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numbers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table has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pointers,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for each system call</a:t>
            </a:r>
            <a:endParaRPr lang="en-US" altLang="en-US" sz="21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 make a system call, user-level process calls an API function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API function triggers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s/w interrupt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specifying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number</a:t>
            </a:r>
          </a:p>
          <a:p>
            <a:pPr lvl="1">
              <a:lnSpc>
                <a:spcPct val="110000"/>
              </a:lnSpc>
              <a:spcBef>
                <a:spcPts val="9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switches to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mode,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transfers control to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handler </a:t>
            </a:r>
          </a:p>
          <a:p>
            <a:pPr lvl="1">
              <a:lnSpc>
                <a:spcPct val="110000"/>
              </a:lnSpc>
              <a:spcBef>
                <a:spcPts val="9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 call handler uses System call number to locate/invoke the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function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table</a:t>
            </a:r>
          </a:p>
          <a:p>
            <a:pPr lvl="1">
              <a:lnSpc>
                <a:spcPct val="110000"/>
              </a:lnSpc>
              <a:spcBef>
                <a:spcPts val="9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kernel function performs the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requested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</a:p>
          <a:p>
            <a:pPr lvl="1">
              <a:lnSpc>
                <a:spcPct val="110000"/>
              </a:lnSpc>
              <a:spcBef>
                <a:spcPts val="9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switches back to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lvl="1">
              <a:lnSpc>
                <a:spcPct val="110000"/>
              </a:lnSpc>
              <a:spcBef>
                <a:spcPts val="9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returns control back to user program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9EDC26E-485F-E739-B517-CC7968A381B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848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2">
            <a:extLst>
              <a:ext uri="{FF2B5EF4-FFF2-40B4-BE49-F238E27FC236}">
                <a16:creationId xmlns:a16="http://schemas.microsoft.com/office/drawing/2014/main" id="{B2409951-BBCF-4A1C-8570-76F67408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92" y="1359799"/>
            <a:ext cx="7786371" cy="478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1477F86-4FF4-EA6F-2EE4-4A2022D8CAD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AF5AC8-07B9-69C9-B812-57B8D0EA2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79898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Call 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E227535-43B6-4813-B8B2-3BC580705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17488"/>
            <a:ext cx="7704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Call Parameter Passing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69B199-F416-4325-B349-7CDA49598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678" y="1095871"/>
            <a:ext cx="8370207" cy="553130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When system call is made, program may also need to pass parameters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–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descriptor, buffer, flags</a:t>
            </a:r>
            <a:endParaRPr lang="en-US" altLang="en-US" sz="2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Three general methods to pass parameters to kernel:</a:t>
            </a:r>
          </a:p>
          <a:p>
            <a:pPr lvl="1">
              <a:spcBef>
                <a:spcPts val="1800"/>
              </a:spcBef>
            </a:pP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 parameters in 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registers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simplest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   parameters may be more than registers</a:t>
            </a:r>
          </a:p>
          <a:p>
            <a:pPr lvl="1">
              <a:spcBef>
                <a:spcPts val="1800"/>
              </a:spcBef>
            </a:pP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Parameters stored in memory – 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lang="en-US" alt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en-US" altLang="en-US" sz="22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2" indent="0">
              <a:spcBef>
                <a:spcPts val="600"/>
              </a:spcBef>
              <a:buNone/>
            </a:pP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   address of block passed as parameter in a register 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   approach taken by Linux &amp; Solaris</a:t>
            </a:r>
          </a:p>
          <a:p>
            <a:pPr lvl="1">
              <a:spcBef>
                <a:spcPts val="1800"/>
              </a:spcBef>
            </a:pP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Parameters pushed</a:t>
            </a:r>
            <a:r>
              <a:rPr lang="en-US" alt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onto </a:t>
            </a:r>
            <a:r>
              <a:rPr lang="en-US" alt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popped</a:t>
            </a:r>
            <a:r>
              <a:rPr lang="en-US" alt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 by OS</a:t>
            </a:r>
          </a:p>
          <a:p>
            <a:pPr marL="0" lvl="1" indent="0" algn="ctr">
              <a:spcBef>
                <a:spcPts val="1800"/>
              </a:spcBef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methods do not limit the number or length</a:t>
            </a:r>
            <a:b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of parameters</a:t>
            </a:r>
          </a:p>
          <a:p>
            <a:pPr lvl="1">
              <a:spcBef>
                <a:spcPts val="600"/>
              </a:spcBef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D987B84-7FA3-2516-6590-40A76931B3B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1740724-3F75-A2E4-28BB-3FC8F4A49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Parameter Passing via Table</a:t>
            </a:r>
          </a:p>
        </p:txBody>
      </p:sp>
      <p:pic>
        <p:nvPicPr>
          <p:cNvPr id="21507" name="Picture 7" descr="2">
            <a:extLst>
              <a:ext uri="{FF2B5EF4-FFF2-40B4-BE49-F238E27FC236}">
                <a16:creationId xmlns:a16="http://schemas.microsoft.com/office/drawing/2014/main" id="{73AF8926-901D-5CA5-935D-F8059F69A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016" y="1667789"/>
            <a:ext cx="7711784" cy="40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5676CCF-7BCB-8B3D-0CBB-A769FC18C4D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81CC25A-92E8-44D5-853F-5EA5E0E4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129588" cy="576262"/>
          </a:xfrm>
        </p:spPr>
        <p:txBody>
          <a:bodyPr/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4FFFE9F1-36B8-4D67-9C3C-A4A661B03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1724" y="1163637"/>
            <a:ext cx="8357733" cy="534602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control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create process, terminate process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load, execute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get process attributes, set process attributes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allocate &amp; free memory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dump memory, if error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wait for time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wait event, signal event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Debugger for determining bugs, single step execution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Locks for managing access to shared data between processes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FBC7DDF-0B2B-7E70-F745-C384BB9170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4156D97E-B3F7-4D08-9926-F21EAB532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2762" y="1163637"/>
            <a:ext cx="8163151" cy="45307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management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create file, delete file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open, close file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read, write, reposition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get &amp; set file attributes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 management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request device, release device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read, write, reposition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get &amp; set device attributes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logically attach or detach devices</a:t>
            </a:r>
          </a:p>
          <a:p>
            <a:pPr lvl="1">
              <a:spcBef>
                <a:spcPts val="600"/>
              </a:spcBef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1101D3E-F01E-4DD1-88DC-B60A703EA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2763" y="225425"/>
            <a:ext cx="8021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33C7CDF-FF41-596F-CEF8-990018F23F8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170523-A8A8-43C6-820A-D68F85AF0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7050" y="227013"/>
            <a:ext cx="7991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3E675A7B-D65B-4A2E-A667-61009784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792" y="1163637"/>
            <a:ext cx="8370207" cy="535690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 maintenance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get &amp; set time/date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get &amp; set system data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get &amp; set process, file, or device attributes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create, delete communication connection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en-US" altLang="en-US" sz="21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passing</a:t>
            </a:r>
            <a:r>
              <a:rPr lang="en-US" altLang="en-US" sz="21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– </a:t>
            </a:r>
            <a:r>
              <a:rPr lang="en-US" altLang="en-US" sz="21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send, receive messages </a:t>
            </a:r>
          </a:p>
          <a:p>
            <a:pPr lvl="2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host name or process name</a:t>
            </a:r>
          </a:p>
          <a:p>
            <a:pPr lvl="2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from client to server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Shared-memory</a:t>
            </a:r>
            <a:r>
              <a:rPr lang="en-US" altLang="en-US" sz="21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– </a:t>
            </a:r>
            <a:r>
              <a:rPr lang="en-US" altLang="en-US" sz="21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create &amp; gain access to memory regions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transfer status information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attach &amp; detach remote devices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9207B64-99B1-36A2-4E19-1DDC7F25B28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D8F5D27-E3DA-4CD1-A64B-C94402E09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227013"/>
            <a:ext cx="80311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</a:t>
            </a:r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2F1F0650-6545-4D56-BF26-447C4C087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8" y="1283380"/>
            <a:ext cx="7727950" cy="453072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Protection</a:t>
            </a:r>
          </a:p>
          <a:p>
            <a:pPr lvl="1"/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Control access to resources</a:t>
            </a:r>
          </a:p>
          <a:p>
            <a:pPr lvl="1"/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Get &amp; set permissions</a:t>
            </a:r>
          </a:p>
          <a:p>
            <a:pPr lvl="1"/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Allow &amp; deny user access</a:t>
            </a:r>
          </a:p>
          <a:p>
            <a:pPr lvl="1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F7C9D95-68CF-A988-EF7E-AA05E594C55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4">
            <a:extLst>
              <a:ext uri="{FF2B5EF4-FFF2-40B4-BE49-F238E27FC236}">
                <a16:creationId xmlns:a16="http://schemas.microsoft.com/office/drawing/2014/main" id="{33A2F2E0-9064-41AD-8CF6-9D5D6130B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15" y="0"/>
            <a:ext cx="658185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096C22A-3AEF-FE19-5479-47B67B1553A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Programs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363" y="1096010"/>
            <a:ext cx="8523517" cy="5563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provides a collection of system programs :</a:t>
            </a: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“E</a:t>
            </a: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ssential Apps &amp; utilities, allow Users to interact directly with OS, </a:t>
            </a:r>
            <a:b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manage &amp; control the system</a:t>
            </a: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Some are simply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Interfaces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calls</a:t>
            </a:r>
          </a:p>
          <a:p>
            <a:pPr marL="746125" lvl="1">
              <a:spcBef>
                <a:spcPts val="1200"/>
              </a:spcBef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to interact with OS, instead of direct system call</a:t>
            </a:r>
          </a:p>
          <a:p>
            <a:pPr marL="746125" lvl="1">
              <a:spcBef>
                <a:spcPts val="600"/>
              </a:spcBef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commands –  ‘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’, ‘</a:t>
            </a:r>
            <a:r>
              <a:rPr lang="en-US" sz="20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’, ‘</a:t>
            </a:r>
            <a:r>
              <a:rPr lang="en-US" sz="20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rm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’, ‘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kill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Others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offer additional functionality –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Utilities</a:t>
            </a:r>
          </a:p>
          <a:p>
            <a:pPr marL="746125" lvl="1">
              <a:spcBef>
                <a:spcPts val="1200"/>
              </a:spcBef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higher level data processing &amp; automation</a:t>
            </a:r>
          </a:p>
          <a:p>
            <a:pPr marL="746125" lvl="1"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grep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’ –  advanced text search, involves multiple system calls</a:t>
            </a:r>
          </a:p>
          <a:p>
            <a:pPr marL="746125" lvl="1"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netstat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’ –  system utility, displays list of network connections</a:t>
            </a:r>
            <a:endParaRPr lang="en-US" alt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System programs are divided into different categories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8A51923-5BDA-2B3C-44AA-608DCA0E21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731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4EAC52B-9D2D-4A55-866C-947C20391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Programs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9895B5E-8C8B-46CB-ACFE-27F598441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092018"/>
            <a:ext cx="8360229" cy="5490936"/>
          </a:xfrm>
          <a:noFill/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management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manipulate files/directories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create, delete, copy, rename, print, dump, list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 information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system info – date, time, available memory, disk space, number of users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detailed performance, logging &amp; debugging info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format &amp; print output to terminal, or other output devices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implement registry – to store &amp; retrieve configuration info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language support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compilers, assemblers, interpreters, &amp; debuggers</a:t>
            </a:r>
          </a:p>
          <a:p>
            <a:pPr>
              <a:spcBef>
                <a:spcPts val="600"/>
              </a:spcBef>
              <a:buFont typeface="Monotype Sorts" pitchFamily="-84" charset="2"/>
              <a:buNone/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B483FF3-AB8F-52B2-2D2B-F79F089DA3F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4F248A6-FEC6-47A1-A99A-98ABBC6C3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1748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Programs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AC26365-FF38-4159-8CB6-E4B6F33D9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405" y="1076732"/>
            <a:ext cx="8380639" cy="557394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modification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text editors, as part of OS default set of tools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often lightweight, and may lack advanced features found in dedicated text editing applications 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 loading &amp; execution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absolute loaders, relocatable loaders, linkage editors, overlay loaders, debugging systems for high-level &amp; machine language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Communications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mechanism to create virtual connections among processes, users &amp; computer systems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users can send messages to other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 screens, browse web pages, </a:t>
            </a:r>
            <a:b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send emails, log-in remotely, transfer files</a:t>
            </a:r>
          </a:p>
          <a:p>
            <a:pPr>
              <a:spcBef>
                <a:spcPts val="600"/>
              </a:spcBef>
            </a:pP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64685B5-FF2D-AC22-F49E-D6A22205BE5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9B64704-3592-4DF7-85E7-FB2DB858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217488"/>
            <a:ext cx="7996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Programs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3ED54D-5EE3-433B-820F-AFAE8BC4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4" y="1094554"/>
            <a:ext cx="8342539" cy="554595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 services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certain system programs launched at boot time – may terminate after task completion</a:t>
            </a:r>
          </a:p>
          <a:p>
            <a:pPr lvl="1">
              <a:spcBef>
                <a:spcPts val="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some keep running in background till shutdown – known as </a:t>
            </a:r>
            <a:r>
              <a:rPr lang="en-US" alt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services, subsystems, daemons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 facilities –  disk checking, error monitoring service, print servers, launch processes as per some schedule</a:t>
            </a:r>
          </a:p>
          <a:p>
            <a:pPr>
              <a:spcBef>
                <a:spcPts val="18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programs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most OS supplied with programs to be run/used by users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web browsers, word processors, spreadsheets, games, </a:t>
            </a:r>
            <a:r>
              <a:rPr lang="en-US" alt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not considered part of OS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BE68508-87B9-6674-E7C1-CF51AC17639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334E2B-E53E-40B6-95AC-130B7A6B180F}"/>
              </a:ext>
            </a:extLst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Structure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661A78-622C-4B46-DDC9-C6601D429E7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183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6CD12CFE-09B0-48A4-9AEE-9A58E11BB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229600" cy="576262"/>
          </a:xfrm>
        </p:spPr>
        <p:txBody>
          <a:bodyPr/>
          <a:lstStyle/>
          <a:p>
            <a:r>
              <a:rPr lang="en-US" altLang="en-US"/>
              <a:t>Operating System Structure</a:t>
            </a:r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7C77CAAD-91EB-4676-A633-22880A53E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2882" y="1163637"/>
            <a:ext cx="7742918" cy="497300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General purpose OS is a very large program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needs careful designing  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for proper functioning  &amp;  modifiability</a:t>
            </a:r>
          </a:p>
          <a:p>
            <a:pPr>
              <a:spcBef>
                <a:spcPts val="18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Various ways to structure an OS</a:t>
            </a:r>
          </a:p>
          <a:p>
            <a:pPr lvl="1" defTabSz="992188">
              <a:spcBef>
                <a:spcPts val="6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Monolithic 	–  UNIX</a:t>
            </a:r>
          </a:p>
          <a:p>
            <a:pPr lvl="1" defTabSz="992188">
              <a:spcBef>
                <a:spcPts val="6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Layered 		–  an abstraction</a:t>
            </a:r>
          </a:p>
          <a:p>
            <a:pPr lvl="1" defTabSz="992188">
              <a:spcBef>
                <a:spcPts val="6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Microkernel 	–  Mach</a:t>
            </a:r>
          </a:p>
          <a:p>
            <a:pPr lvl="1" defTabSz="992188">
              <a:spcBef>
                <a:spcPts val="6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Modules 		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–  Linux, Solaris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92188">
              <a:spcBef>
                <a:spcPts val="6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Hybrid Systems 	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–  m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acOS, iOS, Android</a:t>
            </a:r>
          </a:p>
          <a:p>
            <a:pPr lvl="1" defTabSz="992188">
              <a:spcBef>
                <a:spcPts val="600"/>
              </a:spcBef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6DFD78C-C0F1-588E-E4BB-39E5F81776B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2EF1-A783-FE55-3D66-ECAEA587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3E6AA800-9614-F394-60C7-68F5AFFAA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320" y="289485"/>
            <a:ext cx="8137525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Monolithic Structure – Original UNIX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6D97FCB-5A54-5A7F-2941-09A7A3EB6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541" y="1054124"/>
            <a:ext cx="8413070" cy="5514391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Original Unix OS had limited structuring </a:t>
            </a:r>
            <a:r>
              <a:rPr lang="en-US" alt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Monolithic</a:t>
            </a:r>
          </a:p>
          <a:p>
            <a:pPr marL="630238" lvl="1">
              <a:lnSpc>
                <a:spcPct val="114000"/>
              </a:lnSpc>
              <a:spcBef>
                <a:spcPts val="600"/>
              </a:spcBef>
            </a:pP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entire OS a </a:t>
            </a:r>
            <a:r>
              <a:rPr lang="en-US" sz="21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large program 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running in kernel mode </a:t>
            </a:r>
          </a:p>
          <a:p>
            <a:pPr marL="630238" lvl="1">
              <a:lnSpc>
                <a:spcPct val="114000"/>
              </a:lnSpc>
              <a:spcBef>
                <a:spcPts val="0"/>
              </a:spcBef>
            </a:pPr>
            <a:r>
              <a:rPr lang="en-US" sz="2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contained all essential functions &amp; services </a:t>
            </a:r>
          </a:p>
          <a:p>
            <a:pPr marL="630238" lvl="1">
              <a:lnSpc>
                <a:spcPct val="114000"/>
              </a:lnSpc>
              <a:spcBef>
                <a:spcPts val="0"/>
              </a:spcBef>
            </a:pPr>
            <a:r>
              <a:rPr lang="en-US" altLang="en-US" sz="21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included </a:t>
            </a:r>
            <a:r>
              <a:rPr lang="en-US" altLang="en-US" sz="2100" kern="100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Kernel</a:t>
            </a:r>
            <a:r>
              <a:rPr lang="en-US" altLang="en-US" sz="21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altLang="en-US" sz="2100" kern="100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System programs</a:t>
            </a:r>
          </a:p>
          <a:p>
            <a:pPr>
              <a:lnSpc>
                <a:spcPct val="114000"/>
              </a:lnSpc>
              <a:spcBef>
                <a:spcPts val="1200"/>
              </a:spcBef>
            </a:pP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Kernel…</a:t>
            </a:r>
          </a:p>
          <a:p>
            <a:pPr marL="630238" lvl="1">
              <a:lnSpc>
                <a:spcPct val="114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everything below 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 interface</a:t>
            </a:r>
            <a:b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&amp; above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H/W</a:t>
            </a:r>
          </a:p>
          <a:p>
            <a:pPr marL="630238" lvl="1">
              <a:lnSpc>
                <a:spcPct val="114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included :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scheduling, 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memory management,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file system, 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 drivers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3424EB3-E297-FE24-6C35-5303441E9F1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6139C-2366-F5A1-EF02-B42967882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646" y="2889112"/>
            <a:ext cx="5624860" cy="350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6" name="Picture 2">
            <a:extLst>
              <a:ext uri="{FF2B5EF4-FFF2-40B4-BE49-F238E27FC236}">
                <a16:creationId xmlns:a16="http://schemas.microsoft.com/office/drawing/2014/main" id="{0AF4FCDF-1BC0-40A0-B88F-416549435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909" y="2745920"/>
            <a:ext cx="6420070" cy="375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5243D06-A56A-6488-20EA-74A8969FA2E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F2B222B-C1DD-79E3-A986-032253664CC1}"/>
              </a:ext>
            </a:extLst>
          </p:cNvPr>
          <p:cNvSpPr txBox="1">
            <a:spLocks noChangeArrowheads="1"/>
          </p:cNvSpPr>
          <p:nvPr/>
        </p:nvSpPr>
        <p:spPr>
          <a:xfrm>
            <a:off x="426131" y="1033104"/>
            <a:ext cx="8413070" cy="138427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en-US" sz="2200" b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 structure </a:t>
            </a:r>
            <a:r>
              <a:rPr lang="en-US" alt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lnSpc>
                <a:spcPct val="114000"/>
              </a:lnSpc>
              <a:spcBef>
                <a:spcPts val="0"/>
              </a:spcBef>
            </a:pPr>
            <a:r>
              <a:rPr lang="en-US" altLang="en-US" sz="2000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difficult</a:t>
            </a:r>
            <a:r>
              <a:rPr lang="en-US" alt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to implement, maintain, &amp; extend </a:t>
            </a:r>
          </a:p>
          <a:p>
            <a:pPr lvl="1">
              <a:lnSpc>
                <a:spcPct val="114000"/>
              </a:lnSpc>
              <a:spcBef>
                <a:spcPts val="0"/>
              </a:spcBef>
            </a:pPr>
            <a:r>
              <a:rPr lang="en-US" altLang="en-US" sz="2000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en-US" alt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 in terms of performance</a:t>
            </a:r>
          </a:p>
          <a:p>
            <a:pPr lvl="1">
              <a:lnSpc>
                <a:spcPct val="114000"/>
              </a:lnSpc>
              <a:spcBef>
                <a:spcPts val="0"/>
              </a:spcBef>
            </a:pPr>
            <a:r>
              <a:rPr lang="en-US" altLang="en-US" sz="2000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 overhead </a:t>
            </a:r>
            <a:r>
              <a:rPr lang="en-US" alt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in comm within kernel, or system call interface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372FEE-8B72-F78D-51BD-07B11004D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320" y="289485"/>
            <a:ext cx="8137525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Monolithic Structure – Original UNIX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D347B9A-F212-4276-94F4-7598F322B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Layered Approach</a:t>
            </a:r>
          </a:p>
        </p:txBody>
      </p:sp>
      <p:pic>
        <p:nvPicPr>
          <p:cNvPr id="83972" name="Picture 2">
            <a:extLst>
              <a:ext uri="{FF2B5EF4-FFF2-40B4-BE49-F238E27FC236}">
                <a16:creationId xmlns:a16="http://schemas.microsoft.com/office/drawing/2014/main" id="{407A23F2-DA55-4CEE-97C1-871903D96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582" y="1235984"/>
            <a:ext cx="4015418" cy="36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A9627D0-607A-1B5D-63A9-6F15A585691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F88837C-C3AF-4F6B-BDE3-AD82D9B29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551" y="1101181"/>
            <a:ext cx="8553449" cy="5467576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OS divided into different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layers :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each layer responsible for some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function/service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bottom layer –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H/W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(layer 0)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top –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interface </a:t>
            </a:r>
            <a:r>
              <a:rPr lang="en-US" altLang="en-US" sz="20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(layer N)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layer can use services only of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its lower layer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Clear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separation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of functions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easier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to implement / maintain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Performance issue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interaction between layers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traverse multiple layers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system calls – 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overhead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of processing/comm</a:t>
            </a:r>
          </a:p>
          <a:p>
            <a:pPr marL="630238"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assigning layer functions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877023E-2F55-41F6-99AD-606BBD5F5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07963"/>
            <a:ext cx="7816850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Microkernels</a:t>
            </a:r>
            <a:endParaRPr lang="en-US" altLang="en-US" sz="2400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3C84D0A-C5EC-46A8-A546-5363A149B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8487" y="1136831"/>
            <a:ext cx="8574000" cy="530070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kernel –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min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functionality in core OS 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additional components &amp; services </a:t>
            </a:r>
            <a:r>
              <a:rPr lang="en-US" altLang="en-US" sz="21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system/user level programs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interaction between apps &amp; services </a:t>
            </a:r>
            <a:r>
              <a:rPr lang="en-US" altLang="en-US" sz="21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only thru microkernel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main function – </a:t>
            </a:r>
            <a:r>
              <a:rPr lang="en-US" alt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 passing</a:t>
            </a:r>
            <a:b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client programs &amp; services running in user space</a:t>
            </a:r>
          </a:p>
          <a:p>
            <a:pPr lvl="1">
              <a:spcBef>
                <a:spcPts val="30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easier to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extend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	      	–  new services added in user space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more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reliable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	–  less code running in kernel mode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performance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overhead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	–  user to kernel space comm</a:t>
            </a:r>
          </a:p>
          <a:p>
            <a:pPr>
              <a:spcBef>
                <a:spcPts val="3000"/>
              </a:spcBef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operating system used microkernel</a:t>
            </a: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macOS kernel </a:t>
            </a:r>
            <a:r>
              <a:rPr lang="en-US" altLang="en-US" sz="21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(Darwin)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partly based on Mach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4823F60-E4E3-D172-BF87-9218F363EEA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104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1DBEE6C-3A88-4D5B-9245-EF2BF859C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288" y="214313"/>
            <a:ext cx="7399337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3F01616-A6A6-E0C4-33E5-60183DABB18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 descr="2_14.pdf">
            <a:extLst>
              <a:ext uri="{FF2B5EF4-FFF2-40B4-BE49-F238E27FC236}">
                <a16:creationId xmlns:a16="http://schemas.microsoft.com/office/drawing/2014/main" id="{DBB415E4-D1BC-5283-B0FF-7A531D858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31" y="1469390"/>
            <a:ext cx="8332956" cy="4032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8954A814-12BC-495B-A1ED-BBB6D763D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900"/>
            <a:ext cx="8077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Modules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C37B4459-CB96-4BE9-94C0-897616652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9858" y="1085645"/>
            <a:ext cx="8329022" cy="5415485"/>
          </a:xfrm>
        </p:spPr>
        <p:txBody>
          <a:bodyPr/>
          <a:lstStyle/>
          <a:p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Loadable Kernel Modules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current best design methodology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Kernel provides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set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of core services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scheduling, memory management, IPC, </a:t>
            </a:r>
            <a:r>
              <a:rPr lang="en-US" alt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Additional functions added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dynamically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modules loaded at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runtime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or </a:t>
            </a:r>
            <a:r>
              <a:rPr 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 time </a:t>
            </a: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–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device drivers,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file systems,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network protocols, security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“Kernel can be extended / modified without the need to </a:t>
            </a:r>
            <a:b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recompile or reboot entire OS”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Similar to layers model, but more </a:t>
            </a:r>
            <a:r>
              <a:rPr lang="en-US" alt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flexible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any module can call any other module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Linux, Solaris, </a:t>
            </a:r>
            <a:r>
              <a:rPr lang="en-US" alt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C34856B-79D9-A9C0-FCD2-D13BE0AD5D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38BB792-4B15-4757-85D3-D0B6840E0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215900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/>
              <a:t>Linux System Structure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9B3ADA3-2CD4-4E10-C492-213462F54AA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64BC03A-AC2D-776C-424D-39C97AA34E1C}"/>
              </a:ext>
            </a:extLst>
          </p:cNvPr>
          <p:cNvSpPr txBox="1">
            <a:spLocks noChangeArrowheads="1"/>
          </p:cNvSpPr>
          <p:nvPr/>
        </p:nvSpPr>
        <p:spPr>
          <a:xfrm>
            <a:off x="413204" y="1216115"/>
            <a:ext cx="4260396" cy="525380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kumimoji="0"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</a:t>
            </a:r>
            <a:r>
              <a:rPr kumimoji="0"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plus </a:t>
            </a:r>
            <a:r>
              <a:rPr kumimoji="0" lang="en-US" alt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Modular</a:t>
            </a:r>
            <a:r>
              <a:rPr kumimoji="0"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design</a:t>
            </a:r>
          </a:p>
          <a:p>
            <a:pPr>
              <a:spcBef>
                <a:spcPts val="1800"/>
              </a:spcBef>
            </a:pPr>
            <a:r>
              <a:rPr kumimoji="0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Kernel runs as single program, provides core system functions</a:t>
            </a:r>
          </a:p>
          <a:p>
            <a:pPr>
              <a:spcBef>
                <a:spcPts val="1800"/>
              </a:spcBef>
            </a:pPr>
            <a:r>
              <a:rPr kumimoji="0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Support for loadable kernel modules</a:t>
            </a:r>
          </a:p>
          <a:p>
            <a:pPr marL="630238" lvl="1">
              <a:spcBef>
                <a:spcPts val="1200"/>
              </a:spcBef>
            </a:pPr>
            <a:r>
              <a:rPr kumimoji="0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loaded &amp; unloaded dynamically at runtime</a:t>
            </a:r>
          </a:p>
          <a:p>
            <a:pPr marL="630238" lvl="1">
              <a:spcBef>
                <a:spcPts val="1200"/>
              </a:spcBef>
            </a:pPr>
            <a:r>
              <a:rPr kumimoji="0"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loadable modules include;</a:t>
            </a:r>
          </a:p>
          <a:p>
            <a:pPr marL="628650" lvl="1" indent="1588">
              <a:lnSpc>
                <a:spcPct val="110000"/>
              </a:lnSpc>
              <a:spcBef>
                <a:spcPts val="600"/>
              </a:spcBef>
              <a:buNone/>
            </a:pPr>
            <a:r>
              <a:rPr kumimoji="0"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 drivers,  file systems, </a:t>
            </a:r>
            <a:br>
              <a:rPr kumimoji="0"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additional features</a:t>
            </a:r>
          </a:p>
        </p:txBody>
      </p:sp>
      <p:pic>
        <p:nvPicPr>
          <p:cNvPr id="81924" name="Picture 3">
            <a:extLst>
              <a:ext uri="{FF2B5EF4-FFF2-40B4-BE49-F238E27FC236}">
                <a16:creationId xmlns:a16="http://schemas.microsoft.com/office/drawing/2014/main" id="{3916281A-E631-49D0-A316-EE6C756C9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160" y="969188"/>
            <a:ext cx="3824851" cy="5705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610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E33F726-7420-07DD-73B6-864ABF61F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Modular Approach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7DC95C7-3B70-7B9E-9E67-A105BDA5A4A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B4BDA-2A44-DF4D-C4E7-CF3F5B572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7" y="1700366"/>
            <a:ext cx="6773863" cy="3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0BB8BEE-979C-4417-91EE-00F824033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Hybrid Systems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41C8CF6-730E-4ECC-9656-D3926F90E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0998" y="1071131"/>
            <a:ext cx="8621488" cy="570341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Most modern OS are not one pure model </a:t>
            </a:r>
            <a:r>
              <a:rPr lang="en-US" altLang="en-US" sz="24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hybrid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combine multiple approaches </a:t>
            </a:r>
            <a:r>
              <a:rPr lang="en-US" altLang="en-US" sz="20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balance performance / usability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Linux &amp; Solaris kernels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modular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kernel in single address space </a:t>
            </a:r>
            <a:r>
              <a:rPr lang="en-US" altLang="en-US" sz="24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efficient </a:t>
            </a:r>
          </a:p>
          <a:p>
            <a:pPr lvl="1">
              <a:spcBef>
                <a:spcPts val="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modules for dynamic loading of functionality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Windows mostly </a:t>
            </a:r>
            <a:r>
              <a:rPr lang="en-US" alt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at core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some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components exhibit 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microkernel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like features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 some user-level programs &amp; services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Apple macOS is hybrid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kernel based on Mach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microkernel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layered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architecture </a:t>
            </a:r>
            <a:r>
              <a:rPr lang="en-US" altLang="en-US" sz="21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in user space, apps/services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loadable modules </a:t>
            </a:r>
            <a:r>
              <a:rPr lang="en-US" altLang="en-US" sz="21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kernel extensions 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(dev drivers, networking, </a:t>
            </a:r>
            <a:r>
              <a:rPr lang="en-US" altLang="en-US" sz="2100" i="1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B190FC-43C3-FC5C-4DA9-E76A2C83BD2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63762A3F-E3BF-4B1B-8ABF-9D43E9D3C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25"/>
            <a:ext cx="80708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Android &amp; iOS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13D559C0-E4A0-4AA2-953F-F1E8A81C3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835" y="1228473"/>
            <a:ext cx="8347710" cy="5333887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based on Linux</a:t>
            </a:r>
            <a:r>
              <a:rPr lang="en-US" altLang="en-US" sz="2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overall system organization  – 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layered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kernel </a:t>
            </a:r>
            <a:r>
              <a:rPr lang="en-US" sz="2100" i="1" dirty="0"/>
              <a:t>→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HAL </a:t>
            </a:r>
            <a:r>
              <a:rPr lang="en-US" sz="2100" i="1" dirty="0"/>
              <a:t>→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libraries </a:t>
            </a:r>
            <a:r>
              <a:rPr lang="en-US" sz="2100" i="1" dirty="0"/>
              <a:t>→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framework </a:t>
            </a:r>
            <a:r>
              <a:rPr lang="en-US" sz="2100" i="1" dirty="0"/>
              <a:t>→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apps</a:t>
            </a:r>
            <a:endParaRPr lang="en-US" altLang="en-US" sz="21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components within each layer  –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modular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57250" lvl="2" indent="0">
              <a:spcBef>
                <a:spcPts val="600"/>
              </a:spcBef>
              <a:buNone/>
            </a:pP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100" i="1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, device drivers are loadable modules</a:t>
            </a:r>
          </a:p>
          <a:p>
            <a:pPr marL="857250" lvl="2" indent="0">
              <a:spcBef>
                <a:spcPts val="600"/>
              </a:spcBef>
              <a:buNone/>
            </a:pP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</a:p>
          <a:p>
            <a:pPr marL="630238"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Apple mobile OS  </a:t>
            </a:r>
            <a:r>
              <a:rPr lang="en-US" sz="2400" i="1" dirty="0"/>
              <a:t>→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iPhone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iPad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1825"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combines elements of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monolithic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microkernel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designs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1825"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Core OS </a:t>
            </a:r>
            <a:r>
              <a:rPr lang="en-US" sz="2000" i="1" dirty="0"/>
              <a:t>→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structured on macOS</a:t>
            </a:r>
          </a:p>
          <a:p>
            <a:pPr marL="631825" lvl="1">
              <a:spcBef>
                <a:spcPts val="600"/>
              </a:spcBef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D232150-7DAD-E159-0D0F-297B270374F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30565</TotalTime>
  <Words>4599</Words>
  <Application>Microsoft Office PowerPoint</Application>
  <PresentationFormat>On-screen Show (4:3)</PresentationFormat>
  <Paragraphs>696</Paragraphs>
  <Slides>64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9" baseType="lpstr">
      <vt:lpstr>Abadi</vt:lpstr>
      <vt:lpstr>Arial</vt:lpstr>
      <vt:lpstr>Calibri</vt:lpstr>
      <vt:lpstr>Courier New</vt:lpstr>
      <vt:lpstr>Gill Sans MT</vt:lpstr>
      <vt:lpstr>Helvetica</vt:lpstr>
      <vt:lpstr>Monotype Sorts</vt:lpstr>
      <vt:lpstr>Symbol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Outline</vt:lpstr>
      <vt:lpstr>Interrupts</vt:lpstr>
      <vt:lpstr>PowerPoint Presentation</vt:lpstr>
      <vt:lpstr>Interrupt Handling</vt:lpstr>
      <vt:lpstr>Interrupt Handling</vt:lpstr>
      <vt:lpstr>PowerPoint Presentation</vt:lpstr>
      <vt:lpstr>Input Output (I/O) Operation</vt:lpstr>
      <vt:lpstr>Input Output Operation</vt:lpstr>
      <vt:lpstr>Input Output (I/O)</vt:lpstr>
      <vt:lpstr>Input Output (I/O)</vt:lpstr>
      <vt:lpstr>Interrupt driven  I/O Cycle</vt:lpstr>
      <vt:lpstr>Input Output (I/O)</vt:lpstr>
      <vt:lpstr>Input Output (I/O)</vt:lpstr>
      <vt:lpstr>OS Protection &amp; Dual Mode Operation</vt:lpstr>
      <vt:lpstr>Protection</vt:lpstr>
      <vt:lpstr>Dual Mode Operation</vt:lpstr>
      <vt:lpstr>Transition - User to Kernel Mode</vt:lpstr>
      <vt:lpstr>Protecting Processes</vt:lpstr>
      <vt:lpstr>I/O Protection</vt:lpstr>
      <vt:lpstr>Memory Protection</vt:lpstr>
      <vt:lpstr>Memory Protection</vt:lpstr>
      <vt:lpstr>Memory Protection</vt:lpstr>
      <vt:lpstr>CPU Protection</vt:lpstr>
      <vt:lpstr>Operating System Services</vt:lpstr>
      <vt:lpstr>Operating System Services</vt:lpstr>
      <vt:lpstr>OS Services</vt:lpstr>
      <vt:lpstr>OS Services</vt:lpstr>
      <vt:lpstr>OS Services</vt:lpstr>
      <vt:lpstr>User Interface</vt:lpstr>
      <vt:lpstr>Command Line Interface </vt:lpstr>
      <vt:lpstr>Bourne Shell</vt:lpstr>
      <vt:lpstr>GUI</vt:lpstr>
      <vt:lpstr>Touchscreen Interfaces</vt:lpstr>
      <vt:lpstr>Programmer Interface System Calls</vt:lpstr>
      <vt:lpstr>System Calls</vt:lpstr>
      <vt:lpstr>System Calls</vt:lpstr>
      <vt:lpstr>Example of Standard API</vt:lpstr>
      <vt:lpstr>Example – System calls</vt:lpstr>
      <vt:lpstr>System Call Interface</vt:lpstr>
      <vt:lpstr>System Call Interface</vt:lpstr>
      <vt:lpstr>System Call Parameter Passing</vt:lpstr>
      <vt:lpstr>Parameter Passing via Table</vt:lpstr>
      <vt:lpstr>Types of System Calls</vt:lpstr>
      <vt:lpstr>Types of System Calls</vt:lpstr>
      <vt:lpstr>Types of System Calls</vt:lpstr>
      <vt:lpstr>Types of System Calls</vt:lpstr>
      <vt:lpstr>PowerPoint Presentation</vt:lpstr>
      <vt:lpstr>System Programs</vt:lpstr>
      <vt:lpstr>System Programs</vt:lpstr>
      <vt:lpstr>System Programs</vt:lpstr>
      <vt:lpstr>System Programs</vt:lpstr>
      <vt:lpstr>OS Structure</vt:lpstr>
      <vt:lpstr>Operating System Structure</vt:lpstr>
      <vt:lpstr>Monolithic Structure – Original UNIX</vt:lpstr>
      <vt:lpstr>Monolithic Structure – Original UNIX</vt:lpstr>
      <vt:lpstr>Layered Approach</vt:lpstr>
      <vt:lpstr>Microkernels</vt:lpstr>
      <vt:lpstr>Microkernel System Structure </vt:lpstr>
      <vt:lpstr>Modules</vt:lpstr>
      <vt:lpstr>Linux System Structure</vt:lpstr>
      <vt:lpstr>Solaris Modular Approach</vt:lpstr>
      <vt:lpstr>Hybrid Systems</vt:lpstr>
      <vt:lpstr>Android &amp; iOS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557</cp:revision>
  <cp:lastPrinted>2001-06-14T13:58:17Z</cp:lastPrinted>
  <dcterms:created xsi:type="dcterms:W3CDTF">2011-01-13T23:43:38Z</dcterms:created>
  <dcterms:modified xsi:type="dcterms:W3CDTF">2025-10-13T06:57:01Z</dcterms:modified>
</cp:coreProperties>
</file>