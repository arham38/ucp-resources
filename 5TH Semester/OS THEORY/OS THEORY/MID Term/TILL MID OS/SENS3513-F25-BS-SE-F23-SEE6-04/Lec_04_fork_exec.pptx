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1"/>
  </p:notesMasterIdLst>
  <p:handoutMasterIdLst>
    <p:handoutMasterId r:id="rId52"/>
  </p:handoutMasterIdLst>
  <p:sldIdLst>
    <p:sldId id="256" r:id="rId2"/>
    <p:sldId id="348" r:id="rId3"/>
    <p:sldId id="499" r:id="rId4"/>
    <p:sldId id="545" r:id="rId5"/>
    <p:sldId id="394" r:id="rId6"/>
    <p:sldId id="542" r:id="rId7"/>
    <p:sldId id="392" r:id="rId8"/>
    <p:sldId id="686" r:id="rId9"/>
    <p:sldId id="431" r:id="rId10"/>
    <p:sldId id="546" r:id="rId11"/>
    <p:sldId id="547" r:id="rId12"/>
    <p:sldId id="548" r:id="rId13"/>
    <p:sldId id="420" r:id="rId14"/>
    <p:sldId id="418" r:id="rId15"/>
    <p:sldId id="398" r:id="rId16"/>
    <p:sldId id="519" r:id="rId17"/>
    <p:sldId id="520" r:id="rId18"/>
    <p:sldId id="521" r:id="rId19"/>
    <p:sldId id="522" r:id="rId20"/>
    <p:sldId id="523" r:id="rId21"/>
    <p:sldId id="524" r:id="rId22"/>
    <p:sldId id="526" r:id="rId23"/>
    <p:sldId id="549" r:id="rId24"/>
    <p:sldId id="676" r:id="rId25"/>
    <p:sldId id="687" r:id="rId26"/>
    <p:sldId id="395" r:id="rId27"/>
    <p:sldId id="541" r:id="rId28"/>
    <p:sldId id="529" r:id="rId29"/>
    <p:sldId id="674" r:id="rId30"/>
    <p:sldId id="537" r:id="rId31"/>
    <p:sldId id="396" r:id="rId32"/>
    <p:sldId id="397" r:id="rId33"/>
    <p:sldId id="480" r:id="rId34"/>
    <p:sldId id="514" r:id="rId35"/>
    <p:sldId id="544" r:id="rId36"/>
    <p:sldId id="527" r:id="rId37"/>
    <p:sldId id="528" r:id="rId38"/>
    <p:sldId id="539" r:id="rId39"/>
    <p:sldId id="689" r:id="rId40"/>
    <p:sldId id="518" r:id="rId41"/>
    <p:sldId id="540" r:id="rId42"/>
    <p:sldId id="531" r:id="rId43"/>
    <p:sldId id="685" r:id="rId44"/>
    <p:sldId id="684" r:id="rId45"/>
    <p:sldId id="532" r:id="rId46"/>
    <p:sldId id="533" r:id="rId47"/>
    <p:sldId id="681" r:id="rId48"/>
    <p:sldId id="682" r:id="rId49"/>
    <p:sldId id="680" r:id="rId50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3" autoAdjust="0"/>
    <p:restoredTop sz="94667"/>
  </p:normalViewPr>
  <p:slideViewPr>
    <p:cSldViewPr snapToGrid="0">
      <p:cViewPr varScale="1">
        <p:scale>
          <a:sx n="57" d="100"/>
          <a:sy n="57" d="100"/>
        </p:scale>
        <p:origin x="1372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196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10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911B757C-11F6-4804-BBBA-51D1076636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AC8E09B-CF1C-49E5-863A-C8016F142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052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394C5E-7027-472F-90C9-6F7FCDF860E1}" type="slidenum">
              <a:rPr lang="en-US"/>
              <a:pPr/>
              <a:t>5</a:t>
            </a:fld>
            <a:endParaRPr lang="en-US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705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911B757C-11F6-4804-BBBA-51D1076636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AC8E09B-CF1C-49E5-863A-C8016F142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4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29E4F6-8D58-473A-A276-DA6FB0BC9F7A}" type="slidenum">
              <a:rPr lang="en-US"/>
              <a:pPr/>
              <a:t>7</a:t>
            </a:fld>
            <a:endParaRPr lang="en-US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94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0151-984B-BA5F-E251-D5A1FD4E2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F0610523-9120-BDC7-4186-8EA54CDB22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84F20176-E12F-BC0D-90B7-94B9CC2A66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9345226-0C67-85EA-25EA-1DB700DCF1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718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53F10A-53F5-48A4-8F24-D3022388FBB3}" type="slidenum">
              <a:rPr lang="en-US"/>
              <a:pPr/>
              <a:t>10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84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1B15AD-71C7-43F7-AEFA-D2FB6EFA696A}" type="slidenum">
              <a:rPr lang="en-US"/>
              <a:pPr/>
              <a:t>11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94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ED9F11-1DDF-483B-9576-921774E8B507}" type="slidenum">
              <a:rPr lang="en-US"/>
              <a:pPr/>
              <a:t>12</a:t>
            </a:fld>
            <a:endParaRPr lang="en-US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58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13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566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7A7C65-BCB1-40B8-8C4D-1216214E8F87}" type="slidenum">
              <a:rPr lang="en-US"/>
              <a:pPr/>
              <a:t>14</a:t>
            </a:fld>
            <a:endParaRPr lang="en-US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06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1B15AD-71C7-43F7-AEFA-D2FB6EFA696A}" type="slidenum">
              <a:rPr lang="en-US"/>
              <a:pPr/>
              <a:t>15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68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16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24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17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244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18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9334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19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872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20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07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21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1745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22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523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4A5A9E-D468-4538-AEFF-0AE15D623D6A}" type="slidenum">
              <a:rPr lang="en-US"/>
              <a:pPr/>
              <a:t>23</a:t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23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ABD01-4208-AB8C-C2EA-0AA1E154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5DFD633-5D8D-8F16-FDD1-57F30D3D8F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24</a:t>
            </a:fld>
            <a:endParaRPr lang="en-US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059D5645-D8BF-196D-5D6B-BA22A99AB5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B6E4FE8-F690-5FC3-39B1-D3A771F5E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571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9C192-111C-0134-3945-A89FD4FC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421FF665-AB34-1C76-B028-F19B22ECD6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DC718857-9437-3F91-8009-A0CA5C24D0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6B718A7-C4D8-5ECD-D05F-ACE01F62D9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874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6C0557-B12F-4AD7-BA8B-D2E898A43781}" type="slidenum">
              <a:rPr lang="en-US"/>
              <a:pPr/>
              <a:t>26</a:t>
            </a:fld>
            <a:endParaRPr lang="en-US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841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6C0557-B12F-4AD7-BA8B-D2E898A43781}" type="slidenum">
              <a:rPr lang="en-US"/>
              <a:pPr/>
              <a:t>27</a:t>
            </a:fld>
            <a:endParaRPr lang="en-US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2925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1B15AD-71C7-43F7-AEFA-D2FB6EFA696A}" type="slidenum">
              <a:rPr lang="en-US"/>
              <a:pPr/>
              <a:t>28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231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29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2010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30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7644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4A5A9E-D468-4538-AEFF-0AE15D623D6A}" type="slidenum">
              <a:rPr lang="en-US"/>
              <a:pPr/>
              <a:t>31</a:t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83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F5F4F3-7856-4FD0-ACD6-2B8222EACF83}" type="slidenum">
              <a:rPr lang="en-US"/>
              <a:pPr/>
              <a:t>32</a:t>
            </a:fld>
            <a:endParaRPr lang="en-US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056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369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34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b="1" dirty="0"/>
              <a:t>-a: </a:t>
            </a:r>
            <a:r>
              <a:rPr lang="en-US" dirty="0"/>
              <a:t>displays information about the processes executing on your terminal except the session leader (your login shell)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-e: </a:t>
            </a:r>
            <a:r>
              <a:rPr lang="en-US" dirty="0"/>
              <a:t>display info about all the processes running on the system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-l: </a:t>
            </a:r>
            <a:r>
              <a:rPr lang="en-US" dirty="0"/>
              <a:t>display long list (14 columns) of the status report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-u </a:t>
            </a:r>
            <a:r>
              <a:rPr lang="en-US" b="1" dirty="0" err="1"/>
              <a:t>uidlist</a:t>
            </a:r>
            <a:r>
              <a:rPr lang="en-US" b="1" dirty="0"/>
              <a:t>:</a:t>
            </a:r>
            <a:r>
              <a:rPr lang="en-US" baseline="0" dirty="0"/>
              <a:t> </a:t>
            </a:r>
            <a:r>
              <a:rPr lang="en-US" dirty="0"/>
              <a:t> display info about processes belonging toe the users with the UIDs in comma separated</a:t>
            </a:r>
            <a:r>
              <a:rPr lang="en-US" baseline="0" dirty="0"/>
              <a:t> </a:t>
            </a:r>
            <a:r>
              <a:rPr lang="en-US" dirty="0" err="1"/>
              <a:t>uidlist</a:t>
            </a:r>
            <a:r>
              <a:rPr lang="en-US" dirty="0"/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0" indent="0">
              <a:buFont typeface="+mj-lt"/>
              <a:buNone/>
            </a:pPr>
            <a:r>
              <a:rPr lang="en-US" dirty="0"/>
              <a:t>State</a:t>
            </a:r>
            <a:r>
              <a:rPr lang="en-US" baseline="0" dirty="0"/>
              <a:t> : I, R, S, T U, Z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Arial" pitchFamily="34" charset="0"/>
              <a:buChar char="•"/>
            </a:pPr>
            <a:r>
              <a:rPr lang="en-US" b="1" dirty="0"/>
              <a:t>Daemon</a:t>
            </a:r>
            <a:r>
              <a:rPr lang="en-US" dirty="0"/>
              <a:t> is a</a:t>
            </a:r>
            <a:r>
              <a:rPr lang="en-US" baseline="0" dirty="0"/>
              <a:t> system process running in the back ground, e.g., </a:t>
            </a:r>
            <a:r>
              <a:rPr lang="en-US" baseline="0" dirty="0" err="1"/>
              <a:t>lpd</a:t>
            </a:r>
            <a:r>
              <a:rPr lang="en-US" baseline="0" dirty="0"/>
              <a:t>, </a:t>
            </a:r>
            <a:r>
              <a:rPr lang="en-US" baseline="0" dirty="0" err="1"/>
              <a:t>fingerd</a:t>
            </a:r>
            <a:r>
              <a:rPr lang="en-US" baseline="0" dirty="0"/>
              <a:t>, </a:t>
            </a:r>
            <a:r>
              <a:rPr lang="en-US" baseline="0" dirty="0" err="1"/>
              <a:t>inetd</a:t>
            </a:r>
            <a:r>
              <a:rPr lang="en-US" baseline="0" dirty="0"/>
              <a:t>, </a:t>
            </a:r>
          </a:p>
          <a:p>
            <a:pPr marL="228600" indent="-228600">
              <a:buFont typeface="Arial" pitchFamily="34" charset="0"/>
              <a:buChar char="•"/>
            </a:pPr>
            <a:r>
              <a:rPr lang="en-US" baseline="0" dirty="0"/>
              <a:t>The primary purpose of kill command is to send a signal / software interrupt to a process.</a:t>
            </a:r>
          </a:p>
          <a:p>
            <a:pPr marL="228600" indent="-228600">
              <a:buFont typeface="Arial" pitchFamily="34" charset="0"/>
              <a:buChar char="•"/>
            </a:pPr>
            <a:endParaRPr lang="en-US" baseline="0" dirty="0"/>
          </a:p>
          <a:p>
            <a:pPr algn="l"/>
            <a:r>
              <a:rPr lang="en-US" sz="1200" b="0" baseline="0" dirty="0">
                <a:latin typeface="Comic Sans MS" pitchFamily="66" charset="0"/>
              </a:rPr>
              <a:t>Commonly used </a:t>
            </a:r>
            <a:r>
              <a:rPr lang="en-US" sz="1200" b="1" baseline="0" dirty="0">
                <a:latin typeface="Comic Sans MS" pitchFamily="66" charset="0"/>
              </a:rPr>
              <a:t>signal numbers</a:t>
            </a:r>
            <a:r>
              <a:rPr lang="en-US" sz="1200" b="0" baseline="0" dirty="0">
                <a:latin typeface="Comic Sans MS" pitchFamily="66" charset="0"/>
              </a:rPr>
              <a:t>:</a:t>
            </a:r>
          </a:p>
          <a:p>
            <a:pPr algn="l"/>
            <a:r>
              <a:rPr lang="en-US" sz="1200" b="0" baseline="0" dirty="0">
                <a:latin typeface="Comic Sans MS" pitchFamily="66" charset="0"/>
              </a:rPr>
              <a:t>-1:    Hang up signal is generated when you log out</a:t>
            </a:r>
          </a:p>
          <a:p>
            <a:pPr algn="l"/>
            <a:r>
              <a:rPr lang="en-US" sz="1200" b="0" baseline="0" dirty="0">
                <a:latin typeface="Comic Sans MS" pitchFamily="66" charset="0"/>
              </a:rPr>
              <a:t>-2:    Interrupt signal is generate when you press CTRL + C</a:t>
            </a:r>
          </a:p>
          <a:p>
            <a:pPr algn="l"/>
            <a:r>
              <a:rPr lang="en-US" sz="1200" b="0" baseline="0" dirty="0">
                <a:latin typeface="Comic Sans MS" pitchFamily="66" charset="0"/>
              </a:rPr>
              <a:t>-3:    Quit signal is generated when you press CTRL-\</a:t>
            </a:r>
          </a:p>
          <a:p>
            <a:pPr algn="l"/>
            <a:r>
              <a:rPr lang="en-US" sz="1200" b="0" baseline="0" dirty="0">
                <a:latin typeface="Comic Sans MS" pitchFamily="66" charset="0"/>
              </a:rPr>
              <a:t>-9:    Sure kill</a:t>
            </a:r>
          </a:p>
          <a:p>
            <a:pPr algn="l"/>
            <a:r>
              <a:rPr lang="en-US" sz="1200" b="0" baseline="0" dirty="0">
                <a:latin typeface="Comic Sans MS" pitchFamily="66" charset="0"/>
              </a:rPr>
              <a:t>-15:  Software signal ( default signal number)</a:t>
            </a:r>
            <a:endParaRPr lang="en-US" sz="1200" b="0" dirty="0">
              <a:latin typeface="Comic Sans MS" pitchFamily="66" charset="0"/>
            </a:endParaRPr>
          </a:p>
          <a:p>
            <a:pPr marL="228600" indent="-22860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0574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7A7C65-BCB1-40B8-8C4D-1216214E8F87}" type="slidenum">
              <a:rPr lang="en-US"/>
              <a:pPr/>
              <a:t>35</a:t>
            </a:fld>
            <a:endParaRPr lang="en-US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97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ED9F11-1DDF-483B-9576-921774E8B507}" type="slidenum">
              <a:rPr lang="en-US"/>
              <a:pPr/>
              <a:t>36</a:t>
            </a:fld>
            <a:endParaRPr lang="en-US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913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ED9F11-1DDF-483B-9576-921774E8B507}" type="slidenum">
              <a:rPr lang="en-US"/>
              <a:pPr/>
              <a:t>37</a:t>
            </a:fld>
            <a:endParaRPr lang="en-US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054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ED9F11-1DDF-483B-9576-921774E8B507}" type="slidenum">
              <a:rPr lang="en-US"/>
              <a:pPr/>
              <a:t>38</a:t>
            </a:fld>
            <a:endParaRPr lang="en-US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45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A264C-6EEB-3ADE-E648-ADC2940A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C91B490-5668-1A24-C4AA-FEA84B6D68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81943EB-1AE4-2BED-6448-C3E27C0E5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D11F90F-5BC1-6865-C27B-4C9926D78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1792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ED9F11-1DDF-483B-9576-921774E8B507}" type="slidenum">
              <a:rPr lang="en-US"/>
              <a:pPr/>
              <a:t>40</a:t>
            </a:fld>
            <a:endParaRPr lang="en-US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10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9492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1B15AD-71C7-43F7-AEFA-D2FB6EFA696A}" type="slidenum">
              <a:rPr lang="en-US"/>
              <a:pPr/>
              <a:t>42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38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73C09-4FA4-8517-DD57-544AEBF3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EEF1F8D-A295-718D-77D2-121A952BA4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43</a:t>
            </a:fld>
            <a:endParaRPr lang="en-US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A5294D65-AE19-D1AF-2FB3-968685F51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90856BD7-1529-38B0-CC7B-037FF62DA3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2444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F0C6-4292-CF16-246A-19309AED7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51E1367-ECB5-90D6-8A58-385D5E6A9A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44</a:t>
            </a:fld>
            <a:endParaRPr lang="en-US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90AD4FFF-A6C8-2132-CED1-8D89897402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C64F1D88-CA4E-5619-A4C0-B6EB714A30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9751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45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276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46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7664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77BB6-7B13-73A4-11DC-DD8A5FCE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C524082-BF68-4FB2-04D9-BCC37DDB6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47</a:t>
            </a:fld>
            <a:endParaRPr lang="en-US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CCFCCB92-7DB6-51DE-AD44-23F4239E27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0B0C3BA4-56D8-77BF-B6CE-EFBC290D1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874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65EA-28A4-752B-1C11-4E0A9C86F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64FB056-A5A5-3F05-8F8A-44C3BC696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48</a:t>
            </a:fld>
            <a:endParaRPr lang="en-US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A333FEDB-AD2F-64EF-BA03-C12DCDDBB2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DF3F4474-9C84-DC5B-C452-AAEAECE73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9549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FD95-B453-8686-5CE7-DA25F941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31067C1-0B22-B00E-A0B5-F678DC1284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3DFF5-78D2-4CFE-9016-BE0E922A3A94}" type="slidenum">
              <a:rPr lang="en-US"/>
              <a:pPr/>
              <a:t>49</a:t>
            </a:fld>
            <a:endParaRPr lang="en-US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571A6DBF-BAAB-57D6-71E0-8CF2A4579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7751447A-4939-87A8-97ED-8F91BBE715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531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A080DD-98A5-D4C4-20F8-D9A47597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744B61-96D7-4760-03C8-CAB57CC5E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2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2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200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 - 2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838C557-FE18-4536-BEF7-BBF21B888B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38981" y="972224"/>
            <a:ext cx="7666038" cy="5428574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Management 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(Programming in Linux)</a:t>
            </a:r>
          </a:p>
          <a:p>
            <a:pPr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Address Space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Creation in Linux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fork(),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exit(),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wait()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calls</a:t>
            </a:r>
            <a:endParaRPr lang="en-US" sz="2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2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getpid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(), </a:t>
            </a:r>
            <a:r>
              <a:rPr lang="en-US" sz="22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getppid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(),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waitpid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</a:t>
            </a:r>
            <a:endParaRPr lang="en-US" sz="2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Tree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Invocation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 family of system calls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Orphan &amp; Zombie Processes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57942" y="92981"/>
            <a:ext cx="8186057" cy="669019"/>
          </a:xfrm>
        </p:spPr>
        <p:txBody>
          <a:bodyPr>
            <a:noAutofit/>
          </a:bodyPr>
          <a:lstStyle/>
          <a:p>
            <a:r>
              <a:rPr lang="en-US" dirty="0"/>
              <a:t>Process Address Space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61" y="1132110"/>
            <a:ext cx="8823740" cy="5116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663C6C6-FEB4-C464-471C-BC10767E953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42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9FAB78C6-879F-4288-AFC0-331D64167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051800" cy="576262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006699"/>
                </a:solidFill>
                <a:latin typeface="+mj-lt"/>
              </a:rPr>
              <a:t>Process Creation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962FE659-1FE7-4FFD-9815-CAC2C16E74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3655" y="1120093"/>
            <a:ext cx="8545287" cy="522627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OS frequently needs to create &amp; terminate processes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to create a process…? </a:t>
            </a:r>
          </a:p>
          <a:p>
            <a:pPr lvl="1">
              <a:spcBef>
                <a:spcPts val="12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new user performs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login</a:t>
            </a:r>
          </a:p>
          <a:p>
            <a:pPr lvl="1">
              <a:spcBef>
                <a:spcPts val="12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user executes a shell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12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new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is launched</a:t>
            </a:r>
          </a:p>
          <a:p>
            <a:pPr lvl="1">
              <a:spcBef>
                <a:spcPts val="12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to accomplish some tasks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concurrently</a:t>
            </a:r>
            <a:b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(web server may spawn new processes for each web request)</a:t>
            </a:r>
          </a:p>
          <a:p>
            <a:pPr lvl="1">
              <a:spcBef>
                <a:spcPts val="12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 complex task may be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decomposed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into smaller ones, each handled by a separate process</a:t>
            </a:r>
            <a:endParaRPr lang="en-US" sz="2300" dirty="0">
              <a:solidFill>
                <a:srgbClr val="0000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OS may create a process to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 a task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on behalf of a user process 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300" i="1" dirty="0" err="1"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, printing)</a:t>
            </a:r>
          </a:p>
          <a:p>
            <a:pPr marL="742950" lvl="1" indent="-285750">
              <a:spcBef>
                <a:spcPts val="1200"/>
              </a:spcBef>
              <a:buFont typeface="Arial" pitchFamily="34" charset="0"/>
              <a:buChar char="•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6E2BB23-7F2B-6245-06EA-5A16C6C876C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179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ChangeArrowheads="1"/>
          </p:cNvSpPr>
          <p:nvPr/>
        </p:nvSpPr>
        <p:spPr bwMode="auto">
          <a:xfrm>
            <a:off x="903514" y="174174"/>
            <a:ext cx="809897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06699"/>
                </a:solidFill>
                <a:latin typeface="+mj-lt"/>
              </a:rPr>
              <a:t>UNIX System - Process Tree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81" y="1787534"/>
            <a:ext cx="8656596" cy="4406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C24B689-968E-C095-811F-0B04C615BFE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F5248-2160-E50A-DF6B-65E88197232F}"/>
              </a:ext>
            </a:extLst>
          </p:cNvPr>
          <p:cNvSpPr txBox="1"/>
          <p:nvPr/>
        </p:nvSpPr>
        <p:spPr>
          <a:xfrm>
            <a:off x="815021" y="1048435"/>
            <a:ext cx="77738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 err="1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systemd</a:t>
            </a:r>
            <a:r>
              <a:rPr lang="en-US" sz="22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with PID = 1, is the first process started by kernel during system boot</a:t>
            </a:r>
            <a:endParaRPr lang="en-US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0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9FAB78C6-879F-4288-AFC0-331D64167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051800" cy="576262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006699"/>
                </a:solidFill>
                <a:latin typeface="+mj-lt"/>
              </a:rPr>
              <a:t>Process Creation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962FE659-1FE7-4FFD-9815-CAC2C16E74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1120093"/>
            <a:ext cx="8545287" cy="535690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one process intends to launch a new process</a:t>
            </a:r>
          </a:p>
          <a:p>
            <a:pPr lvl="1" defTabSz="876300">
              <a:spcBef>
                <a:spcPts val="600"/>
              </a:spcBef>
            </a:pP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parent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process	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 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creates a </a:t>
            </a: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child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process</a:t>
            </a:r>
          </a:p>
          <a:p>
            <a:pPr lvl="1" defTabSz="876300">
              <a:spcBef>
                <a:spcPts val="600"/>
              </a:spcBef>
            </a:pP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child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process 	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 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performs the intended task </a:t>
            </a:r>
          </a:p>
          <a:p>
            <a:pPr lvl="1" defTabSz="876300">
              <a:spcBef>
                <a:spcPts val="6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child process	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 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may create </a:t>
            </a: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another child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, &amp; so on</a:t>
            </a:r>
          </a:p>
          <a:p>
            <a:pPr>
              <a:spcBef>
                <a:spcPts val="18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Steps taken by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OS to create a child process…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assign unique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new process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Initialize a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PCB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41388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allocate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space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US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setup memory protection mech</a:t>
            </a:r>
          </a:p>
          <a:p>
            <a:pPr lvl="1" defTabSz="941388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set appropriate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linkages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US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pointer to program entry point</a:t>
            </a:r>
          </a:p>
          <a:p>
            <a:pPr lvl="1" defTabSz="941388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setup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descriptor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	</a:t>
            </a:r>
            <a:r>
              <a:rPr lang="en-US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keep track of open files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create or expand other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structures</a:t>
            </a:r>
            <a:endParaRPr lang="en-US" i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6E2BB23-7F2B-6245-06EA-5A16C6C876C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695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1001486" y="83124"/>
            <a:ext cx="7685314" cy="74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06699"/>
                </a:solidFill>
                <a:latin typeface="+mj-lt"/>
              </a:rPr>
              <a:t>Options - Process Creation</a:t>
            </a:r>
          </a:p>
        </p:txBody>
      </p:sp>
      <p:sp>
        <p:nvSpPr>
          <p:cNvPr id="211971" name="Rectangle 3"/>
          <p:cNvSpPr>
            <a:spLocks noChangeArrowheads="1"/>
          </p:cNvSpPr>
          <p:nvPr/>
        </p:nvSpPr>
        <p:spPr bwMode="auto">
          <a:xfrm>
            <a:off x="452058" y="1034142"/>
            <a:ext cx="8441574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Options available when OS creates a child process…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 space options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child is duplicate of parent process (UNIX)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child has a new program loaded in its address space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sharing options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parent &amp; child share no resources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parent &amp; child share all resources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child shares a subset of parent resources (UNIX)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 options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parent waits, until child terminates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parent &amp; child execute concurrently (UNIX)</a:t>
            </a:r>
          </a:p>
          <a:p>
            <a:pPr lvl="1">
              <a:spcBef>
                <a:spcPts val="600"/>
              </a:spcBef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DE758B3-60B0-30D8-1912-9B7E995B1E3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0925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11452-1662-482D-1F77-7DF1C4F9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3D5DA5-1116-B438-48CD-A1C01C883FD9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528BECEF-D872-5CA1-CD28-75E7B8B1B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109" y="2361742"/>
            <a:ext cx="8267700" cy="125528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Process Creation in Unix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F4510B5-0BB2-1106-06B0-CB770097E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647B95D-6FE9-6706-4793-E3C057CAFA8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70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 – fork()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2238" y="1012824"/>
            <a:ext cx="8594045" cy="1963236"/>
          </a:xfrm>
        </p:spPr>
        <p:txBody>
          <a:bodyPr/>
          <a:lstStyle/>
          <a:p>
            <a:r>
              <a:rPr lang="en-US" altLang="en-US" b="1" dirty="0"/>
              <a:t>UNIX example</a:t>
            </a:r>
          </a:p>
          <a:p>
            <a:pPr lvl="1"/>
            <a:r>
              <a:rPr lang="en-US" altLang="en-US" sz="2300" b="1" dirty="0">
                <a:solidFill>
                  <a:srgbClr val="FF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300" dirty="0">
                <a:solidFill>
                  <a:srgbClr val="FF0000"/>
                </a:solidFill>
              </a:rPr>
              <a:t> </a:t>
            </a:r>
            <a:r>
              <a:rPr lang="en-US" altLang="en-US" sz="2300" dirty="0"/>
              <a:t>system call – </a:t>
            </a:r>
            <a:r>
              <a:rPr lang="en-US" altLang="en-US" sz="2300" i="1" dirty="0"/>
              <a:t>used to create a child process</a:t>
            </a:r>
          </a:p>
          <a:p>
            <a:pPr lvl="1">
              <a:spcBef>
                <a:spcPts val="600"/>
              </a:spcBef>
            </a:pPr>
            <a:r>
              <a:rPr lang="en-US" altLang="en-US" sz="2300" dirty="0"/>
              <a:t>parent &amp; child have different PIDs</a:t>
            </a:r>
          </a:p>
          <a:p>
            <a:pPr lvl="1">
              <a:spcBef>
                <a:spcPts val="600"/>
              </a:spcBef>
            </a:pPr>
            <a:r>
              <a:rPr lang="en-US" altLang="en-US" sz="2300" dirty="0"/>
              <a:t>child has its own separate address space – </a:t>
            </a:r>
            <a:r>
              <a:rPr lang="en-US" altLang="en-US" sz="2300" i="1" dirty="0"/>
              <a:t>copy of parent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44C0FFD-40B7-F75E-393F-0B44D7067FC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537B4D5-F0EB-E8E5-12D1-1C38192F4B93}"/>
              </a:ext>
            </a:extLst>
          </p:cNvPr>
          <p:cNvGrpSpPr/>
          <p:nvPr/>
        </p:nvGrpSpPr>
        <p:grpSpPr>
          <a:xfrm>
            <a:off x="1416311" y="3344018"/>
            <a:ext cx="6311377" cy="2603121"/>
            <a:chOff x="1708908" y="2647328"/>
            <a:chExt cx="6311377" cy="260312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C40A534-9DF7-F5EE-D884-7C03526456E9}"/>
                </a:ext>
              </a:extLst>
            </p:cNvPr>
            <p:cNvSpPr/>
            <p:nvPr/>
          </p:nvSpPr>
          <p:spPr bwMode="auto">
            <a:xfrm>
              <a:off x="6833809" y="2901696"/>
              <a:ext cx="1186476" cy="73591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parent</a:t>
              </a:r>
              <a:endParaRPr kumimoji="0" 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abic Typesetting" panose="020F0502020204030204" pitchFamily="66" charset="-78"/>
              </a:endParaRPr>
            </a:p>
          </p:txBody>
        </p: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A4EA3061-37FF-165B-ACA2-C3730EDA29F6}"/>
                </a:ext>
              </a:extLst>
            </p:cNvPr>
            <p:cNvCxnSpPr>
              <a:cxnSpLocks/>
              <a:stCxn id="30" idx="0"/>
              <a:endCxn id="6" idx="2"/>
            </p:cNvCxnSpPr>
            <p:nvPr/>
          </p:nvCxnSpPr>
          <p:spPr bwMode="auto">
            <a:xfrm rot="5400000" flipH="1" flipV="1">
              <a:off x="5426961" y="2355625"/>
              <a:ext cx="492819" cy="2320878"/>
            </a:xfrm>
            <a:prstGeom prst="curved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99B2D155-A5D5-BEFE-9881-5CCBDA42BAD9}"/>
                </a:ext>
              </a:extLst>
            </p:cNvPr>
            <p:cNvCxnSpPr>
              <a:cxnSpLocks/>
              <a:stCxn id="30" idx="2"/>
              <a:endCxn id="27" idx="2"/>
            </p:cNvCxnSpPr>
            <p:nvPr/>
          </p:nvCxnSpPr>
          <p:spPr bwMode="auto">
            <a:xfrm rot="16200000" flipH="1">
              <a:off x="5422925" y="3471607"/>
              <a:ext cx="500890" cy="2320878"/>
            </a:xfrm>
            <a:prstGeom prst="curved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D673E6F-D30C-C610-D9D7-E2AB5E8CC3ED}"/>
                </a:ext>
              </a:extLst>
            </p:cNvPr>
            <p:cNvCxnSpPr>
              <a:cxnSpLocks/>
              <a:stCxn id="28" idx="6"/>
              <a:endCxn id="30" idx="1"/>
            </p:cNvCxnSpPr>
            <p:nvPr/>
          </p:nvCxnSpPr>
          <p:spPr bwMode="auto">
            <a:xfrm>
              <a:off x="2895384" y="4072037"/>
              <a:ext cx="97861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77784C-CE24-963C-FA89-123B87649112}"/>
                </a:ext>
              </a:extLst>
            </p:cNvPr>
            <p:cNvSpPr txBox="1"/>
            <p:nvPr/>
          </p:nvSpPr>
          <p:spPr>
            <a:xfrm>
              <a:off x="5011779" y="2647328"/>
              <a:ext cx="14445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 = PID of child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D0E507C-4883-0713-68FC-C5D0ADFEFCCE}"/>
                </a:ext>
              </a:extLst>
            </p:cNvPr>
            <p:cNvSpPr/>
            <p:nvPr/>
          </p:nvSpPr>
          <p:spPr bwMode="auto">
            <a:xfrm>
              <a:off x="6833809" y="4514533"/>
              <a:ext cx="1186476" cy="73591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child</a:t>
              </a:r>
              <a:endParaRPr kumimoji="0" 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abic Typesetting" panose="020F0502020204030204" pitchFamily="66" charset="-78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DBAF8D0-E7E5-9DFD-465D-D1E55CD9EA6E}"/>
                </a:ext>
              </a:extLst>
            </p:cNvPr>
            <p:cNvSpPr/>
            <p:nvPr/>
          </p:nvSpPr>
          <p:spPr bwMode="auto">
            <a:xfrm>
              <a:off x="1708908" y="3704079"/>
              <a:ext cx="1186476" cy="73591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parent</a:t>
              </a:r>
              <a:endParaRPr kumimoji="0" 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abic Typesetting" panose="020F0502020204030204" pitchFamily="66" charset="-78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36CDB2-DDFE-B9E1-3963-EBC2CA57A840}"/>
                </a:ext>
              </a:extLst>
            </p:cNvPr>
            <p:cNvSpPr txBox="1"/>
            <p:nvPr/>
          </p:nvSpPr>
          <p:spPr>
            <a:xfrm>
              <a:off x="4954022" y="4881117"/>
              <a:ext cx="1560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 = 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E41D5FA-AD0F-A569-1985-DFD4164184BD}"/>
                </a:ext>
              </a:extLst>
            </p:cNvPr>
            <p:cNvSpPr/>
            <p:nvPr/>
          </p:nvSpPr>
          <p:spPr bwMode="auto">
            <a:xfrm>
              <a:off x="3873998" y="3762473"/>
              <a:ext cx="1277865" cy="6191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fork ()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789205" y="1177211"/>
            <a:ext cx="7777852" cy="5288903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R="0" lvl="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//fork1.c</a:t>
            </a:r>
          </a:p>
          <a:p>
            <a:pPr marR="0" lvl="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int main()</a:t>
            </a:r>
          </a:p>
          <a:p>
            <a:pPr marR="0" lvl="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{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    int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= fork();</a:t>
            </a:r>
          </a:p>
          <a:p>
            <a:pPr>
              <a:spcBef>
                <a:spcPct val="20000"/>
              </a:spcBef>
            </a:pPr>
            <a:endParaRPr lang="en-US" sz="2200" b="1" dirty="0">
              <a:latin typeface="NSimSun" panose="02010609030101010101" pitchFamily="49" charset="-122"/>
              <a:ea typeface="NSimSun" panose="02010609030101010101" pitchFamily="49" charset="-122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    if 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== 0)   </a:t>
            </a:r>
            <a:r>
              <a:rPr lang="en-US" sz="22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//child code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       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(“\n Hello I am child... \n”);</a:t>
            </a:r>
          </a:p>
          <a:p>
            <a:pPr>
              <a:spcBef>
                <a:spcPct val="20000"/>
              </a:spcBef>
            </a:pPr>
            <a:endParaRPr lang="en-US" sz="2200" b="1" dirty="0">
              <a:latin typeface="NSimSun" panose="02010609030101010101" pitchFamily="49" charset="-122"/>
              <a:ea typeface="NSimSun" panose="02010609030101010101" pitchFamily="49" charset="-122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    else             </a:t>
            </a:r>
            <a:r>
              <a:rPr lang="en-US" sz="22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//parent code</a:t>
            </a:r>
            <a:endParaRPr lang="en-US" sz="2200" b="1" dirty="0">
              <a:latin typeface="NSimSun" panose="02010609030101010101" pitchFamily="49" charset="-122"/>
              <a:ea typeface="NSimSun" panose="02010609030101010101" pitchFamily="49" charset="-122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       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(“\n Hello I am parent... \n”);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1694ABE-0C30-4C5F-542C-2E9C2FA79AE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9B8DFB-9DE1-7928-7D24-188F4E1B1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 – fork()</a:t>
            </a:r>
          </a:p>
        </p:txBody>
      </p:sp>
    </p:spTree>
    <p:extLst>
      <p:ext uri="{BB962C8B-B14F-4D97-AF65-F5344CB8AC3E}">
        <p14:creationId xmlns:p14="http://schemas.microsoft.com/office/powerpoint/2010/main" val="1784231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48343" y="1019859"/>
            <a:ext cx="8632373" cy="340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fork()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– allows parent process to create a child process</a:t>
            </a:r>
          </a:p>
          <a:p>
            <a:pPr marL="342900" indent="-34290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Called once, returns twice</a:t>
            </a:r>
          </a:p>
          <a:p>
            <a:pPr marL="800100" lvl="1" indent="-342900" defTabSz="10017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parent	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returns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PID of child 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defTabSz="10017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child 	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returns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zero</a:t>
            </a:r>
          </a:p>
          <a:p>
            <a:pPr marL="800100" lvl="1" indent="-342900" defTabSz="10017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on failure 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	→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returns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in parent, &amp; sets </a:t>
            </a:r>
            <a:r>
              <a:rPr lang="en-US" sz="22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errno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no child process created</a:t>
            </a:r>
          </a:p>
          <a:p>
            <a:pPr marL="342900" indent="-34290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After fork() returns, both parent &amp; child execute </a:t>
            </a: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concurrently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, from next line of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7CAF6-1221-43EA-B367-71FB7901841A}"/>
              </a:ext>
            </a:extLst>
          </p:cNvPr>
          <p:cNvSpPr txBox="1"/>
          <p:nvPr/>
        </p:nvSpPr>
        <p:spPr>
          <a:xfrm>
            <a:off x="6455229" y="1692270"/>
            <a:ext cx="2427516" cy="539301"/>
          </a:xfrm>
          <a:prstGeom prst="rect">
            <a:avLst/>
          </a:prstGeom>
          <a:solidFill>
            <a:schemeClr val="bg1">
              <a:lumMod val="85000"/>
            </a:schemeClr>
          </a:solidFill>
          <a:ln w="18360">
            <a:noFill/>
            <a:prstDash val="solid"/>
          </a:ln>
        </p:spPr>
        <p:txBody>
          <a:bodyPr vert="horz" wrap="square" lIns="99000" tIns="54000" rIns="99000" bIns="54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dirty="0" err="1">
                <a:ln>
                  <a:noFill/>
                </a:ln>
                <a:solidFill>
                  <a:srgbClr val="000000"/>
                </a:solidFill>
                <a:latin typeface="Courier New" pitchFamily="49"/>
                <a:ea typeface="DejaVu Sans" pitchFamily="2"/>
                <a:cs typeface="Lohit Hindi" pitchFamily="2"/>
              </a:rPr>
              <a:t>pid_t</a:t>
            </a:r>
            <a:r>
              <a:rPr lang="en-US" sz="22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Courier New" pitchFamily="49"/>
                <a:ea typeface="DejaVu Sans" pitchFamily="2"/>
                <a:cs typeface="Lohit Hindi" pitchFamily="2"/>
              </a:rPr>
              <a:t> fork();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0BCE336-E5D6-81EA-88B3-7D74471E17B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A9B6C79-90C8-8D7C-B2D5-97FB95E00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 – fork()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9C7E22-D97D-C21D-873C-46EE152AC3E1}"/>
              </a:ext>
            </a:extLst>
          </p:cNvPr>
          <p:cNvGrpSpPr/>
          <p:nvPr/>
        </p:nvGrpSpPr>
        <p:grpSpPr>
          <a:xfrm>
            <a:off x="1985024" y="4698381"/>
            <a:ext cx="4828372" cy="1652769"/>
            <a:chOff x="1708908" y="2813449"/>
            <a:chExt cx="6311377" cy="2437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07C0A9-854D-E2DB-8928-96E7EACE255D}"/>
                </a:ext>
              </a:extLst>
            </p:cNvPr>
            <p:cNvSpPr/>
            <p:nvPr/>
          </p:nvSpPr>
          <p:spPr bwMode="auto">
            <a:xfrm>
              <a:off x="6833809" y="2901696"/>
              <a:ext cx="1186476" cy="73591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parent</a:t>
              </a:r>
              <a:endParaRPr kumimoji="0" 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abic Typesetting" panose="020F0502020204030204" pitchFamily="66" charset="-78"/>
              </a:endParaRPr>
            </a:p>
          </p:txBody>
        </p:sp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1BACDB5E-1089-BE3E-D55D-5444960356F2}"/>
                </a:ext>
              </a:extLst>
            </p:cNvPr>
            <p:cNvCxnSpPr>
              <a:cxnSpLocks/>
              <a:stCxn id="15" idx="0"/>
              <a:endCxn id="5" idx="2"/>
            </p:cNvCxnSpPr>
            <p:nvPr/>
          </p:nvCxnSpPr>
          <p:spPr bwMode="auto">
            <a:xfrm rot="5400000" flipH="1" flipV="1">
              <a:off x="5426961" y="2355625"/>
              <a:ext cx="492819" cy="2320878"/>
            </a:xfrm>
            <a:prstGeom prst="curved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8BCE25AE-540C-C5B7-84A1-2D631ACE42F0}"/>
                </a:ext>
              </a:extLst>
            </p:cNvPr>
            <p:cNvCxnSpPr>
              <a:cxnSpLocks/>
              <a:stCxn id="15" idx="2"/>
              <a:endCxn id="12" idx="2"/>
            </p:cNvCxnSpPr>
            <p:nvPr/>
          </p:nvCxnSpPr>
          <p:spPr bwMode="auto">
            <a:xfrm rot="16200000" flipH="1">
              <a:off x="5422925" y="3471607"/>
              <a:ext cx="500890" cy="2320878"/>
            </a:xfrm>
            <a:prstGeom prst="curved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7F1AB14-C6DE-367E-7227-1F745E1F57BD}"/>
                </a:ext>
              </a:extLst>
            </p:cNvPr>
            <p:cNvCxnSpPr>
              <a:cxnSpLocks/>
              <a:stCxn id="13" idx="6"/>
              <a:endCxn id="15" idx="1"/>
            </p:cNvCxnSpPr>
            <p:nvPr/>
          </p:nvCxnSpPr>
          <p:spPr bwMode="auto">
            <a:xfrm>
              <a:off x="2895384" y="4072037"/>
              <a:ext cx="97861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E562FD-151F-7E72-7D71-B3465D51955F}"/>
                </a:ext>
              </a:extLst>
            </p:cNvPr>
            <p:cNvSpPr txBox="1"/>
            <p:nvPr/>
          </p:nvSpPr>
          <p:spPr>
            <a:xfrm>
              <a:off x="4819079" y="2813449"/>
              <a:ext cx="1943431" cy="9530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 = PID of child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3C79E82-7B6A-B1A2-36CE-86741E37AF9F}"/>
                </a:ext>
              </a:extLst>
            </p:cNvPr>
            <p:cNvSpPr/>
            <p:nvPr/>
          </p:nvSpPr>
          <p:spPr bwMode="auto">
            <a:xfrm>
              <a:off x="6833809" y="4514533"/>
              <a:ext cx="1186476" cy="73591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child</a:t>
              </a:r>
              <a:endParaRPr kumimoji="0" 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abic Typesetting" panose="020F0502020204030204" pitchFamily="66" charset="-78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B0BE1B-2E61-0586-7028-80DEEB3EA76F}"/>
                </a:ext>
              </a:extLst>
            </p:cNvPr>
            <p:cNvSpPr/>
            <p:nvPr/>
          </p:nvSpPr>
          <p:spPr bwMode="auto">
            <a:xfrm>
              <a:off x="1708908" y="3704079"/>
              <a:ext cx="1186476" cy="73591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parent</a:t>
              </a:r>
              <a:endParaRPr kumimoji="0" 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abic Typesetting" panose="020F0502020204030204" pitchFamily="66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2B524E-6080-00EB-CB19-B09D9C090940}"/>
                </a:ext>
              </a:extLst>
            </p:cNvPr>
            <p:cNvSpPr txBox="1"/>
            <p:nvPr/>
          </p:nvSpPr>
          <p:spPr>
            <a:xfrm>
              <a:off x="4954022" y="4881117"/>
              <a:ext cx="1560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 = 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5E25ECF-104B-CF56-E889-F9017433B31D}"/>
                </a:ext>
              </a:extLst>
            </p:cNvPr>
            <p:cNvSpPr/>
            <p:nvPr/>
          </p:nvSpPr>
          <p:spPr bwMode="auto">
            <a:xfrm>
              <a:off x="3873998" y="3762473"/>
              <a:ext cx="1277865" cy="6191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fork 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0730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3656" y="1159062"/>
            <a:ext cx="8447314" cy="5470299"/>
          </a:xfrm>
        </p:spPr>
        <p:txBody>
          <a:bodyPr>
            <a:norm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After successful fork() 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child process is </a:t>
            </a:r>
            <a:r>
              <a:rPr lang="en-US" dirty="0">
                <a:solidFill>
                  <a:srgbClr val="FF0000"/>
                </a:solidFill>
              </a:rPr>
              <a:t>clone</a:t>
            </a:r>
            <a:r>
              <a:rPr lang="en-US" dirty="0"/>
              <a:t> of parent </a:t>
            </a:r>
          </a:p>
          <a:p>
            <a:pPr marL="800100" lvl="1" indent="-342900">
              <a:spcBef>
                <a:spcPts val="600"/>
              </a:spcBef>
            </a:pPr>
            <a:r>
              <a:rPr lang="en-US" dirty="0"/>
              <a:t>gets copy of parent </a:t>
            </a:r>
            <a:r>
              <a:rPr lang="en-US" sz="2000" dirty="0">
                <a:latin typeface="Abadi" panose="020B0604020104020204" pitchFamily="34" charset="0"/>
              </a:rPr>
              <a:t>→</a:t>
            </a:r>
            <a:r>
              <a:rPr lang="en-US" dirty="0"/>
              <a:t>  </a:t>
            </a:r>
            <a:r>
              <a:rPr lang="en-US" dirty="0">
                <a:solidFill>
                  <a:srgbClr val="0070C0"/>
                </a:solidFill>
              </a:rPr>
              <a:t>stack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heap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data</a:t>
            </a:r>
            <a:r>
              <a:rPr lang="en-US" dirty="0"/>
              <a:t>, &amp; </a:t>
            </a:r>
            <a:r>
              <a:rPr lang="en-US" dirty="0">
                <a:solidFill>
                  <a:srgbClr val="0070C0"/>
                </a:solidFill>
              </a:rPr>
              <a:t>text</a:t>
            </a:r>
            <a:r>
              <a:rPr lang="en-US" dirty="0"/>
              <a:t> segments</a:t>
            </a:r>
          </a:p>
          <a:p>
            <a:pPr marL="800100" lvl="1" indent="-342900">
              <a:spcBef>
                <a:spcPts val="600"/>
              </a:spcBef>
            </a:pPr>
            <a:r>
              <a:rPr lang="en-US" dirty="0"/>
              <a:t>inherits all open file descriptors</a:t>
            </a:r>
          </a:p>
          <a:p>
            <a:pPr lvl="1">
              <a:spcBef>
                <a:spcPts val="600"/>
              </a:spcBef>
            </a:pPr>
            <a:r>
              <a:rPr lang="en-US" sz="2300" dirty="0"/>
              <a:t>parent/child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now </a:t>
            </a: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to execute on their own </a:t>
            </a:r>
          </a:p>
          <a:p>
            <a:pPr lvl="1">
              <a:spcBef>
                <a:spcPts val="600"/>
              </a:spcBef>
            </a:pPr>
            <a:r>
              <a:rPr lang="en-US" sz="23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since </a:t>
            </a: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data</a:t>
            </a:r>
            <a:r>
              <a:rPr lang="en-US" sz="23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are different, program execution differs </a:t>
            </a:r>
          </a:p>
          <a:p>
            <a:pPr>
              <a:spcBef>
                <a:spcPts val="2400"/>
              </a:spcBef>
            </a:pPr>
            <a:r>
              <a:rPr lang="en-US" b="1" dirty="0">
                <a:solidFill>
                  <a:srgbClr val="0070C0"/>
                </a:solidFill>
              </a:rPr>
              <a:t>Reasons for fork() failure</a:t>
            </a:r>
          </a:p>
          <a:p>
            <a:pPr lvl="1">
              <a:spcBef>
                <a:spcPts val="600"/>
              </a:spcBef>
            </a:pPr>
            <a:r>
              <a:rPr lang="en-US" sz="2300" dirty="0"/>
              <a:t>not enough memory space</a:t>
            </a:r>
          </a:p>
          <a:p>
            <a:pPr lvl="1">
              <a:spcBef>
                <a:spcPts val="600"/>
              </a:spcBef>
            </a:pPr>
            <a:r>
              <a:rPr lang="en-US" sz="2300" dirty="0"/>
              <a:t>max number of processes allowed on system has exceeded</a:t>
            </a:r>
          </a:p>
          <a:p>
            <a:pPr lvl="1">
              <a:spcBef>
                <a:spcPts val="600"/>
              </a:spcBef>
            </a:pPr>
            <a:r>
              <a:rPr lang="en-US" sz="2300" dirty="0"/>
              <a:t>max number of processes allowed to execute under one user has exceeded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3E0077E-0F75-04AA-B068-2FE34923EF3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01EAAE7-A6CC-D747-C2D4-5CA6EC739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 – fork()</a:t>
            </a:r>
          </a:p>
        </p:txBody>
      </p:sp>
    </p:spTree>
    <p:extLst>
      <p:ext uri="{BB962C8B-B14F-4D97-AF65-F5344CB8AC3E}">
        <p14:creationId xmlns:p14="http://schemas.microsoft.com/office/powerpoint/2010/main" val="3070527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968828" y="163288"/>
            <a:ext cx="759822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1 - fork()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664029" y="1028243"/>
            <a:ext cx="7924800" cy="5448757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 main()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{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2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 </a:t>
            </a:r>
            <a:r>
              <a:rPr lang="en-US" sz="2200" b="1" dirty="0" err="1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</a:t>
            </a:r>
          </a:p>
          <a:p>
            <a:pPr marL="342900" indent="-342900">
              <a:spcBef>
                <a:spcPts val="60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if 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-1) 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{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(“\n Fork failed \n”);  exit (1);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}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solidFill>
                  <a:srgbClr val="0000CC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if (</a:t>
            </a:r>
            <a:r>
              <a:rPr lang="en-US" sz="2200" b="1" dirty="0" err="1">
                <a:solidFill>
                  <a:srgbClr val="0000CC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solidFill>
                  <a:srgbClr val="0000CC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  //child code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solidFill>
                  <a:srgbClr val="0000CC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00CC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{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solidFill>
                  <a:srgbClr val="0000CC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 </a:t>
            </a:r>
            <a:r>
              <a:rPr lang="en-US" sz="2200" b="1" dirty="0" err="1">
                <a:solidFill>
                  <a:srgbClr val="0000CC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solidFill>
                  <a:srgbClr val="0000CC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(“\n Hello I am child \n”);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solidFill>
                  <a:srgbClr val="0000CC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}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2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else            //parent code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4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{ </a:t>
            </a:r>
          </a:p>
          <a:p>
            <a:pPr marL="342900" indent="-342900"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 </a:t>
            </a:r>
            <a:r>
              <a:rPr lang="en-US" sz="2200" b="1" dirty="0" err="1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(“\n Hello I am parent \n”);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}</a:t>
            </a:r>
          </a:p>
          <a:p>
            <a:pPr marL="342900" indent="-342900">
              <a:spcBef>
                <a:spcPts val="0"/>
              </a:spcBef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E533D7B-B7E7-9F8D-31CC-1518C042C1A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7053C6F-2E2C-4D04-F2B2-6EE203AD3B77}"/>
              </a:ext>
            </a:extLst>
          </p:cNvPr>
          <p:cNvSpPr txBox="1">
            <a:spLocks noChangeArrowheads="1"/>
          </p:cNvSpPr>
          <p:nvPr/>
        </p:nvSpPr>
        <p:spPr>
          <a:xfrm>
            <a:off x="5453741" y="1036239"/>
            <a:ext cx="3418115" cy="1483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What will be the sequence of </a:t>
            </a:r>
            <a:r>
              <a:rPr lang="en-US" sz="2200" b="1" dirty="0">
                <a:solidFill>
                  <a:srgbClr val="0070C0"/>
                </a:solidFill>
                <a:latin typeface="Comic Sans MS" pitchFamily="66" charset="0"/>
                <a:ea typeface="+mn-ea"/>
              </a:rPr>
              <a:t>execution of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parent &amp; child…?</a:t>
            </a:r>
          </a:p>
        </p:txBody>
      </p:sp>
    </p:spTree>
    <p:extLst>
      <p:ext uri="{BB962C8B-B14F-4D97-AF65-F5344CB8AC3E}">
        <p14:creationId xmlns:p14="http://schemas.microsoft.com/office/powerpoint/2010/main" val="2069632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56657" y="71493"/>
            <a:ext cx="6248400" cy="713311"/>
          </a:xfrm>
        </p:spPr>
        <p:txBody>
          <a:bodyPr>
            <a:normAutofit/>
          </a:bodyPr>
          <a:lstStyle/>
          <a:p>
            <a:r>
              <a:rPr lang="en-US" kern="1200" dirty="0">
                <a:cs typeface="+mn-cs"/>
              </a:rPr>
              <a:t>Question !!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83430" y="1992088"/>
            <a:ext cx="3017714" cy="19594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Output- 1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Hello I am child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Comic Sans MS" pitchFamily="66" charset="0"/>
              </a:rPr>
              <a:t>Hello I am parent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37459" y="1067318"/>
            <a:ext cx="8686800" cy="7133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What will be the output of the code ?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625544" y="2002974"/>
            <a:ext cx="3115686" cy="19594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Output- 2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Hello I am parent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Comic Sans MS" pitchFamily="66" charset="0"/>
              </a:rPr>
              <a:t>Hello I am child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797930" y="2551158"/>
            <a:ext cx="1600200" cy="83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OR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556657" y="4384585"/>
            <a:ext cx="6934198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If child executes first	:  </a:t>
            </a: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Output-1</a:t>
            </a:r>
          </a:p>
          <a:p>
            <a:pPr marL="285750" indent="-28575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If parent executes first	:  </a:t>
            </a: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Output-2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306C910-FD1B-BDFC-3B49-A449AF891F3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9106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74174"/>
            <a:ext cx="7565571" cy="609600"/>
          </a:xfrm>
        </p:spPr>
        <p:txBody>
          <a:bodyPr>
            <a:noAutofit/>
          </a:bodyPr>
          <a:lstStyle/>
          <a:p>
            <a:r>
              <a:rPr lang="en-US" kern="1200" dirty="0">
                <a:cs typeface="+mn-cs"/>
              </a:rPr>
              <a:t>PID &amp; PPID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9229" y="1099878"/>
            <a:ext cx="8632371" cy="5344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Each process is identified by a positive integer, unique on the system – PID</a:t>
            </a:r>
          </a:p>
          <a:p>
            <a:pPr marL="685800" lvl="1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i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systemd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is the first user-space process with PID 1,</a:t>
            </a:r>
            <a:b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manages system initialization, services, &amp; daemons</a:t>
            </a:r>
          </a:p>
          <a:p>
            <a:pPr marL="342900" indent="-342900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Process ID obtained by using  </a:t>
            </a:r>
            <a:r>
              <a:rPr lang="en-US" sz="2300" i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getpid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300" i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getppid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 </a:t>
            </a:r>
          </a:p>
          <a:p>
            <a:pPr marL="685800" lvl="1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returns PID, PPID of current process; </a:t>
            </a:r>
            <a:b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never fail</a:t>
            </a:r>
          </a:p>
          <a:p>
            <a:pPr marL="342900" indent="-342900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Shell </a:t>
            </a:r>
            <a:r>
              <a:rPr lang="en-US" sz="2300" dirty="0" err="1">
                <a:latin typeface="Calibri" panose="020F0502020204030204" pitchFamily="34" charset="0"/>
                <a:cs typeface="Calibri" panose="020F0502020204030204" pitchFamily="34" charset="0"/>
              </a:rPr>
              <a:t>cmds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for PID &amp; PPID of shell:  </a:t>
            </a:r>
            <a:b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echo $$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  	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echo $PPID</a:t>
            </a:r>
          </a:p>
          <a:p>
            <a:pPr marL="342900" indent="-342900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Parent of any process can be found by looking at 4th field of 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/proc/PID/stat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file </a:t>
            </a:r>
          </a:p>
          <a:p>
            <a:pPr marL="685800" lvl="1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3rd field shows state of process (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R,S,T,Z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3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7CAF6-1221-43EA-B367-71FB7901841A}"/>
              </a:ext>
            </a:extLst>
          </p:cNvPr>
          <p:cNvSpPr txBox="1"/>
          <p:nvPr/>
        </p:nvSpPr>
        <p:spPr>
          <a:xfrm>
            <a:off x="6019806" y="3497809"/>
            <a:ext cx="2841172" cy="1150391"/>
          </a:xfrm>
          <a:prstGeom prst="rect">
            <a:avLst/>
          </a:prstGeom>
          <a:solidFill>
            <a:schemeClr val="bg1">
              <a:lumMod val="95000"/>
            </a:schemeClr>
          </a:solidFill>
          <a:ln w="18360">
            <a:solidFill>
              <a:srgbClr val="000000"/>
            </a:solidFill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1" i="0" u="none" strike="noStrike" kern="1200" dirty="0" err="1">
                <a:ln>
                  <a:noFill/>
                </a:ln>
                <a:solidFill>
                  <a:srgbClr val="000000"/>
                </a:solidFill>
                <a:latin typeface="Courier New" panose="02070309020205020404" pitchFamily="49" charset="0"/>
                <a:ea typeface="DejaVu Sans" pitchFamily="2"/>
                <a:cs typeface="Courier New" panose="02070309020205020404" pitchFamily="49" charset="0"/>
              </a:rPr>
              <a:t>pid_t</a:t>
            </a:r>
            <a:r>
              <a:rPr lang="en-US" sz="20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Courier New" panose="02070309020205020404" pitchFamily="49" charset="0"/>
                <a:ea typeface="DejaVu Sans" pitchFamily="2"/>
                <a:cs typeface="Courier New" panose="02070309020205020404" pitchFamily="49" charset="0"/>
              </a:rPr>
              <a:t> </a:t>
            </a:r>
            <a:r>
              <a:rPr lang="en-US" sz="2000" b="1" i="0" u="none" strike="noStrike" kern="1200" dirty="0" err="1">
                <a:ln>
                  <a:noFill/>
                </a:ln>
                <a:solidFill>
                  <a:srgbClr val="000000"/>
                </a:solidFill>
                <a:latin typeface="Courier New" panose="02070309020205020404" pitchFamily="49" charset="0"/>
                <a:ea typeface="DejaVu Sans" pitchFamily="2"/>
                <a:cs typeface="Courier New" panose="02070309020205020404" pitchFamily="49" charset="0"/>
              </a:rPr>
              <a:t>getpid</a:t>
            </a:r>
            <a:r>
              <a:rPr lang="en-US" sz="20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Courier New" panose="02070309020205020404" pitchFamily="49" charset="0"/>
                <a:ea typeface="DejaVu Sans" pitchFamily="2"/>
                <a:cs typeface="Courier New" panose="02070309020205020404" pitchFamily="49" charset="0"/>
              </a:rPr>
              <a:t>();</a:t>
            </a:r>
          </a:p>
          <a:p>
            <a:pPr marL="0" marR="0" lvl="0" indent="0" algn="ctr" rtl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1" i="0" u="none" strike="noStrike" kern="1200" dirty="0" err="1">
                <a:ln>
                  <a:noFill/>
                </a:ln>
                <a:solidFill>
                  <a:srgbClr val="000000"/>
                </a:solidFill>
                <a:latin typeface="Courier New" panose="02070309020205020404" pitchFamily="49" charset="0"/>
                <a:ea typeface="DejaVu Sans" pitchFamily="2"/>
                <a:cs typeface="Courier New" panose="02070309020205020404" pitchFamily="49" charset="0"/>
              </a:rPr>
              <a:t>pid_t</a:t>
            </a:r>
            <a:r>
              <a:rPr lang="en-US" sz="20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Courier New" panose="02070309020205020404" pitchFamily="49" charset="0"/>
                <a:ea typeface="DejaVu Sans" pitchFamily="2"/>
                <a:cs typeface="Courier New" panose="02070309020205020404" pitchFamily="49" charset="0"/>
              </a:rPr>
              <a:t> </a:t>
            </a:r>
            <a:r>
              <a:rPr lang="en-US" sz="2000" b="1" i="0" u="none" strike="noStrike" kern="1200" dirty="0" err="1">
                <a:ln>
                  <a:noFill/>
                </a:ln>
                <a:solidFill>
                  <a:srgbClr val="000000"/>
                </a:solidFill>
                <a:latin typeface="Courier New" panose="02070309020205020404" pitchFamily="49" charset="0"/>
                <a:ea typeface="DejaVu Sans" pitchFamily="2"/>
                <a:cs typeface="Courier New" panose="02070309020205020404" pitchFamily="49" charset="0"/>
              </a:rPr>
              <a:t>getppid</a:t>
            </a:r>
            <a:r>
              <a:rPr lang="en-US" sz="2000" b="1" i="0" u="none" strike="noStrike" kern="1200" dirty="0">
                <a:ln>
                  <a:noFill/>
                </a:ln>
                <a:solidFill>
                  <a:srgbClr val="000000"/>
                </a:solidFill>
                <a:latin typeface="Courier New" panose="02070309020205020404" pitchFamily="49" charset="0"/>
                <a:ea typeface="DejaVu Sans" pitchFamily="2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1AD3467-1B3C-177F-D634-459DD42A1A9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1088571" y="185060"/>
            <a:ext cx="75002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2 - fork()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1197428" y="1295398"/>
            <a:ext cx="6030686" cy="4669973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12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if (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   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while(1)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  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putchar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('x');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else   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while(1)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  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putc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('o',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stdout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);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return 0;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4A95A45-09A5-5CB3-B48A-3A1A57ABFB2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69A6540-EC8C-738A-F1F8-8DB2A18BA72E}"/>
              </a:ext>
            </a:extLst>
          </p:cNvPr>
          <p:cNvSpPr txBox="1">
            <a:spLocks noChangeArrowheads="1"/>
          </p:cNvSpPr>
          <p:nvPr/>
        </p:nvSpPr>
        <p:spPr>
          <a:xfrm>
            <a:off x="5056810" y="1094678"/>
            <a:ext cx="3610076" cy="2496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parent / child execute concurrently.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What will be the output…!!</a:t>
            </a:r>
          </a:p>
        </p:txBody>
      </p:sp>
    </p:spTree>
    <p:extLst>
      <p:ext uri="{BB962C8B-B14F-4D97-AF65-F5344CB8AC3E}">
        <p14:creationId xmlns:p14="http://schemas.microsoft.com/office/powerpoint/2010/main" val="1318976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979714" y="163288"/>
            <a:ext cx="760911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3 - fork()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1197428" y="1292448"/>
            <a:ext cx="6117771" cy="4934181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12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if (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   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("child here.\n");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12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else   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("parent here.\n");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sz="12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("who is here.\n");   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return 0;</a:t>
            </a: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2431E7D-EF3C-89A4-FC1F-8DAD394B6C6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79A952-8C31-073B-8E0D-4AB40688AC68}"/>
              </a:ext>
            </a:extLst>
          </p:cNvPr>
          <p:cNvSpPr txBox="1">
            <a:spLocks noChangeArrowheads="1"/>
          </p:cNvSpPr>
          <p:nvPr/>
        </p:nvSpPr>
        <p:spPr>
          <a:xfrm>
            <a:off x="5704118" y="1295398"/>
            <a:ext cx="2645226" cy="1273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What will be the output…!!</a:t>
            </a:r>
          </a:p>
        </p:txBody>
      </p:sp>
    </p:spTree>
    <p:extLst>
      <p:ext uri="{BB962C8B-B14F-4D97-AF65-F5344CB8AC3E}">
        <p14:creationId xmlns:p14="http://schemas.microsoft.com/office/powerpoint/2010/main" val="1498123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881743" y="174174"/>
            <a:ext cx="770708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4 - fork()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440872" y="1121226"/>
            <a:ext cx="8654143" cy="55626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solidFill>
                  <a:srgbClr val="0070C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/*Child inherits copy of variables of parent*/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gvar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555;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lvar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54;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if (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 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("Child process PID = %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,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gvar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%d,                               		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lvar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%d \n", (long)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getpid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(),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gvar,lvar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else  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("Parent process PID = %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,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gvar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%d, 			 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lvar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%d \n", (long)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getpid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(),</a:t>
            </a:r>
            <a:r>
              <a:rPr lang="en-US" sz="23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gvar,lvar</a:t>
            </a: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);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return 0;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3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56B777B-F177-1D19-4EE9-8ECB12F536F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8184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936171" y="174171"/>
            <a:ext cx="779417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5 - fork()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413658" y="1077684"/>
            <a:ext cx="8621486" cy="5715005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solidFill>
                  <a:srgbClr val="0070C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/* Both parent / child have their own copy of variables*/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int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, 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,  ctr = 0;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if 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ctr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100;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for 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0;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&lt; 3;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++)   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("Child counter: %d\n", ctr++);   }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else{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for(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0;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&lt; 3;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++)   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("Parent counter: %d\n", ctr++);     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return 0;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736F86D-0104-DEF7-7C03-601D736A9A9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2003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925286" y="174172"/>
            <a:ext cx="779417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6 - fork()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582385" y="1295401"/>
            <a:ext cx="8137071" cy="348342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solidFill>
                  <a:srgbClr val="0070C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/* What happens when fork() called multiple times*/</a:t>
            </a:r>
          </a:p>
          <a:p>
            <a:pPr marL="342900" lvl="0" indent="-342900">
              <a:spcBef>
                <a:spcPts val="1800"/>
              </a:spcBef>
              <a:defRPr/>
            </a:pP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fork();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fork();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fork();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("Hello fork...\n");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return 0;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1A312B5-7629-08E5-4292-8E2C322617D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900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1034142" y="174172"/>
            <a:ext cx="764177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7 - fork()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527959" y="1126221"/>
            <a:ext cx="8245927" cy="522014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solidFill>
                  <a:srgbClr val="0070C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/* What happens when fork() called multiple times*/</a:t>
            </a: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argc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, char *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argv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[]){   </a:t>
            </a: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if(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argc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!= 2){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("Must enter one int argument\n");  exit(1);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n =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atoi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argv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[1]);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;   </a:t>
            </a: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for 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=1;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&lt;= n;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++)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fork();   </a:t>
            </a: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(“UCP \n");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exit(0);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D686965-1917-D4EA-29AF-735A1403D53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976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1001485" y="174174"/>
            <a:ext cx="782682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8 - fork()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527957" y="1284513"/>
            <a:ext cx="8088086" cy="333407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solidFill>
                  <a:srgbClr val="0070C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/* What happens when fork() called multiple times*/</a:t>
            </a:r>
          </a:p>
          <a:p>
            <a:pPr marL="342900" lvl="0" indent="-342900">
              <a:spcBef>
                <a:spcPts val="1800"/>
              </a:spcBef>
              <a:defRPr/>
            </a:pP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</a:t>
            </a:r>
          </a:p>
          <a:p>
            <a:pPr marL="342900" lvl="0" indent="-342900">
              <a:spcBef>
                <a:spcPts val="18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fork() &amp;&amp; fork();   </a:t>
            </a:r>
          </a:p>
          <a:p>
            <a:pPr marL="342900" lvl="0" indent="-342900">
              <a:spcBef>
                <a:spcPts val="18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fprintf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(stderr, "%s\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n",“UCP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");   </a:t>
            </a:r>
          </a:p>
          <a:p>
            <a:pPr marL="342900" lvl="0" indent="-342900">
              <a:spcBef>
                <a:spcPts val="18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return 0;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F656C81-5D5E-2740-0A8F-E71C0528721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98365-E6C6-2F1F-43BE-99C852F5BF84}"/>
              </a:ext>
            </a:extLst>
          </p:cNvPr>
          <p:cNvSpPr txBox="1"/>
          <p:nvPr/>
        </p:nvSpPr>
        <p:spPr>
          <a:xfrm>
            <a:off x="2351314" y="4618593"/>
            <a:ext cx="4604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 in a total of 3 processes in the system…!!!</a:t>
            </a:r>
          </a:p>
        </p:txBody>
      </p:sp>
    </p:spTree>
    <p:extLst>
      <p:ext uri="{BB962C8B-B14F-4D97-AF65-F5344CB8AC3E}">
        <p14:creationId xmlns:p14="http://schemas.microsoft.com/office/powerpoint/2010/main" val="2103733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/>
          <p:cNvSpPr>
            <a:spLocks noChangeArrowheads="1"/>
          </p:cNvSpPr>
          <p:nvPr/>
        </p:nvSpPr>
        <p:spPr bwMode="auto">
          <a:xfrm>
            <a:off x="359230" y="1088574"/>
            <a:ext cx="8610600" cy="5584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First </a:t>
            </a:r>
            <a:r>
              <a:rPr kumimoji="1"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fork() 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creates a child process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makes two processes available, parent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child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  <a:p>
            <a:pPr marL="342900" marR="0" indent="-34290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both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kumimoji="1"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&amp;&amp;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operator is evaluated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 right side of </a:t>
            </a:r>
            <a:r>
              <a:rPr kumimoji="1"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&amp;&amp;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be executed, left side must be true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fork()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returns child PID in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and 0 in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so, the left side is true in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false in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  <a:p>
            <a:pPr marL="342900" marR="0" indent="-34290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second </a:t>
            </a:r>
            <a:r>
              <a:rPr kumimoji="1"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fork() 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executed, which creates another child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  <a:p>
            <a:pPr marL="342900" marR="0" indent="-34290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first </a:t>
            </a:r>
            <a:r>
              <a:rPr kumimoji="1"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fork() 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was false, and right side of </a:t>
            </a:r>
            <a:r>
              <a:rPr kumimoji="1"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&amp;&amp;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not executed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  <a:r>
              <a:rPr kumimoji="1"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doesn't create another child</a:t>
            </a:r>
          </a:p>
          <a:p>
            <a:pPr marL="342900" indent="-34290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Results in total of 3 processes:  </a:t>
            </a:r>
            <a:r>
              <a:rPr kumimoji="1"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1"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1"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  <a:r>
              <a:rPr kumimoji="1"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kumimoji="1"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17458F3-81C4-36F7-CE76-030C9FA9BE7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F17CD56-E19E-D1D8-2F84-4D79186C6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485" y="174174"/>
            <a:ext cx="782682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8 - explanation</a:t>
            </a:r>
          </a:p>
        </p:txBody>
      </p:sp>
    </p:spTree>
    <p:extLst>
      <p:ext uri="{BB962C8B-B14F-4D97-AF65-F5344CB8AC3E}">
        <p14:creationId xmlns:p14="http://schemas.microsoft.com/office/powerpoint/2010/main" val="3712408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9312-7E68-95FA-7CBD-F6212F97F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>
            <a:extLst>
              <a:ext uri="{FF2B5EF4-FFF2-40B4-BE49-F238E27FC236}">
                <a16:creationId xmlns:a16="http://schemas.microsoft.com/office/drawing/2014/main" id="{64DAD710-3729-87FD-9086-C9DF7AF15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485" y="174174"/>
            <a:ext cx="782682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9 - fork()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7E9B62-74A7-8892-7FB8-66F45EEB424F}"/>
              </a:ext>
            </a:extLst>
          </p:cNvPr>
          <p:cNvSpPr txBox="1">
            <a:spLocks noChangeArrowheads="1"/>
          </p:cNvSpPr>
          <p:nvPr/>
        </p:nvSpPr>
        <p:spPr>
          <a:xfrm>
            <a:off x="527957" y="1284513"/>
            <a:ext cx="8088086" cy="333407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solidFill>
                  <a:srgbClr val="0070C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/* What happens when fork() called multiple times*/</a:t>
            </a:r>
          </a:p>
          <a:p>
            <a:pPr marL="342900" lvl="0" indent="-342900">
              <a:spcBef>
                <a:spcPts val="1800"/>
              </a:spcBef>
              <a:defRPr/>
            </a:pP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</a:t>
            </a:r>
          </a:p>
          <a:p>
            <a:pPr marL="342900" lvl="0" indent="-342900">
              <a:spcBef>
                <a:spcPts val="18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fork() &amp;&amp; fork() || fork();   </a:t>
            </a:r>
          </a:p>
          <a:p>
            <a:pPr marL="342900" lvl="0" indent="-342900">
              <a:spcBef>
                <a:spcPts val="18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fprintf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(stderr, "%s\</a:t>
            </a:r>
            <a:r>
              <a:rPr lang="en-US" sz="24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n",“UCP</a:t>
            </a: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");   </a:t>
            </a:r>
          </a:p>
          <a:p>
            <a:pPr marL="342900" lvl="0" indent="-342900">
              <a:spcBef>
                <a:spcPts val="18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return 0;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4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BD11DED-C675-075A-7193-FC35CE6C6DC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E8274-67D6-40F1-D64A-AB48D95E316D}"/>
              </a:ext>
            </a:extLst>
          </p:cNvPr>
          <p:cNvSpPr txBox="1"/>
          <p:nvPr/>
        </p:nvSpPr>
        <p:spPr>
          <a:xfrm>
            <a:off x="2209931" y="5813375"/>
            <a:ext cx="5409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of 5 processes in the system…!!!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8FE15-B66C-264B-5501-2E5633754BEF}"/>
              </a:ext>
            </a:extLst>
          </p:cNvPr>
          <p:cNvSpPr txBox="1"/>
          <p:nvPr/>
        </p:nvSpPr>
        <p:spPr>
          <a:xfrm>
            <a:off x="1432068" y="4618592"/>
            <a:ext cx="6965662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&amp;&amp; operator has higher precedence than ||</a:t>
            </a:r>
          </a:p>
          <a:p>
            <a:pPr algn="ctr">
              <a:spcBef>
                <a:spcPts val="600"/>
              </a:spcBef>
            </a:pPr>
            <a:r>
              <a:rPr lang="en-US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 fork() &amp;&amp; fork() ) || fork();</a:t>
            </a:r>
          </a:p>
        </p:txBody>
      </p:sp>
    </p:spTree>
    <p:extLst>
      <p:ext uri="{BB962C8B-B14F-4D97-AF65-F5344CB8AC3E}">
        <p14:creationId xmlns:p14="http://schemas.microsoft.com/office/powerpoint/2010/main" val="4079276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8942-D0E6-6714-B92C-725EF614E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5857C14-03F7-124C-41DD-38759C67806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B4E75F95-7925-344D-1DBD-4E959410C3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109" y="2361742"/>
            <a:ext cx="8267700" cy="125528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Process Termination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0D1BD84-7228-1D15-2E8D-0BC035AB4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0A76011-BDAF-1130-A959-670B6160371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156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ChangeArrowheads="1"/>
          </p:cNvSpPr>
          <p:nvPr/>
        </p:nvSpPr>
        <p:spPr bwMode="auto">
          <a:xfrm>
            <a:off x="1034142" y="108857"/>
            <a:ext cx="7652657" cy="696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06699"/>
                </a:solidFill>
                <a:latin typeface="+mj-lt"/>
              </a:rPr>
              <a:t>Process Termination – exit()</a:t>
            </a:r>
          </a:p>
        </p:txBody>
      </p:sp>
      <p:sp>
        <p:nvSpPr>
          <p:cNvPr id="218115" name="Rectangle 3"/>
          <p:cNvSpPr>
            <a:spLocks noChangeArrowheads="1"/>
          </p:cNvSpPr>
          <p:nvPr/>
        </p:nvSpPr>
        <p:spPr bwMode="auto">
          <a:xfrm>
            <a:off x="381002" y="1111668"/>
            <a:ext cx="8621484" cy="5464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–  </a:t>
            </a:r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exit ( int status ) </a:t>
            </a:r>
            <a:endParaRPr lang="en-US" sz="24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Process terminates by calling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exit()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performs resource cleanup for terminating process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released, open </a:t>
            </a:r>
            <a:r>
              <a:rPr 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descriptors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closed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graceful termination</a:t>
            </a:r>
          </a:p>
          <a:p>
            <a:pPr marL="342900" indent="-34290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Also allows child to return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exit status code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parent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 code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used as argument to exit() –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 integer value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status code tells parent about success or failure of child execution</a:t>
            </a:r>
          </a:p>
          <a:p>
            <a:pPr lvl="3" defTabSz="844550">
              <a:spcBef>
                <a:spcPts val="1200"/>
              </a:spcBef>
              <a:spcAft>
                <a:spcPts val="0"/>
              </a:spcAft>
            </a:pP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status code 0 	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 success</a:t>
            </a:r>
          </a:p>
          <a:p>
            <a:pPr lvl="3" defTabSz="844550">
              <a:spcBef>
                <a:spcPts val="600"/>
              </a:spcBef>
              <a:spcAft>
                <a:spcPts val="0"/>
              </a:spcAft>
            </a:pP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non-zero value 	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  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error conditions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334FA6E-B5F9-192A-E45D-717DAEFBCE1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283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ChangeArrowheads="1"/>
          </p:cNvSpPr>
          <p:nvPr/>
        </p:nvSpPr>
        <p:spPr bwMode="auto">
          <a:xfrm>
            <a:off x="1034142" y="108857"/>
            <a:ext cx="7652657" cy="696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06699"/>
                </a:solidFill>
                <a:latin typeface="+mj-lt"/>
              </a:rPr>
              <a:t>Passing exit status code</a:t>
            </a:r>
          </a:p>
        </p:txBody>
      </p:sp>
      <p:sp>
        <p:nvSpPr>
          <p:cNvPr id="218115" name="Rectangle 3"/>
          <p:cNvSpPr>
            <a:spLocks noChangeArrowheads="1"/>
          </p:cNvSpPr>
          <p:nvPr/>
        </p:nvSpPr>
        <p:spPr bwMode="auto">
          <a:xfrm>
            <a:off x="381002" y="1081360"/>
            <a:ext cx="8621484" cy="1561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Parent process can call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wait()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obtain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exit status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of child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When child terminates, 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exit status code 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returned to parent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334FA6E-B5F9-192A-E45D-717DAEFBCE1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54294FF-24A1-C680-0F12-2D1C9915AE71}"/>
              </a:ext>
            </a:extLst>
          </p:cNvPr>
          <p:cNvGrpSpPr/>
          <p:nvPr/>
        </p:nvGrpSpPr>
        <p:grpSpPr>
          <a:xfrm>
            <a:off x="982423" y="3041169"/>
            <a:ext cx="6961415" cy="2567894"/>
            <a:chOff x="1146054" y="3932407"/>
            <a:chExt cx="6711262" cy="240307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B29580D-C6EF-0337-0976-53F38678B005}"/>
                </a:ext>
              </a:extLst>
            </p:cNvPr>
            <p:cNvSpPr/>
            <p:nvPr/>
          </p:nvSpPr>
          <p:spPr bwMode="auto">
            <a:xfrm>
              <a:off x="2215466" y="4773388"/>
              <a:ext cx="1746934" cy="685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900" dirty="0" err="1">
                  <a:latin typeface="+mn-lt"/>
                  <a:cs typeface="Arabic Typesetting" panose="020F0502020204030204" pitchFamily="66" charset="-78"/>
                </a:rPr>
                <a:t>p</a:t>
              </a:r>
              <a:r>
                <a:rPr kumimoji="0" lang="en-US" sz="19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cs typeface="Arabic Typesetting" panose="020F0502020204030204" pitchFamily="66" charset="-78"/>
                </a:rPr>
                <a:t>id</a:t>
              </a:r>
              <a:r>
                <a:rPr kumimoji="0" lang="en-US" sz="19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cs typeface="Arabic Typesetting" panose="020F0502020204030204" pitchFamily="66" charset="-78"/>
                </a:rPr>
                <a:t> = fork()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7E85DE8-3708-B8C9-0E69-4F484F842A3D}"/>
                </a:ext>
              </a:extLst>
            </p:cNvPr>
            <p:cNvSpPr/>
            <p:nvPr/>
          </p:nvSpPr>
          <p:spPr bwMode="auto">
            <a:xfrm>
              <a:off x="5473124" y="3962402"/>
              <a:ext cx="1066577" cy="685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wait()</a:t>
              </a:r>
              <a:endParaRPr kumimoji="0" 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abic Typesetting" panose="020F0502020204030204" pitchFamily="66" charset="-78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5EBA396-D439-99B2-0775-A2B5C5ADAF5E}"/>
                </a:ext>
              </a:extLst>
            </p:cNvPr>
            <p:cNvSpPr/>
            <p:nvPr/>
          </p:nvSpPr>
          <p:spPr bwMode="auto">
            <a:xfrm>
              <a:off x="5473124" y="5649684"/>
              <a:ext cx="1099235" cy="685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900" dirty="0">
                  <a:latin typeface="+mn-lt"/>
                  <a:cs typeface="Arabic Typesetting" panose="020F0502020204030204" pitchFamily="66" charset="-78"/>
                </a:rPr>
                <a:t>exit()</a:t>
              </a:r>
              <a:endParaRPr kumimoji="0" 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abic Typesetting" panose="020F0502020204030204" pitchFamily="66" charset="-78"/>
              </a:endParaRP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34BEC715-DB36-254A-305D-948822F3FBDF}"/>
                </a:ext>
              </a:extLst>
            </p:cNvPr>
            <p:cNvCxnSpPr>
              <a:cxnSpLocks/>
              <a:stCxn id="4" idx="0"/>
              <a:endCxn id="5" idx="2"/>
            </p:cNvCxnSpPr>
            <p:nvPr/>
          </p:nvCxnSpPr>
          <p:spPr bwMode="auto">
            <a:xfrm rot="5400000" flipH="1" flipV="1">
              <a:off x="4046985" y="3347250"/>
              <a:ext cx="468086" cy="2384191"/>
            </a:xfrm>
            <a:prstGeom prst="curved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2E5CA2F8-CB73-184B-7E89-4986A2259E7C}"/>
                </a:ext>
              </a:extLst>
            </p:cNvPr>
            <p:cNvCxnSpPr>
              <a:cxnSpLocks/>
              <a:stCxn id="4" idx="4"/>
              <a:endCxn id="6" idx="2"/>
            </p:cNvCxnSpPr>
            <p:nvPr/>
          </p:nvCxnSpPr>
          <p:spPr bwMode="auto">
            <a:xfrm rot="16200000" flipH="1">
              <a:off x="4014330" y="4533790"/>
              <a:ext cx="533396" cy="2384191"/>
            </a:xfrm>
            <a:prstGeom prst="curved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D8D3CD4-5B3F-6F30-7580-F454343601EB}"/>
                </a:ext>
              </a:extLst>
            </p:cNvPr>
            <p:cNvCxnSpPr>
              <a:stCxn id="6" idx="0"/>
              <a:endCxn id="5" idx="4"/>
            </p:cNvCxnSpPr>
            <p:nvPr/>
          </p:nvCxnSpPr>
          <p:spPr bwMode="auto">
            <a:xfrm flipH="1" flipV="1">
              <a:off x="6006413" y="4648202"/>
              <a:ext cx="16329" cy="100148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4506BB2-7DB8-4B76-C38B-A52584F7D94B}"/>
                </a:ext>
              </a:extLst>
            </p:cNvPr>
            <p:cNvCxnSpPr>
              <a:stCxn id="5" idx="6"/>
            </p:cNvCxnSpPr>
            <p:nvPr/>
          </p:nvCxnSpPr>
          <p:spPr bwMode="auto">
            <a:xfrm>
              <a:off x="6539701" y="4305302"/>
              <a:ext cx="106941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AB477B6-A6E9-B661-1CAF-3AB80D5EB31F}"/>
                </a:ext>
              </a:extLst>
            </p:cNvPr>
            <p:cNvCxnSpPr>
              <a:cxnSpLocks/>
              <a:endCxn id="4" idx="2"/>
            </p:cNvCxnSpPr>
            <p:nvPr/>
          </p:nvCxnSpPr>
          <p:spPr bwMode="auto">
            <a:xfrm>
              <a:off x="1230084" y="5116288"/>
              <a:ext cx="98538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103021C-DD8D-73E2-E5A0-346505FEA059}"/>
                </a:ext>
              </a:extLst>
            </p:cNvPr>
            <p:cNvSpPr txBox="1"/>
            <p:nvPr/>
          </p:nvSpPr>
          <p:spPr>
            <a:xfrm>
              <a:off x="1146054" y="4647812"/>
              <a:ext cx="1181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4B94363-ED65-77C1-140F-0628931F2CA9}"/>
                </a:ext>
              </a:extLst>
            </p:cNvPr>
            <p:cNvSpPr txBox="1"/>
            <p:nvPr/>
          </p:nvSpPr>
          <p:spPr>
            <a:xfrm>
              <a:off x="3393955" y="3932407"/>
              <a:ext cx="1787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 process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5113B0-98E2-4C92-236C-CEC5F9F2065E}"/>
                </a:ext>
              </a:extLst>
            </p:cNvPr>
            <p:cNvSpPr txBox="1"/>
            <p:nvPr/>
          </p:nvSpPr>
          <p:spPr>
            <a:xfrm>
              <a:off x="3393955" y="5878291"/>
              <a:ext cx="1621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child process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AEE030-381D-063C-A18F-CCCC57D02E82}"/>
                </a:ext>
              </a:extLst>
            </p:cNvPr>
            <p:cNvSpPr txBox="1"/>
            <p:nvPr/>
          </p:nvSpPr>
          <p:spPr>
            <a:xfrm>
              <a:off x="6675992" y="4332519"/>
              <a:ext cx="11813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 continues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652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40228" y="158296"/>
            <a:ext cx="8262257" cy="609600"/>
          </a:xfrm>
        </p:spPr>
        <p:txBody>
          <a:bodyPr>
            <a:noAutofit/>
          </a:bodyPr>
          <a:lstStyle/>
          <a:p>
            <a:r>
              <a:rPr lang="en-US" kern="1200" dirty="0">
                <a:cs typeface="+mn-cs"/>
              </a:rPr>
              <a:t>wait() System Call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91886" y="1124574"/>
            <a:ext cx="8490853" cy="5570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7663" lvl="1" indent="-347663" hangingPunct="0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Parent calls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wait()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omic Sans MS" charset="0"/>
              <a:cs typeface="Calibri" panose="020F0502020204030204" pitchFamily="34" charset="0"/>
            </a:endParaRPr>
          </a:p>
          <a:p>
            <a:pPr marL="800100" lvl="2" indent="-342900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returns PID of  child </a:t>
            </a:r>
          </a:p>
          <a:p>
            <a:pPr marL="800100" lvl="3" indent="-342900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 on error</a:t>
            </a:r>
          </a:p>
          <a:p>
            <a:pPr marL="347663" lvl="1" indent="-347663" hangingPunct="0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Serves two purposes:</a:t>
            </a:r>
          </a:p>
          <a:p>
            <a:pPr marL="800100" lvl="3" indent="-342900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notifies parent that child execution ends</a:t>
            </a:r>
          </a:p>
          <a:p>
            <a:pPr marL="800100" lvl="3" indent="-342900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tells parent how child finished </a:t>
            </a:r>
            <a:r>
              <a:rPr lang="en-US" sz="2300" dirty="0">
                <a:solidFill>
                  <a:srgbClr val="000000"/>
                </a:solidFill>
                <a:latin typeface="Abadi" panose="020B0604020104020204" pitchFamily="34" charset="0"/>
                <a:ea typeface="Comic Sans MS" charset="0"/>
                <a:cs typeface="Calibri" panose="020F0502020204030204" pitchFamily="34" charset="0"/>
              </a:rPr>
              <a:t>→ 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exit status</a:t>
            </a:r>
          </a:p>
          <a:p>
            <a:pPr marL="347663" lvl="1" indent="-347663" hangingPunct="0">
              <a:spcBef>
                <a:spcPts val="24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Parent calls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wait()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&amp; blocks till </a:t>
            </a: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any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 of its child terminates</a:t>
            </a:r>
          </a:p>
          <a:p>
            <a:pPr marL="800100" lvl="2" indent="-342900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on termination, child returns status via </a:t>
            </a:r>
            <a:r>
              <a:rPr lang="en-US" sz="2300" dirty="0">
                <a:solidFill>
                  <a:srgbClr val="000000"/>
                </a:solidFill>
                <a:latin typeface="Abadi" panose="020B0604020104020204" pitchFamily="34" charset="0"/>
                <a:ea typeface="Comic Sans MS" charset="0"/>
                <a:cs typeface="Calibri" panose="020F0502020204030204" pitchFamily="34" charset="0"/>
              </a:rPr>
              <a:t>→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 </a:t>
            </a: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exit (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 </a:t>
            </a:r>
          </a:p>
          <a:p>
            <a:pPr marL="800100" lvl="3" indent="-342900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parent receives value in </a:t>
            </a: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argument </a:t>
            </a:r>
            <a:r>
              <a:rPr lang="en-US" sz="2300" dirty="0">
                <a:solidFill>
                  <a:srgbClr val="000000"/>
                </a:solidFill>
                <a:latin typeface="Abadi" panose="020B0604020104020204" pitchFamily="34" charset="0"/>
                <a:ea typeface="Comic Sans MS" charset="0"/>
                <a:cs typeface="Calibri" panose="020F0502020204030204" pitchFamily="34" charset="0"/>
              </a:rPr>
              <a:t>→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 (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lvl="2" indent="-342900">
              <a:spcBef>
                <a:spcPts val="24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check exit status of the last command in shell </a:t>
            </a: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(echo $?)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7CAF6-1221-43EA-B367-71FB7901841A}"/>
              </a:ext>
            </a:extLst>
          </p:cNvPr>
          <p:cNvSpPr txBox="1"/>
          <p:nvPr/>
        </p:nvSpPr>
        <p:spPr>
          <a:xfrm>
            <a:off x="4277819" y="1485975"/>
            <a:ext cx="4517838" cy="609599"/>
          </a:xfrm>
          <a:prstGeom prst="rect">
            <a:avLst/>
          </a:prstGeom>
          <a:solidFill>
            <a:schemeClr val="bg1">
              <a:lumMod val="95000"/>
            </a:schemeClr>
          </a:solidFill>
          <a:ln w="18360">
            <a:noFill/>
            <a:prstDash val="solid"/>
          </a:ln>
        </p:spPr>
        <p:txBody>
          <a:bodyPr vert="horz" wrap="square" lIns="99000" tIns="54000" rIns="99000" bIns="54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1" i="0" u="none" strike="noStrike" kern="1200" dirty="0">
                <a:ln>
                  <a:noFill/>
                </a:ln>
                <a:solidFill>
                  <a:srgbClr val="C00000"/>
                </a:solidFill>
                <a:latin typeface="Courier New" pitchFamily="49"/>
                <a:ea typeface="DejaVu Sans" pitchFamily="2"/>
                <a:cs typeface="Lohit Hindi" pitchFamily="2"/>
              </a:rPr>
              <a:t> </a:t>
            </a:r>
            <a:r>
              <a:rPr lang="en-US" sz="2200" b="1" i="0" u="none" strike="noStrike" kern="1200" dirty="0" err="1">
                <a:ln>
                  <a:noFill/>
                </a:ln>
                <a:solidFill>
                  <a:srgbClr val="C00000"/>
                </a:solidFill>
                <a:latin typeface="Courier New" pitchFamily="49"/>
                <a:ea typeface="DejaVu Sans" pitchFamily="2"/>
                <a:cs typeface="Lohit Hindi" pitchFamily="2"/>
              </a:rPr>
              <a:t>pid_t</a:t>
            </a:r>
            <a:r>
              <a:rPr lang="en-US" sz="2200" b="1" i="0" u="none" strike="noStrike" kern="1200" dirty="0">
                <a:ln>
                  <a:noFill/>
                </a:ln>
                <a:solidFill>
                  <a:srgbClr val="C00000"/>
                </a:solidFill>
                <a:latin typeface="Courier New" pitchFamily="49"/>
                <a:ea typeface="DejaVu Sans" pitchFamily="2"/>
                <a:cs typeface="Lohit Hindi" pitchFamily="2"/>
              </a:rPr>
              <a:t> wait (int* status);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EF1E4D0-B2A2-DF2B-DB95-3F366357175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5182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892629" y="125519"/>
            <a:ext cx="78812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- fork() &amp; wait()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359230" y="974271"/>
            <a:ext cx="8784770" cy="5682007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   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if (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0){      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("Hello I am Child\n");    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("Child again, and my PID is: %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\n", </a:t>
            </a:r>
            <a:r>
              <a:rPr lang="en-US" sz="2000" b="1" dirty="0" err="1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getpid</a:t>
            </a:r>
            <a:r>
              <a:rPr lang="en-US" sz="20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()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);      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("Child again, and I am terminating...\n");      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exit(7)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;  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}else{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int 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rv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, status;  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0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 err="1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rv</a:t>
            </a:r>
            <a:r>
              <a:rPr lang="en-US" sz="20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wait( &amp;status );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("Hello I am Parent\n");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("Return value of wait() is: %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\n",</a:t>
            </a:r>
            <a:r>
              <a:rPr lang="en-US" sz="2000" b="1" dirty="0" err="1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rv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);   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("Child exit status: %d\n", WEXITSTATUS(</a:t>
            </a:r>
            <a:r>
              <a:rPr lang="en-US" sz="20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status</a:t>
            </a: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));</a:t>
            </a:r>
          </a:p>
          <a:p>
            <a:pPr marL="342900" lvl="0" indent="-342900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exit(54);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0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  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26D405-F8DD-7D9B-004B-B9E2DA21FD2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7295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892629" y="125519"/>
            <a:ext cx="78812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- fork() &amp; wait()</a:t>
            </a: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>
          <a:xfrm>
            <a:off x="707572" y="1223281"/>
            <a:ext cx="7881257" cy="465364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$ ./</a:t>
            </a:r>
            <a:r>
              <a:rPr lang="en-US" sz="2200" dirty="0" err="1">
                <a:solidFill>
                  <a:schemeClr val="accent1">
                    <a:lumMod val="75000"/>
                  </a:schemeClr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a.out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Hello I am Child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Child again, and my PID is: 6867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Child again, and I am terminating...</a:t>
            </a:r>
          </a:p>
          <a:p>
            <a:pPr marL="342900" lvl="0" indent="-342900">
              <a:spcBef>
                <a:spcPts val="600"/>
              </a:spcBef>
              <a:defRPr/>
            </a:pPr>
            <a:endParaRPr lang="en-US" sz="2200" dirty="0">
              <a:solidFill>
                <a:srgbClr val="FF0000"/>
              </a:solidFill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Hello I am Parent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Return value of wait is: 6867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Child exit status: 7</a:t>
            </a:r>
          </a:p>
          <a:p>
            <a:pPr marL="342900" lvl="0" indent="-342900">
              <a:spcBef>
                <a:spcPts val="600"/>
              </a:spcBef>
              <a:defRPr/>
            </a:pPr>
            <a:endParaRPr lang="en-US" sz="2200" dirty="0">
              <a:solidFill>
                <a:schemeClr val="accent1">
                  <a:lumMod val="75000"/>
                </a:schemeClr>
              </a:solidFill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$ echo $?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54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26D405-F8DD-7D9B-004B-B9E2DA21FD2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4036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ChangeArrowheads="1"/>
          </p:cNvSpPr>
          <p:nvPr/>
        </p:nvSpPr>
        <p:spPr bwMode="auto">
          <a:xfrm>
            <a:off x="925286" y="185057"/>
            <a:ext cx="7913914" cy="636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06699"/>
                </a:solidFill>
                <a:latin typeface="+mj-lt"/>
              </a:rPr>
              <a:t>Child Termination</a:t>
            </a:r>
          </a:p>
        </p:txBody>
      </p:sp>
      <p:sp>
        <p:nvSpPr>
          <p:cNvPr id="220163" name="Rectangle 3"/>
          <p:cNvSpPr>
            <a:spLocks noChangeArrowheads="1"/>
          </p:cNvSpPr>
          <p:nvPr/>
        </p:nvSpPr>
        <p:spPr bwMode="auto">
          <a:xfrm>
            <a:off x="448438" y="1078483"/>
            <a:ext cx="8610600" cy="5584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may terminate execution of one of its children for 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variety of </a:t>
            </a:r>
            <a:r>
              <a:rPr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reasons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task assigned to child no longer required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child exceeded allocated resources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(memory, execution time)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parent reached max children limit</a:t>
            </a: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Cascading termination  </a:t>
            </a:r>
            <a:endParaRPr lang="en-US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9775" lvl="1" indent="-282575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termination initiated by OS, if :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04913" lvl="2" indent="-290513">
              <a:spcBef>
                <a:spcPts val="300"/>
              </a:spcBef>
              <a:buFont typeface="Symbol" panose="05050102010706020507" pitchFamily="18" charset="2"/>
              <a:buChar char="-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parent is exiting,  &amp; </a:t>
            </a:r>
          </a:p>
          <a:p>
            <a:pPr marL="1204913" lvl="2" indent="-290513">
              <a:spcBef>
                <a:spcPts val="300"/>
              </a:spcBef>
              <a:buFont typeface="Symbol" panose="05050102010706020507" pitchFamily="18" charset="2"/>
              <a:buChar char="-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OS does not allow child to continue if parent terminates </a:t>
            </a:r>
          </a:p>
          <a:p>
            <a:pPr marL="739775" lvl="1" indent="-2825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all children, grandchildren,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terminated </a:t>
            </a:r>
          </a:p>
          <a:p>
            <a:pPr marL="0" lvl="1" algn="ctr">
              <a:spcBef>
                <a:spcPts val="1200"/>
              </a:spcBef>
            </a:pPr>
            <a:r>
              <a:rPr lang="en-US" alt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Unix allows child to continue execution </a:t>
            </a:r>
            <a:br>
              <a:rPr lang="en-US" alt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 if parent terminates – orphan process</a:t>
            </a:r>
            <a:b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23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17458F3-81C4-36F7-CE76-030C9FA9BE7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62730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ChangeArrowheads="1"/>
          </p:cNvSpPr>
          <p:nvPr/>
        </p:nvSpPr>
        <p:spPr bwMode="auto">
          <a:xfrm>
            <a:off x="881742" y="92980"/>
            <a:ext cx="7957457" cy="723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06699"/>
                </a:solidFill>
                <a:latin typeface="+mj-lt"/>
              </a:rPr>
              <a:t>Process Termination</a:t>
            </a:r>
          </a:p>
        </p:txBody>
      </p:sp>
      <p:sp>
        <p:nvSpPr>
          <p:cNvPr id="222211" name="Rectangle 3"/>
          <p:cNvSpPr>
            <a:spLocks noChangeArrowheads="1"/>
          </p:cNvSpPr>
          <p:nvPr/>
        </p:nvSpPr>
        <p:spPr bwMode="auto">
          <a:xfrm>
            <a:off x="391890" y="1143000"/>
            <a:ext cx="8479967" cy="5442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may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terminate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due to following reasons:</a:t>
            </a:r>
          </a:p>
          <a:p>
            <a:pPr marL="742950" lvl="1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Normal completion</a:t>
            </a:r>
          </a:p>
          <a:p>
            <a:pPr marL="742950" lvl="1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Memory unavailable</a:t>
            </a:r>
          </a:p>
          <a:p>
            <a:pPr marL="742950" lvl="1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Protection error</a:t>
            </a:r>
          </a:p>
          <a:p>
            <a:pPr marL="742950" lvl="1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Mathematical error</a:t>
            </a:r>
          </a:p>
          <a:p>
            <a:pPr marL="742950" lvl="1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I/O failure</a:t>
            </a:r>
          </a:p>
          <a:p>
            <a:pPr marL="742950" lvl="1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Operator intervention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Cascading termination (by OS)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2A843B6-33D4-3AE6-5A5A-2AD22EB8111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4038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334E2B-E53E-40B6-95AC-130B7A6B18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Processes - Orphans &amp; Zombies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661A78-622C-4B46-DDC9-C6601D429E7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91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28700" y="1275651"/>
          <a:ext cx="7086600" cy="90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3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56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+mn-lt"/>
                        </a:rPr>
                        <a:t>Command</a:t>
                      </a:r>
                    </a:p>
                  </a:txBody>
                  <a:tcPr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+mn-lt"/>
                        </a:rPr>
                        <a:t>Description</a:t>
                      </a:r>
                    </a:p>
                  </a:txBody>
                  <a:tcPr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26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+mn-lt"/>
                        </a:rPr>
                        <a:t>#</a:t>
                      </a:r>
                      <a:r>
                        <a:rPr lang="en-US" sz="1600" b="0" baseline="0" dirty="0">
                          <a:latin typeface="+mn-lt"/>
                        </a:rPr>
                        <a:t> </a:t>
                      </a:r>
                      <a:r>
                        <a:rPr lang="en-US" sz="1600" b="1" baseline="0" dirty="0" err="1">
                          <a:latin typeface="+mn-lt"/>
                        </a:rPr>
                        <a:t>ps</a:t>
                      </a:r>
                      <a:r>
                        <a:rPr lang="en-US" sz="1600" b="0" baseline="0" dirty="0">
                          <a:latin typeface="+mn-lt"/>
                        </a:rPr>
                        <a:t> [</a:t>
                      </a:r>
                      <a:r>
                        <a:rPr lang="en-US" sz="1600" b="0" baseline="0" dirty="0" err="1">
                          <a:latin typeface="+mn-lt"/>
                        </a:rPr>
                        <a:t>auxl</a:t>
                      </a:r>
                      <a:r>
                        <a:rPr lang="en-US" sz="1600" b="0" baseline="0" dirty="0">
                          <a:latin typeface="+mn-lt"/>
                        </a:rPr>
                        <a:t>]</a:t>
                      </a:r>
                      <a:endParaRPr lang="en-US" sz="1600" b="0" dirty="0">
                        <a:latin typeface="+mn-lt"/>
                      </a:endParaRPr>
                    </a:p>
                  </a:txBody>
                  <a:tcPr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+mn-lt"/>
                        </a:rPr>
                        <a:t>Display status of processes</a:t>
                      </a:r>
                    </a:p>
                  </a:txBody>
                  <a:tcPr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001486" y="152400"/>
            <a:ext cx="7837714" cy="609600"/>
          </a:xfrm>
        </p:spPr>
        <p:txBody>
          <a:bodyPr>
            <a:noAutofit/>
          </a:bodyPr>
          <a:lstStyle/>
          <a:p>
            <a:r>
              <a:rPr lang="en-US" kern="1200" dirty="0">
                <a:cs typeface="+mn-cs"/>
              </a:rPr>
              <a:t>Process Related Shell Command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6A43300-9631-EED4-7E2C-17EF6FB00E2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2" descr="D:\2\1 UCP\1-Computer Networks\0-Data Comm\Data\client server screen shots\assign\1 - Copy.png">
            <a:extLst>
              <a:ext uri="{FF2B5EF4-FFF2-40B4-BE49-F238E27FC236}">
                <a16:creationId xmlns:a16="http://schemas.microsoft.com/office/drawing/2014/main" id="{187A07E3-8E19-11A9-2B43-7DB60428A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8" y="2698897"/>
            <a:ext cx="8592325" cy="307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5945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56657" y="71493"/>
            <a:ext cx="6248400" cy="713311"/>
          </a:xfrm>
        </p:spPr>
        <p:txBody>
          <a:bodyPr>
            <a:normAutofit/>
          </a:bodyPr>
          <a:lstStyle/>
          <a:p>
            <a:r>
              <a:rPr lang="en-US" kern="1200" dirty="0">
                <a:cs typeface="+mn-cs"/>
              </a:rPr>
              <a:t>Process States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35430" y="1072629"/>
            <a:ext cx="8708570" cy="5524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0" marR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Common process states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seen using ‘</a:t>
            </a:r>
            <a:r>
              <a:rPr lang="en-US" sz="2400" b="1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</a:t>
            </a: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command:</a:t>
            </a:r>
          </a:p>
          <a:p>
            <a:pPr marL="342900" marR="0" indent="-342900" defTabSz="665163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  (</a:t>
            </a:r>
            <a:r>
              <a:rPr lang="en-US" sz="2200" i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Running</a:t>
            </a:r>
            <a:r>
              <a:rPr lang="en-US" sz="2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:  currently executing</a:t>
            </a:r>
          </a:p>
          <a:p>
            <a:pPr marL="342900" marR="0" indent="-342900" defTabSz="665163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  (</a:t>
            </a:r>
            <a:r>
              <a:rPr lang="en-US" sz="2200" i="1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Sleeping</a:t>
            </a:r>
            <a:r>
              <a:rPr lang="en-US" sz="22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:  blocked or waiting, </a:t>
            </a:r>
            <a:b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   </a:t>
            </a:r>
            <a:r>
              <a:rPr lang="en-US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an 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 or resource </a:t>
            </a:r>
            <a:r>
              <a:rPr lang="en-US" sz="22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(I/O, timer, </a:t>
            </a:r>
            <a:r>
              <a:rPr lang="en-US" sz="2200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en-US" sz="22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marR="0" indent="-342900" defTabSz="665163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  (</a:t>
            </a:r>
            <a:r>
              <a:rPr lang="en-US" sz="2200" i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Disk</a:t>
            </a:r>
            <a:r>
              <a:rPr lang="en-US" sz="2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i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Sleep</a:t>
            </a:r>
            <a:r>
              <a:rPr lang="en-US" sz="2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in uninterruptible sleep, can’t be awakened</a:t>
            </a:r>
            <a:b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   </a:t>
            </a:r>
            <a:r>
              <a:rPr lang="en-US" sz="2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waiting for disk / device driver response</a:t>
            </a:r>
          </a:p>
          <a:p>
            <a:pPr marL="342900" marR="0" indent="-342900" defTabSz="665163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  (</a:t>
            </a:r>
            <a:r>
              <a:rPr lang="en-US" sz="2200" i="1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Stopped</a:t>
            </a:r>
            <a:r>
              <a:rPr lang="en-US" sz="22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:  </a:t>
            </a:r>
            <a:r>
              <a:rPr lang="en-US" sz="2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suspended or halted, </a:t>
            </a:r>
            <a:b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   can be resumed or terminated</a:t>
            </a:r>
            <a:endParaRPr lang="en-US" sz="22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 defTabSz="665163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Z  (</a:t>
            </a:r>
            <a:r>
              <a:rPr lang="en-US" sz="2200" i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Zombie</a:t>
            </a:r>
            <a:r>
              <a:rPr lang="en-US" sz="2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:  terminated, but not fully removed from system </a:t>
            </a:r>
            <a:b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   waiting for parent to acknowledge termination</a:t>
            </a:r>
          </a:p>
          <a:p>
            <a:pPr marL="342900" marR="0" indent="-342900" defTabSz="665163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X  (</a:t>
            </a:r>
            <a:r>
              <a:rPr lang="en-US" sz="2200" i="1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Dead</a:t>
            </a:r>
            <a:r>
              <a:rPr lang="en-US" sz="22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	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terminated, &amp; being removed from system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306C910-FD1B-BDFC-3B49-A449AF891F3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5833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7686" y="104429"/>
            <a:ext cx="7685314" cy="639762"/>
          </a:xfrm>
        </p:spPr>
        <p:txBody>
          <a:bodyPr>
            <a:normAutofit/>
          </a:bodyPr>
          <a:lstStyle/>
          <a:p>
            <a:r>
              <a:rPr lang="en-US" kern="1200" dirty="0">
                <a:cs typeface="+mn-cs"/>
              </a:rPr>
              <a:t>Orphan Process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799" y="1012374"/>
            <a:ext cx="8654144" cy="1001485"/>
          </a:xfrm>
        </p:spPr>
        <p:txBody>
          <a:bodyPr>
            <a:normAutofit/>
          </a:bodyPr>
          <a:lstStyle/>
          <a:p>
            <a:pPr marL="347663" lvl="1" indent="-3476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300" b="1" dirty="0">
                <a:solidFill>
                  <a:srgbClr val="0070C0"/>
                </a:solidFill>
              </a:rPr>
              <a:t>Orphan –</a:t>
            </a:r>
            <a:r>
              <a:rPr lang="en-US" sz="2300" dirty="0"/>
              <a:t>  </a:t>
            </a:r>
            <a:r>
              <a:rPr lang="en-US" sz="2300" dirty="0">
                <a:solidFill>
                  <a:srgbClr val="C00000"/>
                </a:solidFill>
              </a:rPr>
              <a:t>child still running</a:t>
            </a:r>
            <a:r>
              <a:rPr lang="en-US" sz="2300" dirty="0"/>
              <a:t> but </a:t>
            </a:r>
            <a:r>
              <a:rPr lang="en-US" sz="2300" dirty="0">
                <a:solidFill>
                  <a:srgbClr val="C00000"/>
                </a:solidFill>
              </a:rPr>
              <a:t>parent terminates</a:t>
            </a:r>
            <a:endParaRPr lang="en-US" sz="2300" dirty="0"/>
          </a:p>
          <a:p>
            <a:pPr marL="347663" lvl="1" indent="-347663" hangingPunct="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300" dirty="0"/>
              <a:t>orphan process adopted by </a:t>
            </a:r>
            <a:r>
              <a:rPr lang="en-US" sz="2300" dirty="0" err="1">
                <a:solidFill>
                  <a:srgbClr val="C00000"/>
                </a:solidFill>
              </a:rPr>
              <a:t>systemd</a:t>
            </a:r>
            <a:r>
              <a:rPr lang="en-US" sz="2300" dirty="0"/>
              <a:t> – </a:t>
            </a:r>
            <a:r>
              <a:rPr lang="en-US" sz="2300" i="1" dirty="0"/>
              <a:t>collects exit status</a:t>
            </a: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>
          <a:xfrm>
            <a:off x="838209" y="2090057"/>
            <a:ext cx="7794168" cy="44196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if (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("Running child, PID = %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PPID = %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\n",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 	(long)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getpid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(), (long)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getppid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());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while(1);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else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("Terminating parent, PID = %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PPID = %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\n",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(long)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getpid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(), (long)</a:t>
            </a:r>
            <a:r>
              <a:rPr lang="en-US" sz="20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getppid</a:t>
            </a: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());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exit(0);      </a:t>
            </a: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0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79816AC-F98A-A07E-D5C6-604E4C5DFAE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5223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892628" y="82657"/>
            <a:ext cx="7783285" cy="639762"/>
          </a:xfrm>
        </p:spPr>
        <p:txBody>
          <a:bodyPr>
            <a:normAutofit/>
          </a:bodyPr>
          <a:lstStyle/>
          <a:p>
            <a:r>
              <a:rPr lang="en-US" kern="1200" dirty="0">
                <a:cs typeface="+mn-cs"/>
              </a:rPr>
              <a:t>Zombie Process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0114" y="1012370"/>
            <a:ext cx="8632372" cy="5573486"/>
          </a:xfrm>
        </p:spPr>
        <p:txBody>
          <a:bodyPr>
            <a:normAutofit/>
          </a:bodyPr>
          <a:lstStyle/>
          <a:p>
            <a:pPr marL="347663" lvl="1" indent="-347663" hangingPunct="0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70C0"/>
                </a:solidFill>
              </a:rPr>
              <a:t>Zombie</a:t>
            </a:r>
          </a:p>
          <a:p>
            <a:pPr marL="739775" lvl="2" indent="-288925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C00000"/>
                </a:solidFill>
              </a:rPr>
              <a:t>child terminated</a:t>
            </a:r>
            <a:r>
              <a:rPr lang="en-US" sz="2300" dirty="0"/>
              <a:t>, but </a:t>
            </a:r>
            <a:r>
              <a:rPr lang="en-US" sz="2300" dirty="0">
                <a:solidFill>
                  <a:srgbClr val="C00000"/>
                </a:solidFill>
              </a:rPr>
              <a:t>parent didn’t collect exit status </a:t>
            </a:r>
            <a:br>
              <a:rPr lang="en-US" sz="2300" dirty="0"/>
            </a:br>
            <a:r>
              <a:rPr lang="en-US" sz="2300" dirty="0"/>
              <a:t>		</a:t>
            </a:r>
            <a:r>
              <a:rPr lang="en-US" sz="2300" i="1" dirty="0"/>
              <a:t>wait() not called – child not reaped</a:t>
            </a:r>
          </a:p>
          <a:p>
            <a:pPr marL="739775" lvl="2" indent="-288925">
              <a:spcBef>
                <a:spcPts val="12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/>
              <a:t>process still holds resources </a:t>
            </a:r>
            <a:r>
              <a:rPr lang="en-US" sz="2300" i="1" dirty="0"/>
              <a:t>– PCB, few OS tables</a:t>
            </a:r>
            <a:br>
              <a:rPr lang="en-US" sz="2300" i="1" dirty="0"/>
            </a:br>
            <a:r>
              <a:rPr lang="en-US" sz="2300" i="1" dirty="0"/>
              <a:t>		 but not scheduled on CPU</a:t>
            </a:r>
          </a:p>
          <a:p>
            <a:pPr marL="739775" lvl="2" indent="-288925">
              <a:spcBef>
                <a:spcPts val="12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/>
              <a:t>half-alive &amp; half-dead</a:t>
            </a:r>
          </a:p>
          <a:p>
            <a:pPr marL="347663" lvl="1" indent="-347663">
              <a:spcBef>
                <a:spcPts val="24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Zombie needs to be </a:t>
            </a:r>
            <a:r>
              <a:rPr lang="en-US" sz="2400" dirty="0">
                <a:solidFill>
                  <a:srgbClr val="FF0000"/>
                </a:solidFill>
              </a:rPr>
              <a:t>killed / removed from system</a:t>
            </a:r>
            <a:r>
              <a:rPr lang="en-US" sz="2400" dirty="0"/>
              <a:t>…</a:t>
            </a:r>
          </a:p>
          <a:p>
            <a:pPr marL="739775" lvl="2" indent="-288925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/>
              <a:t>not killed </a:t>
            </a:r>
            <a:r>
              <a:rPr lang="en-US" sz="2400" dirty="0"/>
              <a:t>by signals – </a:t>
            </a:r>
            <a:r>
              <a:rPr lang="en-US" sz="2300" i="1" dirty="0"/>
              <a:t>even SIGKILL</a:t>
            </a:r>
          </a:p>
          <a:p>
            <a:pPr marL="739775" lvl="2" indent="-288925">
              <a:spcBef>
                <a:spcPts val="12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dirty="0"/>
              <a:t>only way is to</a:t>
            </a:r>
            <a:r>
              <a:rPr lang="en-US" sz="2300" dirty="0">
                <a:solidFill>
                  <a:srgbClr val="000000"/>
                </a:solidFill>
                <a:latin typeface="Abadi" panose="020B0604020104020204" pitchFamily="34" charset="0"/>
                <a:ea typeface="Comic Sans MS" charset="0"/>
              </a:rPr>
              <a:t> →</a:t>
            </a:r>
            <a:r>
              <a:rPr lang="en-US" sz="2300" dirty="0"/>
              <a:t> </a:t>
            </a:r>
            <a:r>
              <a:rPr lang="en-US" sz="2300" dirty="0">
                <a:solidFill>
                  <a:srgbClr val="FF0000"/>
                </a:solidFill>
              </a:rPr>
              <a:t>kill the parent process</a:t>
            </a:r>
            <a:r>
              <a:rPr lang="en-US" sz="2300" dirty="0"/>
              <a:t>…</a:t>
            </a:r>
          </a:p>
          <a:p>
            <a:pPr marL="1082675" lvl="3" indent="-288925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child becomes </a:t>
            </a:r>
            <a:r>
              <a:rPr lang="en-US" dirty="0">
                <a:solidFill>
                  <a:srgbClr val="0070C0"/>
                </a:solidFill>
              </a:rPr>
              <a:t>orphan</a:t>
            </a:r>
            <a:r>
              <a:rPr lang="en-US" dirty="0"/>
              <a:t> </a:t>
            </a:r>
          </a:p>
          <a:p>
            <a:pPr marL="1082675" lvl="3" indent="-288925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adopted</a:t>
            </a:r>
            <a:r>
              <a:rPr lang="en-US" dirty="0"/>
              <a:t> by </a:t>
            </a:r>
            <a:r>
              <a:rPr lang="en-US" dirty="0" err="1"/>
              <a:t>systemd</a:t>
            </a:r>
            <a:endParaRPr lang="en-US" dirty="0"/>
          </a:p>
          <a:p>
            <a:pPr marL="1082675" lvl="3" indent="-288925"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and then </a:t>
            </a:r>
            <a:r>
              <a:rPr lang="en-US" dirty="0">
                <a:solidFill>
                  <a:srgbClr val="0070C0"/>
                </a:solidFill>
              </a:rPr>
              <a:t>reaped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55F55EA-113A-6C3F-263F-B4CAD0D10B1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1653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892628" y="82657"/>
            <a:ext cx="7783285" cy="639762"/>
          </a:xfrm>
        </p:spPr>
        <p:txBody>
          <a:bodyPr>
            <a:normAutofit/>
          </a:bodyPr>
          <a:lstStyle/>
          <a:p>
            <a:r>
              <a:rPr lang="en-US" kern="1200" dirty="0">
                <a:cs typeface="+mn-cs"/>
              </a:rPr>
              <a:t>Zombie Process</a:t>
            </a: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>
          <a:xfrm>
            <a:off x="566057" y="1096961"/>
            <a:ext cx="8316685" cy="498656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if (</a:t>
            </a: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("Terminating child with PID = %</a:t>
            </a: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\n",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	(long)</a:t>
            </a: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getpid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());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exit (0);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else{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("Running parent, PID=%</a:t>
            </a: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ld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\n",(long)</a:t>
            </a:r>
            <a:r>
              <a:rPr lang="en-US" sz="2200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getpid</a:t>
            </a: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());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while(1);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55F55EA-113A-6C3F-263F-B4CAD0D10B1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AB8E3B1-0DCE-786E-2549-9644891B5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93" y="5954560"/>
            <a:ext cx="8163753" cy="503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lvl="1" algn="ctr" hangingPunct="0"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en-US" sz="24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Parent has to use </a:t>
            </a:r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wait() </a:t>
            </a:r>
            <a:r>
              <a:rPr lang="en-US" sz="24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400" i="1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 reap child process, &amp; clear zombies</a:t>
            </a:r>
          </a:p>
        </p:txBody>
      </p:sp>
    </p:spTree>
    <p:extLst>
      <p:ext uri="{BB962C8B-B14F-4D97-AF65-F5344CB8AC3E}">
        <p14:creationId xmlns:p14="http://schemas.microsoft.com/office/powerpoint/2010/main" val="2534924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651CA-59BF-391D-88A6-C9AAB8DE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08B0D2D-7BAB-FD30-A914-C59B81D5E4F6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731EAA8E-DE80-DB75-F93D-8DD180A4AA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Process Invocation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88D4E4B-E823-B1E5-0585-7FEC428FC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9A9D84-F4BC-CB9B-4AD4-DE13FBA5247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129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5028" y="126201"/>
            <a:ext cx="7543801" cy="639762"/>
          </a:xfrm>
        </p:spPr>
        <p:txBody>
          <a:bodyPr>
            <a:normAutofit/>
          </a:bodyPr>
          <a:lstStyle/>
          <a:p>
            <a:r>
              <a:rPr lang="en-US" kern="1200" dirty="0">
                <a:cs typeface="+mn-cs"/>
              </a:rPr>
              <a:t>Main uses of fork()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084" y="1051485"/>
            <a:ext cx="8515002" cy="5562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solidFill>
                  <a:srgbClr val="FF0000"/>
                </a:solidFill>
              </a:rPr>
              <a:t>When process wants to </a:t>
            </a:r>
            <a:r>
              <a:rPr lang="en-US" b="1" dirty="0">
                <a:solidFill>
                  <a:srgbClr val="0070C0"/>
                </a:solidFill>
              </a:rPr>
              <a:t>Duplicate</a:t>
            </a:r>
            <a:r>
              <a:rPr lang="en-US" dirty="0">
                <a:solidFill>
                  <a:srgbClr val="FF0000"/>
                </a:solidFill>
              </a:rPr>
              <a:t> itself</a:t>
            </a:r>
            <a:r>
              <a:rPr lang="en-US" dirty="0"/>
              <a:t> </a:t>
            </a:r>
          </a:p>
          <a:p>
            <a:pPr marL="0" indent="0" algn="ctr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i="1" dirty="0"/>
              <a:t>(parent &amp; child need to execute different sections of </a:t>
            </a:r>
            <a:br>
              <a:rPr lang="en-US" i="1" dirty="0"/>
            </a:br>
            <a:r>
              <a:rPr lang="en-US" i="1" dirty="0"/>
              <a:t>the same code, concurrently)</a:t>
            </a:r>
          </a:p>
          <a:p>
            <a:pPr marL="511175" lvl="1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b="1" dirty="0"/>
              <a:t>Example:  </a:t>
            </a:r>
            <a:r>
              <a:rPr lang="en-US" dirty="0"/>
              <a:t>Consider a network Server… </a:t>
            </a:r>
          </a:p>
          <a:p>
            <a:pPr marL="854075" lvl="1" indent="-342900">
              <a:spcBef>
                <a:spcPts val="600"/>
              </a:spcBef>
            </a:pPr>
            <a:r>
              <a:rPr lang="en-US" dirty="0"/>
              <a:t>parent waits for service request from client</a:t>
            </a:r>
          </a:p>
          <a:p>
            <a:pPr marL="854075" lvl="1" indent="-342900">
              <a:spcBef>
                <a:spcPts val="600"/>
              </a:spcBef>
            </a:pPr>
            <a:r>
              <a:rPr lang="en-US" dirty="0"/>
              <a:t>when request arrives, parent calls </a:t>
            </a:r>
            <a:r>
              <a:rPr lang="en-US" b="1" dirty="0">
                <a:solidFill>
                  <a:srgbClr val="0070C0"/>
                </a:solidFill>
              </a:rPr>
              <a:t>fork()</a:t>
            </a:r>
            <a:r>
              <a:rPr lang="en-US" dirty="0"/>
              <a:t> </a:t>
            </a:r>
          </a:p>
          <a:p>
            <a:pPr marL="854075" lvl="1" indent="-342900">
              <a:spcBef>
                <a:spcPts val="600"/>
              </a:spcBef>
            </a:pPr>
            <a:r>
              <a:rPr lang="en-US" dirty="0"/>
              <a:t>child process 	</a:t>
            </a:r>
            <a:r>
              <a:rPr lang="en-US" dirty="0">
                <a:latin typeface="Abadi" panose="020B0604020104020204" pitchFamily="34" charset="0"/>
              </a:rPr>
              <a:t>→</a:t>
            </a:r>
            <a:r>
              <a:rPr lang="en-US" dirty="0"/>
              <a:t>  handles the request</a:t>
            </a:r>
          </a:p>
          <a:p>
            <a:pPr marL="854075" lvl="1" indent="-342900">
              <a:spcBef>
                <a:spcPts val="600"/>
              </a:spcBef>
            </a:pPr>
            <a:r>
              <a:rPr lang="en-US" dirty="0"/>
              <a:t>parent process 	</a:t>
            </a:r>
            <a:r>
              <a:rPr lang="en-US" dirty="0">
                <a:latin typeface="Abadi" panose="020B0604020104020204" pitchFamily="34" charset="0"/>
              </a:rPr>
              <a:t>→</a:t>
            </a:r>
            <a:r>
              <a:rPr lang="en-US" dirty="0"/>
              <a:t>  goes back to listen for next request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dirty="0">
                <a:solidFill>
                  <a:srgbClr val="FF0000"/>
                </a:solidFill>
              </a:rPr>
              <a:t>When process wants to execute a </a:t>
            </a:r>
            <a:r>
              <a:rPr lang="en-US" b="1" dirty="0">
                <a:solidFill>
                  <a:srgbClr val="0070C0"/>
                </a:solidFill>
              </a:rPr>
              <a:t>New</a:t>
            </a:r>
            <a:r>
              <a:rPr lang="en-US" dirty="0">
                <a:solidFill>
                  <a:srgbClr val="FF0000"/>
                </a:solidFill>
              </a:rPr>
              <a:t> program </a:t>
            </a:r>
          </a:p>
          <a:p>
            <a:pPr marL="854075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right after </a:t>
            </a:r>
            <a:r>
              <a:rPr lang="en-US" sz="2200" b="1" dirty="0">
                <a:solidFill>
                  <a:srgbClr val="0070C0"/>
                </a:solidFill>
              </a:rPr>
              <a:t>fork() </a:t>
            </a:r>
            <a:r>
              <a:rPr lang="en-US" sz="2200" dirty="0"/>
              <a:t>returns, child calls </a:t>
            </a:r>
            <a:r>
              <a:rPr lang="en-US" sz="2200" b="1" dirty="0">
                <a:solidFill>
                  <a:srgbClr val="0070C0"/>
                </a:solidFill>
              </a:rPr>
              <a:t>exec() </a:t>
            </a:r>
            <a:r>
              <a:rPr lang="en-US" sz="2200" dirty="0"/>
              <a:t> </a:t>
            </a:r>
            <a:endParaRPr lang="en-US" sz="2200" b="1" dirty="0">
              <a:solidFill>
                <a:srgbClr val="0070C0"/>
              </a:solidFill>
            </a:endParaRPr>
          </a:p>
          <a:p>
            <a:pPr marL="511175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200" b="1" i="1" dirty="0">
                <a:solidFill>
                  <a:srgbClr val="0070C0"/>
                </a:solidFill>
              </a:rPr>
              <a:t>	     </a:t>
            </a:r>
            <a:r>
              <a:rPr lang="en-US" sz="2200" i="1" dirty="0"/>
              <a:t>(also used for shell commands)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3F91069-A7A0-6C56-775C-B5175CBD3EF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7017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Executing new Program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181" y="1079730"/>
            <a:ext cx="8594045" cy="2349270"/>
          </a:xfrm>
        </p:spPr>
        <p:txBody>
          <a:bodyPr/>
          <a:lstStyle/>
          <a:p>
            <a:pPr lvl="1">
              <a:spcBef>
                <a:spcPts val="1800"/>
              </a:spcBef>
            </a:pP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by parent, creates child process</a:t>
            </a:r>
          </a:p>
          <a:p>
            <a:pPr lvl="1">
              <a:spcBef>
                <a:spcPts val="1800"/>
              </a:spcBef>
            </a:pP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by child, immediately after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		replaces child </a:t>
            </a:r>
            <a:r>
              <a:rPr lang="en-US" altLang="ja-JP" dirty="0"/>
              <a:t>memory space with new executable</a:t>
            </a:r>
          </a:p>
          <a:p>
            <a:pPr lvl="1">
              <a:spcBef>
                <a:spcPts val="1800"/>
              </a:spcBef>
            </a:pP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 by parent, allows parent to wait for child termination </a:t>
            </a:r>
            <a:br>
              <a:rPr lang="en-US" altLang="en-US" dirty="0"/>
            </a:br>
            <a:r>
              <a:rPr lang="en-US" altLang="en-US" dirty="0"/>
              <a:t>		&amp; get exit status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66" y="3939300"/>
            <a:ext cx="8692015" cy="2155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44C0FFD-40B7-F75E-393F-0B44D7067FC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89110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1486" y="141515"/>
            <a:ext cx="8001000" cy="609600"/>
          </a:xfrm>
        </p:spPr>
        <p:txBody>
          <a:bodyPr>
            <a:noAutofit/>
          </a:bodyPr>
          <a:lstStyle/>
          <a:p>
            <a:r>
              <a:rPr lang="en-US" sz="2800" kern="1200" dirty="0">
                <a:cs typeface="+mn-cs"/>
              </a:rPr>
              <a:t>Executing new Program – exec()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70642" y="1168753"/>
            <a:ext cx="8576089" cy="5627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7663" lvl="1" indent="-347663">
              <a:lnSpc>
                <a:spcPct val="11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altLang="en-US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execve</a:t>
            </a: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used to load a new program into memory space of calling process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omic Sans MS" charset="0"/>
              <a:cs typeface="Calibri" panose="020F0502020204030204" pitchFamily="34" charset="0"/>
            </a:endParaRPr>
          </a:p>
          <a:p>
            <a:pPr marL="739775" lvl="2" indent="-282575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replace</a:t>
            </a:r>
            <a:r>
              <a:rPr lang="en-US" alt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current program image with new one</a:t>
            </a:r>
          </a:p>
          <a:p>
            <a:pPr marL="739775" lvl="2" indent="-282575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new program starts execution from its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main function</a:t>
            </a:r>
          </a:p>
          <a:p>
            <a:pPr marL="347663" lvl="1" indent="-347663">
              <a:lnSpc>
                <a:spcPct val="110000"/>
              </a:lnSpc>
              <a:spcBef>
                <a:spcPts val="18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exec()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family has five library functions layered upon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execve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() 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omic Sans MS" charset="0"/>
              <a:cs typeface="Calibri" panose="020F0502020204030204" pitchFamily="34" charset="0"/>
            </a:endParaRPr>
          </a:p>
          <a:p>
            <a:pPr marL="739775" lvl="2" indent="-282575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 different ways to pass arguments to new program</a:t>
            </a:r>
          </a:p>
          <a:p>
            <a:pPr marL="739775" lvl="2" indent="-282575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many interfaces to same functionality</a:t>
            </a:r>
          </a:p>
          <a:p>
            <a:pPr marL="347663" lvl="1" indent="-347663" hangingPunct="0">
              <a:lnSpc>
                <a:spcPct val="110000"/>
              </a:lnSpc>
              <a:spcBef>
                <a:spcPts val="18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There is no return after successful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exec()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call</a:t>
            </a:r>
          </a:p>
          <a:p>
            <a:pPr marL="800100" lvl="2" indent="-342900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if error </a:t>
            </a:r>
            <a:r>
              <a:rPr lang="en-US" sz="2000" dirty="0">
                <a:solidFill>
                  <a:srgbClr val="000000"/>
                </a:solidFill>
                <a:latin typeface="Abadi" panose="020B0604020104020204" pitchFamily="34" charset="0"/>
                <a:ea typeface="Comic Sans MS" charset="0"/>
                <a:cs typeface="Calibri" panose="020F0502020204030204" pitchFamily="34" charset="0"/>
              </a:rPr>
              <a:t>→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 return value -1</a:t>
            </a:r>
          </a:p>
          <a:p>
            <a:pPr marL="800100" lvl="2" indent="-342900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errno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omic Sans MS" charset="0"/>
                <a:cs typeface="Calibri" panose="020F0502020204030204" pitchFamily="34" charset="0"/>
              </a:rPr>
              <a:t> set to indicate error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2798316-E989-7068-9ED8-7463010A792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7734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11EE-2D75-18C8-CF5A-0F92AE57D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>
            <a:extLst>
              <a:ext uri="{FF2B5EF4-FFF2-40B4-BE49-F238E27FC236}">
                <a16:creationId xmlns:a16="http://schemas.microsoft.com/office/drawing/2014/main" id="{46393147-11CD-8D16-095A-8F79663A5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056" y="174174"/>
            <a:ext cx="805542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000" b="1" dirty="0">
                <a:solidFill>
                  <a:srgbClr val="006699"/>
                </a:solidFill>
                <a:latin typeface="+mj-lt"/>
              </a:rPr>
              <a:t>exec() family - Library Functions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0044292-0EF7-F6FD-2475-9A4940236B9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6C30EF-83BF-E165-27D3-E5608188B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53" y="1096662"/>
            <a:ext cx="8654144" cy="88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Five </a:t>
            </a:r>
            <a:r>
              <a:rPr 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library functions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for exec()</a:t>
            </a:r>
          </a:p>
          <a:p>
            <a:pPr marL="747713" lvl="1" indent="-290513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library </a:t>
            </a:r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wrappers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built on </a:t>
            </a:r>
            <a:r>
              <a:rPr 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execve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4F35D1-CF05-D647-1388-A4180AF48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754070"/>
              </p:ext>
            </p:extLst>
          </p:nvPr>
        </p:nvGraphicFramePr>
        <p:xfrm>
          <a:off x="409574" y="2085276"/>
          <a:ext cx="8511401" cy="43578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7285">
                  <a:extLst>
                    <a:ext uri="{9D8B030D-6E8A-4147-A177-3AD203B41FA5}">
                      <a16:colId xmlns:a16="http://schemas.microsoft.com/office/drawing/2014/main" val="767935576"/>
                    </a:ext>
                  </a:extLst>
                </a:gridCol>
                <a:gridCol w="7014116">
                  <a:extLst>
                    <a:ext uri="{9D8B030D-6E8A-4147-A177-3AD203B41FA5}">
                      <a16:colId xmlns:a16="http://schemas.microsoft.com/office/drawing/2014/main" val="747349176"/>
                    </a:ext>
                  </a:extLst>
                </a:gridCol>
              </a:tblGrid>
              <a:tr h="613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Function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Syntax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699197"/>
                  </a:ext>
                </a:extLst>
              </a:tr>
              <a:tr h="613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execve</a:t>
                      </a:r>
                      <a:r>
                        <a:rPr lang="en-US" sz="1800" kern="100" dirty="0">
                          <a:effectLst/>
                        </a:rPr>
                        <a:t>()  (system call)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 int </a:t>
                      </a:r>
                      <a:r>
                        <a:rPr lang="en-US" sz="1600" kern="100" dirty="0" err="1">
                          <a:effectLst/>
                        </a:rPr>
                        <a:t>execve</a:t>
                      </a:r>
                      <a:r>
                        <a:rPr lang="en-US" sz="1600" kern="100" dirty="0">
                          <a:effectLst/>
                        </a:rPr>
                        <a:t> (const char *pathname, char *const </a:t>
                      </a:r>
                      <a:r>
                        <a:rPr lang="en-US" sz="1600" kern="100" dirty="0" err="1">
                          <a:effectLst/>
                        </a:rPr>
                        <a:t>argv</a:t>
                      </a:r>
                      <a:r>
                        <a:rPr lang="en-US" sz="1600" kern="100" dirty="0">
                          <a:effectLst/>
                        </a:rPr>
                        <a:t>[], char *const </a:t>
                      </a:r>
                      <a:r>
                        <a:rPr lang="en-US" sz="1600" kern="100" dirty="0" err="1">
                          <a:effectLst/>
                        </a:rPr>
                        <a:t>envp</a:t>
                      </a:r>
                      <a:r>
                        <a:rPr lang="en-US" sz="1600" kern="100" dirty="0">
                          <a:effectLst/>
                        </a:rPr>
                        <a:t>[]);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489489"/>
                  </a:ext>
                </a:extLst>
              </a:tr>
              <a:tr h="613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execl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 int </a:t>
                      </a:r>
                      <a:r>
                        <a:rPr lang="en-US" sz="1600" kern="100" dirty="0" err="1">
                          <a:effectLst/>
                        </a:rPr>
                        <a:t>execl</a:t>
                      </a:r>
                      <a:r>
                        <a:rPr lang="en-US" sz="1600" kern="100" dirty="0">
                          <a:effectLst/>
                        </a:rPr>
                        <a:t> (const char *path, const char *arg0, ..., (char *)NULL);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214430"/>
                  </a:ext>
                </a:extLst>
              </a:tr>
              <a:tr h="613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execv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 int </a:t>
                      </a:r>
                      <a:r>
                        <a:rPr lang="en-US" sz="1600" kern="100" dirty="0" err="1">
                          <a:effectLst/>
                        </a:rPr>
                        <a:t>execv</a:t>
                      </a:r>
                      <a:r>
                        <a:rPr lang="en-US" sz="1600" kern="100" dirty="0">
                          <a:effectLst/>
                        </a:rPr>
                        <a:t> (const char *path, char *const </a:t>
                      </a:r>
                      <a:r>
                        <a:rPr lang="en-US" sz="1600" kern="100" dirty="0" err="1">
                          <a:effectLst/>
                        </a:rPr>
                        <a:t>argv</a:t>
                      </a:r>
                      <a:r>
                        <a:rPr lang="en-US" sz="1600" kern="100" dirty="0">
                          <a:effectLst/>
                        </a:rPr>
                        <a:t>[]);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722042"/>
                  </a:ext>
                </a:extLst>
              </a:tr>
              <a:tr h="613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execlp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 int </a:t>
                      </a:r>
                      <a:r>
                        <a:rPr lang="en-US" sz="1600" kern="100" dirty="0" err="1">
                          <a:effectLst/>
                        </a:rPr>
                        <a:t>execlp</a:t>
                      </a:r>
                      <a:r>
                        <a:rPr lang="en-US" sz="1600" kern="100" dirty="0">
                          <a:effectLst/>
                        </a:rPr>
                        <a:t> (const char *file, const char *arg0, ..., (char *)NULL);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149606"/>
                  </a:ext>
                </a:extLst>
              </a:tr>
              <a:tr h="613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execvp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 int </a:t>
                      </a:r>
                      <a:r>
                        <a:rPr lang="en-US" sz="1600" kern="100" dirty="0" err="1">
                          <a:effectLst/>
                        </a:rPr>
                        <a:t>execvp</a:t>
                      </a:r>
                      <a:r>
                        <a:rPr lang="en-US" sz="1600" kern="100" dirty="0">
                          <a:effectLst/>
                        </a:rPr>
                        <a:t> (const char *file, char *const </a:t>
                      </a:r>
                      <a:r>
                        <a:rPr lang="en-US" sz="1600" kern="100" dirty="0" err="1">
                          <a:effectLst/>
                        </a:rPr>
                        <a:t>argv</a:t>
                      </a:r>
                      <a:r>
                        <a:rPr lang="en-US" sz="1600" kern="100" dirty="0">
                          <a:effectLst/>
                        </a:rPr>
                        <a:t>[]);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22317"/>
                  </a:ext>
                </a:extLst>
              </a:tr>
              <a:tr h="6608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execle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 int </a:t>
                      </a:r>
                      <a:r>
                        <a:rPr lang="en-US" sz="1600" kern="100" dirty="0" err="1">
                          <a:effectLst/>
                        </a:rPr>
                        <a:t>execle</a:t>
                      </a:r>
                      <a:r>
                        <a:rPr lang="en-US" sz="1600" kern="100" dirty="0">
                          <a:effectLst/>
                        </a:rPr>
                        <a:t> (const char *path, const char *arg0, ..., (char *)NULL, char *const </a:t>
                      </a:r>
                      <a:r>
                        <a:rPr lang="en-US" sz="1600" kern="100" dirty="0" err="1">
                          <a:effectLst/>
                        </a:rPr>
                        <a:t>envp</a:t>
                      </a:r>
                      <a:r>
                        <a:rPr lang="en-US" sz="1600" kern="100" dirty="0">
                          <a:effectLst/>
                        </a:rPr>
                        <a:t>[]);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0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888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2496D-5922-3AE2-C5AB-8E2A6D80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>
            <a:extLst>
              <a:ext uri="{FF2B5EF4-FFF2-40B4-BE49-F238E27FC236}">
                <a16:creationId xmlns:a16="http://schemas.microsoft.com/office/drawing/2014/main" id="{CD4D5CE2-C839-E543-287C-E3AC528B6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056" y="174174"/>
            <a:ext cx="805542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000" b="1" dirty="0">
                <a:solidFill>
                  <a:srgbClr val="006699"/>
                </a:solidFill>
                <a:latin typeface="+mj-lt"/>
              </a:rPr>
              <a:t>exec() family - Library Functions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DCB6C9E-FCD1-C10A-8F15-450ED921B59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743CC5-099E-C58D-441E-C4827E1B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330334"/>
              </p:ext>
            </p:extLst>
          </p:nvPr>
        </p:nvGraphicFramePr>
        <p:xfrm>
          <a:off x="514280" y="2588791"/>
          <a:ext cx="8339788" cy="37217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1065">
                  <a:extLst>
                    <a:ext uri="{9D8B030D-6E8A-4147-A177-3AD203B41FA5}">
                      <a16:colId xmlns:a16="http://schemas.microsoft.com/office/drawing/2014/main" val="2375680905"/>
                    </a:ext>
                  </a:extLst>
                </a:gridCol>
                <a:gridCol w="1706137">
                  <a:extLst>
                    <a:ext uri="{9D8B030D-6E8A-4147-A177-3AD203B41FA5}">
                      <a16:colId xmlns:a16="http://schemas.microsoft.com/office/drawing/2014/main" val="2169827837"/>
                    </a:ext>
                  </a:extLst>
                </a:gridCol>
                <a:gridCol w="1405055">
                  <a:extLst>
                    <a:ext uri="{9D8B030D-6E8A-4147-A177-3AD203B41FA5}">
                      <a16:colId xmlns:a16="http://schemas.microsoft.com/office/drawing/2014/main" val="2775141584"/>
                    </a:ext>
                  </a:extLst>
                </a:gridCol>
                <a:gridCol w="3947531">
                  <a:extLst>
                    <a:ext uri="{9D8B030D-6E8A-4147-A177-3AD203B41FA5}">
                      <a16:colId xmlns:a16="http://schemas.microsoft.com/office/drawing/2014/main" val="2452409272"/>
                    </a:ext>
                  </a:extLst>
                </a:gridCol>
              </a:tblGrid>
              <a:tr h="620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Function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Search PATH?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</a:rPr>
                        <a:t>Args</a:t>
                      </a:r>
                      <a:r>
                        <a:rPr lang="en-US" sz="1800" kern="100" dirty="0">
                          <a:effectLst/>
                        </a:rPr>
                        <a:t> Type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Description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094611"/>
                  </a:ext>
                </a:extLst>
              </a:tr>
              <a:tr h="620286">
                <a:tc>
                  <a:txBody>
                    <a:bodyPr/>
                    <a:lstStyle/>
                    <a:p>
                      <a:pPr marL="111125" marR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</a:rPr>
                        <a:t>execl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No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List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indent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/>
                        <a:t>Pass arguments as a list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08457"/>
                  </a:ext>
                </a:extLst>
              </a:tr>
              <a:tr h="620286">
                <a:tc>
                  <a:txBody>
                    <a:bodyPr/>
                    <a:lstStyle/>
                    <a:p>
                      <a:pPr marL="111125" marR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</a:rPr>
                        <a:t>execv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No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Array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indent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/>
                        <a:t>Pass arguments as an array (vector)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778898"/>
                  </a:ext>
                </a:extLst>
              </a:tr>
              <a:tr h="620286">
                <a:tc>
                  <a:txBody>
                    <a:bodyPr/>
                    <a:lstStyle/>
                    <a:p>
                      <a:pPr marL="111125" marR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</a:rPr>
                        <a:t>execlp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Yes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List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Like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execl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(), but searches PATH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469730"/>
                  </a:ext>
                </a:extLst>
              </a:tr>
              <a:tr h="620286">
                <a:tc>
                  <a:txBody>
                    <a:bodyPr/>
                    <a:lstStyle/>
                    <a:p>
                      <a:pPr marL="111125" marR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</a:rPr>
                        <a:t>execvp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Yes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Array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indent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/>
                        <a:t>Like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execv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sz="1800" dirty="0"/>
                        <a:t>, but searches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PATH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440107"/>
                  </a:ext>
                </a:extLst>
              </a:tr>
              <a:tr h="620286">
                <a:tc>
                  <a:txBody>
                    <a:bodyPr/>
                    <a:lstStyle/>
                    <a:p>
                      <a:pPr marL="111125" marR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</a:rPr>
                        <a:t>execle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No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List + env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indent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/>
                        <a:t>Pass a custom environment array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81506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8FF588FC-D796-7A5A-E38A-7F6D15A9E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53" y="1063209"/>
            <a:ext cx="8654144" cy="1334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Difference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between the library functions 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whether need to search thru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environment variable, &amp;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list,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endParaRPr lang="en-US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96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914400" y="152402"/>
            <a:ext cx="78921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1- fork() &amp; </a:t>
            </a:r>
            <a:r>
              <a:rPr lang="en-US" sz="3200" b="1" dirty="0" err="1">
                <a:solidFill>
                  <a:srgbClr val="006699"/>
                </a:solidFill>
                <a:latin typeface="+mj-lt"/>
              </a:rPr>
              <a:t>execl</a:t>
            </a:r>
            <a:r>
              <a:rPr lang="en-US" sz="3200" b="1" dirty="0">
                <a:solidFill>
                  <a:srgbClr val="006699"/>
                </a:solidFill>
                <a:latin typeface="+mj-lt"/>
              </a:rPr>
              <a:t>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500744" y="1197428"/>
            <a:ext cx="8305799" cy="5072745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if 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   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execl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("/bin/ls", "-l", "/home/", NULL);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   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("This line will not be printed\n");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else{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wait(NULL);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("Hello I m Parent.\n");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return 0;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A0E0C0C-12B2-5159-1B99-CDFDAAF2C57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69182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947056" y="174174"/>
            <a:ext cx="805542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Example 2 - fork() &amp; </a:t>
            </a:r>
            <a:r>
              <a:rPr lang="en-US" sz="3200" b="1" dirty="0" err="1">
                <a:solidFill>
                  <a:srgbClr val="006699"/>
                </a:solidFill>
                <a:latin typeface="+mj-lt"/>
              </a:rPr>
              <a:t>execl</a:t>
            </a:r>
            <a:r>
              <a:rPr lang="en-US" sz="3200" b="1" dirty="0">
                <a:solidFill>
                  <a:srgbClr val="006699"/>
                </a:solidFill>
                <a:latin typeface="+mj-lt"/>
              </a:rPr>
              <a:t>()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500742" y="1197425"/>
            <a:ext cx="8316686" cy="4996543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main(){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 fork();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if (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cpid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== 0){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   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execl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("/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usr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/bin/gnome-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calculator",NULL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);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    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("This line will not be printed\n");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else{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wait(NULL);   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	</a:t>
            </a:r>
            <a:r>
              <a:rPr lang="en-US" sz="22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("Hello I m Parent.\n");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}   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return 0;</a:t>
            </a: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sz="22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33D1C93-20F8-589D-7DEA-A5C6873C31F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29651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36C6-B4E6-943D-5B0A-EA08B74A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>
            <a:extLst>
              <a:ext uri="{FF2B5EF4-FFF2-40B4-BE49-F238E27FC236}">
                <a16:creationId xmlns:a16="http://schemas.microsoft.com/office/drawing/2014/main" id="{974B65B3-E082-2AC6-DE20-A57ED9579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056" y="174174"/>
            <a:ext cx="805542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000" b="1" dirty="0">
                <a:solidFill>
                  <a:srgbClr val="006699"/>
                </a:solidFill>
                <a:latin typeface="+mj-lt"/>
              </a:rPr>
              <a:t>exec() family - Library Functions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CD2A7-67EF-6526-AB60-0D29FC04FEAB}"/>
              </a:ext>
            </a:extLst>
          </p:cNvPr>
          <p:cNvSpPr txBox="1">
            <a:spLocks noChangeArrowheads="1"/>
          </p:cNvSpPr>
          <p:nvPr/>
        </p:nvSpPr>
        <p:spPr>
          <a:xfrm>
            <a:off x="277586" y="1186274"/>
            <a:ext cx="8866414" cy="549755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2400"/>
              </a:spcBef>
              <a:defRPr/>
            </a:pPr>
            <a:r>
              <a:rPr lang="en-US" sz="2200" b="1" dirty="0">
                <a:solidFill>
                  <a:srgbClr val="C00000"/>
                </a:solidFill>
              </a:rPr>
              <a:t>1. </a:t>
            </a:r>
            <a:r>
              <a:rPr lang="en-US" sz="2200" b="1" dirty="0" err="1">
                <a:solidFill>
                  <a:srgbClr val="C00000"/>
                </a:solidFill>
              </a:rPr>
              <a:t>execl</a:t>
            </a:r>
            <a:r>
              <a:rPr lang="en-US" sz="2200" b="1" dirty="0">
                <a:solidFill>
                  <a:srgbClr val="C00000"/>
                </a:solidFill>
              </a:rPr>
              <a:t>()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execl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(const char *path, const char *arg0, ...,(char *)NULL);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execl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("/bin/ls", "ls", "-l", "/home", (char *)NULL);</a:t>
            </a:r>
          </a:p>
          <a:p>
            <a:pPr marL="342900" indent="-342900">
              <a:spcBef>
                <a:spcPts val="2400"/>
              </a:spcBef>
              <a:defRPr/>
            </a:pPr>
            <a:r>
              <a:rPr lang="en-US" sz="2200" b="1" dirty="0">
                <a:solidFill>
                  <a:srgbClr val="C00000"/>
                </a:solidFill>
              </a:rPr>
              <a:t>2. </a:t>
            </a:r>
            <a:r>
              <a:rPr lang="en-US" sz="2200" b="1" dirty="0" err="1">
                <a:solidFill>
                  <a:srgbClr val="C00000"/>
                </a:solidFill>
              </a:rPr>
              <a:t>execv</a:t>
            </a:r>
            <a:r>
              <a:rPr lang="en-US" sz="2200" b="1" dirty="0">
                <a:solidFill>
                  <a:srgbClr val="C00000"/>
                </a:solidFill>
              </a:rPr>
              <a:t>()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execv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(const char *path, char *const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argv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[]);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char *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args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[] = {"ls", "-l", "/home", NULL};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execv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("/bin/ls",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args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);</a:t>
            </a:r>
          </a:p>
          <a:p>
            <a:pPr marL="342900" lvl="0" indent="-342900">
              <a:spcBef>
                <a:spcPts val="1200"/>
              </a:spcBef>
              <a:defRPr/>
            </a:pPr>
            <a:endParaRPr lang="en-US" sz="21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</a:t>
            </a: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A169CB6-67E7-51F4-03E4-1A32DE3B684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2691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7CED-C407-1D1F-5ECD-AC20EE59D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>
            <a:extLst>
              <a:ext uri="{FF2B5EF4-FFF2-40B4-BE49-F238E27FC236}">
                <a16:creationId xmlns:a16="http://schemas.microsoft.com/office/drawing/2014/main" id="{CECF1310-0896-5932-EB18-40038317B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056" y="174174"/>
            <a:ext cx="805542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000" b="1" dirty="0">
                <a:solidFill>
                  <a:srgbClr val="006699"/>
                </a:solidFill>
                <a:latin typeface="+mj-lt"/>
              </a:rPr>
              <a:t>exec() family - Library Functions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753A7-0BC9-E4B8-E661-446A4110FC1C}"/>
              </a:ext>
            </a:extLst>
          </p:cNvPr>
          <p:cNvSpPr txBox="1">
            <a:spLocks noChangeArrowheads="1"/>
          </p:cNvSpPr>
          <p:nvPr/>
        </p:nvSpPr>
        <p:spPr>
          <a:xfrm>
            <a:off x="277586" y="1186274"/>
            <a:ext cx="8866414" cy="549755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2400"/>
              </a:spcBef>
              <a:defRPr/>
            </a:pPr>
            <a:r>
              <a:rPr lang="en-US" sz="2200" b="1" dirty="0">
                <a:solidFill>
                  <a:srgbClr val="C00000"/>
                </a:solidFill>
              </a:rPr>
              <a:t>3. </a:t>
            </a:r>
            <a:r>
              <a:rPr lang="en-US" sz="2200" b="1" dirty="0" err="1">
                <a:solidFill>
                  <a:srgbClr val="C00000"/>
                </a:solidFill>
              </a:rPr>
              <a:t>execlp</a:t>
            </a:r>
            <a:r>
              <a:rPr lang="en-US" sz="2200" b="1" dirty="0">
                <a:solidFill>
                  <a:srgbClr val="C00000"/>
                </a:solidFill>
              </a:rPr>
              <a:t>()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execlp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(const char *file, const char *arg0, ..., (char *)NULL);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execlp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("ls", "ls", "-l", (char *)NULL);</a:t>
            </a:r>
          </a:p>
          <a:p>
            <a:pPr marL="342900" indent="-342900">
              <a:spcBef>
                <a:spcPts val="2400"/>
              </a:spcBef>
              <a:defRPr/>
            </a:pPr>
            <a:r>
              <a:rPr lang="en-US" sz="2200" b="1" dirty="0">
                <a:solidFill>
                  <a:srgbClr val="C00000"/>
                </a:solidFill>
              </a:rPr>
              <a:t>4. </a:t>
            </a:r>
            <a:r>
              <a:rPr lang="en-US" sz="2200" b="1" dirty="0" err="1">
                <a:solidFill>
                  <a:srgbClr val="C00000"/>
                </a:solidFill>
              </a:rPr>
              <a:t>execvp</a:t>
            </a:r>
            <a:r>
              <a:rPr lang="en-US" sz="2200" b="1" dirty="0">
                <a:solidFill>
                  <a:srgbClr val="C00000"/>
                </a:solidFill>
              </a:rPr>
              <a:t>()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execvp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(const char *file, char *const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argv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[]);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char *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args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[] = {"ls", "-l", NULL};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execvp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("ls",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args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);</a:t>
            </a:r>
          </a:p>
          <a:p>
            <a:pPr marL="342900" lvl="0" indent="-342900">
              <a:spcBef>
                <a:spcPts val="1200"/>
              </a:spcBef>
              <a:defRPr/>
            </a:pPr>
            <a:endParaRPr lang="en-US" sz="21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1200"/>
              </a:spcBef>
              <a:defRPr/>
            </a:pPr>
            <a:endParaRPr lang="en-US" sz="21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1200"/>
              </a:spcBef>
              <a:defRPr/>
            </a:pPr>
            <a:endParaRPr lang="en-US" sz="21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</a:t>
            </a: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62D598A-9C91-3FF7-89FD-8AD83751E00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64187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1798C-6D81-62F3-6093-5020BEB3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>
            <a:extLst>
              <a:ext uri="{FF2B5EF4-FFF2-40B4-BE49-F238E27FC236}">
                <a16:creationId xmlns:a16="http://schemas.microsoft.com/office/drawing/2014/main" id="{B9F1F5FE-9589-0F9F-CD76-BC06CA94F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056" y="174174"/>
            <a:ext cx="805542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000" b="1" dirty="0">
                <a:solidFill>
                  <a:srgbClr val="006699"/>
                </a:solidFill>
                <a:latin typeface="+mj-lt"/>
              </a:rPr>
              <a:t>exec() family - Library Functions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D84693-7A41-9ACB-1A6C-BD18CD372F36}"/>
              </a:ext>
            </a:extLst>
          </p:cNvPr>
          <p:cNvSpPr txBox="1">
            <a:spLocks noChangeArrowheads="1"/>
          </p:cNvSpPr>
          <p:nvPr/>
        </p:nvSpPr>
        <p:spPr>
          <a:xfrm>
            <a:off x="277586" y="1186274"/>
            <a:ext cx="8866414" cy="549755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1200"/>
              </a:spcBef>
              <a:defRPr/>
            </a:pPr>
            <a:r>
              <a:rPr lang="en-US" sz="2200" b="1" dirty="0">
                <a:solidFill>
                  <a:srgbClr val="C00000"/>
                </a:solidFill>
              </a:rPr>
              <a:t>5. </a:t>
            </a:r>
            <a:r>
              <a:rPr lang="en-US" sz="2200" b="1" dirty="0" err="1">
                <a:solidFill>
                  <a:srgbClr val="C00000"/>
                </a:solidFill>
              </a:rPr>
              <a:t>execle</a:t>
            </a:r>
            <a:r>
              <a:rPr lang="en-US" sz="2200" b="1" dirty="0">
                <a:solidFill>
                  <a:srgbClr val="C00000"/>
                </a:solidFill>
              </a:rPr>
              <a:t>()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int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execle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(const char *path,</a:t>
            </a: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     const char *arg0, ..., (char *)NULL,</a:t>
            </a: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      char *const 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envp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[]);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char *env[] = {"PATH=/</a:t>
            </a: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usr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/bin", "USER=test", NULL};</a:t>
            </a:r>
          </a:p>
          <a:p>
            <a:pPr marL="342900" lvl="0" indent="3175">
              <a:spcBef>
                <a:spcPts val="1200"/>
              </a:spcBef>
              <a:defRPr/>
            </a:pPr>
            <a:r>
              <a:rPr lang="en-US" sz="2100" b="1" dirty="0" err="1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execle</a:t>
            </a: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("/bin/ls", "ls", "-l", "/home", (char *)NULL, env);</a:t>
            </a:r>
          </a:p>
          <a:p>
            <a:pPr marL="342900" lvl="0" indent="3175">
              <a:spcBef>
                <a:spcPts val="1200"/>
              </a:spcBef>
              <a:defRPr/>
            </a:pPr>
            <a:endParaRPr lang="en-US" sz="21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1200"/>
              </a:spcBef>
              <a:defRPr/>
            </a:pPr>
            <a:endParaRPr lang="en-US" sz="21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1200"/>
              </a:spcBef>
              <a:defRPr/>
            </a:pPr>
            <a:endParaRPr lang="en-US" sz="21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1200"/>
              </a:spcBef>
              <a:defRPr/>
            </a:pPr>
            <a:endParaRPr lang="en-US" sz="2100" b="1" dirty="0">
              <a:latin typeface="NSimSun" panose="02010609030101010101" pitchFamily="49" charset="-122"/>
              <a:ea typeface="NSimSun" panose="02010609030101010101" pitchFamily="49" charset="-122"/>
              <a:cs typeface="Courier New" pitchFamily="49" charset="0"/>
            </a:endParaRP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     </a:t>
            </a:r>
          </a:p>
          <a:p>
            <a:pPr marL="342900" lvl="0" indent="-342900">
              <a:spcBef>
                <a:spcPts val="1200"/>
              </a:spcBef>
              <a:defRPr/>
            </a:pPr>
            <a:r>
              <a:rPr lang="en-US" sz="2100" b="1" dirty="0">
                <a:latin typeface="NSimSun" panose="02010609030101010101" pitchFamily="49" charset="-122"/>
                <a:ea typeface="NSimSun" panose="02010609030101010101" pitchFamily="49" charset="-122"/>
                <a:cs typeface="Courier New" pitchFamily="49" charset="0"/>
              </a:rPr>
              <a:t>	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AA8E928-D18D-B91E-F118-33AF1C1211E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1277462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26877</TotalTime>
  <Words>3778</Words>
  <Application>Microsoft Office PowerPoint</Application>
  <PresentationFormat>On-screen Show (4:3)</PresentationFormat>
  <Paragraphs>625</Paragraphs>
  <Slides>49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6" baseType="lpstr">
      <vt:lpstr>NSimSun</vt:lpstr>
      <vt:lpstr>Abadi</vt:lpstr>
      <vt:lpstr>Aptos</vt:lpstr>
      <vt:lpstr>Arial</vt:lpstr>
      <vt:lpstr>Calibri</vt:lpstr>
      <vt:lpstr>Comic Sans MS</vt:lpstr>
      <vt:lpstr>Courier New</vt:lpstr>
      <vt:lpstr>Gill Sans MT</vt:lpstr>
      <vt:lpstr>Helvetica</vt:lpstr>
      <vt:lpstr>Symbol</vt:lpstr>
      <vt:lpstr>Tahoma</vt:lpstr>
      <vt:lpstr>Times New Roman</vt:lpstr>
      <vt:lpstr>Verdana</vt:lpstr>
      <vt:lpstr>Webdings</vt:lpstr>
      <vt:lpstr>Wingdings</vt:lpstr>
      <vt:lpstr>Wingdings 2</vt:lpstr>
      <vt:lpstr>os-8</vt:lpstr>
      <vt:lpstr>PowerPoint Presentation</vt:lpstr>
      <vt:lpstr>Objectives</vt:lpstr>
      <vt:lpstr>Process Address Space</vt:lpstr>
      <vt:lpstr>Process Creation</vt:lpstr>
      <vt:lpstr>PowerPoint Presentation</vt:lpstr>
      <vt:lpstr>Process Creation</vt:lpstr>
      <vt:lpstr>PowerPoint Presentation</vt:lpstr>
      <vt:lpstr>Process Creation in Unix</vt:lpstr>
      <vt:lpstr>Process Creation – fork()</vt:lpstr>
      <vt:lpstr>Process Creation – fork()</vt:lpstr>
      <vt:lpstr>Process Creation – fork()</vt:lpstr>
      <vt:lpstr>Process Creation – fork()</vt:lpstr>
      <vt:lpstr>PowerPoint Presentation</vt:lpstr>
      <vt:lpstr>Question !!</vt:lpstr>
      <vt:lpstr>PID &amp; PPID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 Termination</vt:lpstr>
      <vt:lpstr>PowerPoint Presentation</vt:lpstr>
      <vt:lpstr>PowerPoint Presentation</vt:lpstr>
      <vt:lpstr>wait() System Call</vt:lpstr>
      <vt:lpstr>PowerPoint Presentation</vt:lpstr>
      <vt:lpstr>PowerPoint Presentation</vt:lpstr>
      <vt:lpstr>PowerPoint Presentation</vt:lpstr>
      <vt:lpstr>PowerPoint Presentation</vt:lpstr>
      <vt:lpstr>Processes - Orphans &amp; Zombies</vt:lpstr>
      <vt:lpstr>Process Related Shell Command</vt:lpstr>
      <vt:lpstr>Process States</vt:lpstr>
      <vt:lpstr>Orphan Process</vt:lpstr>
      <vt:lpstr>Zombie Process</vt:lpstr>
      <vt:lpstr>Zombie Process</vt:lpstr>
      <vt:lpstr>Process Invocation</vt:lpstr>
      <vt:lpstr>Main uses of fork()</vt:lpstr>
      <vt:lpstr>Executing new Program</vt:lpstr>
      <vt:lpstr>Executing new Program – exec()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Dr Nauman Mazhar</cp:lastModifiedBy>
  <cp:revision>509</cp:revision>
  <cp:lastPrinted>2001-06-14T13:58:17Z</cp:lastPrinted>
  <dcterms:created xsi:type="dcterms:W3CDTF">2011-01-13T23:43:38Z</dcterms:created>
  <dcterms:modified xsi:type="dcterms:W3CDTF">2025-10-21T06:59:41Z</dcterms:modified>
</cp:coreProperties>
</file>