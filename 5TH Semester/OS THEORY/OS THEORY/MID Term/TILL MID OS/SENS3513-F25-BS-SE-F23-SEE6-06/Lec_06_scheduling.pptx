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7"/>
  </p:notesMasterIdLst>
  <p:handoutMasterIdLst>
    <p:handoutMasterId r:id="rId48"/>
  </p:handoutMasterIdLst>
  <p:sldIdLst>
    <p:sldId id="256" r:id="rId2"/>
    <p:sldId id="348" r:id="rId3"/>
    <p:sldId id="629" r:id="rId4"/>
    <p:sldId id="627" r:id="rId5"/>
    <p:sldId id="305" r:id="rId6"/>
    <p:sldId id="259" r:id="rId7"/>
    <p:sldId id="261" r:id="rId8"/>
    <p:sldId id="344" r:id="rId9"/>
    <p:sldId id="262" r:id="rId10"/>
    <p:sldId id="630" r:id="rId11"/>
    <p:sldId id="314" r:id="rId12"/>
    <p:sldId id="638" r:id="rId13"/>
    <p:sldId id="631" r:id="rId14"/>
    <p:sldId id="323" r:id="rId15"/>
    <p:sldId id="639" r:id="rId16"/>
    <p:sldId id="633" r:id="rId17"/>
    <p:sldId id="325" r:id="rId18"/>
    <p:sldId id="264" r:id="rId19"/>
    <p:sldId id="327" r:id="rId20"/>
    <p:sldId id="326" r:id="rId21"/>
    <p:sldId id="265" r:id="rId22"/>
    <p:sldId id="266" r:id="rId23"/>
    <p:sldId id="328" r:id="rId24"/>
    <p:sldId id="329" r:id="rId25"/>
    <p:sldId id="267" r:id="rId26"/>
    <p:sldId id="268" r:id="rId27"/>
    <p:sldId id="335" r:id="rId28"/>
    <p:sldId id="274" r:id="rId29"/>
    <p:sldId id="330" r:id="rId30"/>
    <p:sldId id="637" r:id="rId31"/>
    <p:sldId id="381" r:id="rId32"/>
    <p:sldId id="635" r:id="rId33"/>
    <p:sldId id="276" r:id="rId34"/>
    <p:sldId id="302" r:id="rId35"/>
    <p:sldId id="277" r:id="rId36"/>
    <p:sldId id="278" r:id="rId37"/>
    <p:sldId id="279" r:id="rId38"/>
    <p:sldId id="280" r:id="rId39"/>
    <p:sldId id="337" r:id="rId40"/>
    <p:sldId id="282" r:id="rId41"/>
    <p:sldId id="283" r:id="rId42"/>
    <p:sldId id="640" r:id="rId43"/>
    <p:sldId id="286" r:id="rId44"/>
    <p:sldId id="287" r:id="rId45"/>
    <p:sldId id="636" r:id="rId46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88" autoAdjust="0"/>
    <p:restoredTop sz="93792" autoAdjust="0"/>
  </p:normalViewPr>
  <p:slideViewPr>
    <p:cSldViewPr snapToGrid="0">
      <p:cViewPr>
        <p:scale>
          <a:sx n="76" d="100"/>
          <a:sy n="76" d="100"/>
        </p:scale>
        <p:origin x="1340" y="64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736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149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53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36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47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85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4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6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7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41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07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57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90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68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40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20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80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83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9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557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953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5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215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28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340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23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45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98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34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61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184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50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780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76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773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844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751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943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664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3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81DCF-D5EC-4ACE-983C-8087A3BE5DA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70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22" y="1067037"/>
            <a:ext cx="7978840" cy="542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b="1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Scheduling</a:t>
            </a:r>
          </a:p>
          <a:p>
            <a:pPr>
              <a:spcBef>
                <a:spcPts val="600"/>
              </a:spcBef>
            </a:pPr>
            <a:r>
              <a:rPr lang="en-US" b="1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Concepts</a:t>
            </a:r>
          </a:p>
          <a:p>
            <a:pPr lvl="1"/>
            <a:r>
              <a:rPr lang="pl-PL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</a:t>
            </a: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pl-PL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Burst Cycle</a:t>
            </a:r>
            <a:endParaRPr lang="en-US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Preemptive &amp; Non-preemptive Scheduling</a:t>
            </a: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Scheduling Objective</a:t>
            </a:r>
          </a:p>
          <a:p>
            <a:pPr>
              <a:spcBef>
                <a:spcPts val="1200"/>
              </a:spcBef>
            </a:pPr>
            <a:r>
              <a:rPr lang="en-US" b="1" kern="0" dirty="0">
                <a:latin typeface="Calibri" panose="020F0502020204030204" pitchFamily="34" charset="0"/>
                <a:cs typeface="Calibri" panose="020F0502020204030204" pitchFamily="34" charset="0"/>
              </a:rPr>
              <a:t>Scheduling Criteria</a:t>
            </a: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CPU utilization </a:t>
            </a: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Turnaround time</a:t>
            </a: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Waiting time</a:t>
            </a:r>
          </a:p>
          <a:p>
            <a:pPr lvl="1"/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Response time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9F58D1-233C-078F-FF8C-82139EF8B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8" y="1250051"/>
            <a:ext cx="7978840" cy="542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fontAlgn="ctr">
              <a:spcBef>
                <a:spcPts val="1200"/>
              </a:spcBef>
            </a:pPr>
            <a:r>
              <a:rPr lang="en-US" b="1" kern="0" dirty="0">
                <a:latin typeface="Calibri" panose="020F0502020204030204" pitchFamily="34" charset="0"/>
                <a:cs typeface="Calibri" panose="020F0502020204030204" pitchFamily="34" charset="0"/>
              </a:rPr>
              <a:t>Scheduling Algorithms</a:t>
            </a:r>
            <a:endParaRPr lang="en-US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First Come First Served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(FCFS)</a:t>
            </a: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Shortest Job First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(SJF)</a:t>
            </a: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Shortest Remaining Time First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(SRTF)</a:t>
            </a: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Priority Scheduling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b="1" i="1" kern="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Round Robin Scheduling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(RR)</a:t>
            </a: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Multilevel Queue Scheduling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(MQ)</a:t>
            </a:r>
          </a:p>
          <a:p>
            <a:pPr lvl="1" fontAlgn="ctr">
              <a:spcBef>
                <a:spcPts val="12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Multilevel Feedback Queue Scheduling  </a:t>
            </a:r>
            <a:r>
              <a:rPr lang="en-US" sz="24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(MFQ)</a:t>
            </a:r>
          </a:p>
          <a:p>
            <a:pPr lvl="1" fontAlgn="ctr">
              <a:spcBef>
                <a:spcPts val="1200"/>
              </a:spcBef>
            </a:pPr>
            <a:endParaRPr 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fontAlgn="ctr">
              <a:spcBef>
                <a:spcPts val="1200"/>
              </a:spcBef>
            </a:pPr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400" b="1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27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Scheduling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384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76199"/>
            <a:ext cx="6886575" cy="725371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Scheduling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46189" y="1057573"/>
            <a:ext cx="8521364" cy="1040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Deciding which process/thread should occupy a resource 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(CPU, disk,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B183E11-550D-C2B4-3452-98451C157C9E}"/>
              </a:ext>
            </a:extLst>
          </p:cNvPr>
          <p:cNvGrpSpPr/>
          <p:nvPr/>
        </p:nvGrpSpPr>
        <p:grpSpPr>
          <a:xfrm>
            <a:off x="1162049" y="2097941"/>
            <a:ext cx="7312099" cy="3702486"/>
            <a:chOff x="914400" y="2098675"/>
            <a:chExt cx="6456364" cy="3397142"/>
          </a:xfrm>
        </p:grpSpPr>
        <p:pic>
          <p:nvPicPr>
            <p:cNvPr id="10" name="Picture 8" descr="j0250859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06763" y="2403475"/>
              <a:ext cx="1887537" cy="1309688"/>
            </a:xfrm>
            <a:prstGeom prst="rect">
              <a:avLst/>
            </a:prstGeom>
            <a:noFill/>
          </p:spPr>
        </p:pic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124200" y="2098675"/>
              <a:ext cx="22685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dirty="0">
                  <a:latin typeface="Comic Sans MS" pitchFamily="66" charset="0"/>
                </a:rPr>
                <a:t>(CPU (horsepower))</a:t>
              </a:r>
            </a:p>
          </p:txBody>
        </p:sp>
        <p:pic>
          <p:nvPicPr>
            <p:cNvPr id="12" name="Picture 13" descr="j0324694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24000" y="4079875"/>
              <a:ext cx="1143000" cy="1027113"/>
            </a:xfrm>
            <a:prstGeom prst="rect">
              <a:avLst/>
            </a:prstGeom>
            <a:noFill/>
          </p:spPr>
        </p:pic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584325" y="5106988"/>
              <a:ext cx="12001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Process 1</a:t>
              </a:r>
            </a:p>
          </p:txBody>
        </p:sp>
        <p:pic>
          <p:nvPicPr>
            <p:cNvPr id="14" name="Picture 15" descr="j0324694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05200" y="4003675"/>
              <a:ext cx="1143000" cy="1027113"/>
            </a:xfrm>
            <a:prstGeom prst="rect">
              <a:avLst/>
            </a:prstGeom>
            <a:noFill/>
          </p:spPr>
        </p:pic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3565525" y="5126485"/>
              <a:ext cx="1217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dirty="0">
                  <a:latin typeface="Comic Sans MS" pitchFamily="66" charset="0"/>
                </a:rPr>
                <a:t>Process 2</a:t>
              </a:r>
            </a:p>
          </p:txBody>
        </p:sp>
        <p:pic>
          <p:nvPicPr>
            <p:cNvPr id="16" name="Picture 17" descr="j0324694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638800" y="4003675"/>
              <a:ext cx="1143000" cy="1027113"/>
            </a:xfrm>
            <a:prstGeom prst="rect">
              <a:avLst/>
            </a:prstGeom>
            <a:noFill/>
          </p:spPr>
        </p:pic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5699125" y="5094586"/>
              <a:ext cx="1217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dirty="0">
                  <a:latin typeface="Comic Sans MS" pitchFamily="66" charset="0"/>
                </a:rPr>
                <a:t>Process 3</a:t>
              </a:r>
            </a:p>
          </p:txBody>
        </p:sp>
        <p:sp>
          <p:nvSpPr>
            <p:cNvPr id="18" name="AutoShape 20"/>
            <p:cNvSpPr>
              <a:spLocks noChangeArrowheads="1"/>
            </p:cNvSpPr>
            <p:nvPr/>
          </p:nvSpPr>
          <p:spPr bwMode="auto">
            <a:xfrm>
              <a:off x="914400" y="2824162"/>
              <a:ext cx="1524000" cy="1027114"/>
            </a:xfrm>
            <a:prstGeom prst="cloudCallout">
              <a:avLst>
                <a:gd name="adj1" fmla="val 3125"/>
                <a:gd name="adj2" fmla="val 9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/>
              <a:r>
                <a:rPr lang="en-US" dirty="0">
                  <a:latin typeface="Comic Sans MS" pitchFamily="66" charset="0"/>
                </a:rPr>
                <a:t>I want to ride it</a:t>
              </a:r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2133600" y="3775075"/>
              <a:ext cx="1524000" cy="38100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2362200" y="3622675"/>
              <a:ext cx="3352800" cy="60960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5105400" y="3368675"/>
              <a:ext cx="22653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solidFill>
                    <a:srgbClr val="FF0066"/>
                  </a:solidFill>
                  <a:latin typeface="Comic Sans MS" pitchFamily="66" charset="0"/>
                </a:rPr>
                <a:t>Whose turn is it?</a:t>
              </a: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F134D71-E84D-315C-B0F9-DC6E427E9AA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972" y="872342"/>
            <a:ext cx="3197524" cy="595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76199"/>
            <a:ext cx="6886575" cy="69997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CPU – I/O Burst Cycle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18977" y="1213195"/>
            <a:ext cx="4456223" cy="5562600"/>
          </a:xfrm>
          <a:noFill/>
          <a:ln/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Process execution consists of repeating cycles of…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CPU </a:t>
            </a:r>
            <a:r>
              <a:rPr lang="en-US" i="1" dirty="0">
                <a:solidFill>
                  <a:srgbClr val="FF0000"/>
                </a:solidFill>
              </a:rPr>
              <a:t>execution</a:t>
            </a:r>
            <a:r>
              <a:rPr lang="en-US" dirty="0"/>
              <a:t>    &amp;   I/O </a:t>
            </a:r>
            <a:r>
              <a:rPr lang="en-US" i="1" dirty="0">
                <a:solidFill>
                  <a:srgbClr val="FF0000"/>
                </a:solidFill>
              </a:rPr>
              <a:t>wait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processes move back &amp; forth between these two states</a:t>
            </a:r>
          </a:p>
          <a:p>
            <a:pPr>
              <a:spcBef>
                <a:spcPts val="1800"/>
              </a:spcBef>
            </a:pPr>
            <a:r>
              <a:rPr lang="en-US" dirty="0"/>
              <a:t>Execution of a process…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begins with </a:t>
            </a:r>
            <a:r>
              <a:rPr lang="en-US" i="1" dirty="0">
                <a:solidFill>
                  <a:srgbClr val="FF0000"/>
                </a:solidFill>
              </a:rPr>
              <a:t>CPU burst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followed by </a:t>
            </a:r>
            <a:r>
              <a:rPr lang="en-US" i="1" dirty="0">
                <a:solidFill>
                  <a:srgbClr val="FF0000"/>
                </a:solidFill>
              </a:rPr>
              <a:t>I/O burst</a:t>
            </a:r>
            <a:endParaRPr lang="en-US" dirty="0"/>
          </a:p>
          <a:p>
            <a:pPr lvl="1">
              <a:spcBef>
                <a:spcPts val="1000"/>
              </a:spcBef>
            </a:pPr>
            <a:r>
              <a:rPr lang="en-US" dirty="0"/>
              <a:t>&amp; so 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BBCB69-F4C0-D51F-ABF3-CD7436F7363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7"/>
            <a:ext cx="6886575" cy="711621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CPU Scheduler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60562" y="1050733"/>
            <a:ext cx="8548577" cy="5309062"/>
          </a:xfrm>
          <a:noFill/>
          <a:ln/>
        </p:spPr>
        <p:txBody>
          <a:bodyPr>
            <a:noAutofit/>
          </a:bodyPr>
          <a:lstStyle/>
          <a:p>
            <a:pPr marL="339725" indent="-339725">
              <a:spcBef>
                <a:spcPts val="1800"/>
              </a:spcBef>
            </a:pPr>
            <a:r>
              <a:rPr lang="en-US" sz="2400" dirty="0"/>
              <a:t>Three types of schedulers seen earlier </a:t>
            </a:r>
          </a:p>
          <a:p>
            <a:pPr marL="801688" lvl="1" indent="-342900">
              <a:spcBef>
                <a:spcPts val="600"/>
              </a:spcBef>
              <a:buFont typeface="Symbol" panose="05050102010706020507" pitchFamily="18" charset="2"/>
              <a:buChar char="-"/>
            </a:pPr>
            <a:r>
              <a:rPr lang="en-US" dirty="0"/>
              <a:t>Long term scheduler</a:t>
            </a:r>
          </a:p>
          <a:p>
            <a:pPr marL="801688" lvl="1" indent="-342900"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en-US" dirty="0"/>
              <a:t>Short term scheduler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(CPU Scheduler)</a:t>
            </a:r>
            <a:endParaRPr lang="en-US" dirty="0"/>
          </a:p>
          <a:p>
            <a:pPr marL="801688" lvl="1" indent="-342900"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en-US" dirty="0"/>
              <a:t>Medium term scheduler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(swapper)</a:t>
            </a:r>
          </a:p>
          <a:p>
            <a:pPr marL="0" indent="0" algn="ctr">
              <a:spcBef>
                <a:spcPts val="240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CPU Scheduler </a:t>
            </a:r>
            <a:r>
              <a:rPr lang="en-US" dirty="0">
                <a:solidFill>
                  <a:srgbClr val="0070C0"/>
                </a:solidFill>
              </a:rPr>
              <a:t>  </a:t>
            </a:r>
          </a:p>
          <a:p>
            <a:pPr marL="233363" lvl="1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i="1" dirty="0">
                <a:solidFill>
                  <a:srgbClr val="C00000"/>
                </a:solidFill>
              </a:rPr>
              <a:t>“kernel component that decides, </a:t>
            </a:r>
            <a:br>
              <a:rPr lang="en-US" i="1" dirty="0">
                <a:solidFill>
                  <a:srgbClr val="C00000"/>
                </a:solidFill>
              </a:rPr>
            </a:br>
            <a:r>
              <a:rPr lang="en-US" i="1" dirty="0">
                <a:solidFill>
                  <a:srgbClr val="C00000"/>
                </a:solidFill>
              </a:rPr>
              <a:t>which process should run next, how long it should run, </a:t>
            </a:r>
            <a:br>
              <a:rPr lang="en-US" i="1" dirty="0">
                <a:solidFill>
                  <a:srgbClr val="C00000"/>
                </a:solidFill>
              </a:rPr>
            </a:br>
            <a:r>
              <a:rPr lang="en-US" i="1" dirty="0">
                <a:solidFill>
                  <a:srgbClr val="C00000"/>
                </a:solidFill>
              </a:rPr>
              <a:t>and when it should be interrupted to allow another process to run”</a:t>
            </a:r>
          </a:p>
          <a:p>
            <a:pPr marL="739775" lvl="1" indent="-339725">
              <a:spcBef>
                <a:spcPts val="1800"/>
              </a:spcBef>
            </a:pPr>
            <a:r>
              <a:rPr lang="en-US" dirty="0"/>
              <a:t>goal is to </a:t>
            </a:r>
            <a:r>
              <a:rPr lang="en-US" i="1" dirty="0">
                <a:solidFill>
                  <a:srgbClr val="0070C0"/>
                </a:solidFill>
              </a:rPr>
              <a:t>optimize</a:t>
            </a:r>
            <a:r>
              <a:rPr lang="en-US" dirty="0"/>
              <a:t> use of CPU, and ensure all processes receive </a:t>
            </a:r>
            <a:br>
              <a:rPr lang="en-US" dirty="0"/>
            </a:br>
            <a:r>
              <a:rPr lang="en-US" i="1" dirty="0">
                <a:solidFill>
                  <a:srgbClr val="0070C0"/>
                </a:solidFill>
              </a:rPr>
              <a:t>fair &amp; efficient </a:t>
            </a:r>
            <a:r>
              <a:rPr lang="en-US" dirty="0"/>
              <a:t>access to CPU resources</a:t>
            </a:r>
          </a:p>
          <a:p>
            <a:pPr marL="739775" lvl="1" indent="-339725">
              <a:spcBef>
                <a:spcPts val="1200"/>
              </a:spcBef>
            </a:pPr>
            <a:r>
              <a:rPr lang="en-US" dirty="0"/>
              <a:t>when CPU gets idle, scheduler selects a process from </a:t>
            </a:r>
            <a:r>
              <a:rPr lang="en-US" i="1" dirty="0">
                <a:solidFill>
                  <a:srgbClr val="0070C0"/>
                </a:solidFill>
              </a:rPr>
              <a:t>Ready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Queue</a:t>
            </a:r>
            <a:r>
              <a:rPr lang="en-US" dirty="0"/>
              <a:t> to be executed next</a:t>
            </a:r>
            <a:endParaRPr lang="en-US" sz="2400" dirty="0"/>
          </a:p>
          <a:p>
            <a:pPr marL="739775" lvl="1" indent="-339725">
              <a:spcBef>
                <a:spcPts val="600"/>
              </a:spcBef>
            </a:pP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3606139-C939-0470-18C0-430FCFEBAF2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7"/>
            <a:ext cx="6886575" cy="711621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CPU Scheduler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04037" y="1091845"/>
            <a:ext cx="8516679" cy="5298429"/>
          </a:xfrm>
          <a:noFill/>
          <a:ln/>
        </p:spPr>
        <p:txBody>
          <a:bodyPr>
            <a:normAutofit/>
          </a:bodyPr>
          <a:lstStyle/>
          <a:p>
            <a:pPr marL="339725" indent="-339725">
              <a:spcBef>
                <a:spcPts val="1800"/>
              </a:spcBef>
            </a:pPr>
            <a:r>
              <a:rPr lang="en-US" sz="2400" dirty="0"/>
              <a:t>CPU scheduling decisions may take place when a process…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switches from  </a:t>
            </a:r>
            <a:r>
              <a:rPr lang="en-US" sz="2400" i="1" dirty="0">
                <a:solidFill>
                  <a:srgbClr val="C00000"/>
                </a:solidFill>
              </a:rPr>
              <a:t>running</a:t>
            </a:r>
            <a:r>
              <a:rPr lang="en-US" sz="2400" dirty="0"/>
              <a:t>  to  </a:t>
            </a:r>
            <a:r>
              <a:rPr lang="en-US" sz="2400" i="1" dirty="0">
                <a:solidFill>
                  <a:srgbClr val="C00000"/>
                </a:solidFill>
              </a:rPr>
              <a:t>waiting</a:t>
            </a:r>
            <a:r>
              <a:rPr lang="en-US" sz="2400" dirty="0"/>
              <a:t> state</a:t>
            </a:r>
            <a:br>
              <a:rPr lang="en-US" sz="2400" dirty="0"/>
            </a:br>
            <a:r>
              <a:rPr lang="en-US" dirty="0"/>
              <a:t>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 doing I/O)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switches from  </a:t>
            </a:r>
            <a:r>
              <a:rPr lang="en-US" sz="2400" i="1" dirty="0">
                <a:solidFill>
                  <a:srgbClr val="C00000"/>
                </a:solidFill>
              </a:rPr>
              <a:t>running</a:t>
            </a:r>
            <a:r>
              <a:rPr lang="en-US" sz="2400" dirty="0"/>
              <a:t>  to  </a:t>
            </a:r>
            <a:r>
              <a:rPr lang="en-US" sz="2400" i="1" dirty="0">
                <a:solidFill>
                  <a:srgbClr val="C00000"/>
                </a:solidFill>
              </a:rPr>
              <a:t>ready</a:t>
            </a:r>
            <a:r>
              <a:rPr lang="en-US" sz="2400" dirty="0"/>
              <a:t> state</a:t>
            </a:r>
            <a:br>
              <a:rPr lang="en-US" sz="2800" dirty="0"/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(when time slice of a process expires, or interrupt occurs)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switches from  </a:t>
            </a:r>
            <a:r>
              <a:rPr lang="en-US" sz="2400" i="1" dirty="0">
                <a:solidFill>
                  <a:srgbClr val="C00000"/>
                </a:solidFill>
              </a:rPr>
              <a:t>waiting</a:t>
            </a:r>
            <a:r>
              <a:rPr lang="en-US" sz="2400" dirty="0"/>
              <a:t>  to  </a:t>
            </a:r>
            <a:r>
              <a:rPr lang="en-US" sz="2400" i="1" dirty="0">
                <a:solidFill>
                  <a:srgbClr val="C00000"/>
                </a:solidFill>
              </a:rPr>
              <a:t>ready</a:t>
            </a:r>
            <a:r>
              <a:rPr lang="en-US" sz="2400" dirty="0"/>
              <a:t> state</a:t>
            </a:r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(on completion of I/O)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terminates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a </a:t>
            </a:r>
            <a:r>
              <a:rPr lang="en-US" sz="2400" i="1" dirty="0">
                <a:solidFill>
                  <a:srgbClr val="C00000"/>
                </a:solidFill>
              </a:rPr>
              <a:t>new</a:t>
            </a:r>
            <a:r>
              <a:rPr lang="en-US" sz="2400" dirty="0"/>
              <a:t> process arrives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E209268-AECB-DA62-E5EB-237D580C40A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1971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1226" y="-1"/>
            <a:ext cx="6886575" cy="731839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Dispatcher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50872" y="1040571"/>
            <a:ext cx="8651613" cy="5723029"/>
          </a:xfrm>
          <a:noFill/>
          <a:ln/>
        </p:spPr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Dispatcher</a:t>
            </a:r>
            <a:r>
              <a:rPr lang="en-US" dirty="0"/>
              <a:t> </a:t>
            </a:r>
          </a:p>
          <a:p>
            <a:pPr marL="457200" lvl="1" indent="0" algn="ctr">
              <a:spcBef>
                <a:spcPts val="600"/>
              </a:spcBef>
              <a:buNone/>
            </a:pPr>
            <a:r>
              <a:rPr lang="en-US" sz="2400" i="1" dirty="0">
                <a:solidFill>
                  <a:srgbClr val="0070C0"/>
                </a:solidFill>
              </a:rPr>
              <a:t>OS code that takes CPU away from current process, &amp; </a:t>
            </a:r>
            <a:br>
              <a:rPr lang="en-US" sz="2400" i="1" dirty="0">
                <a:solidFill>
                  <a:srgbClr val="0070C0"/>
                </a:solidFill>
              </a:rPr>
            </a:br>
            <a:r>
              <a:rPr lang="en-US" sz="2400" i="1" dirty="0">
                <a:solidFill>
                  <a:srgbClr val="0070C0"/>
                </a:solidFill>
              </a:rPr>
              <a:t>hands it over to newly scheduled process</a:t>
            </a:r>
          </a:p>
          <a:p>
            <a:pPr marL="746125" lvl="1">
              <a:spcBef>
                <a:spcPts val="1800"/>
              </a:spcBef>
            </a:pPr>
            <a:r>
              <a:rPr lang="en-US" dirty="0"/>
              <a:t>important component involved in CPU scheduling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gives CPU to process selected by short term scheduler</a:t>
            </a:r>
          </a:p>
          <a:p>
            <a:pPr>
              <a:spcBef>
                <a:spcPts val="1200"/>
              </a:spcBef>
            </a:pPr>
            <a:r>
              <a:rPr lang="en-US" dirty="0"/>
              <a:t>Performs following functions: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switch context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change CPU mode to user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jump to proper location in user program to restart that program</a:t>
            </a:r>
          </a:p>
          <a:p>
            <a:pPr>
              <a:spcBef>
                <a:spcPts val="1800"/>
              </a:spcBef>
            </a:pPr>
            <a:r>
              <a:rPr lang="en-US" b="1" i="1" dirty="0">
                <a:solidFill>
                  <a:srgbClr val="FF0000"/>
                </a:solidFill>
              </a:rPr>
              <a:t>Dispatch latency –  </a:t>
            </a:r>
            <a:r>
              <a:rPr lang="en-US" dirty="0"/>
              <a:t>time it takes for dispatcher to stop one process &amp; start executing another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5467D1E-E3D8-D281-E048-011E930A085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854" y="63797"/>
            <a:ext cx="7846828" cy="731839"/>
          </a:xfrm>
          <a:noFill/>
          <a:ln/>
        </p:spPr>
        <p:txBody>
          <a:bodyPr>
            <a:noAutofit/>
          </a:bodyPr>
          <a:lstStyle/>
          <a:p>
            <a:r>
              <a:rPr lang="en-US" sz="3200" dirty="0"/>
              <a:t>Main Categories of Scheduling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50873" y="1071051"/>
            <a:ext cx="8537946" cy="5563429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Pre-emptive Scheduling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scheduler decides when one process is stopped, &amp; a new process is run, as per some schedu</a:t>
            </a:r>
            <a:r>
              <a:rPr lang="en-US" dirty="0"/>
              <a:t>ling policy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1200"/>
              </a:spcBef>
            </a:pPr>
            <a:r>
              <a:rPr lang="en-US" b="1" dirty="0">
                <a:solidFill>
                  <a:srgbClr val="0070C0"/>
                </a:solidFill>
              </a:rPr>
              <a:t>Time Slice: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duration a process executes, before pre-emption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/>
              <a:t>		     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(usually fixed) 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modern OS may compute time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slice </a:t>
            </a:r>
            <a:r>
              <a:rPr lang="en-US" i="1" dirty="0">
                <a:solidFill>
                  <a:srgbClr val="0070C0"/>
                </a:solidFill>
              </a:rPr>
              <a:t>dynamically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   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 function of process behavior &amp; configurable system policy)</a:t>
            </a:r>
          </a:p>
          <a:p>
            <a:pPr>
              <a:spcBef>
                <a:spcPts val="1800"/>
              </a:spcBef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Non-preemptive Scheduling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running process can only lose processor voluntarily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 </a:t>
            </a:r>
            <a:r>
              <a:rPr lang="en-US" sz="21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terminating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or requesting </a:t>
            </a:r>
            <a:r>
              <a:rPr lang="en-US" sz="21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once CPU given to a process, it cannot be pre-empted until process completes its CPU burst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5467D1E-E3D8-D281-E048-011E930A085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36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76200"/>
            <a:ext cx="6886575" cy="689344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Scheduling Objectives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3402" y="1137687"/>
            <a:ext cx="8545286" cy="4520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Fairness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			          (nobody cries)</a:t>
            </a:r>
          </a:p>
          <a:p>
            <a:pPr marL="533400" marR="0" lvl="0" indent="-5334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Priority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			          (ladies first)</a:t>
            </a:r>
          </a:p>
          <a:p>
            <a:pPr marL="533400" marR="0" lvl="0" indent="-5334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Efficiency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			          (make best use of equipment)</a:t>
            </a:r>
          </a:p>
          <a:p>
            <a:pPr marL="533400" marR="0" lvl="0" indent="-5334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Encourage good behavior        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(good boy/girl)</a:t>
            </a:r>
          </a:p>
          <a:p>
            <a:pPr marL="533400" marR="0" lvl="0" indent="-5334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heavy loads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	          (degrade gracefully)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E6AC458-20A4-4FAA-1D44-3DA82A83A4E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0972" y="128350"/>
            <a:ext cx="6886575" cy="700989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Scheduling Criteria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35939" y="1137688"/>
            <a:ext cx="8516836" cy="5347921"/>
          </a:xfrm>
          <a:noFill/>
          <a:ln/>
        </p:spPr>
        <p:txBody>
          <a:bodyPr/>
          <a:lstStyle/>
          <a:p>
            <a:pPr>
              <a:spcBef>
                <a:spcPts val="1200"/>
              </a:spcBef>
            </a:pPr>
            <a:r>
              <a:rPr kumimoji="0" lang="en-US" b="1" dirty="0">
                <a:solidFill>
                  <a:srgbClr val="C00000"/>
                </a:solidFill>
              </a:rPr>
              <a:t>CPU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kumimoji="0" lang="en-US" b="1" dirty="0">
                <a:solidFill>
                  <a:srgbClr val="C00000"/>
                </a:solidFill>
              </a:rPr>
              <a:t>utilization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keep CPU as busy as possible</a:t>
            </a:r>
          </a:p>
          <a:p>
            <a:pPr>
              <a:spcBef>
                <a:spcPts val="1800"/>
              </a:spcBef>
            </a:pPr>
            <a:r>
              <a:rPr kumimoji="0" lang="en-US" b="1" dirty="0">
                <a:solidFill>
                  <a:srgbClr val="C00000"/>
                </a:solidFill>
              </a:rPr>
              <a:t>Throughput</a:t>
            </a:r>
            <a:r>
              <a:rPr lang="en-US" dirty="0"/>
              <a:t>  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number of processes that complete</a:t>
            </a:r>
            <a:br>
              <a:rPr lang="en-US" sz="2400" dirty="0"/>
            </a:br>
            <a:r>
              <a:rPr lang="en-US" sz="2400" dirty="0"/>
              <a:t>their execution per time unit</a:t>
            </a:r>
          </a:p>
          <a:p>
            <a:pPr>
              <a:spcBef>
                <a:spcPts val="1800"/>
              </a:spcBef>
            </a:pPr>
            <a:r>
              <a:rPr kumimoji="0" lang="en-US" b="1" dirty="0">
                <a:solidFill>
                  <a:srgbClr val="C00000"/>
                </a:solidFill>
              </a:rPr>
              <a:t>Turnaround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kumimoji="0" lang="en-US" b="1" dirty="0">
                <a:solidFill>
                  <a:srgbClr val="C00000"/>
                </a:solidFill>
              </a:rPr>
              <a:t>time</a:t>
            </a:r>
            <a:r>
              <a:rPr lang="en-US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sz="2400" dirty="0"/>
              <a:t>amount of time to execute a particular process</a:t>
            </a:r>
          </a:p>
          <a:p>
            <a:pPr lvl="1">
              <a:spcBef>
                <a:spcPts val="600"/>
              </a:spcBef>
            </a:pPr>
            <a:r>
              <a:rPr lang="en-US" sz="2400" dirty="0"/>
              <a:t>Turn Around Time  </a:t>
            </a:r>
            <a:r>
              <a:rPr lang="en-US" sz="2400" dirty="0">
                <a:latin typeface="Abadi" panose="020B0604020104020204" pitchFamily="34" charset="0"/>
                <a:sym typeface="Symbol" pitchFamily="18" charset="2"/>
              </a:rPr>
              <a:t>→</a:t>
            </a:r>
            <a:r>
              <a:rPr lang="en-US" sz="2400" dirty="0"/>
              <a:t>  T.A.T  =  F.T  –  A.T</a:t>
            </a:r>
          </a:p>
          <a:p>
            <a:pPr marL="0" lvl="1" indent="0" algn="ctr">
              <a:spcBef>
                <a:spcPts val="1200"/>
              </a:spcBef>
              <a:buNone/>
            </a:pP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W.T to get into memory + W.T in Ready Q + </a:t>
            </a:r>
            <a:b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+ I/O time</a:t>
            </a:r>
          </a:p>
          <a:p>
            <a:pPr lvl="1">
              <a:spcBef>
                <a:spcPts val="600"/>
              </a:spcBef>
            </a:pP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8A8D5E-97D8-86A9-DDC5-863B6D3C041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73C85-07FA-7605-B60B-73A054F2FB52}"/>
              </a:ext>
            </a:extLst>
          </p:cNvPr>
          <p:cNvSpPr txBox="1"/>
          <p:nvPr/>
        </p:nvSpPr>
        <p:spPr>
          <a:xfrm>
            <a:off x="6250215" y="1330960"/>
            <a:ext cx="2651760" cy="2479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defTabSz="828675">
              <a:spcBef>
                <a:spcPts val="1200"/>
              </a:spcBef>
            </a:pPr>
            <a:r>
              <a:rPr lang="en-US" dirty="0"/>
              <a:t>Arrival Time 	:  A.T</a:t>
            </a:r>
          </a:p>
          <a:p>
            <a:pPr defTabSz="828675">
              <a:spcBef>
                <a:spcPts val="1200"/>
              </a:spcBef>
            </a:pPr>
            <a:r>
              <a:rPr lang="en-US" dirty="0"/>
              <a:t>Start Time 	:  S.T</a:t>
            </a:r>
          </a:p>
          <a:p>
            <a:pPr defTabSz="828675">
              <a:spcBef>
                <a:spcPts val="1200"/>
              </a:spcBef>
            </a:pPr>
            <a:r>
              <a:rPr lang="en-US" dirty="0"/>
              <a:t>Burst Time 	:  B.T</a:t>
            </a:r>
          </a:p>
          <a:p>
            <a:pPr defTabSz="828675">
              <a:spcBef>
                <a:spcPts val="1200"/>
              </a:spcBef>
            </a:pPr>
            <a:r>
              <a:rPr lang="en-US" dirty="0"/>
              <a:t>Wait Time 	:  W.T</a:t>
            </a:r>
          </a:p>
          <a:p>
            <a:pPr defTabSz="828675">
              <a:spcBef>
                <a:spcPts val="1200"/>
              </a:spcBef>
            </a:pPr>
            <a:r>
              <a:rPr lang="en-US" sz="1800" dirty="0"/>
              <a:t>Finish Time 	:  F.T</a:t>
            </a:r>
          </a:p>
        </p:txBody>
      </p:sp>
    </p:spTree>
    <p:extLst>
      <p:ext uri="{BB962C8B-B14F-4D97-AF65-F5344CB8AC3E}">
        <p14:creationId xmlns:p14="http://schemas.microsoft.com/office/powerpoint/2010/main" val="2735633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0972" y="128350"/>
            <a:ext cx="6886575" cy="700989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Scheduling Criteria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50874" y="1073891"/>
            <a:ext cx="8793126" cy="5316022"/>
          </a:xfrm>
          <a:noFill/>
          <a:ln/>
        </p:spPr>
        <p:txBody>
          <a:bodyPr/>
          <a:lstStyle/>
          <a:p>
            <a:pPr>
              <a:spcBef>
                <a:spcPts val="1800"/>
              </a:spcBef>
            </a:pPr>
            <a:r>
              <a:rPr kumimoji="0" lang="en-US" b="1" dirty="0">
                <a:solidFill>
                  <a:srgbClr val="C00000"/>
                </a:solidFill>
              </a:rPr>
              <a:t>Waiting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kumimoji="0" lang="en-US" b="1" dirty="0">
                <a:solidFill>
                  <a:srgbClr val="C00000"/>
                </a:solidFill>
              </a:rPr>
              <a:t>time</a:t>
            </a:r>
            <a:r>
              <a:rPr lang="en-US" dirty="0"/>
              <a:t> 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amount of time a process has been waiting in Ready Queue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for Non-preemptive Algos  	W.T =  S.T – A.T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for Preemptive Algos           	W.T =  F.T – A.T – B.T</a:t>
            </a:r>
            <a:br>
              <a:rPr lang="en-US" sz="2400" dirty="0"/>
            </a:br>
            <a:r>
              <a:rPr lang="en-US" sz="2400" dirty="0"/>
              <a:t>					         =  T.A.T  –  B.T </a:t>
            </a:r>
          </a:p>
          <a:p>
            <a:pPr>
              <a:spcBef>
                <a:spcPts val="2400"/>
              </a:spcBef>
            </a:pPr>
            <a:r>
              <a:rPr kumimoji="0" lang="en-US" b="1" dirty="0">
                <a:solidFill>
                  <a:srgbClr val="C00000"/>
                </a:solidFill>
              </a:rPr>
              <a:t>Response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kumimoji="0" lang="en-US" b="1" dirty="0">
                <a:solidFill>
                  <a:srgbClr val="C00000"/>
                </a:solidFill>
              </a:rPr>
              <a:t>time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amount of time it takes from </a:t>
            </a:r>
          </a:p>
          <a:p>
            <a:pPr lvl="2">
              <a:spcBef>
                <a:spcPts val="1200"/>
              </a:spcBef>
            </a:pPr>
            <a:r>
              <a:rPr lang="en-US" dirty="0"/>
              <a:t>when  process </a:t>
            </a:r>
            <a:r>
              <a:rPr lang="en-US" b="1" dirty="0">
                <a:solidFill>
                  <a:srgbClr val="0070C0"/>
                </a:solidFill>
              </a:rPr>
              <a:t>arrives in ready queue </a:t>
            </a:r>
            <a:r>
              <a:rPr lang="en-US" dirty="0"/>
              <a:t>for the </a:t>
            </a:r>
            <a:r>
              <a:rPr lang="en-US" b="1" dirty="0">
                <a:solidFill>
                  <a:srgbClr val="0070C0"/>
                </a:solidFill>
              </a:rPr>
              <a:t>first time, </a:t>
            </a:r>
          </a:p>
          <a:p>
            <a:pPr lvl="2">
              <a:spcBef>
                <a:spcPts val="1200"/>
              </a:spcBef>
            </a:pPr>
            <a:r>
              <a:rPr lang="en-US" dirty="0"/>
              <a:t>until it </a:t>
            </a:r>
            <a:r>
              <a:rPr lang="en-US" b="1" dirty="0">
                <a:solidFill>
                  <a:srgbClr val="0070C0"/>
                </a:solidFill>
              </a:rPr>
              <a:t>first gets the </a:t>
            </a:r>
            <a:r>
              <a:rPr lang="en-US" b="1">
                <a:solidFill>
                  <a:srgbClr val="0070C0"/>
                </a:solidFill>
              </a:rPr>
              <a:t>CPU </a:t>
            </a:r>
            <a:r>
              <a:rPr lang="en-US"/>
              <a:t>&amp; </a:t>
            </a:r>
            <a:r>
              <a:rPr lang="en-US" dirty="0"/>
              <a:t>starts executing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for time-sharing environment</a:t>
            </a:r>
            <a:endParaRPr lang="en-US" sz="2400" b="1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8A8D5E-97D8-86A9-DDC5-863B6D3C041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178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20219"/>
            <a:ext cx="6886575" cy="45720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Optimization Criteria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33653" y="1190847"/>
            <a:ext cx="7692877" cy="4557037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Maximize CPU utilization</a:t>
            </a:r>
          </a:p>
          <a:p>
            <a:pPr>
              <a:lnSpc>
                <a:spcPct val="150000"/>
              </a:lnSpc>
            </a:pPr>
            <a:r>
              <a:rPr lang="en-US" dirty="0"/>
              <a:t>Maximize throughput</a:t>
            </a:r>
          </a:p>
          <a:p>
            <a:pPr>
              <a:lnSpc>
                <a:spcPct val="150000"/>
              </a:lnSpc>
            </a:pPr>
            <a:r>
              <a:rPr lang="en-US" dirty="0"/>
              <a:t>Minimize turnaround time</a:t>
            </a:r>
          </a:p>
          <a:p>
            <a:pPr>
              <a:lnSpc>
                <a:spcPct val="150000"/>
              </a:lnSpc>
            </a:pPr>
            <a:r>
              <a:rPr lang="en-US" dirty="0"/>
              <a:t>Minimize waiting time</a:t>
            </a:r>
          </a:p>
          <a:p>
            <a:pPr>
              <a:lnSpc>
                <a:spcPct val="150000"/>
              </a:lnSpc>
            </a:pPr>
            <a:r>
              <a:rPr lang="en-US" dirty="0"/>
              <a:t>Minimize response time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D3A8F68-A3E9-CB58-E229-6736C1C1AC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846" y="343098"/>
            <a:ext cx="7811640" cy="45720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Classification of Processes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82768" y="1073888"/>
            <a:ext cx="8463522" cy="5462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Classification of processes for scheduling algorithms: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bound process</a:t>
            </a:r>
            <a:r>
              <a:rPr lang="en-US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process spends more time doing computation, &amp; tries to hold CPU for longer durations </a:t>
            </a:r>
          </a:p>
          <a:p>
            <a:pPr lvl="1" algn="ctr">
              <a:spcBef>
                <a:spcPts val="600"/>
              </a:spcBef>
            </a:pPr>
            <a:r>
              <a:rPr lang="en-US" sz="21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 processing applications, network traffic simulators)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bound process</a:t>
            </a:r>
            <a:r>
              <a:rPr lang="en-US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processes spend more time doing I/O, &amp; tries to hold I/O devices for longer durations</a:t>
            </a:r>
          </a:p>
          <a:p>
            <a:pPr lvl="1" algn="ctr">
              <a:spcBef>
                <a:spcPts val="600"/>
              </a:spcBef>
            </a:pPr>
            <a:r>
              <a:rPr lang="en-US" sz="21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(text editors, printing application like billing system)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Classifications not mutually exclusive – process can exhibit both behaviors</a:t>
            </a:r>
          </a:p>
          <a:p>
            <a:pPr lvl="1" algn="ctr">
              <a:spcBef>
                <a:spcPts val="600"/>
              </a:spcBef>
            </a:pPr>
            <a:r>
              <a:rPr lang="en-US" sz="21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processor (I/O bound) can become CPU bound </a:t>
            </a:r>
            <a:br>
              <a:rPr lang="en-US" sz="21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doing spell check or macro calculations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CD89CEB-71E0-AAAB-939F-C437839E6AC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Scheduling Algorithms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0916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38497" y="129362"/>
            <a:ext cx="6886575" cy="668079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First Come First Serve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1517" y="1117600"/>
            <a:ext cx="8580969" cy="532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FCFS –  </a:t>
            </a:r>
            <a:r>
              <a:rPr kumimoji="0" lang="en-US" sz="240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Process that arrives First, gets CPU First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4538" lvl="1" indent="-287338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Non-preemptive</a:t>
            </a:r>
          </a:p>
          <a:p>
            <a:pPr marL="744538" lvl="1" indent="-287338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used in 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atch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systems</a:t>
            </a:r>
          </a:p>
          <a:p>
            <a:pPr marL="744538" lvl="1" indent="-287338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no real time user interaction </a:t>
            </a:r>
          </a:p>
          <a:p>
            <a:pPr marL="342900" marR="0" lvl="0" indent="-342900" algn="l" defTabSz="914400" rtl="0" eaLnBrk="1" fontAlgn="base" latinLnBrk="0" hangingPunct="1"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Implemented as </a:t>
            </a:r>
            <a:r>
              <a:rPr lang="en-US" sz="2200" b="1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FIFO Queue</a:t>
            </a:r>
          </a:p>
          <a:p>
            <a:pPr marL="744538" marR="0" lvl="1" indent="-287338" algn="l" defTabSz="887413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when process enters RQ </a:t>
            </a:r>
            <a:r>
              <a:rPr lang="en-US" sz="2200" kern="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 PCB linked to tail of Queue</a:t>
            </a:r>
          </a:p>
          <a:p>
            <a:pPr marL="744538" lvl="1" indent="-287338" defTabSz="887413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when CPU free  		</a:t>
            </a:r>
            <a:r>
              <a:rPr lang="en-US" sz="2200" kern="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 scheduler selects from head of Queue</a:t>
            </a:r>
          </a:p>
          <a:p>
            <a:pPr marL="744538" lvl="1" indent="-287338" defTabSz="887413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when process blocked  	</a:t>
            </a:r>
            <a:r>
              <a:rPr lang="en-US" sz="2200" kern="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 goes to Queue tail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Performance metric – </a:t>
            </a:r>
            <a:r>
              <a:rPr lang="en-US" sz="2200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Waiting Time (AWT)</a:t>
            </a:r>
          </a:p>
          <a:p>
            <a:pPr marL="342900" marR="0" lvl="0" indent="-342900" algn="l" defTabSz="914400" rtl="0" eaLnBrk="1" fontAlgn="base" latinLnBrk="0" hangingPunct="1"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Given parameters: </a:t>
            </a:r>
          </a:p>
          <a:p>
            <a:pPr marL="744538" lvl="1" indent="-287338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Arrival Time,     Order,   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Burst Time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(in </a:t>
            </a:r>
            <a:r>
              <a:rPr kumimoji="0" 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  </a:t>
            </a:r>
          </a:p>
        </p:txBody>
      </p:sp>
      <p:pic>
        <p:nvPicPr>
          <p:cNvPr id="9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7400778" y="1270000"/>
            <a:ext cx="1369602" cy="150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8DD425C-19B6-D5A9-472D-E408940679B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917576" y="92980"/>
            <a:ext cx="7949978" cy="685135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First Come First Serve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idx="1"/>
          </p:nvPr>
        </p:nvSpPr>
        <p:spPr>
          <a:xfrm>
            <a:off x="359734" y="1141701"/>
            <a:ext cx="8507820" cy="5187980"/>
          </a:xfrm>
          <a:noFill/>
          <a:ln/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/>
              <a:t>Simplest CPU scheduling algorithm</a:t>
            </a:r>
          </a:p>
          <a:p>
            <a:pPr lvl="1">
              <a:spcBef>
                <a:spcPts val="1200"/>
              </a:spcBef>
            </a:pPr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 be generalized to processes with alternate CPU &amp; I/O bursts 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sz="2400" b="1" dirty="0"/>
              <a:t>Limitations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FCFS </a:t>
            </a:r>
            <a:r>
              <a:rPr lang="en-US" i="1" dirty="0">
                <a:solidFill>
                  <a:srgbClr val="0070C0"/>
                </a:solidFill>
              </a:rPr>
              <a:t>favors long processes</a:t>
            </a:r>
            <a:r>
              <a:rPr lang="en-US" dirty="0"/>
              <a:t>, compared to short ones </a:t>
            </a:r>
            <a:br>
              <a:rPr lang="en-US" dirty="0"/>
            </a:br>
            <a:r>
              <a:rPr lang="en-US" dirty="0"/>
              <a:t>   (Convoy effect)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tends to </a:t>
            </a:r>
            <a:r>
              <a:rPr lang="en-US" i="1" dirty="0">
                <a:solidFill>
                  <a:srgbClr val="0070C0"/>
                </a:solidFill>
              </a:rPr>
              <a:t>favor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CPU bound</a:t>
            </a:r>
            <a:r>
              <a:rPr lang="en-US" dirty="0"/>
              <a:t>, over I/O bound processes</a:t>
            </a:r>
          </a:p>
          <a:p>
            <a:pPr lvl="1">
              <a:spcBef>
                <a:spcPts val="1200"/>
              </a:spcBef>
            </a:pPr>
            <a:r>
              <a:rPr lang="en-US" i="1" dirty="0">
                <a:solidFill>
                  <a:srgbClr val="0070C0"/>
                </a:solidFill>
              </a:rPr>
              <a:t>average wait time </a:t>
            </a:r>
            <a:r>
              <a:rPr lang="en-US" dirty="0"/>
              <a:t>is often quite long</a:t>
            </a:r>
          </a:p>
          <a:p>
            <a:pPr lvl="1">
              <a:spcBef>
                <a:spcPts val="1200"/>
              </a:spcBef>
            </a:pPr>
            <a:r>
              <a:rPr lang="en-US" i="1" dirty="0">
                <a:solidFill>
                  <a:srgbClr val="0070C0"/>
                </a:solidFill>
              </a:rPr>
              <a:t>non-preemptive</a:t>
            </a:r>
            <a:r>
              <a:rPr lang="en-US" dirty="0"/>
              <a:t> – troublesome for time sharing systems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703498C-15FA-3126-4231-45802B17CD5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33667"/>
            <a:ext cx="6886575" cy="727075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Convoy Effect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39295" y="1093258"/>
            <a:ext cx="8516682" cy="5507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“Convoy effect occurs when a set of processes</a:t>
            </a:r>
            <a:b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to use a resource for a short time, </a:t>
            </a:r>
            <a:b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one process holds resource for a long time, blocking all others, </a:t>
            </a:r>
            <a:b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causing poor utilization of system resources”</a:t>
            </a:r>
          </a:p>
          <a:p>
            <a:pPr marL="342900" lvl="0" indent="-342900" eaLnBrk="1" hangingPunct="1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Consider </a:t>
            </a: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n-1  I/O bound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jobs,  &amp; 1 </a:t>
            </a: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CPU bound job…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7063" lvl="1" indent="-2794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I/O bound jobs pass 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thru RQ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quickly, and block waiting for I/O</a:t>
            </a:r>
          </a:p>
          <a:p>
            <a:pPr marL="627063" lvl="1" indent="-2794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CPU bound job arrives at head of Queue, &amp; executes</a:t>
            </a:r>
          </a:p>
          <a:p>
            <a:pPr marL="627063" lvl="1" indent="-2794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I/O bound jobs rejoin RQ, but 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need to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wait for CPU bound job</a:t>
            </a:r>
          </a:p>
          <a:p>
            <a:pPr marL="627063" lvl="1" indent="-2794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I/O devices idle, until CPU bound job completes</a:t>
            </a:r>
          </a:p>
          <a:p>
            <a:pPr marL="627063" lvl="1" indent="-2794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hen CPU bound job completes, other processes rush to wait on I/O again</a:t>
            </a:r>
          </a:p>
          <a:p>
            <a:pPr marL="627063" lvl="1" indent="-2794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becomes idle</a:t>
            </a:r>
          </a:p>
          <a:p>
            <a:pPr marL="342900" marR="0" lvl="0" indent="-342900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F1F7DEB-8301-67B9-C3BA-3967A9E2512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0781" y="238154"/>
            <a:ext cx="6886575" cy="504735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FCFS – Example 1</a:t>
            </a:r>
          </a:p>
        </p:txBody>
      </p:sp>
      <p:graphicFrame>
        <p:nvGraphicFramePr>
          <p:cNvPr id="7" name="Group 7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119479"/>
              </p:ext>
            </p:extLst>
          </p:nvPr>
        </p:nvGraphicFramePr>
        <p:xfrm>
          <a:off x="793357" y="1258429"/>
          <a:ext cx="7375282" cy="1896180"/>
        </p:xfrm>
        <a:graphic>
          <a:graphicData uri="http://schemas.openxmlformats.org/drawingml/2006/table">
            <a:tbl>
              <a:tblPr/>
              <a:tblGrid>
                <a:gridCol w="180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7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 / B.T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Arrival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3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3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681997" y="3428120"/>
            <a:ext cx="202811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100" dirty="0">
                <a:latin typeface="Comic Sans MS" pitchFamily="66" charset="0"/>
              </a:rPr>
              <a:t>Final schedule: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B3CB3D-7E84-F1FF-6F7B-8DAD91E5BF69}"/>
              </a:ext>
            </a:extLst>
          </p:cNvPr>
          <p:cNvGrpSpPr/>
          <p:nvPr/>
        </p:nvGrpSpPr>
        <p:grpSpPr>
          <a:xfrm>
            <a:off x="1424388" y="3897260"/>
            <a:ext cx="5807075" cy="968254"/>
            <a:chOff x="1867860" y="3966088"/>
            <a:chExt cx="5807075" cy="968254"/>
          </a:xfrm>
        </p:grpSpPr>
        <p:sp>
          <p:nvSpPr>
            <p:cNvPr id="10" name="Line 44"/>
            <p:cNvSpPr>
              <a:spLocks noChangeShapeType="1"/>
            </p:cNvSpPr>
            <p:nvPr/>
          </p:nvSpPr>
          <p:spPr bwMode="auto">
            <a:xfrm>
              <a:off x="2340935" y="4523119"/>
              <a:ext cx="502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1" name="Text Box 45"/>
            <p:cNvSpPr txBox="1">
              <a:spLocks noChangeArrowheads="1"/>
            </p:cNvSpPr>
            <p:nvPr/>
          </p:nvSpPr>
          <p:spPr bwMode="auto">
            <a:xfrm>
              <a:off x="1867860" y="4534232"/>
              <a:ext cx="34176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Comic Sans MS" pitchFamily="66" charset="0"/>
                </a:rPr>
                <a:t>0</a:t>
              </a:r>
            </a:p>
          </p:txBody>
        </p:sp>
        <p:sp>
          <p:nvSpPr>
            <p:cNvPr id="12" name="Rectangle 47"/>
            <p:cNvSpPr>
              <a:spLocks noChangeArrowheads="1"/>
            </p:cNvSpPr>
            <p:nvPr/>
          </p:nvSpPr>
          <p:spPr bwMode="auto">
            <a:xfrm>
              <a:off x="2036135" y="4393754"/>
              <a:ext cx="4038600" cy="152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3" name="Text Box 48"/>
            <p:cNvSpPr txBox="1">
              <a:spLocks noChangeArrowheads="1"/>
            </p:cNvSpPr>
            <p:nvPr/>
          </p:nvSpPr>
          <p:spPr bwMode="auto">
            <a:xfrm>
              <a:off x="2569535" y="3966088"/>
              <a:ext cx="1016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latin typeface="Comic Sans MS" pitchFamily="66" charset="0"/>
                </a:rPr>
                <a:t>P1 (24)</a:t>
              </a:r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>
              <a:off x="5693735" y="4523119"/>
              <a:ext cx="49885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latin typeface="Comic Sans MS" pitchFamily="66" charset="0"/>
                </a:rPr>
                <a:t>24</a:t>
              </a:r>
            </a:p>
          </p:txBody>
        </p:sp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>
              <a:off x="6455735" y="4523119"/>
              <a:ext cx="49885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Comic Sans MS" pitchFamily="66" charset="0"/>
                </a:rPr>
                <a:t>27</a:t>
              </a:r>
            </a:p>
          </p:txBody>
        </p:sp>
        <p:sp>
          <p:nvSpPr>
            <p:cNvPr id="16" name="Rectangle 51"/>
            <p:cNvSpPr>
              <a:spLocks noChangeArrowheads="1"/>
            </p:cNvSpPr>
            <p:nvPr/>
          </p:nvSpPr>
          <p:spPr bwMode="auto">
            <a:xfrm>
              <a:off x="5998535" y="4393754"/>
              <a:ext cx="762000" cy="1524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7" name="Text Box 52"/>
            <p:cNvSpPr txBox="1">
              <a:spLocks noChangeArrowheads="1"/>
            </p:cNvSpPr>
            <p:nvPr/>
          </p:nvSpPr>
          <p:spPr bwMode="auto">
            <a:xfrm>
              <a:off x="5922335" y="3991488"/>
              <a:ext cx="8980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Comic Sans MS" pitchFamily="66" charset="0"/>
                </a:rPr>
                <a:t>P2 (3)</a:t>
              </a:r>
            </a:p>
          </p:txBody>
        </p:sp>
        <p:sp>
          <p:nvSpPr>
            <p:cNvPr id="18" name="Text Box 53"/>
            <p:cNvSpPr txBox="1">
              <a:spLocks noChangeArrowheads="1"/>
            </p:cNvSpPr>
            <p:nvPr/>
          </p:nvSpPr>
          <p:spPr bwMode="auto">
            <a:xfrm>
              <a:off x="6760535" y="3991488"/>
              <a:ext cx="8980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latin typeface="Comic Sans MS" pitchFamily="66" charset="0"/>
                </a:rPr>
                <a:t>P3 (4)</a:t>
              </a:r>
            </a:p>
          </p:txBody>
        </p:sp>
        <p:sp>
          <p:nvSpPr>
            <p:cNvPr id="19" name="Rectangle 54"/>
            <p:cNvSpPr>
              <a:spLocks noChangeArrowheads="1"/>
            </p:cNvSpPr>
            <p:nvPr/>
          </p:nvSpPr>
          <p:spPr bwMode="auto">
            <a:xfrm>
              <a:off x="6684335" y="4393754"/>
              <a:ext cx="990600" cy="1524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</p:grpSp>
      <p:sp>
        <p:nvSpPr>
          <p:cNvPr id="20" name="Text Box 55"/>
          <p:cNvSpPr txBox="1">
            <a:spLocks noChangeArrowheads="1"/>
          </p:cNvSpPr>
          <p:nvPr/>
        </p:nvSpPr>
        <p:spPr bwMode="auto">
          <a:xfrm>
            <a:off x="656086" y="4991712"/>
            <a:ext cx="3753354" cy="1215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100" dirty="0">
                <a:latin typeface="Comic Sans MS" pitchFamily="66" charset="0"/>
              </a:rPr>
              <a:t>P1 waiting time: 0-0	=  0</a:t>
            </a:r>
          </a:p>
          <a:p>
            <a:pPr eaLnBrk="0" hangingPunct="0">
              <a:spcBef>
                <a:spcPts val="600"/>
              </a:spcBef>
            </a:pPr>
            <a:r>
              <a:rPr lang="en-US" sz="2100" dirty="0">
                <a:latin typeface="Comic Sans MS" pitchFamily="66" charset="0"/>
              </a:rPr>
              <a:t>P2 waiting time: 24-3	= 21</a:t>
            </a:r>
          </a:p>
          <a:p>
            <a:pPr eaLnBrk="0" hangingPunct="0">
              <a:spcBef>
                <a:spcPts val="600"/>
              </a:spcBef>
            </a:pPr>
            <a:r>
              <a:rPr lang="en-US" sz="2100" dirty="0">
                <a:latin typeface="Comic Sans MS" pitchFamily="66" charset="0"/>
              </a:rPr>
              <a:t>P3 waiting time: 27-4	= 23</a:t>
            </a:r>
          </a:p>
        </p:txBody>
      </p:sp>
      <p:sp>
        <p:nvSpPr>
          <p:cNvPr id="21" name="Text Box 56"/>
          <p:cNvSpPr txBox="1">
            <a:spLocks noChangeArrowheads="1"/>
          </p:cNvSpPr>
          <p:nvPr/>
        </p:nvSpPr>
        <p:spPr bwMode="auto">
          <a:xfrm>
            <a:off x="4806965" y="5191766"/>
            <a:ext cx="3408305" cy="815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100" dirty="0">
                <a:latin typeface="Comic Sans MS" pitchFamily="66" charset="0"/>
              </a:rPr>
              <a:t>The average waiting time:</a:t>
            </a:r>
          </a:p>
          <a:p>
            <a:pPr eaLnBrk="0" hangingPunct="0">
              <a:spcBef>
                <a:spcPts val="600"/>
              </a:spcBef>
            </a:pPr>
            <a:r>
              <a:rPr lang="en-US" sz="2100" dirty="0">
                <a:latin typeface="Comic Sans MS" pitchFamily="66" charset="0"/>
              </a:rPr>
              <a:t>  (0+21+23)/3 = 14.667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C5C8153-A6B9-EA9C-3E6C-9B253220A76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46321"/>
            <a:ext cx="7924800" cy="45720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FCFS – Example 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82772" y="1092791"/>
            <a:ext cx="8558028" cy="5191568"/>
          </a:xfrm>
          <a:noFill/>
          <a:ln/>
        </p:spPr>
        <p:txBody>
          <a:bodyPr/>
          <a:lstStyle/>
          <a:p>
            <a:pPr marL="346075" indent="-346075">
              <a:lnSpc>
                <a:spcPct val="120000"/>
              </a:lnSpc>
              <a:spcBef>
                <a:spcPts val="1200"/>
              </a:spcBef>
              <a:tabLst>
                <a:tab pos="3032125" algn="ctr"/>
                <a:tab pos="4635500" algn="ctr"/>
              </a:tabLst>
            </a:pPr>
            <a:r>
              <a:rPr lang="en-US" dirty="0"/>
              <a:t>	Draw graph (Gantt chart) &amp; compute Average Waiting Time for  following processes using  </a:t>
            </a:r>
            <a:r>
              <a:rPr lang="en-US" b="1" dirty="0">
                <a:solidFill>
                  <a:srgbClr val="FF0000"/>
                </a:solidFill>
              </a:rPr>
              <a:t>FCFS</a:t>
            </a:r>
            <a:r>
              <a:rPr lang="en-US" dirty="0"/>
              <a:t>  scheduling algorithm. </a:t>
            </a:r>
            <a:endParaRPr lang="en-US" b="1" u="sng" dirty="0"/>
          </a:p>
          <a:p>
            <a:pPr marL="228600" indent="-228600">
              <a:lnSpc>
                <a:spcPct val="150000"/>
              </a:lnSpc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b="1" dirty="0"/>
              <a:t>	</a:t>
            </a:r>
            <a:r>
              <a:rPr lang="en-US" b="1" u="sng" dirty="0"/>
              <a:t>Process</a:t>
            </a:r>
            <a:r>
              <a:rPr lang="en-US" b="1" dirty="0"/>
              <a:t>	       </a:t>
            </a:r>
            <a:r>
              <a:rPr lang="en-US" b="1" u="sng" dirty="0"/>
              <a:t>Arrival time</a:t>
            </a:r>
            <a:r>
              <a:rPr lang="en-US" b="1" dirty="0"/>
              <a:t>            </a:t>
            </a:r>
            <a:r>
              <a:rPr lang="en-US" b="1" u="sng" dirty="0"/>
              <a:t>Burst Time</a:t>
            </a:r>
          </a:p>
          <a:p>
            <a:pPr marL="228600" indent="-228600">
              <a:lnSpc>
                <a:spcPct val="150000"/>
              </a:lnSpc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b="1" dirty="0"/>
              <a:t>     </a:t>
            </a:r>
            <a:r>
              <a:rPr lang="en-US" dirty="0"/>
              <a:t>P1                     1		 16</a:t>
            </a:r>
          </a:p>
          <a:p>
            <a:pPr marL="228600" indent="-228600">
              <a:lnSpc>
                <a:spcPct val="150000"/>
              </a:lnSpc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     P2                     5		    3</a:t>
            </a:r>
          </a:p>
          <a:p>
            <a:pPr marL="228600" indent="-228600">
              <a:lnSpc>
                <a:spcPct val="150000"/>
              </a:lnSpc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     P3                     6                    	    4</a:t>
            </a:r>
          </a:p>
          <a:p>
            <a:pPr marL="228600" indent="-228600">
              <a:lnSpc>
                <a:spcPct val="150000"/>
              </a:lnSpc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     P4                     9                            	     2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5F4EB1A-FCD0-8039-BBC8-D420B7EB7CB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459762" y="304506"/>
            <a:ext cx="6886575" cy="45720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SJF &amp; SRTF Scheduling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2772" y="1041990"/>
            <a:ext cx="8516679" cy="5447709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CPU assigned to process with smallest next CPU burst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if same length next CPU bursts, FCFS scheduling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FF0000"/>
                </a:solidFill>
              </a:rPr>
              <a:t>Shortest Job First  (SJF)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70C0"/>
                </a:solidFill>
              </a:rPr>
              <a:t>non-preemptive </a:t>
            </a:r>
            <a:r>
              <a:rPr lang="en-US" dirty="0"/>
              <a:t>algorithm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if new arriving process has shorter next CPU burst than what is left of currently executing process </a:t>
            </a:r>
          </a:p>
          <a:p>
            <a:pPr lvl="2">
              <a:spcBef>
                <a:spcPts val="600"/>
              </a:spcBef>
            </a:pPr>
            <a:r>
              <a:rPr lang="en-US" i="1" dirty="0">
                <a:solidFill>
                  <a:srgbClr val="0070C0"/>
                </a:solidFill>
              </a:rPr>
              <a:t>allow</a:t>
            </a:r>
            <a:r>
              <a:rPr lang="en-US" dirty="0"/>
              <a:t> current process to finish its CPU burst</a:t>
            </a:r>
          </a:p>
          <a:p>
            <a:pPr>
              <a:spcBef>
                <a:spcPts val="1800"/>
              </a:spcBef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Shortest Remaining Time First  (SRTF)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70C0"/>
                </a:solidFill>
              </a:rPr>
              <a:t>preemptive</a:t>
            </a:r>
            <a:r>
              <a:rPr lang="en-US" dirty="0"/>
              <a:t> algorithm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if new arriving process has shorter next CPU burst than what is left of currently executing process </a:t>
            </a:r>
          </a:p>
          <a:p>
            <a:pPr lvl="2">
              <a:spcBef>
                <a:spcPts val="600"/>
              </a:spcBef>
            </a:pPr>
            <a:r>
              <a:rPr lang="en-US" i="1" dirty="0">
                <a:solidFill>
                  <a:srgbClr val="0070C0"/>
                </a:solidFill>
              </a:rPr>
              <a:t>preempt</a:t>
            </a:r>
            <a:r>
              <a:rPr lang="en-US" dirty="0"/>
              <a:t> currently running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68DFD8B-8437-CAAE-8EFA-D86BC77383D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76199"/>
            <a:ext cx="6886575" cy="68742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SJF – Example 3</a:t>
            </a:r>
          </a:p>
        </p:txBody>
      </p:sp>
      <p:graphicFrame>
        <p:nvGraphicFramePr>
          <p:cNvPr id="7" name="Group 8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536561"/>
              </p:ext>
            </p:extLst>
          </p:nvPr>
        </p:nvGraphicFramePr>
        <p:xfrm>
          <a:off x="795020" y="1179812"/>
          <a:ext cx="7553960" cy="2057400"/>
        </p:xfrm>
        <a:graphic>
          <a:graphicData uri="http://schemas.openxmlformats.org/drawingml/2006/table">
            <a:tbl>
              <a:tblPr/>
              <a:tblGrid>
                <a:gridCol w="184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 / B.T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Arrival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ine 70"/>
          <p:cNvSpPr>
            <a:spLocks noChangeShapeType="1"/>
          </p:cNvSpPr>
          <p:nvPr/>
        </p:nvSpPr>
        <p:spPr bwMode="auto">
          <a:xfrm>
            <a:off x="622002" y="4272384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10" name="Text Box 71"/>
          <p:cNvSpPr txBox="1">
            <a:spLocks noChangeArrowheads="1"/>
          </p:cNvSpPr>
          <p:nvPr/>
        </p:nvSpPr>
        <p:spPr bwMode="auto">
          <a:xfrm>
            <a:off x="496259" y="4276998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Comic Sans MS" pitchFamily="66" charset="0"/>
              </a:rPr>
              <a:t>0</a:t>
            </a:r>
          </a:p>
        </p:txBody>
      </p:sp>
      <p:sp>
        <p:nvSpPr>
          <p:cNvPr id="11" name="Rectangle 72"/>
          <p:cNvSpPr>
            <a:spLocks noChangeArrowheads="1"/>
          </p:cNvSpPr>
          <p:nvPr/>
        </p:nvSpPr>
        <p:spPr bwMode="auto">
          <a:xfrm>
            <a:off x="622002" y="4057954"/>
            <a:ext cx="1066800" cy="19507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12" name="Text Box 73"/>
          <p:cNvSpPr txBox="1">
            <a:spLocks noChangeArrowheads="1"/>
          </p:cNvSpPr>
          <p:nvPr/>
        </p:nvSpPr>
        <p:spPr bwMode="auto">
          <a:xfrm>
            <a:off x="1536402" y="4272384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3</a:t>
            </a:r>
          </a:p>
        </p:txBody>
      </p:sp>
      <p:sp>
        <p:nvSpPr>
          <p:cNvPr id="13" name="Text Box 74"/>
          <p:cNvSpPr txBox="1">
            <a:spLocks noChangeArrowheads="1"/>
          </p:cNvSpPr>
          <p:nvPr/>
        </p:nvSpPr>
        <p:spPr bwMode="auto">
          <a:xfrm>
            <a:off x="758527" y="3637268"/>
            <a:ext cx="8258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P4 (3)</a:t>
            </a:r>
          </a:p>
        </p:txBody>
      </p:sp>
      <p:sp>
        <p:nvSpPr>
          <p:cNvPr id="14" name="Rectangle 75"/>
          <p:cNvSpPr>
            <a:spLocks noChangeArrowheads="1"/>
          </p:cNvSpPr>
          <p:nvPr/>
        </p:nvSpPr>
        <p:spPr bwMode="auto">
          <a:xfrm>
            <a:off x="1612602" y="4057954"/>
            <a:ext cx="2362200" cy="19507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15" name="Text Box 76"/>
          <p:cNvSpPr txBox="1">
            <a:spLocks noChangeArrowheads="1"/>
          </p:cNvSpPr>
          <p:nvPr/>
        </p:nvSpPr>
        <p:spPr bwMode="auto">
          <a:xfrm>
            <a:off x="2603202" y="3676955"/>
            <a:ext cx="80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P1 (6)</a:t>
            </a:r>
          </a:p>
        </p:txBody>
      </p:sp>
      <p:sp>
        <p:nvSpPr>
          <p:cNvPr id="16" name="Text Box 77"/>
          <p:cNvSpPr txBox="1">
            <a:spLocks noChangeArrowheads="1"/>
          </p:cNvSpPr>
          <p:nvPr/>
        </p:nvSpPr>
        <p:spPr bwMode="auto">
          <a:xfrm>
            <a:off x="3746202" y="4272384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9</a:t>
            </a:r>
          </a:p>
        </p:txBody>
      </p:sp>
      <p:sp>
        <p:nvSpPr>
          <p:cNvPr id="17" name="Rectangle 78"/>
          <p:cNvSpPr>
            <a:spLocks noChangeArrowheads="1"/>
          </p:cNvSpPr>
          <p:nvPr/>
        </p:nvSpPr>
        <p:spPr bwMode="auto">
          <a:xfrm>
            <a:off x="3974802" y="4057954"/>
            <a:ext cx="2362200" cy="19507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18" name="Text Box 79"/>
          <p:cNvSpPr txBox="1">
            <a:spLocks noChangeArrowheads="1"/>
          </p:cNvSpPr>
          <p:nvPr/>
        </p:nvSpPr>
        <p:spPr bwMode="auto">
          <a:xfrm>
            <a:off x="5117802" y="3676955"/>
            <a:ext cx="8258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P3 (7)</a:t>
            </a:r>
          </a:p>
        </p:txBody>
      </p:sp>
      <p:sp>
        <p:nvSpPr>
          <p:cNvPr id="19" name="Text Box 80"/>
          <p:cNvSpPr txBox="1">
            <a:spLocks noChangeArrowheads="1"/>
          </p:cNvSpPr>
          <p:nvPr/>
        </p:nvSpPr>
        <p:spPr bwMode="auto">
          <a:xfrm>
            <a:off x="6184602" y="4272384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16</a:t>
            </a:r>
          </a:p>
        </p:txBody>
      </p:sp>
      <p:sp>
        <p:nvSpPr>
          <p:cNvPr id="20" name="Text Box 81"/>
          <p:cNvSpPr txBox="1">
            <a:spLocks noChangeArrowheads="1"/>
          </p:cNvSpPr>
          <p:nvPr/>
        </p:nvSpPr>
        <p:spPr bwMode="auto">
          <a:xfrm>
            <a:off x="716286" y="4827342"/>
            <a:ext cx="2693366" cy="1554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P4 waiting time: 0-0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P1 waiting time: 3-0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P3 waiting time: 9-0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P2 waiting time: 16-0</a:t>
            </a:r>
          </a:p>
        </p:txBody>
      </p:sp>
      <p:sp>
        <p:nvSpPr>
          <p:cNvPr id="21" name="Text Box 82"/>
          <p:cNvSpPr txBox="1">
            <a:spLocks noChangeArrowheads="1"/>
          </p:cNvSpPr>
          <p:nvPr/>
        </p:nvSpPr>
        <p:spPr bwMode="auto">
          <a:xfrm>
            <a:off x="4753997" y="4805501"/>
            <a:ext cx="366959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Total running time is: 24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Average waiting time (AWT):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(0+3+9+16)/4 = 7 time units</a:t>
            </a:r>
          </a:p>
        </p:txBody>
      </p:sp>
      <p:sp>
        <p:nvSpPr>
          <p:cNvPr id="22" name="Rectangle 83"/>
          <p:cNvSpPr>
            <a:spLocks noChangeArrowheads="1"/>
          </p:cNvSpPr>
          <p:nvPr/>
        </p:nvSpPr>
        <p:spPr bwMode="auto">
          <a:xfrm>
            <a:off x="6337002" y="4057954"/>
            <a:ext cx="2514600" cy="19507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3" name="Text Box 84"/>
          <p:cNvSpPr txBox="1">
            <a:spLocks noChangeArrowheads="1"/>
          </p:cNvSpPr>
          <p:nvPr/>
        </p:nvSpPr>
        <p:spPr bwMode="auto">
          <a:xfrm>
            <a:off x="7175202" y="3676955"/>
            <a:ext cx="8258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P2 (8)</a:t>
            </a:r>
          </a:p>
        </p:txBody>
      </p:sp>
      <p:sp>
        <p:nvSpPr>
          <p:cNvPr id="24" name="Text Box 85"/>
          <p:cNvSpPr txBox="1">
            <a:spLocks noChangeArrowheads="1"/>
          </p:cNvSpPr>
          <p:nvPr/>
        </p:nvSpPr>
        <p:spPr bwMode="auto">
          <a:xfrm>
            <a:off x="8470602" y="4272384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24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E2CE257-B6B1-C770-9F3B-73201F30F77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76199"/>
            <a:ext cx="6886575" cy="69492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SRTF – Example 4</a:t>
            </a:r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953750"/>
              </p:ext>
            </p:extLst>
          </p:nvPr>
        </p:nvGraphicFramePr>
        <p:xfrm>
          <a:off x="942747" y="1223964"/>
          <a:ext cx="7590694" cy="1341624"/>
        </p:xfrm>
        <a:graphic>
          <a:graphicData uri="http://schemas.openxmlformats.org/drawingml/2006/table">
            <a:tbl>
              <a:tblPr/>
              <a:tblGrid>
                <a:gridCol w="175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5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6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Arrival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942747" y="4768714"/>
            <a:ext cx="2901756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P1 waiting time: 4-2 =2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P2 waiting time: 0</a:t>
            </a:r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4415825" y="4768714"/>
            <a:ext cx="4153701" cy="1554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The average waiting time (AWT):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  (0+2)/2 = 1</a:t>
            </a:r>
          </a:p>
          <a:p>
            <a:pPr eaLnBrk="0" hangingPunct="0">
              <a:spcBef>
                <a:spcPts val="600"/>
              </a:spcBef>
            </a:pPr>
            <a:endParaRPr lang="en-US" sz="2000" dirty="0">
              <a:latin typeface="Comic Sans MS" pitchFamily="66" charset="0"/>
            </a:endParaRP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solidFill>
                  <a:srgbClr val="FF0066"/>
                </a:solidFill>
                <a:latin typeface="Comic Sans MS" pitchFamily="66" charset="0"/>
              </a:rPr>
              <a:t>Now run this using SJF!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A8ECC7-798D-1352-ECA0-E2FD983307DF}"/>
              </a:ext>
            </a:extLst>
          </p:cNvPr>
          <p:cNvGrpSpPr/>
          <p:nvPr/>
        </p:nvGrpSpPr>
        <p:grpSpPr>
          <a:xfrm>
            <a:off x="1310681" y="3163929"/>
            <a:ext cx="6854825" cy="1006443"/>
            <a:chOff x="1320286" y="3400652"/>
            <a:chExt cx="6854825" cy="1006443"/>
          </a:xfrm>
        </p:grpSpPr>
        <p:sp>
          <p:nvSpPr>
            <p:cNvPr id="12" name="Text Box 30"/>
            <p:cNvSpPr txBox="1">
              <a:spLocks noChangeArrowheads="1"/>
            </p:cNvSpPr>
            <p:nvPr/>
          </p:nvSpPr>
          <p:spPr bwMode="auto">
            <a:xfrm>
              <a:off x="1320286" y="4017347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0</a:t>
              </a:r>
            </a:p>
          </p:txBody>
        </p:sp>
        <p:sp>
          <p:nvSpPr>
            <p:cNvPr id="13" name="Text Box 31"/>
            <p:cNvSpPr txBox="1">
              <a:spLocks noChangeArrowheads="1"/>
            </p:cNvSpPr>
            <p:nvPr/>
          </p:nvSpPr>
          <p:spPr bwMode="auto">
            <a:xfrm>
              <a:off x="7736961" y="404038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12</a:t>
              </a:r>
            </a:p>
          </p:txBody>
        </p:sp>
        <p:sp>
          <p:nvSpPr>
            <p:cNvPr id="14" name="Rectangle 32"/>
            <p:cNvSpPr>
              <a:spLocks noChangeArrowheads="1"/>
            </p:cNvSpPr>
            <p:nvPr/>
          </p:nvSpPr>
          <p:spPr bwMode="auto">
            <a:xfrm>
              <a:off x="3164961" y="3802917"/>
              <a:ext cx="4800600" cy="214429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2021961" y="3802917"/>
              <a:ext cx="1143000" cy="21442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1869561" y="4017347"/>
              <a:ext cx="1905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2 </a:t>
              </a:r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2021961" y="3802918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8" name="Text Box 36"/>
            <p:cNvSpPr txBox="1">
              <a:spLocks noChangeArrowheads="1"/>
            </p:cNvSpPr>
            <p:nvPr/>
          </p:nvSpPr>
          <p:spPr bwMode="auto">
            <a:xfrm>
              <a:off x="4003161" y="3421918"/>
              <a:ext cx="806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P1 (8)</a:t>
              </a:r>
            </a:p>
          </p:txBody>
        </p:sp>
        <p:sp>
          <p:nvSpPr>
            <p:cNvPr id="19" name="Text Box 37"/>
            <p:cNvSpPr txBox="1">
              <a:spLocks noChangeArrowheads="1"/>
            </p:cNvSpPr>
            <p:nvPr/>
          </p:nvSpPr>
          <p:spPr bwMode="auto">
            <a:xfrm>
              <a:off x="2326761" y="3409516"/>
              <a:ext cx="8258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dirty="0">
                  <a:latin typeface="Comic Sans MS" pitchFamily="66" charset="0"/>
                </a:rPr>
                <a:t>P2 (2)</a:t>
              </a:r>
            </a:p>
          </p:txBody>
        </p:sp>
        <p:sp>
          <p:nvSpPr>
            <p:cNvPr id="20" name="Text Box 38"/>
            <p:cNvSpPr txBox="1">
              <a:spLocks noChangeArrowheads="1"/>
            </p:cNvSpPr>
            <p:nvPr/>
          </p:nvSpPr>
          <p:spPr bwMode="auto">
            <a:xfrm>
              <a:off x="3088761" y="4017347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4</a:t>
              </a:r>
            </a:p>
          </p:txBody>
        </p:sp>
        <p:sp>
          <p:nvSpPr>
            <p:cNvPr id="21" name="Rectangle 39"/>
            <p:cNvSpPr>
              <a:spLocks noChangeArrowheads="1"/>
            </p:cNvSpPr>
            <p:nvPr/>
          </p:nvSpPr>
          <p:spPr bwMode="auto">
            <a:xfrm>
              <a:off x="1412361" y="3802917"/>
              <a:ext cx="609600" cy="214429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2" name="Text Box 40"/>
            <p:cNvSpPr txBox="1">
              <a:spLocks noChangeArrowheads="1"/>
            </p:cNvSpPr>
            <p:nvPr/>
          </p:nvSpPr>
          <p:spPr bwMode="auto">
            <a:xfrm>
              <a:off x="1336161" y="3400652"/>
              <a:ext cx="806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dirty="0">
                  <a:latin typeface="Comic Sans MS" pitchFamily="66" charset="0"/>
                </a:rPr>
                <a:t>P1 (2)</a:t>
              </a: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17BDA70-FEA4-64C3-054A-5CDEB7B51C1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6886575" cy="69176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SJF &amp; SRTF – Example 5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xfrm>
            <a:off x="342605" y="978194"/>
            <a:ext cx="8659881" cy="5576593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  <a:tabLst>
                <a:tab pos="3032125" algn="ctr"/>
                <a:tab pos="4635500" algn="ctr"/>
              </a:tabLst>
            </a:pPr>
            <a:r>
              <a:rPr lang="en-US" sz="2000" dirty="0"/>
              <a:t>	</a:t>
            </a:r>
            <a:r>
              <a:rPr lang="en-US" sz="2300" dirty="0"/>
              <a:t>Draw graph (Gantt chart) &amp; compute Wait time &amp; Turn Around time for processes using </a:t>
            </a:r>
            <a:r>
              <a:rPr kumimoji="0" lang="en-US" b="1" dirty="0">
                <a:solidFill>
                  <a:srgbClr val="FF0000"/>
                </a:solidFill>
              </a:rPr>
              <a:t>SJF</a:t>
            </a:r>
            <a:r>
              <a:rPr lang="en-US" sz="2300" dirty="0"/>
              <a:t> &amp; </a:t>
            </a:r>
            <a:r>
              <a:rPr kumimoji="0" lang="en-US" b="1" dirty="0">
                <a:solidFill>
                  <a:srgbClr val="FF0000"/>
                </a:solidFill>
              </a:rPr>
              <a:t>SRTF</a:t>
            </a:r>
            <a:r>
              <a:rPr lang="en-US" sz="2300" dirty="0"/>
              <a:t>.</a:t>
            </a:r>
          </a:p>
          <a:p>
            <a:pPr>
              <a:spcBef>
                <a:spcPts val="600"/>
              </a:spcBef>
              <a:tabLst>
                <a:tab pos="3032125" algn="ctr"/>
                <a:tab pos="4635500" algn="ctr"/>
              </a:tabLst>
            </a:pPr>
            <a:endParaRPr lang="en-US" sz="2300" dirty="0"/>
          </a:p>
          <a:p>
            <a:pPr marL="690563" indent="-228600">
              <a:spcBef>
                <a:spcPts val="600"/>
              </a:spcBef>
              <a:buFontTx/>
              <a:buNone/>
              <a:tabLst>
                <a:tab pos="3032125" algn="ctr"/>
                <a:tab pos="5486400" algn="ctr"/>
              </a:tabLst>
            </a:pPr>
            <a:r>
              <a:rPr lang="en-US" sz="2000" b="1" u="sng" dirty="0"/>
              <a:t>Process</a:t>
            </a:r>
            <a:r>
              <a:rPr lang="en-US" sz="2000" b="1" dirty="0"/>
              <a:t>	</a:t>
            </a:r>
            <a:r>
              <a:rPr lang="en-US" sz="2000" b="1" u="sng" dirty="0"/>
              <a:t>Arrival Time</a:t>
            </a:r>
            <a:r>
              <a:rPr lang="en-US" sz="2000" b="1" dirty="0"/>
              <a:t>	</a:t>
            </a:r>
            <a:r>
              <a:rPr lang="en-US" sz="2000" b="1" u="sng" dirty="0"/>
              <a:t>Burst Time</a:t>
            </a:r>
          </a:p>
          <a:p>
            <a:pPr marL="9144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000" dirty="0"/>
              <a:t>P1	0		8</a:t>
            </a:r>
          </a:p>
          <a:p>
            <a:pPr marL="9144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000" dirty="0"/>
              <a:t>P2 	1		4</a:t>
            </a:r>
          </a:p>
          <a:p>
            <a:pPr marL="9144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000" dirty="0"/>
              <a:t>P3	2		9</a:t>
            </a:r>
          </a:p>
          <a:p>
            <a:pPr marL="9144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000" dirty="0"/>
              <a:t>P4	3		5</a:t>
            </a:r>
          </a:p>
          <a:p>
            <a:pPr marL="228600" indent="-228600">
              <a:spcBef>
                <a:spcPts val="18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200" b="1" dirty="0"/>
              <a:t>    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0C16A88-5702-89B9-F8EE-776B97C20DB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313126" y="76200"/>
            <a:ext cx="6886575" cy="7212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SJF &amp; SRTF – Example 6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478465" y="1158948"/>
            <a:ext cx="8367823" cy="4486939"/>
          </a:xfrm>
          <a:noFill/>
          <a:ln/>
        </p:spPr>
        <p:txBody>
          <a:bodyPr/>
          <a:lstStyle/>
          <a:p>
            <a:pPr>
              <a:tabLst>
                <a:tab pos="3032125" algn="ctr"/>
                <a:tab pos="4635500" algn="ctr"/>
              </a:tabLst>
            </a:pPr>
            <a:r>
              <a:rPr lang="en-US" sz="2400" dirty="0"/>
              <a:t>	Draw the graph (Gantt chart)  and compute wait time and turn around time for following processes, using  </a:t>
            </a:r>
            <a:r>
              <a:rPr kumimoji="0" lang="en-US" b="1" dirty="0">
                <a:solidFill>
                  <a:srgbClr val="FF0000"/>
                </a:solidFill>
              </a:rPr>
              <a:t>SJF</a:t>
            </a:r>
            <a:r>
              <a:rPr lang="en-US" sz="2400" dirty="0"/>
              <a:t>  &amp;  </a:t>
            </a:r>
            <a:r>
              <a:rPr kumimoji="0" lang="en-US" b="1" dirty="0">
                <a:solidFill>
                  <a:srgbClr val="FF0000"/>
                </a:solidFill>
              </a:rPr>
              <a:t>SRTF</a:t>
            </a:r>
            <a:r>
              <a:rPr lang="en-US" sz="2400" dirty="0"/>
              <a:t>. 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endParaRPr lang="en-US" sz="2400" b="1" u="sng" dirty="0"/>
          </a:p>
          <a:p>
            <a:pPr marL="228600" indent="-228600">
              <a:buFontTx/>
              <a:buNone/>
              <a:tabLst>
                <a:tab pos="3032125" algn="ctr"/>
                <a:tab pos="5486400" algn="ctr"/>
              </a:tabLst>
            </a:pPr>
            <a:r>
              <a:rPr lang="en-US" sz="2400" b="1" u="sng" dirty="0"/>
              <a:t>Process</a:t>
            </a:r>
            <a:r>
              <a:rPr lang="en-US" sz="2400" b="1" dirty="0"/>
              <a:t>	</a:t>
            </a:r>
            <a:r>
              <a:rPr lang="en-US" sz="2400" b="1" u="sng" dirty="0"/>
              <a:t>Arrival Time</a:t>
            </a:r>
            <a:r>
              <a:rPr lang="en-US" sz="2400" b="1" dirty="0"/>
              <a:t>	</a:t>
            </a:r>
            <a:r>
              <a:rPr lang="en-US" sz="2400" b="1" u="sng" dirty="0"/>
              <a:t>Burst Time</a:t>
            </a:r>
          </a:p>
          <a:p>
            <a:pPr marL="4572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P1	0		5</a:t>
            </a:r>
          </a:p>
          <a:p>
            <a:pPr marL="4572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P2 	1		2</a:t>
            </a:r>
          </a:p>
          <a:p>
            <a:pPr marL="4572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P3	2		3</a:t>
            </a:r>
          </a:p>
          <a:p>
            <a:pPr marL="4572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P4	3		1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BAFC5F1-97FD-1955-E4BC-0E42AB5EA76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7299251" cy="689344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SJF &amp; SRTF – Example 7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499730" y="1095152"/>
            <a:ext cx="8479170" cy="4391247"/>
          </a:xfrm>
          <a:noFill/>
          <a:ln/>
        </p:spPr>
        <p:txBody>
          <a:bodyPr/>
          <a:lstStyle/>
          <a:p>
            <a:pPr>
              <a:tabLst>
                <a:tab pos="3032125" algn="ctr"/>
                <a:tab pos="4635500" algn="ctr"/>
              </a:tabLst>
            </a:pPr>
            <a:r>
              <a:rPr lang="en-US" sz="2400" dirty="0"/>
              <a:t>	Draw the graph (Gantt chart), and compute wait time &amp; turn around time for following processes, using  </a:t>
            </a:r>
            <a:r>
              <a:rPr kumimoji="0" lang="en-US" b="1" dirty="0">
                <a:solidFill>
                  <a:srgbClr val="FF0000"/>
                </a:solidFill>
              </a:rPr>
              <a:t>SJF</a:t>
            </a:r>
            <a:r>
              <a:rPr lang="en-US" sz="2400" dirty="0"/>
              <a:t>  &amp;  </a:t>
            </a:r>
            <a:r>
              <a:rPr kumimoji="0" lang="en-US" b="1" dirty="0">
                <a:solidFill>
                  <a:srgbClr val="FF0000"/>
                </a:solidFill>
              </a:rPr>
              <a:t>SRTF</a:t>
            </a:r>
            <a:r>
              <a:rPr lang="en-US" sz="2400" dirty="0"/>
              <a:t>. 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endParaRPr lang="en-US" sz="2400" b="1" u="sng" dirty="0"/>
          </a:p>
          <a:p>
            <a:pPr marL="228600" indent="-228600">
              <a:buFontTx/>
              <a:buNone/>
              <a:tabLst>
                <a:tab pos="3032125" algn="ctr"/>
                <a:tab pos="5538788" algn="ctr"/>
              </a:tabLst>
            </a:pPr>
            <a:r>
              <a:rPr lang="en-US" sz="2400" b="1" u="sng" dirty="0"/>
              <a:t>Process</a:t>
            </a:r>
            <a:r>
              <a:rPr lang="en-US" sz="2400" b="1" dirty="0"/>
              <a:t>	</a:t>
            </a:r>
            <a:r>
              <a:rPr lang="en-US" sz="2400" b="1" u="sng" dirty="0"/>
              <a:t>Arrival Time</a:t>
            </a:r>
            <a:r>
              <a:rPr lang="en-US" sz="2400" b="1" dirty="0"/>
              <a:t>	</a:t>
            </a:r>
            <a:r>
              <a:rPr lang="en-US" sz="2400" b="1" u="sng" dirty="0"/>
              <a:t>Burst Time</a:t>
            </a:r>
          </a:p>
          <a:p>
            <a:pPr marL="457200" indent="-233363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P1	0		9</a:t>
            </a:r>
          </a:p>
          <a:p>
            <a:pPr marL="457200" indent="-233363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P2 	3		6</a:t>
            </a:r>
          </a:p>
          <a:p>
            <a:pPr marL="457200" indent="-233363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P3	6		2</a:t>
            </a:r>
          </a:p>
          <a:p>
            <a:pPr marL="457200" indent="-233363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P4	9		1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3297A5B-4724-4377-DB28-F5AEA006620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59871"/>
            <a:ext cx="7626804" cy="716306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Priority Scheduling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80882" y="1019307"/>
            <a:ext cx="8549758" cy="5594853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300" b="1" dirty="0">
                <a:solidFill>
                  <a:srgbClr val="FF0000"/>
                </a:solidFill>
              </a:rPr>
              <a:t>Priority number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(integer) </a:t>
            </a:r>
            <a:r>
              <a:rPr lang="en-US" sz="2300" dirty="0"/>
              <a:t>associated with each process</a:t>
            </a:r>
          </a:p>
          <a:p>
            <a:pPr>
              <a:spcBef>
                <a:spcPts val="1200"/>
              </a:spcBef>
            </a:pPr>
            <a:r>
              <a:rPr lang="en-US" sz="2300" dirty="0"/>
              <a:t>CPU allocated to process with highest priority </a:t>
            </a:r>
            <a:br>
              <a:rPr lang="en-US" sz="2300" dirty="0"/>
            </a:br>
            <a:r>
              <a:rPr lang="en-US" sz="2300" dirty="0"/>
              <a:t>	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(smallest integer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  highest priority)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ym typeface="Symbol" pitchFamily="18" charset="2"/>
              </a:rPr>
              <a:t>Priority scheduling can be preemptive or non-preemptive…</a:t>
            </a:r>
          </a:p>
          <a:p>
            <a:pPr marL="690563" lvl="1" indent="-234950">
              <a:spcBef>
                <a:spcPts val="1200"/>
              </a:spcBef>
            </a:pPr>
            <a:r>
              <a:rPr kumimoji="0" lang="en-US" b="1" dirty="0">
                <a:solidFill>
                  <a:srgbClr val="FF0000"/>
                </a:solidFill>
              </a:rPr>
              <a:t>Preemptive  </a:t>
            </a:r>
            <a:r>
              <a:rPr lang="en-US" dirty="0"/>
              <a:t>–  preempts CPU, if priority of new process higher</a:t>
            </a:r>
          </a:p>
          <a:p>
            <a:pPr marL="455613" lvl="1" indent="0">
              <a:spcBef>
                <a:spcPts val="600"/>
              </a:spcBef>
              <a:buNone/>
            </a:pPr>
            <a:r>
              <a:rPr lang="en-US" dirty="0"/>
              <a:t>		          than current process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dirty="0"/>
              <a:t>		</a:t>
            </a:r>
            <a:r>
              <a:rPr lang="en-US" sz="2100" dirty="0"/>
              <a:t>          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(SRTF priority is predicted next CPU burst time)</a:t>
            </a:r>
          </a:p>
          <a:p>
            <a:pPr marL="690563" lvl="1" indent="-234950">
              <a:spcBef>
                <a:spcPts val="1200"/>
              </a:spcBef>
            </a:pPr>
            <a:r>
              <a:rPr kumimoji="0" lang="en-US" b="1" dirty="0">
                <a:solidFill>
                  <a:srgbClr val="FF0000"/>
                </a:solidFill>
              </a:rPr>
              <a:t>Non</a:t>
            </a:r>
            <a:r>
              <a:rPr lang="en-US" b="1" dirty="0"/>
              <a:t> </a:t>
            </a:r>
            <a:r>
              <a:rPr kumimoji="0" lang="en-US" b="1" dirty="0">
                <a:solidFill>
                  <a:srgbClr val="FF0000"/>
                </a:solidFill>
              </a:rPr>
              <a:t>preemptive  </a:t>
            </a:r>
            <a:r>
              <a:rPr lang="en-US" dirty="0"/>
              <a:t>–  puts new process at tail of RQ</a:t>
            </a:r>
          </a:p>
          <a:p>
            <a:pPr>
              <a:spcBef>
                <a:spcPts val="1800"/>
              </a:spcBef>
            </a:pPr>
            <a:r>
              <a:rPr lang="en-US" sz="2300" dirty="0"/>
              <a:t>Problem  </a:t>
            </a:r>
            <a:r>
              <a:rPr lang="en-US" sz="2300" dirty="0">
                <a:latin typeface="Abadi" panose="020B0604020104020204" pitchFamily="34" charset="0"/>
                <a:sym typeface="Symbol" pitchFamily="18" charset="2"/>
              </a:rPr>
              <a:t>→</a:t>
            </a:r>
            <a:r>
              <a:rPr lang="en-US" sz="2300" dirty="0">
                <a:sym typeface="Symbol" pitchFamily="18" charset="2"/>
              </a:rPr>
              <a:t>  </a:t>
            </a:r>
            <a:r>
              <a:rPr kumimoji="0" lang="en-US" sz="2300" b="1" dirty="0">
                <a:solidFill>
                  <a:srgbClr val="FF0000"/>
                </a:solidFill>
                <a:sym typeface="Symbol" pitchFamily="18" charset="2"/>
              </a:rPr>
              <a:t>Starvation</a:t>
            </a:r>
            <a:r>
              <a:rPr lang="en-US" sz="2300" dirty="0">
                <a:sym typeface="Symbol" pitchFamily="18" charset="2"/>
              </a:rPr>
              <a:t> / </a:t>
            </a:r>
            <a:r>
              <a:rPr kumimoji="0" lang="en-US" sz="2300" b="1" dirty="0">
                <a:solidFill>
                  <a:srgbClr val="FF0000"/>
                </a:solidFill>
                <a:sym typeface="Symbol" pitchFamily="18" charset="2"/>
              </a:rPr>
              <a:t>Indefinite Blocking </a:t>
            </a:r>
            <a:br>
              <a:rPr lang="en-US" sz="2300" dirty="0">
                <a:sym typeface="Symbol" pitchFamily="18" charset="2"/>
              </a:rPr>
            </a:br>
            <a:r>
              <a:rPr lang="en-US" sz="2300" dirty="0">
                <a:sym typeface="Symbol" pitchFamily="18" charset="2"/>
              </a:rPr>
              <a:t>	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(low priority processes may be delayed or never executed)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ym typeface="Symbol" pitchFamily="18" charset="2"/>
              </a:rPr>
              <a:t>Solution  </a:t>
            </a:r>
            <a:r>
              <a:rPr lang="en-US" sz="2300" dirty="0">
                <a:latin typeface="Abadi" panose="020B0604020104020204" pitchFamily="34" charset="0"/>
                <a:sym typeface="Symbol" pitchFamily="18" charset="2"/>
              </a:rPr>
              <a:t>→</a:t>
            </a:r>
            <a:r>
              <a:rPr lang="en-US" sz="2300" dirty="0">
                <a:sym typeface="Symbol" pitchFamily="18" charset="2"/>
              </a:rPr>
              <a:t>  </a:t>
            </a:r>
            <a:r>
              <a:rPr kumimoji="0" lang="en-US" sz="2300" b="1" dirty="0">
                <a:solidFill>
                  <a:srgbClr val="FF0000"/>
                </a:solidFill>
                <a:sym typeface="Symbol" pitchFamily="18" charset="2"/>
              </a:rPr>
              <a:t>Aging</a:t>
            </a:r>
            <a:r>
              <a:rPr lang="en-US" sz="2300" dirty="0">
                <a:sym typeface="Symbol" pitchFamily="18" charset="2"/>
              </a:rPr>
              <a:t> 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(gradually increase priority of processes that wait for long time)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CBC58F2-4CAF-9F22-E282-AC06985EF2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13396" y="76200"/>
            <a:ext cx="8153400" cy="689344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Priority Scheduling – Example 8</a:t>
            </a:r>
          </a:p>
        </p:txBody>
      </p:sp>
      <p:graphicFrame>
        <p:nvGraphicFramePr>
          <p:cNvPr id="7" name="Group 5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094188"/>
              </p:ext>
            </p:extLst>
          </p:nvPr>
        </p:nvGraphicFramePr>
        <p:xfrm>
          <a:off x="748211" y="1470146"/>
          <a:ext cx="7643949" cy="2106175"/>
        </p:xfrm>
        <a:graphic>
          <a:graphicData uri="http://schemas.openxmlformats.org/drawingml/2006/table">
            <a:tbl>
              <a:tblPr/>
              <a:tblGrid>
                <a:gridCol w="187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2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Arrival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2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2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2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2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Box 46"/>
          <p:cNvSpPr txBox="1">
            <a:spLocks noChangeArrowheads="1"/>
          </p:cNvSpPr>
          <p:nvPr/>
        </p:nvSpPr>
        <p:spPr bwMode="auto">
          <a:xfrm>
            <a:off x="752553" y="5048261"/>
            <a:ext cx="2387192" cy="1554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P2 waiting time: 0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P4 waiting time: 8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P3 waiting time: 11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P1 waiting time: 18</a:t>
            </a:r>
          </a:p>
        </p:txBody>
      </p:sp>
      <p:sp>
        <p:nvSpPr>
          <p:cNvPr id="21" name="Text Box 47"/>
          <p:cNvSpPr txBox="1">
            <a:spLocks noChangeArrowheads="1"/>
          </p:cNvSpPr>
          <p:nvPr/>
        </p:nvSpPr>
        <p:spPr bwMode="auto">
          <a:xfrm>
            <a:off x="3962400" y="5155686"/>
            <a:ext cx="3746538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Average waiting time (AWT): </a:t>
            </a:r>
          </a:p>
          <a:p>
            <a:pPr algn="ctr"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(0+8+11+18)/4 = 9.25</a:t>
            </a:r>
          </a:p>
          <a:p>
            <a:pPr algn="ctr" eaLnBrk="0" hangingPunct="0">
              <a:spcBef>
                <a:spcPts val="600"/>
              </a:spcBef>
            </a:pPr>
            <a:r>
              <a:rPr lang="en-US" sz="2000" dirty="0">
                <a:latin typeface="Comic Sans MS" pitchFamily="66" charset="0"/>
              </a:rPr>
              <a:t>(worse than SJF’s)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E50C2C-E232-3F38-6A10-49E03684BCDB}"/>
              </a:ext>
            </a:extLst>
          </p:cNvPr>
          <p:cNvGrpSpPr/>
          <p:nvPr/>
        </p:nvGrpSpPr>
        <p:grpSpPr>
          <a:xfrm>
            <a:off x="446405" y="3906006"/>
            <a:ext cx="8483669" cy="1024652"/>
            <a:chOff x="517525" y="4058406"/>
            <a:chExt cx="8483669" cy="1024652"/>
          </a:xfrm>
        </p:grpSpPr>
        <p:sp>
          <p:nvSpPr>
            <p:cNvPr id="8" name="Line 35"/>
            <p:cNvSpPr>
              <a:spLocks noChangeShapeType="1"/>
            </p:cNvSpPr>
            <p:nvPr/>
          </p:nvSpPr>
          <p:spPr bwMode="auto">
            <a:xfrm>
              <a:off x="604520" y="4637526"/>
              <a:ext cx="822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0" name="Text Box 36"/>
            <p:cNvSpPr txBox="1">
              <a:spLocks noChangeArrowheads="1"/>
            </p:cNvSpPr>
            <p:nvPr/>
          </p:nvSpPr>
          <p:spPr bwMode="auto">
            <a:xfrm>
              <a:off x="517525" y="4674039"/>
              <a:ext cx="3257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0</a:t>
              </a:r>
            </a:p>
          </p:txBody>
        </p:sp>
        <p:sp>
          <p:nvSpPr>
            <p:cNvPr id="11" name="Rectangle 37"/>
            <p:cNvSpPr>
              <a:spLocks noChangeArrowheads="1"/>
            </p:cNvSpPr>
            <p:nvPr/>
          </p:nvSpPr>
          <p:spPr bwMode="auto">
            <a:xfrm>
              <a:off x="3119120" y="4439405"/>
              <a:ext cx="1066800" cy="210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3048000" y="4713726"/>
              <a:ext cx="3257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8</a:t>
              </a:r>
            </a:p>
          </p:txBody>
        </p:sp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3352800" y="4058406"/>
              <a:ext cx="8258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P4 (3)</a:t>
              </a:r>
            </a:p>
          </p:txBody>
        </p:sp>
        <p:sp>
          <p:nvSpPr>
            <p:cNvPr id="14" name="Rectangle 40"/>
            <p:cNvSpPr>
              <a:spLocks noChangeArrowheads="1"/>
            </p:cNvSpPr>
            <p:nvPr/>
          </p:nvSpPr>
          <p:spPr bwMode="auto">
            <a:xfrm>
              <a:off x="6548120" y="4439405"/>
              <a:ext cx="2362200" cy="210185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5" name="Text Box 41"/>
            <p:cNvSpPr txBox="1">
              <a:spLocks noChangeArrowheads="1"/>
            </p:cNvSpPr>
            <p:nvPr/>
          </p:nvSpPr>
          <p:spPr bwMode="auto">
            <a:xfrm>
              <a:off x="7620000" y="4058406"/>
              <a:ext cx="806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P1 (6)</a:t>
              </a:r>
            </a:p>
          </p:txBody>
        </p:sp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4114800" y="4713726"/>
              <a:ext cx="39305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4185920" y="4439405"/>
              <a:ext cx="2362200" cy="21018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5181600" y="4058406"/>
              <a:ext cx="8258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P3 (7)</a:t>
              </a:r>
            </a:p>
          </p:txBody>
        </p:sp>
        <p:sp>
          <p:nvSpPr>
            <p:cNvPr id="19" name="Text Box 45"/>
            <p:cNvSpPr txBox="1">
              <a:spLocks noChangeArrowheads="1"/>
            </p:cNvSpPr>
            <p:nvPr/>
          </p:nvSpPr>
          <p:spPr bwMode="auto">
            <a:xfrm>
              <a:off x="6324600" y="4713726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18</a:t>
              </a: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604520" y="4439405"/>
              <a:ext cx="2514600" cy="21018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3" name="Text Box 49"/>
            <p:cNvSpPr txBox="1">
              <a:spLocks noChangeArrowheads="1"/>
            </p:cNvSpPr>
            <p:nvPr/>
          </p:nvSpPr>
          <p:spPr bwMode="auto">
            <a:xfrm>
              <a:off x="1219200" y="4058406"/>
              <a:ext cx="8258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P2 (8)</a:t>
              </a:r>
            </a:p>
          </p:txBody>
        </p:sp>
        <p:sp>
          <p:nvSpPr>
            <p:cNvPr id="24" name="Text Box 50"/>
            <p:cNvSpPr txBox="1">
              <a:spLocks noChangeArrowheads="1"/>
            </p:cNvSpPr>
            <p:nvPr/>
          </p:nvSpPr>
          <p:spPr bwMode="auto">
            <a:xfrm>
              <a:off x="8534400" y="4637526"/>
              <a:ext cx="4667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Comic Sans MS" pitchFamily="66" charset="0"/>
                </a:rPr>
                <a:t>24</a:t>
              </a:r>
            </a:p>
          </p:txBody>
        </p:sp>
      </p:grpSp>
      <p:sp>
        <p:nvSpPr>
          <p:cNvPr id="25" name="Text Box 53"/>
          <p:cNvSpPr txBox="1">
            <a:spLocks noChangeArrowheads="1"/>
          </p:cNvSpPr>
          <p:nvPr/>
        </p:nvSpPr>
        <p:spPr bwMode="auto">
          <a:xfrm>
            <a:off x="4191000" y="1000246"/>
            <a:ext cx="43204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latin typeface="Comic Sans MS" pitchFamily="66" charset="0"/>
              </a:rPr>
              <a:t>Lower priority #   ==   More important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13B9CCB-90E2-F448-4404-EC09197F4F7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7299251" cy="689344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Priority Scheduling – Example 9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499730" y="1095152"/>
            <a:ext cx="8479170" cy="4391247"/>
          </a:xfrm>
          <a:noFill/>
          <a:ln/>
        </p:spPr>
        <p:txBody>
          <a:bodyPr/>
          <a:lstStyle/>
          <a:p>
            <a:pPr>
              <a:tabLst>
                <a:tab pos="3032125" algn="ctr"/>
                <a:tab pos="4635500" algn="ctr"/>
              </a:tabLst>
            </a:pPr>
            <a:r>
              <a:rPr lang="en-US" sz="2400" dirty="0"/>
              <a:t>	Draw the graph (Gantt chart), and compute wait time &amp; turn around time for following processes, using  </a:t>
            </a:r>
            <a:r>
              <a:rPr kumimoji="0" lang="en-US" b="1" dirty="0">
                <a:solidFill>
                  <a:srgbClr val="FF0000"/>
                </a:solidFill>
              </a:rPr>
              <a:t>Priority scheduling</a:t>
            </a:r>
            <a:r>
              <a:rPr lang="en-US" sz="2400" dirty="0"/>
              <a:t> 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endParaRPr lang="en-US" sz="2400" b="1" u="sng" dirty="0"/>
          </a:p>
          <a:p>
            <a:pPr marL="228600" indent="-228600">
              <a:buFontTx/>
              <a:buNone/>
              <a:tabLst>
                <a:tab pos="3032125" algn="ctr"/>
                <a:tab pos="5538788" algn="ctr"/>
              </a:tabLst>
            </a:pPr>
            <a:r>
              <a:rPr lang="en-US" sz="2400" b="1" u="sng" dirty="0"/>
              <a:t>Process</a:t>
            </a:r>
            <a:r>
              <a:rPr lang="en-US" b="1" dirty="0"/>
              <a:t>          </a:t>
            </a:r>
            <a:r>
              <a:rPr lang="en-US" b="1" u="sng" dirty="0"/>
              <a:t>Priority</a:t>
            </a:r>
            <a:r>
              <a:rPr lang="en-US" b="1" dirty="0"/>
              <a:t>          </a:t>
            </a:r>
            <a:r>
              <a:rPr lang="en-US" sz="2400" b="1" u="sng" dirty="0"/>
              <a:t>Arrival Time</a:t>
            </a:r>
            <a:r>
              <a:rPr lang="en-US" sz="2400" b="1" dirty="0"/>
              <a:t>	</a:t>
            </a:r>
            <a:r>
              <a:rPr lang="en-US" b="1" dirty="0"/>
              <a:t>       </a:t>
            </a:r>
            <a:r>
              <a:rPr lang="en-US" sz="2400" b="1" u="sng" dirty="0"/>
              <a:t>Burst Time</a:t>
            </a:r>
          </a:p>
          <a:p>
            <a:pPr marL="457200" indent="-233363" defTabSz="971550">
              <a:buFontTx/>
              <a:buNone/>
              <a:tabLst>
                <a:tab pos="2001838" algn="ctr"/>
                <a:tab pos="3941763" algn="ctr"/>
              </a:tabLst>
            </a:pPr>
            <a:r>
              <a:rPr lang="en-US" sz="2400" dirty="0"/>
              <a:t>P1	10	0		5</a:t>
            </a:r>
          </a:p>
          <a:p>
            <a:pPr marL="457200" indent="-233363" defTabSz="971550">
              <a:buFontTx/>
              <a:buNone/>
              <a:tabLst>
                <a:tab pos="2001838" algn="ctr"/>
                <a:tab pos="3941763" algn="ctr"/>
              </a:tabLst>
            </a:pPr>
            <a:r>
              <a:rPr lang="en-US" dirty="0"/>
              <a:t>P2	20	1		4</a:t>
            </a:r>
          </a:p>
          <a:p>
            <a:pPr marL="457200" indent="-233363" defTabSz="971550">
              <a:buFontTx/>
              <a:buNone/>
              <a:tabLst>
                <a:tab pos="2001838" algn="ctr"/>
                <a:tab pos="3941763" algn="ctr"/>
              </a:tabLst>
            </a:pPr>
            <a:r>
              <a:rPr lang="en-US" sz="2400" dirty="0"/>
              <a:t>P3	30	2		2</a:t>
            </a:r>
          </a:p>
          <a:p>
            <a:pPr marL="457200" indent="-233363" defTabSz="971550">
              <a:buFontTx/>
              <a:buNone/>
              <a:tabLst>
                <a:tab pos="2001838" algn="ctr"/>
                <a:tab pos="3941763" algn="ctr"/>
              </a:tabLst>
            </a:pPr>
            <a:r>
              <a:rPr lang="en-US" dirty="0"/>
              <a:t>P4	40	4		1</a:t>
            </a:r>
            <a:endParaRPr lang="en-US" sz="24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3297A5B-4724-4377-DB28-F5AEA006620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1102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418" y="43542"/>
            <a:ext cx="7627531" cy="71137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Round Robin (RR)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92459" y="1121852"/>
            <a:ext cx="8578821" cy="5553268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RR is </a:t>
            </a:r>
            <a:r>
              <a:rPr lang="en-US" dirty="0">
                <a:solidFill>
                  <a:srgbClr val="FF0000"/>
                </a:solidFill>
              </a:rPr>
              <a:t>Preemptive</a:t>
            </a:r>
            <a:r>
              <a:rPr lang="en-US" dirty="0"/>
              <a:t> algorithm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designed especially for </a:t>
            </a:r>
            <a:r>
              <a:rPr lang="en-US" i="1" dirty="0">
                <a:solidFill>
                  <a:srgbClr val="FF0000"/>
                </a:solidFill>
              </a:rPr>
              <a:t>time sharing </a:t>
            </a:r>
            <a:r>
              <a:rPr lang="en-US" dirty="0"/>
              <a:t>systems</a:t>
            </a:r>
          </a:p>
          <a:p>
            <a:pPr>
              <a:spcBef>
                <a:spcPts val="1800"/>
              </a:spcBef>
            </a:pPr>
            <a:r>
              <a:rPr lang="en-US" dirty="0"/>
              <a:t>Clock interrupt generated at periodic intervals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Time Quantum  or  </a:t>
            </a:r>
            <a:r>
              <a:rPr lang="en-US" i="1" dirty="0">
                <a:solidFill>
                  <a:srgbClr val="FF0000"/>
                </a:solidFill>
              </a:rPr>
              <a:t>Time Slice</a:t>
            </a:r>
          </a:p>
          <a:p>
            <a:pPr>
              <a:spcBef>
                <a:spcPts val="1800"/>
              </a:spcBef>
            </a:pPr>
            <a:r>
              <a:rPr lang="en-US" dirty="0"/>
              <a:t>Implementation by CPU scheduler…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maintain RQ as FIFO queue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add new process to tail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to select a process, pick the one at head of queue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set timer to interrupt after 1 time quantum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dispatch the process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AB511CF-FF5D-04B6-DB6F-97D6AE67B17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418" y="43542"/>
            <a:ext cx="7627531" cy="71137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Round Robin (RR)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47040" y="1107440"/>
            <a:ext cx="8555446" cy="5506720"/>
          </a:xfrm>
          <a:noFill/>
          <a:ln/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As process runs, one of two things will happen: </a:t>
            </a:r>
          </a:p>
          <a:p>
            <a:pPr>
              <a:spcBef>
                <a:spcPts val="1800"/>
              </a:spcBef>
            </a:pPr>
            <a:r>
              <a:rPr lang="en-US" dirty="0"/>
              <a:t>Current running process has </a:t>
            </a:r>
            <a:r>
              <a:rPr lang="en-US" dirty="0">
                <a:solidFill>
                  <a:srgbClr val="0070C0"/>
                </a:solidFill>
              </a:rPr>
              <a:t>CPU burst  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</a:t>
            </a:r>
            <a:r>
              <a:rPr lang="en-US" dirty="0">
                <a:solidFill>
                  <a:srgbClr val="FF0000"/>
                </a:solidFill>
              </a:rPr>
              <a:t>  1 time quantum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process itself releases CPU voluntarily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scheduler then proceeds to next process in RQ</a:t>
            </a:r>
          </a:p>
          <a:p>
            <a:pPr>
              <a:spcBef>
                <a:spcPts val="1800"/>
              </a:spcBef>
            </a:pPr>
            <a:r>
              <a:rPr lang="en-US" dirty="0"/>
              <a:t>Current running process has </a:t>
            </a:r>
            <a:r>
              <a:rPr lang="en-US" dirty="0">
                <a:solidFill>
                  <a:srgbClr val="0070C0"/>
                </a:solidFill>
              </a:rPr>
              <a:t>CPU burst  </a:t>
            </a:r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dirty="0">
                <a:solidFill>
                  <a:srgbClr val="FF0000"/>
                </a:solidFill>
              </a:rPr>
              <a:t>  1 time quantum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timer goes off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causes interrupt to OS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context switch executed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process put at tail of RQ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CPU scheduler then selects next process from RQ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AB511CF-FF5D-04B6-DB6F-97D6AE67B17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3788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418" y="76200"/>
            <a:ext cx="7494181" cy="67871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Performance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94351" y="1131068"/>
            <a:ext cx="8648776" cy="5472932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P</a:t>
            </a:r>
            <a:r>
              <a:rPr lang="en-US" sz="2400" dirty="0"/>
              <a:t>erformance of RR depends heavily on length of time quantum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rgbClr val="FF0000"/>
                </a:solidFill>
              </a:rPr>
              <a:t>if time quantum very large 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larger than largest CPU burst of any process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RR policy become FCFS policy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rgbClr val="FF0000"/>
                </a:solidFill>
              </a:rPr>
              <a:t>if time quantum very short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RR approach called processor sharing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short processes move through system relatively quickly</a:t>
            </a:r>
          </a:p>
          <a:p>
            <a:pPr>
              <a:spcBef>
                <a:spcPts val="1800"/>
              </a:spcBef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Limitation</a:t>
            </a:r>
          </a:p>
          <a:p>
            <a:pPr lvl="1" indent="-342900">
              <a:spcBef>
                <a:spcPts val="600"/>
              </a:spcBef>
            </a:pPr>
            <a:r>
              <a:rPr lang="en-US" dirty="0"/>
              <a:t>CPU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bound processes tend to receive unfair portion of time</a:t>
            </a:r>
          </a:p>
          <a:p>
            <a:pPr lvl="1" indent="-34290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poor performance of I/O bound processes</a:t>
            </a:r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1EBD5CA-6A3A-0805-A997-0DC209C75BB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444677" y="1111693"/>
            <a:ext cx="8557809" cy="515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Effect of Context Switch on Performance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Assume, a process of 10 time units…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Quantum – 12 time units </a:t>
            </a:r>
          </a:p>
          <a:p>
            <a:pPr marL="741363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finishes in less than 1 time quantum;  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overhead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Quantum –  6 time units</a:t>
            </a:r>
          </a:p>
          <a:p>
            <a:pPr marL="741363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requires 2 quanta;  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involves context switch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Quantum – 1 time unit</a:t>
            </a:r>
          </a:p>
          <a:p>
            <a:pPr marL="741363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9 context switches occur;  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slow execution of process</a:t>
            </a:r>
          </a:p>
          <a:p>
            <a:pPr>
              <a:spcBef>
                <a:spcPts val="2400"/>
              </a:spcBef>
            </a:pP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“Time quantum should be large w.r.t context switch time”</a:t>
            </a:r>
          </a:p>
          <a:p>
            <a:pPr marL="914400" lvl="1" indent="-284163">
              <a:spcBef>
                <a:spcPts val="1200"/>
              </a:spcBef>
              <a:buFont typeface="Symbol" panose="05050102010706020507" pitchFamily="18" charset="2"/>
              <a:buChar char="-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if context switch time is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approx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5% of time quantum</a:t>
            </a:r>
          </a:p>
          <a:p>
            <a:pPr marL="914400" lvl="1" indent="-284163">
              <a:spcBef>
                <a:spcPts val="600"/>
              </a:spcBef>
              <a:buFont typeface="Symbol" panose="05050102010706020507" pitchFamily="18" charset="2"/>
              <a:buChar char="-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about 5% of CPU time is spent in context switching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title"/>
          </p:nvPr>
        </p:nvSpPr>
        <p:spPr>
          <a:xfrm>
            <a:off x="1020726" y="-1"/>
            <a:ext cx="7742274" cy="76436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Performance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63DC2D-771C-9329-FE01-1506761618B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320211" y="76199"/>
            <a:ext cx="6886575" cy="712635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– Example 10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>
          <a:xfrm>
            <a:off x="425302" y="1158948"/>
            <a:ext cx="8413898" cy="4860851"/>
          </a:xfrm>
          <a:noFill/>
          <a:ln/>
        </p:spPr>
        <p:txBody>
          <a:bodyPr/>
          <a:lstStyle/>
          <a:p>
            <a:pPr>
              <a:tabLst>
                <a:tab pos="3032125" algn="ctr"/>
                <a:tab pos="4635500" algn="ctr"/>
              </a:tabLst>
            </a:pPr>
            <a:r>
              <a:rPr lang="en-US" dirty="0"/>
              <a:t>	Draw the graph (Gantt chart) and compute turn around time for the following processes using  </a:t>
            </a:r>
            <a:r>
              <a:rPr lang="en-US" b="1" dirty="0">
                <a:solidFill>
                  <a:srgbClr val="FF0000"/>
                </a:solidFill>
              </a:rPr>
              <a:t>RR</a:t>
            </a:r>
            <a:r>
              <a:rPr lang="en-US" dirty="0"/>
              <a:t>  Scheduling algorithm. Consider a time slice of 4 sec. Also find response time.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</a:t>
            </a:r>
          </a:p>
          <a:p>
            <a:pPr lvl="1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b="1" u="sng" dirty="0"/>
              <a:t>Process</a:t>
            </a:r>
            <a:r>
              <a:rPr lang="en-US" sz="2400" b="1" dirty="0"/>
              <a:t>	</a:t>
            </a:r>
            <a:r>
              <a:rPr lang="en-US" sz="2400" b="1" u="sng" dirty="0"/>
              <a:t>Arrival Time</a:t>
            </a:r>
            <a:r>
              <a:rPr lang="en-US" sz="2400" b="1" dirty="0"/>
              <a:t>	               </a:t>
            </a:r>
            <a:r>
              <a:rPr lang="en-US" sz="2400" b="1" u="sng" dirty="0"/>
              <a:t>Burst Time</a:t>
            </a:r>
          </a:p>
          <a:p>
            <a:pPr lvl="1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P1	0	                        16</a:t>
            </a:r>
          </a:p>
          <a:p>
            <a:pPr lvl="1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P2 	1		3</a:t>
            </a:r>
          </a:p>
          <a:p>
            <a:pPr lvl="1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P3	2		3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63D6A7B-F750-8AD2-C85B-A761AC67CFF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>
          <a:xfrm>
            <a:off x="1162051" y="76199"/>
            <a:ext cx="7301466" cy="668079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– Example 11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idx="1"/>
          </p:nvPr>
        </p:nvSpPr>
        <p:spPr>
          <a:xfrm>
            <a:off x="361507" y="1095152"/>
            <a:ext cx="8525318" cy="5579968"/>
          </a:xfrm>
          <a:noFill/>
          <a:ln/>
        </p:spPr>
        <p:txBody>
          <a:bodyPr/>
          <a:lstStyle/>
          <a:p>
            <a:pPr>
              <a:tabLst>
                <a:tab pos="3032125" algn="ctr"/>
                <a:tab pos="4635500" algn="ctr"/>
              </a:tabLst>
            </a:pPr>
            <a:r>
              <a:rPr lang="en-US" dirty="0"/>
              <a:t>	Draw the graph (Gantt chart)  and compute turn around time for following processes using </a:t>
            </a:r>
            <a:r>
              <a:rPr lang="en-US" b="1" dirty="0">
                <a:solidFill>
                  <a:srgbClr val="FF0000"/>
                </a:solidFill>
              </a:rPr>
              <a:t>RR</a:t>
            </a:r>
            <a:r>
              <a:rPr lang="en-US" dirty="0"/>
              <a:t> Scheduling algo. Consider a time slice of 3 sec. Also find response time.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</a:t>
            </a:r>
            <a:r>
              <a:rPr lang="en-US" b="1" u="sng" dirty="0"/>
              <a:t>Process</a:t>
            </a:r>
            <a:r>
              <a:rPr lang="en-US" b="1" dirty="0"/>
              <a:t>	</a:t>
            </a:r>
            <a:r>
              <a:rPr lang="en-US" b="1" u="sng" dirty="0"/>
              <a:t>Arrival Time</a:t>
            </a:r>
            <a:r>
              <a:rPr lang="en-US" b="1" dirty="0"/>
              <a:t>	                </a:t>
            </a:r>
            <a:r>
              <a:rPr lang="en-US" b="1" u="sng" dirty="0"/>
              <a:t>Burst Time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P1	0		8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P2 	2		4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P3	3		2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P4	6		5</a:t>
            </a:r>
          </a:p>
          <a:p>
            <a:pPr marL="228600" indent="-228600">
              <a:buFontTx/>
              <a:buNone/>
              <a:tabLst>
                <a:tab pos="3032125" algn="ctr"/>
                <a:tab pos="4635500" algn="ctr"/>
              </a:tabLst>
            </a:pPr>
            <a:endParaRPr lang="en-US" b="1" u="sng" dirty="0"/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200" b="1" u="sng" dirty="0">
                <a:solidFill>
                  <a:srgbClr val="FF0000"/>
                </a:solidFill>
              </a:rPr>
              <a:t>NOTE</a:t>
            </a:r>
            <a:r>
              <a:rPr lang="en-US" sz="2200" dirty="0">
                <a:solidFill>
                  <a:srgbClr val="FF0000"/>
                </a:solidFill>
              </a:rPr>
              <a:t>:   Priority of placing process in Ready Queue</a:t>
            </a:r>
          </a:p>
          <a:p>
            <a:pPr lvl="2">
              <a:spcBef>
                <a:spcPts val="600"/>
              </a:spcBef>
              <a:tabLst>
                <a:tab pos="3032125" algn="ctr"/>
                <a:tab pos="4635500" algn="ctr"/>
              </a:tabLst>
            </a:pPr>
            <a:r>
              <a:rPr lang="en-US" dirty="0">
                <a:solidFill>
                  <a:srgbClr val="FF0000"/>
                </a:solidFill>
              </a:rPr>
              <a:t>New Process</a:t>
            </a:r>
          </a:p>
          <a:p>
            <a:pPr lvl="2">
              <a:spcBef>
                <a:spcPts val="600"/>
              </a:spcBef>
              <a:tabLst>
                <a:tab pos="3032125" algn="ctr"/>
                <a:tab pos="4635500" algn="ctr"/>
              </a:tabLst>
            </a:pPr>
            <a:r>
              <a:rPr lang="en-US" dirty="0">
                <a:solidFill>
                  <a:srgbClr val="FF0000"/>
                </a:solidFill>
              </a:rPr>
              <a:t>Running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32A9797-BC2A-6C49-25F0-8BF874FE5F2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066800" y="76199"/>
            <a:ext cx="7396716" cy="69997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with I/O – Example 12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idx="1"/>
          </p:nvPr>
        </p:nvSpPr>
        <p:spPr>
          <a:xfrm>
            <a:off x="382769" y="1063725"/>
            <a:ext cx="8532961" cy="5627336"/>
          </a:xfrm>
          <a:noFill/>
          <a:ln/>
        </p:spPr>
        <p:txBody>
          <a:bodyPr>
            <a:noAutofit/>
          </a:bodyPr>
          <a:lstStyle/>
          <a:p>
            <a:pPr>
              <a:spcBef>
                <a:spcPts val="600"/>
              </a:spcBef>
              <a:tabLst>
                <a:tab pos="3032125" algn="ctr"/>
                <a:tab pos="4635500" algn="ctr"/>
              </a:tabLst>
            </a:pPr>
            <a:r>
              <a:rPr lang="en-US" sz="2300" dirty="0"/>
              <a:t>	Draw the graph </a:t>
            </a:r>
            <a:r>
              <a:rPr lang="en-US" sz="2300" dirty="0">
                <a:solidFill>
                  <a:srgbClr val="FF0000"/>
                </a:solidFill>
              </a:rPr>
              <a:t>(Gantt chart) </a:t>
            </a:r>
            <a:r>
              <a:rPr lang="en-US" sz="2300" dirty="0"/>
              <a:t>&amp; compute turn around time for processes using </a:t>
            </a:r>
            <a:r>
              <a:rPr lang="en-US" sz="2300" b="1" dirty="0">
                <a:solidFill>
                  <a:srgbClr val="FF0000"/>
                </a:solidFill>
              </a:rPr>
              <a:t>RR</a:t>
            </a:r>
            <a:r>
              <a:rPr lang="en-US" sz="2300" dirty="0"/>
              <a:t>. Consider time slice of 3 sec. Every </a:t>
            </a:r>
            <a:r>
              <a:rPr lang="en-US" sz="2300" b="1" dirty="0">
                <a:solidFill>
                  <a:srgbClr val="FF0000"/>
                </a:solidFill>
              </a:rPr>
              <a:t>even</a:t>
            </a:r>
            <a:r>
              <a:rPr lang="en-US" sz="2300" dirty="0"/>
              <a:t> </a:t>
            </a:r>
            <a:r>
              <a:rPr lang="en-US" sz="2300" b="1" dirty="0">
                <a:solidFill>
                  <a:srgbClr val="FF0000"/>
                </a:solidFill>
              </a:rPr>
              <a:t>number</a:t>
            </a:r>
            <a:r>
              <a:rPr lang="en-US" sz="2300" dirty="0"/>
              <a:t> </a:t>
            </a:r>
            <a:r>
              <a:rPr lang="en-US" sz="2300" b="1" dirty="0">
                <a:solidFill>
                  <a:srgbClr val="FF0000"/>
                </a:solidFill>
              </a:rPr>
              <a:t>process</a:t>
            </a:r>
            <a:r>
              <a:rPr lang="en-US" sz="2300" dirty="0"/>
              <a:t> performs I/O after every 2 sec of its running life. I/O takes 10 seconds.</a:t>
            </a:r>
          </a:p>
          <a:p>
            <a:pPr marL="228600" indent="-228600">
              <a:spcBef>
                <a:spcPts val="12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  </a:t>
            </a:r>
            <a:r>
              <a:rPr lang="en-US" b="1" u="sng" dirty="0"/>
              <a:t>Process</a:t>
            </a:r>
            <a:r>
              <a:rPr lang="en-US" b="1" dirty="0"/>
              <a:t>	</a:t>
            </a:r>
            <a:r>
              <a:rPr lang="en-US" b="1" u="sng" dirty="0"/>
              <a:t>Arrival Time</a:t>
            </a:r>
            <a:r>
              <a:rPr lang="en-US" b="1" dirty="0"/>
              <a:t>	               </a:t>
            </a:r>
            <a:r>
              <a:rPr lang="en-US" b="1" u="sng" dirty="0"/>
              <a:t>Burst Time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    P1	0		8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    P2 	2		3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    P3	3		5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    P4	6		4</a:t>
            </a:r>
          </a:p>
          <a:p>
            <a:pPr marL="228600" indent="-228600">
              <a:spcBef>
                <a:spcPts val="18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200" b="1" u="sng" dirty="0">
                <a:solidFill>
                  <a:srgbClr val="FF0000"/>
                </a:solidFill>
              </a:rPr>
              <a:t>NOTE</a:t>
            </a:r>
            <a:r>
              <a:rPr lang="en-US" sz="2200" dirty="0">
                <a:solidFill>
                  <a:srgbClr val="FF0000"/>
                </a:solidFill>
              </a:rPr>
              <a:t>:   Priority of placing a process in Ready Queue</a:t>
            </a:r>
          </a:p>
          <a:p>
            <a:pPr lvl="2">
              <a:spcBef>
                <a:spcPts val="0"/>
              </a:spcBef>
              <a:tabLst>
                <a:tab pos="3032125" algn="ctr"/>
                <a:tab pos="4635500" algn="ctr"/>
              </a:tabLst>
            </a:pPr>
            <a:r>
              <a:rPr lang="en-US" dirty="0">
                <a:solidFill>
                  <a:srgbClr val="FF0000"/>
                </a:solidFill>
              </a:rPr>
              <a:t>New Process</a:t>
            </a:r>
          </a:p>
          <a:p>
            <a:pPr lvl="2">
              <a:spcBef>
                <a:spcPts val="0"/>
              </a:spcBef>
              <a:tabLst>
                <a:tab pos="3032125" algn="ctr"/>
                <a:tab pos="4635500" algn="ctr"/>
              </a:tabLst>
            </a:pPr>
            <a:r>
              <a:rPr lang="en-US" dirty="0">
                <a:solidFill>
                  <a:srgbClr val="FF0000"/>
                </a:solidFill>
              </a:rPr>
              <a:t>Blocked Process or I/O process</a:t>
            </a:r>
          </a:p>
          <a:p>
            <a:pPr lvl="2">
              <a:spcBef>
                <a:spcPts val="0"/>
              </a:spcBef>
              <a:tabLst>
                <a:tab pos="3032125" algn="ctr"/>
                <a:tab pos="4635500" algn="ctr"/>
              </a:tabLst>
            </a:pPr>
            <a:r>
              <a:rPr lang="en-US" sz="2400" dirty="0">
                <a:solidFill>
                  <a:srgbClr val="FF0000"/>
                </a:solidFill>
              </a:rPr>
              <a:t>Running Process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20D8C81-FD78-C050-2AFC-031C1C7AC30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idx="1"/>
          </p:nvPr>
        </p:nvSpPr>
        <p:spPr>
          <a:xfrm>
            <a:off x="382771" y="1041993"/>
            <a:ext cx="8575491" cy="4954772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  <a:tabLst>
                <a:tab pos="3032125" algn="ctr"/>
                <a:tab pos="4635500" algn="ctr"/>
              </a:tabLst>
            </a:pPr>
            <a:r>
              <a:rPr lang="en-US" sz="2400" dirty="0"/>
              <a:t>	</a:t>
            </a:r>
            <a:r>
              <a:rPr lang="en-US" sz="2300" dirty="0"/>
              <a:t>Draw the graph </a:t>
            </a:r>
            <a:r>
              <a:rPr lang="en-US" sz="2300" dirty="0">
                <a:solidFill>
                  <a:srgbClr val="FF0000"/>
                </a:solidFill>
              </a:rPr>
              <a:t>(Gantt chart)  </a:t>
            </a:r>
            <a:r>
              <a:rPr lang="en-US" sz="2300" dirty="0"/>
              <a:t>&amp; compute turn around time for processes using </a:t>
            </a:r>
            <a:r>
              <a:rPr lang="en-US" sz="2300" b="1" dirty="0">
                <a:solidFill>
                  <a:srgbClr val="FF0000"/>
                </a:solidFill>
              </a:rPr>
              <a:t>RR</a:t>
            </a:r>
            <a:r>
              <a:rPr lang="en-US" sz="2300" dirty="0"/>
              <a:t>. Consider time slice of 3 sec. Every </a:t>
            </a:r>
            <a:r>
              <a:rPr lang="en-US" sz="2300" b="1" dirty="0">
                <a:solidFill>
                  <a:srgbClr val="FF0000"/>
                </a:solidFill>
              </a:rPr>
              <a:t>odd</a:t>
            </a:r>
            <a:r>
              <a:rPr lang="en-US" sz="2300" dirty="0"/>
              <a:t> </a:t>
            </a:r>
            <a:r>
              <a:rPr lang="en-US" sz="2300" b="1" dirty="0">
                <a:solidFill>
                  <a:srgbClr val="FF0000"/>
                </a:solidFill>
              </a:rPr>
              <a:t>number</a:t>
            </a:r>
            <a:r>
              <a:rPr lang="en-US" sz="2300" dirty="0"/>
              <a:t> </a:t>
            </a:r>
            <a:r>
              <a:rPr lang="en-US" sz="2300" b="1" dirty="0">
                <a:solidFill>
                  <a:srgbClr val="FF0000"/>
                </a:solidFill>
              </a:rPr>
              <a:t>process</a:t>
            </a:r>
            <a:r>
              <a:rPr lang="en-US" sz="2300" dirty="0"/>
              <a:t> perform I/O after every 2 sec of its running life. I/O takes 10 seconds.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endParaRPr lang="en-US" sz="2400" dirty="0"/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 </a:t>
            </a:r>
            <a:r>
              <a:rPr lang="en-US" sz="2400" b="1" u="sng" dirty="0"/>
              <a:t>Process</a:t>
            </a:r>
            <a:r>
              <a:rPr lang="en-US" sz="2400" b="1" dirty="0"/>
              <a:t>	</a:t>
            </a:r>
            <a:r>
              <a:rPr lang="en-US" sz="2400" b="1" u="sng" dirty="0"/>
              <a:t>Arrival Time</a:t>
            </a:r>
            <a:r>
              <a:rPr lang="en-US" sz="2400" b="1" dirty="0"/>
              <a:t>	</a:t>
            </a:r>
            <a:r>
              <a:rPr lang="en-US" b="1" dirty="0"/>
              <a:t>                </a:t>
            </a:r>
            <a:r>
              <a:rPr lang="en-US" sz="2400" b="1" u="sng" dirty="0"/>
              <a:t>Burst Time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    P1	0		6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    P2 	2		3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    P3	3		5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sz="2400" dirty="0"/>
              <a:t>	    P4	6		4</a:t>
            </a:r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endParaRPr lang="en-US" sz="2400" b="1" u="sng" dirty="0"/>
          </a:p>
          <a:p>
            <a:pPr marL="228600" indent="-228600">
              <a:spcBef>
                <a:spcPts val="600"/>
              </a:spcBef>
              <a:buFontTx/>
              <a:buNone/>
              <a:tabLst>
                <a:tab pos="3032125" algn="ctr"/>
                <a:tab pos="4635500" algn="ctr"/>
              </a:tabLst>
            </a:pPr>
            <a:endParaRPr lang="en-US" sz="2400" b="1" u="sng" dirty="0"/>
          </a:p>
          <a:p>
            <a:pPr marL="228600" indent="-228600">
              <a:spcBef>
                <a:spcPts val="600"/>
              </a:spcBef>
              <a:buNone/>
              <a:tabLst>
                <a:tab pos="3032125" algn="ctr"/>
                <a:tab pos="4635500" algn="ctr"/>
              </a:tabLst>
            </a:pPr>
            <a:endParaRPr lang="en-US" sz="24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B349432-1C6A-D0AC-8AA8-DD943199296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1BF9ED-243A-E915-551D-63EA2377F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76199"/>
            <a:ext cx="7396716" cy="69997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with I/O – Example 13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idx="1"/>
          </p:nvPr>
        </p:nvSpPr>
        <p:spPr>
          <a:xfrm>
            <a:off x="343549" y="1046715"/>
            <a:ext cx="8658937" cy="2854725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200" dirty="0"/>
              <a:t>Schedule processes using RR </a:t>
            </a:r>
          </a:p>
          <a:p>
            <a:pPr marL="630238" lvl="1">
              <a:spcBef>
                <a:spcPts val="600"/>
              </a:spcBef>
            </a:pPr>
            <a:r>
              <a:rPr lang="en-US" dirty="0"/>
              <a:t>Process P1, P2 &amp; P3 arrive at time units 0, 1 &amp; 2 respectively </a:t>
            </a:r>
          </a:p>
          <a:p>
            <a:pPr marL="630238" lvl="1">
              <a:spcBef>
                <a:spcPts val="600"/>
              </a:spcBef>
            </a:pPr>
            <a:r>
              <a:rPr lang="en-US" dirty="0"/>
              <a:t>P1 demands CPU for 3 time quantum, then goes for I/O for 6 time quantum</a:t>
            </a:r>
          </a:p>
          <a:p>
            <a:pPr marL="630238" lvl="1">
              <a:spcBef>
                <a:spcPts val="600"/>
              </a:spcBef>
            </a:pPr>
            <a:r>
              <a:rPr lang="en-US" dirty="0"/>
              <a:t>again demands CPU for 2 quantum, and goes for I/O for 4 quantum</a:t>
            </a:r>
          </a:p>
          <a:p>
            <a:pPr marL="630238" lvl="1">
              <a:spcBef>
                <a:spcPts val="600"/>
              </a:spcBef>
            </a:pPr>
            <a:r>
              <a:rPr lang="en-US" dirty="0"/>
              <a:t>finally demands CPU for 4 CPU quantum, before it terminates</a:t>
            </a:r>
          </a:p>
          <a:p>
            <a:pPr marL="630238" lvl="1">
              <a:spcBef>
                <a:spcPts val="600"/>
              </a:spcBef>
            </a:pPr>
            <a:r>
              <a:rPr lang="en-US" dirty="0"/>
              <a:t>Assume RR time slice of 4 time units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C2F3E14-C665-2D9A-8F65-DAC33A07036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5C26E9-BAB4-1019-7B4D-A55C962BF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16506"/>
              </p:ext>
            </p:extLst>
          </p:nvPr>
        </p:nvGraphicFramePr>
        <p:xfrm>
          <a:off x="764187" y="4150713"/>
          <a:ext cx="7824642" cy="17986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4107">
                  <a:extLst>
                    <a:ext uri="{9D8B030D-6E8A-4147-A177-3AD203B41FA5}">
                      <a16:colId xmlns:a16="http://schemas.microsoft.com/office/drawing/2014/main" val="487071597"/>
                    </a:ext>
                  </a:extLst>
                </a:gridCol>
                <a:gridCol w="1304107">
                  <a:extLst>
                    <a:ext uri="{9D8B030D-6E8A-4147-A177-3AD203B41FA5}">
                      <a16:colId xmlns:a16="http://schemas.microsoft.com/office/drawing/2014/main" val="1555239970"/>
                    </a:ext>
                  </a:extLst>
                </a:gridCol>
                <a:gridCol w="1304107">
                  <a:extLst>
                    <a:ext uri="{9D8B030D-6E8A-4147-A177-3AD203B41FA5}">
                      <a16:colId xmlns:a16="http://schemas.microsoft.com/office/drawing/2014/main" val="3720517974"/>
                    </a:ext>
                  </a:extLst>
                </a:gridCol>
                <a:gridCol w="1304107">
                  <a:extLst>
                    <a:ext uri="{9D8B030D-6E8A-4147-A177-3AD203B41FA5}">
                      <a16:colId xmlns:a16="http://schemas.microsoft.com/office/drawing/2014/main" val="262067040"/>
                    </a:ext>
                  </a:extLst>
                </a:gridCol>
                <a:gridCol w="1304107">
                  <a:extLst>
                    <a:ext uri="{9D8B030D-6E8A-4147-A177-3AD203B41FA5}">
                      <a16:colId xmlns:a16="http://schemas.microsoft.com/office/drawing/2014/main" val="3969509660"/>
                    </a:ext>
                  </a:extLst>
                </a:gridCol>
                <a:gridCol w="1304107">
                  <a:extLst>
                    <a:ext uri="{9D8B030D-6E8A-4147-A177-3AD203B41FA5}">
                      <a16:colId xmlns:a16="http://schemas.microsoft.com/office/drawing/2014/main" val="994197677"/>
                    </a:ext>
                  </a:extLst>
                </a:gridCol>
              </a:tblGrid>
              <a:tr h="44967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I/O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I/O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Burst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21051"/>
                  </a:ext>
                </a:extLst>
              </a:tr>
              <a:tr h="44967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318795"/>
                  </a:ext>
                </a:extLst>
              </a:tr>
              <a:tr h="44967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059488"/>
                  </a:ext>
                </a:extLst>
              </a:tr>
              <a:tr h="44967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039886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D31B066A-7A9E-6AE4-D6D5-68B40AF78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76199"/>
            <a:ext cx="7396716" cy="69997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RR with I/O – Example 14</a:t>
            </a:r>
          </a:p>
        </p:txBody>
      </p:sp>
    </p:spTree>
    <p:extLst>
      <p:ext uri="{BB962C8B-B14F-4D97-AF65-F5344CB8AC3E}">
        <p14:creationId xmlns:p14="http://schemas.microsoft.com/office/powerpoint/2010/main" val="2067632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5786" y="76199"/>
            <a:ext cx="7638164" cy="69997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Multilevel Queue Scheduling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81354" y="1090428"/>
            <a:ext cx="8601039" cy="5574532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M</a:t>
            </a:r>
            <a:r>
              <a:rPr lang="en-US" sz="2400" dirty="0"/>
              <a:t>ultilevel Queue scheduling partitions RQ into separate queues: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Foreground  (interactive)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Background  (batch)</a:t>
            </a:r>
          </a:p>
          <a:p>
            <a:pPr>
              <a:spcBef>
                <a:spcPts val="1800"/>
              </a:spcBef>
            </a:pPr>
            <a:r>
              <a:rPr lang="en-US" dirty="0"/>
              <a:t>On arrival, p</a:t>
            </a:r>
            <a:r>
              <a:rPr lang="en-US" sz="2400" dirty="0"/>
              <a:t>rocess permanently assigned to one queue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(based on some property of process; </a:t>
            </a:r>
            <a:b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priority, process type, memory size used)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process does not move between queues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Each queue has its own scheduling algo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Foreground  –  RR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Background  –  FCFS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scheduling must be there between queues 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(foreground queue may have priority over background one)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21EB0AF-F211-96AE-A195-EBEDD1EE6CC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/>
          <a:srcRect l="569" t="8675" r="571" b="9201"/>
          <a:stretch>
            <a:fillRect/>
          </a:stretch>
        </p:blipFill>
        <p:spPr bwMode="auto">
          <a:xfrm>
            <a:off x="678316" y="1248854"/>
            <a:ext cx="7910513" cy="504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17EEA11-F97F-287B-6AA1-6BEC5E38FAA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F782C5-E819-F5D6-109C-CCC60E699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5786" y="76199"/>
            <a:ext cx="7638164" cy="699977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Multilevel Queue Scheduling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0B29-34C7-4507-8EA6-26F8073D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905" y="1099111"/>
            <a:ext cx="6051259" cy="1258654"/>
          </a:xfrm>
        </p:spPr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cumin-pro"/>
              </a:rPr>
              <a:t>What is Multilevel Queue Scheduling in OS?</a:t>
            </a:r>
            <a:br>
              <a:rPr lang="en-US" b="1" i="0" dirty="0">
                <a:solidFill>
                  <a:srgbClr val="000000"/>
                </a:solidFill>
                <a:effectLst/>
                <a:latin typeface="acumin-pro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4484-B806-4396-9454-E84B8F11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28438"/>
            <a:ext cx="8229600" cy="4530725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646F79"/>
                </a:solidFill>
                <a:effectLst/>
                <a:latin typeface="acumin-pro"/>
              </a:rPr>
              <a:t>The Multilevel Queue Scheduling algorithm is implemented when processes in a ready queue are divided into different classes with different scheduling needs. For example, we can consider a system with foreground and background processes. Here we can have two classes; one of the foreground processes and the other class of background processes; each having a separate set of scheduling needs. This situation is one where Multilevel Queue Scheduling can be implemented.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45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4521" y="16328"/>
            <a:ext cx="8059479" cy="745671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Multilevel Feedback Queue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80882" y="1100588"/>
            <a:ext cx="8478638" cy="5401084"/>
          </a:xfrm>
          <a:noFill/>
          <a:ln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Multilevel feed back queue scheduling allows a process to: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300" i="1" dirty="0">
                <a:solidFill>
                  <a:srgbClr val="FF0000"/>
                </a:solidFill>
              </a:rPr>
              <a:t>“move between various queues”</a:t>
            </a:r>
          </a:p>
          <a:p>
            <a:pPr>
              <a:spcBef>
                <a:spcPts val="2400"/>
              </a:spcBef>
            </a:pPr>
            <a:r>
              <a:rPr lang="en-US" dirty="0"/>
              <a:t>Process using too much CPU time is moved to lower priority queue with </a:t>
            </a:r>
            <a:r>
              <a:rPr lang="en-US" i="1" dirty="0">
                <a:solidFill>
                  <a:srgbClr val="0070C0"/>
                </a:solidFill>
              </a:rPr>
              <a:t>larger time quantum</a:t>
            </a:r>
            <a:endParaRPr lang="en-US" dirty="0"/>
          </a:p>
          <a:p>
            <a:pPr lvl="1">
              <a:spcBef>
                <a:spcPts val="1200"/>
              </a:spcBef>
            </a:pPr>
            <a:r>
              <a:rPr lang="en-US" dirty="0"/>
              <a:t>leaves interactive &amp; I/O bound processes in higher priority queue with </a:t>
            </a:r>
            <a:r>
              <a:rPr lang="en-US" i="1" dirty="0">
                <a:solidFill>
                  <a:srgbClr val="0070C0"/>
                </a:solidFill>
              </a:rPr>
              <a:t>small time quantum</a:t>
            </a:r>
            <a:endParaRPr lang="en-US" dirty="0"/>
          </a:p>
          <a:p>
            <a:pPr>
              <a:spcBef>
                <a:spcPts val="2400"/>
              </a:spcBef>
            </a:pPr>
            <a:r>
              <a:rPr lang="en-US" dirty="0">
                <a:solidFill>
                  <a:srgbClr val="FF0000"/>
                </a:solidFill>
              </a:rPr>
              <a:t>Aging</a:t>
            </a:r>
            <a:r>
              <a:rPr lang="en-US" dirty="0"/>
              <a:t> is done to prevent </a:t>
            </a:r>
            <a:r>
              <a:rPr lang="en-US" i="1" dirty="0">
                <a:solidFill>
                  <a:srgbClr val="0070C0"/>
                </a:solidFill>
              </a:rPr>
              <a:t>Starvation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process that waits too long in </a:t>
            </a:r>
            <a:r>
              <a:rPr lang="en-US" dirty="0">
                <a:solidFill>
                  <a:srgbClr val="FF0000"/>
                </a:solidFill>
              </a:rPr>
              <a:t>low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priority</a:t>
            </a:r>
            <a:r>
              <a:rPr lang="en-US" dirty="0"/>
              <a:t> queue is moved up to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higher priority </a:t>
            </a:r>
            <a:r>
              <a:rPr lang="en-US" dirty="0"/>
              <a:t>one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262A959-4EE6-7E1E-1BC6-4C4906966D6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9646" y="54934"/>
            <a:ext cx="6886575" cy="731874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Multilevel Feedback Queues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/>
          <a:srcRect l="514" t="12209" r="537" b="12032"/>
          <a:stretch>
            <a:fillRect/>
          </a:stretch>
        </p:blipFill>
        <p:spPr bwMode="auto">
          <a:xfrm>
            <a:off x="1290084" y="1531977"/>
            <a:ext cx="6078279" cy="3954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51B96D-D379-9C39-4649-7F2EFA44AD1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4521" y="16328"/>
            <a:ext cx="8059479" cy="745671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Multilevel Feedback Queue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11362" y="1141228"/>
            <a:ext cx="8539598" cy="5401084"/>
          </a:xfrm>
          <a:noFill/>
          <a:ln/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Parameters of Multilevel feedback queue scheduler: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number of queues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scheduling algo for each queue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method to determine which queue process will enter </a:t>
            </a:r>
            <a:br>
              <a:rPr lang="en-US" sz="2400" dirty="0"/>
            </a:br>
            <a:r>
              <a:rPr lang="en-US" sz="2400" dirty="0"/>
              <a:t>when process needs service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method to determine when to upgrade process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method to determine when to demote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262A959-4EE6-7E1E-1BC6-4C4906966D6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7719880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21828</TotalTime>
  <Words>3205</Words>
  <Application>Microsoft Office PowerPoint</Application>
  <PresentationFormat>On-screen Show (4:3)</PresentationFormat>
  <Paragraphs>591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Abadi</vt:lpstr>
      <vt:lpstr>acumin-pro</vt:lpstr>
      <vt:lpstr>Arial</vt:lpstr>
      <vt:lpstr>Calibri</vt:lpstr>
      <vt:lpstr>Comic Sans MS</vt:lpstr>
      <vt:lpstr>Gill Sans MT</vt:lpstr>
      <vt:lpstr>Helvetica</vt:lpstr>
      <vt:lpstr>Symbol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Objectives</vt:lpstr>
      <vt:lpstr>Objectives</vt:lpstr>
      <vt:lpstr>PowerPoint Presentation</vt:lpstr>
      <vt:lpstr>Scheduling</vt:lpstr>
      <vt:lpstr>CPU – I/O Burst Cycle</vt:lpstr>
      <vt:lpstr>CPU Scheduler</vt:lpstr>
      <vt:lpstr>CPU Scheduler</vt:lpstr>
      <vt:lpstr>Dispatcher</vt:lpstr>
      <vt:lpstr>Main Categories of Scheduling</vt:lpstr>
      <vt:lpstr>Scheduling Objectives</vt:lpstr>
      <vt:lpstr>Scheduling Criteria</vt:lpstr>
      <vt:lpstr>Scheduling Criteria</vt:lpstr>
      <vt:lpstr>Optimization Criteria</vt:lpstr>
      <vt:lpstr>Classification of Processes</vt:lpstr>
      <vt:lpstr>PowerPoint Presentation</vt:lpstr>
      <vt:lpstr>First Come First Serve</vt:lpstr>
      <vt:lpstr>First Come First Serve</vt:lpstr>
      <vt:lpstr>Convoy Effect</vt:lpstr>
      <vt:lpstr>FCFS – Example 1</vt:lpstr>
      <vt:lpstr>FCFS – Example 2</vt:lpstr>
      <vt:lpstr>SJF &amp; SRTF Scheduling</vt:lpstr>
      <vt:lpstr>SJF – Example 3</vt:lpstr>
      <vt:lpstr>SRTF – Example 4</vt:lpstr>
      <vt:lpstr>SJF &amp; SRTF – Example 5</vt:lpstr>
      <vt:lpstr>SJF &amp; SRTF – Example 6</vt:lpstr>
      <vt:lpstr>SJF &amp; SRTF – Example 7</vt:lpstr>
      <vt:lpstr>Priority Scheduling</vt:lpstr>
      <vt:lpstr>Priority Scheduling – Example 8</vt:lpstr>
      <vt:lpstr>Priority Scheduling – Example 9</vt:lpstr>
      <vt:lpstr>Round Robin (RR) Scheduling</vt:lpstr>
      <vt:lpstr>Round Robin (RR) Scheduling</vt:lpstr>
      <vt:lpstr>RR Performance</vt:lpstr>
      <vt:lpstr>RR Performance</vt:lpstr>
      <vt:lpstr>RR – Example 10</vt:lpstr>
      <vt:lpstr>RR – Example 11</vt:lpstr>
      <vt:lpstr>RR with I/O – Example 12</vt:lpstr>
      <vt:lpstr>RR with I/O – Example 13</vt:lpstr>
      <vt:lpstr>RR with I/O – Example 14</vt:lpstr>
      <vt:lpstr>Multilevel Queue Scheduling</vt:lpstr>
      <vt:lpstr>Multilevel Queue Scheduling</vt:lpstr>
      <vt:lpstr>What is Multilevel Queue Scheduling in OS? </vt:lpstr>
      <vt:lpstr>Multilevel Feedback Queue Scheduling</vt:lpstr>
      <vt:lpstr>Multilevel Feedback Queues</vt:lpstr>
      <vt:lpstr>Multilevel Feedback Queue Scheduling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Arham Bhatti</cp:lastModifiedBy>
  <cp:revision>439</cp:revision>
  <cp:lastPrinted>2001-06-14T13:58:17Z</cp:lastPrinted>
  <dcterms:created xsi:type="dcterms:W3CDTF">2011-01-13T23:43:38Z</dcterms:created>
  <dcterms:modified xsi:type="dcterms:W3CDTF">2025-11-25T06:04:19Z</dcterms:modified>
</cp:coreProperties>
</file>