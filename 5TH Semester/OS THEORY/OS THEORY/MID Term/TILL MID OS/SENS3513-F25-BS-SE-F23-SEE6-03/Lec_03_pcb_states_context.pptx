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5"/>
  </p:notesMasterIdLst>
  <p:handoutMasterIdLst>
    <p:handoutMasterId r:id="rId46"/>
  </p:handoutMasterIdLst>
  <p:sldIdLst>
    <p:sldId id="256" r:id="rId2"/>
    <p:sldId id="481" r:id="rId3"/>
    <p:sldId id="297" r:id="rId4"/>
    <p:sldId id="527" r:id="rId5"/>
    <p:sldId id="526" r:id="rId6"/>
    <p:sldId id="499" r:id="rId7"/>
    <p:sldId id="536" r:id="rId8"/>
    <p:sldId id="532" r:id="rId9"/>
    <p:sldId id="414" r:id="rId10"/>
    <p:sldId id="520" r:id="rId11"/>
    <p:sldId id="417" r:id="rId12"/>
    <p:sldId id="530" r:id="rId13"/>
    <p:sldId id="480" r:id="rId14"/>
    <p:sldId id="523" r:id="rId15"/>
    <p:sldId id="541" r:id="rId16"/>
    <p:sldId id="445" r:id="rId17"/>
    <p:sldId id="546" r:id="rId18"/>
    <p:sldId id="518" r:id="rId19"/>
    <p:sldId id="522" r:id="rId20"/>
    <p:sldId id="446" r:id="rId21"/>
    <p:sldId id="382" r:id="rId22"/>
    <p:sldId id="437" r:id="rId23"/>
    <p:sldId id="384" r:id="rId24"/>
    <p:sldId id="521" r:id="rId25"/>
    <p:sldId id="385" r:id="rId26"/>
    <p:sldId id="386" r:id="rId27"/>
    <p:sldId id="343" r:id="rId28"/>
    <p:sldId id="531" r:id="rId29"/>
    <p:sldId id="387" r:id="rId30"/>
    <p:sldId id="554" r:id="rId31"/>
    <p:sldId id="388" r:id="rId32"/>
    <p:sldId id="460" r:id="rId33"/>
    <p:sldId id="461" r:id="rId34"/>
    <p:sldId id="436" r:id="rId35"/>
    <p:sldId id="458" r:id="rId36"/>
    <p:sldId id="456" r:id="rId37"/>
    <p:sldId id="457" r:id="rId38"/>
    <p:sldId id="547" r:id="rId39"/>
    <p:sldId id="552" r:id="rId40"/>
    <p:sldId id="553" r:id="rId41"/>
    <p:sldId id="517" r:id="rId42"/>
    <p:sldId id="549" r:id="rId43"/>
    <p:sldId id="514" r:id="rId44"/>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99"/>
    <a:srgbClr val="003399"/>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688" autoAdjust="0"/>
    <p:restoredTop sz="93792" autoAdjust="0"/>
  </p:normalViewPr>
  <p:slideViewPr>
    <p:cSldViewPr snapToGrid="0">
      <p:cViewPr varScale="1">
        <p:scale>
          <a:sx n="61" d="100"/>
          <a:sy n="61" d="100"/>
        </p:scale>
        <p:origin x="1852" y="5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1876"/>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114A89C-1C73-4D44-A8BC-42BAA055C19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CBDAB79E-6014-4A3D-84DF-A7CEB339BCE3}"/>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90D5592A-E44D-4423-B07A-957389C43B80}"/>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91FDBA55-75B0-4E79-BF0F-BC11D59E5FB6}"/>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smtClean="0">
                <a:latin typeface="Helvetica" panose="020B0604020202020204" pitchFamily="34" charset="0"/>
              </a:defRPr>
            </a:lvl1pPr>
          </a:lstStyle>
          <a:p>
            <a:pPr>
              <a:defRPr/>
            </a:pPr>
            <a:fld id="{01873986-C89E-4478-9B6A-F6B0BF3B5D5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45A858E-881C-46A6-B3BB-38AF66B8F999}"/>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A76C7A83-A047-4863-99DC-443A82A89530}"/>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A2A60EB1-DAFD-4AE9-AB03-60CC4D8EEE96}"/>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281DC59-26C3-4F7F-8E43-93FC93CCE3E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2C085E6-91D9-44E7-80E9-718A60124C0E}"/>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0950034D-84CE-4525-AFD4-671AE6465659}"/>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smtClean="0">
                <a:latin typeface="Times New Roman" panose="02020603050405020304" pitchFamily="18" charset="0"/>
              </a:defRPr>
            </a:lvl1pPr>
          </a:lstStyle>
          <a:p>
            <a:pPr>
              <a:defRPr/>
            </a:pPr>
            <a:fld id="{DAA890F1-2F48-45ED-9750-542EA7D8C9E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6A822E9-8F13-47AB-9E4E-B18AB2E1FD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CCEF3C-8989-4032-A095-D133C1713EDA}"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3520E619-9440-4535-B6E9-BC7E8804B9A6}"/>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55EEC95-E703-4EFF-BB87-4741BBEECC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3</a:t>
            </a:fld>
            <a:endParaRPr lang="en-US"/>
          </a:p>
        </p:txBody>
      </p:sp>
    </p:spTree>
    <p:extLst>
      <p:ext uri="{BB962C8B-B14F-4D97-AF65-F5344CB8AC3E}">
        <p14:creationId xmlns:p14="http://schemas.microsoft.com/office/powerpoint/2010/main" val="1761855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4</a:t>
            </a:fld>
            <a:endParaRPr lang="en-US"/>
          </a:p>
        </p:txBody>
      </p:sp>
    </p:spTree>
    <p:extLst>
      <p:ext uri="{BB962C8B-B14F-4D97-AF65-F5344CB8AC3E}">
        <p14:creationId xmlns:p14="http://schemas.microsoft.com/office/powerpoint/2010/main" val="369333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5</a:t>
            </a:fld>
            <a:endParaRPr lang="en-US"/>
          </a:p>
        </p:txBody>
      </p:sp>
    </p:spTree>
    <p:extLst>
      <p:ext uri="{BB962C8B-B14F-4D97-AF65-F5344CB8AC3E}">
        <p14:creationId xmlns:p14="http://schemas.microsoft.com/office/powerpoint/2010/main" val="2346027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6</a:t>
            </a:fld>
            <a:endParaRPr lang="en-US"/>
          </a:p>
        </p:txBody>
      </p:sp>
    </p:spTree>
    <p:extLst>
      <p:ext uri="{BB962C8B-B14F-4D97-AF65-F5344CB8AC3E}">
        <p14:creationId xmlns:p14="http://schemas.microsoft.com/office/powerpoint/2010/main" val="1684910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4FEFAB41-CDDA-2B8B-7C98-6013F1C04AAA}"/>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20CA46D3-D99B-B0D9-17B0-3C2C070ADF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32348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AD22A1BB-DFEF-CB32-013B-557136070153}"/>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EA9623DE-1972-D457-7EEB-E7FD06D6B5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10</a:t>
            </a:fld>
            <a:endParaRPr lang="en-US"/>
          </a:p>
        </p:txBody>
      </p:sp>
    </p:spTree>
    <p:extLst>
      <p:ext uri="{BB962C8B-B14F-4D97-AF65-F5344CB8AC3E}">
        <p14:creationId xmlns:p14="http://schemas.microsoft.com/office/powerpoint/2010/main" val="3725813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4FEFAB41-CDDA-2B8B-7C98-6013F1C04AAA}"/>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20CA46D3-D99B-B0D9-17B0-3C2C070ADF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4FEFAB41-CDDA-2B8B-7C98-6013F1C04AAA}"/>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20CA46D3-D99B-B0D9-17B0-3C2C070ADF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47240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13</a:t>
            </a:fld>
            <a:endParaRPr lang="en-US" altLang="en-US" sz="1200" dirty="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125936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3AB8058-0711-45B7-B5A6-3DC92501CBAB}" type="slidenum">
              <a:rPr lang="en-US" smtClean="0"/>
              <a:pPr/>
              <a:t>14</a:t>
            </a:fld>
            <a:endParaRPr lang="en-US"/>
          </a:p>
        </p:txBody>
      </p:sp>
    </p:spTree>
    <p:extLst>
      <p:ext uri="{BB962C8B-B14F-4D97-AF65-F5344CB8AC3E}">
        <p14:creationId xmlns:p14="http://schemas.microsoft.com/office/powerpoint/2010/main" val="4213969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3AB8058-0711-45B7-B5A6-3DC92501CBAB}" type="slidenum">
              <a:rPr lang="en-US" smtClean="0"/>
              <a:pPr/>
              <a:t>15</a:t>
            </a:fld>
            <a:endParaRPr lang="en-US"/>
          </a:p>
        </p:txBody>
      </p:sp>
    </p:spTree>
    <p:extLst>
      <p:ext uri="{BB962C8B-B14F-4D97-AF65-F5344CB8AC3E}">
        <p14:creationId xmlns:p14="http://schemas.microsoft.com/office/powerpoint/2010/main" val="1560495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16</a:t>
            </a:fld>
            <a:endParaRPr lang="en-US"/>
          </a:p>
        </p:txBody>
      </p:sp>
    </p:spTree>
    <p:extLst>
      <p:ext uri="{BB962C8B-B14F-4D97-AF65-F5344CB8AC3E}">
        <p14:creationId xmlns:p14="http://schemas.microsoft.com/office/powerpoint/2010/main" val="983650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17</a:t>
            </a:fld>
            <a:endParaRPr lang="en-US"/>
          </a:p>
        </p:txBody>
      </p:sp>
    </p:spTree>
    <p:extLst>
      <p:ext uri="{BB962C8B-B14F-4D97-AF65-F5344CB8AC3E}">
        <p14:creationId xmlns:p14="http://schemas.microsoft.com/office/powerpoint/2010/main" val="3587604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3AB8058-0711-45B7-B5A6-3DC92501CBAB}" type="slidenum">
              <a:rPr lang="en-US" smtClean="0"/>
              <a:pPr/>
              <a:t>18</a:t>
            </a:fld>
            <a:endParaRPr lang="en-US"/>
          </a:p>
        </p:txBody>
      </p:sp>
    </p:spTree>
    <p:extLst>
      <p:ext uri="{BB962C8B-B14F-4D97-AF65-F5344CB8AC3E}">
        <p14:creationId xmlns:p14="http://schemas.microsoft.com/office/powerpoint/2010/main" val="1374330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Rot="1" noChangeAspect="1" noChangeArrowheads="1" noTextEdit="1"/>
          </p:cNvSpPr>
          <p:nvPr>
            <p:ph type="sldImg"/>
          </p:nvPr>
        </p:nvSpPr>
        <p:spPr>
          <a:ln/>
        </p:spPr>
      </p:sp>
      <p:sp>
        <p:nvSpPr>
          <p:cNvPr id="4085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71086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a:t>
            </a:r>
            <a:r>
              <a:rPr lang="en-US" baseline="0" dirty="0"/>
              <a:t> the simplest solution, t</a:t>
            </a:r>
            <a:r>
              <a:rPr lang="en-US" dirty="0"/>
              <a:t>his model would require an additional queue for the blocked processes.</a:t>
            </a:r>
            <a:r>
              <a:rPr lang="en-US" baseline="0" dirty="0"/>
              <a:t> </a:t>
            </a:r>
          </a:p>
          <a:p>
            <a:endParaRPr lang="en-US" baseline="0" dirty="0"/>
          </a:p>
          <a:p>
            <a:r>
              <a:rPr lang="en-US" b="1" baseline="0" dirty="0"/>
              <a:t>B</a:t>
            </a:r>
            <a:r>
              <a:rPr lang="en-US" b="1" dirty="0"/>
              <a:t>ut </a:t>
            </a:r>
            <a:r>
              <a:rPr lang="en-US" dirty="0"/>
              <a:t>when an event occurs the dispatcher would have to cycle through the</a:t>
            </a:r>
            <a:r>
              <a:rPr lang="en-US" baseline="0" dirty="0"/>
              <a:t> entire queue to see which process is waiting for the event.</a:t>
            </a:r>
          </a:p>
          <a:p>
            <a:pPr lvl="1"/>
            <a:r>
              <a:rPr lang="en-US" baseline="0" dirty="0"/>
              <a:t>This can cause huge overhead when their may be 100’s or 1000’s of processes</a:t>
            </a:r>
            <a:endParaRPr lang="en-US" dirty="0"/>
          </a:p>
          <a:p>
            <a:endParaRPr lang="en-US" dirty="0"/>
          </a:p>
        </p:txBody>
      </p:sp>
      <p:sp>
        <p:nvSpPr>
          <p:cNvPr id="4" name="Slide Number Placeholder 3"/>
          <p:cNvSpPr>
            <a:spLocks noGrp="1"/>
          </p:cNvSpPr>
          <p:nvPr>
            <p:ph type="sldNum" sz="quarter" idx="10"/>
          </p:nvPr>
        </p:nvSpPr>
        <p:spPr/>
        <p:txBody>
          <a:bodyPr/>
          <a:lstStyle/>
          <a:p>
            <a:fld id="{43AB8058-0711-45B7-B5A6-3DC92501CBAB}" type="slidenum">
              <a:rPr lang="en-US" smtClean="0"/>
              <a:pPr/>
              <a:t>20</a:t>
            </a:fld>
            <a:endParaRPr lang="en-US"/>
          </a:p>
        </p:txBody>
      </p:sp>
    </p:spTree>
    <p:extLst>
      <p:ext uri="{BB962C8B-B14F-4D97-AF65-F5344CB8AC3E}">
        <p14:creationId xmlns:p14="http://schemas.microsoft.com/office/powerpoint/2010/main" val="966491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21</a:t>
            </a:fld>
            <a:endParaRPr lang="en-US"/>
          </a:p>
        </p:txBody>
      </p:sp>
    </p:spTree>
    <p:extLst>
      <p:ext uri="{BB962C8B-B14F-4D97-AF65-F5344CB8AC3E}">
        <p14:creationId xmlns:p14="http://schemas.microsoft.com/office/powerpoint/2010/main" val="19810642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Rot="1" noChangeAspect="1" noChangeArrowheads="1" noTextEdit="1"/>
          </p:cNvSpPr>
          <p:nvPr>
            <p:ph type="sldImg"/>
          </p:nvPr>
        </p:nvSpPr>
        <p:spPr>
          <a:ln/>
        </p:spPr>
      </p:sp>
      <p:sp>
        <p:nvSpPr>
          <p:cNvPr id="4096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66908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23</a:t>
            </a:fld>
            <a:endParaRPr lang="en-US"/>
          </a:p>
        </p:txBody>
      </p:sp>
    </p:spTree>
    <p:extLst>
      <p:ext uri="{BB962C8B-B14F-4D97-AF65-F5344CB8AC3E}">
        <p14:creationId xmlns:p14="http://schemas.microsoft.com/office/powerpoint/2010/main" val="682974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24</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2771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25</a:t>
            </a:fld>
            <a:endParaRPr lang="en-US"/>
          </a:p>
        </p:txBody>
      </p:sp>
    </p:spTree>
    <p:extLst>
      <p:ext uri="{BB962C8B-B14F-4D97-AF65-F5344CB8AC3E}">
        <p14:creationId xmlns:p14="http://schemas.microsoft.com/office/powerpoint/2010/main" val="1400267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26</a:t>
            </a:fld>
            <a:endParaRPr lang="en-US"/>
          </a:p>
        </p:txBody>
      </p:sp>
    </p:spTree>
    <p:extLst>
      <p:ext uri="{BB962C8B-B14F-4D97-AF65-F5344CB8AC3E}">
        <p14:creationId xmlns:p14="http://schemas.microsoft.com/office/powerpoint/2010/main" val="8658450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27</a:t>
            </a:fld>
            <a:endParaRPr lang="en-US"/>
          </a:p>
        </p:txBody>
      </p:sp>
    </p:spTree>
    <p:extLst>
      <p:ext uri="{BB962C8B-B14F-4D97-AF65-F5344CB8AC3E}">
        <p14:creationId xmlns:p14="http://schemas.microsoft.com/office/powerpoint/2010/main" val="5369658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28</a:t>
            </a:fld>
            <a:endParaRPr lang="en-US"/>
          </a:p>
        </p:txBody>
      </p:sp>
    </p:spTree>
    <p:extLst>
      <p:ext uri="{BB962C8B-B14F-4D97-AF65-F5344CB8AC3E}">
        <p14:creationId xmlns:p14="http://schemas.microsoft.com/office/powerpoint/2010/main" val="17169706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29</a:t>
            </a:fld>
            <a:endParaRPr lang="en-US"/>
          </a:p>
        </p:txBody>
      </p:sp>
    </p:spTree>
    <p:extLst>
      <p:ext uri="{BB962C8B-B14F-4D97-AF65-F5344CB8AC3E}">
        <p14:creationId xmlns:p14="http://schemas.microsoft.com/office/powerpoint/2010/main" val="17214285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07E6C-519D-4618-2243-A7BD8D6C5A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AC73F-3409-5ABC-8374-3E442924AB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A3ED1-12C4-0165-3B97-2466DBB13D39}"/>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3A57F30E-F16E-2B74-A163-5C457202B8E1}"/>
              </a:ext>
            </a:extLst>
          </p:cNvPr>
          <p:cNvSpPr>
            <a:spLocks noGrp="1"/>
          </p:cNvSpPr>
          <p:nvPr>
            <p:ph type="sldNum" sz="quarter" idx="10"/>
          </p:nvPr>
        </p:nvSpPr>
        <p:spPr/>
        <p:txBody>
          <a:bodyPr/>
          <a:lstStyle/>
          <a:p>
            <a:fld id="{43AB8058-0711-45B7-B5A6-3DC92501CBAB}" type="slidenum">
              <a:rPr lang="en-US" smtClean="0"/>
              <a:pPr/>
              <a:t>30</a:t>
            </a:fld>
            <a:endParaRPr lang="en-US"/>
          </a:p>
        </p:txBody>
      </p:sp>
    </p:spTree>
    <p:extLst>
      <p:ext uri="{BB962C8B-B14F-4D97-AF65-F5344CB8AC3E}">
        <p14:creationId xmlns:p14="http://schemas.microsoft.com/office/powerpoint/2010/main" val="6190749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31</a:t>
            </a:fld>
            <a:endParaRPr lang="en-US"/>
          </a:p>
        </p:txBody>
      </p:sp>
    </p:spTree>
    <p:extLst>
      <p:ext uri="{BB962C8B-B14F-4D97-AF65-F5344CB8AC3E}">
        <p14:creationId xmlns:p14="http://schemas.microsoft.com/office/powerpoint/2010/main" val="21139530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Again, the simple</a:t>
            </a:r>
            <a:r>
              <a:rPr lang="en-US" baseline="0" dirty="0"/>
              <a:t> solution is to add a single state – but this only allows processes which are blocked to be swapped out.</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32</a:t>
            </a:fld>
            <a:endParaRPr lang="en-US" dirty="0"/>
          </a:p>
        </p:txBody>
      </p:sp>
    </p:spTree>
    <p:extLst>
      <p:ext uri="{BB962C8B-B14F-4D97-AF65-F5344CB8AC3E}">
        <p14:creationId xmlns:p14="http://schemas.microsoft.com/office/powerpoint/2010/main" val="11103041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dirty="0"/>
              <a:t>Two suspend</a:t>
            </a:r>
            <a:r>
              <a:rPr lang="en-US" baseline="0" dirty="0"/>
              <a:t> states allow all processes which are not actually running to be swapped.</a:t>
            </a:r>
          </a:p>
          <a:p>
            <a:endParaRPr lang="en-US" baseline="0" dirty="0"/>
          </a:p>
          <a:p>
            <a:r>
              <a:rPr lang="en-US" baseline="0" dirty="0"/>
              <a:t>Run through the four states:</a:t>
            </a:r>
          </a:p>
          <a:p>
            <a:pPr>
              <a:buFont typeface="Arial" pitchFamily="34" charset="0"/>
              <a:buChar char="•"/>
            </a:pPr>
            <a:r>
              <a:rPr lang="en-NZ" baseline="0" dirty="0"/>
              <a:t> </a:t>
            </a:r>
            <a:r>
              <a:rPr lang="en-NZ" b="1" baseline="0" dirty="0"/>
              <a:t>Ready: </a:t>
            </a:r>
            <a:r>
              <a:rPr lang="en-NZ" baseline="0" dirty="0"/>
              <a:t>The process is in main memory and available for execution.</a:t>
            </a:r>
          </a:p>
          <a:p>
            <a:r>
              <a:rPr lang="en-NZ" baseline="0" dirty="0"/>
              <a:t>• </a:t>
            </a:r>
            <a:r>
              <a:rPr lang="en-NZ" b="1" baseline="0" dirty="0"/>
              <a:t>Blocked:</a:t>
            </a:r>
            <a:r>
              <a:rPr lang="en-NZ" baseline="0" dirty="0"/>
              <a:t> The process is in main memory and awaiting an event.</a:t>
            </a:r>
          </a:p>
          <a:p>
            <a:r>
              <a:rPr lang="en-NZ" baseline="0" dirty="0"/>
              <a:t>• </a:t>
            </a:r>
            <a:r>
              <a:rPr lang="en-NZ" b="1" baseline="0" dirty="0"/>
              <a:t>Blocked/Suspend: </a:t>
            </a:r>
            <a:r>
              <a:rPr lang="en-NZ" baseline="0" dirty="0"/>
              <a:t>The process is in secondary memory and awaiting an event.</a:t>
            </a:r>
          </a:p>
          <a:p>
            <a:r>
              <a:rPr lang="en-NZ" baseline="0" dirty="0"/>
              <a:t>• </a:t>
            </a:r>
            <a:r>
              <a:rPr lang="en-NZ" b="1" baseline="0" dirty="0"/>
              <a:t>Ready/Suspend: </a:t>
            </a:r>
            <a:r>
              <a:rPr lang="en-NZ" baseline="0" dirty="0"/>
              <a:t>The process is in secondary memory but is available for execution as soon as it is loaded into main memory.</a:t>
            </a:r>
          </a:p>
          <a:p>
            <a:endParaRPr lang="en-NZ" baseline="0" dirty="0"/>
          </a:p>
          <a:p>
            <a:r>
              <a:rPr lang="en-NZ" baseline="0" dirty="0"/>
              <a:t>It would be useful to also summarise the main transitions </a:t>
            </a:r>
          </a:p>
          <a:p>
            <a:r>
              <a:rPr lang="en-NZ" b="1" i="1" dirty="0"/>
              <a:t>Blocked  </a:t>
            </a:r>
            <a:r>
              <a:rPr lang="en-NZ" b="1" i="1" dirty="0">
                <a:sym typeface="Wingdings" pitchFamily="2" charset="2"/>
              </a:rPr>
              <a:t> </a:t>
            </a:r>
            <a:r>
              <a:rPr lang="en-NZ" b="1" i="1" dirty="0"/>
              <a:t>Blocked/Suspend: </a:t>
            </a:r>
            <a:r>
              <a:rPr lang="en-NZ" dirty="0"/>
              <a:t>If there are no ready processes, then at least one blocked process is swapped out to make room for another process that is not blocked. This transition can be made even if there are ready processes available, if the OS determines that the currently running process or a ready process that it would like to dispatch requires more main memory to maintain adequate performance.</a:t>
            </a:r>
          </a:p>
          <a:p>
            <a:r>
              <a:rPr lang="en-NZ" b="1" i="1" dirty="0"/>
              <a:t>Blocked/Suspend  </a:t>
            </a:r>
            <a:r>
              <a:rPr lang="en-NZ" b="1" i="1" dirty="0">
                <a:sym typeface="Wingdings" pitchFamily="2" charset="2"/>
              </a:rPr>
              <a:t></a:t>
            </a:r>
            <a:r>
              <a:rPr lang="en-NZ" b="1" i="1" dirty="0"/>
              <a:t> Ready/Suspend: </a:t>
            </a:r>
            <a:r>
              <a:rPr lang="en-NZ" dirty="0"/>
              <a:t>A process in the Blocked/Suspend state is moved to the Ready/Suspend state when the event for which it has been waiting occurs. </a:t>
            </a:r>
          </a:p>
          <a:p>
            <a:r>
              <a:rPr lang="en-NZ" b="1" i="1" dirty="0"/>
              <a:t>Ready/Suspend S </a:t>
            </a:r>
            <a:r>
              <a:rPr lang="en-NZ" b="1" i="1" dirty="0">
                <a:sym typeface="Wingdings" pitchFamily="2" charset="2"/>
              </a:rPr>
              <a:t> </a:t>
            </a:r>
            <a:r>
              <a:rPr lang="en-NZ" b="1" i="1" dirty="0"/>
              <a:t>Ready: </a:t>
            </a:r>
            <a:r>
              <a:rPr lang="en-NZ" dirty="0"/>
              <a:t>When there are no ready processes in main memory, or if a suspended process has a higher priority, the OS will need to bring one in to continue execution. </a:t>
            </a:r>
          </a:p>
          <a:p>
            <a:r>
              <a:rPr lang="en-NZ" sz="1600" b="1" i="1" u="sng" strike="noStrike" dirty="0">
                <a:solidFill>
                  <a:srgbClr val="FF0000"/>
                </a:solidFill>
                <a:effectLst/>
              </a:rPr>
              <a:t>READY </a:t>
            </a:r>
            <a:r>
              <a:rPr lang="en-NZ" sz="1600" b="1" i="1" u="sng" strike="noStrike" baseline="0" dirty="0">
                <a:solidFill>
                  <a:srgbClr val="FF0000"/>
                </a:solidFill>
                <a:effectLst/>
              </a:rPr>
              <a:t> </a:t>
            </a:r>
            <a:r>
              <a:rPr lang="en-NZ" sz="1600" b="1" i="1" u="sng" strike="noStrike" baseline="0" dirty="0">
                <a:solidFill>
                  <a:srgbClr val="FF0000"/>
                </a:solidFill>
                <a:effectLst/>
                <a:sym typeface="Wingdings" pitchFamily="2" charset="2"/>
              </a:rPr>
              <a:t> </a:t>
            </a:r>
            <a:r>
              <a:rPr lang="en-NZ" sz="1600" b="1" i="1" u="sng" strike="noStrike" dirty="0">
                <a:solidFill>
                  <a:srgbClr val="FF0000"/>
                </a:solidFill>
                <a:effectLst/>
              </a:rPr>
              <a:t>READY/SUSPEND: </a:t>
            </a:r>
            <a:r>
              <a:rPr lang="en-NZ" dirty="0"/>
              <a:t>Normally, the OS would prefer to suspend a blocked process rather than a ready one, because the ready process can now be executed, whereas the blocked process is taking up main memory space and cannot be executed. However, it may be necessary to suspend a ready process if that is the only way to free up a sufficiently large block of main memory.</a:t>
            </a:r>
          </a:p>
          <a:p>
            <a:endParaRPr lang="en-NZ" dirty="0"/>
          </a:p>
          <a:p>
            <a:r>
              <a:rPr lang="en-NZ" dirty="0"/>
              <a:t>Several other transitions that are worth considering are the following:</a:t>
            </a:r>
          </a:p>
          <a:p>
            <a:endParaRPr lang="en-NZ" dirty="0"/>
          </a:p>
          <a:p>
            <a:r>
              <a:rPr lang="en-NZ" b="1" i="1" u="sng" dirty="0"/>
              <a:t>New </a:t>
            </a:r>
            <a:r>
              <a:rPr lang="en-NZ" b="1" i="1" u="sng" dirty="0">
                <a:sym typeface="Wingdings" pitchFamily="2" charset="2"/>
              </a:rPr>
              <a:t></a:t>
            </a:r>
            <a:r>
              <a:rPr lang="en-NZ" b="1" i="1" u="sng" dirty="0"/>
              <a:t> Ready/Suspend </a:t>
            </a:r>
            <a:r>
              <a:rPr lang="en-NZ" b="1" i="1" dirty="0"/>
              <a:t>and New </a:t>
            </a:r>
            <a:r>
              <a:rPr lang="en-NZ" b="1" i="1" dirty="0">
                <a:sym typeface="Wingdings" pitchFamily="2" charset="2"/>
              </a:rPr>
              <a:t></a:t>
            </a:r>
            <a:r>
              <a:rPr lang="en-NZ" b="1" i="1" dirty="0"/>
              <a:t>Ready:  </a:t>
            </a:r>
            <a:r>
              <a:rPr lang="en-NZ" dirty="0"/>
              <a:t>When a new process is created, it can either be added to the Ready queue or the Ready/Suspend queue. In either case, the OS must create a process control block and allocate an address space to the process. It might be preferable for the OS to perform these housekeeping duties at an early time, so that it can maintain a large pool of processes that are not blocked. With this strategy, there would often be insufficient room in main memory for a new process; hence the use of the (New </a:t>
            </a:r>
            <a:r>
              <a:rPr lang="en-NZ" dirty="0">
                <a:sym typeface="Wingdings" pitchFamily="2" charset="2"/>
              </a:rPr>
              <a:t> </a:t>
            </a:r>
            <a:r>
              <a:rPr lang="en-NZ" dirty="0"/>
              <a:t>Ready/Suspend) transition. </a:t>
            </a:r>
          </a:p>
          <a:p>
            <a:endParaRPr lang="en-NZ" b="1" i="1" u="sng" dirty="0"/>
          </a:p>
          <a:p>
            <a:endParaRPr lang="en-NZ" b="1" i="1" u="sng" dirty="0"/>
          </a:p>
          <a:p>
            <a:r>
              <a:rPr lang="en-NZ" b="1" i="1" u="sng" dirty="0"/>
              <a:t>Blocked/Suspend </a:t>
            </a:r>
            <a:r>
              <a:rPr lang="en-NZ" b="1" i="1" u="sng" dirty="0">
                <a:sym typeface="Wingdings" pitchFamily="2" charset="2"/>
              </a:rPr>
              <a:t> </a:t>
            </a:r>
            <a:r>
              <a:rPr lang="en-NZ" b="1" i="1" u="sng" dirty="0"/>
              <a:t>Blocked: </a:t>
            </a:r>
            <a:r>
              <a:rPr lang="en-NZ" dirty="0"/>
              <a:t>Inclusion of this transition may seem to be poor design. After all, if a process is not ready to execute and is not already in main memory, what is the point of bringing it in? But consider the following scenario:</a:t>
            </a:r>
          </a:p>
          <a:p>
            <a:pPr lvl="1">
              <a:buFont typeface="Arial" pitchFamily="34" charset="0"/>
              <a:buChar char="•"/>
            </a:pPr>
            <a:r>
              <a:rPr lang="en-NZ" dirty="0"/>
              <a:t> A process terminates, freeing up some main memory.</a:t>
            </a:r>
          </a:p>
          <a:p>
            <a:pPr lvl="1">
              <a:buFont typeface="Arial" pitchFamily="34" charset="0"/>
              <a:buChar char="•"/>
            </a:pPr>
            <a:r>
              <a:rPr lang="en-NZ" dirty="0"/>
              <a:t> There is a process in the (Blocked/Suspend) queue with a higher priority than any of the processes in the (Ready/Suspend) queue and </a:t>
            </a:r>
          </a:p>
          <a:p>
            <a:pPr lvl="1">
              <a:buFont typeface="Arial" pitchFamily="34" charset="0"/>
              <a:buChar char="•"/>
            </a:pPr>
            <a:r>
              <a:rPr lang="en-NZ" dirty="0"/>
              <a:t> the OS has reason to believe that the blocking event for that process will occur soon. </a:t>
            </a:r>
          </a:p>
          <a:p>
            <a:pPr lvl="1">
              <a:buFont typeface="Arial" pitchFamily="34" charset="0"/>
              <a:buChar char="•"/>
            </a:pPr>
            <a:r>
              <a:rPr lang="en-NZ" dirty="0"/>
              <a:t> Under these circumstances, it would seem reasonable to bring a blocked process into main memory in preference to a ready process.</a:t>
            </a:r>
          </a:p>
          <a:p>
            <a:pPr lvl="0"/>
            <a:endParaRPr lang="en-NZ" b="1" i="1" u="sng" dirty="0"/>
          </a:p>
          <a:p>
            <a:pPr lvl="0"/>
            <a:endParaRPr lang="en-NZ" b="1" i="1" u="sng" dirty="0"/>
          </a:p>
          <a:p>
            <a:pPr lvl="0"/>
            <a:r>
              <a:rPr lang="en-NZ" b="1" i="1" u="sng" dirty="0"/>
              <a:t>Running  </a:t>
            </a:r>
            <a:r>
              <a:rPr lang="en-NZ" b="1" i="1" u="sng" dirty="0">
                <a:sym typeface="Wingdings" pitchFamily="2" charset="2"/>
              </a:rPr>
              <a:t> </a:t>
            </a:r>
            <a:r>
              <a:rPr lang="en-NZ" b="1" i="1" u="sng" dirty="0"/>
              <a:t> Ready/Suspend: </a:t>
            </a:r>
            <a:r>
              <a:rPr lang="en-NZ" dirty="0"/>
              <a:t>Normally, a running process is moved to the Ready state when its time allocation expires. If, however, the OS is pre-empting the process because a higher-priority process on the Blocked/Suspend queue has just become unblocked, the OS could move the running process directly to the (Ready/Suspend) queue and free some main memory.</a:t>
            </a:r>
          </a:p>
          <a:p>
            <a:endParaRPr lang="en-NZ" b="1" i="1" u="sng" dirty="0"/>
          </a:p>
          <a:p>
            <a:endParaRPr lang="en-NZ" b="1" i="1" u="sng" dirty="0"/>
          </a:p>
          <a:p>
            <a:r>
              <a:rPr lang="en-NZ" b="1" i="1" u="sng" dirty="0"/>
              <a:t>Any State </a:t>
            </a:r>
            <a:r>
              <a:rPr lang="en-NZ" b="1" i="1" u="sng" dirty="0">
                <a:sym typeface="Wingdings" pitchFamily="2" charset="2"/>
              </a:rPr>
              <a:t></a:t>
            </a:r>
            <a:r>
              <a:rPr lang="en-NZ" b="1" i="1" u="sng" dirty="0"/>
              <a:t> Exit: </a:t>
            </a:r>
            <a:r>
              <a:rPr lang="en-NZ" dirty="0"/>
              <a:t>Typically, a process terminates while it is running, either because it has completed or because of some fatal fault condition. However, in some operating systems, a process may be terminated by the process that created it or when the parent process is itself terminated. If this is allowed, then a process in any state can be moved to the Exit state.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33</a:t>
            </a:fld>
            <a:endParaRPr lang="en-US" dirty="0"/>
          </a:p>
        </p:txBody>
      </p:sp>
    </p:spTree>
    <p:extLst>
      <p:ext uri="{BB962C8B-B14F-4D97-AF65-F5344CB8AC3E}">
        <p14:creationId xmlns:p14="http://schemas.microsoft.com/office/powerpoint/2010/main" val="6997767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34</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007005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35</a:t>
            </a:fld>
            <a:endParaRPr lang="en-US"/>
          </a:p>
        </p:txBody>
      </p:sp>
    </p:spTree>
    <p:extLst>
      <p:ext uri="{BB962C8B-B14F-4D97-AF65-F5344CB8AC3E}">
        <p14:creationId xmlns:p14="http://schemas.microsoft.com/office/powerpoint/2010/main" val="1656541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36</a:t>
            </a:fld>
            <a:endParaRPr lang="en-US"/>
          </a:p>
        </p:txBody>
      </p:sp>
    </p:spTree>
    <p:extLst>
      <p:ext uri="{BB962C8B-B14F-4D97-AF65-F5344CB8AC3E}">
        <p14:creationId xmlns:p14="http://schemas.microsoft.com/office/powerpoint/2010/main" val="17331630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37</a:t>
            </a:fld>
            <a:endParaRPr lang="en-US"/>
          </a:p>
        </p:txBody>
      </p:sp>
    </p:spTree>
    <p:extLst>
      <p:ext uri="{BB962C8B-B14F-4D97-AF65-F5344CB8AC3E}">
        <p14:creationId xmlns:p14="http://schemas.microsoft.com/office/powerpoint/2010/main" val="18297244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38</a:t>
            </a:fld>
            <a:endParaRPr lang="en-US"/>
          </a:p>
        </p:txBody>
      </p:sp>
    </p:spTree>
    <p:extLst>
      <p:ext uri="{BB962C8B-B14F-4D97-AF65-F5344CB8AC3E}">
        <p14:creationId xmlns:p14="http://schemas.microsoft.com/office/powerpoint/2010/main" val="18985818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39</a:t>
            </a:fld>
            <a:endParaRPr lang="en-US"/>
          </a:p>
        </p:txBody>
      </p:sp>
    </p:spTree>
    <p:extLst>
      <p:ext uri="{BB962C8B-B14F-4D97-AF65-F5344CB8AC3E}">
        <p14:creationId xmlns:p14="http://schemas.microsoft.com/office/powerpoint/2010/main" val="20375888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40</a:t>
            </a:fld>
            <a:endParaRPr lang="en-US"/>
          </a:p>
        </p:txBody>
      </p:sp>
    </p:spTree>
    <p:extLst>
      <p:ext uri="{BB962C8B-B14F-4D97-AF65-F5344CB8AC3E}">
        <p14:creationId xmlns:p14="http://schemas.microsoft.com/office/powerpoint/2010/main" val="11364044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41</a:t>
            </a:fld>
            <a:endParaRPr lang="en-US"/>
          </a:p>
        </p:txBody>
      </p:sp>
    </p:spTree>
    <p:extLst>
      <p:ext uri="{BB962C8B-B14F-4D97-AF65-F5344CB8AC3E}">
        <p14:creationId xmlns:p14="http://schemas.microsoft.com/office/powerpoint/2010/main" val="30708483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42</a:t>
            </a:fld>
            <a:endParaRPr lang="en-US"/>
          </a:p>
        </p:txBody>
      </p:sp>
    </p:spTree>
    <p:extLst>
      <p:ext uri="{BB962C8B-B14F-4D97-AF65-F5344CB8AC3E}">
        <p14:creationId xmlns:p14="http://schemas.microsoft.com/office/powerpoint/2010/main" val="26207341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806E95-1A79-4F7A-A11C-5CCA1D455393}" type="slidenum">
              <a:rPr lang="en-US"/>
              <a:pPr/>
              <a:t>43</a:t>
            </a:fld>
            <a:endParaRPr lang="en-US"/>
          </a:p>
        </p:txBody>
      </p:sp>
      <p:sp>
        <p:nvSpPr>
          <p:cNvPr id="301058" name="Rectangle 2"/>
          <p:cNvSpPr>
            <a:spLocks noGrp="1" noRot="1" noChangeAspect="1" noChangeArrowheads="1" noTextEdit="1"/>
          </p:cNvSpPr>
          <p:nvPr>
            <p:ph type="sldImg"/>
          </p:nvPr>
        </p:nvSpPr>
        <p:spPr>
          <a:ln/>
        </p:spPr>
      </p:sp>
      <p:sp>
        <p:nvSpPr>
          <p:cNvPr id="301059" name="Rectangle 3"/>
          <p:cNvSpPr>
            <a:spLocks noGrp="1" noChangeArrowheads="1"/>
          </p:cNvSpPr>
          <p:nvPr>
            <p:ph type="body" idx="1"/>
          </p:nvPr>
        </p:nvSpPr>
        <p:spPr/>
        <p:txBody>
          <a:bodyPr/>
          <a:lstStyle/>
          <a:p>
            <a:pPr marL="228600" indent="-228600">
              <a:buFont typeface="+mj-lt"/>
              <a:buAutoNum type="arabicPeriod"/>
            </a:pPr>
            <a:r>
              <a:rPr lang="en-US" b="1" dirty="0"/>
              <a:t>-a: </a:t>
            </a:r>
            <a:r>
              <a:rPr lang="en-US" dirty="0"/>
              <a:t>displays information about the processes executing on your terminal except the session leader (your login shell)</a:t>
            </a:r>
          </a:p>
          <a:p>
            <a:pPr marL="228600" indent="-228600">
              <a:buFont typeface="+mj-lt"/>
              <a:buAutoNum type="arabicPeriod"/>
            </a:pPr>
            <a:r>
              <a:rPr lang="en-US" b="1" dirty="0"/>
              <a:t>-e: </a:t>
            </a:r>
            <a:r>
              <a:rPr lang="en-US" dirty="0"/>
              <a:t>display info about all the processes running on the system</a:t>
            </a:r>
          </a:p>
          <a:p>
            <a:pPr marL="228600" indent="-228600">
              <a:buFont typeface="+mj-lt"/>
              <a:buAutoNum type="arabicPeriod"/>
            </a:pPr>
            <a:r>
              <a:rPr lang="en-US" b="1" dirty="0"/>
              <a:t>-l: </a:t>
            </a:r>
            <a:r>
              <a:rPr lang="en-US" dirty="0"/>
              <a:t>display long list (14 columns) of the status report</a:t>
            </a:r>
          </a:p>
          <a:p>
            <a:pPr marL="228600" indent="-228600">
              <a:buFont typeface="+mj-lt"/>
              <a:buAutoNum type="arabicPeriod"/>
            </a:pPr>
            <a:r>
              <a:rPr lang="en-US" b="1" dirty="0"/>
              <a:t>-u </a:t>
            </a:r>
            <a:r>
              <a:rPr lang="en-US" b="1" dirty="0" err="1"/>
              <a:t>uidlist</a:t>
            </a:r>
            <a:r>
              <a:rPr lang="en-US" b="1" dirty="0"/>
              <a:t>:</a:t>
            </a:r>
            <a:r>
              <a:rPr lang="en-US" baseline="0" dirty="0"/>
              <a:t> </a:t>
            </a:r>
            <a:r>
              <a:rPr lang="en-US" dirty="0"/>
              <a:t> display info about processes belonging toe the users with the UIDs in comma separated</a:t>
            </a:r>
            <a:r>
              <a:rPr lang="en-US" baseline="0" dirty="0"/>
              <a:t> </a:t>
            </a:r>
            <a:r>
              <a:rPr lang="en-US" dirty="0" err="1"/>
              <a:t>uidlist</a:t>
            </a:r>
            <a:r>
              <a:rPr lang="en-US" dirty="0"/>
              <a:t> </a:t>
            </a:r>
          </a:p>
          <a:p>
            <a:pPr marL="228600" indent="-228600">
              <a:buFont typeface="+mj-lt"/>
              <a:buAutoNum type="arabicPeriod"/>
            </a:pPr>
            <a:endParaRPr lang="en-US" dirty="0"/>
          </a:p>
          <a:p>
            <a:pPr marL="0" indent="0">
              <a:buFont typeface="+mj-lt"/>
              <a:buNone/>
            </a:pPr>
            <a:r>
              <a:rPr lang="en-US" dirty="0"/>
              <a:t>State</a:t>
            </a:r>
            <a:r>
              <a:rPr lang="en-US" baseline="0" dirty="0"/>
              <a:t> : I, R, S, T U, Z</a:t>
            </a:r>
            <a:endParaRPr lang="en-US" dirty="0"/>
          </a:p>
          <a:p>
            <a:pPr marL="228600" indent="-228600">
              <a:buFont typeface="+mj-lt"/>
              <a:buAutoNum type="arabicPeriod"/>
            </a:pPr>
            <a:endParaRPr lang="en-US" dirty="0"/>
          </a:p>
          <a:p>
            <a:pPr marL="228600" indent="-228600">
              <a:buFont typeface="Arial" pitchFamily="34" charset="0"/>
              <a:buChar char="•"/>
            </a:pPr>
            <a:r>
              <a:rPr lang="en-US" b="1" dirty="0"/>
              <a:t>Daemon</a:t>
            </a:r>
            <a:r>
              <a:rPr lang="en-US" dirty="0"/>
              <a:t> is a</a:t>
            </a:r>
            <a:r>
              <a:rPr lang="en-US" baseline="0" dirty="0"/>
              <a:t> system process running in the back ground, e.g., </a:t>
            </a:r>
            <a:r>
              <a:rPr lang="en-US" baseline="0" dirty="0" err="1"/>
              <a:t>lpd</a:t>
            </a:r>
            <a:r>
              <a:rPr lang="en-US" baseline="0" dirty="0"/>
              <a:t>, </a:t>
            </a:r>
            <a:r>
              <a:rPr lang="en-US" baseline="0" dirty="0" err="1"/>
              <a:t>fingerd</a:t>
            </a:r>
            <a:r>
              <a:rPr lang="en-US" baseline="0" dirty="0"/>
              <a:t>, </a:t>
            </a:r>
            <a:r>
              <a:rPr lang="en-US" baseline="0" dirty="0" err="1"/>
              <a:t>inetd</a:t>
            </a:r>
            <a:r>
              <a:rPr lang="en-US" baseline="0" dirty="0"/>
              <a:t>, </a:t>
            </a:r>
          </a:p>
          <a:p>
            <a:pPr marL="228600" indent="-228600">
              <a:buFont typeface="Arial" pitchFamily="34" charset="0"/>
              <a:buChar char="•"/>
            </a:pPr>
            <a:r>
              <a:rPr lang="en-US" baseline="0" dirty="0"/>
              <a:t>The primary purpose of kill command is to send a signal / software interrupt to a process.</a:t>
            </a:r>
          </a:p>
          <a:p>
            <a:pPr marL="228600" indent="-228600">
              <a:buFont typeface="Arial" pitchFamily="34" charset="0"/>
              <a:buChar char="•"/>
            </a:pPr>
            <a:endParaRPr lang="en-US" baseline="0" dirty="0"/>
          </a:p>
          <a:p>
            <a:pPr algn="l"/>
            <a:r>
              <a:rPr lang="en-US" sz="1200" b="0" baseline="0" dirty="0">
                <a:latin typeface="Comic Sans MS" pitchFamily="66" charset="0"/>
              </a:rPr>
              <a:t>Commonly used </a:t>
            </a:r>
            <a:r>
              <a:rPr lang="en-US" sz="1200" b="1" baseline="0" dirty="0">
                <a:latin typeface="Comic Sans MS" pitchFamily="66" charset="0"/>
              </a:rPr>
              <a:t>signal numbers</a:t>
            </a:r>
            <a:r>
              <a:rPr lang="en-US" sz="1200" b="0" baseline="0" dirty="0">
                <a:latin typeface="Comic Sans MS" pitchFamily="66" charset="0"/>
              </a:rPr>
              <a:t>:</a:t>
            </a:r>
          </a:p>
          <a:p>
            <a:pPr algn="l"/>
            <a:r>
              <a:rPr lang="en-US" sz="1200" b="0" baseline="0" dirty="0">
                <a:latin typeface="Comic Sans MS" pitchFamily="66" charset="0"/>
              </a:rPr>
              <a:t>-1:    Hang up signal is generated when you log out</a:t>
            </a:r>
          </a:p>
          <a:p>
            <a:pPr algn="l"/>
            <a:r>
              <a:rPr lang="en-US" sz="1200" b="0" baseline="0" dirty="0">
                <a:latin typeface="Comic Sans MS" pitchFamily="66" charset="0"/>
              </a:rPr>
              <a:t>-2:    Interrupt signal is generate when you press CTRL + C</a:t>
            </a:r>
          </a:p>
          <a:p>
            <a:pPr algn="l"/>
            <a:r>
              <a:rPr lang="en-US" sz="1200" b="0" baseline="0" dirty="0">
                <a:latin typeface="Comic Sans MS" pitchFamily="66" charset="0"/>
              </a:rPr>
              <a:t>-3:    Quit signal is generated when you press CTRL-\</a:t>
            </a:r>
          </a:p>
          <a:p>
            <a:pPr algn="l"/>
            <a:r>
              <a:rPr lang="en-US" sz="1200" b="0" baseline="0" dirty="0">
                <a:latin typeface="Comic Sans MS" pitchFamily="66" charset="0"/>
              </a:rPr>
              <a:t>-9:    Sure kill</a:t>
            </a:r>
          </a:p>
          <a:p>
            <a:pPr algn="l"/>
            <a:r>
              <a:rPr lang="en-US" sz="1200" b="0" baseline="0" dirty="0">
                <a:latin typeface="Comic Sans MS" pitchFamily="66" charset="0"/>
              </a:rPr>
              <a:t>-15:  Software signal ( default signal number)</a:t>
            </a:r>
            <a:endParaRPr lang="en-US" sz="1200" b="0" dirty="0">
              <a:latin typeface="Comic Sans MS" pitchFamily="66" charset="0"/>
            </a:endParaRPr>
          </a:p>
          <a:p>
            <a:pPr marL="228600" indent="-228600">
              <a:buFont typeface="Arial" pitchFamily="34" charset="0"/>
              <a:buChar char="•"/>
            </a:pPr>
            <a:endParaRPr lang="en-US" dirty="0"/>
          </a:p>
        </p:txBody>
      </p:sp>
    </p:spTree>
    <p:extLst>
      <p:ext uri="{BB962C8B-B14F-4D97-AF65-F5344CB8AC3E}">
        <p14:creationId xmlns:p14="http://schemas.microsoft.com/office/powerpoint/2010/main" val="20000439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CFC14DB-8A99-44CB-BA83-39417D26C1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6530489F-79EC-4897-869D-780965D7E74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5" name="Rectangle 5">
              <a:extLst>
                <a:ext uri="{FF2B5EF4-FFF2-40B4-BE49-F238E27FC236}">
                  <a16:creationId xmlns:a16="http://schemas.microsoft.com/office/drawing/2014/main" id="{A83414BD-B475-4106-B6CC-2A825BC14624}"/>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6" name="Rectangle 6">
              <a:extLst>
                <a:ext uri="{FF2B5EF4-FFF2-40B4-BE49-F238E27FC236}">
                  <a16:creationId xmlns:a16="http://schemas.microsoft.com/office/drawing/2014/main" id="{45EEFC8D-4A80-4C8D-BB98-5471F8FF24CA}"/>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sp>
        <p:nvSpPr>
          <p:cNvPr id="7" name="Text Box 7">
            <a:extLst>
              <a:ext uri="{FF2B5EF4-FFF2-40B4-BE49-F238E27FC236}">
                <a16:creationId xmlns:a16="http://schemas.microsoft.com/office/drawing/2014/main" id="{CE292785-34F4-4129-BCFD-B22D0AC1FEE2}"/>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20D32FCA-31DE-4EA5-82C1-CF345076A238}"/>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090E6124-7B97-4EBF-8990-F55FBAA11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C449F6A7-C9D3-4C68-84CF-E1FEED2CAF96}"/>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1329701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2032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979326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37329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73013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75604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0379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518979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811741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286305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66856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1EFAC327-3B14-405A-AECD-695170F62AA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B7308704-6884-478D-913D-858724364FFC}"/>
              </a:ext>
            </a:extLst>
          </p:cNvPr>
          <p:cNvSpPr>
            <a:spLocks noGrp="1" noChangeArrowheads="1"/>
          </p:cNvSpPr>
          <p:nvPr>
            <p:ph type="title"/>
          </p:nvPr>
        </p:nvSpPr>
        <p:spPr bwMode="auto">
          <a:xfrm>
            <a:off x="457200" y="225425"/>
            <a:ext cx="807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C46878CA-A75D-4410-AFD2-1992D970E5FB}"/>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C1D23273-AE1D-4273-BD10-D4215E10B362}"/>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A52FF0B1-98D3-422D-A027-A89A772773D8}"/>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4A460C49-6450-4AA7-B172-624D0E8FA2B4}"/>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69885932-7748-44D3-A5FA-3EA2C19FA746}"/>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903"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8A5870B4-1ED7-12B7-6AA3-77117E26F32C}"/>
              </a:ext>
            </a:extLst>
          </p:cNvPr>
          <p:cNvSpPr>
            <a:spLocks noChangeArrowheads="1"/>
          </p:cNvSpPr>
          <p:nvPr/>
        </p:nvSpPr>
        <p:spPr bwMode="auto">
          <a:xfrm>
            <a:off x="6415088" y="4278086"/>
            <a:ext cx="2576512" cy="2373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solidFill>
                  <a:srgbClr val="008000"/>
                </a:solidFill>
                <a:latin typeface="Gill Sans MT" panose="020B0502020104020203" pitchFamily="34" charset="0"/>
              </a:rPr>
              <a:t>Operating System Concepts </a:t>
            </a:r>
            <a:br>
              <a:rPr lang="en-US" altLang="en-US" sz="2400" dirty="0">
                <a:solidFill>
                  <a:srgbClr val="008000"/>
                </a:solidFill>
                <a:latin typeface="Gill Sans MT" panose="020B0502020104020203" pitchFamily="34" charset="0"/>
              </a:rPr>
            </a:br>
            <a:r>
              <a:rPr lang="en-US" altLang="en-US" sz="1800" dirty="0">
                <a:solidFill>
                  <a:srgbClr val="008000"/>
                </a:solidFill>
                <a:latin typeface="Gill Sans MT" panose="020B0502020104020203" pitchFamily="34" charset="0"/>
              </a:rPr>
              <a:t>9</a:t>
            </a:r>
            <a:r>
              <a:rPr lang="en-US" altLang="en-US" sz="1800" baseline="30000" dirty="0">
                <a:solidFill>
                  <a:srgbClr val="008000"/>
                </a:solidFill>
                <a:latin typeface="Gill Sans MT" panose="020B0502020104020203" pitchFamily="34" charset="0"/>
              </a:rPr>
              <a:t>th</a:t>
            </a:r>
            <a:r>
              <a:rPr lang="en-US" altLang="en-US" sz="1800" dirty="0">
                <a:solidFill>
                  <a:srgbClr val="008000"/>
                </a:solidFill>
                <a:latin typeface="Gill Sans MT" panose="020B0502020104020203" pitchFamily="34" charset="0"/>
              </a:rPr>
              <a:t> edition </a:t>
            </a:r>
            <a:br>
              <a:rPr lang="en-US" altLang="en-US" sz="1800" dirty="0">
                <a:solidFill>
                  <a:srgbClr val="008000"/>
                </a:solidFill>
                <a:latin typeface="Gill Sans MT" panose="020B0502020104020203" pitchFamily="34" charset="0"/>
              </a:rPr>
            </a:br>
            <a:r>
              <a:rPr lang="en-US" altLang="en-US" sz="1800" dirty="0" err="1">
                <a:solidFill>
                  <a:srgbClr val="008000"/>
                </a:solidFill>
                <a:latin typeface="Gill Sans MT" panose="020B0502020104020203" pitchFamily="34" charset="0"/>
              </a:rPr>
              <a:t>Silberschatz</a:t>
            </a:r>
            <a:r>
              <a:rPr lang="en-US" altLang="en-US" sz="1800" dirty="0">
                <a:solidFill>
                  <a:srgbClr val="008000"/>
                </a:solidFill>
                <a:latin typeface="Gill Sans MT" panose="020B0502020104020203" pitchFamily="34" charset="0"/>
              </a:rPr>
              <a:t>, Galvin &amp; Gagne</a:t>
            </a:r>
            <a:br>
              <a:rPr lang="en-US" altLang="en-US" sz="1800" dirty="0">
                <a:solidFill>
                  <a:srgbClr val="008000"/>
                </a:solidFill>
                <a:latin typeface="Gill Sans MT" panose="020B0502020104020203" pitchFamily="34" charset="0"/>
              </a:rPr>
            </a:br>
            <a:r>
              <a:rPr lang="en-US" sz="1800" dirty="0">
                <a:solidFill>
                  <a:srgbClr val="008000"/>
                </a:solidFill>
                <a:latin typeface="Gill Sans MT" panose="020B0502020104020203" pitchFamily="34" charset="0"/>
              </a:rPr>
              <a:t>John Wiley &amp; Sons</a:t>
            </a:r>
            <a:br>
              <a:rPr lang="en-US" altLang="en-US" sz="1800">
                <a:solidFill>
                  <a:srgbClr val="008000"/>
                </a:solidFill>
                <a:latin typeface="Gill Sans MT" panose="020B0502020104020203" pitchFamily="34" charset="0"/>
              </a:rPr>
            </a:br>
            <a:r>
              <a:rPr lang="en-US" altLang="en-US" sz="1800">
                <a:solidFill>
                  <a:srgbClr val="008000"/>
                </a:solidFill>
                <a:latin typeface="Gill Sans MT" panose="020B0502020104020203" pitchFamily="34" charset="0"/>
              </a:rPr>
              <a:t>2013</a:t>
            </a:r>
            <a:endParaRPr lang="en-US" altLang="en-US" sz="1800" dirty="0">
              <a:solidFill>
                <a:srgbClr val="008000"/>
              </a:solidFill>
              <a:latin typeface="Gill Sans MT" panose="020B0502020104020203" pitchFamily="34" charset="0"/>
            </a:endParaRPr>
          </a:p>
        </p:txBody>
      </p:sp>
      <p:sp>
        <p:nvSpPr>
          <p:cNvPr id="3077" name="Rectangle 3">
            <a:extLst>
              <a:ext uri="{FF2B5EF4-FFF2-40B4-BE49-F238E27FC236}">
                <a16:creationId xmlns:a16="http://schemas.microsoft.com/office/drawing/2014/main" id="{9F7CCCC7-1A34-2F65-50C6-85CAE622F8CC}"/>
              </a:ext>
            </a:extLst>
          </p:cNvPr>
          <p:cNvSpPr txBox="1">
            <a:spLocks noChangeArrowheads="1"/>
          </p:cNvSpPr>
          <p:nvPr/>
        </p:nvSpPr>
        <p:spPr bwMode="auto">
          <a:xfrm>
            <a:off x="381000" y="5419725"/>
            <a:ext cx="41148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174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chemeClr val="accent1"/>
              </a:buClr>
              <a:buSzPct val="80000"/>
              <a:buFont typeface="Wingdings 2" panose="05020102010507070707" pitchFamily="18" charset="2"/>
              <a:buNone/>
            </a:pPr>
            <a:r>
              <a:rPr lang="en-GB" altLang="en-US" sz="2200" i="1">
                <a:solidFill>
                  <a:srgbClr val="002060"/>
                </a:solidFill>
              </a:rPr>
              <a:t>Dr Nauman Mazhar</a:t>
            </a:r>
          </a:p>
          <a:p>
            <a:pPr eaLnBrk="1" hangingPunct="1">
              <a:spcBef>
                <a:spcPts val="1200"/>
              </a:spcBef>
              <a:buClr>
                <a:schemeClr val="accent1"/>
              </a:buClr>
              <a:buSzPct val="80000"/>
              <a:buFont typeface="Wingdings 2" panose="05020102010507070707" pitchFamily="18" charset="2"/>
              <a:buNone/>
            </a:pPr>
            <a:r>
              <a:rPr lang="en-GB" altLang="en-US" sz="1800" i="1">
                <a:solidFill>
                  <a:srgbClr val="002060"/>
                </a:solidFill>
              </a:rPr>
              <a:t>Faculty of Information Technology (FIT)</a:t>
            </a:r>
          </a:p>
          <a:p>
            <a:pPr eaLnBrk="1" hangingPunct="1">
              <a:spcBef>
                <a:spcPct val="0"/>
              </a:spcBef>
              <a:buClr>
                <a:schemeClr val="accent1"/>
              </a:buClr>
              <a:buSzPct val="80000"/>
              <a:buFont typeface="Wingdings 2" panose="05020102010507070707" pitchFamily="18" charset="2"/>
              <a:buNone/>
            </a:pPr>
            <a:r>
              <a:rPr lang="en-GB" altLang="en-US" sz="1800" i="1">
                <a:solidFill>
                  <a:srgbClr val="002060"/>
                </a:solidFill>
              </a:rPr>
              <a:t>University of Central Punjab (UCP)</a:t>
            </a:r>
          </a:p>
        </p:txBody>
      </p:sp>
      <p:sp>
        <p:nvSpPr>
          <p:cNvPr id="10" name="Rectangle 2">
            <a:extLst>
              <a:ext uri="{FF2B5EF4-FFF2-40B4-BE49-F238E27FC236}">
                <a16:creationId xmlns:a16="http://schemas.microsoft.com/office/drawing/2014/main" id="{3E0C7144-25C9-C5AB-98F9-BA0DEB94097B}"/>
              </a:ext>
            </a:extLst>
          </p:cNvPr>
          <p:cNvSpPr txBox="1">
            <a:spLocks noChangeArrowheads="1"/>
          </p:cNvSpPr>
          <p:nvPr/>
        </p:nvSpPr>
        <p:spPr>
          <a:xfrm>
            <a:off x="930728" y="833438"/>
            <a:ext cx="7282543" cy="1828800"/>
          </a:xfrm>
          <a:prstGeom prst="rect">
            <a:avLst/>
          </a:prstGeom>
        </p:spPr>
        <p:txBody>
          <a:bodyPr/>
          <a:lstStyle/>
          <a:p>
            <a:pPr algn="ctr" eaLnBrk="1" fontAlgn="auto" hangingPunct="1">
              <a:spcAft>
                <a:spcPts val="0"/>
              </a:spcAft>
              <a:buFont typeface="Times New Roman" pitchFamily="18" charset="0"/>
              <a:buNone/>
              <a:defRPr/>
            </a:pPr>
            <a:r>
              <a:rPr lang="en-US" sz="3800" b="1" dirty="0">
                <a:solidFill>
                  <a:srgbClr val="0000CC"/>
                </a:solidFill>
                <a:latin typeface="+mj-lt"/>
                <a:ea typeface="+mj-ea"/>
                <a:cs typeface="+mj-cs"/>
              </a:rPr>
              <a:t>Operating Systems</a:t>
            </a:r>
          </a:p>
          <a:p>
            <a:pPr algn="ctr" eaLnBrk="1" fontAlgn="auto" hangingPunct="1">
              <a:spcBef>
                <a:spcPts val="1200"/>
              </a:spcBef>
              <a:spcAft>
                <a:spcPts val="0"/>
              </a:spcAft>
              <a:buFont typeface="Times New Roman" pitchFamily="18" charset="0"/>
              <a:buNone/>
              <a:defRPr/>
            </a:pPr>
            <a:r>
              <a:rPr lang="en-US" sz="2800" b="1" dirty="0">
                <a:solidFill>
                  <a:srgbClr val="0000CC"/>
                </a:solidFill>
                <a:latin typeface="+mj-lt"/>
                <a:ea typeface="+mj-ea"/>
                <a:cs typeface="+mj-cs"/>
              </a:rPr>
              <a:t>SENS-3513</a:t>
            </a:r>
          </a:p>
        </p:txBody>
      </p:sp>
      <p:sp>
        <p:nvSpPr>
          <p:cNvPr id="11" name="Rectangle 3">
            <a:extLst>
              <a:ext uri="{FF2B5EF4-FFF2-40B4-BE49-F238E27FC236}">
                <a16:creationId xmlns:a16="http://schemas.microsoft.com/office/drawing/2014/main" id="{9BC456DD-7F97-E05E-C599-ED9C715C1840}"/>
              </a:ext>
            </a:extLst>
          </p:cNvPr>
          <p:cNvSpPr txBox="1">
            <a:spLocks noChangeArrowheads="1"/>
          </p:cNvSpPr>
          <p:nvPr/>
        </p:nvSpPr>
        <p:spPr>
          <a:xfrm>
            <a:off x="609600" y="3352793"/>
            <a:ext cx="5410200" cy="1197429"/>
          </a:xfrm>
          <a:prstGeom prst="rect">
            <a:avLst/>
          </a:prstGeom>
        </p:spPr>
        <p:txBody>
          <a:bodyPr/>
          <a:lstStyle/>
          <a:p>
            <a:pPr marL="290513" indent="-290513" eaLnBrk="1" fontAlgn="auto" hangingPunct="1">
              <a:spcBef>
                <a:spcPts val="750"/>
              </a:spcBef>
              <a:spcAft>
                <a:spcPts val="0"/>
              </a:spcAft>
              <a:buFont typeface="Arial" pitchFamily="34"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sz="2400" i="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Process Management -1</a:t>
            </a:r>
          </a:p>
        </p:txBody>
      </p:sp>
      <p:sp>
        <p:nvSpPr>
          <p:cNvPr id="12" name="Rectangle 3">
            <a:extLst>
              <a:ext uri="{FF2B5EF4-FFF2-40B4-BE49-F238E27FC236}">
                <a16:creationId xmlns:a16="http://schemas.microsoft.com/office/drawing/2014/main" id="{8F84B381-6B23-3BBF-67F5-2B4832F9FC4B}"/>
              </a:ext>
            </a:extLst>
          </p:cNvPr>
          <p:cNvSpPr txBox="1">
            <a:spLocks noChangeArrowheads="1"/>
          </p:cNvSpPr>
          <p:nvPr/>
        </p:nvSpPr>
        <p:spPr>
          <a:xfrm>
            <a:off x="609600" y="2819394"/>
            <a:ext cx="2819400" cy="533400"/>
          </a:xfrm>
          <a:prstGeom prst="rect">
            <a:avLst/>
          </a:prstGeom>
        </p:spPr>
        <p:txBody>
          <a:bodyPr/>
          <a:lstStyle/>
          <a:p>
            <a:pPr marL="342900" indent="-342900" eaLnBrk="1" fontAlgn="auto" hangingPunct="1">
              <a:spcBef>
                <a:spcPts val="750"/>
              </a:spcBef>
              <a:spcAft>
                <a:spcPts val="0"/>
              </a:spcAft>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sz="2800" dirty="0">
                <a:solidFill>
                  <a:srgbClr val="FF0000"/>
                </a:solidFill>
                <a:effectLst>
                  <a:outerShdw blurRad="38100" dist="38100" dir="2700000" algn="tl">
                    <a:srgbClr val="C0C0C0"/>
                  </a:outerShdw>
                </a:effectLst>
                <a:latin typeface="+mn-lt"/>
                <a:cs typeface="+mn-cs"/>
              </a:rPr>
              <a:t>Week: 3</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6BA1119-0E5B-4C51-B6FA-28152283ADA3}"/>
              </a:ext>
            </a:extLst>
          </p:cNvPr>
          <p:cNvSpPr>
            <a:spLocks noGrp="1" noChangeArrowheads="1"/>
          </p:cNvSpPr>
          <p:nvPr>
            <p:ph type="title"/>
          </p:nvPr>
        </p:nvSpPr>
        <p:spPr>
          <a:xfrm>
            <a:off x="236868" y="158511"/>
            <a:ext cx="8066088"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B1102DF7-4A96-4DB4-93EE-EFEEB0DC39AF}"/>
              </a:ext>
            </a:extLst>
          </p:cNvPr>
          <p:cNvSpPr>
            <a:spLocks noGrp="1" noChangeArrowheads="1"/>
          </p:cNvSpPr>
          <p:nvPr>
            <p:ph type="body" idx="1"/>
          </p:nvPr>
        </p:nvSpPr>
        <p:spPr>
          <a:xfrm>
            <a:off x="691515" y="1029708"/>
            <a:ext cx="7978840" cy="5429014"/>
          </a:xfrm>
        </p:spPr>
        <p:txBody>
          <a:bodyPr/>
          <a:lstStyle/>
          <a:p>
            <a:pPr marL="0" indent="0" algn="ctr">
              <a:buNone/>
            </a:pPr>
            <a:r>
              <a:rPr lang="en-US" sz="2800" b="1" i="0" u="none" strike="noStrike" dirty="0">
                <a:solidFill>
                  <a:srgbClr val="000000"/>
                </a:solidFill>
                <a:effectLst/>
                <a:latin typeface="Calibri" panose="020F0502020204030204" pitchFamily="34" charset="0"/>
                <a:cs typeface="Calibri" panose="020F0502020204030204" pitchFamily="34" charset="0"/>
              </a:rPr>
              <a:t>Process Management</a:t>
            </a:r>
            <a:r>
              <a:rPr lang="en-US" sz="2800" dirty="0">
                <a:latin typeface="Calibri" panose="020F0502020204030204" pitchFamily="34" charset="0"/>
                <a:cs typeface="Calibri" panose="020F0502020204030204" pitchFamily="34" charset="0"/>
              </a:rPr>
              <a:t> </a:t>
            </a:r>
            <a:endParaRPr lang="en-US" sz="2800" b="1" dirty="0">
              <a:solidFill>
                <a:srgbClr val="000000"/>
              </a:solidFill>
              <a:latin typeface="Calibri" panose="020F0502020204030204" pitchFamily="34" charset="0"/>
              <a:cs typeface="Calibri" panose="020F0502020204030204" pitchFamily="34" charset="0"/>
            </a:endParaRPr>
          </a:p>
          <a:p>
            <a:r>
              <a:rPr lang="en-US" sz="2400" b="0" i="0" u="none" strike="noStrike" dirty="0">
                <a:solidFill>
                  <a:srgbClr val="000000"/>
                </a:solidFill>
                <a:effectLst/>
                <a:latin typeface="Calibri" panose="020F0502020204030204" pitchFamily="34" charset="0"/>
                <a:cs typeface="Calibri" panose="020F0502020204030204" pitchFamily="34" charset="0"/>
              </a:rPr>
              <a:t>Process vs Program</a:t>
            </a:r>
            <a:r>
              <a:rPr lang="en-US" sz="2400" dirty="0">
                <a:latin typeface="Calibri" panose="020F0502020204030204" pitchFamily="34" charset="0"/>
                <a:cs typeface="Calibri" panose="020F0502020204030204" pitchFamily="34" charset="0"/>
              </a:rPr>
              <a:t> </a:t>
            </a:r>
            <a:endParaRPr lang="en-US" sz="2400" b="1" dirty="0">
              <a:solidFill>
                <a:srgbClr val="000000"/>
              </a:solidFill>
              <a:latin typeface="Calibri" panose="020F0502020204030204" pitchFamily="34" charset="0"/>
              <a:cs typeface="Calibri" panose="020F0502020204030204" pitchFamily="34" charset="0"/>
            </a:endParaRPr>
          </a:p>
          <a:p>
            <a:r>
              <a:rPr lang="en-US" sz="2400" dirty="0">
                <a:solidFill>
                  <a:srgbClr val="000000"/>
                </a:solidFill>
                <a:latin typeface="Calibri" panose="020F0502020204030204" pitchFamily="34" charset="0"/>
                <a:cs typeface="Calibri" panose="020F0502020204030204" pitchFamily="34" charset="0"/>
              </a:rPr>
              <a:t>Process Control Block</a:t>
            </a:r>
            <a:r>
              <a:rPr lang="en-US" sz="2400" dirty="0">
                <a:latin typeface="Calibri" panose="020F0502020204030204" pitchFamily="34" charset="0"/>
                <a:cs typeface="Calibri" panose="020F0502020204030204" pitchFamily="34" charset="0"/>
              </a:rPr>
              <a:t> </a:t>
            </a:r>
            <a:endParaRPr lang="en-US" sz="2400" b="1" dirty="0">
              <a:solidFill>
                <a:srgbClr val="000000"/>
              </a:solidFill>
              <a:latin typeface="Calibri" panose="020F0502020204030204" pitchFamily="34" charset="0"/>
              <a:cs typeface="Calibri" panose="020F0502020204030204" pitchFamily="34" charset="0"/>
            </a:endParaRPr>
          </a:p>
          <a:p>
            <a:r>
              <a:rPr lang="en-US" sz="2400" b="0" i="0" u="none" strike="noStrike" dirty="0">
                <a:solidFill>
                  <a:srgbClr val="000000"/>
                </a:solidFill>
                <a:effectLst/>
                <a:latin typeface="Calibri" panose="020F0502020204030204" pitchFamily="34" charset="0"/>
                <a:cs typeface="Calibri" panose="020F0502020204030204" pitchFamily="34" charset="0"/>
              </a:rPr>
              <a:t>Process States </a:t>
            </a:r>
            <a:br>
              <a:rPr lang="en-US" sz="2400" b="0" i="0" u="none" strike="noStrike" dirty="0">
                <a:solidFill>
                  <a:srgbClr val="000000"/>
                </a:solidFill>
                <a:effectLst/>
                <a:latin typeface="Calibri" panose="020F0502020204030204" pitchFamily="34" charset="0"/>
                <a:cs typeface="Calibri" panose="020F0502020204030204" pitchFamily="34" charset="0"/>
              </a:rPr>
            </a:br>
            <a:r>
              <a:rPr lang="en-US" sz="2400" b="0" i="0" u="none" strike="noStrike" dirty="0">
                <a:solidFill>
                  <a:srgbClr val="000000"/>
                </a:solidFill>
                <a:effectLst/>
                <a:latin typeface="Calibri" panose="020F0502020204030204" pitchFamily="34" charset="0"/>
                <a:cs typeface="Calibri" panose="020F0502020204030204" pitchFamily="34" charset="0"/>
              </a:rPr>
              <a:t>       (</a:t>
            </a:r>
            <a:r>
              <a:rPr lang="en-US" sz="2400" dirty="0">
                <a:solidFill>
                  <a:srgbClr val="000000"/>
                </a:solidFill>
                <a:latin typeface="Calibri" panose="020F0502020204030204" pitchFamily="34" charset="0"/>
                <a:cs typeface="Calibri" panose="020F0502020204030204" pitchFamily="34" charset="0"/>
              </a:rPr>
              <a:t>n</a:t>
            </a:r>
            <a:r>
              <a:rPr lang="en-US" sz="2400" b="0" i="0" u="none" strike="noStrike" dirty="0">
                <a:solidFill>
                  <a:srgbClr val="000000"/>
                </a:solidFill>
                <a:effectLst/>
                <a:latin typeface="Calibri" panose="020F0502020204030204" pitchFamily="34" charset="0"/>
                <a:cs typeface="Calibri" panose="020F0502020204030204" pitchFamily="34" charset="0"/>
              </a:rPr>
              <a:t>ew, running, waiting, ready, </a:t>
            </a:r>
            <a:r>
              <a:rPr lang="en-US" sz="2400" dirty="0">
                <a:solidFill>
                  <a:srgbClr val="000000"/>
                </a:solidFill>
                <a:latin typeface="Calibri" panose="020F0502020204030204" pitchFamily="34" charset="0"/>
                <a:cs typeface="Calibri" panose="020F0502020204030204" pitchFamily="34" charset="0"/>
              </a:rPr>
              <a:t>t</a:t>
            </a:r>
            <a:r>
              <a:rPr lang="en-US" sz="2400" b="0" i="0" u="none" strike="noStrike" dirty="0">
                <a:solidFill>
                  <a:srgbClr val="000000"/>
                </a:solidFill>
                <a:effectLst/>
                <a:latin typeface="Calibri" panose="020F0502020204030204" pitchFamily="34" charset="0"/>
                <a:cs typeface="Calibri" panose="020F0502020204030204" pitchFamily="34" charset="0"/>
              </a:rPr>
              <a:t>erminated)</a:t>
            </a:r>
            <a:r>
              <a:rPr lang="en-US" sz="2400" dirty="0">
                <a:latin typeface="Calibri" panose="020F0502020204030204" pitchFamily="34" charset="0"/>
                <a:cs typeface="Calibri" panose="020F0502020204030204" pitchFamily="34" charset="0"/>
              </a:rPr>
              <a:t> </a:t>
            </a:r>
            <a:endParaRPr lang="en-US" sz="2400" b="1" dirty="0">
              <a:solidFill>
                <a:srgbClr val="000000"/>
              </a:solidFill>
              <a:latin typeface="Calibri" panose="020F0502020204030204" pitchFamily="34" charset="0"/>
              <a:cs typeface="Calibri" panose="020F0502020204030204" pitchFamily="34" charset="0"/>
            </a:endParaRPr>
          </a:p>
          <a:p>
            <a:r>
              <a:rPr lang="en-US" sz="2400" b="0" i="0" u="none" strike="noStrike" dirty="0">
                <a:solidFill>
                  <a:srgbClr val="000000"/>
                </a:solidFill>
                <a:effectLst/>
                <a:latin typeface="Calibri" panose="020F0502020204030204" pitchFamily="34" charset="0"/>
                <a:cs typeface="Calibri" panose="020F0502020204030204" pitchFamily="34" charset="0"/>
              </a:rPr>
              <a:t>Process Scheduling</a:t>
            </a:r>
            <a:r>
              <a:rPr lang="en-US" sz="2400" dirty="0">
                <a:latin typeface="Calibri" panose="020F0502020204030204" pitchFamily="34" charset="0"/>
                <a:cs typeface="Calibri" panose="020F0502020204030204" pitchFamily="34" charset="0"/>
              </a:rPr>
              <a:t> </a:t>
            </a:r>
            <a:r>
              <a:rPr lang="en-US" sz="2400" b="0" i="0" u="none" strike="noStrike" dirty="0">
                <a:solidFill>
                  <a:srgbClr val="000000"/>
                </a:solidFill>
                <a:effectLst/>
                <a:latin typeface="Calibri" panose="020F0502020204030204" pitchFamily="34" charset="0"/>
                <a:cs typeface="Calibri" panose="020F0502020204030204" pitchFamily="34" charset="0"/>
              </a:rPr>
              <a:t> Queues</a:t>
            </a:r>
            <a:r>
              <a:rPr lang="en-US" sz="2400" dirty="0">
                <a:latin typeface="Calibri" panose="020F0502020204030204" pitchFamily="34" charset="0"/>
                <a:cs typeface="Calibri" panose="020F0502020204030204" pitchFamily="34" charset="0"/>
              </a:rPr>
              <a:t> </a:t>
            </a:r>
          </a:p>
          <a:p>
            <a:r>
              <a:rPr lang="en-US" sz="2400" b="0" i="0" u="none" strike="noStrike" dirty="0">
                <a:solidFill>
                  <a:srgbClr val="000000"/>
                </a:solidFill>
                <a:effectLst/>
                <a:latin typeface="Calibri" panose="020F0502020204030204" pitchFamily="34" charset="0"/>
                <a:cs typeface="Calibri" panose="020F0502020204030204" pitchFamily="34" charset="0"/>
              </a:rPr>
              <a:t>Schedulers </a:t>
            </a:r>
            <a:br>
              <a:rPr lang="en-US" sz="2400" b="0" i="0" u="none" strike="noStrike" dirty="0">
                <a:solidFill>
                  <a:srgbClr val="000000"/>
                </a:solidFill>
                <a:effectLst/>
                <a:latin typeface="Calibri" panose="020F0502020204030204" pitchFamily="34" charset="0"/>
                <a:cs typeface="Calibri" panose="020F0502020204030204" pitchFamily="34" charset="0"/>
              </a:rPr>
            </a:br>
            <a:r>
              <a:rPr lang="en-US" sz="2400" b="0" i="0" u="none" strike="noStrike" dirty="0">
                <a:solidFill>
                  <a:srgbClr val="000000"/>
                </a:solidFill>
                <a:effectLst/>
                <a:latin typeface="Calibri" panose="020F0502020204030204" pitchFamily="34" charset="0"/>
                <a:cs typeface="Calibri" panose="020F0502020204030204" pitchFamily="34" charset="0"/>
              </a:rPr>
              <a:t>       (long-term, medium-term, short-term) </a:t>
            </a:r>
          </a:p>
          <a:p>
            <a:r>
              <a:rPr lang="en-US" sz="2400" dirty="0">
                <a:solidFill>
                  <a:srgbClr val="000000"/>
                </a:solidFill>
                <a:latin typeface="Calibri" panose="020F0502020204030204" pitchFamily="34" charset="0"/>
                <a:cs typeface="Calibri" panose="020F0502020204030204" pitchFamily="34" charset="0"/>
              </a:rPr>
              <a:t>Context switching</a:t>
            </a:r>
          </a:p>
          <a:p>
            <a:r>
              <a:rPr lang="en-US" sz="2400" b="0" i="0" u="none" strike="noStrike" dirty="0">
                <a:solidFill>
                  <a:srgbClr val="000000"/>
                </a:solidFill>
                <a:effectLst/>
                <a:latin typeface="Calibri" panose="020F0502020204030204" pitchFamily="34" charset="0"/>
                <a:cs typeface="Calibri" panose="020F0502020204030204" pitchFamily="34" charset="0"/>
              </a:rPr>
              <a:t>Process related Linux commands</a:t>
            </a:r>
            <a:r>
              <a:rPr lang="en-US" sz="2400" dirty="0">
                <a:latin typeface="Calibri" panose="020F0502020204030204" pitchFamily="34" charset="0"/>
                <a:cs typeface="Calibri" panose="020F0502020204030204" pitchFamily="34" charset="0"/>
              </a:rPr>
              <a:t> </a:t>
            </a:r>
          </a:p>
        </p:txBody>
      </p:sp>
      <p:sp>
        <p:nvSpPr>
          <p:cNvPr id="2" name="Slide Number Placeholder 3">
            <a:extLst>
              <a:ext uri="{FF2B5EF4-FFF2-40B4-BE49-F238E27FC236}">
                <a16:creationId xmlns:a16="http://schemas.microsoft.com/office/drawing/2014/main" id="{C9C9DC88-2E5F-34FE-24D4-32D0F7C5708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01487" y="0"/>
            <a:ext cx="7035074" cy="762000"/>
          </a:xfrm>
        </p:spPr>
        <p:txBody>
          <a:bodyPr>
            <a:noAutofit/>
          </a:bodyPr>
          <a:lstStyle/>
          <a:p>
            <a:r>
              <a:rPr lang="en-US" dirty="0"/>
              <a:t>Process management</a:t>
            </a:r>
          </a:p>
        </p:txBody>
      </p:sp>
      <p:sp>
        <p:nvSpPr>
          <p:cNvPr id="16" name="Rectangle 3"/>
          <p:cNvSpPr txBox="1">
            <a:spLocks noChangeArrowheads="1"/>
          </p:cNvSpPr>
          <p:nvPr/>
        </p:nvSpPr>
        <p:spPr>
          <a:xfrm>
            <a:off x="348339" y="1092198"/>
            <a:ext cx="8636925" cy="5355771"/>
          </a:xfrm>
          <a:prstGeom prst="rect">
            <a:avLst/>
          </a:prstGeom>
        </p:spPr>
        <p:txBody>
          <a:bodyPr vert="horz" lIns="91440" tIns="45720" rIns="91440" bIns="45720" rtlCol="0">
            <a:noAutofit/>
          </a:bodyPr>
          <a:lstStyle/>
          <a:p>
            <a:pPr marL="342900" marR="0" lvl="0" indent="-342900" algn="l" defTabSz="914400" rtl="0" eaLnBrk="1" fontAlgn="auto" latinLnBrk="0" hangingPunct="1">
              <a:spcBef>
                <a:spcPts val="600"/>
              </a:spcBef>
              <a:spcAft>
                <a:spcPts val="0"/>
              </a:spcAft>
              <a:buClrTx/>
              <a:buSzTx/>
              <a:buFont typeface="Wingdings" panose="05000000000000000000" pitchFamily="2" charset="2"/>
              <a:buChar char="§"/>
              <a:tabLst/>
              <a:defRPr/>
            </a:pPr>
            <a:r>
              <a:rPr lang="en-US" sz="2400" dirty="0">
                <a:latin typeface="Calibri" panose="020F0502020204030204" pitchFamily="34" charset="0"/>
                <a:cs typeface="Calibri" panose="020F0502020204030204" pitchFamily="34" charset="0"/>
              </a:rPr>
              <a:t>Multiprogramming, multitasking systems – many programs run simultaneously</a:t>
            </a:r>
          </a:p>
          <a:p>
            <a:pPr marL="800100" lvl="1"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users may execute same/different programs</a:t>
            </a:r>
          </a:p>
          <a:p>
            <a:pPr marL="342900" marR="0" lvl="0" indent="-342900" algn="l" defTabSz="914400" rtl="0" eaLnBrk="1" fontAlgn="auto" latinLnBrk="0" hangingPunct="1">
              <a:spcBef>
                <a:spcPts val="1800"/>
              </a:spcBef>
              <a:spcAft>
                <a:spcPts val="0"/>
              </a:spcAft>
              <a:buClrTx/>
              <a:buSzTx/>
              <a:buFont typeface="Wingdings" panose="05000000000000000000" pitchFamily="2" charset="2"/>
              <a:buChar char="§"/>
              <a:tabLst/>
              <a:defRPr/>
            </a:pPr>
            <a:r>
              <a:rPr lang="en-US" sz="2400" dirty="0">
                <a:latin typeface="Calibri" panose="020F0502020204030204" pitchFamily="34" charset="0"/>
                <a:cs typeface="Calibri" panose="020F0502020204030204" pitchFamily="34" charset="0"/>
              </a:rPr>
              <a:t>Fundamental task of modern OS – </a:t>
            </a:r>
            <a:r>
              <a:rPr lang="en-US" sz="2400" b="1" dirty="0">
                <a:solidFill>
                  <a:srgbClr val="003399"/>
                </a:solidFill>
                <a:latin typeface="Calibri" panose="020F0502020204030204" pitchFamily="34" charset="0"/>
                <a:cs typeface="Calibri" panose="020F0502020204030204" pitchFamily="34" charset="0"/>
              </a:rPr>
              <a:t>Process Management</a:t>
            </a:r>
          </a:p>
          <a:p>
            <a:pPr marL="800100" lvl="1" indent="-342900">
              <a:spcBef>
                <a:spcPts val="600"/>
              </a:spcBef>
              <a:spcAft>
                <a:spcPts val="0"/>
              </a:spcAft>
              <a:buFont typeface="Arial" panose="020B0604020202020204" pitchFamily="34" charset="0"/>
              <a:buChar char="•"/>
              <a:defRPr/>
            </a:pPr>
            <a:r>
              <a:rPr lang="en-US" sz="2100" dirty="0">
                <a:solidFill>
                  <a:srgbClr val="C00000"/>
                </a:solidFill>
                <a:latin typeface="Calibri" panose="020F0502020204030204" pitchFamily="34" charset="0"/>
                <a:cs typeface="Calibri" panose="020F0502020204030204" pitchFamily="34" charset="0"/>
              </a:rPr>
              <a:t>allocating resources </a:t>
            </a:r>
            <a:r>
              <a:rPr lang="en-US" sz="2100" dirty="0">
                <a:latin typeface="Calibri" panose="020F0502020204030204" pitchFamily="34" charset="0"/>
                <a:cs typeface="Calibri" panose="020F0502020204030204" pitchFamily="34" charset="0"/>
              </a:rPr>
              <a:t>to processes</a:t>
            </a:r>
          </a:p>
          <a:p>
            <a:pPr marL="800100" lvl="1" indent="-342900">
              <a:spcBef>
                <a:spcPts val="600"/>
              </a:spcBef>
              <a:spcAft>
                <a:spcPts val="0"/>
              </a:spcAft>
              <a:buFont typeface="Arial" panose="020B0604020202020204" pitchFamily="34" charset="0"/>
              <a:buChar char="•"/>
              <a:defRPr/>
            </a:pPr>
            <a:r>
              <a:rPr lang="en-US" sz="2100" dirty="0">
                <a:solidFill>
                  <a:srgbClr val="C00000"/>
                </a:solidFill>
                <a:latin typeface="Calibri" panose="020F0502020204030204" pitchFamily="34" charset="0"/>
                <a:cs typeface="Calibri" panose="020F0502020204030204" pitchFamily="34" charset="0"/>
              </a:rPr>
              <a:t>sharing/exchanging info </a:t>
            </a:r>
            <a:r>
              <a:rPr lang="en-US" sz="2100" dirty="0">
                <a:latin typeface="Calibri" panose="020F0502020204030204" pitchFamily="34" charset="0"/>
                <a:cs typeface="Calibri" panose="020F0502020204030204" pitchFamily="34" charset="0"/>
              </a:rPr>
              <a:t>between processes</a:t>
            </a:r>
            <a:endParaRPr lang="en-US" sz="2100" dirty="0">
              <a:solidFill>
                <a:srgbClr val="C00000"/>
              </a:solidFill>
              <a:latin typeface="Calibri" panose="020F0502020204030204" pitchFamily="34" charset="0"/>
              <a:cs typeface="Calibri" panose="020F0502020204030204" pitchFamily="34" charset="0"/>
            </a:endParaRPr>
          </a:p>
          <a:p>
            <a:pPr marL="800100" lvl="1" indent="-342900">
              <a:spcBef>
                <a:spcPts val="600"/>
              </a:spcBef>
              <a:spcAft>
                <a:spcPts val="0"/>
              </a:spcAft>
              <a:buFont typeface="Arial" panose="020B0604020202020204" pitchFamily="34" charset="0"/>
              <a:buChar char="•"/>
              <a:defRPr/>
            </a:pPr>
            <a:r>
              <a:rPr lang="en-US" sz="2100" dirty="0">
                <a:solidFill>
                  <a:srgbClr val="C00000"/>
                </a:solidFill>
                <a:latin typeface="Calibri" panose="020F0502020204030204" pitchFamily="34" charset="0"/>
                <a:cs typeface="Calibri" panose="020F0502020204030204" pitchFamily="34" charset="0"/>
              </a:rPr>
              <a:t>synchronization</a:t>
            </a:r>
            <a:r>
              <a:rPr lang="en-US" sz="2100" dirty="0">
                <a:latin typeface="Calibri" panose="020F0502020204030204" pitchFamily="34" charset="0"/>
                <a:cs typeface="Calibri" panose="020F0502020204030204" pitchFamily="34" charset="0"/>
              </a:rPr>
              <a:t> among processes</a:t>
            </a:r>
          </a:p>
          <a:p>
            <a:pPr marL="800100" lvl="1" indent="-342900">
              <a:spcBef>
                <a:spcPts val="600"/>
              </a:spcBef>
              <a:spcAft>
                <a:spcPts val="0"/>
              </a:spcAft>
              <a:buFont typeface="Arial" panose="020B0604020202020204" pitchFamily="34" charset="0"/>
              <a:buChar char="•"/>
              <a:defRPr/>
            </a:pPr>
            <a:r>
              <a:rPr lang="en-US" sz="2100" dirty="0">
                <a:solidFill>
                  <a:srgbClr val="C00000"/>
                </a:solidFill>
                <a:latin typeface="Calibri" panose="020F0502020204030204" pitchFamily="34" charset="0"/>
                <a:cs typeface="Calibri" panose="020F0502020204030204" pitchFamily="34" charset="0"/>
              </a:rPr>
              <a:t>protecting</a:t>
            </a:r>
            <a:r>
              <a:rPr lang="en-US" sz="2100" dirty="0">
                <a:latin typeface="Calibri" panose="020F0502020204030204" pitchFamily="34" charset="0"/>
                <a:cs typeface="Calibri" panose="020F0502020204030204" pitchFamily="34" charset="0"/>
              </a:rPr>
              <a:t> processes from one another</a:t>
            </a:r>
          </a:p>
          <a:p>
            <a:pPr marL="342900" indent="-342900">
              <a:spcBef>
                <a:spcPts val="1800"/>
              </a:spcBef>
              <a:spcAft>
                <a:spcPts val="0"/>
              </a:spcAft>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OS maintains various data structures :</a:t>
            </a:r>
          </a:p>
          <a:p>
            <a:pPr marL="800100" lvl="1"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show state &amp; resource ownership of process </a:t>
            </a:r>
          </a:p>
          <a:p>
            <a:pPr marL="800100" lvl="1"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allow OS to implement process control</a:t>
            </a:r>
          </a:p>
        </p:txBody>
      </p:sp>
      <p:sp>
        <p:nvSpPr>
          <p:cNvPr id="2" name="Slide Number Placeholder 3">
            <a:extLst>
              <a:ext uri="{FF2B5EF4-FFF2-40B4-BE49-F238E27FC236}">
                <a16:creationId xmlns:a16="http://schemas.microsoft.com/office/drawing/2014/main" id="{6526F5C7-6E9A-4673-1007-FAA759E356C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01486" y="0"/>
            <a:ext cx="7587343" cy="762000"/>
          </a:xfrm>
        </p:spPr>
        <p:txBody>
          <a:bodyPr>
            <a:noAutofit/>
          </a:bodyPr>
          <a:lstStyle/>
          <a:p>
            <a:r>
              <a:rPr lang="en-US" sz="3100" dirty="0"/>
              <a:t>Source code, Program &amp; Process</a:t>
            </a:r>
          </a:p>
        </p:txBody>
      </p:sp>
      <p:sp>
        <p:nvSpPr>
          <p:cNvPr id="16" name="Rectangle 3"/>
          <p:cNvSpPr txBox="1">
            <a:spLocks noChangeArrowheads="1"/>
          </p:cNvSpPr>
          <p:nvPr/>
        </p:nvSpPr>
        <p:spPr>
          <a:xfrm>
            <a:off x="439779" y="1031238"/>
            <a:ext cx="8562707" cy="5355771"/>
          </a:xfrm>
          <a:prstGeom prst="rect">
            <a:avLst/>
          </a:prstGeom>
        </p:spPr>
        <p:txBody>
          <a:bodyPr vert="horz" lIns="91440" tIns="45720" rIns="91440" bIns="45720" rtlCol="0">
            <a:noAutofit/>
          </a:bodyPr>
          <a:lstStyle/>
          <a:p>
            <a:pPr marL="342900" indent="-342900" eaLnBrk="1" fontAlgn="auto" hangingPunct="1">
              <a:spcBef>
                <a:spcPts val="600"/>
              </a:spcBef>
              <a:spcAft>
                <a:spcPts val="0"/>
              </a:spcAft>
              <a:buFont typeface="Wingdings" panose="05000000000000000000" pitchFamily="2" charset="2"/>
              <a:buChar char="§"/>
              <a:defRPr/>
            </a:pPr>
            <a:r>
              <a:rPr lang="en-US" sz="2400" b="1" dirty="0">
                <a:solidFill>
                  <a:srgbClr val="003399"/>
                </a:solidFill>
                <a:latin typeface="Calibri" panose="020F0502020204030204" pitchFamily="34" charset="0"/>
                <a:cs typeface="Calibri" panose="020F0502020204030204" pitchFamily="34" charset="0"/>
              </a:rPr>
              <a:t>Source code  –  </a:t>
            </a:r>
            <a:r>
              <a:rPr lang="en-US" sz="2200" dirty="0">
                <a:latin typeface="Calibri" panose="020F0502020204030204" pitchFamily="34" charset="0"/>
                <a:cs typeface="Calibri" panose="020F0502020204030204" pitchFamily="34" charset="0"/>
              </a:rPr>
              <a:t>software appl in </a:t>
            </a:r>
            <a:r>
              <a:rPr lang="en-US" sz="2200" dirty="0">
                <a:solidFill>
                  <a:srgbClr val="C00000"/>
                </a:solidFill>
                <a:latin typeface="Calibri" panose="020F0502020204030204" pitchFamily="34" charset="0"/>
                <a:cs typeface="Calibri" panose="020F0502020204030204" pitchFamily="34" charset="0"/>
              </a:rPr>
              <a:t>text form</a:t>
            </a:r>
            <a:r>
              <a:rPr lang="en-US" sz="2200" dirty="0">
                <a:latin typeface="Calibri" panose="020F0502020204030204" pitchFamily="34" charset="0"/>
                <a:cs typeface="Calibri" panose="020F0502020204030204" pitchFamily="34" charset="0"/>
              </a:rPr>
              <a:t> </a:t>
            </a:r>
          </a:p>
          <a:p>
            <a:pPr marL="800100" lvl="1" indent="-342900" eaLnBrk="1" fontAlgn="auto" hangingPunct="1">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written in some programming language</a:t>
            </a:r>
          </a:p>
          <a:p>
            <a:pPr marL="342900" indent="-342900">
              <a:spcBef>
                <a:spcPts val="1800"/>
              </a:spcBef>
              <a:spcAft>
                <a:spcPts val="0"/>
              </a:spcAft>
              <a:buFont typeface="Wingdings" panose="05000000000000000000" pitchFamily="2" charset="2"/>
              <a:buChar char="§"/>
              <a:defRPr/>
            </a:pPr>
            <a:r>
              <a:rPr lang="en-US" sz="2400" b="1" dirty="0">
                <a:solidFill>
                  <a:srgbClr val="003399"/>
                </a:solidFill>
                <a:latin typeface="Calibri" panose="020F0502020204030204" pitchFamily="34" charset="0"/>
                <a:cs typeface="Calibri" panose="020F0502020204030204" pitchFamily="34" charset="0"/>
              </a:rPr>
              <a:t>Program  </a:t>
            </a:r>
            <a:r>
              <a:rPr lang="en-US" sz="2200" dirty="0">
                <a:latin typeface="Calibri" panose="020F0502020204030204" pitchFamily="34" charset="0"/>
                <a:cs typeface="Calibri" panose="020F0502020204030204" pitchFamily="34" charset="0"/>
              </a:rPr>
              <a:t> </a:t>
            </a:r>
          </a:p>
          <a:p>
            <a:pPr marL="800100" lvl="1"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source code in </a:t>
            </a:r>
            <a:r>
              <a:rPr lang="en-US" sz="2100" dirty="0">
                <a:solidFill>
                  <a:srgbClr val="C00000"/>
                </a:solidFill>
                <a:latin typeface="Calibri" panose="020F0502020204030204" pitchFamily="34" charset="0"/>
                <a:cs typeface="Calibri" panose="020F0502020204030204" pitchFamily="34" charset="0"/>
              </a:rPr>
              <a:t>binary form  –  </a:t>
            </a:r>
            <a:r>
              <a:rPr lang="en-US" sz="2100" dirty="0">
                <a:latin typeface="Calibri" panose="020F0502020204030204" pitchFamily="34" charset="0"/>
                <a:cs typeface="Calibri" panose="020F0502020204030204" pitchFamily="34" charset="0"/>
              </a:rPr>
              <a:t>after compiling &amp; linking </a:t>
            </a:r>
          </a:p>
          <a:p>
            <a:pPr marL="800100" lvl="1"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stored in </a:t>
            </a:r>
            <a:r>
              <a:rPr lang="en-US" sz="2100" dirty="0">
                <a:solidFill>
                  <a:srgbClr val="C00000"/>
                </a:solidFill>
                <a:latin typeface="Calibri" panose="020F0502020204030204" pitchFamily="34" charset="0"/>
                <a:cs typeface="Calibri" panose="020F0502020204030204" pitchFamily="34" charset="0"/>
              </a:rPr>
              <a:t>executable format  –  </a:t>
            </a:r>
            <a:r>
              <a:rPr lang="en-US" sz="2100" dirty="0">
                <a:latin typeface="Calibri" panose="020F0502020204030204" pitchFamily="34" charset="0"/>
                <a:cs typeface="Calibri" panose="020F0502020204030204" pitchFamily="34" charset="0"/>
              </a:rPr>
              <a:t>load &amp; execute on CPU</a:t>
            </a:r>
          </a:p>
          <a:p>
            <a:pPr marL="342900" indent="-342900">
              <a:spcBef>
                <a:spcPts val="1800"/>
              </a:spcBef>
              <a:spcAft>
                <a:spcPts val="0"/>
              </a:spcAft>
              <a:buFont typeface="Wingdings" panose="05000000000000000000" pitchFamily="2" charset="2"/>
              <a:buChar char="§"/>
              <a:defRPr/>
            </a:pPr>
            <a:r>
              <a:rPr lang="en-US" sz="2400" b="1" dirty="0">
                <a:solidFill>
                  <a:srgbClr val="003399"/>
                </a:solidFill>
                <a:latin typeface="Calibri" panose="020F0502020204030204" pitchFamily="34" charset="0"/>
                <a:cs typeface="Calibri" panose="020F0502020204030204" pitchFamily="34" charset="0"/>
              </a:rPr>
              <a:t>Process  –  </a:t>
            </a:r>
            <a:r>
              <a:rPr lang="en-US" sz="2200" dirty="0">
                <a:latin typeface="Calibri" panose="020F0502020204030204" pitchFamily="34" charset="0"/>
                <a:cs typeface="Calibri" panose="020F0502020204030204" pitchFamily="34" charset="0"/>
              </a:rPr>
              <a:t>A program in execution…!! </a:t>
            </a:r>
          </a:p>
          <a:p>
            <a:pPr marL="800100" lvl="1" indent="-342900">
              <a:spcBef>
                <a:spcPts val="600"/>
              </a:spcBef>
              <a:spcAft>
                <a:spcPts val="0"/>
              </a:spcAft>
              <a:buFont typeface="Arial" panose="020B0604020202020204" pitchFamily="34" charset="0"/>
              <a:buChar char="•"/>
              <a:defRPr/>
            </a:pPr>
            <a:r>
              <a:rPr lang="en-US" sz="2100" dirty="0">
                <a:solidFill>
                  <a:srgbClr val="C00000"/>
                </a:solidFill>
                <a:latin typeface="Calibri" panose="020F0502020204030204" pitchFamily="34" charset="0"/>
                <a:cs typeface="Calibri" panose="020F0502020204030204" pitchFamily="34" charset="0"/>
              </a:rPr>
              <a:t>instance</a:t>
            </a:r>
            <a:r>
              <a:rPr lang="en-US" sz="2100" dirty="0">
                <a:latin typeface="Calibri" panose="020F0502020204030204" pitchFamily="34" charset="0"/>
                <a:cs typeface="Calibri" panose="020F0502020204030204" pitchFamily="34" charset="0"/>
              </a:rPr>
              <a:t> of a program running on a computer </a:t>
            </a:r>
          </a:p>
          <a:p>
            <a:pPr marL="800100" lvl="1"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entity that is </a:t>
            </a:r>
            <a:r>
              <a:rPr lang="en-US" sz="2100" dirty="0">
                <a:solidFill>
                  <a:srgbClr val="C00000"/>
                </a:solidFill>
                <a:latin typeface="Calibri" panose="020F0502020204030204" pitchFamily="34" charset="0"/>
                <a:cs typeface="Calibri" panose="020F0502020204030204" pitchFamily="34" charset="0"/>
              </a:rPr>
              <a:t>assigned</a:t>
            </a:r>
            <a:r>
              <a:rPr lang="en-US" sz="2100" dirty="0">
                <a:latin typeface="Calibri" panose="020F0502020204030204" pitchFamily="34" charset="0"/>
                <a:cs typeface="Calibri" panose="020F0502020204030204" pitchFamily="34" charset="0"/>
              </a:rPr>
              <a:t> &amp; </a:t>
            </a:r>
            <a:r>
              <a:rPr lang="en-US" sz="2100" dirty="0">
                <a:solidFill>
                  <a:srgbClr val="C00000"/>
                </a:solidFill>
                <a:latin typeface="Calibri" panose="020F0502020204030204" pitchFamily="34" charset="0"/>
                <a:cs typeface="Calibri" panose="020F0502020204030204" pitchFamily="34" charset="0"/>
              </a:rPr>
              <a:t>executed</a:t>
            </a:r>
            <a:r>
              <a:rPr lang="en-US" sz="2100" dirty="0">
                <a:latin typeface="Calibri" panose="020F0502020204030204" pitchFamily="34" charset="0"/>
                <a:cs typeface="Calibri" panose="020F0502020204030204" pitchFamily="34" charset="0"/>
              </a:rPr>
              <a:t> on a CPU</a:t>
            </a:r>
          </a:p>
          <a:p>
            <a:pPr marL="800100" lvl="1" indent="-342900">
              <a:spcBef>
                <a:spcPts val="12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each process has… </a:t>
            </a:r>
          </a:p>
          <a:p>
            <a:pPr marL="1257300" lvl="2"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a sequence of execution  </a:t>
            </a:r>
            <a:r>
              <a:rPr lang="en-US" sz="2100" i="1" dirty="0">
                <a:solidFill>
                  <a:srgbClr val="C00000"/>
                </a:solidFill>
                <a:latin typeface="Calibri" panose="020F0502020204030204" pitchFamily="34" charset="0"/>
                <a:cs typeface="Calibri" panose="020F0502020204030204" pitchFamily="34" charset="0"/>
              </a:rPr>
              <a:t>(of instructions)</a:t>
            </a:r>
          </a:p>
          <a:p>
            <a:pPr marL="1257300" lvl="2"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current state of process   </a:t>
            </a:r>
            <a:r>
              <a:rPr lang="en-US" sz="2100" i="1" dirty="0">
                <a:solidFill>
                  <a:srgbClr val="C00000"/>
                </a:solidFill>
                <a:latin typeface="Calibri" panose="020F0502020204030204" pitchFamily="34" charset="0"/>
                <a:cs typeface="Calibri" panose="020F0502020204030204" pitchFamily="34" charset="0"/>
              </a:rPr>
              <a:t>(CPU registers, </a:t>
            </a:r>
            <a:r>
              <a:rPr lang="en-US" sz="2100" i="1" dirty="0" err="1">
                <a:solidFill>
                  <a:srgbClr val="C00000"/>
                </a:solidFill>
                <a:latin typeface="Calibri" panose="020F0502020204030204" pitchFamily="34" charset="0"/>
                <a:cs typeface="Calibri" panose="020F0502020204030204" pitchFamily="34" charset="0"/>
              </a:rPr>
              <a:t>etc</a:t>
            </a:r>
            <a:r>
              <a:rPr lang="en-US" sz="2100" i="1" dirty="0">
                <a:solidFill>
                  <a:srgbClr val="C00000"/>
                </a:solidFill>
                <a:latin typeface="Calibri" panose="020F0502020204030204" pitchFamily="34" charset="0"/>
                <a:cs typeface="Calibri" panose="020F0502020204030204" pitchFamily="34" charset="0"/>
              </a:rPr>
              <a:t>)</a:t>
            </a:r>
          </a:p>
          <a:p>
            <a:pPr marL="1257300" lvl="2" indent="-342900">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set of system resources   </a:t>
            </a:r>
            <a:r>
              <a:rPr lang="en-US" sz="2100" i="1" dirty="0">
                <a:solidFill>
                  <a:srgbClr val="C00000"/>
                </a:solidFill>
                <a:latin typeface="Calibri" panose="020F0502020204030204" pitchFamily="34" charset="0"/>
                <a:cs typeface="Calibri" panose="020F0502020204030204" pitchFamily="34" charset="0"/>
              </a:rPr>
              <a:t>(CPU time, memory space, files, </a:t>
            </a:r>
            <a:r>
              <a:rPr lang="en-US" sz="2100" i="1" dirty="0" err="1">
                <a:solidFill>
                  <a:srgbClr val="C00000"/>
                </a:solidFill>
                <a:latin typeface="Calibri" panose="020F0502020204030204" pitchFamily="34" charset="0"/>
                <a:cs typeface="Calibri" panose="020F0502020204030204" pitchFamily="34" charset="0"/>
              </a:rPr>
              <a:t>etc</a:t>
            </a:r>
            <a:r>
              <a:rPr lang="en-US" sz="2100" i="1" dirty="0">
                <a:solidFill>
                  <a:srgbClr val="C00000"/>
                </a:solidFill>
                <a:latin typeface="Calibri" panose="020F0502020204030204" pitchFamily="34" charset="0"/>
                <a:cs typeface="Calibri" panose="020F0502020204030204" pitchFamily="34" charset="0"/>
              </a:rPr>
              <a:t>)</a:t>
            </a:r>
          </a:p>
          <a:p>
            <a:pPr marL="1257300" lvl="2" indent="-342900">
              <a:spcBef>
                <a:spcPts val="600"/>
              </a:spcBef>
              <a:spcAft>
                <a:spcPts val="0"/>
              </a:spcAft>
              <a:buFont typeface="Arial" panose="020B0604020202020204" pitchFamily="34" charset="0"/>
              <a:buChar char="•"/>
              <a:defRPr/>
            </a:pPr>
            <a:endParaRPr lang="en-US" sz="2200" dirty="0">
              <a:latin typeface="Calibri" panose="020F0502020204030204" pitchFamily="34" charset="0"/>
              <a:cs typeface="Calibri" panose="020F0502020204030204" pitchFamily="34" charset="0"/>
            </a:endParaRPr>
          </a:p>
          <a:p>
            <a:pPr marL="800100" lvl="1" indent="-342900">
              <a:spcBef>
                <a:spcPts val="600"/>
              </a:spcBef>
              <a:spcAft>
                <a:spcPts val="0"/>
              </a:spcAft>
              <a:buFont typeface="Arial" panose="020B0604020202020204" pitchFamily="34" charset="0"/>
              <a:buChar char="•"/>
              <a:defRPr/>
            </a:pPr>
            <a:endParaRPr kumimoji="0" lang="en-US" sz="2200" b="1" i="0" u="none" strike="noStrike" kern="1200" cap="none" spc="0" normalizeH="0" noProof="0" dirty="0">
              <a:ln>
                <a:noFill/>
              </a:ln>
              <a:solidFill>
                <a:srgbClr val="FF0000"/>
              </a:solidFill>
              <a:effectLst/>
              <a:uLnTx/>
              <a:uFillTx/>
              <a:latin typeface="Calibri" panose="020F0502020204030204" pitchFamily="34" charset="0"/>
              <a:ea typeface="+mn-ea"/>
              <a:cs typeface="Calibri" panose="020F0502020204030204" pitchFamily="34" charset="0"/>
            </a:endParaRPr>
          </a:p>
        </p:txBody>
      </p:sp>
      <p:sp>
        <p:nvSpPr>
          <p:cNvPr id="2" name="Slide Number Placeholder 3">
            <a:extLst>
              <a:ext uri="{FF2B5EF4-FFF2-40B4-BE49-F238E27FC236}">
                <a16:creationId xmlns:a16="http://schemas.microsoft.com/office/drawing/2014/main" id="{6526F5C7-6E9A-4673-1007-FAA759E356C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8313205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013857" y="231316"/>
            <a:ext cx="6666367" cy="6533703"/>
          </a:xfrm>
          <a:prstGeom prst="rect">
            <a:avLst/>
          </a:prstGeom>
        </p:spPr>
      </p:pic>
      <p:sp>
        <p:nvSpPr>
          <p:cNvPr id="4" name="TextBox 3"/>
          <p:cNvSpPr txBox="1"/>
          <p:nvPr/>
        </p:nvSpPr>
        <p:spPr>
          <a:xfrm>
            <a:off x="2013857" y="231316"/>
            <a:ext cx="1066800" cy="762000"/>
          </a:xfrm>
          <a:prstGeom prst="rect">
            <a:avLst/>
          </a:prstGeom>
          <a:solidFill>
            <a:schemeClr val="bg1"/>
          </a:solidFill>
        </p:spPr>
        <p:txBody>
          <a:bodyPr wrap="square" rtlCol="0">
            <a:spAutoFit/>
          </a:bodyPr>
          <a:lstStyle/>
          <a:p>
            <a:endParaRPr lang="en-US"/>
          </a:p>
        </p:txBody>
      </p:sp>
      <p:sp>
        <p:nvSpPr>
          <p:cNvPr id="2" name="Slide Number Placeholder 3">
            <a:extLst>
              <a:ext uri="{FF2B5EF4-FFF2-40B4-BE49-F238E27FC236}">
                <a16:creationId xmlns:a16="http://schemas.microsoft.com/office/drawing/2014/main" id="{E1354FD2-5D5F-5952-C026-0109698B10B0}"/>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5</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5" name="TextBox 4">
            <a:extLst>
              <a:ext uri="{FF2B5EF4-FFF2-40B4-BE49-F238E27FC236}">
                <a16:creationId xmlns:a16="http://schemas.microsoft.com/office/drawing/2014/main" id="{A5207F93-72F4-1E46-5118-8DDDBC6EB2EC}"/>
              </a:ext>
            </a:extLst>
          </p:cNvPr>
          <p:cNvSpPr txBox="1"/>
          <p:nvPr/>
        </p:nvSpPr>
        <p:spPr>
          <a:xfrm>
            <a:off x="383134" y="1133565"/>
            <a:ext cx="2329543" cy="1384995"/>
          </a:xfrm>
          <a:prstGeom prst="rect">
            <a:avLst/>
          </a:prstGeom>
          <a:noFill/>
        </p:spPr>
        <p:txBody>
          <a:bodyPr wrap="square">
            <a:spAutoFit/>
          </a:bodyPr>
          <a:lstStyle/>
          <a:p>
            <a:r>
              <a:rPr lang="en-US" sz="2800" b="1" dirty="0">
                <a:latin typeface="Calibri" panose="020F0502020204030204" pitchFamily="34" charset="0"/>
                <a:cs typeface="Calibri" panose="020F0502020204030204" pitchFamily="34" charset="0"/>
              </a:rPr>
              <a:t>Source code compilation process</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81310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4160" y="1169847"/>
            <a:ext cx="8738325" cy="484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026"/>
          <p:cNvSpPr>
            <a:spLocks noGrp="1" noChangeArrowheads="1"/>
          </p:cNvSpPr>
          <p:nvPr>
            <p:ph type="title"/>
          </p:nvPr>
        </p:nvSpPr>
        <p:spPr>
          <a:xfrm>
            <a:off x="1229360" y="296452"/>
            <a:ext cx="7773125" cy="457200"/>
          </a:xfrm>
        </p:spPr>
        <p:txBody>
          <a:bodyPr>
            <a:noAutofit/>
          </a:bodyPr>
          <a:lstStyle/>
          <a:p>
            <a:r>
              <a:rPr lang="en-US" dirty="0"/>
              <a:t>Process Address Space</a:t>
            </a:r>
          </a:p>
        </p:txBody>
      </p:sp>
      <p:sp>
        <p:nvSpPr>
          <p:cNvPr id="2" name="Slide Number Placeholder 3">
            <a:extLst>
              <a:ext uri="{FF2B5EF4-FFF2-40B4-BE49-F238E27FC236}">
                <a16:creationId xmlns:a16="http://schemas.microsoft.com/office/drawing/2014/main" id="{20450058-4A31-295F-0465-2D15AB78CD10}"/>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6</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534280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7A86686-A4A5-FF80-34FE-E8A4234CA342}"/>
              </a:ext>
            </a:extLst>
          </p:cNvPr>
          <p:cNvSpPr>
            <a:spLocks noGrp="1" noChangeArrowheads="1"/>
          </p:cNvSpPr>
          <p:nvPr>
            <p:ph type="title"/>
          </p:nvPr>
        </p:nvSpPr>
        <p:spPr>
          <a:xfrm>
            <a:off x="1166813" y="136525"/>
            <a:ext cx="6808787" cy="576263"/>
          </a:xfrm>
        </p:spPr>
        <p:txBody>
          <a:bodyPr/>
          <a:lstStyle/>
          <a:p>
            <a:pPr eaLnBrk="1" hangingPunct="1"/>
            <a:r>
              <a:rPr lang="en-US" dirty="0"/>
              <a:t>Program on Disk</a:t>
            </a:r>
            <a:endParaRPr lang="en-US" altLang="en-US" dirty="0"/>
          </a:p>
        </p:txBody>
      </p:sp>
      <p:sp>
        <p:nvSpPr>
          <p:cNvPr id="11267" name="Rectangle 3">
            <a:extLst>
              <a:ext uri="{FF2B5EF4-FFF2-40B4-BE49-F238E27FC236}">
                <a16:creationId xmlns:a16="http://schemas.microsoft.com/office/drawing/2014/main" id="{69D110AE-E9A3-018B-3915-11C375A10902}"/>
              </a:ext>
            </a:extLst>
          </p:cNvPr>
          <p:cNvSpPr>
            <a:spLocks noGrp="1" noChangeArrowheads="1"/>
          </p:cNvSpPr>
          <p:nvPr>
            <p:ph type="body" idx="1"/>
          </p:nvPr>
        </p:nvSpPr>
        <p:spPr>
          <a:xfrm>
            <a:off x="493239" y="1176467"/>
            <a:ext cx="8459469" cy="5489893"/>
          </a:xfrm>
        </p:spPr>
        <p:txBody>
          <a:bodyPr/>
          <a:lstStyle/>
          <a:p>
            <a:pPr>
              <a:spcBef>
                <a:spcPts val="600"/>
              </a:spcBef>
              <a:spcAft>
                <a:spcPts val="0"/>
              </a:spcAft>
            </a:pPr>
            <a:r>
              <a:rPr lang="en-US" sz="2400" b="1" dirty="0">
                <a:latin typeface="Calibri" panose="020F0502020204030204" pitchFamily="34" charset="0"/>
                <a:cs typeface="Calibri" panose="020F0502020204030204" pitchFamily="34" charset="0"/>
              </a:rPr>
              <a:t>Program</a:t>
            </a:r>
            <a:r>
              <a:rPr lang="en-US" sz="2400" dirty="0">
                <a:latin typeface="Calibri" panose="020F0502020204030204" pitchFamily="34" charset="0"/>
                <a:cs typeface="Calibri" panose="020F0502020204030204" pitchFamily="34" charset="0"/>
              </a:rPr>
              <a:t>  –  </a:t>
            </a:r>
            <a:r>
              <a:rPr lang="en-US" sz="2400" dirty="0">
                <a:solidFill>
                  <a:srgbClr val="C00000"/>
                </a:solidFill>
                <a:latin typeface="Calibri" panose="020F0502020204030204" pitchFamily="34" charset="0"/>
                <a:cs typeface="Calibri" panose="020F0502020204030204" pitchFamily="34" charset="0"/>
              </a:rPr>
              <a:t>binary file </a:t>
            </a:r>
            <a:r>
              <a:rPr lang="en-US" sz="2400" dirty="0">
                <a:latin typeface="Calibri" panose="020F0502020204030204" pitchFamily="34" charset="0"/>
                <a:cs typeface="Calibri" panose="020F0502020204030204" pitchFamily="34" charset="0"/>
              </a:rPr>
              <a:t>on disk, in a specific </a:t>
            </a:r>
            <a:r>
              <a:rPr lang="en-US" sz="2400" dirty="0">
                <a:solidFill>
                  <a:srgbClr val="C00000"/>
                </a:solidFill>
                <a:latin typeface="Calibri" panose="020F0502020204030204" pitchFamily="34" charset="0"/>
                <a:cs typeface="Calibri" panose="020F0502020204030204" pitchFamily="34" charset="0"/>
              </a:rPr>
              <a:t>file format </a:t>
            </a:r>
          </a:p>
          <a:p>
            <a:pPr marL="346075" eaLnBrk="1" fontAlgn="auto" hangingPunct="1">
              <a:spcBef>
                <a:spcPts val="2400"/>
              </a:spcBef>
              <a:spcAft>
                <a:spcPts val="0"/>
              </a:spcAft>
              <a:defRPr/>
            </a:pPr>
            <a:r>
              <a:rPr lang="en-US" sz="2400" dirty="0">
                <a:latin typeface="Calibri" panose="020F0502020204030204" pitchFamily="34" charset="0"/>
                <a:cs typeface="Calibri" panose="020F0502020204030204" pitchFamily="34" charset="0"/>
              </a:rPr>
              <a:t>Different file formats exist for various systems…</a:t>
            </a:r>
          </a:p>
          <a:p>
            <a:pPr marL="741363" lvl="1" indent="-268288" eaLnBrk="1" fontAlgn="auto" hangingPunct="1">
              <a:spcBef>
                <a:spcPts val="600"/>
              </a:spcBef>
              <a:spcAft>
                <a:spcPts val="0"/>
              </a:spcAft>
              <a:buFont typeface="Arial" panose="020B0604020202020204" pitchFamily="34" charset="0"/>
              <a:buChar char="•"/>
              <a:defRPr/>
            </a:pPr>
            <a:r>
              <a:rPr lang="en-US" sz="2200" dirty="0" err="1">
                <a:solidFill>
                  <a:srgbClr val="C00000"/>
                </a:solidFill>
                <a:latin typeface="Calibri" panose="020F0502020204030204" pitchFamily="34" charset="0"/>
                <a:cs typeface="Calibri" panose="020F0502020204030204" pitchFamily="34" charset="0"/>
              </a:rPr>
              <a:t>a.out</a:t>
            </a:r>
            <a:r>
              <a:rPr lang="en-US" sz="2200" dirty="0">
                <a:solidFill>
                  <a:srgbClr val="FF0000"/>
                </a:solidFill>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older Unix   </a:t>
            </a:r>
          </a:p>
          <a:p>
            <a:pPr marL="741363" lvl="1" indent="-268288" eaLnBrk="1" fontAlgn="auto" hangingPunct="1">
              <a:spcBef>
                <a:spcPts val="600"/>
              </a:spcBef>
              <a:spcAft>
                <a:spcPts val="0"/>
              </a:spcAft>
              <a:buFont typeface="Arial" panose="020B0604020202020204" pitchFamily="34" charset="0"/>
              <a:buChar char="•"/>
              <a:defRPr/>
            </a:pPr>
            <a:r>
              <a:rPr lang="en-US" sz="2200" dirty="0">
                <a:solidFill>
                  <a:srgbClr val="C00000"/>
                </a:solidFill>
                <a:latin typeface="Calibri" panose="020F0502020204030204" pitchFamily="34" charset="0"/>
                <a:cs typeface="Calibri" panose="020F0502020204030204" pitchFamily="34" charset="0"/>
              </a:rPr>
              <a:t>ELF</a:t>
            </a:r>
            <a:r>
              <a:rPr lang="en-US" sz="2200" dirty="0">
                <a:latin typeface="Calibri" panose="020F0502020204030204" pitchFamily="34" charset="0"/>
                <a:cs typeface="Calibri" panose="020F0502020204030204" pitchFamily="34" charset="0"/>
              </a:rPr>
              <a:t> 	Linux   		</a:t>
            </a:r>
            <a:r>
              <a:rPr lang="en-US" sz="2200" i="1" dirty="0">
                <a:latin typeface="Calibri" panose="020F0502020204030204" pitchFamily="34" charset="0"/>
                <a:cs typeface="Calibri" panose="020F0502020204030204" pitchFamily="34" charset="0"/>
              </a:rPr>
              <a:t>(Executable &amp; linkable format)</a:t>
            </a:r>
          </a:p>
          <a:p>
            <a:pPr marL="741363" lvl="1" indent="-268288" eaLnBrk="1" fontAlgn="auto" hangingPunct="1">
              <a:spcBef>
                <a:spcPts val="600"/>
              </a:spcBef>
              <a:spcAft>
                <a:spcPts val="0"/>
              </a:spcAft>
              <a:buFont typeface="Arial" panose="020B0604020202020204" pitchFamily="34" charset="0"/>
              <a:buChar char="•"/>
              <a:defRPr/>
            </a:pPr>
            <a:r>
              <a:rPr lang="en-US" sz="2200" dirty="0">
                <a:solidFill>
                  <a:srgbClr val="C00000"/>
                </a:solidFill>
                <a:latin typeface="Calibri" panose="020F0502020204030204" pitchFamily="34" charset="0"/>
                <a:cs typeface="Calibri" panose="020F0502020204030204" pitchFamily="34" charset="0"/>
              </a:rPr>
              <a:t>PE</a:t>
            </a:r>
            <a:r>
              <a:rPr lang="en-US" sz="2200" dirty="0">
                <a:latin typeface="Calibri" panose="020F0502020204030204" pitchFamily="34" charset="0"/>
                <a:cs typeface="Calibri" panose="020F0502020204030204" pitchFamily="34" charset="0"/>
              </a:rPr>
              <a:t> 	Windows 	</a:t>
            </a:r>
            <a:r>
              <a:rPr lang="en-US" sz="2200" i="1" dirty="0">
                <a:latin typeface="Calibri" panose="020F0502020204030204" pitchFamily="34" charset="0"/>
                <a:cs typeface="Calibri" panose="020F0502020204030204" pitchFamily="34" charset="0"/>
              </a:rPr>
              <a:t>(Portable executable)</a:t>
            </a:r>
          </a:p>
          <a:p>
            <a:pPr marL="741363" lvl="1" indent="-268288" eaLnBrk="1" fontAlgn="auto" hangingPunct="1">
              <a:spcBef>
                <a:spcPts val="600"/>
              </a:spcBef>
              <a:spcAft>
                <a:spcPts val="0"/>
              </a:spcAft>
              <a:buFont typeface="Arial" panose="020B0604020202020204" pitchFamily="34" charset="0"/>
              <a:buChar char="•"/>
              <a:defRPr/>
            </a:pPr>
            <a:r>
              <a:rPr lang="en-US" sz="2200" dirty="0">
                <a:solidFill>
                  <a:srgbClr val="C00000"/>
                </a:solidFill>
                <a:latin typeface="Calibri" panose="020F0502020204030204" pitchFamily="34" charset="0"/>
                <a:cs typeface="Calibri" panose="020F0502020204030204" pitchFamily="34" charset="0"/>
              </a:rPr>
              <a:t>COFF</a:t>
            </a:r>
            <a:r>
              <a:rPr lang="en-US" sz="2200" dirty="0">
                <a:latin typeface="Calibri" panose="020F0502020204030204" pitchFamily="34" charset="0"/>
                <a:cs typeface="Calibri" panose="020F0502020204030204" pitchFamily="34" charset="0"/>
              </a:rPr>
              <a:t> 	Solaris  		</a:t>
            </a:r>
            <a:r>
              <a:rPr lang="en-US" sz="2200" i="1" dirty="0">
                <a:latin typeface="Calibri" panose="020F0502020204030204" pitchFamily="34" charset="0"/>
                <a:cs typeface="Calibri" panose="020F0502020204030204" pitchFamily="34" charset="0"/>
              </a:rPr>
              <a:t>(Common object file format)</a:t>
            </a:r>
          </a:p>
          <a:p>
            <a:pPr marL="346075" eaLnBrk="1" fontAlgn="auto" hangingPunct="1">
              <a:spcBef>
                <a:spcPts val="2400"/>
              </a:spcBef>
              <a:spcAft>
                <a:spcPts val="0"/>
              </a:spcAft>
              <a:defRPr/>
            </a:pPr>
            <a:r>
              <a:rPr lang="en-US" sz="2400" b="1" dirty="0">
                <a:solidFill>
                  <a:srgbClr val="003399"/>
                </a:solidFill>
                <a:latin typeface="Calibri" panose="020F0502020204030204" pitchFamily="34" charset="0"/>
                <a:cs typeface="Calibri" panose="020F0502020204030204" pitchFamily="34" charset="0"/>
              </a:rPr>
              <a:t>ELF – Executable &amp; Linking Format</a:t>
            </a:r>
          </a:p>
          <a:p>
            <a:pPr marL="746125" lvl="1" eaLnBrk="1" fontAlgn="auto" hangingPunct="1">
              <a:spcBef>
                <a:spcPts val="1200"/>
              </a:spcBef>
              <a:spcAft>
                <a:spcPts val="0"/>
              </a:spcAft>
              <a:defRPr/>
            </a:pPr>
            <a:r>
              <a:rPr lang="en-US" sz="2200" dirty="0">
                <a:latin typeface="Calibri" panose="020F0502020204030204" pitchFamily="34" charset="0"/>
                <a:cs typeface="Calibri" panose="020F0502020204030204" pitchFamily="34" charset="0"/>
              </a:rPr>
              <a:t>Linux / Unix file format for executables</a:t>
            </a:r>
          </a:p>
          <a:p>
            <a:pPr marL="746125" lvl="1" eaLnBrk="1" fontAlgn="auto" hangingPunct="1">
              <a:spcBef>
                <a:spcPts val="600"/>
              </a:spcBef>
              <a:spcAft>
                <a:spcPts val="0"/>
              </a:spcAft>
              <a:defRPr/>
            </a:pPr>
            <a:r>
              <a:rPr lang="en-US" sz="2200" dirty="0">
                <a:latin typeface="Calibri" panose="020F0502020204030204" pitchFamily="34" charset="0"/>
                <a:cs typeface="Calibri" panose="020F0502020204030204" pitchFamily="34" charset="0"/>
              </a:rPr>
              <a:t>defines how code/data are organized in the file</a:t>
            </a:r>
          </a:p>
          <a:p>
            <a:pPr marL="746125" lvl="1" eaLnBrk="1" fontAlgn="auto" hangingPunct="1">
              <a:spcBef>
                <a:spcPts val="600"/>
              </a:spcBef>
              <a:spcAft>
                <a:spcPts val="0"/>
              </a:spcAft>
              <a:defRPr/>
            </a:pPr>
            <a:r>
              <a:rPr lang="en-US" sz="2200" dirty="0">
                <a:latin typeface="Calibri" panose="020F0502020204030204" pitchFamily="34" charset="0"/>
                <a:cs typeface="Calibri" panose="020F0502020204030204" pitchFamily="34" charset="0"/>
              </a:rPr>
              <a:t>allows OS loader to efficiently load &amp; execute programs </a:t>
            </a:r>
          </a:p>
        </p:txBody>
      </p:sp>
      <p:sp>
        <p:nvSpPr>
          <p:cNvPr id="2" name="Slide Number Placeholder 3">
            <a:extLst>
              <a:ext uri="{FF2B5EF4-FFF2-40B4-BE49-F238E27FC236}">
                <a16:creationId xmlns:a16="http://schemas.microsoft.com/office/drawing/2014/main" id="{A7CBE343-016A-016D-BA39-3ECABC2E4696}"/>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7</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2449913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phone&#10;&#10;Description automatically generated">
            <a:extLst>
              <a:ext uri="{FF2B5EF4-FFF2-40B4-BE49-F238E27FC236}">
                <a16:creationId xmlns:a16="http://schemas.microsoft.com/office/drawing/2014/main" id="{8C89DA1D-D93C-5AC4-B03F-FDB06171ED9E}"/>
              </a:ext>
            </a:extLst>
          </p:cNvPr>
          <p:cNvPicPr>
            <a:picLocks noChangeAspect="1"/>
          </p:cNvPicPr>
          <p:nvPr/>
        </p:nvPicPr>
        <p:blipFill>
          <a:blip r:embed="rId2"/>
          <a:stretch>
            <a:fillRect/>
          </a:stretch>
        </p:blipFill>
        <p:spPr>
          <a:xfrm>
            <a:off x="6278880" y="978540"/>
            <a:ext cx="2448560" cy="5558178"/>
          </a:xfrm>
          <a:prstGeom prst="rect">
            <a:avLst/>
          </a:prstGeom>
        </p:spPr>
      </p:pic>
      <p:graphicFrame>
        <p:nvGraphicFramePr>
          <p:cNvPr id="6" name="Table 4">
            <a:extLst>
              <a:ext uri="{FF2B5EF4-FFF2-40B4-BE49-F238E27FC236}">
                <a16:creationId xmlns:a16="http://schemas.microsoft.com/office/drawing/2014/main" id="{14779C88-D93E-8127-2C6E-CD2D8896AF85}"/>
              </a:ext>
            </a:extLst>
          </p:cNvPr>
          <p:cNvGraphicFramePr>
            <a:graphicFrameLocks noGrp="1"/>
          </p:cNvGraphicFramePr>
          <p:nvPr>
            <p:extLst>
              <p:ext uri="{D42A27DB-BD31-4B8C-83A1-F6EECF244321}">
                <p14:modId xmlns:p14="http://schemas.microsoft.com/office/powerpoint/2010/main" val="2586427335"/>
              </p:ext>
            </p:extLst>
          </p:nvPr>
        </p:nvGraphicFramePr>
        <p:xfrm>
          <a:off x="487680" y="1345324"/>
          <a:ext cx="5415280" cy="459302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289860">
                  <a:extLst>
                    <a:ext uri="{9D8B030D-6E8A-4147-A177-3AD203B41FA5}">
                      <a16:colId xmlns:a16="http://schemas.microsoft.com/office/drawing/2014/main" val="549215256"/>
                    </a:ext>
                  </a:extLst>
                </a:gridCol>
                <a:gridCol w="4125420">
                  <a:extLst>
                    <a:ext uri="{9D8B030D-6E8A-4147-A177-3AD203B41FA5}">
                      <a16:colId xmlns:a16="http://schemas.microsoft.com/office/drawing/2014/main" val="2087358615"/>
                    </a:ext>
                  </a:extLst>
                </a:gridCol>
              </a:tblGrid>
              <a:tr h="1148255">
                <a:tc>
                  <a:txBody>
                    <a:bodyPr/>
                    <a:lstStyle/>
                    <a:p>
                      <a:r>
                        <a:rPr lang="en-US" sz="2100" b="1" kern="1200" dirty="0">
                          <a:solidFill>
                            <a:schemeClr val="tx1"/>
                          </a:solidFill>
                          <a:latin typeface="Calibri" panose="020F0502020204030204" pitchFamily="34" charset="0"/>
                          <a:ea typeface="+mn-ea"/>
                          <a:cs typeface="Calibri" panose="020F0502020204030204" pitchFamily="34" charset="0"/>
                        </a:rPr>
                        <a:t>.text section</a:t>
                      </a:r>
                    </a:p>
                  </a:txBody>
                  <a:tcPr anchor="ctr">
                    <a:solidFill>
                      <a:schemeClr val="bg1">
                        <a:lumMod val="85000"/>
                      </a:schemeClr>
                    </a:solidFill>
                  </a:tcPr>
                </a:tc>
                <a:tc>
                  <a:txBody>
                    <a:bodyPr/>
                    <a:lstStyle/>
                    <a:p>
                      <a:r>
                        <a:rPr lang="en-US" sz="2100" b="0" dirty="0">
                          <a:solidFill>
                            <a:schemeClr val="tx1"/>
                          </a:solidFill>
                          <a:latin typeface="Calibri" panose="020F0502020204030204" pitchFamily="34" charset="0"/>
                          <a:cs typeface="Calibri" panose="020F0502020204030204" pitchFamily="34" charset="0"/>
                        </a:rPr>
                        <a:t>contains </a:t>
                      </a:r>
                      <a:r>
                        <a:rPr lang="en-US" sz="2100" b="0" dirty="0">
                          <a:solidFill>
                            <a:srgbClr val="FF0000"/>
                          </a:solidFill>
                          <a:latin typeface="Calibri" panose="020F0502020204030204" pitchFamily="34" charset="0"/>
                          <a:cs typeface="Calibri" panose="020F0502020204030204" pitchFamily="34" charset="0"/>
                        </a:rPr>
                        <a:t>machine code </a:t>
                      </a:r>
                      <a:r>
                        <a:rPr lang="en-US" sz="2100" b="0" dirty="0">
                          <a:solidFill>
                            <a:schemeClr val="tx1"/>
                          </a:solidFill>
                          <a:latin typeface="Calibri" panose="020F0502020204030204" pitchFamily="34" charset="0"/>
                          <a:cs typeface="Calibri" panose="020F0502020204030204" pitchFamily="34" charset="0"/>
                        </a:rPr>
                        <a:t>for compiled program &amp; is read-only</a:t>
                      </a:r>
                    </a:p>
                  </a:txBody>
                  <a:tcPr anchor="ctr">
                    <a:solidFill>
                      <a:schemeClr val="bg1">
                        <a:lumMod val="85000"/>
                      </a:schemeClr>
                    </a:solidFill>
                  </a:tcPr>
                </a:tc>
                <a:extLst>
                  <a:ext uri="{0D108BD9-81ED-4DB2-BD59-A6C34878D82A}">
                    <a16:rowId xmlns:a16="http://schemas.microsoft.com/office/drawing/2014/main" val="159939712"/>
                  </a:ext>
                </a:extLst>
              </a:tr>
              <a:tr h="1148255">
                <a:tc>
                  <a:txBody>
                    <a:bodyPr/>
                    <a:lstStyle/>
                    <a:p>
                      <a:r>
                        <a:rPr lang="en-US" sz="2100" b="1" dirty="0">
                          <a:solidFill>
                            <a:schemeClr val="tx1"/>
                          </a:solidFill>
                          <a:latin typeface="Calibri" panose="020F0502020204030204" pitchFamily="34" charset="0"/>
                          <a:cs typeface="Calibri" panose="020F0502020204030204" pitchFamily="34" charset="0"/>
                        </a:rPr>
                        <a:t>.</a:t>
                      </a:r>
                      <a:r>
                        <a:rPr lang="en-US" sz="2100" b="1" dirty="0" err="1">
                          <a:solidFill>
                            <a:schemeClr val="tx1"/>
                          </a:solidFill>
                          <a:latin typeface="Calibri" panose="020F0502020204030204" pitchFamily="34" charset="0"/>
                          <a:cs typeface="Calibri" panose="020F0502020204030204" pitchFamily="34" charset="0"/>
                        </a:rPr>
                        <a:t>rodata</a:t>
                      </a:r>
                      <a:r>
                        <a:rPr lang="en-US" sz="2100" b="1" dirty="0">
                          <a:solidFill>
                            <a:schemeClr val="tx1"/>
                          </a:solidFill>
                          <a:latin typeface="Calibri" panose="020F0502020204030204" pitchFamily="34" charset="0"/>
                          <a:cs typeface="Calibri" panose="020F0502020204030204" pitchFamily="34" charset="0"/>
                        </a:rPr>
                        <a:t> section</a:t>
                      </a:r>
                      <a:endParaRPr lang="en-US" sz="2100" b="0" dirty="0">
                        <a:solidFill>
                          <a:schemeClr val="tx1"/>
                        </a:solidFill>
                        <a:latin typeface="Calibri" panose="020F0502020204030204" pitchFamily="34" charset="0"/>
                        <a:cs typeface="Calibri" panose="020F0502020204030204" pitchFamily="34" charset="0"/>
                      </a:endParaRPr>
                    </a:p>
                  </a:txBody>
                  <a:tcPr anchor="c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100" b="0" dirty="0">
                          <a:solidFill>
                            <a:schemeClr val="tx1"/>
                          </a:solidFill>
                          <a:latin typeface="Calibri" panose="020F0502020204030204" pitchFamily="34" charset="0"/>
                          <a:cs typeface="Calibri" panose="020F0502020204030204" pitchFamily="34" charset="0"/>
                        </a:rPr>
                        <a:t>contains </a:t>
                      </a:r>
                      <a:r>
                        <a:rPr lang="en-US" sz="2100" b="0" dirty="0">
                          <a:solidFill>
                            <a:srgbClr val="FF0000"/>
                          </a:solidFill>
                          <a:latin typeface="Calibri" panose="020F0502020204030204" pitchFamily="34" charset="0"/>
                          <a:cs typeface="Calibri" panose="020F0502020204030204" pitchFamily="34" charset="0"/>
                        </a:rPr>
                        <a:t>read only </a:t>
                      </a:r>
                      <a:r>
                        <a:rPr lang="en-US" sz="2100" b="0" dirty="0">
                          <a:solidFill>
                            <a:schemeClr val="tx1"/>
                          </a:solidFill>
                          <a:latin typeface="Calibri" panose="020F0502020204030204" pitchFamily="34" charset="0"/>
                          <a:cs typeface="Calibri" panose="020F0502020204030204" pitchFamily="34" charset="0"/>
                        </a:rPr>
                        <a:t>data, </a:t>
                      </a:r>
                      <a:br>
                        <a:rPr lang="en-US" sz="2100" b="0" dirty="0">
                          <a:solidFill>
                            <a:schemeClr val="tx1"/>
                          </a:solidFill>
                          <a:latin typeface="Calibri" panose="020F0502020204030204" pitchFamily="34" charset="0"/>
                          <a:cs typeface="Calibri" panose="020F0502020204030204" pitchFamily="34" charset="0"/>
                        </a:rPr>
                      </a:br>
                      <a:r>
                        <a:rPr lang="en-US" sz="2100" b="0" dirty="0">
                          <a:solidFill>
                            <a:schemeClr val="tx1"/>
                          </a:solidFill>
                          <a:latin typeface="Calibri" panose="020F0502020204030204" pitchFamily="34" charset="0"/>
                          <a:cs typeface="Calibri" panose="020F0502020204030204" pitchFamily="34" charset="0"/>
                        </a:rPr>
                        <a:t>like string literals &amp; constants</a:t>
                      </a:r>
                    </a:p>
                  </a:txBody>
                  <a:tcPr anchor="ctr">
                    <a:solidFill>
                      <a:schemeClr val="bg1">
                        <a:lumMod val="95000"/>
                      </a:schemeClr>
                    </a:solidFill>
                  </a:tcPr>
                </a:tc>
                <a:extLst>
                  <a:ext uri="{0D108BD9-81ED-4DB2-BD59-A6C34878D82A}">
                    <a16:rowId xmlns:a16="http://schemas.microsoft.com/office/drawing/2014/main" val="3678251252"/>
                  </a:ext>
                </a:extLst>
              </a:tr>
              <a:tr h="1148255">
                <a:tc>
                  <a:txBody>
                    <a:bodyPr/>
                    <a:lstStyle/>
                    <a:p>
                      <a:r>
                        <a:rPr lang="en-US" sz="2100" b="1" dirty="0">
                          <a:solidFill>
                            <a:schemeClr val="tx1"/>
                          </a:solidFill>
                          <a:latin typeface="Calibri" panose="020F0502020204030204" pitchFamily="34" charset="0"/>
                          <a:cs typeface="Calibri" panose="020F0502020204030204" pitchFamily="34" charset="0"/>
                        </a:rPr>
                        <a:t>.data section </a:t>
                      </a:r>
                      <a:endParaRPr lang="en-US" sz="2100" b="0" dirty="0">
                        <a:solidFill>
                          <a:schemeClr val="tx1"/>
                        </a:solidFill>
                        <a:latin typeface="Calibri" panose="020F0502020204030204" pitchFamily="34" charset="0"/>
                        <a:cs typeface="Calibri" panose="020F0502020204030204" pitchFamily="34" charset="0"/>
                      </a:endParaRPr>
                    </a:p>
                  </a:txBody>
                  <a:tcPr anchor="ctr">
                    <a:solidFill>
                      <a:schemeClr val="bg1">
                        <a:lumMod val="8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100" b="0" dirty="0">
                          <a:solidFill>
                            <a:schemeClr val="tx1"/>
                          </a:solidFill>
                          <a:latin typeface="Calibri" panose="020F0502020204030204" pitchFamily="34" charset="0"/>
                          <a:cs typeface="Calibri" panose="020F0502020204030204" pitchFamily="34" charset="0"/>
                        </a:rPr>
                        <a:t>contains </a:t>
                      </a:r>
                      <a:r>
                        <a:rPr lang="en-US" sz="2100" b="0" dirty="0">
                          <a:solidFill>
                            <a:srgbClr val="FF0000"/>
                          </a:solidFill>
                          <a:latin typeface="Calibri" panose="020F0502020204030204" pitchFamily="34" charset="0"/>
                          <a:cs typeface="Calibri" panose="020F0502020204030204" pitchFamily="34" charset="0"/>
                        </a:rPr>
                        <a:t>initialized</a:t>
                      </a:r>
                      <a:r>
                        <a:rPr lang="en-US" sz="2100" b="0" dirty="0">
                          <a:solidFill>
                            <a:schemeClr val="tx1"/>
                          </a:solidFill>
                          <a:latin typeface="Calibri" panose="020F0502020204030204" pitchFamily="34" charset="0"/>
                          <a:cs typeface="Calibri" panose="020F0502020204030204" pitchFamily="34" charset="0"/>
                        </a:rPr>
                        <a:t> global variables</a:t>
                      </a:r>
                    </a:p>
                  </a:txBody>
                  <a:tcPr anchor="ctr">
                    <a:solidFill>
                      <a:schemeClr val="bg1">
                        <a:lumMod val="85000"/>
                      </a:schemeClr>
                    </a:solidFill>
                  </a:tcPr>
                </a:tc>
                <a:extLst>
                  <a:ext uri="{0D108BD9-81ED-4DB2-BD59-A6C34878D82A}">
                    <a16:rowId xmlns:a16="http://schemas.microsoft.com/office/drawing/2014/main" val="1023210814"/>
                  </a:ext>
                </a:extLst>
              </a:tr>
              <a:tr h="1148255">
                <a:tc>
                  <a:txBody>
                    <a:bodyPr/>
                    <a:lstStyle/>
                    <a:p>
                      <a:r>
                        <a:rPr lang="en-US" sz="2100" b="1" dirty="0">
                          <a:solidFill>
                            <a:schemeClr val="tx1"/>
                          </a:solidFill>
                          <a:latin typeface="Calibri" panose="020F0502020204030204" pitchFamily="34" charset="0"/>
                          <a:cs typeface="Calibri" panose="020F0502020204030204" pitchFamily="34" charset="0"/>
                        </a:rPr>
                        <a:t>.</a:t>
                      </a:r>
                      <a:r>
                        <a:rPr lang="en-US" sz="2100" b="1" dirty="0" err="1">
                          <a:solidFill>
                            <a:schemeClr val="tx1"/>
                          </a:solidFill>
                          <a:latin typeface="Calibri" panose="020F0502020204030204" pitchFamily="34" charset="0"/>
                          <a:cs typeface="Calibri" panose="020F0502020204030204" pitchFamily="34" charset="0"/>
                        </a:rPr>
                        <a:t>bss</a:t>
                      </a:r>
                      <a:r>
                        <a:rPr lang="en-US" sz="2100" b="1" dirty="0">
                          <a:solidFill>
                            <a:schemeClr val="tx1"/>
                          </a:solidFill>
                          <a:latin typeface="Calibri" panose="020F0502020204030204" pitchFamily="34" charset="0"/>
                          <a:cs typeface="Calibri" panose="020F0502020204030204" pitchFamily="34" charset="0"/>
                        </a:rPr>
                        <a:t> section </a:t>
                      </a:r>
                      <a:endParaRPr lang="en-US" sz="2100" b="0" dirty="0">
                        <a:solidFill>
                          <a:schemeClr val="tx1"/>
                        </a:solidFill>
                        <a:latin typeface="Calibri" panose="020F0502020204030204" pitchFamily="34" charset="0"/>
                        <a:cs typeface="Calibri" panose="020F0502020204030204" pitchFamily="34" charset="0"/>
                      </a:endParaRPr>
                    </a:p>
                  </a:txBody>
                  <a:tcPr anchor="ctr">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100" b="0" dirty="0">
                          <a:solidFill>
                            <a:schemeClr val="tx1"/>
                          </a:solidFill>
                          <a:latin typeface="Calibri" panose="020F0502020204030204" pitchFamily="34" charset="0"/>
                          <a:cs typeface="Calibri" panose="020F0502020204030204" pitchFamily="34" charset="0"/>
                        </a:rPr>
                        <a:t>contains </a:t>
                      </a:r>
                      <a:r>
                        <a:rPr lang="en-US" sz="2100" b="0" dirty="0">
                          <a:solidFill>
                            <a:srgbClr val="FF0000"/>
                          </a:solidFill>
                          <a:latin typeface="Calibri" panose="020F0502020204030204" pitchFamily="34" charset="0"/>
                          <a:cs typeface="Calibri" panose="020F0502020204030204" pitchFamily="34" charset="0"/>
                        </a:rPr>
                        <a:t>uninitialized</a:t>
                      </a:r>
                      <a:r>
                        <a:rPr lang="en-US" sz="2100" b="0" dirty="0">
                          <a:solidFill>
                            <a:schemeClr val="tx1"/>
                          </a:solidFill>
                          <a:latin typeface="Calibri" panose="020F0502020204030204" pitchFamily="34" charset="0"/>
                          <a:cs typeface="Calibri" panose="020F0502020204030204" pitchFamily="34" charset="0"/>
                        </a:rPr>
                        <a:t> global variables</a:t>
                      </a:r>
                    </a:p>
                  </a:txBody>
                  <a:tcPr anchor="ctr">
                    <a:solidFill>
                      <a:schemeClr val="bg1">
                        <a:lumMod val="95000"/>
                      </a:schemeClr>
                    </a:solidFill>
                  </a:tcPr>
                </a:tc>
                <a:extLst>
                  <a:ext uri="{0D108BD9-81ED-4DB2-BD59-A6C34878D82A}">
                    <a16:rowId xmlns:a16="http://schemas.microsoft.com/office/drawing/2014/main" val="2500946379"/>
                  </a:ext>
                </a:extLst>
              </a:tr>
            </a:tbl>
          </a:graphicData>
        </a:graphic>
      </p:graphicFrame>
      <p:sp>
        <p:nvSpPr>
          <p:cNvPr id="7" name="Rectangle 1026">
            <a:extLst>
              <a:ext uri="{FF2B5EF4-FFF2-40B4-BE49-F238E27FC236}">
                <a16:creationId xmlns:a16="http://schemas.microsoft.com/office/drawing/2014/main" id="{69A814BC-974E-03D5-0434-B875EAD5D428}"/>
              </a:ext>
            </a:extLst>
          </p:cNvPr>
          <p:cNvSpPr txBox="1">
            <a:spLocks noChangeArrowheads="1"/>
          </p:cNvSpPr>
          <p:nvPr/>
        </p:nvSpPr>
        <p:spPr>
          <a:xfrm>
            <a:off x="609600" y="128750"/>
            <a:ext cx="7772400" cy="674914"/>
          </a:xfrm>
          <a:prstGeom prst="rect">
            <a:avLst/>
          </a:prstGeom>
        </p:spPr>
        <p:txBody>
          <a:bodyPr>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ELF File Format</a:t>
            </a:r>
          </a:p>
        </p:txBody>
      </p:sp>
      <p:sp>
        <p:nvSpPr>
          <p:cNvPr id="8" name="Slide Number Placeholder 3">
            <a:extLst>
              <a:ext uri="{FF2B5EF4-FFF2-40B4-BE49-F238E27FC236}">
                <a16:creationId xmlns:a16="http://schemas.microsoft.com/office/drawing/2014/main" id="{9FC7BFE1-70D7-6E28-28C4-36B5AFC002F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8</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873519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704FD4D-D880-0228-567B-EF5E95097713}"/>
              </a:ext>
            </a:extLst>
          </p:cNvPr>
          <p:cNvSpPr>
            <a:spLocks noGrp="1" noChangeArrowheads="1"/>
          </p:cNvSpPr>
          <p:nvPr>
            <p:ph type="title"/>
          </p:nvPr>
        </p:nvSpPr>
        <p:spPr>
          <a:xfrm>
            <a:off x="457200" y="166688"/>
            <a:ext cx="8229600" cy="576262"/>
          </a:xfrm>
        </p:spPr>
        <p:txBody>
          <a:bodyPr/>
          <a:lstStyle/>
          <a:p>
            <a:pPr eaLnBrk="1" hangingPunct="1"/>
            <a:r>
              <a:rPr lang="en-US" altLang="en-US" dirty="0"/>
              <a:t>Process in Memory</a:t>
            </a:r>
          </a:p>
        </p:txBody>
      </p:sp>
      <p:pic>
        <p:nvPicPr>
          <p:cNvPr id="8195" name="Picture 4">
            <a:extLst>
              <a:ext uri="{FF2B5EF4-FFF2-40B4-BE49-F238E27FC236}">
                <a16:creationId xmlns:a16="http://schemas.microsoft.com/office/drawing/2014/main" id="{E3FD7941-AF47-3583-2E27-AFDFCBC17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9841" y="1338057"/>
            <a:ext cx="2611120" cy="4124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48A8CBCC-B498-F10A-04A1-2CD74EA8B1C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9</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4" name="TextBox 3">
            <a:extLst>
              <a:ext uri="{FF2B5EF4-FFF2-40B4-BE49-F238E27FC236}">
                <a16:creationId xmlns:a16="http://schemas.microsoft.com/office/drawing/2014/main" id="{F13A5D63-F1B0-4D3E-233B-4EA67C742E96}"/>
              </a:ext>
            </a:extLst>
          </p:cNvPr>
          <p:cNvSpPr txBox="1"/>
          <p:nvPr/>
        </p:nvSpPr>
        <p:spPr>
          <a:xfrm>
            <a:off x="375919" y="1165337"/>
            <a:ext cx="8402322" cy="4779642"/>
          </a:xfrm>
          <a:prstGeom prst="rect">
            <a:avLst/>
          </a:prstGeom>
          <a:noFill/>
        </p:spPr>
        <p:txBody>
          <a:bodyPr wrap="square">
            <a:spAutoFit/>
          </a:bodyPr>
          <a:lstStyle/>
          <a:p>
            <a:pPr marL="342900" indent="-342900">
              <a:lnSpc>
                <a:spcPct val="110000"/>
              </a:lnSpc>
              <a:spcBef>
                <a:spcPts val="600"/>
              </a:spcBef>
              <a:spcAft>
                <a:spcPts val="0"/>
              </a:spcAft>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Program file is loaded in memory</a:t>
            </a:r>
          </a:p>
          <a:p>
            <a:pPr marL="342900" indent="-342900">
              <a:lnSpc>
                <a:spcPct val="110000"/>
              </a:lnSpc>
              <a:spcBef>
                <a:spcPts val="1200"/>
              </a:spcBef>
              <a:spcAft>
                <a:spcPts val="0"/>
              </a:spcAft>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Only some parts of file on disk are copied to</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process address space</a:t>
            </a:r>
          </a:p>
          <a:p>
            <a:pPr marL="630238" lvl="1" indent="-233363">
              <a:lnSpc>
                <a:spcPct val="110000"/>
              </a:lnSpc>
              <a:spcBef>
                <a:spcPts val="1200"/>
              </a:spcBef>
              <a:spcAft>
                <a:spcPts val="0"/>
              </a:spcAft>
              <a:buFont typeface="Arial" panose="020B0604020202020204" pitchFamily="34" charset="0"/>
              <a:buChar char="•"/>
              <a:defRPr/>
            </a:pPr>
            <a:r>
              <a:rPr lang="en-US" sz="2200" dirty="0">
                <a:solidFill>
                  <a:srgbClr val="FF0000"/>
                </a:solidFill>
                <a:latin typeface="Calibri" panose="020F0502020204030204" pitchFamily="34" charset="0"/>
                <a:cs typeface="Calibri" panose="020F0502020204030204" pitchFamily="34" charset="0"/>
              </a:rPr>
              <a:t>.</a:t>
            </a:r>
            <a:r>
              <a:rPr lang="en-US" sz="2200" dirty="0">
                <a:solidFill>
                  <a:srgbClr val="C00000"/>
                </a:solidFill>
                <a:latin typeface="Calibri" panose="020F0502020204030204" pitchFamily="34" charset="0"/>
                <a:cs typeface="Calibri" panose="020F0502020204030204" pitchFamily="34" charset="0"/>
              </a:rPr>
              <a:t>text</a:t>
            </a:r>
            <a:r>
              <a:rPr lang="en-US" sz="2200" dirty="0">
                <a:solidFill>
                  <a:srgbClr val="FF0000"/>
                </a:solidFill>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&amp; </a:t>
            </a:r>
            <a:r>
              <a:rPr lang="en-US" sz="2200" dirty="0">
                <a:solidFill>
                  <a:srgbClr val="FF0000"/>
                </a:solidFill>
                <a:latin typeface="Calibri" panose="020F0502020204030204" pitchFamily="34" charset="0"/>
                <a:cs typeface="Calibri" panose="020F0502020204030204" pitchFamily="34" charset="0"/>
              </a:rPr>
              <a:t>.</a:t>
            </a:r>
            <a:r>
              <a:rPr lang="en-US" sz="2200" dirty="0" err="1">
                <a:solidFill>
                  <a:srgbClr val="C00000"/>
                </a:solidFill>
                <a:latin typeface="Calibri" panose="020F0502020204030204" pitchFamily="34" charset="0"/>
                <a:cs typeface="Calibri" panose="020F0502020204030204" pitchFamily="34" charset="0"/>
              </a:rPr>
              <a:t>rodata</a:t>
            </a:r>
            <a:r>
              <a:rPr lang="en-US" sz="2200" dirty="0">
                <a:solidFill>
                  <a:srgbClr val="FF0000"/>
                </a:solidFill>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sections copied to </a:t>
            </a:r>
            <a:r>
              <a:rPr lang="en-US" sz="2200" b="1" dirty="0">
                <a:solidFill>
                  <a:srgbClr val="0033CC"/>
                </a:solidFill>
                <a:latin typeface="Calibri" panose="020F0502020204030204" pitchFamily="34" charset="0"/>
                <a:cs typeface="Calibri" panose="020F0502020204030204" pitchFamily="34" charset="0"/>
              </a:rPr>
              <a:t>Text</a:t>
            </a:r>
            <a:r>
              <a:rPr lang="en-US" sz="2200" dirty="0">
                <a:latin typeface="Calibri" panose="020F0502020204030204" pitchFamily="34" charset="0"/>
                <a:cs typeface="Calibri" panose="020F0502020204030204" pitchFamily="34" charset="0"/>
              </a:rPr>
              <a:t> portion</a:t>
            </a:r>
          </a:p>
          <a:p>
            <a:pPr marL="630238" lvl="1" indent="-233363">
              <a:lnSpc>
                <a:spcPct val="110000"/>
              </a:lnSpc>
              <a:spcBef>
                <a:spcPts val="1200"/>
              </a:spcBef>
              <a:spcAft>
                <a:spcPts val="0"/>
              </a:spcAft>
              <a:buFont typeface="Arial" panose="020B0604020202020204" pitchFamily="34" charset="0"/>
              <a:buChar char="•"/>
              <a:defRPr/>
            </a:pPr>
            <a:r>
              <a:rPr lang="en-US" sz="2200" dirty="0">
                <a:solidFill>
                  <a:srgbClr val="FF0000"/>
                </a:solidFill>
                <a:latin typeface="Calibri" panose="020F0502020204030204" pitchFamily="34" charset="0"/>
                <a:cs typeface="Calibri" panose="020F0502020204030204" pitchFamily="34" charset="0"/>
              </a:rPr>
              <a:t>.</a:t>
            </a:r>
            <a:r>
              <a:rPr lang="en-US" sz="2200" dirty="0">
                <a:solidFill>
                  <a:srgbClr val="C00000"/>
                </a:solidFill>
                <a:latin typeface="Calibri" panose="020F0502020204030204" pitchFamily="34" charset="0"/>
                <a:cs typeface="Calibri" panose="020F0502020204030204" pitchFamily="34" charset="0"/>
              </a:rPr>
              <a:t>data</a:t>
            </a:r>
            <a:r>
              <a:rPr lang="en-US" sz="2200" dirty="0">
                <a:latin typeface="Calibri" panose="020F0502020204030204" pitchFamily="34" charset="0"/>
                <a:cs typeface="Calibri" panose="020F0502020204030204" pitchFamily="34" charset="0"/>
              </a:rPr>
              <a:t> &amp; </a:t>
            </a:r>
            <a:r>
              <a:rPr lang="en-US" sz="2200" dirty="0">
                <a:solidFill>
                  <a:srgbClr val="FF0000"/>
                </a:solidFill>
                <a:latin typeface="Calibri" panose="020F0502020204030204" pitchFamily="34" charset="0"/>
                <a:cs typeface="Calibri" panose="020F0502020204030204" pitchFamily="34" charset="0"/>
              </a:rPr>
              <a:t>.</a:t>
            </a:r>
            <a:r>
              <a:rPr lang="en-US" sz="2200" dirty="0" err="1">
                <a:solidFill>
                  <a:srgbClr val="C00000"/>
                </a:solidFill>
                <a:latin typeface="Calibri" panose="020F0502020204030204" pitchFamily="34" charset="0"/>
                <a:cs typeface="Calibri" panose="020F0502020204030204" pitchFamily="34" charset="0"/>
              </a:rPr>
              <a:t>bss</a:t>
            </a:r>
            <a:r>
              <a:rPr lang="en-US" sz="2200" dirty="0">
                <a:solidFill>
                  <a:srgbClr val="FF0000"/>
                </a:solidFill>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sections copied to </a:t>
            </a:r>
            <a:r>
              <a:rPr lang="en-US" sz="2200" b="1" dirty="0">
                <a:solidFill>
                  <a:srgbClr val="0033CC"/>
                </a:solidFill>
                <a:latin typeface="Calibri" panose="020F0502020204030204" pitchFamily="34" charset="0"/>
                <a:cs typeface="Calibri" panose="020F0502020204030204" pitchFamily="34" charset="0"/>
              </a:rPr>
              <a:t>Data</a:t>
            </a:r>
            <a:r>
              <a:rPr lang="en-US" sz="2200" dirty="0">
                <a:latin typeface="Calibri" panose="020F0502020204030204" pitchFamily="34" charset="0"/>
                <a:cs typeface="Calibri" panose="020F0502020204030204" pitchFamily="34" charset="0"/>
              </a:rPr>
              <a:t> portion</a:t>
            </a:r>
          </a:p>
          <a:p>
            <a:pPr marL="630238" lvl="1" indent="-233363">
              <a:lnSpc>
                <a:spcPct val="110000"/>
              </a:lnSpc>
              <a:spcBef>
                <a:spcPts val="12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rest of process address space created at</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run time </a:t>
            </a:r>
          </a:p>
          <a:p>
            <a:pPr marL="347663" indent="-342900">
              <a:lnSpc>
                <a:spcPct val="110000"/>
              </a:lnSpc>
              <a:spcBef>
                <a:spcPts val="1200"/>
              </a:spcBef>
              <a:spcAft>
                <a:spcPts val="0"/>
              </a:spcAft>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Process execution involves a </a:t>
            </a:r>
            <a:r>
              <a:rPr lang="en-US" sz="2400" b="1" dirty="0">
                <a:solidFill>
                  <a:srgbClr val="0033CC"/>
                </a:solidFill>
                <a:latin typeface="Calibri" panose="020F0502020204030204" pitchFamily="34" charset="0"/>
                <a:cs typeface="Calibri" panose="020F0502020204030204" pitchFamily="34" charset="0"/>
              </a:rPr>
              <a:t>Stack </a:t>
            </a:r>
            <a:r>
              <a:rPr lang="en-US" sz="2400" dirty="0">
                <a:latin typeface="Calibri" panose="020F0502020204030204" pitchFamily="34" charset="0"/>
                <a:cs typeface="Calibri" panose="020F0502020204030204" pitchFamily="34" charset="0"/>
              </a:rPr>
              <a:t>&amp;</a:t>
            </a:r>
            <a:r>
              <a:rPr lang="en-US" sz="2400" b="1" dirty="0">
                <a:solidFill>
                  <a:srgbClr val="0033CC"/>
                </a:solidFill>
                <a:latin typeface="Calibri" panose="020F0502020204030204" pitchFamily="34" charset="0"/>
                <a:cs typeface="Calibri" panose="020F0502020204030204" pitchFamily="34" charset="0"/>
              </a:rPr>
              <a:t> Heap</a:t>
            </a:r>
          </a:p>
          <a:p>
            <a:pPr marL="630238" lvl="1" indent="-231775">
              <a:lnSpc>
                <a:spcPct val="110000"/>
              </a:lnSpc>
              <a:spcBef>
                <a:spcPts val="6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for procedure calls, &amp; dynamic memory </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allocation</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88570" y="76200"/>
            <a:ext cx="7293429" cy="696686"/>
          </a:xfrm>
        </p:spPr>
        <p:txBody>
          <a:bodyPr>
            <a:noAutofit/>
          </a:bodyPr>
          <a:lstStyle/>
          <a:p>
            <a:r>
              <a:rPr lang="en-US" altLang="en-US" dirty="0"/>
              <a:t>Process Control Block</a:t>
            </a:r>
            <a:endParaRPr lang="en-US" dirty="0"/>
          </a:p>
        </p:txBody>
      </p:sp>
      <p:sp>
        <p:nvSpPr>
          <p:cNvPr id="9" name="Rectangle 3"/>
          <p:cNvSpPr txBox="1">
            <a:spLocks noChangeArrowheads="1"/>
          </p:cNvSpPr>
          <p:nvPr/>
        </p:nvSpPr>
        <p:spPr>
          <a:xfrm>
            <a:off x="337452" y="1076962"/>
            <a:ext cx="8577943" cy="5453743"/>
          </a:xfrm>
          <a:prstGeom prst="rect">
            <a:avLst/>
          </a:prstGeom>
        </p:spPr>
        <p:txBody>
          <a:bodyPr vert="horz" lIns="91440" tIns="45720" rIns="91440" bIns="45720" rtlCol="0">
            <a:noAutofit/>
          </a:bodyPr>
          <a:lstStyle/>
          <a:p>
            <a:pPr marL="342900" indent="-342900" eaLnBrk="1" fontAlgn="auto" hangingPunct="1">
              <a:spcBef>
                <a:spcPts val="600"/>
              </a:spcBef>
              <a:spcAft>
                <a:spcPts val="0"/>
              </a:spcAft>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At the top, almost 1/4</a:t>
            </a:r>
            <a:r>
              <a:rPr lang="en-US" sz="2400" baseline="30000" dirty="0">
                <a:latin typeface="Calibri" panose="020F0502020204030204" pitchFamily="34" charset="0"/>
                <a:cs typeface="Calibri" panose="020F0502020204030204" pitchFamily="34" charset="0"/>
              </a:rPr>
              <a:t>th</a:t>
            </a:r>
            <a:r>
              <a:rPr lang="en-US" sz="2400" dirty="0">
                <a:latin typeface="Calibri" panose="020F0502020204030204" pitchFamily="34" charset="0"/>
                <a:cs typeface="Calibri" panose="020F0502020204030204" pitchFamily="34" charset="0"/>
              </a:rPr>
              <a:t> of memory address space reserved for </a:t>
            </a:r>
            <a:r>
              <a:rPr lang="en-US" sz="2400" dirty="0">
                <a:solidFill>
                  <a:srgbClr val="C00000"/>
                </a:solidFill>
                <a:latin typeface="Calibri" panose="020F0502020204030204" pitchFamily="34" charset="0"/>
                <a:cs typeface="Calibri" panose="020F0502020204030204" pitchFamily="34" charset="0"/>
              </a:rPr>
              <a:t>kernel</a:t>
            </a:r>
            <a:r>
              <a:rPr lang="en-US" sz="2400" dirty="0">
                <a:latin typeface="Calibri" panose="020F0502020204030204" pitchFamily="34" charset="0"/>
                <a:cs typeface="Calibri" panose="020F0502020204030204" pitchFamily="34" charset="0"/>
              </a:rPr>
              <a:t> </a:t>
            </a:r>
          </a:p>
          <a:p>
            <a:pPr marL="800100" lvl="1" indent="-342900" eaLnBrk="1" fontAlgn="auto" hangingPunct="1">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holds kernel code  &amp;  data structures</a:t>
            </a:r>
          </a:p>
          <a:p>
            <a:pPr marL="800100" lvl="1" indent="-342900" eaLnBrk="1" fontAlgn="auto" hangingPunct="1">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also has data structures for every process </a:t>
            </a:r>
          </a:p>
          <a:p>
            <a:pPr marL="342900" indent="-342900" eaLnBrk="1" fontAlgn="auto" hangingPunct="1">
              <a:spcBef>
                <a:spcPts val="1800"/>
              </a:spcBef>
              <a:spcAft>
                <a:spcPts val="0"/>
              </a:spcAft>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An important </a:t>
            </a:r>
            <a:r>
              <a:rPr lang="en-US" sz="2400" dirty="0">
                <a:solidFill>
                  <a:srgbClr val="C00000"/>
                </a:solidFill>
                <a:latin typeface="Calibri" panose="020F0502020204030204" pitchFamily="34" charset="0"/>
                <a:cs typeface="Calibri" panose="020F0502020204030204" pitchFamily="34" charset="0"/>
              </a:rPr>
              <a:t>data structure </a:t>
            </a:r>
            <a:r>
              <a:rPr lang="en-US" sz="2400" dirty="0">
                <a:latin typeface="Calibri" panose="020F0502020204030204" pitchFamily="34" charset="0"/>
                <a:cs typeface="Calibri" panose="020F0502020204030204" pitchFamily="34" charset="0"/>
              </a:rPr>
              <a:t>kernel maintains for every process </a:t>
            </a:r>
          </a:p>
          <a:p>
            <a:pPr marL="800100" lvl="1" indent="-342900" eaLnBrk="1" fontAlgn="auto" hangingPunct="1">
              <a:spcBef>
                <a:spcPts val="600"/>
              </a:spcBef>
              <a:spcAft>
                <a:spcPts val="0"/>
              </a:spcAft>
              <a:buFont typeface="Arial" panose="020B0604020202020204" pitchFamily="34" charset="0"/>
              <a:buChar char="•"/>
              <a:defRPr/>
            </a:pPr>
            <a:r>
              <a:rPr lang="en-US" sz="2200" i="1" dirty="0">
                <a:solidFill>
                  <a:srgbClr val="0033CC"/>
                </a:solidFill>
                <a:latin typeface="Calibri" panose="020F0502020204030204" pitchFamily="34" charset="0"/>
                <a:cs typeface="Calibri" panose="020F0502020204030204" pitchFamily="34" charset="0"/>
              </a:rPr>
              <a:t>Process Control Block   </a:t>
            </a:r>
            <a:r>
              <a:rPr lang="en-US" sz="2200" dirty="0">
                <a:latin typeface="Calibri" panose="020F0502020204030204" pitchFamily="34" charset="0"/>
                <a:cs typeface="Calibri" panose="020F0502020204030204" pitchFamily="34" charset="0"/>
              </a:rPr>
              <a:t>or  </a:t>
            </a:r>
            <a:r>
              <a:rPr lang="en-US" sz="2200" i="1" dirty="0">
                <a:solidFill>
                  <a:srgbClr val="0033CC"/>
                </a:solidFill>
                <a:latin typeface="Calibri" panose="020F0502020204030204" pitchFamily="34" charset="0"/>
                <a:cs typeface="Calibri" panose="020F0502020204030204" pitchFamily="34" charset="0"/>
              </a:rPr>
              <a:t> T</a:t>
            </a:r>
            <a:r>
              <a:rPr lang="en-US" altLang="en-US" sz="2200" i="1" dirty="0">
                <a:solidFill>
                  <a:srgbClr val="0033CC"/>
                </a:solidFill>
                <a:latin typeface="Calibri" panose="020F0502020204030204" pitchFamily="34" charset="0"/>
                <a:cs typeface="Calibri" panose="020F0502020204030204" pitchFamily="34" charset="0"/>
              </a:rPr>
              <a:t>ask Control Block</a:t>
            </a:r>
            <a:endParaRPr lang="en-US" sz="2200" i="1" dirty="0">
              <a:solidFill>
                <a:srgbClr val="0033CC"/>
              </a:solidFill>
              <a:latin typeface="Calibri" panose="020F0502020204030204" pitchFamily="34" charset="0"/>
              <a:cs typeface="Calibri" panose="020F0502020204030204" pitchFamily="34" charset="0"/>
            </a:endParaRPr>
          </a:p>
          <a:p>
            <a:pPr marL="342900" marR="0" lvl="0" indent="-342900" algn="l" defTabSz="914400" rtl="0" eaLnBrk="1" fontAlgn="auto" latinLnBrk="0" hangingPunct="1">
              <a:spcBef>
                <a:spcPts val="2400"/>
              </a:spcBef>
              <a:spcAft>
                <a:spcPts val="0"/>
              </a:spcAft>
              <a:buClrTx/>
              <a:buSzTx/>
              <a:buFont typeface="Wingdings" panose="05000000000000000000" pitchFamily="2" charset="2"/>
              <a:buChar char="§"/>
              <a:tabLst/>
              <a:defRPr/>
            </a:pPr>
            <a:r>
              <a:rPr lang="en-US" sz="2400" b="1" dirty="0">
                <a:solidFill>
                  <a:srgbClr val="0033CC"/>
                </a:solidFill>
                <a:latin typeface="Calibri" panose="020F0502020204030204" pitchFamily="34" charset="0"/>
                <a:cs typeface="Calibri" panose="020F0502020204030204" pitchFamily="34" charset="0"/>
              </a:rPr>
              <a:t>Process Control Block </a:t>
            </a:r>
          </a:p>
          <a:p>
            <a:pPr marL="800100" lvl="1" indent="-342900" eaLnBrk="1" fontAlgn="auto" hangingPunct="1">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each process is represented in OS by a PCB</a:t>
            </a:r>
          </a:p>
          <a:p>
            <a:pPr marL="800100" lvl="1" indent="-342900" eaLnBrk="1" fontAlgn="auto" hangingPunct="1">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rPr>
              <a:t>contains info required by OS to : </a:t>
            </a:r>
          </a:p>
          <a:p>
            <a:pPr marL="1257300" lvl="2" indent="-342900" eaLnBrk="1" fontAlgn="auto" hangingPunct="1">
              <a:spcBef>
                <a:spcPts val="600"/>
              </a:spcBef>
              <a:spcAft>
                <a:spcPts val="0"/>
              </a:spcAft>
              <a:buFont typeface="Symbol" panose="05050102010706020507" pitchFamily="18" charset="2"/>
              <a:buChar char="-"/>
              <a:defRPr/>
            </a:pPr>
            <a:r>
              <a:rPr lang="en-US" sz="2100" dirty="0">
                <a:latin typeface="Calibri" panose="020F0502020204030204" pitchFamily="34" charset="0"/>
                <a:cs typeface="Calibri" panose="020F0502020204030204" pitchFamily="34" charset="0"/>
              </a:rPr>
              <a:t>control the process </a:t>
            </a:r>
          </a:p>
          <a:p>
            <a:pPr marL="1257300" lvl="2" indent="-342900" eaLnBrk="1" fontAlgn="auto" hangingPunct="1">
              <a:spcBef>
                <a:spcPts val="600"/>
              </a:spcBef>
              <a:spcAft>
                <a:spcPts val="0"/>
              </a:spcAft>
              <a:buFont typeface="Symbol" panose="05050102010706020507" pitchFamily="18" charset="2"/>
              <a:buChar char="-"/>
              <a:defRPr/>
            </a:pPr>
            <a:r>
              <a:rPr lang="en-US" sz="2100" dirty="0">
                <a:latin typeface="Calibri" panose="020F0502020204030204" pitchFamily="34" charset="0"/>
                <a:cs typeface="Calibri" panose="020F0502020204030204" pitchFamily="34" charset="0"/>
              </a:rPr>
              <a:t>manage its resources</a:t>
            </a:r>
          </a:p>
        </p:txBody>
      </p:sp>
      <p:sp>
        <p:nvSpPr>
          <p:cNvPr id="2" name="Slide Number Placeholder 3">
            <a:extLst>
              <a:ext uri="{FF2B5EF4-FFF2-40B4-BE49-F238E27FC236}">
                <a16:creationId xmlns:a16="http://schemas.microsoft.com/office/drawing/2014/main" id="{FC7830E4-34B9-983F-2FAE-9A84A406B977}"/>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10</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0878017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7A86686-A4A5-FF80-34FE-E8A4234CA342}"/>
              </a:ext>
            </a:extLst>
          </p:cNvPr>
          <p:cNvSpPr>
            <a:spLocks noGrp="1" noChangeArrowheads="1"/>
          </p:cNvSpPr>
          <p:nvPr>
            <p:ph type="title"/>
          </p:nvPr>
        </p:nvSpPr>
        <p:spPr>
          <a:xfrm>
            <a:off x="1166813" y="136525"/>
            <a:ext cx="7316787" cy="576263"/>
          </a:xfrm>
        </p:spPr>
        <p:txBody>
          <a:bodyPr/>
          <a:lstStyle/>
          <a:p>
            <a:pPr eaLnBrk="1" hangingPunct="1"/>
            <a:r>
              <a:rPr lang="en-US" altLang="en-US" dirty="0"/>
              <a:t>PCB</a:t>
            </a:r>
          </a:p>
        </p:txBody>
      </p:sp>
      <p:sp>
        <p:nvSpPr>
          <p:cNvPr id="11267" name="Rectangle 3">
            <a:extLst>
              <a:ext uri="{FF2B5EF4-FFF2-40B4-BE49-F238E27FC236}">
                <a16:creationId xmlns:a16="http://schemas.microsoft.com/office/drawing/2014/main" id="{69D110AE-E9A3-018B-3915-11C375A10902}"/>
              </a:ext>
            </a:extLst>
          </p:cNvPr>
          <p:cNvSpPr>
            <a:spLocks noGrp="1" noChangeArrowheads="1"/>
          </p:cNvSpPr>
          <p:nvPr>
            <p:ph type="body" idx="1"/>
          </p:nvPr>
        </p:nvSpPr>
        <p:spPr>
          <a:xfrm>
            <a:off x="440689" y="1042987"/>
            <a:ext cx="8459469" cy="5489893"/>
          </a:xfrm>
        </p:spPr>
        <p:txBody>
          <a:bodyPr/>
          <a:lstStyle/>
          <a:p>
            <a:pPr>
              <a:spcBef>
                <a:spcPts val="600"/>
              </a:spcBef>
              <a:buFont typeface="Monotype Sorts" pitchFamily="-84" charset="2"/>
              <a:buNone/>
            </a:pPr>
            <a:r>
              <a:rPr lang="en-US" altLang="en-US" sz="2400" dirty="0">
                <a:latin typeface="Calibri" panose="020F0502020204030204" pitchFamily="34" charset="0"/>
                <a:cs typeface="Calibri" panose="020F0502020204030204" pitchFamily="34" charset="0"/>
              </a:rPr>
              <a:t>PCB maintains following info for each process: </a:t>
            </a:r>
          </a:p>
          <a:p>
            <a:pPr>
              <a:spcBef>
                <a:spcPts val="600"/>
              </a:spcBef>
            </a:pPr>
            <a:r>
              <a:rPr lang="en-US" altLang="en-US" sz="2400" b="1" dirty="0">
                <a:solidFill>
                  <a:srgbClr val="006699"/>
                </a:solidFill>
                <a:latin typeface="Calibri" panose="020F0502020204030204" pitchFamily="34" charset="0"/>
                <a:cs typeface="Calibri" panose="020F0502020204030204" pitchFamily="34" charset="0"/>
              </a:rPr>
              <a:t>Process ID</a:t>
            </a:r>
          </a:p>
          <a:p>
            <a:pPr lvl="1">
              <a:spcBef>
                <a:spcPts val="600"/>
              </a:spcBef>
            </a:pPr>
            <a:r>
              <a:rPr lang="en-US" altLang="en-US" sz="2200" dirty="0">
                <a:latin typeface="Calibri" panose="020F0502020204030204" pitchFamily="34" charset="0"/>
                <a:cs typeface="Calibri" panose="020F0502020204030204" pitchFamily="34" charset="0"/>
              </a:rPr>
              <a:t>unique ID for process</a:t>
            </a:r>
          </a:p>
          <a:p>
            <a:pPr>
              <a:spcBef>
                <a:spcPts val="1200"/>
              </a:spcBef>
            </a:pPr>
            <a:r>
              <a:rPr lang="en-US" altLang="en-US" sz="2400" b="1" dirty="0">
                <a:solidFill>
                  <a:srgbClr val="006699"/>
                </a:solidFill>
                <a:latin typeface="Calibri" panose="020F0502020204030204" pitchFamily="34" charset="0"/>
                <a:cs typeface="Calibri" panose="020F0502020204030204" pitchFamily="34" charset="0"/>
              </a:rPr>
              <a:t>Process</a:t>
            </a:r>
            <a:r>
              <a:rPr lang="en-US" altLang="en-US" sz="2400" dirty="0">
                <a:latin typeface="Calibri" panose="020F0502020204030204" pitchFamily="34" charset="0"/>
                <a:cs typeface="Calibri" panose="020F0502020204030204" pitchFamily="34" charset="0"/>
              </a:rPr>
              <a:t> </a:t>
            </a:r>
            <a:r>
              <a:rPr lang="en-US" altLang="en-US" sz="2400" b="1" dirty="0">
                <a:solidFill>
                  <a:srgbClr val="006699"/>
                </a:solidFill>
                <a:latin typeface="Calibri" panose="020F0502020204030204" pitchFamily="34" charset="0"/>
                <a:cs typeface="Calibri" panose="020F0502020204030204" pitchFamily="34" charset="0"/>
              </a:rPr>
              <a:t>state</a:t>
            </a:r>
          </a:p>
          <a:p>
            <a:pPr lvl="1">
              <a:spcBef>
                <a:spcPts val="600"/>
              </a:spcBef>
            </a:pPr>
            <a:r>
              <a:rPr lang="en-US" altLang="en-US" sz="2200" dirty="0">
                <a:latin typeface="Calibri" panose="020F0502020204030204" pitchFamily="34" charset="0"/>
                <a:cs typeface="Calibri" panose="020F0502020204030204" pitchFamily="34" charset="0"/>
              </a:rPr>
              <a:t>ready, running, waiting, </a:t>
            </a:r>
            <a:r>
              <a:rPr lang="en-US" altLang="en-US" sz="2200" dirty="0" err="1">
                <a:latin typeface="Calibri" panose="020F0502020204030204" pitchFamily="34" charset="0"/>
                <a:cs typeface="Calibri" panose="020F0502020204030204" pitchFamily="34" charset="0"/>
              </a:rPr>
              <a:t>etc</a:t>
            </a:r>
            <a:endParaRPr lang="en-US" altLang="en-US" sz="2200" dirty="0">
              <a:latin typeface="Calibri" panose="020F0502020204030204" pitchFamily="34" charset="0"/>
              <a:cs typeface="Calibri" panose="020F0502020204030204" pitchFamily="34" charset="0"/>
            </a:endParaRPr>
          </a:p>
          <a:p>
            <a:pPr>
              <a:spcBef>
                <a:spcPts val="1200"/>
              </a:spcBef>
            </a:pPr>
            <a:r>
              <a:rPr lang="en-US" altLang="en-US" sz="2400" b="1" dirty="0">
                <a:solidFill>
                  <a:srgbClr val="006699"/>
                </a:solidFill>
                <a:latin typeface="Calibri" panose="020F0502020204030204" pitchFamily="34" charset="0"/>
                <a:cs typeface="Calibri" panose="020F0502020204030204" pitchFamily="34" charset="0"/>
              </a:rPr>
              <a:t>Program counter </a:t>
            </a:r>
          </a:p>
          <a:p>
            <a:pPr lvl="1">
              <a:spcBef>
                <a:spcPts val="600"/>
              </a:spcBef>
            </a:pPr>
            <a:r>
              <a:rPr lang="en-US" altLang="en-US" sz="2200" dirty="0">
                <a:latin typeface="Calibri" panose="020F0502020204030204" pitchFamily="34" charset="0"/>
                <a:cs typeface="Calibri" panose="020F0502020204030204" pitchFamily="34" charset="0"/>
              </a:rPr>
              <a:t>address of </a:t>
            </a:r>
            <a:r>
              <a:rPr lang="en-US" altLang="en-US" sz="2200" dirty="0">
                <a:solidFill>
                  <a:srgbClr val="C00000"/>
                </a:solidFill>
                <a:latin typeface="Calibri" panose="020F0502020204030204" pitchFamily="34" charset="0"/>
                <a:cs typeface="Calibri" panose="020F0502020204030204" pitchFamily="34" charset="0"/>
              </a:rPr>
              <a:t>next instruction </a:t>
            </a:r>
            <a:r>
              <a:rPr lang="en-US" altLang="en-US" sz="2200" dirty="0">
                <a:latin typeface="Calibri" panose="020F0502020204030204" pitchFamily="34" charset="0"/>
                <a:cs typeface="Calibri" panose="020F0502020204030204" pitchFamily="34" charset="0"/>
              </a:rPr>
              <a:t>to be executed</a:t>
            </a:r>
          </a:p>
          <a:p>
            <a:pPr>
              <a:spcBef>
                <a:spcPts val="1200"/>
              </a:spcBef>
            </a:pPr>
            <a:r>
              <a:rPr lang="en-US" altLang="en-US" sz="2400" b="1" dirty="0">
                <a:solidFill>
                  <a:srgbClr val="006699"/>
                </a:solidFill>
                <a:latin typeface="Calibri" panose="020F0502020204030204" pitchFamily="34" charset="0"/>
                <a:cs typeface="Calibri" panose="020F0502020204030204" pitchFamily="34" charset="0"/>
              </a:rPr>
              <a:t>CPU registers </a:t>
            </a:r>
            <a:r>
              <a:rPr lang="en-US" altLang="en-US" sz="2200" i="1" dirty="0">
                <a:latin typeface="Calibri" panose="020F0502020204030204" pitchFamily="34" charset="0"/>
                <a:cs typeface="Calibri" panose="020F0502020204030204" pitchFamily="34" charset="0"/>
              </a:rPr>
              <a:t>(context data)</a:t>
            </a:r>
          </a:p>
          <a:p>
            <a:pPr lvl="1">
              <a:spcBef>
                <a:spcPts val="600"/>
              </a:spcBef>
            </a:pPr>
            <a:r>
              <a:rPr lang="en-US" altLang="en-US" sz="2200" dirty="0">
                <a:latin typeface="Calibri" panose="020F0502020204030204" pitchFamily="34" charset="0"/>
                <a:cs typeface="Calibri" panose="020F0502020204030204" pitchFamily="34" charset="0"/>
              </a:rPr>
              <a:t>data in processor registers while process is</a:t>
            </a:r>
            <a:br>
              <a:rPr lang="en-US" altLang="en-US" sz="2200" dirty="0">
                <a:latin typeface="Calibri" panose="020F0502020204030204" pitchFamily="34" charset="0"/>
                <a:cs typeface="Calibri" panose="020F0502020204030204" pitchFamily="34" charset="0"/>
              </a:rPr>
            </a:br>
            <a:r>
              <a:rPr lang="en-US" altLang="en-US" sz="2200" dirty="0">
                <a:latin typeface="Calibri" panose="020F0502020204030204" pitchFamily="34" charset="0"/>
                <a:cs typeface="Calibri" panose="020F0502020204030204" pitchFamily="34" charset="0"/>
              </a:rPr>
              <a:t>executing</a:t>
            </a:r>
          </a:p>
          <a:p>
            <a:pPr lvl="1">
              <a:spcBef>
                <a:spcPts val="600"/>
              </a:spcBef>
            </a:pPr>
            <a:r>
              <a:rPr lang="en-US" altLang="en-US" sz="2200" dirty="0">
                <a:latin typeface="Calibri" panose="020F0502020204030204" pitchFamily="34" charset="0"/>
                <a:cs typeface="Calibri" panose="020F0502020204030204" pitchFamily="34" charset="0"/>
              </a:rPr>
              <a:t>includes </a:t>
            </a:r>
            <a:r>
              <a:rPr lang="en-US" altLang="en-US" sz="2200" dirty="0">
                <a:solidFill>
                  <a:srgbClr val="C00000"/>
                </a:solidFill>
                <a:latin typeface="Calibri" panose="020F0502020204030204" pitchFamily="34" charset="0"/>
                <a:cs typeface="Calibri" panose="020F0502020204030204" pitchFamily="34" charset="0"/>
              </a:rPr>
              <a:t>general purpose registers</a:t>
            </a:r>
            <a:r>
              <a:rPr lang="en-US" altLang="en-US" sz="2200" dirty="0">
                <a:latin typeface="Calibri" panose="020F0502020204030204" pitchFamily="34" charset="0"/>
                <a:cs typeface="Calibri" panose="020F0502020204030204" pitchFamily="34" charset="0"/>
              </a:rPr>
              <a:t>, </a:t>
            </a:r>
            <a:r>
              <a:rPr lang="en-US" altLang="en-US" sz="2200" dirty="0">
                <a:solidFill>
                  <a:srgbClr val="C00000"/>
                </a:solidFill>
                <a:latin typeface="Calibri" panose="020F0502020204030204" pitchFamily="34" charset="0"/>
                <a:cs typeface="Calibri" panose="020F0502020204030204" pitchFamily="34" charset="0"/>
              </a:rPr>
              <a:t>stack pointer</a:t>
            </a:r>
            <a:r>
              <a:rPr lang="en-US" altLang="en-US" sz="2200" dirty="0">
                <a:latin typeface="Calibri" panose="020F0502020204030204" pitchFamily="34" charset="0"/>
                <a:cs typeface="Calibri" panose="020F0502020204030204" pitchFamily="34" charset="0"/>
              </a:rPr>
              <a:t>, </a:t>
            </a:r>
            <a:r>
              <a:rPr lang="en-US" altLang="en-US" sz="2200" dirty="0" err="1">
                <a:latin typeface="Calibri" panose="020F0502020204030204" pitchFamily="34" charset="0"/>
                <a:cs typeface="Calibri" panose="020F0502020204030204" pitchFamily="34" charset="0"/>
              </a:rPr>
              <a:t>etc</a:t>
            </a:r>
            <a:endParaRPr lang="en-US" altLang="en-US" sz="2200" dirty="0">
              <a:latin typeface="Calibri" panose="020F0502020204030204" pitchFamily="34" charset="0"/>
              <a:cs typeface="Calibri" panose="020F0502020204030204" pitchFamily="34" charset="0"/>
            </a:endParaRPr>
          </a:p>
          <a:p>
            <a:pPr lvl="1">
              <a:spcBef>
                <a:spcPts val="600"/>
              </a:spcBef>
            </a:pPr>
            <a:r>
              <a:rPr lang="en-US" altLang="en-US" sz="2200" dirty="0">
                <a:latin typeface="Calibri" panose="020F0502020204030204" pitchFamily="34" charset="0"/>
                <a:cs typeface="Calibri" panose="020F0502020204030204" pitchFamily="34" charset="0"/>
              </a:rPr>
              <a:t>state is saved on interrupt;  allows to resume execution later </a:t>
            </a:r>
            <a:endParaRPr lang="en-US" altLang="en-US" sz="2400" dirty="0">
              <a:latin typeface="Calibri" panose="020F0502020204030204" pitchFamily="34" charset="0"/>
              <a:cs typeface="Calibri" panose="020F0502020204030204" pitchFamily="34" charset="0"/>
            </a:endParaRPr>
          </a:p>
        </p:txBody>
      </p:sp>
      <p:pic>
        <p:nvPicPr>
          <p:cNvPr id="11268" name="Picture 9">
            <a:extLst>
              <a:ext uri="{FF2B5EF4-FFF2-40B4-BE49-F238E27FC236}">
                <a16:creationId xmlns:a16="http://schemas.microsoft.com/office/drawing/2014/main" id="{0E7B7F36-D30F-2871-6BB4-BE4D596C4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7422" y="1149985"/>
            <a:ext cx="2252737" cy="387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EDE8899E-6713-9824-9E5C-F883104CBAD6}"/>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11</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7A86686-A4A5-FF80-34FE-E8A4234CA342}"/>
              </a:ext>
            </a:extLst>
          </p:cNvPr>
          <p:cNvSpPr>
            <a:spLocks noGrp="1" noChangeArrowheads="1"/>
          </p:cNvSpPr>
          <p:nvPr>
            <p:ph type="title"/>
          </p:nvPr>
        </p:nvSpPr>
        <p:spPr>
          <a:xfrm>
            <a:off x="1166813" y="136525"/>
            <a:ext cx="7326947" cy="576263"/>
          </a:xfrm>
        </p:spPr>
        <p:txBody>
          <a:bodyPr/>
          <a:lstStyle/>
          <a:p>
            <a:pPr eaLnBrk="1" hangingPunct="1"/>
            <a:r>
              <a:rPr lang="en-US" altLang="en-US" dirty="0"/>
              <a:t>PCB</a:t>
            </a:r>
          </a:p>
        </p:txBody>
      </p:sp>
      <p:sp>
        <p:nvSpPr>
          <p:cNvPr id="11267" name="Rectangle 3">
            <a:extLst>
              <a:ext uri="{FF2B5EF4-FFF2-40B4-BE49-F238E27FC236}">
                <a16:creationId xmlns:a16="http://schemas.microsoft.com/office/drawing/2014/main" id="{69D110AE-E9A3-018B-3915-11C375A10902}"/>
              </a:ext>
            </a:extLst>
          </p:cNvPr>
          <p:cNvSpPr>
            <a:spLocks noGrp="1" noChangeArrowheads="1"/>
          </p:cNvSpPr>
          <p:nvPr>
            <p:ph type="body" idx="1"/>
          </p:nvPr>
        </p:nvSpPr>
        <p:spPr>
          <a:xfrm>
            <a:off x="535279" y="1049647"/>
            <a:ext cx="8459469" cy="5489893"/>
          </a:xfrm>
        </p:spPr>
        <p:txBody>
          <a:bodyPr/>
          <a:lstStyle/>
          <a:p>
            <a:pPr>
              <a:lnSpc>
                <a:spcPct val="110000"/>
              </a:lnSpc>
              <a:spcBef>
                <a:spcPts val="600"/>
              </a:spcBef>
            </a:pPr>
            <a:r>
              <a:rPr lang="en-US" altLang="en-US" sz="2400" b="1" dirty="0">
                <a:solidFill>
                  <a:srgbClr val="006699"/>
                </a:solidFill>
                <a:latin typeface="Calibri" panose="020F0502020204030204" pitchFamily="34" charset="0"/>
                <a:cs typeface="Calibri" panose="020F0502020204030204" pitchFamily="34" charset="0"/>
              </a:rPr>
              <a:t>CPU scheduling info </a:t>
            </a:r>
          </a:p>
          <a:p>
            <a:pPr lvl="1">
              <a:lnSpc>
                <a:spcPct val="110000"/>
              </a:lnSpc>
              <a:spcBef>
                <a:spcPts val="600"/>
              </a:spcBef>
            </a:pPr>
            <a:r>
              <a:rPr lang="en-US" altLang="en-US" sz="2200" dirty="0">
                <a:latin typeface="Calibri" panose="020F0502020204030204" pitchFamily="34" charset="0"/>
                <a:cs typeface="Calibri" panose="020F0502020204030204" pitchFamily="34" charset="0"/>
              </a:rPr>
              <a:t>process priority</a:t>
            </a:r>
          </a:p>
          <a:p>
            <a:pPr lvl="1">
              <a:lnSpc>
                <a:spcPct val="110000"/>
              </a:lnSpc>
              <a:spcBef>
                <a:spcPts val="0"/>
              </a:spcBef>
            </a:pPr>
            <a:r>
              <a:rPr lang="en-US" altLang="en-US" sz="2200" dirty="0">
                <a:latin typeface="Calibri" panose="020F0502020204030204" pitchFamily="34" charset="0"/>
                <a:cs typeface="Calibri" panose="020F0502020204030204" pitchFamily="34" charset="0"/>
              </a:rPr>
              <a:t>scheduling queue pointers</a:t>
            </a:r>
          </a:p>
          <a:p>
            <a:pPr>
              <a:lnSpc>
                <a:spcPct val="110000"/>
              </a:lnSpc>
              <a:spcBef>
                <a:spcPts val="1200"/>
              </a:spcBef>
            </a:pPr>
            <a:r>
              <a:rPr lang="en-US" altLang="en-US" sz="2400" b="1" dirty="0">
                <a:solidFill>
                  <a:srgbClr val="006699"/>
                </a:solidFill>
                <a:latin typeface="Calibri" panose="020F0502020204030204" pitchFamily="34" charset="0"/>
                <a:cs typeface="Calibri" panose="020F0502020204030204" pitchFamily="34" charset="0"/>
              </a:rPr>
              <a:t>Memory management info  </a:t>
            </a:r>
          </a:p>
          <a:p>
            <a:pPr lvl="1">
              <a:lnSpc>
                <a:spcPct val="110000"/>
              </a:lnSpc>
              <a:spcBef>
                <a:spcPts val="600"/>
              </a:spcBef>
            </a:pPr>
            <a:r>
              <a:rPr lang="en-US" altLang="en-US" sz="2200" dirty="0">
                <a:latin typeface="Calibri" panose="020F0502020204030204" pitchFamily="34" charset="0"/>
                <a:cs typeface="Calibri" panose="020F0502020204030204" pitchFamily="34" charset="0"/>
              </a:rPr>
              <a:t>memory allocated to process</a:t>
            </a:r>
          </a:p>
          <a:p>
            <a:pPr lvl="1">
              <a:lnSpc>
                <a:spcPct val="110000"/>
              </a:lnSpc>
              <a:spcBef>
                <a:spcPts val="0"/>
              </a:spcBef>
            </a:pPr>
            <a:r>
              <a:rPr lang="en-US" altLang="en-US" sz="2200" dirty="0">
                <a:solidFill>
                  <a:srgbClr val="C00000"/>
                </a:solidFill>
                <a:latin typeface="Calibri" panose="020F0502020204030204" pitchFamily="34" charset="0"/>
                <a:cs typeface="Calibri" panose="020F0502020204030204" pitchFamily="34" charset="0"/>
              </a:rPr>
              <a:t>base</a:t>
            </a:r>
            <a:r>
              <a:rPr lang="en-US" altLang="en-US" sz="2200" dirty="0">
                <a:latin typeface="Calibri" panose="020F0502020204030204" pitchFamily="34" charset="0"/>
                <a:cs typeface="Calibri" panose="020F0502020204030204" pitchFamily="34" charset="0"/>
              </a:rPr>
              <a:t> &amp; </a:t>
            </a:r>
            <a:r>
              <a:rPr lang="en-US" altLang="en-US" sz="2200" dirty="0">
                <a:solidFill>
                  <a:srgbClr val="C00000"/>
                </a:solidFill>
                <a:latin typeface="Calibri" panose="020F0502020204030204" pitchFamily="34" charset="0"/>
                <a:cs typeface="Calibri" panose="020F0502020204030204" pitchFamily="34" charset="0"/>
              </a:rPr>
              <a:t>limit</a:t>
            </a:r>
            <a:r>
              <a:rPr lang="en-US" altLang="en-US" sz="2200" dirty="0">
                <a:latin typeface="Calibri" panose="020F0502020204030204" pitchFamily="34" charset="0"/>
                <a:cs typeface="Calibri" panose="020F0502020204030204" pitchFamily="34" charset="0"/>
              </a:rPr>
              <a:t> registers</a:t>
            </a:r>
          </a:p>
          <a:p>
            <a:pPr>
              <a:lnSpc>
                <a:spcPct val="110000"/>
              </a:lnSpc>
              <a:spcBef>
                <a:spcPts val="1200"/>
              </a:spcBef>
            </a:pPr>
            <a:r>
              <a:rPr lang="en-US" altLang="en-US" sz="2400" b="1" dirty="0">
                <a:solidFill>
                  <a:srgbClr val="006699"/>
                </a:solidFill>
                <a:latin typeface="Calibri" panose="020F0502020204030204" pitchFamily="34" charset="0"/>
                <a:cs typeface="Calibri" panose="020F0502020204030204" pitchFamily="34" charset="0"/>
              </a:rPr>
              <a:t>Accounting info </a:t>
            </a:r>
          </a:p>
          <a:p>
            <a:pPr lvl="1">
              <a:lnSpc>
                <a:spcPct val="110000"/>
              </a:lnSpc>
              <a:spcBef>
                <a:spcPts val="600"/>
              </a:spcBef>
            </a:pPr>
            <a:r>
              <a:rPr lang="en-US" altLang="en-US" sz="2200" dirty="0">
                <a:latin typeface="Calibri" panose="020F0502020204030204" pitchFamily="34" charset="0"/>
                <a:cs typeface="Calibri" panose="020F0502020204030204" pitchFamily="34" charset="0"/>
              </a:rPr>
              <a:t>CPU time used</a:t>
            </a:r>
          </a:p>
          <a:p>
            <a:pPr lvl="1">
              <a:lnSpc>
                <a:spcPct val="110000"/>
              </a:lnSpc>
              <a:spcBef>
                <a:spcPts val="0"/>
              </a:spcBef>
            </a:pPr>
            <a:r>
              <a:rPr lang="en-US" altLang="en-US" sz="2200" dirty="0">
                <a:latin typeface="Calibri" panose="020F0502020204030204" pitchFamily="34" charset="0"/>
                <a:cs typeface="Calibri" panose="020F0502020204030204" pitchFamily="34" charset="0"/>
              </a:rPr>
              <a:t>clock time since start</a:t>
            </a:r>
          </a:p>
          <a:p>
            <a:pPr>
              <a:lnSpc>
                <a:spcPct val="110000"/>
              </a:lnSpc>
              <a:spcBef>
                <a:spcPts val="1200"/>
              </a:spcBef>
            </a:pPr>
            <a:r>
              <a:rPr lang="en-US" altLang="en-US" sz="2400" b="1" dirty="0">
                <a:solidFill>
                  <a:srgbClr val="006699"/>
                </a:solidFill>
                <a:latin typeface="Calibri" panose="020F0502020204030204" pitchFamily="34" charset="0"/>
                <a:cs typeface="Calibri" panose="020F0502020204030204" pitchFamily="34" charset="0"/>
              </a:rPr>
              <a:t>I/O status info</a:t>
            </a:r>
          </a:p>
          <a:p>
            <a:pPr lvl="1">
              <a:lnSpc>
                <a:spcPct val="110000"/>
              </a:lnSpc>
              <a:spcBef>
                <a:spcPts val="600"/>
              </a:spcBef>
            </a:pPr>
            <a:r>
              <a:rPr lang="en-US" altLang="en-US" sz="2200" dirty="0">
                <a:solidFill>
                  <a:srgbClr val="C00000"/>
                </a:solidFill>
                <a:latin typeface="Calibri" panose="020F0502020204030204" pitchFamily="34" charset="0"/>
                <a:cs typeface="Calibri" panose="020F0502020204030204" pitchFamily="34" charset="0"/>
              </a:rPr>
              <a:t>I/O devices </a:t>
            </a:r>
            <a:r>
              <a:rPr lang="en-US" altLang="en-US" sz="2200" dirty="0">
                <a:latin typeface="Calibri" panose="020F0502020204030204" pitchFamily="34" charset="0"/>
                <a:cs typeface="Calibri" panose="020F0502020204030204" pitchFamily="34" charset="0"/>
              </a:rPr>
              <a:t>allocated to process</a:t>
            </a:r>
          </a:p>
          <a:p>
            <a:pPr lvl="1">
              <a:lnSpc>
                <a:spcPct val="110000"/>
              </a:lnSpc>
              <a:spcBef>
                <a:spcPts val="0"/>
              </a:spcBef>
            </a:pPr>
            <a:r>
              <a:rPr lang="en-US" altLang="en-US" sz="2200" dirty="0">
                <a:latin typeface="Calibri" panose="020F0502020204030204" pitchFamily="34" charset="0"/>
                <a:cs typeface="Calibri" panose="020F0502020204030204" pitchFamily="34" charset="0"/>
              </a:rPr>
              <a:t>list of </a:t>
            </a:r>
            <a:r>
              <a:rPr lang="en-US" altLang="en-US" sz="2200" dirty="0">
                <a:solidFill>
                  <a:srgbClr val="C00000"/>
                </a:solidFill>
                <a:latin typeface="Calibri" panose="020F0502020204030204" pitchFamily="34" charset="0"/>
                <a:cs typeface="Calibri" panose="020F0502020204030204" pitchFamily="34" charset="0"/>
              </a:rPr>
              <a:t>open files </a:t>
            </a:r>
          </a:p>
        </p:txBody>
      </p:sp>
      <p:sp>
        <p:nvSpPr>
          <p:cNvPr id="2" name="Slide Number Placeholder 3">
            <a:extLst>
              <a:ext uri="{FF2B5EF4-FFF2-40B4-BE49-F238E27FC236}">
                <a16:creationId xmlns:a16="http://schemas.microsoft.com/office/drawing/2014/main" id="{28F38976-9D56-B766-ECD8-3645CAFFDD3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12</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3" name="Picture 9">
            <a:extLst>
              <a:ext uri="{FF2B5EF4-FFF2-40B4-BE49-F238E27FC236}">
                <a16:creationId xmlns:a16="http://schemas.microsoft.com/office/drawing/2014/main" id="{F5D41815-04C9-4B2B-5DA1-FC404647C0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7422" y="1149985"/>
            <a:ext cx="2252737" cy="387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99040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Process States</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dirty="0"/>
          </a:p>
        </p:txBody>
      </p:sp>
      <p:sp>
        <p:nvSpPr>
          <p:cNvPr id="3" name="Slide Number Placeholder 3">
            <a:extLst>
              <a:ext uri="{FF2B5EF4-FFF2-40B4-BE49-F238E27FC236}">
                <a16:creationId xmlns:a16="http://schemas.microsoft.com/office/drawing/2014/main" id="{32661A78-622C-4B46-DDC9-C6601D429E7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13</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4891816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55914" y="0"/>
            <a:ext cx="7946572" cy="730250"/>
          </a:xfrm>
        </p:spPr>
        <p:txBody>
          <a:bodyPr>
            <a:noAutofit/>
          </a:bodyPr>
          <a:lstStyle/>
          <a:p>
            <a:r>
              <a:rPr lang="en-US" dirty="0"/>
              <a:t>2 State Process Model</a:t>
            </a:r>
          </a:p>
        </p:txBody>
      </p:sp>
      <p:sp>
        <p:nvSpPr>
          <p:cNvPr id="16" name="Rectangle 3"/>
          <p:cNvSpPr txBox="1">
            <a:spLocks noChangeArrowheads="1"/>
          </p:cNvSpPr>
          <p:nvPr/>
        </p:nvSpPr>
        <p:spPr>
          <a:xfrm>
            <a:off x="359227" y="1045924"/>
            <a:ext cx="8479973" cy="2835196"/>
          </a:xfrm>
          <a:prstGeom prst="rect">
            <a:avLst/>
          </a:prstGeom>
        </p:spPr>
        <p:txBody>
          <a:bodyPr vert="horz" lIns="91440" tIns="45720" rIns="91440" bIns="45720" rtlCol="0">
            <a:noAutofit/>
          </a:bodyPr>
          <a:lstStyle/>
          <a:p>
            <a:pPr lvl="0" eaLnBrk="1" fontAlgn="auto" hangingPunct="1">
              <a:spcBef>
                <a:spcPts val="600"/>
              </a:spcBef>
              <a:spcAft>
                <a:spcPts val="0"/>
              </a:spcAft>
              <a:defRPr/>
            </a:pPr>
            <a:r>
              <a:rPr lang="en-US" sz="2400" b="1" dirty="0">
                <a:solidFill>
                  <a:srgbClr val="0070C0"/>
                </a:solidFill>
                <a:latin typeface="Calibri" panose="020F0502020204030204" pitchFamily="34" charset="0"/>
                <a:cs typeface="Calibri" panose="020F0502020204030204" pitchFamily="34" charset="0"/>
              </a:rPr>
              <a:t>Simplest model</a:t>
            </a:r>
          </a:p>
          <a:p>
            <a:pPr marL="342900" indent="-342900" eaLnBrk="1" fontAlgn="auto" hangingPunct="1">
              <a:spcBef>
                <a:spcPts val="1200"/>
              </a:spcBef>
              <a:spcAft>
                <a:spcPts val="0"/>
              </a:spcAft>
              <a:buFont typeface="Wingdings" panose="05000000000000000000" pitchFamily="2" charset="2"/>
              <a:buChar char="§"/>
              <a:defRPr/>
            </a:pPr>
            <a:r>
              <a:rPr lang="en-US" sz="2200" dirty="0">
                <a:latin typeface="Calibri" panose="020F0502020204030204" pitchFamily="34" charset="0"/>
                <a:cs typeface="Calibri" panose="020F0502020204030204" pitchFamily="34" charset="0"/>
              </a:rPr>
              <a:t>When new process is created, OS creates a PCB</a:t>
            </a:r>
          </a:p>
          <a:p>
            <a:pPr marL="682625" lvl="1" indent="-342900" eaLnBrk="1" fontAlgn="auto" hangingPunct="1">
              <a:spcBef>
                <a:spcPts val="6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process state </a:t>
            </a:r>
            <a:r>
              <a:rPr lang="en-US" sz="2200" dirty="0">
                <a:latin typeface="Abadi" panose="020B0604020104020204" pitchFamily="34" charset="0"/>
                <a:cs typeface="Calibri" panose="020F0502020204030204" pitchFamily="34" charset="0"/>
              </a:rPr>
              <a:t>→</a:t>
            </a:r>
            <a:r>
              <a:rPr lang="en-US" sz="2200" dirty="0">
                <a:latin typeface="Calibri" panose="020F0502020204030204" pitchFamily="34" charset="0"/>
                <a:cs typeface="Calibri" panose="020F0502020204030204" pitchFamily="34" charset="0"/>
              </a:rPr>
              <a:t> </a:t>
            </a:r>
            <a:r>
              <a:rPr lang="en-US" sz="2200" dirty="0">
                <a:solidFill>
                  <a:srgbClr val="0070C0"/>
                </a:solidFill>
                <a:latin typeface="Calibri" panose="020F0502020204030204" pitchFamily="34" charset="0"/>
                <a:cs typeface="Calibri" panose="020F0502020204030204" pitchFamily="34" charset="0"/>
              </a:rPr>
              <a:t>Not Running</a:t>
            </a:r>
            <a:endParaRPr lang="en-US" sz="2200" dirty="0">
              <a:latin typeface="Calibri" panose="020F0502020204030204" pitchFamily="34" charset="0"/>
              <a:cs typeface="Calibri" panose="020F0502020204030204" pitchFamily="34" charset="0"/>
            </a:endParaRPr>
          </a:p>
          <a:p>
            <a:pPr marL="225425" indent="-342900" eaLnBrk="1" fontAlgn="auto" hangingPunct="1">
              <a:spcBef>
                <a:spcPts val="1200"/>
              </a:spcBef>
              <a:spcAft>
                <a:spcPts val="0"/>
              </a:spcAft>
              <a:buFont typeface="Wingdings" panose="05000000000000000000" pitchFamily="2" charset="2"/>
              <a:buChar char="§"/>
              <a:defRPr/>
            </a:pPr>
            <a:r>
              <a:rPr lang="en-US" sz="2200" dirty="0">
                <a:latin typeface="Calibri" panose="020F0502020204030204" pitchFamily="34" charset="0"/>
                <a:cs typeface="Calibri" panose="020F0502020204030204" pitchFamily="34" charset="0"/>
              </a:rPr>
              <a:t>If CPU available, process dispatched for execution</a:t>
            </a:r>
            <a:r>
              <a:rPr lang="en-US" sz="2200" dirty="0">
                <a:latin typeface="Abadi" panose="020B060402010402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 </a:t>
            </a:r>
            <a:r>
              <a:rPr lang="en-US" sz="2200" dirty="0">
                <a:solidFill>
                  <a:srgbClr val="0070C0"/>
                </a:solidFill>
                <a:latin typeface="Calibri" panose="020F0502020204030204" pitchFamily="34" charset="0"/>
                <a:cs typeface="Calibri" panose="020F0502020204030204" pitchFamily="34" charset="0"/>
              </a:rPr>
              <a:t>Dispatcher</a:t>
            </a:r>
          </a:p>
          <a:p>
            <a:pPr marL="682625" lvl="1" indent="-342900" eaLnBrk="1" fontAlgn="auto" hangingPunct="1">
              <a:spcBef>
                <a:spcPts val="6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process state </a:t>
            </a:r>
            <a:r>
              <a:rPr lang="en-US" sz="2200" dirty="0">
                <a:latin typeface="Abadi" panose="020B0604020104020204" pitchFamily="34" charset="0"/>
                <a:cs typeface="Calibri" panose="020F0502020204030204" pitchFamily="34" charset="0"/>
              </a:rPr>
              <a:t>→</a:t>
            </a:r>
            <a:r>
              <a:rPr lang="en-US" sz="2200" dirty="0">
                <a:latin typeface="Calibri" panose="020F0502020204030204" pitchFamily="34" charset="0"/>
                <a:cs typeface="Calibri" panose="020F0502020204030204" pitchFamily="34" charset="0"/>
              </a:rPr>
              <a:t> </a:t>
            </a:r>
            <a:r>
              <a:rPr lang="en-US" sz="2200" dirty="0">
                <a:solidFill>
                  <a:srgbClr val="0070C0"/>
                </a:solidFill>
                <a:latin typeface="Calibri" panose="020F0502020204030204" pitchFamily="34" charset="0"/>
                <a:cs typeface="Calibri" panose="020F0502020204030204" pitchFamily="34" charset="0"/>
              </a:rPr>
              <a:t>Running</a:t>
            </a:r>
            <a:endParaRPr lang="en-US" sz="2200" dirty="0">
              <a:latin typeface="Calibri" panose="020F0502020204030204" pitchFamily="34" charset="0"/>
              <a:cs typeface="Calibri" panose="020F0502020204030204" pitchFamily="34" charset="0"/>
            </a:endParaRPr>
          </a:p>
          <a:p>
            <a:pPr marL="339725" lvl="1" algn="ctr" eaLnBrk="1" fontAlgn="auto" hangingPunct="1">
              <a:spcBef>
                <a:spcPts val="600"/>
              </a:spcBef>
              <a:spcAft>
                <a:spcPts val="0"/>
              </a:spcAft>
              <a:defRPr/>
            </a:pPr>
            <a:r>
              <a:rPr lang="en-US" sz="2200" i="1" dirty="0">
                <a:latin typeface="Times New Roman" panose="02020603050405020304" pitchFamily="18" charset="0"/>
                <a:cs typeface="Times New Roman" panose="02020603050405020304" pitchFamily="18" charset="0"/>
              </a:rPr>
              <a:t>(at any given time, only one process in </a:t>
            </a:r>
            <a:r>
              <a:rPr lang="en-US" sz="2200" i="1" dirty="0">
                <a:solidFill>
                  <a:srgbClr val="0070C0"/>
                </a:solidFill>
                <a:latin typeface="Times New Roman" panose="02020603050405020304" pitchFamily="18" charset="0"/>
                <a:cs typeface="Times New Roman" panose="02020603050405020304" pitchFamily="18" charset="0"/>
              </a:rPr>
              <a:t>Running</a:t>
            </a:r>
            <a:r>
              <a:rPr lang="en-US" sz="2200" i="1" dirty="0">
                <a:latin typeface="Times New Roman" panose="02020603050405020304" pitchFamily="18" charset="0"/>
                <a:cs typeface="Times New Roman" panose="02020603050405020304" pitchFamily="18" charset="0"/>
              </a:rPr>
              <a:t> state)</a:t>
            </a:r>
          </a:p>
          <a:p>
            <a:pPr marL="342900" indent="-342900" eaLnBrk="1" fontAlgn="auto" hangingPunct="1">
              <a:spcBef>
                <a:spcPts val="1200"/>
              </a:spcBef>
              <a:spcAft>
                <a:spcPts val="0"/>
              </a:spcAft>
              <a:buFont typeface="Wingdings" panose="05000000000000000000" pitchFamily="2" charset="2"/>
              <a:buChar char="§"/>
              <a:defRPr/>
            </a:pPr>
            <a:endParaRPr lang="en-US" sz="2200" dirty="0">
              <a:latin typeface="Calibri" panose="020F0502020204030204" pitchFamily="34" charset="0"/>
              <a:cs typeface="Calibri" panose="020F0502020204030204" pitchFamily="34" charset="0"/>
            </a:endParaRPr>
          </a:p>
        </p:txBody>
      </p:sp>
      <p:sp>
        <p:nvSpPr>
          <p:cNvPr id="2" name="Slide Number Placeholder 3">
            <a:extLst>
              <a:ext uri="{FF2B5EF4-FFF2-40B4-BE49-F238E27FC236}">
                <a16:creationId xmlns:a16="http://schemas.microsoft.com/office/drawing/2014/main" id="{897B1D53-7D7E-C46E-3DCF-CB9961D378F0}"/>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14</a:t>
            </a:fld>
            <a:endParaRPr lang="en-US" altLang="en-US" sz="1400" dirty="0">
              <a:solidFill>
                <a:schemeClr val="tx1"/>
              </a:solidFill>
              <a:latin typeface="Tahoma" panose="020B0604030504040204" pitchFamily="34" charset="0"/>
              <a:ea typeface="MS PGothic" panose="020B0600070205080204" pitchFamily="34" charset="-128"/>
            </a:endParaRPr>
          </a:p>
        </p:txBody>
      </p:sp>
      <p:grpSp>
        <p:nvGrpSpPr>
          <p:cNvPr id="3" name="Group 2">
            <a:extLst>
              <a:ext uri="{FF2B5EF4-FFF2-40B4-BE49-F238E27FC236}">
                <a16:creationId xmlns:a16="http://schemas.microsoft.com/office/drawing/2014/main" id="{CB12D847-CE97-9C27-6E14-2DB547C415DD}"/>
              </a:ext>
            </a:extLst>
          </p:cNvPr>
          <p:cNvGrpSpPr/>
          <p:nvPr/>
        </p:nvGrpSpPr>
        <p:grpSpPr>
          <a:xfrm>
            <a:off x="1055914" y="4137864"/>
            <a:ext cx="7235807" cy="2442345"/>
            <a:chOff x="1055914" y="4352691"/>
            <a:chExt cx="6743480" cy="2224774"/>
          </a:xfrm>
        </p:grpSpPr>
        <p:pic>
          <p:nvPicPr>
            <p:cNvPr id="4" name="Picture 4">
              <a:extLst>
                <a:ext uri="{FF2B5EF4-FFF2-40B4-BE49-F238E27FC236}">
                  <a16:creationId xmlns:a16="http://schemas.microsoft.com/office/drawing/2014/main" id="{BD9E4917-D1DB-61C3-D4E6-7B556D2AC9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 b="17271"/>
            <a:stretch/>
          </p:blipFill>
          <p:spPr bwMode="auto">
            <a:xfrm>
              <a:off x="1055914" y="4352691"/>
              <a:ext cx="6743480" cy="22247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60EB603-394D-2E41-6225-9B280EE43371}"/>
                </a:ext>
              </a:extLst>
            </p:cNvPr>
            <p:cNvSpPr txBox="1"/>
            <p:nvPr/>
          </p:nvSpPr>
          <p:spPr>
            <a:xfrm>
              <a:off x="3658854" y="5812076"/>
              <a:ext cx="1537600" cy="338554"/>
            </a:xfrm>
            <a:prstGeom prst="rect">
              <a:avLst/>
            </a:prstGeom>
            <a:noFill/>
          </p:spPr>
          <p:txBody>
            <a:bodyPr wrap="none" rtlCol="0">
              <a:spAutoFit/>
            </a:bodyPr>
            <a:lstStyle/>
            <a:p>
              <a:r>
                <a:rPr lang="en-US" sz="1600" b="1" dirty="0">
                  <a:latin typeface="Comic Sans MS" pitchFamily="66" charset="0"/>
                </a:rPr>
                <a:t>Wait for I/O</a:t>
              </a:r>
            </a:p>
          </p:txBody>
        </p:sp>
      </p:grpSp>
    </p:spTree>
    <p:extLst>
      <p:ext uri="{BB962C8B-B14F-4D97-AF65-F5344CB8AC3E}">
        <p14:creationId xmlns:p14="http://schemas.microsoft.com/office/powerpoint/2010/main" val="21765807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55914" y="0"/>
            <a:ext cx="7946572" cy="730250"/>
          </a:xfrm>
        </p:spPr>
        <p:txBody>
          <a:bodyPr>
            <a:noAutofit/>
          </a:bodyPr>
          <a:lstStyle/>
          <a:p>
            <a:r>
              <a:rPr lang="en-US" dirty="0"/>
              <a:t>2 State Process Model</a:t>
            </a:r>
          </a:p>
        </p:txBody>
      </p:sp>
      <p:sp>
        <p:nvSpPr>
          <p:cNvPr id="16" name="Rectangle 3"/>
          <p:cNvSpPr txBox="1">
            <a:spLocks noChangeArrowheads="1"/>
          </p:cNvSpPr>
          <p:nvPr/>
        </p:nvSpPr>
        <p:spPr>
          <a:xfrm>
            <a:off x="443307" y="1151024"/>
            <a:ext cx="8479973" cy="2764076"/>
          </a:xfrm>
          <a:prstGeom prst="rect">
            <a:avLst/>
          </a:prstGeom>
        </p:spPr>
        <p:txBody>
          <a:bodyPr vert="horz" lIns="91440" tIns="45720" rIns="91440" bIns="45720" rtlCol="0">
            <a:noAutofit/>
          </a:bodyPr>
          <a:lstStyle/>
          <a:p>
            <a:pPr marL="342900" indent="-342900" eaLnBrk="1" fontAlgn="auto" hangingPunct="1">
              <a:spcBef>
                <a:spcPts val="600"/>
              </a:spcBef>
              <a:spcAft>
                <a:spcPts val="0"/>
              </a:spcAft>
              <a:buFont typeface="Wingdings" panose="05000000000000000000" pitchFamily="2" charset="2"/>
              <a:buChar char="§"/>
              <a:defRPr/>
            </a:pPr>
            <a:r>
              <a:rPr lang="en-US" sz="2300" dirty="0">
                <a:latin typeface="Calibri" panose="020F0502020204030204" pitchFamily="34" charset="0"/>
                <a:cs typeface="Calibri" panose="020F0502020204030204" pitchFamily="34" charset="0"/>
              </a:rPr>
              <a:t>If running process has to wait for I/O completion</a:t>
            </a:r>
          </a:p>
          <a:p>
            <a:pPr marL="800100" lvl="1" indent="-342900" eaLnBrk="1" fontAlgn="auto" hangingPunct="1">
              <a:spcBef>
                <a:spcPts val="6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process interrupted  </a:t>
            </a:r>
            <a:r>
              <a:rPr lang="en-US" sz="2200" dirty="0">
                <a:latin typeface="Abadi" panose="020B060402010402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 </a:t>
            </a:r>
            <a:r>
              <a:rPr lang="en-US" sz="2200" dirty="0">
                <a:solidFill>
                  <a:srgbClr val="C00000"/>
                </a:solidFill>
                <a:latin typeface="Calibri" panose="020F0502020204030204" pitchFamily="34" charset="0"/>
                <a:cs typeface="Calibri" panose="020F0502020204030204" pitchFamily="34" charset="0"/>
              </a:rPr>
              <a:t>Dispatcher</a:t>
            </a:r>
          </a:p>
          <a:p>
            <a:pPr marL="800100" lvl="1" indent="-342900" eaLnBrk="1" fontAlgn="auto" hangingPunct="1">
              <a:spcBef>
                <a:spcPts val="6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switched from </a:t>
            </a:r>
            <a:r>
              <a:rPr lang="en-US" sz="2200" dirty="0">
                <a:solidFill>
                  <a:srgbClr val="C00000"/>
                </a:solidFill>
                <a:latin typeface="Calibri" panose="020F0502020204030204" pitchFamily="34" charset="0"/>
                <a:cs typeface="Calibri" panose="020F0502020204030204" pitchFamily="34" charset="0"/>
              </a:rPr>
              <a:t>Running</a:t>
            </a:r>
            <a:r>
              <a:rPr lang="en-US" sz="2200" dirty="0">
                <a:latin typeface="Calibri" panose="020F0502020204030204" pitchFamily="34" charset="0"/>
                <a:cs typeface="Calibri" panose="020F0502020204030204" pitchFamily="34" charset="0"/>
              </a:rPr>
              <a:t> to </a:t>
            </a:r>
            <a:r>
              <a:rPr lang="en-US" sz="2200" dirty="0">
                <a:solidFill>
                  <a:srgbClr val="C00000"/>
                </a:solidFill>
                <a:latin typeface="Calibri" panose="020F0502020204030204" pitchFamily="34" charset="0"/>
                <a:cs typeface="Calibri" panose="020F0502020204030204" pitchFamily="34" charset="0"/>
              </a:rPr>
              <a:t>Not Running </a:t>
            </a:r>
            <a:r>
              <a:rPr lang="en-US" sz="2200" dirty="0">
                <a:latin typeface="Calibri" panose="020F0502020204030204" pitchFamily="34" charset="0"/>
                <a:cs typeface="Calibri" panose="020F0502020204030204" pitchFamily="34" charset="0"/>
              </a:rPr>
              <a:t>state</a:t>
            </a:r>
          </a:p>
          <a:p>
            <a:pPr marL="342900" indent="-342900" eaLnBrk="1" fontAlgn="auto" hangingPunct="1">
              <a:spcBef>
                <a:spcPts val="2400"/>
              </a:spcBef>
              <a:spcAft>
                <a:spcPts val="0"/>
              </a:spcAft>
              <a:buFont typeface="Wingdings" panose="05000000000000000000" pitchFamily="2" charset="2"/>
              <a:buChar char="§"/>
              <a:defRPr/>
            </a:pPr>
            <a:r>
              <a:rPr lang="en-US" sz="2300" dirty="0">
                <a:latin typeface="Calibri" panose="020F0502020204030204" pitchFamily="34" charset="0"/>
                <a:cs typeface="Calibri" panose="020F0502020204030204" pitchFamily="34" charset="0"/>
              </a:rPr>
              <a:t>If system has additional processes awaiting execution</a:t>
            </a:r>
          </a:p>
          <a:p>
            <a:pPr marL="800100" lvl="1" indent="-342900" eaLnBrk="1" fontAlgn="auto" hangingPunct="1">
              <a:spcBef>
                <a:spcPts val="6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another process selected to run</a:t>
            </a:r>
            <a:r>
              <a:rPr lang="en-US" sz="2200" dirty="0">
                <a:latin typeface="Abadi" panose="020B0604020104020204" pitchFamily="34" charset="0"/>
                <a:cs typeface="Calibri" panose="020F0502020204030204" pitchFamily="34" charset="0"/>
              </a:rPr>
              <a:t> →  </a:t>
            </a:r>
            <a:r>
              <a:rPr lang="en-US" sz="2200" dirty="0">
                <a:solidFill>
                  <a:srgbClr val="C00000"/>
                </a:solidFill>
                <a:latin typeface="Calibri" panose="020F0502020204030204" pitchFamily="34" charset="0"/>
                <a:cs typeface="Calibri" panose="020F0502020204030204" pitchFamily="34" charset="0"/>
              </a:rPr>
              <a:t>Process Scheduler</a:t>
            </a:r>
            <a:endParaRPr lang="en-US" sz="2200" dirty="0">
              <a:latin typeface="Calibri" panose="020F0502020204030204" pitchFamily="34" charset="0"/>
              <a:cs typeface="Calibri" panose="020F0502020204030204" pitchFamily="34" charset="0"/>
            </a:endParaRPr>
          </a:p>
        </p:txBody>
      </p:sp>
      <p:sp>
        <p:nvSpPr>
          <p:cNvPr id="2" name="Slide Number Placeholder 3">
            <a:extLst>
              <a:ext uri="{FF2B5EF4-FFF2-40B4-BE49-F238E27FC236}">
                <a16:creationId xmlns:a16="http://schemas.microsoft.com/office/drawing/2014/main" id="{897B1D53-7D7E-C46E-3DCF-CB9961D378F0}"/>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15</a:t>
            </a:fld>
            <a:endParaRPr lang="en-US" altLang="en-US" sz="1400" dirty="0">
              <a:solidFill>
                <a:schemeClr val="tx1"/>
              </a:solidFill>
              <a:latin typeface="Tahoma" panose="020B0604030504040204" pitchFamily="34" charset="0"/>
              <a:ea typeface="MS PGothic" panose="020B0600070205080204" pitchFamily="34" charset="-128"/>
            </a:endParaRPr>
          </a:p>
        </p:txBody>
      </p:sp>
      <p:grpSp>
        <p:nvGrpSpPr>
          <p:cNvPr id="3" name="Group 2">
            <a:extLst>
              <a:ext uri="{FF2B5EF4-FFF2-40B4-BE49-F238E27FC236}">
                <a16:creationId xmlns:a16="http://schemas.microsoft.com/office/drawing/2014/main" id="{CB12D847-CE97-9C27-6E14-2DB547C415DD}"/>
              </a:ext>
            </a:extLst>
          </p:cNvPr>
          <p:cNvGrpSpPr/>
          <p:nvPr/>
        </p:nvGrpSpPr>
        <p:grpSpPr>
          <a:xfrm>
            <a:off x="954096" y="3947567"/>
            <a:ext cx="7235807" cy="2442345"/>
            <a:chOff x="1055914" y="4352691"/>
            <a:chExt cx="6743480" cy="2224774"/>
          </a:xfrm>
        </p:grpSpPr>
        <p:pic>
          <p:nvPicPr>
            <p:cNvPr id="4" name="Picture 4">
              <a:extLst>
                <a:ext uri="{FF2B5EF4-FFF2-40B4-BE49-F238E27FC236}">
                  <a16:creationId xmlns:a16="http://schemas.microsoft.com/office/drawing/2014/main" id="{BD9E4917-D1DB-61C3-D4E6-7B556D2AC9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 b="17271"/>
            <a:stretch/>
          </p:blipFill>
          <p:spPr bwMode="auto">
            <a:xfrm>
              <a:off x="1055914" y="4352691"/>
              <a:ext cx="6743480" cy="22247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60EB603-394D-2E41-6225-9B280EE43371}"/>
                </a:ext>
              </a:extLst>
            </p:cNvPr>
            <p:cNvSpPr txBox="1"/>
            <p:nvPr/>
          </p:nvSpPr>
          <p:spPr>
            <a:xfrm>
              <a:off x="3658854" y="5812076"/>
              <a:ext cx="1537600" cy="338554"/>
            </a:xfrm>
            <a:prstGeom prst="rect">
              <a:avLst/>
            </a:prstGeom>
            <a:noFill/>
          </p:spPr>
          <p:txBody>
            <a:bodyPr wrap="none" rtlCol="0">
              <a:spAutoFit/>
            </a:bodyPr>
            <a:lstStyle/>
            <a:p>
              <a:r>
                <a:rPr lang="en-US" sz="1600" b="1" dirty="0">
                  <a:latin typeface="Comic Sans MS" pitchFamily="66" charset="0"/>
                </a:rPr>
                <a:t>Wait for I/O</a:t>
              </a:r>
            </a:p>
          </p:txBody>
        </p:sp>
      </p:grpSp>
    </p:spTree>
    <p:extLst>
      <p:ext uri="{BB962C8B-B14F-4D97-AF65-F5344CB8AC3E}">
        <p14:creationId xmlns:p14="http://schemas.microsoft.com/office/powerpoint/2010/main" val="22626674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830317" y="31530"/>
            <a:ext cx="7758512" cy="704193"/>
          </a:xfrm>
          <a:ln>
            <a:noFill/>
          </a:ln>
        </p:spPr>
        <p:txBody>
          <a:bodyPr>
            <a:noAutofit/>
          </a:bodyPr>
          <a:lstStyle/>
          <a:p>
            <a:r>
              <a:rPr lang="en-US" sz="2800" dirty="0"/>
              <a:t>Queuing Diagram</a:t>
            </a:r>
          </a:p>
        </p:txBody>
      </p:sp>
      <p:sp>
        <p:nvSpPr>
          <p:cNvPr id="16" name="Rectangle 3"/>
          <p:cNvSpPr txBox="1">
            <a:spLocks noChangeArrowheads="1"/>
          </p:cNvSpPr>
          <p:nvPr/>
        </p:nvSpPr>
        <p:spPr>
          <a:xfrm>
            <a:off x="425993" y="1047988"/>
            <a:ext cx="8647811" cy="2146008"/>
          </a:xfrm>
          <a:prstGeom prst="rect">
            <a:avLst/>
          </a:prstGeom>
          <a:ln>
            <a:noFill/>
          </a:ln>
        </p:spPr>
        <p:txBody>
          <a:bodyPr vert="horz" lIns="91440" tIns="45720" rIns="91440" bIns="45720" rtlCol="0">
            <a:noAutofit/>
          </a:bodyPr>
          <a:lstStyle/>
          <a:p>
            <a:pPr marL="342900" marR="0" lvl="0" indent="-342900" algn="l" defTabSz="914400" rtl="0" eaLnBrk="1" fontAlgn="auto" latinLnBrk="0" hangingPunct="1">
              <a:spcBef>
                <a:spcPct val="20000"/>
              </a:spcBef>
              <a:spcAft>
                <a:spcPts val="0"/>
              </a:spcAft>
              <a:buClrTx/>
              <a:buSzTx/>
              <a:buFont typeface="Wingdings" panose="05000000000000000000" pitchFamily="2" charset="2"/>
              <a:buChar char="§"/>
              <a:tabLst/>
              <a:defRPr/>
            </a:pPr>
            <a:r>
              <a:rPr lang="en-US" sz="2400" dirty="0">
                <a:latin typeface="Calibri" panose="020F0502020204030204" pitchFamily="34" charset="0"/>
                <a:cs typeface="Calibri" panose="020F0502020204030204" pitchFamily="34" charset="0"/>
              </a:rPr>
              <a:t>Queuing structure for two state process model… </a:t>
            </a:r>
          </a:p>
          <a:p>
            <a:pPr marL="800100" lvl="1" indent="-342900" eaLnBrk="1" fontAlgn="auto" hangingPunct="1">
              <a:spcBef>
                <a:spcPts val="900"/>
              </a:spcBef>
              <a:spcAft>
                <a:spcPts val="0"/>
              </a:spcAft>
              <a:buFont typeface="Arial" panose="020B0604020202020204" pitchFamily="34" charset="0"/>
              <a:buChar char="•"/>
              <a:defRPr/>
            </a:pPr>
            <a:r>
              <a:rPr lang="en-US" sz="2200" dirty="0">
                <a:solidFill>
                  <a:srgbClr val="C00000"/>
                </a:solidFill>
                <a:latin typeface="Calibri" panose="020F0502020204030204" pitchFamily="34" charset="0"/>
                <a:cs typeface="Calibri" panose="020F0502020204030204" pitchFamily="34" charset="0"/>
              </a:rPr>
              <a:t>queue</a:t>
            </a:r>
            <a:r>
              <a:rPr lang="en-US" sz="2200" dirty="0">
                <a:latin typeface="Calibri" panose="020F0502020204030204" pitchFamily="34" charset="0"/>
                <a:cs typeface="Calibri" panose="020F0502020204030204" pitchFamily="34" charset="0"/>
              </a:rPr>
              <a:t> is a linked list of </a:t>
            </a:r>
            <a:r>
              <a:rPr lang="en-US" sz="2200" dirty="0">
                <a:solidFill>
                  <a:srgbClr val="C00000"/>
                </a:solidFill>
                <a:latin typeface="Calibri" panose="020F0502020204030204" pitchFamily="34" charset="0"/>
                <a:cs typeface="Calibri" panose="020F0502020204030204" pitchFamily="34" charset="0"/>
              </a:rPr>
              <a:t>PCBs</a:t>
            </a:r>
            <a:r>
              <a:rPr lang="en-US" sz="2200" dirty="0">
                <a:latin typeface="Calibri" panose="020F0502020204030204" pitchFamily="34" charset="0"/>
                <a:cs typeface="Calibri" panose="020F0502020204030204" pitchFamily="34" charset="0"/>
              </a:rPr>
              <a:t>  </a:t>
            </a:r>
          </a:p>
          <a:p>
            <a:pPr marL="800100" lvl="1" indent="-342900" eaLnBrk="1" fontAlgn="auto" hangingPunct="1">
              <a:spcBef>
                <a:spcPts val="9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queue header has </a:t>
            </a:r>
            <a:r>
              <a:rPr lang="en-US" sz="2200" dirty="0">
                <a:solidFill>
                  <a:srgbClr val="C00000"/>
                </a:solidFill>
                <a:latin typeface="Calibri" panose="020F0502020204030204" pitchFamily="34" charset="0"/>
                <a:cs typeface="Calibri" panose="020F0502020204030204" pitchFamily="34" charset="0"/>
              </a:rPr>
              <a:t>pointers</a:t>
            </a:r>
            <a:r>
              <a:rPr lang="en-US" sz="2200" dirty="0">
                <a:latin typeface="Calibri" panose="020F0502020204030204" pitchFamily="34" charset="0"/>
                <a:cs typeface="Calibri" panose="020F0502020204030204" pitchFamily="34" charset="0"/>
              </a:rPr>
              <a:t> to first &amp; last PCB in list</a:t>
            </a:r>
          </a:p>
          <a:p>
            <a:pPr marL="800100" lvl="1" indent="-342900" eaLnBrk="1" fontAlgn="auto" hangingPunct="1">
              <a:spcBef>
                <a:spcPts val="9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each PCB includes pointer to next PCB</a:t>
            </a:r>
          </a:p>
          <a:p>
            <a:pPr marL="800100" lvl="1" indent="-342900" eaLnBrk="1" fontAlgn="auto" hangingPunct="1">
              <a:spcBef>
                <a:spcPts val="9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selection of process to run based on </a:t>
            </a:r>
            <a:r>
              <a:rPr lang="en-US" sz="2200" dirty="0">
                <a:latin typeface="Abadi" panose="020B0604020104020204" pitchFamily="34" charset="0"/>
                <a:cs typeface="Calibri" panose="020F0502020204030204" pitchFamily="34" charset="0"/>
              </a:rPr>
              <a:t>→ </a:t>
            </a:r>
            <a:r>
              <a:rPr lang="en-US" sz="2200" dirty="0">
                <a:solidFill>
                  <a:srgbClr val="C00000"/>
                </a:solidFill>
                <a:latin typeface="Calibri" panose="020F0502020204030204" pitchFamily="34" charset="0"/>
                <a:cs typeface="Calibri" panose="020F0502020204030204" pitchFamily="34" charset="0"/>
              </a:rPr>
              <a:t>Round Robin</a:t>
            </a:r>
          </a:p>
        </p:txBody>
      </p:sp>
      <p:pic>
        <p:nvPicPr>
          <p:cNvPr id="28" name="Content Placeholder 3" descr="Fig03_05b.gif"/>
          <p:cNvPicPr>
            <a:picLocks noGrp="1" noChangeAspect="1"/>
          </p:cNvPicPr>
          <p:nvPr>
            <p:ph idx="1"/>
          </p:nvPr>
        </p:nvPicPr>
        <p:blipFill>
          <a:blip r:embed="rId3"/>
          <a:srcRect/>
          <a:stretch>
            <a:fillRect/>
          </a:stretch>
        </p:blipFill>
        <p:spPr>
          <a:xfrm>
            <a:off x="1117479" y="3758598"/>
            <a:ext cx="6735223" cy="2377229"/>
          </a:xfrm>
        </p:spPr>
      </p:pic>
      <p:sp>
        <p:nvSpPr>
          <p:cNvPr id="2" name="Slide Number Placeholder 3">
            <a:extLst>
              <a:ext uri="{FF2B5EF4-FFF2-40B4-BE49-F238E27FC236}">
                <a16:creationId xmlns:a16="http://schemas.microsoft.com/office/drawing/2014/main" id="{3B627562-53BE-D7EC-4983-B483968DEE2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16</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88571" y="0"/>
            <a:ext cx="7500258" cy="730250"/>
          </a:xfrm>
          <a:ln>
            <a:noFill/>
          </a:ln>
        </p:spPr>
        <p:txBody>
          <a:bodyPr>
            <a:noAutofit/>
          </a:bodyPr>
          <a:lstStyle/>
          <a:p>
            <a:r>
              <a:rPr lang="en-US" sz="2800" dirty="0"/>
              <a:t>Queuing Diagram</a:t>
            </a:r>
          </a:p>
        </p:txBody>
      </p:sp>
      <p:sp>
        <p:nvSpPr>
          <p:cNvPr id="44" name="TextBox 43"/>
          <p:cNvSpPr txBox="1"/>
          <p:nvPr/>
        </p:nvSpPr>
        <p:spPr>
          <a:xfrm>
            <a:off x="3205604" y="2784161"/>
            <a:ext cx="2209800" cy="369332"/>
          </a:xfrm>
          <a:prstGeom prst="rect">
            <a:avLst/>
          </a:prstGeom>
          <a:solidFill>
            <a:schemeClr val="bg1"/>
          </a:solidFill>
        </p:spPr>
        <p:txBody>
          <a:bodyPr wrap="square" rtlCol="0">
            <a:spAutoFit/>
          </a:bodyPr>
          <a:lstStyle/>
          <a:p>
            <a:endParaRPr lang="en-US" dirty="0"/>
          </a:p>
        </p:txBody>
      </p:sp>
      <p:sp>
        <p:nvSpPr>
          <p:cNvPr id="2" name="Slide Number Placeholder 3">
            <a:extLst>
              <a:ext uri="{FF2B5EF4-FFF2-40B4-BE49-F238E27FC236}">
                <a16:creationId xmlns:a16="http://schemas.microsoft.com/office/drawing/2014/main" id="{3B627562-53BE-D7EC-4983-B483968DEE2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17</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7" name="Rectangle 3"/>
          <p:cNvSpPr txBox="1">
            <a:spLocks noChangeArrowheads="1"/>
          </p:cNvSpPr>
          <p:nvPr/>
        </p:nvSpPr>
        <p:spPr>
          <a:xfrm>
            <a:off x="375193" y="1121731"/>
            <a:ext cx="8556173" cy="5424109"/>
          </a:xfrm>
          <a:prstGeom prst="rect">
            <a:avLst/>
          </a:prstGeom>
          <a:ln>
            <a:noFill/>
          </a:ln>
        </p:spPr>
        <p:txBody>
          <a:bodyPr vert="horz" lIns="91440" tIns="45720" rIns="91440" bIns="45720" rtlCol="0">
            <a:noAutofit/>
          </a:bodyPr>
          <a:lstStyle/>
          <a:p>
            <a:pPr marL="342900" lvl="0" indent="-342900" eaLnBrk="1" fontAlgn="auto" hangingPunct="1">
              <a:spcBef>
                <a:spcPts val="600"/>
              </a:spcBef>
              <a:spcAft>
                <a:spcPts val="0"/>
              </a:spcAft>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This queuing discipline works fine, if all processes in queue are always ready to execute</a:t>
            </a:r>
          </a:p>
          <a:p>
            <a:pPr marL="0" lvl="1" algn="ctr" eaLnBrk="1" fontAlgn="auto" hangingPunct="1">
              <a:spcBef>
                <a:spcPts val="600"/>
              </a:spcBef>
              <a:spcAft>
                <a:spcPts val="0"/>
              </a:spcAft>
              <a:defRPr/>
            </a:pPr>
            <a:r>
              <a:rPr lang="en-US" sz="2300" dirty="0">
                <a:solidFill>
                  <a:srgbClr val="C00000"/>
                </a:solidFill>
                <a:latin typeface="Times New Roman" panose="02020603050405020304" pitchFamily="18" charset="0"/>
                <a:cs typeface="Times New Roman" panose="02020603050405020304" pitchFamily="18" charset="0"/>
              </a:rPr>
              <a:t>“but some processes in queue might be blocked”</a:t>
            </a:r>
          </a:p>
          <a:p>
            <a:pPr lvl="1">
              <a:spcBef>
                <a:spcPts val="2400"/>
              </a:spcBef>
              <a:spcAft>
                <a:spcPts val="0"/>
              </a:spcAft>
            </a:pPr>
            <a:r>
              <a:rPr lang="en-US" sz="2200" dirty="0">
                <a:latin typeface="Calibri" panose="020F0502020204030204" pitchFamily="34" charset="0"/>
                <a:cs typeface="Calibri" panose="020F0502020204030204" pitchFamily="34" charset="0"/>
              </a:rPr>
              <a:t>1.  </a:t>
            </a:r>
            <a:r>
              <a:rPr lang="en-US" sz="2200" dirty="0">
                <a:solidFill>
                  <a:srgbClr val="0033CC"/>
                </a:solidFill>
                <a:latin typeface="Calibri" panose="020F0502020204030204" pitchFamily="34" charset="0"/>
                <a:cs typeface="Calibri" panose="020F0502020204030204" pitchFamily="34" charset="0"/>
              </a:rPr>
              <a:t>Waiting for an event to occur</a:t>
            </a:r>
          </a:p>
          <a:p>
            <a:pPr marL="0" lvl="1">
              <a:spcBef>
                <a:spcPts val="600"/>
              </a:spcBef>
              <a:spcAft>
                <a:spcPts val="0"/>
              </a:spcAft>
            </a:pPr>
            <a:r>
              <a:rPr lang="en-US" sz="2200" i="1" dirty="0">
                <a:latin typeface="Calibri" panose="020F0502020204030204" pitchFamily="34" charset="0"/>
                <a:cs typeface="Calibri" panose="020F0502020204030204" pitchFamily="34" charset="0"/>
              </a:rPr>
              <a:t>	     </a:t>
            </a:r>
            <a:r>
              <a:rPr lang="en-US" sz="2200" i="1" dirty="0">
                <a:latin typeface="Times New Roman" panose="02020603050405020304" pitchFamily="18" charset="0"/>
                <a:cs typeface="Times New Roman" panose="02020603050405020304" pitchFamily="18" charset="0"/>
              </a:rPr>
              <a:t>(created a child process &amp; waiting for it to return result)</a:t>
            </a:r>
          </a:p>
          <a:p>
            <a:pPr lvl="1">
              <a:spcBef>
                <a:spcPts val="1800"/>
              </a:spcBef>
              <a:spcAft>
                <a:spcPts val="0"/>
              </a:spcAft>
            </a:pPr>
            <a:r>
              <a:rPr lang="en-US" sz="2200" dirty="0">
                <a:latin typeface="Calibri" panose="020F0502020204030204" pitchFamily="34" charset="0"/>
                <a:cs typeface="Calibri" panose="020F0502020204030204" pitchFamily="34" charset="0"/>
              </a:rPr>
              <a:t>2.  </a:t>
            </a:r>
            <a:r>
              <a:rPr lang="en-US" sz="2200" dirty="0">
                <a:solidFill>
                  <a:srgbClr val="0033CC"/>
                </a:solidFill>
                <a:latin typeface="Calibri" panose="020F0502020204030204" pitchFamily="34" charset="0"/>
                <a:cs typeface="Calibri" panose="020F0502020204030204" pitchFamily="34" charset="0"/>
              </a:rPr>
              <a:t>Waiting for shared resource, not available at this time</a:t>
            </a:r>
          </a:p>
          <a:p>
            <a:pPr lvl="1">
              <a:spcBef>
                <a:spcPts val="600"/>
              </a:spcBef>
              <a:spcAft>
                <a:spcPts val="0"/>
              </a:spcAft>
            </a:pPr>
            <a:r>
              <a:rPr lang="en-US" sz="2200" dirty="0">
                <a:solidFill>
                  <a:srgbClr val="0033CC"/>
                </a:solidFill>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     </a:t>
            </a:r>
            <a:r>
              <a:rPr lang="en-US" sz="2200" i="1" dirty="0">
                <a:latin typeface="Times New Roman" panose="02020603050405020304" pitchFamily="18" charset="0"/>
                <a:cs typeface="Times New Roman" panose="02020603050405020304" pitchFamily="18" charset="0"/>
              </a:rPr>
              <a:t>(disk busy with I/O request of another process)</a:t>
            </a:r>
          </a:p>
          <a:p>
            <a:pPr lvl="1">
              <a:spcBef>
                <a:spcPts val="1800"/>
              </a:spcBef>
              <a:spcAft>
                <a:spcPts val="0"/>
              </a:spcAft>
            </a:pPr>
            <a:r>
              <a:rPr lang="en-US" sz="2200" dirty="0">
                <a:latin typeface="Calibri" panose="020F0502020204030204" pitchFamily="34" charset="0"/>
                <a:cs typeface="Calibri" panose="020F0502020204030204" pitchFamily="34" charset="0"/>
              </a:rPr>
              <a:t>3.  </a:t>
            </a:r>
            <a:r>
              <a:rPr lang="en-US" sz="2200" dirty="0">
                <a:solidFill>
                  <a:srgbClr val="0033CC"/>
                </a:solidFill>
                <a:latin typeface="Calibri" panose="020F0502020204030204" pitchFamily="34" charset="0"/>
                <a:cs typeface="Calibri" panose="020F0502020204030204" pitchFamily="34" charset="0"/>
              </a:rPr>
              <a:t>Process gone to sleep for some time</a:t>
            </a:r>
          </a:p>
          <a:p>
            <a:pPr marL="0" lvl="1" algn="ctr">
              <a:lnSpc>
                <a:spcPct val="110000"/>
              </a:lnSpc>
              <a:spcBef>
                <a:spcPts val="2400"/>
              </a:spcBef>
              <a:spcAft>
                <a:spcPts val="0"/>
              </a:spcAft>
            </a:pPr>
            <a:r>
              <a:rPr lang="en-US" sz="2300" dirty="0">
                <a:solidFill>
                  <a:srgbClr val="C00000"/>
                </a:solidFill>
                <a:latin typeface="Times New Roman" panose="02020603050405020304" pitchFamily="18" charset="0"/>
                <a:cs typeface="Times New Roman" panose="02020603050405020304" pitchFamily="18" charset="0"/>
              </a:rPr>
              <a:t>“Scheduler/dispatcher has to scan </a:t>
            </a:r>
            <a:br>
              <a:rPr lang="en-US" sz="2300" dirty="0">
                <a:solidFill>
                  <a:srgbClr val="C00000"/>
                </a:solidFill>
                <a:latin typeface="Times New Roman" panose="02020603050405020304" pitchFamily="18" charset="0"/>
                <a:cs typeface="Times New Roman" panose="02020603050405020304" pitchFamily="18" charset="0"/>
              </a:rPr>
            </a:br>
            <a:r>
              <a:rPr lang="en-US" sz="2300" dirty="0">
                <a:solidFill>
                  <a:srgbClr val="C00000"/>
                </a:solidFill>
                <a:latin typeface="Times New Roman" panose="02020603050405020304" pitchFamily="18" charset="0"/>
                <a:cs typeface="Times New Roman" panose="02020603050405020304" pitchFamily="18" charset="0"/>
              </a:rPr>
              <a:t>complete list of processes, for one not blocked”</a:t>
            </a:r>
            <a:endParaRPr lang="en-US" sz="2300" baseline="0"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05991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121228" y="43544"/>
            <a:ext cx="7794171" cy="730250"/>
          </a:xfrm>
          <a:ln>
            <a:noFill/>
          </a:ln>
        </p:spPr>
        <p:txBody>
          <a:bodyPr>
            <a:noAutofit/>
          </a:bodyPr>
          <a:lstStyle/>
          <a:p>
            <a:r>
              <a:rPr lang="en-US" dirty="0"/>
              <a:t>5 State Process Model</a:t>
            </a:r>
          </a:p>
        </p:txBody>
      </p:sp>
      <p:sp>
        <p:nvSpPr>
          <p:cNvPr id="9" name="Rectangle 3"/>
          <p:cNvSpPr txBox="1">
            <a:spLocks noChangeArrowheads="1"/>
          </p:cNvSpPr>
          <p:nvPr/>
        </p:nvSpPr>
        <p:spPr>
          <a:xfrm>
            <a:off x="411023" y="1150878"/>
            <a:ext cx="8636925" cy="5377543"/>
          </a:xfrm>
          <a:prstGeom prst="rect">
            <a:avLst/>
          </a:prstGeom>
        </p:spPr>
        <p:txBody>
          <a:bodyPr vert="horz" lIns="91440" tIns="45720" rIns="91440" bIns="45720" rtlCol="0">
            <a:noAutofit/>
          </a:bodyPr>
          <a:lstStyle/>
          <a:p>
            <a:pPr marL="342900" lvl="0" indent="-342900" eaLnBrk="1" fontAlgn="auto" hangingPunct="1">
              <a:spcBef>
                <a:spcPts val="600"/>
              </a:spcBef>
              <a:spcAft>
                <a:spcPts val="0"/>
              </a:spcAft>
              <a:buFont typeface="Wingdings" panose="05000000000000000000" pitchFamily="2" charset="2"/>
              <a:buChar char="§"/>
              <a:defRPr/>
            </a:pPr>
            <a:r>
              <a:rPr lang="en-US" sz="2400" b="1" dirty="0">
                <a:solidFill>
                  <a:srgbClr val="C00000"/>
                </a:solidFill>
                <a:latin typeface="Calibri" panose="020F0502020204030204" pitchFamily="34" charset="0"/>
                <a:cs typeface="Calibri" panose="020F0502020204030204" pitchFamily="34" charset="0"/>
              </a:rPr>
              <a:t>Five State Model –  </a:t>
            </a:r>
            <a:r>
              <a:rPr lang="en-US" sz="2400" dirty="0">
                <a:latin typeface="Calibri" panose="020F0502020204030204" pitchFamily="34" charset="0"/>
                <a:cs typeface="Calibri" panose="020F0502020204030204" pitchFamily="34" charset="0"/>
              </a:rPr>
              <a:t>caters for processes that are not ready to execute</a:t>
            </a:r>
          </a:p>
          <a:p>
            <a:pPr marL="800100" lvl="1" indent="-342900" eaLnBrk="1" fontAlgn="auto" hangingPunct="1">
              <a:spcBef>
                <a:spcPts val="600"/>
              </a:spcBef>
              <a:spcAft>
                <a:spcPts val="0"/>
              </a:spcAft>
              <a:buFont typeface="Arial" panose="020B0604020202020204" pitchFamily="34" charset="0"/>
              <a:buChar char="•"/>
              <a:defRPr/>
            </a:pPr>
            <a:r>
              <a:rPr kumimoji="0" lang="en-US" sz="2200" b="0" i="0" u="none" strike="noStrike" kern="1200" cap="none" spc="0" normalizeH="0" noProof="0" dirty="0">
                <a:ln>
                  <a:noFill/>
                </a:ln>
                <a:solidFill>
                  <a:srgbClr val="0070C0"/>
                </a:solidFill>
                <a:effectLst/>
                <a:uLnTx/>
                <a:uFillTx/>
                <a:latin typeface="Calibri" panose="020F0502020204030204" pitchFamily="34" charset="0"/>
                <a:cs typeface="Calibri" panose="020F0502020204030204" pitchFamily="34" charset="0"/>
              </a:rPr>
              <a:t>Not Running </a:t>
            </a:r>
            <a:r>
              <a:rPr kumimoji="0" lang="en-US" sz="2200" b="0" i="0" u="none" strike="noStrike" kern="1200" cap="none" spc="0" normalizeH="0" noProof="0" dirty="0">
                <a:ln>
                  <a:noFill/>
                </a:ln>
                <a:effectLst/>
                <a:uLnTx/>
                <a:uFillTx/>
                <a:latin typeface="Calibri" panose="020F0502020204030204" pitchFamily="34" charset="0"/>
                <a:cs typeface="Calibri" panose="020F0502020204030204" pitchFamily="34" charset="0"/>
              </a:rPr>
              <a:t>state split into two 	</a:t>
            </a:r>
            <a:r>
              <a:rPr lang="en-US" sz="2200" dirty="0">
                <a:latin typeface="Abadi" panose="020B0604020104020204" pitchFamily="34" charset="0"/>
                <a:cs typeface="Calibri" panose="020F0502020204030204" pitchFamily="34" charset="0"/>
              </a:rPr>
              <a:t>→</a:t>
            </a:r>
            <a:r>
              <a:rPr kumimoji="0" lang="en-US" sz="2200" b="0" i="0" u="none" strike="noStrike" kern="1200" cap="none" spc="0" normalizeH="0" noProof="0" dirty="0">
                <a:ln>
                  <a:noFill/>
                </a:ln>
                <a:effectLst/>
                <a:uLnTx/>
                <a:uFillTx/>
                <a:latin typeface="Calibri" panose="020F0502020204030204" pitchFamily="34" charset="0"/>
                <a:cs typeface="Calibri" panose="020F0502020204030204" pitchFamily="34" charset="0"/>
              </a:rPr>
              <a:t>  </a:t>
            </a:r>
            <a:r>
              <a:rPr kumimoji="0" lang="en-US" sz="2200" b="0" i="0" u="none" strike="noStrike" kern="1200" cap="none" spc="0" normalizeH="0" noProof="0" dirty="0">
                <a:ln>
                  <a:noFill/>
                </a:ln>
                <a:solidFill>
                  <a:srgbClr val="0070C0"/>
                </a:solidFill>
                <a:effectLst/>
                <a:uLnTx/>
                <a:uFillTx/>
                <a:latin typeface="Calibri" panose="020F0502020204030204" pitchFamily="34" charset="0"/>
                <a:cs typeface="Calibri" panose="020F0502020204030204" pitchFamily="34" charset="0"/>
              </a:rPr>
              <a:t>Ready</a:t>
            </a:r>
            <a:r>
              <a:rPr kumimoji="0" lang="en-US" sz="2200" b="0" i="0" u="none" strike="noStrike" kern="1200" cap="none" spc="0" normalizeH="0" noProof="0" dirty="0">
                <a:ln>
                  <a:noFill/>
                </a:ln>
                <a:effectLst/>
                <a:uLnTx/>
                <a:uFillTx/>
                <a:latin typeface="Calibri" panose="020F0502020204030204" pitchFamily="34" charset="0"/>
                <a:cs typeface="Calibri" panose="020F0502020204030204" pitchFamily="34" charset="0"/>
              </a:rPr>
              <a:t>  &amp;  </a:t>
            </a:r>
            <a:r>
              <a:rPr lang="en-US" sz="2200" dirty="0">
                <a:solidFill>
                  <a:srgbClr val="0070C0"/>
                </a:solidFill>
                <a:latin typeface="Calibri" panose="020F0502020204030204" pitchFamily="34" charset="0"/>
                <a:cs typeface="Calibri" panose="020F0502020204030204" pitchFamily="34" charset="0"/>
              </a:rPr>
              <a:t>Waiting</a:t>
            </a:r>
          </a:p>
          <a:p>
            <a:pPr marL="800100" lvl="1" indent="-342900" eaLnBrk="1" fontAlgn="auto" hangingPunct="1">
              <a:spcBef>
                <a:spcPts val="600"/>
              </a:spcBef>
              <a:spcAft>
                <a:spcPts val="0"/>
              </a:spcAft>
              <a:buFont typeface="Arial" panose="020B0604020202020204" pitchFamily="34" charset="0"/>
              <a:buChar char="•"/>
              <a:defRPr/>
            </a:pPr>
            <a:r>
              <a:rPr lang="en-US" sz="2200" baseline="0" dirty="0">
                <a:latin typeface="Calibri" panose="020F0502020204030204" pitchFamily="34" charset="0"/>
                <a:cs typeface="Calibri" panose="020F0502020204030204" pitchFamily="34" charset="0"/>
              </a:rPr>
              <a:t>Two additional states 		</a:t>
            </a:r>
            <a:r>
              <a:rPr lang="en-US" sz="2200" dirty="0">
                <a:latin typeface="Abadi" panose="020B0604020104020204" pitchFamily="34" charset="0"/>
                <a:cs typeface="Calibri" panose="020F0502020204030204" pitchFamily="34" charset="0"/>
              </a:rPr>
              <a:t>→</a:t>
            </a:r>
            <a:r>
              <a:rPr lang="en-US" sz="2200" baseline="0" dirty="0">
                <a:latin typeface="Calibri" panose="020F0502020204030204" pitchFamily="34" charset="0"/>
                <a:cs typeface="Calibri" panose="020F0502020204030204" pitchFamily="34" charset="0"/>
              </a:rPr>
              <a:t>  </a:t>
            </a:r>
            <a:r>
              <a:rPr lang="en-US" sz="2200" dirty="0">
                <a:solidFill>
                  <a:srgbClr val="0070C0"/>
                </a:solidFill>
                <a:latin typeface="Calibri" panose="020F0502020204030204" pitchFamily="34" charset="0"/>
                <a:cs typeface="Calibri" panose="020F0502020204030204" pitchFamily="34" charset="0"/>
              </a:rPr>
              <a:t>New</a:t>
            </a:r>
            <a:r>
              <a:rPr lang="en-US" sz="2200" baseline="0" dirty="0">
                <a:latin typeface="Calibri" panose="020F0502020204030204" pitchFamily="34" charset="0"/>
                <a:cs typeface="Calibri" panose="020F0502020204030204" pitchFamily="34" charset="0"/>
              </a:rPr>
              <a:t>  &amp;  </a:t>
            </a:r>
            <a:r>
              <a:rPr lang="en-US" sz="2200" dirty="0">
                <a:solidFill>
                  <a:srgbClr val="0070C0"/>
                </a:solidFill>
                <a:latin typeface="Calibri" panose="020F0502020204030204" pitchFamily="34" charset="0"/>
                <a:cs typeface="Calibri" panose="020F0502020204030204" pitchFamily="34" charset="0"/>
              </a:rPr>
              <a:t>Terminated</a:t>
            </a:r>
            <a:r>
              <a:rPr lang="en-US" sz="2200" baseline="0" dirty="0">
                <a:latin typeface="Calibri" panose="020F0502020204030204" pitchFamily="34" charset="0"/>
                <a:cs typeface="Calibri" panose="020F0502020204030204" pitchFamily="34" charset="0"/>
              </a:rPr>
              <a:t> </a:t>
            </a:r>
            <a:endParaRPr lang="en-US" sz="2200" dirty="0">
              <a:latin typeface="Calibri" panose="020F0502020204030204" pitchFamily="34" charset="0"/>
              <a:cs typeface="Calibri" panose="020F0502020204030204" pitchFamily="34" charset="0"/>
            </a:endParaRPr>
          </a:p>
          <a:p>
            <a:pPr marL="800100" lvl="1" indent="-342900" eaLnBrk="1" fontAlgn="auto" hangingPunct="1">
              <a:spcBef>
                <a:spcPts val="600"/>
              </a:spcBef>
              <a:spcAft>
                <a:spcPts val="0"/>
              </a:spcAft>
              <a:buFont typeface="Arial" panose="020B0604020202020204" pitchFamily="34" charset="0"/>
              <a:buChar char="•"/>
              <a:defRPr/>
            </a:pPr>
            <a:endParaRPr kumimoji="0" lang="en-US" sz="1600" b="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a:p>
            <a:pPr marR="0" lvl="1" algn="l" defTabSz="858838" rtl="0" eaLnBrk="1" fontAlgn="auto" latinLnBrk="0" hangingPunct="1">
              <a:spcBef>
                <a:spcPts val="600"/>
              </a:spcBef>
              <a:spcAft>
                <a:spcPts val="0"/>
              </a:spcAft>
              <a:buSzTx/>
              <a:tabLst/>
              <a:defRPr/>
            </a:pP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New</a:t>
            </a: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process created, not yet in memory</a:t>
            </a:r>
          </a:p>
          <a:p>
            <a:pPr lvl="1" defTabSz="858838" eaLnBrk="1" fontAlgn="auto" hangingPunct="1">
              <a:spcBef>
                <a:spcPts val="1200"/>
              </a:spcBef>
              <a:spcAft>
                <a:spcPts val="0"/>
              </a:spcAft>
              <a:defRPr/>
            </a:pP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Ready</a:t>
            </a: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process in main memory, awaiting </a:t>
            </a:r>
            <a:r>
              <a:rPr lang="en-US" sz="2200" dirty="0">
                <a:latin typeface="Calibri" panose="020F0502020204030204" pitchFamily="34" charset="0"/>
                <a:cs typeface="Calibri" panose="020F0502020204030204" pitchFamily="34" charset="0"/>
              </a:rPr>
              <a:t>processor</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 			   </a:t>
            </a:r>
            <a:r>
              <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assignment</a:t>
            </a:r>
          </a:p>
          <a:p>
            <a:pPr marR="0" lvl="1" algn="l" defTabSz="858838" rtl="0" eaLnBrk="1" fontAlgn="auto" latinLnBrk="0" hangingPunct="1">
              <a:spcBef>
                <a:spcPts val="1200"/>
              </a:spcBef>
              <a:spcAft>
                <a:spcPts val="0"/>
              </a:spcAft>
              <a:buSzTx/>
              <a:tabLst/>
              <a:defRPr/>
            </a:pP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Running</a:t>
            </a: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instructions being executed</a:t>
            </a:r>
          </a:p>
          <a:p>
            <a:pPr marR="0" lvl="1" algn="l" defTabSz="858838" rtl="0" eaLnBrk="1" fontAlgn="auto" latinLnBrk="0" hangingPunct="1">
              <a:spcBef>
                <a:spcPts val="1200"/>
              </a:spcBef>
              <a:spcAft>
                <a:spcPts val="0"/>
              </a:spcAft>
              <a:buSzTx/>
              <a:tabLst/>
              <a:defRPr/>
            </a:pP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Waiting</a:t>
            </a: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process waiting for some event to occur</a:t>
            </a:r>
            <a:r>
              <a:rPr kumimoji="0" lang="en-US" sz="2200" b="0" i="0" u="none" strike="noStrike" kern="1200" cap="none" spc="0" normalizeH="0" noProof="0" dirty="0">
                <a:ln>
                  <a:noFill/>
                </a:ln>
                <a:effectLst/>
                <a:uLnTx/>
                <a:uFillTx/>
                <a:latin typeface="Calibri" panose="020F0502020204030204" pitchFamily="34" charset="0"/>
                <a:cs typeface="Calibri" panose="020F0502020204030204" pitchFamily="34" charset="0"/>
              </a:rPr>
              <a:t> </a:t>
            </a:r>
            <a:br>
              <a:rPr kumimoji="0" lang="en-US" sz="2200" b="0" i="0" u="none" strike="noStrike" kern="1200" cap="none" spc="0" normalizeH="0" noProof="0" dirty="0">
                <a:ln>
                  <a:noFill/>
                </a:ln>
                <a:effectLst/>
                <a:uLnTx/>
                <a:uFillTx/>
                <a:latin typeface="Calibri" panose="020F0502020204030204" pitchFamily="34" charset="0"/>
                <a:cs typeface="Calibri" panose="020F0502020204030204" pitchFamily="34" charset="0"/>
              </a:rPr>
            </a:br>
            <a:r>
              <a:rPr kumimoji="0" lang="en-US" sz="2200" b="0" i="0" u="none" strike="noStrike" kern="1200" cap="none" spc="0" normalizeH="0" noProof="0" dirty="0">
                <a:ln>
                  <a:noFill/>
                </a:ln>
                <a:effectLst/>
                <a:uLnTx/>
                <a:uFillTx/>
                <a:latin typeface="Calibri" panose="020F0502020204030204" pitchFamily="34" charset="0"/>
                <a:cs typeface="Calibri" panose="020F0502020204030204" pitchFamily="34" charset="0"/>
              </a:rPr>
              <a:t>			</a:t>
            </a:r>
            <a:r>
              <a:rPr kumimoji="0" lang="en-US" sz="2200" b="0" i="1" u="none" strike="noStrike" kern="1200" cap="none" spc="0" normalizeH="0" noProof="0" dirty="0">
                <a:ln>
                  <a:noFill/>
                </a:ln>
                <a:effectLst/>
                <a:uLnTx/>
                <a:uFillTx/>
                <a:latin typeface="Calibri" panose="020F0502020204030204" pitchFamily="34" charset="0"/>
                <a:cs typeface="Calibri" panose="020F0502020204030204" pitchFamily="34" charset="0"/>
              </a:rPr>
              <a:t>    (I/O completion, or reception of a signal)</a:t>
            </a:r>
            <a:endParaRPr kumimoji="0" lang="en-US" sz="2200" b="0" i="1"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a:p>
            <a:pPr marR="0" lvl="1" algn="l" defTabSz="858838" rtl="0" eaLnBrk="1" fontAlgn="auto" latinLnBrk="0" hangingPunct="1">
              <a:spcBef>
                <a:spcPts val="1200"/>
              </a:spcBef>
              <a:spcAft>
                <a:spcPts val="0"/>
              </a:spcAft>
              <a:buSzTx/>
              <a:tabLst/>
              <a:defRPr/>
            </a:pP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1"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Terminated</a:t>
            </a:r>
            <a:r>
              <a:rPr kumimoji="0" lang="en-US" sz="2200" b="1"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process finished execution</a:t>
            </a:r>
          </a:p>
          <a:p>
            <a:pPr marL="800100" marR="0" lvl="1" indent="-342900" algn="l" defTabSz="914400" rtl="0" eaLnBrk="1" fontAlgn="auto" latinLnBrk="0" hangingPunct="1">
              <a:spcBef>
                <a:spcPts val="600"/>
              </a:spcBef>
              <a:spcAft>
                <a:spcPts val="0"/>
              </a:spcAft>
              <a:buSzTx/>
              <a:buFont typeface="Arial" panose="020B0604020202020204" pitchFamily="34" charset="0"/>
              <a:buChar char="•"/>
              <a:tabLst/>
              <a:defRPr/>
            </a:pPr>
            <a:endPar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p:txBody>
      </p:sp>
      <p:sp>
        <p:nvSpPr>
          <p:cNvPr id="2" name="Slide Number Placeholder 3">
            <a:extLst>
              <a:ext uri="{FF2B5EF4-FFF2-40B4-BE49-F238E27FC236}">
                <a16:creationId xmlns:a16="http://schemas.microsoft.com/office/drawing/2014/main" id="{FA29FF3C-B8E8-ECED-8BD3-7F263FE5B75F}"/>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18</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 name="Rectangle 1026"/>
          <p:cNvSpPr>
            <a:spLocks noGrp="1" noChangeArrowheads="1"/>
          </p:cNvSpPr>
          <p:nvPr>
            <p:ph type="title"/>
          </p:nvPr>
        </p:nvSpPr>
        <p:spPr>
          <a:xfrm>
            <a:off x="-76200" y="0"/>
            <a:ext cx="9296400" cy="730250"/>
          </a:xfrm>
          <a:ln>
            <a:noFill/>
          </a:ln>
        </p:spPr>
        <p:txBody>
          <a:bodyPr>
            <a:noAutofit/>
          </a:bodyPr>
          <a:lstStyle/>
          <a:p>
            <a:r>
              <a:rPr lang="en-US" dirty="0"/>
              <a:t>5 State Process Model</a:t>
            </a:r>
          </a:p>
        </p:txBody>
      </p:sp>
      <p:sp>
        <p:nvSpPr>
          <p:cNvPr id="2" name="Slide Number Placeholder 3">
            <a:extLst>
              <a:ext uri="{FF2B5EF4-FFF2-40B4-BE49-F238E27FC236}">
                <a16:creationId xmlns:a16="http://schemas.microsoft.com/office/drawing/2014/main" id="{AD444978-427C-B2D8-21D0-7FFDB1F0DC1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19</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4" name="Picture 9">
            <a:extLst>
              <a:ext uri="{FF2B5EF4-FFF2-40B4-BE49-F238E27FC236}">
                <a16:creationId xmlns:a16="http://schemas.microsoft.com/office/drawing/2014/main" id="{4A207DA1-BFB6-ADFB-279B-182FC1313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948" y="1663367"/>
            <a:ext cx="7983881" cy="3350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30281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026"/>
          <p:cNvSpPr>
            <a:spLocks noGrp="1" noChangeArrowheads="1"/>
          </p:cNvSpPr>
          <p:nvPr>
            <p:ph type="title"/>
          </p:nvPr>
        </p:nvSpPr>
        <p:spPr>
          <a:xfrm>
            <a:off x="925286" y="0"/>
            <a:ext cx="8077200" cy="730250"/>
          </a:xfrm>
          <a:ln>
            <a:noFill/>
          </a:ln>
        </p:spPr>
        <p:txBody>
          <a:bodyPr>
            <a:noAutofit/>
          </a:bodyPr>
          <a:lstStyle/>
          <a:p>
            <a:r>
              <a:rPr lang="en-US" dirty="0"/>
              <a:t>Queuing Diagram - using 2 queues</a:t>
            </a:r>
          </a:p>
        </p:txBody>
      </p:sp>
      <p:sp>
        <p:nvSpPr>
          <p:cNvPr id="8" name="Rectangle 7"/>
          <p:cNvSpPr/>
          <p:nvPr/>
        </p:nvSpPr>
        <p:spPr>
          <a:xfrm>
            <a:off x="453206" y="4053118"/>
            <a:ext cx="8528960" cy="2431435"/>
          </a:xfrm>
          <a:prstGeom prst="rect">
            <a:avLst/>
          </a:prstGeom>
        </p:spPr>
        <p:txBody>
          <a:bodyPr wrap="square">
            <a:spAutoFit/>
          </a:bodyPr>
          <a:lstStyle/>
          <a:p>
            <a:pPr marL="342900" indent="-342900">
              <a:spcBef>
                <a:spcPts val="600"/>
              </a:spcBef>
              <a:buFont typeface="Wingdings" panose="05000000000000000000" pitchFamily="2" charset="2"/>
              <a:buChar char="§"/>
            </a:pPr>
            <a:r>
              <a:rPr lang="en-US" sz="2400" dirty="0">
                <a:solidFill>
                  <a:srgbClr val="0070C0"/>
                </a:solidFill>
                <a:latin typeface="Calibri" panose="020F0502020204030204" pitchFamily="34" charset="0"/>
                <a:cs typeface="Calibri" panose="020F0502020204030204" pitchFamily="34" charset="0"/>
              </a:rPr>
              <a:t>Limitation</a:t>
            </a:r>
            <a:r>
              <a:rPr lang="en-US" sz="2400" dirty="0">
                <a:latin typeface="Calibri" panose="020F0502020204030204" pitchFamily="34" charset="0"/>
                <a:cs typeface="Calibri" panose="020F0502020204030204" pitchFamily="34" charset="0"/>
              </a:rPr>
              <a:t> – w</a:t>
            </a:r>
            <a:r>
              <a:rPr lang="en-US" sz="2200" dirty="0">
                <a:latin typeface="Calibri" panose="020F0502020204030204" pitchFamily="34" charset="0"/>
                <a:cs typeface="Calibri" panose="020F0502020204030204" pitchFamily="34" charset="0"/>
              </a:rPr>
              <a:t>hen an event occurs </a:t>
            </a:r>
          </a:p>
          <a:p>
            <a:pPr marL="800100" lvl="1" indent="-342900">
              <a:spcBef>
                <a:spcPts val="1200"/>
              </a:spcBef>
              <a:buFont typeface="Arial" panose="020B0604020202020204" pitchFamily="34" charset="0"/>
              <a:buChar char="•"/>
            </a:pPr>
            <a:r>
              <a:rPr lang="en-US" sz="2200" dirty="0">
                <a:solidFill>
                  <a:srgbClr val="C00000"/>
                </a:solidFill>
                <a:latin typeface="Calibri" panose="020F0502020204030204" pitchFamily="34" charset="0"/>
                <a:cs typeface="Calibri" panose="020F0502020204030204" pitchFamily="34" charset="0"/>
              </a:rPr>
              <a:t>dispatcher</a:t>
            </a:r>
            <a:r>
              <a:rPr lang="en-US" sz="2200" dirty="0">
                <a:latin typeface="Calibri" panose="020F0502020204030204" pitchFamily="34" charset="0"/>
                <a:cs typeface="Calibri" panose="020F0502020204030204" pitchFamily="34" charset="0"/>
              </a:rPr>
              <a:t> has to cycle thru </a:t>
            </a:r>
            <a:r>
              <a:rPr lang="en-US" sz="2200" dirty="0">
                <a:solidFill>
                  <a:srgbClr val="C00000"/>
                </a:solidFill>
                <a:latin typeface="Calibri" panose="020F0502020204030204" pitchFamily="34" charset="0"/>
                <a:cs typeface="Calibri" panose="020F0502020204030204" pitchFamily="34" charset="0"/>
              </a:rPr>
              <a:t>entire</a:t>
            </a:r>
            <a:r>
              <a:rPr lang="en-US" sz="2200" dirty="0">
                <a:latin typeface="Calibri" panose="020F0502020204030204" pitchFamily="34" charset="0"/>
                <a:cs typeface="Calibri" panose="020F0502020204030204" pitchFamily="34" charset="0"/>
              </a:rPr>
              <a:t> Blocked Queue</a:t>
            </a:r>
          </a:p>
          <a:p>
            <a:pPr lvl="1">
              <a:spcBef>
                <a:spcPts val="600"/>
              </a:spcBef>
            </a:pPr>
            <a:r>
              <a:rPr lang="en-US" sz="2200" dirty="0">
                <a:latin typeface="Calibri" panose="020F0502020204030204" pitchFamily="34" charset="0"/>
                <a:cs typeface="Calibri" panose="020F0502020204030204" pitchFamily="34" charset="0"/>
              </a:rPr>
              <a:t>	       </a:t>
            </a:r>
            <a:r>
              <a:rPr lang="en-US" sz="2200" i="1" dirty="0">
                <a:latin typeface="Times New Roman" panose="02020603050405020304" pitchFamily="18" charset="0"/>
                <a:cs typeface="Times New Roman" panose="02020603050405020304" pitchFamily="18" charset="0"/>
              </a:rPr>
              <a:t>(to find process </a:t>
            </a:r>
            <a:r>
              <a:rPr lang="en-US" sz="2200" i="1" dirty="0">
                <a:solidFill>
                  <a:srgbClr val="C00000"/>
                </a:solidFill>
                <a:latin typeface="Times New Roman" panose="02020603050405020304" pitchFamily="18" charset="0"/>
                <a:cs typeface="Times New Roman" panose="02020603050405020304" pitchFamily="18" charset="0"/>
              </a:rPr>
              <a:t>waiting for that event</a:t>
            </a:r>
            <a:r>
              <a:rPr lang="en-US" sz="2200" i="1" dirty="0">
                <a:latin typeface="Times New Roman" panose="02020603050405020304" pitchFamily="18" charset="0"/>
                <a:cs typeface="Times New Roman" panose="02020603050405020304" pitchFamily="18" charset="0"/>
              </a:rPr>
              <a:t>)</a:t>
            </a:r>
          </a:p>
          <a:p>
            <a:pPr marL="800100" lvl="2" indent="-342900">
              <a:spcBef>
                <a:spcPts val="12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can be huge overhead for 100’s or 1000’s of processes</a:t>
            </a:r>
          </a:p>
          <a:p>
            <a:pPr marL="0" lvl="2">
              <a:spcBef>
                <a:spcPts val="1200"/>
              </a:spcBef>
            </a:pPr>
            <a:r>
              <a:rPr lang="en-US" sz="2200" dirty="0">
                <a:solidFill>
                  <a:srgbClr val="FF0000"/>
                </a:solidFill>
                <a:latin typeface="Calibri" panose="020F0502020204030204" pitchFamily="34" charset="0"/>
                <a:cs typeface="Calibri" panose="020F0502020204030204" pitchFamily="34" charset="0"/>
              </a:rPr>
              <a:t>		</a:t>
            </a:r>
            <a:r>
              <a:rPr lang="en-US" sz="2200" dirty="0">
                <a:solidFill>
                  <a:srgbClr val="C00000"/>
                </a:solidFill>
                <a:latin typeface="Calibri" panose="020F0502020204030204" pitchFamily="34" charset="0"/>
                <a:cs typeface="Calibri" panose="020F0502020204030204" pitchFamily="34" charset="0"/>
              </a:rPr>
              <a:t>Use multiple “Blocked Queues”</a:t>
            </a:r>
          </a:p>
        </p:txBody>
      </p:sp>
      <p:sp>
        <p:nvSpPr>
          <p:cNvPr id="2" name="Slide Number Placeholder 3">
            <a:extLst>
              <a:ext uri="{FF2B5EF4-FFF2-40B4-BE49-F238E27FC236}">
                <a16:creationId xmlns:a16="http://schemas.microsoft.com/office/drawing/2014/main" id="{B0328C03-01CD-AB53-4736-12C5B1ABF2E6}"/>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20</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4" name="Picture 4">
            <a:extLst>
              <a:ext uri="{FF2B5EF4-FFF2-40B4-BE49-F238E27FC236}">
                <a16:creationId xmlns:a16="http://schemas.microsoft.com/office/drawing/2014/main" id="{B1A777F8-7CFE-BA48-511C-B64C9F9B8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658" y="1186701"/>
            <a:ext cx="7001202" cy="25161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849086" y="-1"/>
            <a:ext cx="8066314" cy="783771"/>
          </a:xfrm>
          <a:ln>
            <a:noFill/>
          </a:ln>
        </p:spPr>
        <p:txBody>
          <a:bodyPr>
            <a:noAutofit/>
          </a:bodyPr>
          <a:lstStyle/>
          <a:p>
            <a:r>
              <a:rPr lang="en-US" dirty="0"/>
              <a:t>Process Scheduling Queues</a:t>
            </a:r>
          </a:p>
        </p:txBody>
      </p:sp>
      <p:sp>
        <p:nvSpPr>
          <p:cNvPr id="7" name="Rectangle 3"/>
          <p:cNvSpPr txBox="1">
            <a:spLocks noChangeArrowheads="1"/>
          </p:cNvSpPr>
          <p:nvPr/>
        </p:nvSpPr>
        <p:spPr>
          <a:xfrm>
            <a:off x="402020" y="1141446"/>
            <a:ext cx="8448040" cy="5445034"/>
          </a:xfrm>
          <a:prstGeom prst="rect">
            <a:avLst/>
          </a:prstGeom>
        </p:spPr>
        <p:txBody>
          <a:bodyPr vert="horz" lIns="91440" tIns="45720" rIns="91440" bIns="45720" rtlCol="0">
            <a:noAutofit/>
          </a:bodyPr>
          <a:lstStyle/>
          <a:p>
            <a:pPr marL="347663" marR="0" lvl="0" indent="-347663" algn="l" defTabSz="914400" rtl="0" eaLnBrk="1" fontAlgn="auto" latinLnBrk="0" hangingPunct="1">
              <a:lnSpc>
                <a:spcPct val="110000"/>
              </a:lnSpc>
              <a:spcBef>
                <a:spcPts val="0"/>
              </a:spcBef>
              <a:spcAft>
                <a:spcPts val="0"/>
              </a:spcAft>
              <a:buSzTx/>
              <a:buFont typeface="Wingdings" panose="05000000000000000000" pitchFamily="2" charset="2"/>
              <a:buChar char="§"/>
              <a:tabLst/>
              <a:defRPr/>
            </a:pPr>
            <a:r>
              <a:rPr kumimoji="0" lang="en-US" sz="2400" b="1"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Job Queue</a:t>
            </a:r>
            <a:endParaRPr kumimoji="0" lang="en-US" sz="24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marL="685800" lvl="1" indent="-228600" eaLnBrk="1" fontAlgn="auto" hangingPunct="1">
              <a:lnSpc>
                <a:spcPct val="110000"/>
              </a:lnSpc>
              <a:spcBef>
                <a:spcPts val="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when a job is created, it is placed in Job Queue on </a:t>
            </a:r>
            <a:r>
              <a:rPr lang="en-US" sz="2200" dirty="0">
                <a:solidFill>
                  <a:srgbClr val="C00000"/>
                </a:solidFill>
                <a:latin typeface="Calibri" panose="020F0502020204030204" pitchFamily="34" charset="0"/>
                <a:cs typeface="Calibri" panose="020F0502020204030204" pitchFamily="34" charset="0"/>
              </a:rPr>
              <a:t>disk</a:t>
            </a:r>
          </a:p>
          <a:p>
            <a:pPr marL="685800" lvl="1" indent="-228600" eaLnBrk="1" fontAlgn="auto" hangingPunct="1">
              <a:lnSpc>
                <a:spcPct val="110000"/>
              </a:lnSpc>
              <a:spcBef>
                <a:spcPts val="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waits to be </a:t>
            </a:r>
            <a:r>
              <a:rPr lang="en-US" sz="2200" dirty="0">
                <a:solidFill>
                  <a:srgbClr val="C00000"/>
                </a:solidFill>
                <a:latin typeface="Calibri" panose="020F0502020204030204" pitchFamily="34" charset="0"/>
                <a:cs typeface="Calibri" panose="020F0502020204030204" pitchFamily="34" charset="0"/>
              </a:rPr>
              <a:t>admitted</a:t>
            </a:r>
            <a:r>
              <a:rPr lang="en-US" sz="2200" dirty="0">
                <a:latin typeface="Calibri" panose="020F0502020204030204" pitchFamily="34" charset="0"/>
                <a:cs typeface="Calibri" panose="020F0502020204030204" pitchFamily="34" charset="0"/>
              </a:rPr>
              <a:t> into main </a:t>
            </a:r>
            <a:r>
              <a:rPr lang="en-US" sz="2200" dirty="0">
                <a:solidFill>
                  <a:srgbClr val="C00000"/>
                </a:solidFill>
                <a:latin typeface="Calibri" panose="020F0502020204030204" pitchFamily="34" charset="0"/>
                <a:cs typeface="Calibri" panose="020F0502020204030204" pitchFamily="34" charset="0"/>
              </a:rPr>
              <a:t>memory</a:t>
            </a:r>
            <a:r>
              <a:rPr lang="en-US" sz="2200" dirty="0">
                <a:latin typeface="Calibri" panose="020F0502020204030204" pitchFamily="34" charset="0"/>
                <a:cs typeface="Calibri" panose="020F0502020204030204" pitchFamily="34" charset="0"/>
              </a:rPr>
              <a:t> for execution</a:t>
            </a:r>
          </a:p>
          <a:p>
            <a:pPr marL="347663" marR="0" lvl="0" indent="-347663" algn="l" defTabSz="914400" rtl="0" eaLnBrk="1" fontAlgn="auto" latinLnBrk="0" hangingPunct="1">
              <a:lnSpc>
                <a:spcPct val="110000"/>
              </a:lnSpc>
              <a:spcBef>
                <a:spcPts val="1800"/>
              </a:spcBef>
              <a:spcAft>
                <a:spcPts val="0"/>
              </a:spcAft>
              <a:buSzTx/>
              <a:buFont typeface="Wingdings" panose="05000000000000000000" pitchFamily="2" charset="2"/>
              <a:buChar char="§"/>
              <a:tabLst/>
              <a:defRPr/>
            </a:pPr>
            <a:r>
              <a:rPr kumimoji="0" lang="en-US" sz="2400" b="1"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Ready Queue</a:t>
            </a:r>
            <a:endParaRPr kumimoji="0" lang="en-US" sz="2400" b="0"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endParaRPr>
          </a:p>
          <a:p>
            <a:pPr marL="685800" lvl="1" indent="-228600" eaLnBrk="1" fontAlgn="auto" hangingPunct="1">
              <a:lnSpc>
                <a:spcPct val="110000"/>
              </a:lnSpc>
              <a:spcBef>
                <a:spcPts val="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consists of processes residing in main </a:t>
            </a:r>
            <a:r>
              <a:rPr lang="en-US" sz="2200" dirty="0">
                <a:solidFill>
                  <a:srgbClr val="C00000"/>
                </a:solidFill>
                <a:latin typeface="Calibri" panose="020F0502020204030204" pitchFamily="34" charset="0"/>
                <a:cs typeface="Calibri" panose="020F0502020204030204" pitchFamily="34" charset="0"/>
              </a:rPr>
              <a:t>memory</a:t>
            </a:r>
            <a:r>
              <a:rPr lang="en-US" sz="2200" dirty="0">
                <a:latin typeface="Calibri" panose="020F0502020204030204" pitchFamily="34" charset="0"/>
                <a:cs typeface="Calibri" panose="020F0502020204030204" pitchFamily="34" charset="0"/>
              </a:rPr>
              <a:t> </a:t>
            </a:r>
          </a:p>
          <a:p>
            <a:pPr marL="685800" lvl="1" indent="-228600" eaLnBrk="1" fontAlgn="auto" hangingPunct="1">
              <a:lnSpc>
                <a:spcPct val="110000"/>
              </a:lnSpc>
              <a:spcBef>
                <a:spcPts val="0"/>
              </a:spcBef>
              <a:spcAft>
                <a:spcPts val="0"/>
              </a:spcAft>
              <a:buFont typeface="Arial" panose="020B0604020202020204" pitchFamily="34" charset="0"/>
              <a:buChar char="•"/>
              <a:defRPr/>
            </a:pPr>
            <a:r>
              <a:rPr lang="en-US" sz="2200" dirty="0">
                <a:solidFill>
                  <a:srgbClr val="C00000"/>
                </a:solidFill>
                <a:latin typeface="Calibri" panose="020F0502020204030204" pitchFamily="34" charset="0"/>
                <a:cs typeface="Calibri" panose="020F0502020204030204" pitchFamily="34" charset="0"/>
              </a:rPr>
              <a:t>ready</a:t>
            </a:r>
            <a:r>
              <a:rPr lang="en-US" sz="2200" dirty="0">
                <a:latin typeface="Calibri" panose="020F0502020204030204" pitchFamily="34" charset="0"/>
                <a:cs typeface="Calibri" panose="020F0502020204030204" pitchFamily="34" charset="0"/>
              </a:rPr>
              <a:t> &amp; waiting to be executed </a:t>
            </a:r>
          </a:p>
          <a:p>
            <a:pPr marL="347663" marR="0" lvl="0" indent="-347663" algn="l" defTabSz="914400" rtl="0" eaLnBrk="1" fontAlgn="auto" latinLnBrk="0" hangingPunct="1">
              <a:lnSpc>
                <a:spcPct val="110000"/>
              </a:lnSpc>
              <a:spcBef>
                <a:spcPts val="1800"/>
              </a:spcBef>
              <a:spcAft>
                <a:spcPts val="0"/>
              </a:spcAft>
              <a:buSzTx/>
              <a:buFont typeface="Wingdings" panose="05000000000000000000" pitchFamily="2" charset="2"/>
              <a:buChar char="§"/>
              <a:tabLst/>
              <a:defRPr/>
            </a:pPr>
            <a:r>
              <a:rPr kumimoji="0" lang="en-US" sz="2400" b="1" i="0"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Device Queues</a:t>
            </a:r>
          </a:p>
          <a:p>
            <a:pPr marL="685800" lvl="1" indent="-228600" eaLnBrk="1" fontAlgn="auto" hangingPunct="1">
              <a:lnSpc>
                <a:spcPct val="110000"/>
              </a:lnSpc>
              <a:spcBef>
                <a:spcPts val="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list of processes </a:t>
            </a:r>
            <a:r>
              <a:rPr lang="en-US" sz="2200" dirty="0">
                <a:solidFill>
                  <a:srgbClr val="C00000"/>
                </a:solidFill>
                <a:latin typeface="Calibri" panose="020F0502020204030204" pitchFamily="34" charset="0"/>
                <a:cs typeface="Calibri" panose="020F0502020204030204" pitchFamily="34" charset="0"/>
              </a:rPr>
              <a:t>waiting</a:t>
            </a:r>
            <a:r>
              <a:rPr lang="en-US" sz="2200" dirty="0">
                <a:latin typeface="Calibri" panose="020F0502020204030204" pitchFamily="34" charset="0"/>
                <a:cs typeface="Calibri" panose="020F0502020204030204" pitchFamily="34" charset="0"/>
              </a:rPr>
              <a:t> for a particular </a:t>
            </a:r>
            <a:r>
              <a:rPr lang="en-US" sz="2200" dirty="0">
                <a:solidFill>
                  <a:srgbClr val="C00000"/>
                </a:solidFill>
                <a:latin typeface="Calibri" panose="020F0502020204030204" pitchFamily="34" charset="0"/>
                <a:cs typeface="Calibri" panose="020F0502020204030204" pitchFamily="34" charset="0"/>
              </a:rPr>
              <a:t>I/O device</a:t>
            </a:r>
          </a:p>
          <a:p>
            <a:pPr marL="685800" lvl="1" indent="-228600" eaLnBrk="1" fontAlgn="auto" hangingPunct="1">
              <a:lnSpc>
                <a:spcPct val="110000"/>
              </a:lnSpc>
              <a:spcBef>
                <a:spcPts val="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each device has its own device queue</a:t>
            </a:r>
          </a:p>
          <a:p>
            <a:pPr lvl="0" algn="ctr" eaLnBrk="1" fontAlgn="auto" hangingPunct="1">
              <a:lnSpc>
                <a:spcPct val="110000"/>
              </a:lnSpc>
              <a:spcBef>
                <a:spcPts val="1800"/>
              </a:spcBef>
              <a:spcAft>
                <a:spcPts val="0"/>
              </a:spcAft>
              <a:defRPr/>
            </a:pPr>
            <a:r>
              <a:rPr lang="en-US" sz="2300" i="1" baseline="0" dirty="0">
                <a:solidFill>
                  <a:srgbClr val="C00000"/>
                </a:solidFill>
                <a:latin typeface="Times New Roman" panose="02020603050405020304" pitchFamily="18" charset="0"/>
                <a:cs typeface="Times New Roman" panose="02020603050405020304" pitchFamily="18" charset="0"/>
              </a:rPr>
              <a:t>“during</a:t>
            </a:r>
            <a:r>
              <a:rPr lang="en-US" sz="2300" i="1" dirty="0">
                <a:solidFill>
                  <a:srgbClr val="C00000"/>
                </a:solidFill>
                <a:latin typeface="Times New Roman" panose="02020603050405020304" pitchFamily="18" charset="0"/>
                <a:cs typeface="Times New Roman" panose="02020603050405020304" pitchFamily="18" charset="0"/>
              </a:rPr>
              <a:t> process </a:t>
            </a:r>
            <a:r>
              <a:rPr lang="en-US" sz="2300" i="1" dirty="0">
                <a:solidFill>
                  <a:srgbClr val="0070C0"/>
                </a:solidFill>
                <a:latin typeface="Times New Roman" panose="02020603050405020304" pitchFamily="18" charset="0"/>
                <a:cs typeface="Times New Roman" panose="02020603050405020304" pitchFamily="18" charset="0"/>
              </a:rPr>
              <a:t>life-time</a:t>
            </a:r>
            <a:r>
              <a:rPr lang="en-US" sz="2300" i="1" dirty="0">
                <a:solidFill>
                  <a:srgbClr val="C00000"/>
                </a:solidFill>
                <a:latin typeface="Times New Roman" panose="02020603050405020304" pitchFamily="18" charset="0"/>
                <a:cs typeface="Times New Roman" panose="02020603050405020304" pitchFamily="18" charset="0"/>
              </a:rPr>
              <a:t>, </a:t>
            </a:r>
            <a:br>
              <a:rPr lang="en-US" sz="2300" i="1" dirty="0">
                <a:solidFill>
                  <a:srgbClr val="C00000"/>
                </a:solidFill>
                <a:latin typeface="Times New Roman" panose="02020603050405020304" pitchFamily="18" charset="0"/>
                <a:cs typeface="Times New Roman" panose="02020603050405020304" pitchFamily="18" charset="0"/>
              </a:rPr>
            </a:br>
            <a:r>
              <a:rPr lang="en-US" sz="2300" i="1" dirty="0">
                <a:solidFill>
                  <a:srgbClr val="C00000"/>
                </a:solidFill>
                <a:latin typeface="Times New Roman" panose="02020603050405020304" pitchFamily="18" charset="0"/>
                <a:cs typeface="Times New Roman" panose="02020603050405020304" pitchFamily="18" charset="0"/>
              </a:rPr>
              <a:t>it </a:t>
            </a:r>
            <a:r>
              <a:rPr lang="en-US" sz="2300" i="1" dirty="0">
                <a:solidFill>
                  <a:srgbClr val="0070C0"/>
                </a:solidFill>
                <a:latin typeface="Times New Roman" panose="02020603050405020304" pitchFamily="18" charset="0"/>
                <a:cs typeface="Times New Roman" panose="02020603050405020304" pitchFamily="18" charset="0"/>
              </a:rPr>
              <a:t>migrates</a:t>
            </a:r>
            <a:r>
              <a:rPr lang="en-US" sz="2300" i="1" dirty="0">
                <a:solidFill>
                  <a:srgbClr val="C00000"/>
                </a:solidFill>
                <a:latin typeface="Times New Roman" panose="02020603050405020304" pitchFamily="18" charset="0"/>
                <a:cs typeface="Times New Roman" panose="02020603050405020304" pitchFamily="18" charset="0"/>
              </a:rPr>
              <a:t> from one queue to another”</a:t>
            </a:r>
            <a:endParaRPr kumimoji="0" lang="en-US" sz="2300" b="0" i="1"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p:txBody>
      </p:sp>
      <p:sp>
        <p:nvSpPr>
          <p:cNvPr id="2" name="Slide Number Placeholder 3">
            <a:extLst>
              <a:ext uri="{FF2B5EF4-FFF2-40B4-BE49-F238E27FC236}">
                <a16:creationId xmlns:a16="http://schemas.microsoft.com/office/drawing/2014/main" id="{862F9DFE-900B-E162-B9E2-6F1268B09B70}"/>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21</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7">
            <a:extLst>
              <a:ext uri="{FF2B5EF4-FFF2-40B4-BE49-F238E27FC236}">
                <a16:creationId xmlns:a16="http://schemas.microsoft.com/office/drawing/2014/main" id="{748837F1-D973-B033-D70B-0DD48A38F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5398" y="985520"/>
            <a:ext cx="6378121" cy="5618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426" name="Rectangle 2"/>
          <p:cNvSpPr>
            <a:spLocks noGrp="1" noChangeArrowheads="1"/>
          </p:cNvSpPr>
          <p:nvPr>
            <p:ph type="title"/>
          </p:nvPr>
        </p:nvSpPr>
        <p:spPr>
          <a:xfrm>
            <a:off x="1099458" y="59574"/>
            <a:ext cx="7924800" cy="710763"/>
          </a:xfrm>
        </p:spPr>
        <p:txBody>
          <a:bodyPr>
            <a:noAutofit/>
          </a:bodyPr>
          <a:lstStyle/>
          <a:p>
            <a:r>
              <a:rPr lang="en-US" dirty="0"/>
              <a:t>Ready Queue &amp; I/O Device Queues</a:t>
            </a:r>
          </a:p>
        </p:txBody>
      </p:sp>
      <p:sp>
        <p:nvSpPr>
          <p:cNvPr id="359428" name="Rectangle 4"/>
          <p:cNvSpPr>
            <a:spLocks noGrp="1" noChangeArrowheads="1"/>
          </p:cNvSpPr>
          <p:nvPr>
            <p:ph type="body" idx="1"/>
          </p:nvPr>
        </p:nvSpPr>
        <p:spPr>
          <a:xfrm>
            <a:off x="285207" y="1343568"/>
            <a:ext cx="2325913" cy="5021262"/>
          </a:xfrm>
        </p:spPr>
        <p:txBody>
          <a:bodyPr>
            <a:noAutofit/>
          </a:bodyPr>
          <a:lstStyle/>
          <a:p>
            <a:pPr marL="233363" indent="-233363">
              <a:lnSpc>
                <a:spcPct val="110000"/>
              </a:lnSpc>
              <a:spcBef>
                <a:spcPts val="12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when process is not running,</a:t>
            </a:r>
            <a:r>
              <a:rPr lang="en-US" sz="2200" dirty="0">
                <a:latin typeface="Calibri" panose="020F0502020204030204" pitchFamily="34" charset="0"/>
                <a:cs typeface="Calibri" panose="020F0502020204030204" pitchFamily="34" charset="0"/>
                <a:sym typeface="Symbol" pitchFamily="18" charset="2"/>
              </a:rPr>
              <a:t> </a:t>
            </a:r>
            <a:br>
              <a:rPr lang="en-US" sz="2200" dirty="0">
                <a:latin typeface="Calibri" panose="020F0502020204030204" pitchFamily="34" charset="0"/>
                <a:cs typeface="Calibri" panose="020F0502020204030204" pitchFamily="34" charset="0"/>
                <a:sym typeface="Symbol" pitchFamily="18" charset="2"/>
              </a:rPr>
            </a:br>
            <a:r>
              <a:rPr lang="en-US" sz="2200" dirty="0">
                <a:latin typeface="Calibri" panose="020F0502020204030204" pitchFamily="34" charset="0"/>
                <a:cs typeface="Calibri" panose="020F0502020204030204" pitchFamily="34" charset="0"/>
                <a:sym typeface="Symbol" pitchFamily="18" charset="2"/>
              </a:rPr>
              <a:t>PCB </a:t>
            </a:r>
            <a:r>
              <a:rPr lang="en-US" sz="2200" dirty="0">
                <a:latin typeface="Calibri" panose="020F0502020204030204" pitchFamily="34" charset="0"/>
                <a:cs typeface="Calibri" panose="020F0502020204030204" pitchFamily="34" charset="0"/>
              </a:rPr>
              <a:t>is in some queue</a:t>
            </a:r>
          </a:p>
          <a:p>
            <a:pPr marL="233363" indent="-233363">
              <a:lnSpc>
                <a:spcPct val="110000"/>
              </a:lnSpc>
              <a:spcBef>
                <a:spcPts val="18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separate queue for each device </a:t>
            </a:r>
          </a:p>
          <a:p>
            <a:pPr marL="233363" indent="-233363">
              <a:lnSpc>
                <a:spcPct val="110000"/>
              </a:lnSpc>
              <a:spcBef>
                <a:spcPts val="18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each queue can have different scheduling policy</a:t>
            </a:r>
          </a:p>
        </p:txBody>
      </p:sp>
      <p:sp>
        <p:nvSpPr>
          <p:cNvPr id="31" name="Slide Number Placeholder 3">
            <a:extLst>
              <a:ext uri="{FF2B5EF4-FFF2-40B4-BE49-F238E27FC236}">
                <a16:creationId xmlns:a16="http://schemas.microsoft.com/office/drawing/2014/main" id="{FA5A78C3-C70E-907B-B1A4-C0C820B7ABD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22</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99457" y="43543"/>
            <a:ext cx="7587344" cy="685799"/>
          </a:xfrm>
          <a:ln>
            <a:noFill/>
          </a:ln>
        </p:spPr>
        <p:txBody>
          <a:bodyPr>
            <a:noAutofit/>
          </a:bodyPr>
          <a:lstStyle/>
          <a:p>
            <a:r>
              <a:rPr lang="en-US" dirty="0"/>
              <a:t>Queuing Diagram</a:t>
            </a:r>
          </a:p>
        </p:txBody>
      </p:sp>
      <p:pic>
        <p:nvPicPr>
          <p:cNvPr id="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7830" y="1276267"/>
            <a:ext cx="8294914" cy="478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65D4479A-AEDB-0FA7-F75B-61DC9B74CE42}"/>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23</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Schedulers</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
        <p:nvSpPr>
          <p:cNvPr id="3" name="Slide Number Placeholder 3">
            <a:extLst>
              <a:ext uri="{FF2B5EF4-FFF2-40B4-BE49-F238E27FC236}">
                <a16:creationId xmlns:a16="http://schemas.microsoft.com/office/drawing/2014/main" id="{32661A78-622C-4B46-DDC9-C6601D429E7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24</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7435947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903514" y="32658"/>
            <a:ext cx="7805057" cy="713464"/>
          </a:xfrm>
          <a:ln>
            <a:noFill/>
          </a:ln>
        </p:spPr>
        <p:txBody>
          <a:bodyPr>
            <a:noAutofit/>
          </a:bodyPr>
          <a:lstStyle/>
          <a:p>
            <a:r>
              <a:rPr lang="en-US" dirty="0"/>
              <a:t>Schedulers</a:t>
            </a:r>
          </a:p>
        </p:txBody>
      </p:sp>
      <p:sp>
        <p:nvSpPr>
          <p:cNvPr id="9" name="Rectangle 3"/>
          <p:cNvSpPr txBox="1">
            <a:spLocks noChangeArrowheads="1"/>
          </p:cNvSpPr>
          <p:nvPr/>
        </p:nvSpPr>
        <p:spPr>
          <a:xfrm>
            <a:off x="359226" y="1131362"/>
            <a:ext cx="8610600" cy="5290457"/>
          </a:xfrm>
          <a:prstGeom prst="rect">
            <a:avLst/>
          </a:prstGeom>
        </p:spPr>
        <p:txBody>
          <a:bodyPr vert="horz" lIns="91440" tIns="45720" rIns="91440" bIns="45720" rtlCol="0">
            <a:normAutofit/>
          </a:bodyPr>
          <a:lstStyle/>
          <a:p>
            <a:pPr marL="457200" marR="0" lvl="0" indent="-457200" algn="l" defTabSz="914400" rtl="0" eaLnBrk="1" fontAlgn="auto" latinLnBrk="0" hangingPunct="1">
              <a:spcBef>
                <a:spcPts val="1200"/>
              </a:spcBef>
              <a:spcAft>
                <a:spcPts val="0"/>
              </a:spcAft>
              <a:buSzTx/>
              <a:buFont typeface="Wingdings" panose="05000000000000000000" pitchFamily="2" charset="2"/>
              <a:buChar char="§"/>
              <a:tabLst/>
              <a:defRPr/>
            </a:pPr>
            <a:r>
              <a:rPr kumimoji="0" lang="en-US" sz="2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A process migrates between various queues during its life cycle</a:t>
            </a:r>
          </a:p>
          <a:p>
            <a:pPr marL="457200" lvl="0" indent="-457200" eaLnBrk="1" fontAlgn="auto" hangingPunct="1">
              <a:spcBef>
                <a:spcPts val="1800"/>
              </a:spcBef>
              <a:spcAft>
                <a:spcPts val="0"/>
              </a:spcAft>
              <a:buFont typeface="Wingdings" panose="05000000000000000000" pitchFamily="2" charset="2"/>
              <a:buChar char="§"/>
              <a:defRPr/>
            </a:pPr>
            <a:r>
              <a:rPr kumimoji="0" lang="en-US" sz="2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Schedulers needed to select processes from queues, </a:t>
            </a:r>
            <a:r>
              <a:rPr lang="en-US" sz="2400" dirty="0">
                <a:latin typeface="Calibri" panose="020F0502020204030204" pitchFamily="34" charset="0"/>
                <a:cs typeface="Calibri" panose="020F0502020204030204" pitchFamily="34" charset="0"/>
              </a:rPr>
              <a:t>as per </a:t>
            </a:r>
            <a:br>
              <a:rPr kumimoji="0" lang="en-US" sz="2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br>
            <a:r>
              <a:rPr kumimoji="0" lang="en-US" sz="2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some scheduling criteria</a:t>
            </a:r>
          </a:p>
          <a:p>
            <a:pPr marR="0" lvl="0" algn="ctr" defTabSz="914400" rtl="0" eaLnBrk="1" fontAlgn="auto" latinLnBrk="0" hangingPunct="1">
              <a:spcBef>
                <a:spcPts val="1800"/>
              </a:spcBef>
              <a:spcAft>
                <a:spcPts val="0"/>
              </a:spcAft>
              <a:buSzTx/>
              <a:tabLst/>
              <a:defRPr/>
            </a:pPr>
            <a:r>
              <a:rPr kumimoji="0" lang="en-US" sz="2400" i="1"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“Scheduling is concerned with management of queues</a:t>
            </a:r>
            <a:r>
              <a:rPr lang="en-US" sz="2400" i="1" dirty="0">
                <a:solidFill>
                  <a:srgbClr val="C00000"/>
                </a:solidFill>
                <a:latin typeface="Calibri" panose="020F0502020204030204" pitchFamily="34" charset="0"/>
                <a:cs typeface="Calibri" panose="020F0502020204030204" pitchFamily="34" charset="0"/>
              </a:rPr>
              <a:t>;</a:t>
            </a:r>
            <a:br>
              <a:rPr kumimoji="0" lang="en-US" sz="2400" i="1"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br>
            <a:r>
              <a:rPr lang="en-US" sz="2400" i="1" dirty="0">
                <a:solidFill>
                  <a:srgbClr val="C00000"/>
                </a:solidFill>
                <a:latin typeface="Calibri" panose="020F0502020204030204" pitchFamily="34" charset="0"/>
                <a:cs typeface="Calibri" panose="020F0502020204030204" pitchFamily="34" charset="0"/>
              </a:rPr>
              <a:t>objective is to </a:t>
            </a:r>
            <a:r>
              <a:rPr kumimoji="0" lang="en-US" sz="2400" i="1"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minimize queuing </a:t>
            </a:r>
            <a:r>
              <a:rPr kumimoji="0" lang="en-US" sz="2400" i="1"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delay</a:t>
            </a:r>
            <a:r>
              <a:rPr kumimoji="0" lang="en-US" sz="2400" i="1"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 </a:t>
            </a:r>
            <a:br>
              <a:rPr kumimoji="0" lang="en-US" sz="2400" i="1"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br>
            <a:r>
              <a:rPr kumimoji="0" lang="en-US" sz="2400" i="1"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&amp; optimize </a:t>
            </a:r>
            <a:r>
              <a:rPr kumimoji="0" lang="en-US" sz="2400" i="1"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performance</a:t>
            </a:r>
            <a:r>
              <a:rPr kumimoji="0" lang="en-US" sz="2400" i="1" u="none" strike="noStrike" kern="1200" cap="none" spc="0" normalizeH="0" baseline="0" noProof="0" dirty="0">
                <a:ln>
                  <a:noFill/>
                </a:ln>
                <a:solidFill>
                  <a:srgbClr val="C00000"/>
                </a:solidFill>
                <a:effectLst/>
                <a:uLnTx/>
                <a:uFillTx/>
                <a:latin typeface="Calibri" panose="020F0502020204030204" pitchFamily="34" charset="0"/>
                <a:cs typeface="Calibri" panose="020F0502020204030204" pitchFamily="34" charset="0"/>
              </a:rPr>
              <a:t>”</a:t>
            </a:r>
          </a:p>
          <a:p>
            <a:pPr marL="457200" indent="-457200" eaLnBrk="1" fontAlgn="auto" hangingPunct="1">
              <a:spcBef>
                <a:spcPts val="2400"/>
              </a:spcBef>
              <a:spcAft>
                <a:spcPts val="0"/>
              </a:spcAft>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OS uses three types of</a:t>
            </a:r>
            <a:r>
              <a:rPr kumimoji="0" lang="en-US" sz="2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schedulers:</a:t>
            </a:r>
          </a:p>
          <a:p>
            <a:pPr marL="914400" lvl="1" indent="-342900" eaLnBrk="1" fontAlgn="auto" hangingPunct="1">
              <a:spcBef>
                <a:spcPts val="1200"/>
              </a:spcBef>
              <a:spcAft>
                <a:spcPts val="0"/>
              </a:spcAft>
              <a:buFont typeface="Arial" panose="020B0604020202020204" pitchFamily="34" charset="0"/>
              <a:buChar char="•"/>
              <a:defRPr/>
            </a:pPr>
            <a:r>
              <a:rPr lang="en-US" sz="2200" dirty="0">
                <a:solidFill>
                  <a:srgbClr val="C00000"/>
                </a:solidFill>
                <a:latin typeface="Calibri" panose="020F0502020204030204" pitchFamily="34" charset="0"/>
                <a:cs typeface="Calibri" panose="020F0502020204030204" pitchFamily="34" charset="0"/>
              </a:rPr>
              <a:t>Long term scheduler</a:t>
            </a:r>
          </a:p>
          <a:p>
            <a:pPr marL="914400" lvl="1" indent="-342900" eaLnBrk="1" fontAlgn="auto" hangingPunct="1">
              <a:spcBef>
                <a:spcPts val="1200"/>
              </a:spcBef>
              <a:spcAft>
                <a:spcPts val="0"/>
              </a:spcAft>
              <a:buFont typeface="Arial" panose="020B0604020202020204" pitchFamily="34" charset="0"/>
              <a:buChar char="•"/>
              <a:defRPr/>
            </a:pPr>
            <a:r>
              <a:rPr lang="en-US" sz="2200" dirty="0">
                <a:solidFill>
                  <a:srgbClr val="C00000"/>
                </a:solidFill>
                <a:latin typeface="Calibri" panose="020F0502020204030204" pitchFamily="34" charset="0"/>
                <a:cs typeface="Calibri" panose="020F0502020204030204" pitchFamily="34" charset="0"/>
              </a:rPr>
              <a:t>Short term scheduler</a:t>
            </a:r>
          </a:p>
          <a:p>
            <a:pPr marL="914400" lvl="1" indent="-342900" eaLnBrk="1" fontAlgn="auto" hangingPunct="1">
              <a:spcBef>
                <a:spcPts val="1200"/>
              </a:spcBef>
              <a:spcAft>
                <a:spcPts val="0"/>
              </a:spcAft>
              <a:buFont typeface="Arial" panose="020B0604020202020204" pitchFamily="34" charset="0"/>
              <a:buChar char="•"/>
              <a:defRPr/>
            </a:pPr>
            <a:r>
              <a:rPr lang="en-US" sz="2200" dirty="0">
                <a:solidFill>
                  <a:srgbClr val="C00000"/>
                </a:solidFill>
                <a:latin typeface="Calibri" panose="020F0502020204030204" pitchFamily="34" charset="0"/>
                <a:cs typeface="Calibri" panose="020F0502020204030204" pitchFamily="34" charset="0"/>
              </a:rPr>
              <a:t>Medium term scheduler</a:t>
            </a:r>
          </a:p>
        </p:txBody>
      </p:sp>
      <p:sp>
        <p:nvSpPr>
          <p:cNvPr id="2" name="Slide Number Placeholder 3">
            <a:extLst>
              <a:ext uri="{FF2B5EF4-FFF2-40B4-BE49-F238E27FC236}">
                <a16:creationId xmlns:a16="http://schemas.microsoft.com/office/drawing/2014/main" id="{AEEC48EA-87FD-D98B-01FC-227AA05BCB34}"/>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25</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304800" y="65315"/>
            <a:ext cx="8610600" cy="724351"/>
          </a:xfrm>
          <a:ln>
            <a:noFill/>
          </a:ln>
        </p:spPr>
        <p:txBody>
          <a:bodyPr>
            <a:noAutofit/>
          </a:bodyPr>
          <a:lstStyle/>
          <a:p>
            <a:r>
              <a:rPr lang="en-US" dirty="0"/>
              <a:t>Long Term Scheduler</a:t>
            </a:r>
          </a:p>
        </p:txBody>
      </p:sp>
      <p:sp>
        <p:nvSpPr>
          <p:cNvPr id="7" name="Rectangle 3"/>
          <p:cNvSpPr>
            <a:spLocks noChangeArrowheads="1"/>
          </p:cNvSpPr>
          <p:nvPr/>
        </p:nvSpPr>
        <p:spPr bwMode="auto">
          <a:xfrm>
            <a:off x="432420" y="1224826"/>
            <a:ext cx="8501743" cy="5399314"/>
          </a:xfrm>
          <a:prstGeom prst="rect">
            <a:avLst/>
          </a:prstGeom>
          <a:noFill/>
          <a:ln w="9525">
            <a:noFill/>
            <a:miter lim="800000"/>
            <a:headEnd/>
            <a:tailEnd/>
          </a:ln>
          <a:effectLst/>
        </p:spPr>
        <p:txBody>
          <a:bodyPr/>
          <a:lstStyle/>
          <a:p>
            <a:pPr marL="342900" indent="-342900">
              <a:spcBef>
                <a:spcPts val="600"/>
              </a:spcBef>
              <a:buFont typeface="Wingdings" panose="05000000000000000000" pitchFamily="2" charset="2"/>
              <a:buChar char="§"/>
            </a:pPr>
            <a:r>
              <a:rPr lang="en-US" sz="2400" b="1" dirty="0">
                <a:solidFill>
                  <a:srgbClr val="C00000"/>
                </a:solidFill>
                <a:latin typeface="Calibri" panose="020F0502020204030204" pitchFamily="34" charset="0"/>
                <a:cs typeface="Calibri" panose="020F0502020204030204" pitchFamily="34" charset="0"/>
              </a:rPr>
              <a:t>Long-term Scheduler </a:t>
            </a:r>
            <a:r>
              <a:rPr lang="en-US" sz="2400" i="1" dirty="0">
                <a:solidFill>
                  <a:srgbClr val="0070C0"/>
                </a:solidFill>
                <a:latin typeface="Calibri" panose="020F0502020204030204" pitchFamily="34" charset="0"/>
                <a:cs typeface="Calibri" panose="020F0502020204030204" pitchFamily="34" charset="0"/>
              </a:rPr>
              <a:t>(job scheduler) </a:t>
            </a:r>
          </a:p>
          <a:p>
            <a:pPr marL="800100" lvl="1" indent="-342900">
              <a:spcBef>
                <a:spcPts val="600"/>
              </a:spcBef>
              <a:buFont typeface="Arial" pitchFamily="34" charset="0"/>
              <a:buChar char="•"/>
            </a:pPr>
            <a:r>
              <a:rPr lang="en-US" sz="2100" dirty="0">
                <a:latin typeface="Calibri" panose="020F0502020204030204" pitchFamily="34" charset="0"/>
                <a:cs typeface="Calibri" panose="020F0502020204030204" pitchFamily="34" charset="0"/>
              </a:rPr>
              <a:t>selects processes from job queue  	</a:t>
            </a:r>
            <a:r>
              <a:rPr lang="en-US" sz="2100" i="1" dirty="0">
                <a:latin typeface="Calibri" panose="020F0502020204030204" pitchFamily="34" charset="0"/>
                <a:cs typeface="Calibri" panose="020F0502020204030204" pitchFamily="34" charset="0"/>
              </a:rPr>
              <a:t>(processes spooled on hard disk)</a:t>
            </a:r>
          </a:p>
          <a:p>
            <a:pPr marL="800100" lvl="1" indent="-342900">
              <a:spcBef>
                <a:spcPts val="600"/>
              </a:spcBef>
              <a:buFont typeface="Arial" pitchFamily="34" charset="0"/>
              <a:buChar char="•"/>
            </a:pPr>
            <a:r>
              <a:rPr lang="en-US" sz="2100" dirty="0">
                <a:latin typeface="Calibri" panose="020F0502020204030204" pitchFamily="34" charset="0"/>
                <a:cs typeface="Calibri" panose="020F0502020204030204" pitchFamily="34" charset="0"/>
              </a:rPr>
              <a:t>brings into ready queue  		</a:t>
            </a:r>
            <a:r>
              <a:rPr lang="en-US" sz="2100" i="1" dirty="0">
                <a:latin typeface="Calibri" panose="020F0502020204030204" pitchFamily="34" charset="0"/>
                <a:cs typeface="Calibri" panose="020F0502020204030204" pitchFamily="34" charset="0"/>
              </a:rPr>
              <a:t>(inside main memory)</a:t>
            </a:r>
          </a:p>
          <a:p>
            <a:pPr marL="342900" indent="-342900">
              <a:spcBef>
                <a:spcPts val="1800"/>
              </a:spcBef>
              <a:buFont typeface="Wingdings" panose="05000000000000000000" pitchFamily="2" charset="2"/>
              <a:buChar char="§"/>
            </a:pPr>
            <a:r>
              <a:rPr lang="en-US" sz="2400" dirty="0">
                <a:latin typeface="Calibri" panose="020F0502020204030204" pitchFamily="34" charset="0"/>
                <a:cs typeface="Calibri" panose="020F0502020204030204" pitchFamily="34" charset="0"/>
                <a:sym typeface="Symbol" pitchFamily="18" charset="2"/>
              </a:rPr>
              <a:t>Used mainly in </a:t>
            </a:r>
            <a:r>
              <a:rPr lang="en-US" sz="2400" dirty="0">
                <a:solidFill>
                  <a:srgbClr val="C00000"/>
                </a:solidFill>
                <a:latin typeface="Calibri" panose="020F0502020204030204" pitchFamily="34" charset="0"/>
                <a:cs typeface="Calibri" panose="020F0502020204030204" pitchFamily="34" charset="0"/>
                <a:sym typeface="Symbol" pitchFamily="18" charset="2"/>
              </a:rPr>
              <a:t>batch systems</a:t>
            </a:r>
          </a:p>
          <a:p>
            <a:pPr marL="800100" lvl="1" indent="-342900">
              <a:spcBef>
                <a:spcPts val="600"/>
              </a:spcBef>
              <a:buFont typeface="Arial" pitchFamily="34" charset="0"/>
              <a:buChar char="•"/>
            </a:pPr>
            <a:r>
              <a:rPr lang="en-US" sz="2100" dirty="0">
                <a:latin typeface="Calibri" panose="020F0502020204030204" pitchFamily="34" charset="0"/>
                <a:cs typeface="Calibri" panose="020F0502020204030204" pitchFamily="34" charset="0"/>
                <a:sym typeface="Symbol" pitchFamily="18" charset="2"/>
              </a:rPr>
              <a:t>timesharing OS has no long-term scheduler</a:t>
            </a:r>
          </a:p>
          <a:p>
            <a:pPr marL="342900" indent="-342900">
              <a:spcBef>
                <a:spcPts val="1800"/>
              </a:spcBef>
              <a:buFont typeface="Wingdings" panose="05000000000000000000" pitchFamily="2" charset="2"/>
              <a:buChar char="§"/>
            </a:pPr>
            <a:r>
              <a:rPr lang="en-US" sz="2400" dirty="0">
                <a:latin typeface="Calibri" panose="020F0502020204030204" pitchFamily="34" charset="0"/>
                <a:cs typeface="Calibri" panose="020F0502020204030204" pitchFamily="34" charset="0"/>
                <a:sym typeface="Symbol" pitchFamily="18" charset="2"/>
              </a:rPr>
              <a:t>Long-term scheduler invoked </a:t>
            </a:r>
            <a:r>
              <a:rPr lang="en-US" sz="2400" dirty="0">
                <a:solidFill>
                  <a:srgbClr val="C00000"/>
                </a:solidFill>
                <a:latin typeface="Calibri" panose="020F0502020204030204" pitchFamily="34" charset="0"/>
                <a:cs typeface="Calibri" panose="020F0502020204030204" pitchFamily="34" charset="0"/>
                <a:sym typeface="Symbol" pitchFamily="18" charset="2"/>
              </a:rPr>
              <a:t>infrequently</a:t>
            </a:r>
            <a:r>
              <a:rPr lang="en-US" sz="2400" dirty="0">
                <a:latin typeface="Calibri" panose="020F0502020204030204" pitchFamily="34" charset="0"/>
                <a:cs typeface="Calibri" panose="020F0502020204030204" pitchFamily="34" charset="0"/>
                <a:sym typeface="Symbol" pitchFamily="18" charset="2"/>
              </a:rPr>
              <a:t> </a:t>
            </a:r>
            <a:r>
              <a:rPr lang="en-US" sz="2200" i="1" dirty="0">
                <a:latin typeface="Calibri" panose="020F0502020204030204" pitchFamily="34" charset="0"/>
                <a:cs typeface="Calibri" panose="020F0502020204030204" pitchFamily="34" charset="0"/>
                <a:sym typeface="Symbol" pitchFamily="18" charset="2"/>
              </a:rPr>
              <a:t>(secs, mins)</a:t>
            </a:r>
          </a:p>
          <a:p>
            <a:pPr marL="800100" lvl="1" indent="-342900">
              <a:spcBef>
                <a:spcPts val="600"/>
              </a:spcBef>
              <a:buFont typeface="Arial" pitchFamily="34" charset="0"/>
              <a:buChar char="•"/>
            </a:pPr>
            <a:r>
              <a:rPr lang="en-US" sz="2100" dirty="0">
                <a:latin typeface="Calibri" panose="020F0502020204030204" pitchFamily="34" charset="0"/>
                <a:cs typeface="Calibri" panose="020F0502020204030204" pitchFamily="34" charset="0"/>
              </a:rPr>
              <a:t>batch jobs run for long time – new jobs less frequent</a:t>
            </a:r>
          </a:p>
          <a:p>
            <a:pPr marL="800100" lvl="1" indent="-342900">
              <a:spcBef>
                <a:spcPts val="600"/>
              </a:spcBef>
              <a:buFont typeface="Arial" pitchFamily="34" charset="0"/>
              <a:buChar char="•"/>
            </a:pPr>
            <a:r>
              <a:rPr lang="en-US" sz="2100" dirty="0">
                <a:solidFill>
                  <a:srgbClr val="C00000"/>
                </a:solidFill>
                <a:latin typeface="Calibri" panose="020F0502020204030204" pitchFamily="34" charset="0"/>
                <a:cs typeface="Calibri" panose="020F0502020204030204" pitchFamily="34" charset="0"/>
              </a:rPr>
              <a:t>high overhead </a:t>
            </a:r>
            <a:r>
              <a:rPr lang="en-US" sz="2100" dirty="0">
                <a:latin typeface="Calibri" panose="020F0502020204030204" pitchFamily="34" charset="0"/>
                <a:cs typeface="Calibri" panose="020F0502020204030204" pitchFamily="34" charset="0"/>
              </a:rPr>
              <a:t>to load jobs from disk to memory</a:t>
            </a:r>
            <a:endParaRPr lang="en-US" sz="2100" dirty="0">
              <a:latin typeface="Calibri" panose="020F0502020204030204" pitchFamily="34" charset="0"/>
              <a:cs typeface="Calibri" panose="020F0502020204030204" pitchFamily="34" charset="0"/>
              <a:sym typeface="Symbol" pitchFamily="18" charset="2"/>
            </a:endParaRPr>
          </a:p>
          <a:p>
            <a:pPr marL="342900" indent="-342900">
              <a:spcBef>
                <a:spcPts val="1800"/>
              </a:spcBef>
              <a:buFont typeface="Wingdings" panose="05000000000000000000" pitchFamily="2" charset="2"/>
              <a:buChar char="§"/>
            </a:pPr>
            <a:r>
              <a:rPr lang="en-US" sz="2400" dirty="0">
                <a:latin typeface="Calibri" panose="020F0502020204030204" pitchFamily="34" charset="0"/>
                <a:cs typeface="Calibri" panose="020F0502020204030204" pitchFamily="34" charset="0"/>
                <a:sym typeface="Symbol" pitchFamily="18" charset="2"/>
              </a:rPr>
              <a:t>Long-term scheduler controls </a:t>
            </a:r>
            <a:r>
              <a:rPr lang="en-US" sz="2400" dirty="0">
                <a:solidFill>
                  <a:srgbClr val="C00000"/>
                </a:solidFill>
                <a:latin typeface="Calibri" panose="020F0502020204030204" pitchFamily="34" charset="0"/>
                <a:cs typeface="Calibri" panose="020F0502020204030204" pitchFamily="34" charset="0"/>
                <a:sym typeface="Symbol" pitchFamily="18" charset="2"/>
              </a:rPr>
              <a:t>degree of multiprogramming</a:t>
            </a:r>
          </a:p>
          <a:p>
            <a:pPr marL="800100" lvl="1" indent="-342900">
              <a:spcBef>
                <a:spcPts val="600"/>
              </a:spcBef>
              <a:buFont typeface="Arial" pitchFamily="34" charset="0"/>
              <a:buChar char="•"/>
            </a:pPr>
            <a:r>
              <a:rPr lang="en-US" sz="2100" dirty="0">
                <a:latin typeface="Calibri" panose="020F0502020204030204" pitchFamily="34" charset="0"/>
                <a:cs typeface="Calibri" panose="020F0502020204030204" pitchFamily="34" charset="0"/>
              </a:rPr>
              <a:t>how many jobs are resident in memory – </a:t>
            </a:r>
            <a:r>
              <a:rPr lang="en-US" sz="2100" i="1" dirty="0">
                <a:latin typeface="Calibri" panose="020F0502020204030204" pitchFamily="34" charset="0"/>
                <a:cs typeface="Calibri" panose="020F0502020204030204" pitchFamily="34" charset="0"/>
              </a:rPr>
              <a:t>memory size</a:t>
            </a:r>
          </a:p>
        </p:txBody>
      </p:sp>
      <p:sp>
        <p:nvSpPr>
          <p:cNvPr id="2" name="Slide Number Placeholder 3">
            <a:extLst>
              <a:ext uri="{FF2B5EF4-FFF2-40B4-BE49-F238E27FC236}">
                <a16:creationId xmlns:a16="http://schemas.microsoft.com/office/drawing/2014/main" id="{72D7AE69-8EE5-36AB-01C3-7F75E23CE427}"/>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26</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99457" y="0"/>
            <a:ext cx="7348583" cy="762000"/>
          </a:xfrm>
        </p:spPr>
        <p:txBody>
          <a:bodyPr>
            <a:noAutofit/>
          </a:bodyPr>
          <a:lstStyle/>
          <a:p>
            <a:r>
              <a:rPr lang="en-US" dirty="0"/>
              <a:t>Process Types</a:t>
            </a:r>
          </a:p>
        </p:txBody>
      </p:sp>
      <p:sp>
        <p:nvSpPr>
          <p:cNvPr id="7" name="Rectangle 3"/>
          <p:cNvSpPr txBox="1">
            <a:spLocks noChangeArrowheads="1"/>
          </p:cNvSpPr>
          <p:nvPr/>
        </p:nvSpPr>
        <p:spPr>
          <a:xfrm>
            <a:off x="346892" y="4049796"/>
            <a:ext cx="8675914" cy="1554272"/>
          </a:xfrm>
          <a:prstGeom prst="rect">
            <a:avLst/>
          </a:prstGeom>
        </p:spPr>
        <p:txBody>
          <a:bodyPr vert="horz" lIns="91440" tIns="45720" rIns="91440" bIns="45720" rtlCol="0">
            <a:noAutofit/>
          </a:bodyPr>
          <a:lstStyle/>
          <a:p>
            <a:pPr marL="347663" indent="-347663" eaLnBrk="1" fontAlgn="auto" hangingPunct="1">
              <a:spcBef>
                <a:spcPts val="600"/>
              </a:spcBef>
              <a:spcAft>
                <a:spcPts val="0"/>
              </a:spcAft>
              <a:buFont typeface="Wingdings" panose="05000000000000000000" pitchFamily="2" charset="2"/>
              <a:buChar char="§"/>
              <a:defRPr/>
            </a:pPr>
            <a:r>
              <a:rPr lang="en-US" sz="2400" b="1" dirty="0">
                <a:solidFill>
                  <a:srgbClr val="0070C0"/>
                </a:solidFill>
                <a:latin typeface="Calibri" panose="020F0502020204030204" pitchFamily="34" charset="0"/>
                <a:cs typeface="Calibri" panose="020F0502020204030204" pitchFamily="34" charset="0"/>
                <a:sym typeface="Symbol" pitchFamily="18" charset="2"/>
              </a:rPr>
              <a:t>I/O B</a:t>
            </a:r>
            <a:r>
              <a:rPr kumimoji="0" lang="en-US" sz="2400" b="1" u="none"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Symbol" pitchFamily="18" charset="2"/>
              </a:rPr>
              <a:t>ound</a:t>
            </a:r>
            <a:r>
              <a:rPr kumimoji="0" lang="en-US" sz="2400" b="1"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Symbol" pitchFamily="18" charset="2"/>
              </a:rPr>
              <a:t> </a:t>
            </a:r>
            <a:r>
              <a:rPr lang="en-US" sz="2400" b="1" dirty="0">
                <a:solidFill>
                  <a:srgbClr val="0070C0"/>
                </a:solidFill>
                <a:latin typeface="Calibri" panose="020F0502020204030204" pitchFamily="34" charset="0"/>
                <a:cs typeface="Calibri" panose="020F0502020204030204" pitchFamily="34" charset="0"/>
                <a:sym typeface="Symbol" pitchFamily="18" charset="2"/>
              </a:rPr>
              <a:t>P</a:t>
            </a:r>
            <a:r>
              <a:rPr kumimoji="0" lang="en-US" sz="2400" b="1" u="none"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Symbol" pitchFamily="18" charset="2"/>
              </a:rPr>
              <a:t>rocess</a:t>
            </a:r>
            <a:r>
              <a:rPr kumimoji="0" lang="en-US" sz="2400" b="1"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Symbol" pitchFamily="18" charset="2"/>
              </a:rPr>
              <a:t> </a:t>
            </a:r>
            <a:r>
              <a:rPr kumimoji="0" lang="en-US" sz="2400" b="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Symbol" pitchFamily="18" charset="2"/>
              </a:rPr>
              <a:t>  </a:t>
            </a:r>
            <a:endParaRPr lang="en-US" sz="2300" dirty="0">
              <a:latin typeface="Calibri" panose="020F0502020204030204" pitchFamily="34" charset="0"/>
              <a:cs typeface="Calibri" panose="020F0502020204030204" pitchFamily="34" charset="0"/>
              <a:sym typeface="Symbol" pitchFamily="18" charset="2"/>
            </a:endParaRPr>
          </a:p>
          <a:p>
            <a:pPr marL="690563" indent="-342900" eaLnBrk="1" fontAlgn="auto" hangingPunct="1">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sym typeface="Symbol" pitchFamily="18" charset="2"/>
              </a:rPr>
              <a:t>spends more time on I/O  –  </a:t>
            </a:r>
            <a:r>
              <a:rPr lang="en-US" sz="2100" i="1" dirty="0">
                <a:solidFill>
                  <a:srgbClr val="0070C0"/>
                </a:solidFill>
                <a:latin typeface="Calibri" panose="020F0502020204030204" pitchFamily="34" charset="0"/>
                <a:cs typeface="Calibri" panose="020F0502020204030204" pitchFamily="34" charset="0"/>
                <a:sym typeface="Symbol" pitchFamily="18" charset="2"/>
              </a:rPr>
              <a:t>Short CPU bursts </a:t>
            </a:r>
          </a:p>
          <a:p>
            <a:pPr marL="690563" indent="-342900" eaLnBrk="1" fontAlgn="auto" hangingPunct="1">
              <a:spcBef>
                <a:spcPts val="600"/>
              </a:spcBef>
              <a:spcAft>
                <a:spcPts val="0"/>
              </a:spcAft>
              <a:buFont typeface="Arial" panose="020B0604020202020204" pitchFamily="34" charset="0"/>
              <a:buChar char="•"/>
              <a:defRPr/>
            </a:pPr>
            <a:r>
              <a:rPr lang="en-US" sz="2100" dirty="0">
                <a:latin typeface="Calibri" panose="020F0502020204030204" pitchFamily="34" charset="0"/>
                <a:cs typeface="Calibri" panose="020F0502020204030204" pitchFamily="34" charset="0"/>
                <a:sym typeface="Symbol" pitchFamily="18" charset="2"/>
              </a:rPr>
              <a:t>copy large files, streaming media Apps, billing system having printing</a:t>
            </a:r>
          </a:p>
        </p:txBody>
      </p:sp>
      <p:grpSp>
        <p:nvGrpSpPr>
          <p:cNvPr id="9" name="Group 4"/>
          <p:cNvGrpSpPr>
            <a:grpSpLocks/>
          </p:cNvGrpSpPr>
          <p:nvPr/>
        </p:nvGrpSpPr>
        <p:grpSpPr bwMode="auto">
          <a:xfrm>
            <a:off x="1164091" y="5501877"/>
            <a:ext cx="7424738" cy="395288"/>
            <a:chOff x="768" y="2103"/>
            <a:chExt cx="4677" cy="249"/>
          </a:xfrm>
        </p:grpSpPr>
        <p:sp>
          <p:nvSpPr>
            <p:cNvPr id="10" name="Rectangle 5"/>
            <p:cNvSpPr>
              <a:spLocks noChangeArrowheads="1"/>
            </p:cNvSpPr>
            <p:nvPr/>
          </p:nvSpPr>
          <p:spPr bwMode="auto">
            <a:xfrm>
              <a:off x="768" y="2103"/>
              <a:ext cx="1705" cy="249"/>
            </a:xfrm>
            <a:prstGeom prst="rect">
              <a:avLst/>
            </a:prstGeom>
            <a:solidFill>
              <a:schemeClr val="accent1"/>
            </a:solidFill>
            <a:ln w="9525">
              <a:solidFill>
                <a:schemeClr val="tx1"/>
              </a:solidFill>
              <a:miter lim="800000"/>
              <a:headEnd/>
              <a:tailEnd/>
            </a:ln>
            <a:effectLst/>
          </p:spPr>
          <p:txBody>
            <a:bodyPr wrap="none" anchor="ctr"/>
            <a:lstStyle/>
            <a:p>
              <a:pPr eaLnBrk="0" hangingPunct="0"/>
              <a:r>
                <a:rPr lang="en-US" dirty="0">
                  <a:latin typeface="Comic Sans MS" pitchFamily="66" charset="0"/>
                </a:rPr>
                <a:t>      </a:t>
              </a:r>
              <a:r>
                <a:rPr lang="en-US" b="1" dirty="0">
                  <a:latin typeface="Comic Sans MS" pitchFamily="66" charset="0"/>
                </a:rPr>
                <a:t>I/O Burst</a:t>
              </a:r>
            </a:p>
          </p:txBody>
        </p:sp>
        <p:sp>
          <p:nvSpPr>
            <p:cNvPr id="11" name="Rectangle 6"/>
            <p:cNvSpPr>
              <a:spLocks noChangeArrowheads="1"/>
            </p:cNvSpPr>
            <p:nvPr/>
          </p:nvSpPr>
          <p:spPr bwMode="auto">
            <a:xfrm>
              <a:off x="2473" y="2103"/>
              <a:ext cx="743" cy="249"/>
            </a:xfrm>
            <a:prstGeom prst="rect">
              <a:avLst/>
            </a:prstGeom>
            <a:solidFill>
              <a:schemeClr val="hlink"/>
            </a:solidFill>
            <a:ln w="9525">
              <a:solidFill>
                <a:schemeClr val="tx1"/>
              </a:solidFill>
              <a:miter lim="800000"/>
              <a:headEnd/>
              <a:tailEnd/>
            </a:ln>
            <a:effectLst/>
          </p:spPr>
          <p:txBody>
            <a:bodyPr wrap="none" anchor="ctr"/>
            <a:lstStyle/>
            <a:p>
              <a:pPr algn="ctr" eaLnBrk="0" hangingPunct="0"/>
              <a:r>
                <a:rPr lang="en-US" b="1" dirty="0">
                  <a:latin typeface="Comic Sans MS" pitchFamily="66" charset="0"/>
                </a:rPr>
                <a:t>CPU Burst</a:t>
              </a:r>
            </a:p>
          </p:txBody>
        </p:sp>
        <p:sp>
          <p:nvSpPr>
            <p:cNvPr id="12" name="Rectangle 7"/>
            <p:cNvSpPr>
              <a:spLocks noChangeArrowheads="1"/>
            </p:cNvSpPr>
            <p:nvPr/>
          </p:nvSpPr>
          <p:spPr bwMode="auto">
            <a:xfrm>
              <a:off x="3216" y="2112"/>
              <a:ext cx="1728" cy="240"/>
            </a:xfrm>
            <a:prstGeom prst="rect">
              <a:avLst/>
            </a:prstGeom>
            <a:solidFill>
              <a:schemeClr val="accent1"/>
            </a:solidFill>
            <a:ln w="9525">
              <a:solidFill>
                <a:schemeClr val="tx1"/>
              </a:solidFill>
              <a:miter lim="800000"/>
              <a:headEnd/>
              <a:tailEnd/>
            </a:ln>
            <a:effectLst/>
          </p:spPr>
          <p:txBody>
            <a:bodyPr wrap="none" anchor="ctr"/>
            <a:lstStyle/>
            <a:p>
              <a:pPr eaLnBrk="0" hangingPunct="0"/>
              <a:r>
                <a:rPr lang="en-US">
                  <a:latin typeface="Comic Sans MS" pitchFamily="66" charset="0"/>
                </a:rPr>
                <a:t>      </a:t>
              </a:r>
              <a:r>
                <a:rPr lang="en-US" b="1">
                  <a:latin typeface="Comic Sans MS" pitchFamily="66" charset="0"/>
                </a:rPr>
                <a:t>I/O Burst</a:t>
              </a:r>
            </a:p>
          </p:txBody>
        </p:sp>
        <p:sp>
          <p:nvSpPr>
            <p:cNvPr id="13" name="Rectangle 8"/>
            <p:cNvSpPr>
              <a:spLocks noChangeArrowheads="1"/>
            </p:cNvSpPr>
            <p:nvPr/>
          </p:nvSpPr>
          <p:spPr bwMode="auto">
            <a:xfrm>
              <a:off x="4704" y="2112"/>
              <a:ext cx="741" cy="240"/>
            </a:xfrm>
            <a:prstGeom prst="rect">
              <a:avLst/>
            </a:prstGeom>
            <a:solidFill>
              <a:schemeClr val="hlink"/>
            </a:solidFill>
            <a:ln w="9525">
              <a:solidFill>
                <a:schemeClr val="tx1"/>
              </a:solidFill>
              <a:miter lim="800000"/>
              <a:headEnd/>
              <a:tailEnd/>
            </a:ln>
            <a:effectLst/>
          </p:spPr>
          <p:txBody>
            <a:bodyPr wrap="none" anchor="ctr"/>
            <a:lstStyle/>
            <a:p>
              <a:pPr algn="ctr" eaLnBrk="0" hangingPunct="0"/>
              <a:r>
                <a:rPr lang="en-US" b="1" dirty="0">
                  <a:latin typeface="Comic Sans MS" pitchFamily="66" charset="0"/>
                </a:rPr>
                <a:t>CPU Burst</a:t>
              </a:r>
            </a:p>
          </p:txBody>
        </p:sp>
      </p:grpSp>
      <p:sp>
        <p:nvSpPr>
          <p:cNvPr id="2" name="Slide Number Placeholder 3">
            <a:extLst>
              <a:ext uri="{FF2B5EF4-FFF2-40B4-BE49-F238E27FC236}">
                <a16:creationId xmlns:a16="http://schemas.microsoft.com/office/drawing/2014/main" id="{F25A65E5-6BD2-1951-192C-96B5F6B5B9A3}"/>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27</a:t>
            </a:fld>
            <a:endParaRPr lang="en-US" altLang="en-US" sz="1400" dirty="0">
              <a:solidFill>
                <a:schemeClr val="tx1"/>
              </a:solidFill>
              <a:latin typeface="Tahoma" panose="020B0604030504040204" pitchFamily="34" charset="0"/>
              <a:ea typeface="MS PGothic" panose="020B0600070205080204" pitchFamily="34" charset="-128"/>
            </a:endParaRPr>
          </a:p>
        </p:txBody>
      </p:sp>
      <p:grpSp>
        <p:nvGrpSpPr>
          <p:cNvPr id="14" name="Group 13">
            <a:extLst>
              <a:ext uri="{FF2B5EF4-FFF2-40B4-BE49-F238E27FC236}">
                <a16:creationId xmlns:a16="http://schemas.microsoft.com/office/drawing/2014/main" id="{8EF99F0A-44DC-0120-3884-84EFDD6F354E}"/>
              </a:ext>
            </a:extLst>
          </p:cNvPr>
          <p:cNvGrpSpPr/>
          <p:nvPr/>
        </p:nvGrpSpPr>
        <p:grpSpPr>
          <a:xfrm>
            <a:off x="1205410" y="3181688"/>
            <a:ext cx="7252790" cy="392131"/>
            <a:chOff x="1113970" y="3200400"/>
            <a:chExt cx="7252790" cy="392131"/>
          </a:xfrm>
        </p:grpSpPr>
        <p:grpSp>
          <p:nvGrpSpPr>
            <p:cNvPr id="4" name="Group 10">
              <a:extLst>
                <a:ext uri="{FF2B5EF4-FFF2-40B4-BE49-F238E27FC236}">
                  <a16:creationId xmlns:a16="http://schemas.microsoft.com/office/drawing/2014/main" id="{312799FF-243F-D926-30F2-D420B73280AF}"/>
                </a:ext>
              </a:extLst>
            </p:cNvPr>
            <p:cNvGrpSpPr>
              <a:grpSpLocks/>
            </p:cNvGrpSpPr>
            <p:nvPr/>
          </p:nvGrpSpPr>
          <p:grpSpPr bwMode="auto">
            <a:xfrm>
              <a:off x="1127760" y="3200400"/>
              <a:ext cx="7239000" cy="381000"/>
              <a:chOff x="768" y="3360"/>
              <a:chExt cx="4560" cy="240"/>
            </a:xfrm>
          </p:grpSpPr>
          <p:sp>
            <p:nvSpPr>
              <p:cNvPr id="5" name="Rectangle 11">
                <a:extLst>
                  <a:ext uri="{FF2B5EF4-FFF2-40B4-BE49-F238E27FC236}">
                    <a16:creationId xmlns:a16="http://schemas.microsoft.com/office/drawing/2014/main" id="{61A3AFD4-CFB7-20DB-2BAF-CC57CEB5F36B}"/>
                  </a:ext>
                </a:extLst>
              </p:cNvPr>
              <p:cNvSpPr>
                <a:spLocks noChangeArrowheads="1"/>
              </p:cNvSpPr>
              <p:nvPr/>
            </p:nvSpPr>
            <p:spPr bwMode="auto">
              <a:xfrm>
                <a:off x="768" y="3360"/>
                <a:ext cx="1632" cy="240"/>
              </a:xfrm>
              <a:prstGeom prst="rect">
                <a:avLst/>
              </a:prstGeom>
              <a:solidFill>
                <a:schemeClr val="hlink"/>
              </a:solidFill>
              <a:ln w="9525">
                <a:solidFill>
                  <a:srgbClr val="FFFF66"/>
                </a:solidFill>
                <a:miter lim="800000"/>
                <a:headEnd/>
                <a:tailEnd/>
              </a:ln>
              <a:effectLst/>
            </p:spPr>
            <p:txBody>
              <a:bodyPr wrap="none" anchor="ctr"/>
              <a:lstStyle/>
              <a:p>
                <a:pPr algn="ctr" eaLnBrk="0" hangingPunct="0"/>
                <a:r>
                  <a:rPr lang="en-US" b="1">
                    <a:latin typeface="Comic Sans MS" pitchFamily="66" charset="0"/>
                  </a:rPr>
                  <a:t>CPU Burst</a:t>
                </a:r>
              </a:p>
            </p:txBody>
          </p:sp>
          <p:sp>
            <p:nvSpPr>
              <p:cNvPr id="6" name="Rectangle 12">
                <a:extLst>
                  <a:ext uri="{FF2B5EF4-FFF2-40B4-BE49-F238E27FC236}">
                    <a16:creationId xmlns:a16="http://schemas.microsoft.com/office/drawing/2014/main" id="{A6CD5ACF-5AF1-96A7-C70B-5FE2A88F2745}"/>
                  </a:ext>
                </a:extLst>
              </p:cNvPr>
              <p:cNvSpPr>
                <a:spLocks noChangeArrowheads="1"/>
              </p:cNvSpPr>
              <p:nvPr/>
            </p:nvSpPr>
            <p:spPr bwMode="auto">
              <a:xfrm>
                <a:off x="2400" y="3360"/>
                <a:ext cx="432" cy="240"/>
              </a:xfrm>
              <a:prstGeom prst="rect">
                <a:avLst/>
              </a:prstGeom>
              <a:solidFill>
                <a:schemeClr val="accent1"/>
              </a:solidFill>
              <a:ln w="9525">
                <a:solidFill>
                  <a:srgbClr val="FFFF66"/>
                </a:solidFill>
                <a:miter lim="800000"/>
                <a:headEnd/>
                <a:tailEnd/>
              </a:ln>
              <a:effectLst/>
            </p:spPr>
            <p:txBody>
              <a:bodyPr wrap="none" anchor="ctr"/>
              <a:lstStyle/>
              <a:p>
                <a:pPr eaLnBrk="0" hangingPunct="0"/>
                <a:r>
                  <a:rPr lang="en-US">
                    <a:latin typeface="Comic Sans MS" pitchFamily="66" charset="0"/>
                  </a:rPr>
                  <a:t> </a:t>
                </a:r>
                <a:r>
                  <a:rPr lang="en-US" b="1">
                    <a:latin typeface="Comic Sans MS" pitchFamily="66" charset="0"/>
                  </a:rPr>
                  <a:t>I/O</a:t>
                </a:r>
                <a:r>
                  <a:rPr lang="en-US">
                    <a:latin typeface="Comic Sans MS" pitchFamily="66" charset="0"/>
                  </a:rPr>
                  <a:t> </a:t>
                </a:r>
              </a:p>
            </p:txBody>
          </p:sp>
          <p:sp>
            <p:nvSpPr>
              <p:cNvPr id="16" name="Rectangle 13">
                <a:extLst>
                  <a:ext uri="{FF2B5EF4-FFF2-40B4-BE49-F238E27FC236}">
                    <a16:creationId xmlns:a16="http://schemas.microsoft.com/office/drawing/2014/main" id="{4F6F33EE-50CD-C447-C99C-ED7CD6484F75}"/>
                  </a:ext>
                </a:extLst>
              </p:cNvPr>
              <p:cNvSpPr>
                <a:spLocks noChangeArrowheads="1"/>
              </p:cNvSpPr>
              <p:nvPr/>
            </p:nvSpPr>
            <p:spPr bwMode="auto">
              <a:xfrm>
                <a:off x="2832" y="3360"/>
                <a:ext cx="2064" cy="240"/>
              </a:xfrm>
              <a:prstGeom prst="rect">
                <a:avLst/>
              </a:prstGeom>
              <a:solidFill>
                <a:schemeClr val="hlink"/>
              </a:solidFill>
              <a:ln w="9525">
                <a:solidFill>
                  <a:srgbClr val="FFFF66"/>
                </a:solidFill>
                <a:miter lim="800000"/>
                <a:headEnd/>
                <a:tailEnd/>
              </a:ln>
              <a:effectLst/>
            </p:spPr>
            <p:txBody>
              <a:bodyPr wrap="none" anchor="ctr"/>
              <a:lstStyle/>
              <a:p>
                <a:pPr algn="ctr" eaLnBrk="0" hangingPunct="0"/>
                <a:r>
                  <a:rPr lang="en-US" b="1">
                    <a:latin typeface="Comic Sans MS" pitchFamily="66" charset="0"/>
                  </a:rPr>
                  <a:t>CPU Burst</a:t>
                </a:r>
              </a:p>
            </p:txBody>
          </p:sp>
          <p:sp>
            <p:nvSpPr>
              <p:cNvPr id="21" name="Rectangle 14">
                <a:extLst>
                  <a:ext uri="{FF2B5EF4-FFF2-40B4-BE49-F238E27FC236}">
                    <a16:creationId xmlns:a16="http://schemas.microsoft.com/office/drawing/2014/main" id="{789F6631-E20C-E5CC-9AA8-7CC6825B28C2}"/>
                  </a:ext>
                </a:extLst>
              </p:cNvPr>
              <p:cNvSpPr>
                <a:spLocks noChangeArrowheads="1"/>
              </p:cNvSpPr>
              <p:nvPr/>
            </p:nvSpPr>
            <p:spPr bwMode="auto">
              <a:xfrm>
                <a:off x="4896" y="3360"/>
                <a:ext cx="432" cy="240"/>
              </a:xfrm>
              <a:prstGeom prst="rect">
                <a:avLst/>
              </a:prstGeom>
              <a:solidFill>
                <a:schemeClr val="accent1"/>
              </a:solidFill>
              <a:ln w="9525">
                <a:solidFill>
                  <a:srgbClr val="FFFF66"/>
                </a:solidFill>
                <a:miter lim="800000"/>
                <a:headEnd/>
                <a:tailEnd/>
              </a:ln>
              <a:effectLst/>
            </p:spPr>
            <p:txBody>
              <a:bodyPr wrap="none" anchor="ctr"/>
              <a:lstStyle/>
              <a:p>
                <a:pPr eaLnBrk="0" hangingPunct="0"/>
                <a:r>
                  <a:rPr lang="en-US">
                    <a:latin typeface="Comic Sans MS" pitchFamily="66" charset="0"/>
                  </a:rPr>
                  <a:t> </a:t>
                </a:r>
                <a:r>
                  <a:rPr lang="en-US" b="1">
                    <a:latin typeface="Comic Sans MS" pitchFamily="66" charset="0"/>
                  </a:rPr>
                  <a:t>I/O</a:t>
                </a:r>
                <a:r>
                  <a:rPr lang="en-US">
                    <a:latin typeface="Comic Sans MS" pitchFamily="66" charset="0"/>
                  </a:rPr>
                  <a:t> </a:t>
                </a:r>
              </a:p>
            </p:txBody>
          </p:sp>
        </p:grpSp>
        <p:sp>
          <p:nvSpPr>
            <p:cNvPr id="3" name="Text Box 9">
              <a:extLst>
                <a:ext uri="{FF2B5EF4-FFF2-40B4-BE49-F238E27FC236}">
                  <a16:creationId xmlns:a16="http://schemas.microsoft.com/office/drawing/2014/main" id="{D5121CBC-4DD1-1E01-2F52-D87D850E1D9E}"/>
                </a:ext>
              </a:extLst>
            </p:cNvPr>
            <p:cNvSpPr txBox="1">
              <a:spLocks noChangeArrowheads="1"/>
            </p:cNvSpPr>
            <p:nvPr/>
          </p:nvSpPr>
          <p:spPr bwMode="auto">
            <a:xfrm>
              <a:off x="1113970" y="3211531"/>
              <a:ext cx="7239000" cy="381000"/>
            </a:xfrm>
            <a:prstGeom prst="rect">
              <a:avLst/>
            </a:prstGeom>
            <a:noFill/>
            <a:ln w="9525">
              <a:solidFill>
                <a:schemeClr val="tx1"/>
              </a:solidFill>
              <a:miter lim="800000"/>
              <a:headEnd/>
              <a:tailEnd/>
            </a:ln>
            <a:effectLst/>
          </p:spPr>
          <p:txBody>
            <a:bodyPr wrap="square">
              <a:spAutoFit/>
            </a:bodyPr>
            <a:lstStyle/>
            <a:p>
              <a:pPr eaLnBrk="0" hangingPunct="0">
                <a:spcBef>
                  <a:spcPct val="50000"/>
                </a:spcBef>
              </a:pPr>
              <a:endParaRPr lang="en-US" dirty="0">
                <a:latin typeface="Comic Sans MS" pitchFamily="66" charset="0"/>
              </a:endParaRPr>
            </a:p>
          </p:txBody>
        </p:sp>
      </p:grpSp>
      <p:sp>
        <p:nvSpPr>
          <p:cNvPr id="23" name="Text Box 17">
            <a:extLst>
              <a:ext uri="{FF2B5EF4-FFF2-40B4-BE49-F238E27FC236}">
                <a16:creationId xmlns:a16="http://schemas.microsoft.com/office/drawing/2014/main" id="{0E10973D-9BBE-0D0C-F595-DBC4574EBD9F}"/>
              </a:ext>
            </a:extLst>
          </p:cNvPr>
          <p:cNvSpPr txBox="1">
            <a:spLocks noChangeArrowheads="1"/>
          </p:cNvSpPr>
          <p:nvPr/>
        </p:nvSpPr>
        <p:spPr bwMode="auto">
          <a:xfrm>
            <a:off x="346892" y="1755287"/>
            <a:ext cx="8632371" cy="1261884"/>
          </a:xfrm>
          <a:prstGeom prst="rect">
            <a:avLst/>
          </a:prstGeom>
          <a:noFill/>
          <a:ln w="9525">
            <a:noFill/>
            <a:miter lim="800000"/>
            <a:headEnd/>
            <a:tailEnd/>
          </a:ln>
          <a:effectLst/>
        </p:spPr>
        <p:txBody>
          <a:bodyPr wrap="square">
            <a:spAutoFit/>
          </a:bodyPr>
          <a:lstStyle/>
          <a:p>
            <a:pPr marL="347663" indent="-347663">
              <a:spcBef>
                <a:spcPts val="600"/>
              </a:spcBef>
              <a:buFont typeface="Wingdings" panose="05000000000000000000" pitchFamily="2" charset="2"/>
              <a:buChar char="§"/>
            </a:pPr>
            <a:r>
              <a:rPr lang="en-US" sz="2400" b="1" dirty="0">
                <a:solidFill>
                  <a:srgbClr val="0070C0"/>
                </a:solidFill>
                <a:latin typeface="Calibri" panose="020F0502020204030204" pitchFamily="34" charset="0"/>
                <a:cs typeface="Calibri" panose="020F0502020204030204" pitchFamily="34" charset="0"/>
                <a:sym typeface="Symbol" pitchFamily="18" charset="2"/>
              </a:rPr>
              <a:t>CPU Bound Process </a:t>
            </a:r>
            <a:r>
              <a:rPr lang="en-US" sz="2400" dirty="0">
                <a:solidFill>
                  <a:srgbClr val="0070C0"/>
                </a:solidFill>
                <a:latin typeface="Calibri" panose="020F0502020204030204" pitchFamily="34" charset="0"/>
                <a:cs typeface="Calibri" panose="020F0502020204030204" pitchFamily="34" charset="0"/>
                <a:sym typeface="Symbol" pitchFamily="18" charset="2"/>
              </a:rPr>
              <a:t>  </a:t>
            </a:r>
            <a:endParaRPr lang="en-US" sz="2300" dirty="0">
              <a:latin typeface="Calibri" panose="020F0502020204030204" pitchFamily="34" charset="0"/>
              <a:cs typeface="Calibri" panose="020F0502020204030204" pitchFamily="34" charset="0"/>
              <a:sym typeface="Symbol" pitchFamily="18" charset="2"/>
            </a:endParaRPr>
          </a:p>
          <a:p>
            <a:pPr marL="690563" indent="-342900">
              <a:spcBef>
                <a:spcPts val="600"/>
              </a:spcBef>
              <a:buFont typeface="Arial" panose="020B0604020202020204" pitchFamily="34" charset="0"/>
              <a:buChar char="•"/>
            </a:pPr>
            <a:r>
              <a:rPr lang="en-US" sz="2100" dirty="0">
                <a:latin typeface="Calibri" panose="020F0502020204030204" pitchFamily="34" charset="0"/>
                <a:cs typeface="Calibri" panose="020F0502020204030204" pitchFamily="34" charset="0"/>
                <a:sym typeface="Symbol" pitchFamily="18" charset="2"/>
              </a:rPr>
              <a:t>spends more time on computations  –  </a:t>
            </a:r>
            <a:r>
              <a:rPr lang="en-US" sz="2100" i="1" dirty="0">
                <a:solidFill>
                  <a:srgbClr val="0070C0"/>
                </a:solidFill>
                <a:latin typeface="Calibri" panose="020F0502020204030204" pitchFamily="34" charset="0"/>
                <a:cs typeface="Calibri" panose="020F0502020204030204" pitchFamily="34" charset="0"/>
                <a:sym typeface="Symbol" pitchFamily="18" charset="2"/>
              </a:rPr>
              <a:t>Long CPU bursts </a:t>
            </a:r>
          </a:p>
          <a:p>
            <a:pPr marL="690563" indent="-342900">
              <a:spcBef>
                <a:spcPts val="600"/>
              </a:spcBef>
              <a:buFont typeface="Arial" panose="020B0604020202020204" pitchFamily="34" charset="0"/>
              <a:buChar char="•"/>
            </a:pPr>
            <a:r>
              <a:rPr lang="en-US" sz="2100" dirty="0">
                <a:latin typeface="Calibri" panose="020F0502020204030204" pitchFamily="34" charset="0"/>
                <a:cs typeface="Calibri" panose="020F0502020204030204" pitchFamily="34" charset="0"/>
                <a:sym typeface="Symbol" pitchFamily="18" charset="2"/>
              </a:rPr>
              <a:t>apps with mathematical computations, digital signal processing </a:t>
            </a:r>
          </a:p>
        </p:txBody>
      </p:sp>
      <p:sp>
        <p:nvSpPr>
          <p:cNvPr id="15" name="TextBox 14">
            <a:extLst>
              <a:ext uri="{FF2B5EF4-FFF2-40B4-BE49-F238E27FC236}">
                <a16:creationId xmlns:a16="http://schemas.microsoft.com/office/drawing/2014/main" id="{F0105B3E-1548-1536-5B84-23A6E393CE25}"/>
              </a:ext>
            </a:extLst>
          </p:cNvPr>
          <p:cNvSpPr txBox="1"/>
          <p:nvPr/>
        </p:nvSpPr>
        <p:spPr>
          <a:xfrm>
            <a:off x="1099456" y="1093048"/>
            <a:ext cx="6672943" cy="446276"/>
          </a:xfrm>
          <a:prstGeom prst="rect">
            <a:avLst/>
          </a:prstGeom>
          <a:noFill/>
        </p:spPr>
        <p:txBody>
          <a:bodyPr wrap="square">
            <a:spAutoFit/>
          </a:bodyPr>
          <a:lstStyle/>
          <a:p>
            <a:pPr lvl="0" algn="ctr" eaLnBrk="1" fontAlgn="auto" hangingPunct="1">
              <a:spcBef>
                <a:spcPct val="20000"/>
              </a:spcBef>
              <a:spcAft>
                <a:spcPts val="0"/>
              </a:spcAft>
              <a:defRPr/>
            </a:pPr>
            <a:r>
              <a:rPr lang="en-US" sz="2300" i="1" dirty="0">
                <a:latin typeface="Times New Roman" panose="02020603050405020304" pitchFamily="18" charset="0"/>
                <a:cs typeface="Times New Roman" panose="02020603050405020304" pitchFamily="18" charset="0"/>
              </a:rPr>
              <a:t>Process lifetime comprises  </a:t>
            </a:r>
            <a:r>
              <a:rPr lang="en-US" sz="2300" i="1" dirty="0">
                <a:solidFill>
                  <a:srgbClr val="C00000"/>
                </a:solidFill>
                <a:latin typeface="Times New Roman" panose="02020603050405020304" pitchFamily="18" charset="0"/>
                <a:cs typeface="Times New Roman" panose="02020603050405020304" pitchFamily="18" charset="0"/>
              </a:rPr>
              <a:t>CPU bursts  </a:t>
            </a:r>
            <a:r>
              <a:rPr lang="en-US" sz="2300" i="1" dirty="0">
                <a:latin typeface="Times New Roman" panose="02020603050405020304" pitchFamily="18" charset="0"/>
                <a:cs typeface="Times New Roman" panose="02020603050405020304" pitchFamily="18" charset="0"/>
              </a:rPr>
              <a:t>&amp;  </a:t>
            </a:r>
            <a:r>
              <a:rPr lang="en-US" sz="2300" i="1" dirty="0">
                <a:solidFill>
                  <a:srgbClr val="C00000"/>
                </a:solidFill>
                <a:latin typeface="Times New Roman" panose="02020603050405020304" pitchFamily="18" charset="0"/>
                <a:cs typeface="Times New Roman" panose="02020603050405020304" pitchFamily="18" charset="0"/>
              </a:rPr>
              <a:t>I/O bursts</a:t>
            </a:r>
          </a:p>
        </p:txBody>
      </p:sp>
    </p:spTree>
    <p:extLst>
      <p:ext uri="{BB962C8B-B14F-4D97-AF65-F5344CB8AC3E}">
        <p14:creationId xmlns:p14="http://schemas.microsoft.com/office/powerpoint/2010/main" val="4312192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304800" y="65315"/>
            <a:ext cx="8610600" cy="724351"/>
          </a:xfrm>
          <a:ln>
            <a:noFill/>
          </a:ln>
        </p:spPr>
        <p:txBody>
          <a:bodyPr>
            <a:noAutofit/>
          </a:bodyPr>
          <a:lstStyle/>
          <a:p>
            <a:r>
              <a:rPr lang="en-US" dirty="0"/>
              <a:t>Long Term Scheduler</a:t>
            </a:r>
          </a:p>
        </p:txBody>
      </p:sp>
      <p:sp>
        <p:nvSpPr>
          <p:cNvPr id="7" name="Rectangle 3"/>
          <p:cNvSpPr>
            <a:spLocks noChangeArrowheads="1"/>
          </p:cNvSpPr>
          <p:nvPr/>
        </p:nvSpPr>
        <p:spPr bwMode="auto">
          <a:xfrm>
            <a:off x="348340" y="1169100"/>
            <a:ext cx="8501743" cy="5328920"/>
          </a:xfrm>
          <a:prstGeom prst="rect">
            <a:avLst/>
          </a:prstGeom>
          <a:noFill/>
          <a:ln w="9525">
            <a:noFill/>
            <a:miter lim="800000"/>
            <a:headEnd/>
            <a:tailEnd/>
          </a:ln>
          <a:effectLst/>
        </p:spPr>
        <p:txBody>
          <a:bodyPr/>
          <a:lstStyle/>
          <a:p>
            <a:pPr marL="285750" indent="-285750">
              <a:spcBef>
                <a:spcPts val="600"/>
              </a:spcBef>
              <a:buFont typeface="Arial" pitchFamily="34" charset="0"/>
              <a:buChar char="•"/>
            </a:pPr>
            <a:r>
              <a:rPr lang="en-US" sz="2400" dirty="0">
                <a:latin typeface="Calibri" panose="020F0502020204030204" pitchFamily="34" charset="0"/>
                <a:cs typeface="Calibri" panose="020F0502020204030204" pitchFamily="34" charset="0"/>
                <a:sym typeface="Symbol" pitchFamily="18" charset="2"/>
              </a:rPr>
              <a:t>Long Term Scheduler must select a </a:t>
            </a:r>
            <a:r>
              <a:rPr lang="en-US" sz="2400" dirty="0">
                <a:solidFill>
                  <a:srgbClr val="C00000"/>
                </a:solidFill>
                <a:latin typeface="Calibri" panose="020F0502020204030204" pitchFamily="34" charset="0"/>
                <a:cs typeface="Calibri" panose="020F0502020204030204" pitchFamily="34" charset="0"/>
                <a:sym typeface="Symbol" pitchFamily="18" charset="2"/>
              </a:rPr>
              <a:t>good mix </a:t>
            </a:r>
            <a:r>
              <a:rPr lang="en-US" sz="2400" dirty="0">
                <a:latin typeface="Calibri" panose="020F0502020204030204" pitchFamily="34" charset="0"/>
                <a:cs typeface="Calibri" panose="020F0502020204030204" pitchFamily="34" charset="0"/>
                <a:sym typeface="Symbol" pitchFamily="18" charset="2"/>
              </a:rPr>
              <a:t>of </a:t>
            </a:r>
            <a:r>
              <a:rPr lang="en-US" sz="2400" dirty="0">
                <a:solidFill>
                  <a:srgbClr val="0070C0"/>
                </a:solidFill>
                <a:latin typeface="Calibri" panose="020F0502020204030204" pitchFamily="34" charset="0"/>
                <a:cs typeface="Calibri" panose="020F0502020204030204" pitchFamily="34" charset="0"/>
                <a:sym typeface="Symbol" pitchFamily="18" charset="2"/>
              </a:rPr>
              <a:t>I/O bound </a:t>
            </a:r>
            <a:r>
              <a:rPr lang="en-US" sz="2400" dirty="0">
                <a:latin typeface="Calibri" panose="020F0502020204030204" pitchFamily="34" charset="0"/>
                <a:cs typeface="Calibri" panose="020F0502020204030204" pitchFamily="34" charset="0"/>
                <a:sym typeface="Symbol" pitchFamily="18" charset="2"/>
              </a:rPr>
              <a:t>&amp; </a:t>
            </a:r>
            <a:br>
              <a:rPr lang="en-US" sz="2400" dirty="0">
                <a:latin typeface="Calibri" panose="020F0502020204030204" pitchFamily="34" charset="0"/>
                <a:cs typeface="Calibri" panose="020F0502020204030204" pitchFamily="34" charset="0"/>
                <a:sym typeface="Symbol" pitchFamily="18" charset="2"/>
              </a:rPr>
            </a:br>
            <a:r>
              <a:rPr lang="en-US" sz="2400" dirty="0">
                <a:solidFill>
                  <a:srgbClr val="0070C0"/>
                </a:solidFill>
                <a:latin typeface="Calibri" panose="020F0502020204030204" pitchFamily="34" charset="0"/>
                <a:cs typeface="Calibri" panose="020F0502020204030204" pitchFamily="34" charset="0"/>
                <a:sym typeface="Symbol" pitchFamily="18" charset="2"/>
              </a:rPr>
              <a:t>CPU bound </a:t>
            </a:r>
            <a:r>
              <a:rPr lang="en-US" sz="2400" dirty="0">
                <a:latin typeface="Calibri" panose="020F0502020204030204" pitchFamily="34" charset="0"/>
                <a:cs typeface="Calibri" panose="020F0502020204030204" pitchFamily="34" charset="0"/>
                <a:sym typeface="Symbol" pitchFamily="18" charset="2"/>
              </a:rPr>
              <a:t>processes</a:t>
            </a:r>
          </a:p>
          <a:p>
            <a:pPr marL="742950" lvl="1" indent="-285750">
              <a:spcBef>
                <a:spcPts val="2400"/>
              </a:spcBef>
              <a:buFont typeface="Arial" pitchFamily="34" charset="0"/>
              <a:buChar char="•"/>
            </a:pPr>
            <a:r>
              <a:rPr lang="en-US" sz="2400" dirty="0">
                <a:latin typeface="Calibri" panose="020F0502020204030204" pitchFamily="34" charset="0"/>
                <a:cs typeface="Calibri" panose="020F0502020204030204" pitchFamily="34" charset="0"/>
                <a:sym typeface="Symbol" pitchFamily="18" charset="2"/>
              </a:rPr>
              <a:t>If all selected processes are </a:t>
            </a:r>
            <a:r>
              <a:rPr lang="en-US" sz="2400" dirty="0">
                <a:solidFill>
                  <a:srgbClr val="0070C0"/>
                </a:solidFill>
                <a:latin typeface="Calibri" panose="020F0502020204030204" pitchFamily="34" charset="0"/>
                <a:cs typeface="Calibri" panose="020F0502020204030204" pitchFamily="34" charset="0"/>
                <a:sym typeface="Symbol" pitchFamily="18" charset="2"/>
              </a:rPr>
              <a:t>I/O bound </a:t>
            </a:r>
          </a:p>
          <a:p>
            <a:pPr marL="1200150" lvl="2" indent="-285750">
              <a:spcBef>
                <a:spcPts val="1200"/>
              </a:spcBef>
              <a:buFont typeface="Arial" pitchFamily="34" charset="0"/>
              <a:buChar char="•"/>
            </a:pPr>
            <a:r>
              <a:rPr lang="en-US" sz="2200" dirty="0">
                <a:solidFill>
                  <a:srgbClr val="C00000"/>
                </a:solidFill>
                <a:latin typeface="Calibri" panose="020F0502020204030204" pitchFamily="34" charset="0"/>
                <a:cs typeface="Calibri" panose="020F0502020204030204" pitchFamily="34" charset="0"/>
                <a:sym typeface="Symbol" pitchFamily="18" charset="2"/>
              </a:rPr>
              <a:t>Ready Queue </a:t>
            </a:r>
            <a:r>
              <a:rPr lang="en-US" sz="2200" dirty="0">
                <a:latin typeface="Calibri" panose="020F0502020204030204" pitchFamily="34" charset="0"/>
                <a:cs typeface="Calibri" panose="020F0502020204030204" pitchFamily="34" charset="0"/>
                <a:sym typeface="Symbol" pitchFamily="18" charset="2"/>
              </a:rPr>
              <a:t>will almost always be empty</a:t>
            </a:r>
          </a:p>
          <a:p>
            <a:pPr marL="742950" lvl="1" indent="-285750">
              <a:spcBef>
                <a:spcPts val="2400"/>
              </a:spcBef>
              <a:buFont typeface="Arial" pitchFamily="34" charset="0"/>
              <a:buChar char="•"/>
            </a:pPr>
            <a:r>
              <a:rPr lang="en-US" sz="2400" dirty="0">
                <a:latin typeface="Calibri" panose="020F0502020204030204" pitchFamily="34" charset="0"/>
                <a:cs typeface="Calibri" panose="020F0502020204030204" pitchFamily="34" charset="0"/>
                <a:sym typeface="Symbol" pitchFamily="18" charset="2"/>
              </a:rPr>
              <a:t>If all selected processes are </a:t>
            </a:r>
            <a:r>
              <a:rPr lang="en-US" sz="2400" dirty="0">
                <a:solidFill>
                  <a:srgbClr val="0070C0"/>
                </a:solidFill>
                <a:latin typeface="Calibri" panose="020F0502020204030204" pitchFamily="34" charset="0"/>
                <a:cs typeface="Calibri" panose="020F0502020204030204" pitchFamily="34" charset="0"/>
                <a:sym typeface="Symbol" pitchFamily="18" charset="2"/>
              </a:rPr>
              <a:t>CPU bound </a:t>
            </a:r>
          </a:p>
          <a:p>
            <a:pPr marL="1200150" lvl="2" indent="-285750">
              <a:spcBef>
                <a:spcPts val="1200"/>
              </a:spcBef>
              <a:buFont typeface="Arial" pitchFamily="34" charset="0"/>
              <a:buChar char="•"/>
            </a:pPr>
            <a:r>
              <a:rPr lang="en-US" sz="2200" dirty="0">
                <a:solidFill>
                  <a:srgbClr val="C00000"/>
                </a:solidFill>
                <a:latin typeface="Calibri" panose="020F0502020204030204" pitchFamily="34" charset="0"/>
                <a:cs typeface="Calibri" panose="020F0502020204030204" pitchFamily="34" charset="0"/>
                <a:sym typeface="Symbol" pitchFamily="18" charset="2"/>
              </a:rPr>
              <a:t>I/O Waiting Queues </a:t>
            </a:r>
            <a:r>
              <a:rPr lang="en-US" sz="2200" dirty="0">
                <a:latin typeface="Calibri" panose="020F0502020204030204" pitchFamily="34" charset="0"/>
                <a:cs typeface="Calibri" panose="020F0502020204030204" pitchFamily="34" charset="0"/>
                <a:sym typeface="Symbol" pitchFamily="18" charset="2"/>
              </a:rPr>
              <a:t>will almost always be empty</a:t>
            </a:r>
          </a:p>
        </p:txBody>
      </p:sp>
      <p:sp>
        <p:nvSpPr>
          <p:cNvPr id="2" name="Slide Number Placeholder 3">
            <a:extLst>
              <a:ext uri="{FF2B5EF4-FFF2-40B4-BE49-F238E27FC236}">
                <a16:creationId xmlns:a16="http://schemas.microsoft.com/office/drawing/2014/main" id="{72D7AE69-8EE5-36AB-01C3-7F75E23CE427}"/>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28</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3238783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304800" y="0"/>
            <a:ext cx="8610600" cy="772886"/>
          </a:xfrm>
          <a:ln>
            <a:noFill/>
          </a:ln>
        </p:spPr>
        <p:txBody>
          <a:bodyPr>
            <a:noAutofit/>
          </a:bodyPr>
          <a:lstStyle/>
          <a:p>
            <a:r>
              <a:rPr lang="en-US" dirty="0"/>
              <a:t>Short Term Scheduler</a:t>
            </a:r>
          </a:p>
        </p:txBody>
      </p:sp>
      <p:sp>
        <p:nvSpPr>
          <p:cNvPr id="9" name="Rectangle 3"/>
          <p:cNvSpPr>
            <a:spLocks noChangeArrowheads="1"/>
          </p:cNvSpPr>
          <p:nvPr/>
        </p:nvSpPr>
        <p:spPr bwMode="auto">
          <a:xfrm>
            <a:off x="390384" y="1161390"/>
            <a:ext cx="8697686" cy="5527040"/>
          </a:xfrm>
          <a:prstGeom prst="rect">
            <a:avLst/>
          </a:prstGeom>
          <a:noFill/>
          <a:ln w="9525">
            <a:noFill/>
            <a:miter lim="800000"/>
            <a:headEnd/>
            <a:tailEnd/>
          </a:ln>
          <a:effectLst/>
        </p:spPr>
        <p:txBody>
          <a:bodyPr/>
          <a:lstStyle/>
          <a:p>
            <a:pPr marL="342900" indent="-342900">
              <a:lnSpc>
                <a:spcPct val="120000"/>
              </a:lnSpc>
              <a:spcBef>
                <a:spcPts val="0"/>
              </a:spcBef>
              <a:buClr>
                <a:schemeClr val="tx1"/>
              </a:buClr>
              <a:buFont typeface="Wingdings" panose="05000000000000000000" pitchFamily="2" charset="2"/>
              <a:buChar char="§"/>
            </a:pPr>
            <a:r>
              <a:rPr lang="en-US" sz="2400" b="1" dirty="0">
                <a:solidFill>
                  <a:srgbClr val="C00000"/>
                </a:solidFill>
                <a:latin typeface="Calibri" panose="020F0502020204030204" pitchFamily="34" charset="0"/>
                <a:cs typeface="Calibri" panose="020F0502020204030204" pitchFamily="34" charset="0"/>
              </a:rPr>
              <a:t>Short-term Scheduler </a:t>
            </a:r>
            <a:r>
              <a:rPr lang="en-US" sz="2400" dirty="0">
                <a:latin typeface="Calibri" panose="020F0502020204030204" pitchFamily="34" charset="0"/>
                <a:cs typeface="Calibri" panose="020F0502020204030204" pitchFamily="34" charset="0"/>
              </a:rPr>
              <a:t> </a:t>
            </a:r>
            <a:r>
              <a:rPr lang="en-US" sz="2400" i="1" dirty="0">
                <a:solidFill>
                  <a:srgbClr val="0070C0"/>
                </a:solidFill>
                <a:latin typeface="Calibri" panose="020F0502020204030204" pitchFamily="34" charset="0"/>
                <a:cs typeface="Calibri" panose="020F0502020204030204" pitchFamily="34" charset="0"/>
              </a:rPr>
              <a:t>(CPU/Process scheduler)</a:t>
            </a:r>
          </a:p>
          <a:p>
            <a:pPr marL="739775" lvl="1" indent="-282575">
              <a:lnSpc>
                <a:spcPct val="120000"/>
              </a:lnSpc>
              <a:spcBef>
                <a:spcPts val="0"/>
              </a:spcBef>
              <a:buClr>
                <a:schemeClr val="tx1"/>
              </a:buClr>
              <a:buFont typeface="Arial" panose="020B0604020202020204" pitchFamily="34" charset="0"/>
              <a:buChar char="•"/>
            </a:pPr>
            <a:r>
              <a:rPr lang="en-US" sz="2150" dirty="0">
                <a:latin typeface="Calibri" panose="020F0502020204030204" pitchFamily="34" charset="0"/>
                <a:cs typeface="Calibri" panose="020F0502020204030204" pitchFamily="34" charset="0"/>
              </a:rPr>
              <a:t>decides </a:t>
            </a:r>
            <a:r>
              <a:rPr lang="en-US" sz="2150" dirty="0">
                <a:solidFill>
                  <a:srgbClr val="C00000"/>
                </a:solidFill>
                <a:latin typeface="Calibri" panose="020F0502020204030204" pitchFamily="34" charset="0"/>
                <a:cs typeface="Calibri" panose="020F0502020204030204" pitchFamily="34" charset="0"/>
              </a:rPr>
              <a:t>which process </a:t>
            </a:r>
            <a:r>
              <a:rPr lang="en-US" sz="2150" dirty="0">
                <a:latin typeface="Calibri" panose="020F0502020204030204" pitchFamily="34" charset="0"/>
                <a:cs typeface="Calibri" panose="020F0502020204030204" pitchFamily="34" charset="0"/>
              </a:rPr>
              <a:t>runs, </a:t>
            </a:r>
            <a:r>
              <a:rPr lang="en-US" sz="2150" dirty="0">
                <a:solidFill>
                  <a:srgbClr val="C00000"/>
                </a:solidFill>
                <a:latin typeface="Calibri" panose="020F0502020204030204" pitchFamily="34" charset="0"/>
                <a:cs typeface="Calibri" panose="020F0502020204030204" pitchFamily="34" charset="0"/>
              </a:rPr>
              <a:t>when</a:t>
            </a:r>
            <a:r>
              <a:rPr lang="en-US" sz="2150" dirty="0">
                <a:latin typeface="Calibri" panose="020F0502020204030204" pitchFamily="34" charset="0"/>
                <a:cs typeface="Calibri" panose="020F0502020204030204" pitchFamily="34" charset="0"/>
              </a:rPr>
              <a:t>, &amp; for </a:t>
            </a:r>
            <a:r>
              <a:rPr lang="en-US" sz="2150" dirty="0">
                <a:solidFill>
                  <a:srgbClr val="C00000"/>
                </a:solidFill>
                <a:latin typeface="Calibri" panose="020F0502020204030204" pitchFamily="34" charset="0"/>
                <a:cs typeface="Calibri" panose="020F0502020204030204" pitchFamily="34" charset="0"/>
              </a:rPr>
              <a:t>how long</a:t>
            </a:r>
          </a:p>
          <a:p>
            <a:pPr marL="739775" lvl="1" indent="-282575">
              <a:lnSpc>
                <a:spcPct val="120000"/>
              </a:lnSpc>
              <a:spcBef>
                <a:spcPts val="0"/>
              </a:spcBef>
              <a:buClr>
                <a:schemeClr val="tx1"/>
              </a:buClr>
              <a:buFont typeface="Arial" panose="020B0604020202020204" pitchFamily="34" charset="0"/>
              <a:buChar char="•"/>
            </a:pPr>
            <a:r>
              <a:rPr lang="en-US" sz="2150" dirty="0">
                <a:latin typeface="Calibri" panose="020F0502020204030204" pitchFamily="34" charset="0"/>
                <a:cs typeface="Calibri" panose="020F0502020204030204" pitchFamily="34" charset="0"/>
              </a:rPr>
              <a:t>invoked frequently </a:t>
            </a:r>
            <a:r>
              <a:rPr lang="en-US" sz="2150" i="1" dirty="0">
                <a:latin typeface="Calibri" panose="020F0502020204030204" pitchFamily="34" charset="0"/>
                <a:cs typeface="Calibri" panose="020F0502020204030204" pitchFamily="34" charset="0"/>
              </a:rPr>
              <a:t>(milliseconds) </a:t>
            </a:r>
            <a:r>
              <a:rPr lang="en-US" sz="2150" dirty="0">
                <a:latin typeface="Abadi" panose="020B0604020104020204" pitchFamily="34" charset="0"/>
                <a:cs typeface="Calibri" panose="020F0502020204030204" pitchFamily="34" charset="0"/>
              </a:rPr>
              <a:t>→</a:t>
            </a:r>
            <a:r>
              <a:rPr lang="en-US" sz="2150" dirty="0">
                <a:latin typeface="Calibri" panose="020F0502020204030204" pitchFamily="34" charset="0"/>
                <a:cs typeface="Calibri" panose="020F0502020204030204" pitchFamily="34" charset="0"/>
                <a:sym typeface="Symbol" pitchFamily="18" charset="2"/>
              </a:rPr>
              <a:t>  must be fast</a:t>
            </a:r>
          </a:p>
          <a:p>
            <a:pPr marL="342900" indent="-342900">
              <a:lnSpc>
                <a:spcPct val="120000"/>
              </a:lnSpc>
              <a:spcBef>
                <a:spcPts val="1800"/>
              </a:spcBef>
              <a:buClr>
                <a:schemeClr val="tx1"/>
              </a:buClr>
              <a:buFont typeface="Wingdings" panose="05000000000000000000" pitchFamily="2" charset="2"/>
              <a:buChar char="§"/>
            </a:pPr>
            <a:r>
              <a:rPr lang="en-US" sz="2400" dirty="0">
                <a:latin typeface="Calibri" panose="020F0502020204030204" pitchFamily="34" charset="0"/>
                <a:cs typeface="Calibri" panose="020F0502020204030204" pitchFamily="34" charset="0"/>
                <a:sym typeface="Symbol" pitchFamily="18" charset="2"/>
              </a:rPr>
              <a:t>Invokes </a:t>
            </a:r>
            <a:r>
              <a:rPr lang="en-US" sz="2400" dirty="0">
                <a:solidFill>
                  <a:srgbClr val="0070C0"/>
                </a:solidFill>
                <a:latin typeface="Calibri" panose="020F0502020204030204" pitchFamily="34" charset="0"/>
                <a:cs typeface="Calibri" panose="020F0502020204030204" pitchFamily="34" charset="0"/>
                <a:sym typeface="Symbol" pitchFamily="18" charset="2"/>
              </a:rPr>
              <a:t>context switch</a:t>
            </a:r>
            <a:r>
              <a:rPr lang="en-US" sz="2400" dirty="0">
                <a:latin typeface="Calibri" panose="020F0502020204030204" pitchFamily="34" charset="0"/>
                <a:cs typeface="Calibri" panose="020F0502020204030204" pitchFamily="34" charset="0"/>
                <a:sym typeface="Symbol" pitchFamily="18" charset="2"/>
              </a:rPr>
              <a:t>, or process switch </a:t>
            </a:r>
          </a:p>
          <a:p>
            <a:pPr marL="739775" lvl="1" indent="-282575">
              <a:lnSpc>
                <a:spcPct val="120000"/>
              </a:lnSpc>
              <a:spcBef>
                <a:spcPts val="0"/>
              </a:spcBef>
              <a:buClr>
                <a:schemeClr val="tx1"/>
              </a:buClr>
              <a:buFont typeface="Arial" panose="020B0604020202020204" pitchFamily="34" charset="0"/>
              <a:buChar char="•"/>
            </a:pPr>
            <a:r>
              <a:rPr lang="en-US" sz="2150" dirty="0">
                <a:solidFill>
                  <a:srgbClr val="0070C0"/>
                </a:solidFill>
                <a:latin typeface="Calibri" panose="020F0502020204030204" pitchFamily="34" charset="0"/>
                <a:cs typeface="Calibri" panose="020F0502020204030204" pitchFamily="34" charset="0"/>
                <a:sym typeface="Symbol" pitchFamily="18" charset="2"/>
              </a:rPr>
              <a:t>saves </a:t>
            </a:r>
            <a:r>
              <a:rPr lang="en-US" sz="2150" dirty="0">
                <a:latin typeface="Abadi" panose="020B0604020104020204" pitchFamily="34" charset="0"/>
                <a:cs typeface="Calibri" panose="020F0502020204030204" pitchFamily="34" charset="0"/>
              </a:rPr>
              <a:t>→ </a:t>
            </a:r>
            <a:r>
              <a:rPr lang="en-US" sz="2150" dirty="0">
                <a:latin typeface="Calibri" panose="020F0502020204030204" pitchFamily="34" charset="0"/>
                <a:cs typeface="Calibri" panose="020F0502020204030204" pitchFamily="34" charset="0"/>
                <a:sym typeface="Symbol" pitchFamily="18" charset="2"/>
              </a:rPr>
              <a:t>state</a:t>
            </a:r>
            <a:r>
              <a:rPr lang="en-US" sz="2150" dirty="0">
                <a:solidFill>
                  <a:srgbClr val="0070C0"/>
                </a:solidFill>
                <a:latin typeface="Calibri" panose="020F0502020204030204" pitchFamily="34" charset="0"/>
                <a:cs typeface="Calibri" panose="020F0502020204030204" pitchFamily="34" charset="0"/>
                <a:sym typeface="Symbol" pitchFamily="18" charset="2"/>
              </a:rPr>
              <a:t> </a:t>
            </a:r>
            <a:r>
              <a:rPr lang="en-US" sz="2150" dirty="0">
                <a:latin typeface="Calibri" panose="020F0502020204030204" pitchFamily="34" charset="0"/>
                <a:cs typeface="Calibri" panose="020F0502020204030204" pitchFamily="34" charset="0"/>
                <a:sym typeface="Symbol" pitchFamily="18" charset="2"/>
              </a:rPr>
              <a:t>of currently running process </a:t>
            </a:r>
          </a:p>
          <a:p>
            <a:pPr marL="739775" lvl="1" indent="-282575">
              <a:lnSpc>
                <a:spcPct val="120000"/>
              </a:lnSpc>
              <a:spcBef>
                <a:spcPts val="0"/>
              </a:spcBef>
              <a:buClr>
                <a:schemeClr val="tx1"/>
              </a:buClr>
              <a:buFont typeface="Arial" panose="020B0604020202020204" pitchFamily="34" charset="0"/>
              <a:buChar char="•"/>
            </a:pPr>
            <a:r>
              <a:rPr lang="en-US" sz="2150" dirty="0">
                <a:solidFill>
                  <a:srgbClr val="0070C0"/>
                </a:solidFill>
                <a:latin typeface="Calibri" panose="020F0502020204030204" pitchFamily="34" charset="0"/>
                <a:cs typeface="Calibri" panose="020F0502020204030204" pitchFamily="34" charset="0"/>
                <a:sym typeface="Symbol" pitchFamily="18" charset="2"/>
              </a:rPr>
              <a:t>loads</a:t>
            </a:r>
            <a:r>
              <a:rPr lang="en-US" sz="2150" dirty="0">
                <a:latin typeface="Calibri" panose="020F0502020204030204" pitchFamily="34" charset="0"/>
                <a:cs typeface="Calibri" panose="020F0502020204030204" pitchFamily="34" charset="0"/>
                <a:sym typeface="Symbol" pitchFamily="18" charset="2"/>
              </a:rPr>
              <a:t> </a:t>
            </a:r>
            <a:r>
              <a:rPr lang="en-US" sz="2150" dirty="0">
                <a:latin typeface="Abadi" panose="020B0604020104020204" pitchFamily="34" charset="0"/>
                <a:cs typeface="Calibri" panose="020F0502020204030204" pitchFamily="34" charset="0"/>
              </a:rPr>
              <a:t>→ </a:t>
            </a:r>
            <a:r>
              <a:rPr lang="en-US" sz="2150" dirty="0">
                <a:latin typeface="Calibri" panose="020F0502020204030204" pitchFamily="34" charset="0"/>
                <a:cs typeface="Calibri" panose="020F0502020204030204" pitchFamily="34" charset="0"/>
                <a:sym typeface="Symbol" pitchFamily="18" charset="2"/>
              </a:rPr>
              <a:t>saved state of the selected process</a:t>
            </a:r>
          </a:p>
          <a:p>
            <a:pPr marL="342900" indent="-342900">
              <a:lnSpc>
                <a:spcPct val="120000"/>
              </a:lnSpc>
              <a:spcBef>
                <a:spcPts val="1800"/>
              </a:spcBef>
              <a:buClr>
                <a:schemeClr val="tx1"/>
              </a:buClr>
              <a:buFont typeface="Wingdings" panose="05000000000000000000" pitchFamily="2" charset="2"/>
              <a:buChar char="§"/>
            </a:pPr>
            <a:r>
              <a:rPr lang="en-US" sz="2400" dirty="0">
                <a:solidFill>
                  <a:srgbClr val="C00000"/>
                </a:solidFill>
                <a:latin typeface="Calibri" panose="020F0502020204030204" pitchFamily="34" charset="0"/>
                <a:cs typeface="Calibri" panose="020F0502020204030204" pitchFamily="34" charset="0"/>
                <a:sym typeface="Symbol" pitchFamily="18" charset="2"/>
              </a:rPr>
              <a:t>Scheduler invoked when following events occur…</a:t>
            </a:r>
          </a:p>
          <a:p>
            <a:pPr marL="739775" lvl="1" indent="-282575">
              <a:lnSpc>
                <a:spcPct val="120000"/>
              </a:lnSpc>
              <a:spcBef>
                <a:spcPts val="0"/>
              </a:spcBef>
              <a:buClr>
                <a:schemeClr val="tx1"/>
              </a:buClr>
              <a:buFont typeface="Arial" panose="020B0604020202020204" pitchFamily="34" charset="0"/>
              <a:buChar char="•"/>
            </a:pPr>
            <a:r>
              <a:rPr lang="en-US" sz="2150" dirty="0">
                <a:latin typeface="Calibri" panose="020F0502020204030204" pitchFamily="34" charset="0"/>
                <a:cs typeface="Calibri" panose="020F0502020204030204" pitchFamily="34" charset="0"/>
                <a:sym typeface="Symbol" pitchFamily="18" charset="2"/>
              </a:rPr>
              <a:t>CPU time slice of current process ends</a:t>
            </a:r>
          </a:p>
          <a:p>
            <a:pPr marL="739775" lvl="1" indent="-282575">
              <a:lnSpc>
                <a:spcPct val="120000"/>
              </a:lnSpc>
              <a:spcBef>
                <a:spcPts val="0"/>
              </a:spcBef>
              <a:buClr>
                <a:schemeClr val="tx1"/>
              </a:buClr>
              <a:buFont typeface="Arial" panose="020B0604020202020204" pitchFamily="34" charset="0"/>
              <a:buChar char="•"/>
            </a:pPr>
            <a:r>
              <a:rPr lang="en-US" sz="2150" dirty="0">
                <a:latin typeface="Calibri" panose="020F0502020204030204" pitchFamily="34" charset="0"/>
                <a:cs typeface="Calibri" panose="020F0502020204030204" pitchFamily="34" charset="0"/>
                <a:sym typeface="Symbol" pitchFamily="18" charset="2"/>
              </a:rPr>
              <a:t>process blocks waiting for I/O</a:t>
            </a:r>
          </a:p>
          <a:p>
            <a:pPr marL="739775" lvl="1" indent="-282575">
              <a:lnSpc>
                <a:spcPct val="120000"/>
              </a:lnSpc>
              <a:spcBef>
                <a:spcPts val="0"/>
              </a:spcBef>
              <a:buClr>
                <a:schemeClr val="tx1"/>
              </a:buClr>
              <a:buFont typeface="Arial" panose="020B0604020202020204" pitchFamily="34" charset="0"/>
              <a:buChar char="•"/>
            </a:pPr>
            <a:r>
              <a:rPr lang="en-US" sz="2150" dirty="0">
                <a:latin typeface="Calibri" panose="020F0502020204030204" pitchFamily="34" charset="0"/>
                <a:cs typeface="Calibri" panose="020F0502020204030204" pitchFamily="34" charset="0"/>
                <a:sym typeface="Symbol" pitchFamily="18" charset="2"/>
              </a:rPr>
              <a:t>process terminates, or sleeps</a:t>
            </a:r>
          </a:p>
          <a:p>
            <a:pPr marL="739775" lvl="1" indent="-282575">
              <a:lnSpc>
                <a:spcPct val="120000"/>
              </a:lnSpc>
              <a:spcBef>
                <a:spcPts val="0"/>
              </a:spcBef>
              <a:buClr>
                <a:schemeClr val="tx1"/>
              </a:buClr>
              <a:buFont typeface="Arial" panose="020B0604020202020204" pitchFamily="34" charset="0"/>
              <a:buChar char="•"/>
            </a:pPr>
            <a:r>
              <a:rPr lang="en-US" sz="2150" dirty="0">
                <a:latin typeface="Calibri" panose="020F0502020204030204" pitchFamily="34" charset="0"/>
                <a:cs typeface="Calibri" panose="020F0502020204030204" pitchFamily="34" charset="0"/>
              </a:rPr>
              <a:t>interrupt occurs </a:t>
            </a:r>
          </a:p>
        </p:txBody>
      </p:sp>
      <p:sp>
        <p:nvSpPr>
          <p:cNvPr id="2" name="Slide Number Placeholder 3">
            <a:extLst>
              <a:ext uri="{FF2B5EF4-FFF2-40B4-BE49-F238E27FC236}">
                <a16:creationId xmlns:a16="http://schemas.microsoft.com/office/drawing/2014/main" id="{CA7C95F7-7EA6-B898-EE8E-69FF78051AC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29</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547E2-A4F1-B862-02E4-1E9D1D0DDE05}"/>
            </a:ext>
          </a:extLst>
        </p:cNvPr>
        <p:cNvGrpSpPr/>
        <p:nvPr/>
      </p:nvGrpSpPr>
      <p:grpSpPr>
        <a:xfrm>
          <a:off x="0" y="0"/>
          <a:ext cx="0" cy="0"/>
          <a:chOff x="0" y="0"/>
          <a:chExt cx="0" cy="0"/>
        </a:xfrm>
      </p:grpSpPr>
      <p:sp>
        <p:nvSpPr>
          <p:cNvPr id="8" name="Rectangle 1026">
            <a:extLst>
              <a:ext uri="{FF2B5EF4-FFF2-40B4-BE49-F238E27FC236}">
                <a16:creationId xmlns:a16="http://schemas.microsoft.com/office/drawing/2014/main" id="{EBA3AA3F-C76E-6EEC-1F8B-294D17EA4D15}"/>
              </a:ext>
            </a:extLst>
          </p:cNvPr>
          <p:cNvSpPr>
            <a:spLocks noGrp="1" noChangeArrowheads="1"/>
          </p:cNvSpPr>
          <p:nvPr>
            <p:ph type="title"/>
          </p:nvPr>
        </p:nvSpPr>
        <p:spPr>
          <a:xfrm>
            <a:off x="304800" y="0"/>
            <a:ext cx="8610600" cy="762000"/>
          </a:xfrm>
          <a:ln>
            <a:noFill/>
          </a:ln>
        </p:spPr>
        <p:txBody>
          <a:bodyPr>
            <a:noAutofit/>
          </a:bodyPr>
          <a:lstStyle/>
          <a:p>
            <a:r>
              <a:rPr lang="en-US" dirty="0"/>
              <a:t>Need for Swapping</a:t>
            </a:r>
          </a:p>
        </p:txBody>
      </p:sp>
      <p:sp>
        <p:nvSpPr>
          <p:cNvPr id="7" name="Rectangle 3">
            <a:extLst>
              <a:ext uri="{FF2B5EF4-FFF2-40B4-BE49-F238E27FC236}">
                <a16:creationId xmlns:a16="http://schemas.microsoft.com/office/drawing/2014/main" id="{F42C355B-EC42-DDE6-9889-DDA11AB2024B}"/>
              </a:ext>
            </a:extLst>
          </p:cNvPr>
          <p:cNvSpPr>
            <a:spLocks noChangeArrowheads="1"/>
          </p:cNvSpPr>
          <p:nvPr/>
        </p:nvSpPr>
        <p:spPr bwMode="auto">
          <a:xfrm>
            <a:off x="475586" y="1181658"/>
            <a:ext cx="8342593" cy="5457372"/>
          </a:xfrm>
          <a:prstGeom prst="rect">
            <a:avLst/>
          </a:prstGeom>
          <a:noFill/>
          <a:ln w="9525">
            <a:noFill/>
            <a:miter lim="800000"/>
            <a:headEnd/>
            <a:tailEnd/>
          </a:ln>
          <a:effectLst/>
        </p:spPr>
        <p:txBody>
          <a:bodyPr/>
          <a:lstStyle/>
          <a:p>
            <a:pPr marL="342900" indent="-342900">
              <a:lnSpc>
                <a:spcPct val="110000"/>
              </a:lnSpc>
              <a:spcBef>
                <a:spcPts val="2400"/>
              </a:spcBef>
              <a:buFont typeface="Wingdings" pitchFamily="2" charset="2"/>
              <a:buChar char="§"/>
            </a:pPr>
            <a:r>
              <a:rPr lang="en-US" sz="2400" dirty="0">
                <a:solidFill>
                  <a:srgbClr val="C00000"/>
                </a:solidFill>
                <a:latin typeface="Calibri" panose="020F0502020204030204" pitchFamily="34" charset="0"/>
                <a:cs typeface="Calibri" panose="020F0502020204030204" pitchFamily="34" charset="0"/>
              </a:rPr>
              <a:t>An issue:</a:t>
            </a:r>
          </a:p>
          <a:p>
            <a:pPr marL="800100" lvl="1" indent="-342900">
              <a:lnSpc>
                <a:spcPct val="110000"/>
              </a:lnSpc>
              <a:spcBef>
                <a:spcPts val="6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all processes in memory may be in blocked state</a:t>
            </a:r>
          </a:p>
          <a:p>
            <a:pPr marL="800100" lvl="1" indent="-342900">
              <a:lnSpc>
                <a:spcPct val="110000"/>
              </a:lnSpc>
              <a:spcBef>
                <a:spcPts val="6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new process wants to execute </a:t>
            </a:r>
          </a:p>
          <a:p>
            <a:pPr marL="800100" lvl="1" indent="-342900">
              <a:lnSpc>
                <a:spcPct val="110000"/>
              </a:lnSpc>
              <a:spcBef>
                <a:spcPts val="6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memory not available</a:t>
            </a:r>
          </a:p>
          <a:p>
            <a:pPr marL="342900" indent="-342900">
              <a:lnSpc>
                <a:spcPct val="110000"/>
              </a:lnSpc>
              <a:spcBef>
                <a:spcPts val="2400"/>
              </a:spcBef>
              <a:buFont typeface="Wingdings" pitchFamily="2" charset="2"/>
              <a:buChar char="§"/>
            </a:pPr>
            <a:r>
              <a:rPr lang="en-US" sz="2400" dirty="0">
                <a:latin typeface="Calibri" panose="020F0502020204030204" pitchFamily="34" charset="0"/>
                <a:cs typeface="Calibri" panose="020F0502020204030204" pitchFamily="34" charset="0"/>
              </a:rPr>
              <a:t>Solution –  </a:t>
            </a:r>
            <a:r>
              <a:rPr lang="en-US" sz="2400" b="1" i="1" dirty="0">
                <a:solidFill>
                  <a:srgbClr val="C00000"/>
                </a:solidFill>
                <a:latin typeface="Calibri" panose="020F0502020204030204" pitchFamily="34" charset="0"/>
                <a:cs typeface="Calibri" panose="020F0502020204030204" pitchFamily="34" charset="0"/>
              </a:rPr>
              <a:t>“Swapping” </a:t>
            </a:r>
          </a:p>
          <a:p>
            <a:pPr marL="739775" lvl="1" indent="-282575">
              <a:lnSpc>
                <a:spcPct val="110000"/>
              </a:lnSpc>
              <a:spcBef>
                <a:spcPts val="600"/>
              </a:spcBef>
              <a:buFont typeface="Arial" panose="020B0604020202020204" pitchFamily="34" charset="0"/>
              <a:buChar char="•"/>
            </a:pPr>
            <a:r>
              <a:rPr lang="en-US" sz="2200" b="1" dirty="0">
                <a:solidFill>
                  <a:srgbClr val="0070C0"/>
                </a:solidFill>
                <a:latin typeface="Calibri" panose="020F0502020204030204" pitchFamily="34" charset="0"/>
                <a:cs typeface="Calibri" panose="020F0502020204030204" pitchFamily="34" charset="0"/>
              </a:rPr>
              <a:t>Swap out :</a:t>
            </a:r>
          </a:p>
          <a:p>
            <a:pPr lvl="1">
              <a:lnSpc>
                <a:spcPct val="110000"/>
              </a:lnSpc>
              <a:spcBef>
                <a:spcPts val="600"/>
              </a:spcBef>
            </a:pPr>
            <a:r>
              <a:rPr lang="en-US" sz="2200" b="1" dirty="0">
                <a:solidFill>
                  <a:srgbClr val="0070C0"/>
                </a:solidFill>
                <a:latin typeface="Calibri" panose="020F0502020204030204" pitchFamily="34" charset="0"/>
                <a:cs typeface="Calibri" panose="020F0502020204030204" pitchFamily="34" charset="0"/>
              </a:rPr>
              <a:t>	</a:t>
            </a:r>
            <a:r>
              <a:rPr lang="en-US" sz="2200" dirty="0">
                <a:solidFill>
                  <a:srgbClr val="0070C0"/>
                </a:solidFill>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move some process</a:t>
            </a:r>
            <a:r>
              <a:rPr lang="en-US" sz="2200" i="1"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from  </a:t>
            </a:r>
            <a:r>
              <a:rPr lang="en-US" sz="2200" i="1" dirty="0">
                <a:solidFill>
                  <a:srgbClr val="0070C0"/>
                </a:solidFill>
                <a:latin typeface="Calibri" panose="020F0502020204030204" pitchFamily="34" charset="0"/>
                <a:cs typeface="Calibri" panose="020F0502020204030204" pitchFamily="34" charset="0"/>
              </a:rPr>
              <a:t>memory</a:t>
            </a:r>
            <a:r>
              <a:rPr lang="en-US" sz="2200" dirty="0">
                <a:solidFill>
                  <a:srgbClr val="0070C0"/>
                </a:solidFill>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to  </a:t>
            </a:r>
            <a:r>
              <a:rPr lang="en-US" sz="2200" i="1" dirty="0">
                <a:solidFill>
                  <a:srgbClr val="0070C0"/>
                </a:solidFill>
                <a:latin typeface="Calibri" panose="020F0502020204030204" pitchFamily="34" charset="0"/>
                <a:cs typeface="Calibri" panose="020F0502020204030204" pitchFamily="34" charset="0"/>
              </a:rPr>
              <a:t>disk</a:t>
            </a:r>
          </a:p>
          <a:p>
            <a:pPr marL="739775" lvl="1" indent="-282575">
              <a:lnSpc>
                <a:spcPct val="110000"/>
              </a:lnSpc>
              <a:spcBef>
                <a:spcPts val="600"/>
              </a:spcBef>
              <a:buFont typeface="Arial" panose="020B0604020202020204" pitchFamily="34" charset="0"/>
              <a:buChar char="•"/>
            </a:pPr>
            <a:r>
              <a:rPr lang="en-US" sz="2200" b="1" dirty="0">
                <a:solidFill>
                  <a:srgbClr val="0070C0"/>
                </a:solidFill>
                <a:latin typeface="Calibri" panose="020F0502020204030204" pitchFamily="34" charset="0"/>
                <a:cs typeface="Calibri" panose="020F0502020204030204" pitchFamily="34" charset="0"/>
              </a:rPr>
              <a:t>Swap in</a:t>
            </a:r>
            <a:r>
              <a:rPr lang="en-US" sz="2200" b="1" dirty="0">
                <a:latin typeface="Calibri" panose="020F0502020204030204" pitchFamily="34" charset="0"/>
                <a:cs typeface="Calibri" panose="020F0502020204030204" pitchFamily="34" charset="0"/>
              </a:rPr>
              <a:t> :</a:t>
            </a:r>
          </a:p>
          <a:p>
            <a:pPr lvl="1">
              <a:lnSpc>
                <a:spcPct val="110000"/>
              </a:lnSpc>
              <a:spcBef>
                <a:spcPts val="600"/>
              </a:spcBef>
            </a:pPr>
            <a:r>
              <a:rPr lang="en-US" sz="2200" b="1"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 bring a new process from  </a:t>
            </a:r>
            <a:r>
              <a:rPr lang="en-US" sz="2200" i="1" dirty="0">
                <a:solidFill>
                  <a:srgbClr val="0070C0"/>
                </a:solidFill>
                <a:latin typeface="Calibri" panose="020F0502020204030204" pitchFamily="34" charset="0"/>
                <a:cs typeface="Calibri" panose="020F0502020204030204" pitchFamily="34" charset="0"/>
              </a:rPr>
              <a:t>disk</a:t>
            </a:r>
            <a:r>
              <a:rPr lang="en-US" sz="2200" dirty="0">
                <a:latin typeface="Calibri" panose="020F0502020204030204" pitchFamily="34" charset="0"/>
                <a:cs typeface="Calibri" panose="020F0502020204030204" pitchFamily="34" charset="0"/>
              </a:rPr>
              <a:t>  to  </a:t>
            </a:r>
            <a:r>
              <a:rPr lang="en-US" sz="2200" i="1" dirty="0">
                <a:solidFill>
                  <a:srgbClr val="0070C0"/>
                </a:solidFill>
                <a:latin typeface="Calibri" panose="020F0502020204030204" pitchFamily="34" charset="0"/>
                <a:cs typeface="Calibri" panose="020F0502020204030204" pitchFamily="34" charset="0"/>
              </a:rPr>
              <a:t>memory</a:t>
            </a:r>
          </a:p>
        </p:txBody>
      </p:sp>
      <p:sp>
        <p:nvSpPr>
          <p:cNvPr id="2" name="Slide Number Placeholder 3">
            <a:extLst>
              <a:ext uri="{FF2B5EF4-FFF2-40B4-BE49-F238E27FC236}">
                <a16:creationId xmlns:a16="http://schemas.microsoft.com/office/drawing/2014/main" id="{453C9EE4-A757-5403-446F-4444DCA9C4B3}"/>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30</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7590563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304800" y="87088"/>
            <a:ext cx="8610600" cy="685800"/>
          </a:xfrm>
          <a:ln>
            <a:noFill/>
          </a:ln>
        </p:spPr>
        <p:txBody>
          <a:bodyPr>
            <a:noAutofit/>
          </a:bodyPr>
          <a:lstStyle/>
          <a:p>
            <a:r>
              <a:rPr lang="en-US" dirty="0"/>
              <a:t>Medium Term Scheduler</a:t>
            </a:r>
          </a:p>
        </p:txBody>
      </p:sp>
      <p:sp>
        <p:nvSpPr>
          <p:cNvPr id="7" name="Rectangle 3"/>
          <p:cNvSpPr>
            <a:spLocks noChangeArrowheads="1"/>
          </p:cNvSpPr>
          <p:nvPr/>
        </p:nvSpPr>
        <p:spPr bwMode="auto">
          <a:xfrm>
            <a:off x="489854" y="1153886"/>
            <a:ext cx="8414657" cy="5475514"/>
          </a:xfrm>
          <a:prstGeom prst="rect">
            <a:avLst/>
          </a:prstGeom>
          <a:noFill/>
          <a:ln w="9525">
            <a:noFill/>
            <a:miter lim="800000"/>
            <a:headEnd/>
            <a:tailEnd/>
          </a:ln>
          <a:effectLst/>
        </p:spPr>
        <p:txBody>
          <a:bodyPr/>
          <a:lstStyle/>
          <a:p>
            <a:pPr marL="342900" indent="-342900">
              <a:spcBef>
                <a:spcPts val="600"/>
              </a:spcBef>
              <a:buFont typeface="Wingdings" panose="05000000000000000000" pitchFamily="2" charset="2"/>
              <a:buChar char="§"/>
            </a:pPr>
            <a:r>
              <a:rPr lang="en-US" sz="2400" b="1" dirty="0">
                <a:solidFill>
                  <a:srgbClr val="C00000"/>
                </a:solidFill>
                <a:latin typeface="Calibri" panose="020F0502020204030204" pitchFamily="34" charset="0"/>
                <a:cs typeface="Calibri" panose="020F0502020204030204" pitchFamily="34" charset="0"/>
              </a:rPr>
              <a:t>Medium Term Scheduler </a:t>
            </a:r>
            <a:r>
              <a:rPr lang="en-US" sz="2400" i="1" dirty="0">
                <a:solidFill>
                  <a:srgbClr val="0070C0"/>
                </a:solidFill>
                <a:latin typeface="Calibri" panose="020F0502020204030204" pitchFamily="34" charset="0"/>
                <a:cs typeface="Calibri" panose="020F0502020204030204" pitchFamily="34" charset="0"/>
              </a:rPr>
              <a:t>(Swapper)</a:t>
            </a:r>
          </a:p>
          <a:p>
            <a:pPr marL="746125" lvl="1" indent="-288925">
              <a:spcBef>
                <a:spcPts val="12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select an in-memory process</a:t>
            </a:r>
          </a:p>
          <a:p>
            <a:pPr marL="746125" lvl="1" indent="-288925">
              <a:spcBef>
                <a:spcPts val="6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suspend the process – </a:t>
            </a:r>
            <a:r>
              <a:rPr lang="en-US" sz="2200" i="1" dirty="0">
                <a:latin typeface="Times New Roman" panose="02020603050405020304" pitchFamily="18" charset="0"/>
                <a:cs typeface="Times New Roman" panose="02020603050405020304" pitchFamily="18" charset="0"/>
              </a:rPr>
              <a:t>change state from </a:t>
            </a:r>
            <a:r>
              <a:rPr lang="en-US" sz="2200" i="1" dirty="0">
                <a:solidFill>
                  <a:srgbClr val="0070C0"/>
                </a:solidFill>
                <a:latin typeface="Times New Roman" panose="02020603050405020304" pitchFamily="18" charset="0"/>
                <a:cs typeface="Times New Roman" panose="02020603050405020304" pitchFamily="18" charset="0"/>
              </a:rPr>
              <a:t>blocked</a:t>
            </a:r>
            <a:r>
              <a:rPr lang="en-US" sz="2200" i="1" dirty="0">
                <a:latin typeface="Times New Roman" panose="02020603050405020304" pitchFamily="18" charset="0"/>
                <a:cs typeface="Times New Roman" panose="02020603050405020304" pitchFamily="18" charset="0"/>
              </a:rPr>
              <a:t> to </a:t>
            </a:r>
            <a:r>
              <a:rPr lang="en-US" sz="2200" i="1" dirty="0">
                <a:solidFill>
                  <a:srgbClr val="0070C0"/>
                </a:solidFill>
                <a:latin typeface="Times New Roman" panose="02020603050405020304" pitchFamily="18" charset="0"/>
                <a:cs typeface="Times New Roman" panose="02020603050405020304" pitchFamily="18" charset="0"/>
              </a:rPr>
              <a:t>suspend</a:t>
            </a:r>
            <a:endParaRPr lang="en-US" sz="2200" i="1" dirty="0">
              <a:latin typeface="Times New Roman" panose="02020603050405020304" pitchFamily="18" charset="0"/>
              <a:cs typeface="Times New Roman" panose="02020603050405020304" pitchFamily="18" charset="0"/>
            </a:endParaRPr>
          </a:p>
          <a:p>
            <a:pPr marL="739775" lvl="1" indent="-282575">
              <a:spcBef>
                <a:spcPts val="600"/>
              </a:spcBef>
              <a:buFont typeface="Arial" panose="020B0604020202020204" pitchFamily="34" charset="0"/>
              <a:buChar char="•"/>
            </a:pPr>
            <a:r>
              <a:rPr lang="en-US" sz="2200" dirty="0">
                <a:solidFill>
                  <a:srgbClr val="0070C0"/>
                </a:solidFill>
                <a:latin typeface="Calibri" panose="020F0502020204030204" pitchFamily="34" charset="0"/>
                <a:cs typeface="Calibri" panose="020F0502020204030204" pitchFamily="34" charset="0"/>
              </a:rPr>
              <a:t>swap out	</a:t>
            </a:r>
            <a:r>
              <a:rPr lang="en-US" sz="2400" dirty="0">
                <a:latin typeface="Abadi" panose="020B060402010402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suspended process</a:t>
            </a:r>
          </a:p>
          <a:p>
            <a:pPr marL="739775" lvl="1" indent="-282575">
              <a:spcBef>
                <a:spcPts val="600"/>
              </a:spcBef>
              <a:buFont typeface="Arial" panose="020B0604020202020204" pitchFamily="34" charset="0"/>
              <a:buChar char="•"/>
            </a:pPr>
            <a:r>
              <a:rPr lang="en-US" sz="2200" dirty="0">
                <a:solidFill>
                  <a:srgbClr val="0070C0"/>
                </a:solidFill>
                <a:latin typeface="Calibri" panose="020F0502020204030204" pitchFamily="34" charset="0"/>
                <a:cs typeface="Calibri" panose="020F0502020204030204" pitchFamily="34" charset="0"/>
              </a:rPr>
              <a:t>swap in</a:t>
            </a:r>
            <a:r>
              <a:rPr lang="en-US" sz="2200" dirty="0">
                <a:latin typeface="Calibri" panose="020F0502020204030204" pitchFamily="34" charset="0"/>
                <a:cs typeface="Calibri" panose="020F0502020204030204" pitchFamily="34" charset="0"/>
              </a:rPr>
              <a:t> 	</a:t>
            </a:r>
            <a:r>
              <a:rPr lang="en-US" sz="2400" dirty="0">
                <a:latin typeface="Abadi" panose="020B060402010402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new process</a:t>
            </a:r>
          </a:p>
          <a:p>
            <a:pPr marL="342900" indent="-342900">
              <a:spcBef>
                <a:spcPts val="1800"/>
              </a:spcBef>
              <a:buFont typeface="Wingdings" panose="05000000000000000000" pitchFamily="2" charset="2"/>
              <a:buChar char="§"/>
            </a:pPr>
            <a:r>
              <a:rPr lang="en-US" sz="2400" dirty="0">
                <a:solidFill>
                  <a:srgbClr val="C00000"/>
                </a:solidFill>
                <a:latin typeface="Calibri" panose="020F0502020204030204" pitchFamily="34" charset="0"/>
                <a:cs typeface="Calibri" panose="020F0502020204030204" pitchFamily="34" charset="0"/>
              </a:rPr>
              <a:t>Swapping decision may be needed when…</a:t>
            </a:r>
          </a:p>
          <a:p>
            <a:pPr marL="800100" lvl="1" indent="-342900">
              <a:spcBef>
                <a:spcPts val="6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system needs to improve process mix</a:t>
            </a:r>
          </a:p>
          <a:p>
            <a:pPr marL="800100" lvl="1" indent="-342900">
              <a:spcBef>
                <a:spcPts val="6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higher priority process arrives, but no memory available</a:t>
            </a:r>
          </a:p>
          <a:p>
            <a:pPr marL="800100" lvl="1" indent="-342900">
              <a:spcBef>
                <a:spcPts val="600"/>
              </a:spcBef>
              <a:buFont typeface="Arial" panose="020B0604020202020204" pitchFamily="34" charset="0"/>
              <a:buChar char="•"/>
            </a:pPr>
            <a:r>
              <a:rPr lang="en-US" sz="2200" dirty="0">
                <a:latin typeface="Calibri" panose="020F0502020204030204" pitchFamily="34" charset="0"/>
                <a:cs typeface="Calibri" panose="020F0502020204030204" pitchFamily="34" charset="0"/>
              </a:rPr>
              <a:t>memory requirement of a process selected for execution </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can’t be met</a:t>
            </a:r>
          </a:p>
          <a:p>
            <a:pPr algn="ctr">
              <a:spcBef>
                <a:spcPts val="1200"/>
              </a:spcBef>
            </a:pPr>
            <a:r>
              <a:rPr lang="en-US" sz="2400" b="1" i="1" dirty="0">
                <a:solidFill>
                  <a:srgbClr val="0070C0"/>
                </a:solidFill>
                <a:latin typeface="Times New Roman" panose="02020603050405020304" pitchFamily="18" charset="0"/>
                <a:cs typeface="Times New Roman" panose="02020603050405020304" pitchFamily="18" charset="0"/>
              </a:rPr>
              <a:t>Blocked</a:t>
            </a:r>
            <a:r>
              <a:rPr lang="en-US" sz="2400" i="1" dirty="0">
                <a:latin typeface="Times New Roman" panose="02020603050405020304" pitchFamily="18" charset="0"/>
                <a:cs typeface="Times New Roman" panose="02020603050405020304" pitchFamily="18" charset="0"/>
              </a:rPr>
              <a:t> state becomes </a:t>
            </a:r>
            <a:r>
              <a:rPr lang="en-US" sz="2400" b="1" i="1" dirty="0">
                <a:solidFill>
                  <a:srgbClr val="0070C0"/>
                </a:solidFill>
                <a:latin typeface="Times New Roman" panose="02020603050405020304" pitchFamily="18" charset="0"/>
                <a:cs typeface="Times New Roman" panose="02020603050405020304" pitchFamily="18" charset="0"/>
              </a:rPr>
              <a:t>Suspend</a:t>
            </a:r>
            <a:r>
              <a:rPr lang="en-US" sz="2400" i="1" dirty="0">
                <a:latin typeface="Times New Roman" panose="02020603050405020304" pitchFamily="18" charset="0"/>
                <a:cs typeface="Times New Roman" panose="02020603050405020304" pitchFamily="18" charset="0"/>
              </a:rPr>
              <a:t> state, </a:t>
            </a:r>
            <a:br>
              <a:rPr lang="en-US" sz="2400" i="1" dirty="0">
                <a:latin typeface="Times New Roman" panose="02020603050405020304" pitchFamily="18" charset="0"/>
                <a:cs typeface="Times New Roman" panose="02020603050405020304" pitchFamily="18" charset="0"/>
              </a:rPr>
            </a:br>
            <a:r>
              <a:rPr lang="en-US" sz="2400" i="1" dirty="0">
                <a:latin typeface="Times New Roman" panose="02020603050405020304" pitchFamily="18" charset="0"/>
                <a:cs typeface="Times New Roman" panose="02020603050405020304" pitchFamily="18" charset="0"/>
              </a:rPr>
              <a:t>when process swapped out</a:t>
            </a:r>
          </a:p>
        </p:txBody>
      </p:sp>
      <p:sp>
        <p:nvSpPr>
          <p:cNvPr id="2" name="Slide Number Placeholder 3">
            <a:extLst>
              <a:ext uri="{FF2B5EF4-FFF2-40B4-BE49-F238E27FC236}">
                <a16:creationId xmlns:a16="http://schemas.microsoft.com/office/drawing/2014/main" id="{EF9E1532-BE8E-D542-3E24-7934A0CDC97F}"/>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31</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0" y="5029200"/>
            <a:ext cx="3581400" cy="381000"/>
          </a:xfrm>
          <a:prstGeom prst="rect">
            <a:avLst/>
          </a:prstGeom>
          <a:solidFill>
            <a:schemeClr val="bg1"/>
          </a:solidFill>
        </p:spPr>
        <p:txBody>
          <a:bodyPr wrap="square" rtlCol="0">
            <a:spAutoFit/>
          </a:bodyPr>
          <a:lstStyle/>
          <a:p>
            <a:endParaRPr lang="en-US" dirty="0"/>
          </a:p>
        </p:txBody>
      </p:sp>
      <p:sp>
        <p:nvSpPr>
          <p:cNvPr id="10" name="Rectangle 9"/>
          <p:cNvSpPr/>
          <p:nvPr/>
        </p:nvSpPr>
        <p:spPr>
          <a:xfrm>
            <a:off x="654264" y="4864412"/>
            <a:ext cx="8207825" cy="769441"/>
          </a:xfrm>
          <a:prstGeom prst="rect">
            <a:avLst/>
          </a:prstGeom>
        </p:spPr>
        <p:txBody>
          <a:bodyPr wrap="square">
            <a:spAutoFit/>
          </a:bodyPr>
          <a:lstStyle/>
          <a:p>
            <a:pPr marL="1376363" indent="-1376363"/>
            <a:r>
              <a:rPr lang="en-US" sz="2200" dirty="0">
                <a:solidFill>
                  <a:srgbClr val="C00000"/>
                </a:solidFill>
                <a:latin typeface="Calibri" panose="020F0502020204030204" pitchFamily="34" charset="0"/>
                <a:cs typeface="Calibri" panose="020F0502020204030204" pitchFamily="34" charset="0"/>
              </a:rPr>
              <a:t>Limitation:  </a:t>
            </a:r>
            <a:r>
              <a:rPr lang="en-US" sz="2100" dirty="0">
                <a:latin typeface="Calibri" panose="020F0502020204030204" pitchFamily="34" charset="0"/>
                <a:cs typeface="Calibri" panose="020F0502020204030204" pitchFamily="34" charset="0"/>
              </a:rPr>
              <a:t>Only allows blocked process to swap out;  what if </a:t>
            </a:r>
            <a:r>
              <a:rPr lang="en-US" sz="2100" dirty="0">
                <a:solidFill>
                  <a:srgbClr val="C00000"/>
                </a:solidFill>
                <a:latin typeface="Calibri" panose="020F0502020204030204" pitchFamily="34" charset="0"/>
                <a:cs typeface="Calibri" panose="020F0502020204030204" pitchFamily="34" charset="0"/>
              </a:rPr>
              <a:t>no blocked </a:t>
            </a:r>
            <a:r>
              <a:rPr lang="en-US" sz="2100" dirty="0">
                <a:latin typeface="Calibri" panose="020F0502020204030204" pitchFamily="34" charset="0"/>
                <a:cs typeface="Calibri" panose="020F0502020204030204" pitchFamily="34" charset="0"/>
              </a:rPr>
              <a:t>process, but still </a:t>
            </a:r>
            <a:r>
              <a:rPr lang="en-US" sz="2100" dirty="0">
                <a:solidFill>
                  <a:srgbClr val="C00000"/>
                </a:solidFill>
                <a:latin typeface="Calibri" panose="020F0502020204030204" pitchFamily="34" charset="0"/>
                <a:cs typeface="Calibri" panose="020F0502020204030204" pitchFamily="34" charset="0"/>
              </a:rPr>
              <a:t>need memory</a:t>
            </a:r>
          </a:p>
        </p:txBody>
      </p:sp>
      <p:sp>
        <p:nvSpPr>
          <p:cNvPr id="11" name="Rectangle 10"/>
          <p:cNvSpPr/>
          <p:nvPr/>
        </p:nvSpPr>
        <p:spPr>
          <a:xfrm>
            <a:off x="654263" y="5769882"/>
            <a:ext cx="8207826" cy="769441"/>
          </a:xfrm>
          <a:prstGeom prst="rect">
            <a:avLst/>
          </a:prstGeom>
        </p:spPr>
        <p:txBody>
          <a:bodyPr wrap="square">
            <a:spAutoFit/>
          </a:bodyPr>
          <a:lstStyle/>
          <a:p>
            <a:pPr marL="1376363" indent="-1376363"/>
            <a:r>
              <a:rPr lang="en-US" sz="2200" dirty="0">
                <a:solidFill>
                  <a:srgbClr val="C00000"/>
                </a:solidFill>
                <a:latin typeface="Calibri" panose="020F0502020204030204" pitchFamily="34" charset="0"/>
                <a:cs typeface="Calibri" panose="020F0502020204030204" pitchFamily="34" charset="0"/>
              </a:rPr>
              <a:t>Solution:</a:t>
            </a:r>
            <a:r>
              <a:rPr lang="en-US" sz="2200" dirty="0">
                <a:latin typeface="Calibri" panose="020F0502020204030204" pitchFamily="34" charset="0"/>
                <a:cs typeface="Calibri" panose="020F0502020204030204" pitchFamily="34" charset="0"/>
              </a:rPr>
              <a:t>     </a:t>
            </a:r>
            <a:r>
              <a:rPr lang="en-US" sz="2100" dirty="0">
                <a:latin typeface="Calibri" panose="020F0502020204030204" pitchFamily="34" charset="0"/>
                <a:cs typeface="Calibri" panose="020F0502020204030204" pitchFamily="34" charset="0"/>
              </a:rPr>
              <a:t>Add another state </a:t>
            </a:r>
            <a:r>
              <a:rPr lang="en-US" sz="2100" b="1" i="1" dirty="0">
                <a:solidFill>
                  <a:srgbClr val="0070C0"/>
                </a:solidFill>
                <a:latin typeface="Calibri" panose="020F0502020204030204" pitchFamily="34" charset="0"/>
                <a:cs typeface="Calibri" panose="020F0502020204030204" pitchFamily="34" charset="0"/>
              </a:rPr>
              <a:t>Ready</a:t>
            </a:r>
            <a:r>
              <a:rPr lang="en-US" sz="2100" dirty="0">
                <a:solidFill>
                  <a:srgbClr val="1A0AE4"/>
                </a:solidFill>
                <a:latin typeface="Calibri" panose="020F0502020204030204" pitchFamily="34" charset="0"/>
                <a:cs typeface="Calibri" panose="020F0502020204030204" pitchFamily="34" charset="0"/>
              </a:rPr>
              <a:t> </a:t>
            </a:r>
            <a:r>
              <a:rPr lang="en-US" sz="2100" b="1" i="1" dirty="0">
                <a:solidFill>
                  <a:srgbClr val="0070C0"/>
                </a:solidFill>
                <a:latin typeface="Calibri" panose="020F0502020204030204" pitchFamily="34" charset="0"/>
                <a:cs typeface="Calibri" panose="020F0502020204030204" pitchFamily="34" charset="0"/>
              </a:rPr>
              <a:t>Suspend</a:t>
            </a:r>
            <a:r>
              <a:rPr lang="en-US" sz="2100" dirty="0">
                <a:solidFill>
                  <a:srgbClr val="1A0AE4"/>
                </a:solidFill>
                <a:latin typeface="Calibri" panose="020F0502020204030204" pitchFamily="34" charset="0"/>
                <a:cs typeface="Calibri" panose="020F0502020204030204" pitchFamily="34" charset="0"/>
              </a:rPr>
              <a:t>, </a:t>
            </a:r>
            <a:r>
              <a:rPr lang="en-US" sz="2100" dirty="0">
                <a:latin typeface="Calibri" panose="020F0502020204030204" pitchFamily="34" charset="0"/>
                <a:cs typeface="Calibri" panose="020F0502020204030204" pitchFamily="34" charset="0"/>
              </a:rPr>
              <a:t>and </a:t>
            </a:r>
            <a:r>
              <a:rPr lang="en-US" sz="2100" dirty="0">
                <a:solidFill>
                  <a:srgbClr val="C00000"/>
                </a:solidFill>
                <a:latin typeface="Calibri" panose="020F0502020204030204" pitchFamily="34" charset="0"/>
                <a:cs typeface="Calibri" panose="020F0502020204030204" pitchFamily="34" charset="0"/>
              </a:rPr>
              <a:t>swap</a:t>
            </a:r>
            <a:r>
              <a:rPr lang="en-US" sz="2100" dirty="0">
                <a:latin typeface="Calibri" panose="020F0502020204030204" pitchFamily="34" charset="0"/>
                <a:cs typeface="Calibri" panose="020F0502020204030204" pitchFamily="34" charset="0"/>
              </a:rPr>
              <a:t> out a process from </a:t>
            </a:r>
            <a:r>
              <a:rPr lang="en-US" sz="2100" dirty="0">
                <a:solidFill>
                  <a:srgbClr val="C00000"/>
                </a:solidFill>
                <a:latin typeface="Calibri" panose="020F0502020204030204" pitchFamily="34" charset="0"/>
                <a:cs typeface="Calibri" panose="020F0502020204030204" pitchFamily="34" charset="0"/>
              </a:rPr>
              <a:t>Ready state</a:t>
            </a:r>
          </a:p>
        </p:txBody>
      </p:sp>
      <p:sp>
        <p:nvSpPr>
          <p:cNvPr id="12" name="Rectangle 1026"/>
          <p:cNvSpPr>
            <a:spLocks noGrp="1" noChangeArrowheads="1"/>
          </p:cNvSpPr>
          <p:nvPr>
            <p:ph type="title"/>
          </p:nvPr>
        </p:nvSpPr>
        <p:spPr>
          <a:xfrm>
            <a:off x="1055918" y="0"/>
            <a:ext cx="8044543" cy="847130"/>
          </a:xfrm>
          <a:ln>
            <a:noFill/>
          </a:ln>
        </p:spPr>
        <p:txBody>
          <a:bodyPr>
            <a:noAutofit/>
          </a:bodyPr>
          <a:lstStyle/>
          <a:p>
            <a:r>
              <a:rPr lang="en-US" dirty="0"/>
              <a:t>6 State Process Model</a:t>
            </a:r>
            <a:r>
              <a:rPr lang="en-US" sz="4200" b="1" dirty="0">
                <a:latin typeface="Comic Sans MS" pitchFamily="66" charset="0"/>
              </a:rPr>
              <a:t> </a:t>
            </a:r>
            <a:r>
              <a:rPr lang="en-US" sz="2000" b="1" dirty="0">
                <a:latin typeface="Comic Sans MS" pitchFamily="66" charset="0"/>
              </a:rPr>
              <a:t>(one suspend state)</a:t>
            </a:r>
            <a:endParaRPr lang="en-US" sz="4200" b="1" dirty="0">
              <a:latin typeface="Comic Sans MS" pitchFamily="66" charset="0"/>
            </a:endParaRPr>
          </a:p>
        </p:txBody>
      </p:sp>
      <p:sp>
        <p:nvSpPr>
          <p:cNvPr id="2" name="Slide Number Placeholder 3">
            <a:extLst>
              <a:ext uri="{FF2B5EF4-FFF2-40B4-BE49-F238E27FC236}">
                <a16:creationId xmlns:a16="http://schemas.microsoft.com/office/drawing/2014/main" id="{24044C3A-61D5-0B32-7B31-39DCB45560B6}"/>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32</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4" name="Picture 4">
            <a:extLst>
              <a:ext uri="{FF2B5EF4-FFF2-40B4-BE49-F238E27FC236}">
                <a16:creationId xmlns:a16="http://schemas.microsoft.com/office/drawing/2014/main" id="{3D57373C-A411-C4A9-B493-06F452252D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 t="785" r="-150" b="15432"/>
          <a:stretch/>
        </p:blipFill>
        <p:spPr bwMode="auto">
          <a:xfrm>
            <a:off x="699517" y="1255677"/>
            <a:ext cx="7845391" cy="33325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26"/>
          <p:cNvSpPr>
            <a:spLocks noGrp="1" noChangeArrowheads="1"/>
          </p:cNvSpPr>
          <p:nvPr>
            <p:ph type="title"/>
          </p:nvPr>
        </p:nvSpPr>
        <p:spPr>
          <a:xfrm>
            <a:off x="1088571" y="43544"/>
            <a:ext cx="7913916" cy="730250"/>
          </a:xfrm>
          <a:ln>
            <a:noFill/>
          </a:ln>
        </p:spPr>
        <p:txBody>
          <a:bodyPr>
            <a:noAutofit/>
          </a:bodyPr>
          <a:lstStyle/>
          <a:p>
            <a:r>
              <a:rPr lang="en-US" dirty="0"/>
              <a:t>7 State Process Model </a:t>
            </a:r>
            <a:r>
              <a:rPr lang="en-US" sz="2000" b="1" dirty="0">
                <a:latin typeface="Comic Sans MS" pitchFamily="66" charset="0"/>
              </a:rPr>
              <a:t>(two suspend states)</a:t>
            </a:r>
            <a:endParaRPr lang="en-US" sz="4200" b="1" dirty="0">
              <a:latin typeface="Comic Sans MS" pitchFamily="66" charset="0"/>
            </a:endParaRPr>
          </a:p>
        </p:txBody>
      </p:sp>
      <p:sp>
        <p:nvSpPr>
          <p:cNvPr id="2" name="Slide Number Placeholder 3">
            <a:extLst>
              <a:ext uri="{FF2B5EF4-FFF2-40B4-BE49-F238E27FC236}">
                <a16:creationId xmlns:a16="http://schemas.microsoft.com/office/drawing/2014/main" id="{C3C6FEFE-706E-F04E-8367-CFE93B70B65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33</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4" name="Picture 4">
            <a:extLst>
              <a:ext uri="{FF2B5EF4-FFF2-40B4-BE49-F238E27FC236}">
                <a16:creationId xmlns:a16="http://schemas.microsoft.com/office/drawing/2014/main" id="{70F55BEB-93F0-E0BD-0664-A3960E7343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 b="7584"/>
          <a:stretch/>
        </p:blipFill>
        <p:spPr bwMode="auto">
          <a:xfrm>
            <a:off x="609600" y="1229711"/>
            <a:ext cx="8055192" cy="501343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8F034B5-14F2-DD3A-C7B2-C6E0981B2BF0}"/>
              </a:ext>
            </a:extLst>
          </p:cNvPr>
          <p:cNvSpPr/>
          <p:nvPr/>
        </p:nvSpPr>
        <p:spPr>
          <a:xfrm>
            <a:off x="4729278" y="1229711"/>
            <a:ext cx="4066379" cy="898644"/>
          </a:xfrm>
          <a:prstGeom prst="rect">
            <a:avLst/>
          </a:prstGeom>
        </p:spPr>
        <p:txBody>
          <a:bodyPr wrap="square">
            <a:spAutoFit/>
          </a:bodyPr>
          <a:lstStyle/>
          <a:p>
            <a:pPr>
              <a:lnSpc>
                <a:spcPct val="130000"/>
              </a:lnSpc>
            </a:pPr>
            <a:r>
              <a:rPr lang="en-US" sz="2100" b="1" i="1" dirty="0">
                <a:solidFill>
                  <a:srgbClr val="0070C0"/>
                </a:solidFill>
                <a:latin typeface="Calibri" panose="020F0502020204030204" pitchFamily="34" charset="0"/>
                <a:cs typeface="Calibri" panose="020F0502020204030204" pitchFamily="34" charset="0"/>
              </a:rPr>
              <a:t>Suspend </a:t>
            </a:r>
            <a:r>
              <a:rPr lang="en-US" sz="2100" dirty="0">
                <a:latin typeface="Calibri" panose="020F0502020204030204" pitchFamily="34" charset="0"/>
                <a:cs typeface="Calibri" panose="020F0502020204030204" pitchFamily="34" charset="0"/>
              </a:rPr>
              <a:t>state split into two:</a:t>
            </a:r>
          </a:p>
          <a:p>
            <a:pPr>
              <a:lnSpc>
                <a:spcPct val="130000"/>
              </a:lnSpc>
            </a:pPr>
            <a:r>
              <a:rPr lang="en-US" sz="2100" b="1" i="1" dirty="0">
                <a:solidFill>
                  <a:srgbClr val="0070C0"/>
                </a:solidFill>
                <a:latin typeface="Calibri" panose="020F0502020204030204" pitchFamily="34" charset="0"/>
                <a:cs typeface="Calibri" panose="020F0502020204030204" pitchFamily="34" charset="0"/>
              </a:rPr>
              <a:t>Ready</a:t>
            </a:r>
            <a:r>
              <a:rPr lang="en-US" sz="2100" dirty="0">
                <a:solidFill>
                  <a:srgbClr val="1A0AE4"/>
                </a:solidFill>
                <a:latin typeface="Calibri" panose="020F0502020204030204" pitchFamily="34" charset="0"/>
                <a:cs typeface="Calibri" panose="020F0502020204030204" pitchFamily="34" charset="0"/>
              </a:rPr>
              <a:t> </a:t>
            </a:r>
            <a:r>
              <a:rPr lang="en-US" sz="2100" b="1" i="1" dirty="0">
                <a:solidFill>
                  <a:srgbClr val="0070C0"/>
                </a:solidFill>
                <a:latin typeface="Calibri" panose="020F0502020204030204" pitchFamily="34" charset="0"/>
                <a:cs typeface="Calibri" panose="020F0502020204030204" pitchFamily="34" charset="0"/>
              </a:rPr>
              <a:t>Suspend</a:t>
            </a:r>
            <a:r>
              <a:rPr lang="en-US" sz="2100" dirty="0">
                <a:solidFill>
                  <a:srgbClr val="1A0AE4"/>
                </a:solidFill>
                <a:latin typeface="Calibri" panose="020F0502020204030204" pitchFamily="34" charset="0"/>
                <a:cs typeface="Calibri" panose="020F0502020204030204" pitchFamily="34" charset="0"/>
              </a:rPr>
              <a:t> </a:t>
            </a:r>
            <a:r>
              <a:rPr lang="en-US" sz="2100" dirty="0">
                <a:latin typeface="Calibri" panose="020F0502020204030204" pitchFamily="34" charset="0"/>
                <a:cs typeface="Calibri" panose="020F0502020204030204" pitchFamily="34" charset="0"/>
              </a:rPr>
              <a:t>&amp; </a:t>
            </a:r>
            <a:r>
              <a:rPr lang="en-US" sz="2100" b="1" i="1" dirty="0">
                <a:solidFill>
                  <a:srgbClr val="0070C0"/>
                </a:solidFill>
                <a:latin typeface="Calibri" panose="020F0502020204030204" pitchFamily="34" charset="0"/>
                <a:cs typeface="Calibri" panose="020F0502020204030204" pitchFamily="34" charset="0"/>
              </a:rPr>
              <a:t>Blocked</a:t>
            </a:r>
            <a:r>
              <a:rPr lang="en-US" sz="2100" dirty="0">
                <a:solidFill>
                  <a:srgbClr val="1A0AE4"/>
                </a:solidFill>
                <a:latin typeface="Calibri" panose="020F0502020204030204" pitchFamily="34" charset="0"/>
                <a:cs typeface="Calibri" panose="020F0502020204030204" pitchFamily="34" charset="0"/>
              </a:rPr>
              <a:t> </a:t>
            </a:r>
            <a:r>
              <a:rPr lang="en-US" sz="2100" b="1" i="1" dirty="0">
                <a:solidFill>
                  <a:srgbClr val="0070C0"/>
                </a:solidFill>
                <a:latin typeface="Calibri" panose="020F0502020204030204" pitchFamily="34" charset="0"/>
                <a:cs typeface="Calibri" panose="020F0502020204030204" pitchFamily="34" charset="0"/>
              </a:rPr>
              <a:t>Suspend</a:t>
            </a:r>
            <a:endParaRPr lang="en-US" sz="2100"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Context Switching</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
        <p:nvSpPr>
          <p:cNvPr id="3" name="Slide Number Placeholder 3">
            <a:extLst>
              <a:ext uri="{FF2B5EF4-FFF2-40B4-BE49-F238E27FC236}">
                <a16:creationId xmlns:a16="http://schemas.microsoft.com/office/drawing/2014/main" id="{32661A78-622C-4B46-DDC9-C6601D429E7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34</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1385385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1045029" y="0"/>
            <a:ext cx="7685314" cy="796125"/>
          </a:xfrm>
          <a:ln>
            <a:noFill/>
          </a:ln>
        </p:spPr>
        <p:txBody>
          <a:bodyPr>
            <a:noAutofit/>
          </a:bodyPr>
          <a:lstStyle/>
          <a:p>
            <a:r>
              <a:rPr lang="en-US" dirty="0"/>
              <a:t>Context Switch / Process Switch</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0229" y="1642890"/>
            <a:ext cx="7438572" cy="498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51669" y="1011997"/>
            <a:ext cx="8748790" cy="400110"/>
          </a:xfrm>
          <a:prstGeom prst="rect">
            <a:avLst/>
          </a:prstGeom>
          <a:noFill/>
        </p:spPr>
        <p:txBody>
          <a:bodyPr wrap="square" rtlCol="0">
            <a:spAutoFit/>
          </a:bodyPr>
          <a:lstStyle/>
          <a:p>
            <a:r>
              <a:rPr lang="en-US" sz="2000" dirty="0">
                <a:latin typeface="Comic Sans MS" charset="0"/>
                <a:ea typeface="Comic Sans MS" charset="0"/>
                <a:cs typeface="Comic Sans MS" charset="0"/>
              </a:rPr>
              <a:t>Context switch occurs when CPU switches from one process to another</a:t>
            </a:r>
          </a:p>
        </p:txBody>
      </p:sp>
      <p:sp>
        <p:nvSpPr>
          <p:cNvPr id="3" name="Slide Number Placeholder 3">
            <a:extLst>
              <a:ext uri="{FF2B5EF4-FFF2-40B4-BE49-F238E27FC236}">
                <a16:creationId xmlns:a16="http://schemas.microsoft.com/office/drawing/2014/main" id="{4A2C3E31-56A5-C12F-2018-9E6DBE29114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35</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359227" y="1099458"/>
            <a:ext cx="8588830" cy="5431971"/>
          </a:xfrm>
          <a:prstGeom prst="rect">
            <a:avLst/>
          </a:prstGeom>
          <a:noFill/>
          <a:ln w="9525">
            <a:noFill/>
            <a:miter lim="800000"/>
            <a:headEnd/>
            <a:tailEnd/>
          </a:ln>
          <a:effectLst/>
        </p:spPr>
        <p:txBody>
          <a:bodyPr/>
          <a:lstStyle/>
          <a:p>
            <a:pPr marL="342900" indent="-342900">
              <a:spcBef>
                <a:spcPts val="600"/>
              </a:spcBef>
              <a:buFont typeface="Wingdings" pitchFamily="2" charset="2"/>
              <a:buChar char="§"/>
            </a:pPr>
            <a:r>
              <a:rPr lang="en-US" sz="2400" dirty="0">
                <a:latin typeface="Calibri" panose="020F0502020204030204" pitchFamily="34" charset="0"/>
                <a:cs typeface="Calibri" panose="020F0502020204030204" pitchFamily="34" charset="0"/>
              </a:rPr>
              <a:t>When CPU switches to another process, system must… </a:t>
            </a:r>
          </a:p>
          <a:p>
            <a:pPr marL="685800" lvl="1" indent="-228600" defTabSz="704850">
              <a:spcBef>
                <a:spcPts val="600"/>
              </a:spcBef>
              <a:buFont typeface="Arial" panose="020B0604020202020204" pitchFamily="34" charset="0"/>
              <a:buChar char="•"/>
            </a:pPr>
            <a:r>
              <a:rPr lang="en-US" sz="2100" dirty="0">
                <a:solidFill>
                  <a:srgbClr val="C00000"/>
                </a:solidFill>
                <a:latin typeface="Calibri" panose="020F0502020204030204" pitchFamily="34" charset="0"/>
                <a:cs typeface="Calibri" panose="020F0502020204030204" pitchFamily="34" charset="0"/>
              </a:rPr>
              <a:t>Save state	</a:t>
            </a:r>
            <a:r>
              <a:rPr lang="en-US" sz="2100" dirty="0">
                <a:latin typeface="Abadi" panose="020B0604020104020204" pitchFamily="34" charset="0"/>
                <a:cs typeface="Calibri" panose="020F0502020204030204" pitchFamily="34" charset="0"/>
              </a:rPr>
              <a:t>→</a:t>
            </a:r>
            <a:r>
              <a:rPr lang="en-US" sz="2100" dirty="0">
                <a:latin typeface="Calibri" panose="020F0502020204030204" pitchFamily="34" charset="0"/>
                <a:cs typeface="Calibri" panose="020F0502020204030204" pitchFamily="34" charset="0"/>
              </a:rPr>
              <a:t>  state (context) of current process</a:t>
            </a:r>
          </a:p>
          <a:p>
            <a:pPr marL="685800" lvl="1" indent="-228600" defTabSz="704850">
              <a:spcBef>
                <a:spcPts val="600"/>
              </a:spcBef>
              <a:buFont typeface="Arial" panose="020B0604020202020204" pitchFamily="34" charset="0"/>
              <a:buChar char="•"/>
            </a:pPr>
            <a:r>
              <a:rPr lang="en-US" sz="2100" dirty="0">
                <a:solidFill>
                  <a:srgbClr val="C00000"/>
                </a:solidFill>
                <a:latin typeface="Calibri" panose="020F0502020204030204" pitchFamily="34" charset="0"/>
                <a:cs typeface="Calibri" panose="020F0502020204030204" pitchFamily="34" charset="0"/>
              </a:rPr>
              <a:t>Load state</a:t>
            </a:r>
            <a:r>
              <a:rPr lang="en-US" sz="2100" dirty="0">
                <a:latin typeface="Calibri" panose="020F0502020204030204" pitchFamily="34" charset="0"/>
                <a:cs typeface="Calibri" panose="020F0502020204030204" pitchFamily="34" charset="0"/>
              </a:rPr>
              <a:t>  	</a:t>
            </a:r>
            <a:r>
              <a:rPr lang="en-US" sz="2100" dirty="0">
                <a:latin typeface="Abadi" panose="020B0604020104020204" pitchFamily="34" charset="0"/>
                <a:cs typeface="Calibri" panose="020F0502020204030204" pitchFamily="34" charset="0"/>
              </a:rPr>
              <a:t>→</a:t>
            </a:r>
            <a:r>
              <a:rPr lang="en-US" sz="2100" dirty="0">
                <a:latin typeface="Calibri" panose="020F0502020204030204" pitchFamily="34" charset="0"/>
                <a:cs typeface="Calibri" panose="020F0502020204030204" pitchFamily="34" charset="0"/>
              </a:rPr>
              <a:t>  saved state for the new process</a:t>
            </a:r>
          </a:p>
          <a:p>
            <a:pPr marL="342900" indent="-342900">
              <a:spcBef>
                <a:spcPts val="2400"/>
              </a:spcBef>
              <a:buFont typeface="Wingdings" pitchFamily="2" charset="2"/>
              <a:buChar char="§"/>
            </a:pPr>
            <a:r>
              <a:rPr lang="en-US" sz="2400" dirty="0">
                <a:latin typeface="Calibri" panose="020F0502020204030204" pitchFamily="34" charset="0"/>
                <a:cs typeface="Calibri" panose="020F0502020204030204" pitchFamily="34" charset="0"/>
              </a:rPr>
              <a:t>Context switch time is </a:t>
            </a:r>
            <a:r>
              <a:rPr lang="en-US" sz="2400" i="1" dirty="0">
                <a:solidFill>
                  <a:srgbClr val="0070C0"/>
                </a:solidFill>
                <a:latin typeface="Calibri" panose="020F0502020204030204" pitchFamily="34" charset="0"/>
                <a:cs typeface="Calibri" panose="020F0502020204030204" pitchFamily="34" charset="0"/>
              </a:rPr>
              <a:t>overhead</a:t>
            </a:r>
            <a:r>
              <a:rPr lang="en-US" sz="2400" dirty="0">
                <a:latin typeface="Calibri" panose="020F0502020204030204" pitchFamily="34" charset="0"/>
                <a:cs typeface="Calibri" panose="020F0502020204030204" pitchFamily="34" charset="0"/>
              </a:rPr>
              <a:t> </a:t>
            </a:r>
          </a:p>
          <a:p>
            <a:pPr marL="685800" lvl="1" indent="-228600">
              <a:spcBef>
                <a:spcPts val="600"/>
              </a:spcBef>
              <a:buFont typeface="Arial" panose="020B0604020202020204" pitchFamily="34" charset="0"/>
              <a:buChar char="•"/>
            </a:pPr>
            <a:r>
              <a:rPr lang="en-US" sz="2100" dirty="0">
                <a:latin typeface="Calibri" panose="020F0502020204030204" pitchFamily="34" charset="0"/>
                <a:cs typeface="Calibri" panose="020F0502020204030204" pitchFamily="34" charset="0"/>
              </a:rPr>
              <a:t>system does </a:t>
            </a:r>
            <a:r>
              <a:rPr lang="en-US" sz="2100" i="1" dirty="0">
                <a:solidFill>
                  <a:srgbClr val="0070C0"/>
                </a:solidFill>
                <a:latin typeface="Calibri" panose="020F0502020204030204" pitchFamily="34" charset="0"/>
                <a:cs typeface="Calibri" panose="020F0502020204030204" pitchFamily="34" charset="0"/>
              </a:rPr>
              <a:t>no useful work </a:t>
            </a:r>
            <a:r>
              <a:rPr lang="en-US" sz="2100" dirty="0">
                <a:latin typeface="Calibri" panose="020F0502020204030204" pitchFamily="34" charset="0"/>
                <a:cs typeface="Calibri" panose="020F0502020204030204" pitchFamily="34" charset="0"/>
              </a:rPr>
              <a:t>while switching</a:t>
            </a:r>
          </a:p>
          <a:p>
            <a:pPr marL="342900" indent="-342900">
              <a:spcBef>
                <a:spcPts val="2400"/>
              </a:spcBef>
              <a:buFont typeface="Wingdings" pitchFamily="2" charset="2"/>
              <a:buChar char="§"/>
            </a:pPr>
            <a:r>
              <a:rPr lang="en-US" sz="2400" dirty="0">
                <a:latin typeface="Calibri" panose="020F0502020204030204" pitchFamily="34" charset="0"/>
                <a:cs typeface="Calibri" panose="020F0502020204030204" pitchFamily="34" charset="0"/>
              </a:rPr>
              <a:t>Process switch is mainly performed by </a:t>
            </a:r>
            <a:r>
              <a:rPr lang="en-US" sz="2400" b="1" i="1" dirty="0">
                <a:solidFill>
                  <a:srgbClr val="FF0000"/>
                </a:solidFill>
                <a:latin typeface="Calibri" panose="020F0502020204030204" pitchFamily="34" charset="0"/>
                <a:cs typeface="Calibri" panose="020F0502020204030204" pitchFamily="34" charset="0"/>
              </a:rPr>
              <a:t>Dispatcher</a:t>
            </a:r>
            <a:r>
              <a:rPr lang="en-US" sz="2400" dirty="0">
                <a:latin typeface="Calibri" panose="020F0502020204030204" pitchFamily="34" charset="0"/>
                <a:cs typeface="Calibri" panose="020F0502020204030204" pitchFamily="34" charset="0"/>
              </a:rPr>
              <a:t> </a:t>
            </a:r>
          </a:p>
          <a:p>
            <a:pPr marL="685800" lvl="1" indent="-228600" defTabSz="857250">
              <a:spcBef>
                <a:spcPts val="600"/>
              </a:spcBef>
              <a:buFont typeface="Arial" panose="020B0604020202020204" pitchFamily="34" charset="0"/>
              <a:buChar char="•"/>
            </a:pPr>
            <a:r>
              <a:rPr lang="en-US" sz="2100" dirty="0">
                <a:solidFill>
                  <a:srgbClr val="FF0000"/>
                </a:solidFill>
                <a:latin typeface="Calibri" panose="020F0502020204030204" pitchFamily="34" charset="0"/>
                <a:cs typeface="Calibri" panose="020F0502020204030204" pitchFamily="34" charset="0"/>
              </a:rPr>
              <a:t>scheduler</a:t>
            </a:r>
            <a:r>
              <a:rPr lang="en-US" sz="2100" dirty="0">
                <a:latin typeface="Calibri" panose="020F0502020204030204" pitchFamily="34" charset="0"/>
                <a:cs typeface="Calibri" panose="020F0502020204030204" pitchFamily="34" charset="0"/>
              </a:rPr>
              <a:t> 	</a:t>
            </a:r>
            <a:r>
              <a:rPr lang="en-US" sz="2100" dirty="0">
                <a:latin typeface="Abadi" panose="020B0604020104020204" pitchFamily="34" charset="0"/>
                <a:cs typeface="Calibri" panose="020F0502020204030204" pitchFamily="34" charset="0"/>
              </a:rPr>
              <a:t>→</a:t>
            </a:r>
            <a:r>
              <a:rPr lang="en-US" sz="2100" dirty="0">
                <a:latin typeface="Calibri" panose="020F0502020204030204" pitchFamily="34" charset="0"/>
                <a:cs typeface="Calibri" panose="020F0502020204030204" pitchFamily="34" charset="0"/>
              </a:rPr>
              <a:t>  only selects the process to be switched</a:t>
            </a:r>
          </a:p>
          <a:p>
            <a:pPr marL="685800" lvl="1" indent="-228600" defTabSz="857250">
              <a:spcBef>
                <a:spcPts val="600"/>
              </a:spcBef>
              <a:buFont typeface="Arial" panose="020B0604020202020204" pitchFamily="34" charset="0"/>
              <a:buChar char="•"/>
            </a:pPr>
            <a:r>
              <a:rPr lang="en-US" sz="2100" dirty="0">
                <a:solidFill>
                  <a:srgbClr val="FF0000"/>
                </a:solidFill>
                <a:latin typeface="Calibri" panose="020F0502020204030204" pitchFamily="34" charset="0"/>
                <a:cs typeface="Calibri" panose="020F0502020204030204" pitchFamily="34" charset="0"/>
              </a:rPr>
              <a:t>dispatch latency</a:t>
            </a:r>
            <a:r>
              <a:rPr lang="en-US" sz="2100" b="1" dirty="0">
                <a:solidFill>
                  <a:srgbClr val="FF0000"/>
                </a:solidFill>
                <a:latin typeface="Calibri" panose="020F0502020204030204" pitchFamily="34" charset="0"/>
                <a:cs typeface="Calibri" panose="020F0502020204030204" pitchFamily="34" charset="0"/>
              </a:rPr>
              <a:t>	</a:t>
            </a:r>
            <a:r>
              <a:rPr lang="en-US" sz="2100" dirty="0">
                <a:latin typeface="Abadi" panose="020B0604020104020204" pitchFamily="34" charset="0"/>
                <a:cs typeface="Calibri" panose="020F0502020204030204" pitchFamily="34" charset="0"/>
              </a:rPr>
              <a:t>→</a:t>
            </a:r>
            <a:r>
              <a:rPr lang="en-US" sz="2100" dirty="0">
                <a:latin typeface="Calibri" panose="020F0502020204030204" pitchFamily="34" charset="0"/>
                <a:cs typeface="Calibri" panose="020F0502020204030204" pitchFamily="34" charset="0"/>
              </a:rPr>
              <a:t>  time it takes for dispatcher to stop one process</a:t>
            </a:r>
            <a:br>
              <a:rPr lang="en-US" sz="2100" dirty="0">
                <a:latin typeface="Calibri" panose="020F0502020204030204" pitchFamily="34" charset="0"/>
                <a:cs typeface="Calibri" panose="020F0502020204030204" pitchFamily="34" charset="0"/>
              </a:rPr>
            </a:br>
            <a:r>
              <a:rPr lang="en-US" sz="2100" dirty="0">
                <a:latin typeface="Calibri" panose="020F0502020204030204" pitchFamily="34" charset="0"/>
                <a:cs typeface="Calibri" panose="020F0502020204030204" pitchFamily="34" charset="0"/>
              </a:rPr>
              <a:t>			       &amp; start another</a:t>
            </a:r>
          </a:p>
          <a:p>
            <a:pPr marL="342900" indent="-342900">
              <a:spcBef>
                <a:spcPts val="1800"/>
              </a:spcBef>
              <a:buFont typeface="Wingdings" pitchFamily="2" charset="2"/>
              <a:buChar char="§"/>
            </a:pPr>
            <a:r>
              <a:rPr lang="en-US" sz="2400" dirty="0">
                <a:latin typeface="Calibri" panose="020F0502020204030204" pitchFamily="34" charset="0"/>
                <a:cs typeface="Calibri" panose="020F0502020204030204" pitchFamily="34" charset="0"/>
              </a:rPr>
              <a:t>Process switch triggered by…</a:t>
            </a:r>
          </a:p>
          <a:p>
            <a:pPr marL="685800" lvl="1" indent="-228600">
              <a:spcBef>
                <a:spcPts val="600"/>
              </a:spcBef>
              <a:buFont typeface="Arial" panose="020B0604020202020204" pitchFamily="34" charset="0"/>
              <a:buChar char="•"/>
            </a:pPr>
            <a:r>
              <a:rPr lang="en-US" sz="2100" dirty="0">
                <a:latin typeface="Calibri" panose="020F0502020204030204" pitchFamily="34" charset="0"/>
                <a:cs typeface="Calibri" panose="020F0502020204030204" pitchFamily="34" charset="0"/>
              </a:rPr>
              <a:t>interrupt, system call, exception, system timer, or signal</a:t>
            </a:r>
          </a:p>
          <a:p>
            <a:pPr marL="800100" lvl="1" indent="-342900">
              <a:spcBef>
                <a:spcPts val="600"/>
              </a:spcBef>
              <a:buFont typeface="Wingdings" pitchFamily="2" charset="2"/>
              <a:buChar char="§"/>
            </a:pPr>
            <a:endParaRPr lang="en-US" sz="2400" dirty="0">
              <a:latin typeface="Calibri" panose="020F0502020204030204" pitchFamily="34" charset="0"/>
              <a:cs typeface="Calibri" panose="020F0502020204030204" pitchFamily="34" charset="0"/>
            </a:endParaRPr>
          </a:p>
        </p:txBody>
      </p:sp>
      <p:sp>
        <p:nvSpPr>
          <p:cNvPr id="9" name="Rectangle 1026"/>
          <p:cNvSpPr txBox="1">
            <a:spLocks noChangeArrowheads="1"/>
          </p:cNvSpPr>
          <p:nvPr/>
        </p:nvSpPr>
        <p:spPr>
          <a:xfrm>
            <a:off x="849086" y="54430"/>
            <a:ext cx="8022771" cy="702578"/>
          </a:xfrm>
          <a:prstGeom prst="rect">
            <a:avLst/>
          </a:prstGeom>
          <a:ln>
            <a:noFill/>
          </a:ln>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006699"/>
                </a:solidFill>
                <a:ea typeface="MS PGothic" pitchFamily="34" charset="-128"/>
              </a:rPr>
              <a:t>Context Switch / Process Switch</a:t>
            </a:r>
          </a:p>
        </p:txBody>
      </p:sp>
      <p:sp>
        <p:nvSpPr>
          <p:cNvPr id="2" name="Slide Number Placeholder 3">
            <a:extLst>
              <a:ext uri="{FF2B5EF4-FFF2-40B4-BE49-F238E27FC236}">
                <a16:creationId xmlns:a16="http://schemas.microsoft.com/office/drawing/2014/main" id="{E1608BBF-C4C3-7BEA-524F-6575F17EF4D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36</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465189" y="1056642"/>
            <a:ext cx="8479970" cy="5476238"/>
          </a:xfrm>
          <a:prstGeom prst="rect">
            <a:avLst/>
          </a:prstGeom>
          <a:noFill/>
          <a:ln w="9525">
            <a:noFill/>
            <a:miter lim="800000"/>
            <a:headEnd/>
            <a:tailEnd/>
          </a:ln>
          <a:effectLst/>
        </p:spPr>
        <p:txBody>
          <a:bodyPr/>
          <a:lstStyle/>
          <a:p>
            <a:pPr marL="342900" indent="-342900">
              <a:spcBef>
                <a:spcPts val="1200"/>
              </a:spcBef>
            </a:pPr>
            <a:r>
              <a:rPr lang="en-US" sz="2200" dirty="0">
                <a:latin typeface="Calibri" panose="020F0502020204030204" pitchFamily="34" charset="0"/>
                <a:cs typeface="Calibri" panose="020F0502020204030204" pitchFamily="34" charset="0"/>
              </a:rPr>
              <a:t>Steps involved in Process switch:</a:t>
            </a:r>
          </a:p>
          <a:p>
            <a:pPr marL="403225" lvl="1" indent="-342900">
              <a:spcBef>
                <a:spcPts val="1200"/>
              </a:spcBef>
              <a:buFont typeface="Wingdings" pitchFamily="2" charset="2"/>
              <a:buChar char="§"/>
            </a:pPr>
            <a:r>
              <a:rPr lang="en-US" sz="2200" dirty="0">
                <a:latin typeface="Calibri" panose="020F0502020204030204" pitchFamily="34" charset="0"/>
                <a:cs typeface="Calibri" panose="020F0502020204030204" pitchFamily="34" charset="0"/>
              </a:rPr>
              <a:t>Change CPU </a:t>
            </a:r>
            <a:r>
              <a:rPr lang="en-US" sz="2200" dirty="0">
                <a:solidFill>
                  <a:srgbClr val="C00000"/>
                </a:solidFill>
                <a:latin typeface="Calibri" panose="020F0502020204030204" pitchFamily="34" charset="0"/>
                <a:cs typeface="Calibri" panose="020F0502020204030204" pitchFamily="34" charset="0"/>
              </a:rPr>
              <a:t>mode</a:t>
            </a:r>
            <a:r>
              <a:rPr lang="en-US" sz="2200" dirty="0">
                <a:latin typeface="Calibri" panose="020F0502020204030204" pitchFamily="34" charset="0"/>
                <a:cs typeface="Calibri" panose="020F0502020204030204" pitchFamily="34" charset="0"/>
              </a:rPr>
              <a:t> to </a:t>
            </a:r>
            <a:r>
              <a:rPr lang="en-US" sz="2200" dirty="0">
                <a:solidFill>
                  <a:srgbClr val="0070C0"/>
                </a:solidFill>
                <a:latin typeface="Calibri" panose="020F0502020204030204" pitchFamily="34" charset="0"/>
                <a:cs typeface="Calibri" panose="020F0502020204030204" pitchFamily="34" charset="0"/>
              </a:rPr>
              <a:t>Kernel</a:t>
            </a:r>
          </a:p>
          <a:p>
            <a:pPr marL="403225" lvl="1" indent="-342900">
              <a:spcBef>
                <a:spcPts val="1200"/>
              </a:spcBef>
              <a:buFont typeface="Wingdings" pitchFamily="2" charset="2"/>
              <a:buChar char="§"/>
            </a:pPr>
            <a:r>
              <a:rPr lang="en-US" sz="2200" dirty="0">
                <a:solidFill>
                  <a:srgbClr val="C00000"/>
                </a:solidFill>
                <a:latin typeface="Calibri" panose="020F0502020204030204" pitchFamily="34" charset="0"/>
                <a:cs typeface="Calibri" panose="020F0502020204030204" pitchFamily="34" charset="0"/>
              </a:rPr>
              <a:t>Save context </a:t>
            </a:r>
            <a:r>
              <a:rPr lang="en-US" sz="2200" dirty="0">
                <a:latin typeface="Calibri" panose="020F0502020204030204" pitchFamily="34" charset="0"/>
                <a:cs typeface="Calibri" panose="020F0502020204030204" pitchFamily="34" charset="0"/>
              </a:rPr>
              <a:t>of currently running process in its PCB</a:t>
            </a:r>
          </a:p>
          <a:p>
            <a:pPr lvl="2" indent="-342900">
              <a:spcBef>
                <a:spcPts val="600"/>
              </a:spcBef>
              <a:buFont typeface="Arial" panose="020B0604020202020204" pitchFamily="34" charset="0"/>
              <a:buChar char="•"/>
            </a:pPr>
            <a:r>
              <a:rPr lang="en-US" sz="2100" dirty="0">
                <a:latin typeface="Calibri" panose="020F0502020204030204" pitchFamily="34" charset="0"/>
                <a:cs typeface="Calibri" panose="020F0502020204030204" pitchFamily="34" charset="0"/>
              </a:rPr>
              <a:t>including contents of PC, SP, CPU registers, &amp; process state</a:t>
            </a:r>
          </a:p>
          <a:p>
            <a:pPr lvl="2" indent="-342900">
              <a:spcBef>
                <a:spcPts val="600"/>
              </a:spcBef>
              <a:buFont typeface="Arial" panose="020B0604020202020204" pitchFamily="34" charset="0"/>
              <a:buChar char="•"/>
            </a:pPr>
            <a:r>
              <a:rPr lang="en-US" sz="2100" dirty="0">
                <a:latin typeface="Calibri" panose="020F0502020204030204" pitchFamily="34" charset="0"/>
                <a:cs typeface="Calibri" panose="020F0502020204030204" pitchFamily="34" charset="0"/>
              </a:rPr>
              <a:t>updated PCB is moved to an appropriate Queue</a:t>
            </a:r>
          </a:p>
          <a:p>
            <a:pPr marL="403225" lvl="1" indent="-342900">
              <a:spcBef>
                <a:spcPts val="1200"/>
              </a:spcBef>
              <a:buFont typeface="Wingdings" pitchFamily="2" charset="2"/>
              <a:buChar char="§"/>
            </a:pPr>
            <a:r>
              <a:rPr lang="en-US" sz="2200" dirty="0">
                <a:solidFill>
                  <a:srgbClr val="C00000"/>
                </a:solidFill>
                <a:latin typeface="Calibri" panose="020F0502020204030204" pitchFamily="34" charset="0"/>
                <a:cs typeface="Calibri" panose="020F0502020204030204" pitchFamily="34" charset="0"/>
              </a:rPr>
              <a:t>Select</a:t>
            </a:r>
            <a:r>
              <a:rPr lang="en-US" sz="2200" dirty="0">
                <a:latin typeface="Calibri" panose="020F0502020204030204" pitchFamily="34" charset="0"/>
                <a:cs typeface="Calibri" panose="020F0502020204030204" pitchFamily="34" charset="0"/>
              </a:rPr>
              <a:t> another process for execution (</a:t>
            </a:r>
            <a:r>
              <a:rPr lang="en-US" sz="2200" i="1" dirty="0">
                <a:latin typeface="Calibri" panose="020F0502020204030204" pitchFamily="34" charset="0"/>
                <a:cs typeface="Calibri" panose="020F0502020204030204" pitchFamily="34" charset="0"/>
              </a:rPr>
              <a:t>Process Scheduler</a:t>
            </a:r>
            <a:r>
              <a:rPr lang="en-US" sz="2200" dirty="0">
                <a:latin typeface="Calibri" panose="020F0502020204030204" pitchFamily="34" charset="0"/>
                <a:cs typeface="Calibri" panose="020F0502020204030204" pitchFamily="34" charset="0"/>
              </a:rPr>
              <a:t>) </a:t>
            </a:r>
          </a:p>
          <a:p>
            <a:pPr marL="403225" lvl="1" indent="-342900">
              <a:spcBef>
                <a:spcPts val="1200"/>
              </a:spcBef>
              <a:buFont typeface="Wingdings" pitchFamily="2" charset="2"/>
              <a:buChar char="§"/>
            </a:pPr>
            <a:r>
              <a:rPr lang="en-US" sz="2200" dirty="0">
                <a:solidFill>
                  <a:srgbClr val="C00000"/>
                </a:solidFill>
                <a:latin typeface="Calibri" panose="020F0502020204030204" pitchFamily="34" charset="0"/>
                <a:cs typeface="Calibri" panose="020F0502020204030204" pitchFamily="34" charset="0"/>
              </a:rPr>
              <a:t>Update</a:t>
            </a:r>
            <a:r>
              <a:rPr lang="en-US" sz="2200" dirty="0">
                <a:latin typeface="Calibri" panose="020F0502020204030204" pitchFamily="34" charset="0"/>
                <a:cs typeface="Calibri" panose="020F0502020204030204" pitchFamily="34" charset="0"/>
              </a:rPr>
              <a:t> PCB of selected process</a:t>
            </a:r>
          </a:p>
          <a:p>
            <a:pPr marL="403225" lvl="1" indent="-342900">
              <a:spcBef>
                <a:spcPts val="1200"/>
              </a:spcBef>
              <a:buFont typeface="Wingdings" pitchFamily="2" charset="2"/>
              <a:buChar char="§"/>
            </a:pPr>
            <a:r>
              <a:rPr lang="en-US" sz="2200" dirty="0">
                <a:solidFill>
                  <a:srgbClr val="C00000"/>
                </a:solidFill>
                <a:latin typeface="Calibri" panose="020F0502020204030204" pitchFamily="34" charset="0"/>
                <a:cs typeface="Calibri" panose="020F0502020204030204" pitchFamily="34" charset="0"/>
              </a:rPr>
              <a:t>Restore</a:t>
            </a:r>
            <a:r>
              <a:rPr lang="en-US" sz="2200" dirty="0">
                <a:latin typeface="Calibri" panose="020F0502020204030204" pitchFamily="34" charset="0"/>
                <a:cs typeface="Calibri" panose="020F0502020204030204" pitchFamily="34" charset="0"/>
              </a:rPr>
              <a:t> the context of selected process</a:t>
            </a:r>
          </a:p>
          <a:p>
            <a:pPr lvl="2" indent="-342900">
              <a:spcBef>
                <a:spcPts val="600"/>
              </a:spcBef>
              <a:buFont typeface="Arial" panose="020B0604020202020204" pitchFamily="34" charset="0"/>
              <a:buChar char="•"/>
            </a:pPr>
            <a:r>
              <a:rPr lang="en-US" sz="2100" dirty="0">
                <a:latin typeface="Calibri" panose="020F0502020204030204" pitchFamily="34" charset="0"/>
                <a:cs typeface="Calibri" panose="020F0502020204030204" pitchFamily="34" charset="0"/>
              </a:rPr>
              <a:t>PC, SP, CPU registers from its PCB</a:t>
            </a:r>
          </a:p>
          <a:p>
            <a:pPr lvl="2" indent="-342900">
              <a:spcBef>
                <a:spcPts val="600"/>
              </a:spcBef>
              <a:buFont typeface="Arial" panose="020B0604020202020204" pitchFamily="34" charset="0"/>
              <a:buChar char="•"/>
            </a:pPr>
            <a:r>
              <a:rPr lang="en-US" sz="2100" dirty="0">
                <a:latin typeface="Calibri" panose="020F0502020204030204" pitchFamily="34" charset="0"/>
                <a:cs typeface="Calibri" panose="020F0502020204030204" pitchFamily="34" charset="0"/>
              </a:rPr>
              <a:t>update memory management data structures</a:t>
            </a:r>
          </a:p>
          <a:p>
            <a:pPr marL="403225" lvl="1" indent="-342900">
              <a:spcBef>
                <a:spcPts val="600"/>
              </a:spcBef>
              <a:buFont typeface="Wingdings" panose="05000000000000000000" pitchFamily="2" charset="2"/>
              <a:buChar char="§"/>
            </a:pPr>
            <a:r>
              <a:rPr lang="en-US" sz="2200" dirty="0">
                <a:latin typeface="Calibri" panose="020F0502020204030204" pitchFamily="34" charset="0"/>
                <a:cs typeface="Calibri" panose="020F0502020204030204" pitchFamily="34" charset="0"/>
              </a:rPr>
              <a:t>Change CPU </a:t>
            </a:r>
            <a:r>
              <a:rPr lang="en-US" sz="2200" dirty="0">
                <a:solidFill>
                  <a:srgbClr val="C00000"/>
                </a:solidFill>
                <a:latin typeface="Calibri" panose="020F0502020204030204" pitchFamily="34" charset="0"/>
                <a:cs typeface="Calibri" panose="020F0502020204030204" pitchFamily="34" charset="0"/>
              </a:rPr>
              <a:t>mode</a:t>
            </a:r>
            <a:r>
              <a:rPr lang="en-US" sz="2200" dirty="0">
                <a:latin typeface="Calibri" panose="020F0502020204030204" pitchFamily="34" charset="0"/>
                <a:cs typeface="Calibri" panose="020F0502020204030204" pitchFamily="34" charset="0"/>
              </a:rPr>
              <a:t> back to </a:t>
            </a:r>
            <a:r>
              <a:rPr lang="en-US" sz="2200" dirty="0">
                <a:solidFill>
                  <a:srgbClr val="0070C0"/>
                </a:solidFill>
                <a:latin typeface="Calibri" panose="020F0502020204030204" pitchFamily="34" charset="0"/>
                <a:cs typeface="Calibri" panose="020F0502020204030204" pitchFamily="34" charset="0"/>
              </a:rPr>
              <a:t>User</a:t>
            </a:r>
          </a:p>
          <a:p>
            <a:pPr marL="403225" lvl="1" indent="-342900">
              <a:spcBef>
                <a:spcPts val="600"/>
              </a:spcBef>
              <a:buFont typeface="Wingdings" panose="05000000000000000000" pitchFamily="2" charset="2"/>
              <a:buChar char="§"/>
            </a:pPr>
            <a:r>
              <a:rPr lang="en-US" sz="2200" dirty="0">
                <a:solidFill>
                  <a:srgbClr val="C00000"/>
                </a:solidFill>
                <a:latin typeface="Calibri" panose="020F0502020204030204" pitchFamily="34" charset="0"/>
                <a:cs typeface="Calibri" panose="020F0502020204030204" pitchFamily="34" charset="0"/>
              </a:rPr>
              <a:t>Transfer</a:t>
            </a:r>
            <a:r>
              <a:rPr lang="en-US" sz="2200" dirty="0">
                <a:latin typeface="Calibri" panose="020F0502020204030204" pitchFamily="34" charset="0"/>
                <a:cs typeface="Calibri" panose="020F0502020204030204" pitchFamily="34" charset="0"/>
              </a:rPr>
              <a:t> control to new process</a:t>
            </a:r>
          </a:p>
        </p:txBody>
      </p:sp>
      <p:sp>
        <p:nvSpPr>
          <p:cNvPr id="9" name="Rectangle 1026"/>
          <p:cNvSpPr>
            <a:spLocks noGrp="1" noChangeArrowheads="1"/>
          </p:cNvSpPr>
          <p:nvPr>
            <p:ph type="title"/>
          </p:nvPr>
        </p:nvSpPr>
        <p:spPr>
          <a:xfrm>
            <a:off x="762000" y="43543"/>
            <a:ext cx="8240486" cy="696685"/>
          </a:xfrm>
          <a:ln>
            <a:noFill/>
          </a:ln>
        </p:spPr>
        <p:txBody>
          <a:bodyPr>
            <a:noAutofit/>
          </a:bodyPr>
          <a:lstStyle/>
          <a:p>
            <a:r>
              <a:rPr lang="en-US" dirty="0"/>
              <a:t>Context Switch / Process Switch</a:t>
            </a:r>
          </a:p>
        </p:txBody>
      </p:sp>
      <p:sp>
        <p:nvSpPr>
          <p:cNvPr id="2" name="Slide Number Placeholder 3">
            <a:extLst>
              <a:ext uri="{FF2B5EF4-FFF2-40B4-BE49-F238E27FC236}">
                <a16:creationId xmlns:a16="http://schemas.microsoft.com/office/drawing/2014/main" id="{7A508D60-2D5E-3512-8DA3-48BD2AB4C84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37</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485509" y="1148082"/>
            <a:ext cx="8333371" cy="5598158"/>
          </a:xfrm>
          <a:prstGeom prst="rect">
            <a:avLst/>
          </a:prstGeom>
          <a:noFill/>
          <a:ln w="9525">
            <a:noFill/>
            <a:miter lim="800000"/>
            <a:headEnd/>
            <a:tailEnd/>
          </a:ln>
          <a:effectLst/>
        </p:spPr>
        <p:txBody>
          <a:bodyPr/>
          <a:lstStyle/>
          <a:p>
            <a:pPr marR="0">
              <a:lnSpc>
                <a:spcPct val="110000"/>
              </a:lnSpc>
              <a:spcBef>
                <a:spcPts val="600"/>
              </a:spcBef>
              <a:spcAft>
                <a:spcPts val="0"/>
              </a:spcAft>
            </a:pPr>
            <a:r>
              <a:rPr lang="en-US" sz="2300" b="1" kern="100" dirty="0">
                <a:solidFill>
                  <a:srgbClr val="0070C0"/>
                </a:solidFill>
                <a:latin typeface="Calibri" panose="020F0502020204030204" pitchFamily="34" charset="0"/>
                <a:cs typeface="Times New Roman" panose="02020603050405020304" pitchFamily="18" charset="0"/>
              </a:rPr>
              <a:t>Time-Sharing</a:t>
            </a:r>
            <a:r>
              <a:rPr lang="en-US" sz="23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p>
          <a:p>
            <a:pPr marL="285750" marR="0" indent="-285750">
              <a:lnSpc>
                <a:spcPct val="110000"/>
              </a:lnSpc>
              <a:spcBef>
                <a:spcPts val="600"/>
              </a:spcBef>
              <a:spcAft>
                <a:spcPts val="0"/>
              </a:spcAft>
              <a:buFont typeface="Arial" panose="020B0604020202020204" pitchFamily="34" charset="0"/>
              <a:buChar char="•"/>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when time slice allocated to a process expires, OS switches to another ready process</a:t>
            </a:r>
          </a:p>
          <a:p>
            <a:pPr marR="0">
              <a:lnSpc>
                <a:spcPct val="110000"/>
              </a:lnSpc>
              <a:spcBef>
                <a:spcPts val="2400"/>
              </a:spcBef>
              <a:spcAft>
                <a:spcPts val="0"/>
              </a:spcAft>
            </a:pPr>
            <a:r>
              <a:rPr lang="en-US" sz="2300" b="1" kern="100" dirty="0">
                <a:solidFill>
                  <a:srgbClr val="FF0000"/>
                </a:solidFill>
                <a:latin typeface="Calibri" panose="020F0502020204030204" pitchFamily="34" charset="0"/>
                <a:cs typeface="Times New Roman" panose="02020603050405020304" pitchFamily="18" charset="0"/>
              </a:rPr>
              <a:t>Priority Scheduling   </a:t>
            </a:r>
          </a:p>
          <a:p>
            <a:pPr marL="285750" marR="0" indent="-285750">
              <a:lnSpc>
                <a:spcPct val="110000"/>
              </a:lnSpc>
              <a:spcBef>
                <a:spcPts val="600"/>
              </a:spcBef>
              <a:spcAft>
                <a:spcPts val="0"/>
              </a:spcAft>
              <a:buFont typeface="Arial" panose="020B0604020202020204" pitchFamily="34" charset="0"/>
              <a:buChar char="•"/>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if higher-priority process becomes ready to run, CPU is given to the most important task</a:t>
            </a:r>
          </a:p>
          <a:p>
            <a:pPr>
              <a:lnSpc>
                <a:spcPct val="110000"/>
              </a:lnSpc>
              <a:spcBef>
                <a:spcPts val="2400"/>
              </a:spcBef>
              <a:spcAft>
                <a:spcPts val="0"/>
              </a:spcAft>
            </a:pPr>
            <a:r>
              <a:rPr lang="en-US" sz="2300" b="1" kern="100" dirty="0">
                <a:solidFill>
                  <a:srgbClr val="0070C0"/>
                </a:solidFill>
                <a:latin typeface="Calibri" panose="020F0502020204030204" pitchFamily="34" charset="0"/>
                <a:cs typeface="Times New Roman" panose="02020603050405020304" pitchFamily="18" charset="0"/>
              </a:rPr>
              <a:t>I/O Operation   </a:t>
            </a:r>
          </a:p>
          <a:p>
            <a:pPr marL="285750" marR="0" indent="-285750">
              <a:lnSpc>
                <a:spcPct val="110000"/>
              </a:lnSpc>
              <a:spcBef>
                <a:spcPts val="600"/>
              </a:spcBef>
              <a:spcAft>
                <a:spcPts val="0"/>
              </a:spcAft>
              <a:buFont typeface="Arial" panose="020B0604020202020204" pitchFamily="34" charset="0"/>
              <a:buChar char="•"/>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when a process starts an I/O operation (read from disk, or receive data from network), and has to wait for I/O completion, OS lets another process use CPU</a:t>
            </a:r>
          </a:p>
        </p:txBody>
      </p:sp>
      <p:sp>
        <p:nvSpPr>
          <p:cNvPr id="9" name="Rectangle 1026"/>
          <p:cNvSpPr>
            <a:spLocks noGrp="1" noChangeArrowheads="1"/>
          </p:cNvSpPr>
          <p:nvPr>
            <p:ph type="title"/>
          </p:nvPr>
        </p:nvSpPr>
        <p:spPr>
          <a:xfrm>
            <a:off x="762000" y="43543"/>
            <a:ext cx="8240486" cy="696685"/>
          </a:xfrm>
          <a:ln>
            <a:noFill/>
          </a:ln>
        </p:spPr>
        <p:txBody>
          <a:bodyPr>
            <a:noAutofit/>
          </a:bodyPr>
          <a:lstStyle/>
          <a:p>
            <a:r>
              <a:rPr lang="en-US" dirty="0"/>
              <a:t>Context Switch - Examples</a:t>
            </a:r>
          </a:p>
        </p:txBody>
      </p:sp>
      <p:sp>
        <p:nvSpPr>
          <p:cNvPr id="2" name="Slide Number Placeholder 3">
            <a:extLst>
              <a:ext uri="{FF2B5EF4-FFF2-40B4-BE49-F238E27FC236}">
                <a16:creationId xmlns:a16="http://schemas.microsoft.com/office/drawing/2014/main" id="{7A508D60-2D5E-3512-8DA3-48BD2AB4C84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38</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2665377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485509" y="1148082"/>
            <a:ext cx="8333371" cy="5598158"/>
          </a:xfrm>
          <a:prstGeom prst="rect">
            <a:avLst/>
          </a:prstGeom>
          <a:noFill/>
          <a:ln w="9525">
            <a:noFill/>
            <a:miter lim="800000"/>
            <a:headEnd/>
            <a:tailEnd/>
          </a:ln>
          <a:effectLst/>
        </p:spPr>
        <p:txBody>
          <a:bodyPr/>
          <a:lstStyle/>
          <a:p>
            <a:pPr marR="0">
              <a:lnSpc>
                <a:spcPct val="110000"/>
              </a:lnSpc>
              <a:spcBef>
                <a:spcPts val="600"/>
              </a:spcBef>
              <a:spcAft>
                <a:spcPts val="0"/>
              </a:spcAft>
            </a:pPr>
            <a:r>
              <a:rPr lang="en-US" sz="23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System Call   </a:t>
            </a:r>
          </a:p>
          <a:p>
            <a:pPr marL="285750" marR="0" indent="-285750">
              <a:lnSpc>
                <a:spcPct val="110000"/>
              </a:lnSpc>
              <a:spcBef>
                <a:spcPts val="600"/>
              </a:spcBef>
              <a:spcAft>
                <a:spcPts val="0"/>
              </a:spcAft>
              <a:buFont typeface="Arial" panose="020B0604020202020204" pitchFamily="34" charset="0"/>
              <a:buChar char="•"/>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when a process makes a system call (file I/O, memory allocation, creating new process), OS performs a context switch, to change from user to kernel mode, and service the system call</a:t>
            </a:r>
          </a:p>
          <a:p>
            <a:pPr marR="0">
              <a:lnSpc>
                <a:spcPct val="110000"/>
              </a:lnSpc>
              <a:spcBef>
                <a:spcPts val="2400"/>
              </a:spcBef>
              <a:spcAft>
                <a:spcPts val="0"/>
              </a:spcAft>
            </a:pPr>
            <a:r>
              <a:rPr lang="en-US" sz="2300" b="1" kern="100" dirty="0">
                <a:solidFill>
                  <a:srgbClr val="0070C0"/>
                </a:solidFill>
                <a:latin typeface="Calibri" panose="020F0502020204030204" pitchFamily="34" charset="0"/>
                <a:cs typeface="Times New Roman" panose="02020603050405020304" pitchFamily="18" charset="0"/>
              </a:rPr>
              <a:t>Interrupt Handling    </a:t>
            </a:r>
          </a:p>
          <a:p>
            <a:pPr marL="285750" marR="0" indent="-285750">
              <a:lnSpc>
                <a:spcPct val="110000"/>
              </a:lnSpc>
              <a:spcBef>
                <a:spcPts val="600"/>
              </a:spcBef>
              <a:spcAft>
                <a:spcPts val="0"/>
              </a:spcAft>
              <a:buFont typeface="Arial" panose="020B0604020202020204" pitchFamily="34" charset="0"/>
              <a:buChar char="•"/>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if H/W interrupts occurs (keyboard input, disk activity, network packet receival), CPU switches from current process to an ISR to handle the interrupt</a:t>
            </a:r>
          </a:p>
          <a:p>
            <a:pPr>
              <a:lnSpc>
                <a:spcPct val="110000"/>
              </a:lnSpc>
              <a:spcBef>
                <a:spcPts val="2400"/>
              </a:spcBef>
              <a:spcAft>
                <a:spcPts val="0"/>
              </a:spcAft>
            </a:pPr>
            <a:r>
              <a:rPr lang="en-US" sz="2400" b="1" kern="100" dirty="0">
                <a:solidFill>
                  <a:srgbClr val="FF0000"/>
                </a:solidFill>
                <a:latin typeface="Calibri" panose="020F0502020204030204" pitchFamily="34" charset="0"/>
                <a:cs typeface="Times New Roman" panose="02020603050405020304" pitchFamily="18" charset="0"/>
              </a:rPr>
              <a:t>Process Termination</a:t>
            </a:r>
            <a:r>
              <a:rPr lang="en-US" sz="2300" b="1" kern="100" dirty="0">
                <a:solidFill>
                  <a:srgbClr val="FF0000"/>
                </a:solidFill>
                <a:latin typeface="Calibri" panose="020F0502020204030204" pitchFamily="34" charset="0"/>
                <a:cs typeface="Times New Roman" panose="02020603050405020304" pitchFamily="18" charset="0"/>
              </a:rPr>
              <a:t>   </a:t>
            </a:r>
          </a:p>
          <a:p>
            <a:pPr marL="285750" marR="0" indent="-285750">
              <a:lnSpc>
                <a:spcPct val="110000"/>
              </a:lnSpc>
              <a:spcBef>
                <a:spcPts val="600"/>
              </a:spcBef>
              <a:spcAft>
                <a:spcPts val="0"/>
              </a:spcAft>
              <a:buFont typeface="Arial" panose="020B0604020202020204" pitchFamily="34" charset="0"/>
              <a:buChar char="•"/>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when a process completes execution, or is terminated due to error or user action, context switch allows to run the next process in queue</a:t>
            </a:r>
          </a:p>
        </p:txBody>
      </p:sp>
      <p:sp>
        <p:nvSpPr>
          <p:cNvPr id="9" name="Rectangle 1026"/>
          <p:cNvSpPr>
            <a:spLocks noGrp="1" noChangeArrowheads="1"/>
          </p:cNvSpPr>
          <p:nvPr>
            <p:ph type="title"/>
          </p:nvPr>
        </p:nvSpPr>
        <p:spPr>
          <a:xfrm>
            <a:off x="762000" y="43543"/>
            <a:ext cx="8240486" cy="696685"/>
          </a:xfrm>
          <a:ln>
            <a:noFill/>
          </a:ln>
        </p:spPr>
        <p:txBody>
          <a:bodyPr>
            <a:noAutofit/>
          </a:bodyPr>
          <a:lstStyle/>
          <a:p>
            <a:r>
              <a:rPr lang="en-US" dirty="0"/>
              <a:t>Context Switch - Examples</a:t>
            </a:r>
          </a:p>
        </p:txBody>
      </p:sp>
      <p:sp>
        <p:nvSpPr>
          <p:cNvPr id="2" name="Slide Number Placeholder 3">
            <a:extLst>
              <a:ext uri="{FF2B5EF4-FFF2-40B4-BE49-F238E27FC236}">
                <a16:creationId xmlns:a16="http://schemas.microsoft.com/office/drawing/2014/main" id="{7A508D60-2D5E-3512-8DA3-48BD2AB4C84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39</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0424504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485509" y="1148082"/>
            <a:ext cx="8333371" cy="5598158"/>
          </a:xfrm>
          <a:prstGeom prst="rect">
            <a:avLst/>
          </a:prstGeom>
          <a:noFill/>
          <a:ln w="9525">
            <a:noFill/>
            <a:miter lim="800000"/>
            <a:headEnd/>
            <a:tailEnd/>
          </a:ln>
          <a:effectLst/>
        </p:spPr>
        <p:txBody>
          <a:bodyPr/>
          <a:lstStyle/>
          <a:p>
            <a:pPr marR="0">
              <a:lnSpc>
                <a:spcPct val="110000"/>
              </a:lnSpc>
              <a:spcBef>
                <a:spcPts val="600"/>
              </a:spcBef>
              <a:spcAft>
                <a:spcPts val="0"/>
              </a:spcAft>
            </a:pPr>
            <a:r>
              <a:rPr lang="en-US" sz="2400" b="1" kern="100" dirty="0">
                <a:solidFill>
                  <a:srgbClr val="0070C0"/>
                </a:solidFill>
                <a:latin typeface="Calibri" panose="020F0502020204030204" pitchFamily="34" charset="0"/>
                <a:cs typeface="Times New Roman" panose="02020603050405020304" pitchFamily="18" charset="0"/>
              </a:rPr>
              <a:t>Process Creation </a:t>
            </a:r>
            <a:r>
              <a:rPr lang="en-US" sz="2300" b="1"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p>
          <a:p>
            <a:pPr marL="285750" marR="0" indent="-285750">
              <a:lnSpc>
                <a:spcPct val="110000"/>
              </a:lnSpc>
              <a:spcBef>
                <a:spcPts val="600"/>
              </a:spcBef>
              <a:spcAft>
                <a:spcPts val="0"/>
              </a:spcAft>
              <a:buFont typeface="Arial" panose="020B0604020202020204" pitchFamily="34" charset="0"/>
              <a:buChar char="•"/>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when a process is created, context switch occurs </a:t>
            </a:r>
            <a:r>
              <a:rPr lang="en-US" sz="2200" kern="100" dirty="0">
                <a:latin typeface="Calibri" panose="020F0502020204030204" pitchFamily="34" charset="0"/>
                <a:cs typeface="Times New Roman" panose="02020603050405020304" pitchFamily="18" charset="0"/>
              </a:rPr>
              <a:t>as OS initializes and sets up the new process for execution</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10000"/>
              </a:lnSpc>
              <a:spcBef>
                <a:spcPts val="2400"/>
              </a:spcBef>
              <a:spcAft>
                <a:spcPts val="0"/>
              </a:spcAft>
            </a:pPr>
            <a:r>
              <a:rPr lang="en-US" sz="2400" b="1" kern="100" dirty="0">
                <a:solidFill>
                  <a:srgbClr val="FF0000"/>
                </a:solidFill>
                <a:latin typeface="Calibri" panose="020F0502020204030204" pitchFamily="34" charset="0"/>
                <a:cs typeface="Times New Roman" panose="02020603050405020304" pitchFamily="18" charset="0"/>
              </a:rPr>
              <a:t>Sleeping Process </a:t>
            </a:r>
            <a:r>
              <a:rPr lang="en-US" sz="2300" b="1" kern="100" dirty="0">
                <a:solidFill>
                  <a:srgbClr val="0070C0"/>
                </a:solidFill>
                <a:latin typeface="Calibri" panose="020F0502020204030204" pitchFamily="34" charset="0"/>
                <a:cs typeface="Times New Roman" panose="02020603050405020304" pitchFamily="18" charset="0"/>
              </a:rPr>
              <a:t>   </a:t>
            </a:r>
          </a:p>
          <a:p>
            <a:pPr marL="285750" marR="0" indent="-285750">
              <a:lnSpc>
                <a:spcPct val="110000"/>
              </a:lnSpc>
              <a:spcBef>
                <a:spcPts val="600"/>
              </a:spcBef>
              <a:spcAft>
                <a:spcPts val="0"/>
              </a:spcAft>
              <a:buFont typeface="Arial" panose="020B0604020202020204" pitchFamily="34" charset="0"/>
              <a:buChar char="•"/>
            </a:pP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if a process enters sleep or wait state (wait for a specific event, or semaphore) context switch frees the CPU for another process</a:t>
            </a:r>
          </a:p>
          <a:p>
            <a:pPr>
              <a:lnSpc>
                <a:spcPct val="110000"/>
              </a:lnSpc>
              <a:spcBef>
                <a:spcPts val="2400"/>
              </a:spcBef>
              <a:spcAft>
                <a:spcPts val="0"/>
              </a:spcAft>
            </a:pPr>
            <a:r>
              <a:rPr lang="en-US" sz="2400" b="1" kern="100" dirty="0">
                <a:solidFill>
                  <a:srgbClr val="0070C0"/>
                </a:solidFill>
                <a:latin typeface="Calibri" panose="020F0502020204030204" pitchFamily="34" charset="0"/>
                <a:cs typeface="Times New Roman" panose="02020603050405020304" pitchFamily="18" charset="0"/>
              </a:rPr>
              <a:t>Exception</a:t>
            </a:r>
            <a:r>
              <a:rPr lang="en-US" sz="2300" b="1" kern="100" dirty="0">
                <a:solidFill>
                  <a:srgbClr val="FF0000"/>
                </a:solidFill>
                <a:latin typeface="Calibri" panose="020F0502020204030204" pitchFamily="34" charset="0"/>
                <a:cs typeface="Times New Roman" panose="02020603050405020304" pitchFamily="18" charset="0"/>
              </a:rPr>
              <a:t>   </a:t>
            </a:r>
          </a:p>
          <a:p>
            <a:pPr marL="285750" marR="0" indent="-285750">
              <a:lnSpc>
                <a:spcPct val="110000"/>
              </a:lnSpc>
              <a:spcBef>
                <a:spcPts val="600"/>
              </a:spcBef>
              <a:spcAft>
                <a:spcPts val="0"/>
              </a:spcAft>
              <a:buFont typeface="Arial" panose="020B0604020202020204" pitchFamily="34" charset="0"/>
              <a:buChar char="•"/>
            </a:pPr>
            <a:r>
              <a:rPr lang="en-US" sz="2200" dirty="0">
                <a:effectLst/>
                <a:latin typeface="Calibri" panose="020F0502020204030204" pitchFamily="34" charset="0"/>
                <a:ea typeface="Calibri" panose="020F0502020204030204" pitchFamily="34" charset="0"/>
                <a:cs typeface="Times New Roman" panose="02020603050405020304" pitchFamily="18" charset="0"/>
              </a:rPr>
              <a:t>hardware exceptions, like division by zero, invalid memory access, or illegal instruction, requires a context switch to handle the error</a:t>
            </a:r>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1026"/>
          <p:cNvSpPr>
            <a:spLocks noGrp="1" noChangeArrowheads="1"/>
          </p:cNvSpPr>
          <p:nvPr>
            <p:ph type="title"/>
          </p:nvPr>
        </p:nvSpPr>
        <p:spPr>
          <a:xfrm>
            <a:off x="762000" y="43543"/>
            <a:ext cx="8240486" cy="696685"/>
          </a:xfrm>
          <a:ln>
            <a:noFill/>
          </a:ln>
        </p:spPr>
        <p:txBody>
          <a:bodyPr>
            <a:noAutofit/>
          </a:bodyPr>
          <a:lstStyle/>
          <a:p>
            <a:r>
              <a:rPr lang="en-US" dirty="0"/>
              <a:t>Context Switch - Examples</a:t>
            </a:r>
          </a:p>
        </p:txBody>
      </p:sp>
      <p:sp>
        <p:nvSpPr>
          <p:cNvPr id="2" name="Slide Number Placeholder 3">
            <a:extLst>
              <a:ext uri="{FF2B5EF4-FFF2-40B4-BE49-F238E27FC236}">
                <a16:creationId xmlns:a16="http://schemas.microsoft.com/office/drawing/2014/main" id="{7A508D60-2D5E-3512-8DA3-48BD2AB4C84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40</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9098337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892629" y="76199"/>
            <a:ext cx="8109858" cy="756105"/>
          </a:xfrm>
        </p:spPr>
        <p:txBody>
          <a:bodyPr>
            <a:noAutofit/>
          </a:bodyPr>
          <a:lstStyle/>
          <a:p>
            <a:r>
              <a:rPr lang="en-US" dirty="0"/>
              <a:t>Linux Commands - view processes</a:t>
            </a:r>
          </a:p>
        </p:txBody>
      </p:sp>
      <p:sp>
        <p:nvSpPr>
          <p:cNvPr id="9" name="Rectangle 3"/>
          <p:cNvSpPr txBox="1">
            <a:spLocks noChangeArrowheads="1"/>
          </p:cNvSpPr>
          <p:nvPr/>
        </p:nvSpPr>
        <p:spPr>
          <a:xfrm>
            <a:off x="378094" y="1066804"/>
            <a:ext cx="8665029" cy="1493515"/>
          </a:xfrm>
          <a:prstGeom prst="rect">
            <a:avLst/>
          </a:prstGeom>
        </p:spPr>
        <p:txBody>
          <a:bodyPr vert="horz" lIns="91440" tIns="45720" rIns="91440" bIns="45720" rtlCol="0">
            <a:noAutofit/>
          </a:bodyPr>
          <a:lstStyle/>
          <a:p>
            <a:pPr>
              <a:spcBef>
                <a:spcPts val="600"/>
              </a:spcBef>
              <a:spcAft>
                <a:spcPts val="0"/>
              </a:spcAft>
              <a:defRPr/>
            </a:pPr>
            <a:r>
              <a:rPr lang="en-US" sz="2400" b="1" dirty="0">
                <a:solidFill>
                  <a:srgbClr val="FF0000"/>
                </a:solidFill>
                <a:latin typeface="Calibri" panose="020F0502020204030204" pitchFamily="34" charset="0"/>
                <a:cs typeface="Calibri" panose="020F0502020204030204" pitchFamily="34" charset="0"/>
              </a:rPr>
              <a:t>Process Status (</a:t>
            </a:r>
            <a:r>
              <a:rPr lang="en-US" sz="2400" b="1" dirty="0" err="1">
                <a:solidFill>
                  <a:srgbClr val="FF0000"/>
                </a:solidFill>
                <a:latin typeface="Calibri" panose="020F0502020204030204" pitchFamily="34" charset="0"/>
                <a:cs typeface="Calibri" panose="020F0502020204030204" pitchFamily="34" charset="0"/>
              </a:rPr>
              <a:t>ps</a:t>
            </a:r>
            <a:r>
              <a:rPr lang="en-US" sz="2400" b="1" dirty="0">
                <a:solidFill>
                  <a:srgbClr val="FF0000"/>
                </a:solidFill>
                <a:latin typeface="Calibri" panose="020F0502020204030204" pitchFamily="34" charset="0"/>
                <a:cs typeface="Calibri" panose="020F0502020204030204" pitchFamily="34" charset="0"/>
              </a:rPr>
              <a:t>) </a:t>
            </a:r>
            <a:r>
              <a:rPr lang="en-US" sz="2400" dirty="0">
                <a:latin typeface="Calibri" panose="020F0502020204030204" pitchFamily="34" charset="0"/>
                <a:cs typeface="Calibri" panose="020F0502020204030204" pitchFamily="34" charset="0"/>
              </a:rPr>
              <a:t>  </a:t>
            </a:r>
          </a:p>
          <a:p>
            <a:pPr marL="342900" indent="-342900">
              <a:spcBef>
                <a:spcPts val="600"/>
              </a:spcBef>
              <a:spcAft>
                <a:spcPts val="0"/>
              </a:spcAft>
              <a:buFont typeface="Wingdings" panose="05000000000000000000" pitchFamily="2" charset="2"/>
              <a:buChar char="§"/>
              <a:defRPr/>
            </a:pPr>
            <a:r>
              <a:rPr lang="en-US" sz="2100" dirty="0">
                <a:latin typeface="Calibri" panose="020F0502020204030204" pitchFamily="34" charset="0"/>
                <a:cs typeface="Calibri" panose="020F0502020204030204" pitchFamily="34" charset="0"/>
              </a:rPr>
              <a:t>most commonly used shell command to display info about running </a:t>
            </a:r>
            <a:br>
              <a:rPr lang="en-US" sz="2100" dirty="0">
                <a:latin typeface="Calibri" panose="020F0502020204030204" pitchFamily="34" charset="0"/>
                <a:cs typeface="Calibri" panose="020F0502020204030204" pitchFamily="34" charset="0"/>
              </a:rPr>
            </a:br>
            <a:r>
              <a:rPr lang="en-US" sz="2100" dirty="0">
                <a:latin typeface="Calibri" panose="020F0502020204030204" pitchFamily="34" charset="0"/>
                <a:cs typeface="Calibri" panose="020F0502020204030204" pitchFamily="34" charset="0"/>
              </a:rPr>
              <a:t>processes</a:t>
            </a:r>
          </a:p>
          <a:p>
            <a:pPr>
              <a:spcBef>
                <a:spcPts val="0"/>
              </a:spcBef>
              <a:spcAft>
                <a:spcPts val="0"/>
              </a:spcAft>
              <a:defRPr/>
            </a:pPr>
            <a:r>
              <a:rPr lang="en-US" sz="2400" b="1" dirty="0">
                <a:latin typeface="Calibri" panose="020F0502020204030204" pitchFamily="34" charset="0"/>
                <a:ea typeface="Courier New" charset="0"/>
                <a:cs typeface="Calibri" panose="020F0502020204030204" pitchFamily="34" charset="0"/>
              </a:rPr>
              <a:t>			       $ </a:t>
            </a:r>
            <a:r>
              <a:rPr lang="en-US" sz="2400" b="1" dirty="0" err="1">
                <a:latin typeface="Calibri" panose="020F0502020204030204" pitchFamily="34" charset="0"/>
                <a:ea typeface="Courier New" charset="0"/>
                <a:cs typeface="Calibri" panose="020F0502020204030204" pitchFamily="34" charset="0"/>
              </a:rPr>
              <a:t>ps</a:t>
            </a:r>
            <a:r>
              <a:rPr lang="en-US" sz="2400" b="1" dirty="0">
                <a:latin typeface="Calibri" panose="020F0502020204030204" pitchFamily="34" charset="0"/>
                <a:ea typeface="Courier New" charset="0"/>
                <a:cs typeface="Calibri" panose="020F0502020204030204" pitchFamily="34" charset="0"/>
              </a:rPr>
              <a:t> [</a:t>
            </a:r>
            <a:r>
              <a:rPr lang="en-US" sz="2400" b="1" dirty="0" err="1">
                <a:latin typeface="Calibri" panose="020F0502020204030204" pitchFamily="34" charset="0"/>
                <a:ea typeface="Courier New" charset="0"/>
                <a:cs typeface="Calibri" panose="020F0502020204030204" pitchFamily="34" charset="0"/>
              </a:rPr>
              <a:t>auxl</a:t>
            </a:r>
            <a:r>
              <a:rPr lang="en-US" sz="2400" b="1" dirty="0">
                <a:latin typeface="Calibri" panose="020F0502020204030204" pitchFamily="34" charset="0"/>
                <a:ea typeface="Courier New" charset="0"/>
                <a:cs typeface="Calibri" panose="020F0502020204030204" pitchFamily="34" charset="0"/>
              </a:rPr>
              <a:t>]</a:t>
            </a:r>
            <a:endParaRPr lang="en-US" sz="2400" dirty="0">
              <a:latin typeface="Calibri" panose="020F0502020204030204" pitchFamily="34" charset="0"/>
              <a:cs typeface="Calibri" panose="020F0502020204030204" pitchFamily="34" charset="0"/>
            </a:endParaRPr>
          </a:p>
        </p:txBody>
      </p:sp>
      <p:sp>
        <p:nvSpPr>
          <p:cNvPr id="2" name="Slide Number Placeholder 3">
            <a:extLst>
              <a:ext uri="{FF2B5EF4-FFF2-40B4-BE49-F238E27FC236}">
                <a16:creationId xmlns:a16="http://schemas.microsoft.com/office/drawing/2014/main" id="{6908E0AC-A9DE-14D1-0A20-C11C9E95014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41</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4" name="Picture 2" descr="D:\2\1 UCP\1-Computer Networks\0-Data Comm\Data\client server screen shots\assign\1 - Copy.png">
            <a:extLst>
              <a:ext uri="{FF2B5EF4-FFF2-40B4-BE49-F238E27FC236}">
                <a16:creationId xmlns:a16="http://schemas.microsoft.com/office/drawing/2014/main" id="{6A553651-6B42-9068-AA4F-F72450431F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68" y="2794455"/>
            <a:ext cx="8458200"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3106F511-D908-7DCD-AFDB-E76C1D5C8F94}"/>
              </a:ext>
            </a:extLst>
          </p:cNvPr>
          <p:cNvSpPr txBox="1"/>
          <p:nvPr/>
        </p:nvSpPr>
        <p:spPr>
          <a:xfrm>
            <a:off x="2038528" y="6051191"/>
            <a:ext cx="3244672" cy="523220"/>
          </a:xfrm>
          <a:prstGeom prst="rect">
            <a:avLst/>
          </a:prstGeom>
          <a:noFill/>
        </p:spPr>
        <p:txBody>
          <a:bodyPr wrap="square" rtlCol="0">
            <a:spAutoFit/>
          </a:bodyPr>
          <a:lstStyle/>
          <a:p>
            <a:r>
              <a:rPr lang="en-US" sz="1400" dirty="0"/>
              <a:t>R running		S sleep</a:t>
            </a:r>
          </a:p>
          <a:p>
            <a:r>
              <a:rPr lang="en-US" sz="1400" dirty="0"/>
              <a:t>s session leader	+ foreground</a:t>
            </a:r>
          </a:p>
        </p:txBody>
      </p:sp>
    </p:spTree>
    <p:extLst>
      <p:ext uri="{BB962C8B-B14F-4D97-AF65-F5344CB8AC3E}">
        <p14:creationId xmlns:p14="http://schemas.microsoft.com/office/powerpoint/2010/main" val="14287383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892629" y="76199"/>
            <a:ext cx="8109858" cy="756105"/>
          </a:xfrm>
        </p:spPr>
        <p:txBody>
          <a:bodyPr>
            <a:noAutofit/>
          </a:bodyPr>
          <a:lstStyle/>
          <a:p>
            <a:r>
              <a:rPr lang="en-US" dirty="0"/>
              <a:t>Linux Commands - view processes</a:t>
            </a:r>
          </a:p>
        </p:txBody>
      </p:sp>
      <p:sp>
        <p:nvSpPr>
          <p:cNvPr id="9" name="Rectangle 3"/>
          <p:cNvSpPr txBox="1">
            <a:spLocks noChangeArrowheads="1"/>
          </p:cNvSpPr>
          <p:nvPr/>
        </p:nvSpPr>
        <p:spPr>
          <a:xfrm>
            <a:off x="379494" y="1136520"/>
            <a:ext cx="8665029" cy="5635901"/>
          </a:xfrm>
          <a:prstGeom prst="rect">
            <a:avLst/>
          </a:prstGeom>
        </p:spPr>
        <p:txBody>
          <a:bodyPr vert="horz" lIns="91440" tIns="45720" rIns="91440" bIns="45720" rtlCol="0">
            <a:noAutofit/>
          </a:bodyPr>
          <a:lstStyle/>
          <a:p>
            <a:pPr marL="342900" indent="-342900">
              <a:lnSpc>
                <a:spcPct val="110000"/>
              </a:lnSpc>
              <a:spcBef>
                <a:spcPts val="1200"/>
              </a:spcBef>
              <a:spcAft>
                <a:spcPts val="0"/>
              </a:spcAft>
              <a:buFont typeface="Wingdings" panose="05000000000000000000" pitchFamily="2" charset="2"/>
              <a:buChar char="§"/>
              <a:defRPr/>
            </a:pPr>
            <a:r>
              <a:rPr lang="en-US" sz="2400" b="1" dirty="0">
                <a:solidFill>
                  <a:srgbClr val="FF0000"/>
                </a:solidFill>
                <a:latin typeface="Calibri" panose="020F0502020204030204" pitchFamily="34" charset="0"/>
                <a:cs typeface="Calibri" panose="020F0502020204030204" pitchFamily="34" charset="0"/>
              </a:rPr>
              <a:t>Top</a:t>
            </a:r>
            <a:r>
              <a:rPr lang="en-US" sz="2400" dirty="0">
                <a:latin typeface="Calibri" panose="020F0502020204030204" pitchFamily="34" charset="0"/>
                <a:cs typeface="Calibri" panose="020F0502020204030204" pitchFamily="34" charset="0"/>
              </a:rPr>
              <a:t> - </a:t>
            </a:r>
            <a:r>
              <a:rPr lang="en-US" sz="2200" dirty="0">
                <a:latin typeface="Calibri" panose="020F0502020204030204" pitchFamily="34" charset="0"/>
                <a:cs typeface="Calibri" panose="020F0502020204030204" pitchFamily="34" charset="0"/>
              </a:rPr>
              <a:t>another command used to display real-time information about running processes</a:t>
            </a:r>
          </a:p>
          <a:p>
            <a:pPr marL="685800" lvl="1" indent="-228600">
              <a:lnSpc>
                <a:spcPct val="110000"/>
              </a:lnSpc>
              <a:spcBef>
                <a:spcPts val="1200"/>
              </a:spcBef>
              <a:spcAft>
                <a:spcPts val="0"/>
              </a:spcAft>
              <a:buFont typeface="Arial" charset="0"/>
              <a:buChar char="•"/>
              <a:defRPr/>
            </a:pPr>
            <a:r>
              <a:rPr lang="en-US" sz="2100" dirty="0">
                <a:latin typeface="Calibri" panose="020F0502020204030204" pitchFamily="34" charset="0"/>
                <a:cs typeface="Calibri" panose="020F0502020204030204" pitchFamily="34" charset="0"/>
              </a:rPr>
              <a:t>by default, refreshes o/p every three seconds</a:t>
            </a:r>
          </a:p>
          <a:p>
            <a:pPr marL="685800" lvl="1" indent="-228600">
              <a:lnSpc>
                <a:spcPct val="110000"/>
              </a:lnSpc>
              <a:spcBef>
                <a:spcPts val="600"/>
              </a:spcBef>
              <a:spcAft>
                <a:spcPts val="0"/>
              </a:spcAft>
              <a:buFont typeface="Arial" charset="0"/>
              <a:buChar char="•"/>
              <a:defRPr/>
            </a:pPr>
            <a:r>
              <a:rPr lang="en-US" sz="2100" dirty="0">
                <a:latin typeface="Calibri" panose="020F0502020204030204" pitchFamily="34" charset="0"/>
                <a:cs typeface="Calibri" panose="020F0502020204030204" pitchFamily="34" charset="0"/>
              </a:rPr>
              <a:t>displays summary area </a:t>
            </a:r>
            <a:r>
              <a:rPr lang="en-US" sz="2100" i="1" dirty="0">
                <a:latin typeface="Times New Roman" panose="02020603050405020304" pitchFamily="18" charset="0"/>
                <a:cs typeface="Times New Roman" panose="02020603050405020304" pitchFamily="18" charset="0"/>
              </a:rPr>
              <a:t>(about 6 lines of info)</a:t>
            </a:r>
            <a:r>
              <a:rPr lang="en-US" sz="2100" dirty="0">
                <a:latin typeface="Calibri" panose="020F0502020204030204" pitchFamily="34" charset="0"/>
                <a:cs typeface="Calibri" panose="020F0502020204030204" pitchFamily="34" charset="0"/>
              </a:rPr>
              <a:t> </a:t>
            </a:r>
          </a:p>
          <a:p>
            <a:pPr marL="685800" lvl="1" indent="-228600">
              <a:lnSpc>
                <a:spcPct val="110000"/>
              </a:lnSpc>
              <a:spcBef>
                <a:spcPts val="600"/>
              </a:spcBef>
              <a:spcAft>
                <a:spcPts val="0"/>
              </a:spcAft>
              <a:buFont typeface="Arial" charset="0"/>
              <a:buChar char="•"/>
              <a:defRPr/>
            </a:pPr>
            <a:r>
              <a:rPr lang="en-US" sz="2100" dirty="0">
                <a:latin typeface="Calibri" panose="020F0502020204030204" pitchFamily="34" charset="0"/>
                <a:cs typeface="Calibri" panose="020F0502020204030204" pitchFamily="34" charset="0"/>
              </a:rPr>
              <a:t>also displays per process info area </a:t>
            </a:r>
            <a:r>
              <a:rPr lang="en-US" sz="2100" i="1" dirty="0">
                <a:latin typeface="Times New Roman" panose="02020603050405020304" pitchFamily="18" charset="0"/>
                <a:cs typeface="Times New Roman" panose="02020603050405020304" pitchFamily="18" charset="0"/>
              </a:rPr>
              <a:t>(about 12 columns)</a:t>
            </a:r>
          </a:p>
          <a:p>
            <a:pPr marL="685800" lvl="1" indent="-228600">
              <a:lnSpc>
                <a:spcPct val="110000"/>
              </a:lnSpc>
              <a:spcBef>
                <a:spcPts val="600"/>
              </a:spcBef>
              <a:spcAft>
                <a:spcPts val="0"/>
              </a:spcAft>
              <a:buFont typeface="Arial" charset="0"/>
              <a:buChar char="•"/>
              <a:defRPr/>
            </a:pPr>
            <a:r>
              <a:rPr lang="en-US" sz="2100" dirty="0">
                <a:latin typeface="Calibri" panose="020F0502020204030204" pitchFamily="34" charset="0"/>
                <a:cs typeface="Calibri" panose="020F0502020204030204" pitchFamily="34" charset="0"/>
              </a:rPr>
              <a:t>interactive command, with important keys as:</a:t>
            </a:r>
          </a:p>
          <a:p>
            <a:pPr marL="1033463" lvl="2" indent="-287338">
              <a:lnSpc>
                <a:spcPct val="110000"/>
              </a:lnSpc>
              <a:spcBef>
                <a:spcPts val="600"/>
              </a:spcBef>
              <a:spcAft>
                <a:spcPts val="0"/>
              </a:spcAft>
              <a:buFont typeface="Arial" charset="0"/>
              <a:buChar char="•"/>
              <a:defRPr/>
            </a:pPr>
            <a:r>
              <a:rPr lang="en-US" sz="2100" dirty="0">
                <a:latin typeface="Calibri" panose="020F0502020204030204" pitchFamily="34" charset="0"/>
                <a:cs typeface="Calibri" panose="020F0502020204030204" pitchFamily="34" charset="0"/>
              </a:rPr>
              <a:t>n :  prompts for number of processes, to display</a:t>
            </a:r>
          </a:p>
          <a:p>
            <a:pPr marL="1033463" lvl="2" indent="-287338">
              <a:lnSpc>
                <a:spcPct val="110000"/>
              </a:lnSpc>
              <a:spcBef>
                <a:spcPts val="0"/>
              </a:spcBef>
              <a:spcAft>
                <a:spcPts val="0"/>
              </a:spcAft>
              <a:buFont typeface="Arial" charset="0"/>
              <a:buChar char="•"/>
              <a:defRPr/>
            </a:pPr>
            <a:r>
              <a:rPr lang="en-US" sz="2100" dirty="0">
                <a:latin typeface="Calibri" panose="020F0502020204030204" pitchFamily="34" charset="0"/>
                <a:cs typeface="Calibri" panose="020F0502020204030204" pitchFamily="34" charset="0"/>
              </a:rPr>
              <a:t>u :  prompts user name, whose processes to be displayed</a:t>
            </a:r>
          </a:p>
          <a:p>
            <a:pPr marL="1033463" lvl="2" indent="-287338">
              <a:lnSpc>
                <a:spcPct val="110000"/>
              </a:lnSpc>
              <a:spcBef>
                <a:spcPts val="0"/>
              </a:spcBef>
              <a:spcAft>
                <a:spcPts val="0"/>
              </a:spcAft>
              <a:buFont typeface="Arial" charset="0"/>
              <a:buChar char="•"/>
              <a:defRPr/>
            </a:pPr>
            <a:r>
              <a:rPr lang="en-US" sz="2100" dirty="0">
                <a:latin typeface="Calibri" panose="020F0502020204030204" pitchFamily="34" charset="0"/>
                <a:cs typeface="Calibri" panose="020F0502020204030204" pitchFamily="34" charset="0"/>
              </a:rPr>
              <a:t>s :  prompts number of seconds, to refresh display</a:t>
            </a:r>
          </a:p>
          <a:p>
            <a:pPr marL="1033463" lvl="2" indent="-287338">
              <a:lnSpc>
                <a:spcPct val="110000"/>
              </a:lnSpc>
              <a:spcBef>
                <a:spcPts val="0"/>
              </a:spcBef>
              <a:spcAft>
                <a:spcPts val="0"/>
              </a:spcAft>
              <a:buFont typeface="Arial" charset="0"/>
              <a:buChar char="•"/>
              <a:defRPr/>
            </a:pPr>
            <a:r>
              <a:rPr lang="en-US" sz="2100" dirty="0">
                <a:latin typeface="Calibri" panose="020F0502020204030204" pitchFamily="34" charset="0"/>
                <a:cs typeface="Calibri" panose="020F0502020204030204" pitchFamily="34" charset="0"/>
              </a:rPr>
              <a:t>r :  prompts PID &amp; nice value, to be changed</a:t>
            </a:r>
          </a:p>
          <a:p>
            <a:pPr marL="1033463" lvl="2" indent="-287338">
              <a:lnSpc>
                <a:spcPct val="110000"/>
              </a:lnSpc>
              <a:spcBef>
                <a:spcPts val="0"/>
              </a:spcBef>
              <a:spcAft>
                <a:spcPts val="0"/>
              </a:spcAft>
              <a:buFont typeface="Arial" charset="0"/>
              <a:buChar char="•"/>
              <a:defRPr/>
            </a:pPr>
            <a:r>
              <a:rPr lang="en-US" sz="2100" dirty="0">
                <a:latin typeface="Calibri" panose="020F0502020204030204" pitchFamily="34" charset="0"/>
                <a:cs typeface="Calibri" panose="020F0502020204030204" pitchFamily="34" charset="0"/>
              </a:rPr>
              <a:t>k :  prompts PID &amp; signal, to be sent to process</a:t>
            </a:r>
          </a:p>
          <a:p>
            <a:pPr algn="ctr">
              <a:lnSpc>
                <a:spcPct val="110000"/>
              </a:lnSpc>
              <a:spcBef>
                <a:spcPts val="0"/>
              </a:spcBef>
              <a:spcAft>
                <a:spcPts val="0"/>
              </a:spcAft>
              <a:defRPr/>
            </a:pPr>
            <a:endParaRPr lang="en-US" sz="1000" dirty="0">
              <a:latin typeface="Calibri" panose="020F0502020204030204" pitchFamily="34" charset="0"/>
              <a:cs typeface="Calibri" panose="020F0502020204030204" pitchFamily="34" charset="0"/>
            </a:endParaRPr>
          </a:p>
          <a:p>
            <a:pPr algn="ctr">
              <a:lnSpc>
                <a:spcPct val="110000"/>
              </a:lnSpc>
              <a:spcBef>
                <a:spcPts val="0"/>
              </a:spcBef>
              <a:spcAft>
                <a:spcPts val="0"/>
              </a:spcAft>
              <a:defRPr/>
            </a:pPr>
            <a:r>
              <a:rPr lang="en-US" sz="2000" i="1" dirty="0">
                <a:latin typeface="Times New Roman" panose="02020603050405020304" pitchFamily="18" charset="0"/>
                <a:cs typeface="Times New Roman" panose="02020603050405020304" pitchFamily="18" charset="0"/>
              </a:rPr>
              <a:t>(see details on man page of </a:t>
            </a:r>
            <a:r>
              <a:rPr lang="en-US" sz="2000" i="1" dirty="0" err="1">
                <a:latin typeface="Times New Roman" panose="02020603050405020304" pitchFamily="18" charset="0"/>
                <a:cs typeface="Times New Roman" panose="02020603050405020304" pitchFamily="18" charset="0"/>
              </a:rPr>
              <a:t>ps</a:t>
            </a:r>
            <a:r>
              <a:rPr lang="en-US" sz="2000" i="1" dirty="0">
                <a:latin typeface="Times New Roman" panose="02020603050405020304" pitchFamily="18" charset="0"/>
                <a:cs typeface="Times New Roman" panose="02020603050405020304" pitchFamily="18" charset="0"/>
              </a:rPr>
              <a:t> &amp; top)</a:t>
            </a:r>
          </a:p>
        </p:txBody>
      </p:sp>
      <p:sp>
        <p:nvSpPr>
          <p:cNvPr id="2" name="Slide Number Placeholder 3">
            <a:extLst>
              <a:ext uri="{FF2B5EF4-FFF2-40B4-BE49-F238E27FC236}">
                <a16:creationId xmlns:a16="http://schemas.microsoft.com/office/drawing/2014/main" id="{6908E0AC-A9DE-14D1-0A20-C11C9E95014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42</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1517310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1846166309"/>
              </p:ext>
            </p:extLst>
          </p:nvPr>
        </p:nvGraphicFramePr>
        <p:xfrm>
          <a:off x="484414" y="1222042"/>
          <a:ext cx="8365672" cy="4995739"/>
        </p:xfrm>
        <a:graphic>
          <a:graphicData uri="http://schemas.openxmlformats.org/drawingml/2006/table">
            <a:tbl>
              <a:tblPr firstRow="1" bandRow="1">
                <a:tableStyleId>{2D5ABB26-0587-4C30-8999-92F81FD0307C}</a:tableStyleId>
              </a:tblPr>
              <a:tblGrid>
                <a:gridCol w="2400301">
                  <a:extLst>
                    <a:ext uri="{9D8B030D-6E8A-4147-A177-3AD203B41FA5}">
                      <a16:colId xmlns:a16="http://schemas.microsoft.com/office/drawing/2014/main" val="20000"/>
                    </a:ext>
                  </a:extLst>
                </a:gridCol>
                <a:gridCol w="5965371">
                  <a:extLst>
                    <a:ext uri="{9D8B030D-6E8A-4147-A177-3AD203B41FA5}">
                      <a16:colId xmlns:a16="http://schemas.microsoft.com/office/drawing/2014/main" val="20001"/>
                    </a:ext>
                  </a:extLst>
                </a:gridCol>
              </a:tblGrid>
              <a:tr h="367589">
                <a:tc>
                  <a:txBody>
                    <a:bodyPr/>
                    <a:lstStyle/>
                    <a:p>
                      <a:pPr algn="ctr"/>
                      <a:r>
                        <a:rPr lang="en-US" sz="1800" b="1" dirty="0">
                          <a:latin typeface="Comic Sans MS" pitchFamily="66" charset="0"/>
                        </a:rPr>
                        <a:t>Command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800" b="1" dirty="0">
                          <a:latin typeface="Comic Sans MS" pitchFamily="66" charset="0"/>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7589">
                <a:tc>
                  <a:txBody>
                    <a:bodyPr/>
                    <a:lstStyle/>
                    <a:p>
                      <a:pPr algn="l"/>
                      <a:r>
                        <a:rPr lang="en-US" sz="1800" b="0" dirty="0">
                          <a:latin typeface="Comic Sans MS" pitchFamily="66" charset="0"/>
                        </a:rPr>
                        <a:t>#</a:t>
                      </a:r>
                      <a:r>
                        <a:rPr lang="en-US" sz="1800" b="0" baseline="0" dirty="0">
                          <a:latin typeface="Comic Sans MS" pitchFamily="66" charset="0"/>
                        </a:rPr>
                        <a:t> </a:t>
                      </a:r>
                      <a:r>
                        <a:rPr lang="en-US" sz="1800" b="1" baseline="0" dirty="0" err="1">
                          <a:latin typeface="Comic Sans MS" pitchFamily="66" charset="0"/>
                        </a:rPr>
                        <a:t>ps</a:t>
                      </a:r>
                      <a:r>
                        <a:rPr lang="en-US" sz="1800" b="0" baseline="0" dirty="0">
                          <a:latin typeface="Comic Sans MS" pitchFamily="66" charset="0"/>
                        </a:rPr>
                        <a:t> [</a:t>
                      </a:r>
                      <a:r>
                        <a:rPr lang="en-US" sz="1800" b="0" baseline="0" dirty="0" err="1">
                          <a:latin typeface="Comic Sans MS" pitchFamily="66" charset="0"/>
                        </a:rPr>
                        <a:t>auxl</a:t>
                      </a:r>
                      <a:r>
                        <a:rPr lang="en-US" sz="1800" b="0" baseline="0" dirty="0">
                          <a:latin typeface="Comic Sans MS" pitchFamily="66" charset="0"/>
                        </a:rPr>
                        <a:t>]</a:t>
                      </a:r>
                      <a:endParaRPr lang="en-US" sz="1800" b="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0" dirty="0">
                          <a:latin typeface="Comic Sans MS" pitchFamily="66" charset="0"/>
                        </a:rPr>
                        <a:t>Display status of processes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7589">
                <a:tc>
                  <a:txBody>
                    <a:bodyPr/>
                    <a:lstStyle/>
                    <a:p>
                      <a:pPr algn="l"/>
                      <a:r>
                        <a:rPr lang="en-US" sz="1800" b="0" dirty="0">
                          <a:latin typeface="Comic Sans MS" pitchFamily="66" charset="0"/>
                        </a:rPr>
                        <a:t>#</a:t>
                      </a:r>
                      <a:r>
                        <a:rPr lang="en-US" sz="1800" b="0" baseline="0" dirty="0">
                          <a:latin typeface="Comic Sans MS" pitchFamily="66" charset="0"/>
                        </a:rPr>
                        <a:t> </a:t>
                      </a:r>
                      <a:r>
                        <a:rPr lang="en-US" sz="1800" b="1" baseline="0" dirty="0">
                          <a:latin typeface="Comic Sans MS" pitchFamily="66" charset="0"/>
                        </a:rPr>
                        <a:t>top</a:t>
                      </a:r>
                      <a:endParaRPr lang="en-US" sz="1800" b="1"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0" dirty="0">
                          <a:latin typeface="Comic Sans MS" pitchFamily="66" charset="0"/>
                        </a:rPr>
                        <a:t>Display</a:t>
                      </a:r>
                      <a:r>
                        <a:rPr lang="en-US" sz="2000" b="0" baseline="0" dirty="0">
                          <a:latin typeface="Comic Sans MS" pitchFamily="66" charset="0"/>
                        </a:rPr>
                        <a:t> information about top 20 processes</a:t>
                      </a:r>
                      <a:endParaRPr lang="en-US" sz="2000" b="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7589">
                <a:tc>
                  <a:txBody>
                    <a:bodyPr/>
                    <a:lstStyle/>
                    <a:p>
                      <a:pPr algn="l"/>
                      <a:r>
                        <a:rPr lang="en-US" sz="1800" b="0" dirty="0">
                          <a:latin typeface="Comic Sans MS" pitchFamily="66" charset="0"/>
                        </a:rPr>
                        <a:t>#  </a:t>
                      </a:r>
                      <a:r>
                        <a:rPr lang="en-US" sz="1800" b="1" dirty="0">
                          <a:latin typeface="Comic Sans MS" pitchFamily="66" charset="0"/>
                        </a:rPr>
                        <a:t>vim</a:t>
                      </a:r>
                      <a:r>
                        <a:rPr lang="en-US" sz="1800" b="0" dirty="0">
                          <a:latin typeface="Comic Sans MS" pitchFamily="66" charset="0"/>
                        </a:rPr>
                        <a:t> file1.txt</a:t>
                      </a:r>
                      <a:r>
                        <a:rPr lang="en-US" sz="1800" b="1" dirty="0">
                          <a:latin typeface="Comic Sans MS" pitchFamily="66" charset="0"/>
                        </a:rPr>
                        <a:t> &amp;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Comic Sans MS" pitchFamily="66" charset="0"/>
                        </a:rPr>
                        <a:t>Running a command</a:t>
                      </a:r>
                      <a:r>
                        <a:rPr lang="en-US" sz="2000" b="0" baseline="0" dirty="0">
                          <a:latin typeface="Comic Sans MS" pitchFamily="66" charset="0"/>
                        </a:rPr>
                        <a:t> in back ground</a:t>
                      </a:r>
                      <a:endParaRPr lang="en-US" sz="2000" b="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43830">
                <a:tc>
                  <a:txBody>
                    <a:bodyPr/>
                    <a:lstStyle/>
                    <a:p>
                      <a:pPr algn="l"/>
                      <a:r>
                        <a:rPr lang="en-US" sz="1800" b="1" dirty="0">
                          <a:latin typeface="Comic Sans MS" pitchFamily="66" charset="0"/>
                        </a:rPr>
                        <a:t>CTRL + 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0" dirty="0">
                          <a:latin typeface="Comic Sans MS" pitchFamily="66" charset="0"/>
                        </a:rPr>
                        <a:t>Suspend</a:t>
                      </a:r>
                      <a:r>
                        <a:rPr lang="en-US" sz="2000" b="0" baseline="0" dirty="0">
                          <a:latin typeface="Comic Sans MS" pitchFamily="66" charset="0"/>
                        </a:rPr>
                        <a:t> foreground </a:t>
                      </a:r>
                      <a:r>
                        <a:rPr lang="en-US" sz="2000" b="0" dirty="0">
                          <a:latin typeface="Comic Sans MS" pitchFamily="66" charset="0"/>
                        </a:rPr>
                        <a:t>process to go back to shell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43830">
                <a:tc>
                  <a:txBody>
                    <a:bodyPr/>
                    <a:lstStyle/>
                    <a:p>
                      <a:pPr algn="l"/>
                      <a:r>
                        <a:rPr lang="en-US" sz="1800" b="0" dirty="0">
                          <a:latin typeface="Comic Sans MS" pitchFamily="66" charset="0"/>
                        </a:rPr>
                        <a:t># </a:t>
                      </a:r>
                      <a:r>
                        <a:rPr lang="en-US" sz="1800" b="1" dirty="0">
                          <a:latin typeface="Comic Sans MS" pitchFamily="66" charset="0"/>
                        </a:rPr>
                        <a:t>jobs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Comic Sans MS" pitchFamily="66" charset="0"/>
                        </a:rPr>
                        <a:t>Display status of suspended and backgr</a:t>
                      </a:r>
                      <a:r>
                        <a:rPr lang="en-US" sz="2000" b="0" baseline="0" dirty="0">
                          <a:latin typeface="Comic Sans MS" pitchFamily="66" charset="0"/>
                        </a:rPr>
                        <a:t>ound processes</a:t>
                      </a:r>
                      <a:endParaRPr lang="en-US" sz="2000" b="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7589">
                <a:tc>
                  <a:txBody>
                    <a:bodyPr/>
                    <a:lstStyle/>
                    <a:p>
                      <a:pPr algn="l"/>
                      <a:r>
                        <a:rPr lang="en-US" sz="1800" b="0" dirty="0">
                          <a:latin typeface="Comic Sans MS" pitchFamily="66" charset="0"/>
                        </a:rPr>
                        <a:t>#</a:t>
                      </a:r>
                      <a:r>
                        <a:rPr lang="en-US" sz="1800" b="0" baseline="0" dirty="0">
                          <a:latin typeface="Comic Sans MS" pitchFamily="66" charset="0"/>
                        </a:rPr>
                        <a:t> </a:t>
                      </a:r>
                      <a:r>
                        <a:rPr lang="en-US" sz="1800" b="1" baseline="0" dirty="0" err="1">
                          <a:latin typeface="Comic Sans MS" pitchFamily="66" charset="0"/>
                        </a:rPr>
                        <a:t>bg</a:t>
                      </a:r>
                      <a:r>
                        <a:rPr lang="en-US" sz="1800" b="0" baseline="0" dirty="0">
                          <a:latin typeface="Comic Sans MS" pitchFamily="66" charset="0"/>
                        </a:rPr>
                        <a:t> %</a:t>
                      </a:r>
                      <a:r>
                        <a:rPr lang="en-US" sz="1800" b="0" baseline="0" dirty="0" err="1">
                          <a:latin typeface="Comic Sans MS" pitchFamily="66" charset="0"/>
                        </a:rPr>
                        <a:t>job_id</a:t>
                      </a:r>
                      <a:endParaRPr lang="en-US" sz="1800" b="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0" dirty="0">
                          <a:latin typeface="Comic Sans MS" pitchFamily="66" charset="0"/>
                        </a:rPr>
                        <a:t>Put</a:t>
                      </a:r>
                      <a:r>
                        <a:rPr lang="en-US" sz="2000" b="0" baseline="0" dirty="0">
                          <a:latin typeface="Comic Sans MS" pitchFamily="66" charset="0"/>
                        </a:rPr>
                        <a:t> process in background</a:t>
                      </a:r>
                      <a:endParaRPr lang="en-US" sz="2000" b="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7589">
                <a:tc>
                  <a:txBody>
                    <a:bodyPr/>
                    <a:lstStyle/>
                    <a:p>
                      <a:pPr algn="l"/>
                      <a:r>
                        <a:rPr lang="en-US" sz="1800" b="0" dirty="0">
                          <a:latin typeface="Comic Sans MS" pitchFamily="66" charset="0"/>
                        </a:rPr>
                        <a:t>#</a:t>
                      </a:r>
                      <a:r>
                        <a:rPr lang="en-US" sz="1800" b="0" baseline="0" dirty="0">
                          <a:latin typeface="Comic Sans MS" pitchFamily="66" charset="0"/>
                        </a:rPr>
                        <a:t> </a:t>
                      </a:r>
                      <a:r>
                        <a:rPr lang="en-US" sz="1800" b="1" baseline="0" dirty="0" err="1">
                          <a:latin typeface="Comic Sans MS" pitchFamily="66" charset="0"/>
                        </a:rPr>
                        <a:t>fg</a:t>
                      </a:r>
                      <a:r>
                        <a:rPr lang="en-US" sz="1800" b="0" baseline="0" dirty="0">
                          <a:latin typeface="Comic Sans MS" pitchFamily="66" charset="0"/>
                        </a:rPr>
                        <a:t> %</a:t>
                      </a:r>
                      <a:r>
                        <a:rPr lang="en-US" sz="1800" b="0" baseline="0" dirty="0" err="1">
                          <a:latin typeface="Comic Sans MS" pitchFamily="66" charset="0"/>
                        </a:rPr>
                        <a:t>job_id</a:t>
                      </a:r>
                      <a:endParaRPr lang="en-US" sz="1800" b="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0" dirty="0">
                          <a:latin typeface="Comic Sans MS" pitchFamily="66" charset="0"/>
                        </a:rPr>
                        <a:t>Move background process to foreground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67589">
                <a:tc>
                  <a:txBody>
                    <a:bodyPr/>
                    <a:lstStyle/>
                    <a:p>
                      <a:pPr algn="l"/>
                      <a:r>
                        <a:rPr lang="en-US" sz="1800" b="1" dirty="0">
                          <a:latin typeface="Comic Sans MS" pitchFamily="66" charset="0"/>
                        </a:rPr>
                        <a:t>CTRL</a:t>
                      </a:r>
                      <a:r>
                        <a:rPr lang="en-US" sz="1800" b="1" baseline="0" dirty="0">
                          <a:latin typeface="Comic Sans MS" pitchFamily="66" charset="0"/>
                        </a:rPr>
                        <a:t> + C</a:t>
                      </a:r>
                      <a:endParaRPr lang="en-US" sz="1800" b="1"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0" dirty="0">
                          <a:latin typeface="Comic Sans MS" pitchFamily="66" charset="0"/>
                        </a:rPr>
                        <a:t>Kill foreground 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992772">
                <a:tc>
                  <a:txBody>
                    <a:bodyPr/>
                    <a:lstStyle/>
                    <a:p>
                      <a:pPr algn="l"/>
                      <a:r>
                        <a:rPr lang="en-US" sz="1800" b="0" dirty="0">
                          <a:latin typeface="Comic Sans MS" pitchFamily="66" charset="0"/>
                        </a:rPr>
                        <a:t># </a:t>
                      </a:r>
                      <a:r>
                        <a:rPr lang="en-US" sz="1800" b="1" dirty="0">
                          <a:latin typeface="Comic Sans MS" pitchFamily="66" charset="0"/>
                        </a:rPr>
                        <a:t>kill</a:t>
                      </a:r>
                      <a:r>
                        <a:rPr lang="en-US" sz="1800" b="0" dirty="0">
                          <a:latin typeface="Comic Sans MS" pitchFamily="66" charset="0"/>
                        </a:rPr>
                        <a:t>   [-</a:t>
                      </a:r>
                      <a:r>
                        <a:rPr lang="en-US" sz="1800" b="0" dirty="0" err="1">
                          <a:latin typeface="Comic Sans MS" pitchFamily="66" charset="0"/>
                        </a:rPr>
                        <a:t>signal_no</a:t>
                      </a:r>
                      <a:r>
                        <a:rPr lang="en-US" sz="1800" b="0" dirty="0">
                          <a:latin typeface="Comic Sans MS" pitchFamily="66" charset="0"/>
                        </a:rPr>
                        <a:t>]</a:t>
                      </a:r>
                      <a:r>
                        <a:rPr lang="en-US" sz="1800" b="0" baseline="0" dirty="0">
                          <a:latin typeface="Comic Sans MS" pitchFamily="66" charset="0"/>
                        </a:rPr>
                        <a:t>   </a:t>
                      </a:r>
                      <a:r>
                        <a:rPr lang="en-US" sz="1800" b="0" baseline="0" dirty="0" err="1">
                          <a:latin typeface="Comic Sans MS" pitchFamily="66" charset="0"/>
                        </a:rPr>
                        <a:t>proc_list</a:t>
                      </a:r>
                      <a:endParaRPr lang="en-US" sz="1800" b="0" baseline="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0" dirty="0">
                          <a:latin typeface="Comic Sans MS" pitchFamily="66" charset="0"/>
                        </a:rPr>
                        <a:t>Send</a:t>
                      </a:r>
                      <a:r>
                        <a:rPr lang="en-US" sz="2000" b="0" baseline="0" dirty="0">
                          <a:latin typeface="Comic Sans MS" pitchFamily="66" charset="0"/>
                        </a:rPr>
                        <a:t> signal for </a:t>
                      </a:r>
                      <a:r>
                        <a:rPr lang="en-US" sz="2000" b="0" baseline="0" dirty="0" err="1">
                          <a:latin typeface="Comic Sans MS" pitchFamily="66" charset="0"/>
                        </a:rPr>
                        <a:t>signal_no</a:t>
                      </a:r>
                      <a:r>
                        <a:rPr lang="en-US" sz="2000" b="0" baseline="0" dirty="0">
                          <a:latin typeface="Comic Sans MS" pitchFamily="66" charset="0"/>
                        </a:rPr>
                        <a:t> to processes whose PIDs or </a:t>
                      </a:r>
                      <a:r>
                        <a:rPr lang="en-US" sz="2000" b="0" baseline="0" dirty="0" err="1">
                          <a:latin typeface="Comic Sans MS" pitchFamily="66" charset="0"/>
                        </a:rPr>
                        <a:t>jobIDs</a:t>
                      </a:r>
                      <a:r>
                        <a:rPr lang="en-US" sz="2000" b="0" baseline="0" dirty="0">
                          <a:latin typeface="Comic Sans MS" pitchFamily="66" charset="0"/>
                        </a:rPr>
                        <a:t> are specified in </a:t>
                      </a:r>
                      <a:r>
                        <a:rPr lang="en-US" sz="2000" b="0" baseline="0" dirty="0" err="1">
                          <a:latin typeface="Comic Sans MS" pitchFamily="66" charset="0"/>
                        </a:rPr>
                        <a:t>proc_list</a:t>
                      </a:r>
                      <a:r>
                        <a:rPr lang="en-US" sz="2000" b="0" baseline="0" dirty="0">
                          <a:latin typeface="Comic Sans MS" pitchFamily="66" charset="0"/>
                        </a:rPr>
                        <a:t>. </a:t>
                      </a:r>
                      <a:r>
                        <a:rPr lang="en-US" sz="2000" b="0" baseline="0" dirty="0" err="1">
                          <a:latin typeface="Comic Sans MS" pitchFamily="66" charset="0"/>
                        </a:rPr>
                        <a:t>jobIDs</a:t>
                      </a:r>
                      <a:r>
                        <a:rPr lang="en-US" sz="2000" b="0" baseline="0" dirty="0">
                          <a:latin typeface="Comic Sans MS" pitchFamily="66" charset="0"/>
                        </a:rPr>
                        <a:t> must start with %. </a:t>
                      </a:r>
                      <a:endParaRPr lang="en-US" sz="2000" b="0" dirty="0">
                        <a:latin typeface="Comic Sans MS" pitchFamily="66"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7" name="Rectangle 2"/>
          <p:cNvSpPr>
            <a:spLocks noGrp="1" noChangeArrowheads="1"/>
          </p:cNvSpPr>
          <p:nvPr>
            <p:ph type="title"/>
          </p:nvPr>
        </p:nvSpPr>
        <p:spPr>
          <a:xfrm>
            <a:off x="947056" y="152399"/>
            <a:ext cx="7892143" cy="642257"/>
          </a:xfrm>
        </p:spPr>
        <p:txBody>
          <a:bodyPr>
            <a:noAutofit/>
          </a:bodyPr>
          <a:lstStyle/>
          <a:p>
            <a:r>
              <a:rPr lang="en-US" dirty="0"/>
              <a:t>Process Related UNIX Commands</a:t>
            </a:r>
          </a:p>
        </p:txBody>
      </p:sp>
      <p:sp>
        <p:nvSpPr>
          <p:cNvPr id="2" name="Slide Number Placeholder 3">
            <a:extLst>
              <a:ext uri="{FF2B5EF4-FFF2-40B4-BE49-F238E27FC236}">
                <a16:creationId xmlns:a16="http://schemas.microsoft.com/office/drawing/2014/main" id="{CDCB1997-1E55-142E-E88D-6664AEA0C54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43</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8432113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22830</TotalTime>
  <Words>3566</Words>
  <Application>Microsoft Office PowerPoint</Application>
  <PresentationFormat>On-screen Show (4:3)</PresentationFormat>
  <Paragraphs>468</Paragraphs>
  <Slides>43</Slides>
  <Notes>41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43</vt:i4>
      </vt:variant>
    </vt:vector>
  </HeadingPairs>
  <TitlesOfParts>
    <vt:vector size="59" baseType="lpstr">
      <vt:lpstr>MS PGothic</vt:lpstr>
      <vt:lpstr>Abadi</vt:lpstr>
      <vt:lpstr>Arial</vt:lpstr>
      <vt:lpstr>Calibri</vt:lpstr>
      <vt:lpstr>Comic Sans MS</vt:lpstr>
      <vt:lpstr>Gill Sans MT</vt:lpstr>
      <vt:lpstr>Helvetica</vt:lpstr>
      <vt:lpstr>Monotype Sorts</vt:lpstr>
      <vt:lpstr>Symbol</vt:lpstr>
      <vt:lpstr>Tahoma</vt:lpstr>
      <vt:lpstr>Times New Roman</vt:lpstr>
      <vt:lpstr>Verdana</vt:lpstr>
      <vt:lpstr>Webdings</vt:lpstr>
      <vt:lpstr>Wingdings</vt:lpstr>
      <vt:lpstr>Wingdings 2</vt:lpstr>
      <vt:lpstr>os-8</vt:lpstr>
      <vt:lpstr>PowerPoint Presentation</vt:lpstr>
      <vt:lpstr>Outline</vt:lpstr>
      <vt:lpstr>Process management</vt:lpstr>
      <vt:lpstr>Source code, Program &amp; Process</vt:lpstr>
      <vt:lpstr>PowerPoint Presentation</vt:lpstr>
      <vt:lpstr>Process Address Space</vt:lpstr>
      <vt:lpstr>Program on Disk</vt:lpstr>
      <vt:lpstr>PowerPoint Presentation</vt:lpstr>
      <vt:lpstr>Process in Memory</vt:lpstr>
      <vt:lpstr>Process Control Block</vt:lpstr>
      <vt:lpstr>PCB</vt:lpstr>
      <vt:lpstr>PCB</vt:lpstr>
      <vt:lpstr>Process States</vt:lpstr>
      <vt:lpstr>2 State Process Model</vt:lpstr>
      <vt:lpstr>2 State Process Model</vt:lpstr>
      <vt:lpstr>Queuing Diagram</vt:lpstr>
      <vt:lpstr>Queuing Diagram</vt:lpstr>
      <vt:lpstr>5 State Process Model</vt:lpstr>
      <vt:lpstr>5 State Process Model</vt:lpstr>
      <vt:lpstr>Queuing Diagram - using 2 queues</vt:lpstr>
      <vt:lpstr>Process Scheduling Queues</vt:lpstr>
      <vt:lpstr>Ready Queue &amp; I/O Device Queues</vt:lpstr>
      <vt:lpstr>Queuing Diagram</vt:lpstr>
      <vt:lpstr>Schedulers</vt:lpstr>
      <vt:lpstr>Schedulers</vt:lpstr>
      <vt:lpstr>Long Term Scheduler</vt:lpstr>
      <vt:lpstr>Process Types</vt:lpstr>
      <vt:lpstr>Long Term Scheduler</vt:lpstr>
      <vt:lpstr>Short Term Scheduler</vt:lpstr>
      <vt:lpstr>Need for Swapping</vt:lpstr>
      <vt:lpstr>Medium Term Scheduler</vt:lpstr>
      <vt:lpstr>6 State Process Model (one suspend state)</vt:lpstr>
      <vt:lpstr>7 State Process Model (two suspend states)</vt:lpstr>
      <vt:lpstr>Context Switching</vt:lpstr>
      <vt:lpstr>Context Switch / Process Switch</vt:lpstr>
      <vt:lpstr>PowerPoint Presentation</vt:lpstr>
      <vt:lpstr>Context Switch / Process Switch</vt:lpstr>
      <vt:lpstr>Context Switch - Examples</vt:lpstr>
      <vt:lpstr>Context Switch - Examples</vt:lpstr>
      <vt:lpstr>Context Switch - Examples</vt:lpstr>
      <vt:lpstr>Linux Commands - view processes</vt:lpstr>
      <vt:lpstr>Linux Commands - view processes</vt:lpstr>
      <vt:lpstr>Process Related UNIX Commands</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Dr Nauman Mazhar</cp:lastModifiedBy>
  <cp:revision>386</cp:revision>
  <cp:lastPrinted>2001-06-14T13:58:17Z</cp:lastPrinted>
  <dcterms:created xsi:type="dcterms:W3CDTF">2011-01-13T23:43:38Z</dcterms:created>
  <dcterms:modified xsi:type="dcterms:W3CDTF">2025-10-16T08:54:24Z</dcterms:modified>
</cp:coreProperties>
</file>