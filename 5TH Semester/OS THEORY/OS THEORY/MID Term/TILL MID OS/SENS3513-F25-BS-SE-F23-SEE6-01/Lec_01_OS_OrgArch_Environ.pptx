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66"/>
  </p:notesMasterIdLst>
  <p:handoutMasterIdLst>
    <p:handoutMasterId r:id="rId67"/>
  </p:handoutMasterIdLst>
  <p:sldIdLst>
    <p:sldId id="256" r:id="rId2"/>
    <p:sldId id="277" r:id="rId3"/>
    <p:sldId id="502" r:id="rId4"/>
    <p:sldId id="503" r:id="rId5"/>
    <p:sldId id="506" r:id="rId6"/>
    <p:sldId id="507" r:id="rId7"/>
    <p:sldId id="508" r:id="rId8"/>
    <p:sldId id="509" r:id="rId9"/>
    <p:sldId id="511" r:id="rId10"/>
    <p:sldId id="283" r:id="rId11"/>
    <p:sldId id="284" r:id="rId12"/>
    <p:sldId id="285" r:id="rId13"/>
    <p:sldId id="286" r:id="rId14"/>
    <p:sldId id="287" r:id="rId15"/>
    <p:sldId id="307" r:id="rId16"/>
    <p:sldId id="437" r:id="rId17"/>
    <p:sldId id="349" r:id="rId18"/>
    <p:sldId id="411" r:id="rId19"/>
    <p:sldId id="477" r:id="rId20"/>
    <p:sldId id="455" r:id="rId21"/>
    <p:sldId id="456" r:id="rId22"/>
    <p:sldId id="454" r:id="rId23"/>
    <p:sldId id="354" r:id="rId24"/>
    <p:sldId id="491" r:id="rId25"/>
    <p:sldId id="490" r:id="rId26"/>
    <p:sldId id="421" r:id="rId27"/>
    <p:sldId id="356" r:id="rId28"/>
    <p:sldId id="483" r:id="rId29"/>
    <p:sldId id="357" r:id="rId30"/>
    <p:sldId id="358" r:id="rId31"/>
    <p:sldId id="486" r:id="rId32"/>
    <p:sldId id="515" r:id="rId33"/>
    <p:sldId id="501" r:id="rId34"/>
    <p:sldId id="423" r:id="rId35"/>
    <p:sldId id="514" r:id="rId36"/>
    <p:sldId id="408" r:id="rId37"/>
    <p:sldId id="416" r:id="rId38"/>
    <p:sldId id="489" r:id="rId39"/>
    <p:sldId id="479" r:id="rId40"/>
    <p:sldId id="424" r:id="rId41"/>
    <p:sldId id="367" r:id="rId42"/>
    <p:sldId id="512" r:id="rId43"/>
    <p:sldId id="369" r:id="rId44"/>
    <p:sldId id="370" r:id="rId45"/>
    <p:sldId id="414" r:id="rId46"/>
    <p:sldId id="371" r:id="rId47"/>
    <p:sldId id="372" r:id="rId48"/>
    <p:sldId id="485" r:id="rId49"/>
    <p:sldId id="497" r:id="rId50"/>
    <p:sldId id="500" r:id="rId51"/>
    <p:sldId id="498" r:id="rId52"/>
    <p:sldId id="499" r:id="rId53"/>
    <p:sldId id="425" r:id="rId54"/>
    <p:sldId id="386" r:id="rId55"/>
    <p:sldId id="432" r:id="rId56"/>
    <p:sldId id="434" r:id="rId57"/>
    <p:sldId id="389" r:id="rId58"/>
    <p:sldId id="390" r:id="rId59"/>
    <p:sldId id="398" r:id="rId60"/>
    <p:sldId id="391" r:id="rId61"/>
    <p:sldId id="400" r:id="rId62"/>
    <p:sldId id="402" r:id="rId63"/>
    <p:sldId id="431" r:id="rId64"/>
    <p:sldId id="387" r:id="rId65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>
    <p:extLst>
      <p:ext uri="{19B8F6BF-5375-455C-9EA6-DF929625EA0E}">
        <p15:presenceInfo xmlns:p15="http://schemas.microsoft.com/office/powerpoint/2012/main" userId="S::avi@yale.edu::016206a9-3acf-4d04-9473-be90a77fcf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3366CC"/>
    <a:srgbClr val="0000FF"/>
    <a:srgbClr val="336699"/>
    <a:srgbClr val="0000CC"/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8" autoAdjust="0"/>
    <p:restoredTop sz="95097" autoAdjust="0"/>
  </p:normalViewPr>
  <p:slideViewPr>
    <p:cSldViewPr snapToGrid="0">
      <p:cViewPr varScale="1">
        <p:scale>
          <a:sx n="80" d="100"/>
          <a:sy n="80" d="100"/>
        </p:scale>
        <p:origin x="1858" y="5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36629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4292038-6B0F-2949-BFB3-4480D59261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3CBFB87-3130-8A40-8B9F-D30E7EF9A78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F0701F88-43FF-0741-8A3A-C0F52350229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3A87DA65-858F-5A45-B34A-C02AA0EBFC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A289FF7-9133-044D-B490-8A3FD0ABAE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37CAAC1-3D1D-9E43-A83C-E5D89AC650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ED26F54-2C52-46FF-BCE0-8696D75415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180789FC-DD11-5542-803A-9516EB334E3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8A87854-4AA0-1349-AAA1-90BFC8DE2E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7C6A482-1B06-854B-9B2C-D5CE05B66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9">
            <a:extLst>
              <a:ext uri="{FF2B5EF4-FFF2-40B4-BE49-F238E27FC236}">
                <a16:creationId xmlns:a16="http://schemas.microsoft.com/office/drawing/2014/main" id="{ECFC81AD-BEF4-3B7D-13E6-2096DD2DF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fld id="{94FCD59D-AAF7-4DCF-9D61-268004072083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Times New Roman" panose="02020603050405020304" pitchFamily="18" charset="0"/>
                <a:buNone/>
              </a:pPr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3" name="Text Box 1">
            <a:extLst>
              <a:ext uri="{FF2B5EF4-FFF2-40B4-BE49-F238E27FC236}">
                <a16:creationId xmlns:a16="http://schemas.microsoft.com/office/drawing/2014/main" id="{4EAA713D-61A3-D642-F581-EBC9CE45F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685800"/>
            <a:ext cx="494347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4408" tIns="42204" rIns="84408" bIns="42204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7BFA0708-9BF2-526D-3563-EC1589F2739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9">
            <a:extLst>
              <a:ext uri="{FF2B5EF4-FFF2-40B4-BE49-F238E27FC236}">
                <a16:creationId xmlns:a16="http://schemas.microsoft.com/office/drawing/2014/main" id="{C0835EF4-D8BD-0490-D864-C4CF415E60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fld id="{41288920-CAEE-4E3A-8FF0-AAD46633ABE7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Times New Roman" panose="02020603050405020304" pitchFamily="18" charset="0"/>
                <a:buNone/>
              </a:pPr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5" name="Text Box 1">
            <a:extLst>
              <a:ext uri="{FF2B5EF4-FFF2-40B4-BE49-F238E27FC236}">
                <a16:creationId xmlns:a16="http://schemas.microsoft.com/office/drawing/2014/main" id="{474F4DF3-CD66-033E-15BF-F8F9BE8E8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685800"/>
            <a:ext cx="494347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4408" tIns="42204" rIns="84408" bIns="42204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7EC7F3E0-07E6-F525-5801-4834C1929C1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>
            <a:extLst>
              <a:ext uri="{FF2B5EF4-FFF2-40B4-BE49-F238E27FC236}">
                <a16:creationId xmlns:a16="http://schemas.microsoft.com/office/drawing/2014/main" id="{E891B41B-3D09-17D5-9A97-F119543719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fld id="{A77D5FC9-C527-484C-B12E-A9359C4715B0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Times New Roman" panose="02020603050405020304" pitchFamily="18" charset="0"/>
                <a:buNone/>
              </a:pPr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3" name="Text Box 1">
            <a:extLst>
              <a:ext uri="{FF2B5EF4-FFF2-40B4-BE49-F238E27FC236}">
                <a16:creationId xmlns:a16="http://schemas.microsoft.com/office/drawing/2014/main" id="{7EEDF4DC-7D05-AA89-F14D-EFB232BF4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685800"/>
            <a:ext cx="494347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4408" tIns="42204" rIns="84408" bIns="42204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425EEB05-35DD-7571-AAE8-DAC996828E9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9">
            <a:extLst>
              <a:ext uri="{FF2B5EF4-FFF2-40B4-BE49-F238E27FC236}">
                <a16:creationId xmlns:a16="http://schemas.microsoft.com/office/drawing/2014/main" id="{82A5DBB5-7C69-7A4B-DD33-9E8DA85553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fld id="{E99177CB-853C-404C-B960-6C4A61489338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Times New Roman" panose="02020603050405020304" pitchFamily="18" charset="0"/>
                <a:buNone/>
              </a:pPr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7411" name="Text Box 1">
            <a:extLst>
              <a:ext uri="{FF2B5EF4-FFF2-40B4-BE49-F238E27FC236}">
                <a16:creationId xmlns:a16="http://schemas.microsoft.com/office/drawing/2014/main" id="{CC30E317-404F-8440-AB4E-CE0070F58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685800"/>
            <a:ext cx="494347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4408" tIns="42204" rIns="84408" bIns="42204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CCAAD98B-0752-106D-865B-75FC7F537D3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9">
            <a:extLst>
              <a:ext uri="{FF2B5EF4-FFF2-40B4-BE49-F238E27FC236}">
                <a16:creationId xmlns:a16="http://schemas.microsoft.com/office/drawing/2014/main" id="{08649901-0B5B-529C-A319-B76F7372A0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fld id="{AEC157EC-7576-4DCD-BE59-11E04B66B33E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Times New Roman" panose="02020603050405020304" pitchFamily="18" charset="0"/>
                <a:buNone/>
              </a:pPr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Text Box 1">
            <a:extLst>
              <a:ext uri="{FF2B5EF4-FFF2-40B4-BE49-F238E27FC236}">
                <a16:creationId xmlns:a16="http://schemas.microsoft.com/office/drawing/2014/main" id="{61D1A8BF-88F8-0B0D-1232-D8A5B9908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685800"/>
            <a:ext cx="494347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4408" tIns="42204" rIns="84408" bIns="42204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0C78D5F5-CEAE-4245-6129-3D5844CF20C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>
            <a:extLst>
              <a:ext uri="{FF2B5EF4-FFF2-40B4-BE49-F238E27FC236}">
                <a16:creationId xmlns:a16="http://schemas.microsoft.com/office/drawing/2014/main" id="{71BE3C51-0965-60BF-F27C-03C284732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Times New Roman" panose="02020603050405020304" pitchFamily="18" charset="0"/>
              <a:buNone/>
            </a:pPr>
            <a:fld id="{9205A73D-3010-438A-B39B-D6FEA1E6CCF7}" type="slidenum">
              <a:rPr lang="en-US" altLang="en-US">
                <a:latin typeface="Times New Roman" panose="02020603050405020304" pitchFamily="18" charset="0"/>
              </a:rPr>
              <a:pPr>
                <a:spcBef>
                  <a:spcPct val="0"/>
                </a:spcBef>
                <a:buFont typeface="Times New Roman" panose="02020603050405020304" pitchFamily="18" charset="0"/>
                <a:buNone/>
              </a:pPr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Text Box 1">
            <a:extLst>
              <a:ext uri="{FF2B5EF4-FFF2-40B4-BE49-F238E27FC236}">
                <a16:creationId xmlns:a16="http://schemas.microsoft.com/office/drawing/2014/main" id="{E2B7A7B5-6F1A-A089-4DA4-9C82C3C98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685800"/>
            <a:ext cx="4943475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84408" tIns="42204" rIns="84408" bIns="42204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E39DF07C-21F9-ACBC-B593-55E15CFF36F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2B20D6A-74B8-4F94-A917-6CF1BD9CF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701675"/>
            <a:ext cx="4681537" cy="3511550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BD16ED7-7618-4443-A1AB-1EEB7BDAC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8025" y="4448175"/>
            <a:ext cx="5662613" cy="4213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3926" tIns="46963" rIns="93926" bIns="46963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FD739A5-736F-49FB-B5C5-655EDC9329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5A804FB-0337-45E9-B1E1-4917EA812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0530582-34A1-40CB-B831-D1F3E3C92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9CF4A8B-5951-4925-B7B5-B6A118709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962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Virtually all computers provide a mechanism by which other modules (I/O, memory) may interrupt the normal sequencing of the processor. </a:t>
            </a:r>
          </a:p>
          <a:p>
            <a:endParaRPr lang="en-NZ" dirty="0"/>
          </a:p>
          <a:p>
            <a:r>
              <a:rPr lang="en-NZ" dirty="0"/>
              <a:t>Interrupts are provided primarily as a way to improve processor utilization.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For example, most I/O devices are much slower than the processor.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r>
              <a:rPr lang="en-NZ" dirty="0"/>
              <a:t>Suppose that the processor is transferring data to a printer using the instruction cycle scheme described earlier.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After each write operation, the processor must pause and remain idle until the printer catches up. </a:t>
            </a:r>
          </a:p>
          <a:p>
            <a:endParaRPr lang="en-NZ" dirty="0"/>
          </a:p>
          <a:p>
            <a:r>
              <a:rPr lang="en-NZ" dirty="0"/>
              <a:t>The length of this pause may be on the order of many thousands or even millions of instruction cycles.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Clearly, this is a very wasteful use of the processor.</a:t>
            </a:r>
            <a:endParaRPr lang="en-US" dirty="0"/>
          </a:p>
          <a:p>
            <a:pPr lvl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55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Virtually all computers provide a mechanism by which other modules (I/O, memory) may interrupt the normal sequencing of the processor. </a:t>
            </a:r>
          </a:p>
          <a:p>
            <a:endParaRPr lang="en-NZ" dirty="0"/>
          </a:p>
          <a:p>
            <a:r>
              <a:rPr lang="en-NZ" dirty="0"/>
              <a:t>Interrupts are provided primarily as a way to improve processor utilization.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For example, most I/O devices are much slower than the processor.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r>
              <a:rPr lang="en-NZ" dirty="0"/>
              <a:t>Suppose that the processor is transferring data to a printer using the instruction cycle scheme described earlier.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After each write operation, the processor must pause and remain idle until the printer catches up. </a:t>
            </a:r>
          </a:p>
          <a:p>
            <a:endParaRPr lang="en-NZ" dirty="0"/>
          </a:p>
          <a:p>
            <a:r>
              <a:rPr lang="en-NZ" dirty="0"/>
              <a:t>The length of this pause may be on the order of many thousands or even millions of instruction cycles.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Clearly, this is a very wasteful use of the processor.</a:t>
            </a:r>
            <a:endParaRPr lang="en-US" dirty="0"/>
          </a:p>
          <a:p>
            <a:pPr lvl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17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Z" dirty="0"/>
              <a:t>Virtually all computers provide a mechanism by which other modules (I/O, memory) may interrupt the normal sequencing of the processor. </a:t>
            </a:r>
          </a:p>
          <a:p>
            <a:endParaRPr lang="en-NZ" dirty="0"/>
          </a:p>
          <a:p>
            <a:r>
              <a:rPr lang="en-NZ" dirty="0"/>
              <a:t>Interrupts are provided primarily as a way to improve processor utilization.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For example, most I/O devices are much slower than the processor.</a:t>
            </a:r>
          </a:p>
          <a:p>
            <a:pPr lvl="0">
              <a:buFont typeface="Arial" pitchFamily="34" charset="0"/>
              <a:buNone/>
            </a:pPr>
            <a:endParaRPr lang="en-NZ" dirty="0"/>
          </a:p>
          <a:p>
            <a:r>
              <a:rPr lang="en-NZ" dirty="0"/>
              <a:t>Suppose that the processor is transferring data to a printer using the instruction cycle scheme described earlier. 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After each write operation, the processor must pause and remain idle until the printer catches up. </a:t>
            </a:r>
          </a:p>
          <a:p>
            <a:endParaRPr lang="en-NZ" dirty="0"/>
          </a:p>
          <a:p>
            <a:r>
              <a:rPr lang="en-NZ" dirty="0"/>
              <a:t>The length of this pause may be on the order of many thousands or even millions of instruction cycles.</a:t>
            </a:r>
          </a:p>
          <a:p>
            <a:pPr lvl="1">
              <a:buFont typeface="Arial" pitchFamily="34" charset="0"/>
              <a:buChar char="•"/>
            </a:pPr>
            <a:r>
              <a:rPr lang="en-NZ" dirty="0"/>
              <a:t> Clearly, this is a very wasteful use of the processor.</a:t>
            </a:r>
            <a:endParaRPr lang="en-US" dirty="0"/>
          </a:p>
          <a:p>
            <a:pPr lvl="0">
              <a:buFont typeface="Arial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B8058-0711-45B7-B5A6-3DC92501CBA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02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7E33B51-0000-42AD-B920-0A0E39C032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1A2DA55-94B7-44EA-9189-4528FAFDB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BE7E46-E1F9-428F-99F7-FB63BC43C3C7}" type="slidenum">
              <a:rPr lang="en-US"/>
              <a:pPr/>
              <a:t>25</a:t>
            </a:fld>
            <a:endParaRPr lang="en-US"/>
          </a:p>
        </p:txBody>
      </p:sp>
      <p:sp>
        <p:nvSpPr>
          <p:cNvPr id="247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24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043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6646A39-9D9C-4576-B76B-C83B690BB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615B404-9F60-46B3-9E39-216C9321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261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6646A39-9D9C-4576-B76B-C83B690BB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615B404-9F60-46B3-9E39-216C9321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A51FF58-C105-4A9E-9630-D9A0E11B7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75B7E24-1F9A-4145-81FD-5FA9539C1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A51FF58-C105-4A9E-9630-D9A0E11B7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75B7E24-1F9A-4145-81FD-5FA9539C1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5563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A51FF58-C105-4A9E-9630-D9A0E11B7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75B7E24-1F9A-4145-81FD-5FA9539C1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937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48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9E8DC3-5471-4D9B-B920-963C37282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81ECEA-4C58-43A0-8A83-EC53F2B60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5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E9E8DC3-5471-4D9B-B920-963C372826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81ECEA-4C58-43A0-8A83-EC53F2B60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434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ACF7734-5D09-4080-A5F3-33EF4697B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239A3F8-049F-4A8D-93CB-7DD9B1942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4EFBA2C-B5AE-4069-BF8B-611B0CEA78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EE8AC62-1D2C-4420-B345-3BE889F06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3169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3424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9D70ADE-4177-45D4-B042-C72A3AF4FD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845E423-F7A0-49A5-85DD-F75CACE8C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8736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9D70ADE-4177-45D4-B042-C72A3AF4FD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845E423-F7A0-49A5-85DD-F75CACE8C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8685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0CF294F-1963-42C7-A1B8-DE28A28FD0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B743749-804F-4046-95C8-744891308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7352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BC952F1-69DB-4826-90B8-43407F666E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181C0DC-0BF2-45FF-BE72-90467A2E1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4711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35192CAD-8D91-4D40-AA61-971837660F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93C388B-A9BF-43E9-BE5C-A9011280A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1645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F662679-C637-4C5D-AA50-BC23CF2FD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D00A35-AD54-491F-B947-6CA0B491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365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EC14F13-9940-464D-96E0-6B1495E786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2062C8DA-575B-421A-8D26-AE1E16BBC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4801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F662679-C637-4C5D-AA50-BC23CF2FDE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2D00A35-AD54-491F-B947-6CA0B491F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1431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630E1CF-99A4-4AEE-822B-EB5954B36B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FDF815E-E69D-4A6E-908C-546EA2D08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5175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3AA6C9F-7A55-412F-9FE5-55CB6315EA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D951E66-1449-4BF2-BD6D-78F009D7DF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9347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1E8609E4-2FA6-4985-9D67-5FCD713B13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BE4AB7D9-4D3B-49B7-A873-A570C1E10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2879CCAE-5999-4F9C-B096-A4124463B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127FEFA8-9D45-40D3-A1F0-799DC10A2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98D125-052E-430C-A5E5-045AF42622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854BE39E-4EE8-44E7-927E-467747CCDC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000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2BD6E28-4416-466E-9B96-F46B9236EF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EB7937B3-A5D5-4AE2-BC95-CEE0E5EA0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1851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97859DD6-BC94-4BD7-A1B1-5F19EE224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4650457B-4F99-4189-9BD5-63C91DCDB7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6547A43D-05BF-453A-830D-AFDB612267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6913"/>
            <a:ext cx="4648200" cy="3486150"/>
          </a:xfrm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239D267-6630-4441-AAD5-6EBECFC6D8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81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51A2E241-E71B-4B35-B69B-2D69D5409309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A593407-3A83-4E89-8524-3F2D7E67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3C094EE-E8AB-42C7-A23E-1CE65617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465B52CB-4EE3-4303-91A6-1E3D2BCA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E29D3E6-430F-439A-B7E4-DBD6A407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EBF474A-C9EA-4112-BDD8-3544E23F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6F57BE7D-8CFC-4E3D-B9D3-E99A00EC1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94A9A856-762E-4DC7-9B2F-F993E5BF7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5912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1483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1281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694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076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492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 marL="742950" indent="-285750">
              <a:buFont typeface="Wingdings" panose="05000000000000000000" pitchFamily="2" charset="2"/>
              <a:buChar char="§"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36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420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05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95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8EB374D-FC2E-49AD-94F6-BF0F89E9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711A7626-44E9-4D96-BC9A-F6A4BE08D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C79F07-0E6C-44FE-917F-8A0EE9E66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84B750-FEEC-0B4D-999E-B75B39028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BB3E8C43-4EF8-44FA-8DCA-47F2442F5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FE5170B-2E7A-4B4C-94CA-557F2ECD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96210B7-549D-3546-82A3-21674AB1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wuMRPhSNd0" TargetMode="External"/><Relationship Id="rId2" Type="http://schemas.openxmlformats.org/officeDocument/2006/relationships/hyperlink" Target="https://www.youtube.com/watch?v=PSnGuvylWBI&amp;ab_channel=ARTDETAIL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Z5JC9Ve1sfI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5870B4-1ED7-12B7-6AA3-77117E26F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88" y="4278086"/>
            <a:ext cx="2576512" cy="2373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  <a:t>Operating System Concepts </a:t>
            </a:r>
            <a:br>
              <a:rPr lang="en-US" altLang="en-US" sz="24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9</a:t>
            </a:r>
            <a:r>
              <a:rPr lang="en-US" altLang="en-US" sz="1800" baseline="30000" dirty="0">
                <a:solidFill>
                  <a:srgbClr val="008000"/>
                </a:solidFill>
                <a:latin typeface="Gill Sans MT" panose="020B0502020104020203" pitchFamily="34" charset="0"/>
              </a:rPr>
              <a:t>th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 edition 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 dirty="0" err="1">
                <a:solidFill>
                  <a:srgbClr val="008000"/>
                </a:solidFill>
                <a:latin typeface="Gill Sans MT" panose="020B0502020104020203" pitchFamily="34" charset="0"/>
              </a:rPr>
              <a:t>Silberschatz</a:t>
            </a:r>
            <a: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, Galvin &amp; Gagne</a:t>
            </a:r>
            <a:br>
              <a:rPr lang="en-US" alt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sz="1800" dirty="0">
                <a:solidFill>
                  <a:srgbClr val="008000"/>
                </a:solidFill>
                <a:latin typeface="Gill Sans MT" panose="020B0502020104020203" pitchFamily="34" charset="0"/>
              </a:rPr>
              <a:t>John Wiley &amp; Sons</a:t>
            </a:r>
            <a:br>
              <a:rPr lang="en-US" altLang="en-US" sz="1800">
                <a:solidFill>
                  <a:srgbClr val="008000"/>
                </a:solidFill>
                <a:latin typeface="Gill Sans MT" panose="020B0502020104020203" pitchFamily="34" charset="0"/>
              </a:rPr>
            </a:br>
            <a:r>
              <a:rPr lang="en-US" altLang="en-US" sz="1800">
                <a:solidFill>
                  <a:srgbClr val="008000"/>
                </a:solidFill>
                <a:latin typeface="Gill Sans MT" panose="020B0502020104020203" pitchFamily="34" charset="0"/>
              </a:rPr>
              <a:t>2013</a:t>
            </a:r>
            <a:endParaRPr lang="en-US" altLang="en-US" sz="1800" dirty="0">
              <a:solidFill>
                <a:srgbClr val="008000"/>
              </a:solidFill>
              <a:latin typeface="Gill Sans MT" panose="020B0502020104020203" pitchFamily="34" charset="0"/>
            </a:endParaRP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9F7CCCC7-1A34-2F65-50C6-85CAE622F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419725"/>
            <a:ext cx="41148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174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2200" i="1">
                <a:solidFill>
                  <a:srgbClr val="002060"/>
                </a:solidFill>
              </a:rPr>
              <a:t>Dr Nauman Mazhar</a:t>
            </a:r>
          </a:p>
          <a:p>
            <a:pPr eaLnBrk="1" hangingPunct="1">
              <a:spcBef>
                <a:spcPts val="12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Faculty of Information Technology (FIT)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None/>
            </a:pPr>
            <a:r>
              <a:rPr lang="en-GB" altLang="en-US" sz="1800" i="1">
                <a:solidFill>
                  <a:srgbClr val="002060"/>
                </a:solidFill>
              </a:rPr>
              <a:t>University of Central Punjab (UCP)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E0C7144-25C9-C5AB-98F9-BA0DEB94097B}"/>
              </a:ext>
            </a:extLst>
          </p:cNvPr>
          <p:cNvSpPr txBox="1">
            <a:spLocks noChangeArrowheads="1"/>
          </p:cNvSpPr>
          <p:nvPr/>
        </p:nvSpPr>
        <p:spPr>
          <a:xfrm>
            <a:off x="930728" y="833438"/>
            <a:ext cx="7282543" cy="1828800"/>
          </a:xfrm>
          <a:prstGeom prst="rect">
            <a:avLst/>
          </a:prstGeo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3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Operating Systems</a:t>
            </a:r>
          </a:p>
          <a:p>
            <a:pPr algn="ctr" eaLnBrk="1" fontAlgn="auto" hangingPunct="1">
              <a:spcBef>
                <a:spcPts val="1200"/>
              </a:spcBef>
              <a:spcAft>
                <a:spcPts val="0"/>
              </a:spcAft>
              <a:buFont typeface="Times New Roman" pitchFamily="18" charset="0"/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+mj-lt"/>
                <a:ea typeface="+mj-ea"/>
                <a:cs typeface="+mj-cs"/>
              </a:rPr>
              <a:t>SENS-3513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BC456DD-7F97-E05E-C599-ED9C715C1840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3352793"/>
            <a:ext cx="5410200" cy="1197429"/>
          </a:xfrm>
          <a:prstGeom prst="rect">
            <a:avLst/>
          </a:prstGeom>
        </p:spPr>
        <p:txBody>
          <a:bodyPr/>
          <a:lstStyle/>
          <a:p>
            <a:pPr marL="290513" indent="-290513" eaLnBrk="1" fontAlgn="auto" hangingPunct="1">
              <a:spcBef>
                <a:spcPts val="75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Operating Systems,  Computer system structure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F84B381-6B23-3BBF-67F5-2B4832F9FC4B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19394"/>
            <a:ext cx="2819400" cy="533400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750"/>
              </a:spcBef>
              <a:spcAft>
                <a:spcPts val="0"/>
              </a:spcAft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cs typeface="+mn-cs"/>
              </a:rPr>
              <a:t>Week: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8BE95C74-44A9-FFF7-9563-5B7D9974AE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47800" y="21768"/>
            <a:ext cx="7467600" cy="838200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0000CC"/>
                </a:solidFill>
              </a:rPr>
              <a:t>Instructor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A0F2034F-5B77-11D8-177B-FED77DCFF1F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284512"/>
            <a:ext cx="8458200" cy="5105400"/>
          </a:xfrm>
        </p:spPr>
        <p:txBody>
          <a:bodyPr/>
          <a:lstStyle/>
          <a:p>
            <a:pPr marL="338138" indent="-338138" eaLnBrk="1" hangingPunct="1">
              <a:spcBef>
                <a:spcPts val="500"/>
              </a:spcBef>
              <a:buClr>
                <a:srgbClr val="330066"/>
              </a:buClr>
              <a:buSzPct val="98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2000" b="1" dirty="0">
                <a:solidFill>
                  <a:srgbClr val="FF0000"/>
                </a:solidFill>
              </a:rPr>
              <a:t>DR NAUMAN MAZHAR</a:t>
            </a:r>
          </a:p>
          <a:p>
            <a:pPr marL="338138" indent="-338138" eaLnBrk="1" hangingPunct="1">
              <a:spcBef>
                <a:spcPts val="250"/>
              </a:spcBef>
              <a:buFontTx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altLang="en-US" sz="1000" dirty="0">
              <a:solidFill>
                <a:srgbClr val="D60093"/>
              </a:solidFill>
            </a:endParaRPr>
          </a:p>
          <a:p>
            <a:pPr marL="338138" indent="-338138" eaLnBrk="1" hangingPunct="1">
              <a:spcBef>
                <a:spcPts val="500"/>
              </a:spcBef>
              <a:buClr>
                <a:srgbClr val="330066"/>
              </a:buClr>
              <a:buSzPct val="98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2000" dirty="0"/>
              <a:t>Associate Professor, Faculty of IT&amp;CS</a:t>
            </a:r>
            <a:endParaRPr lang="en-US" altLang="en-US" sz="2000" i="1" dirty="0"/>
          </a:p>
          <a:p>
            <a:pPr marL="338138" indent="-338138" eaLnBrk="1" hangingPunct="1">
              <a:spcBef>
                <a:spcPts val="500"/>
              </a:spcBef>
              <a:buClr>
                <a:srgbClr val="330066"/>
              </a:buClr>
              <a:buSzPct val="98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altLang="en-US" sz="1000" dirty="0"/>
          </a:p>
          <a:p>
            <a:pPr marL="338138" indent="-338138" eaLnBrk="1" hangingPunct="1">
              <a:spcBef>
                <a:spcPts val="500"/>
              </a:spcBef>
              <a:buClr>
                <a:srgbClr val="330066"/>
              </a:buClr>
              <a:buSzPct val="98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2000" dirty="0"/>
              <a:t>PhD (Computer Engineering) </a:t>
            </a:r>
          </a:p>
          <a:p>
            <a:pPr marL="738188" lvl="1" indent="-280988" eaLnBrk="1" hangingPunct="1">
              <a:spcBef>
                <a:spcPts val="450"/>
              </a:spcBef>
              <a:buClr>
                <a:srgbClr val="669999"/>
              </a:buClr>
              <a:buSzPct val="70000"/>
              <a:buFont typeface="Times New Roman" panose="02020603050405020304" pitchFamily="18" charset="0"/>
              <a:buBlip>
                <a:blip r:embed="rId4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1800" dirty="0"/>
              <a:t>Computer Networks &amp; Security</a:t>
            </a:r>
          </a:p>
          <a:p>
            <a:pPr marL="738188" lvl="1" indent="-280988" eaLnBrk="1" hangingPunct="1">
              <a:spcBef>
                <a:spcPts val="450"/>
              </a:spcBef>
              <a:buClr>
                <a:srgbClr val="669999"/>
              </a:buClr>
              <a:buSzPct val="70000"/>
              <a:buFont typeface="Times New Roman" panose="02020603050405020304" pitchFamily="18" charset="0"/>
              <a:buBlip>
                <a:blip r:embed="rId4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1800" dirty="0"/>
              <a:t>CASE, Islamabad, research element in Michigan State University, USA</a:t>
            </a:r>
          </a:p>
          <a:p>
            <a:pPr marL="338138" indent="-338138" eaLnBrk="1" hangingPunct="1">
              <a:spcBef>
                <a:spcPts val="250"/>
              </a:spcBef>
              <a:buFontTx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altLang="en-US" sz="1000" dirty="0"/>
          </a:p>
          <a:p>
            <a:pPr marL="338138" indent="-338138" eaLnBrk="1" hangingPunct="1">
              <a:spcBef>
                <a:spcPts val="500"/>
              </a:spcBef>
              <a:buClr>
                <a:srgbClr val="330066"/>
              </a:buClr>
              <a:buSzPct val="98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2000" dirty="0"/>
              <a:t>MS (Computer Engineering)</a:t>
            </a:r>
          </a:p>
          <a:p>
            <a:pPr marL="738188" lvl="1" indent="-280988" eaLnBrk="1" hangingPunct="1">
              <a:spcBef>
                <a:spcPts val="450"/>
              </a:spcBef>
              <a:buClr>
                <a:srgbClr val="669999"/>
              </a:buClr>
              <a:buSzPct val="70000"/>
              <a:buFont typeface="Times New Roman" panose="02020603050405020304" pitchFamily="18" charset="0"/>
              <a:buBlip>
                <a:blip r:embed="rId4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1800" dirty="0"/>
              <a:t>Computer Networks &amp; Security </a:t>
            </a:r>
          </a:p>
          <a:p>
            <a:pPr marL="738188" lvl="1" indent="-280988" eaLnBrk="1" hangingPunct="1">
              <a:spcBef>
                <a:spcPts val="450"/>
              </a:spcBef>
              <a:buClr>
                <a:srgbClr val="669999"/>
              </a:buClr>
              <a:buSzPct val="70000"/>
              <a:buFont typeface="Times New Roman" panose="02020603050405020304" pitchFamily="18" charset="0"/>
              <a:buBlip>
                <a:blip r:embed="rId4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1800" dirty="0"/>
              <a:t>IOWA State University, USA</a:t>
            </a:r>
          </a:p>
          <a:p>
            <a:pPr marL="338138" indent="-338138" eaLnBrk="1" hangingPunct="1">
              <a:spcBef>
                <a:spcPts val="250"/>
              </a:spcBef>
              <a:buFontTx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altLang="en-US" sz="1000" dirty="0"/>
          </a:p>
          <a:p>
            <a:pPr marL="338138" indent="-338138" eaLnBrk="1" hangingPunct="1">
              <a:spcBef>
                <a:spcPts val="500"/>
              </a:spcBef>
              <a:buClr>
                <a:srgbClr val="330066"/>
              </a:buClr>
              <a:buSzPct val="98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2000" dirty="0"/>
              <a:t>BE (Avionics Engineering)</a:t>
            </a:r>
          </a:p>
          <a:p>
            <a:pPr marL="738188" lvl="1" indent="-280988" eaLnBrk="1" hangingPunct="1">
              <a:spcBef>
                <a:spcPts val="450"/>
              </a:spcBef>
              <a:buClr>
                <a:srgbClr val="669999"/>
              </a:buClr>
              <a:buSzPct val="70000"/>
              <a:buFont typeface="Times New Roman" panose="02020603050405020304" pitchFamily="18" charset="0"/>
              <a:buBlip>
                <a:blip r:embed="rId4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1800" dirty="0"/>
              <a:t>College of Aeronautical </a:t>
            </a:r>
            <a:r>
              <a:rPr lang="en-US" altLang="en-US" sz="1800" dirty="0" err="1"/>
              <a:t>Engg</a:t>
            </a:r>
            <a:r>
              <a:rPr lang="en-US" altLang="en-US" sz="1800" dirty="0"/>
              <a:t> (CAE), PAF Academy </a:t>
            </a:r>
            <a:r>
              <a:rPr lang="en-US" altLang="en-US" sz="1800" dirty="0" err="1"/>
              <a:t>Risalpur</a:t>
            </a:r>
            <a:r>
              <a:rPr lang="en-US" altLang="en-US" sz="1800" dirty="0"/>
              <a:t> (NED Univ)</a:t>
            </a:r>
          </a:p>
          <a:p>
            <a:pPr marL="338138" indent="-338138" eaLnBrk="1" hangingPunct="1">
              <a:spcBef>
                <a:spcPts val="250"/>
              </a:spcBef>
              <a:buFontTx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altLang="en-US" sz="1000" dirty="0"/>
          </a:p>
          <a:p>
            <a:pPr marL="338138" indent="-338138" eaLnBrk="1" hangingPunct="1">
              <a:spcBef>
                <a:spcPts val="425"/>
              </a:spcBef>
              <a:buClr>
                <a:srgbClr val="330066"/>
              </a:buClr>
              <a:buSzPct val="115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1700" dirty="0"/>
              <a:t>nau.maz@ucp.edu.pk</a:t>
            </a:r>
          </a:p>
        </p:txBody>
      </p:sp>
      <p:sp>
        <p:nvSpPr>
          <p:cNvPr id="4101" name="Slide Number Placeholder 3">
            <a:extLst>
              <a:ext uri="{FF2B5EF4-FFF2-40B4-BE49-F238E27FC236}">
                <a16:creationId xmlns:a16="http://schemas.microsoft.com/office/drawing/2014/main" id="{6F7780AE-A5D3-DAFB-3F35-50AE7ADF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4D27-7186-6569-528D-DFCA6472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1A0F9-480A-9C5B-A6D7-ECEBEE4E0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0" y="1203752"/>
            <a:ext cx="8783868" cy="54218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Course Objective:</a:t>
            </a:r>
          </a:p>
          <a:p>
            <a:pPr marL="0" indent="0" algn="ctr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“Learn the basic concepts &amp; principles involved in</a:t>
            </a:r>
            <a:b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design, implementation &amp; functioning </a:t>
            </a:r>
            <a:b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an OS”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defTabSz="838200">
              <a:spcBef>
                <a:spcPts val="3000"/>
              </a:spcBef>
            </a:pP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Understand:</a:t>
            </a:r>
            <a:r>
              <a:rPr lang="en-US" sz="22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	</a:t>
            </a:r>
            <a:r>
              <a:rPr lang="en-US" sz="220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an OS,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what is its </a:t>
            </a:r>
            <a:r>
              <a:rPr lang="en-US" sz="2200" b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22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b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what are its core </a:t>
            </a:r>
            <a:r>
              <a:rPr lang="en-US" sz="2200" b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200" b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  <a:r>
              <a:rPr lang="en-US" sz="2200" b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defTabSz="838200">
              <a:spcBef>
                <a:spcPts val="1800"/>
              </a:spcBef>
            </a:pP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Analyze:   	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algos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used to implement the</a:t>
            </a:r>
            <a:b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core 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</a:p>
          <a:p>
            <a:pPr lvl="1" defTabSz="838200">
              <a:spcBef>
                <a:spcPts val="1800"/>
              </a:spcBef>
            </a:pP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Apply:  </a:t>
            </a:r>
            <a:r>
              <a:rPr lang="en-US" sz="2200" i="0" u="none" strike="noStrike" baseline="0" dirty="0">
                <a:latin typeface="Calibri" panose="020F0502020204030204" pitchFamily="34" charset="0"/>
                <a:cs typeface="Calibri" panose="020F0502020204030204" pitchFamily="34" charset="0"/>
              </a:rPr>
              <a:t> 		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OS 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calls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develop &amp; manage </a:t>
            </a:r>
            <a:b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efficient software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91B5F-2FA9-72A5-FF87-59B690DF6C4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618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72F85481-E3A4-37E6-8778-11E6DE41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94025"/>
            <a:ext cx="8382000" cy="5195887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 &amp; Basic Principles</a:t>
            </a:r>
            <a:endParaRPr lang="en-US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What is an OS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Computer system organization &amp; architecture</a:t>
            </a:r>
          </a:p>
          <a:p>
            <a:pPr lvl="2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system boot process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OS modes of operation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Computing environment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Interrupts &amp; interrupt servicing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Protection in OS – dual mode operation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OS services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User interface  – 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cmd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line, GUI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Programmer interface  –  system calls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B2C5EA2-063F-2A35-C47A-10DDAE9FA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0719" y="80963"/>
            <a:ext cx="6770914" cy="757237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FF0000"/>
                </a:solidFill>
              </a:rPr>
              <a:t>Course Contents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6FB1F72-7A8C-BCC5-2721-7103F75EC06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951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72F85481-E3A4-37E6-8778-11E6DE41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94025"/>
            <a:ext cx="8382000" cy="5195887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Management</a:t>
            </a:r>
            <a:endParaRPr lang="en-US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creation/termination, process states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fork()  &amp;  exec()  system calls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Orphan &amp; Zombie processes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Coding examples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Inter-Process Communication</a:t>
            </a:r>
            <a:endParaRPr lang="en-US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IPC methods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Anonymous &amp; Named pipes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Shared memory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I/O redirection &amp; Pipes on terminal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Coding examples of I/O &amp; pipes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B2C5EA2-063F-2A35-C47A-10DDAE9FA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0719" y="80963"/>
            <a:ext cx="6770914" cy="757237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FF0000"/>
                </a:solidFill>
              </a:rPr>
              <a:t>Course Contents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6FB1F72-7A8C-BCC5-2721-7103F75EC06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5529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72F85481-E3A4-37E6-8778-11E6DE41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94025"/>
            <a:ext cx="8382000" cy="5195887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Scheduling</a:t>
            </a:r>
            <a:endParaRPr lang="en-US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Preemptive &amp; Non-preemptive scheduling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Scheduling criteria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Scheduling algos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FCFS, SJF, SRTF, Priority, RR, MQS, MFQS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Threads</a:t>
            </a:r>
            <a:endParaRPr lang="en-US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Single-threaded vs Multi-threaded process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Multithreading models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Thread libraries -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Pthreads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creation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Thread issues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Implicit threading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Thread pools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B2C5EA2-063F-2A35-C47A-10DDAE9FA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0719" y="80963"/>
            <a:ext cx="6770914" cy="757237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FF0000"/>
                </a:solidFill>
              </a:rPr>
              <a:t>Course Contents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6FB1F72-7A8C-BCC5-2721-7103F75EC06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034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72F85481-E3A4-37E6-8778-11E6DE41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96051"/>
            <a:ext cx="8382000" cy="5195887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 Synchronization</a:t>
            </a:r>
            <a:endParaRPr lang="en-US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Critical Section problem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Software solution - Peterson’s algo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Hardware solution - Disabling Interrupts,  Atomic Instructions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Hybrid solution - Mutex,  Semaphore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Classical problems of synchronization</a:t>
            </a:r>
          </a:p>
          <a:p>
            <a:pPr marL="857250" lvl="2" indent="0" eaLnBrk="1" hangingPunct="1">
              <a:spcBef>
                <a:spcPts val="600"/>
              </a:spcBef>
              <a:buNone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     Producer-Consumer		Bounded-Buffer</a:t>
            </a:r>
          </a:p>
          <a:p>
            <a:pPr marL="857250" lvl="2" indent="0" eaLnBrk="1" hangingPunct="1">
              <a:spcBef>
                <a:spcPts val="600"/>
              </a:spcBef>
              <a:buNone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     Readers-Writers  	   	Dining-Philosophers</a:t>
            </a:r>
          </a:p>
          <a:p>
            <a:pPr eaLnBrk="1" hangingPunct="1">
              <a:spcBef>
                <a:spcPts val="1200"/>
              </a:spcBef>
            </a:pPr>
            <a:r>
              <a:rPr lang="en-US" alt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Deadlocks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Deadlock characterization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Deadlock handling</a:t>
            </a:r>
          </a:p>
          <a:p>
            <a:pPr marL="857250" lvl="2" indent="0" eaLnBrk="1" hangingPunct="1">
              <a:spcBef>
                <a:spcPts val="600"/>
              </a:spcBef>
              <a:buNone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     Prevention,   Avoidance,   Detection,   Recovery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B2C5EA2-063F-2A35-C47A-10DDAE9FA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0719" y="80963"/>
            <a:ext cx="6770914" cy="757237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FF0000"/>
                </a:solidFill>
              </a:rPr>
              <a:t>Course Contents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6FB1F72-7A8C-BCC5-2721-7103F75EC06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7241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72F85481-E3A4-37E6-8778-11E6DE41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94025"/>
            <a:ext cx="8382000" cy="5195887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Management</a:t>
            </a:r>
            <a:endParaRPr lang="en-US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Address translation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Overlays &amp; Swapping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Contiguous &amp; Non-contiguous memory allocation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Paging &amp; Segmentation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Paged-Segmentation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Virtual memory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Demand paging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Page replacement algorithms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Allocation of page frames 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Thrashing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B2C5EA2-063F-2A35-C47A-10DDAE9FAA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0719" y="80963"/>
            <a:ext cx="6770914" cy="757237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FF0000"/>
                </a:solidFill>
              </a:rPr>
              <a:t>Course Contents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6FB1F72-7A8C-BCC5-2721-7103F75EC06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9274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4D27-7186-6569-528D-DFCA6472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Course Learning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91B5F-2FA9-72A5-FF87-59B690DF6C4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4B089E-B77E-CD34-6814-5CC58A891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59900"/>
              </p:ext>
            </p:extLst>
          </p:nvPr>
        </p:nvGraphicFramePr>
        <p:xfrm>
          <a:off x="304800" y="1214296"/>
          <a:ext cx="8697686" cy="496298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925286">
                  <a:extLst>
                    <a:ext uri="{9D8B030D-6E8A-4147-A177-3AD203B41FA5}">
                      <a16:colId xmlns:a16="http://schemas.microsoft.com/office/drawing/2014/main" val="2766742918"/>
                    </a:ext>
                  </a:extLst>
                </a:gridCol>
                <a:gridCol w="5421085">
                  <a:extLst>
                    <a:ext uri="{9D8B030D-6E8A-4147-A177-3AD203B41FA5}">
                      <a16:colId xmlns:a16="http://schemas.microsoft.com/office/drawing/2014/main" val="3226112844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912452530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2641537995"/>
                    </a:ext>
                  </a:extLst>
                </a:gridCol>
              </a:tblGrid>
              <a:tr h="64245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CLO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Taxonomy Level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PLO Mapping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36537255"/>
                  </a:ext>
                </a:extLst>
              </a:tr>
              <a:tr h="10185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CLO-1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2870" marR="0">
                        <a:spcBef>
                          <a:spcPts val="600"/>
                        </a:spcBef>
                        <a:buNone/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Describe</a:t>
                      </a:r>
                      <a:r>
                        <a:rPr lang="en-US" sz="16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the core functionalities of operating systems, its architectural components, and goals involved in OS design. </a:t>
                      </a:r>
                    </a:p>
                  </a:txBody>
                  <a:tcPr marL="68580" marR="68580" marT="9144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C2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2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9922856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CLO-2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2870" marR="0">
                        <a:spcBef>
                          <a:spcPts val="600"/>
                        </a:spcBef>
                        <a:buNone/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Explain</a:t>
                      </a:r>
                      <a:r>
                        <a:rPr lang="en-US" sz="16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the fundamentals of Process Management, including process structure, scheduling algorithms and inter-process communication (IPC).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9144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C2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2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0316923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CLO-3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1600" marR="0" algn="just">
                        <a:spcBef>
                          <a:spcPts val="600"/>
                        </a:spcBef>
                        <a:buNone/>
                      </a:pPr>
                      <a:r>
                        <a:rPr lang="en-US" sz="16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</a:t>
                      </a:r>
                      <a:r>
                        <a:rPr lang="en-US" sz="16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the concepts of memory management including advance techniques of paging, segmentation and virtual memory.</a:t>
                      </a:r>
                    </a:p>
                  </a:txBody>
                  <a:tcPr marL="68580" marR="68580" marT="9144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C3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0179758"/>
                  </a:ext>
                </a:extLst>
              </a:tr>
              <a:tr h="12496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CLO-4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101600" marR="0" algn="just">
                        <a:spcBef>
                          <a:spcPts val="600"/>
                        </a:spcBef>
                        <a:buNone/>
                      </a:pPr>
                      <a:r>
                        <a:rPr lang="en-US" sz="1600" b="1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Implement</a:t>
                      </a:r>
                      <a:r>
                        <a:rPr lang="en-US" sz="16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thread based programming solutions, as well as classical synchronization problems (e.g., producer-consumer, reader-writer) using programming constructs like mutexes and semaphores. </a:t>
                      </a:r>
                    </a:p>
                  </a:txBody>
                  <a:tcPr marL="68580" marR="68580" marT="9144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C3</a:t>
                      </a:r>
                      <a:endParaRPr lang="en-US" sz="1600" dirty="0"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-182880" algn="l"/>
                          <a:tab pos="182880" algn="l"/>
                          <a:tab pos="411480" algn="l"/>
                          <a:tab pos="640080" algn="l"/>
                          <a:tab pos="868680" algn="l"/>
                          <a:tab pos="1097280" algn="l"/>
                          <a:tab pos="1325880" algn="l"/>
                          <a:tab pos="1554480" algn="l"/>
                          <a:tab pos="1783080" algn="l"/>
                          <a:tab pos="2011680" algn="l"/>
                          <a:tab pos="2240280" algn="l"/>
                          <a:tab pos="2468880" algn="l"/>
                          <a:tab pos="2697480" algn="l"/>
                          <a:tab pos="2926080" algn="l"/>
                          <a:tab pos="3154680" algn="l"/>
                          <a:tab pos="3314700" algn="l"/>
                          <a:tab pos="3611880" algn="l"/>
                          <a:tab pos="3840480" algn="l"/>
                          <a:tab pos="4069080" algn="l"/>
                          <a:tab pos="4297680" algn="l"/>
                          <a:tab pos="4526280" algn="l"/>
                          <a:tab pos="4754880" algn="l"/>
                          <a:tab pos="4983480" algn="l"/>
                          <a:tab pos="5143500" algn="l"/>
                        </a:tabLst>
                      </a:pPr>
                      <a:r>
                        <a:rPr lang="en-US" sz="1600" dirty="0"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5067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70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>
            <a:extLst>
              <a:ext uri="{FF2B5EF4-FFF2-40B4-BE49-F238E27FC236}">
                <a16:creationId xmlns:a16="http://schemas.microsoft.com/office/drawing/2014/main" id="{33E7BEE8-30BB-6FCD-7C9A-D50BD714AE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82484" y="152400"/>
            <a:ext cx="7075714" cy="685800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0000CC"/>
                </a:solidFill>
              </a:rPr>
              <a:t>Books Recommended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376B00B-3F10-B6F5-E184-6DCA6EB590E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76946" y="1436912"/>
            <a:ext cx="8458200" cy="5105400"/>
          </a:xfrm>
        </p:spPr>
        <p:txBody>
          <a:bodyPr/>
          <a:lstStyle/>
          <a:p>
            <a:pPr marL="338138" indent="-338138" eaLnBrk="1" hangingPunct="1">
              <a:spcBef>
                <a:spcPts val="450"/>
              </a:spcBef>
              <a:buClr>
                <a:srgbClr val="330066"/>
              </a:buClr>
              <a:buSzPct val="82000"/>
              <a:buFont typeface="Times New Roman" panose="02020603050405020304" pitchFamily="18" charset="0"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Text:</a:t>
            </a:r>
          </a:p>
          <a:p>
            <a:pPr marL="338138" indent="-338138" eaLnBrk="1" hangingPunct="1">
              <a:spcBef>
                <a:spcPts val="450"/>
              </a:spcBef>
              <a:buClr>
                <a:srgbClr val="330066"/>
              </a:buClr>
              <a:buSzPct val="82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Operating System Concepts</a:t>
            </a:r>
            <a:r>
              <a:rPr lang="en-US" altLang="en-US" sz="20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(9</a:t>
            </a:r>
            <a:r>
              <a:rPr lang="en-US" altLang="en-US" sz="2400" baseline="30000" dirty="0">
                <a:cs typeface="Times New Roman" panose="02020603050405020304" pitchFamily="18" charset="0"/>
              </a:rPr>
              <a:t>th</a:t>
            </a:r>
            <a:r>
              <a:rPr lang="en-US" altLang="en-US" sz="2400" baseline="-10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ed)</a:t>
            </a:r>
          </a:p>
          <a:p>
            <a:pPr marL="687388" lvl="1" indent="-346075" eaLnBrk="1" hangingPunct="1">
              <a:buClr>
                <a:srgbClr val="669999"/>
              </a:buClr>
              <a:buSzPct val="70000"/>
              <a:buFont typeface="Times New Roman" panose="02020603050405020304" pitchFamily="18" charset="0"/>
              <a:buBlip>
                <a:blip r:embed="rId4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by </a:t>
            </a:r>
            <a:r>
              <a:rPr lang="en-US" dirty="0">
                <a:cs typeface="Times New Roman" panose="02020603050405020304" pitchFamily="18" charset="0"/>
              </a:rPr>
              <a:t>Abraham </a:t>
            </a:r>
            <a:r>
              <a:rPr lang="en-US" dirty="0" err="1">
                <a:cs typeface="Times New Roman" panose="02020603050405020304" pitchFamily="18" charset="0"/>
              </a:rPr>
              <a:t>Silberschatz</a:t>
            </a:r>
            <a:r>
              <a:rPr lang="en-US" dirty="0">
                <a:cs typeface="Times New Roman" panose="02020603050405020304" pitchFamily="18" charset="0"/>
              </a:rPr>
              <a:t>, Peter B. Galvin, Greg Gagne 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marL="338138" indent="-338138" eaLnBrk="1" hangingPunct="1">
              <a:spcBef>
                <a:spcPts val="600"/>
              </a:spcBef>
              <a:buFontTx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altLang="en-US" sz="1600" dirty="0">
              <a:cs typeface="Times New Roman" panose="02020603050405020304" pitchFamily="18" charset="0"/>
            </a:endParaRPr>
          </a:p>
          <a:p>
            <a:pPr marL="338138" indent="-338138" eaLnBrk="1" hangingPunct="1">
              <a:spcBef>
                <a:spcPts val="450"/>
              </a:spcBef>
              <a:buClr>
                <a:srgbClr val="330066"/>
              </a:buClr>
              <a:buSzPct val="82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400" dirty="0">
                <a:latin typeface="Arial" panose="020B0604020202020204" pitchFamily="34" charset="0"/>
              </a:rPr>
              <a:t>Operating System Internals &amp; Design Principles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(5</a:t>
            </a:r>
            <a:r>
              <a:rPr lang="en-US" altLang="en-US" sz="2400" baseline="30000" dirty="0">
                <a:cs typeface="Times New Roman" panose="02020603050405020304" pitchFamily="18" charset="0"/>
              </a:rPr>
              <a:t>th</a:t>
            </a:r>
            <a:r>
              <a:rPr lang="en-US" altLang="en-US" sz="2400" baseline="-1000" dirty="0"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ed)</a:t>
            </a:r>
          </a:p>
          <a:p>
            <a:pPr marL="687388" lvl="1" indent="-346075" eaLnBrk="1" hangingPunct="1">
              <a:buClr>
                <a:srgbClr val="669999"/>
              </a:buClr>
              <a:buSzPct val="70000"/>
              <a:buFont typeface="Times New Roman" panose="02020603050405020304" pitchFamily="18" charset="0"/>
              <a:buBlip>
                <a:blip r:embed="rId4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1800" dirty="0">
                <a:cs typeface="Times New Roman" panose="02020603050405020304" pitchFamily="18" charset="0"/>
              </a:rPr>
              <a:t>by </a:t>
            </a: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William Stallings</a:t>
            </a:r>
            <a:endParaRPr lang="en-US" altLang="en-US" sz="1800" dirty="0">
              <a:cs typeface="Times New Roman" panose="02020603050405020304" pitchFamily="18" charset="0"/>
            </a:endParaRPr>
          </a:p>
          <a:p>
            <a:pPr marL="338138" indent="-338138" eaLnBrk="1" hangingPunct="1">
              <a:spcBef>
                <a:spcPts val="600"/>
              </a:spcBef>
              <a:buFontTx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altLang="en-US" sz="1600" dirty="0">
              <a:cs typeface="Times New Roman" panose="02020603050405020304" pitchFamily="18" charset="0"/>
            </a:endParaRPr>
          </a:p>
          <a:p>
            <a:pPr marL="338138" indent="-338138" eaLnBrk="1" hangingPunct="1">
              <a:spcBef>
                <a:spcPts val="450"/>
              </a:spcBef>
              <a:buClr>
                <a:srgbClr val="330066"/>
              </a:buClr>
              <a:buSzPct val="82000"/>
              <a:buFont typeface="Times New Roman" panose="02020603050405020304" pitchFamily="18" charset="0"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Ref:</a:t>
            </a:r>
          </a:p>
          <a:p>
            <a:pPr marL="338138" indent="-338138" eaLnBrk="1" hangingPunct="1">
              <a:spcBef>
                <a:spcPts val="450"/>
              </a:spcBef>
              <a:buClr>
                <a:srgbClr val="330066"/>
              </a:buClr>
              <a:buSzPct val="82000"/>
              <a:buFont typeface="Times New Roman" panose="02020603050405020304" pitchFamily="18" charset="0"/>
              <a:buBlip>
                <a:blip r:embed="rId3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400" dirty="0">
                <a:latin typeface="Arial" panose="020B0604020202020204" pitchFamily="34" charset="0"/>
              </a:rPr>
              <a:t>Modern Operating Systems </a:t>
            </a:r>
            <a:r>
              <a:rPr lang="en-US" altLang="en-US" sz="2400" dirty="0">
                <a:latin typeface="Arial" panose="020B0604020202020204" pitchFamily="34" charset="0"/>
              </a:rPr>
              <a:t>(3</a:t>
            </a:r>
            <a:r>
              <a:rPr lang="en-US" altLang="en-US" sz="2400" baseline="30000" dirty="0">
                <a:latin typeface="Arial" panose="020B0604020202020204" pitchFamily="34" charset="0"/>
              </a:rPr>
              <a:t>rd</a:t>
            </a:r>
            <a:r>
              <a:rPr lang="en-US" altLang="en-US" sz="2400" dirty="0">
                <a:latin typeface="Arial" panose="020B0604020202020204" pitchFamily="34" charset="0"/>
              </a:rPr>
              <a:t> ed)</a:t>
            </a:r>
          </a:p>
          <a:p>
            <a:pPr marL="687388" lvl="1" indent="-346075" eaLnBrk="1" hangingPunct="1">
              <a:spcBef>
                <a:spcPts val="450"/>
              </a:spcBef>
              <a:buClr>
                <a:srgbClr val="669999"/>
              </a:buClr>
              <a:buSzPct val="70000"/>
              <a:buBlip>
                <a:blip r:embed="rId4"/>
              </a:buBlip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altLang="en-US" sz="1800" dirty="0">
                <a:cs typeface="Times New Roman" panose="02020603050405020304" pitchFamily="18" charset="0"/>
              </a:rPr>
              <a:t>by </a:t>
            </a:r>
            <a:r>
              <a:rPr lang="en-US" dirty="0">
                <a:latin typeface="Arial" panose="020B0604020202020204" pitchFamily="34" charset="0"/>
                <a:ea typeface="Arial" panose="020B0604020202020204" pitchFamily="34" charset="0"/>
              </a:rPr>
              <a:t>Andrew S. Tanenbaum </a:t>
            </a:r>
            <a:endParaRPr lang="en-US" altLang="en-US" sz="1800" dirty="0">
              <a:cs typeface="Times New Roman" panose="02020603050405020304" pitchFamily="18" charset="0"/>
            </a:endParaRPr>
          </a:p>
          <a:p>
            <a:pPr marL="341313" lvl="1" indent="0" eaLnBrk="1" hangingPunct="1">
              <a:spcBef>
                <a:spcPts val="450"/>
              </a:spcBef>
              <a:buClr>
                <a:srgbClr val="669999"/>
              </a:buClr>
              <a:buSzPct val="70000"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endParaRPr lang="en-US" altLang="en-US" dirty="0">
              <a:cs typeface="Times New Roman" panose="02020603050405020304" pitchFamily="18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AA4F852-3A91-0717-530C-2E27B2508B0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>
            <a:extLst>
              <a:ext uri="{FF2B5EF4-FFF2-40B4-BE49-F238E27FC236}">
                <a16:creationId xmlns:a16="http://schemas.microsoft.com/office/drawing/2014/main" id="{B2916B1E-AC75-4697-F8CD-22B5AA5EF8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0715" y="136525"/>
            <a:ext cx="6814457" cy="707571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0000CC"/>
                </a:solidFill>
              </a:rPr>
              <a:t>Course Methodology</a:t>
            </a: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E4E38C49-DC69-517D-0864-06197EF018C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8458200" cy="5105400"/>
          </a:xfrm>
        </p:spPr>
        <p:txBody>
          <a:bodyPr rtlCol="0">
            <a:normAutofit/>
          </a:bodyPr>
          <a:lstStyle/>
          <a:p>
            <a:pPr marL="338138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buFont typeface="Times New Roman" pitchFamily="18" charset="0"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</a:rPr>
              <a:t>Lectures</a:t>
            </a:r>
          </a:p>
          <a:p>
            <a:pPr marL="574675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tabLst>
                <a:tab pos="450850" algn="l"/>
                <a:tab pos="45720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000" dirty="0"/>
              <a:t>14 power point lectures</a:t>
            </a:r>
          </a:p>
          <a:p>
            <a:pPr marL="574675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tabLst>
                <a:tab pos="450850" algn="l"/>
                <a:tab pos="45720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000" dirty="0"/>
              <a:t>Study relevant sections of Text / Ref books</a:t>
            </a:r>
          </a:p>
          <a:p>
            <a:pPr marL="338138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buFont typeface="Arial" panose="020B0604020202020204" pitchFamily="34" charset="0"/>
              <a:buNone/>
              <a:tabLst>
                <a:tab pos="338138" algn="l"/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</a:rPr>
              <a:t>Assignments</a:t>
            </a:r>
          </a:p>
          <a:p>
            <a:pPr marL="574675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000" dirty="0"/>
              <a:t>Assignments done individually / groups</a:t>
            </a:r>
          </a:p>
          <a:p>
            <a:pPr marL="574675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000" dirty="0"/>
              <a:t>To be submitted exactly when due</a:t>
            </a:r>
          </a:p>
          <a:p>
            <a:pPr marL="574675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000" dirty="0"/>
              <a:t>5% marks deduction per day for being late</a:t>
            </a:r>
          </a:p>
          <a:p>
            <a:pPr marL="574675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000" dirty="0"/>
              <a:t>After one week – </a:t>
            </a:r>
            <a:r>
              <a:rPr lang="en-US" sz="2000" b="1" dirty="0">
                <a:solidFill>
                  <a:srgbClr val="3333FF"/>
                </a:solidFill>
              </a:rPr>
              <a:t>Not Accepted</a:t>
            </a:r>
          </a:p>
          <a:p>
            <a:pPr marL="338138" indent="-338138" eaLnBrk="1" fontAlgn="auto" hangingPunct="1">
              <a:spcBef>
                <a:spcPts val="1200"/>
              </a:spcBef>
              <a:spcAft>
                <a:spcPts val="0"/>
              </a:spcAft>
              <a:buClr>
                <a:srgbClr val="330066"/>
              </a:buClr>
              <a:buSzPct val="82000"/>
              <a:buFont typeface="Times New Roman" pitchFamily="18" charset="0"/>
              <a:buNone/>
              <a:tabLst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800" b="1" dirty="0">
                <a:solidFill>
                  <a:srgbClr val="FF0000"/>
                </a:solidFill>
              </a:rPr>
              <a:t>Exam Pattern</a:t>
            </a:r>
          </a:p>
          <a:p>
            <a:pPr marL="574675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000" dirty="0"/>
              <a:t>Exams to include complete material in covered chapters</a:t>
            </a:r>
          </a:p>
          <a:p>
            <a:pPr marL="574675" indent="-338138" eaLnBrk="1" fontAlgn="auto" hangingPunct="1">
              <a:spcBef>
                <a:spcPts val="600"/>
              </a:spcBef>
              <a:spcAft>
                <a:spcPts val="0"/>
              </a:spcAft>
              <a:buClr>
                <a:srgbClr val="330066"/>
              </a:buClr>
              <a:buSzPct val="82000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  <a:defRPr/>
            </a:pPr>
            <a:r>
              <a:rPr lang="en-US" sz="2000" dirty="0"/>
              <a:t>MCQs, short answers, problems, analysis/design questions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3C22230-8FC7-6678-61DA-9CB42572E05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id="{C9C2E3EA-23BB-B99E-75B0-350A14DE763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17172" y="152400"/>
            <a:ext cx="6672943" cy="707571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0000CC"/>
                </a:solidFill>
              </a:rPr>
              <a:t>Grading Policy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5A53303-69FE-E290-A262-C739384CBBA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28600" y="1676400"/>
            <a:ext cx="8534400" cy="4648200"/>
          </a:xfrm>
        </p:spPr>
        <p:txBody>
          <a:bodyPr/>
          <a:lstStyle/>
          <a:p>
            <a:pPr eaLnBrk="1" hangingPunct="1">
              <a:buFont typeface="Times New Roman" panose="02020603050405020304" pitchFamily="18" charset="0"/>
              <a:buNone/>
              <a:tabLst>
                <a:tab pos="342900" algn="l"/>
                <a:tab pos="909638" algn="l"/>
                <a:tab pos="1824038" algn="l"/>
                <a:tab pos="2738438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  <a:tab pos="10055225" algn="l"/>
                <a:tab pos="10512425" algn="l"/>
                <a:tab pos="105140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		Quizzes		    ……….	04 	15%</a:t>
            </a:r>
          </a:p>
          <a:p>
            <a:pPr eaLnBrk="1" hangingPunct="1">
              <a:buFont typeface="Times New Roman" panose="02020603050405020304" pitchFamily="18" charset="0"/>
              <a:buNone/>
              <a:tabLst>
                <a:tab pos="342900" algn="l"/>
                <a:tab pos="909638" algn="l"/>
                <a:tab pos="1824038" algn="l"/>
                <a:tab pos="2738438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  <a:tab pos="10055225" algn="l"/>
                <a:tab pos="10512425" algn="l"/>
                <a:tab pos="105140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		Assignments 	    ……….	04	15%</a:t>
            </a:r>
          </a:p>
          <a:p>
            <a:pPr eaLnBrk="1" hangingPunct="1">
              <a:buFont typeface="Arial" panose="020B0604020202020204" pitchFamily="34" charset="0"/>
              <a:buNone/>
              <a:tabLst>
                <a:tab pos="342900" algn="l"/>
                <a:tab pos="909638" algn="l"/>
                <a:tab pos="1824038" algn="l"/>
                <a:tab pos="2738438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  <a:tab pos="10055225" algn="l"/>
                <a:tab pos="10512425" algn="l"/>
                <a:tab pos="105140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		Class participation  ..….….		05%</a:t>
            </a:r>
          </a:p>
          <a:p>
            <a:pPr eaLnBrk="1" hangingPunct="1">
              <a:buFont typeface="Arial" panose="020B0604020202020204" pitchFamily="34" charset="0"/>
              <a:buNone/>
              <a:tabLst>
                <a:tab pos="342900" algn="l"/>
                <a:tab pos="909638" algn="l"/>
                <a:tab pos="1824038" algn="l"/>
                <a:tab pos="2738438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  <a:tab pos="10055225" algn="l"/>
                <a:tab pos="10512425" algn="l"/>
                <a:tab pos="105140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		Mid-exam 		    ..….….		25%</a:t>
            </a:r>
          </a:p>
          <a:p>
            <a:pPr eaLnBrk="1" hangingPunct="1">
              <a:buFont typeface="Arial" panose="020B0604020202020204" pitchFamily="34" charset="0"/>
              <a:buNone/>
              <a:tabLst>
                <a:tab pos="342900" algn="l"/>
                <a:tab pos="909638" algn="l"/>
                <a:tab pos="1824038" algn="l"/>
                <a:tab pos="2738438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  <a:tab pos="10055225" algn="l"/>
                <a:tab pos="10512425" algn="l"/>
                <a:tab pos="105140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		Final-exam 	    .………		40%</a:t>
            </a:r>
          </a:p>
          <a:p>
            <a:pPr eaLnBrk="1" hangingPunct="1">
              <a:buFont typeface="Times New Roman" panose="02020603050405020304" pitchFamily="18" charset="0"/>
              <a:buNone/>
              <a:tabLst>
                <a:tab pos="342900" algn="l"/>
                <a:tab pos="909638" algn="l"/>
                <a:tab pos="1824038" algn="l"/>
                <a:tab pos="2738438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  <a:tab pos="10055225" algn="l"/>
                <a:tab pos="10512425" algn="l"/>
                <a:tab pos="10514013" algn="l"/>
              </a:tabLst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>
              <a:buFont typeface="Times New Roman" panose="02020603050405020304" pitchFamily="18" charset="0"/>
              <a:buNone/>
              <a:tabLst>
                <a:tab pos="342900" algn="l"/>
                <a:tab pos="909638" algn="l"/>
                <a:tab pos="1824038" algn="l"/>
                <a:tab pos="2738438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  <a:tab pos="10055225" algn="l"/>
                <a:tab pos="10512425" algn="l"/>
                <a:tab pos="10514013" algn="l"/>
              </a:tabLst>
            </a:pPr>
            <a:endParaRPr lang="en-US" altLang="en-US" sz="2800" dirty="0">
              <a:cs typeface="Times New Roman" panose="02020603050405020304" pitchFamily="18" charset="0"/>
            </a:endParaRPr>
          </a:p>
          <a:p>
            <a:pPr algn="ctr" eaLnBrk="1" hangingPunct="1">
              <a:spcBef>
                <a:spcPts val="525"/>
              </a:spcBef>
              <a:buFont typeface="Times New Roman" panose="02020603050405020304" pitchFamily="18" charset="0"/>
              <a:buNone/>
              <a:tabLst>
                <a:tab pos="342900" algn="l"/>
                <a:tab pos="909638" algn="l"/>
                <a:tab pos="1824038" algn="l"/>
                <a:tab pos="2738438" algn="l"/>
                <a:tab pos="3652838" algn="l"/>
                <a:tab pos="4567238" algn="l"/>
                <a:tab pos="5481638" algn="l"/>
                <a:tab pos="6396038" algn="l"/>
                <a:tab pos="7310438" algn="l"/>
                <a:tab pos="8224838" algn="l"/>
                <a:tab pos="9139238" algn="l"/>
                <a:tab pos="10053638" algn="l"/>
                <a:tab pos="10055225" algn="l"/>
                <a:tab pos="10512425" algn="l"/>
                <a:tab pos="10514013" algn="l"/>
              </a:tabLst>
            </a:pPr>
            <a:r>
              <a:rPr lang="en-US" alt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is tentative and flexible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2ED4B2B-AE0A-1C51-C50A-FC30C14620A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350AD4CF-F3E8-5B68-05BE-FB4DE75D0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1295400"/>
            <a:ext cx="8305800" cy="4800600"/>
          </a:xfrm>
        </p:spPr>
        <p:txBody>
          <a:bodyPr/>
          <a:lstStyle/>
          <a:p>
            <a:pPr eaLnBrk="1" hangingPunct="1">
              <a:spcBef>
                <a:spcPts val="1800"/>
              </a:spcBef>
            </a:pPr>
            <a:r>
              <a:rPr lang="en-US" altLang="en-US" sz="2400" dirty="0"/>
              <a:t>Your work in this class </a:t>
            </a:r>
            <a:r>
              <a:rPr lang="en-US" altLang="en-US" sz="2400" b="1" dirty="0">
                <a:solidFill>
                  <a:srgbClr val="FF0000"/>
                </a:solidFill>
              </a:rPr>
              <a:t>must</a:t>
            </a:r>
            <a:r>
              <a:rPr lang="en-US" altLang="en-US" sz="2400" b="1" dirty="0"/>
              <a:t> </a:t>
            </a:r>
            <a:r>
              <a:rPr lang="en-US" altLang="en-US" sz="2400" dirty="0"/>
              <a:t>be your </a:t>
            </a:r>
            <a:r>
              <a:rPr lang="en-US" altLang="en-US" sz="2400" b="1" dirty="0">
                <a:solidFill>
                  <a:srgbClr val="FF0000"/>
                </a:solidFill>
              </a:rPr>
              <a:t>own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2400" dirty="0"/>
              <a:t>If students are found to have:</a:t>
            </a:r>
          </a:p>
          <a:p>
            <a:pPr lvl="1" eaLnBrk="1" hangingPunct="1">
              <a:spcBef>
                <a:spcPts val="1800"/>
              </a:spcBef>
            </a:pPr>
            <a:r>
              <a:rPr lang="en-US" altLang="en-US" sz="2100" dirty="0">
                <a:solidFill>
                  <a:srgbClr val="FF0000"/>
                </a:solidFill>
              </a:rPr>
              <a:t>collaborated excessively</a:t>
            </a:r>
            <a:r>
              <a:rPr lang="en-US" altLang="en-US" sz="2100" dirty="0"/>
              <a:t>,  or </a:t>
            </a:r>
          </a:p>
          <a:p>
            <a:pPr lvl="1" eaLnBrk="1" hangingPunct="1">
              <a:spcBef>
                <a:spcPts val="1800"/>
              </a:spcBef>
            </a:pPr>
            <a:r>
              <a:rPr lang="en-US" altLang="en-US" sz="2100" dirty="0">
                <a:solidFill>
                  <a:srgbClr val="FF0000"/>
                </a:solidFill>
              </a:rPr>
              <a:t>copied</a:t>
            </a:r>
            <a:r>
              <a:rPr lang="en-US" altLang="en-US" sz="2100" dirty="0"/>
              <a:t>/</a:t>
            </a:r>
            <a:r>
              <a:rPr lang="en-US" altLang="en-US" sz="2100" dirty="0">
                <a:solidFill>
                  <a:srgbClr val="FF0000"/>
                </a:solidFill>
              </a:rPr>
              <a:t>shared</a:t>
            </a:r>
            <a:r>
              <a:rPr lang="en-US" altLang="en-US" sz="2100" dirty="0"/>
              <a:t> answers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2400" dirty="0"/>
              <a:t>For the </a:t>
            </a:r>
            <a:r>
              <a:rPr lang="en-US" altLang="en-US" sz="2400" b="1" dirty="0">
                <a:solidFill>
                  <a:srgbClr val="0000CC"/>
                </a:solidFill>
              </a:rPr>
              <a:t>first</a:t>
            </a:r>
            <a:r>
              <a:rPr lang="en-US" altLang="en-US" sz="2400" dirty="0"/>
              <a:t> infraction… </a:t>
            </a:r>
          </a:p>
          <a:p>
            <a:pPr lvl="1" eaLnBrk="1" hangingPunct="1">
              <a:spcBef>
                <a:spcPts val="1800"/>
              </a:spcBef>
            </a:pPr>
            <a:r>
              <a:rPr lang="en-US" altLang="en-US" sz="2100" dirty="0"/>
              <a:t>all involved will, at a min, receive  </a:t>
            </a:r>
            <a:r>
              <a:rPr lang="en-US" altLang="en-US" sz="2100" b="1" dirty="0">
                <a:solidFill>
                  <a:srgbClr val="FF0000"/>
                </a:solidFill>
              </a:rPr>
              <a:t>grades of 0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en-US" sz="2400" b="1" dirty="0">
                <a:solidFill>
                  <a:srgbClr val="0000CC"/>
                </a:solidFill>
              </a:rPr>
              <a:t>Further</a:t>
            </a:r>
            <a:r>
              <a:rPr lang="en-US" altLang="en-US" sz="2400" dirty="0"/>
              <a:t> infractions… </a:t>
            </a:r>
          </a:p>
          <a:p>
            <a:pPr lvl="1" eaLnBrk="1" hangingPunct="1">
              <a:spcBef>
                <a:spcPts val="1800"/>
              </a:spcBef>
            </a:pPr>
            <a:r>
              <a:rPr lang="en-US" altLang="en-US" sz="2100" dirty="0"/>
              <a:t>will result in </a:t>
            </a:r>
            <a:r>
              <a:rPr lang="en-US" altLang="en-US" sz="2100" b="1" dirty="0">
                <a:solidFill>
                  <a:srgbClr val="FF0000"/>
                </a:solidFill>
              </a:rPr>
              <a:t>failure</a:t>
            </a:r>
            <a:r>
              <a:rPr lang="en-US" altLang="en-US" sz="2100" dirty="0"/>
              <a:t> in course</a:t>
            </a:r>
          </a:p>
          <a:p>
            <a:pPr eaLnBrk="1" hangingPunct="1">
              <a:spcBef>
                <a:spcPts val="1800"/>
              </a:spcBef>
            </a:pPr>
            <a:endParaRPr lang="en-US" altLang="en-US" sz="2400" dirty="0"/>
          </a:p>
        </p:txBody>
      </p:sp>
      <p:sp>
        <p:nvSpPr>
          <p:cNvPr id="18435" name="Rectangle 1">
            <a:extLst>
              <a:ext uri="{FF2B5EF4-FFF2-40B4-BE49-F238E27FC236}">
                <a16:creationId xmlns:a16="http://schemas.microsoft.com/office/drawing/2014/main" id="{8F8CEB51-BFE8-DE86-1EE2-4A375BC6F5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82486" y="80964"/>
            <a:ext cx="6836229" cy="779008"/>
          </a:xfrm>
        </p:spPr>
        <p:txBody>
          <a:bodyPr/>
          <a:lstStyle/>
          <a:p>
            <a:pPr algn="l" eaLnBrk="1" hangingPunct="1">
              <a:buFont typeface="Times New Roman" panose="02020603050405020304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b="1" dirty="0">
                <a:solidFill>
                  <a:srgbClr val="0000CC"/>
                </a:solidFill>
              </a:rPr>
              <a:t>Academic Honesty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F71B832-69C0-1F65-9273-D602B37EDD8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48F3162B-DAA5-6A5E-0DFC-BAE2CCA66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176588"/>
            <a:ext cx="2951163" cy="649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Times New Roman" pitchFamily="16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MT" pitchFamily="34" charset="0"/>
                <a:cs typeface="+mn-cs"/>
              </a:rPr>
              <a:t>Office Hours</a:t>
            </a:r>
          </a:p>
        </p:txBody>
      </p:sp>
      <p:sp>
        <p:nvSpPr>
          <p:cNvPr id="19460" name="TextBox 5">
            <a:extLst>
              <a:ext uri="{FF2B5EF4-FFF2-40B4-BE49-F238E27FC236}">
                <a16:creationId xmlns:a16="http://schemas.microsoft.com/office/drawing/2014/main" id="{73EF5682-4821-27D0-6CF3-B4985A04C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799" y="3797300"/>
            <a:ext cx="5453744" cy="1318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/>
              <a:t>Office		:     C-Block,  Room 101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/>
              <a:t>Office Hours	:     ???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68C5F721-FCAB-5C45-28DE-CCC3BD10A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19200"/>
            <a:ext cx="4183063" cy="6492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Times New Roman" pitchFamily="16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MT" pitchFamily="34" charset="0"/>
                <a:cs typeface="+mn-cs"/>
              </a:rPr>
              <a:t>Attendance Policy</a:t>
            </a:r>
          </a:p>
        </p:txBody>
      </p:sp>
      <p:sp>
        <p:nvSpPr>
          <p:cNvPr id="19462" name="TextBox 5">
            <a:extLst>
              <a:ext uri="{FF2B5EF4-FFF2-40B4-BE49-F238E27FC236}">
                <a16:creationId xmlns:a16="http://schemas.microsoft.com/office/drawing/2014/main" id="{0416903F-FB85-A952-3DB9-9DAF122B2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828800"/>
            <a:ext cx="670560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/>
              <a:t>Strictly in accordance with the Univ policy…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0061E2B-E57E-D085-AA79-313723036E0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>
            <a:extLst>
              <a:ext uri="{FF2B5EF4-FFF2-40B4-BE49-F238E27FC236}">
                <a16:creationId xmlns:a16="http://schemas.microsoft.com/office/drawing/2014/main" id="{1E5D9C3B-820C-C5F6-EB64-270EDB3A9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14400"/>
            <a:ext cx="8839200" cy="228600"/>
          </a:xfrm>
          <a:prstGeom prst="rect">
            <a:avLst/>
          </a:prstGeom>
          <a:solidFill>
            <a:srgbClr val="FFFFFF"/>
          </a:solidFill>
          <a:ln w="9360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447A1D11-9594-EC8D-ED2A-FD4827DD8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057400"/>
            <a:ext cx="4762500" cy="587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Font typeface="Times New Roman" pitchFamily="16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ill Sans MT" pitchFamily="34" charset="0"/>
                <a:cs typeface="+mn-cs"/>
              </a:rPr>
              <a:t>Lets Start the Course…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8BBF27A-1315-7EDD-1D0E-47070091E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743200"/>
            <a:ext cx="4419600" cy="7620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00CC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881CF54-0A85-3872-ACBE-C34EA8022E5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27451-13B6-B455-B2BB-39AAD23D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E3514-74D5-3AEC-57C7-9E3FFAF2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8" y="1138010"/>
            <a:ext cx="8229600" cy="543945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What is an OS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Why do we need an OS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Computer System Organization</a:t>
            </a: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system boot – simulation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Computer System Architecture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single processor, multi-processor, clustered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OS Modes of Operation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multiprogramming  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multitasking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Computing Environment</a:t>
            </a:r>
          </a:p>
          <a:p>
            <a:pPr lvl="1">
              <a:spcBef>
                <a:spcPts val="600"/>
              </a:spcBef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01B7756-03C4-7716-5428-1720F35AC55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7543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EAAE997-54FD-41EF-972D-B4CCB9B18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9086" y="0"/>
            <a:ext cx="7913916" cy="854075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an Operating System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36D9CA-D38B-456F-A12D-3CBF399EED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0756" y="1361666"/>
            <a:ext cx="8511730" cy="5029304"/>
          </a:xfrm>
        </p:spPr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“OS is a program that acts as an </a:t>
            </a:r>
            <a:r>
              <a:rPr lang="en-US" altLang="en-US" sz="26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intermediary</a:t>
            </a: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between </a:t>
            </a:r>
            <a:b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computer </a:t>
            </a:r>
            <a:r>
              <a:rPr lang="en-US" altLang="en-US" sz="26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r>
              <a:rPr lang="en-US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&amp; computer </a:t>
            </a:r>
            <a:r>
              <a:rPr lang="en-US" altLang="en-US" sz="26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</a:t>
            </a:r>
            <a:r>
              <a:rPr lang="en-US" altLang="en-US" sz="26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Operating system goals…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user/system level programs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user’s computing related problems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make computer system </a:t>
            </a: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convenient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to use (abstracts h/w)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use computer hardware in an </a:t>
            </a:r>
            <a:r>
              <a:rPr lang="en-US" alt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lang="en-US" alt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 manner</a:t>
            </a:r>
          </a:p>
          <a:p>
            <a:pPr marL="0" indent="0" algn="ctr">
              <a:spcBef>
                <a:spcPts val="3000"/>
              </a:spcBef>
              <a:buNone/>
            </a:pPr>
            <a:r>
              <a:rPr lang="en-US" sz="24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 </a:t>
            </a:r>
            <a:r>
              <a:rPr lang="en-US" sz="24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sz="24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program that runs at all times on a computer</a:t>
            </a:r>
          </a:p>
          <a:p>
            <a:pPr marL="0" lvl="1" indent="0" algn="ctr">
              <a:spcBef>
                <a:spcPts val="600"/>
              </a:spcBef>
              <a:buNone/>
            </a:pP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(known as </a:t>
            </a: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r>
              <a:rPr lang="en-US" sz="2200" i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endParaRPr lang="en-US" altLang="en-US" sz="22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5EA5100-B19F-4D65-3D59-031E2744FA7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850503E-0C66-4E1F-85A5-04BB5FC518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57092" y="0"/>
            <a:ext cx="6164937" cy="84908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What is an ‘OS’</a:t>
            </a:r>
          </a:p>
        </p:txBody>
      </p:sp>
      <p:pic>
        <p:nvPicPr>
          <p:cNvPr id="13315" name="Picture 4">
            <a:extLst>
              <a:ext uri="{FF2B5EF4-FFF2-40B4-BE49-F238E27FC236}">
                <a16:creationId xmlns:a16="http://schemas.microsoft.com/office/drawing/2014/main" id="{21815D40-5D25-4B93-A397-C7A0DFC2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42" y="2182396"/>
            <a:ext cx="5310772" cy="3761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DED82CC-A55B-299E-2ACA-A6FAB927108E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3987A09-AD51-2F6D-3F0F-F5D6A45BB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80" y="1045979"/>
            <a:ext cx="7003370" cy="538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Computer system divided into four components:</a:t>
            </a:r>
          </a:p>
        </p:txBody>
      </p:sp>
      <p:sp>
        <p:nvSpPr>
          <p:cNvPr id="6" name="Callout: Line with Accent Bar 5">
            <a:extLst>
              <a:ext uri="{FF2B5EF4-FFF2-40B4-BE49-F238E27FC236}">
                <a16:creationId xmlns:a16="http://schemas.microsoft.com/office/drawing/2014/main" id="{211970B8-2F9B-44EC-E3B7-67EE6182AC90}"/>
              </a:ext>
            </a:extLst>
          </p:cNvPr>
          <p:cNvSpPr/>
          <p:nvPr/>
        </p:nvSpPr>
        <p:spPr bwMode="auto">
          <a:xfrm>
            <a:off x="6553200" y="1842815"/>
            <a:ext cx="2035629" cy="782320"/>
          </a:xfrm>
          <a:prstGeom prst="accentCallout1">
            <a:avLst>
              <a:gd name="adj1" fmla="val 38231"/>
              <a:gd name="adj2" fmla="val -8832"/>
              <a:gd name="adj3" fmla="val 190422"/>
              <a:gd name="adj4" fmla="val -44323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perform specific tasks for end-users</a:t>
            </a:r>
            <a:endParaRPr lang="en-US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7" name="Callout: Line with Accent Bar 6">
            <a:extLst>
              <a:ext uri="{FF2B5EF4-FFF2-40B4-BE49-F238E27FC236}">
                <a16:creationId xmlns:a16="http://schemas.microsoft.com/office/drawing/2014/main" id="{AEA87FAC-6E3C-81B5-A4BA-C6AA1672CD52}"/>
              </a:ext>
            </a:extLst>
          </p:cNvPr>
          <p:cNvSpPr/>
          <p:nvPr/>
        </p:nvSpPr>
        <p:spPr bwMode="auto">
          <a:xfrm>
            <a:off x="6840221" y="5507221"/>
            <a:ext cx="1705065" cy="782320"/>
          </a:xfrm>
          <a:prstGeom prst="accentCallout1">
            <a:avLst>
              <a:gd name="adj1" fmla="val 46023"/>
              <a:gd name="adj2" fmla="val -7737"/>
              <a:gd name="adj3" fmla="val 4708"/>
              <a:gd name="adj4" fmla="val -49766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basic computing resources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8" name="Callout: Line with Accent Bar 7">
            <a:extLst>
              <a:ext uri="{FF2B5EF4-FFF2-40B4-BE49-F238E27FC236}">
                <a16:creationId xmlns:a16="http://schemas.microsoft.com/office/drawing/2014/main" id="{8A9D0F07-8BE3-5408-813A-3075E7A0380E}"/>
              </a:ext>
            </a:extLst>
          </p:cNvPr>
          <p:cNvSpPr/>
          <p:nvPr/>
        </p:nvSpPr>
        <p:spPr bwMode="auto">
          <a:xfrm>
            <a:off x="6840221" y="3515319"/>
            <a:ext cx="2162265" cy="1188761"/>
          </a:xfrm>
          <a:prstGeom prst="accentCallout1">
            <a:avLst>
              <a:gd name="adj1" fmla="val 40121"/>
              <a:gd name="adj2" fmla="val -8333"/>
              <a:gd name="adj3" fmla="val 92773"/>
              <a:gd name="adj4" fmla="val -40163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>
              <a:spcBef>
                <a:spcPts val="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system s/w to control &amp; coordinate use of computing resources</a:t>
            </a:r>
          </a:p>
        </p:txBody>
      </p:sp>
      <p:sp>
        <p:nvSpPr>
          <p:cNvPr id="12" name="Callout: Line with Accent Bar 11">
            <a:extLst>
              <a:ext uri="{FF2B5EF4-FFF2-40B4-BE49-F238E27FC236}">
                <a16:creationId xmlns:a16="http://schemas.microsoft.com/office/drawing/2014/main" id="{7D6F4667-A29D-6582-4EF3-E18262979FE9}"/>
              </a:ext>
            </a:extLst>
          </p:cNvPr>
          <p:cNvSpPr/>
          <p:nvPr/>
        </p:nvSpPr>
        <p:spPr bwMode="auto">
          <a:xfrm rot="10800000" flipV="1">
            <a:off x="406900" y="1905702"/>
            <a:ext cx="1926270" cy="656545"/>
          </a:xfrm>
          <a:prstGeom prst="accentCallout1">
            <a:avLst>
              <a:gd name="adj1" fmla="val 61777"/>
              <a:gd name="adj2" fmla="val -7281"/>
              <a:gd name="adj3" fmla="val 87023"/>
              <a:gd name="adj4" fmla="val -35399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people, machines, computers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9A1BED6-5944-4DA0-B6E3-EB3BCCB8AC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78857" y="0"/>
            <a:ext cx="5925458" cy="854077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an ‘OS’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A4DDCE4-1C30-412E-839F-FB2BB84F3F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60751" y="1156286"/>
            <a:ext cx="8255227" cy="522854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3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“Code” that sits between: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programs &amp; hardware 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between different programs </a:t>
            </a:r>
          </a:p>
          <a:p>
            <a:pPr lvl="1"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between different users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does it do: 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provides orderly &amp; controlled access/allocation of resources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(processor, memory, hard disk, I/O devices)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 management thru sharing, in two ways: 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Time Multiplexed     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(CPU sharing, printer sharing)</a:t>
            </a:r>
          </a:p>
          <a:p>
            <a:pPr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Space Multiplexed     </a:t>
            </a:r>
            <a:r>
              <a:rPr lang="en-US" sz="22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(memory, hard disk)</a:t>
            </a:r>
          </a:p>
          <a:p>
            <a:pPr>
              <a:spcBef>
                <a:spcPts val="600"/>
              </a:spcBef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E9D78E7-BD79-A448-368F-BF10BC7BFAF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19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8096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A683F0-681F-4069-8BE2-A43AB9E4E2A2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17171" y="-1"/>
            <a:ext cx="6607629" cy="805543"/>
          </a:xfrm>
        </p:spPr>
        <p:txBody>
          <a:bodyPr>
            <a:noAutofit/>
          </a:bodyPr>
          <a:lstStyle/>
          <a:p>
            <a:r>
              <a:rPr lang="en-US" dirty="0"/>
              <a:t>OS – an Abstraction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-2256" b="2256"/>
          <a:stretch/>
        </p:blipFill>
        <p:spPr>
          <a:xfrm>
            <a:off x="936997" y="1224556"/>
            <a:ext cx="8102500" cy="49638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C09885-28B8-8762-1415-88FB58903F2E}"/>
              </a:ext>
            </a:extLst>
          </p:cNvPr>
          <p:cNvSpPr txBox="1"/>
          <p:nvPr/>
        </p:nvSpPr>
        <p:spPr>
          <a:xfrm>
            <a:off x="812801" y="5164400"/>
            <a:ext cx="23977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single user or </a:t>
            </a:r>
            <a:b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3464629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A683F0-681F-4069-8BE2-A43AB9E4E2A2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4" y="1057688"/>
            <a:ext cx="7141029" cy="4742623"/>
          </a:xfrm>
          <a:prstGeom prst="rect">
            <a:avLst/>
          </a:prstGeom>
        </p:spPr>
      </p:pic>
      <p:sp>
        <p:nvSpPr>
          <p:cNvPr id="3" name="Rectangle 1026">
            <a:extLst>
              <a:ext uri="{FF2B5EF4-FFF2-40B4-BE49-F238E27FC236}">
                <a16:creationId xmlns:a16="http://schemas.microsoft.com/office/drawing/2014/main" id="{CCB0DD24-5F09-0F29-24B1-1037032AF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7171" y="-1"/>
            <a:ext cx="6607629" cy="805543"/>
          </a:xfrm>
        </p:spPr>
        <p:txBody>
          <a:bodyPr>
            <a:noAutofit/>
          </a:bodyPr>
          <a:lstStyle/>
          <a:p>
            <a:r>
              <a:rPr lang="en-US" dirty="0"/>
              <a:t>OS – an Abstraction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04A25F-F4EE-B4A1-B096-3D6F8D3DA801}"/>
              </a:ext>
            </a:extLst>
          </p:cNvPr>
          <p:cNvSpPr txBox="1"/>
          <p:nvPr/>
        </p:nvSpPr>
        <p:spPr>
          <a:xfrm>
            <a:off x="457201" y="4952788"/>
            <a:ext cx="57708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multiple users, </a:t>
            </a:r>
            <a:b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programs, files, devices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 manages all resources, and </a:t>
            </a:r>
            <a:b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connects programs with various devices…???</a:t>
            </a:r>
          </a:p>
        </p:txBody>
      </p:sp>
    </p:spTree>
    <p:extLst>
      <p:ext uri="{BB962C8B-B14F-4D97-AF65-F5344CB8AC3E}">
        <p14:creationId xmlns:p14="http://schemas.microsoft.com/office/powerpoint/2010/main" val="1735119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A683F0-681F-4069-8BE2-A43AB9E4E2A2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646" y="1062280"/>
            <a:ext cx="7319553" cy="4669858"/>
          </a:xfrm>
          <a:prstGeom prst="rect">
            <a:avLst/>
          </a:prstGeom>
        </p:spPr>
      </p:pic>
      <p:sp>
        <p:nvSpPr>
          <p:cNvPr id="3" name="Rectangle 1026">
            <a:extLst>
              <a:ext uri="{FF2B5EF4-FFF2-40B4-BE49-F238E27FC236}">
                <a16:creationId xmlns:a16="http://schemas.microsoft.com/office/drawing/2014/main" id="{9A383082-384A-047A-8617-E45A84FBA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17171" y="-1"/>
            <a:ext cx="6607629" cy="805543"/>
          </a:xfrm>
        </p:spPr>
        <p:txBody>
          <a:bodyPr>
            <a:noAutofit/>
          </a:bodyPr>
          <a:lstStyle/>
          <a:p>
            <a:r>
              <a:rPr lang="en-US" dirty="0"/>
              <a:t>OS – an Abstraction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6AD4-1AFC-9F0B-343F-C6E7A4172C96}"/>
              </a:ext>
            </a:extLst>
          </p:cNvPr>
          <p:cNvSpPr txBox="1"/>
          <p:nvPr/>
        </p:nvSpPr>
        <p:spPr>
          <a:xfrm>
            <a:off x="444863" y="5168327"/>
            <a:ext cx="478753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interactions thru kernel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programs request services from OS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 provides services </a:t>
            </a:r>
          </a:p>
        </p:txBody>
      </p:sp>
    </p:spTree>
    <p:extLst>
      <p:ext uri="{BB962C8B-B14F-4D97-AF65-F5344CB8AC3E}">
        <p14:creationId xmlns:p14="http://schemas.microsoft.com/office/powerpoint/2010/main" val="1813474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ED09A12-D842-4736-945B-046894987E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75326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</a:t>
            </a:r>
            <a:r>
              <a:rPr kumimoji="1" lang="en-US" altLang="en-US" dirty="0"/>
              <a:t>st</a:t>
            </a:r>
            <a:r>
              <a:rPr lang="en-US" altLang="en-US" dirty="0"/>
              <a:t>em Definition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BF6D041-5778-4E18-B7CE-FFE8B9C424A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03227" y="1167216"/>
            <a:ext cx="8599259" cy="547742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No universally accepted definition…</a:t>
            </a:r>
          </a:p>
          <a:p>
            <a:pPr>
              <a:spcBef>
                <a:spcPts val="1200"/>
              </a:spcBef>
            </a:pPr>
            <a:r>
              <a:rPr lang="en-US" altLang="ja-JP" sz="2300" dirty="0">
                <a:latin typeface="Calibri" panose="020F0502020204030204" pitchFamily="34" charset="0"/>
                <a:cs typeface="Calibri" panose="020F0502020204030204" pitchFamily="34" charset="0"/>
              </a:rPr>
              <a:t>A good approximation…</a:t>
            </a:r>
          </a:p>
          <a:p>
            <a:pPr marL="0" indent="0"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ja-JP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ja-JP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Everything a vendor ships when you order an OS</a:t>
            </a:r>
            <a:r>
              <a:rPr lang="ja-JP" altLang="en-US" sz="2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altLang="ja-JP" sz="2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00200" lvl="2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included features vary</a:t>
            </a:r>
          </a:p>
          <a:p>
            <a:pPr marL="1600200" lvl="2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size from MBs to GBs  –  CLI  vs  GUI</a:t>
            </a:r>
          </a:p>
          <a:p>
            <a:pPr>
              <a:spcBef>
                <a:spcPts val="3600"/>
              </a:spcBef>
            </a:pPr>
            <a:r>
              <a:rPr lang="en-US" altLang="ja-JP" sz="2300" dirty="0">
                <a:latin typeface="Calibri" panose="020F0502020204030204" pitchFamily="34" charset="0"/>
                <a:cs typeface="Calibri" panose="020F0502020204030204" pitchFamily="34" charset="0"/>
              </a:rPr>
              <a:t>Along with kernel, two other types of programs:</a:t>
            </a:r>
          </a:p>
          <a:p>
            <a:pPr marL="741363" lvl="1">
              <a:spcBef>
                <a:spcPts val="1800"/>
              </a:spcBef>
            </a:pPr>
            <a:r>
              <a:rPr lang="en-US" altLang="ja-JP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prog	</a:t>
            </a:r>
            <a:r>
              <a:rPr lang="en-US" altLang="ja-JP" sz="2100" b="1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altLang="ja-JP" sz="2100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perform user specific tasks 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			     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(browsers, games, word processor, spreadsheet )</a:t>
            </a:r>
            <a:endParaRPr lang="en-US" altLang="ja-JP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1363" lvl="1">
              <a:spcBef>
                <a:spcPts val="1800"/>
              </a:spcBef>
            </a:pPr>
            <a:r>
              <a:rPr lang="en-US" altLang="ja-JP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prog 	</a:t>
            </a:r>
            <a:r>
              <a:rPr lang="en-US" altLang="ja-JP" sz="2100" b="1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altLang="ja-JP" sz="2100" b="1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convenience &amp; support of OS 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			     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 utilities, compilers, shells, system monitors)</a:t>
            </a:r>
            <a:endParaRPr lang="en-US" altLang="ja-JP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A54358F-3E03-F1F6-50C0-745B86D043E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00A5-A90D-1862-E777-1AD45B30F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70"/>
            <a:ext cx="8229600" cy="664641"/>
          </a:xfrm>
        </p:spPr>
        <p:txBody>
          <a:bodyPr/>
          <a:lstStyle/>
          <a:p>
            <a:r>
              <a:rPr lang="en-US" dirty="0"/>
              <a:t>Why do we Need an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F5B29-A064-DD06-E202-17BCA8D1C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478" y="1277032"/>
            <a:ext cx="8229600" cy="4530725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OS is needed to provide the following services:</a:t>
            </a:r>
          </a:p>
          <a:p>
            <a:pPr marL="457200">
              <a:lnSpc>
                <a:spcPct val="120000"/>
              </a:lnSpc>
              <a:spcBef>
                <a:spcPts val="24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management</a:t>
            </a:r>
          </a:p>
          <a:p>
            <a:pPr marL="457200">
              <a:lnSpc>
                <a:spcPct val="120000"/>
              </a:lnSpc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CPU scheduling</a:t>
            </a:r>
          </a:p>
          <a:p>
            <a:pPr marL="457200">
              <a:lnSpc>
                <a:spcPct val="120000"/>
              </a:lnSpc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Inter-process communication</a:t>
            </a:r>
          </a:p>
          <a:p>
            <a:pPr marL="457200">
              <a:lnSpc>
                <a:spcPct val="120000"/>
              </a:lnSpc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Process synchronization</a:t>
            </a:r>
          </a:p>
          <a:p>
            <a:pPr marL="457200">
              <a:lnSpc>
                <a:spcPct val="120000"/>
              </a:lnSpc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Deadlock handling</a:t>
            </a:r>
          </a:p>
          <a:p>
            <a:pPr marL="457200">
              <a:lnSpc>
                <a:spcPct val="120000"/>
              </a:lnSpc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Memory management</a:t>
            </a:r>
          </a:p>
          <a:p>
            <a:pPr marL="457200">
              <a:lnSpc>
                <a:spcPct val="120000"/>
              </a:lnSpc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File system management</a:t>
            </a:r>
          </a:p>
          <a:p>
            <a:pPr marL="457200">
              <a:lnSpc>
                <a:spcPct val="120000"/>
              </a:lnSpc>
              <a:spcBef>
                <a:spcPts val="600"/>
              </a:spcBef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Storage management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408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68828" y="1351080"/>
            <a:ext cx="3091543" cy="452596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MS Windows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Unix System V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BSD 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Sun Solaris</a:t>
            </a:r>
          </a:p>
          <a:p>
            <a:pPr>
              <a:lnSpc>
                <a:spcPct val="130000"/>
              </a:lnSpc>
            </a:pP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Irix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Linux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MacOS</a:t>
            </a:r>
          </a:p>
          <a:p>
            <a:pPr marL="0" indent="0">
              <a:lnSpc>
                <a:spcPct val="130000"/>
              </a:lnSpc>
              <a:buNone/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67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06682" y="1351079"/>
            <a:ext cx="3363686" cy="452596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Android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from Google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iOS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from Apple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Symbian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from Nokia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BlackBerry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from RIM</a:t>
            </a:r>
          </a:p>
          <a:p>
            <a:pPr>
              <a:lnSpc>
                <a:spcPct val="130000"/>
              </a:lnSpc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Windows </a:t>
            </a:r>
            <a:r>
              <a:rPr lang="en-US" sz="2400" dirty="0"/>
              <a:t>10 Mobile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A683F0-681F-4069-8BE2-A43AB9E4E2A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8A7A3C5-4C79-49E1-F329-964F2291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170"/>
            <a:ext cx="8229600" cy="664641"/>
          </a:xfrm>
        </p:spPr>
        <p:txBody>
          <a:bodyPr/>
          <a:lstStyle/>
          <a:p>
            <a:r>
              <a:rPr lang="en-US" dirty="0"/>
              <a:t>Name some OS!</a:t>
            </a:r>
          </a:p>
        </p:txBody>
      </p:sp>
    </p:spTree>
    <p:extLst>
      <p:ext uri="{BB962C8B-B14F-4D97-AF65-F5344CB8AC3E}">
        <p14:creationId xmlns:p14="http://schemas.microsoft.com/office/powerpoint/2010/main" val="2049560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85056" y="2276817"/>
            <a:ext cx="8606971" cy="1063396"/>
          </a:xfrm>
        </p:spPr>
        <p:txBody>
          <a:bodyPr/>
          <a:lstStyle/>
          <a:p>
            <a:pPr marL="457200" lvl="1" indent="0" algn="ctr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Computer System Organization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C740614-1FBB-D246-96C3-BF4C6DE71AD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81576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0E04BB2-CAE4-47E7-A8ED-B827B1313F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8363" y="214313"/>
            <a:ext cx="76390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System Organization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9921" y="1070200"/>
            <a:ext cx="8303078" cy="2028599"/>
          </a:xfrm>
        </p:spPr>
        <p:txBody>
          <a:bodyPr/>
          <a:lstStyle/>
          <a:p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General purpose computer system…</a:t>
            </a:r>
          </a:p>
          <a:p>
            <a:pPr lvl="1">
              <a:spcBef>
                <a:spcPts val="600"/>
              </a:spcBef>
            </a:pPr>
            <a:r>
              <a:rPr lang="en-US" alt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CPU,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memory,  devices</a:t>
            </a:r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&amp;  </a:t>
            </a:r>
            <a:r>
              <a:rPr lang="en-US" alt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devices attach to specific controllers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device controllers connect to CPU through a common </a:t>
            </a:r>
            <a:r>
              <a:rPr lang="en-US" alt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bus provides access to </a:t>
            </a:r>
            <a:r>
              <a:rPr lang="en-US" altLang="en-US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memory</a:t>
            </a:r>
          </a:p>
        </p:txBody>
      </p:sp>
      <p:pic>
        <p:nvPicPr>
          <p:cNvPr id="20484" name="Picture 2">
            <a:extLst>
              <a:ext uri="{FF2B5EF4-FFF2-40B4-BE49-F238E27FC236}">
                <a16:creationId xmlns:a16="http://schemas.microsoft.com/office/drawing/2014/main" id="{D0CB787C-9399-460E-B386-5CC6E671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649" y="3427469"/>
            <a:ext cx="6575332" cy="30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8CBDF2F-F715-016A-C8A4-92EB1B242A1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633364A-2762-4B99-8AB9-6D18C2AFCC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5825" y="220663"/>
            <a:ext cx="760571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System Organization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864A599-FF25-49B5-8AA3-7045B629D1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6166" y="1146399"/>
            <a:ext cx="8239578" cy="535237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hardware component to handle / control a particular device type</a:t>
            </a:r>
          </a:p>
          <a:p>
            <a:pPr>
              <a:spcBef>
                <a:spcPts val="2400"/>
              </a:spcBef>
            </a:pPr>
            <a:r>
              <a:rPr lang="en-US" alt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part of system software to allow OS to interact with a device controller</a:t>
            </a:r>
          </a:p>
          <a:p>
            <a:pPr>
              <a:spcBef>
                <a:spcPts val="2400"/>
              </a:spcBef>
            </a:pPr>
            <a:r>
              <a:rPr lang="en-US" alt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controllers</a:t>
            </a:r>
            <a:r>
              <a:rPr lang="en-US" altLang="en-US" sz="23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can execute in parallel</a:t>
            </a:r>
            <a:endParaRPr lang="en-US" altLang="en-US" sz="23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orderly access to shared memory → </a:t>
            </a:r>
            <a:r>
              <a:rPr lang="en-US" altLang="en-US" sz="21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controller</a:t>
            </a: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Device controllers have </a:t>
            </a:r>
            <a:r>
              <a:rPr lang="en-US" alt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buffers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I/O is between device &amp; local buffer of controller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 moves data between local buffer &amp; main memory</a:t>
            </a: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Device controllers use </a:t>
            </a:r>
            <a:r>
              <a:rPr lang="en-US" altLang="en-US" sz="23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interrupts</a:t>
            </a: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get CPU attention</a:t>
            </a:r>
            <a:endParaRPr lang="en-US" altLang="en-US" sz="2300" b="1" dirty="0">
              <a:solidFill>
                <a:srgbClr val="0066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7F8A7FB-24CA-5814-4CCA-D6DB5D8B366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6621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633364A-2762-4B99-8AB9-6D18C2AFCC6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85825" y="220663"/>
            <a:ext cx="760571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System Organization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864A599-FF25-49B5-8AA3-7045B629D1D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5118" y="1164542"/>
            <a:ext cx="8446408" cy="512376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Boot Process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18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at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startup, </a:t>
            </a:r>
            <a:r>
              <a:rPr lang="en-US" altLang="en-US" sz="20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kernel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is loaded into memory &amp; executed </a:t>
            </a:r>
          </a:p>
          <a:p>
            <a:pPr marL="857250" lvl="2" indent="0">
              <a:spcBef>
                <a:spcPts val="0"/>
              </a:spcBef>
              <a:buNone/>
            </a:pP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(</a:t>
            </a:r>
            <a:r>
              <a:rPr lang="en-US" altLang="en-US" sz="2000" i="1" dirty="0">
                <a:solidFill>
                  <a:srgbClr val="3366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on ROM)</a:t>
            </a:r>
          </a:p>
          <a:p>
            <a:pPr lvl="1">
              <a:spcBef>
                <a:spcPts val="18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kernel executes – starts providing </a:t>
            </a: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to system/users</a:t>
            </a:r>
          </a:p>
          <a:p>
            <a:pPr lvl="1">
              <a:spcBef>
                <a:spcPts val="18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some services also provided by system processes – </a:t>
            </a:r>
            <a:r>
              <a:rPr lang="en-US" altLang="en-US" sz="21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daemons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2" indent="0">
              <a:spcBef>
                <a:spcPts val="0"/>
              </a:spcBef>
              <a:buNone/>
            </a:pP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at boot time, started by kernel, &amp; run in background)</a:t>
            </a: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Once booted,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OS kernel enters an idle loop, waiting for </a:t>
            </a:r>
            <a:r>
              <a:rPr lang="en-US" sz="23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events</a:t>
            </a:r>
            <a:endParaRPr lang="en-US" altLang="en-US" sz="2300" b="1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Occurrence of event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signaled by </a:t>
            </a:r>
            <a:r>
              <a:rPr lang="en-US" altLang="en-US" sz="23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</a:t>
            </a:r>
          </a:p>
          <a:p>
            <a:pPr lvl="1" defTabSz="1066800">
              <a:spcBef>
                <a:spcPts val="1200"/>
              </a:spcBef>
            </a:pP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</a:t>
            </a:r>
            <a:r>
              <a:rPr lang="en-US" altLang="en-US" sz="21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from devices external to CPU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defTabSz="1066800">
              <a:spcBef>
                <a:spcPts val="600"/>
              </a:spcBef>
            </a:pPr>
            <a:r>
              <a:rPr lang="en-US" altLang="en-US" sz="21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Interrupt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–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from programs running on CPU</a:t>
            </a:r>
            <a:endParaRPr lang="en-US" altLang="en-US" sz="2100" dirty="0">
              <a:solidFill>
                <a:srgbClr val="0066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7F8A7FB-24CA-5814-4CCA-D6DB5D8B366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29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41A5330-A3BD-455B-BFA0-989239098C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0720" y="195263"/>
            <a:ext cx="785685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Interrupt Handling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A1B0CF6-F08B-4A61-B0A6-715F5ED6B8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0764" y="1195214"/>
            <a:ext cx="8511722" cy="5374146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When CPU receives Interrupt :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currently executing program stops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control transfers to a fixed address in memory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Interrupt Service Routine (ISR)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executes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takes interrupt specific action</a:t>
            </a:r>
          </a:p>
          <a:p>
            <a:pPr marL="457200" lvl="1" indent="0">
              <a:lnSpc>
                <a:spcPct val="110000"/>
              </a:lnSpc>
              <a:spcBef>
                <a:spcPts val="600"/>
              </a:spcBef>
              <a:buNone/>
            </a:pPr>
            <a:endParaRPr lang="en-US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After servicing interrupt :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interrupted instruction resumes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address of interrupted instruction had earlier been saved</a:t>
            </a: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altLang="en-US" sz="20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address,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 system stack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1800"/>
              </a:spcBef>
            </a:pPr>
            <a:endParaRPr lang="en-US" altLang="en-US" sz="23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altLang="en-US" sz="23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CE24105-682A-1A08-27E9-7D22183642F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41A5330-A3BD-455B-BFA0-989239098C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29920" y="195263"/>
            <a:ext cx="790765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Execution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A1B0CF6-F08B-4A61-B0A6-715F5ED6B8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0764" y="1187038"/>
            <a:ext cx="8402865" cy="537414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To run a program, it must be brought into memory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 can load/run program instructions only from </a:t>
            </a:r>
            <a:r>
              <a:rPr lang="en-US" altLang="en-US" sz="21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an instruction comprises – </a:t>
            </a:r>
            <a:r>
              <a:rPr lang="en-US" altLang="en-US" sz="2100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opcode + operand</a:t>
            </a:r>
          </a:p>
          <a:p>
            <a:pPr>
              <a:spcBef>
                <a:spcPts val="3000"/>
              </a:spcBef>
            </a:pPr>
            <a:r>
              <a:rPr lang="en-US" altLang="en-US" sz="2300" b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Instruction execution cycle 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–  </a:t>
            </a: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(Von Neuman architecture)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fetch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instruction from memory :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   </a:t>
            </a:r>
            <a:r>
              <a:rPr lang="en-US" altLang="en-US" sz="20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 internal register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decode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instruction :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    	 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understand the operation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  may fetch </a:t>
            </a:r>
            <a:r>
              <a:rPr lang="en-US" altLang="en-US" sz="20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operand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from memory, &amp; </a:t>
            </a:r>
            <a:r>
              <a:rPr lang="en-US" altLang="en-US" sz="20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 internal register</a:t>
            </a:r>
          </a:p>
          <a:p>
            <a:pPr lvl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instruction :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	   perform required operation, </a:t>
            </a:r>
            <a:r>
              <a:rPr lang="en-US" altLang="en-US" sz="20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result in register/memory</a:t>
            </a:r>
          </a:p>
          <a:p>
            <a:pPr>
              <a:spcBef>
                <a:spcPts val="600"/>
              </a:spcBef>
            </a:pPr>
            <a:endParaRPr lang="en-US" altLang="en-US" sz="23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CE24105-682A-1A08-27E9-7D22183642F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0134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41A5330-A3BD-455B-BFA0-989239098C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46150" y="195263"/>
            <a:ext cx="75914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Sample Instruction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A1B0CF6-F08B-4A61-B0A6-715F5ED6B8E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1404" y="1122448"/>
            <a:ext cx="8424636" cy="5374146"/>
          </a:xfrm>
        </p:spPr>
        <p:txBody>
          <a:bodyPr/>
          <a:lstStyle/>
          <a:p>
            <a:pPr marL="0" marR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3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CPU instruction with an opcode &amp; operand :</a:t>
            </a:r>
          </a:p>
          <a:p>
            <a:pPr marL="0" marR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3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 assembly Instruction:  </a:t>
            </a:r>
            <a:r>
              <a:rPr lang="en-US" sz="23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R1, R2, R3</a:t>
            </a:r>
          </a:p>
          <a:p>
            <a:pPr marL="347663" marR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1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Opcode:  </a:t>
            </a:r>
            <a:r>
              <a:rPr lang="en-US" sz="2100" kern="1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</a:t>
            </a:r>
            <a:r>
              <a:rPr lang="en-US" sz="21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	Operand:  </a:t>
            </a:r>
            <a:r>
              <a:rPr lang="en-US" sz="2100" kern="1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R1, R2, R3 </a:t>
            </a:r>
          </a:p>
          <a:p>
            <a:pPr marL="347663" marR="0" indent="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(add contents of register R2 to contents of register R3, </a:t>
            </a:r>
            <a:b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store result in register R1)</a:t>
            </a:r>
          </a:p>
          <a:p>
            <a:pPr marL="0" marR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3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machine code, instruction may become:</a:t>
            </a:r>
          </a:p>
          <a:p>
            <a:pPr marL="347663" marR="0" indent="0" defTabSz="7731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Opcode	:  1001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20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(assume 1001 represents ADD ops)</a:t>
            </a:r>
          </a:p>
          <a:p>
            <a:pPr marL="347663" marR="0" indent="0" defTabSz="7731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Operand	:  0001 0010 0011 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(assume binary values represent</a:t>
            </a:r>
            <a:br>
              <a:rPr lang="en-US" sz="20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  	 registers R1, R2, &amp; R3)</a:t>
            </a:r>
          </a:p>
          <a:p>
            <a:pPr marL="0" marR="0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3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Complete machine code instruction:  </a:t>
            </a:r>
            <a:r>
              <a:rPr lang="en-US" sz="2200" kern="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1001 0001 0010 0011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This would be decoded/executed by CPU</a:t>
            </a:r>
            <a:endParaRPr lang="en-US" alt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CE24105-682A-1A08-27E9-7D22183642F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2334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7" name="AutoShape 7"/>
          <p:cNvSpPr>
            <a:spLocks noChangeArrowheads="1"/>
          </p:cNvSpPr>
          <p:nvPr/>
        </p:nvSpPr>
        <p:spPr bwMode="auto">
          <a:xfrm>
            <a:off x="5062547" y="1754607"/>
            <a:ext cx="1462261" cy="1218345"/>
          </a:xfrm>
          <a:prstGeom prst="leftRightArrow">
            <a:avLst>
              <a:gd name="adj1" fmla="val 50000"/>
              <a:gd name="adj2" fmla="val 22000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Fetch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Exec</a:t>
            </a:r>
          </a:p>
        </p:txBody>
      </p:sp>
      <p:sp>
        <p:nvSpPr>
          <p:cNvPr id="307208" name="Rectangle 8"/>
          <p:cNvSpPr>
            <a:spLocks noChangeArrowheads="1"/>
          </p:cNvSpPr>
          <p:nvPr/>
        </p:nvSpPr>
        <p:spPr bwMode="auto">
          <a:xfrm>
            <a:off x="6637340" y="1495880"/>
            <a:ext cx="1439862" cy="4622800"/>
          </a:xfrm>
          <a:prstGeom prst="rect">
            <a:avLst/>
          </a:prstGeom>
          <a:solidFill>
            <a:schemeClr val="bg1">
              <a:lumMod val="65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Data1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Data0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Inst237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Inst236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…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Inst5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Inst4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Inst3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Inst2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Inst1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Inst0</a:t>
            </a:r>
          </a:p>
        </p:txBody>
      </p:sp>
      <p:sp>
        <p:nvSpPr>
          <p:cNvPr id="307209" name="Text Box 9"/>
          <p:cNvSpPr txBox="1">
            <a:spLocks noChangeArrowheads="1"/>
          </p:cNvSpPr>
          <p:nvPr/>
        </p:nvSpPr>
        <p:spPr bwMode="auto">
          <a:xfrm>
            <a:off x="6735765" y="6171068"/>
            <a:ext cx="1055687" cy="396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Addr 0</a:t>
            </a:r>
          </a:p>
        </p:txBody>
      </p:sp>
      <p:sp>
        <p:nvSpPr>
          <p:cNvPr id="307210" name="Text Box 10"/>
          <p:cNvSpPr txBox="1">
            <a:spLocks noChangeArrowheads="1"/>
          </p:cNvSpPr>
          <p:nvPr/>
        </p:nvSpPr>
        <p:spPr bwMode="auto">
          <a:xfrm>
            <a:off x="6569077" y="1091068"/>
            <a:ext cx="1462260" cy="40011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Addr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rPr>
              <a:t>-1</a:t>
            </a:r>
          </a:p>
        </p:txBody>
      </p:sp>
      <p:sp>
        <p:nvSpPr>
          <p:cNvPr id="307211" name="Rectangle 11"/>
          <p:cNvSpPr>
            <a:spLocks noGrp="1" noChangeArrowheads="1"/>
          </p:cNvSpPr>
          <p:nvPr>
            <p:ph type="title"/>
          </p:nvPr>
        </p:nvSpPr>
        <p:spPr>
          <a:xfrm>
            <a:off x="838200" y="76199"/>
            <a:ext cx="7750629" cy="614363"/>
          </a:xfrm>
        </p:spPr>
        <p:txBody>
          <a:bodyPr>
            <a:noAutofit/>
          </a:bodyPr>
          <a:lstStyle/>
          <a:p>
            <a:r>
              <a:rPr lang="en-US" sz="2800" dirty="0"/>
              <a:t>Instruction Execution Cycle</a:t>
            </a:r>
          </a:p>
        </p:txBody>
      </p:sp>
      <p:sp>
        <p:nvSpPr>
          <p:cNvPr id="307212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1774378" y="4037020"/>
            <a:ext cx="4746171" cy="2396444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Execution sequence: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Fetch instruction at PC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sym typeface="Symbol" pitchFamily="18" charset="2"/>
              </a:rPr>
              <a:t> 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sym typeface="Symbol" pitchFamily="18" charset="2"/>
              </a:rPr>
              <a:t>Decode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sym typeface="Symbol" pitchFamily="18" charset="2"/>
              </a:rPr>
              <a:t>Execute (possibly using registers)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sym typeface="Symbol" pitchFamily="18" charset="2"/>
              </a:rPr>
              <a:t>Write results to registers/mem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  <a:sym typeface="Symbol" pitchFamily="18" charset="2"/>
              </a:rPr>
              <a:t>Repeat </a:t>
            </a:r>
          </a:p>
          <a:p>
            <a:endParaRPr lang="en-US" dirty="0">
              <a:latin typeface="Comic Sans MS" pitchFamily="66" charset="0"/>
            </a:endParaRPr>
          </a:p>
        </p:txBody>
      </p:sp>
      <p:sp>
        <p:nvSpPr>
          <p:cNvPr id="307225" name="AutoShape 25"/>
          <p:cNvSpPr>
            <a:spLocks noChangeArrowheads="1"/>
          </p:cNvSpPr>
          <p:nvPr/>
        </p:nvSpPr>
        <p:spPr bwMode="auto">
          <a:xfrm flipV="1">
            <a:off x="1066798" y="3868240"/>
            <a:ext cx="463058" cy="2362200"/>
          </a:xfrm>
          <a:prstGeom prst="curvedRightArrow">
            <a:avLst>
              <a:gd name="adj1" fmla="val 70000"/>
              <a:gd name="adj2" fmla="val 140000"/>
              <a:gd name="adj3" fmla="val 33333"/>
            </a:avLst>
          </a:prstGeom>
          <a:solidFill>
            <a:schemeClr val="bg1">
              <a:lumMod val="85000"/>
            </a:schemeClr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15E0FFB-3008-584C-A3F9-FBB9B949D48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418860-B345-4524-9314-FE51DF6E4AD1}" type="slidenum">
              <a:rPr kumimoji="0" lang="en-US" altLang="en-PK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94968E-83DC-CD30-C3BB-F1B4C9AE35C1}"/>
              </a:ext>
            </a:extLst>
          </p:cNvPr>
          <p:cNvGrpSpPr/>
          <p:nvPr/>
        </p:nvGrpSpPr>
        <p:grpSpPr>
          <a:xfrm>
            <a:off x="728575" y="1017573"/>
            <a:ext cx="4212771" cy="2622550"/>
            <a:chOff x="467319" y="963143"/>
            <a:chExt cx="4212771" cy="2622550"/>
          </a:xfrm>
          <a:solidFill>
            <a:schemeClr val="bg1">
              <a:lumMod val="65000"/>
            </a:schemeClr>
          </a:solidFill>
        </p:grpSpPr>
        <p:sp>
          <p:nvSpPr>
            <p:cNvPr id="307203" name="Oval 3"/>
            <p:cNvSpPr>
              <a:spLocks noChangeArrowheads="1"/>
            </p:cNvSpPr>
            <p:nvPr/>
          </p:nvSpPr>
          <p:spPr bwMode="auto">
            <a:xfrm>
              <a:off x="467319" y="963143"/>
              <a:ext cx="4212771" cy="2622550"/>
            </a:xfrm>
            <a:prstGeom prst="ellipse">
              <a:avLst/>
            </a:prstGeom>
            <a:grp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7204" name="Oval 4"/>
            <p:cNvSpPr>
              <a:spLocks noChangeArrowheads="1"/>
            </p:cNvSpPr>
            <p:nvPr/>
          </p:nvSpPr>
          <p:spPr bwMode="auto">
            <a:xfrm>
              <a:off x="1495099" y="1304131"/>
              <a:ext cx="1089510" cy="9398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ALU</a:t>
              </a:r>
            </a:p>
          </p:txBody>
        </p:sp>
        <p:sp>
          <p:nvSpPr>
            <p:cNvPr id="307206" name="Rectangle 6"/>
            <p:cNvSpPr>
              <a:spLocks noChangeArrowheads="1"/>
            </p:cNvSpPr>
            <p:nvPr/>
          </p:nvSpPr>
          <p:spPr bwMode="auto">
            <a:xfrm>
              <a:off x="2919951" y="1304131"/>
              <a:ext cx="944242" cy="19669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R0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…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R31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F0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…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F30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PC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D1E638-2DE4-5153-0BCA-EAD79B34874F}"/>
                </a:ext>
              </a:extLst>
            </p:cNvPr>
            <p:cNvSpPr/>
            <p:nvPr/>
          </p:nvSpPr>
          <p:spPr bwMode="auto">
            <a:xfrm>
              <a:off x="1332539" y="2366752"/>
              <a:ext cx="1439862" cy="8395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solidFill>
                    <a:srgbClr val="000000"/>
                  </a:solidFill>
                  <a:latin typeface="Comic Sans MS" pitchFamily="66" charset="0"/>
                </a:rPr>
                <a:t>Control 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solidFill>
                    <a:srgbClr val="000000"/>
                  </a:solidFill>
                  <a:latin typeface="Comic Sans MS" pitchFamily="66" charset="0"/>
                </a:rPr>
                <a:t>Unit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147B852-89F8-3175-3D18-BEC3B8DA1FA0}"/>
              </a:ext>
            </a:extLst>
          </p:cNvPr>
          <p:cNvSpPr txBox="1"/>
          <p:nvPr/>
        </p:nvSpPr>
        <p:spPr>
          <a:xfrm>
            <a:off x="894806" y="2093382"/>
            <a:ext cx="776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0EADF-B7D7-9B1C-7D8A-AF1C6869F46D}"/>
              </a:ext>
            </a:extLst>
          </p:cNvPr>
          <p:cNvSpPr txBox="1"/>
          <p:nvPr/>
        </p:nvSpPr>
        <p:spPr>
          <a:xfrm>
            <a:off x="6810786" y="1491178"/>
            <a:ext cx="1317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memory</a:t>
            </a:r>
          </a:p>
        </p:txBody>
      </p:sp>
      <p:grpSp>
        <p:nvGrpSpPr>
          <p:cNvPr id="3" name="Group 22">
            <a:extLst>
              <a:ext uri="{FF2B5EF4-FFF2-40B4-BE49-F238E27FC236}">
                <a16:creationId xmlns:a16="http://schemas.microsoft.com/office/drawing/2014/main" id="{8F307CB1-0026-EE20-0EC0-C48B7B93F6BE}"/>
              </a:ext>
            </a:extLst>
          </p:cNvPr>
          <p:cNvGrpSpPr>
            <a:grpSpLocks/>
          </p:cNvGrpSpPr>
          <p:nvPr/>
        </p:nvGrpSpPr>
        <p:grpSpPr bwMode="auto">
          <a:xfrm>
            <a:off x="7813721" y="5599568"/>
            <a:ext cx="1038232" cy="461963"/>
            <a:chOff x="4528" y="2832"/>
            <a:chExt cx="654" cy="291"/>
          </a:xfrm>
        </p:grpSpPr>
        <p:sp>
          <p:nvSpPr>
            <p:cNvPr id="4" name="Text Box 23">
              <a:extLst>
                <a:ext uri="{FF2B5EF4-FFF2-40B4-BE49-F238E27FC236}">
                  <a16:creationId xmlns:a16="http://schemas.microsoft.com/office/drawing/2014/main" id="{EF15333E-577B-C754-CD62-70DA2D9F7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832"/>
              <a:ext cx="334" cy="291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itchFamily="66" charset="0"/>
                  <a:ea typeface="MS PGothic" panose="020B0600070205080204" pitchFamily="34" charset="-128"/>
                  <a:cs typeface="+mn-cs"/>
                </a:rPr>
                <a:t>PC</a:t>
              </a:r>
            </a:p>
          </p:txBody>
        </p:sp>
        <p:sp>
          <p:nvSpPr>
            <p:cNvPr id="5" name="Line 24">
              <a:extLst>
                <a:ext uri="{FF2B5EF4-FFF2-40B4-BE49-F238E27FC236}">
                  <a16:creationId xmlns:a16="http://schemas.microsoft.com/office/drawing/2014/main" id="{9870D67C-9E69-4411-7906-F5E86C526D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28" y="2978"/>
              <a:ext cx="320" cy="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352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64AC02E-E41F-46F8-AB7D-B5616F48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Structure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855027-4195-4654-9750-3AA93B732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75113" y="1134205"/>
            <a:ext cx="8429401" cy="5299251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Ideally, all programs must reside permanently in </a:t>
            </a:r>
            <a:r>
              <a:rPr lang="en-US" altLang="en-US" sz="23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memory</a:t>
            </a:r>
          </a:p>
          <a:p>
            <a:pPr lvl="1"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but main memory is </a:t>
            </a:r>
            <a:r>
              <a:rPr lang="en-US" altLang="en-US" sz="2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volatile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altLang="en-US" sz="22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limited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lvl="1" indent="0" algn="ctr">
              <a:spcBef>
                <a:spcPts val="2400"/>
              </a:spcBef>
              <a:buNone/>
            </a:pPr>
            <a:r>
              <a:rPr lang="en-US" alt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need to have a storage hierarchy ;</a:t>
            </a:r>
          </a:p>
          <a:p>
            <a:pPr marL="0" lvl="1" indent="0" algn="ctr">
              <a:spcBef>
                <a:spcPts val="1200"/>
              </a:spcBef>
              <a:buNone/>
            </a:pPr>
            <a:r>
              <a:rPr lang="en-US" altLang="en-US" sz="2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 disk – RAM – cache – registers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alt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Memory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the only large storage media that CPU can </a:t>
            </a: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directly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of addressable storage bytes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random access &amp; </a:t>
            </a: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volatile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temporary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storage for loaded programs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implemented in semiconductor technology – DRAM</a:t>
            </a:r>
          </a:p>
          <a:p>
            <a:pPr lvl="1">
              <a:spcBef>
                <a:spcPts val="1200"/>
              </a:spcBef>
            </a:pP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0AB311-C033-9D30-6178-C7A94C78886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5106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64AC02E-E41F-46F8-AB7D-B5616F4834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Structure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A855027-4195-4654-9750-3AA93B73284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75113" y="1172305"/>
            <a:ext cx="8429401" cy="5299251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Secondary Storage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– extension of main memory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used for </a:t>
            </a:r>
            <a:r>
              <a:rPr lang="en-US" alt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permanent storage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for installed programs</a:t>
            </a:r>
          </a:p>
          <a:p>
            <a:pPr lvl="1">
              <a:spcBef>
                <a:spcPts val="600"/>
              </a:spcBef>
            </a:pPr>
            <a:r>
              <a:rPr lang="en-US" alt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non-volatile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very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large,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  relatively </a:t>
            </a:r>
            <a:r>
              <a:rPr lang="en-US" alt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slower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 Disk Drives (HDD)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rigid metal/glass platters with magnetic recording 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read/write head moves over </a:t>
            </a:r>
            <a:r>
              <a:rPr 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spinning disk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to read/write data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relatively low access speed</a:t>
            </a:r>
          </a:p>
          <a:p>
            <a:pPr>
              <a:spcBef>
                <a:spcPts val="30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Solid State Drive (SSD)</a:t>
            </a:r>
          </a:p>
          <a:p>
            <a:pPr lvl="1">
              <a:spcBef>
                <a:spcPts val="600"/>
              </a:spcBef>
            </a:pPr>
            <a:r>
              <a:rPr lang="en-US" alt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semiconductor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storage 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NAND Flash chips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lvl="1">
              <a:spcBef>
                <a:spcPts val="600"/>
              </a:spcBef>
            </a:pPr>
            <a:r>
              <a:rPr lang="en-US" alt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faster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access speeds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more </a:t>
            </a:r>
            <a:r>
              <a:rPr lang="en-US" altLang="en-US" sz="2100" i="1" dirty="0">
                <a:solidFill>
                  <a:srgbClr val="0000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robust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than HDDs, as no moving parts</a:t>
            </a:r>
          </a:p>
          <a:p>
            <a:pPr>
              <a:spcBef>
                <a:spcPts val="600"/>
              </a:spcBef>
            </a:pPr>
            <a:endParaRPr lang="en-US" alt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0AB311-C033-9D30-6178-C7A94C78886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19330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C8143CB-221D-4E46-ACB1-F240385D00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8438"/>
            <a:ext cx="8126413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Storage Hierarchy</a:t>
            </a:r>
          </a:p>
        </p:txBody>
      </p:sp>
      <p:pic>
        <p:nvPicPr>
          <p:cNvPr id="41987" name="Picture 2">
            <a:extLst>
              <a:ext uri="{FF2B5EF4-FFF2-40B4-BE49-F238E27FC236}">
                <a16:creationId xmlns:a16="http://schemas.microsoft.com/office/drawing/2014/main" id="{96241ED2-B618-4D08-8846-8009538AC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05" y="1238022"/>
            <a:ext cx="8237039" cy="5151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E1FBCE8-1EFA-F742-99B8-B966542541B6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80D2F35F-C53D-47E7-B577-388459124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250"/>
            <a:ext cx="8015288" cy="576263"/>
          </a:xfrm>
        </p:spPr>
        <p:txBody>
          <a:bodyPr/>
          <a:lstStyle/>
          <a:p>
            <a:r>
              <a:rPr lang="en-US" altLang="en-US"/>
              <a:t>PC Motherboard</a:t>
            </a:r>
          </a:p>
        </p:txBody>
      </p:sp>
      <p:pic>
        <p:nvPicPr>
          <p:cNvPr id="58371" name="Picture 5">
            <a:extLst>
              <a:ext uri="{FF2B5EF4-FFF2-40B4-BE49-F238E27FC236}">
                <a16:creationId xmlns:a16="http://schemas.microsoft.com/office/drawing/2014/main" id="{5878A734-D8F6-4F7D-8433-2C96A52E7C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3396" y="871986"/>
            <a:ext cx="7684122" cy="5986013"/>
          </a:xfrm>
          <a:noFill/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AC2BAD7-BADD-1187-1DC7-20C6787E6CB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44812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BC952A8-C6F2-4247-AAA6-A0FD865283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2725"/>
            <a:ext cx="80994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Computer Startup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40AB73B-055F-4D5D-997B-F04836742E4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42571"/>
            <a:ext cx="7837714" cy="4351969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Bootstrap Program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is loaded at power-up, or reboot…</a:t>
            </a:r>
          </a:p>
          <a:p>
            <a:pPr lvl="1"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Typically stored in ROM or EPROM, generally known as </a:t>
            </a: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firmware </a:t>
            </a:r>
            <a:r>
              <a:rPr lang="en-US" altLang="en-US" sz="2300" b="1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(BIOS chip)</a:t>
            </a:r>
          </a:p>
          <a:p>
            <a:pPr lvl="1"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Initializes various aspects of the system</a:t>
            </a:r>
          </a:p>
          <a:p>
            <a:pPr lvl="1"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Loads OS kernel, &amp; passes control to it</a:t>
            </a:r>
          </a:p>
          <a:p>
            <a:pPr lvl="1"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Starts system execution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11E0615-2DCD-7B96-A4E6-79D74748CF9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8377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A130A-E468-C14C-A360-3C480287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Boot Simulation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51223-C8C2-D87C-DCC8-BE290C2F4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0" y="1320576"/>
            <a:ext cx="8458200" cy="453072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Steps in Booting Process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https://www.youtube.com/watch?v=PSnGuvylWBI&amp;ab_channel=ARTDETAILS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6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Program compilation / running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https://www.youtube.com/watch?v=3wuMRPhSNd0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600"/>
              </a:spcBef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Instruction execution cycle demo</a:t>
            </a:r>
          </a:p>
          <a:p>
            <a:pPr marL="457200" indent="0">
              <a:spcBef>
                <a:spcPts val="1200"/>
              </a:spcBef>
              <a:buNone/>
            </a:pP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https://www.youtube.com/watch?v=Z5JC9Ve1sfI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73831DD-C867-3D41-486A-6116A6DFD5E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39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3642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42998" y="2888119"/>
            <a:ext cx="6660776" cy="103073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Computer System Architecture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EC20FC8-1EBB-9FF2-4621-8C4AED5D7544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1624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241EA749-5F42-4DDF-91AF-C39281ECA8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00138" y="227013"/>
            <a:ext cx="7399337" cy="558800"/>
          </a:xfrm>
        </p:spPr>
        <p:txBody>
          <a:bodyPr/>
          <a:lstStyle/>
          <a:p>
            <a:r>
              <a:rPr lang="en-US" altLang="en-US" dirty="0"/>
              <a:t>Computer System Architecture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4D3327B7-8FD8-4AB6-82B1-9B1A1B47B9C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25448" y="1157287"/>
            <a:ext cx="8577038" cy="56077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 Processor systems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system with one CPU  –  processing tasks performed </a:t>
            </a: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sequentially</a:t>
            </a:r>
          </a:p>
          <a:p>
            <a:pPr lvl="1">
              <a:spcBef>
                <a:spcPts val="12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 switches between tasks  –  </a:t>
            </a:r>
            <a:r>
              <a:rPr 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illusion of parallelism </a:t>
            </a:r>
            <a:endParaRPr lang="en-US" altLang="en-US" sz="21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 Processor</a:t>
            </a:r>
            <a:r>
              <a:rPr lang="en-US" altLang="en-US" sz="240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system with more than one CPU 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–  </a:t>
            </a: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parallel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processing</a:t>
            </a:r>
          </a:p>
          <a:p>
            <a:pPr lvl="1">
              <a:spcBef>
                <a:spcPts val="12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multiple tasks executed simultaneously </a:t>
            </a:r>
          </a:p>
          <a:p>
            <a:pPr marL="914400" lvl="2" indent="0" defTabSz="858838">
              <a:spcBef>
                <a:spcPts val="1200"/>
              </a:spcBef>
              <a:buNone/>
            </a:pP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higher throughput	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–  more work done </a:t>
            </a:r>
            <a:endParaRPr lang="en-US" altLang="en-US" sz="2100" dirty="0">
              <a:solidFill>
                <a:srgbClr val="0066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2" indent="0" defTabSz="858838">
              <a:spcBef>
                <a:spcPts val="600"/>
              </a:spcBef>
              <a:buNone/>
            </a:pP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Increased reliability   	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–  graceful degradation   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(fault tolerance)</a:t>
            </a:r>
          </a:p>
          <a:p>
            <a:pPr marL="0" lvl="1" indent="0" algn="ctr">
              <a:lnSpc>
                <a:spcPct val="110000"/>
              </a:lnSpc>
              <a:spcBef>
                <a:spcPts val="3000"/>
              </a:spcBef>
              <a:buNone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CPUs may be on a </a:t>
            </a:r>
            <a:r>
              <a:rPr lang="en-US" sz="21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chip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1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motherboard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 or 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distributed across </a:t>
            </a:r>
            <a:r>
              <a:rPr lang="en-US" sz="21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 nodes</a:t>
            </a:r>
            <a:endParaRPr lang="en-US" altLang="en-US" sz="2100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B66031C-E6AB-247F-65BA-0C91CED2367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59752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241EA749-5F42-4DDF-91AF-C39281ECA8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00138" y="227013"/>
            <a:ext cx="7399337" cy="558800"/>
          </a:xfrm>
        </p:spPr>
        <p:txBody>
          <a:bodyPr/>
          <a:lstStyle/>
          <a:p>
            <a:r>
              <a:rPr lang="en-US" altLang="en-US" dirty="0"/>
              <a:t>Computer System Architecture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4D3327B7-8FD8-4AB6-82B1-9B1A1B47B9C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47220" y="1140593"/>
            <a:ext cx="8577038" cy="5276169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Approaches to </a:t>
            </a:r>
            <a:r>
              <a:rPr lang="en-US" altLang="en-US" sz="23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Multiprocessing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in a computer system:</a:t>
            </a:r>
          </a:p>
          <a:p>
            <a:pPr>
              <a:lnSpc>
                <a:spcPct val="110000"/>
              </a:lnSpc>
              <a:spcBef>
                <a:spcPts val="24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Symmetric Multiprocessing – SMP</a:t>
            </a:r>
            <a:r>
              <a:rPr lang="en-US" altLang="en-US" sz="23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0" lvl="1" indent="0" algn="ctr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“All processors treated equally –  </a:t>
            </a:r>
            <a:r>
              <a:rPr lang="en-US" sz="21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identical in H/W &amp; capability</a:t>
            </a:r>
            <a:r>
              <a:rPr 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tasks assigned dynamically to any available core –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 balancing</a:t>
            </a:r>
            <a:endParaRPr lang="en-US" altLang="en-US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Asymmetric Multiprocessing – AMP</a:t>
            </a:r>
            <a:r>
              <a:rPr lang="en-US" altLang="en-US" sz="2300" dirty="0">
                <a:solidFill>
                  <a:srgbClr val="3366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0" lvl="1" indent="0" algn="ctr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“Processors not treated equally – </a:t>
            </a:r>
            <a:r>
              <a:rPr lang="en-US" sz="21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have different capabilities</a:t>
            </a:r>
            <a:r>
              <a:rPr 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lvl="1">
              <a:lnSpc>
                <a:spcPct val="110000"/>
              </a:lnSpc>
              <a:spcBef>
                <a:spcPts val="18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one processor designated as "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others as "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slaves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", with limited responsibilities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master performs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scheduling,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resource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allocation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 slaves</a:t>
            </a:r>
          </a:p>
          <a:p>
            <a:pPr marL="1200150" lvl="2" indent="-342900">
              <a:lnSpc>
                <a:spcPct val="110000"/>
              </a:lnSpc>
              <a:spcBef>
                <a:spcPts val="600"/>
              </a:spcBef>
              <a:buFont typeface="Webdings" panose="05030102010509060703" pitchFamily="18" charset="2"/>
              <a:buNone/>
            </a:pPr>
            <a:endParaRPr lang="en-US" altLang="en-US" sz="2200" dirty="0">
              <a:solidFill>
                <a:srgbClr val="3366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B66031C-E6AB-247F-65BA-0C91CED2367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23832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C1410AFB-466A-4B08-A8E9-FA44DF2206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9800" y="133350"/>
            <a:ext cx="8229600" cy="641350"/>
          </a:xfrm>
        </p:spPr>
        <p:txBody>
          <a:bodyPr/>
          <a:lstStyle/>
          <a:p>
            <a:r>
              <a:rPr lang="en-US" altLang="en-US" sz="3000" dirty="0"/>
              <a:t>Symmetric Multiprocessing Architecture</a:t>
            </a:r>
          </a:p>
        </p:txBody>
      </p:sp>
      <p:pic>
        <p:nvPicPr>
          <p:cNvPr id="50179" name="Picture 2">
            <a:extLst>
              <a:ext uri="{FF2B5EF4-FFF2-40B4-BE49-F238E27FC236}">
                <a16:creationId xmlns:a16="http://schemas.microsoft.com/office/drawing/2014/main" id="{61A30DEF-BA94-447F-8812-ADBD513F7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671" y="1271234"/>
            <a:ext cx="5010329" cy="4093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1CC78E5-840A-C7B0-1B76-BB895C7AC59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B365BA-64A6-C6EC-D4C4-DD7EA81B9882}"/>
              </a:ext>
            </a:extLst>
          </p:cNvPr>
          <p:cNvSpPr txBox="1">
            <a:spLocks noChangeArrowheads="1"/>
          </p:cNvSpPr>
          <p:nvPr/>
        </p:nvSpPr>
        <p:spPr>
          <a:xfrm>
            <a:off x="420186" y="1456418"/>
            <a:ext cx="2677888" cy="29958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Core system</a:t>
            </a:r>
          </a:p>
          <a:p>
            <a:pPr>
              <a:spcBef>
                <a:spcPts val="1800"/>
              </a:spcBef>
            </a:pP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Single computing </a:t>
            </a:r>
            <a:r>
              <a:rPr lang="en-US" altLang="en-US" sz="21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 on one </a:t>
            </a:r>
            <a:r>
              <a:rPr lang="en-US" altLang="en-US" sz="21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chip</a:t>
            </a:r>
            <a:endParaRPr lang="en-US" altLang="en-US" sz="2100" b="1" kern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Each core has own </a:t>
            </a:r>
            <a:r>
              <a:rPr lang="en-US" altLang="en-US" sz="21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register</a:t>
            </a: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 set, </a:t>
            </a:r>
            <a:b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local </a:t>
            </a:r>
            <a:r>
              <a:rPr lang="en-US" altLang="en-US" sz="21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cache</a:t>
            </a:r>
          </a:p>
          <a:p>
            <a:pPr lvl="1">
              <a:spcBef>
                <a:spcPts val="1800"/>
              </a:spcBef>
            </a:pPr>
            <a:endParaRPr lang="en-US" altLang="en-US" sz="22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38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20841D46-E229-498E-9F1F-A94657CB7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070850" cy="576262"/>
          </a:xfrm>
        </p:spPr>
        <p:txBody>
          <a:bodyPr/>
          <a:lstStyle/>
          <a:p>
            <a:r>
              <a:rPr lang="en-US" altLang="en-US" dirty="0"/>
              <a:t>Dual Core Design</a:t>
            </a:r>
          </a:p>
        </p:txBody>
      </p:sp>
      <p:sp>
        <p:nvSpPr>
          <p:cNvPr id="52227" name="Content Placeholder 1">
            <a:extLst>
              <a:ext uri="{FF2B5EF4-FFF2-40B4-BE49-F238E27FC236}">
                <a16:creationId xmlns:a16="http://schemas.microsoft.com/office/drawing/2014/main" id="{2C6B238E-3C2D-4092-8CEA-97744AAE8F4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0666" y="1222736"/>
            <a:ext cx="2895603" cy="4676151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Dual Core system</a:t>
            </a:r>
          </a:p>
          <a:p>
            <a:pPr>
              <a:spcBef>
                <a:spcPts val="1200"/>
              </a:spcBef>
            </a:pP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Two computing 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en-US" sz="21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ores</a:t>
            </a: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altLang="en-US" sz="21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chip</a:t>
            </a:r>
          </a:p>
          <a:p>
            <a:pPr>
              <a:spcBef>
                <a:spcPts val="1200"/>
              </a:spcBef>
            </a:pP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Each core has own </a:t>
            </a:r>
            <a:r>
              <a:rPr lang="en-US" altLang="en-US" sz="21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register</a:t>
            </a: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 set,  </a:t>
            </a:r>
            <a:b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local </a:t>
            </a:r>
            <a:r>
              <a:rPr lang="en-US" altLang="en-US" sz="2100" kern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cache</a:t>
            </a:r>
          </a:p>
          <a:p>
            <a:pPr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Also, a 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 cache</a:t>
            </a:r>
            <a:endParaRPr lang="en-US" altLang="en-US" sz="2100" kern="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3000"/>
              </a:spcBef>
              <a:buNone/>
            </a:pPr>
            <a:r>
              <a:rPr lang="en-US" altLang="en-US" sz="22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Multicore system</a:t>
            </a:r>
          </a:p>
          <a:p>
            <a:pPr>
              <a:spcBef>
                <a:spcPts val="1200"/>
              </a:spcBef>
            </a:pP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computing cores on same chip</a:t>
            </a:r>
          </a:p>
          <a:p>
            <a:pPr>
              <a:spcBef>
                <a:spcPts val="1200"/>
              </a:spcBef>
            </a:pPr>
            <a:endParaRPr lang="en-US" altLang="en-US" sz="2200" b="1" dirty="0">
              <a:solidFill>
                <a:srgbClr val="0066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228" name="Picture 2">
            <a:extLst>
              <a:ext uri="{FF2B5EF4-FFF2-40B4-BE49-F238E27FC236}">
                <a16:creationId xmlns:a16="http://schemas.microsoft.com/office/drawing/2014/main" id="{77155B73-8D6F-4B94-A72D-0EA688D4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341" y="1186169"/>
            <a:ext cx="4811488" cy="4676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D3BDB38-B379-FC06-1D2B-D056ADBA346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70287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82AFAD1E-E934-45C6-9563-2F384ACE5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84138"/>
            <a:ext cx="8035925" cy="709612"/>
          </a:xfrm>
        </p:spPr>
        <p:txBody>
          <a:bodyPr/>
          <a:lstStyle/>
          <a:p>
            <a:r>
              <a:rPr lang="en-US" altLang="en-US" sz="3000" dirty="0"/>
              <a:t>Non-Uniform Memory Access System</a:t>
            </a:r>
          </a:p>
        </p:txBody>
      </p:sp>
      <p:pic>
        <p:nvPicPr>
          <p:cNvPr id="54275" name="Picture 2">
            <a:extLst>
              <a:ext uri="{FF2B5EF4-FFF2-40B4-BE49-F238E27FC236}">
                <a16:creationId xmlns:a16="http://schemas.microsoft.com/office/drawing/2014/main" id="{95963655-0AB0-4CCC-A2C8-392BB4B36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667" y="3412309"/>
            <a:ext cx="2938655" cy="269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A8919F8-4960-95D9-B617-E22256FBA007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ECAFCBC4-21A8-6E6D-6B9A-9CC3CD47B31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48341" y="1148027"/>
            <a:ext cx="8589737" cy="550749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200" b="0" i="0" dirty="0">
                <a:effectLst/>
                <a:latin typeface="Söhne"/>
              </a:rPr>
              <a:t>System </a:t>
            </a:r>
            <a:r>
              <a:rPr lang="en-US" sz="2200" dirty="0">
                <a:latin typeface="Söhne"/>
              </a:rPr>
              <a:t>hav</a:t>
            </a:r>
            <a:r>
              <a:rPr lang="en-US" sz="2200" b="0" i="0" dirty="0">
                <a:effectLst/>
                <a:latin typeface="Söhne"/>
              </a:rPr>
              <a:t>ing multiple processors &amp; memory modules, </a:t>
            </a:r>
            <a:r>
              <a:rPr lang="en-US" sz="2200" dirty="0">
                <a:latin typeface="Söhne"/>
              </a:rPr>
              <a:t>distributed</a:t>
            </a:r>
            <a:br>
              <a:rPr lang="en-US" sz="2200" b="0" i="0" dirty="0">
                <a:effectLst/>
                <a:latin typeface="Söhne"/>
              </a:rPr>
            </a:br>
            <a:r>
              <a:rPr lang="en-US" sz="2200" b="0" i="0" dirty="0">
                <a:effectLst/>
                <a:latin typeface="Söhne"/>
              </a:rPr>
              <a:t>across motherboards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CPUs have </a:t>
            </a:r>
            <a:r>
              <a:rPr 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Non-uniform memory access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times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fast access to own </a:t>
            </a:r>
            <a:r>
              <a:rPr lang="en-US" sz="21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memory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slow access to other CPUs </a:t>
            </a:r>
            <a:r>
              <a:rPr lang="en-US" sz="21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shared memory 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600"/>
              </a:spcBef>
            </a:pPr>
            <a:r>
              <a:rPr lang="en-US" sz="2200" dirty="0">
                <a:latin typeface="Söhne"/>
              </a:rPr>
              <a:t>NUMA systems designed to </a:t>
            </a: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lang="en-US" sz="2200" dirty="0">
                <a:latin typeface="Söhne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</a:t>
            </a:r>
            <a:b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latency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12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optimize memory access</a:t>
            </a:r>
          </a:p>
          <a:p>
            <a:pPr lvl="1">
              <a:spcBef>
                <a:spcPts val="12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make it appear as single, 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unified system</a:t>
            </a:r>
          </a:p>
        </p:txBody>
      </p:sp>
    </p:spTree>
    <p:extLst>
      <p:ext uri="{BB962C8B-B14F-4D97-AF65-F5344CB8AC3E}">
        <p14:creationId xmlns:p14="http://schemas.microsoft.com/office/powerpoint/2010/main" val="20251713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773C3BE-9EC6-4AC9-BFED-6703722AE48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11138"/>
            <a:ext cx="8034338" cy="576262"/>
          </a:xfrm>
        </p:spPr>
        <p:txBody>
          <a:bodyPr/>
          <a:lstStyle/>
          <a:p>
            <a:r>
              <a:rPr lang="en-US" altLang="en-US"/>
              <a:t>Clustered Systems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2F915434-FD64-4DB0-A829-8C9E2B7AC5B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92228" y="1153737"/>
            <a:ext cx="8513648" cy="5422221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individual systems,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connected via high speed N/W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 together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as single system for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  <a:endParaRPr lang="en-US" altLang="en-US" sz="2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share disk space	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–  linked via SAN  (storage area network)</a:t>
            </a:r>
          </a:p>
          <a:p>
            <a:pPr marL="45720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fault tolerant 	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–  configured to survive failures </a:t>
            </a:r>
            <a:endParaRPr lang="en-US" altLang="en-US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defTabSz="731838">
              <a:lnSpc>
                <a:spcPct val="110000"/>
              </a:lnSpc>
              <a:spcBef>
                <a:spcPts val="3000"/>
              </a:spcBef>
            </a:pP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Symmetric Clustering	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multiple nodes run applications,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				     monitoring each other</a:t>
            </a:r>
          </a:p>
          <a:p>
            <a:pPr lvl="1" defTabSz="731838">
              <a:lnSpc>
                <a:spcPct val="110000"/>
              </a:lnSpc>
              <a:spcBef>
                <a:spcPts val="600"/>
              </a:spcBef>
            </a:pP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Asymmetric Clustering	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–  one machine in hot standby mode</a:t>
            </a: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Need to manage access to data on shared disks to ensure data consistency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Apps specifically written for </a:t>
            </a:r>
            <a:r>
              <a:rPr lang="en-US" alt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parallel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alt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distributed 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computing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F12510F-8D8F-5035-CFDA-CA52BC8C66C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46466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399C69F4-7B4D-4100-A321-7296749C9C1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07963"/>
            <a:ext cx="8061325" cy="576262"/>
          </a:xfrm>
        </p:spPr>
        <p:txBody>
          <a:bodyPr/>
          <a:lstStyle/>
          <a:p>
            <a:r>
              <a:rPr lang="en-US" altLang="en-US"/>
              <a:t>Clustered Systems</a:t>
            </a:r>
          </a:p>
        </p:txBody>
      </p:sp>
      <p:pic>
        <p:nvPicPr>
          <p:cNvPr id="57347" name="Picture 2">
            <a:extLst>
              <a:ext uri="{FF2B5EF4-FFF2-40B4-BE49-F238E27FC236}">
                <a16:creationId xmlns:a16="http://schemas.microsoft.com/office/drawing/2014/main" id="{372567EC-7590-4FE5-8D94-D772F81D0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453" y="2058987"/>
            <a:ext cx="7210134" cy="3699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632C09C-1D16-F60F-71B2-2C9B0C571A72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6933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2073-5FF8-78AE-B4E2-AA2E8182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85884"/>
            <a:ext cx="8229600" cy="1149853"/>
          </a:xfrm>
        </p:spPr>
        <p:txBody>
          <a:bodyPr/>
          <a:lstStyle/>
          <a:p>
            <a:r>
              <a:rPr lang="en-US" dirty="0"/>
              <a:t>Modes of Operation</a:t>
            </a:r>
            <a:br>
              <a:rPr lang="en-US" dirty="0"/>
            </a:br>
            <a:r>
              <a:rPr lang="en-US" dirty="0"/>
              <a:t>of an OS</a:t>
            </a:r>
          </a:p>
        </p:txBody>
      </p:sp>
    </p:spTree>
    <p:extLst>
      <p:ext uri="{BB962C8B-B14F-4D97-AF65-F5344CB8AC3E}">
        <p14:creationId xmlns:p14="http://schemas.microsoft.com/office/powerpoint/2010/main" val="42312459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1443AA-0E9D-4C48-8D3D-68212E6D6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2047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Multiprogramming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91B5A88-3ACB-440F-8638-FDCD2CDEF4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6972" y="1030784"/>
            <a:ext cx="8403999" cy="5574803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Multiprogramming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multiple jobs at the same time, </a:t>
            </a:r>
            <a:b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that CPU always has one to execute</a:t>
            </a:r>
          </a:p>
          <a:p>
            <a:pPr lvl="1">
              <a:spcBef>
                <a:spcPts val="1200"/>
              </a:spcBef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single process cannot always keep CPU busy </a:t>
            </a:r>
          </a:p>
          <a:p>
            <a:pPr lvl="1">
              <a:spcBef>
                <a:spcPts val="600"/>
              </a:spcBef>
            </a:pPr>
            <a:r>
              <a:rPr lang="en-US" altLang="en-US" sz="1900" dirty="0">
                <a:latin typeface="Calibri" panose="020F0502020204030204" pitchFamily="34" charset="0"/>
                <a:cs typeface="Calibri" panose="020F0502020204030204" pitchFamily="34" charset="0"/>
              </a:rPr>
              <a:t>a process often has to wait for I/O operation completion</a:t>
            </a:r>
          </a:p>
          <a:p>
            <a:pPr>
              <a:spcBef>
                <a:spcPts val="18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Multiple processes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 to be brought in memory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memory is limited, cannot hold all jobs in system</a:t>
            </a:r>
          </a:p>
          <a:p>
            <a:pPr>
              <a:spcBef>
                <a:spcPts val="18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Processes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kept on disk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waiting for memory allocation –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 Pool 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OS selects the job to bring into memory –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Job Scheduling</a:t>
            </a:r>
          </a:p>
          <a:p>
            <a:pPr>
              <a:spcBef>
                <a:spcPts val="18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When job has to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wait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for I/O, OS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switches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another job  </a:t>
            </a: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CPU would remain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idle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if no multiprogramming</a:t>
            </a:r>
          </a:p>
          <a:p>
            <a:pPr>
              <a:spcBef>
                <a:spcPts val="18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 resources utilized effectively – </a:t>
            </a:r>
            <a:r>
              <a:rPr lang="en-US" alt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User Interaction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endParaRPr lang="en-US" altLang="en-US" sz="2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ACD3577-8B76-AC41-10CD-6DFF6EBF25BF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49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9104004"/>
      </p:ext>
    </p:extLst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290B74C-531F-48AF-B9FC-4141DDA6862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33463" y="198438"/>
            <a:ext cx="8229600" cy="57626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800" dirty="0"/>
              <a:t>Memory Layout - Multiprogramming</a:t>
            </a:r>
          </a:p>
        </p:txBody>
      </p:sp>
      <p:pic>
        <p:nvPicPr>
          <p:cNvPr id="63491" name="Picture 2">
            <a:extLst>
              <a:ext uri="{FF2B5EF4-FFF2-40B4-BE49-F238E27FC236}">
                <a16:creationId xmlns:a16="http://schemas.microsoft.com/office/drawing/2014/main" id="{3AC87D33-03C5-4AAE-9C92-B651FC40A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863" y="1666239"/>
            <a:ext cx="2820280" cy="4459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4EF8C95-DFBA-B326-A07E-301B85BEC49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1901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E1443AA-0E9D-4C48-8D3D-68212E6D68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9975" y="204788"/>
            <a:ext cx="761682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Multitasking (Timesharing)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91B5A88-3ACB-440F-8638-FDCD2CDEF4E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46086" y="1134351"/>
            <a:ext cx="8512858" cy="5371315"/>
          </a:xfrm>
          <a:ln w="38100"/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Multitasking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multiple jobs at the same time, </a:t>
            </a:r>
            <a:b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that</a:t>
            </a:r>
            <a:r>
              <a:rPr 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appears to perform tasks simultaneously</a:t>
            </a:r>
            <a:endParaRPr lang="en-US" altLang="en-US" sz="2100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tasks executed concurrently</a:t>
            </a: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Several jobs ready to run at same time </a:t>
            </a:r>
            <a:r>
              <a:rPr lang="en-US" altLang="en-US" sz="2000" dirty="0">
                <a:latin typeface="Abadi" panose="020B060402010402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→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CPU Scheduling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switches jobs so frequently, so fast, </a:t>
            </a:r>
            <a:b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1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each user can interact with his job while it’s running </a:t>
            </a:r>
          </a:p>
          <a:p>
            <a:pPr marL="1196975" lvl="1">
              <a:spcBef>
                <a:spcPts val="18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allows </a:t>
            </a:r>
            <a:r>
              <a:rPr lang="en-US" altLang="en-US" sz="20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Interaction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with system </a:t>
            </a:r>
          </a:p>
          <a:p>
            <a:pPr marL="1196975" lvl="1">
              <a:spcBef>
                <a:spcPts val="600"/>
              </a:spcBef>
            </a:pPr>
            <a:r>
              <a:rPr lang="en-US" altLang="en-US" sz="20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response time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&lt;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1 second</a:t>
            </a:r>
          </a:p>
          <a:p>
            <a:pPr marL="339725">
              <a:spcBef>
                <a:spcPts val="24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If processes do not</a:t>
            </a:r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fit in memory</a:t>
            </a:r>
            <a:r>
              <a:rPr lang="en-US" altLang="en-US" sz="2000" dirty="0">
                <a:latin typeface="Abadi" panose="020B060402010402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→</a:t>
            </a:r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</a:t>
            </a:r>
            <a:r>
              <a:rPr lang="en-US" altLang="ja-JP" sz="20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Swapping</a:t>
            </a:r>
            <a:r>
              <a:rPr lang="en-US" altLang="ja-JP" sz="2000" dirty="0">
                <a:latin typeface="Calibri" panose="020F0502020204030204" pitchFamily="34" charset="0"/>
                <a:cs typeface="Calibri" panose="020F0502020204030204" pitchFamily="34" charset="0"/>
                <a:sym typeface="Wingdings 3" panose="05040102010807070707" pitchFamily="18" charset="2"/>
              </a:rPr>
              <a:t> moves them in &amp; out of memory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0974089-D74A-E83C-DD6C-EB50FE19BE43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8418513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DFB955E8-3E23-4ED8-ACD1-D8F4ED9EAA8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65695" y="211138"/>
            <a:ext cx="759732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Issue in </a:t>
            </a:r>
            <a:r>
              <a:rPr lang="en-US" altLang="en-US" sz="2800" dirty="0" err="1"/>
              <a:t>Multiprograming</a:t>
            </a:r>
            <a:r>
              <a:rPr lang="en-US" altLang="en-US" sz="2800" dirty="0"/>
              <a:t> / Multitasking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2977E9C9-146A-4591-9F2A-95F7D84336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58106" y="1166268"/>
            <a:ext cx="8426682" cy="206678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storage, same data may appear at different levels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Multiprogramming &amp; multitasking environments must ensure using most recent data value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no matter where it is stored in storage hierarchy</a:t>
            </a:r>
          </a:p>
        </p:txBody>
      </p:sp>
      <p:pic>
        <p:nvPicPr>
          <p:cNvPr id="83972" name="Picture 2">
            <a:extLst>
              <a:ext uri="{FF2B5EF4-FFF2-40B4-BE49-F238E27FC236}">
                <a16:creationId xmlns:a16="http://schemas.microsoft.com/office/drawing/2014/main" id="{1848E92C-E063-45B0-A246-5F252E49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944" y="3429000"/>
            <a:ext cx="6984111" cy="783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50CE147-AFD0-5A46-F5B9-E84DCDEED70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B0FB256-FAB0-DE94-DCC2-AE0046413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539" y="4732225"/>
            <a:ext cx="8250465" cy="1510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lang="en-US" altLang="en-US" sz="2200" kern="0" dirty="0">
                <a:latin typeface="Calibri" panose="020F0502020204030204" pitchFamily="34" charset="0"/>
                <a:cs typeface="Calibri" panose="020F0502020204030204" pitchFamily="34" charset="0"/>
              </a:rPr>
              <a:t>Distributed environment scenario is even more complex</a:t>
            </a:r>
          </a:p>
          <a:p>
            <a:pPr lvl="1">
              <a:spcBef>
                <a:spcPts val="600"/>
              </a:spcBef>
            </a:pP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several copies of data at remote locations</a:t>
            </a:r>
          </a:p>
          <a:p>
            <a:pPr lvl="1">
              <a:spcBef>
                <a:spcPts val="600"/>
              </a:spcBef>
            </a:pPr>
            <a:r>
              <a:rPr lang="en-US" altLang="en-US" sz="2100" kern="0" dirty="0">
                <a:latin typeface="Calibri" panose="020F0502020204030204" pitchFamily="34" charset="0"/>
                <a:cs typeface="Calibri" panose="020F0502020204030204" pitchFamily="34" charset="0"/>
              </a:rPr>
              <a:t>various solutions exist…!!</a:t>
            </a:r>
          </a:p>
        </p:txBody>
      </p:sp>
    </p:spTree>
    <p:extLst>
      <p:ext uri="{BB962C8B-B14F-4D97-AF65-F5344CB8AC3E}">
        <p14:creationId xmlns:p14="http://schemas.microsoft.com/office/powerpoint/2010/main" val="28912231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>
            <a:extLst>
              <a:ext uri="{FF2B5EF4-FFF2-40B4-BE49-F238E27FC236}">
                <a16:creationId xmlns:a16="http://schemas.microsoft.com/office/drawing/2014/main" id="{F3E9582F-73D2-4BB5-8C85-155733606E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446306" y="2888119"/>
            <a:ext cx="7016376" cy="103073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3200" b="1" dirty="0">
                <a:solidFill>
                  <a:srgbClr val="006699"/>
                </a:solidFill>
                <a:latin typeface="+mj-lt"/>
              </a:rPr>
              <a:t>Computing Environments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04A51B9-5166-D85C-6C18-13437AA9943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83035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1B8082F-3362-4A0A-8D0E-FB22B11475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0"/>
            <a:ext cx="7119257" cy="793750"/>
          </a:xfrm>
        </p:spPr>
        <p:txBody>
          <a:bodyPr/>
          <a:lstStyle/>
          <a:p>
            <a:r>
              <a:rPr lang="en-US" altLang="en-US" sz="3000" dirty="0"/>
              <a:t>Computing Environments</a:t>
            </a:r>
          </a:p>
        </p:txBody>
      </p:sp>
      <p:sp>
        <p:nvSpPr>
          <p:cNvPr id="100355" name="Content Placeholder 2">
            <a:extLst>
              <a:ext uri="{FF2B5EF4-FFF2-40B4-BE49-F238E27FC236}">
                <a16:creationId xmlns:a16="http://schemas.microsoft.com/office/drawing/2014/main" id="{3405E8D5-FD1B-4039-BB1E-A9B3B0779F9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819151" y="1296988"/>
            <a:ext cx="6506936" cy="4145869"/>
          </a:xfrm>
        </p:spPr>
        <p:txBody>
          <a:bodyPr/>
          <a:lstStyle/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Traditional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Distributed</a:t>
            </a:r>
          </a:p>
          <a:p>
            <a:pPr lvl="1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Client Server</a:t>
            </a:r>
          </a:p>
          <a:p>
            <a:pPr lvl="1"/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Peer-to-Peer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Mobile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Virtualization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Cloud computing</a:t>
            </a:r>
          </a:p>
          <a:p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Real-time Embedded</a:t>
            </a:r>
          </a:p>
          <a:p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D52093B-CBDF-1CE3-5395-A064A97149FA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8804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71B8082F-3362-4A0A-8D0E-FB22B11475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40080" y="138792"/>
            <a:ext cx="8206831" cy="622300"/>
          </a:xfrm>
        </p:spPr>
        <p:txBody>
          <a:bodyPr/>
          <a:lstStyle/>
          <a:p>
            <a:r>
              <a:rPr lang="en-US" altLang="en-US" dirty="0"/>
              <a:t>Traditional Systems</a:t>
            </a:r>
          </a:p>
        </p:txBody>
      </p:sp>
      <p:sp>
        <p:nvSpPr>
          <p:cNvPr id="100355" name="Content Placeholder 2">
            <a:extLst>
              <a:ext uri="{FF2B5EF4-FFF2-40B4-BE49-F238E27FC236}">
                <a16:creationId xmlns:a16="http://schemas.microsoft.com/office/drawing/2014/main" id="{3405E8D5-FD1B-4039-BB1E-A9B3B0779F9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14350" y="1144587"/>
            <a:ext cx="8074479" cy="496229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Traditionally, there were stand-alone general-purpose machines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but now all systems interconnect with others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separation lines between computing environments are blurred </a:t>
            </a: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Networking is now ubiquitous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even home systems connect to Internet via ISPs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firewalls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for protection against cyber attacks</a:t>
            </a:r>
          </a:p>
          <a:p>
            <a:pPr>
              <a:spcBef>
                <a:spcPts val="1800"/>
              </a:spcBef>
            </a:pP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Mobile computers interconnect via </a:t>
            </a: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wireless networks</a:t>
            </a:r>
          </a:p>
          <a:p>
            <a:pPr>
              <a:spcBef>
                <a:spcPts val="18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Portals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provide easy web access to systems</a:t>
            </a:r>
          </a:p>
          <a:p>
            <a:pPr>
              <a:spcBef>
                <a:spcPts val="18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 clients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provide various services, </a:t>
            </a:r>
            <a:r>
              <a:rPr lang="en-US" altLang="en-US" sz="2300" dirty="0" err="1"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, Web terminals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9767164-55E3-B628-8312-1F4109A0EAC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55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7129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D0ECE790-B0BE-4135-98DE-2C481E02F5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2813" y="207963"/>
            <a:ext cx="7653337" cy="576262"/>
          </a:xfrm>
        </p:spPr>
        <p:txBody>
          <a:bodyPr/>
          <a:lstStyle/>
          <a:p>
            <a:r>
              <a:rPr lang="en-US" altLang="en-US" dirty="0"/>
              <a:t>Distributed Systems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3ECA8FF4-005A-4361-BF3A-BAC35BECFBC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68085" y="1141865"/>
            <a:ext cx="8425544" cy="5335135"/>
          </a:xfrm>
        </p:spPr>
        <p:txBody>
          <a:bodyPr/>
          <a:lstStyle/>
          <a:p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Multiple </a:t>
            </a:r>
            <a:r>
              <a:rPr lang="en-US" alt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autonomous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, possibly </a:t>
            </a:r>
            <a:r>
              <a:rPr lang="en-US" alt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heterogenous systems</a:t>
            </a:r>
            <a:r>
              <a:rPr lang="en-US" alt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work together to </a:t>
            </a:r>
            <a:r>
              <a:rPr lang="en-US" sz="23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 unified set of services</a:t>
            </a:r>
          </a:p>
          <a:p>
            <a:pPr lvl="1">
              <a:spcBef>
                <a:spcPts val="12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hosts communicate &amp; coordinate to perform tasks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 comm networks  –  most common </a:t>
            </a:r>
            <a:r>
              <a:rPr lang="en-US" alt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TCP/IP Internet</a:t>
            </a:r>
          </a:p>
          <a:p>
            <a:pPr>
              <a:spcBef>
                <a:spcPts val="30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Distributed systems widely used in various domains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cloud computing, distributed DBs,  CDNs,  P2P networks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3000"/>
              </a:spcBef>
            </a:pPr>
            <a:r>
              <a:rPr lang="en-US" alt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Network Operating System 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provides features across the network  </a:t>
            </a:r>
            <a:r>
              <a:rPr lang="en-US" altLang="en-US" sz="2100" i="1" dirty="0">
                <a:latin typeface="Calibri" panose="020F0502020204030204" pitchFamily="34" charset="0"/>
                <a:cs typeface="Calibri" panose="020F0502020204030204" pitchFamily="34" charset="0"/>
              </a:rPr>
              <a:t>(file sharing) 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comm protocols allow processes on distributed systems to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exchange messages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illusion of a 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OS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across entire network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5A1BBA6-6B31-C530-E663-8827CDCD22C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56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37176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7362B21A-8A5E-4F20-9A05-0BE89E8793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96988" y="207963"/>
            <a:ext cx="71929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Client Server</a:t>
            </a:r>
          </a:p>
        </p:txBody>
      </p:sp>
      <p:sp>
        <p:nvSpPr>
          <p:cNvPr id="102403" name="Rectangle 4">
            <a:extLst>
              <a:ext uri="{FF2B5EF4-FFF2-40B4-BE49-F238E27FC236}">
                <a16:creationId xmlns:a16="http://schemas.microsoft.com/office/drawing/2014/main" id="{CF60D9FD-B67C-4C64-ACD2-8A9A5FAEF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62" y="1082220"/>
            <a:ext cx="8518981" cy="544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ts val="600"/>
              </a:spcBef>
              <a:buSzPct val="90000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Distributed system in which systems act as </a:t>
            </a:r>
            <a:r>
              <a:rPr 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Clients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3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Servers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spcBef>
                <a:spcPts val="600"/>
              </a:spcBef>
              <a:buSzPct val="90000"/>
            </a:pPr>
            <a:r>
              <a:rPr 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clients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make request to server </a:t>
            </a:r>
          </a:p>
          <a:p>
            <a:pPr lvl="1">
              <a:spcBef>
                <a:spcPts val="600"/>
              </a:spcBef>
              <a:buSzPct val="90000"/>
            </a:pPr>
            <a:r>
              <a:rPr 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servers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respond to meet client request</a:t>
            </a:r>
          </a:p>
          <a:p>
            <a:pPr lvl="1">
              <a:spcBef>
                <a:spcPts val="600"/>
              </a:spcBef>
              <a:buSzPct val="90000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provides variety of services, resources, or data</a:t>
            </a:r>
          </a:p>
          <a:p>
            <a:pPr>
              <a:spcBef>
                <a:spcPts val="1800"/>
              </a:spcBef>
              <a:buSzPct val="90000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Communication is over a network</a:t>
            </a:r>
          </a:p>
          <a:p>
            <a:pPr lvl="1">
              <a:spcBef>
                <a:spcPts val="600"/>
              </a:spcBef>
              <a:buSzPct val="90000"/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PAN, LAN, MAN, WAN, or the Internet</a:t>
            </a:r>
          </a:p>
          <a:p>
            <a:pPr>
              <a:spcBef>
                <a:spcPts val="1800"/>
              </a:spcBef>
              <a:buSzPct val="90000"/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Processing is distributed</a:t>
            </a:r>
          </a:p>
          <a:p>
            <a:pPr lvl="1">
              <a:spcBef>
                <a:spcPts val="1200"/>
              </a:spcBef>
              <a:buSzPct val="90000"/>
            </a:pPr>
            <a:r>
              <a:rPr 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client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handles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user interfaces</a:t>
            </a:r>
          </a:p>
          <a:p>
            <a:pPr lvl="1">
              <a:spcBef>
                <a:spcPts val="1200"/>
              </a:spcBef>
              <a:buSzPct val="90000"/>
            </a:pPr>
            <a:r>
              <a:rPr lang="en-US" sz="2100" b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server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manages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data storage &amp;</a:t>
            </a:r>
            <a:b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service provision</a:t>
            </a:r>
          </a:p>
        </p:txBody>
      </p:sp>
      <p:pic>
        <p:nvPicPr>
          <p:cNvPr id="102404" name="Picture 1" descr="1_18.pdf">
            <a:extLst>
              <a:ext uri="{FF2B5EF4-FFF2-40B4-BE49-F238E27FC236}">
                <a16:creationId xmlns:a16="http://schemas.microsoft.com/office/drawing/2014/main" id="{3F572163-5430-4601-AD15-704330FF5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43" y="3483427"/>
            <a:ext cx="5388427" cy="2852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6B5A86A-CB21-52F8-692C-471738EA34A8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57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BB647B75-B333-4E93-8EF1-19CAA86038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52525" y="212725"/>
            <a:ext cx="73945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Peer to Peer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7366DDF6-F84D-4FDE-9942-CC6839DC10B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26810" y="1048431"/>
            <a:ext cx="6703333" cy="5596844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Another model of distributed system</a:t>
            </a:r>
          </a:p>
          <a:p>
            <a:pPr>
              <a:lnSpc>
                <a:spcPct val="110000"/>
              </a:lnSpc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P2P has </a:t>
            </a:r>
            <a:r>
              <a:rPr lang="en-US" altLang="en-US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distinction between clients &amp; servers</a:t>
            </a:r>
          </a:p>
          <a:p>
            <a:pPr marL="231775">
              <a:lnSpc>
                <a:spcPct val="110000"/>
              </a:lnSpc>
              <a:spcBef>
                <a:spcPts val="12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All nodes considered as equals</a:t>
            </a:r>
            <a:b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(act as client, server, or both)</a:t>
            </a:r>
          </a:p>
          <a:p>
            <a:pPr marL="231775">
              <a:lnSpc>
                <a:spcPct val="110000"/>
              </a:lnSpc>
              <a:spcBef>
                <a:spcPts val="2400"/>
              </a:spcBef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Nodes join P2P network</a:t>
            </a:r>
          </a:p>
          <a:p>
            <a:pPr marL="739775" lvl="1">
              <a:lnSpc>
                <a:spcPct val="110000"/>
              </a:lnSpc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register services with central 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lookup service on N/W</a:t>
            </a:r>
          </a:p>
          <a:p>
            <a:pPr marL="739775" lvl="1">
              <a:lnSpc>
                <a:spcPct val="110000"/>
              </a:lnSpc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broadcast request for service, &amp; 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respond to requests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(via </a:t>
            </a:r>
            <a:r>
              <a:rPr lang="en-US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discovery protocol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39775" lvl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000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Voice over IP – 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Skype</a:t>
            </a:r>
          </a:p>
          <a:p>
            <a:pPr marL="739775" lvl="1">
              <a:lnSpc>
                <a:spcPct val="110000"/>
              </a:lnSpc>
              <a:spcBef>
                <a:spcPts val="0"/>
              </a:spcBef>
            </a:pPr>
            <a:r>
              <a:rPr lang="en-US" altLang="en-US" sz="2000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 sharing –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BitTorrent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104452" name="Picture 1" descr="1_19.pdf">
            <a:extLst>
              <a:ext uri="{FF2B5EF4-FFF2-40B4-BE49-F238E27FC236}">
                <a16:creationId xmlns:a16="http://schemas.microsoft.com/office/drawing/2014/main" id="{E2A18885-21B9-47B4-84C9-50C4EA2B2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800" y="2212893"/>
            <a:ext cx="3698966" cy="340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ED4F01D-3C96-D1AD-63BC-EF7B778F2849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58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>
            <a:extLst>
              <a:ext uri="{FF2B5EF4-FFF2-40B4-BE49-F238E27FC236}">
                <a16:creationId xmlns:a16="http://schemas.microsoft.com/office/drawing/2014/main" id="{A1829908-11E3-4B1B-A3D2-0806808B690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6250" y="217488"/>
            <a:ext cx="8254093" cy="576262"/>
          </a:xfrm>
        </p:spPr>
        <p:txBody>
          <a:bodyPr/>
          <a:lstStyle/>
          <a:p>
            <a:r>
              <a:rPr lang="en-US" altLang="en-US" dirty="0"/>
              <a:t>Mobile Computing</a:t>
            </a:r>
          </a:p>
        </p:txBody>
      </p:sp>
      <p:sp>
        <p:nvSpPr>
          <p:cNvPr id="101379" name="Content Placeholder 2">
            <a:extLst>
              <a:ext uri="{FF2B5EF4-FFF2-40B4-BE49-F238E27FC236}">
                <a16:creationId xmlns:a16="http://schemas.microsoft.com/office/drawing/2014/main" id="{08F08BF4-93C5-4EF8-B50D-2C9206FFF05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76250" y="1166129"/>
            <a:ext cx="8395607" cy="518023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Users can </a:t>
            </a:r>
            <a:r>
              <a:rPr 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 &amp; use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digital services, data, &amp; applications while </a:t>
            </a:r>
            <a:r>
              <a:rPr lang="en-US" sz="23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the move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smartphones, tablets, smartwatches, </a:t>
            </a:r>
            <a:r>
              <a:rPr lang="en-US" alt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Mobile devices are typically small, lightweight, &amp; portable</a:t>
            </a:r>
          </a:p>
          <a:p>
            <a:pPr lvl="1">
              <a:spcBef>
                <a:spcPts val="12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small </a:t>
            </a: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screens/battery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 &amp; low </a:t>
            </a: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memory/processing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need wireless comm facility  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(cellular, </a:t>
            </a:r>
            <a:r>
              <a:rPr lang="en-US" sz="21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BT)</a:t>
            </a:r>
            <a:endParaRPr lang="en-US" altLang="en-US" sz="2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more OS </a:t>
            </a: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features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sensors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(GPS,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accelerometers,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gyroscope,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proximity sensors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Mobile OS design…  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optimized for small form factor devices 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driven by specific needs of mobile Apps</a:t>
            </a:r>
          </a:p>
          <a:p>
            <a:pPr lvl="1">
              <a:spcBef>
                <a:spcPts val="600"/>
              </a:spcBef>
            </a:pPr>
            <a:r>
              <a:rPr lang="en-US" sz="2100" dirty="0" err="1">
                <a:latin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,  Android,  iOS </a:t>
            </a: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B7DC84F-461B-18F7-9508-B58892BDF9FC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59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3622BC2-D8A3-4714-B19A-26A06CC057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68413" y="204788"/>
            <a:ext cx="7194550" cy="576262"/>
          </a:xfrm>
        </p:spPr>
        <p:txBody>
          <a:bodyPr/>
          <a:lstStyle/>
          <a:p>
            <a:pPr eaLnBrk="1" hangingPunct="1"/>
            <a:r>
              <a:rPr lang="en-US" altLang="en-US"/>
              <a:t>Virtualization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C3AAFBD5-73DB-46BC-A327-5E1260FD7D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47220" y="1109207"/>
            <a:ext cx="8239579" cy="542222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Allows creation of </a:t>
            </a:r>
            <a:r>
              <a:rPr lang="en-US" sz="23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virtual instances 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of computing resources, instead of physical</a:t>
            </a:r>
          </a:p>
          <a:p>
            <a:pPr marL="0" lvl="1" indent="0" algn="ctr">
              <a:lnSpc>
                <a:spcPct val="110000"/>
              </a:lnSpc>
              <a:spcBef>
                <a:spcPts val="1800"/>
              </a:spcBef>
              <a:buNone/>
            </a:pP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“multiple virtual machines (VMs) can run </a:t>
            </a:r>
            <a:b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a single physical system”</a:t>
            </a:r>
          </a:p>
          <a:p>
            <a:pPr lvl="1">
              <a:spcBef>
                <a:spcPts val="1200"/>
              </a:spcBef>
            </a:pP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abstracts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underlying hardware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VMs are </a:t>
            </a: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isolated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from each other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each VM can have own </a:t>
            </a: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OS, Apps &amp; data</a:t>
            </a:r>
          </a:p>
          <a:p>
            <a:pPr>
              <a:spcBef>
                <a:spcPts val="2400"/>
              </a:spcBef>
            </a:pPr>
            <a:r>
              <a:rPr lang="en-US" sz="2200" b="1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Virtual Machine Manager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(VMM) – </a:t>
            </a:r>
            <a:r>
              <a:rPr lang="en-US" sz="2200" b="1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Hypervisor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provides virtualization services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intermediary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layer between H/W &amp; VMs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manages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controls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execution of VMs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provides resource </a:t>
            </a: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allocation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isolation</a:t>
            </a:r>
            <a:endParaRPr lang="en-US" altLang="en-US" sz="2100" dirty="0">
              <a:solidFill>
                <a:srgbClr val="3366C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95BBCCB-8BEF-0EBE-DB56-858F486E4C85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60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38687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967AD9E5-C263-4DD7-BF7C-15DD636247A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20775" y="192088"/>
            <a:ext cx="7645400" cy="6016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Virtualization</a:t>
            </a:r>
          </a:p>
        </p:txBody>
      </p:sp>
      <p:pic>
        <p:nvPicPr>
          <p:cNvPr id="94211" name="Picture 1" descr="1_20.pdf">
            <a:extLst>
              <a:ext uri="{FF2B5EF4-FFF2-40B4-BE49-F238E27FC236}">
                <a16:creationId xmlns:a16="http://schemas.microsoft.com/office/drawing/2014/main" id="{6757256A-1C41-4B7F-99E9-C6E76C868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57" y="1226338"/>
            <a:ext cx="7413172" cy="50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B50A9A3-096C-9ACD-CA02-08988B4E0FA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61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894636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3">
            <a:extLst>
              <a:ext uri="{FF2B5EF4-FFF2-40B4-BE49-F238E27FC236}">
                <a16:creationId xmlns:a16="http://schemas.microsoft.com/office/drawing/2014/main" id="{FD6537A6-ABBB-418B-A303-F33ED361BE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37457" y="1059542"/>
            <a:ext cx="8142514" cy="5618363"/>
          </a:xfrm>
        </p:spPr>
        <p:txBody>
          <a:bodyPr/>
          <a:lstStyle/>
          <a:p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Delivers </a:t>
            </a:r>
            <a:r>
              <a:rPr lang="en-US" altLang="en-US" sz="22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computing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2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, and even </a:t>
            </a:r>
            <a:r>
              <a:rPr lang="en-US" altLang="en-US" sz="22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Apps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as a service across a network </a:t>
            </a:r>
          </a:p>
          <a:p>
            <a:pPr>
              <a:spcBef>
                <a:spcPts val="18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Comprises traditional OSs,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VMMs, and cloud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management tools</a:t>
            </a:r>
          </a:p>
          <a:p>
            <a:pPr>
              <a:spcBef>
                <a:spcPts val="18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Internet connectivity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uses firewalls for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en-US" sz="21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Load balancers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spread traffic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across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multiple </a:t>
            </a:r>
            <a:b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</p:txBody>
      </p:sp>
      <p:pic>
        <p:nvPicPr>
          <p:cNvPr id="108547" name="Picture 1" descr="1_21.pdf">
            <a:extLst>
              <a:ext uri="{FF2B5EF4-FFF2-40B4-BE49-F238E27FC236}">
                <a16:creationId xmlns:a16="http://schemas.microsoft.com/office/drawing/2014/main" id="{013FD59D-83E6-4294-8C1F-125F5B808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810" y="1767839"/>
            <a:ext cx="6051733" cy="4724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D4B5261-AC9E-4876-9921-245A28370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742" y="92981"/>
            <a:ext cx="7326087" cy="703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/>
              <a:t>Cloud</a:t>
            </a:r>
            <a:r>
              <a:rPr lang="en-US" altLang="en-US" sz="2800" kern="0" dirty="0"/>
              <a:t> </a:t>
            </a:r>
            <a:r>
              <a:rPr lang="en-US" altLang="en-US" dirty="0"/>
              <a:t>Computing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0CD6F99-4D5A-2980-3ABF-0431D9A7526D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62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241386D3-7914-4E0D-BD20-DCD46A75AE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55675" y="198438"/>
            <a:ext cx="81232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Cloud Computing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63BBC9B6-44FC-4182-AE85-87D204920BB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60136" y="1060448"/>
            <a:ext cx="8511721" cy="559911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Types of clouds:</a:t>
            </a:r>
          </a:p>
          <a:p>
            <a:pPr lvl="1" defTabSz="601663">
              <a:spcBef>
                <a:spcPts val="600"/>
              </a:spcBef>
              <a:spcAft>
                <a:spcPts val="600"/>
              </a:spcAft>
            </a:pPr>
            <a:r>
              <a:rPr lang="en-US" altLang="en-US" sz="2100" b="1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cloud 	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–  available via Internet to anyone willing to pay</a:t>
            </a:r>
          </a:p>
          <a:p>
            <a:pPr lvl="1" defTabSz="601663">
              <a:spcBef>
                <a:spcPts val="600"/>
              </a:spcBef>
              <a:spcAft>
                <a:spcPts val="600"/>
              </a:spcAft>
            </a:pPr>
            <a:r>
              <a:rPr lang="en-US" altLang="en-US" sz="2100" b="1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Private cloud 	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–  run by a company for own use</a:t>
            </a:r>
          </a:p>
          <a:p>
            <a:pPr lvl="1" defTabSz="601663">
              <a:spcBef>
                <a:spcPts val="600"/>
              </a:spcBef>
              <a:spcAft>
                <a:spcPts val="600"/>
              </a:spcAft>
            </a:pPr>
            <a:r>
              <a:rPr lang="en-US" altLang="en-US" sz="2100" b="1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Hybrid cloud 	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–  includes both public &amp; private cloud components</a:t>
            </a:r>
          </a:p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en-US" altLang="en-US" sz="2100" b="1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SaaS –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Software as a Service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one or more 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Apps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available via Internet  </a:t>
            </a: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(word processor)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sz="2100" b="1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PaaS –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Platform as a Service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stack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ready for application use via Internet  </a:t>
            </a: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(DB server)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sz="2100" b="1" kern="1200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IaaS –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Infrastructure as a Service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servers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storage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available over Internet  </a:t>
            </a: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(storage for backup use)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9BAAA8B-2FAB-75D6-030F-68D1216F99E1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63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85656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2697C8B9-0041-4830-8C83-5FF8CFAF01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49830" y="108855"/>
            <a:ext cx="7239000" cy="620484"/>
          </a:xfrm>
        </p:spPr>
        <p:txBody>
          <a:bodyPr/>
          <a:lstStyle/>
          <a:p>
            <a:r>
              <a:rPr lang="en-US" altLang="en-US" sz="2800" dirty="0"/>
              <a:t>Real-Time Embedded Systems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265F30E9-05CB-4D61-971C-5E1743F20FF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05053" y="1141865"/>
            <a:ext cx="8159977" cy="534602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Specialized computing system, designed to </a:t>
            </a:r>
            <a:r>
              <a:rPr lang="en-US" sz="23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specific tasks in a </a:t>
            </a:r>
            <a:r>
              <a:rPr lang="en-US" sz="2300" dirty="0">
                <a:solidFill>
                  <a:srgbClr val="3366C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timely</a:t>
            </a: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 manner</a:t>
            </a:r>
          </a:p>
          <a:p>
            <a:pPr marL="457200" lvl="1" indent="0" algn="ctr">
              <a:spcBef>
                <a:spcPts val="1200"/>
              </a:spcBef>
              <a:buNone/>
            </a:pPr>
            <a: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Real-time </a:t>
            </a:r>
            <a: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</a:t>
            </a:r>
            <a: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system must respond to events </a:t>
            </a:r>
            <a:b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1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within strict timing constraints</a:t>
            </a:r>
          </a:p>
          <a:p>
            <a:pPr lvl="1">
              <a:spcBef>
                <a:spcPts val="18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some have OS  –  some perform tasks without an OS</a:t>
            </a:r>
          </a:p>
          <a:p>
            <a:pPr lvl="1">
              <a:spcBef>
                <a:spcPts val="6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typical applications  : 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automotive,  consumer electronics,  aerospace, 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industrial control,  medical devices, 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0"/>
              </a:spcBef>
            </a:pPr>
            <a:r>
              <a:rPr lang="en-US" sz="2300" dirty="0">
                <a:latin typeface="Calibri" panose="020F0502020204030204" pitchFamily="34" charset="0"/>
                <a:cs typeface="Calibri" panose="020F0502020204030204" pitchFamily="34" charset="0"/>
              </a:rPr>
              <a:t>RTOS provide precise control over task execution</a:t>
            </a:r>
          </a:p>
          <a:p>
            <a:pPr lvl="1">
              <a:spcBef>
                <a:spcPts val="1200"/>
              </a:spcBef>
            </a:pP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manage tasks, scheduling &amp; 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time constraints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processing </a:t>
            </a:r>
            <a:r>
              <a:rPr lang="en-US" altLang="en-US" sz="21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be done within given </a:t>
            </a:r>
            <a:r>
              <a:rPr lang="en-US" altLang="en-US" sz="2100" i="1" dirty="0">
                <a:solidFill>
                  <a:srgbClr val="00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constraints</a:t>
            </a:r>
          </a:p>
          <a:p>
            <a:pPr lvl="1">
              <a:spcBef>
                <a:spcPts val="600"/>
              </a:spcBef>
            </a:pPr>
            <a:r>
              <a:rPr lang="en-US" alt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correct operation only if constraints met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EB908BA-308B-EB27-7789-7D54FE808720}"/>
              </a:ext>
            </a:extLst>
          </p:cNvPr>
          <p:cNvSpPr txBox="1">
            <a:spLocks/>
          </p:cNvSpPr>
          <p:nvPr/>
        </p:nvSpPr>
        <p:spPr bwMode="auto">
          <a:xfrm>
            <a:off x="8588829" y="6389912"/>
            <a:ext cx="413657" cy="37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fld id="{E2418860-B345-4524-9314-FE51DF6E4AD1}" type="slidenum">
              <a:rPr lang="en-US" altLang="en-PK" sz="1400" smtClean="0">
                <a:solidFill>
                  <a:schemeClr val="tx1"/>
                </a:solidFill>
              </a:rPr>
              <a:pPr/>
              <a:t>64</a:t>
            </a:fld>
            <a:endParaRPr lang="en-US" altLang="en-US" sz="1400" dirty="0">
              <a:solidFill>
                <a:schemeClr val="tx1"/>
              </a:solidFill>
              <a:latin typeface="Tahoma" panose="020B060403050404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31064</TotalTime>
  <Words>3791</Words>
  <Application>Microsoft Office PowerPoint</Application>
  <PresentationFormat>On-screen Show (4:3)</PresentationFormat>
  <Paragraphs>650</Paragraphs>
  <Slides>64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8" baseType="lpstr">
      <vt:lpstr>Abadi</vt:lpstr>
      <vt:lpstr>Arial</vt:lpstr>
      <vt:lpstr>Calibri</vt:lpstr>
      <vt:lpstr>Comic Sans MS</vt:lpstr>
      <vt:lpstr>Gill Sans MT</vt:lpstr>
      <vt:lpstr>Helvetica</vt:lpstr>
      <vt:lpstr>Söhne</vt:lpstr>
      <vt:lpstr>Tahoma</vt:lpstr>
      <vt:lpstr>Times New Roman</vt:lpstr>
      <vt:lpstr>Verdana</vt:lpstr>
      <vt:lpstr>Webdings</vt:lpstr>
      <vt:lpstr>Wingdings</vt:lpstr>
      <vt:lpstr>Wingdings 2</vt:lpstr>
      <vt:lpstr>os-8</vt:lpstr>
      <vt:lpstr>PowerPoint Presentation</vt:lpstr>
      <vt:lpstr>Instructor</vt:lpstr>
      <vt:lpstr>Introduction</vt:lpstr>
      <vt:lpstr>Course Contents</vt:lpstr>
      <vt:lpstr>Course Contents</vt:lpstr>
      <vt:lpstr>Course Contents</vt:lpstr>
      <vt:lpstr>Course Contents</vt:lpstr>
      <vt:lpstr>Course Contents</vt:lpstr>
      <vt:lpstr>Course Learning Outcomes</vt:lpstr>
      <vt:lpstr>Books Recommended</vt:lpstr>
      <vt:lpstr>Course Methodology</vt:lpstr>
      <vt:lpstr>Grading Policy</vt:lpstr>
      <vt:lpstr>Academic Honesty</vt:lpstr>
      <vt:lpstr>PowerPoint Presentation</vt:lpstr>
      <vt:lpstr>PowerPoint Presentation</vt:lpstr>
      <vt:lpstr>Lecture Outline</vt:lpstr>
      <vt:lpstr>What is an Operating System</vt:lpstr>
      <vt:lpstr>What is an ‘OS’</vt:lpstr>
      <vt:lpstr>What is an ‘OS’</vt:lpstr>
      <vt:lpstr>OS – an Abstraction</vt:lpstr>
      <vt:lpstr>OS – an Abstraction</vt:lpstr>
      <vt:lpstr>OS – an Abstraction</vt:lpstr>
      <vt:lpstr>Operating System Definition</vt:lpstr>
      <vt:lpstr>Why do we Need an OS</vt:lpstr>
      <vt:lpstr>Name some OS!</vt:lpstr>
      <vt:lpstr>PowerPoint Presentation</vt:lpstr>
      <vt:lpstr>Computer System Organization</vt:lpstr>
      <vt:lpstr>Computer System Organization</vt:lpstr>
      <vt:lpstr>Computer System Organization</vt:lpstr>
      <vt:lpstr>Interrupt Handling</vt:lpstr>
      <vt:lpstr>Instruction Execution</vt:lpstr>
      <vt:lpstr>Sample Instruction</vt:lpstr>
      <vt:lpstr>Instruction Execution Cycle</vt:lpstr>
      <vt:lpstr>Storage Structure</vt:lpstr>
      <vt:lpstr>Storage Structure</vt:lpstr>
      <vt:lpstr>Storage Hierarchy</vt:lpstr>
      <vt:lpstr>PC Motherboard</vt:lpstr>
      <vt:lpstr>Computer Startup</vt:lpstr>
      <vt:lpstr>System Boot Simulation</vt:lpstr>
      <vt:lpstr>PowerPoint Presentation</vt:lpstr>
      <vt:lpstr>Computer System Architecture</vt:lpstr>
      <vt:lpstr>Computer System Architecture</vt:lpstr>
      <vt:lpstr>Symmetric Multiprocessing Architecture</vt:lpstr>
      <vt:lpstr>Dual Core Design</vt:lpstr>
      <vt:lpstr>Non-Uniform Memory Access System</vt:lpstr>
      <vt:lpstr>Clustered Systems</vt:lpstr>
      <vt:lpstr>Clustered Systems</vt:lpstr>
      <vt:lpstr>Modes of Operation of an OS</vt:lpstr>
      <vt:lpstr>Multiprogramming</vt:lpstr>
      <vt:lpstr>Memory Layout - Multiprogramming</vt:lpstr>
      <vt:lpstr>Multitasking (Timesharing)</vt:lpstr>
      <vt:lpstr>Issue in Multiprograming / Multitasking</vt:lpstr>
      <vt:lpstr>PowerPoint Presentation</vt:lpstr>
      <vt:lpstr>Computing Environments</vt:lpstr>
      <vt:lpstr>Traditional Systems</vt:lpstr>
      <vt:lpstr>Distributed Systems</vt:lpstr>
      <vt:lpstr>Client Server</vt:lpstr>
      <vt:lpstr>Peer to Peer</vt:lpstr>
      <vt:lpstr>Mobile Computing</vt:lpstr>
      <vt:lpstr>Virtualization</vt:lpstr>
      <vt:lpstr>Virtualization</vt:lpstr>
      <vt:lpstr>PowerPoint Presentation</vt:lpstr>
      <vt:lpstr>Cloud Computing</vt:lpstr>
      <vt:lpstr>Real-Time Embedded Systems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naumaz</cp:lastModifiedBy>
  <cp:revision>707</cp:revision>
  <cp:lastPrinted>2001-06-14T13:58:17Z</cp:lastPrinted>
  <dcterms:created xsi:type="dcterms:W3CDTF">2011-01-13T23:43:38Z</dcterms:created>
  <dcterms:modified xsi:type="dcterms:W3CDTF">2025-10-06T06:40:38Z</dcterms:modified>
</cp:coreProperties>
</file>