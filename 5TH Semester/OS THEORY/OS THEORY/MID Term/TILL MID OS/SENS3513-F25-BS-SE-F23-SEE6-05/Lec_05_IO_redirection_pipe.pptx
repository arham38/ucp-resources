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6"/>
  </p:notesMasterIdLst>
  <p:handoutMasterIdLst>
    <p:handoutMasterId r:id="rId67"/>
  </p:handoutMasterIdLst>
  <p:sldIdLst>
    <p:sldId id="256" r:id="rId2"/>
    <p:sldId id="348" r:id="rId3"/>
    <p:sldId id="627" r:id="rId4"/>
    <p:sldId id="598" r:id="rId5"/>
    <p:sldId id="603" r:id="rId6"/>
    <p:sldId id="604" r:id="rId7"/>
    <p:sldId id="606" r:id="rId8"/>
    <p:sldId id="607" r:id="rId9"/>
    <p:sldId id="608" r:id="rId10"/>
    <p:sldId id="599" r:id="rId11"/>
    <p:sldId id="650" r:id="rId12"/>
    <p:sldId id="600" r:id="rId13"/>
    <p:sldId id="421" r:id="rId14"/>
    <p:sldId id="651" r:id="rId15"/>
    <p:sldId id="673" r:id="rId16"/>
    <p:sldId id="609" r:id="rId17"/>
    <p:sldId id="610" r:id="rId18"/>
    <p:sldId id="611" r:id="rId19"/>
    <p:sldId id="612" r:id="rId20"/>
    <p:sldId id="613" r:id="rId21"/>
    <p:sldId id="628" r:id="rId22"/>
    <p:sldId id="629" r:id="rId23"/>
    <p:sldId id="643" r:id="rId24"/>
    <p:sldId id="631" r:id="rId25"/>
    <p:sldId id="657" r:id="rId26"/>
    <p:sldId id="658" r:id="rId27"/>
    <p:sldId id="661" r:id="rId28"/>
    <p:sldId id="654" r:id="rId29"/>
    <p:sldId id="663" r:id="rId30"/>
    <p:sldId id="664" r:id="rId31"/>
    <p:sldId id="518" r:id="rId32"/>
    <p:sldId id="666" r:id="rId33"/>
    <p:sldId id="512" r:id="rId34"/>
    <p:sldId id="667" r:id="rId35"/>
    <p:sldId id="617" r:id="rId36"/>
    <p:sldId id="432" r:id="rId37"/>
    <p:sldId id="578" r:id="rId38"/>
    <p:sldId id="586" r:id="rId39"/>
    <p:sldId id="579" r:id="rId40"/>
    <p:sldId id="587" r:id="rId41"/>
    <p:sldId id="668" r:id="rId42"/>
    <p:sldId id="648" r:id="rId43"/>
    <p:sldId id="633" r:id="rId44"/>
    <p:sldId id="635" r:id="rId45"/>
    <p:sldId id="669" r:id="rId46"/>
    <p:sldId id="544" r:id="rId47"/>
    <p:sldId id="649" r:id="rId48"/>
    <p:sldId id="546" r:id="rId49"/>
    <p:sldId id="618" r:id="rId50"/>
    <p:sldId id="450" r:id="rId51"/>
    <p:sldId id="674" r:id="rId52"/>
    <p:sldId id="589" r:id="rId53"/>
    <p:sldId id="647" r:id="rId54"/>
    <p:sldId id="675" r:id="rId55"/>
    <p:sldId id="670" r:id="rId56"/>
    <p:sldId id="671" r:id="rId57"/>
    <p:sldId id="672" r:id="rId58"/>
    <p:sldId id="676" r:id="rId59"/>
    <p:sldId id="496" r:id="rId60"/>
    <p:sldId id="682" r:id="rId61"/>
    <p:sldId id="497" r:id="rId62"/>
    <p:sldId id="677" r:id="rId63"/>
    <p:sldId id="498" r:id="rId64"/>
    <p:sldId id="681" r:id="rId6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3300"/>
    <a:srgbClr val="66CCFF"/>
    <a:srgbClr val="800000"/>
    <a:srgbClr val="6633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3792" autoAdjust="0"/>
  </p:normalViewPr>
  <p:slideViewPr>
    <p:cSldViewPr snapToGrid="0">
      <p:cViewPr varScale="1">
        <p:scale>
          <a:sx n="58" d="100"/>
          <a:sy n="58" d="100"/>
        </p:scale>
        <p:origin x="1472" y="4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7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76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5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90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921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687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60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22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98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4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8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21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043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00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373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228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348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923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4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095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89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373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65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565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433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557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23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7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5648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889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6217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162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Collaboration allows faults to propagate…</a:t>
            </a:r>
          </a:p>
        </p:txBody>
      </p:sp>
    </p:spTree>
    <p:extLst>
      <p:ext uri="{BB962C8B-B14F-4D97-AF65-F5344CB8AC3E}">
        <p14:creationId xmlns:p14="http://schemas.microsoft.com/office/powerpoint/2010/main" val="1735729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897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Collaboration allows faults to propagate…</a:t>
            </a:r>
          </a:p>
        </p:txBody>
      </p:sp>
    </p:spTree>
    <p:extLst>
      <p:ext uri="{BB962C8B-B14F-4D97-AF65-F5344CB8AC3E}">
        <p14:creationId xmlns:p14="http://schemas.microsoft.com/office/powerpoint/2010/main" val="17061986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Collaboration allows faults to propagate…</a:t>
            </a:r>
          </a:p>
        </p:txBody>
      </p:sp>
    </p:spTree>
    <p:extLst>
      <p:ext uri="{BB962C8B-B14F-4D97-AF65-F5344CB8AC3E}">
        <p14:creationId xmlns:p14="http://schemas.microsoft.com/office/powerpoint/2010/main" val="8106694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DFA0EF3-FF41-0358-9681-30C87F1F816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eaLnBrk="1" hangingPunct="1"/>
            <a:fld id="{4458D57F-74BD-4EF1-A6B2-80F782F8126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3D0F662-155E-E7C4-B96D-BE27B3B547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0162" cy="3832225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616D136-D5D6-E154-915B-21337D0F5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813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5136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20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6469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562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Collaboration allows faults to propagate…</a:t>
            </a:r>
          </a:p>
        </p:txBody>
      </p:sp>
    </p:spTree>
    <p:extLst>
      <p:ext uri="{BB962C8B-B14F-4D97-AF65-F5344CB8AC3E}">
        <p14:creationId xmlns:p14="http://schemas.microsoft.com/office/powerpoint/2010/main" val="4017654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920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365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002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5459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35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63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38AA6B-8B83-46B1-9A6E-00FA4154E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F978D44-4AC2-455B-BA58-C9B7F48E1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3955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E6962208-A29D-4A10-9198-5929731D8B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DBB8E9B-EDCD-470E-8881-2446C348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44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  <a:endParaRPr lang="en-US" altLang="en-US" sz="1800" dirty="0">
              <a:solidFill>
                <a:srgbClr val="008000"/>
              </a:solidFill>
              <a:latin typeface="Gill Sans MT" panose="020B0502020104020203" pitchFamily="34" charset="0"/>
            </a:endParaRP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 - 3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838C557-FE18-4536-BEF7-BBF21B888B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4018" y="1143623"/>
            <a:ext cx="7666038" cy="5087058"/>
          </a:xfrm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 Process Communication</a:t>
            </a:r>
          </a:p>
          <a:p>
            <a:pPr marL="0" indent="0" algn="ctr">
              <a:spcBef>
                <a:spcPts val="600"/>
              </a:spcBef>
              <a:buNone/>
            </a:pPr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Management in Linux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open(), read(), write(), close() system calls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PPFDT, SWFT  &amp;  </a:t>
            </a: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Table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redirection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redirecting standard input, output &amp; error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redirection in shell &amp; C programs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dup(), dup2() system calls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IPC Methods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 passing, Shared memory 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Pipes, FIFOs, Sockets</a:t>
            </a:r>
          </a:p>
          <a:p>
            <a:pPr lvl="1"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Pipes / FIFOs in shell &amp; C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828" y="2276817"/>
            <a:ext cx="8606971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File Management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84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File Management in Unix/Linux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1412D98-4925-394A-6722-1871F3679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2" y="1047523"/>
            <a:ext cx="8632370" cy="564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spcBef>
                <a:spcPts val="600"/>
              </a:spcBef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Unix, all I/O devices represented as files in 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/dev </a:t>
            </a: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directory</a:t>
            </a:r>
          </a:p>
          <a:p>
            <a:pPr marL="342900" lvl="1" indent="-342900" hangingPunct="0">
              <a:spcBef>
                <a:spcPts val="1800"/>
              </a:spcBef>
              <a:buFont typeface="Wingdings" panose="05000000000000000000" pitchFamily="2" charset="2"/>
              <a:buChar char="§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open ( pathname, flags, mode ) </a:t>
            </a:r>
          </a:p>
          <a:p>
            <a:pPr marL="0" lvl="1">
              <a:spcBef>
                <a:spcPts val="12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  (opens a file &amp; returns a file descriptor) </a:t>
            </a:r>
          </a:p>
          <a:p>
            <a:pPr marL="631825" lvl="1" indent="-284163" defTabSz="941388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 	: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integer returned by call, used to refer to file in calls</a:t>
            </a:r>
          </a:p>
          <a:p>
            <a:pPr marL="631825" lvl="1" indent="-284163" defTabSz="94138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pathname :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identifies file name &amp; path</a:t>
            </a:r>
          </a:p>
          <a:p>
            <a:pPr marL="631825" lvl="1" indent="-284163" defTabSz="6270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flags 		: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file to be opened for read, write, or both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	      or to append, truncate, or create</a:t>
            </a:r>
          </a:p>
          <a:p>
            <a:pPr marL="631825" lvl="1" indent="-284163" defTabSz="94138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 	: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file permissions for user, group, &amp; others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	      allow access to read, write, or execute</a:t>
            </a:r>
          </a:p>
          <a:p>
            <a:pPr marL="233362" indent="-342900"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If file doesn’t exist, can be created, depends on settings of flags bit</a:t>
            </a:r>
          </a:p>
          <a:p>
            <a:pPr marL="233362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If call not used to create file, mode can be omitted </a:t>
            </a:r>
          </a:p>
        </p:txBody>
      </p:sp>
    </p:spTree>
    <p:extLst>
      <p:ext uri="{BB962C8B-B14F-4D97-AF65-F5344CB8AC3E}">
        <p14:creationId xmlns:p14="http://schemas.microsoft.com/office/powerpoint/2010/main" val="134800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File Management in Unix/Linux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1412D98-4925-394A-6722-1871F3679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888" y="1112839"/>
            <a:ext cx="8632370" cy="560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lvl="1" indent="-342900" hangingPunct="0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numread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read (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buffer, count ) </a:t>
            </a:r>
          </a:p>
          <a:p>
            <a:pPr marL="631825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reads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upto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bytes, from open file </a:t>
            </a:r>
            <a:r>
              <a:rPr lang="en-US" sz="22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&amp; stores in 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</a:t>
            </a:r>
          </a:p>
          <a:p>
            <a:pPr marL="631825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returns number of bytes read;    -1 on error &amp; sets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errno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1825" lvl="1" indent="-2841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returns 0 on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eof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hangingPunct="0">
              <a:spcBef>
                <a:spcPts val="2400"/>
              </a:spcBef>
              <a:buFont typeface="Wingdings" panose="05000000000000000000" pitchFamily="2" charset="2"/>
              <a:buChar char="§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numwritten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write (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buffer, count ) </a:t>
            </a:r>
          </a:p>
          <a:p>
            <a:pPr marL="685800" lvl="2" indent="-342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writes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upto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bytes, to open file </a:t>
            </a:r>
            <a:r>
              <a:rPr lang="en-US" sz="22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</a:t>
            </a:r>
          </a:p>
          <a:p>
            <a:pPr marL="685800" lvl="2" indent="-342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returns number of bytes written;    -1 on error &amp; sets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errno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1" indent="-342900" hangingPunct="0">
              <a:spcBef>
                <a:spcPts val="2400"/>
              </a:spcBef>
              <a:buFont typeface="Wingdings" panose="05000000000000000000" pitchFamily="2" charset="2"/>
              <a:buChar char="§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 = close (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) </a:t>
            </a:r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releases file descriptor </a:t>
            </a:r>
            <a:r>
              <a:rPr lang="en-US" sz="22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&amp; associated kernel resources</a:t>
            </a:r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returns 0 on success;    -1 on error &amp; sets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errno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called after I/O completed</a:t>
            </a:r>
          </a:p>
        </p:txBody>
      </p:sp>
    </p:spTree>
    <p:extLst>
      <p:ext uri="{BB962C8B-B14F-4D97-AF65-F5344CB8AC3E}">
        <p14:creationId xmlns:p14="http://schemas.microsoft.com/office/powerpoint/2010/main" val="27164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sz="3200" b="1" dirty="0"/>
              <a:t>Standard Descriptors in Unix/Linux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A9C15-F09E-1EC3-5DB5-BA47AF1E05CA}"/>
              </a:ext>
            </a:extLst>
          </p:cNvPr>
          <p:cNvSpPr txBox="1">
            <a:spLocks noChangeArrowheads="1"/>
          </p:cNvSpPr>
          <p:nvPr/>
        </p:nvSpPr>
        <p:spPr>
          <a:xfrm>
            <a:off x="359226" y="1093721"/>
            <a:ext cx="8643260" cy="56612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Three 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file descriptors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automatically opened for every process </a:t>
            </a:r>
            <a:endParaRPr lang="en-US" sz="22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775" lvl="1" indent="-282575">
              <a:spcBef>
                <a:spcPts val="2400"/>
              </a:spcBef>
              <a:buFont typeface="Arial" pitchFamily="34" charset="0"/>
              <a:buChar char="•"/>
              <a:defRPr/>
            </a:pPr>
            <a:r>
              <a:rPr lang="en-US" sz="24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0 – </a:t>
            </a:r>
            <a:r>
              <a:rPr lang="en-US" sz="24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	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(read from stdin)</a:t>
            </a:r>
          </a:p>
          <a:p>
            <a:pPr marL="747713" lvl="2">
              <a:spcBef>
                <a:spcPts val="600"/>
              </a:spcBef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default input stream for a process – 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keyboard </a:t>
            </a:r>
            <a:endParaRPr lang="en-US" sz="2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9775" lvl="1" indent="-282575">
              <a:spcBef>
                <a:spcPts val="2400"/>
              </a:spcBef>
              <a:buFont typeface="Arial" pitchFamily="34" charset="0"/>
              <a:buChar char="•"/>
              <a:defRPr/>
            </a:pPr>
            <a:r>
              <a:rPr lang="en-US" sz="24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– </a:t>
            </a:r>
            <a:r>
              <a:rPr lang="en-US" sz="2400" b="1" i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4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(write to 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stdout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7713" lvl="1">
              <a:spcBef>
                <a:spcPts val="600"/>
              </a:spcBef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default output stream for a process – 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terminal 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9775" lvl="1" indent="-282575">
              <a:spcBef>
                <a:spcPts val="2400"/>
              </a:spcBef>
              <a:buFont typeface="Arial" pitchFamily="34" charset="0"/>
              <a:buChar char="•"/>
              <a:defRPr/>
            </a:pPr>
            <a:r>
              <a:rPr lang="en-US" sz="2400" b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– </a:t>
            </a:r>
            <a:r>
              <a:rPr lang="en-US" sz="24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stderr	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(write error to stderr)</a:t>
            </a:r>
          </a:p>
          <a:p>
            <a:pPr marL="747713" lvl="1">
              <a:spcBef>
                <a:spcPts val="600"/>
              </a:spcBef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default output stream for error messages –  </a:t>
            </a:r>
            <a:r>
              <a:rPr lang="en-US" sz="2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terminal 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 algn="ctr">
              <a:lnSpc>
                <a:spcPct val="110000"/>
              </a:lnSpc>
              <a:spcBef>
                <a:spcPts val="1800"/>
              </a:spcBef>
              <a:defRPr/>
            </a:pP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“standard descriptors can be redirected to allow I/O </a:t>
            </a:r>
            <a:b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&amp; from other sources”</a:t>
            </a:r>
          </a:p>
          <a:p>
            <a:pPr marL="457200" marR="0" lvl="0" indent="-45720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62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Examples </a:t>
            </a:r>
            <a:r>
              <a:rPr lang="mr-IN" dirty="0"/>
              <a:t>–</a:t>
            </a:r>
            <a:r>
              <a:rPr lang="en-US" dirty="0"/>
              <a:t> File Handling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3B5EEE6-A48B-EABA-B82B-3BBBDC39DF36}"/>
              </a:ext>
            </a:extLst>
          </p:cNvPr>
          <p:cNvSpPr txBox="1">
            <a:spLocks noChangeArrowheads="1"/>
          </p:cNvSpPr>
          <p:nvPr/>
        </p:nvSpPr>
        <p:spPr>
          <a:xfrm>
            <a:off x="596439" y="1172380"/>
            <a:ext cx="8153400" cy="2130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Courier New" panose="02070309020205020404" pitchFamily="49" charset="0"/>
                <a:ea typeface="NSimSun" panose="02010609030101010101" pitchFamily="49" charset="-122"/>
                <a:cs typeface="Courier New" panose="02070309020205020404" pitchFamily="49" charset="0"/>
              </a:rPr>
              <a:t>int main () {   </a:t>
            </a: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Courier New" panose="02070309020205020404" pitchFamily="49" charset="0"/>
                <a:ea typeface="NSimSun" panose="02010609030101010101" pitchFamily="49" charset="-122"/>
                <a:cs typeface="Courier New" panose="02070309020205020404" pitchFamily="49" charset="0"/>
              </a:rPr>
              <a:t>	char buff [256];   </a:t>
            </a: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Courier New" panose="02070309020205020404" pitchFamily="49" charset="0"/>
                <a:ea typeface="NSimSun" panose="02010609030101010101" pitchFamily="49" charset="-122"/>
                <a:cs typeface="Courier New" panose="02070309020205020404" pitchFamily="49" charset="0"/>
              </a:rPr>
              <a:t>	read (0, buff, 255);   </a:t>
            </a: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Courier New" panose="02070309020205020404" pitchFamily="49" charset="0"/>
                <a:ea typeface="NSimSun" panose="02010609030101010101" pitchFamily="49" charset="-122"/>
                <a:cs typeface="Courier New" panose="02070309020205020404" pitchFamily="49" charset="0"/>
              </a:rPr>
              <a:t>	write (1, buff, 255);    </a:t>
            </a: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000" b="1" dirty="0">
                <a:latin typeface="Courier New" panose="02070309020205020404" pitchFamily="49" charset="0"/>
                <a:ea typeface="NSimSun" panose="02010609030101010101" pitchFamily="49" charset="-122"/>
                <a:cs typeface="Courier New" panose="02070309020205020404" pitchFamily="49" charset="0"/>
              </a:rPr>
              <a:t>	return 0;    }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FD3E44-65A7-EAC9-CE91-4850AA31690D}"/>
              </a:ext>
            </a:extLst>
          </p:cNvPr>
          <p:cNvSpPr txBox="1">
            <a:spLocks noChangeArrowheads="1"/>
          </p:cNvSpPr>
          <p:nvPr/>
        </p:nvSpPr>
        <p:spPr>
          <a:xfrm>
            <a:off x="596439" y="3593108"/>
            <a:ext cx="8153400" cy="27968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>
            <a:defPPr>
              <a:defRPr lang="en-US"/>
            </a:defPPr>
            <a:lvl1pPr marL="342900" lvl="0" indent="-342900">
              <a:lnSpc>
                <a:spcPct val="110000"/>
              </a:lnSpc>
              <a:spcBef>
                <a:spcPts val="0"/>
              </a:spcBef>
              <a:defRPr sz="2300" b="1">
                <a:latin typeface="Perpetua" panose="02020502060401020303" pitchFamily="18" charset="0"/>
                <a:ea typeface="NSimSun" panose="02010609030101010101" pitchFamily="49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int main () {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char buff [256];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while (1) {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	int n = read (0, buff, 255);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	write (1, buff, n); 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}   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Courier New" panose="02070309020205020404" pitchFamily="49" charset="0"/>
              </a:rPr>
              <a:t>	return 0;    }</a:t>
            </a:r>
          </a:p>
        </p:txBody>
      </p:sp>
    </p:spTree>
    <p:extLst>
      <p:ext uri="{BB962C8B-B14F-4D97-AF65-F5344CB8AC3E}">
        <p14:creationId xmlns:p14="http://schemas.microsoft.com/office/powerpoint/2010/main" val="19329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Examples </a:t>
            </a:r>
            <a:r>
              <a:rPr lang="mr-IN" dirty="0"/>
              <a:t>–</a:t>
            </a:r>
            <a:r>
              <a:rPr lang="en-US" dirty="0"/>
              <a:t> File Handling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37EDD48-DC49-6256-5458-854064D25A68}"/>
              </a:ext>
            </a:extLst>
          </p:cNvPr>
          <p:cNvSpPr txBox="1">
            <a:spLocks noChangeArrowheads="1"/>
          </p:cNvSpPr>
          <p:nvPr/>
        </p:nvSpPr>
        <p:spPr>
          <a:xfrm>
            <a:off x="722811" y="1114151"/>
            <a:ext cx="7866017" cy="54633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int main()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{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char buff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[2000];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int fd = open ("/etc/passwd",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O_RDONLY);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int n;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for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(;;){   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n =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read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(fd, 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buff, 1000);   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if (n &lt;= 0)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{      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close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(fd);	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	exit (-n)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;   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   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write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(1, buff,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n);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   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return 0;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mr-IN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</a:t>
            </a: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49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Examples </a:t>
            </a:r>
            <a:r>
              <a:rPr lang="mr-IN" dirty="0"/>
              <a:t>–</a:t>
            </a:r>
            <a:r>
              <a:rPr lang="en-US" dirty="0"/>
              <a:t> File Handling</a:t>
            </a:r>
            <a:endParaRPr lang="en-US" alt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FE70836-C26C-3E53-5B27-D5B49D96D2F4}"/>
              </a:ext>
            </a:extLst>
          </p:cNvPr>
          <p:cNvSpPr txBox="1">
            <a:spLocks noChangeArrowheads="1"/>
          </p:cNvSpPr>
          <p:nvPr/>
        </p:nvSpPr>
        <p:spPr>
          <a:xfrm>
            <a:off x="320036" y="1105989"/>
            <a:ext cx="8823964" cy="5344883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lvl="0" indent="-342900">
              <a:spcBef>
                <a:spcPts val="0"/>
              </a:spcBef>
              <a:defRPr/>
            </a:pP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(){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;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char buff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[1024];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int fd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open("file.txt",O_CREAT|O_TRUNC|O_RDWR,</a:t>
            </a:r>
            <a:br>
              <a:rPr lang="en-US" sz="2200" b="1" dirty="0">
                <a:latin typeface="Courier New" pitchFamily="49" charset="0"/>
                <a:cs typeface="Courier New" pitchFamily="49" charset="0"/>
              </a:rPr>
            </a:b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0666);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mr-IN" sz="22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(;;){  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n = read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(0, buff, 1023);  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&lt;=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0){     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("Error in readin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g...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\</a:t>
            </a:r>
            <a:r>
              <a:rPr lang="mr-IN" sz="2200" b="1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");	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close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(fd);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exit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(-n);  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}   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write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(fd, buff, n);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}   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spcBef>
                <a:spcPts val="0"/>
              </a:spcBef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return 0;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mr-IN" sz="22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59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Descriptor to File Contents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A9C15-F09E-1EC3-5DB5-BA47AF1E05CA}"/>
              </a:ext>
            </a:extLst>
          </p:cNvPr>
          <p:cNvSpPr txBox="1">
            <a:spLocks noChangeArrowheads="1"/>
          </p:cNvSpPr>
          <p:nvPr/>
        </p:nvSpPr>
        <p:spPr>
          <a:xfrm>
            <a:off x="390432" y="1088573"/>
            <a:ext cx="8577944" cy="5709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algn="ctr" eaLnBrk="1" fontAlgn="auto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descriptor – integer returned by open() system call</a:t>
            </a:r>
          </a:p>
          <a:p>
            <a:pPr marL="342900" indent="-342900" eaLnBrk="1" fontAlgn="auto" hangingPunct="1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Process File Descriptor Table – PPFDT  </a:t>
            </a:r>
          </a:p>
          <a:p>
            <a:pPr marL="800100" lvl="1" indent="-342900" eaLnBrk="1" fontAlgn="auto" hangingPunct="1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each process in UNIX has its own PPFDT</a:t>
            </a:r>
          </a:p>
          <a:p>
            <a:pPr marL="800100" lvl="1" indent="-342900" eaLnBrk="1" fontAlgn="auto" hangingPunct="1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has entries for all open files</a:t>
            </a:r>
          </a:p>
          <a:p>
            <a:pPr marL="800100" lvl="1" indent="-342900" eaLnBrk="1" fontAlgn="auto" hangingPunct="1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table uses file descriptor as index</a:t>
            </a:r>
          </a:p>
          <a:p>
            <a:pPr marL="800100" lvl="1" indent="-342900" eaLnBrk="1" fontAlgn="auto" hangingPunct="1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table size equals the max number of file descriptors a process 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is allowed to open </a:t>
            </a:r>
            <a:r>
              <a:rPr lang="en-US" sz="21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1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Openmax</a:t>
            </a:r>
            <a:r>
              <a:rPr lang="en-US" sz="21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800100" lvl="1" indent="-34290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child process inherits copy of PPFDT from parent </a:t>
            </a:r>
            <a:b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1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(child has access to same files &amp; I/O resources) </a:t>
            </a:r>
          </a:p>
          <a:p>
            <a:pPr marL="800100" lvl="1" indent="-34290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when process exits, PPFDT is cleaned up</a:t>
            </a:r>
          </a:p>
          <a:p>
            <a:pPr marL="800100" lvl="1" indent="-34290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PPFDT has pointer to another table </a:t>
            </a:r>
            <a:r>
              <a:rPr lang="en-US" sz="2300" b="1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Wide File Table</a:t>
            </a:r>
          </a:p>
        </p:txBody>
      </p:sp>
    </p:spTree>
    <p:extLst>
      <p:ext uri="{BB962C8B-B14F-4D97-AF65-F5344CB8AC3E}">
        <p14:creationId xmlns:p14="http://schemas.microsoft.com/office/powerpoint/2010/main" val="384229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Descriptor to File Contents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A9C15-F09E-1EC3-5DB5-BA47AF1E05CA}"/>
              </a:ext>
            </a:extLst>
          </p:cNvPr>
          <p:cNvSpPr txBox="1">
            <a:spLocks noChangeArrowheads="1"/>
          </p:cNvSpPr>
          <p:nvPr/>
        </p:nvSpPr>
        <p:spPr>
          <a:xfrm>
            <a:off x="348340" y="1087322"/>
            <a:ext cx="8719458" cy="5614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7663" lvl="0" indent="-347663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Wide File Table – SWFT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one entry for each open file, in entire system</a:t>
            </a:r>
            <a:endParaRPr lang="en-US" sz="2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process opens a file… 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OS allocates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descriptor,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adds entry to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PPFDT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updates SWFT with relevant info,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 count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multiple entries if same file opened by more processes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SWFT points to another table 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</a:p>
          <a:p>
            <a:pPr marL="347663" lvl="0" indent="-347663">
              <a:spcBef>
                <a:spcPts val="24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r>
              <a:rPr lang="en-US" sz="23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Table  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contains a unique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for every file on disk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inode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data structure that contains…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file metadata 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(type, permissions, owner, size)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pointers to </a:t>
            </a:r>
            <a:r>
              <a:rPr lang="en-US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blocks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on disk 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(where file content is stored)</a:t>
            </a:r>
          </a:p>
        </p:txBody>
      </p:sp>
    </p:spTree>
    <p:extLst>
      <p:ext uri="{BB962C8B-B14F-4D97-AF65-F5344CB8AC3E}">
        <p14:creationId xmlns:p14="http://schemas.microsoft.com/office/powerpoint/2010/main" val="409159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Descriptor to File Contents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D94E5F-F06D-9C2A-4BA9-AC0F3FCD8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102660"/>
              </p:ext>
            </p:extLst>
          </p:nvPr>
        </p:nvGraphicFramePr>
        <p:xfrm>
          <a:off x="639751" y="2430083"/>
          <a:ext cx="1375107" cy="2832096"/>
        </p:xfrm>
        <a:graphic>
          <a:graphicData uri="http://schemas.openxmlformats.org/drawingml/2006/table">
            <a:tbl>
              <a:tblPr/>
              <a:tblGrid>
                <a:gridCol w="695554">
                  <a:extLst>
                    <a:ext uri="{9D8B030D-6E8A-4147-A177-3AD203B41FA5}">
                      <a16:colId xmlns:a16="http://schemas.microsoft.com/office/drawing/2014/main" val="4187110124"/>
                    </a:ext>
                  </a:extLst>
                </a:gridCol>
                <a:gridCol w="679553">
                  <a:extLst>
                    <a:ext uri="{9D8B030D-6E8A-4147-A177-3AD203B41FA5}">
                      <a16:colId xmlns:a16="http://schemas.microsoft.com/office/drawing/2014/main" val="3005165749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4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4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4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4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4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65161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643570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8577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721697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96603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77347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0988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2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6942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971BC8-01CA-496F-11DA-A68E96DFC164}"/>
              </a:ext>
            </a:extLst>
          </p:cNvPr>
          <p:cNvSpPr txBox="1"/>
          <p:nvPr/>
        </p:nvSpPr>
        <p:spPr>
          <a:xfrm>
            <a:off x="888251" y="2089669"/>
            <a:ext cx="753365" cy="288902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sz="1400" b="1" dirty="0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65585-36A7-1F0F-FECF-516C4061B1CD}"/>
              </a:ext>
            </a:extLst>
          </p:cNvPr>
          <p:cNvSpPr txBox="1"/>
          <p:nvPr/>
        </p:nvSpPr>
        <p:spPr>
          <a:xfrm>
            <a:off x="413303" y="2951960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0514A-D112-0ECB-395D-5DC9D6792DD8}"/>
              </a:ext>
            </a:extLst>
          </p:cNvPr>
          <p:cNvSpPr txBox="1"/>
          <p:nvPr/>
        </p:nvSpPr>
        <p:spPr>
          <a:xfrm>
            <a:off x="413630" y="3302466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ABED7-0CD0-7D69-87C8-39C20570C3B0}"/>
              </a:ext>
            </a:extLst>
          </p:cNvPr>
          <p:cNvSpPr txBox="1"/>
          <p:nvPr/>
        </p:nvSpPr>
        <p:spPr>
          <a:xfrm>
            <a:off x="413956" y="3634826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F3ABF-C690-0981-B216-147B69A132BE}"/>
              </a:ext>
            </a:extLst>
          </p:cNvPr>
          <p:cNvSpPr txBox="1"/>
          <p:nvPr/>
        </p:nvSpPr>
        <p:spPr>
          <a:xfrm>
            <a:off x="414283" y="3975172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8DEA2-88D8-064B-CD31-FEC75354FC0F}"/>
              </a:ext>
            </a:extLst>
          </p:cNvPr>
          <p:cNvSpPr txBox="1"/>
          <p:nvPr/>
        </p:nvSpPr>
        <p:spPr>
          <a:xfrm>
            <a:off x="414609" y="4305358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215DC-1E80-30B1-2CCD-028537DDB438}"/>
              </a:ext>
            </a:extLst>
          </p:cNvPr>
          <p:cNvSpPr txBox="1"/>
          <p:nvPr/>
        </p:nvSpPr>
        <p:spPr>
          <a:xfrm>
            <a:off x="414936" y="4635544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FDE78F8-F45A-255F-EAC8-BFBBDE807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645721"/>
              </p:ext>
            </p:extLst>
          </p:nvPr>
        </p:nvGraphicFramePr>
        <p:xfrm>
          <a:off x="2552199" y="1572681"/>
          <a:ext cx="2223001" cy="3827424"/>
        </p:xfrm>
        <a:graphic>
          <a:graphicData uri="http://schemas.openxmlformats.org/drawingml/2006/table">
            <a:tbl>
              <a:tblPr/>
              <a:tblGrid>
                <a:gridCol w="695554">
                  <a:extLst>
                    <a:ext uri="{9D8B030D-6E8A-4147-A177-3AD203B41FA5}">
                      <a16:colId xmlns:a16="http://schemas.microsoft.com/office/drawing/2014/main" val="186884613"/>
                    </a:ext>
                  </a:extLst>
                </a:gridCol>
                <a:gridCol w="755287">
                  <a:extLst>
                    <a:ext uri="{9D8B030D-6E8A-4147-A177-3AD203B41FA5}">
                      <a16:colId xmlns:a16="http://schemas.microsoft.com/office/drawing/2014/main" val="1907437217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1807568876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4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offset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4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Status flags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400" b="1" i="0" u="none" strike="noStrike" kern="1200" dirty="0" err="1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Lohit Hindi" pitchFamily="2"/>
                        </a:rPr>
                        <a:t>Inode</a:t>
                      </a:r>
                      <a:r>
                        <a:rPr lang="en-US" sz="1400" b="1" i="0" u="none" strike="noStrike" kern="12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Lohit Hindi" pitchFamily="2"/>
                        </a:rPr>
                        <a:t> pointer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2787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85337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9228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762840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93924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9977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20357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90653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431174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21259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3438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4449D20-2B76-AF20-D830-48D5C75D1C2F}"/>
              </a:ext>
            </a:extLst>
          </p:cNvPr>
          <p:cNvSpPr txBox="1"/>
          <p:nvPr/>
        </p:nvSpPr>
        <p:spPr>
          <a:xfrm>
            <a:off x="2583822" y="1222106"/>
            <a:ext cx="2145221" cy="288902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sz="1400" b="1" dirty="0">
                <a:latin typeface="Liberation Sans" pitchFamily="18"/>
                <a:ea typeface="DejaVu Sans" pitchFamily="2"/>
                <a:cs typeface="Lohit Hindi" pitchFamily="2"/>
              </a:rPr>
              <a:t>System Wide File Table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AEC6FB2-980E-31DA-6EA0-27C524902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932588"/>
              </p:ext>
            </p:extLst>
          </p:nvPr>
        </p:nvGraphicFramePr>
        <p:xfrm>
          <a:off x="5309023" y="1674608"/>
          <a:ext cx="2999492" cy="3732480"/>
        </p:xfrm>
        <a:graphic>
          <a:graphicData uri="http://schemas.openxmlformats.org/drawingml/2006/table">
            <a:tbl>
              <a:tblPr/>
              <a:tblGrid>
                <a:gridCol w="553297">
                  <a:extLst>
                    <a:ext uri="{9D8B030D-6E8A-4147-A177-3AD203B41FA5}">
                      <a16:colId xmlns:a16="http://schemas.microsoft.com/office/drawing/2014/main" val="2638340836"/>
                    </a:ext>
                  </a:extLst>
                </a:gridCol>
                <a:gridCol w="619760">
                  <a:extLst>
                    <a:ext uri="{9D8B030D-6E8A-4147-A177-3AD203B41FA5}">
                      <a16:colId xmlns:a16="http://schemas.microsoft.com/office/drawing/2014/main" val="246969949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427734859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1879906046"/>
                    </a:ext>
                  </a:extLst>
                </a:gridCol>
                <a:gridCol w="481686">
                  <a:extLst>
                    <a:ext uri="{9D8B030D-6E8A-4147-A177-3AD203B41FA5}">
                      <a16:colId xmlns:a16="http://schemas.microsoft.com/office/drawing/2014/main" val="3625246502"/>
                    </a:ext>
                  </a:extLst>
                </a:gridCol>
              </a:tblGrid>
              <a:tr h="4147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3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Type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3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Pmns</a:t>
                      </a:r>
                      <a:endParaRPr lang="en-US" sz="13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300" b="1" i="0" u="none" strike="noStrike" kern="12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Lohit Hindi" pitchFamily="2"/>
                        </a:rPr>
                        <a:t>Owner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300" b="1" i="0" u="none" strike="noStrike" kern="12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Lohit Hindi" pitchFamily="2"/>
                        </a:rPr>
                        <a:t>Size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100" b="1" i="0" u="none" strike="noStrike" kern="1200" dirty="0">
                          <a:ln>
                            <a:noFill/>
                          </a:ln>
                          <a:latin typeface="Liberation Sans" pitchFamily="18"/>
                          <a:ea typeface="DejaVu Sans" pitchFamily="2"/>
                          <a:cs typeface="Lohit Hindi" pitchFamily="2"/>
                        </a:rPr>
                        <a:t>. . . </a:t>
                      </a: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83304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06450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48634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02259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55968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46303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4249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35270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2784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74469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7785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7AB70A3-2918-4663-90A0-06EFCE25D293}"/>
              </a:ext>
            </a:extLst>
          </p:cNvPr>
          <p:cNvSpPr txBox="1"/>
          <p:nvPr/>
        </p:nvSpPr>
        <p:spPr>
          <a:xfrm>
            <a:off x="6199250" y="1334193"/>
            <a:ext cx="1148922" cy="288902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sz="1400" b="1" dirty="0" err="1">
                <a:latin typeface="Liberation Sans" pitchFamily="18"/>
                <a:ea typeface="DejaVu Sans" pitchFamily="2"/>
                <a:cs typeface="Lohit Hindi" pitchFamily="2"/>
              </a:rPr>
              <a:t>Inode</a:t>
            </a:r>
            <a:r>
              <a:rPr lang="en-US" sz="1400" b="1" dirty="0">
                <a:latin typeface="Liberation Sans" pitchFamily="18"/>
                <a:ea typeface="DejaVu Sans" pitchFamily="2"/>
                <a:cs typeface="Lohit Hindi" pitchFamily="2"/>
              </a:rPr>
              <a:t>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F5BE74-768D-D157-00D8-B91781C30CB1}"/>
              </a:ext>
            </a:extLst>
          </p:cNvPr>
          <p:cNvSpPr txBox="1"/>
          <p:nvPr/>
        </p:nvSpPr>
        <p:spPr>
          <a:xfrm>
            <a:off x="2335911" y="2110195"/>
            <a:ext cx="255473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FF2197-AF76-33E6-3354-651BF1AA8453}"/>
              </a:ext>
            </a:extLst>
          </p:cNvPr>
          <p:cNvSpPr txBox="1"/>
          <p:nvPr/>
        </p:nvSpPr>
        <p:spPr>
          <a:xfrm>
            <a:off x="2238273" y="3106535"/>
            <a:ext cx="346074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BB9E22-67F2-3822-B6C7-912FAEB1DFD1}"/>
              </a:ext>
            </a:extLst>
          </p:cNvPr>
          <p:cNvSpPr txBox="1"/>
          <p:nvPr/>
        </p:nvSpPr>
        <p:spPr>
          <a:xfrm>
            <a:off x="2238273" y="4094173"/>
            <a:ext cx="346074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75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8A90CC-A6AF-8A0A-14A6-9CCBDE7C1D6C}"/>
              </a:ext>
            </a:extLst>
          </p:cNvPr>
          <p:cNvSpPr txBox="1"/>
          <p:nvPr/>
        </p:nvSpPr>
        <p:spPr>
          <a:xfrm>
            <a:off x="2238273" y="4761786"/>
            <a:ext cx="346074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93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8C634F-B0EF-CD0E-FD15-76129B50964F}"/>
              </a:ext>
            </a:extLst>
          </p:cNvPr>
          <p:cNvSpPr txBox="1"/>
          <p:nvPr/>
        </p:nvSpPr>
        <p:spPr>
          <a:xfrm>
            <a:off x="4899307" y="3472546"/>
            <a:ext cx="436676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233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19588D-AC86-4692-ABF2-02C402EE1C7F}"/>
              </a:ext>
            </a:extLst>
          </p:cNvPr>
          <p:cNvSpPr txBox="1"/>
          <p:nvPr/>
        </p:nvSpPr>
        <p:spPr>
          <a:xfrm>
            <a:off x="4964617" y="2500924"/>
            <a:ext cx="346074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4BB4D4-6C85-1164-40BE-EDAB52C3A0C9}"/>
              </a:ext>
            </a:extLst>
          </p:cNvPr>
          <p:cNvSpPr txBox="1"/>
          <p:nvPr/>
        </p:nvSpPr>
        <p:spPr>
          <a:xfrm>
            <a:off x="2230109" y="2444457"/>
            <a:ext cx="346074" cy="269666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270" b="1" dirty="0">
                <a:latin typeface="Arial" pitchFamily="34"/>
                <a:ea typeface="DejaVu Sans" pitchFamily="2"/>
                <a:cs typeface="Lohit Hindi" pitchFamily="2"/>
              </a:rPr>
              <a:t>12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ABDFD4-CBC7-C27E-A29E-E71CF4E198F6}"/>
              </a:ext>
            </a:extLst>
          </p:cNvPr>
          <p:cNvSpPr/>
          <p:nvPr/>
        </p:nvSpPr>
        <p:spPr>
          <a:xfrm>
            <a:off x="8483221" y="3074417"/>
            <a:ext cx="498220" cy="824541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99FF66"/>
          </a:solidFill>
          <a:ln w="36720">
            <a:solidFill>
              <a:srgbClr val="000000"/>
            </a:solidFill>
            <a:prstDash val="solid"/>
          </a:ln>
        </p:spPr>
        <p:txBody>
          <a:bodyPr vert="horz" wrap="none" lIns="97965" tIns="57146" rIns="97965" bIns="57146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1325521-7B6E-CA7E-3077-2E8DC5E6F7FF}"/>
              </a:ext>
            </a:extLst>
          </p:cNvPr>
          <p:cNvSpPr/>
          <p:nvPr/>
        </p:nvSpPr>
        <p:spPr>
          <a:xfrm flipV="1">
            <a:off x="1815015" y="3351402"/>
            <a:ext cx="538437" cy="713937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81638" tIns="40819" rIns="81638" bIns="40819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FA84CC1D-CA0D-5FAC-4031-AB705C52540A}"/>
              </a:ext>
            </a:extLst>
          </p:cNvPr>
          <p:cNvSpPr/>
          <p:nvPr/>
        </p:nvSpPr>
        <p:spPr>
          <a:xfrm>
            <a:off x="4643120" y="3236196"/>
            <a:ext cx="436676" cy="23635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81638" tIns="40819" rIns="81638" bIns="40819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F7F0412B-73E2-859E-F3FC-A0A2DCA045C3}"/>
              </a:ext>
            </a:extLst>
          </p:cNvPr>
          <p:cNvSpPr/>
          <p:nvPr/>
        </p:nvSpPr>
        <p:spPr>
          <a:xfrm>
            <a:off x="7972557" y="3584306"/>
            <a:ext cx="622081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81638" tIns="40819" rIns="81638" bIns="40819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CDE3EE-AED6-4BAF-DC17-957C8301F34F}"/>
              </a:ext>
            </a:extLst>
          </p:cNvPr>
          <p:cNvSpPr/>
          <p:nvPr/>
        </p:nvSpPr>
        <p:spPr>
          <a:xfrm>
            <a:off x="8615878" y="3351403"/>
            <a:ext cx="207360" cy="20736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prstDash val="solid"/>
          </a:ln>
        </p:spPr>
        <p:txBody>
          <a:bodyPr vert="horz" wrap="none" lIns="81638" tIns="40819" rIns="81638" bIns="40819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CD464-F1A8-E3A5-9D89-46D3AC5F789D}"/>
              </a:ext>
            </a:extLst>
          </p:cNvPr>
          <p:cNvSpPr txBox="1"/>
          <p:nvPr/>
        </p:nvSpPr>
        <p:spPr>
          <a:xfrm>
            <a:off x="1475499" y="5872695"/>
            <a:ext cx="64818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(PPFDT, SWFT reside in memory –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is on disk)</a:t>
            </a:r>
            <a:endParaRPr lang="en-US" sz="2100" i="1" dirty="0"/>
          </a:p>
        </p:txBody>
      </p:sp>
    </p:spTree>
    <p:extLst>
      <p:ext uri="{BB962C8B-B14F-4D97-AF65-F5344CB8AC3E}">
        <p14:creationId xmlns:p14="http://schemas.microsoft.com/office/powerpoint/2010/main" val="5714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828" y="2276816"/>
            <a:ext cx="8606971" cy="1492543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I/O Redirection</a:t>
            </a:r>
          </a:p>
          <a:p>
            <a:pPr marL="457200" lvl="1" indent="0" algn="ctr">
              <a:buNone/>
            </a:pPr>
            <a:r>
              <a:rPr lang="en-US" sz="3200" b="1" i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(Shell &amp; C Program)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815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dirty="0"/>
              <a:t>I/O Redirection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EA9C15-F09E-1EC3-5DB5-BA47AF1E05CA}"/>
              </a:ext>
            </a:extLst>
          </p:cNvPr>
          <p:cNvSpPr txBox="1">
            <a:spLocks noChangeArrowheads="1"/>
          </p:cNvSpPr>
          <p:nvPr/>
        </p:nvSpPr>
        <p:spPr>
          <a:xfrm>
            <a:off x="368660" y="1098936"/>
            <a:ext cx="8465222" cy="5418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7663" lvl="0" indent="-347663" eaLnBrk="1" fontAlgn="auto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I/O Redirection  </a:t>
            </a:r>
          </a:p>
          <a:p>
            <a:pPr marL="0" lvl="1" algn="ctr" eaLnBrk="1" fontAlgn="auto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“changing the default input, output or error streams </a:t>
            </a:r>
            <a:b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a process, or shell command”</a:t>
            </a:r>
          </a:p>
          <a:p>
            <a:pPr lvl="1" eaLnBrk="1" fontAlgn="auto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defaults </a:t>
            </a:r>
            <a:r>
              <a:rPr lang="en-US" sz="23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 (0),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(1),   stderr(2)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1" fontAlgn="auto" hangingPunct="1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allows to control… </a:t>
            </a:r>
          </a:p>
          <a:p>
            <a:pPr marL="1257300" lvl="2" indent="-342900" eaLnBrk="1" fontAlgn="auto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from where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reads input</a:t>
            </a:r>
          </a:p>
          <a:p>
            <a:pPr marL="1257300" lvl="2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to where 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sends output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or 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errors</a:t>
            </a:r>
          </a:p>
          <a:p>
            <a:pPr marL="800100" lvl="1" indent="-342900" eaLnBrk="1" fontAlgn="auto" hangingPunct="1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makes it easier to…</a:t>
            </a:r>
          </a:p>
          <a:p>
            <a:pPr marL="1257300" lvl="2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capture output in files,  chain commands,  handle errors</a:t>
            </a:r>
          </a:p>
          <a:p>
            <a:pPr marL="800100" lvl="1" indent="-342900" eaLnBrk="1" fontAlgn="auto" hangingPunct="1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can be done thru shell, and C programs</a:t>
            </a:r>
          </a:p>
          <a:p>
            <a:pPr marL="1257300" lvl="2" indent="-342900" defTabSz="763588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shell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redirection syntax</a:t>
            </a:r>
          </a:p>
          <a:p>
            <a:pPr marL="1257300" lvl="2" indent="-342900" defTabSz="763588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‘C’ 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calls 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dup(), dup2()</a:t>
            </a:r>
          </a:p>
        </p:txBody>
      </p:sp>
    </p:spTree>
    <p:extLst>
      <p:ext uri="{BB962C8B-B14F-4D97-AF65-F5344CB8AC3E}">
        <p14:creationId xmlns:p14="http://schemas.microsoft.com/office/powerpoint/2010/main" val="170004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Stdin &amp; </a:t>
            </a:r>
            <a:r>
              <a:rPr lang="en-US" dirty="0" err="1"/>
              <a:t>Stdout</a:t>
            </a:r>
            <a:r>
              <a:rPr lang="en-US" dirty="0"/>
              <a:t> for Commands</a:t>
            </a: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0345F7-A739-380D-AF79-5C86C0BB9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814887"/>
              </p:ext>
            </p:extLst>
          </p:nvPr>
        </p:nvGraphicFramePr>
        <p:xfrm>
          <a:off x="6259930" y="2989052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62B909-5605-2942-5A9C-2567B16DB70D}"/>
              </a:ext>
            </a:extLst>
          </p:cNvPr>
          <p:cNvSpPr txBox="1"/>
          <p:nvPr/>
        </p:nvSpPr>
        <p:spPr>
          <a:xfrm>
            <a:off x="6517619" y="2632239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00322-6643-6A0A-C433-78BF16AC52DA}"/>
              </a:ext>
            </a:extLst>
          </p:cNvPr>
          <p:cNvSpPr txBox="1"/>
          <p:nvPr/>
        </p:nvSpPr>
        <p:spPr>
          <a:xfrm>
            <a:off x="5931882" y="3588140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DDC76-C1AD-83A1-3C1A-AD926DEA7E5D}"/>
              </a:ext>
            </a:extLst>
          </p:cNvPr>
          <p:cNvSpPr txBox="1"/>
          <p:nvPr/>
        </p:nvSpPr>
        <p:spPr>
          <a:xfrm>
            <a:off x="5932208" y="389219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318F7-586B-7C61-B57D-C7FDE00134F3}"/>
              </a:ext>
            </a:extLst>
          </p:cNvPr>
          <p:cNvSpPr txBox="1"/>
          <p:nvPr/>
        </p:nvSpPr>
        <p:spPr>
          <a:xfrm>
            <a:off x="5932534" y="4218747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1CCDD-7AE1-54BB-E2C9-1484AB487E38}"/>
              </a:ext>
            </a:extLst>
          </p:cNvPr>
          <p:cNvSpPr txBox="1"/>
          <p:nvPr/>
        </p:nvSpPr>
        <p:spPr>
          <a:xfrm>
            <a:off x="5932862" y="457358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7145B-5B9E-2C8E-C6D6-684AAE324A59}"/>
              </a:ext>
            </a:extLst>
          </p:cNvPr>
          <p:cNvSpPr txBox="1"/>
          <p:nvPr/>
        </p:nvSpPr>
        <p:spPr>
          <a:xfrm>
            <a:off x="5933188" y="488854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4CB22B-4643-A849-6701-B31822867688}"/>
              </a:ext>
            </a:extLst>
          </p:cNvPr>
          <p:cNvSpPr txBox="1"/>
          <p:nvPr/>
        </p:nvSpPr>
        <p:spPr>
          <a:xfrm>
            <a:off x="4901713" y="5895487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EA7D1-E8B2-1084-91AE-DA4A33378475}"/>
              </a:ext>
            </a:extLst>
          </p:cNvPr>
          <p:cNvSpPr txBox="1"/>
          <p:nvPr/>
        </p:nvSpPr>
        <p:spPr>
          <a:xfrm>
            <a:off x="5933514" y="5249652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19BB0F8-0B2D-2D1B-A5B0-934D81C3C296}"/>
              </a:ext>
            </a:extLst>
          </p:cNvPr>
          <p:cNvSpPr/>
          <p:nvPr/>
        </p:nvSpPr>
        <p:spPr>
          <a:xfrm>
            <a:off x="7299595" y="3752722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DC7E2AB-83FE-9F50-C38C-B89FE7BC1B97}"/>
              </a:ext>
            </a:extLst>
          </p:cNvPr>
          <p:cNvSpPr/>
          <p:nvPr/>
        </p:nvSpPr>
        <p:spPr>
          <a:xfrm>
            <a:off x="7291431" y="4079273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FB701-04B7-1A88-5373-D48826D0B94B}"/>
              </a:ext>
            </a:extLst>
          </p:cNvPr>
          <p:cNvSpPr txBox="1"/>
          <p:nvPr/>
        </p:nvSpPr>
        <p:spPr>
          <a:xfrm>
            <a:off x="8090854" y="3566187"/>
            <a:ext cx="8573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Courier New" pitchFamily="50"/>
                <a:ea typeface="DejaVu Sans" pitchFamily="2"/>
                <a:cs typeface="Lohit Hindi" pitchFamily="2"/>
              </a:rPr>
              <a:t>stdin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DCEC8-BD65-28F3-B19F-3DED407E1156}"/>
              </a:ext>
            </a:extLst>
          </p:cNvPr>
          <p:cNvSpPr txBox="1"/>
          <p:nvPr/>
        </p:nvSpPr>
        <p:spPr>
          <a:xfrm>
            <a:off x="8084645" y="3892739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 err="1">
                <a:latin typeface="Courier New" pitchFamily="50"/>
                <a:ea typeface="DejaVu Sans" pitchFamily="2"/>
                <a:cs typeface="Lohit Hindi" pitchFamily="2"/>
              </a:rPr>
              <a:t>stdout</a:t>
            </a:r>
            <a:endParaRPr lang="en-US" b="1" dirty="0">
              <a:latin typeface="Courier New" pitchFamily="50"/>
              <a:ea typeface="DejaVu Sans" pitchFamily="2"/>
              <a:cs typeface="Lohit Hindi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77D2A1-D492-5304-78B6-BFBDCAF075E8}"/>
              </a:ext>
            </a:extLst>
          </p:cNvPr>
          <p:cNvSpPr txBox="1"/>
          <p:nvPr/>
        </p:nvSpPr>
        <p:spPr>
          <a:xfrm>
            <a:off x="474130" y="2760900"/>
            <a:ext cx="2280243" cy="232970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compatLnSpc="0"/>
          <a:lstStyle/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rgbClr val="000000"/>
                </a:solidFill>
                <a:latin typeface="Comic Sans MS" charset="0"/>
                <a:ea typeface="Comic Sans MS" charset="0"/>
                <a:cs typeface="Comic Sans MS" charset="0"/>
              </a:rPr>
              <a:t>Example 1: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 cat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This is GR8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This is GR8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&lt;CTRL + D&gt;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</a:t>
            </a:r>
            <a:endParaRPr lang="en-US" sz="2300" b="1" dirty="0">
              <a:solidFill>
                <a:schemeClr val="accent1">
                  <a:lumMod val="75000"/>
                </a:schemeClr>
              </a:solidFill>
              <a:latin typeface="Courier New" pitchFamily="49"/>
              <a:ea typeface="Helvetica" pitchFamily="34"/>
              <a:cs typeface="Helvetica" pitchFamily="34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CD81529-9AA4-C2D0-90DC-875F416505A0}"/>
              </a:ext>
            </a:extLst>
          </p:cNvPr>
          <p:cNvSpPr/>
          <p:nvPr/>
        </p:nvSpPr>
        <p:spPr>
          <a:xfrm>
            <a:off x="7283267" y="4393489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24016B-92F5-886B-AE5E-2D1B1D9F90A4}"/>
              </a:ext>
            </a:extLst>
          </p:cNvPr>
          <p:cNvSpPr txBox="1"/>
          <p:nvPr/>
        </p:nvSpPr>
        <p:spPr>
          <a:xfrm>
            <a:off x="8094805" y="4206955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stderr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2FB6C-361C-9340-496D-7A93901362EA}"/>
              </a:ext>
            </a:extLst>
          </p:cNvPr>
          <p:cNvSpPr txBox="1"/>
          <p:nvPr/>
        </p:nvSpPr>
        <p:spPr>
          <a:xfrm>
            <a:off x="3146117" y="2689905"/>
            <a:ext cx="2031377" cy="3823125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compatLnSpc="0"/>
          <a:lstStyle/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u="sng" dirty="0">
                <a:solidFill>
                  <a:srgbClr val="000000"/>
                </a:solidFill>
                <a:latin typeface="Comic Sans MS" charset="0"/>
                <a:ea typeface="Comic Sans MS" charset="0"/>
                <a:cs typeface="Comic Sans MS" charset="0"/>
              </a:rPr>
              <a:t>Example 2:</a:t>
            </a:r>
            <a:endParaRPr lang="en-US" sz="2300" b="1" u="sng" dirty="0">
              <a:solidFill>
                <a:srgbClr val="000000"/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 sort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rauf</a:t>
            </a:r>
            <a:endParaRPr lang="en-US" sz="2300" b="1" dirty="0">
              <a:solidFill>
                <a:schemeClr val="accent1">
                  <a:lumMod val="75000"/>
                </a:schemeClr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arif</a:t>
            </a:r>
            <a:endParaRPr lang="en-US" sz="2300" b="1" dirty="0">
              <a:solidFill>
                <a:schemeClr val="accent1">
                  <a:lumMod val="75000"/>
                </a:schemeClr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kamal</a:t>
            </a:r>
            <a:endParaRPr lang="en-US" sz="2300" b="1" dirty="0">
              <a:solidFill>
                <a:schemeClr val="accent1">
                  <a:lumMod val="75000"/>
                </a:schemeClr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  <a:latin typeface="Courier New" pitchFamily="49"/>
                <a:ea typeface="Helvetica" pitchFamily="34"/>
                <a:cs typeface="Helvetica" pitchFamily="34"/>
              </a:rPr>
              <a:t>&lt;CTRL+D&gt;</a:t>
            </a: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rgbClr val="C00000"/>
                </a:solidFill>
                <a:latin typeface="Courier New" pitchFamily="49"/>
                <a:ea typeface="Helvetica" pitchFamily="34"/>
                <a:cs typeface="Helvetica" pitchFamily="34"/>
              </a:rPr>
              <a:t>arif</a:t>
            </a:r>
            <a:endParaRPr lang="en-US" sz="2300" b="1" dirty="0">
              <a:solidFill>
                <a:srgbClr val="C00000"/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rgbClr val="C00000"/>
                </a:solidFill>
                <a:latin typeface="Courier New" pitchFamily="49"/>
                <a:ea typeface="Helvetica" pitchFamily="34"/>
                <a:cs typeface="Helvetica" pitchFamily="34"/>
              </a:rPr>
              <a:t>kamal</a:t>
            </a:r>
            <a:endParaRPr lang="en-US" sz="2300" b="1" dirty="0">
              <a:solidFill>
                <a:srgbClr val="C00000"/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 err="1">
                <a:solidFill>
                  <a:srgbClr val="C00000"/>
                </a:solidFill>
                <a:latin typeface="Courier New" pitchFamily="49"/>
                <a:ea typeface="Helvetica" pitchFamily="34"/>
                <a:cs typeface="Helvetica" pitchFamily="34"/>
              </a:rPr>
              <a:t>rauf</a:t>
            </a:r>
            <a:endParaRPr lang="en-US" sz="2300" b="1" dirty="0">
              <a:solidFill>
                <a:srgbClr val="C00000"/>
              </a:solidFill>
              <a:latin typeface="Courier New" pitchFamily="49"/>
              <a:ea typeface="Helvetica" pitchFamily="34"/>
              <a:cs typeface="Helvetica" pitchFamily="34"/>
            </a:endParaRPr>
          </a:p>
          <a:p>
            <a:pPr marL="0" lvl="1" hangingPunct="0"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3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</a:t>
            </a:r>
            <a:endParaRPr lang="en-US" sz="2300" b="1" dirty="0">
              <a:solidFill>
                <a:schemeClr val="accent1">
                  <a:lumMod val="75000"/>
                </a:schemeClr>
              </a:solidFill>
              <a:latin typeface="Courier New" pitchFamily="49"/>
              <a:ea typeface="Helvetica" pitchFamily="34"/>
              <a:cs typeface="Helvetica" pitchFamily="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F45E1-47FA-9FB1-7DC0-A55A97474A4D}"/>
              </a:ext>
            </a:extLst>
          </p:cNvPr>
          <p:cNvSpPr txBox="1"/>
          <p:nvPr/>
        </p:nvSpPr>
        <p:spPr>
          <a:xfrm>
            <a:off x="355224" y="1104232"/>
            <a:ext cx="8222717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By default, shell commands like </a:t>
            </a:r>
            <a:r>
              <a:rPr 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cat, sort, </a:t>
            </a:r>
            <a:r>
              <a:rPr lang="en-US" sz="23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take input from </a:t>
            </a:r>
            <a:r>
              <a:rPr lang="en-US" sz="23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keyboard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send output to </a:t>
            </a:r>
            <a:r>
              <a:rPr lang="en-US" sz="23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terminal </a:t>
            </a:r>
            <a:r>
              <a:rPr 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300" i="1" dirty="0" err="1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2300" i="1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8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Redirecting stdin (0&lt;)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331FE63-7283-3F91-703C-843DF95BFCB0}"/>
              </a:ext>
            </a:extLst>
          </p:cNvPr>
          <p:cNvSpPr txBox="1">
            <a:spLocks noChangeArrowheads="1"/>
          </p:cNvSpPr>
          <p:nvPr/>
        </p:nvSpPr>
        <p:spPr>
          <a:xfrm>
            <a:off x="370115" y="1098455"/>
            <a:ext cx="8458200" cy="450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can detach </a:t>
            </a: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keyboard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&amp; attach some other file using re-direction operator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‘&lt;‘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(input re-direction)</a:t>
            </a:r>
          </a:p>
          <a:p>
            <a:pPr marL="800100" lvl="1" indent="-342900">
              <a:spcBef>
                <a:spcPts val="3000"/>
              </a:spcBef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 cat  0&lt; f1.txt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 sort 0&lt; f1.txt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will now read input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from file f1.txt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 not from keyboard </a:t>
            </a: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BD8E64-552D-1759-B00D-BA5A89B70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068450"/>
              </p:ext>
            </p:extLst>
          </p:nvPr>
        </p:nvGraphicFramePr>
        <p:xfrm>
          <a:off x="5932256" y="2555478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B5B7440-8E73-A559-8566-BBD33D2C91EB}"/>
              </a:ext>
            </a:extLst>
          </p:cNvPr>
          <p:cNvSpPr txBox="1"/>
          <p:nvPr/>
        </p:nvSpPr>
        <p:spPr>
          <a:xfrm>
            <a:off x="6189945" y="2198665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15E8E9-6FFB-E651-FEF3-370340557E25}"/>
              </a:ext>
            </a:extLst>
          </p:cNvPr>
          <p:cNvSpPr txBox="1"/>
          <p:nvPr/>
        </p:nvSpPr>
        <p:spPr>
          <a:xfrm>
            <a:off x="5604208" y="315456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B0E704-DE24-393D-BF85-880A78C1DECF}"/>
              </a:ext>
            </a:extLst>
          </p:cNvPr>
          <p:cNvSpPr txBox="1"/>
          <p:nvPr/>
        </p:nvSpPr>
        <p:spPr>
          <a:xfrm>
            <a:off x="5604534" y="3458622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345523-B61C-207C-946A-4CBA3202C8A7}"/>
              </a:ext>
            </a:extLst>
          </p:cNvPr>
          <p:cNvSpPr txBox="1"/>
          <p:nvPr/>
        </p:nvSpPr>
        <p:spPr>
          <a:xfrm>
            <a:off x="5604860" y="3785173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87CADF-9919-3A5E-7208-DAA104B23951}"/>
              </a:ext>
            </a:extLst>
          </p:cNvPr>
          <p:cNvSpPr txBox="1"/>
          <p:nvPr/>
        </p:nvSpPr>
        <p:spPr>
          <a:xfrm>
            <a:off x="5605188" y="4140012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A347E7-FC65-D768-1DFB-7EDD373E804D}"/>
              </a:ext>
            </a:extLst>
          </p:cNvPr>
          <p:cNvSpPr txBox="1"/>
          <p:nvPr/>
        </p:nvSpPr>
        <p:spPr>
          <a:xfrm>
            <a:off x="5605514" y="4454972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7CD1D2-C746-7FA8-3ABE-D85043ADE013}"/>
              </a:ext>
            </a:extLst>
          </p:cNvPr>
          <p:cNvSpPr txBox="1"/>
          <p:nvPr/>
        </p:nvSpPr>
        <p:spPr>
          <a:xfrm>
            <a:off x="4574039" y="5461913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533D15-9B1A-050B-9A1A-8245BA84C7EF}"/>
              </a:ext>
            </a:extLst>
          </p:cNvPr>
          <p:cNvSpPr txBox="1"/>
          <p:nvPr/>
        </p:nvSpPr>
        <p:spPr>
          <a:xfrm>
            <a:off x="5605840" y="4816078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DEE4E47D-8116-F8F7-1141-7427C6FD549C}"/>
              </a:ext>
            </a:extLst>
          </p:cNvPr>
          <p:cNvSpPr/>
          <p:nvPr/>
        </p:nvSpPr>
        <p:spPr>
          <a:xfrm>
            <a:off x="6971921" y="3319148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92935A89-D66F-982B-2843-108CF27DAA61}"/>
              </a:ext>
            </a:extLst>
          </p:cNvPr>
          <p:cNvSpPr/>
          <p:nvPr/>
        </p:nvSpPr>
        <p:spPr>
          <a:xfrm>
            <a:off x="6963757" y="3645699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A8B595-CFD2-8882-0F8B-F65EB1C7F4A6}"/>
              </a:ext>
            </a:extLst>
          </p:cNvPr>
          <p:cNvSpPr txBox="1"/>
          <p:nvPr/>
        </p:nvSpPr>
        <p:spPr>
          <a:xfrm>
            <a:off x="7734572" y="3132613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f1.txt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739E2-0EF8-2743-69E8-E7EBFCC67479}"/>
              </a:ext>
            </a:extLst>
          </p:cNvPr>
          <p:cNvSpPr txBox="1"/>
          <p:nvPr/>
        </p:nvSpPr>
        <p:spPr>
          <a:xfrm>
            <a:off x="7756971" y="3479485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 err="1">
                <a:latin typeface="Courier New" pitchFamily="50"/>
                <a:ea typeface="DejaVu Sans" pitchFamily="2"/>
                <a:cs typeface="Lohit Hindi" pitchFamily="2"/>
              </a:rPr>
              <a:t>stdout</a:t>
            </a:r>
            <a:endParaRPr lang="en-US" b="1" dirty="0">
              <a:latin typeface="Courier New" pitchFamily="50"/>
              <a:ea typeface="DejaVu Sans" pitchFamily="2"/>
              <a:cs typeface="Lohit Hindi" pitchFamily="2"/>
            </a:endParaRP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C5C07F06-460C-A601-540B-1685A08AB0A6}"/>
              </a:ext>
            </a:extLst>
          </p:cNvPr>
          <p:cNvSpPr/>
          <p:nvPr/>
        </p:nvSpPr>
        <p:spPr>
          <a:xfrm>
            <a:off x="6955593" y="3959915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59C4D3-E35A-6137-06AB-5E53000D7135}"/>
              </a:ext>
            </a:extLst>
          </p:cNvPr>
          <p:cNvSpPr txBox="1"/>
          <p:nvPr/>
        </p:nvSpPr>
        <p:spPr>
          <a:xfrm>
            <a:off x="7767131" y="3773381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stderr</a:t>
            </a:r>
          </a:p>
        </p:txBody>
      </p:sp>
    </p:spTree>
    <p:extLst>
      <p:ext uri="{BB962C8B-B14F-4D97-AF65-F5344CB8AC3E}">
        <p14:creationId xmlns:p14="http://schemas.microsoft.com/office/powerpoint/2010/main" val="246338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Redirecting </a:t>
            </a:r>
            <a:r>
              <a:rPr lang="en-US" dirty="0" err="1"/>
              <a:t>stdout</a:t>
            </a:r>
            <a:r>
              <a:rPr lang="en-US" dirty="0"/>
              <a:t> (1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)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331FE63-7283-3F91-703C-843DF95BFCB0}"/>
              </a:ext>
            </a:extLst>
          </p:cNvPr>
          <p:cNvSpPr txBox="1">
            <a:spLocks noChangeArrowheads="1"/>
          </p:cNvSpPr>
          <p:nvPr/>
        </p:nvSpPr>
        <p:spPr>
          <a:xfrm>
            <a:off x="370115" y="1085391"/>
            <a:ext cx="8458200" cy="5396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 default, commands (</a:t>
            </a: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cat, sort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 send their outputs to </a:t>
            </a: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can detach display screen from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&amp; attach a file using re-direction operator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‘&gt;‘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(output re-direction)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  <a:defRPr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# cat 1&gt; f1.txt</a:t>
            </a:r>
            <a:endParaRPr lang="en-US" sz="2400" b="1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will now write output to this file,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 not to display screen</a:t>
            </a:r>
          </a:p>
          <a:p>
            <a:pPr defTabSz="457200">
              <a:spcBef>
                <a:spcPts val="1800"/>
              </a:spcBef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457200">
              <a:spcBef>
                <a:spcPts val="2400"/>
              </a:spcBef>
              <a:defRPr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68AC25-EBAD-5A68-20D5-833D21227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259230"/>
              </p:ext>
            </p:extLst>
          </p:nvPr>
        </p:nvGraphicFramePr>
        <p:xfrm>
          <a:off x="5975800" y="2925592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2A91636-15A7-B0C7-ECD3-D42AB69DA797}"/>
              </a:ext>
            </a:extLst>
          </p:cNvPr>
          <p:cNvSpPr txBox="1"/>
          <p:nvPr/>
        </p:nvSpPr>
        <p:spPr>
          <a:xfrm>
            <a:off x="6233489" y="2514349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3EB9F3-5124-2BE1-2C86-2760F3F0D7A5}"/>
              </a:ext>
            </a:extLst>
          </p:cNvPr>
          <p:cNvSpPr txBox="1"/>
          <p:nvPr/>
        </p:nvSpPr>
        <p:spPr>
          <a:xfrm>
            <a:off x="5647752" y="3524680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A61F34-5C24-5495-0560-2144A6E79A92}"/>
              </a:ext>
            </a:extLst>
          </p:cNvPr>
          <p:cNvSpPr txBox="1"/>
          <p:nvPr/>
        </p:nvSpPr>
        <p:spPr>
          <a:xfrm>
            <a:off x="5648078" y="382873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B2A7A6-3AC4-4010-B0D1-1E91C4549B40}"/>
              </a:ext>
            </a:extLst>
          </p:cNvPr>
          <p:cNvSpPr txBox="1"/>
          <p:nvPr/>
        </p:nvSpPr>
        <p:spPr>
          <a:xfrm>
            <a:off x="5648404" y="4155287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CD400-8F9C-E313-C963-9F2871422FC6}"/>
              </a:ext>
            </a:extLst>
          </p:cNvPr>
          <p:cNvSpPr txBox="1"/>
          <p:nvPr/>
        </p:nvSpPr>
        <p:spPr>
          <a:xfrm>
            <a:off x="5648732" y="451012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8C8216-D293-C9AD-5394-C0531FFA6D6E}"/>
              </a:ext>
            </a:extLst>
          </p:cNvPr>
          <p:cNvSpPr txBox="1"/>
          <p:nvPr/>
        </p:nvSpPr>
        <p:spPr>
          <a:xfrm>
            <a:off x="5649058" y="482508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35D223-76F6-7DB8-ADD8-733320258FB1}"/>
              </a:ext>
            </a:extLst>
          </p:cNvPr>
          <p:cNvSpPr txBox="1"/>
          <p:nvPr/>
        </p:nvSpPr>
        <p:spPr>
          <a:xfrm>
            <a:off x="4617583" y="5832027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1D79B5-39B0-8EA4-E7B6-AC63D25C198E}"/>
              </a:ext>
            </a:extLst>
          </p:cNvPr>
          <p:cNvSpPr txBox="1"/>
          <p:nvPr/>
        </p:nvSpPr>
        <p:spPr>
          <a:xfrm>
            <a:off x="5649384" y="5186192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C05AF77-F772-AE27-925D-06FCF8738921}"/>
              </a:ext>
            </a:extLst>
          </p:cNvPr>
          <p:cNvSpPr/>
          <p:nvPr/>
        </p:nvSpPr>
        <p:spPr>
          <a:xfrm>
            <a:off x="7015465" y="3689262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16092375-9B33-F88F-6F0A-761373A883F9}"/>
              </a:ext>
            </a:extLst>
          </p:cNvPr>
          <p:cNvSpPr/>
          <p:nvPr/>
        </p:nvSpPr>
        <p:spPr>
          <a:xfrm>
            <a:off x="7007301" y="4015813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CA38BE-6B39-8D80-2522-EF24E13F6D48}"/>
              </a:ext>
            </a:extLst>
          </p:cNvPr>
          <p:cNvSpPr txBox="1"/>
          <p:nvPr/>
        </p:nvSpPr>
        <p:spPr>
          <a:xfrm>
            <a:off x="7847365" y="3502727"/>
            <a:ext cx="857369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stdin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0A57F9-82EA-FE4F-0056-B507F19406FE}"/>
              </a:ext>
            </a:extLst>
          </p:cNvPr>
          <p:cNvSpPr txBox="1"/>
          <p:nvPr/>
        </p:nvSpPr>
        <p:spPr>
          <a:xfrm>
            <a:off x="7800517" y="3829279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f1.txt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68BC08AC-C4CF-91F6-1C31-C332BCD564A1}"/>
              </a:ext>
            </a:extLst>
          </p:cNvPr>
          <p:cNvSpPr/>
          <p:nvPr/>
        </p:nvSpPr>
        <p:spPr>
          <a:xfrm>
            <a:off x="6999137" y="4330029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66E79B-0E1E-03B1-1884-DA88DACC8122}"/>
              </a:ext>
            </a:extLst>
          </p:cNvPr>
          <p:cNvSpPr txBox="1"/>
          <p:nvPr/>
        </p:nvSpPr>
        <p:spPr>
          <a:xfrm>
            <a:off x="7810675" y="4143495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stderr</a:t>
            </a:r>
          </a:p>
        </p:txBody>
      </p:sp>
    </p:spTree>
    <p:extLst>
      <p:ext uri="{BB962C8B-B14F-4D97-AF65-F5344CB8AC3E}">
        <p14:creationId xmlns:p14="http://schemas.microsoft.com/office/powerpoint/2010/main" val="310372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Redirecting stderr (2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)</a:t>
            </a:r>
            <a:endParaRPr lang="en-US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331FE63-7283-3F91-703C-843DF95BFCB0}"/>
              </a:ext>
            </a:extLst>
          </p:cNvPr>
          <p:cNvSpPr txBox="1">
            <a:spLocks noChangeArrowheads="1"/>
          </p:cNvSpPr>
          <p:nvPr/>
        </p:nvSpPr>
        <p:spPr>
          <a:xfrm>
            <a:off x="370115" y="1085391"/>
            <a:ext cx="8381999" cy="2879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Similarly, by default all commands send their error messages 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the default </a:t>
            </a:r>
            <a:r>
              <a:rPr lang="en-US" sz="24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stderr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can detach display screen from stderr, &amp; attach a file using re-direction operator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‘&gt;‘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(error re-direction)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>
              <a:spcBef>
                <a:spcPts val="2400"/>
              </a:spcBef>
              <a:defRPr/>
            </a:pPr>
            <a:r>
              <a:rPr lang="en-US" sz="2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# cat  nofile.txt   2&gt;   errors.txt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C1F6FA-15A6-B837-3820-A3F06C127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59185"/>
              </p:ext>
            </p:extLst>
          </p:nvPr>
        </p:nvGraphicFramePr>
        <p:xfrm>
          <a:off x="5713137" y="3165080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EFDC05-9F49-90CE-56DA-7AFDC3FAE2FE}"/>
              </a:ext>
            </a:extLst>
          </p:cNvPr>
          <p:cNvSpPr txBox="1"/>
          <p:nvPr/>
        </p:nvSpPr>
        <p:spPr>
          <a:xfrm>
            <a:off x="5970826" y="2808267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49FDFC-967D-5AC2-A551-A08C76972215}"/>
              </a:ext>
            </a:extLst>
          </p:cNvPr>
          <p:cNvSpPr txBox="1"/>
          <p:nvPr/>
        </p:nvSpPr>
        <p:spPr>
          <a:xfrm>
            <a:off x="5385089" y="3764168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EAB07-E7CB-BF0C-9A93-01919EFC751E}"/>
              </a:ext>
            </a:extLst>
          </p:cNvPr>
          <p:cNvSpPr txBox="1"/>
          <p:nvPr/>
        </p:nvSpPr>
        <p:spPr>
          <a:xfrm>
            <a:off x="5385415" y="406822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CDED3-CA5E-CB9F-EA0E-D77AD1EC3CB3}"/>
              </a:ext>
            </a:extLst>
          </p:cNvPr>
          <p:cNvSpPr txBox="1"/>
          <p:nvPr/>
        </p:nvSpPr>
        <p:spPr>
          <a:xfrm>
            <a:off x="5385741" y="4394775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BC084-A4E9-81DE-BAF7-0078A79C3F0F}"/>
              </a:ext>
            </a:extLst>
          </p:cNvPr>
          <p:cNvSpPr txBox="1"/>
          <p:nvPr/>
        </p:nvSpPr>
        <p:spPr>
          <a:xfrm>
            <a:off x="5386069" y="474961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129E4-8DCE-AD05-C904-FE8282C2F2A5}"/>
              </a:ext>
            </a:extLst>
          </p:cNvPr>
          <p:cNvSpPr txBox="1"/>
          <p:nvPr/>
        </p:nvSpPr>
        <p:spPr>
          <a:xfrm>
            <a:off x="5386395" y="506457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D749B-7FDA-4359-3720-E85975D29649}"/>
              </a:ext>
            </a:extLst>
          </p:cNvPr>
          <p:cNvSpPr txBox="1"/>
          <p:nvPr/>
        </p:nvSpPr>
        <p:spPr>
          <a:xfrm>
            <a:off x="4354920" y="6071515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5DBC8-DCA1-9DD0-79A1-BBE565575DE7}"/>
              </a:ext>
            </a:extLst>
          </p:cNvPr>
          <p:cNvSpPr txBox="1"/>
          <p:nvPr/>
        </p:nvSpPr>
        <p:spPr>
          <a:xfrm>
            <a:off x="5386721" y="5425680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819F25E-B336-77C1-36E8-794C5E69D05E}"/>
              </a:ext>
            </a:extLst>
          </p:cNvPr>
          <p:cNvSpPr/>
          <p:nvPr/>
        </p:nvSpPr>
        <p:spPr>
          <a:xfrm>
            <a:off x="6752802" y="3928750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0B4A3BF-04F3-4557-1C8B-8B1AA3990A46}"/>
              </a:ext>
            </a:extLst>
          </p:cNvPr>
          <p:cNvSpPr/>
          <p:nvPr/>
        </p:nvSpPr>
        <p:spPr>
          <a:xfrm>
            <a:off x="6744638" y="4255301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26A40-EE2A-CE35-7525-A5366BDC7E00}"/>
              </a:ext>
            </a:extLst>
          </p:cNvPr>
          <p:cNvSpPr txBox="1"/>
          <p:nvPr/>
        </p:nvSpPr>
        <p:spPr>
          <a:xfrm>
            <a:off x="7544061" y="3742215"/>
            <a:ext cx="8573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Courier New" pitchFamily="50"/>
                <a:ea typeface="DejaVu Sans" pitchFamily="2"/>
                <a:cs typeface="Lohit Hindi" pitchFamily="2"/>
              </a:rPr>
              <a:t>stdin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1B303-C163-D067-F7B1-FA7139501160}"/>
              </a:ext>
            </a:extLst>
          </p:cNvPr>
          <p:cNvSpPr txBox="1"/>
          <p:nvPr/>
        </p:nvSpPr>
        <p:spPr>
          <a:xfrm>
            <a:off x="7537852" y="4068767"/>
            <a:ext cx="995868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 err="1">
                <a:latin typeface="Courier New" pitchFamily="50"/>
                <a:ea typeface="DejaVu Sans" pitchFamily="2"/>
                <a:cs typeface="Lohit Hindi" pitchFamily="2"/>
              </a:rPr>
              <a:t>stdout</a:t>
            </a:r>
            <a:endParaRPr lang="en-US" b="1" dirty="0">
              <a:latin typeface="Courier New" pitchFamily="50"/>
              <a:ea typeface="DejaVu Sans" pitchFamily="2"/>
              <a:cs typeface="Lohit Hindi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209B837-32F1-99A5-085A-510EBC7A6A54}"/>
              </a:ext>
            </a:extLst>
          </p:cNvPr>
          <p:cNvSpPr/>
          <p:nvPr/>
        </p:nvSpPr>
        <p:spPr>
          <a:xfrm>
            <a:off x="6736474" y="4579677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9D986-AB7C-0CF3-A0C5-8754BB9293DF}"/>
              </a:ext>
            </a:extLst>
          </p:cNvPr>
          <p:cNvSpPr txBox="1"/>
          <p:nvPr/>
        </p:nvSpPr>
        <p:spPr>
          <a:xfrm>
            <a:off x="7514854" y="4393143"/>
            <a:ext cx="1549865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errors.txt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FAD22402-5FC0-9CA1-900F-DC9D30FEEDF6}"/>
              </a:ext>
            </a:extLst>
          </p:cNvPr>
          <p:cNvSpPr/>
          <p:nvPr/>
        </p:nvSpPr>
        <p:spPr>
          <a:xfrm>
            <a:off x="6729845" y="4916727"/>
            <a:ext cx="829440" cy="0"/>
          </a:xfrm>
          <a:prstGeom prst="line">
            <a:avLst/>
          </a:prstGeom>
          <a:noFill/>
          <a:ln w="36720">
            <a:solidFill>
              <a:schemeClr val="accent2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91F2F-F35C-DDB1-4968-B1495AAD2361}"/>
              </a:ext>
            </a:extLst>
          </p:cNvPr>
          <p:cNvSpPr txBox="1"/>
          <p:nvPr/>
        </p:nvSpPr>
        <p:spPr>
          <a:xfrm>
            <a:off x="7529191" y="4735288"/>
            <a:ext cx="1549866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solidFill>
                  <a:srgbClr val="C00000"/>
                </a:solidFill>
                <a:latin typeface="Courier New" pitchFamily="50"/>
                <a:ea typeface="DejaVu Sans" pitchFamily="2"/>
                <a:cs typeface="Lohit Hindi" pitchFamily="2"/>
              </a:rPr>
              <a:t>nofile.txt</a:t>
            </a:r>
          </a:p>
        </p:txBody>
      </p:sp>
    </p:spTree>
    <p:extLst>
      <p:ext uri="{BB962C8B-B14F-4D97-AF65-F5344CB8AC3E}">
        <p14:creationId xmlns:p14="http://schemas.microsoft.com/office/powerpoint/2010/main" val="113119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Redirecting Input, Output &amp; Error</a:t>
            </a: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0200A-B814-5DD9-327F-6E5B8D6F9F28}"/>
              </a:ext>
            </a:extLst>
          </p:cNvPr>
          <p:cNvSpPr txBox="1"/>
          <p:nvPr/>
        </p:nvSpPr>
        <p:spPr>
          <a:xfrm>
            <a:off x="1183572" y="1230941"/>
            <a:ext cx="7167947" cy="396842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compatLnSpc="0"/>
          <a:lstStyle/>
          <a:p>
            <a:pPr marL="0" lvl="1" hangingPunct="0">
              <a:spcAft>
                <a:spcPts val="1306"/>
              </a:spcAft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 cat  0&lt; f1.txt  1&gt; f2.txt  2&gt; f3.txt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787C4F-AE31-7EC5-5AFD-3F8F02912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10558"/>
              </p:ext>
            </p:extLst>
          </p:nvPr>
        </p:nvGraphicFramePr>
        <p:xfrm>
          <a:off x="3718102" y="2464040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838554-F1A8-E86F-FF0C-9EFE6C049624}"/>
              </a:ext>
            </a:extLst>
          </p:cNvPr>
          <p:cNvSpPr txBox="1"/>
          <p:nvPr/>
        </p:nvSpPr>
        <p:spPr>
          <a:xfrm>
            <a:off x="3975791" y="2107227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777F6-D448-FA33-4BE4-B586CFE69536}"/>
              </a:ext>
            </a:extLst>
          </p:cNvPr>
          <p:cNvSpPr txBox="1"/>
          <p:nvPr/>
        </p:nvSpPr>
        <p:spPr>
          <a:xfrm>
            <a:off x="3390054" y="3063128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D9196-1EFA-5CD8-53CF-F5810CD647AF}"/>
              </a:ext>
            </a:extLst>
          </p:cNvPr>
          <p:cNvSpPr txBox="1"/>
          <p:nvPr/>
        </p:nvSpPr>
        <p:spPr>
          <a:xfrm>
            <a:off x="3390380" y="336718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02D3D-9051-7F32-B055-0E2EAA31D942}"/>
              </a:ext>
            </a:extLst>
          </p:cNvPr>
          <p:cNvSpPr txBox="1"/>
          <p:nvPr/>
        </p:nvSpPr>
        <p:spPr>
          <a:xfrm>
            <a:off x="3390706" y="3693735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1302A-DE44-5C6F-A9B1-A591B37DCC8B}"/>
              </a:ext>
            </a:extLst>
          </p:cNvPr>
          <p:cNvSpPr txBox="1"/>
          <p:nvPr/>
        </p:nvSpPr>
        <p:spPr>
          <a:xfrm>
            <a:off x="3391034" y="404857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5DF0B-E74B-70BD-7C76-E87547BD07DA}"/>
              </a:ext>
            </a:extLst>
          </p:cNvPr>
          <p:cNvSpPr txBox="1"/>
          <p:nvPr/>
        </p:nvSpPr>
        <p:spPr>
          <a:xfrm>
            <a:off x="3391360" y="4363534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2F966-5A4C-E8BB-BEDB-ECD448C49762}"/>
              </a:ext>
            </a:extLst>
          </p:cNvPr>
          <p:cNvSpPr txBox="1"/>
          <p:nvPr/>
        </p:nvSpPr>
        <p:spPr>
          <a:xfrm>
            <a:off x="2359885" y="5370475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FB233-6069-812C-D6FC-BF0BFB457B96}"/>
              </a:ext>
            </a:extLst>
          </p:cNvPr>
          <p:cNvSpPr txBox="1"/>
          <p:nvPr/>
        </p:nvSpPr>
        <p:spPr>
          <a:xfrm>
            <a:off x="3391686" y="4724640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7EEB6C2-E45D-F389-1020-C12622D14AA6}"/>
              </a:ext>
            </a:extLst>
          </p:cNvPr>
          <p:cNvSpPr/>
          <p:nvPr/>
        </p:nvSpPr>
        <p:spPr>
          <a:xfrm>
            <a:off x="4757767" y="3217550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3C3060A-5B96-56F0-ADFC-E9216EBBB639}"/>
              </a:ext>
            </a:extLst>
          </p:cNvPr>
          <p:cNvSpPr/>
          <p:nvPr/>
        </p:nvSpPr>
        <p:spPr>
          <a:xfrm>
            <a:off x="4749603" y="3554261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85634-5367-ECB3-71E7-99C23B8D54A5}"/>
              </a:ext>
            </a:extLst>
          </p:cNvPr>
          <p:cNvSpPr txBox="1"/>
          <p:nvPr/>
        </p:nvSpPr>
        <p:spPr>
          <a:xfrm>
            <a:off x="5540738" y="3031015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f1.txt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DBCD9-B159-3E7D-150D-49E6583FBDAE}"/>
              </a:ext>
            </a:extLst>
          </p:cNvPr>
          <p:cNvSpPr txBox="1"/>
          <p:nvPr/>
        </p:nvSpPr>
        <p:spPr>
          <a:xfrm>
            <a:off x="5542819" y="3367727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f2.txt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773B2B4-CDCC-8F88-1648-27C32C4AD91F}"/>
              </a:ext>
            </a:extLst>
          </p:cNvPr>
          <p:cNvSpPr/>
          <p:nvPr/>
        </p:nvSpPr>
        <p:spPr>
          <a:xfrm>
            <a:off x="4741439" y="3888797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5EF328-0922-112C-50C4-E20AF13B6684}"/>
              </a:ext>
            </a:extLst>
          </p:cNvPr>
          <p:cNvSpPr txBox="1"/>
          <p:nvPr/>
        </p:nvSpPr>
        <p:spPr>
          <a:xfrm>
            <a:off x="5552979" y="3702263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f3.txt</a:t>
            </a:r>
          </a:p>
        </p:txBody>
      </p:sp>
    </p:spTree>
    <p:extLst>
      <p:ext uri="{BB962C8B-B14F-4D97-AF65-F5344CB8AC3E}">
        <p14:creationId xmlns:p14="http://schemas.microsoft.com/office/powerpoint/2010/main" val="213845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Duplicating a File Descriptor</a:t>
            </a: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E9386-D4B5-2F41-BFB1-2D0D9668472D}"/>
              </a:ext>
            </a:extLst>
          </p:cNvPr>
          <p:cNvSpPr txBox="1"/>
          <p:nvPr/>
        </p:nvSpPr>
        <p:spPr>
          <a:xfrm>
            <a:off x="1201480" y="1772300"/>
            <a:ext cx="6964326" cy="447049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compatLnSpc="0"/>
          <a:lstStyle/>
          <a:p>
            <a:pPr marL="0" lvl="1" hangingPunct="0">
              <a:spcAft>
                <a:spcPts val="1306"/>
              </a:spcAft>
              <a:tabLst>
                <a:tab pos="322637" algn="l"/>
                <a:tab pos="645275" algn="l"/>
                <a:tab pos="967585" algn="l"/>
                <a:tab pos="1290222" algn="l"/>
                <a:tab pos="1612860" algn="l"/>
                <a:tab pos="1935497" algn="l"/>
                <a:tab pos="2257808" algn="l"/>
                <a:tab pos="2580446" algn="l"/>
                <a:tab pos="2903083" algn="l"/>
                <a:tab pos="3225720" algn="l"/>
                <a:tab pos="3548357" algn="l"/>
                <a:tab pos="387066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Courier New" pitchFamily="49"/>
                <a:ea typeface="Helvetica" pitchFamily="34"/>
                <a:cs typeface="Helvetica" pitchFamily="34"/>
              </a:rPr>
              <a:t>$ cat   0&lt; f1.txt   1&gt; f2.txt   </a:t>
            </a:r>
            <a:r>
              <a:rPr lang="en-US" sz="2400" b="1" dirty="0">
                <a:latin typeface="Courier New" pitchFamily="49"/>
                <a:ea typeface="Helvetica" pitchFamily="34"/>
                <a:cs typeface="Helvetica" pitchFamily="34"/>
              </a:rPr>
              <a:t>2&gt; &amp;1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267FF3-38CD-80BA-8BA9-9DFC9C4A8C8D}"/>
              </a:ext>
            </a:extLst>
          </p:cNvPr>
          <p:cNvSpPr txBox="1"/>
          <p:nvPr/>
        </p:nvSpPr>
        <p:spPr>
          <a:xfrm>
            <a:off x="444135" y="1096005"/>
            <a:ext cx="7966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I/O redirection also achieved by duplicating a descriptor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E2B379-D2A6-665C-9B41-7F60E3A6F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13647"/>
              </p:ext>
            </p:extLst>
          </p:nvPr>
        </p:nvGraphicFramePr>
        <p:xfrm>
          <a:off x="3824432" y="2931881"/>
          <a:ext cx="1530219" cy="3224832"/>
        </p:xfrm>
        <a:graphic>
          <a:graphicData uri="http://schemas.openxmlformats.org/drawingml/2006/table">
            <a:tbl>
              <a:tblPr/>
              <a:tblGrid>
                <a:gridCol w="822909">
                  <a:extLst>
                    <a:ext uri="{9D8B030D-6E8A-4147-A177-3AD203B41FA5}">
                      <a16:colId xmlns:a16="http://schemas.microsoft.com/office/drawing/2014/main" val="3654838682"/>
                    </a:ext>
                  </a:extLst>
                </a:gridCol>
                <a:gridCol w="707310">
                  <a:extLst>
                    <a:ext uri="{9D8B030D-6E8A-4147-A177-3AD203B41FA5}">
                      <a16:colId xmlns:a16="http://schemas.microsoft.com/office/drawing/2014/main" val="1246176428"/>
                    </a:ext>
                  </a:extLst>
                </a:gridCol>
              </a:tblGrid>
              <a:tr h="483622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Fd</a:t>
                      </a: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 flags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1600" b="1" i="0" u="none" strike="noStrike" kern="1200" dirty="0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File </a:t>
                      </a:r>
                      <a:r>
                        <a:rPr lang="en-US" sz="1600" b="1" i="0" u="none" strike="noStrike" kern="1200" dirty="0" err="1">
                          <a:ln>
                            <a:noFill/>
                          </a:ln>
                          <a:latin typeface="Arial" pitchFamily="34"/>
                          <a:ea typeface="DejaVu Sans" pitchFamily="2"/>
                          <a:cs typeface="Lohit Hindi" pitchFamily="2"/>
                        </a:rPr>
                        <a:t>ptr</a:t>
                      </a:r>
                      <a:endParaRPr lang="en-US" sz="1600" b="1" i="0" u="none" strike="noStrike" kern="1200" dirty="0">
                        <a:ln>
                          <a:noFill/>
                        </a:ln>
                        <a:latin typeface="Arial" pitchFamily="34"/>
                        <a:ea typeface="DejaVu Sans" pitchFamily="2"/>
                        <a:cs typeface="Lohit Hindi" pitchFamily="2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58245227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44551095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149893633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3722400031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039394756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4238772809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007623492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2879412628"/>
                  </a:ext>
                </a:extLst>
              </a:tr>
              <a:tr h="331776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600" b="0" i="0" u="none" strike="noStrike" kern="1200" dirty="0">
                        <a:ln>
                          <a:noFill/>
                        </a:ln>
                        <a:latin typeface="Liberation Sans" pitchFamily="18"/>
                      </a:endParaRPr>
                    </a:p>
                  </a:txBody>
                  <a:tcPr marL="82944" marR="82944" marT="41472" marB="41472"/>
                </a:tc>
                <a:extLst>
                  <a:ext uri="{0D108BD9-81ED-4DB2-BD59-A6C34878D82A}">
                    <a16:rowId xmlns:a16="http://schemas.microsoft.com/office/drawing/2014/main" val="175915128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3FC9F62-4C92-12A6-AB7C-313427AF2364}"/>
              </a:ext>
            </a:extLst>
          </p:cNvPr>
          <p:cNvSpPr txBox="1"/>
          <p:nvPr/>
        </p:nvSpPr>
        <p:spPr>
          <a:xfrm>
            <a:off x="4082121" y="2575068"/>
            <a:ext cx="921489" cy="347893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>
                <a:latin typeface="Liberation Sans" pitchFamily="18"/>
                <a:ea typeface="DejaVu Sans" pitchFamily="2"/>
                <a:cs typeface="Lohit Hindi" pitchFamily="2"/>
              </a:rPr>
              <a:t>PPFDT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09B461-A31A-0DFC-63A7-4406C3610B00}"/>
              </a:ext>
            </a:extLst>
          </p:cNvPr>
          <p:cNvSpPr txBox="1"/>
          <p:nvPr/>
        </p:nvSpPr>
        <p:spPr>
          <a:xfrm>
            <a:off x="3496384" y="3530969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7B37B1-FBED-B93B-7609-93911F420883}"/>
              </a:ext>
            </a:extLst>
          </p:cNvPr>
          <p:cNvSpPr txBox="1"/>
          <p:nvPr/>
        </p:nvSpPr>
        <p:spPr>
          <a:xfrm>
            <a:off x="3496710" y="3835025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F27B9-459D-285B-3A4B-F3F2CF163F20}"/>
              </a:ext>
            </a:extLst>
          </p:cNvPr>
          <p:cNvSpPr txBox="1"/>
          <p:nvPr/>
        </p:nvSpPr>
        <p:spPr>
          <a:xfrm>
            <a:off x="3497036" y="4161576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DAC402-E6F6-7F94-CA21-251EA8719D4F}"/>
              </a:ext>
            </a:extLst>
          </p:cNvPr>
          <p:cNvSpPr txBox="1"/>
          <p:nvPr/>
        </p:nvSpPr>
        <p:spPr>
          <a:xfrm>
            <a:off x="3497364" y="4516415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05A591-A8F6-8546-1100-4019C113D685}"/>
              </a:ext>
            </a:extLst>
          </p:cNvPr>
          <p:cNvSpPr txBox="1"/>
          <p:nvPr/>
        </p:nvSpPr>
        <p:spPr>
          <a:xfrm>
            <a:off x="3497690" y="4831375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51E518-3A2B-980D-0A60-1380FA8F5BF2}"/>
              </a:ext>
            </a:extLst>
          </p:cNvPr>
          <p:cNvSpPr txBox="1"/>
          <p:nvPr/>
        </p:nvSpPr>
        <p:spPr>
          <a:xfrm>
            <a:off x="2466215" y="5838316"/>
            <a:ext cx="1384756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 dirty="0">
                <a:latin typeface="Arial" pitchFamily="34"/>
                <a:ea typeface="DejaVu Sans" pitchFamily="2"/>
                <a:cs typeface="Lohit Hindi" pitchFamily="2"/>
              </a:rPr>
              <a:t>OPENMAX-1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715CC0-7D8E-7473-B6F9-2360FFAE3011}"/>
              </a:ext>
            </a:extLst>
          </p:cNvPr>
          <p:cNvSpPr txBox="1"/>
          <p:nvPr/>
        </p:nvSpPr>
        <p:spPr>
          <a:xfrm>
            <a:off x="3498016" y="5192481"/>
            <a:ext cx="279004" cy="31839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hangingPunct="0"/>
            <a:r>
              <a:rPr lang="en-US" sz="1600" b="1">
                <a:latin typeface="Arial" pitchFamily="34"/>
                <a:ea typeface="DejaVu Sans" pitchFamily="2"/>
                <a:cs typeface="Lohit Hindi" pitchFamily="2"/>
              </a:rPr>
              <a:t>5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3D44780-49C8-C139-EF53-0D1FC961C907}"/>
              </a:ext>
            </a:extLst>
          </p:cNvPr>
          <p:cNvSpPr/>
          <p:nvPr/>
        </p:nvSpPr>
        <p:spPr>
          <a:xfrm>
            <a:off x="4864097" y="3685391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AC72857B-F0E1-67DC-FEBA-CED21B7D897B}"/>
              </a:ext>
            </a:extLst>
          </p:cNvPr>
          <p:cNvSpPr/>
          <p:nvPr/>
        </p:nvSpPr>
        <p:spPr>
          <a:xfrm>
            <a:off x="4855933" y="4022102"/>
            <a:ext cx="829440" cy="0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09C04D-9A8D-99D9-60FA-891FABCC8A54}"/>
              </a:ext>
            </a:extLst>
          </p:cNvPr>
          <p:cNvSpPr txBox="1"/>
          <p:nvPr/>
        </p:nvSpPr>
        <p:spPr>
          <a:xfrm>
            <a:off x="5647068" y="3498856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f1.txt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E6522-44FF-B66F-2541-19BBCF4901E7}"/>
              </a:ext>
            </a:extLst>
          </p:cNvPr>
          <p:cNvSpPr txBox="1"/>
          <p:nvPr/>
        </p:nvSpPr>
        <p:spPr>
          <a:xfrm>
            <a:off x="5649149" y="3835568"/>
            <a:ext cx="995867" cy="343917"/>
          </a:xfrm>
          <a:prstGeom prst="rect">
            <a:avLst/>
          </a:prstGeom>
          <a:noFill/>
          <a:ln>
            <a:noFill/>
          </a:ln>
        </p:spPr>
        <p:txBody>
          <a:bodyPr vert="horz" wrap="none" lIns="81638" tIns="40819" rIns="81638" bIns="40819" anchorCtr="0" compatLnSpc="0">
            <a:spAutoFit/>
          </a:bodyPr>
          <a:lstStyle/>
          <a:p>
            <a:pPr algn="ctr" hangingPunct="0"/>
            <a:r>
              <a:rPr lang="en-US" b="1" dirty="0">
                <a:latin typeface="Courier New" pitchFamily="50"/>
                <a:ea typeface="DejaVu Sans" pitchFamily="2"/>
                <a:cs typeface="Lohit Hindi" pitchFamily="2"/>
              </a:rPr>
              <a:t>f2.txt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3E0F3FDC-C03E-8207-6A3F-697A06C09B45}"/>
              </a:ext>
            </a:extLst>
          </p:cNvPr>
          <p:cNvSpPr/>
          <p:nvPr/>
        </p:nvSpPr>
        <p:spPr>
          <a:xfrm flipV="1">
            <a:off x="5134257" y="4208636"/>
            <a:ext cx="559280" cy="157382"/>
          </a:xfrm>
          <a:prstGeom prst="line">
            <a:avLst/>
          </a:prstGeom>
          <a:noFill/>
          <a:ln w="36720">
            <a:solidFill>
              <a:srgbClr val="000099"/>
            </a:solidFill>
            <a:prstDash val="solid"/>
            <a:tailEnd type="arrow"/>
          </a:ln>
        </p:spPr>
        <p:txBody>
          <a:bodyPr vert="horz" wrap="none" lIns="97965" tIns="57146" rIns="97965" bIns="57146" anchor="ctr" anchorCtr="1" compatLnSpc="0"/>
          <a:lstStyle/>
          <a:p>
            <a:pPr hangingPunct="0"/>
            <a:endParaRPr lang="en-US" sz="1633">
              <a:latin typeface="Liberation Sans" pitchFamily="18"/>
              <a:ea typeface="DejaVu Sans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5542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3175-4E0F-4116-BB4E-D72029E1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801688"/>
          </a:xfrm>
        </p:spPr>
        <p:txBody>
          <a:bodyPr/>
          <a:lstStyle/>
          <a:p>
            <a:r>
              <a:rPr lang="en-US" dirty="0"/>
              <a:t>I/O Redirection in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A6FD-9A39-4BE3-807E-F796DF54E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0" y="1060768"/>
            <a:ext cx="8663396" cy="5482272"/>
          </a:xfrm>
        </p:spPr>
        <p:txBody>
          <a:bodyPr/>
          <a:lstStyle/>
          <a:p>
            <a:r>
              <a:rPr lang="en-US" b="1" dirty="0"/>
              <a:t>dup ( )</a:t>
            </a:r>
            <a:endParaRPr lang="en-US" dirty="0"/>
          </a:p>
          <a:p>
            <a:pPr marL="630238" lvl="1"/>
            <a:r>
              <a:rPr lang="en-US" sz="2400" dirty="0"/>
              <a:t>dup() system call creates a copy of a file descriptor</a:t>
            </a:r>
          </a:p>
          <a:p>
            <a:pPr marL="0" lvl="1" indent="0" hangingPunct="0">
              <a:spcBef>
                <a:spcPts val="1800"/>
              </a:spcBef>
              <a:buNone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>
                <a:solidFill>
                  <a:srgbClr val="006699"/>
                </a:solidFill>
              </a:rPr>
              <a:t>				   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copyfd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dup (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oldfd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0" lvl="1" indent="0" hangingPunct="0">
              <a:spcBef>
                <a:spcPts val="1800"/>
              </a:spcBef>
              <a:buNone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300" b="1" dirty="0">
                <a:solidFill>
                  <a:srgbClr val="006699"/>
                </a:solidFill>
              </a:rPr>
              <a:t>			</a:t>
            </a:r>
            <a:r>
              <a:rPr lang="en-US" sz="2300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oldfd</a:t>
            </a:r>
            <a:r>
              <a:rPr lang="en-US" sz="23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3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file descriptor</a:t>
            </a:r>
            <a:r>
              <a:rPr lang="en-US" sz="2300" i="1" dirty="0">
                <a:latin typeface="Calibri" panose="020F0502020204030204" pitchFamily="34" charset="0"/>
                <a:cs typeface="Calibri" panose="020F0502020204030204" pitchFamily="34" charset="0"/>
              </a:rPr>
              <a:t>, whose copy is to be created</a:t>
            </a:r>
          </a:p>
          <a:p>
            <a:pPr marL="0" lvl="1" indent="0">
              <a:spcBef>
                <a:spcPts val="1200"/>
              </a:spcBef>
              <a:buNone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300" i="1" dirty="0"/>
              <a:t>			</a:t>
            </a:r>
            <a:r>
              <a:rPr lang="en-US" sz="2300" i="1" dirty="0">
                <a:solidFill>
                  <a:srgbClr val="006699"/>
                </a:solidFill>
              </a:rPr>
              <a:t> </a:t>
            </a:r>
            <a:r>
              <a:rPr lang="en-US" sz="2300" i="1" dirty="0" err="1">
                <a:solidFill>
                  <a:srgbClr val="0070C0"/>
                </a:solidFill>
              </a:rPr>
              <a:t>copyfd</a:t>
            </a:r>
            <a:r>
              <a:rPr lang="en-US" sz="2300" b="1" i="1" dirty="0">
                <a:solidFill>
                  <a:srgbClr val="006699"/>
                </a:solidFill>
              </a:rPr>
              <a:t> :</a:t>
            </a:r>
            <a:r>
              <a:rPr lang="en-US" sz="2300" i="1" dirty="0"/>
              <a:t>    new descriptor, </a:t>
            </a:r>
            <a:r>
              <a:rPr lang="en-US" sz="2300" i="1" dirty="0">
                <a:solidFill>
                  <a:srgbClr val="FF0000"/>
                </a:solidFill>
              </a:rPr>
              <a:t>copy of </a:t>
            </a:r>
            <a:r>
              <a:rPr lang="en-US" sz="2300" i="1" dirty="0" err="1">
                <a:solidFill>
                  <a:srgbClr val="FF0000"/>
                </a:solidFill>
              </a:rPr>
              <a:t>oldfd</a:t>
            </a:r>
            <a:r>
              <a:rPr lang="en-US" sz="2300" i="1" dirty="0"/>
              <a:t>, returned by dup() </a:t>
            </a:r>
            <a:endParaRPr lang="en-US" sz="2300" i="1" dirty="0">
              <a:solidFill>
                <a:srgbClr val="006699"/>
              </a:solidFill>
            </a:endParaRPr>
          </a:p>
          <a:p>
            <a:pPr marL="630238" lvl="1"/>
            <a:endParaRPr lang="en-US" sz="800" dirty="0"/>
          </a:p>
          <a:p>
            <a:pPr marL="630238" lvl="1">
              <a:spcBef>
                <a:spcPts val="1200"/>
              </a:spcBef>
            </a:pPr>
            <a:r>
              <a:rPr lang="en-US" sz="2400" dirty="0"/>
              <a:t>if copy created successfully…</a:t>
            </a:r>
          </a:p>
          <a:p>
            <a:pPr marL="973138" lvl="2">
              <a:spcBef>
                <a:spcPts val="900"/>
              </a:spcBef>
            </a:pPr>
            <a:r>
              <a:rPr lang="en-US" dirty="0"/>
              <a:t>new entry in PPFDT 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lowest-number unused descriptor </a:t>
            </a:r>
          </a:p>
          <a:p>
            <a:pPr marL="973138" lvl="2">
              <a:spcBef>
                <a:spcPts val="900"/>
              </a:spcBef>
            </a:pPr>
            <a:r>
              <a:rPr lang="en-US" dirty="0"/>
              <a:t>both descriptors refer to </a:t>
            </a:r>
            <a:r>
              <a:rPr lang="en-US" dirty="0">
                <a:solidFill>
                  <a:srgbClr val="0070C0"/>
                </a:solidFill>
              </a:rPr>
              <a:t>same open file 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SWFT,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3138" lvl="2">
              <a:spcBef>
                <a:spcPts val="900"/>
              </a:spcBef>
            </a:pPr>
            <a:r>
              <a:rPr lang="en-US" dirty="0"/>
              <a:t>both share </a:t>
            </a:r>
            <a:r>
              <a:rPr lang="en-US" dirty="0">
                <a:solidFill>
                  <a:srgbClr val="0070C0"/>
                </a:solidFill>
              </a:rPr>
              <a:t>file offset </a:t>
            </a:r>
            <a:r>
              <a:rPr lang="en-US" dirty="0"/>
              <a:t>&amp; file status </a:t>
            </a:r>
            <a:r>
              <a:rPr lang="en-US" dirty="0">
                <a:solidFill>
                  <a:srgbClr val="0070C0"/>
                </a:solidFill>
              </a:rPr>
              <a:t>flags</a:t>
            </a:r>
          </a:p>
          <a:p>
            <a:pPr marL="973138" lvl="2">
              <a:spcBef>
                <a:spcPts val="900"/>
              </a:spcBef>
            </a:pPr>
            <a:r>
              <a:rPr lang="en-US" dirty="0"/>
              <a:t>both may be used </a:t>
            </a:r>
            <a:r>
              <a:rPr lang="en-US" dirty="0">
                <a:solidFill>
                  <a:srgbClr val="0070C0"/>
                </a:solidFill>
              </a:rPr>
              <a:t>interchangeably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4CE4B-D888-14BA-4316-88DF30A7375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424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1806-E576-4540-B004-CBC35E85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792480"/>
          </a:xfrm>
        </p:spPr>
        <p:txBody>
          <a:bodyPr/>
          <a:lstStyle/>
          <a:p>
            <a:r>
              <a:rPr lang="en-US" dirty="0"/>
              <a:t>Example code of dup()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34C3-5591-488A-B3BB-306F950A1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33" y="1163637"/>
            <a:ext cx="4386216" cy="542004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fd1, fd2, n;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char buff[10];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fd1 = open ("abc.txt",</a:t>
            </a:r>
            <a:b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O_RDONLY);</a:t>
            </a: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fd2 = dup(fd1);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9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//read via fd1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n = read (fd1, buff, 5);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write(1, buff, n);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E128B-5ABE-8581-9CC9-886B6DD7ADA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1F7795-780F-6A7C-E456-A44FEF9302D0}"/>
              </a:ext>
            </a:extLst>
          </p:cNvPr>
          <p:cNvSpPr txBox="1">
            <a:spLocks/>
          </p:cNvSpPr>
          <p:nvPr/>
        </p:nvSpPr>
        <p:spPr bwMode="auto">
          <a:xfrm>
            <a:off x="5075297" y="1169034"/>
            <a:ext cx="3826690" cy="4175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8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9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//read via fd2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n = read (fd2, buff,</a:t>
            </a:r>
            <a:b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	 5);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write(1, buff, n);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900" b="1" kern="0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//again read via fd1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n = read (fd1, buff,</a:t>
            </a:r>
            <a:b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	 5);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write(1, buff, n);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9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461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3175-4E0F-4116-BB4E-D72029E1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801688"/>
          </a:xfrm>
        </p:spPr>
        <p:txBody>
          <a:bodyPr/>
          <a:lstStyle/>
          <a:p>
            <a:r>
              <a:rPr lang="en-US" dirty="0"/>
              <a:t>I/O Redirection in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A6FD-9A39-4BE3-807E-F796DF54E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58" y="1104312"/>
            <a:ext cx="8418830" cy="5482272"/>
          </a:xfrm>
        </p:spPr>
        <p:txBody>
          <a:bodyPr/>
          <a:lstStyle/>
          <a:p>
            <a:r>
              <a:rPr lang="en-US" b="1" dirty="0"/>
              <a:t>dup2 ( )</a:t>
            </a:r>
            <a:endParaRPr lang="en-US" dirty="0"/>
          </a:p>
          <a:p>
            <a:pPr marL="630238" lvl="1"/>
            <a:r>
              <a:rPr lang="en-US" sz="2400" i="1" dirty="0">
                <a:solidFill>
                  <a:srgbClr val="FF0000"/>
                </a:solidFill>
              </a:rPr>
              <a:t>duplicates</a:t>
            </a:r>
            <a:r>
              <a:rPr lang="en-US" sz="2400" dirty="0"/>
              <a:t> a file descriptor, and </a:t>
            </a:r>
            <a:r>
              <a:rPr lang="en-US" sz="2400" i="1" dirty="0">
                <a:solidFill>
                  <a:srgbClr val="FF0000"/>
                </a:solidFill>
              </a:rPr>
              <a:t>associates</a:t>
            </a:r>
            <a:r>
              <a:rPr lang="en-US" sz="2400" dirty="0"/>
              <a:t> it with the specified file </a:t>
            </a:r>
            <a:r>
              <a:rPr lang="en-US" sz="2400" i="1" dirty="0">
                <a:solidFill>
                  <a:srgbClr val="FF0000"/>
                </a:solidFill>
              </a:rPr>
              <a:t>descriptor number</a:t>
            </a:r>
          </a:p>
          <a:p>
            <a:pPr marL="0" lvl="1" indent="0" hangingPunct="0">
              <a:spcBef>
                <a:spcPts val="2400"/>
              </a:spcBef>
              <a:buNone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dirty="0">
                <a:solidFill>
                  <a:srgbClr val="006699"/>
                </a:solidFill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dup2 ( int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oldfd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0" lvl="1" indent="0" hangingPunct="0">
              <a:spcBef>
                <a:spcPts val="2400"/>
              </a:spcBef>
              <a:buNone/>
              <a:tabLst>
                <a:tab pos="355600" algn="l"/>
                <a:tab pos="711200" algn="l"/>
                <a:tab pos="1065213" algn="l"/>
                <a:tab pos="1420813" algn="l"/>
                <a:tab pos="1947863" algn="l"/>
                <a:tab pos="2176463" algn="l"/>
                <a:tab pos="2487613" algn="l"/>
                <a:tab pos="2843213" algn="l"/>
                <a:tab pos="3200400" algn="l"/>
                <a:tab pos="3556000" algn="l"/>
                <a:tab pos="3911600" algn="l"/>
                <a:tab pos="4265613" algn="l"/>
              </a:tabLst>
            </a:pPr>
            <a:r>
              <a:rPr lang="en-US" sz="2400" b="1" dirty="0">
                <a:solidFill>
                  <a:srgbClr val="006699"/>
                </a:solidFill>
              </a:rPr>
              <a:t>			</a:t>
            </a:r>
            <a:r>
              <a:rPr lang="en-US" sz="2300" b="1" i="1" dirty="0" err="1">
                <a:solidFill>
                  <a:srgbClr val="006699"/>
                </a:solidFill>
              </a:rPr>
              <a:t>oldfd</a:t>
            </a:r>
            <a:r>
              <a:rPr lang="en-US" sz="2300" b="1" dirty="0">
                <a:solidFill>
                  <a:srgbClr val="006699"/>
                </a:solidFill>
              </a:rPr>
              <a:t> 	:</a:t>
            </a:r>
            <a:r>
              <a:rPr lang="en-US" sz="2300" dirty="0"/>
              <a:t>   </a:t>
            </a:r>
            <a:r>
              <a:rPr lang="en-US" dirty="0"/>
              <a:t>old file descriptor, to be duplicated</a:t>
            </a:r>
          </a:p>
          <a:p>
            <a:pPr marL="0" lvl="1" indent="0">
              <a:spcBef>
                <a:spcPts val="600"/>
              </a:spcBef>
              <a:buNone/>
              <a:tabLst>
                <a:tab pos="355600" algn="l"/>
                <a:tab pos="711200" algn="l"/>
                <a:tab pos="1065213" algn="l"/>
                <a:tab pos="1420813" algn="l"/>
                <a:tab pos="1947863" algn="l"/>
                <a:tab pos="2176463" algn="l"/>
                <a:tab pos="2487613" algn="l"/>
                <a:tab pos="2843213" algn="l"/>
                <a:tab pos="3200400" algn="l"/>
                <a:tab pos="3556000" algn="l"/>
                <a:tab pos="3911600" algn="l"/>
                <a:tab pos="4265613" algn="l"/>
              </a:tabLst>
            </a:pPr>
            <a:r>
              <a:rPr lang="en-US" sz="2300" b="1" dirty="0">
                <a:solidFill>
                  <a:srgbClr val="006699"/>
                </a:solidFill>
              </a:rPr>
              <a:t>			</a:t>
            </a:r>
            <a:r>
              <a:rPr lang="en-US" sz="2300" b="1" i="1" dirty="0" err="1">
                <a:solidFill>
                  <a:srgbClr val="006699"/>
                </a:solidFill>
              </a:rPr>
              <a:t>newfd</a:t>
            </a:r>
            <a:r>
              <a:rPr lang="en-US" sz="2300" b="1" i="1" dirty="0">
                <a:solidFill>
                  <a:srgbClr val="006699"/>
                </a:solidFill>
              </a:rPr>
              <a:t> 	</a:t>
            </a:r>
            <a:r>
              <a:rPr lang="en-US" sz="2300" b="1" dirty="0">
                <a:solidFill>
                  <a:srgbClr val="006699"/>
                </a:solidFill>
              </a:rPr>
              <a:t>:</a:t>
            </a:r>
            <a:r>
              <a:rPr lang="en-US" sz="2300" dirty="0"/>
              <a:t>   </a:t>
            </a:r>
            <a:r>
              <a:rPr lang="en-US" dirty="0"/>
              <a:t>file descriptor number for the duplicated file </a:t>
            </a:r>
            <a:br>
              <a:rPr lang="en-US" dirty="0"/>
            </a:br>
            <a:r>
              <a:rPr lang="en-US" dirty="0"/>
              <a:t>					     descriptor</a:t>
            </a:r>
          </a:p>
          <a:p>
            <a:pPr marL="973138" lvl="2">
              <a:spcBef>
                <a:spcPts val="2400"/>
              </a:spcBef>
            </a:pPr>
            <a:r>
              <a:rPr lang="en-US" dirty="0"/>
              <a:t>does not use the lowest-number unused file descriptor</a:t>
            </a:r>
          </a:p>
          <a:p>
            <a:pPr marL="973138" lvl="2"/>
            <a:r>
              <a:rPr lang="en-US" dirty="0"/>
              <a:t>instead, uses descriptor number specified by user</a:t>
            </a:r>
            <a:endParaRPr lang="en-US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238"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4CE4B-D888-14BA-4316-88DF30A7375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492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0EFA-C263-4159-ABF4-212C1702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782320"/>
          </a:xfrm>
        </p:spPr>
        <p:txBody>
          <a:bodyPr/>
          <a:lstStyle/>
          <a:p>
            <a:r>
              <a:rPr lang="en-US" dirty="0"/>
              <a:t>Example code of dup2 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DF250-E665-47A5-938E-5A53A97A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068568"/>
            <a:ext cx="8666480" cy="560138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&lt;stdlib.h&gt;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fcntl.h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file_desc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open("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tricky.txt",O_WRONLY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O_APPEND);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dup2(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file_desc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1);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here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i.e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file descriptor of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now points to file tricky.txt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("I will be printed in the file tricky.txt\n");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statement will be written in file tricky.txt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D44F4-FCFC-B78D-4501-ED7A90D549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50878" y="2276817"/>
            <a:ext cx="8558618" cy="1478754"/>
          </a:xfrm>
        </p:spPr>
        <p:txBody>
          <a:bodyPr/>
          <a:lstStyle/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Inter Process Communication</a:t>
            </a:r>
          </a:p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(IPC)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683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8829" y="201839"/>
            <a:ext cx="7906884" cy="487362"/>
          </a:xfrm>
        </p:spPr>
        <p:txBody>
          <a:bodyPr>
            <a:noAutofit/>
          </a:bodyPr>
          <a:lstStyle/>
          <a:p>
            <a:r>
              <a:rPr lang="en-US" b="1" dirty="0"/>
              <a:t>Cooperating Processes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0708" y="1045029"/>
            <a:ext cx="8505004" cy="561113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Independent process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that </a:t>
            </a:r>
            <a:r>
              <a:rPr lang="en-US" i="1" dirty="0">
                <a:solidFill>
                  <a:srgbClr val="FF0000"/>
                </a:solidFill>
              </a:rPr>
              <a:t>cannot affect </a:t>
            </a:r>
            <a:r>
              <a:rPr lang="en-US" dirty="0"/>
              <a:t>or </a:t>
            </a:r>
            <a:r>
              <a:rPr lang="en-US" i="1" dirty="0">
                <a:solidFill>
                  <a:srgbClr val="FF0000"/>
                </a:solidFill>
              </a:rPr>
              <a:t>be affected by</a:t>
            </a:r>
            <a:r>
              <a:rPr lang="en-US" dirty="0"/>
              <a:t> execution of another process</a:t>
            </a:r>
          </a:p>
          <a:p>
            <a:pPr marL="457200" lvl="1" indent="0" algn="ctr">
              <a:spcBef>
                <a:spcPts val="600"/>
              </a:spcBef>
              <a:buNone/>
            </a:pPr>
            <a:r>
              <a:rPr lang="en-US" sz="2300" i="1" dirty="0">
                <a:solidFill>
                  <a:srgbClr val="0070C0"/>
                </a:solidFill>
              </a:rPr>
              <a:t>“process that does not share data with another process”</a:t>
            </a:r>
          </a:p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</a:rPr>
              <a:t>Cooperating process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process that </a:t>
            </a:r>
            <a:r>
              <a:rPr lang="en-US" i="1" dirty="0">
                <a:solidFill>
                  <a:srgbClr val="FF0000"/>
                </a:solidFill>
              </a:rPr>
              <a:t>can affect </a:t>
            </a:r>
            <a:r>
              <a:rPr lang="en-US" dirty="0"/>
              <a:t>or </a:t>
            </a:r>
            <a:r>
              <a:rPr lang="en-US" i="1" dirty="0">
                <a:solidFill>
                  <a:srgbClr val="FF0000"/>
                </a:solidFill>
              </a:rPr>
              <a:t>be affected by</a:t>
            </a:r>
            <a:r>
              <a:rPr lang="en-US" dirty="0"/>
              <a:t> execution of another process</a:t>
            </a:r>
          </a:p>
          <a:p>
            <a:pPr marL="1147763" lvl="1" indent="0">
              <a:spcBef>
                <a:spcPts val="600"/>
              </a:spcBef>
              <a:buNone/>
            </a:pPr>
            <a:r>
              <a:rPr lang="en-US" sz="2300" i="1" dirty="0">
                <a:solidFill>
                  <a:srgbClr val="0070C0"/>
                </a:solidFill>
              </a:rPr>
              <a:t>“process that shares data with another process”</a:t>
            </a:r>
          </a:p>
          <a:p>
            <a:pPr>
              <a:spcBef>
                <a:spcPts val="1800"/>
              </a:spcBef>
            </a:pPr>
            <a:r>
              <a:rPr lang="en-US" dirty="0"/>
              <a:t>Advantages of Cooperating processes: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information sharing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computation speed up</a:t>
            </a:r>
          </a:p>
          <a:p>
            <a:pPr lvl="1">
              <a:spcBef>
                <a:spcPts val="0"/>
              </a:spcBef>
            </a:pPr>
            <a:r>
              <a:rPr lang="en-US" dirty="0"/>
              <a:t>modularity</a:t>
            </a:r>
          </a:p>
        </p:txBody>
      </p:sp>
      <p:pic>
        <p:nvPicPr>
          <p:cNvPr id="7" name="Picture 4" descr="bd05584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42308" y="4043190"/>
            <a:ext cx="1774922" cy="2368498"/>
          </a:xfrm>
          <a:prstGeom prst="rect">
            <a:avLst/>
          </a:prstGeo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C377D6D-F71B-6DE2-58CB-07C4E43D241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145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9714" y="239486"/>
            <a:ext cx="7587343" cy="487362"/>
          </a:xfrm>
        </p:spPr>
        <p:txBody>
          <a:bodyPr>
            <a:noAutofit/>
          </a:bodyPr>
          <a:lstStyle/>
          <a:p>
            <a:r>
              <a:rPr lang="en-US" b="1" dirty="0"/>
              <a:t>Inter Process Communication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3F35F92-CB38-C03F-C0B4-4B72698C0C2C}"/>
              </a:ext>
            </a:extLst>
          </p:cNvPr>
          <p:cNvSpPr txBox="1">
            <a:spLocks noChangeArrowheads="1"/>
          </p:cNvSpPr>
          <p:nvPr/>
        </p:nvSpPr>
        <p:spPr>
          <a:xfrm>
            <a:off x="426720" y="1128945"/>
            <a:ext cx="8575766" cy="2401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 eaLnBrk="1" fontAlgn="auto" hangingPunct="1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Cooperating processes need to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communicate with each other </a:t>
            </a:r>
          </a:p>
          <a:p>
            <a:pPr marL="742950" lvl="1" indent="-285750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 some form of </a:t>
            </a:r>
            <a:r>
              <a:rPr lang="en-US" sz="23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 Process Communication </a:t>
            </a:r>
            <a:endParaRPr lang="en-US" altLang="en-US" sz="23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Two models of IPC…</a:t>
            </a:r>
          </a:p>
          <a:p>
            <a:pPr marL="742950" lvl="1" indent="-285750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</a:t>
            </a:r>
            <a:r>
              <a:rPr lang="en-US" altLang="en-US" sz="2200" b="1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742950" lvl="1" indent="-285750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 passing</a:t>
            </a:r>
          </a:p>
          <a:p>
            <a:pPr marL="568325" lvl="1" indent="-231775" eaLnBrk="1" fontAlgn="auto" hangingPunct="1">
              <a:spcBef>
                <a:spcPts val="18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9AFC6F5-77DF-1F15-C3D9-26CE6C2A8D2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39F09E-24A6-5D92-C6C3-B6E77609B0FA}"/>
              </a:ext>
            </a:extLst>
          </p:cNvPr>
          <p:cNvGrpSpPr/>
          <p:nvPr/>
        </p:nvGrpSpPr>
        <p:grpSpPr>
          <a:xfrm>
            <a:off x="1586854" y="3839384"/>
            <a:ext cx="5820170" cy="1668282"/>
            <a:chOff x="1768870" y="1096182"/>
            <a:chExt cx="5820170" cy="14094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53FF9E-CD2F-C263-6322-CB98733D8590}"/>
                </a:ext>
              </a:extLst>
            </p:cNvPr>
            <p:cNvSpPr txBox="1"/>
            <p:nvPr/>
          </p:nvSpPr>
          <p:spPr>
            <a:xfrm>
              <a:off x="4008470" y="1096182"/>
              <a:ext cx="1311947" cy="4873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square" lIns="81638" tIns="40819" rIns="81638" bIns="40819" anchor="ctr" anchorCtr="1" compatLnSpc="0">
              <a:noAutofit/>
            </a:bodyPr>
            <a:lstStyle/>
            <a:p>
              <a:pPr algn="ctr" hangingPunct="0"/>
              <a:r>
                <a:rPr lang="en-US" sz="2100" dirty="0">
                  <a:latin typeface="Liberation Sans" pitchFamily="18"/>
                  <a:ea typeface="DejaVu Sans" pitchFamily="2"/>
                  <a:cs typeface="Lohit Hindi" pitchFamily="2"/>
                </a:rPr>
                <a:t>IPC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0FD976-AD26-2ACB-4047-45AA373F9694}"/>
                </a:ext>
              </a:extLst>
            </p:cNvPr>
            <p:cNvSpPr txBox="1"/>
            <p:nvPr/>
          </p:nvSpPr>
          <p:spPr>
            <a:xfrm>
              <a:off x="1768870" y="2080474"/>
              <a:ext cx="2710688" cy="4251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square" lIns="81638" tIns="40819" rIns="81638" bIns="40819" anchor="ctr" anchorCtr="1" compatLnSpc="0">
              <a:noAutofit/>
            </a:bodyPr>
            <a:lstStyle/>
            <a:p>
              <a:pPr algn="ctr"/>
              <a:r>
                <a:rPr lang="en-US" sz="2100" dirty="0">
                  <a:latin typeface="Liberation Sans" pitchFamily="18"/>
                  <a:ea typeface="DejaVu Sans" pitchFamily="2"/>
                  <a:cs typeface="Lohit Hindi" pitchFamily="2"/>
                </a:rPr>
                <a:t>Shared Memory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B6C01F-9EC5-4BE6-42BD-0A1A9FB2BD48}"/>
                </a:ext>
              </a:extLst>
            </p:cNvPr>
            <p:cNvSpPr txBox="1"/>
            <p:nvPr/>
          </p:nvSpPr>
          <p:spPr>
            <a:xfrm>
              <a:off x="4878352" y="2080474"/>
              <a:ext cx="2710688" cy="4251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solidFill>
                <a:srgbClr val="000000"/>
              </a:solidFill>
              <a:prstDash val="solid"/>
            </a:ln>
          </p:spPr>
          <p:txBody>
            <a:bodyPr vert="horz" wrap="square" lIns="81638" tIns="40819" rIns="81638" bIns="40819" anchor="ctr" anchorCtr="1" compatLnSpc="0">
              <a:noAutofit/>
            </a:bodyPr>
            <a:lstStyle/>
            <a:p>
              <a:pPr algn="ctr"/>
              <a:r>
                <a:rPr lang="en-US" sz="2100" dirty="0">
                  <a:latin typeface="Liberation Sans" pitchFamily="18"/>
                  <a:ea typeface="DejaVu Sans" pitchFamily="2"/>
                  <a:cs typeface="Lohit Hindi" pitchFamily="2"/>
                </a:rPr>
                <a:t>Message Passing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C6BC6742-7DA0-23DE-2E1C-A951BCABAB04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 bwMode="auto">
            <a:xfrm rot="5400000">
              <a:off x="3645864" y="1061894"/>
              <a:ext cx="496930" cy="1540230"/>
            </a:xfrm>
            <a:prstGeom prst="bent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4080C294-9F6D-448B-48EB-A279F16C5155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 bwMode="auto">
            <a:xfrm rot="16200000" flipH="1">
              <a:off x="5200605" y="1047383"/>
              <a:ext cx="496930" cy="156925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240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06" y="1284317"/>
            <a:ext cx="24571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100" b="1" dirty="0">
                <a:solidFill>
                  <a:srgbClr val="0070C0"/>
                </a:solidFill>
                <a:latin typeface="Arial" panose="020B0604020202020204" pitchFamily="34" charset="0"/>
              </a:rPr>
              <a:t>Shared memory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969" y="1988290"/>
            <a:ext cx="6586386" cy="412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7316950-CF86-06C6-A5F3-5F583A38A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922" y="1284317"/>
            <a:ext cx="28470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100" b="1" dirty="0">
                <a:solidFill>
                  <a:srgbClr val="0070C0"/>
                </a:solidFill>
                <a:latin typeface="Arial" panose="020B0604020202020204" pitchFamily="34" charset="0"/>
              </a:rPr>
              <a:t>Message passing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613DB-2E9C-2685-AB0F-C2BB2F3684D1}"/>
              </a:ext>
            </a:extLst>
          </p:cNvPr>
          <p:cNvSpPr/>
          <p:nvPr/>
        </p:nvSpPr>
        <p:spPr bwMode="auto">
          <a:xfrm>
            <a:off x="2647507" y="5709684"/>
            <a:ext cx="3891516" cy="40105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02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0585" y="0"/>
            <a:ext cx="8223415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630" y="1168699"/>
            <a:ext cx="8593590" cy="4385259"/>
          </a:xfrm>
        </p:spPr>
        <p:txBody>
          <a:bodyPr/>
          <a:lstStyle/>
          <a:p>
            <a:pPr marL="0" indent="0" algn="ctr">
              <a:spcBef>
                <a:spcPts val="1200"/>
              </a:spcBef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“Processes that wish to communicate </a:t>
            </a:r>
            <a:br>
              <a:rPr lang="en-US" altLang="en-US" i="1" dirty="0">
                <a:solidFill>
                  <a:srgbClr val="FF0000"/>
                </a:solidFill>
              </a:rPr>
            </a:br>
            <a:r>
              <a:rPr lang="en-US" altLang="en-US" i="1" dirty="0">
                <a:solidFill>
                  <a:srgbClr val="FF0000"/>
                </a:solidFill>
              </a:rPr>
              <a:t>set up a </a:t>
            </a:r>
            <a:r>
              <a:rPr lang="en-US" altLang="en-US" b="1" i="1" dirty="0">
                <a:solidFill>
                  <a:srgbClr val="0070C0"/>
                </a:solidFill>
              </a:rPr>
              <a:t>shared memory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>
                <a:solidFill>
                  <a:srgbClr val="0070C0"/>
                </a:solidFill>
              </a:rPr>
              <a:t>region</a:t>
            </a:r>
            <a:r>
              <a:rPr lang="en-US" altLang="en-US" i="1" dirty="0">
                <a:solidFill>
                  <a:srgbClr val="FF0000"/>
                </a:solidFill>
              </a:rPr>
              <a:t> in </a:t>
            </a:r>
            <a:r>
              <a:rPr lang="en-US" altLang="en-US" b="1" i="1" dirty="0">
                <a:solidFill>
                  <a:srgbClr val="0070C0"/>
                </a:solidFill>
              </a:rPr>
              <a:t>user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>
                <a:solidFill>
                  <a:srgbClr val="0070C0"/>
                </a:solidFill>
              </a:rPr>
              <a:t>space</a:t>
            </a:r>
            <a:r>
              <a:rPr lang="en-US" altLang="en-US" i="1" dirty="0">
                <a:solidFill>
                  <a:srgbClr val="FF0000"/>
                </a:solidFill>
              </a:rPr>
              <a:t>, via OS”</a:t>
            </a:r>
          </a:p>
          <a:p>
            <a:pPr marL="568325" lvl="1" indent="-231775">
              <a:spcBef>
                <a:spcPts val="2400"/>
              </a:spcBef>
              <a:spcAft>
                <a:spcPts val="0"/>
              </a:spcAft>
              <a:defRPr/>
            </a:pPr>
            <a:r>
              <a:rPr lang="en-US" sz="2300" dirty="0"/>
              <a:t>data is exchanged thru </a:t>
            </a: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/ write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 shared region</a:t>
            </a:r>
          </a:p>
          <a:p>
            <a:pPr marL="568325" lvl="1" indent="-231775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en-US" sz="2300" dirty="0"/>
              <a:t>comm is under control of user processes </a:t>
            </a:r>
            <a:r>
              <a:rPr lang="en-US" altLang="en-US" sz="2300" i="1" dirty="0"/>
              <a:t>(not the OS)</a:t>
            </a:r>
          </a:p>
          <a:p>
            <a:pPr marL="568325" lvl="1" indent="-231775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3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reading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is non-destructive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Major issue…</a:t>
            </a:r>
          </a:p>
          <a:p>
            <a:pPr lvl="1">
              <a:spcBef>
                <a:spcPts val="600"/>
              </a:spcBef>
            </a:pPr>
            <a:r>
              <a:rPr lang="en-US" altLang="en-US" sz="2300" dirty="0"/>
              <a:t>processes need some mechanism to </a:t>
            </a:r>
            <a:r>
              <a:rPr lang="en-US" altLang="en-US" sz="2300" dirty="0">
                <a:solidFill>
                  <a:srgbClr val="0070C0"/>
                </a:solidFill>
              </a:rPr>
              <a:t>synchronize</a:t>
            </a:r>
            <a:r>
              <a:rPr lang="en-US" altLang="en-US" sz="2300" dirty="0"/>
              <a:t> their actions when they access shared memory </a:t>
            </a:r>
          </a:p>
          <a:p>
            <a:pPr marL="0" lvl="1" indent="0" algn="ctr">
              <a:spcBef>
                <a:spcPts val="1200"/>
              </a:spcBef>
              <a:buNone/>
            </a:pPr>
            <a:r>
              <a:rPr lang="en-US" altLang="en-US" sz="2300" i="1" dirty="0">
                <a:solidFill>
                  <a:srgbClr val="0070C0"/>
                </a:solidFill>
              </a:rPr>
              <a:t>(Process synchronization is discussed in detail later)</a:t>
            </a:r>
          </a:p>
          <a:p>
            <a:pPr>
              <a:spcBef>
                <a:spcPts val="1200"/>
              </a:spcBef>
            </a:pPr>
            <a:endParaRPr lang="en-US" altLang="en-US" dirty="0"/>
          </a:p>
          <a:p>
            <a:pPr lvl="1">
              <a:spcBef>
                <a:spcPts val="1200"/>
              </a:spcBef>
              <a:buFont typeface="Monotype Sorts" pitchFamily="-84" charset="2"/>
              <a:buNone/>
            </a:pPr>
            <a:endParaRPr lang="en-US" altLang="en-US" sz="2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ABE19F-48B7-DB78-B4C5-277E4B1229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43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3" y="133932"/>
            <a:ext cx="750985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798" y="1118566"/>
            <a:ext cx="8390020" cy="5228814"/>
          </a:xfrm>
        </p:spPr>
        <p:txBody>
          <a:bodyPr/>
          <a:lstStyle/>
          <a:p>
            <a:pPr marL="0" indent="0" algn="ctr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“Processes that wish to communicate</a:t>
            </a:r>
            <a:br>
              <a:rPr lang="en-US" altLang="en-US" i="1" dirty="0">
                <a:solidFill>
                  <a:srgbClr val="FF0000"/>
                </a:solidFill>
              </a:rPr>
            </a:br>
            <a:r>
              <a:rPr lang="en-US" altLang="en-US" i="1" dirty="0">
                <a:solidFill>
                  <a:srgbClr val="FF0000"/>
                </a:solidFill>
              </a:rPr>
              <a:t>set up a </a:t>
            </a:r>
            <a:r>
              <a:rPr lang="en-US" altLang="en-US" b="1" i="1" dirty="0">
                <a:solidFill>
                  <a:srgbClr val="0070C0"/>
                </a:solidFill>
              </a:rPr>
              <a:t>Communication</a:t>
            </a:r>
            <a:r>
              <a:rPr lang="en-US" altLang="en-US" b="1" dirty="0">
                <a:solidFill>
                  <a:srgbClr val="0070C0"/>
                </a:solidFill>
              </a:rPr>
              <a:t> </a:t>
            </a:r>
            <a:r>
              <a:rPr lang="en-US" altLang="en-US" b="1" i="1" dirty="0">
                <a:solidFill>
                  <a:srgbClr val="0070C0"/>
                </a:solidFill>
              </a:rPr>
              <a:t>link</a:t>
            </a:r>
            <a:r>
              <a:rPr lang="en-US" altLang="en-US" i="1" dirty="0">
                <a:solidFill>
                  <a:srgbClr val="FF0000"/>
                </a:solidFill>
              </a:rPr>
              <a:t> in </a:t>
            </a:r>
            <a:r>
              <a:rPr lang="en-US" altLang="en-US" b="1" i="1" dirty="0">
                <a:solidFill>
                  <a:srgbClr val="0070C0"/>
                </a:solidFill>
              </a:rPr>
              <a:t>kernel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>
                <a:solidFill>
                  <a:srgbClr val="0070C0"/>
                </a:solidFill>
              </a:rPr>
              <a:t>space</a:t>
            </a:r>
            <a:r>
              <a:rPr lang="en-US" altLang="en-US" i="1" dirty="0">
                <a:solidFill>
                  <a:srgbClr val="FF0000"/>
                </a:solidFill>
              </a:rPr>
              <a:t>, via OS”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messages exchanged via </a:t>
            </a:r>
            <a:r>
              <a:rPr lang="en-US" altLang="en-US" b="1" i="1" dirty="0">
                <a:solidFill>
                  <a:srgbClr val="0070C0"/>
                </a:solidFill>
              </a:rPr>
              <a:t>read/write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comm link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link may be unidirectional or bi-directional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IPC facility provides two operations: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300" b="1" dirty="0">
                <a:solidFill>
                  <a:srgbClr val="0070C0"/>
                </a:solidFill>
              </a:rPr>
              <a:t>	Send</a:t>
            </a:r>
            <a:r>
              <a:rPr lang="en-US" altLang="en-US" sz="2300" b="1" dirty="0"/>
              <a:t> </a:t>
            </a:r>
            <a:r>
              <a:rPr lang="en-US" altLang="en-US" sz="2300" dirty="0"/>
              <a:t>(</a:t>
            </a:r>
            <a:r>
              <a:rPr lang="en-US" altLang="en-US" sz="2300" i="1" dirty="0"/>
              <a:t>message</a:t>
            </a:r>
            <a:r>
              <a:rPr lang="en-US" altLang="en-US" sz="2300" dirty="0"/>
              <a:t>)	</a:t>
            </a:r>
            <a:r>
              <a:rPr lang="en-US" altLang="en-US" sz="2300" b="1" dirty="0">
                <a:solidFill>
                  <a:srgbClr val="0070C0"/>
                </a:solidFill>
              </a:rPr>
              <a:t>Receive</a:t>
            </a:r>
            <a:r>
              <a:rPr lang="en-US" altLang="en-US" sz="2300" b="1" dirty="0"/>
              <a:t> </a:t>
            </a:r>
            <a:r>
              <a:rPr lang="en-US" altLang="en-US" sz="2300" dirty="0"/>
              <a:t>(</a:t>
            </a:r>
            <a:r>
              <a:rPr lang="en-US" altLang="en-US" sz="2300" i="1" dirty="0"/>
              <a:t>message</a:t>
            </a:r>
            <a:r>
              <a:rPr lang="en-US" altLang="en-US" sz="2300" dirty="0"/>
              <a:t>)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dirty="0"/>
              <a:t>While sending/receiving messages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i="1" dirty="0">
                <a:solidFill>
                  <a:srgbClr val="0070C0"/>
                </a:solidFill>
              </a:rPr>
              <a:t>message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rgbClr val="0070C0"/>
                </a:solidFill>
              </a:rPr>
              <a:t>size</a:t>
            </a:r>
            <a:r>
              <a:rPr lang="en-US" altLang="en-US" dirty="0"/>
              <a:t> is either fixed, or variable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i="1" dirty="0">
                <a:solidFill>
                  <a:srgbClr val="0070C0"/>
                </a:solidFill>
              </a:rPr>
              <a:t>read</a:t>
            </a:r>
            <a:r>
              <a:rPr lang="en-US" dirty="0"/>
              <a:t> operation has </a:t>
            </a:r>
            <a:r>
              <a:rPr lang="en-US" i="1" dirty="0">
                <a:solidFill>
                  <a:srgbClr val="0070C0"/>
                </a:solidFill>
              </a:rPr>
              <a:t>destructive</a:t>
            </a:r>
            <a:r>
              <a:rPr lang="en-US" dirty="0"/>
              <a:t> semantics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i="1" dirty="0">
                <a:solidFill>
                  <a:srgbClr val="0070C0"/>
                </a:solidFill>
              </a:rPr>
              <a:t>synchronization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between reader &amp; writer is implicit</a:t>
            </a:r>
          </a:p>
          <a:p>
            <a:pPr lvl="1">
              <a:lnSpc>
                <a:spcPct val="110000"/>
              </a:lnSpc>
              <a:spcBef>
                <a:spcPts val="1800"/>
              </a:spcBef>
              <a:buFont typeface="Monotype Sorts" pitchFamily="-84" charset="2"/>
              <a:buNone/>
            </a:pPr>
            <a:endParaRPr lang="en-US" altLang="en-US" sz="24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7F73743-C056-A326-367D-4DFDDEAC5D6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038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5940" y="1077804"/>
            <a:ext cx="8538571" cy="5610077"/>
          </a:xfrm>
        </p:spPr>
        <p:txBody>
          <a:bodyPr/>
          <a:lstStyle/>
          <a:p>
            <a:pPr marL="379413" indent="-379413">
              <a:spcBef>
                <a:spcPts val="1800"/>
              </a:spcBef>
              <a:defRPr/>
            </a:pPr>
            <a:r>
              <a:rPr lang="en-US" dirty="0"/>
              <a:t>Message passing may be either blocking or non-blocking</a:t>
            </a:r>
          </a:p>
          <a:p>
            <a:pPr marL="379413" indent="-379413">
              <a:spcBef>
                <a:spcPts val="2400"/>
              </a:spcBef>
              <a:defRPr/>
            </a:pPr>
            <a:r>
              <a:rPr lang="en-US" b="1" dirty="0">
                <a:solidFill>
                  <a:srgbClr val="FF0000"/>
                </a:solidFill>
              </a:rPr>
              <a:t>Blocking</a:t>
            </a:r>
            <a:r>
              <a:rPr lang="en-US" dirty="0"/>
              <a:t> </a:t>
            </a:r>
            <a:r>
              <a:rPr lang="en-US" sz="24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dirty="0"/>
              <a:t> called as </a:t>
            </a:r>
            <a:r>
              <a:rPr lang="en-US" i="1" dirty="0">
                <a:solidFill>
                  <a:srgbClr val="FF0000"/>
                </a:solidFill>
              </a:rPr>
              <a:t>Synchronous</a:t>
            </a:r>
          </a:p>
          <a:p>
            <a:pPr marL="798513" lvl="1" indent="-341313" defTabSz="931863">
              <a:spcBef>
                <a:spcPts val="600"/>
              </a:spcBef>
              <a:defRPr/>
            </a:pPr>
            <a:r>
              <a:rPr lang="en-US" sz="2300" dirty="0">
                <a:solidFill>
                  <a:srgbClr val="0070C0"/>
                </a:solidFill>
              </a:rPr>
              <a:t>blocking send	–  </a:t>
            </a:r>
            <a:r>
              <a:rPr lang="en-US" sz="2300" dirty="0"/>
              <a:t>sender blocked until message received</a:t>
            </a:r>
          </a:p>
          <a:p>
            <a:pPr marL="798513" lvl="1" indent="-341313" defTabSz="931863">
              <a:spcBef>
                <a:spcPts val="600"/>
              </a:spcBef>
              <a:defRPr/>
            </a:pPr>
            <a:r>
              <a:rPr lang="en-US" sz="2300" dirty="0">
                <a:solidFill>
                  <a:srgbClr val="0070C0"/>
                </a:solidFill>
              </a:rPr>
              <a:t>blocking receive	–  </a:t>
            </a:r>
            <a:r>
              <a:rPr lang="en-US" sz="2300" dirty="0"/>
              <a:t>receiver blocked until message available</a:t>
            </a:r>
          </a:p>
          <a:p>
            <a:pPr marL="379413" indent="-379413">
              <a:spcBef>
                <a:spcPts val="2400"/>
              </a:spcBef>
              <a:defRPr/>
            </a:pPr>
            <a:r>
              <a:rPr lang="en-US" b="1" dirty="0">
                <a:solidFill>
                  <a:srgbClr val="FF0000"/>
                </a:solidFill>
              </a:rPr>
              <a:t>Non-blocking</a:t>
            </a:r>
            <a:r>
              <a:rPr lang="en-US" dirty="0"/>
              <a:t> </a:t>
            </a:r>
            <a:r>
              <a:rPr lang="en-US" sz="24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dirty="0"/>
              <a:t> called as </a:t>
            </a:r>
            <a:r>
              <a:rPr lang="en-US" i="1" dirty="0">
                <a:solidFill>
                  <a:srgbClr val="FF0000"/>
                </a:solidFill>
              </a:rPr>
              <a:t>Asynchronous</a:t>
            </a:r>
          </a:p>
          <a:p>
            <a:pPr marL="798513" lvl="1" indent="-341313" defTabSz="873125">
              <a:spcBef>
                <a:spcPts val="600"/>
              </a:spcBef>
              <a:defRPr/>
            </a:pPr>
            <a:r>
              <a:rPr lang="en-US" sz="2300" dirty="0">
                <a:solidFill>
                  <a:srgbClr val="0070C0"/>
                </a:solidFill>
              </a:rPr>
              <a:t>non-blocking send 	–  </a:t>
            </a:r>
            <a:r>
              <a:rPr lang="en-US" sz="2300" dirty="0"/>
              <a:t>sender sends message </a:t>
            </a:r>
            <a:br>
              <a:rPr lang="en-US" sz="2300" dirty="0"/>
            </a:br>
            <a:r>
              <a:rPr lang="en-US" sz="2300" dirty="0"/>
              <a:t>				    &amp; continues</a:t>
            </a:r>
          </a:p>
          <a:p>
            <a:pPr marL="798513" lvl="1" indent="-341313" defTabSz="873125">
              <a:spcBef>
                <a:spcPts val="600"/>
              </a:spcBef>
              <a:defRPr/>
            </a:pPr>
            <a:r>
              <a:rPr lang="en-US" sz="2300" dirty="0">
                <a:solidFill>
                  <a:srgbClr val="0070C0"/>
                </a:solidFill>
              </a:rPr>
              <a:t>non-blocking receive 	–  </a:t>
            </a:r>
            <a:r>
              <a:rPr lang="en-US" sz="2300" dirty="0"/>
              <a:t>receiver receives either:</a:t>
            </a:r>
            <a:br>
              <a:rPr lang="en-US" sz="2300" dirty="0"/>
            </a:br>
            <a:r>
              <a:rPr lang="en-US" sz="2300" dirty="0"/>
              <a:t>				    </a:t>
            </a:r>
            <a:r>
              <a:rPr lang="en-US" sz="2300" i="1" dirty="0"/>
              <a:t>Valid message   or   Null message</a:t>
            </a:r>
          </a:p>
          <a:p>
            <a:pPr marL="398463" indent="-341313">
              <a:spcBef>
                <a:spcPts val="1800"/>
              </a:spcBef>
              <a:defRPr/>
            </a:pPr>
            <a:r>
              <a:rPr lang="en-US" altLang="en-US" dirty="0"/>
              <a:t>Transfer is either </a:t>
            </a:r>
            <a:r>
              <a:rPr lang="en-US" altLang="en-US" i="1" dirty="0">
                <a:solidFill>
                  <a:srgbClr val="0070C0"/>
                </a:solidFill>
              </a:rPr>
              <a:t>byte stream </a:t>
            </a:r>
            <a:r>
              <a:rPr lang="en-US" altLang="en-US" dirty="0"/>
              <a:t>oriented, or </a:t>
            </a:r>
            <a:r>
              <a:rPr lang="en-US" altLang="en-US" i="1" dirty="0">
                <a:solidFill>
                  <a:srgbClr val="0070C0"/>
                </a:solidFill>
              </a:rPr>
              <a:t>message oriented</a:t>
            </a:r>
            <a:endParaRPr lang="en-US" dirty="0"/>
          </a:p>
          <a:p>
            <a:pPr marL="1141413" lvl="2" indent="-341313">
              <a:spcBef>
                <a:spcPts val="1800"/>
              </a:spcBef>
              <a:buFont typeface="Monotype Sorts" pitchFamily="-84" charset="2"/>
              <a:buChar char="l"/>
              <a:defRPr/>
            </a:pP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B775EA-175C-1F77-93DA-BEEC17D18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3" y="133932"/>
            <a:ext cx="750985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133585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9714" y="239486"/>
            <a:ext cx="7587343" cy="487362"/>
          </a:xfrm>
        </p:spPr>
        <p:txBody>
          <a:bodyPr>
            <a:noAutofit/>
          </a:bodyPr>
          <a:lstStyle/>
          <a:p>
            <a:r>
              <a:rPr lang="en-US" b="1" dirty="0"/>
              <a:t>IPC Taxonomy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9AFC6F5-77DF-1F15-C3D9-26CE6C2A8D2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3FF9E-CD2F-C263-6322-CB98733D8590}"/>
              </a:ext>
            </a:extLst>
          </p:cNvPr>
          <p:cNvSpPr txBox="1"/>
          <p:nvPr/>
        </p:nvSpPr>
        <p:spPr>
          <a:xfrm>
            <a:off x="4124164" y="1234411"/>
            <a:ext cx="1311947" cy="394686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1" compatLnSpc="0">
            <a:noAutofit/>
          </a:bodyPr>
          <a:lstStyle/>
          <a:p>
            <a:pPr algn="ctr" hangingPunct="0"/>
            <a:r>
              <a:rPr lang="en-US" sz="2000" dirty="0">
                <a:latin typeface="Liberation Sans" pitchFamily="18"/>
                <a:ea typeface="DejaVu Sans" pitchFamily="2"/>
                <a:cs typeface="Lohit Hindi" pitchFamily="2"/>
              </a:rPr>
              <a:t>IPC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FD976-AD26-2ACB-4047-45AA373F9694}"/>
              </a:ext>
            </a:extLst>
          </p:cNvPr>
          <p:cNvSpPr txBox="1"/>
          <p:nvPr/>
        </p:nvSpPr>
        <p:spPr>
          <a:xfrm>
            <a:off x="1778239" y="2399460"/>
            <a:ext cx="2710688" cy="4075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1" compatLnSpc="0">
            <a:noAutofit/>
          </a:bodyPr>
          <a:lstStyle/>
          <a:p>
            <a:pPr algn="ctr" hangingPunct="0"/>
            <a:r>
              <a:rPr lang="en-US" sz="2000" dirty="0">
                <a:latin typeface="Liberation Sans" pitchFamily="18"/>
                <a:ea typeface="DejaVu Sans" pitchFamily="2"/>
                <a:cs typeface="Lohit Hindi" pitchFamily="2"/>
              </a:rPr>
              <a:t>Message Passing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6C01F-9EC5-4BE6-42BD-0A1A9FB2BD48}"/>
              </a:ext>
            </a:extLst>
          </p:cNvPr>
          <p:cNvSpPr txBox="1"/>
          <p:nvPr/>
        </p:nvSpPr>
        <p:spPr>
          <a:xfrm>
            <a:off x="5621376" y="2399460"/>
            <a:ext cx="2710688" cy="40753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1" compatLnSpc="0">
            <a:noAutofit/>
          </a:bodyPr>
          <a:lstStyle/>
          <a:p>
            <a:pPr algn="ctr" hangingPunct="0"/>
            <a:r>
              <a:rPr lang="en-US" sz="2000" dirty="0">
                <a:latin typeface="Liberation Sans" pitchFamily="18"/>
                <a:ea typeface="DejaVu Sans" pitchFamily="2"/>
                <a:cs typeface="Lohit Hindi" pitchFamily="2"/>
              </a:rPr>
              <a:t>Shared Memory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6BC6742-7DA0-23DE-2E1C-A951BCABAB0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 bwMode="auto">
          <a:xfrm rot="5400000">
            <a:off x="3571680" y="1191001"/>
            <a:ext cx="770363" cy="1646555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080C294-9F6D-448B-48EB-A279F16C5155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 bwMode="auto">
          <a:xfrm rot="16200000" flipH="1">
            <a:off x="5493248" y="915987"/>
            <a:ext cx="770363" cy="21965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5375B9-F7ED-C4C6-CE0C-A9B41CBA5E6A}"/>
              </a:ext>
            </a:extLst>
          </p:cNvPr>
          <p:cNvSpPr txBox="1"/>
          <p:nvPr/>
        </p:nvSpPr>
        <p:spPr>
          <a:xfrm>
            <a:off x="810240" y="3472323"/>
            <a:ext cx="1991536" cy="40753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algn="ctr" hangingPunct="0"/>
            <a:r>
              <a:rPr lang="en-US" sz="1633" dirty="0">
                <a:latin typeface="Liberation Sans" pitchFamily="18"/>
                <a:ea typeface="DejaVu Sans" pitchFamily="2"/>
                <a:cs typeface="Lohit Hindi" pitchFamily="2"/>
              </a:rPr>
              <a:t>Byte Stream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66DB6-DA88-03F5-41D0-8E85C2333C57}"/>
              </a:ext>
            </a:extLst>
          </p:cNvPr>
          <p:cNvSpPr txBox="1"/>
          <p:nvPr/>
        </p:nvSpPr>
        <p:spPr>
          <a:xfrm>
            <a:off x="3479289" y="3472323"/>
            <a:ext cx="1991536" cy="40753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algn="ctr" hangingPunct="0"/>
            <a:r>
              <a:rPr lang="en-US" sz="1633" dirty="0">
                <a:latin typeface="Liberation Sans" pitchFamily="18"/>
                <a:ea typeface="DejaVu Sans" pitchFamily="2"/>
                <a:cs typeface="Lohit Hindi" pitchFamily="2"/>
              </a:rPr>
              <a:t>Message Oriented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968BF-3374-12A2-D887-A3ECA922637A}"/>
              </a:ext>
            </a:extLst>
          </p:cNvPr>
          <p:cNvSpPr txBox="1"/>
          <p:nvPr/>
        </p:nvSpPr>
        <p:spPr>
          <a:xfrm>
            <a:off x="1038277" y="4333682"/>
            <a:ext cx="1195157" cy="4075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 dirty="0">
                <a:latin typeface="Liberation Sans" pitchFamily="18"/>
                <a:ea typeface="DejaVu Sans" pitchFamily="2"/>
                <a:cs typeface="Lohit Hindi" pitchFamily="2"/>
              </a:rPr>
              <a:t>Pipes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E42804-34C1-084F-1606-37684BD59297}"/>
              </a:ext>
            </a:extLst>
          </p:cNvPr>
          <p:cNvSpPr txBox="1"/>
          <p:nvPr/>
        </p:nvSpPr>
        <p:spPr>
          <a:xfrm>
            <a:off x="1038276" y="4905536"/>
            <a:ext cx="1195157" cy="4075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FIFOS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B196E-3ABF-9A29-C3F0-98A86DE585BA}"/>
              </a:ext>
            </a:extLst>
          </p:cNvPr>
          <p:cNvSpPr txBox="1"/>
          <p:nvPr/>
        </p:nvSpPr>
        <p:spPr>
          <a:xfrm>
            <a:off x="1038276" y="5477389"/>
            <a:ext cx="1763500" cy="487479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Stream Sockets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7EF436-8933-55F8-0198-638D53529438}"/>
              </a:ext>
            </a:extLst>
          </p:cNvPr>
          <p:cNvSpPr txBox="1"/>
          <p:nvPr/>
        </p:nvSpPr>
        <p:spPr>
          <a:xfrm>
            <a:off x="3689178" y="4274102"/>
            <a:ext cx="1207486" cy="40753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SysV MQ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B02E0B-7DF6-F7C0-CB38-D72EB8ABE1D4}"/>
              </a:ext>
            </a:extLst>
          </p:cNvPr>
          <p:cNvSpPr txBox="1"/>
          <p:nvPr/>
        </p:nvSpPr>
        <p:spPr>
          <a:xfrm>
            <a:off x="3689177" y="4892281"/>
            <a:ext cx="1195157" cy="40753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POSIX MQ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3B967-30D1-3460-3660-E4D2A4BCE1F6}"/>
              </a:ext>
            </a:extLst>
          </p:cNvPr>
          <p:cNvSpPr txBox="1"/>
          <p:nvPr/>
        </p:nvSpPr>
        <p:spPr>
          <a:xfrm>
            <a:off x="3689503" y="5477788"/>
            <a:ext cx="1991536" cy="487079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Datagram Sockets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EDC19F-04E8-147E-0BF3-7933A315439F}"/>
              </a:ext>
            </a:extLst>
          </p:cNvPr>
          <p:cNvSpPr txBox="1"/>
          <p:nvPr/>
        </p:nvSpPr>
        <p:spPr>
          <a:xfrm>
            <a:off x="6788804" y="3459778"/>
            <a:ext cx="1207486" cy="407538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 dirty="0" err="1">
                <a:latin typeface="Liberation Sans" pitchFamily="18"/>
                <a:ea typeface="DejaVu Sans" pitchFamily="2"/>
                <a:cs typeface="Lohit Hindi" pitchFamily="2"/>
              </a:rPr>
              <a:t>SysV</a:t>
            </a:r>
            <a:r>
              <a:rPr lang="en-US" sz="1633" dirty="0">
                <a:latin typeface="Liberation Sans" pitchFamily="18"/>
                <a:ea typeface="DejaVu Sans" pitchFamily="2"/>
                <a:cs typeface="Lohit Hindi" pitchFamily="2"/>
              </a:rPr>
              <a:t> SM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32C1BA-6260-84D6-6506-4F06F8442B82}"/>
              </a:ext>
            </a:extLst>
          </p:cNvPr>
          <p:cNvSpPr txBox="1"/>
          <p:nvPr/>
        </p:nvSpPr>
        <p:spPr>
          <a:xfrm>
            <a:off x="6788804" y="4062861"/>
            <a:ext cx="1195157" cy="407539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POSIX SM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368006-73C5-F89B-AEB8-6782F4C7BEF8}"/>
              </a:ext>
            </a:extLst>
          </p:cNvPr>
          <p:cNvSpPr txBox="1"/>
          <p:nvPr/>
        </p:nvSpPr>
        <p:spPr>
          <a:xfrm>
            <a:off x="6789130" y="4679935"/>
            <a:ext cx="1936559" cy="443244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rgbClr val="000000"/>
            </a:solidFill>
            <a:prstDash val="solid"/>
          </a:ln>
        </p:spPr>
        <p:txBody>
          <a:bodyPr vert="horz" wrap="square" lIns="81638" tIns="40819" rIns="81638" bIns="40819" anchor="ctr" anchorCtr="0" compatLnSpc="0">
            <a:noAutofit/>
          </a:bodyPr>
          <a:lstStyle/>
          <a:p>
            <a:pPr hangingPunct="0"/>
            <a:r>
              <a:rPr lang="en-US" sz="1633">
                <a:latin typeface="Liberation Sans" pitchFamily="18"/>
                <a:ea typeface="DejaVu Sans" pitchFamily="2"/>
                <a:cs typeface="Lohit Hindi" pitchFamily="2"/>
              </a:rPr>
              <a:t>Memory Mappings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A22BE90-015F-9C19-1673-7CAF258913B7}"/>
              </a:ext>
            </a:extLst>
          </p:cNvPr>
          <p:cNvCxnSpPr>
            <a:cxnSpLocks/>
            <a:stCxn id="10" idx="1"/>
            <a:endCxn id="14" idx="1"/>
          </p:cNvCxnSpPr>
          <p:nvPr/>
        </p:nvCxnSpPr>
        <p:spPr bwMode="auto">
          <a:xfrm rot="10800000" flipH="1" flipV="1">
            <a:off x="810239" y="3676091"/>
            <a:ext cx="228037" cy="861359"/>
          </a:xfrm>
          <a:prstGeom prst="bentConnector3">
            <a:avLst>
              <a:gd name="adj1" fmla="val -10024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9627322-6BCF-6F8D-CB82-82A4974B6E30}"/>
              </a:ext>
            </a:extLst>
          </p:cNvPr>
          <p:cNvCxnSpPr>
            <a:cxnSpLocks/>
            <a:stCxn id="10" idx="1"/>
            <a:endCxn id="16" idx="1"/>
          </p:cNvCxnSpPr>
          <p:nvPr/>
        </p:nvCxnSpPr>
        <p:spPr bwMode="auto">
          <a:xfrm rot="10800000" flipH="1" flipV="1">
            <a:off x="810240" y="3676091"/>
            <a:ext cx="228036" cy="1433213"/>
          </a:xfrm>
          <a:prstGeom prst="bentConnector3">
            <a:avLst>
              <a:gd name="adj1" fmla="val -10024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5B72572-6ACF-D516-A87E-86FA13F8B276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 bwMode="auto">
          <a:xfrm rot="16200000" flipH="1">
            <a:off x="3471658" y="2468924"/>
            <a:ext cx="665324" cy="134147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B18F755-7EEE-3973-76A0-4DBE05A6CD27}"/>
              </a:ext>
            </a:extLst>
          </p:cNvPr>
          <p:cNvCxnSpPr>
            <a:cxnSpLocks/>
            <a:stCxn id="5" idx="2"/>
            <a:endCxn id="22" idx="1"/>
          </p:cNvCxnSpPr>
          <p:nvPr/>
        </p:nvCxnSpPr>
        <p:spPr bwMode="auto">
          <a:xfrm rot="5400000">
            <a:off x="6454488" y="3141315"/>
            <a:ext cx="856548" cy="187916"/>
          </a:xfrm>
          <a:prstGeom prst="bentConnector4">
            <a:avLst>
              <a:gd name="adj1" fmla="val 38105"/>
              <a:gd name="adj2" fmla="val 2216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3782907-247B-40C9-E8A8-07DAF0D35A43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 bwMode="auto">
          <a:xfrm rot="5400000">
            <a:off x="2137134" y="2475874"/>
            <a:ext cx="665324" cy="132757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25325A7-F142-0467-A62C-46343F6F56A6}"/>
              </a:ext>
            </a:extLst>
          </p:cNvPr>
          <p:cNvCxnSpPr>
            <a:cxnSpLocks/>
            <a:stCxn id="12" idx="1"/>
            <a:endCxn id="20" idx="1"/>
          </p:cNvCxnSpPr>
          <p:nvPr/>
        </p:nvCxnSpPr>
        <p:spPr bwMode="auto">
          <a:xfrm rot="10800000" flipH="1" flipV="1">
            <a:off x="3479289" y="3676092"/>
            <a:ext cx="210214" cy="2045236"/>
          </a:xfrm>
          <a:prstGeom prst="bentConnector3">
            <a:avLst>
              <a:gd name="adj1" fmla="val -10874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5817941-2559-EECC-5C18-F4E18414B673}"/>
              </a:ext>
            </a:extLst>
          </p:cNvPr>
          <p:cNvCxnSpPr>
            <a:cxnSpLocks/>
            <a:stCxn id="12" idx="1"/>
            <a:endCxn id="19" idx="1"/>
          </p:cNvCxnSpPr>
          <p:nvPr/>
        </p:nvCxnSpPr>
        <p:spPr bwMode="auto">
          <a:xfrm rot="10800000" flipH="1" flipV="1">
            <a:off x="3479289" y="3676092"/>
            <a:ext cx="209888" cy="1419958"/>
          </a:xfrm>
          <a:prstGeom prst="bentConnector3">
            <a:avLst>
              <a:gd name="adj1" fmla="val -10891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2639792-C67F-43FE-2571-DF57DCA1E84E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 bwMode="auto">
          <a:xfrm rot="10800000" flipH="1" flipV="1">
            <a:off x="3479288" y="3676091"/>
            <a:ext cx="209889" cy="801779"/>
          </a:xfrm>
          <a:prstGeom prst="bentConnector3">
            <a:avLst>
              <a:gd name="adj1" fmla="val -10891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627E561-7D1D-3CB1-3578-48FA65C47B7F}"/>
              </a:ext>
            </a:extLst>
          </p:cNvPr>
          <p:cNvCxnSpPr>
            <a:cxnSpLocks/>
            <a:stCxn id="22" idx="1"/>
            <a:endCxn id="23" idx="1"/>
          </p:cNvCxnSpPr>
          <p:nvPr/>
        </p:nvCxnSpPr>
        <p:spPr bwMode="auto">
          <a:xfrm rot="10800000" flipV="1">
            <a:off x="6788804" y="3663547"/>
            <a:ext cx="12700" cy="603084"/>
          </a:xfrm>
          <a:prstGeom prst="bentConnector3">
            <a:avLst>
              <a:gd name="adj1" fmla="val 188372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9178DDC9-FD64-7303-8B1D-558F97645CB9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 bwMode="auto">
          <a:xfrm rot="10800000" flipH="1" flipV="1">
            <a:off x="6788804" y="4266631"/>
            <a:ext cx="326" cy="634926"/>
          </a:xfrm>
          <a:prstGeom prst="bentConnector3">
            <a:avLst>
              <a:gd name="adj1" fmla="val -7012269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07745E9-DD8E-2849-C30D-11B426B602A6}"/>
              </a:ext>
            </a:extLst>
          </p:cNvPr>
          <p:cNvCxnSpPr>
            <a:cxnSpLocks/>
            <a:stCxn id="10" idx="1"/>
            <a:endCxn id="17" idx="1"/>
          </p:cNvCxnSpPr>
          <p:nvPr/>
        </p:nvCxnSpPr>
        <p:spPr bwMode="auto">
          <a:xfrm rot="10800000" flipH="1" flipV="1">
            <a:off x="810240" y="3676091"/>
            <a:ext cx="228036" cy="2045037"/>
          </a:xfrm>
          <a:prstGeom prst="bentConnector3">
            <a:avLst>
              <a:gd name="adj1" fmla="val -10024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2571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080744" cy="576262"/>
          </a:xfrm>
        </p:spPr>
        <p:txBody>
          <a:bodyPr/>
          <a:lstStyle/>
          <a:p>
            <a:r>
              <a:rPr lang="en-US" altLang="en-US" dirty="0"/>
              <a:t>Pipes &amp; FIFOs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7486" y="1127103"/>
            <a:ext cx="8229599" cy="5263063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Pipes (Anonymous)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Parent-child</a:t>
            </a:r>
            <a:r>
              <a:rPr lang="en-US" altLang="en-US" dirty="0"/>
              <a:t> relation </a:t>
            </a:r>
            <a:r>
              <a:rPr lang="en-US" altLang="en-US" i="1" dirty="0">
                <a:solidFill>
                  <a:srgbClr val="FF0000"/>
                </a:solidFill>
              </a:rPr>
              <a:t>needed </a:t>
            </a:r>
            <a:r>
              <a:rPr lang="en-US" altLang="en-US" dirty="0"/>
              <a:t>between comm processes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typically, parent creates a pipe to comm with child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altLang="en-US" dirty="0"/>
              <a:t>Comm is unidirectional for one Pipe</a:t>
            </a:r>
          </a:p>
          <a:p>
            <a:pPr marL="744538"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sender writes to one end of pipe 	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 </a:t>
            </a:r>
            <a:r>
              <a:rPr lang="en-US" altLang="en-US" i="1" dirty="0">
                <a:solidFill>
                  <a:srgbClr val="006699"/>
                </a:solidFill>
              </a:rPr>
              <a:t>write end</a:t>
            </a:r>
          </a:p>
          <a:p>
            <a:pPr marL="744538"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receiver reads from other end of pipe  </a:t>
            </a:r>
            <a:r>
              <a:rPr lang="en-US" dirty="0">
                <a:latin typeface="Abadi" panose="020B0604020104020204" pitchFamily="34" charset="0"/>
              </a:rPr>
              <a:t>→</a:t>
            </a:r>
            <a:r>
              <a:rPr lang="en-US" dirty="0"/>
              <a:t>  </a:t>
            </a:r>
            <a:r>
              <a:rPr lang="en-US" altLang="en-US" i="1" dirty="0">
                <a:solidFill>
                  <a:srgbClr val="006699"/>
                </a:solidFill>
              </a:rPr>
              <a:t>read end</a:t>
            </a:r>
            <a:endParaRPr lang="en-US" altLang="en-US" b="1" dirty="0">
              <a:solidFill>
                <a:srgbClr val="0070C0"/>
              </a:solidFill>
            </a:endParaRPr>
          </a:p>
          <a:p>
            <a:pPr marL="0" indent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Named Pipes (FIFOs)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Parent-child</a:t>
            </a:r>
            <a:r>
              <a:rPr lang="en-US" altLang="en-US" dirty="0"/>
              <a:t> relation </a:t>
            </a:r>
            <a:r>
              <a:rPr lang="en-US" altLang="en-US" i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needed </a:t>
            </a:r>
            <a:r>
              <a:rPr lang="en-US" altLang="en-US" dirty="0"/>
              <a:t>between processes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allow comm between unrelated processes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several processes can use the named pipe for comm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One FIFO provides unidirectional comm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111999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080744" cy="576262"/>
          </a:xfrm>
        </p:spPr>
        <p:txBody>
          <a:bodyPr/>
          <a:lstStyle/>
          <a:p>
            <a:r>
              <a:rPr lang="en-US" altLang="en-US" dirty="0"/>
              <a:t>Sockets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7486" y="1105837"/>
            <a:ext cx="8350067" cy="5263063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Pipes, FIFOs, Shared memory &amp; Message queues used for IPC by processes </a:t>
            </a:r>
            <a:r>
              <a:rPr lang="en-US" altLang="en-US" i="1" dirty="0">
                <a:solidFill>
                  <a:srgbClr val="FF0000"/>
                </a:solidFill>
              </a:rPr>
              <a:t>running on same system</a:t>
            </a:r>
          </a:p>
          <a:p>
            <a:pPr marL="0" indent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Sockets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altLang="en-US" dirty="0"/>
              <a:t>Allow comm between </a:t>
            </a:r>
            <a:r>
              <a:rPr lang="en-US" altLang="en-US" b="1" dirty="0">
                <a:solidFill>
                  <a:srgbClr val="0070C0"/>
                </a:solidFill>
              </a:rPr>
              <a:t>processes</a:t>
            </a:r>
            <a:r>
              <a:rPr lang="en-US" altLang="en-US" dirty="0"/>
              <a:t> running on </a:t>
            </a:r>
            <a:r>
              <a:rPr lang="en-US" altLang="en-US" b="1" dirty="0">
                <a:solidFill>
                  <a:srgbClr val="0070C0"/>
                </a:solidFill>
              </a:rPr>
              <a:t>remote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70C0"/>
                </a:solidFill>
              </a:rPr>
              <a:t>systems</a:t>
            </a:r>
            <a:r>
              <a:rPr lang="en-US" altLang="en-US" dirty="0"/>
              <a:t>,</a:t>
            </a:r>
            <a:br>
              <a:rPr lang="en-US" altLang="en-US" dirty="0"/>
            </a:br>
            <a:r>
              <a:rPr lang="en-US" altLang="en-US" dirty="0"/>
              <a:t>in distributed environment</a:t>
            </a:r>
            <a:br>
              <a:rPr lang="en-US" altLang="en-US" dirty="0"/>
            </a:br>
            <a:r>
              <a:rPr lang="en-US" altLang="en-US" dirty="0"/>
              <a:t>	     	</a:t>
            </a:r>
            <a:r>
              <a:rPr lang="en-US" altLang="en-US" sz="2300" i="1" dirty="0">
                <a:solidFill>
                  <a:srgbClr val="FF0000"/>
                </a:solidFill>
              </a:rPr>
              <a:t>(client-server comm paradigm)</a:t>
            </a:r>
          </a:p>
          <a:p>
            <a:pPr lvl="1" defTabSz="771525">
              <a:spcBef>
                <a:spcPts val="1200"/>
              </a:spcBef>
              <a:spcAft>
                <a:spcPts val="0"/>
              </a:spcAft>
            </a:pPr>
            <a:r>
              <a:rPr lang="en-US" altLang="en-US" dirty="0">
                <a:solidFill>
                  <a:srgbClr val="0070C0"/>
                </a:solidFill>
              </a:rPr>
              <a:t>Stream sockets </a:t>
            </a:r>
            <a:r>
              <a:rPr lang="en-US" altLang="en-US" dirty="0"/>
              <a:t>	–  for reliable </a:t>
            </a:r>
            <a:r>
              <a:rPr lang="en-US" altLang="en-US" i="1" dirty="0">
                <a:solidFill>
                  <a:srgbClr val="FF0000"/>
                </a:solidFill>
              </a:rPr>
              <a:t>byte stream </a:t>
            </a:r>
            <a:r>
              <a:rPr lang="en-US" altLang="en-US" dirty="0"/>
              <a:t>transfer</a:t>
            </a:r>
          </a:p>
          <a:p>
            <a:pPr lvl="1" defTabSz="771525">
              <a:spcBef>
                <a:spcPts val="900"/>
              </a:spcBef>
              <a:spcAft>
                <a:spcPts val="0"/>
              </a:spcAft>
            </a:pPr>
            <a:r>
              <a:rPr lang="en-US" altLang="en-US" dirty="0">
                <a:solidFill>
                  <a:srgbClr val="0070C0"/>
                </a:solidFill>
              </a:rPr>
              <a:t>Datagram sockets </a:t>
            </a:r>
            <a:r>
              <a:rPr lang="en-US" altLang="en-US" dirty="0"/>
              <a:t>	–  for unreliable </a:t>
            </a:r>
            <a:r>
              <a:rPr lang="en-US" altLang="en-US" i="1" dirty="0">
                <a:solidFill>
                  <a:srgbClr val="FF0000"/>
                </a:solidFill>
              </a:rPr>
              <a:t>message</a:t>
            </a:r>
            <a:r>
              <a:rPr lang="en-US" altLang="en-US" dirty="0"/>
              <a:t> passing</a:t>
            </a: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en-US" altLang="en-US" dirty="0"/>
              <a:t>each remote process identified by a unique </a:t>
            </a:r>
            <a:r>
              <a:rPr lang="en-US" altLang="en-US" i="1" dirty="0">
                <a:solidFill>
                  <a:srgbClr val="FF0000"/>
                </a:solidFill>
              </a:rPr>
              <a:t>socket address</a:t>
            </a:r>
          </a:p>
          <a:p>
            <a:pPr lvl="1">
              <a:spcBef>
                <a:spcPts val="900"/>
              </a:spcBef>
              <a:spcAft>
                <a:spcPts val="0"/>
              </a:spcAft>
            </a:pPr>
            <a:r>
              <a:rPr lang="en-US" altLang="en-US" dirty="0"/>
              <a:t>facilitate comm across the Internet</a:t>
            </a:r>
          </a:p>
          <a:p>
            <a:pPr marL="0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en-US" sz="2300" i="1" dirty="0">
                <a:solidFill>
                  <a:srgbClr val="0070C0"/>
                </a:solidFill>
              </a:rPr>
              <a:t>	    </a:t>
            </a:r>
            <a:r>
              <a:rPr lang="en-US" altLang="en-US" i="1" dirty="0">
                <a:solidFill>
                  <a:srgbClr val="0070C0"/>
                </a:solidFill>
              </a:rPr>
              <a:t>(also on the same system)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73806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7360" y="2276816"/>
            <a:ext cx="8346439" cy="1401103"/>
          </a:xfrm>
        </p:spPr>
        <p:txBody>
          <a:bodyPr/>
          <a:lstStyle/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IPC - Use of Pipes</a:t>
            </a:r>
          </a:p>
          <a:p>
            <a:pPr marL="457200" lvl="1" indent="0" algn="ctr">
              <a:buNone/>
            </a:pPr>
            <a:r>
              <a:rPr lang="en-US" sz="3200" b="1" i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(Shell &amp; C Program)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381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6038"/>
            <a:ext cx="8382000" cy="639762"/>
          </a:xfrm>
        </p:spPr>
        <p:txBody>
          <a:bodyPr>
            <a:noAutofit/>
          </a:bodyPr>
          <a:lstStyle/>
          <a:p>
            <a:r>
              <a:rPr lang="en-US" b="1" dirty="0"/>
              <a:t>UNIX IPC Tool: Pipes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413657" y="1027112"/>
            <a:ext cx="827314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Pipes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- used for communication between related processes on same UNIX system (parent-child-sibling)</a:t>
            </a:r>
          </a:p>
        </p:txBody>
      </p:sp>
      <p:sp>
        <p:nvSpPr>
          <p:cNvPr id="14" name="Oval 4"/>
          <p:cNvSpPr>
            <a:spLocks noChangeArrowheads="1"/>
          </p:cNvSpPr>
          <p:nvPr/>
        </p:nvSpPr>
        <p:spPr bwMode="auto">
          <a:xfrm>
            <a:off x="1894113" y="2507117"/>
            <a:ext cx="838200" cy="838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Comic Sans MS" pitchFamily="66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970313" y="2659517"/>
            <a:ext cx="68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Comic Sans MS" pitchFamily="66" charset="0"/>
              </a:rPr>
              <a:t>P1</a:t>
            </a: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5018313" y="2507117"/>
            <a:ext cx="838200" cy="838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Comic Sans MS" pitchFamily="66" charset="0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094513" y="2659517"/>
            <a:ext cx="68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>
                <a:latin typeface="Comic Sans MS" pitchFamily="66" charset="0"/>
              </a:rPr>
              <a:t>P2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513113" y="4031117"/>
            <a:ext cx="4953000" cy="1752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0" name="Oval 12"/>
          <p:cNvSpPr>
            <a:spLocks noChangeArrowheads="1"/>
          </p:cNvSpPr>
          <p:nvPr/>
        </p:nvSpPr>
        <p:spPr bwMode="auto">
          <a:xfrm>
            <a:off x="4713513" y="4412117"/>
            <a:ext cx="228600" cy="7620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2960913" y="4412117"/>
            <a:ext cx="1828800" cy="76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2" name="Oval 14"/>
          <p:cNvSpPr>
            <a:spLocks noChangeArrowheads="1"/>
          </p:cNvSpPr>
          <p:nvPr/>
        </p:nvSpPr>
        <p:spPr bwMode="auto">
          <a:xfrm>
            <a:off x="2808513" y="4412117"/>
            <a:ext cx="228600" cy="7620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5475513" y="3345317"/>
            <a:ext cx="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 flipH="1">
            <a:off x="4942113" y="4793117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5" name="Line 18"/>
          <p:cNvSpPr>
            <a:spLocks noChangeShapeType="1"/>
          </p:cNvSpPr>
          <p:nvPr/>
        </p:nvSpPr>
        <p:spPr bwMode="auto">
          <a:xfrm flipH="1">
            <a:off x="2351313" y="4793117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6" name="Line 19"/>
          <p:cNvSpPr>
            <a:spLocks noChangeShapeType="1"/>
          </p:cNvSpPr>
          <p:nvPr/>
        </p:nvSpPr>
        <p:spPr bwMode="auto">
          <a:xfrm flipV="1">
            <a:off x="2351313" y="3345317"/>
            <a:ext cx="0" cy="144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3418113" y="4564517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>
                <a:latin typeface="Comic Sans MS" pitchFamily="66" charset="0"/>
              </a:rPr>
              <a:t>Pipe</a:t>
            </a:r>
          </a:p>
        </p:txBody>
      </p:sp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31435" y="1948546"/>
            <a:ext cx="2209800" cy="1996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542E145-7249-FB1E-3F52-D8E84A4945D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81130" y="1122015"/>
            <a:ext cx="8762870" cy="2856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Shell has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operator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|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 connect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one shell command to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another command 		</a:t>
            </a:r>
          </a:p>
          <a:p>
            <a:pPr>
              <a:spcBef>
                <a:spcPts val="1800"/>
              </a:spcBef>
              <a:buClr>
                <a:schemeClr val="tx1"/>
              </a:buClr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	cmd1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cmd2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cmd3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…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cmdN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defTabSz="931863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of cmd1 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/>
              <a:t>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connected to stdin of cmd2</a:t>
            </a:r>
          </a:p>
          <a:p>
            <a:pPr marL="685800" lvl="1" indent="-228600" defTabSz="931863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of cmd2 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/>
              <a:t>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connected to stdin of cmd3</a:t>
            </a:r>
          </a:p>
          <a:p>
            <a:pPr marL="685800" lvl="1" indent="-228600" defTabSz="931863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of cmdN-1	</a:t>
            </a:r>
            <a:r>
              <a:rPr lang="en-US" sz="22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200" dirty="0"/>
              <a:t> 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connected to stdin of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cmdN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6285877-9C41-D78B-B9CA-CBB851770A63}"/>
              </a:ext>
            </a:extLst>
          </p:cNvPr>
          <p:cNvGrpSpPr/>
          <p:nvPr/>
        </p:nvGrpSpPr>
        <p:grpSpPr>
          <a:xfrm>
            <a:off x="359228" y="4504154"/>
            <a:ext cx="8654138" cy="838200"/>
            <a:chOff x="479576" y="4071256"/>
            <a:chExt cx="8479362" cy="838200"/>
          </a:xfrm>
        </p:grpSpPr>
        <p:sp>
          <p:nvSpPr>
            <p:cNvPr id="44" name="Oval 4"/>
            <p:cNvSpPr>
              <a:spLocks noChangeArrowheads="1"/>
            </p:cNvSpPr>
            <p:nvPr/>
          </p:nvSpPr>
          <p:spPr bwMode="auto">
            <a:xfrm>
              <a:off x="479576" y="4071256"/>
              <a:ext cx="838200" cy="8382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45" name="Rectangle 6"/>
            <p:cNvSpPr>
              <a:spLocks noChangeArrowheads="1"/>
            </p:cNvSpPr>
            <p:nvPr/>
          </p:nvSpPr>
          <p:spPr bwMode="auto">
            <a:xfrm>
              <a:off x="1741726" y="4299856"/>
              <a:ext cx="94765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46" name="Rectangle 7"/>
            <p:cNvSpPr>
              <a:spLocks noChangeArrowheads="1"/>
            </p:cNvSpPr>
            <p:nvPr/>
          </p:nvSpPr>
          <p:spPr bwMode="auto">
            <a:xfrm>
              <a:off x="4147464" y="4299856"/>
              <a:ext cx="979706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>
              <a:off x="6966860" y="4299856"/>
              <a:ext cx="8382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omic Sans MS" pitchFamily="66" charset="0"/>
              </a:endParaRPr>
            </a:p>
          </p:txBody>
        </p:sp>
        <p:sp>
          <p:nvSpPr>
            <p:cNvPr id="48" name="Oval 9"/>
            <p:cNvSpPr>
              <a:spLocks noChangeArrowheads="1"/>
            </p:cNvSpPr>
            <p:nvPr/>
          </p:nvSpPr>
          <p:spPr bwMode="auto">
            <a:xfrm>
              <a:off x="3004464" y="4071256"/>
              <a:ext cx="838200" cy="8382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49" name="Text Box 10"/>
            <p:cNvSpPr txBox="1">
              <a:spLocks noChangeArrowheads="1"/>
            </p:cNvSpPr>
            <p:nvPr/>
          </p:nvSpPr>
          <p:spPr bwMode="auto">
            <a:xfrm>
              <a:off x="3064039" y="4299856"/>
              <a:ext cx="702425" cy="3385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Comic Sans MS" pitchFamily="66" charset="0"/>
                </a:rPr>
                <a:t>cmd2</a:t>
              </a:r>
            </a:p>
          </p:txBody>
        </p:sp>
        <p:sp>
          <p:nvSpPr>
            <p:cNvPr id="50" name="Oval 11"/>
            <p:cNvSpPr>
              <a:spLocks noChangeArrowheads="1"/>
            </p:cNvSpPr>
            <p:nvPr/>
          </p:nvSpPr>
          <p:spPr bwMode="auto">
            <a:xfrm>
              <a:off x="8120738" y="4071256"/>
              <a:ext cx="838200" cy="83820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8163688" y="4326181"/>
              <a:ext cx="762000" cy="30777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 err="1">
                  <a:latin typeface="Comic Sans MS" pitchFamily="66" charset="0"/>
                </a:rPr>
                <a:t>cmdN</a:t>
              </a:r>
              <a:endParaRPr lang="en-US" sz="1400" dirty="0">
                <a:latin typeface="Comic Sans MS" pitchFamily="66" charset="0"/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1817926" y="4326181"/>
              <a:ext cx="778625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</a:rPr>
                <a:t>pipe</a:t>
              </a:r>
            </a:p>
          </p:txBody>
        </p:sp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4223664" y="4349731"/>
              <a:ext cx="772894" cy="36671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</a:rPr>
                <a:t>pipe</a:t>
              </a: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7043060" y="4326181"/>
              <a:ext cx="762000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</a:rPr>
                <a:t>pipe</a:t>
              </a:r>
            </a:p>
          </p:txBody>
        </p:sp>
        <p:sp>
          <p:nvSpPr>
            <p:cNvPr id="55" name="Line 16"/>
            <p:cNvSpPr>
              <a:spLocks noChangeShapeType="1"/>
            </p:cNvSpPr>
            <p:nvPr/>
          </p:nvSpPr>
          <p:spPr bwMode="auto">
            <a:xfrm>
              <a:off x="1284526" y="4528456"/>
              <a:ext cx="4572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56" name="Line 17"/>
            <p:cNvSpPr>
              <a:spLocks noChangeShapeType="1"/>
            </p:cNvSpPr>
            <p:nvPr/>
          </p:nvSpPr>
          <p:spPr bwMode="auto">
            <a:xfrm>
              <a:off x="2699664" y="4528456"/>
              <a:ext cx="3048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>
              <a:off x="6509660" y="4528456"/>
              <a:ext cx="4572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5138060" y="4528456"/>
              <a:ext cx="4572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59" name="Line 20"/>
            <p:cNvSpPr>
              <a:spLocks noChangeShapeType="1"/>
            </p:cNvSpPr>
            <p:nvPr/>
          </p:nvSpPr>
          <p:spPr bwMode="auto">
            <a:xfrm>
              <a:off x="3842664" y="4528456"/>
              <a:ext cx="3048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60" name="Line 21"/>
            <p:cNvSpPr>
              <a:spLocks noChangeShapeType="1"/>
            </p:cNvSpPr>
            <p:nvPr/>
          </p:nvSpPr>
          <p:spPr bwMode="auto">
            <a:xfrm>
              <a:off x="5671460" y="4528456"/>
              <a:ext cx="6858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61" name="Line 22"/>
            <p:cNvSpPr>
              <a:spLocks noChangeShapeType="1"/>
            </p:cNvSpPr>
            <p:nvPr/>
          </p:nvSpPr>
          <p:spPr bwMode="auto">
            <a:xfrm>
              <a:off x="7815938" y="4528456"/>
              <a:ext cx="3048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62" name="Text Box 12"/>
            <p:cNvSpPr txBox="1">
              <a:spLocks noChangeArrowheads="1"/>
            </p:cNvSpPr>
            <p:nvPr/>
          </p:nvSpPr>
          <p:spPr bwMode="auto">
            <a:xfrm>
              <a:off x="546076" y="4316482"/>
              <a:ext cx="678875" cy="3048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latin typeface="Comic Sans MS" pitchFamily="66" charset="0"/>
                </a:rPr>
                <a:t>cmd1</a:t>
              </a:r>
            </a:p>
          </p:txBody>
        </p:sp>
      </p:grp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304800" y="100468"/>
            <a:ext cx="8382000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6699"/>
                </a:solidFill>
                <a:ea typeface="MS PGothic" pitchFamily="34" charset="-128"/>
              </a:rPr>
              <a:t>Pipes in Shells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4421DD9-1A70-0C4B-9CD2-1C6B4FFF47C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816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1440"/>
            <a:ext cx="8382000" cy="639762"/>
          </a:xfrm>
        </p:spPr>
        <p:txBody>
          <a:bodyPr>
            <a:noAutofit/>
          </a:bodyPr>
          <a:lstStyle/>
          <a:p>
            <a:r>
              <a:rPr lang="en-US" dirty="0"/>
              <a:t>Pipes in Shells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468086" y="956777"/>
            <a:ext cx="5105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300" b="1" dirty="0">
                <a:latin typeface="Courier" charset="0"/>
                <a:ea typeface="Courier" charset="0"/>
                <a:cs typeface="Courier" charset="0"/>
              </a:rPr>
              <a:t>$ cat f1.txt | </a:t>
            </a:r>
            <a:r>
              <a:rPr lang="en-US" sz="2300" b="1" dirty="0" err="1">
                <a:latin typeface="Courier" charset="0"/>
                <a:ea typeface="Courier" charset="0"/>
                <a:cs typeface="Courier" charset="0"/>
              </a:rPr>
              <a:t>wc</a:t>
            </a:r>
            <a:endParaRPr lang="en-US" sz="2300" b="1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6377"/>
            <a:ext cx="9133114" cy="4785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7291" y="4593266"/>
            <a:ext cx="850605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en-US" sz="1200" b="1" dirty="0">
                <a:latin typeface="Courier" charset="0"/>
                <a:ea typeface="Courier" charset="0"/>
                <a:cs typeface="Courier" charset="0"/>
              </a:rPr>
              <a:t>f1.txt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460C5-F55B-3469-D651-1537C41BE58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896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59232" y="1013635"/>
            <a:ext cx="853984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Write a command to display contents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/etc/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directory, one page at a time</a:t>
            </a: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697831" y="2005358"/>
            <a:ext cx="8071756" cy="23613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 </a:t>
            </a:r>
            <a:r>
              <a:rPr lang="en-US" sz="2100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ls</a:t>
            </a:r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–l    /etc/   1&gt;   temp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 less   0&lt;   temp    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after this, need to remove temp file as well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 rm  temp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needed three commands to accomplish the task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slow, as it involves many disk read &amp; write operations</a:t>
            </a:r>
            <a:endParaRPr lang="en-US" sz="21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697831" y="4585413"/>
            <a:ext cx="8071756" cy="18519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pipe symbol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 ls   –l   /etc/    |  less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net effect of this command is same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faster, as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pipe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is implemented in main memory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doesn’t use hard disk to connect </a:t>
            </a: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of 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ls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stdin of  </a:t>
            </a:r>
            <a:r>
              <a:rPr lang="en-US" sz="2100" b="1" dirty="0"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7686" y="66500"/>
            <a:ext cx="7609114" cy="639762"/>
          </a:xfrm>
        </p:spPr>
        <p:txBody>
          <a:bodyPr>
            <a:noAutofit/>
          </a:bodyPr>
          <a:lstStyle/>
          <a:p>
            <a:r>
              <a:rPr lang="en-US" dirty="0"/>
              <a:t>Pipes in Shells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6421D1-1173-B036-8485-081F1445EFA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712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357211" y="1088068"/>
            <a:ext cx="8708567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Write a command that will sort file friends.txt &amp; display its contents on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if any</a:t>
            </a:r>
          </a:p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$  sort  friends.txt  |  less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9231" y="2845986"/>
            <a:ext cx="8708567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Write a command that will count number of lines in man page of ls</a:t>
            </a:r>
          </a:p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$  man  ls  | 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wc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 -l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46578" y="4587095"/>
            <a:ext cx="8545282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Write a command that will count number of lines containing string ‘ls’ in man page of ls</a:t>
            </a:r>
          </a:p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$  man  ls  |  grep  ls  | 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wc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 -l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925286" y="55876"/>
            <a:ext cx="7761514" cy="639762"/>
          </a:xfrm>
        </p:spPr>
        <p:txBody>
          <a:bodyPr>
            <a:noAutofit/>
          </a:bodyPr>
          <a:lstStyle/>
          <a:p>
            <a:r>
              <a:rPr lang="en-US" dirty="0"/>
              <a:t>Pipes in Shells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FEADD1E-D466-AC1C-D690-7DAB5754825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691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56D922-14C8-4110-C0D3-554D02BF6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104613"/>
            <a:ext cx="7441096" cy="576262"/>
          </a:xfrm>
        </p:spPr>
        <p:txBody>
          <a:bodyPr/>
          <a:lstStyle/>
          <a:p>
            <a:pPr>
              <a:defRPr/>
            </a:pPr>
            <a:r>
              <a:rPr lang="en-US" altLang="en-US" kern="1200" dirty="0"/>
              <a:t>Pipes in C program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49C688-CDAC-8500-2DD7-9F0223650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5440" y="1082040"/>
            <a:ext cx="8229600" cy="576262"/>
          </a:xfrm>
        </p:spPr>
        <p:txBody>
          <a:bodyPr/>
          <a:lstStyle/>
          <a:p>
            <a:r>
              <a:rPr lang="en-US" altLang="en-US" dirty="0"/>
              <a:t>Pipe is created using </a:t>
            </a:r>
            <a:r>
              <a:rPr lang="en-US" altLang="en-US" dirty="0">
                <a:solidFill>
                  <a:srgbClr val="FF0000"/>
                </a:solidFill>
              </a:rPr>
              <a:t>pipe() </a:t>
            </a:r>
            <a:r>
              <a:rPr lang="en-US" altLang="en-US" dirty="0"/>
              <a:t>function call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2B16CDEF-0419-6E54-0589-9FCEBB4C3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58302"/>
            <a:ext cx="7396480" cy="1261884"/>
          </a:xfrm>
          <a:prstGeom prst="rect">
            <a:avLst/>
          </a:prstGeom>
          <a:noFill/>
          <a:ln w="28575">
            <a:solidFill>
              <a:srgbClr val="0000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#include &lt;</a:t>
            </a:r>
            <a:r>
              <a:rPr lang="en-US" altLang="en-US" sz="2200" b="1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unistd.h</a:t>
            </a:r>
            <a:r>
              <a:rPr lang="en-US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int pipe ( int </a:t>
            </a:r>
            <a:r>
              <a:rPr lang="en-US" altLang="en-US" sz="2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fd</a:t>
            </a:r>
            <a:r>
              <a:rPr lang="en-US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[2] ) ;</a:t>
            </a:r>
          </a:p>
          <a:p>
            <a:pPr algn="r">
              <a:spcBef>
                <a:spcPts val="600"/>
              </a:spcBef>
            </a:pPr>
            <a:r>
              <a:rPr lang="en-US" altLang="en-US" sz="2200" dirty="0">
                <a:latin typeface="Times New Roman" panose="02020603050405020304" pitchFamily="18" charset="0"/>
              </a:rPr>
              <a:t>			</a:t>
            </a:r>
            <a:r>
              <a:rPr lang="en-US" altLang="en-US" sz="2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Returns:  0 if OK,  -1 on error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79FD03-2D0D-64F0-E3F4-1BDD3521E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40" y="3200400"/>
            <a:ext cx="4375414" cy="284952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Gill Sans MT" pitchFamily="34" charset="0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Gill Sans MT" pitchFamily="34" charset="0"/>
                <a:cs typeface="+mn-cs"/>
              </a:rPr>
              <a:t>all creates 02 file descriptors, </a:t>
            </a:r>
            <a:br>
              <a:rPr lang="en-US" sz="2400" dirty="0">
                <a:solidFill>
                  <a:schemeClr val="tx1"/>
                </a:solidFill>
                <a:latin typeface="Gill Sans MT" pitchFamily="34" charset="0"/>
                <a:cs typeface="+mn-cs"/>
              </a:rPr>
            </a:br>
            <a:r>
              <a:rPr lang="en-US" sz="2400" dirty="0">
                <a:latin typeface="Gill Sans MT" pitchFamily="34" charset="0"/>
              </a:rPr>
              <a:t>opened for read &amp; write</a:t>
            </a:r>
            <a:br>
              <a:rPr lang="en-US" sz="2400" dirty="0">
                <a:latin typeface="Gill Sans MT" pitchFamily="34" charset="0"/>
              </a:rPr>
            </a:br>
            <a:r>
              <a:rPr lang="en-US" sz="2400" dirty="0">
                <a:latin typeface="Gill Sans MT" pitchFamily="34" charset="0"/>
              </a:rPr>
              <a:t>operation</a:t>
            </a:r>
            <a:endParaRPr lang="en-US" sz="2300" dirty="0">
              <a:solidFill>
                <a:srgbClr val="0000CC"/>
              </a:solidFill>
              <a:latin typeface="Gill Sans MT" pitchFamily="34" charset="0"/>
              <a:cs typeface="+mn-cs"/>
            </a:endParaRPr>
          </a:p>
          <a:p>
            <a:pPr defTabSz="457200">
              <a:spcBef>
                <a:spcPts val="1800"/>
              </a:spcBef>
              <a:defRPr/>
            </a:pPr>
            <a:r>
              <a:rPr lang="en-US" sz="2300" dirty="0">
                <a:solidFill>
                  <a:srgbClr val="0000CC"/>
                </a:solidFill>
                <a:latin typeface="Gill Sans MT" pitchFamily="34" charset="0"/>
              </a:rPr>
              <a:t>	</a:t>
            </a:r>
            <a:r>
              <a:rPr lang="en-US" sz="2300" dirty="0" err="1">
                <a:solidFill>
                  <a:srgbClr val="0000CC"/>
                </a:solidFill>
                <a:latin typeface="Gill Sans MT" pitchFamily="34" charset="0"/>
                <a:cs typeface="+mn-cs"/>
              </a:rPr>
              <a:t>fd</a:t>
            </a:r>
            <a:r>
              <a:rPr lang="en-US" sz="2300" dirty="0">
                <a:solidFill>
                  <a:srgbClr val="0000CC"/>
                </a:solidFill>
                <a:latin typeface="Gill Sans MT" pitchFamily="34" charset="0"/>
                <a:cs typeface="+mn-cs"/>
              </a:rPr>
              <a:t> [0] 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chemeClr val="tx1"/>
                </a:solidFill>
                <a:latin typeface="Gill Sans MT" pitchFamily="34" charset="0"/>
                <a:cs typeface="+mn-cs"/>
              </a:rPr>
              <a:t>  for </a:t>
            </a:r>
            <a:r>
              <a:rPr lang="en-US" sz="2300" dirty="0">
                <a:solidFill>
                  <a:srgbClr val="0000CC"/>
                </a:solidFill>
                <a:latin typeface="Gill Sans MT" pitchFamily="34" charset="0"/>
                <a:cs typeface="+mn-cs"/>
              </a:rPr>
              <a:t>reading</a:t>
            </a:r>
            <a:r>
              <a:rPr lang="en-US" sz="2300" dirty="0">
                <a:solidFill>
                  <a:srgbClr val="0000CC"/>
                </a:solidFill>
                <a:latin typeface="Gill Sans MT" pitchFamily="34" charset="0"/>
              </a:rPr>
              <a:t>	        </a:t>
            </a:r>
          </a:p>
          <a:p>
            <a:pPr defTabSz="457200">
              <a:spcBef>
                <a:spcPts val="1800"/>
              </a:spcBef>
              <a:defRPr/>
            </a:pPr>
            <a:r>
              <a:rPr lang="en-US" sz="2300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	</a:t>
            </a:r>
            <a:r>
              <a:rPr lang="en-US" sz="2300" dirty="0" err="1">
                <a:solidFill>
                  <a:srgbClr val="FF0000"/>
                </a:solidFill>
                <a:latin typeface="Gill Sans MT" pitchFamily="34" charset="0"/>
                <a:cs typeface="+mn-cs"/>
              </a:rPr>
              <a:t>fd</a:t>
            </a:r>
            <a:r>
              <a:rPr lang="en-US" sz="2300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 [1] 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chemeClr val="tx1"/>
                </a:solidFill>
                <a:latin typeface="Gill Sans MT" pitchFamily="34" charset="0"/>
                <a:cs typeface="+mn-cs"/>
              </a:rPr>
              <a:t>  for </a:t>
            </a:r>
            <a:r>
              <a:rPr lang="en-US" sz="2300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writing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74475F4-3E0B-CE48-E336-A1CA4C87A9F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B91835-8346-3C98-E155-4F3E5AFB934C}"/>
              </a:ext>
            </a:extLst>
          </p:cNvPr>
          <p:cNvGrpSpPr>
            <a:grpSpLocks/>
          </p:cNvGrpSpPr>
          <p:nvPr/>
        </p:nvGrpSpPr>
        <p:grpSpPr bwMode="auto">
          <a:xfrm>
            <a:off x="3989799" y="3682149"/>
            <a:ext cx="5065852" cy="2622699"/>
            <a:chOff x="1752600" y="1905000"/>
            <a:chExt cx="5661834" cy="2874925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121812EC-EBFA-34FE-A773-8AE421506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1905000"/>
              <a:ext cx="2133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30A20A85-6C7E-8F52-207A-4856F2578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1905000"/>
              <a:ext cx="914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fd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[0]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D694C330-7A28-B7E0-41A7-D7077A60C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743200"/>
              <a:ext cx="838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fd[1]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4C484CD0-6931-3C43-42FA-169602A92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442410"/>
              <a:ext cx="556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9F39B8F8-5865-D9AE-54AF-E79FB38B7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4940" y="2874043"/>
              <a:ext cx="990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A1D15047-CB82-FB05-78B4-0DA640137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034" y="3606640"/>
              <a:ext cx="914400" cy="404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1D2768B4-D375-C812-F802-8D0D6AF09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0" y="3759751"/>
              <a:ext cx="2133602" cy="4048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pipe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DC8BA0C-52BE-3DCB-2E30-9FF9A269B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8400" y="29718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5A1601EF-D8D6-167A-4BCC-78E821737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2971800"/>
              <a:ext cx="0" cy="1010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F19D6534-6872-7B92-93CA-DBA541592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398209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AA3B4080-D411-EBE9-88D3-1E02B2A8B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3982088"/>
              <a:ext cx="838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00A66423-3AB7-E529-BCDE-8B94CCBDB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133601"/>
              <a:ext cx="0" cy="1848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F17B2A2D-4271-D4B6-DEC1-6C7BFA219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1336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8B5C848-B9E7-1C8E-33AD-7F1085A78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504" y="4334391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BE65F96D-ACC4-43C8-3CD6-E9F0BCA70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410593"/>
              <a:ext cx="1828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11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1853A75F-AC5D-6F6B-FB14-3FF650021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203382"/>
            <a:ext cx="7441096" cy="576262"/>
          </a:xfrm>
        </p:spPr>
        <p:txBody>
          <a:bodyPr/>
          <a:lstStyle/>
          <a:p>
            <a:pPr>
              <a:defRPr/>
            </a:pPr>
            <a:r>
              <a:rPr lang="en-US" altLang="en-US" kern="1200" dirty="0"/>
              <a:t>Pipe in a Single Process</a:t>
            </a:r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9A9A1AE-642E-57DA-C98A-3BB9AFFB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26" y="3613068"/>
            <a:ext cx="3581400" cy="277684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kern="0" dirty="0">
                <a:solidFill>
                  <a:srgbClr val="000000"/>
                </a:solidFill>
                <a:latin typeface="Gill Sans MT" pitchFamily="34" charset="0"/>
              </a:rPr>
              <a:t>P</a:t>
            </a:r>
            <a:r>
              <a:rPr lang="en-US" sz="2300" kern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ipe is created in a single process 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300" kern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but used</a:t>
            </a:r>
            <a:r>
              <a:rPr lang="en-US" sz="2300" kern="0" dirty="0">
                <a:solidFill>
                  <a:srgbClr val="000000"/>
                </a:solidFill>
                <a:latin typeface="Gill Sans MT" pitchFamily="34" charset="0"/>
              </a:rPr>
              <a:t> for comm between two processes (parent/child)</a:t>
            </a:r>
          </a:p>
          <a:p>
            <a:pPr>
              <a:spcBef>
                <a:spcPts val="600"/>
              </a:spcBef>
              <a:defRPr/>
            </a:pPr>
            <a:r>
              <a:rPr lang="en-US" sz="2300" kern="0" dirty="0">
                <a:solidFill>
                  <a:srgbClr val="000000"/>
                </a:solidFill>
                <a:latin typeface="Gill Sans MT" pitchFamily="34" charset="0"/>
              </a:rPr>
              <a:t>	How…??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7B15579-9868-DE4C-4635-74047E4E425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30F06C-891A-402A-161B-1A4652953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01" y="1069143"/>
            <a:ext cx="8657046" cy="224527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95287" indent="-342900"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Gill Sans MT" pitchFamily="34" charset="0"/>
              </a:rPr>
              <a:t>Pipe is a fixed size circular buffer created by kernel…</a:t>
            </a:r>
          </a:p>
          <a:p>
            <a:pPr marL="796925" lvl="1" indent="-287338" defTabSz="858838" eaLnBrk="0" hangingPunct="0"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300" dirty="0">
                <a:latin typeface="Gill Sans MT" pitchFamily="34" charset="0"/>
              </a:rPr>
              <a:t>I/O on pipe   	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chemeClr val="tx1"/>
                </a:solidFill>
                <a:latin typeface="Gill Sans MT" pitchFamily="34" charset="0"/>
                <a:cs typeface="+mn-cs"/>
              </a:rPr>
              <a:t>  </a:t>
            </a:r>
            <a:r>
              <a:rPr lang="en-US" sz="2300" dirty="0">
                <a:latin typeface="Gill Sans MT" pitchFamily="34" charset="0"/>
              </a:rPr>
              <a:t>call read() &amp; write()</a:t>
            </a:r>
          </a:p>
          <a:p>
            <a:pPr marL="796925" lvl="1" indent="-287338" defTabSz="858838" eaLnBrk="0" hangingPunct="0"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300" dirty="0">
                <a:latin typeface="Gill Sans MT" pitchFamily="34" charset="0"/>
              </a:rPr>
              <a:t>data written on </a:t>
            </a:r>
            <a:r>
              <a:rPr lang="en-US" sz="2300" dirty="0" err="1">
                <a:latin typeface="Gill Sans MT" pitchFamily="34" charset="0"/>
              </a:rPr>
              <a:t>fd</a:t>
            </a:r>
            <a:r>
              <a:rPr lang="en-US" sz="2300" dirty="0">
                <a:latin typeface="Gill Sans MT" pitchFamily="34" charset="0"/>
              </a:rPr>
              <a:t>[1]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</a:t>
            </a:r>
            <a:r>
              <a:rPr lang="en-US" sz="2300" dirty="0">
                <a:latin typeface="Gill Sans MT" pitchFamily="34" charset="0"/>
              </a:rPr>
              <a:t> readily available on </a:t>
            </a:r>
            <a:r>
              <a:rPr lang="en-US" sz="2300" dirty="0" err="1">
                <a:latin typeface="Gill Sans MT" pitchFamily="34" charset="0"/>
              </a:rPr>
              <a:t>fd</a:t>
            </a:r>
            <a:r>
              <a:rPr lang="en-US" sz="2300" dirty="0">
                <a:latin typeface="Gill Sans MT" pitchFamily="34" charset="0"/>
              </a:rPr>
              <a:t>[0]</a:t>
            </a:r>
          </a:p>
          <a:p>
            <a:pPr marL="796925" lvl="1" indent="-287338" defTabSz="858838"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300" dirty="0">
                <a:latin typeface="Gill Sans MT" pitchFamily="34" charset="0"/>
              </a:rPr>
              <a:t>if pipe is empty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  </a:t>
            </a:r>
            <a:r>
              <a:rPr lang="en-US" sz="2300" dirty="0">
                <a:latin typeface="Gill Sans MT" pitchFamily="34" charset="0"/>
              </a:rPr>
              <a:t>read() is blocked</a:t>
            </a:r>
          </a:p>
          <a:p>
            <a:pPr marL="796925" lvl="1" indent="-287338" defTabSz="858838" eaLnBrk="0" hangingPunct="0">
              <a:spcBef>
                <a:spcPts val="600"/>
              </a:spcBef>
              <a:buFont typeface="Times New Roman" panose="02020603050405020304" pitchFamily="18" charset="0"/>
              <a:buChar char="–"/>
              <a:defRPr/>
            </a:pPr>
            <a:r>
              <a:rPr lang="en-US" sz="2300" dirty="0">
                <a:latin typeface="Gill Sans MT" pitchFamily="34" charset="0"/>
              </a:rPr>
              <a:t>synchronization issue 	</a:t>
            </a:r>
            <a:r>
              <a:rPr lang="en-US" sz="2300" dirty="0">
                <a:latin typeface="Abadi" panose="020B0604020104020204" pitchFamily="34" charset="0"/>
                <a:cs typeface="Calibri" panose="020F0502020204030204" pitchFamily="34" charset="0"/>
              </a:rPr>
              <a:t>→</a:t>
            </a:r>
            <a:r>
              <a:rPr lang="en-US" sz="2300" dirty="0">
                <a:solidFill>
                  <a:schemeClr val="tx1"/>
                </a:solidFill>
                <a:latin typeface="Gill Sans MT" pitchFamily="34" charset="0"/>
                <a:cs typeface="+mn-cs"/>
              </a:rPr>
              <a:t>  </a:t>
            </a:r>
            <a:r>
              <a:rPr lang="en-US" sz="2300" dirty="0">
                <a:latin typeface="Gill Sans MT" pitchFamily="34" charset="0"/>
              </a:rPr>
              <a:t>handled by kernel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0BBB52-B7A2-5D7B-613F-B0FF36D647E0}"/>
              </a:ext>
            </a:extLst>
          </p:cNvPr>
          <p:cNvGrpSpPr>
            <a:grpSpLocks/>
          </p:cNvGrpSpPr>
          <p:nvPr/>
        </p:nvGrpSpPr>
        <p:grpSpPr bwMode="auto">
          <a:xfrm>
            <a:off x="3989799" y="3682149"/>
            <a:ext cx="5065852" cy="2622699"/>
            <a:chOff x="1752600" y="1905000"/>
            <a:chExt cx="5661834" cy="2874925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73C9A2ED-AA14-2305-A07D-40573221B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1905000"/>
              <a:ext cx="2133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955DD3AB-2E7F-C18A-17FD-481E53C6B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1905000"/>
              <a:ext cx="914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fd</a:t>
              </a: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[0]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25AB9710-20A0-C641-ABD3-2A774EA01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743200"/>
              <a:ext cx="838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fd[1]</a:t>
              </a: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E62530DA-A069-46B5-F71A-2AAB228F2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442410"/>
              <a:ext cx="5562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08F6C431-9DD6-31B1-AF4D-0AA3E0586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4940" y="2874043"/>
              <a:ext cx="990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993090E1-2A98-12BB-B87A-E3344DC3D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034" y="3606640"/>
              <a:ext cx="914400" cy="404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5FD9C4ED-4F2C-433C-B6DF-A5DCDA267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2800" y="3759751"/>
              <a:ext cx="2133602" cy="4048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pipe</a:t>
              </a: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F6E0C085-7F5A-04D2-87CC-92EDA1BA24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8400" y="29718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8A78B4F0-735C-7F28-2E1C-FDCFA668F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2971800"/>
              <a:ext cx="0" cy="1010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5116E04C-A138-F240-D1DE-B87C90D7A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398209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F9DBBC7D-C499-37CF-DAE4-E566427E5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86400" y="3982088"/>
              <a:ext cx="838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80017C65-85D6-1374-E08B-0EED3FEAF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133601"/>
              <a:ext cx="0" cy="1848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123C927-4ADC-248C-7743-092F82C0D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1336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A4C8CF4E-CBA0-B9F5-E0F4-D737A9C65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504" y="4334391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6CD9076B-5923-249E-972D-13A525BE0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410593"/>
              <a:ext cx="1828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119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C56996-DE67-46AE-B62E-7CC3BE3323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32" b="2810"/>
          <a:stretch/>
        </p:blipFill>
        <p:spPr>
          <a:xfrm>
            <a:off x="499730" y="1138557"/>
            <a:ext cx="8378456" cy="5404831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14649FC-D655-4E5E-23C2-E4089FD5F32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B000ED3-A75E-6C57-E534-E613B4FB5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304" y="203382"/>
            <a:ext cx="7441096" cy="576262"/>
          </a:xfrm>
        </p:spPr>
        <p:txBody>
          <a:bodyPr/>
          <a:lstStyle/>
          <a:p>
            <a:pPr>
              <a:defRPr/>
            </a:pPr>
            <a:r>
              <a:rPr lang="en-US" altLang="en-US" kern="1200" dirty="0"/>
              <a:t>Pipe in a Single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2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5E1237-7A95-4EBC-B952-B15B82471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20032" r="110" b="5193"/>
          <a:stretch/>
        </p:blipFill>
        <p:spPr>
          <a:xfrm>
            <a:off x="223520" y="1209040"/>
            <a:ext cx="8920480" cy="493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1B9332A-24F4-1595-6BB3-782A57D6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731520"/>
          </a:xfrm>
        </p:spPr>
        <p:txBody>
          <a:bodyPr/>
          <a:lstStyle/>
          <a:p>
            <a:r>
              <a:rPr lang="en-US" dirty="0"/>
              <a:t>Pipes in 2 Related Processes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664F5-6006-B7D5-D341-E46119A48956}"/>
              </a:ext>
            </a:extLst>
          </p:cNvPr>
          <p:cNvSpPr/>
          <p:nvPr/>
        </p:nvSpPr>
        <p:spPr bwMode="auto">
          <a:xfrm>
            <a:off x="2679403" y="1318437"/>
            <a:ext cx="839974" cy="35843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560B9-F022-8325-07F0-40AC3CEB3FD6}"/>
              </a:ext>
            </a:extLst>
          </p:cNvPr>
          <p:cNvSpPr/>
          <p:nvPr/>
        </p:nvSpPr>
        <p:spPr bwMode="auto">
          <a:xfrm>
            <a:off x="8114413" y="1318437"/>
            <a:ext cx="839974" cy="32192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Group 31">
            <a:extLst>
              <a:ext uri="{FF2B5EF4-FFF2-40B4-BE49-F238E27FC236}">
                <a16:creationId xmlns:a16="http://schemas.microsoft.com/office/drawing/2014/main" id="{5C2250EC-A3FC-E9F7-FE6D-3C6176DAD7B3}"/>
              </a:ext>
            </a:extLst>
          </p:cNvPr>
          <p:cNvGrpSpPr>
            <a:grpSpLocks/>
          </p:cNvGrpSpPr>
          <p:nvPr/>
        </p:nvGrpSpPr>
        <p:grpSpPr bwMode="auto">
          <a:xfrm>
            <a:off x="491331" y="2155282"/>
            <a:ext cx="8382000" cy="3744375"/>
            <a:chOff x="0" y="1972010"/>
            <a:chExt cx="9144000" cy="3987465"/>
          </a:xfrm>
        </p:grpSpPr>
        <p:sp>
          <p:nvSpPr>
            <p:cNvPr id="10246" name="Text Box 4">
              <a:extLst>
                <a:ext uri="{FF2B5EF4-FFF2-40B4-BE49-F238E27FC236}">
                  <a16:creationId xmlns:a16="http://schemas.microsoft.com/office/drawing/2014/main" id="{A3820753-FB16-A2BF-37B6-4B267F347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2667000"/>
              <a:ext cx="2133600" cy="1320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parent</a:t>
              </a:r>
            </a:p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47" name="Text Box 5">
              <a:extLst>
                <a:ext uri="{FF2B5EF4-FFF2-40B4-BE49-F238E27FC236}">
                  <a16:creationId xmlns:a16="http://schemas.microsoft.com/office/drawing/2014/main" id="{78FC2556-4AAB-993A-F557-58412F18B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667000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fd[0]</a:t>
              </a:r>
            </a:p>
          </p:txBody>
        </p:sp>
        <p:sp>
          <p:nvSpPr>
            <p:cNvPr id="10248" name="Text Box 6">
              <a:extLst>
                <a:ext uri="{FF2B5EF4-FFF2-40B4-BE49-F238E27FC236}">
                  <a16:creationId xmlns:a16="http://schemas.microsoft.com/office/drawing/2014/main" id="{E3EBBB47-3F8B-7938-90D3-B3AB8AA1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533921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fd[1]</a:t>
              </a:r>
            </a:p>
          </p:txBody>
        </p:sp>
        <p:sp>
          <p:nvSpPr>
            <p:cNvPr id="10249" name="Line 7">
              <a:extLst>
                <a:ext uri="{FF2B5EF4-FFF2-40B4-BE49-F238E27FC236}">
                  <a16:creationId xmlns:a16="http://schemas.microsoft.com/office/drawing/2014/main" id="{A39C4C57-0F43-5993-B3D6-35F06CE49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419600"/>
              <a:ext cx="868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Text Box 8">
              <a:extLst>
                <a:ext uri="{FF2B5EF4-FFF2-40B4-BE49-F238E27FC236}">
                  <a16:creationId xmlns:a16="http://schemas.microsoft.com/office/drawing/2014/main" id="{116458BC-9CEA-EE83-A047-C95B6856F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86200"/>
              <a:ext cx="1447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10251" name="Text Box 9">
              <a:extLst>
                <a:ext uri="{FF2B5EF4-FFF2-40B4-BE49-F238E27FC236}">
                  <a16:creationId xmlns:a16="http://schemas.microsoft.com/office/drawing/2014/main" id="{C40484C4-44A2-FAFC-D0D9-06332C800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495800"/>
              <a:ext cx="1447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0252" name="Text Box 10">
              <a:extLst>
                <a:ext uri="{FF2B5EF4-FFF2-40B4-BE49-F238E27FC236}">
                  <a16:creationId xmlns:a16="http://schemas.microsoft.com/office/drawing/2014/main" id="{6193B211-B2CB-ECCC-BBC3-752A2C298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4876800"/>
              <a:ext cx="2133600" cy="40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pipe</a:t>
              </a:r>
            </a:p>
          </p:txBody>
        </p:sp>
        <p:sp>
          <p:nvSpPr>
            <p:cNvPr id="10253" name="Line 11">
              <a:extLst>
                <a:ext uri="{FF2B5EF4-FFF2-40B4-BE49-F238E27FC236}">
                  <a16:creationId xmlns:a16="http://schemas.microsoft.com/office/drawing/2014/main" id="{12520859-F247-0ABE-1014-354BE1A5E5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9200" y="35814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12">
              <a:extLst>
                <a:ext uri="{FF2B5EF4-FFF2-40B4-BE49-F238E27FC236}">
                  <a16:creationId xmlns:a16="http://schemas.microsoft.com/office/drawing/2014/main" id="{7E354E81-D4C3-1774-2A09-E525663CC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581400"/>
              <a:ext cx="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13">
              <a:extLst>
                <a:ext uri="{FF2B5EF4-FFF2-40B4-BE49-F238E27FC236}">
                  <a16:creationId xmlns:a16="http://schemas.microsoft.com/office/drawing/2014/main" id="{BBB26707-32B4-B2F4-3156-5477167C8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181600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4">
              <a:extLst>
                <a:ext uri="{FF2B5EF4-FFF2-40B4-BE49-F238E27FC236}">
                  <a16:creationId xmlns:a16="http://schemas.microsoft.com/office/drawing/2014/main" id="{BF77565A-E4E8-42DF-5534-61264B20B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38800" y="4953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15">
              <a:extLst>
                <a:ext uri="{FF2B5EF4-FFF2-40B4-BE49-F238E27FC236}">
                  <a16:creationId xmlns:a16="http://schemas.microsoft.com/office/drawing/2014/main" id="{1DF77130-D1DD-BA88-880B-56504E449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2895600"/>
              <a:ext cx="121920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Line 16">
              <a:extLst>
                <a:ext uri="{FF2B5EF4-FFF2-40B4-BE49-F238E27FC236}">
                  <a16:creationId xmlns:a16="http://schemas.microsoft.com/office/drawing/2014/main" id="{43B4FD3A-CD30-DC08-3273-CB4E64475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2895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Line 17">
              <a:extLst>
                <a:ext uri="{FF2B5EF4-FFF2-40B4-BE49-F238E27FC236}">
                  <a16:creationId xmlns:a16="http://schemas.microsoft.com/office/drawing/2014/main" id="{B6CB1D4D-F52E-1025-0775-BF419D892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5486400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Text Box 18">
              <a:extLst>
                <a:ext uri="{FF2B5EF4-FFF2-40B4-BE49-F238E27FC236}">
                  <a16:creationId xmlns:a16="http://schemas.microsoft.com/office/drawing/2014/main" id="{2AB09135-8627-0A8D-553C-15FF8F270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5562600"/>
              <a:ext cx="1676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0261" name="Text Box 20">
              <a:extLst>
                <a:ext uri="{FF2B5EF4-FFF2-40B4-BE49-F238E27FC236}">
                  <a16:creationId xmlns:a16="http://schemas.microsoft.com/office/drawing/2014/main" id="{E16DDF56-AB49-885B-2594-83F5AB61E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667000"/>
              <a:ext cx="2133600" cy="1320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child</a:t>
              </a:r>
            </a:p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62" name="Text Box 21">
              <a:extLst>
                <a:ext uri="{FF2B5EF4-FFF2-40B4-BE49-F238E27FC236}">
                  <a16:creationId xmlns:a16="http://schemas.microsoft.com/office/drawing/2014/main" id="{1159B917-5958-74DF-D949-87ACBFACB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429000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fd[1]</a:t>
              </a:r>
            </a:p>
          </p:txBody>
        </p:sp>
        <p:sp>
          <p:nvSpPr>
            <p:cNvPr id="10263" name="Text Box 22">
              <a:extLst>
                <a:ext uri="{FF2B5EF4-FFF2-40B4-BE49-F238E27FC236}">
                  <a16:creationId xmlns:a16="http://schemas.microsoft.com/office/drawing/2014/main" id="{1F25D1B3-D0C9-C51E-968F-BED732495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667000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fd[0]</a:t>
              </a:r>
            </a:p>
          </p:txBody>
        </p:sp>
        <p:sp>
          <p:nvSpPr>
            <p:cNvPr id="10264" name="Line 23">
              <a:extLst>
                <a:ext uri="{FF2B5EF4-FFF2-40B4-BE49-F238E27FC236}">
                  <a16:creationId xmlns:a16="http://schemas.microsoft.com/office/drawing/2014/main" id="{08DF80F6-17E3-A313-B875-819CFFF25F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4000" y="35814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24">
              <a:extLst>
                <a:ext uri="{FF2B5EF4-FFF2-40B4-BE49-F238E27FC236}">
                  <a16:creationId xmlns:a16="http://schemas.microsoft.com/office/drawing/2014/main" id="{4A067DF3-646B-FA95-0434-D72AB48DD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953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Line 25">
              <a:extLst>
                <a:ext uri="{FF2B5EF4-FFF2-40B4-BE49-F238E27FC236}">
                  <a16:creationId xmlns:a16="http://schemas.microsoft.com/office/drawing/2014/main" id="{C8C89953-9B89-FC8D-F2EF-CED3E6FE98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0800" y="3581400"/>
              <a:ext cx="274320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26">
              <a:extLst>
                <a:ext uri="{FF2B5EF4-FFF2-40B4-BE49-F238E27FC236}">
                  <a16:creationId xmlns:a16="http://schemas.microsoft.com/office/drawing/2014/main" id="{44EAF382-AD3A-A78B-865B-49CAA1083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5181600"/>
              <a:ext cx="3200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27">
              <a:extLst>
                <a:ext uri="{FF2B5EF4-FFF2-40B4-BE49-F238E27FC236}">
                  <a16:creationId xmlns:a16="http://schemas.microsoft.com/office/drawing/2014/main" id="{FFCABE0E-E4B5-5E45-74A1-5E9AEEE08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9200" y="2819400"/>
              <a:ext cx="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28">
              <a:extLst>
                <a:ext uri="{FF2B5EF4-FFF2-40B4-BE49-F238E27FC236}">
                  <a16:creationId xmlns:a16="http://schemas.microsoft.com/office/drawing/2014/main" id="{3C8C47BD-912C-1234-291A-0C139C9DD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05800" y="28194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29">
              <a:extLst>
                <a:ext uri="{FF2B5EF4-FFF2-40B4-BE49-F238E27FC236}">
                  <a16:creationId xmlns:a16="http://schemas.microsoft.com/office/drawing/2014/main" id="{6D32BFCB-705A-0FB1-EAA8-76E6668D0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2429210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Text Box 30">
              <a:extLst>
                <a:ext uri="{FF2B5EF4-FFF2-40B4-BE49-F238E27FC236}">
                  <a16:creationId xmlns:a16="http://schemas.microsoft.com/office/drawing/2014/main" id="{6D30AC75-A82A-F562-F530-E2B08C2CF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386" y="1972010"/>
              <a:ext cx="899414" cy="426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fork()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68D7A189-3306-7D3D-C32B-9494B57DD85F}"/>
              </a:ext>
            </a:extLst>
          </p:cNvPr>
          <p:cNvSpPr txBox="1">
            <a:spLocks/>
          </p:cNvSpPr>
          <p:nvPr/>
        </p:nvSpPr>
        <p:spPr bwMode="auto">
          <a:xfrm>
            <a:off x="1093304" y="1"/>
            <a:ext cx="7441096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r>
              <a:rPr lang="en-US" kern="0" dirty="0"/>
              <a:t>Pipes in 2 Related Processes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65F0C-4C68-159F-886B-6E93FADEB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38" y="1151646"/>
            <a:ext cx="8534400" cy="137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2900" eaLnBrk="0" hangingPunct="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 creates a </a:t>
            </a:r>
            <a:r>
              <a:rPr lang="en-US" sz="24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pipe</a:t>
            </a:r>
          </a:p>
          <a:p>
            <a:pPr marL="342900" indent="-342900" eaLnBrk="0" hangingPunct="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altLang="en-US" sz="2400" b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hen calls </a:t>
            </a:r>
            <a:r>
              <a:rPr lang="en-US" altLang="en-US" sz="2400" b="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lang="en-US" altLang="en-US" sz="2400" b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create a copy of itself</a:t>
            </a:r>
            <a:endParaRPr lang="en-US" sz="24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32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3B184F85-0460-CF1B-B3D7-0BAA72C62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38" y="1151646"/>
            <a:ext cx="8534400" cy="137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342900" indent="-342900" eaLnBrk="0" hangingPunct="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Parent closes </a:t>
            </a:r>
            <a:r>
              <a:rPr lang="en-US" sz="2400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end </a:t>
            </a: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pipe &amp; child closes </a:t>
            </a:r>
            <a:r>
              <a:rPr lang="en-US" sz="2400" i="1" kern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end</a:t>
            </a:r>
          </a:p>
          <a:p>
            <a:pPr marL="342900" indent="-342900" eaLnBrk="0" hangingPunct="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provides a </a:t>
            </a:r>
            <a:r>
              <a:rPr lang="en-US" sz="2400" i="1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way flow of data </a:t>
            </a: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between the two processes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DADF19-1E72-3A9D-D222-552D1CE3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4" y="1"/>
            <a:ext cx="7441096" cy="731520"/>
          </a:xfrm>
        </p:spPr>
        <p:txBody>
          <a:bodyPr/>
          <a:lstStyle/>
          <a:p>
            <a:r>
              <a:rPr lang="en-US" dirty="0"/>
              <a:t>Pipes in 2 Related Processes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93F214A9-E6D3-EBAA-7867-34692498AA0D}"/>
              </a:ext>
            </a:extLst>
          </p:cNvPr>
          <p:cNvGrpSpPr>
            <a:grpSpLocks/>
          </p:cNvGrpSpPr>
          <p:nvPr/>
        </p:nvGrpSpPr>
        <p:grpSpPr bwMode="auto">
          <a:xfrm>
            <a:off x="491331" y="2807903"/>
            <a:ext cx="8382000" cy="3091754"/>
            <a:chOff x="0" y="2667000"/>
            <a:chExt cx="9144000" cy="3292475"/>
          </a:xfrm>
        </p:grpSpPr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71E05771-48CE-DD43-2F93-774A64820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7400" y="2667000"/>
              <a:ext cx="2133600" cy="1320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parent</a:t>
              </a:r>
            </a:p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5966028-727B-6968-C2CB-2810B69B9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533921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fd[1]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5CBA2DCF-34ED-001C-7157-DB4EC088A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419600"/>
              <a:ext cx="868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C98330B4-C9C5-7148-287D-5FED12B84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86200"/>
              <a:ext cx="1447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200B9C80-09B2-33DD-1711-EE887E0C2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495800"/>
              <a:ext cx="1447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9372546D-9566-6A4E-60D1-3BD3AFE34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4876800"/>
              <a:ext cx="2133600" cy="4064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pipe</a:t>
              </a: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DA307E6-0BB4-A915-64D2-F5BFB29214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9200" y="35814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E89C2425-F4A2-C5E0-7517-540B94673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581400"/>
              <a:ext cx="0" cy="160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AA8426A-9D23-4126-D345-B6E5461A2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181600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8077D7B3-8A47-49D4-3EE7-4D1CE7475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5486400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CD27C186-EF98-068D-15A5-737A05216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5562600"/>
              <a:ext cx="1676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80716F27-9792-819A-746B-16D466D8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667000"/>
              <a:ext cx="2133600" cy="1320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child</a:t>
              </a:r>
            </a:p>
            <a:p>
              <a:pPr algn="ctr">
                <a:spcBef>
                  <a:spcPct val="50000"/>
                </a:spcBef>
              </a:pPr>
              <a:endParaRPr lang="en-US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54D917EC-3912-EF57-7C98-84AF9928F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667000"/>
              <a:ext cx="762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fd</a:t>
              </a:r>
              <a:r>
                <a:rPr lang="en-US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[0]</a:t>
              </a: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EAD139D-36BB-FCA7-FD16-1CAF70B7A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5181600"/>
              <a:ext cx="3200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920870EA-ABC5-D41C-F1D5-B1D8D82FBB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9200" y="2819400"/>
              <a:ext cx="0" cy="2362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339F7DCC-1E16-7E5C-8745-F73318078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05800" y="28194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728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61E112F-E73C-5945-DD1E-27956814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4904" y="206693"/>
            <a:ext cx="7441096" cy="576262"/>
          </a:xfrm>
        </p:spPr>
        <p:txBody>
          <a:bodyPr/>
          <a:lstStyle/>
          <a:p>
            <a:pPr>
              <a:defRPr/>
            </a:pPr>
            <a:r>
              <a:rPr lang="en-US" altLang="en-US" sz="3000" dirty="0"/>
              <a:t>Full Duplex Pipe : 2 Related Processes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D2DF9D4-3E12-158D-ADFB-A8026965F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9562" y="1054216"/>
            <a:ext cx="8682038" cy="2909141"/>
          </a:xfrm>
        </p:spPr>
        <p:txBody>
          <a:bodyPr/>
          <a:lstStyle/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n-US" altLang="en-US" sz="2400" dirty="0">
                <a:solidFill>
                  <a:schemeClr val="tx1"/>
                </a:solidFill>
              </a:rPr>
              <a:t>Steps to create </a:t>
            </a:r>
            <a:r>
              <a:rPr lang="en-US" altLang="en-US" sz="2400" dirty="0">
                <a:solidFill>
                  <a:srgbClr val="FF0000"/>
                </a:solidFill>
              </a:rPr>
              <a:t>Full Duplex Pipe 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>
                <a:solidFill>
                  <a:schemeClr val="tx1"/>
                </a:solidFill>
              </a:rPr>
              <a:t>Create       </a:t>
            </a:r>
            <a:r>
              <a:rPr lang="en-US" altLang="en-US" sz="2100" dirty="0">
                <a:solidFill>
                  <a:srgbClr val="FF0000"/>
                </a:solidFill>
              </a:rPr>
              <a:t>pipe 1</a:t>
            </a:r>
            <a:r>
              <a:rPr lang="en-US" altLang="en-US" sz="2100" dirty="0">
                <a:solidFill>
                  <a:schemeClr val="tx1"/>
                </a:solidFill>
              </a:rPr>
              <a:t>;  fd1[0],  fd1[1]         </a:t>
            </a:r>
            <a:r>
              <a:rPr lang="en-US" altLang="en-US" sz="2100" dirty="0">
                <a:solidFill>
                  <a:srgbClr val="0000CC"/>
                </a:solidFill>
              </a:rPr>
              <a:t>pipe 2</a:t>
            </a:r>
            <a:r>
              <a:rPr lang="en-US" altLang="en-US" sz="2100" dirty="0">
                <a:solidFill>
                  <a:schemeClr val="tx1"/>
                </a:solidFill>
              </a:rPr>
              <a:t>;  fd2[0],  fd2[1]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>
                <a:solidFill>
                  <a:schemeClr val="tx1"/>
                </a:solidFill>
              </a:rPr>
              <a:t>fork()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>
                <a:solidFill>
                  <a:schemeClr val="tx1"/>
                </a:solidFill>
              </a:rPr>
              <a:t>Parent closes read end of </a:t>
            </a:r>
            <a:r>
              <a:rPr lang="en-US" altLang="en-US" sz="2100" dirty="0">
                <a:solidFill>
                  <a:srgbClr val="FF0000"/>
                </a:solidFill>
              </a:rPr>
              <a:t>pipe 1</a:t>
            </a:r>
            <a:r>
              <a:rPr lang="en-US" altLang="en-US" sz="2100" dirty="0">
                <a:solidFill>
                  <a:schemeClr val="tx1"/>
                </a:solidFill>
              </a:rPr>
              <a:t>;  fd1[0]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/>
              <a:t>Child closes write end of </a:t>
            </a:r>
            <a:r>
              <a:rPr lang="en-US" altLang="en-US" sz="2100" dirty="0">
                <a:solidFill>
                  <a:srgbClr val="FF0000"/>
                </a:solidFill>
              </a:rPr>
              <a:t>pipe 1</a:t>
            </a:r>
            <a:r>
              <a:rPr lang="en-US" altLang="en-US" sz="2100" dirty="0"/>
              <a:t>;  fd1[1]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/>
              <a:t>Child closes read end of </a:t>
            </a:r>
            <a:r>
              <a:rPr lang="en-US" altLang="en-US" sz="2100" dirty="0">
                <a:solidFill>
                  <a:srgbClr val="0000CC"/>
                </a:solidFill>
              </a:rPr>
              <a:t>pipe 2</a:t>
            </a:r>
            <a:r>
              <a:rPr lang="en-US" altLang="en-US" sz="2100" dirty="0"/>
              <a:t>;  fd2[0]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altLang="en-US" sz="2100" dirty="0">
                <a:solidFill>
                  <a:schemeClr val="tx1"/>
                </a:solidFill>
              </a:rPr>
              <a:t>Parent closes write end of </a:t>
            </a:r>
            <a:r>
              <a:rPr lang="en-US" altLang="en-US" sz="2100" dirty="0">
                <a:solidFill>
                  <a:srgbClr val="0000CC"/>
                </a:solidFill>
              </a:rPr>
              <a:t>pipe 2</a:t>
            </a:r>
            <a:r>
              <a:rPr lang="en-US" altLang="en-US" sz="2100" dirty="0">
                <a:solidFill>
                  <a:schemeClr val="tx1"/>
                </a:solidFill>
              </a:rPr>
              <a:t>;  fd2[1]</a:t>
            </a:r>
          </a:p>
        </p:txBody>
      </p:sp>
      <p:grpSp>
        <p:nvGrpSpPr>
          <p:cNvPr id="12292" name="Group 3">
            <a:extLst>
              <a:ext uri="{FF2B5EF4-FFF2-40B4-BE49-F238E27FC236}">
                <a16:creationId xmlns:a16="http://schemas.microsoft.com/office/drawing/2014/main" id="{EC5E73C2-343F-5DB0-A4DA-CB83530AB0D9}"/>
              </a:ext>
            </a:extLst>
          </p:cNvPr>
          <p:cNvGrpSpPr>
            <a:grpSpLocks/>
          </p:cNvGrpSpPr>
          <p:nvPr/>
        </p:nvGrpSpPr>
        <p:grpSpPr bwMode="auto">
          <a:xfrm>
            <a:off x="721360" y="4084320"/>
            <a:ext cx="7355840" cy="2431793"/>
            <a:chOff x="76200" y="2636837"/>
            <a:chExt cx="9144000" cy="4177948"/>
          </a:xfrm>
        </p:grpSpPr>
        <p:sp>
          <p:nvSpPr>
            <p:cNvPr id="12294" name="Text Box 21">
              <a:extLst>
                <a:ext uri="{FF2B5EF4-FFF2-40B4-BE49-F238E27FC236}">
                  <a16:creationId xmlns:a16="http://schemas.microsoft.com/office/drawing/2014/main" id="{085EE71F-2670-7179-7D0E-8E2AC4889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636837"/>
              <a:ext cx="2133600" cy="14276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parent</a:t>
              </a:r>
            </a:p>
            <a:p>
              <a:pPr algn="ctr">
                <a:spcBef>
                  <a:spcPct val="50000"/>
                </a:spcBef>
              </a:pPr>
              <a:endParaRPr lang="en-US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295" name="Text Box 22">
              <a:extLst>
                <a:ext uri="{FF2B5EF4-FFF2-40B4-BE49-F238E27FC236}">
                  <a16:creationId xmlns:a16="http://schemas.microsoft.com/office/drawing/2014/main" id="{030FD5BC-4A95-56FF-371D-B03D2D8EB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3475035"/>
              <a:ext cx="7620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fd1[1]</a:t>
              </a:r>
            </a:p>
          </p:txBody>
        </p:sp>
        <p:sp>
          <p:nvSpPr>
            <p:cNvPr id="12296" name="Text Box 23">
              <a:extLst>
                <a:ext uri="{FF2B5EF4-FFF2-40B4-BE49-F238E27FC236}">
                  <a16:creationId xmlns:a16="http://schemas.microsoft.com/office/drawing/2014/main" id="{0B851FCE-9513-F886-BEF4-3DCD01B50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713038"/>
              <a:ext cx="7620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fd2[0]</a:t>
              </a:r>
            </a:p>
          </p:txBody>
        </p:sp>
        <p:sp>
          <p:nvSpPr>
            <p:cNvPr id="12297" name="Line 24">
              <a:extLst>
                <a:ext uri="{FF2B5EF4-FFF2-40B4-BE49-F238E27FC236}">
                  <a16:creationId xmlns:a16="http://schemas.microsoft.com/office/drawing/2014/main" id="{E1C72D18-68B4-A891-BF6C-012D8E726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4389437"/>
              <a:ext cx="868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298" name="Text Box 25">
              <a:extLst>
                <a:ext uri="{FF2B5EF4-FFF2-40B4-BE49-F238E27FC236}">
                  <a16:creationId xmlns:a16="http://schemas.microsoft.com/office/drawing/2014/main" id="{1F754901-FBDB-8548-5CA8-6B770AE74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" y="3856037"/>
              <a:ext cx="14478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12299" name="Text Box 26">
              <a:extLst>
                <a:ext uri="{FF2B5EF4-FFF2-40B4-BE49-F238E27FC236}">
                  <a16:creationId xmlns:a16="http://schemas.microsoft.com/office/drawing/2014/main" id="{FA555D3B-4F2C-D44B-E8DB-7AB9EEC4E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" y="4465638"/>
              <a:ext cx="14478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2300" name="Text Box 27">
              <a:extLst>
                <a:ext uri="{FF2B5EF4-FFF2-40B4-BE49-F238E27FC236}">
                  <a16:creationId xmlns:a16="http://schemas.microsoft.com/office/drawing/2014/main" id="{9E817E91-BECA-A53A-8060-5DA88F7FF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864093"/>
              <a:ext cx="2133600" cy="4758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pipe 1</a:t>
              </a:r>
            </a:p>
          </p:txBody>
        </p:sp>
        <p:sp>
          <p:nvSpPr>
            <p:cNvPr id="12301" name="Line 28">
              <a:extLst>
                <a:ext uri="{FF2B5EF4-FFF2-40B4-BE49-F238E27FC236}">
                  <a16:creationId xmlns:a16="http://schemas.microsoft.com/office/drawing/2014/main" id="{5A85C1D9-CBD9-9019-E4A5-80C3C587C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2865437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2" name="Line 29">
              <a:extLst>
                <a:ext uri="{FF2B5EF4-FFF2-40B4-BE49-F238E27FC236}">
                  <a16:creationId xmlns:a16="http://schemas.microsoft.com/office/drawing/2014/main" id="{0E320754-608E-D5DF-C39F-55AE16662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2865437"/>
              <a:ext cx="0" cy="30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3" name="Line 30">
              <a:extLst>
                <a:ext uri="{FF2B5EF4-FFF2-40B4-BE49-F238E27FC236}">
                  <a16:creationId xmlns:a16="http://schemas.microsoft.com/office/drawing/2014/main" id="{BE9EB0B3-7C79-74DD-FFE8-417290925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5913437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4" name="Line 31">
              <a:extLst>
                <a:ext uri="{FF2B5EF4-FFF2-40B4-BE49-F238E27FC236}">
                  <a16:creationId xmlns:a16="http://schemas.microsoft.com/office/drawing/2014/main" id="{1990E6B1-ED35-0A8D-5D59-B90DAA331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5000" y="4922837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5" name="Line 33">
              <a:extLst>
                <a:ext uri="{FF2B5EF4-FFF2-40B4-BE49-F238E27FC236}">
                  <a16:creationId xmlns:a16="http://schemas.microsoft.com/office/drawing/2014/main" id="{3ECB140B-C868-D2EA-280F-E832858CE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362743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6" name="Line 34">
              <a:extLst>
                <a:ext uri="{FF2B5EF4-FFF2-40B4-BE49-F238E27FC236}">
                  <a16:creationId xmlns:a16="http://schemas.microsoft.com/office/drawing/2014/main" id="{BDE3FFAC-4314-C99B-00DF-3444CD84E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578" y="4751643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07" name="Text Box 35">
              <a:extLst>
                <a:ext uri="{FF2B5EF4-FFF2-40B4-BE49-F238E27FC236}">
                  <a16:creationId xmlns:a16="http://schemas.microsoft.com/office/drawing/2014/main" id="{C9FEB28A-1A4C-3D8E-7E63-E0EE4AC6F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4178" y="4377466"/>
              <a:ext cx="14478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2308" name="Text Box 36">
              <a:extLst>
                <a:ext uri="{FF2B5EF4-FFF2-40B4-BE49-F238E27FC236}">
                  <a16:creationId xmlns:a16="http://schemas.microsoft.com/office/drawing/2014/main" id="{0493EF97-4A1E-32D9-DEA6-4C8D2912D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636837"/>
              <a:ext cx="2133600" cy="14276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child</a:t>
              </a:r>
            </a:p>
            <a:p>
              <a:pPr algn="ctr">
                <a:spcBef>
                  <a:spcPct val="50000"/>
                </a:spcBef>
              </a:pPr>
              <a:endParaRPr lang="en-US" altLang="en-US" sz="12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09" name="Text Box 37">
              <a:extLst>
                <a:ext uri="{FF2B5EF4-FFF2-40B4-BE49-F238E27FC236}">
                  <a16:creationId xmlns:a16="http://schemas.microsoft.com/office/drawing/2014/main" id="{EEB5AB0C-E6A9-DBDC-D3BD-DA5F2BB7F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398838"/>
              <a:ext cx="7620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fd1[0]</a:t>
              </a:r>
            </a:p>
          </p:txBody>
        </p:sp>
        <p:sp>
          <p:nvSpPr>
            <p:cNvPr id="12310" name="Text Box 38">
              <a:extLst>
                <a:ext uri="{FF2B5EF4-FFF2-40B4-BE49-F238E27FC236}">
                  <a16:creationId xmlns:a16="http://schemas.microsoft.com/office/drawing/2014/main" id="{BE5DA2CA-01F8-74CD-5B80-F3AA2E384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0" y="2636837"/>
              <a:ext cx="7620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fd2[1]</a:t>
              </a:r>
            </a:p>
          </p:txBody>
        </p:sp>
        <p:sp>
          <p:nvSpPr>
            <p:cNvPr id="12311" name="Line 40">
              <a:extLst>
                <a:ext uri="{FF2B5EF4-FFF2-40B4-BE49-F238E27FC236}">
                  <a16:creationId xmlns:a16="http://schemas.microsoft.com/office/drawing/2014/main" id="{31826A30-E41F-9FB0-163C-945A5A33F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4922837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12" name="Line 42">
              <a:extLst>
                <a:ext uri="{FF2B5EF4-FFF2-40B4-BE49-F238E27FC236}">
                  <a16:creationId xmlns:a16="http://schemas.microsoft.com/office/drawing/2014/main" id="{BF72ED11-C181-B5EC-78FF-37547082F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5989637"/>
              <a:ext cx="3200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13" name="Line 43">
              <a:extLst>
                <a:ext uri="{FF2B5EF4-FFF2-40B4-BE49-F238E27FC236}">
                  <a16:creationId xmlns:a16="http://schemas.microsoft.com/office/drawing/2014/main" id="{DF21D386-6475-B9A0-1779-4D7B3D9817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5400" y="2789237"/>
              <a:ext cx="0" cy="320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14" name="Line 44">
              <a:extLst>
                <a:ext uri="{FF2B5EF4-FFF2-40B4-BE49-F238E27FC236}">
                  <a16:creationId xmlns:a16="http://schemas.microsoft.com/office/drawing/2014/main" id="{2A9D6FF9-61B4-04F0-C747-6E2584FFA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278923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15" name="Text Box 47">
              <a:extLst>
                <a:ext uri="{FF2B5EF4-FFF2-40B4-BE49-F238E27FC236}">
                  <a16:creationId xmlns:a16="http://schemas.microsoft.com/office/drawing/2014/main" id="{3DDE714F-976B-EA01-7FAA-63D49A76A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761036"/>
              <a:ext cx="2133600" cy="4758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pipe 2</a:t>
              </a:r>
            </a:p>
          </p:txBody>
        </p:sp>
        <p:sp>
          <p:nvSpPr>
            <p:cNvPr id="12316" name="Line 48">
              <a:extLst>
                <a:ext uri="{FF2B5EF4-FFF2-40B4-BE49-F238E27FC236}">
                  <a16:creationId xmlns:a16="http://schemas.microsoft.com/office/drawing/2014/main" id="{AAAFDE96-8E3F-7932-E886-EB8206339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690" y="6346803"/>
              <a:ext cx="167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12317" name="Text Box 49">
              <a:extLst>
                <a:ext uri="{FF2B5EF4-FFF2-40B4-BE49-F238E27FC236}">
                  <a16:creationId xmlns:a16="http://schemas.microsoft.com/office/drawing/2014/main" id="{020E6391-8838-C1F9-307F-B46415E37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179" y="6338886"/>
              <a:ext cx="1447800" cy="475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2318" name="Line 50">
              <a:extLst>
                <a:ext uri="{FF2B5EF4-FFF2-40B4-BE49-F238E27FC236}">
                  <a16:creationId xmlns:a16="http://schemas.microsoft.com/office/drawing/2014/main" id="{3BEF66B7-283A-E807-95A0-D7E6271D4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3627437"/>
              <a:ext cx="2209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19" name="Line 51">
              <a:extLst>
                <a:ext uri="{FF2B5EF4-FFF2-40B4-BE49-F238E27FC236}">
                  <a16:creationId xmlns:a16="http://schemas.microsoft.com/office/drawing/2014/main" id="{3C1EB772-C795-A5A0-6935-9F57D363C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15000" y="3551237"/>
              <a:ext cx="38100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2320" name="Line 53">
              <a:extLst>
                <a:ext uri="{FF2B5EF4-FFF2-40B4-BE49-F238E27FC236}">
                  <a16:creationId xmlns:a16="http://schemas.microsoft.com/office/drawing/2014/main" id="{BA623F25-72AE-672F-9CD9-154EC1735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355123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31BC7-EF73-E3A7-7F92-294E2C6D9E0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5" name="Rectangle 15">
            <a:extLst>
              <a:ext uri="{FF2B5EF4-FFF2-40B4-BE49-F238E27FC236}">
                <a16:creationId xmlns:a16="http://schemas.microsoft.com/office/drawing/2014/main" id="{6FD2BBAD-49F2-E37F-4949-84DDF2A9F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880" y="1000760"/>
            <a:ext cx="8331200" cy="533400"/>
          </a:xfrm>
        </p:spPr>
        <p:txBody>
          <a:bodyPr/>
          <a:lstStyle/>
          <a:p>
            <a:pPr marL="290513" indent="-290513" algn="l">
              <a:buFont typeface="Arial" pitchFamily="34" charset="0"/>
              <a:buChar char="•"/>
              <a:defRPr/>
            </a:pPr>
            <a:r>
              <a:rPr lang="en-US" altLang="en-US" sz="2400" b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en-US" sz="2400" b="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bi-directional</a:t>
            </a:r>
            <a:r>
              <a:rPr lang="en-US" altLang="en-US" sz="2400" b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flow of data…</a:t>
            </a:r>
          </a:p>
        </p:txBody>
      </p:sp>
      <p:grpSp>
        <p:nvGrpSpPr>
          <p:cNvPr id="13315" name="Group 32">
            <a:extLst>
              <a:ext uri="{FF2B5EF4-FFF2-40B4-BE49-F238E27FC236}">
                <a16:creationId xmlns:a16="http://schemas.microsoft.com/office/drawing/2014/main" id="{6846D4B8-4EDE-604E-15DA-579B1B38EE90}"/>
              </a:ext>
            </a:extLst>
          </p:cNvPr>
          <p:cNvGrpSpPr>
            <a:grpSpLocks/>
          </p:cNvGrpSpPr>
          <p:nvPr/>
        </p:nvGrpSpPr>
        <p:grpSpPr bwMode="auto">
          <a:xfrm>
            <a:off x="474928" y="2286000"/>
            <a:ext cx="8472370" cy="3540637"/>
            <a:chOff x="256872" y="2636837"/>
            <a:chExt cx="8997203" cy="3938655"/>
          </a:xfrm>
        </p:grpSpPr>
        <p:sp>
          <p:nvSpPr>
            <p:cNvPr id="13318" name="Text Box 21">
              <a:extLst>
                <a:ext uri="{FF2B5EF4-FFF2-40B4-BE49-F238E27FC236}">
                  <a16:creationId xmlns:a16="http://schemas.microsoft.com/office/drawing/2014/main" id="{F556D9C7-EBB0-A394-88D4-05CC6241A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2636837"/>
              <a:ext cx="2133600" cy="120032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parent</a:t>
              </a:r>
            </a:p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19" name="Text Box 22">
              <a:extLst>
                <a:ext uri="{FF2B5EF4-FFF2-40B4-BE49-F238E27FC236}">
                  <a16:creationId xmlns:a16="http://schemas.microsoft.com/office/drawing/2014/main" id="{0CF66A19-6E03-9255-4569-8467735D9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935" y="3475037"/>
              <a:ext cx="873265" cy="41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fd1[1]</a:t>
              </a:r>
            </a:p>
          </p:txBody>
        </p:sp>
        <p:sp>
          <p:nvSpPr>
            <p:cNvPr id="13320" name="Text Box 23">
              <a:extLst>
                <a:ext uri="{FF2B5EF4-FFF2-40B4-BE49-F238E27FC236}">
                  <a16:creationId xmlns:a16="http://schemas.microsoft.com/office/drawing/2014/main" id="{EAAB82E3-A2B7-917A-20B2-8E0FB88B7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713037"/>
              <a:ext cx="860453" cy="41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fd2[0]</a:t>
              </a:r>
            </a:p>
          </p:txBody>
        </p:sp>
        <p:sp>
          <p:nvSpPr>
            <p:cNvPr id="13321" name="Line 24">
              <a:extLst>
                <a:ext uri="{FF2B5EF4-FFF2-40B4-BE49-F238E27FC236}">
                  <a16:creationId xmlns:a16="http://schemas.microsoft.com/office/drawing/2014/main" id="{71BE60F4-AAB4-9000-0D3E-B908C00A0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275" y="4176528"/>
              <a:ext cx="868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Text Box 25">
              <a:extLst>
                <a:ext uri="{FF2B5EF4-FFF2-40B4-BE49-F238E27FC236}">
                  <a16:creationId xmlns:a16="http://schemas.microsoft.com/office/drawing/2014/main" id="{F16DB1B0-50E5-55A7-C974-A48CAEED2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72" y="3654963"/>
              <a:ext cx="1447799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process</a:t>
              </a:r>
            </a:p>
          </p:txBody>
        </p:sp>
        <p:sp>
          <p:nvSpPr>
            <p:cNvPr id="13323" name="Text Box 26">
              <a:extLst>
                <a:ext uri="{FF2B5EF4-FFF2-40B4-BE49-F238E27FC236}">
                  <a16:creationId xmlns:a16="http://schemas.microsoft.com/office/drawing/2014/main" id="{941BA5EC-F78C-1C03-93B2-9102D7AF9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872" y="4264562"/>
              <a:ext cx="1447799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kernel</a:t>
              </a:r>
            </a:p>
          </p:txBody>
        </p:sp>
        <p:sp>
          <p:nvSpPr>
            <p:cNvPr id="13324" name="Text Box 27">
              <a:extLst>
                <a:ext uri="{FF2B5EF4-FFF2-40B4-BE49-F238E27FC236}">
                  <a16:creationId xmlns:a16="http://schemas.microsoft.com/office/drawing/2014/main" id="{765C625B-2FD9-AA3D-11ED-93E71A98A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846637"/>
              <a:ext cx="2133600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pipe 1</a:t>
              </a:r>
            </a:p>
          </p:txBody>
        </p:sp>
        <p:sp>
          <p:nvSpPr>
            <p:cNvPr id="13325" name="Line 28">
              <a:extLst>
                <a:ext uri="{FF2B5EF4-FFF2-40B4-BE49-F238E27FC236}">
                  <a16:creationId xmlns:a16="http://schemas.microsoft.com/office/drawing/2014/main" id="{E61551DC-61F4-A8EA-F469-CF2794962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5400" y="2865437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29">
              <a:extLst>
                <a:ext uri="{FF2B5EF4-FFF2-40B4-BE49-F238E27FC236}">
                  <a16:creationId xmlns:a16="http://schemas.microsoft.com/office/drawing/2014/main" id="{3935E410-0B65-21E9-B30A-E7B7A44A7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2865437"/>
              <a:ext cx="0" cy="30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30">
              <a:extLst>
                <a:ext uri="{FF2B5EF4-FFF2-40B4-BE49-F238E27FC236}">
                  <a16:creationId xmlns:a16="http://schemas.microsoft.com/office/drawing/2014/main" id="{FC5CF147-83F7-47E2-0175-9FBAD60F3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5913437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31">
              <a:extLst>
                <a:ext uri="{FF2B5EF4-FFF2-40B4-BE49-F238E27FC236}">
                  <a16:creationId xmlns:a16="http://schemas.microsoft.com/office/drawing/2014/main" id="{FECBF1C7-3AE7-F4AC-27CF-FE5C8D1962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5000" y="4922837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33">
              <a:extLst>
                <a:ext uri="{FF2B5EF4-FFF2-40B4-BE49-F238E27FC236}">
                  <a16:creationId xmlns:a16="http://schemas.microsoft.com/office/drawing/2014/main" id="{E25920BF-AB34-0F40-7C87-B8E13BA4E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3627437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34">
              <a:extLst>
                <a:ext uri="{FF2B5EF4-FFF2-40B4-BE49-F238E27FC236}">
                  <a16:creationId xmlns:a16="http://schemas.microsoft.com/office/drawing/2014/main" id="{BC368E14-73D8-3164-4A04-AD80A545C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675" y="4753151"/>
              <a:ext cx="16764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Text Box 35">
              <a:extLst>
                <a:ext uri="{FF2B5EF4-FFF2-40B4-BE49-F238E27FC236}">
                  <a16:creationId xmlns:a16="http://schemas.microsoft.com/office/drawing/2014/main" id="{9CFCC13E-01E3-4A1E-1D43-F80F2ADF7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345780"/>
              <a:ext cx="1447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3332" name="Text Box 36">
              <a:extLst>
                <a:ext uri="{FF2B5EF4-FFF2-40B4-BE49-F238E27FC236}">
                  <a16:creationId xmlns:a16="http://schemas.microsoft.com/office/drawing/2014/main" id="{6380182A-FF59-1312-D644-BC322210F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636837"/>
              <a:ext cx="2133600" cy="120032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child</a:t>
              </a:r>
            </a:p>
            <a:p>
              <a:pPr algn="ctr">
                <a:spcBef>
                  <a:spcPct val="50000"/>
                </a:spcBef>
              </a:pPr>
              <a:endParaRPr lang="en-US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33" name="Text Box 37">
              <a:extLst>
                <a:ext uri="{FF2B5EF4-FFF2-40B4-BE49-F238E27FC236}">
                  <a16:creationId xmlns:a16="http://schemas.microsoft.com/office/drawing/2014/main" id="{491967EA-63CE-FFA9-8197-1CCEF3FA9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399" y="3398837"/>
              <a:ext cx="867871" cy="41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fd1[0]</a:t>
              </a:r>
            </a:p>
          </p:txBody>
        </p:sp>
        <p:sp>
          <p:nvSpPr>
            <p:cNvPr id="13334" name="Text Box 38">
              <a:extLst>
                <a:ext uri="{FF2B5EF4-FFF2-40B4-BE49-F238E27FC236}">
                  <a16:creationId xmlns:a16="http://schemas.microsoft.com/office/drawing/2014/main" id="{7781BCC0-33BA-613E-873A-8F243BF0C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0873" y="2636837"/>
              <a:ext cx="861127" cy="410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fd2[1]</a:t>
              </a:r>
            </a:p>
          </p:txBody>
        </p:sp>
        <p:sp>
          <p:nvSpPr>
            <p:cNvPr id="13335" name="Line 40">
              <a:extLst>
                <a:ext uri="{FF2B5EF4-FFF2-40B4-BE49-F238E27FC236}">
                  <a16:creationId xmlns:a16="http://schemas.microsoft.com/office/drawing/2014/main" id="{B59701D1-C7EC-D4DF-5D15-65A975D53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4922837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42">
              <a:extLst>
                <a:ext uri="{FF2B5EF4-FFF2-40B4-BE49-F238E27FC236}">
                  <a16:creationId xmlns:a16="http://schemas.microsoft.com/office/drawing/2014/main" id="{F25E17F7-F331-E156-1663-762314910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5989637"/>
              <a:ext cx="3200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43">
              <a:extLst>
                <a:ext uri="{FF2B5EF4-FFF2-40B4-BE49-F238E27FC236}">
                  <a16:creationId xmlns:a16="http://schemas.microsoft.com/office/drawing/2014/main" id="{854E8C39-DD04-DAAB-85EE-D77CE6EBFA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5400" y="2789237"/>
              <a:ext cx="0" cy="3200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Line 44">
              <a:extLst>
                <a:ext uri="{FF2B5EF4-FFF2-40B4-BE49-F238E27FC236}">
                  <a16:creationId xmlns:a16="http://schemas.microsoft.com/office/drawing/2014/main" id="{638F33AD-9E32-5944-176A-8B81A1E6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0" y="278923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Text Box 47">
              <a:extLst>
                <a:ext uri="{FF2B5EF4-FFF2-40B4-BE49-F238E27FC236}">
                  <a16:creationId xmlns:a16="http://schemas.microsoft.com/office/drawing/2014/main" id="{1BC6745E-54B7-E849-1711-3032AF4BB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666410"/>
              <a:ext cx="2133600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  <a:latin typeface="Times New Roman" panose="02020603050405020304" pitchFamily="18" charset="0"/>
                </a:rPr>
                <a:t>pipe 2</a:t>
              </a:r>
            </a:p>
          </p:txBody>
        </p:sp>
        <p:sp>
          <p:nvSpPr>
            <p:cNvPr id="13340" name="Line 48">
              <a:extLst>
                <a:ext uri="{FF2B5EF4-FFF2-40B4-BE49-F238E27FC236}">
                  <a16:creationId xmlns:a16="http://schemas.microsoft.com/office/drawing/2014/main" id="{5DED8A6B-6CE3-A8BA-5A7F-2BD6164E6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0258" y="6176154"/>
              <a:ext cx="16764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49">
              <a:extLst>
                <a:ext uri="{FF2B5EF4-FFF2-40B4-BE49-F238E27FC236}">
                  <a16:creationId xmlns:a16="http://schemas.microsoft.com/office/drawing/2014/main" id="{E996A4DF-FDC7-E378-7C4E-115B15073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6208779"/>
              <a:ext cx="1447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Flow of data</a:t>
              </a:r>
            </a:p>
          </p:txBody>
        </p:sp>
        <p:sp>
          <p:nvSpPr>
            <p:cNvPr id="13342" name="Line 50">
              <a:extLst>
                <a:ext uri="{FF2B5EF4-FFF2-40B4-BE49-F238E27FC236}">
                  <a16:creationId xmlns:a16="http://schemas.microsoft.com/office/drawing/2014/main" id="{4C776C96-53A0-A11E-941D-683A277F0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3627437"/>
              <a:ext cx="220980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Line 51">
              <a:extLst>
                <a:ext uri="{FF2B5EF4-FFF2-40B4-BE49-F238E27FC236}">
                  <a16:creationId xmlns:a16="http://schemas.microsoft.com/office/drawing/2014/main" id="{068ACEFB-867B-5929-0797-15E5F61BA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15000" y="3551237"/>
              <a:ext cx="381000" cy="137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53">
              <a:extLst>
                <a:ext uri="{FF2B5EF4-FFF2-40B4-BE49-F238E27FC236}">
                  <a16:creationId xmlns:a16="http://schemas.microsoft.com/office/drawing/2014/main" id="{6BDDC98D-D594-EC29-09AF-4E20BEC86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5000" y="355123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57C6A144-B226-5DFD-94FD-9C57FC6B0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904" y="20669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3000" kern="0" dirty="0"/>
              <a:t>Full Duplex Pipe : 2 Related Processes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F1D3F01-4060-F441-F588-A769A4DF72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1371" y="2276817"/>
            <a:ext cx="8182428" cy="1489640"/>
          </a:xfrm>
        </p:spPr>
        <p:txBody>
          <a:bodyPr/>
          <a:lstStyle/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Use of Named Pipes</a:t>
            </a:r>
          </a:p>
          <a:p>
            <a:pPr marL="0" lvl="1" indent="0" algn="ctr">
              <a:buNone/>
            </a:pPr>
            <a:r>
              <a:rPr lang="en-US" sz="3200" b="1" i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(Shell &amp; C Program)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85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E84B205-F26A-4504-E1B0-6438565E3D91}"/>
              </a:ext>
            </a:extLst>
          </p:cNvPr>
          <p:cNvGrpSpPr/>
          <p:nvPr/>
        </p:nvGrpSpPr>
        <p:grpSpPr>
          <a:xfrm>
            <a:off x="992119" y="3037120"/>
            <a:ext cx="3904479" cy="2986088"/>
            <a:chOff x="925288" y="2362200"/>
            <a:chExt cx="3962400" cy="3290888"/>
          </a:xfrm>
        </p:grpSpPr>
        <p:sp>
          <p:nvSpPr>
            <p:cNvPr id="7" name="Oval 1028"/>
            <p:cNvSpPr>
              <a:spLocks noChangeArrowheads="1"/>
            </p:cNvSpPr>
            <p:nvPr/>
          </p:nvSpPr>
          <p:spPr bwMode="auto">
            <a:xfrm>
              <a:off x="925288" y="2362200"/>
              <a:ext cx="838200" cy="8382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8" name="Text Box 1029"/>
            <p:cNvSpPr txBox="1">
              <a:spLocks noChangeArrowheads="1"/>
            </p:cNvSpPr>
            <p:nvPr/>
          </p:nvSpPr>
          <p:spPr bwMode="auto">
            <a:xfrm>
              <a:off x="1001488" y="2584910"/>
              <a:ext cx="685800" cy="407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</a:rPr>
                <a:t>P1</a:t>
              </a:r>
            </a:p>
          </p:txBody>
        </p:sp>
        <p:sp>
          <p:nvSpPr>
            <p:cNvPr id="12" name="Oval 1030"/>
            <p:cNvSpPr>
              <a:spLocks noChangeArrowheads="1"/>
            </p:cNvSpPr>
            <p:nvPr/>
          </p:nvSpPr>
          <p:spPr bwMode="auto">
            <a:xfrm>
              <a:off x="4049488" y="2362200"/>
              <a:ext cx="838200" cy="8382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3" name="Text Box 1031"/>
            <p:cNvSpPr txBox="1">
              <a:spLocks noChangeArrowheads="1"/>
            </p:cNvSpPr>
            <p:nvPr/>
          </p:nvSpPr>
          <p:spPr bwMode="auto">
            <a:xfrm>
              <a:off x="4125688" y="2584910"/>
              <a:ext cx="685800" cy="407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>
                  <a:latin typeface="Comic Sans MS" pitchFamily="66" charset="0"/>
                </a:rPr>
                <a:t>P2</a:t>
              </a:r>
            </a:p>
          </p:txBody>
        </p:sp>
        <p:sp>
          <p:nvSpPr>
            <p:cNvPr id="14" name="Rectangle 1032"/>
            <p:cNvSpPr>
              <a:spLocks noChangeArrowheads="1"/>
            </p:cNvSpPr>
            <p:nvPr/>
          </p:nvSpPr>
          <p:spPr bwMode="auto">
            <a:xfrm>
              <a:off x="934796" y="3581399"/>
              <a:ext cx="3952891" cy="207168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omic Sans MS" pitchFamily="66" charset="0"/>
              </a:endParaRPr>
            </a:p>
          </p:txBody>
        </p:sp>
        <p:sp>
          <p:nvSpPr>
            <p:cNvPr id="16" name="Line 1037"/>
            <p:cNvSpPr>
              <a:spLocks noChangeShapeType="1"/>
            </p:cNvSpPr>
            <p:nvPr/>
          </p:nvSpPr>
          <p:spPr bwMode="auto">
            <a:xfrm>
              <a:off x="4506688" y="3200400"/>
              <a:ext cx="0" cy="1447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7" name="Line 1040"/>
            <p:cNvSpPr>
              <a:spLocks noChangeShapeType="1"/>
            </p:cNvSpPr>
            <p:nvPr/>
          </p:nvSpPr>
          <p:spPr bwMode="auto">
            <a:xfrm flipV="1">
              <a:off x="1382488" y="3200400"/>
              <a:ext cx="0" cy="14478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8" name="Oval 1044"/>
            <p:cNvSpPr>
              <a:spLocks noChangeArrowheads="1"/>
            </p:cNvSpPr>
            <p:nvPr/>
          </p:nvSpPr>
          <p:spPr bwMode="auto">
            <a:xfrm>
              <a:off x="2144488" y="5167312"/>
              <a:ext cx="1600200" cy="3048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19" name="Rectangle 1046"/>
            <p:cNvSpPr>
              <a:spLocks noChangeArrowheads="1"/>
            </p:cNvSpPr>
            <p:nvPr/>
          </p:nvSpPr>
          <p:spPr bwMode="auto">
            <a:xfrm>
              <a:off x="2144488" y="3871912"/>
              <a:ext cx="1600200" cy="1447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0" name="Oval 1047"/>
            <p:cNvSpPr>
              <a:spLocks noChangeArrowheads="1"/>
            </p:cNvSpPr>
            <p:nvPr/>
          </p:nvSpPr>
          <p:spPr bwMode="auto">
            <a:xfrm>
              <a:off x="2144488" y="3719512"/>
              <a:ext cx="1600200" cy="3048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1" name="Rectangle 1048"/>
            <p:cNvSpPr>
              <a:spLocks noChangeArrowheads="1"/>
            </p:cNvSpPr>
            <p:nvPr/>
          </p:nvSpPr>
          <p:spPr bwMode="auto">
            <a:xfrm>
              <a:off x="2296888" y="4329112"/>
              <a:ext cx="1295400" cy="60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omic Sans MS" pitchFamily="66" charset="0"/>
              </a:endParaRPr>
            </a:p>
          </p:txBody>
        </p:sp>
        <p:sp>
          <p:nvSpPr>
            <p:cNvPr id="22" name="Text Box 1049"/>
            <p:cNvSpPr txBox="1">
              <a:spLocks noChangeArrowheads="1"/>
            </p:cNvSpPr>
            <p:nvPr/>
          </p:nvSpPr>
          <p:spPr bwMode="auto">
            <a:xfrm>
              <a:off x="2362963" y="4452185"/>
              <a:ext cx="1143000" cy="4070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</a:rPr>
                <a:t>FIFO</a:t>
              </a:r>
            </a:p>
          </p:txBody>
        </p:sp>
        <p:sp>
          <p:nvSpPr>
            <p:cNvPr id="23" name="Line 1051"/>
            <p:cNvSpPr>
              <a:spLocks noChangeShapeType="1"/>
            </p:cNvSpPr>
            <p:nvPr/>
          </p:nvSpPr>
          <p:spPr bwMode="auto">
            <a:xfrm flipH="1">
              <a:off x="3592288" y="4633912"/>
              <a:ext cx="914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  <p:sp>
          <p:nvSpPr>
            <p:cNvPr id="24" name="Line 1052"/>
            <p:cNvSpPr>
              <a:spLocks noChangeShapeType="1"/>
            </p:cNvSpPr>
            <p:nvPr/>
          </p:nvSpPr>
          <p:spPr bwMode="auto">
            <a:xfrm>
              <a:off x="1382488" y="4633912"/>
              <a:ext cx="9144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F02BA92-2D78-0DBE-4C75-46E1CDA41EB5}"/>
              </a:ext>
            </a:extLst>
          </p:cNvPr>
          <p:cNvGrpSpPr/>
          <p:nvPr/>
        </p:nvGrpSpPr>
        <p:grpSpPr>
          <a:xfrm>
            <a:off x="5733070" y="3071820"/>
            <a:ext cx="2977369" cy="2951388"/>
            <a:chOff x="5649688" y="2514600"/>
            <a:chExt cx="3200400" cy="3169356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5649688" y="2514600"/>
              <a:ext cx="685800" cy="685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6868888" y="2514600"/>
              <a:ext cx="685800" cy="685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utoShape 6"/>
            <p:cNvSpPr>
              <a:spLocks noChangeArrowheads="1"/>
            </p:cNvSpPr>
            <p:nvPr/>
          </p:nvSpPr>
          <p:spPr bwMode="auto">
            <a:xfrm>
              <a:off x="6411688" y="3581400"/>
              <a:ext cx="457200" cy="533400"/>
            </a:xfrm>
            <a:prstGeom prst="can">
              <a:avLst>
                <a:gd name="adj" fmla="val 29167"/>
              </a:avLst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30688" y="32004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 flipV="1">
              <a:off x="6868888" y="32004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5748747" y="2621327"/>
              <a:ext cx="685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latin typeface="Helvetica" pitchFamily="-48" charset="0"/>
                </a:rPr>
                <a:t>p1</a:t>
              </a: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6967947" y="2621327"/>
              <a:ext cx="685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Helvetica" pitchFamily="-48" charset="0"/>
                </a:rPr>
                <a:t>p2</a:t>
              </a:r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>
              <a:off x="6716488" y="4191000"/>
              <a:ext cx="914400" cy="53340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pic>
          <p:nvPicPr>
            <p:cNvPr id="33" name="Picture 12" descr="pip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26088" y="4724400"/>
              <a:ext cx="1524000" cy="959556"/>
            </a:xfrm>
            <a:prstGeom prst="rect">
              <a:avLst/>
            </a:prstGeom>
            <a:noFill/>
          </p:spPr>
        </p:pic>
      </p:grp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1488" y="144012"/>
            <a:ext cx="7685312" cy="639762"/>
          </a:xfrm>
        </p:spPr>
        <p:txBody>
          <a:bodyPr>
            <a:noAutofit/>
          </a:bodyPr>
          <a:lstStyle/>
          <a:p>
            <a:r>
              <a:rPr lang="en-US" b="1" dirty="0"/>
              <a:t>Unix IPC Tool: FIFO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1C7E9E6-733C-C10A-7716-B186CB88E00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0260D50-A1DC-9164-024D-D93F37CB3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9512" y="1029130"/>
            <a:ext cx="8229599" cy="1745396"/>
          </a:xfrm>
        </p:spPr>
        <p:txBody>
          <a:bodyPr/>
          <a:lstStyle/>
          <a:p>
            <a:pPr marL="0" indent="0">
              <a:spcBef>
                <a:spcPts val="2400"/>
              </a:spcBef>
              <a:spcAft>
                <a:spcPts val="0"/>
              </a:spcAft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Named Pipes (FIFOs)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used for communication between related or unrelated processes on same UNIX system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i="1" dirty="0">
                <a:solidFill>
                  <a:srgbClr val="FF0000"/>
                </a:solidFill>
              </a:rPr>
              <a:t>no parent-child relationship </a:t>
            </a:r>
            <a:r>
              <a:rPr lang="en-US" altLang="en-US" dirty="0"/>
              <a:t>needed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between processes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1E015A-8220-4286-A365-420794B69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488" y="144012"/>
            <a:ext cx="7685312" cy="639762"/>
          </a:xfrm>
        </p:spPr>
        <p:txBody>
          <a:bodyPr>
            <a:noAutofit/>
          </a:bodyPr>
          <a:lstStyle/>
          <a:p>
            <a:r>
              <a:rPr lang="en-US" b="1" dirty="0"/>
              <a:t>Unix IPC Tool: FIFO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495E25F9-5B90-2052-CA2D-C41195B2E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9512" y="1029129"/>
            <a:ext cx="8495888" cy="532812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0070C0"/>
                </a:solidFill>
              </a:rPr>
              <a:t>FIFO</a:t>
            </a:r>
            <a:r>
              <a:rPr lang="en-US" dirty="0"/>
              <a:t>, or </a:t>
            </a:r>
            <a:r>
              <a:rPr lang="en-US" i="1" dirty="0">
                <a:solidFill>
                  <a:srgbClr val="0070C0"/>
                </a:solidFill>
              </a:rPr>
              <a:t>named pipe</a:t>
            </a:r>
            <a:r>
              <a:rPr lang="en-US" dirty="0"/>
              <a:t>, is a special type of file with a </a:t>
            </a:r>
            <a:r>
              <a:rPr lang="en-US" i="1" dirty="0">
                <a:solidFill>
                  <a:srgbClr val="0070C0"/>
                </a:solidFill>
              </a:rPr>
              <a:t>pathname</a:t>
            </a:r>
            <a:r>
              <a:rPr lang="en-US" dirty="0"/>
              <a:t> associated with it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allows unrelated processes to </a:t>
            </a:r>
            <a:r>
              <a:rPr lang="en-US" dirty="0"/>
              <a:t>comm through a </a:t>
            </a:r>
            <a:r>
              <a:rPr lang="en-US" i="1" dirty="0">
                <a:solidFill>
                  <a:srgbClr val="0070C0"/>
                </a:solidFill>
              </a:rPr>
              <a:t>file interface</a:t>
            </a:r>
            <a:r>
              <a:rPr lang="en-US" altLang="en-US" i="1" dirty="0">
                <a:solidFill>
                  <a:srgbClr val="0070C0"/>
                </a:solidFill>
              </a:rPr>
              <a:t>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processes read &amp; write to the same file</a:t>
            </a:r>
            <a:endParaRPr lang="en-US" altLang="en-US" dirty="0"/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altLang="en-US" dirty="0"/>
              <a:t>When processes read/write data via FIFO…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dirty="0"/>
              <a:t>kernel passes all data </a:t>
            </a:r>
            <a:r>
              <a:rPr lang="en-US" altLang="en-US" i="1" dirty="0">
                <a:solidFill>
                  <a:srgbClr val="0070C0"/>
                </a:solidFill>
              </a:rPr>
              <a:t>internally;  </a:t>
            </a:r>
            <a:r>
              <a:rPr lang="en-US" altLang="en-US" dirty="0"/>
              <a:t>no contents on file system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altLang="en-US" i="1" dirty="0">
                <a:solidFill>
                  <a:srgbClr val="0070C0"/>
                </a:solidFill>
              </a:rPr>
              <a:t>pathname</a:t>
            </a:r>
            <a:r>
              <a:rPr lang="en-US" altLang="en-US" dirty="0"/>
              <a:t> is only a reference for access, via </a:t>
            </a:r>
            <a:r>
              <a:rPr lang="en-US" altLang="en-US" i="1" dirty="0">
                <a:solidFill>
                  <a:srgbClr val="0070C0"/>
                </a:solidFill>
              </a:rPr>
              <a:t>name in file system</a:t>
            </a:r>
            <a:endParaRPr lang="en-US" altLang="en-US" dirty="0"/>
          </a:p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US" dirty="0"/>
              <a:t>FIFO is created by one process, and can be opened for read &amp; write by multiple processes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0070C0"/>
                </a:solidFill>
              </a:rPr>
              <a:t>persists</a:t>
            </a:r>
            <a:r>
              <a:rPr lang="en-US" dirty="0"/>
              <a:t> beyond the lifetime of process that created it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process opening a FIFO for read </a:t>
            </a:r>
            <a:r>
              <a:rPr lang="en-US" i="1" dirty="0">
                <a:solidFill>
                  <a:srgbClr val="0070C0"/>
                </a:solidFill>
              </a:rPr>
              <a:t>blocks</a:t>
            </a:r>
            <a:r>
              <a:rPr lang="en-US" dirty="0"/>
              <a:t>, until other process opens same FIFO for write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dirty="0"/>
          </a:p>
          <a:p>
            <a:pPr>
              <a:spcBef>
                <a:spcPts val="600"/>
              </a:spcBef>
              <a:spcAft>
                <a:spcPts val="0"/>
              </a:spcAft>
              <a:buFont typeface="Monotype Sorts" pitchFamily="-84" charset="2"/>
              <a:buNone/>
            </a:pPr>
            <a:endParaRPr lang="en-US" altLang="en-US" sz="8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34BD525-A168-158D-5563-075634B6B83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783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30" y="1652696"/>
            <a:ext cx="8773836" cy="49900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230" y="1055341"/>
            <a:ext cx="211468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$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mkfifo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 fifo1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F98DA8B-FD82-5F3F-6BBE-274C6E6AE0F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2F17E8-AA29-76DF-F912-7656CF7BA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488" y="144012"/>
            <a:ext cx="7685312" cy="639762"/>
          </a:xfrm>
        </p:spPr>
        <p:txBody>
          <a:bodyPr>
            <a:noAutofit/>
          </a:bodyPr>
          <a:lstStyle/>
          <a:p>
            <a:r>
              <a:rPr lang="en-US" b="1" dirty="0"/>
              <a:t>FIFO in Shells</a:t>
            </a:r>
          </a:p>
        </p:txBody>
      </p:sp>
    </p:spTree>
    <p:extLst>
      <p:ext uri="{BB962C8B-B14F-4D97-AF65-F5344CB8AC3E}">
        <p14:creationId xmlns:p14="http://schemas.microsoft.com/office/powerpoint/2010/main" val="134644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424542" y="1153885"/>
            <a:ext cx="8458201" cy="5094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fifo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write to it in one terminal; and then read the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fifo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another terminal</a:t>
            </a:r>
          </a:p>
          <a:p>
            <a:pPr>
              <a:spcBef>
                <a:spcPct val="20000"/>
              </a:spcBef>
              <a:buClr>
                <a:schemeClr val="tx1"/>
              </a:buClr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sz="24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</a:t>
            </a:r>
            <a:r>
              <a:rPr lang="en-US" sz="2300" b="1" i="1" u="sng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terminal 1</a:t>
            </a: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		</a:t>
            </a:r>
            <a:r>
              <a:rPr lang="en-US" sz="2300" b="1" i="1" u="sng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terminal 2</a:t>
            </a: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$ </a:t>
            </a:r>
            <a:r>
              <a:rPr lang="en-US" sz="2300" dirty="0" err="1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mkfifo</a:t>
            </a: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 </a:t>
            </a:r>
            <a:r>
              <a:rPr lang="en-US" sz="2300" dirty="0" err="1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myfifo</a:t>
            </a: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		$</a:t>
            </a: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$ cat &gt; </a:t>
            </a:r>
            <a:r>
              <a:rPr lang="en-US" sz="2300" dirty="0" err="1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myfifo</a:t>
            </a: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			$ cat </a:t>
            </a:r>
            <a:r>
              <a:rPr lang="en-US" sz="2300" dirty="0" err="1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myfifo</a:t>
            </a:r>
            <a:endParaRPr lang="en-US" sz="2300" dirty="0">
              <a:latin typeface="Calibri" panose="020F0502020204030204" pitchFamily="34" charset="0"/>
              <a:ea typeface="Courier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$ I am here…				$ I am here…</a:t>
            </a: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23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$ ^D 					$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E47F6A-505B-E413-4D22-B3C0253E9D4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CFAA24-D714-08C4-3A93-C7D4FA36B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488" y="144012"/>
            <a:ext cx="7685312" cy="639762"/>
          </a:xfrm>
        </p:spPr>
        <p:txBody>
          <a:bodyPr>
            <a:noAutofit/>
          </a:bodyPr>
          <a:lstStyle/>
          <a:p>
            <a:r>
              <a:rPr lang="en-US" dirty="0"/>
              <a:t>FIFO in Shells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0821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1412D98-4925-394A-6722-1871F3679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2" y="1047523"/>
            <a:ext cx="8632370" cy="564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lvl="1" indent="-342900">
              <a:spcBef>
                <a:spcPts val="1800"/>
              </a:spcBef>
              <a:buFont typeface="Wingdings" panose="05000000000000000000" pitchFamily="2" charset="2"/>
              <a:buChar char="§"/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following function is used to create a FIFO… </a:t>
            </a:r>
          </a:p>
          <a:p>
            <a:pPr marL="0" lvl="1" hangingPunct="0">
              <a:spcBef>
                <a:spcPts val="1800"/>
              </a:spcBef>
              <a:tabLst>
                <a:tab pos="355680" algn="l"/>
                <a:tab pos="711360" algn="l"/>
                <a:tab pos="1066680" algn="l"/>
                <a:tab pos="1422359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    </a:t>
            </a:r>
            <a:r>
              <a:rPr lang="fr-FR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mkfifo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char *</a:t>
            </a:r>
            <a:r>
              <a:rPr lang="fr-FR" sz="2400" b="1" i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pathname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fr-FR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mode_t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</a:t>
            </a: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>
              <a:spcBef>
                <a:spcPts val="18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(creates a FIFO;  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returns 0 on success;  -1 on failure with </a:t>
            </a:r>
            <a:r>
              <a:rPr lang="en-US" altLang="en-US" sz="2200" i="1" dirty="0" err="1">
                <a:latin typeface="Calibri" panose="020F0502020204030204" pitchFamily="34" charset="0"/>
                <a:cs typeface="Calibri" panose="020F0502020204030204" pitchFamily="34" charset="0"/>
              </a:rPr>
              <a:t>errno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set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631825" lvl="1" indent="-284163" defTabSz="941388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pathname :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FIFO special file has the name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‘pathname’</a:t>
            </a:r>
          </a:p>
          <a:p>
            <a:pPr marL="631825" lvl="1" indent="-284163" defTabSz="941388" hangingPunct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 	:  </a:t>
            </a:r>
            <a:r>
              <a:rPr lang="en-US" sz="2200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permissions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for user, group, or others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	      to allow read, write, or execute access</a:t>
            </a:r>
          </a:p>
          <a:p>
            <a:pPr marL="233362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Call fails when…</a:t>
            </a:r>
          </a:p>
          <a:p>
            <a:pPr marL="690562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Parent directory does not allow write permission</a:t>
            </a:r>
          </a:p>
          <a:p>
            <a:pPr marL="690562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Pathname already exists, or too long</a:t>
            </a:r>
          </a:p>
          <a:p>
            <a:pPr marL="690562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Pathname points outside accessible address space</a:t>
            </a:r>
          </a:p>
          <a:p>
            <a:pPr marL="690562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Insufficient kernel memory</a:t>
            </a:r>
          </a:p>
          <a:p>
            <a:pPr marL="233362" indent="-342900">
              <a:spcBef>
                <a:spcPts val="2400"/>
              </a:spcBef>
              <a:buFont typeface="Wingdings" panose="05000000000000000000" pitchFamily="2" charset="2"/>
              <a:buChar char="§"/>
            </a:pP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DB10AB-A174-00EF-50E6-545F21D6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304" y="192749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kern="1200" dirty="0"/>
              <a:t>FIFO in C program</a:t>
            </a:r>
          </a:p>
        </p:txBody>
      </p:sp>
    </p:spTree>
    <p:extLst>
      <p:ext uri="{BB962C8B-B14F-4D97-AF65-F5344CB8AC3E}">
        <p14:creationId xmlns:p14="http://schemas.microsoft.com/office/powerpoint/2010/main" val="343777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FIFO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37EDD48-DC49-6256-5458-854064D25A68}"/>
              </a:ext>
            </a:extLst>
          </p:cNvPr>
          <p:cNvSpPr txBox="1">
            <a:spLocks noChangeArrowheads="1"/>
          </p:cNvSpPr>
          <p:nvPr/>
        </p:nvSpPr>
        <p:spPr>
          <a:xfrm>
            <a:off x="722811" y="1114151"/>
            <a:ext cx="7866017" cy="54633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int main()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mkfifo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("/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tmp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my_fifo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", 0666);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pid_t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child_pid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= fork();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 if (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child_pid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== 0)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    	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writer_process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}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else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    	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reader_process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return 0;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</a:t>
            </a:r>
          </a:p>
          <a:p>
            <a:pPr marL="342900" lvl="0" indent="-342900">
              <a:spcBef>
                <a:spcPts val="0"/>
              </a:spcBef>
              <a:defRPr/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1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FIFO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37EDD48-DC49-6256-5458-854064D25A68}"/>
              </a:ext>
            </a:extLst>
          </p:cNvPr>
          <p:cNvSpPr txBox="1">
            <a:spLocks noChangeArrowheads="1"/>
          </p:cNvSpPr>
          <p:nvPr/>
        </p:nvSpPr>
        <p:spPr>
          <a:xfrm>
            <a:off x="483326" y="1227998"/>
            <a:ext cx="8540932" cy="54633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void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writer_process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()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int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= open("/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tmp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my_fifo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", O_WRONLY);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const char* message = "Hello from Writer!";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write(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, message,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strlen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(message));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close(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);</a:t>
            </a:r>
          </a:p>
          <a:p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447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640A61-7855-8FE2-EFF6-C3DFAF6C2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913" y="166688"/>
            <a:ext cx="7532915" cy="617537"/>
          </a:xfrm>
        </p:spPr>
        <p:txBody>
          <a:bodyPr/>
          <a:lstStyle/>
          <a:p>
            <a:pPr eaLnBrk="1" hangingPunct="1"/>
            <a:r>
              <a:rPr lang="en-US" dirty="0"/>
              <a:t>Example </a:t>
            </a:r>
            <a:r>
              <a:rPr lang="mr-IN" dirty="0"/>
              <a:t>–</a:t>
            </a:r>
            <a:r>
              <a:rPr lang="en-US" dirty="0"/>
              <a:t> FIFO</a:t>
            </a:r>
            <a:endParaRPr lang="en-US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37EDD48-DC49-6256-5458-854064D25A68}"/>
              </a:ext>
            </a:extLst>
          </p:cNvPr>
          <p:cNvSpPr txBox="1">
            <a:spLocks noChangeArrowheads="1"/>
          </p:cNvSpPr>
          <p:nvPr/>
        </p:nvSpPr>
        <p:spPr>
          <a:xfrm>
            <a:off x="428897" y="1114151"/>
            <a:ext cx="8573589" cy="546331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void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reader_process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()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int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= open("/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tmp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/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my_fifo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", O_RDONLY);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char buffer[100];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read(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, buffer,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sizeof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(buffer));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latin typeface="Courier New" panose="02070309020205020404" pitchFamily="49" charset="0"/>
              <a:ea typeface="SimSun" panose="02010600030101010101" pitchFamily="2" charset="-122"/>
              <a:cs typeface="Courier New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printf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("Reader received: %s\n", buffer);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close(</a:t>
            </a:r>
            <a:r>
              <a:rPr lang="en-US" sz="2200" b="1" dirty="0" err="1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fifo_fd</a:t>
            </a: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    unlink(FIFO_PATH);</a:t>
            </a:r>
          </a:p>
          <a:p>
            <a:r>
              <a:rPr lang="en-US" sz="2200" b="1" dirty="0">
                <a:latin typeface="Courier New" panose="02070309020205020404" pitchFamily="49" charset="0"/>
                <a:ea typeface="SimSun" panose="02010600030101010101" pitchFamily="2" charset="-122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870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7360" y="2276816"/>
            <a:ext cx="8346439" cy="1401103"/>
          </a:xfrm>
        </p:spPr>
        <p:txBody>
          <a:bodyPr/>
          <a:lstStyle/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IPC </a:t>
            </a:r>
          </a:p>
          <a:p>
            <a:pPr marL="0" indent="0" algn="ctr" hangingPunct="0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Using Shared Memory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484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2253" y="1196688"/>
            <a:ext cx="8526690" cy="528070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dirty="0"/>
              <a:t>Process first creates shared memory segment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>
              <a:spcBef>
                <a:spcPts val="1200"/>
              </a:spcBef>
            </a:pPr>
            <a:r>
              <a:rPr lang="en-US" altLang="en-US" dirty="0"/>
              <a:t>also used to open an existing segment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Set the size of the object</a:t>
            </a:r>
          </a:p>
          <a:p>
            <a:pPr>
              <a:spcBef>
                <a:spcPts val="600"/>
              </a:spcBef>
              <a:buFont typeface="Monotype Sorts" pitchFamily="-84" charset="2"/>
              <a:buNone/>
            </a:pPr>
            <a:r>
              <a:rPr lang="en-US" altLang="en-US" dirty="0"/>
              <a:t>	</a:t>
            </a:r>
            <a:r>
              <a:rPr lang="en-US" altLang="en-US" sz="2100" dirty="0"/>
              <a:t>           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ftruncate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shm_fd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</a:rPr>
              <a:t>, 4096); 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Use  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>
              <a:spcBef>
                <a:spcPts val="2400"/>
              </a:spcBef>
            </a:pPr>
            <a:r>
              <a:rPr lang="en-US" altLang="en-US" dirty="0"/>
              <a:t>Read &amp; write to shared memory by using pointer from  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2253" y="1163637"/>
            <a:ext cx="8526690" cy="528070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memory-maps a file pointer to the shared memory object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400"/>
              </a:spcBef>
              <a:buNone/>
            </a:pP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void *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length,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int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flags, int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off_t</a:t>
            </a:r>
            <a:r>
              <a:rPr lang="en-US" alt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offset);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dirty="0"/>
          </a:p>
          <a:p>
            <a:pPr marL="0" indent="0">
              <a:spcBef>
                <a:spcPts val="1200"/>
              </a:spcBef>
              <a:buNone/>
            </a:pP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 dirty="0"/>
              <a:t>Shared Memory -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" b="45877"/>
          <a:stretch/>
        </p:blipFill>
        <p:spPr bwMode="auto">
          <a:xfrm>
            <a:off x="763135" y="1002164"/>
            <a:ext cx="6824208" cy="5666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1C323C46-CF44-41D6-BAB1-2E6334C38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19075"/>
            <a:ext cx="7850188" cy="576263"/>
          </a:xfrm>
        </p:spPr>
        <p:txBody>
          <a:bodyPr/>
          <a:lstStyle/>
          <a:p>
            <a:r>
              <a:rPr lang="en-US" altLang="en-US" dirty="0"/>
              <a:t>Shared Memory - Producer</a:t>
            </a:r>
          </a:p>
        </p:txBody>
      </p:sp>
      <p:pic>
        <p:nvPicPr>
          <p:cNvPr id="98307" name="Picture 1" descr="Screen Shot 2013-03-14 at 6.46.57 PM.png">
            <a:extLst>
              <a:ext uri="{FF2B5EF4-FFF2-40B4-BE49-F238E27FC236}">
                <a16:creationId xmlns:a16="http://schemas.microsoft.com/office/drawing/2014/main" id="{61A9851A-030D-4A31-97DA-D34C1F0D85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4" b="-870"/>
          <a:stretch/>
        </p:blipFill>
        <p:spPr bwMode="auto">
          <a:xfrm>
            <a:off x="273276" y="1086394"/>
            <a:ext cx="7850188" cy="54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23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 dirty="0"/>
              <a:t>Shared Memory -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8327"/>
          <a:stretch/>
        </p:blipFill>
        <p:spPr bwMode="auto">
          <a:xfrm>
            <a:off x="769711" y="1153434"/>
            <a:ext cx="7569674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2CAE47D-3817-440B-8694-F512695F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33363"/>
            <a:ext cx="7850188" cy="576262"/>
          </a:xfrm>
        </p:spPr>
        <p:txBody>
          <a:bodyPr/>
          <a:lstStyle/>
          <a:p>
            <a:r>
              <a:rPr lang="en-US" altLang="en-US" dirty="0"/>
              <a:t>Shared Memory - Consumer</a:t>
            </a:r>
          </a:p>
        </p:txBody>
      </p:sp>
      <p:pic>
        <p:nvPicPr>
          <p:cNvPr id="100355" name="Picture 1" descr="Screen Shot 2013-03-12 at 1.38.41 PM.png">
            <a:extLst>
              <a:ext uri="{FF2B5EF4-FFF2-40B4-BE49-F238E27FC236}">
                <a16:creationId xmlns:a16="http://schemas.microsoft.com/office/drawing/2014/main" id="{0B653FB0-9968-4B72-95FF-0DAED2D58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62" b="-505"/>
          <a:stretch/>
        </p:blipFill>
        <p:spPr bwMode="auto">
          <a:xfrm>
            <a:off x="606424" y="1184364"/>
            <a:ext cx="7323627" cy="454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062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38766</TotalTime>
  <Words>4070</Words>
  <Application>Microsoft Office PowerPoint</Application>
  <PresentationFormat>On-screen Show (4:3)</PresentationFormat>
  <Paragraphs>737</Paragraphs>
  <Slides>64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84" baseType="lpstr">
      <vt:lpstr>MS PGothic</vt:lpstr>
      <vt:lpstr>Abadi</vt:lpstr>
      <vt:lpstr>Arial</vt:lpstr>
      <vt:lpstr>Calibri</vt:lpstr>
      <vt:lpstr>Calibri Light</vt:lpstr>
      <vt:lpstr>Comic Sans MS</vt:lpstr>
      <vt:lpstr>Courier</vt:lpstr>
      <vt:lpstr>Courier New</vt:lpstr>
      <vt:lpstr>Gill Sans MT</vt:lpstr>
      <vt:lpstr>Helvetica</vt:lpstr>
      <vt:lpstr>Liberation Sans</vt:lpstr>
      <vt:lpstr>Monotype Sorts</vt:lpstr>
      <vt:lpstr>Tahoma</vt:lpstr>
      <vt:lpstr>Times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PowerPoint Presentation</vt:lpstr>
      <vt:lpstr>File Management in Unix/Linux</vt:lpstr>
      <vt:lpstr>File Management in Unix/Linux</vt:lpstr>
      <vt:lpstr>Standard Descriptors in Unix/Linux</vt:lpstr>
      <vt:lpstr>Examples – File Handling</vt:lpstr>
      <vt:lpstr>Examples – File Handling</vt:lpstr>
      <vt:lpstr>Examples – File Handling</vt:lpstr>
      <vt:lpstr>Descriptor to File Contents</vt:lpstr>
      <vt:lpstr>Descriptor to File Contents</vt:lpstr>
      <vt:lpstr>Descriptor to File Contents</vt:lpstr>
      <vt:lpstr>PowerPoint Presentation</vt:lpstr>
      <vt:lpstr>I/O Redirection</vt:lpstr>
      <vt:lpstr>Stdin &amp; Stdout for Commands</vt:lpstr>
      <vt:lpstr>Redirecting stdin (0&lt;)</vt:lpstr>
      <vt:lpstr>Redirecting stdout (1&gt;)</vt:lpstr>
      <vt:lpstr>Redirecting stderr (2&gt;)</vt:lpstr>
      <vt:lpstr>Redirecting Input, Output &amp; Error</vt:lpstr>
      <vt:lpstr>Duplicating a File Descriptor</vt:lpstr>
      <vt:lpstr>I/O Redirection in C Program</vt:lpstr>
      <vt:lpstr>Example code of dup()</vt:lpstr>
      <vt:lpstr>I/O Redirection in C Program</vt:lpstr>
      <vt:lpstr>Example code of dup2 () </vt:lpstr>
      <vt:lpstr>PowerPoint Presentation</vt:lpstr>
      <vt:lpstr>Cooperating Processes</vt:lpstr>
      <vt:lpstr>Inter Process Communication</vt:lpstr>
      <vt:lpstr>Communications Models </vt:lpstr>
      <vt:lpstr>IPC – Shared memory</vt:lpstr>
      <vt:lpstr>IPC – Message Passing</vt:lpstr>
      <vt:lpstr>IPC – Message Passing</vt:lpstr>
      <vt:lpstr>IPC Taxonomy</vt:lpstr>
      <vt:lpstr>Pipes &amp; FIFOs</vt:lpstr>
      <vt:lpstr>Sockets</vt:lpstr>
      <vt:lpstr>PowerPoint Presentation</vt:lpstr>
      <vt:lpstr>UNIX IPC Tool: Pipes</vt:lpstr>
      <vt:lpstr>PowerPoint Presentation</vt:lpstr>
      <vt:lpstr>Pipes in Shells</vt:lpstr>
      <vt:lpstr>Pipes in Shells</vt:lpstr>
      <vt:lpstr>Pipes in Shells</vt:lpstr>
      <vt:lpstr>Pipes in C program</vt:lpstr>
      <vt:lpstr>Pipe in a Single Process</vt:lpstr>
      <vt:lpstr>Pipe in a Single Process</vt:lpstr>
      <vt:lpstr>Pipes in 2 Related Processes</vt:lpstr>
      <vt:lpstr>PowerPoint Presentation</vt:lpstr>
      <vt:lpstr>Pipes in 2 Related Processes</vt:lpstr>
      <vt:lpstr>Full Duplex Pipe : 2 Related Processes</vt:lpstr>
      <vt:lpstr>For bi-directional flow of data…</vt:lpstr>
      <vt:lpstr>PowerPoint Presentation</vt:lpstr>
      <vt:lpstr>Unix IPC Tool: FIFO</vt:lpstr>
      <vt:lpstr>Unix IPC Tool: FIFO</vt:lpstr>
      <vt:lpstr>FIFO in Shells</vt:lpstr>
      <vt:lpstr>FIFO in Shells</vt:lpstr>
      <vt:lpstr>PowerPoint Presentation</vt:lpstr>
      <vt:lpstr>Example – FIFO</vt:lpstr>
      <vt:lpstr>Example – FIFO</vt:lpstr>
      <vt:lpstr>Example – FIFO</vt:lpstr>
      <vt:lpstr>PowerPoint Presentation</vt:lpstr>
      <vt:lpstr>POSIX Shared Memory</vt:lpstr>
      <vt:lpstr>POSIX Shared Memory</vt:lpstr>
      <vt:lpstr>Shared Memory - Producer</vt:lpstr>
      <vt:lpstr>Shared Memory - Producer</vt:lpstr>
      <vt:lpstr>Shared Memory - Consumer</vt:lpstr>
      <vt:lpstr>Shared Memory - Consumer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568</cp:revision>
  <cp:lastPrinted>2001-06-14T13:58:17Z</cp:lastPrinted>
  <dcterms:created xsi:type="dcterms:W3CDTF">2011-01-13T23:43:38Z</dcterms:created>
  <dcterms:modified xsi:type="dcterms:W3CDTF">2025-10-30T08:57:26Z</dcterms:modified>
</cp:coreProperties>
</file>