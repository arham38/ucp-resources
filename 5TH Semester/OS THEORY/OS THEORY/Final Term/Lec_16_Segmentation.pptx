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5" r:id="rId3"/>
    <p:sldId id="354" r:id="rId4"/>
    <p:sldId id="290" r:id="rId5"/>
    <p:sldId id="292" r:id="rId6"/>
    <p:sldId id="357" r:id="rId7"/>
    <p:sldId id="293" r:id="rId8"/>
    <p:sldId id="294" r:id="rId9"/>
    <p:sldId id="299" r:id="rId10"/>
    <p:sldId id="300" r:id="rId11"/>
    <p:sldId id="693" r:id="rId12"/>
    <p:sldId id="697" r:id="rId13"/>
    <p:sldId id="699" r:id="rId14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CCFF"/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688" autoAdjust="0"/>
    <p:restoredTop sz="93792" autoAdjust="0"/>
  </p:normalViewPr>
  <p:slideViewPr>
    <p:cSldViewPr snapToGrid="0">
      <p:cViewPr varScale="1">
        <p:scale>
          <a:sx n="79" d="100"/>
          <a:sy n="79" d="100"/>
        </p:scale>
        <p:origin x="2006" y="67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6A822E9-8F13-47AB-9E4E-B18AB2E1F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CCEF3C-8989-4032-A095-D133C1713EDA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520E619-9440-4535-B6E9-BC7E8804B9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55EEC95-E703-4EFF-BB87-4741BBEE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830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EBA4F1E-CA5A-381F-BBB8-6082BA3F13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2627AF-EF2A-4B50-B1E6-053BA53D0BED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4FF3E7CC-6CFB-0F20-9519-6D65E47C97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C8D4F94F-1962-DB42-D037-E4534F68C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32FF9-B8E4-46E0-99E5-34F5344F2EF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60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32FF9-B8E4-46E0-99E5-34F5344F2EF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30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CBB2C057-EF8B-6E63-8762-175CB18541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C36D9B-BFB1-437A-96AF-633CF22FFF8E}" type="slidenum">
              <a:rPr lang="en-US" altLang="en-US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B2C32A36-2284-7DB0-B17D-D6DCB09DC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730FA90-7024-F38A-267D-0E5F738168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32FF9-B8E4-46E0-99E5-34F5344F2EF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36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32FF9-B8E4-46E0-99E5-34F5344F2EF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33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32FF9-B8E4-46E0-99E5-34F5344F2EF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26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32FF9-B8E4-46E0-99E5-34F5344F2EF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88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32FF9-B8E4-46E0-99E5-34F5344F2EF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0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CB1A5-22FB-4747-7CB1-19E450B4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F8CC9-778B-1D6C-1BBE-91089FA69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CFC67-B961-F58A-76FC-1F5769351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F213E-EB73-7466-242D-2A8F100B6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32FF9-B8E4-46E0-99E5-34F5344F2EF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15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64EB-C451-9F0A-ACE6-B12D3C6DD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B0F28-9346-2242-4C3A-6A363B375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7F1AD-D7E2-3380-C36B-DDCAFD760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5E538-E690-64C1-572B-40115DBEBF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32FF9-B8E4-46E0-99E5-34F5344F2EF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53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E29D3E6-430F-439A-B7E4-DBD6A407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BF474A-C9EA-4112-BDD8-3544E23F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F57BE7D-8CFC-4E3D-B9D3-E99A00EC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94A9A856-762E-4DC7-9B2F-F993E5BF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5A080DD-98A5-D4C4-20F8-D9A475979D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8744B61-96D7-4760-03C8-CAB57CC5E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EB374D-FC2E-49AD-94F6-BF0F89E9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22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2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2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200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5870B4-1ED7-12B7-6AA3-77117E26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4278086"/>
            <a:ext cx="2576512" cy="2373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  <a:t>Operating System Concepts </a:t>
            </a:r>
            <a:b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9</a:t>
            </a:r>
            <a:r>
              <a:rPr lang="en-US" altLang="en-US" sz="1800" baseline="30000" dirty="0">
                <a:solidFill>
                  <a:srgbClr val="008000"/>
                </a:solidFill>
                <a:latin typeface="Gill Sans MT" panose="020B0502020104020203" pitchFamily="34" charset="0"/>
              </a:rPr>
              <a:t>th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 edition 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 err="1">
                <a:solidFill>
                  <a:srgbClr val="008000"/>
                </a:solidFill>
                <a:latin typeface="Gill Sans MT" panose="020B0502020104020203" pitchFamily="34" charset="0"/>
              </a:rPr>
              <a:t>Silberschatz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, Galvin &amp; Gagne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John Wiley &amp; Sons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2013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9F7CCCC7-1A34-2F65-50C6-85CAE622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19725"/>
            <a:ext cx="4114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174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2200" i="1">
                <a:solidFill>
                  <a:srgbClr val="002060"/>
                </a:solidFill>
              </a:rPr>
              <a:t>Dr Nauman Mazhar</a:t>
            </a:r>
          </a:p>
          <a:p>
            <a:pPr eaLnBrk="1" hangingPunct="1">
              <a:spcBef>
                <a:spcPts val="12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Faculty of Information Technology (FIT)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University of Central Punjab (UCP)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E0C7144-25C9-C5AB-98F9-BA0DEB94097B}"/>
              </a:ext>
            </a:extLst>
          </p:cNvPr>
          <p:cNvSpPr txBox="1">
            <a:spLocks noChangeArrowheads="1"/>
          </p:cNvSpPr>
          <p:nvPr/>
        </p:nvSpPr>
        <p:spPr>
          <a:xfrm>
            <a:off x="930728" y="833438"/>
            <a:ext cx="7282543" cy="1828800"/>
          </a:xfrm>
          <a:prstGeom prst="rect">
            <a:avLst/>
          </a:prstGeo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3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Operating Systems</a:t>
            </a:r>
          </a:p>
          <a:p>
            <a:pPr algn="ctr" eaLnBrk="1" fontAlgn="auto" hangingPunct="1">
              <a:spcBef>
                <a:spcPts val="1200"/>
              </a:spcBef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SENS-3513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BC456DD-7F97-E05E-C599-ED9C715C184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352793"/>
            <a:ext cx="5410200" cy="1197429"/>
          </a:xfrm>
          <a:prstGeom prst="rect">
            <a:avLst/>
          </a:prstGeom>
        </p:spPr>
        <p:txBody>
          <a:bodyPr/>
          <a:lstStyle/>
          <a:p>
            <a:pPr marL="290513" indent="-290513" eaLnBrk="1" fontAlgn="auto" hangingPunct="1">
              <a:spcBef>
                <a:spcPts val="75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F84B381-6B23-3BBF-67F5-2B4832F9FC4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819394"/>
            <a:ext cx="2819400" cy="533400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750"/>
              </a:spcBef>
              <a:spcAft>
                <a:spcPts val="0"/>
              </a:spcAft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Week: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6BA1119-0E5B-4C51-B6FA-28152283A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3304" y="277813"/>
            <a:ext cx="7441096" cy="576262"/>
          </a:xfrm>
        </p:spPr>
        <p:txBody>
          <a:bodyPr/>
          <a:lstStyle/>
          <a:p>
            <a:r>
              <a:rPr lang="en-US" altLang="en-US" dirty="0"/>
              <a:t>Agenda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1102DF7-4A96-4DB4-93EE-EFEEB0DC39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0390" y="1245140"/>
            <a:ext cx="7938099" cy="535021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Basic concepts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Segmentation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Paged segmentation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endParaRPr lang="en-US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endParaRPr lang="en-US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endParaRPr lang="en-US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endParaRPr lang="en-US" altLang="en-US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en-US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752D254-D922-9C4C-5B25-793FB8F09D1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1893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A533FB7-4941-ECD2-7AF5-10E632624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Segmentation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C91AD67-4CF1-BC09-324A-31EAAE2E2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6742" y="1108650"/>
            <a:ext cx="7648305" cy="5379699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  <a:tabLst>
                <a:tab pos="1831975" algn="l"/>
              </a:tabLst>
            </a:pPr>
            <a:r>
              <a:rPr lang="en-US" altLang="en-US" sz="2300" dirty="0"/>
              <a:t>Memory-management scheme that supports </a:t>
            </a:r>
            <a:r>
              <a:rPr lang="en-US" sz="2300" dirty="0"/>
              <a:t>programmer’s</a:t>
            </a:r>
            <a:r>
              <a:rPr lang="en-US" altLang="en-US" sz="2300" dirty="0"/>
              <a:t> view of memory </a:t>
            </a:r>
          </a:p>
          <a:p>
            <a:pPr>
              <a:spcBef>
                <a:spcPts val="1800"/>
              </a:spcBef>
            </a:pPr>
            <a:r>
              <a:rPr lang="en-US" sz="2300" dirty="0"/>
              <a:t>Program is regarded as collection of segments</a:t>
            </a:r>
          </a:p>
          <a:p>
            <a:pPr lvl="1">
              <a:spcBef>
                <a:spcPts val="600"/>
              </a:spcBef>
            </a:pPr>
            <a:r>
              <a:rPr lang="en-US" sz="2000" i="1" dirty="0">
                <a:solidFill>
                  <a:srgbClr val="C00000"/>
                </a:solidFill>
              </a:rPr>
              <a:t>segment</a:t>
            </a:r>
            <a:r>
              <a:rPr lang="en-US" sz="2000" dirty="0"/>
              <a:t> is a </a:t>
            </a:r>
            <a:r>
              <a:rPr lang="en-US" sz="2000" i="1" dirty="0">
                <a:solidFill>
                  <a:srgbClr val="C00000"/>
                </a:solidFill>
              </a:rPr>
              <a:t>logical unit </a:t>
            </a:r>
            <a:r>
              <a:rPr lang="en-US" sz="2000" dirty="0"/>
              <a:t>of a program</a:t>
            </a:r>
          </a:p>
          <a:p>
            <a:pPr marL="1031875" lvl="1" indent="0">
              <a:spcBef>
                <a:spcPts val="600"/>
              </a:spcBef>
              <a:buNone/>
            </a:pP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main(), procedures, functions, stack</a:t>
            </a:r>
            <a:b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variables, global variables </a:t>
            </a:r>
          </a:p>
          <a:p>
            <a:pPr>
              <a:spcBef>
                <a:spcPts val="1800"/>
              </a:spcBef>
            </a:pPr>
            <a:r>
              <a:rPr lang="en-US" altLang="ko-KR" sz="2300" dirty="0"/>
              <a:t>When program is loaded </a:t>
            </a:r>
          </a:p>
          <a:p>
            <a:pPr lvl="1">
              <a:spcBef>
                <a:spcPts val="600"/>
              </a:spcBef>
            </a:pPr>
            <a:r>
              <a:rPr lang="en-US" altLang="ko-KR" sz="2000" dirty="0"/>
              <a:t>all its </a:t>
            </a:r>
            <a:r>
              <a:rPr lang="en-US" altLang="ko-KR" sz="2000" i="1" dirty="0">
                <a:solidFill>
                  <a:srgbClr val="C00000"/>
                </a:solidFill>
              </a:rPr>
              <a:t>segments</a:t>
            </a:r>
            <a:r>
              <a:rPr lang="en-US" altLang="ko-KR" sz="2000" dirty="0"/>
              <a:t> are loaded into </a:t>
            </a:r>
            <a:r>
              <a:rPr lang="en-US" altLang="ko-KR" sz="2000" i="1" dirty="0">
                <a:solidFill>
                  <a:srgbClr val="C00000"/>
                </a:solidFill>
              </a:rPr>
              <a:t>partitions</a:t>
            </a:r>
          </a:p>
          <a:p>
            <a:pPr lvl="1">
              <a:spcBef>
                <a:spcPts val="600"/>
              </a:spcBef>
            </a:pPr>
            <a:r>
              <a:rPr lang="en-US" altLang="ko-KR" sz="2000" dirty="0"/>
              <a:t>partitions are created</a:t>
            </a:r>
            <a:r>
              <a:rPr lang="en-US" altLang="ko-KR" sz="2000" i="1" dirty="0">
                <a:solidFill>
                  <a:srgbClr val="C00000"/>
                </a:solidFill>
              </a:rPr>
              <a:t> dynamically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each segment is loaded as one </a:t>
            </a:r>
            <a:r>
              <a:rPr lang="en-US" sz="2000" i="1" dirty="0">
                <a:solidFill>
                  <a:srgbClr val="C00000"/>
                </a:solidFill>
              </a:rPr>
              <a:t>contiguous block</a:t>
            </a:r>
          </a:p>
          <a:p>
            <a:pPr lvl="1">
              <a:spcBef>
                <a:spcPts val="600"/>
              </a:spcBef>
            </a:pPr>
            <a:r>
              <a:rPr lang="en-US" altLang="ko-KR" sz="2000" dirty="0"/>
              <a:t>all segments need NOT be contiguous</a:t>
            </a:r>
          </a:p>
          <a:p>
            <a:pPr lvl="1">
              <a:spcBef>
                <a:spcPts val="600"/>
              </a:spcBef>
            </a:pPr>
            <a:r>
              <a:rPr lang="en-US" altLang="ko-KR" sz="2000" dirty="0"/>
              <a:t>segments can have </a:t>
            </a:r>
            <a:r>
              <a:rPr lang="en-US" altLang="ko-KR" sz="2000" i="1" dirty="0">
                <a:solidFill>
                  <a:srgbClr val="C00000"/>
                </a:solidFill>
              </a:rPr>
              <a:t>different lengths </a:t>
            </a:r>
          </a:p>
          <a:p>
            <a:pPr lvl="1">
              <a:spcBef>
                <a:spcPts val="600"/>
              </a:spcBef>
            </a:pPr>
            <a:r>
              <a:rPr lang="en-US" altLang="ko-KR" sz="2000" dirty="0"/>
              <a:t>but some max seg length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4A31CFFC-064D-3EE2-BA6C-D1659E504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102" y="1723449"/>
            <a:ext cx="2709356" cy="3547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003400E-35CC-3B02-3A8C-6993C88799F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Oval 3"/>
          <p:cNvSpPr>
            <a:spLocks noChangeArrowheads="1"/>
          </p:cNvSpPr>
          <p:nvPr/>
        </p:nvSpPr>
        <p:spPr bwMode="auto">
          <a:xfrm>
            <a:off x="1041429" y="1234182"/>
            <a:ext cx="2658703" cy="308213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100" b="1">
              <a:ea typeface="굴림" charset="-127"/>
            </a:endParaRP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1678641" y="1557119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>
                <a:latin typeface="Helvetica" pitchFamily="34" charset="0"/>
                <a:ea typeface="굴림" charset="-127"/>
              </a:rPr>
              <a:t>1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1301789" y="2544384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>
                <a:latin typeface="Helvetica" pitchFamily="34" charset="0"/>
                <a:ea typeface="굴림" charset="-127"/>
              </a:rPr>
              <a:t>3</a:t>
            </a: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2554941" y="2297756"/>
            <a:ext cx="914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>
                <a:latin typeface="Helvetica" pitchFamily="34" charset="0"/>
                <a:ea typeface="굴림" charset="-127"/>
              </a:rPr>
              <a:t>2</a:t>
            </a:r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2414081" y="3192084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>
                <a:latin typeface="Helvetica" pitchFamily="34" charset="0"/>
                <a:ea typeface="굴림" charset="-127"/>
              </a:rPr>
              <a:t>4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760724" y="1234181"/>
            <a:ext cx="1206230" cy="3372395"/>
            <a:chOff x="3888" y="1056"/>
            <a:chExt cx="720" cy="2496"/>
          </a:xfrm>
        </p:grpSpPr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3888" y="1056"/>
              <a:ext cx="720" cy="672"/>
              <a:chOff x="3888" y="1056"/>
              <a:chExt cx="720" cy="672"/>
            </a:xfrm>
          </p:grpSpPr>
          <p:sp>
            <p:nvSpPr>
              <p:cNvPr id="77866" name="Rectangle 10"/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lnSpc>
                    <a:spcPct val="97000"/>
                  </a:lnSpc>
                </a:pPr>
                <a:endParaRPr kumimoji="1" lang="en-US" sz="1100" b="1" dirty="0">
                  <a:ea typeface="굴림" charset="-127"/>
                </a:endParaRPr>
              </a:p>
            </p:txBody>
          </p:sp>
          <p:sp>
            <p:nvSpPr>
              <p:cNvPr id="77867" name="Line 11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3888" y="1728"/>
              <a:ext cx="720" cy="672"/>
              <a:chOff x="3888" y="1056"/>
              <a:chExt cx="720" cy="672"/>
            </a:xfrm>
          </p:grpSpPr>
          <p:sp>
            <p:nvSpPr>
              <p:cNvPr id="77864" name="Rectangle 13"/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lnSpc>
                    <a:spcPct val="97000"/>
                  </a:lnSpc>
                </a:pPr>
                <a:endParaRPr kumimoji="1" lang="en-US" sz="1100" b="1">
                  <a:ea typeface="굴림" charset="-127"/>
                </a:endParaRPr>
              </a:p>
            </p:txBody>
          </p:sp>
          <p:sp>
            <p:nvSpPr>
              <p:cNvPr id="77865" name="Line 14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7857" name="Text Box 15"/>
            <p:cNvSpPr txBox="1">
              <a:spLocks noChangeArrowheads="1"/>
            </p:cNvSpPr>
            <p:nvPr/>
          </p:nvSpPr>
          <p:spPr bwMode="auto">
            <a:xfrm>
              <a:off x="4126" y="1133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Helvetica" pitchFamily="34" charset="0"/>
                  <a:ea typeface="굴림" charset="-127"/>
                </a:rPr>
                <a:t>1</a:t>
              </a:r>
            </a:p>
          </p:txBody>
        </p:sp>
        <p:sp>
          <p:nvSpPr>
            <p:cNvPr id="77858" name="Text Box 16"/>
            <p:cNvSpPr txBox="1">
              <a:spLocks noChangeArrowheads="1"/>
            </p:cNvSpPr>
            <p:nvPr/>
          </p:nvSpPr>
          <p:spPr bwMode="auto">
            <a:xfrm>
              <a:off x="4128" y="1440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Helvetica" pitchFamily="34" charset="0"/>
                  <a:ea typeface="굴림" charset="-127"/>
                </a:rPr>
                <a:t>4</a:t>
              </a:r>
            </a:p>
          </p:txBody>
        </p:sp>
        <p:sp>
          <p:nvSpPr>
            <p:cNvPr id="77859" name="Rectangle 17"/>
            <p:cNvSpPr>
              <a:spLocks noChangeArrowheads="1"/>
            </p:cNvSpPr>
            <p:nvPr/>
          </p:nvSpPr>
          <p:spPr bwMode="auto">
            <a:xfrm>
              <a:off x="3888" y="2400"/>
              <a:ext cx="720" cy="9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lnSpc>
                  <a:spcPct val="97000"/>
                </a:lnSpc>
              </a:pPr>
              <a:endParaRPr kumimoji="1" lang="en-US" sz="1100" b="1">
                <a:ea typeface="굴림" charset="-127"/>
              </a:endParaRPr>
            </a:p>
          </p:txBody>
        </p:sp>
        <p:sp>
          <p:nvSpPr>
            <p:cNvPr id="77860" name="Rectangle 18"/>
            <p:cNvSpPr>
              <a:spLocks noChangeArrowheads="1"/>
            </p:cNvSpPr>
            <p:nvPr/>
          </p:nvSpPr>
          <p:spPr bwMode="auto">
            <a:xfrm>
              <a:off x="3888" y="3312"/>
              <a:ext cx="720" cy="2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lnSpc>
                  <a:spcPct val="97000"/>
                </a:lnSpc>
              </a:pPr>
              <a:endParaRPr kumimoji="1" lang="en-US" sz="1100" b="1">
                <a:ea typeface="굴림" charset="-127"/>
              </a:endParaRPr>
            </a:p>
          </p:txBody>
        </p:sp>
        <p:sp>
          <p:nvSpPr>
            <p:cNvPr id="77861" name="Line 19"/>
            <p:cNvSpPr>
              <a:spLocks noChangeShapeType="1"/>
            </p:cNvSpPr>
            <p:nvPr/>
          </p:nvSpPr>
          <p:spPr bwMode="auto">
            <a:xfrm>
              <a:off x="3888" y="26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62" name="Text Box 20"/>
            <p:cNvSpPr txBox="1">
              <a:spLocks noChangeArrowheads="1"/>
            </p:cNvSpPr>
            <p:nvPr/>
          </p:nvSpPr>
          <p:spPr bwMode="auto">
            <a:xfrm>
              <a:off x="4128" y="2429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Helvetica" pitchFamily="34" charset="0"/>
                  <a:ea typeface="굴림" charset="-127"/>
                </a:rPr>
                <a:t>2</a:t>
              </a:r>
            </a:p>
          </p:txBody>
        </p:sp>
        <p:sp>
          <p:nvSpPr>
            <p:cNvPr id="77863" name="Text Box 21"/>
            <p:cNvSpPr txBox="1">
              <a:spLocks noChangeArrowheads="1"/>
            </p:cNvSpPr>
            <p:nvPr/>
          </p:nvSpPr>
          <p:spPr bwMode="auto">
            <a:xfrm>
              <a:off x="4128" y="2889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Helvetica" pitchFamily="34" charset="0"/>
                  <a:ea typeface="굴림" charset="-127"/>
                </a:rPr>
                <a:t>3</a:t>
              </a:r>
            </a:p>
          </p:txBody>
        </p:sp>
      </p:grpSp>
      <p:sp>
        <p:nvSpPr>
          <p:cNvPr id="77833" name="Text Box 22"/>
          <p:cNvSpPr txBox="1">
            <a:spLocks noChangeArrowheads="1"/>
          </p:cNvSpPr>
          <p:nvPr/>
        </p:nvSpPr>
        <p:spPr bwMode="auto">
          <a:xfrm>
            <a:off x="1733098" y="4418364"/>
            <a:ext cx="130035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dirty="0">
                <a:latin typeface="Comic Sans MS" pitchFamily="66" charset="0"/>
                <a:ea typeface="굴림" charset="-127"/>
              </a:rPr>
              <a:t>User space </a:t>
            </a:r>
          </a:p>
        </p:txBody>
      </p:sp>
      <p:graphicFrame>
        <p:nvGraphicFramePr>
          <p:cNvPr id="156723" name="Group 51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762952264"/>
              </p:ext>
            </p:extLst>
          </p:nvPr>
        </p:nvGraphicFramePr>
        <p:xfrm>
          <a:off x="4476312" y="1796460"/>
          <a:ext cx="836613" cy="1920240"/>
        </p:xfrm>
        <a:graphic>
          <a:graphicData uri="http://schemas.openxmlformats.org/drawingml/2006/table">
            <a:tbl>
              <a:tblPr/>
              <a:tblGrid>
                <a:gridCol w="836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850" name="Text Box 52"/>
          <p:cNvSpPr txBox="1">
            <a:spLocks noChangeArrowheads="1"/>
          </p:cNvSpPr>
          <p:nvPr/>
        </p:nvSpPr>
        <p:spPr bwMode="auto">
          <a:xfrm>
            <a:off x="4084941" y="3870656"/>
            <a:ext cx="161935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dirty="0">
                <a:latin typeface="Comic Sans MS" pitchFamily="66" charset="0"/>
                <a:ea typeface="굴림" charset="-127"/>
              </a:rPr>
              <a:t>Segment Table</a:t>
            </a:r>
          </a:p>
        </p:txBody>
      </p:sp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6243683" y="4652883"/>
            <a:ext cx="2328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kumimoji="0" lang="en-US" sz="1600" b="0" dirty="0">
                <a:latin typeface="Comic Sans MS" pitchFamily="66" charset="0"/>
              </a:rPr>
              <a:t>Physical memory space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DE22468-150A-0127-EFB3-ED31D0E985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825" y="136525"/>
            <a:ext cx="78009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View of Segmentation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03201C4-9434-6284-0D85-A7FCBD2A2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374" y="5158610"/>
            <a:ext cx="7872155" cy="95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Segments</a:t>
            </a:r>
            <a:r>
              <a:rPr lang="en-US" altLang="ko-KR" sz="2100" dirty="0">
                <a:latin typeface="Calibri" panose="020F0502020204030204" pitchFamily="34" charset="0"/>
                <a:cs typeface="Calibri" panose="020F0502020204030204" pitchFamily="34" charset="0"/>
              </a:rPr>
              <a:t> loaded into memory partitions, created dynamically</a:t>
            </a:r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mapping is kept in </a:t>
            </a: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Segmentation Table</a:t>
            </a:r>
          </a:p>
          <a:p>
            <a:pPr marL="800100" lvl="1" indent="-342900" eaLnBrk="1" fontAlgn="auto" hangingPunct="1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90F44CA-871E-0969-A0D3-3F42FC70318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1958499" y="1621713"/>
            <a:ext cx="940981" cy="7858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1946980" y="1737030"/>
            <a:ext cx="977833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Subroutine</a:t>
            </a:r>
          </a:p>
          <a:p>
            <a:pPr defTabSz="762000" eaLnBrk="0" latinLnBrk="1" hangingPunct="0">
              <a:lnSpc>
                <a:spcPct val="90000"/>
              </a:lnSpc>
            </a:pPr>
            <a:endParaRPr kumimoji="1" lang="en-US" altLang="ko-KR" sz="1200" b="1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1930698" y="1831264"/>
            <a:ext cx="18280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1965622" y="1970963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0</a:t>
            </a:r>
          </a:p>
        </p:txBody>
      </p:sp>
      <p:sp>
        <p:nvSpPr>
          <p:cNvPr id="79879" name="Rectangle 7"/>
          <p:cNvSpPr>
            <a:spLocks noChangeArrowheads="1"/>
          </p:cNvSpPr>
          <p:nvPr/>
        </p:nvSpPr>
        <p:spPr bwMode="auto">
          <a:xfrm>
            <a:off x="3168947" y="1655863"/>
            <a:ext cx="609142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Stack</a:t>
            </a: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2987972" y="1816975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3</a:t>
            </a:r>
          </a:p>
        </p:txBody>
      </p:sp>
      <p:sp>
        <p:nvSpPr>
          <p:cNvPr id="79881" name="Rectangle 9"/>
          <p:cNvSpPr>
            <a:spLocks noChangeArrowheads="1"/>
          </p:cNvSpPr>
          <p:nvPr/>
        </p:nvSpPr>
        <p:spPr bwMode="auto">
          <a:xfrm>
            <a:off x="3043536" y="1621713"/>
            <a:ext cx="857772" cy="47821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79882" name="Rectangle 10"/>
          <p:cNvSpPr>
            <a:spLocks noChangeArrowheads="1"/>
          </p:cNvSpPr>
          <p:nvPr/>
        </p:nvSpPr>
        <p:spPr bwMode="auto">
          <a:xfrm>
            <a:off x="1675312" y="2933671"/>
            <a:ext cx="629982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SQRT</a:t>
            </a: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79883" name="Rectangle 11"/>
          <p:cNvSpPr>
            <a:spLocks noChangeArrowheads="1"/>
          </p:cNvSpPr>
          <p:nvPr/>
        </p:nvSpPr>
        <p:spPr bwMode="auto">
          <a:xfrm>
            <a:off x="1905131" y="2888539"/>
            <a:ext cx="18280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79884" name="Rectangle 12"/>
          <p:cNvSpPr>
            <a:spLocks noChangeArrowheads="1"/>
          </p:cNvSpPr>
          <p:nvPr/>
        </p:nvSpPr>
        <p:spPr bwMode="auto">
          <a:xfrm>
            <a:off x="1905131" y="3031414"/>
            <a:ext cx="18280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79885" name="Rectangle 13"/>
          <p:cNvSpPr>
            <a:spLocks noChangeArrowheads="1"/>
          </p:cNvSpPr>
          <p:nvPr/>
        </p:nvSpPr>
        <p:spPr bwMode="auto">
          <a:xfrm>
            <a:off x="1540006" y="3161589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1</a:t>
            </a:r>
          </a:p>
        </p:txBody>
      </p:sp>
      <p:sp>
        <p:nvSpPr>
          <p:cNvPr id="79886" name="Rectangle 14"/>
          <p:cNvSpPr>
            <a:spLocks noChangeArrowheads="1"/>
          </p:cNvSpPr>
          <p:nvPr/>
        </p:nvSpPr>
        <p:spPr bwMode="auto">
          <a:xfrm>
            <a:off x="1549532" y="2678991"/>
            <a:ext cx="932295" cy="920064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79887" name="Rectangle 15"/>
          <p:cNvSpPr>
            <a:spLocks noChangeArrowheads="1"/>
          </p:cNvSpPr>
          <p:nvPr/>
        </p:nvSpPr>
        <p:spPr bwMode="auto">
          <a:xfrm>
            <a:off x="2897320" y="3151084"/>
            <a:ext cx="52738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Main</a:t>
            </a: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79888" name="Rectangle 16"/>
          <p:cNvSpPr>
            <a:spLocks noChangeArrowheads="1"/>
          </p:cNvSpPr>
          <p:nvPr/>
        </p:nvSpPr>
        <p:spPr bwMode="auto">
          <a:xfrm>
            <a:off x="2773494" y="3319968"/>
            <a:ext cx="779060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Program</a:t>
            </a: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79889" name="Rectangle 17"/>
          <p:cNvSpPr>
            <a:spLocks noChangeArrowheads="1"/>
          </p:cNvSpPr>
          <p:nvPr/>
        </p:nvSpPr>
        <p:spPr bwMode="auto">
          <a:xfrm>
            <a:off x="2673481" y="3490201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2</a:t>
            </a:r>
          </a:p>
        </p:txBody>
      </p:sp>
      <p:sp>
        <p:nvSpPr>
          <p:cNvPr id="79890" name="Rectangle 18"/>
          <p:cNvSpPr>
            <a:spLocks noChangeArrowheads="1"/>
          </p:cNvSpPr>
          <p:nvPr/>
        </p:nvSpPr>
        <p:spPr bwMode="auto">
          <a:xfrm>
            <a:off x="3398157" y="2315451"/>
            <a:ext cx="70852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Symbol</a:t>
            </a: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79891" name="Rectangle 19"/>
          <p:cNvSpPr>
            <a:spLocks noChangeArrowheads="1"/>
          </p:cNvSpPr>
          <p:nvPr/>
        </p:nvSpPr>
        <p:spPr bwMode="auto">
          <a:xfrm>
            <a:off x="3469594" y="2513519"/>
            <a:ext cx="594716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Table</a:t>
            </a: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79892" name="Rectangle 20"/>
          <p:cNvSpPr>
            <a:spLocks noChangeArrowheads="1"/>
          </p:cNvSpPr>
          <p:nvPr/>
        </p:nvSpPr>
        <p:spPr bwMode="auto">
          <a:xfrm>
            <a:off x="3623582" y="2598026"/>
            <a:ext cx="18280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79893" name="Rectangle 21"/>
          <p:cNvSpPr>
            <a:spLocks noChangeArrowheads="1"/>
          </p:cNvSpPr>
          <p:nvPr/>
        </p:nvSpPr>
        <p:spPr bwMode="auto">
          <a:xfrm>
            <a:off x="3293584" y="2687498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4</a:t>
            </a:r>
          </a:p>
        </p:txBody>
      </p:sp>
      <p:sp>
        <p:nvSpPr>
          <p:cNvPr id="79894" name="Rectangle 22"/>
          <p:cNvSpPr>
            <a:spLocks noChangeArrowheads="1"/>
          </p:cNvSpPr>
          <p:nvPr/>
        </p:nvSpPr>
        <p:spPr bwMode="auto">
          <a:xfrm>
            <a:off x="2686182" y="3123489"/>
            <a:ext cx="974672" cy="666751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79895" name="Rectangle 23"/>
          <p:cNvSpPr>
            <a:spLocks noChangeArrowheads="1"/>
          </p:cNvSpPr>
          <p:nvPr/>
        </p:nvSpPr>
        <p:spPr bwMode="auto">
          <a:xfrm>
            <a:off x="3340599" y="2266941"/>
            <a:ext cx="893121" cy="70573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79896" name="Oval 24"/>
          <p:cNvSpPr>
            <a:spLocks noChangeArrowheads="1"/>
          </p:cNvSpPr>
          <p:nvPr/>
        </p:nvSpPr>
        <p:spPr bwMode="auto">
          <a:xfrm>
            <a:off x="1279375" y="1150695"/>
            <a:ext cx="3236912" cy="3359151"/>
          </a:xfrm>
          <a:prstGeom prst="ellips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79897" name="Rectangle 25"/>
          <p:cNvSpPr>
            <a:spLocks noChangeArrowheads="1"/>
          </p:cNvSpPr>
          <p:nvPr/>
        </p:nvSpPr>
        <p:spPr bwMode="auto">
          <a:xfrm>
            <a:off x="6720437" y="2233425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0</a:t>
            </a:r>
          </a:p>
        </p:txBody>
      </p:sp>
      <p:sp>
        <p:nvSpPr>
          <p:cNvPr id="79898" name="Rectangle 26"/>
          <p:cNvSpPr>
            <a:spLocks noChangeArrowheads="1"/>
          </p:cNvSpPr>
          <p:nvPr/>
        </p:nvSpPr>
        <p:spPr bwMode="auto">
          <a:xfrm>
            <a:off x="6720437" y="3343086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3</a:t>
            </a:r>
          </a:p>
        </p:txBody>
      </p:sp>
      <p:sp>
        <p:nvSpPr>
          <p:cNvPr id="79899" name="Rectangle 27"/>
          <p:cNvSpPr>
            <a:spLocks noChangeArrowheads="1"/>
          </p:cNvSpPr>
          <p:nvPr/>
        </p:nvSpPr>
        <p:spPr bwMode="auto">
          <a:xfrm>
            <a:off x="6704562" y="3890774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2</a:t>
            </a:r>
          </a:p>
        </p:txBody>
      </p:sp>
      <p:sp>
        <p:nvSpPr>
          <p:cNvPr id="79900" name="Rectangle 28"/>
          <p:cNvSpPr>
            <a:spLocks noChangeArrowheads="1"/>
          </p:cNvSpPr>
          <p:nvPr/>
        </p:nvSpPr>
        <p:spPr bwMode="auto">
          <a:xfrm>
            <a:off x="6720437" y="4382899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4</a:t>
            </a:r>
          </a:p>
        </p:txBody>
      </p:sp>
      <p:sp>
        <p:nvSpPr>
          <p:cNvPr id="79901" name="Rectangle 29"/>
          <p:cNvSpPr>
            <a:spLocks noChangeArrowheads="1"/>
          </p:cNvSpPr>
          <p:nvPr/>
        </p:nvSpPr>
        <p:spPr bwMode="auto">
          <a:xfrm>
            <a:off x="6720437" y="5049649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1</a:t>
            </a:r>
          </a:p>
        </p:txBody>
      </p:sp>
      <p:sp>
        <p:nvSpPr>
          <p:cNvPr id="79902" name="Rectangle 30"/>
          <p:cNvSpPr>
            <a:spLocks noChangeArrowheads="1"/>
          </p:cNvSpPr>
          <p:nvPr/>
        </p:nvSpPr>
        <p:spPr bwMode="auto">
          <a:xfrm>
            <a:off x="6734726" y="1145987"/>
            <a:ext cx="962025" cy="41560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79903" name="Rectangle 31"/>
          <p:cNvSpPr>
            <a:spLocks noChangeArrowheads="1"/>
          </p:cNvSpPr>
          <p:nvPr/>
        </p:nvSpPr>
        <p:spPr bwMode="auto">
          <a:xfrm>
            <a:off x="7704688" y="2091158"/>
            <a:ext cx="56105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1400</a:t>
            </a:r>
          </a:p>
        </p:txBody>
      </p:sp>
      <p:sp>
        <p:nvSpPr>
          <p:cNvPr id="79904" name="Rectangle 32" descr="밝은 정방향 사선"/>
          <p:cNvSpPr>
            <a:spLocks noChangeArrowheads="1"/>
          </p:cNvSpPr>
          <p:nvPr/>
        </p:nvSpPr>
        <p:spPr bwMode="auto">
          <a:xfrm>
            <a:off x="6734726" y="1145986"/>
            <a:ext cx="962025" cy="1009651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79905" name="Rectangle 33" descr="밝은 정방향 사선"/>
          <p:cNvSpPr>
            <a:spLocks noChangeArrowheads="1"/>
          </p:cNvSpPr>
          <p:nvPr/>
        </p:nvSpPr>
        <p:spPr bwMode="auto">
          <a:xfrm>
            <a:off x="6734726" y="2519174"/>
            <a:ext cx="962025" cy="554037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79906" name="Rectangle 34"/>
          <p:cNvSpPr>
            <a:spLocks noChangeArrowheads="1"/>
          </p:cNvSpPr>
          <p:nvPr/>
        </p:nvSpPr>
        <p:spPr bwMode="auto">
          <a:xfrm>
            <a:off x="7704688" y="2484858"/>
            <a:ext cx="56105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2400</a:t>
            </a:r>
          </a:p>
        </p:txBody>
      </p:sp>
      <p:sp>
        <p:nvSpPr>
          <p:cNvPr id="79907" name="Rectangle 35"/>
          <p:cNvSpPr>
            <a:spLocks noChangeArrowheads="1"/>
          </p:cNvSpPr>
          <p:nvPr/>
        </p:nvSpPr>
        <p:spPr bwMode="auto">
          <a:xfrm>
            <a:off x="7704688" y="3000795"/>
            <a:ext cx="56105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3200</a:t>
            </a:r>
          </a:p>
        </p:txBody>
      </p:sp>
      <p:sp>
        <p:nvSpPr>
          <p:cNvPr id="79908" name="Line 36"/>
          <p:cNvSpPr>
            <a:spLocks noChangeShapeType="1"/>
          </p:cNvSpPr>
          <p:nvPr/>
        </p:nvSpPr>
        <p:spPr bwMode="auto">
          <a:xfrm>
            <a:off x="6734726" y="3886011"/>
            <a:ext cx="9620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909" name="Rectangle 37"/>
          <p:cNvSpPr>
            <a:spLocks noChangeArrowheads="1"/>
          </p:cNvSpPr>
          <p:nvPr/>
        </p:nvSpPr>
        <p:spPr bwMode="auto">
          <a:xfrm>
            <a:off x="7704688" y="3807245"/>
            <a:ext cx="56105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4300</a:t>
            </a:r>
          </a:p>
        </p:txBody>
      </p:sp>
      <p:sp>
        <p:nvSpPr>
          <p:cNvPr id="79910" name="Line 38"/>
          <p:cNvSpPr>
            <a:spLocks noChangeShapeType="1"/>
          </p:cNvSpPr>
          <p:nvPr/>
        </p:nvSpPr>
        <p:spPr bwMode="auto">
          <a:xfrm>
            <a:off x="6734726" y="4119374"/>
            <a:ext cx="9620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911" name="Rectangle 39"/>
          <p:cNvSpPr>
            <a:spLocks noChangeArrowheads="1"/>
          </p:cNvSpPr>
          <p:nvPr/>
        </p:nvSpPr>
        <p:spPr bwMode="auto">
          <a:xfrm>
            <a:off x="7704688" y="4027909"/>
            <a:ext cx="56105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4700</a:t>
            </a:r>
          </a:p>
        </p:txBody>
      </p:sp>
      <p:sp>
        <p:nvSpPr>
          <p:cNvPr id="79912" name="Rectangle 40" descr="밝은 정방향 사선"/>
          <p:cNvSpPr>
            <a:spLocks noChangeArrowheads="1"/>
          </p:cNvSpPr>
          <p:nvPr/>
        </p:nvSpPr>
        <p:spPr bwMode="auto">
          <a:xfrm>
            <a:off x="6734726" y="4808350"/>
            <a:ext cx="962025" cy="212725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79913" name="Rectangle 41"/>
          <p:cNvSpPr>
            <a:spLocks noChangeArrowheads="1"/>
          </p:cNvSpPr>
          <p:nvPr/>
        </p:nvSpPr>
        <p:spPr bwMode="auto">
          <a:xfrm>
            <a:off x="7704688" y="4724821"/>
            <a:ext cx="56105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5700</a:t>
            </a:r>
          </a:p>
        </p:txBody>
      </p:sp>
      <p:sp>
        <p:nvSpPr>
          <p:cNvPr id="79914" name="Rectangle 42"/>
          <p:cNvSpPr>
            <a:spLocks noChangeArrowheads="1"/>
          </p:cNvSpPr>
          <p:nvPr/>
        </p:nvSpPr>
        <p:spPr bwMode="auto">
          <a:xfrm>
            <a:off x="7704688" y="4956595"/>
            <a:ext cx="56105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6300</a:t>
            </a:r>
          </a:p>
        </p:txBody>
      </p:sp>
      <p:sp>
        <p:nvSpPr>
          <p:cNvPr id="79915" name="Rectangle 43"/>
          <p:cNvSpPr>
            <a:spLocks noChangeArrowheads="1"/>
          </p:cNvSpPr>
          <p:nvPr/>
        </p:nvSpPr>
        <p:spPr bwMode="auto">
          <a:xfrm>
            <a:off x="7704688" y="5239170"/>
            <a:ext cx="56105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6700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4DC4237-8529-1C8A-68E7-492DF1029137}"/>
              </a:ext>
            </a:extLst>
          </p:cNvPr>
          <p:cNvGrpSpPr/>
          <p:nvPr/>
        </p:nvGrpSpPr>
        <p:grpSpPr>
          <a:xfrm>
            <a:off x="4388292" y="4155893"/>
            <a:ext cx="1628661" cy="1602879"/>
            <a:chOff x="4388292" y="4418543"/>
            <a:chExt cx="1628661" cy="1602879"/>
          </a:xfrm>
        </p:grpSpPr>
        <p:sp>
          <p:nvSpPr>
            <p:cNvPr id="79916" name="Rectangle 44"/>
            <p:cNvSpPr>
              <a:spLocks noChangeArrowheads="1"/>
            </p:cNvSpPr>
            <p:nvPr/>
          </p:nvSpPr>
          <p:spPr bwMode="auto">
            <a:xfrm>
              <a:off x="4534174" y="4418543"/>
              <a:ext cx="1482779" cy="29120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4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Segment Table</a:t>
              </a:r>
            </a:p>
          </p:txBody>
        </p:sp>
        <p:sp>
          <p:nvSpPr>
            <p:cNvPr id="79917" name="Rectangle 45"/>
            <p:cNvSpPr>
              <a:spLocks noChangeArrowheads="1"/>
            </p:cNvSpPr>
            <p:nvPr/>
          </p:nvSpPr>
          <p:spPr bwMode="auto">
            <a:xfrm>
              <a:off x="4670699" y="5051672"/>
              <a:ext cx="1208665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1000    1400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79918" name="Rectangle 46"/>
            <p:cNvSpPr>
              <a:spLocks noChangeArrowheads="1"/>
            </p:cNvSpPr>
            <p:nvPr/>
          </p:nvSpPr>
          <p:spPr bwMode="auto">
            <a:xfrm>
              <a:off x="4699884" y="5238031"/>
              <a:ext cx="1181415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 400    6300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79919" name="Rectangle 47"/>
            <p:cNvSpPr>
              <a:spLocks noChangeArrowheads="1"/>
            </p:cNvSpPr>
            <p:nvPr/>
          </p:nvSpPr>
          <p:spPr bwMode="auto">
            <a:xfrm>
              <a:off x="4699884" y="5403046"/>
              <a:ext cx="1181415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 400    4300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79920" name="Rectangle 48"/>
            <p:cNvSpPr>
              <a:spLocks noChangeArrowheads="1"/>
            </p:cNvSpPr>
            <p:nvPr/>
          </p:nvSpPr>
          <p:spPr bwMode="auto">
            <a:xfrm>
              <a:off x="4680427" y="5568062"/>
              <a:ext cx="1208665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1100    3200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79921" name="Rectangle 49"/>
            <p:cNvSpPr>
              <a:spLocks noChangeArrowheads="1"/>
            </p:cNvSpPr>
            <p:nvPr/>
          </p:nvSpPr>
          <p:spPr bwMode="auto">
            <a:xfrm>
              <a:off x="4680427" y="5731447"/>
              <a:ext cx="1208665" cy="2627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1000    4700</a:t>
              </a:r>
            </a:p>
          </p:txBody>
        </p:sp>
        <p:sp>
          <p:nvSpPr>
            <p:cNvPr id="79922" name="Rectangle 50"/>
            <p:cNvSpPr>
              <a:spLocks noChangeArrowheads="1"/>
            </p:cNvSpPr>
            <p:nvPr/>
          </p:nvSpPr>
          <p:spPr bwMode="auto">
            <a:xfrm>
              <a:off x="4697485" y="4768167"/>
              <a:ext cx="1184621" cy="2769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3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limit    base</a:t>
              </a:r>
            </a:p>
          </p:txBody>
        </p:sp>
        <p:sp>
          <p:nvSpPr>
            <p:cNvPr id="79923" name="Rectangle 51"/>
            <p:cNvSpPr>
              <a:spLocks noChangeArrowheads="1"/>
            </p:cNvSpPr>
            <p:nvPr/>
          </p:nvSpPr>
          <p:spPr bwMode="auto">
            <a:xfrm>
              <a:off x="4654213" y="4759602"/>
              <a:ext cx="1223231" cy="123263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lnSpc>
                  <a:spcPct val="97000"/>
                </a:lnSpc>
              </a:pPr>
              <a:endParaRPr kumimoji="1" lang="en-US" sz="1200" b="1"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79924" name="Line 52"/>
            <p:cNvSpPr>
              <a:spLocks noChangeShapeType="1"/>
            </p:cNvSpPr>
            <p:nvPr/>
          </p:nvSpPr>
          <p:spPr bwMode="auto">
            <a:xfrm>
              <a:off x="4732241" y="5021345"/>
              <a:ext cx="1036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25" name="Line 53"/>
            <p:cNvSpPr>
              <a:spLocks noChangeShapeType="1"/>
            </p:cNvSpPr>
            <p:nvPr/>
          </p:nvSpPr>
          <p:spPr bwMode="auto">
            <a:xfrm>
              <a:off x="5254935" y="4888393"/>
              <a:ext cx="0" cy="97129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26" name="Rectangle 54"/>
            <p:cNvSpPr>
              <a:spLocks noChangeArrowheads="1"/>
            </p:cNvSpPr>
            <p:nvPr/>
          </p:nvSpPr>
          <p:spPr bwMode="auto">
            <a:xfrm>
              <a:off x="4388292" y="5053042"/>
              <a:ext cx="277321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0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79927" name="Rectangle 55"/>
            <p:cNvSpPr>
              <a:spLocks noChangeArrowheads="1"/>
            </p:cNvSpPr>
            <p:nvPr/>
          </p:nvSpPr>
          <p:spPr bwMode="auto">
            <a:xfrm>
              <a:off x="4388292" y="5238031"/>
              <a:ext cx="277321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1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79928" name="Rectangle 56"/>
            <p:cNvSpPr>
              <a:spLocks noChangeArrowheads="1"/>
            </p:cNvSpPr>
            <p:nvPr/>
          </p:nvSpPr>
          <p:spPr bwMode="auto">
            <a:xfrm>
              <a:off x="4388292" y="5403046"/>
              <a:ext cx="277321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2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79929" name="Rectangle 57"/>
            <p:cNvSpPr>
              <a:spLocks noChangeArrowheads="1"/>
            </p:cNvSpPr>
            <p:nvPr/>
          </p:nvSpPr>
          <p:spPr bwMode="auto">
            <a:xfrm>
              <a:off x="4388292" y="5588035"/>
              <a:ext cx="277321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3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79930" name="Rectangle 58"/>
            <p:cNvSpPr>
              <a:spLocks noChangeArrowheads="1"/>
            </p:cNvSpPr>
            <p:nvPr/>
          </p:nvSpPr>
          <p:spPr bwMode="auto">
            <a:xfrm>
              <a:off x="4388292" y="5741434"/>
              <a:ext cx="277321" cy="2627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4</a:t>
              </a:r>
            </a:p>
          </p:txBody>
        </p:sp>
      </p:grpSp>
      <p:sp>
        <p:nvSpPr>
          <p:cNvPr id="79931" name="Rectangle 59"/>
          <p:cNvSpPr>
            <a:spLocks noChangeArrowheads="1"/>
          </p:cNvSpPr>
          <p:nvPr/>
        </p:nvSpPr>
        <p:spPr bwMode="auto">
          <a:xfrm>
            <a:off x="1892430" y="3917238"/>
            <a:ext cx="2141613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4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Logical Address 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C49EFF-4803-1279-B131-2EB395C031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7875" y="166688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Segmentation Example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06C602E-D10E-B3F4-956F-FDBF6F94F7D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7C96F-3024-C0AA-3E88-10AA96AF518F}"/>
              </a:ext>
            </a:extLst>
          </p:cNvPr>
          <p:cNvSpPr txBox="1"/>
          <p:nvPr/>
        </p:nvSpPr>
        <p:spPr>
          <a:xfrm>
            <a:off x="2481827" y="6000991"/>
            <a:ext cx="545471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Segments</a:t>
            </a:r>
            <a:r>
              <a:rPr lang="en-US" altLang="ko-KR" sz="2100" dirty="0">
                <a:latin typeface="Calibri" panose="020F0502020204030204" pitchFamily="34" charset="0"/>
                <a:cs typeface="Calibri" panose="020F0502020204030204" pitchFamily="34" charset="0"/>
              </a:rPr>
              <a:t> loaded into memory partitions</a:t>
            </a:r>
            <a:endParaRPr lang="en-US" sz="21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8">
            <a:extLst>
              <a:ext uri="{FF2B5EF4-FFF2-40B4-BE49-F238E27FC236}">
                <a16:creationId xmlns:a16="http://schemas.microsoft.com/office/drawing/2014/main" id="{003EE349-B279-DB2B-B853-6BA426F70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408" y="2414177"/>
            <a:ext cx="5505857" cy="386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0" name="Rectangle 2">
            <a:extLst>
              <a:ext uri="{FF2B5EF4-FFF2-40B4-BE49-F238E27FC236}">
                <a16:creationId xmlns:a16="http://schemas.microsoft.com/office/drawing/2014/main" id="{A3F279C2-C57D-B344-7426-375A5508D0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7875" y="166688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Segmentation Architecture 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8109E62-89F9-F42E-AF0C-20D3D4595D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535" y="1045146"/>
            <a:ext cx="8094801" cy="5646165"/>
          </a:xfrm>
        </p:spPr>
        <p:txBody>
          <a:bodyPr/>
          <a:lstStyle/>
          <a:p>
            <a:pPr>
              <a:spcBef>
                <a:spcPts val="600"/>
              </a:spcBef>
              <a:tabLst>
                <a:tab pos="1828800" algn="l"/>
                <a:tab pos="2855913" algn="ctr"/>
              </a:tabLst>
            </a:pPr>
            <a:r>
              <a:rPr lang="en-US" altLang="en-US" sz="2200" dirty="0"/>
              <a:t>Logical address consists of:   </a:t>
            </a:r>
            <a:r>
              <a:rPr lang="en-US" altLang="en-US" sz="2200" dirty="0">
                <a:solidFill>
                  <a:srgbClr val="C00000"/>
                </a:solidFill>
              </a:rPr>
              <a:t>&lt;segment-number, offset&gt;</a:t>
            </a:r>
          </a:p>
          <a:p>
            <a:pPr lvl="1">
              <a:spcBef>
                <a:spcPts val="600"/>
              </a:spcBef>
              <a:tabLst>
                <a:tab pos="1828800" algn="l"/>
                <a:tab pos="2855913" algn="ctr"/>
              </a:tabLst>
            </a:pPr>
            <a:r>
              <a:rPr lang="en-US" altLang="en-US" sz="2000" i="1" dirty="0">
                <a:solidFill>
                  <a:srgbClr val="EE0000"/>
                </a:solidFill>
              </a:rPr>
              <a:t>segment number – </a:t>
            </a:r>
            <a:r>
              <a:rPr lang="en-US" altLang="en-US" sz="2000" dirty="0"/>
              <a:t>index into segment table</a:t>
            </a:r>
          </a:p>
          <a:p>
            <a:pPr lvl="1">
              <a:spcBef>
                <a:spcPts val="600"/>
              </a:spcBef>
              <a:tabLst>
                <a:tab pos="1828800" algn="l"/>
                <a:tab pos="2855913" algn="ctr"/>
              </a:tabLst>
            </a:pPr>
            <a:r>
              <a:rPr lang="en-US" sz="2000" i="1" dirty="0">
                <a:solidFill>
                  <a:srgbClr val="EE0000"/>
                </a:solidFill>
              </a:rPr>
              <a:t>offset –</a:t>
            </a:r>
            <a:r>
              <a:rPr lang="en-US" sz="2000" dirty="0"/>
              <a:t> displacement within the segment</a:t>
            </a:r>
            <a:endParaRPr lang="en-US" altLang="en-US" sz="2000" dirty="0"/>
          </a:p>
          <a:p>
            <a:pPr>
              <a:spcBef>
                <a:spcPts val="2400"/>
              </a:spcBef>
              <a:tabLst>
                <a:tab pos="1828800" algn="l"/>
                <a:tab pos="2855913" algn="ctr"/>
              </a:tabLst>
            </a:pPr>
            <a:r>
              <a:rPr lang="en-US" altLang="en-US" sz="2200" b="1" dirty="0">
                <a:solidFill>
                  <a:srgbClr val="C00000"/>
                </a:solidFill>
              </a:rPr>
              <a:t>Segment table</a:t>
            </a:r>
            <a:r>
              <a:rPr lang="en-US" altLang="en-US" sz="2200" dirty="0">
                <a:solidFill>
                  <a:srgbClr val="C00000"/>
                </a:solidFill>
              </a:rPr>
              <a:t> : </a:t>
            </a:r>
            <a:br>
              <a:rPr lang="en-US" altLang="en-US" sz="2200" dirty="0"/>
            </a:br>
            <a:r>
              <a:rPr lang="en-US" altLang="en-US" sz="2100" dirty="0"/>
              <a:t>each table entry has…</a:t>
            </a:r>
          </a:p>
          <a:p>
            <a:pPr marL="339725" indent="0">
              <a:spcBef>
                <a:spcPts val="1200"/>
              </a:spcBef>
              <a:buNone/>
              <a:tabLst>
                <a:tab pos="1828800" algn="l"/>
                <a:tab pos="2855913" algn="ctr"/>
              </a:tabLst>
            </a:pPr>
            <a:r>
              <a:rPr lang="en-US" altLang="en-US" sz="2000" b="1" dirty="0">
                <a:solidFill>
                  <a:srgbClr val="3366FF"/>
                </a:solidFill>
              </a:rPr>
              <a:t>Base</a:t>
            </a:r>
            <a:r>
              <a:rPr lang="en-US" altLang="en-US" sz="2000" dirty="0">
                <a:solidFill>
                  <a:srgbClr val="3366FF"/>
                </a:solidFill>
              </a:rPr>
              <a:t> :</a:t>
            </a:r>
            <a:r>
              <a:rPr lang="en-US" altLang="en-US" sz="2000" dirty="0"/>
              <a:t> </a:t>
            </a:r>
          </a:p>
          <a:p>
            <a:pPr marL="457200" indent="0">
              <a:spcBef>
                <a:spcPts val="600"/>
              </a:spcBef>
              <a:buNone/>
              <a:tabLst>
                <a:tab pos="1828800" algn="l"/>
                <a:tab pos="2855913" algn="ctr"/>
              </a:tabLst>
            </a:pPr>
            <a:r>
              <a:rPr lang="en-US" altLang="en-US" sz="1900" dirty="0"/>
              <a:t>physical </a:t>
            </a:r>
            <a:r>
              <a:rPr lang="en-US" altLang="en-US" sz="1900" dirty="0" err="1"/>
              <a:t>addr</a:t>
            </a:r>
            <a:r>
              <a:rPr lang="en-US" altLang="en-US" sz="1900" dirty="0"/>
              <a:t> </a:t>
            </a:r>
            <a:br>
              <a:rPr lang="en-US" altLang="en-US" sz="1900" dirty="0"/>
            </a:br>
            <a:r>
              <a:rPr lang="en-US" altLang="en-US" sz="1900" dirty="0"/>
              <a:t>where seg starts</a:t>
            </a:r>
            <a:br>
              <a:rPr lang="en-US" altLang="en-US" sz="1900" dirty="0"/>
            </a:br>
            <a:r>
              <a:rPr lang="en-US" altLang="en-US" sz="1900" dirty="0"/>
              <a:t>in memory</a:t>
            </a:r>
          </a:p>
          <a:p>
            <a:pPr marL="457200" indent="0">
              <a:spcBef>
                <a:spcPts val="600"/>
              </a:spcBef>
              <a:buNone/>
              <a:tabLst>
                <a:tab pos="1828800" algn="l"/>
                <a:tab pos="2855913" algn="ctr"/>
              </a:tabLst>
            </a:pPr>
            <a:r>
              <a:rPr lang="en-US" altLang="en-US" sz="1900" i="1" dirty="0">
                <a:solidFill>
                  <a:srgbClr val="EE0000"/>
                </a:solidFill>
              </a:rPr>
              <a:t>added</a:t>
            </a:r>
            <a:r>
              <a:rPr lang="en-US" altLang="en-US" sz="1900" dirty="0"/>
              <a:t> to </a:t>
            </a:r>
            <a:r>
              <a:rPr lang="en-US" altLang="en-US" sz="1900" i="1" dirty="0">
                <a:solidFill>
                  <a:srgbClr val="EE0000"/>
                </a:solidFill>
              </a:rPr>
              <a:t>offset</a:t>
            </a:r>
            <a:r>
              <a:rPr lang="en-US" altLang="en-US" sz="1900" dirty="0"/>
              <a:t> to create</a:t>
            </a:r>
            <a:br>
              <a:rPr lang="en-US" altLang="en-US" sz="1900" dirty="0"/>
            </a:br>
            <a:r>
              <a:rPr lang="en-US" altLang="en-US" sz="1900" i="1" dirty="0">
                <a:solidFill>
                  <a:srgbClr val="EE0000"/>
                </a:solidFill>
              </a:rPr>
              <a:t>physical </a:t>
            </a:r>
            <a:r>
              <a:rPr lang="en-US" altLang="en-US" sz="1900" i="1" dirty="0" err="1">
                <a:solidFill>
                  <a:srgbClr val="EE0000"/>
                </a:solidFill>
              </a:rPr>
              <a:t>addr</a:t>
            </a:r>
            <a:endParaRPr lang="en-US" altLang="en-US" sz="1900" i="1" dirty="0">
              <a:solidFill>
                <a:srgbClr val="EE0000"/>
              </a:solidFill>
            </a:endParaRPr>
          </a:p>
          <a:p>
            <a:pPr marL="339725" indent="0">
              <a:spcBef>
                <a:spcPts val="1200"/>
              </a:spcBef>
              <a:buNone/>
              <a:tabLst>
                <a:tab pos="1828800" algn="l"/>
                <a:tab pos="2855913" algn="ctr"/>
              </a:tabLst>
            </a:pPr>
            <a:r>
              <a:rPr lang="en-US" altLang="en-US" sz="2000" b="1" dirty="0">
                <a:solidFill>
                  <a:srgbClr val="3366FF"/>
                </a:solidFill>
              </a:rPr>
              <a:t>Limit</a:t>
            </a:r>
            <a:r>
              <a:rPr lang="en-US" altLang="en-US" sz="2000" dirty="0">
                <a:solidFill>
                  <a:srgbClr val="3366FF"/>
                </a:solidFill>
              </a:rPr>
              <a:t> :</a:t>
            </a:r>
            <a:r>
              <a:rPr lang="en-US" altLang="en-US" sz="2000" dirty="0"/>
              <a:t> </a:t>
            </a:r>
          </a:p>
          <a:p>
            <a:pPr marL="457200" indent="0">
              <a:spcBef>
                <a:spcPts val="600"/>
              </a:spcBef>
              <a:buNone/>
              <a:tabLst>
                <a:tab pos="1828800" algn="l"/>
                <a:tab pos="2855913" algn="ctr"/>
              </a:tabLst>
            </a:pPr>
            <a:r>
              <a:rPr lang="en-US" altLang="en-US" sz="1900" dirty="0"/>
              <a:t>length of seg </a:t>
            </a:r>
            <a:br>
              <a:rPr lang="en-US" altLang="en-US" sz="1900" dirty="0"/>
            </a:br>
            <a:r>
              <a:rPr lang="en-US" altLang="en-US" sz="1900" dirty="0"/>
              <a:t>checks for </a:t>
            </a:r>
            <a:r>
              <a:rPr lang="en-US" altLang="en-US" sz="1900" i="1" dirty="0">
                <a:solidFill>
                  <a:srgbClr val="EE0000"/>
                </a:solidFill>
              </a:rPr>
              <a:t>addressing error</a:t>
            </a:r>
          </a:p>
          <a:p>
            <a:pPr>
              <a:spcBef>
                <a:spcPts val="600"/>
              </a:spcBef>
              <a:buFont typeface="Monotype Sorts" pitchFamily="-84" charset="2"/>
              <a:buNone/>
              <a:tabLst>
                <a:tab pos="1828800" algn="l"/>
                <a:tab pos="2855913" algn="ctr"/>
              </a:tabLst>
            </a:pPr>
            <a:r>
              <a:rPr lang="en-US" altLang="en-US" sz="2200" dirty="0"/>
              <a:t>	</a:t>
            </a:r>
            <a:endParaRPr lang="en-US" altLang="en-US" sz="2200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6B5021C-65BC-EED1-F551-02F07733D46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/>
          </p:cNvSpPr>
          <p:nvPr>
            <p:ph type="body" idx="1"/>
          </p:nvPr>
        </p:nvSpPr>
        <p:spPr>
          <a:xfrm>
            <a:off x="356412" y="1046926"/>
            <a:ext cx="6531733" cy="230424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2100" dirty="0">
                <a:solidFill>
                  <a:srgbClr val="C00000"/>
                </a:solidFill>
              </a:rPr>
              <a:t>Problem</a:t>
            </a:r>
          </a:p>
          <a:p>
            <a:pPr marL="339725" indent="0">
              <a:lnSpc>
                <a:spcPct val="90000"/>
              </a:lnSpc>
              <a:spcBef>
                <a:spcPts val="900"/>
              </a:spcBef>
              <a:buFont typeface="Arial" charset="0"/>
              <a:buNone/>
            </a:pPr>
            <a:r>
              <a:rPr lang="en-US" altLang="ko-KR" sz="2100" dirty="0"/>
              <a:t>Consider the given segment table </a:t>
            </a:r>
          </a:p>
          <a:p>
            <a:pPr marL="339725" indent="0">
              <a:lnSpc>
                <a:spcPct val="90000"/>
              </a:lnSpc>
              <a:spcBef>
                <a:spcPts val="900"/>
              </a:spcBef>
              <a:buFont typeface="Arial" charset="0"/>
              <a:buNone/>
            </a:pPr>
            <a:r>
              <a:rPr lang="en-US" altLang="ko-KR" sz="2100" dirty="0"/>
              <a:t>What are the physical addresses for the following logical addresses:</a:t>
            </a:r>
          </a:p>
          <a:p>
            <a:pPr marL="515938" lvl="2" indent="0">
              <a:lnSpc>
                <a:spcPct val="90000"/>
              </a:lnSpc>
              <a:spcBef>
                <a:spcPts val="900"/>
              </a:spcBef>
              <a:buNone/>
            </a:pPr>
            <a:r>
              <a:rPr kumimoji="1" lang="en-US" altLang="ko-KR" sz="1600" dirty="0">
                <a:latin typeface="Comic Sans MS" pitchFamily="66" charset="0"/>
                <a:ea typeface="굴림" charset="-127"/>
              </a:rPr>
              <a:t>(2, 399) 		(4, 0)		(4, 1000)</a:t>
            </a:r>
          </a:p>
          <a:p>
            <a:pPr marL="515938" lvl="2" indent="0">
              <a:lnSpc>
                <a:spcPct val="90000"/>
              </a:lnSpc>
              <a:spcBef>
                <a:spcPts val="900"/>
              </a:spcBef>
              <a:buNone/>
            </a:pPr>
            <a:r>
              <a:rPr kumimoji="1" lang="en-US" altLang="ko-KR" sz="1600" dirty="0">
                <a:latin typeface="Comic Sans MS" pitchFamily="66" charset="0"/>
                <a:ea typeface="굴림" charset="-127"/>
              </a:rPr>
              <a:t>(3, 1300)		(6, 297)</a:t>
            </a:r>
          </a:p>
          <a:p>
            <a:pPr lvl="1">
              <a:lnSpc>
                <a:spcPct val="90000"/>
              </a:lnSpc>
            </a:pPr>
            <a:endParaRPr kumimoji="1" lang="en-US" altLang="ko-KR" sz="1100" dirty="0">
              <a:latin typeface="Comic Sans MS" pitchFamily="66" charset="0"/>
              <a:ea typeface="굴림" charset="-127"/>
            </a:endParaRPr>
          </a:p>
          <a:p>
            <a:pPr>
              <a:lnSpc>
                <a:spcPct val="90000"/>
              </a:lnSpc>
              <a:buNone/>
            </a:pPr>
            <a:endParaRPr lang="en-US" sz="2800" dirty="0"/>
          </a:p>
        </p:txBody>
      </p:sp>
      <p:sp>
        <p:nvSpPr>
          <p:cNvPr id="80911" name="Rectangle 32"/>
          <p:cNvSpPr>
            <a:spLocks noChangeArrowheads="1"/>
          </p:cNvSpPr>
          <p:nvPr/>
        </p:nvSpPr>
        <p:spPr bwMode="auto">
          <a:xfrm>
            <a:off x="398828" y="3506827"/>
            <a:ext cx="5710142" cy="233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kumimoji="1" lang="en-US" altLang="ko-KR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</a:p>
          <a:p>
            <a:pPr marL="174625">
              <a:spcBef>
                <a:spcPts val="900"/>
              </a:spcBef>
            </a:pPr>
            <a:r>
              <a:rPr kumimoji="1" lang="en-US" altLang="ko-KR" sz="2100" dirty="0">
                <a:latin typeface="Calibri" panose="020F0502020204030204" pitchFamily="34" charset="0"/>
                <a:cs typeface="Calibri" panose="020F0502020204030204" pitchFamily="34" charset="0"/>
              </a:rPr>
              <a:t>Consider the given segment table </a:t>
            </a:r>
          </a:p>
          <a:p>
            <a:pPr marL="174625">
              <a:spcBef>
                <a:spcPts val="900"/>
              </a:spcBef>
            </a:pPr>
            <a:r>
              <a:rPr kumimoji="1" lang="en-US" altLang="ko-KR" sz="2100" dirty="0">
                <a:latin typeface="Calibri" panose="020F0502020204030204" pitchFamily="34" charset="0"/>
                <a:cs typeface="Calibri" panose="020F0502020204030204" pitchFamily="34" charset="0"/>
              </a:rPr>
              <a:t>What are the physical addresses for the following logical addresses:</a:t>
            </a:r>
          </a:p>
          <a:p>
            <a:pPr marL="457200" lvl="2">
              <a:spcBef>
                <a:spcPts val="900"/>
              </a:spcBef>
            </a:pPr>
            <a:r>
              <a:rPr kumimoji="1" lang="en-US" altLang="ko-KR" sz="1600" dirty="0">
                <a:latin typeface="Comic Sans MS" pitchFamily="66" charset="0"/>
                <a:ea typeface="굴림" charset="-127"/>
                <a:cs typeface="Calibri" panose="020F0502020204030204" pitchFamily="34" charset="0"/>
              </a:rPr>
              <a:t>(0, 430)		(1, 10)		(2, 500)</a:t>
            </a:r>
          </a:p>
          <a:p>
            <a:pPr marL="457200" lvl="2">
              <a:spcBef>
                <a:spcPts val="900"/>
              </a:spcBef>
            </a:pPr>
            <a:r>
              <a:rPr kumimoji="1" lang="en-US" altLang="ko-KR" sz="1600" dirty="0">
                <a:latin typeface="Comic Sans MS" pitchFamily="66" charset="0"/>
                <a:ea typeface="굴림" charset="-127"/>
                <a:cs typeface="Calibri" panose="020F0502020204030204" pitchFamily="34" charset="0"/>
              </a:rPr>
              <a:t>(3, 400)		(4, 112)</a:t>
            </a:r>
          </a:p>
        </p:txBody>
      </p:sp>
      <p:sp>
        <p:nvSpPr>
          <p:cNvPr id="80912" name="Rectangle 33"/>
          <p:cNvSpPr>
            <a:spLocks noChangeArrowheads="1"/>
          </p:cNvSpPr>
          <p:nvPr/>
        </p:nvSpPr>
        <p:spPr bwMode="auto">
          <a:xfrm>
            <a:off x="6357836" y="4282255"/>
            <a:ext cx="2524328" cy="15388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en-US" altLang="ko-KR" sz="1400" b="1" u="sng" dirty="0" err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</a:t>
            </a:r>
            <a:r>
              <a:rPr kumimoji="1" lang="en-US" altLang="ko-KR" sz="1400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	</a:t>
            </a:r>
            <a:r>
              <a:rPr kumimoji="1" lang="en-US" altLang="ko-KR" sz="1400" b="1" u="sng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Base</a:t>
            </a:r>
            <a:r>
              <a:rPr kumimoji="1" lang="en-US" altLang="ko-KR" sz="1400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	</a:t>
            </a:r>
            <a:r>
              <a:rPr kumimoji="1" lang="en-US" altLang="ko-KR" sz="1400" b="1" u="sng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Len</a:t>
            </a:r>
          </a:p>
          <a:p>
            <a:endParaRPr kumimoji="1" lang="en-US" altLang="ko-KR" sz="1000" b="1" u="sng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  <a:p>
            <a:r>
              <a:rPr kumimoji="1" lang="en-US" altLang="ko-KR" sz="1400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0	219	600</a:t>
            </a:r>
          </a:p>
          <a:p>
            <a:r>
              <a:rPr kumimoji="1" lang="en-US" altLang="ko-KR" sz="1400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1	2300	14</a:t>
            </a:r>
          </a:p>
          <a:p>
            <a:r>
              <a:rPr kumimoji="1" lang="en-US" altLang="ko-KR" sz="1400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2	90	100</a:t>
            </a:r>
          </a:p>
          <a:p>
            <a:r>
              <a:rPr kumimoji="1" lang="en-US" altLang="ko-KR" sz="1400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3	1327	580</a:t>
            </a:r>
          </a:p>
          <a:p>
            <a:r>
              <a:rPr kumimoji="1" lang="en-US" altLang="ko-KR" sz="1400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4	1952	96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41B381-5384-4633-7D3A-743491A59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7875" y="166688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Sample Problems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4525B5-EC5D-D13A-5628-C5C17E3BED01}"/>
              </a:ext>
            </a:extLst>
          </p:cNvPr>
          <p:cNvGrpSpPr/>
          <p:nvPr/>
        </p:nvGrpSpPr>
        <p:grpSpPr>
          <a:xfrm>
            <a:off x="7097051" y="1317100"/>
            <a:ext cx="1628661" cy="1602879"/>
            <a:chOff x="4388292" y="4418543"/>
            <a:chExt cx="1628661" cy="1602879"/>
          </a:xfrm>
        </p:grpSpPr>
        <p:sp>
          <p:nvSpPr>
            <p:cNvPr id="5" name="Rectangle 44">
              <a:extLst>
                <a:ext uri="{FF2B5EF4-FFF2-40B4-BE49-F238E27FC236}">
                  <a16:creationId xmlns:a16="http://schemas.microsoft.com/office/drawing/2014/main" id="{6C6C4276-109B-8BBC-FB5B-745A557C6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4174" y="4418543"/>
              <a:ext cx="1482779" cy="29120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4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Segment Table</a:t>
              </a:r>
            </a:p>
          </p:txBody>
        </p:sp>
        <p:sp>
          <p:nvSpPr>
            <p:cNvPr id="6" name="Rectangle 45">
              <a:extLst>
                <a:ext uri="{FF2B5EF4-FFF2-40B4-BE49-F238E27FC236}">
                  <a16:creationId xmlns:a16="http://schemas.microsoft.com/office/drawing/2014/main" id="{71DEDBF5-0680-31DF-60BA-0E4BCE917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0699" y="5051672"/>
              <a:ext cx="1208665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1000    1400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7" name="Rectangle 46">
              <a:extLst>
                <a:ext uri="{FF2B5EF4-FFF2-40B4-BE49-F238E27FC236}">
                  <a16:creationId xmlns:a16="http://schemas.microsoft.com/office/drawing/2014/main" id="{0C7D1DBA-1D06-CE85-5224-18171207B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9884" y="5238031"/>
              <a:ext cx="1181415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 400    6300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8" name="Rectangle 47">
              <a:extLst>
                <a:ext uri="{FF2B5EF4-FFF2-40B4-BE49-F238E27FC236}">
                  <a16:creationId xmlns:a16="http://schemas.microsoft.com/office/drawing/2014/main" id="{B21F23EF-FC48-9591-0CB0-FA68A6CF2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9884" y="5403046"/>
              <a:ext cx="1181415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 400    4300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9" name="Rectangle 48">
              <a:extLst>
                <a:ext uri="{FF2B5EF4-FFF2-40B4-BE49-F238E27FC236}">
                  <a16:creationId xmlns:a16="http://schemas.microsoft.com/office/drawing/2014/main" id="{C736671A-0482-B125-8661-9DA670C5F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427" y="5568062"/>
              <a:ext cx="1208665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1100    3200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10" name="Rectangle 49">
              <a:extLst>
                <a:ext uri="{FF2B5EF4-FFF2-40B4-BE49-F238E27FC236}">
                  <a16:creationId xmlns:a16="http://schemas.microsoft.com/office/drawing/2014/main" id="{58E52134-50C1-E4A4-50B4-2D79BCD75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427" y="5731447"/>
              <a:ext cx="1208665" cy="2627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1000    4700</a:t>
              </a:r>
            </a:p>
          </p:txBody>
        </p:sp>
        <p:sp>
          <p:nvSpPr>
            <p:cNvPr id="11" name="Rectangle 50">
              <a:extLst>
                <a:ext uri="{FF2B5EF4-FFF2-40B4-BE49-F238E27FC236}">
                  <a16:creationId xmlns:a16="http://schemas.microsoft.com/office/drawing/2014/main" id="{72C35B72-0264-9DF6-7E89-C78AFA921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485" y="4768167"/>
              <a:ext cx="1184621" cy="2769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3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limit    base</a:t>
              </a:r>
            </a:p>
          </p:txBody>
        </p:sp>
        <p:sp>
          <p:nvSpPr>
            <p:cNvPr id="12" name="Rectangle 51">
              <a:extLst>
                <a:ext uri="{FF2B5EF4-FFF2-40B4-BE49-F238E27FC236}">
                  <a16:creationId xmlns:a16="http://schemas.microsoft.com/office/drawing/2014/main" id="{50E9EC1C-663A-917F-3E6A-634E1E8C8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213" y="4759602"/>
              <a:ext cx="1223231" cy="123263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lnSpc>
                  <a:spcPct val="97000"/>
                </a:lnSpc>
              </a:pPr>
              <a:endParaRPr kumimoji="1" lang="en-US" sz="1200" b="1"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13" name="Line 52">
              <a:extLst>
                <a:ext uri="{FF2B5EF4-FFF2-40B4-BE49-F238E27FC236}">
                  <a16:creationId xmlns:a16="http://schemas.microsoft.com/office/drawing/2014/main" id="{018DF2FD-7A52-8809-091E-4066C4F31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2241" y="5021345"/>
              <a:ext cx="1036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53">
              <a:extLst>
                <a:ext uri="{FF2B5EF4-FFF2-40B4-BE49-F238E27FC236}">
                  <a16:creationId xmlns:a16="http://schemas.microsoft.com/office/drawing/2014/main" id="{1FCB0E00-7956-7BAD-2A1C-D22DBEF6FF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4935" y="4888393"/>
              <a:ext cx="0" cy="97129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54">
              <a:extLst>
                <a:ext uri="{FF2B5EF4-FFF2-40B4-BE49-F238E27FC236}">
                  <a16:creationId xmlns:a16="http://schemas.microsoft.com/office/drawing/2014/main" id="{D65E96A2-8826-63E0-2AD2-FA1AF23A5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292" y="5053042"/>
              <a:ext cx="277321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0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16" name="Rectangle 55">
              <a:extLst>
                <a:ext uri="{FF2B5EF4-FFF2-40B4-BE49-F238E27FC236}">
                  <a16:creationId xmlns:a16="http://schemas.microsoft.com/office/drawing/2014/main" id="{8AA3EFD6-692B-B792-AD34-084FF72BA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292" y="5238031"/>
              <a:ext cx="277321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1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17" name="Rectangle 56">
              <a:extLst>
                <a:ext uri="{FF2B5EF4-FFF2-40B4-BE49-F238E27FC236}">
                  <a16:creationId xmlns:a16="http://schemas.microsoft.com/office/drawing/2014/main" id="{30AAD618-993B-43A3-19C1-9F5FE81C2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292" y="5403046"/>
              <a:ext cx="277321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2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19" name="Rectangle 57">
              <a:extLst>
                <a:ext uri="{FF2B5EF4-FFF2-40B4-BE49-F238E27FC236}">
                  <a16:creationId xmlns:a16="http://schemas.microsoft.com/office/drawing/2014/main" id="{6F42C38C-F21D-B5E9-C678-6C63B0E20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292" y="5588035"/>
              <a:ext cx="277321" cy="4333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3</a:t>
              </a:r>
            </a:p>
            <a:p>
              <a:pPr defTabSz="762000" hangingPunct="0">
                <a:lnSpc>
                  <a:spcPct val="90000"/>
                </a:lnSpc>
              </a:pPr>
              <a:endPara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36" name="Rectangle 58">
              <a:extLst>
                <a:ext uri="{FF2B5EF4-FFF2-40B4-BE49-F238E27FC236}">
                  <a16:creationId xmlns:a16="http://schemas.microsoft.com/office/drawing/2014/main" id="{AAA48D2D-A5AC-5946-7B7D-E849AA2CF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292" y="5741434"/>
              <a:ext cx="277321" cy="2627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Comic Sans MS" pitchFamily="66" charset="0"/>
                  <a:ea typeface="굴림" charset="-127"/>
                </a:rPr>
                <a:t>4</a:t>
              </a:r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D8F3606-40CA-B782-53D6-61A8C4D9EE4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/>
          </p:cNvSpPr>
          <p:nvPr>
            <p:ph type="body" idx="1"/>
          </p:nvPr>
        </p:nvSpPr>
        <p:spPr>
          <a:xfrm>
            <a:off x="457201" y="1118681"/>
            <a:ext cx="8229600" cy="533399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2300" dirty="0"/>
              <a:t>Segmentation results in external fragmentation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sz="2100" dirty="0"/>
              <a:t>but free spaces can be adjusted by </a:t>
            </a:r>
            <a:r>
              <a:rPr lang="en-US" sz="2100" i="1" dirty="0">
                <a:solidFill>
                  <a:srgbClr val="C00000"/>
                </a:solidFill>
              </a:rPr>
              <a:t>compaction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100" dirty="0"/>
              <a:t>shuffle segments to gather free memory spaces in one block</a:t>
            </a:r>
          </a:p>
          <a:p>
            <a:pPr>
              <a:lnSpc>
                <a:spcPct val="110000"/>
              </a:lnSpc>
              <a:spcBef>
                <a:spcPts val="2400"/>
              </a:spcBef>
            </a:pPr>
            <a:r>
              <a:rPr lang="en-US" sz="2300" dirty="0"/>
              <a:t>Compaction possible only if :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sz="2100" i="1" dirty="0">
                <a:solidFill>
                  <a:srgbClr val="C00000"/>
                </a:solidFill>
              </a:rPr>
              <a:t>relocation is dynamic –  </a:t>
            </a:r>
            <a:r>
              <a:rPr lang="en-US" sz="2100" dirty="0"/>
              <a:t>segment can be shifted dynamically to another location within the memory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sz="2100" dirty="0"/>
              <a:t>needs run time address binding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endParaRPr lang="en-US" sz="2300" dirty="0">
              <a:latin typeface="Comic Sans MS" pitchFamily="66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31F4EA4-7DA4-1B06-6D2C-D09AA3B2B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166688"/>
            <a:ext cx="79089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kern="0" dirty="0"/>
              <a:t>External Fragmentation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CCA81B6-3784-4795-31E6-759DD0F69F3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Grp="1"/>
          </p:cNvSpPr>
          <p:nvPr>
            <p:ph type="body" idx="1"/>
          </p:nvPr>
        </p:nvSpPr>
        <p:spPr>
          <a:xfrm>
            <a:off x="359923" y="1031133"/>
            <a:ext cx="8511703" cy="546694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300" dirty="0"/>
              <a:t>To prevent External Fragmentation –  </a:t>
            </a:r>
            <a:r>
              <a:rPr lang="en-US" sz="2300" i="1" dirty="0">
                <a:solidFill>
                  <a:srgbClr val="C00000"/>
                </a:solidFill>
              </a:rPr>
              <a:t>page the segments 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2300" dirty="0"/>
              <a:t>Paging: 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100" dirty="0"/>
              <a:t>		</a:t>
            </a:r>
            <a:r>
              <a:rPr lang="en-US" sz="2100" i="1" dirty="0">
                <a:solidFill>
                  <a:srgbClr val="C00000"/>
                </a:solidFill>
              </a:rPr>
              <a:t>“every process had a Page Table”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100" dirty="0"/>
              <a:t>Page Table mapped pages to frames in physical memory</a:t>
            </a:r>
          </a:p>
          <a:p>
            <a:pPr>
              <a:lnSpc>
                <a:spcPct val="110000"/>
              </a:lnSpc>
              <a:spcBef>
                <a:spcPts val="2400"/>
              </a:spcBef>
            </a:pPr>
            <a:r>
              <a:rPr lang="en-US" sz="2300" b="1" dirty="0">
                <a:solidFill>
                  <a:srgbClr val="C00000"/>
                </a:solidFill>
              </a:rPr>
              <a:t>Paged Segmentation: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100" dirty="0"/>
              <a:t>every </a:t>
            </a:r>
            <a:r>
              <a:rPr lang="en-US" sz="2100" i="1" dirty="0">
                <a:solidFill>
                  <a:srgbClr val="C00000"/>
                </a:solidFill>
              </a:rPr>
              <a:t>segment</a:t>
            </a:r>
            <a:r>
              <a:rPr lang="en-US" sz="2100" dirty="0"/>
              <a:t> is further divided into </a:t>
            </a:r>
            <a:r>
              <a:rPr lang="en-US" sz="2100" i="1" dirty="0">
                <a:solidFill>
                  <a:srgbClr val="C00000"/>
                </a:solidFill>
              </a:rPr>
              <a:t>pages</a:t>
            </a:r>
          </a:p>
          <a:p>
            <a:pPr marL="45720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100" i="1" dirty="0">
                <a:solidFill>
                  <a:srgbClr val="C00000"/>
                </a:solidFill>
              </a:rPr>
              <a:t>		</a:t>
            </a:r>
            <a:r>
              <a:rPr lang="en-US" sz="2100" i="1" dirty="0">
                <a:solidFill>
                  <a:srgbClr val="0000CC"/>
                </a:solidFill>
              </a:rPr>
              <a:t>“every segment of a process has a Page Table”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sz="2100" dirty="0"/>
              <a:t>Page table maps </a:t>
            </a:r>
            <a:r>
              <a:rPr lang="en-US" sz="2100" i="1" dirty="0">
                <a:solidFill>
                  <a:srgbClr val="0000CC"/>
                </a:solidFill>
              </a:rPr>
              <a:t>segment pages </a:t>
            </a:r>
            <a:r>
              <a:rPr lang="en-US" sz="2100" dirty="0"/>
              <a:t>to </a:t>
            </a:r>
            <a:r>
              <a:rPr lang="en-US" sz="2100" i="1" dirty="0">
                <a:solidFill>
                  <a:srgbClr val="0000CC"/>
                </a:solidFill>
              </a:rPr>
              <a:t>frames</a:t>
            </a:r>
            <a:r>
              <a:rPr lang="en-US" sz="2100" dirty="0"/>
              <a:t> in physical memory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100" dirty="0"/>
              <a:t>So, each process has one </a:t>
            </a:r>
            <a:r>
              <a:rPr lang="en-US" sz="2100" i="1" dirty="0">
                <a:solidFill>
                  <a:srgbClr val="C00000"/>
                </a:solidFill>
              </a:rPr>
              <a:t>Segment</a:t>
            </a:r>
            <a:r>
              <a:rPr lang="en-US" sz="2100" dirty="0"/>
              <a:t> </a:t>
            </a:r>
            <a:r>
              <a:rPr lang="en-US" sz="2100" i="1" dirty="0">
                <a:solidFill>
                  <a:srgbClr val="C00000"/>
                </a:solidFill>
              </a:rPr>
              <a:t>Table</a:t>
            </a:r>
            <a:r>
              <a:rPr lang="en-US" sz="2100" dirty="0"/>
              <a:t>, &amp; multiple </a:t>
            </a:r>
            <a:r>
              <a:rPr lang="en-US" sz="2100" i="1" dirty="0">
                <a:solidFill>
                  <a:srgbClr val="C00000"/>
                </a:solidFill>
              </a:rPr>
              <a:t>Page</a:t>
            </a:r>
            <a:r>
              <a:rPr lang="en-US" sz="2100" dirty="0"/>
              <a:t> </a:t>
            </a:r>
            <a:r>
              <a:rPr lang="en-US" sz="2100" i="1" dirty="0">
                <a:solidFill>
                  <a:srgbClr val="C00000"/>
                </a:solidFill>
              </a:rPr>
              <a:t>Tables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2300" dirty="0"/>
              <a:t>No External fragmentation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E6D735-9714-EF43-0624-EC0ABA072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166688"/>
            <a:ext cx="79089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kern="0" dirty="0"/>
              <a:t>Paged Segmentation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E97988D-F133-E048-81E2-7F9300A35D6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87" name="Rectangle 23"/>
          <p:cNvSpPr>
            <a:spLocks noChangeArrowheads="1"/>
          </p:cNvSpPr>
          <p:nvPr/>
        </p:nvSpPr>
        <p:spPr bwMode="auto">
          <a:xfrm>
            <a:off x="3100807" y="3173009"/>
            <a:ext cx="936621" cy="70735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1747407" y="2508253"/>
            <a:ext cx="898525" cy="7858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1731530" y="2672210"/>
            <a:ext cx="1262062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Subroutine</a:t>
            </a:r>
          </a:p>
          <a:p>
            <a:pPr defTabSz="762000" eaLnBrk="0" latinLnBrk="1" hangingPunct="0">
              <a:lnSpc>
                <a:spcPct val="90000"/>
              </a:lnSpc>
            </a:pPr>
            <a:endParaRPr kumimoji="1" lang="en-US" altLang="ko-KR" sz="1200" b="1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1696605" y="2717804"/>
            <a:ext cx="18280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1731530" y="2886687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0</a:t>
            </a:r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2983495" y="2445123"/>
            <a:ext cx="609142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Stack</a:t>
            </a: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2802520" y="2615963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3</a:t>
            </a:r>
          </a:p>
        </p:txBody>
      </p:sp>
      <p:sp>
        <p:nvSpPr>
          <p:cNvPr id="88073" name="Rectangle 9"/>
          <p:cNvSpPr>
            <a:spLocks noChangeArrowheads="1"/>
          </p:cNvSpPr>
          <p:nvPr/>
        </p:nvSpPr>
        <p:spPr bwMode="auto">
          <a:xfrm>
            <a:off x="2858084" y="2449885"/>
            <a:ext cx="823913" cy="412751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88074" name="Rectangle 10"/>
          <p:cNvSpPr>
            <a:spLocks noChangeArrowheads="1"/>
          </p:cNvSpPr>
          <p:nvPr/>
        </p:nvSpPr>
        <p:spPr bwMode="auto">
          <a:xfrm>
            <a:off x="1499588" y="3791023"/>
            <a:ext cx="629982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SQRT</a:t>
            </a: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88075" name="Rectangle 11"/>
          <p:cNvSpPr>
            <a:spLocks noChangeArrowheads="1"/>
          </p:cNvSpPr>
          <p:nvPr/>
        </p:nvSpPr>
        <p:spPr bwMode="auto">
          <a:xfrm>
            <a:off x="1719679" y="3755623"/>
            <a:ext cx="18280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88076" name="Rectangle 12"/>
          <p:cNvSpPr>
            <a:spLocks noChangeArrowheads="1"/>
          </p:cNvSpPr>
          <p:nvPr/>
        </p:nvSpPr>
        <p:spPr bwMode="auto">
          <a:xfrm>
            <a:off x="1719679" y="3898497"/>
            <a:ext cx="18280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88077" name="Rectangle 13"/>
          <p:cNvSpPr>
            <a:spLocks noChangeArrowheads="1"/>
          </p:cNvSpPr>
          <p:nvPr/>
        </p:nvSpPr>
        <p:spPr bwMode="auto">
          <a:xfrm>
            <a:off x="1354553" y="4038401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1</a:t>
            </a:r>
          </a:p>
        </p:txBody>
      </p:sp>
      <p:sp>
        <p:nvSpPr>
          <p:cNvPr id="88078" name="Rectangle 14"/>
          <p:cNvSpPr>
            <a:spLocks noChangeArrowheads="1"/>
          </p:cNvSpPr>
          <p:nvPr/>
        </p:nvSpPr>
        <p:spPr bwMode="auto">
          <a:xfrm>
            <a:off x="1364080" y="3546074"/>
            <a:ext cx="898525" cy="104933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88079" name="Rectangle 15"/>
          <p:cNvSpPr>
            <a:spLocks noChangeArrowheads="1"/>
          </p:cNvSpPr>
          <p:nvPr/>
        </p:nvSpPr>
        <p:spPr bwMode="auto">
          <a:xfrm>
            <a:off x="2672956" y="4027898"/>
            <a:ext cx="52738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Main</a:t>
            </a: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88080" name="Rectangle 16"/>
          <p:cNvSpPr>
            <a:spLocks noChangeArrowheads="1"/>
          </p:cNvSpPr>
          <p:nvPr/>
        </p:nvSpPr>
        <p:spPr bwMode="auto">
          <a:xfrm>
            <a:off x="2549130" y="4167598"/>
            <a:ext cx="779060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Program</a:t>
            </a: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88081" name="Rectangle 17"/>
          <p:cNvSpPr>
            <a:spLocks noChangeArrowheads="1"/>
          </p:cNvSpPr>
          <p:nvPr/>
        </p:nvSpPr>
        <p:spPr bwMode="auto">
          <a:xfrm>
            <a:off x="2449117" y="4396197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Segment 2</a:t>
            </a:r>
          </a:p>
        </p:txBody>
      </p:sp>
      <p:sp>
        <p:nvSpPr>
          <p:cNvPr id="88082" name="Rectangle 18"/>
          <p:cNvSpPr>
            <a:spLocks noChangeArrowheads="1"/>
          </p:cNvSpPr>
          <p:nvPr/>
        </p:nvSpPr>
        <p:spPr bwMode="auto">
          <a:xfrm>
            <a:off x="3222433" y="3182535"/>
            <a:ext cx="70852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Symbol</a:t>
            </a: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88083" name="Rectangle 19"/>
          <p:cNvSpPr>
            <a:spLocks noChangeArrowheads="1"/>
          </p:cNvSpPr>
          <p:nvPr/>
        </p:nvSpPr>
        <p:spPr bwMode="auto">
          <a:xfrm>
            <a:off x="3284142" y="3351419"/>
            <a:ext cx="594716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Table</a:t>
            </a: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88084" name="Rectangle 20"/>
          <p:cNvSpPr>
            <a:spLocks noChangeArrowheads="1"/>
          </p:cNvSpPr>
          <p:nvPr/>
        </p:nvSpPr>
        <p:spPr bwMode="auto">
          <a:xfrm>
            <a:off x="3477042" y="3465110"/>
            <a:ext cx="18280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endParaRPr kumimoji="1" lang="en-US" altLang="ko-KR" sz="1200" b="1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  <a:p>
            <a:pPr defTabSz="762000" hangingPunct="0">
              <a:lnSpc>
                <a:spcPct val="90000"/>
              </a:lnSpc>
            </a:pPr>
            <a:endParaRPr kumimoji="1" lang="en-US" altLang="ko-KR" sz="1200" b="1" dirty="0">
              <a:solidFill>
                <a:srgbClr val="000000"/>
              </a:solidFill>
              <a:latin typeface="Comic Sans MS" pitchFamily="66" charset="0"/>
              <a:ea typeface="굴림" charset="-127"/>
            </a:endParaRPr>
          </a:p>
        </p:txBody>
      </p:sp>
      <p:sp>
        <p:nvSpPr>
          <p:cNvPr id="88085" name="Rectangle 21"/>
          <p:cNvSpPr>
            <a:spLocks noChangeArrowheads="1"/>
          </p:cNvSpPr>
          <p:nvPr/>
        </p:nvSpPr>
        <p:spPr bwMode="auto">
          <a:xfrm>
            <a:off x="3098404" y="3603222"/>
            <a:ext cx="97943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 dirty="0">
                <a:solidFill>
                  <a:srgbClr val="EE0000"/>
                </a:solidFill>
                <a:latin typeface="Comic Sans MS" pitchFamily="66" charset="0"/>
                <a:ea typeface="굴림" charset="-127"/>
              </a:rPr>
              <a:t>Segment 4</a:t>
            </a:r>
          </a:p>
        </p:txBody>
      </p:sp>
      <p:sp>
        <p:nvSpPr>
          <p:cNvPr id="88086" name="Rectangle 22"/>
          <p:cNvSpPr>
            <a:spLocks noChangeArrowheads="1"/>
          </p:cNvSpPr>
          <p:nvPr/>
        </p:nvSpPr>
        <p:spPr bwMode="auto">
          <a:xfrm>
            <a:off x="2461818" y="4029485"/>
            <a:ext cx="900113" cy="60483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88088" name="Oval 24"/>
          <p:cNvSpPr>
            <a:spLocks noChangeArrowheads="1"/>
          </p:cNvSpPr>
          <p:nvPr/>
        </p:nvSpPr>
        <p:spPr bwMode="auto">
          <a:xfrm>
            <a:off x="1025941" y="1961748"/>
            <a:ext cx="3236912" cy="3359151"/>
          </a:xfrm>
          <a:prstGeom prst="ellips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7000"/>
              </a:lnSpc>
            </a:pPr>
            <a:endParaRPr kumimoji="1" lang="en-US" sz="1200" b="1">
              <a:latin typeface="Comic Sans MS" pitchFamily="66" charset="0"/>
              <a:ea typeface="굴림" charset="-127"/>
            </a:endParaRPr>
          </a:p>
        </p:txBody>
      </p:sp>
      <p:sp>
        <p:nvSpPr>
          <p:cNvPr id="88089" name="Rectangle 59"/>
          <p:cNvSpPr>
            <a:spLocks noChangeArrowheads="1"/>
          </p:cNvSpPr>
          <p:nvPr/>
        </p:nvSpPr>
        <p:spPr bwMode="auto">
          <a:xfrm>
            <a:off x="1706978" y="4784322"/>
            <a:ext cx="185467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defTabSz="762000" eaLnBrk="0" hangingPunct="0">
              <a:lnSpc>
                <a:spcPct val="90000"/>
              </a:lnSpc>
            </a:pPr>
            <a:r>
              <a:rPr kumimoji="1" lang="en-US" altLang="ko-KR" sz="1200" b="1">
                <a:solidFill>
                  <a:srgbClr val="000000"/>
                </a:solidFill>
                <a:latin typeface="Comic Sans MS" pitchFamily="66" charset="0"/>
                <a:ea typeface="굴림" charset="-127"/>
              </a:rPr>
              <a:t>Logical Address Space</a:t>
            </a:r>
          </a:p>
        </p:txBody>
      </p:sp>
      <p:graphicFrame>
        <p:nvGraphicFramePr>
          <p:cNvPr id="254078" name="Group 126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625546198"/>
              </p:ext>
            </p:extLst>
          </p:nvPr>
        </p:nvGraphicFramePr>
        <p:xfrm>
          <a:off x="4774639" y="3142238"/>
          <a:ext cx="993775" cy="1654180"/>
        </p:xfrm>
        <a:graphic>
          <a:graphicData uri="http://schemas.openxmlformats.org/drawingml/2006/table">
            <a:tbl>
              <a:tblPr/>
              <a:tblGrid>
                <a:gridCol w="99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4339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1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9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126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1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8102" name="Text Box 125"/>
          <p:cNvSpPr txBox="1">
            <a:spLocks noChangeArrowheads="1"/>
          </p:cNvSpPr>
          <p:nvPr/>
        </p:nvSpPr>
        <p:spPr bwMode="auto">
          <a:xfrm>
            <a:off x="4468019" y="3281861"/>
            <a:ext cx="279244" cy="149560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7000"/>
              </a:lnSpc>
            </a:pPr>
            <a:r>
              <a:rPr kumimoji="1" lang="en-US" sz="1200" dirty="0">
                <a:latin typeface="Comic Sans MS" pitchFamily="66" charset="0"/>
                <a:ea typeface="굴림" charset="-127"/>
              </a:rPr>
              <a:t>0</a:t>
            </a:r>
          </a:p>
          <a:p>
            <a:pPr eaLnBrk="0" hangingPunct="0">
              <a:lnSpc>
                <a:spcPct val="97000"/>
              </a:lnSpc>
            </a:pPr>
            <a:endParaRPr kumimoji="1" lang="en-US" sz="1600" dirty="0">
              <a:latin typeface="Comic Sans MS" pitchFamily="66" charset="0"/>
              <a:ea typeface="굴림" charset="-127"/>
            </a:endParaRPr>
          </a:p>
          <a:p>
            <a:pPr eaLnBrk="0" hangingPunct="0">
              <a:lnSpc>
                <a:spcPct val="97000"/>
              </a:lnSpc>
            </a:pPr>
            <a:r>
              <a:rPr kumimoji="1" lang="en-US" sz="1200" dirty="0">
                <a:latin typeface="Comic Sans MS" pitchFamily="66" charset="0"/>
                <a:ea typeface="굴림" charset="-127"/>
              </a:rPr>
              <a:t>1</a:t>
            </a:r>
          </a:p>
          <a:p>
            <a:pPr eaLnBrk="0" hangingPunct="0">
              <a:lnSpc>
                <a:spcPct val="97000"/>
              </a:lnSpc>
            </a:pPr>
            <a:endParaRPr kumimoji="1" lang="en-US" sz="1400" dirty="0">
              <a:latin typeface="Comic Sans MS" pitchFamily="66" charset="0"/>
              <a:ea typeface="굴림" charset="-127"/>
            </a:endParaRPr>
          </a:p>
          <a:p>
            <a:pPr eaLnBrk="0" hangingPunct="0">
              <a:lnSpc>
                <a:spcPct val="97000"/>
              </a:lnSpc>
            </a:pPr>
            <a:r>
              <a:rPr kumimoji="1" lang="en-US" sz="1200" dirty="0">
                <a:latin typeface="Comic Sans MS" pitchFamily="66" charset="0"/>
                <a:ea typeface="굴림" charset="-127"/>
              </a:rPr>
              <a:t>2</a:t>
            </a:r>
          </a:p>
          <a:p>
            <a:pPr eaLnBrk="0" hangingPunct="0">
              <a:lnSpc>
                <a:spcPct val="97000"/>
              </a:lnSpc>
            </a:pPr>
            <a:endParaRPr kumimoji="1" lang="en-US" sz="1600" dirty="0">
              <a:latin typeface="Comic Sans MS" pitchFamily="66" charset="0"/>
              <a:ea typeface="굴림" charset="-127"/>
            </a:endParaRPr>
          </a:p>
          <a:p>
            <a:pPr eaLnBrk="0" hangingPunct="0">
              <a:lnSpc>
                <a:spcPct val="97000"/>
              </a:lnSpc>
            </a:pPr>
            <a:r>
              <a:rPr kumimoji="1" lang="en-US" sz="1200" dirty="0">
                <a:latin typeface="Comic Sans MS" pitchFamily="66" charset="0"/>
                <a:ea typeface="굴림" charset="-127"/>
              </a:rPr>
              <a:t>3</a:t>
            </a:r>
          </a:p>
        </p:txBody>
      </p:sp>
      <p:sp>
        <p:nvSpPr>
          <p:cNvPr id="88103" name="Text Box 127"/>
          <p:cNvSpPr txBox="1">
            <a:spLocks noChangeArrowheads="1"/>
          </p:cNvSpPr>
          <p:nvPr/>
        </p:nvSpPr>
        <p:spPr bwMode="auto">
          <a:xfrm>
            <a:off x="4489867" y="5008160"/>
            <a:ext cx="1404552" cy="36099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7000"/>
              </a:lnSpc>
            </a:pPr>
            <a:r>
              <a:rPr kumimoji="1" lang="en-US" b="1" dirty="0">
                <a:latin typeface="Comic Sans MS" pitchFamily="66" charset="0"/>
                <a:ea typeface="굴림" charset="-127"/>
              </a:rPr>
              <a:t>Page Table</a:t>
            </a:r>
          </a:p>
        </p:txBody>
      </p:sp>
      <p:sp>
        <p:nvSpPr>
          <p:cNvPr id="88104" name="Line 128"/>
          <p:cNvSpPr>
            <a:spLocks noChangeShapeType="1"/>
          </p:cNvSpPr>
          <p:nvPr/>
        </p:nvSpPr>
        <p:spPr bwMode="auto">
          <a:xfrm flipV="1">
            <a:off x="4026318" y="3261909"/>
            <a:ext cx="642937" cy="1905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8105" name="Line 129"/>
          <p:cNvSpPr>
            <a:spLocks noChangeShapeType="1"/>
          </p:cNvSpPr>
          <p:nvPr/>
        </p:nvSpPr>
        <p:spPr bwMode="auto">
          <a:xfrm>
            <a:off x="4039765" y="3734237"/>
            <a:ext cx="681037" cy="8175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8106" name="Line 130"/>
          <p:cNvSpPr>
            <a:spLocks noChangeShapeType="1"/>
          </p:cNvSpPr>
          <p:nvPr/>
        </p:nvSpPr>
        <p:spPr bwMode="auto">
          <a:xfrm>
            <a:off x="4045368" y="3398434"/>
            <a:ext cx="642937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8107" name="Line 131"/>
          <p:cNvSpPr>
            <a:spLocks noChangeShapeType="1"/>
          </p:cNvSpPr>
          <p:nvPr/>
        </p:nvSpPr>
        <p:spPr bwMode="auto">
          <a:xfrm>
            <a:off x="4026318" y="3554009"/>
            <a:ext cx="720725" cy="58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138531" name="Group 2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373458"/>
              </p:ext>
            </p:extLst>
          </p:nvPr>
        </p:nvGraphicFramePr>
        <p:xfrm>
          <a:off x="6705600" y="1674787"/>
          <a:ext cx="1267756" cy="5029200"/>
        </p:xfrm>
        <a:graphic>
          <a:graphicData uri="http://schemas.openxmlformats.org/drawingml/2006/table">
            <a:tbl>
              <a:tblPr/>
              <a:tblGrid>
                <a:gridCol w="1267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8527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527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527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527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1962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-</a:t>
                      </a:r>
                    </a:p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-</a:t>
                      </a:r>
                    </a:p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527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0901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-</a:t>
                      </a:r>
                    </a:p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-</a:t>
                      </a:r>
                    </a:p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7235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527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8130" name="Text Box 105"/>
          <p:cNvSpPr txBox="1">
            <a:spLocks noChangeArrowheads="1"/>
          </p:cNvSpPr>
          <p:nvPr/>
        </p:nvSpPr>
        <p:spPr bwMode="auto">
          <a:xfrm>
            <a:off x="6404532" y="1700254"/>
            <a:ext cx="284052" cy="155510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7000"/>
              </a:lnSpc>
            </a:pPr>
            <a:r>
              <a:rPr kumimoji="1" lang="en-US" sz="1400" dirty="0">
                <a:ea typeface="굴림" charset="-127"/>
              </a:rPr>
              <a:t>0</a:t>
            </a:r>
          </a:p>
          <a:p>
            <a:pPr eaLnBrk="0" hangingPunct="0">
              <a:lnSpc>
                <a:spcPct val="97000"/>
              </a:lnSpc>
            </a:pPr>
            <a:endParaRPr kumimoji="1" lang="en-US" sz="1400" dirty="0">
              <a:ea typeface="굴림" charset="-127"/>
            </a:endParaRPr>
          </a:p>
          <a:p>
            <a:pPr eaLnBrk="0" hangingPunct="0">
              <a:lnSpc>
                <a:spcPct val="97000"/>
              </a:lnSpc>
            </a:pPr>
            <a:r>
              <a:rPr kumimoji="1" lang="en-US" sz="1400" dirty="0">
                <a:ea typeface="굴림" charset="-127"/>
              </a:rPr>
              <a:t>1</a:t>
            </a:r>
          </a:p>
          <a:p>
            <a:pPr eaLnBrk="0" hangingPunct="0">
              <a:lnSpc>
                <a:spcPct val="97000"/>
              </a:lnSpc>
            </a:pPr>
            <a:endParaRPr kumimoji="1" lang="en-US" sz="1400" dirty="0">
              <a:ea typeface="굴림" charset="-127"/>
            </a:endParaRPr>
          </a:p>
          <a:p>
            <a:pPr eaLnBrk="0" hangingPunct="0">
              <a:lnSpc>
                <a:spcPct val="97000"/>
              </a:lnSpc>
            </a:pPr>
            <a:r>
              <a:rPr kumimoji="1" lang="en-US" sz="1400" dirty="0">
                <a:ea typeface="굴림" charset="-127"/>
              </a:rPr>
              <a:t>2</a:t>
            </a:r>
          </a:p>
          <a:p>
            <a:pPr eaLnBrk="0" hangingPunct="0">
              <a:lnSpc>
                <a:spcPct val="97000"/>
              </a:lnSpc>
            </a:pPr>
            <a:endParaRPr kumimoji="1" lang="en-US" sz="1400" dirty="0">
              <a:ea typeface="굴림" charset="-127"/>
            </a:endParaRPr>
          </a:p>
          <a:p>
            <a:pPr eaLnBrk="0" hangingPunct="0">
              <a:lnSpc>
                <a:spcPct val="97000"/>
              </a:lnSpc>
            </a:pPr>
            <a:r>
              <a:rPr kumimoji="1" lang="en-US" sz="1400" dirty="0">
                <a:ea typeface="굴림" charset="-127"/>
              </a:rPr>
              <a:t>3</a:t>
            </a:r>
          </a:p>
        </p:txBody>
      </p:sp>
      <p:sp>
        <p:nvSpPr>
          <p:cNvPr id="88131" name="Text Box 106"/>
          <p:cNvSpPr txBox="1">
            <a:spLocks noChangeArrowheads="1"/>
          </p:cNvSpPr>
          <p:nvPr/>
        </p:nvSpPr>
        <p:spPr bwMode="auto">
          <a:xfrm>
            <a:off x="6252132" y="4214854"/>
            <a:ext cx="383438" cy="5102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7000"/>
              </a:lnSpc>
            </a:pPr>
            <a:endParaRPr kumimoji="1" lang="en-US" sz="1400" dirty="0">
              <a:ea typeface="굴림" charset="-127"/>
            </a:endParaRPr>
          </a:p>
          <a:p>
            <a:pPr eaLnBrk="0" hangingPunct="0">
              <a:lnSpc>
                <a:spcPct val="97000"/>
              </a:lnSpc>
            </a:pPr>
            <a:r>
              <a:rPr kumimoji="1" lang="en-US" sz="1400" dirty="0">
                <a:ea typeface="굴림" charset="-127"/>
              </a:rPr>
              <a:t>10</a:t>
            </a:r>
          </a:p>
        </p:txBody>
      </p:sp>
      <p:sp>
        <p:nvSpPr>
          <p:cNvPr id="88132" name="Text Box 107"/>
          <p:cNvSpPr txBox="1">
            <a:spLocks noChangeArrowheads="1"/>
          </p:cNvSpPr>
          <p:nvPr/>
        </p:nvSpPr>
        <p:spPr bwMode="auto">
          <a:xfrm>
            <a:off x="6175932" y="5738854"/>
            <a:ext cx="482824" cy="5102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7000"/>
              </a:lnSpc>
            </a:pPr>
            <a:endParaRPr kumimoji="1" lang="en-US" sz="1400" dirty="0">
              <a:ea typeface="굴림" charset="-127"/>
            </a:endParaRPr>
          </a:p>
          <a:p>
            <a:pPr eaLnBrk="0" hangingPunct="0">
              <a:lnSpc>
                <a:spcPct val="97000"/>
              </a:lnSpc>
            </a:pPr>
            <a:r>
              <a:rPr kumimoji="1" lang="en-US" sz="1400" dirty="0">
                <a:ea typeface="굴림" charset="-127"/>
              </a:rPr>
              <a:t>126</a:t>
            </a:r>
          </a:p>
        </p:txBody>
      </p:sp>
      <p:sp>
        <p:nvSpPr>
          <p:cNvPr id="40" name="Text Box 132"/>
          <p:cNvSpPr txBox="1">
            <a:spLocks noChangeArrowheads="1"/>
          </p:cNvSpPr>
          <p:nvPr/>
        </p:nvSpPr>
        <p:spPr bwMode="auto">
          <a:xfrm>
            <a:off x="334126" y="1047724"/>
            <a:ext cx="8158119" cy="73866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kumimoji="1"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Here we have divided segment 4 into four pages, and kept that info in page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686C5-F779-42CD-9B4D-2025617C8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166688"/>
            <a:ext cx="79089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kern="0" dirty="0"/>
              <a:t>Paged Segmentation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78F10EA-B62C-5B02-FD4F-05FCA98408D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/>
          <p:cNvSpPr>
            <a:spLocks noGrp="1"/>
          </p:cNvSpPr>
          <p:nvPr>
            <p:ph type="body" idx="1"/>
          </p:nvPr>
        </p:nvSpPr>
        <p:spPr>
          <a:xfrm>
            <a:off x="408562" y="1145404"/>
            <a:ext cx="8414426" cy="2648697"/>
          </a:xfrm>
        </p:spPr>
        <p:txBody>
          <a:bodyPr/>
          <a:lstStyle/>
          <a:p>
            <a:pPr defTabSz="779463">
              <a:lnSpc>
                <a:spcPct val="90000"/>
              </a:lnSpc>
            </a:pPr>
            <a:r>
              <a:rPr kumimoji="1" lang="en-US" altLang="zh-TW" sz="2000" dirty="0">
                <a:ea typeface="Calibri" panose="020F0502020204030204" pitchFamily="34" charset="0"/>
              </a:rPr>
              <a:t>Logical address </a:t>
            </a:r>
            <a:r>
              <a:rPr kumimoji="1" lang="en-US" altLang="zh-TW" sz="2000" dirty="0">
                <a:solidFill>
                  <a:srgbClr val="C00000"/>
                </a:solidFill>
                <a:ea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kumimoji="1" lang="en-US" altLang="zh-TW" sz="2000" dirty="0">
                <a:solidFill>
                  <a:srgbClr val="C00000"/>
                </a:solidFill>
                <a:ea typeface="Calibri" panose="020F0502020204030204" pitchFamily="34" charset="0"/>
              </a:rPr>
              <a:t>s, d) 	</a:t>
            </a:r>
            <a:r>
              <a:rPr lang="en-US" altLang="zh-TW" sz="2000" dirty="0">
                <a:ea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zh-TW" sz="2000" b="1" dirty="0">
                <a:solidFill>
                  <a:srgbClr val="FF0000"/>
                </a:solidFill>
                <a:ea typeface="Calibri" panose="020F0502020204030204" pitchFamily="34" charset="0"/>
              </a:rPr>
              <a:t>   </a:t>
            </a:r>
            <a:r>
              <a:rPr kumimoji="1" lang="en-US" altLang="zh-TW" sz="2000" dirty="0">
                <a:solidFill>
                  <a:srgbClr val="C00000"/>
                </a:solidFill>
                <a:ea typeface="Calibri" panose="020F0502020204030204" pitchFamily="34" charset="0"/>
              </a:rPr>
              <a:t>s</a:t>
            </a:r>
            <a:r>
              <a:rPr kumimoji="1" lang="en-US" altLang="zh-TW" sz="2000" dirty="0">
                <a:ea typeface="Calibri" panose="020F0502020204030204" pitchFamily="34" charset="0"/>
              </a:rPr>
              <a:t> index into seg table</a:t>
            </a:r>
          </a:p>
          <a:p>
            <a:pPr marL="0" indent="0" defTabSz="779463">
              <a:lnSpc>
                <a:spcPct val="90000"/>
              </a:lnSpc>
              <a:buNone/>
            </a:pPr>
            <a:r>
              <a:rPr kumimoji="1" lang="en-US" altLang="zh-TW" sz="2000" dirty="0">
                <a:ea typeface="Calibri" panose="020F0502020204030204" pitchFamily="34" charset="0"/>
              </a:rPr>
              <a:t>				</a:t>
            </a:r>
            <a:r>
              <a:rPr kumimoji="1" lang="en-US" altLang="zh-TW" sz="2000" dirty="0">
                <a:ea typeface="Calibri" panose="020F0502020204030204" pitchFamily="34" charset="0"/>
                <a:sym typeface="Symbol" panose="05050102010706020507" pitchFamily="18" charset="2"/>
              </a:rPr>
              <a:t>       </a:t>
            </a:r>
            <a:r>
              <a:rPr lang="en-US" altLang="zh-TW" sz="2000" dirty="0">
                <a:solidFill>
                  <a:srgbClr val="C00000"/>
                </a:solidFill>
                <a:ea typeface="Calibri" panose="020F0502020204030204" pitchFamily="34" charset="0"/>
              </a:rPr>
              <a:t>d</a:t>
            </a:r>
            <a:r>
              <a:rPr lang="en-US" altLang="zh-TW" sz="2000" dirty="0">
                <a:ea typeface="Calibri" panose="020F0502020204030204" pitchFamily="34" charset="0"/>
              </a:rPr>
              <a:t> offset within the segment</a:t>
            </a:r>
            <a:endParaRPr kumimoji="1" lang="en-US" altLang="zh-TW" sz="2000" dirty="0">
              <a:solidFill>
                <a:srgbClr val="C00000"/>
              </a:solidFill>
              <a:ea typeface="Calibri" panose="020F0502020204030204" pitchFamily="34" charset="0"/>
            </a:endParaRPr>
          </a:p>
          <a:p>
            <a:pPr defTabSz="779463">
              <a:lnSpc>
                <a:spcPct val="90000"/>
              </a:lnSpc>
            </a:pPr>
            <a:r>
              <a:rPr kumimoji="1" lang="en-US" altLang="zh-TW" sz="2000" dirty="0">
                <a:ea typeface="Calibri" panose="020F0502020204030204" pitchFamily="34" charset="0"/>
              </a:rPr>
              <a:t>Seg offset </a:t>
            </a:r>
            <a:r>
              <a:rPr kumimoji="1" lang="en-US" altLang="zh-TW" sz="2000" dirty="0">
                <a:solidFill>
                  <a:srgbClr val="C00000"/>
                </a:solidFill>
                <a:ea typeface="Calibri" panose="020F0502020204030204" pitchFamily="34" charset="0"/>
              </a:rPr>
              <a:t>d</a:t>
            </a:r>
            <a:r>
              <a:rPr kumimoji="1" lang="en-US" altLang="zh-TW" sz="2000" dirty="0">
                <a:ea typeface="Calibri" panose="020F0502020204030204" pitchFamily="34" charset="0"/>
              </a:rPr>
              <a:t> has two parts 	</a:t>
            </a:r>
            <a:r>
              <a:rPr lang="en-US" altLang="zh-TW" sz="2000" dirty="0">
                <a:ea typeface="Calibri" panose="020F0502020204030204" pitchFamily="34" charset="0"/>
                <a:sym typeface="Symbol" panose="05050102010706020507" pitchFamily="18" charset="2"/>
              </a:rPr>
              <a:t> </a:t>
            </a:r>
            <a:r>
              <a:rPr kumimoji="1" lang="en-US" altLang="zh-TW" sz="2000" dirty="0">
                <a:ea typeface="Calibri" panose="020F0502020204030204" pitchFamily="34" charset="0"/>
              </a:rPr>
              <a:t> </a:t>
            </a:r>
            <a:r>
              <a:rPr kumimoji="1" lang="en-US" altLang="zh-TW" sz="2000" dirty="0">
                <a:solidFill>
                  <a:srgbClr val="C00000"/>
                </a:solidFill>
                <a:ea typeface="Calibri" panose="020F0502020204030204" pitchFamily="34" charset="0"/>
              </a:rPr>
              <a:t>p </a:t>
            </a:r>
            <a:r>
              <a:rPr kumimoji="1" lang="en-US" altLang="zh-TW" sz="2000" dirty="0">
                <a:ea typeface="Calibri" panose="020F0502020204030204" pitchFamily="34" charset="0"/>
              </a:rPr>
              <a:t>&amp;</a:t>
            </a:r>
            <a:r>
              <a:rPr kumimoji="1" lang="en-US" altLang="zh-TW" sz="2000" dirty="0">
                <a:solidFill>
                  <a:srgbClr val="C00000"/>
                </a:solidFill>
                <a:ea typeface="Calibri" panose="020F0502020204030204" pitchFamily="34" charset="0"/>
              </a:rPr>
              <a:t> d’</a:t>
            </a:r>
          </a:p>
          <a:p>
            <a:pPr marL="0" indent="0" defTabSz="779463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rgbClr val="C00000"/>
                </a:solidFill>
                <a:ea typeface="Calibri" panose="020F0502020204030204" pitchFamily="34" charset="0"/>
              </a:rPr>
              <a:t>				</a:t>
            </a:r>
            <a:r>
              <a:rPr lang="en-US" altLang="zh-TW" sz="2000" dirty="0">
                <a:solidFill>
                  <a:srgbClr val="C00000"/>
                </a:solidFill>
                <a:ea typeface="Calibri" panose="020F0502020204030204" pitchFamily="34" charset="0"/>
                <a:sym typeface="Symbol" panose="05050102010706020507" pitchFamily="18" charset="2"/>
              </a:rPr>
              <a:t>       </a:t>
            </a:r>
            <a:r>
              <a:rPr kumimoji="1" lang="en-US" altLang="zh-TW" sz="2000" dirty="0">
                <a:solidFill>
                  <a:srgbClr val="C00000"/>
                </a:solidFill>
                <a:ea typeface="Calibri" panose="020F0502020204030204" pitchFamily="34" charset="0"/>
              </a:rPr>
              <a:t>p</a:t>
            </a:r>
            <a:r>
              <a:rPr kumimoji="1" lang="en-US" altLang="zh-TW" sz="2000" dirty="0">
                <a:solidFill>
                  <a:srgbClr val="EF241F"/>
                </a:solidFill>
                <a:ea typeface="Calibri" panose="020F0502020204030204" pitchFamily="34" charset="0"/>
              </a:rPr>
              <a:t> </a:t>
            </a:r>
            <a:r>
              <a:rPr kumimoji="1" lang="en-US" altLang="zh-TW" sz="2000" dirty="0">
                <a:ea typeface="Calibri" panose="020F0502020204030204" pitchFamily="34" charset="0"/>
              </a:rPr>
              <a:t>index into page table </a:t>
            </a:r>
            <a:r>
              <a:rPr kumimoji="1" lang="en-US" altLang="zh-TW" sz="2000" i="1" dirty="0">
                <a:ea typeface="Calibri" panose="020F0502020204030204" pitchFamily="34" charset="0"/>
              </a:rPr>
              <a:t>(</a:t>
            </a:r>
            <a:r>
              <a:rPr lang="en-US" altLang="zh-TW" sz="2000" i="1" dirty="0">
                <a:ea typeface="Calibri" panose="020F0502020204030204" pitchFamily="34" charset="0"/>
              </a:rPr>
              <a:t>for</a:t>
            </a:r>
            <a:r>
              <a:rPr kumimoji="1" lang="en-US" altLang="zh-TW" sz="2000" i="1" dirty="0">
                <a:ea typeface="Calibri" panose="020F0502020204030204" pitchFamily="34" charset="0"/>
              </a:rPr>
              <a:t> segment </a:t>
            </a:r>
            <a:r>
              <a:rPr kumimoji="1" lang="en-US" altLang="zh-TW" sz="2000" i="1" dirty="0">
                <a:solidFill>
                  <a:srgbClr val="EF241F"/>
                </a:solidFill>
                <a:ea typeface="Calibri" panose="020F0502020204030204" pitchFamily="34" charset="0"/>
              </a:rPr>
              <a:t>s</a:t>
            </a:r>
            <a:r>
              <a:rPr lang="en-US" altLang="zh-TW" sz="2000" i="1" dirty="0">
                <a:ea typeface="Calibri" panose="020F0502020204030204" pitchFamily="34" charset="0"/>
              </a:rPr>
              <a:t>)</a:t>
            </a:r>
            <a:br>
              <a:rPr lang="en-US" altLang="zh-TW" sz="2000" dirty="0">
                <a:ea typeface="Calibri" panose="020F0502020204030204" pitchFamily="34" charset="0"/>
              </a:rPr>
            </a:br>
            <a:r>
              <a:rPr lang="en-US" altLang="zh-TW" sz="2000" dirty="0">
                <a:ea typeface="Calibri" panose="020F0502020204030204" pitchFamily="34" charset="0"/>
              </a:rPr>
              <a:t>				</a:t>
            </a:r>
            <a:r>
              <a:rPr lang="en-US" altLang="zh-TW" sz="2000">
                <a:ea typeface="Calibri" panose="020F0502020204030204" pitchFamily="34" charset="0"/>
              </a:rPr>
              <a:t>       to retrieve </a:t>
            </a:r>
            <a:r>
              <a:rPr lang="en-US" altLang="zh-TW" sz="2000" dirty="0">
                <a:ea typeface="Calibri" panose="020F0502020204030204" pitchFamily="34" charset="0"/>
              </a:rPr>
              <a:t>frame number </a:t>
            </a:r>
            <a:r>
              <a:rPr lang="en-US" altLang="zh-TW" sz="2000" dirty="0">
                <a:solidFill>
                  <a:srgbClr val="EF241F"/>
                </a:solidFill>
                <a:ea typeface="Calibri" panose="020F0502020204030204" pitchFamily="34" charset="0"/>
              </a:rPr>
              <a:t>f</a:t>
            </a:r>
            <a:endParaRPr kumimoji="1" lang="en-US" altLang="zh-TW" sz="2000" dirty="0">
              <a:solidFill>
                <a:srgbClr val="EF241F"/>
              </a:solidFill>
              <a:ea typeface="Calibri" panose="020F0502020204030204" pitchFamily="34" charset="0"/>
            </a:endParaRPr>
          </a:p>
          <a:p>
            <a:pPr marL="0" indent="0" defTabSz="779463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rgbClr val="EF241F"/>
                </a:solidFill>
                <a:ea typeface="Calibri" panose="020F0502020204030204" pitchFamily="34" charset="0"/>
              </a:rPr>
              <a:t>				</a:t>
            </a:r>
            <a:r>
              <a:rPr lang="en-US" altLang="zh-TW" sz="2000" dirty="0">
                <a:solidFill>
                  <a:srgbClr val="EF241F"/>
                </a:solidFill>
                <a:ea typeface="Calibri" panose="020F0502020204030204" pitchFamily="34" charset="0"/>
                <a:sym typeface="Symbol" panose="05050102010706020507" pitchFamily="18" charset="2"/>
              </a:rPr>
              <a:t>       </a:t>
            </a:r>
            <a:r>
              <a:rPr kumimoji="1" lang="en-US" altLang="zh-TW" sz="2000" dirty="0">
                <a:solidFill>
                  <a:srgbClr val="C00000"/>
                </a:solidFill>
                <a:ea typeface="Calibri" panose="020F0502020204030204" pitchFamily="34" charset="0"/>
              </a:rPr>
              <a:t>d’</a:t>
            </a:r>
            <a:r>
              <a:rPr kumimoji="1" lang="en-US" altLang="zh-TW" sz="2000" dirty="0">
                <a:solidFill>
                  <a:schemeClr val="bg2"/>
                </a:solidFill>
                <a:ea typeface="Calibri" panose="020F0502020204030204" pitchFamily="34" charset="0"/>
              </a:rPr>
              <a:t> </a:t>
            </a:r>
            <a:r>
              <a:rPr kumimoji="1" lang="en-US" altLang="zh-TW" sz="2000" dirty="0">
                <a:ea typeface="Calibri" panose="020F0502020204030204" pitchFamily="34" charset="0"/>
              </a:rPr>
              <a:t>offset within the page</a:t>
            </a:r>
          </a:p>
          <a:p>
            <a:pPr defTabSz="779463">
              <a:lnSpc>
                <a:spcPct val="90000"/>
              </a:lnSpc>
            </a:pPr>
            <a:r>
              <a:rPr kumimoji="1" lang="en-US" altLang="zh-TW" sz="2000" dirty="0">
                <a:ea typeface="Calibri" panose="020F0502020204030204" pitchFamily="34" charset="0"/>
              </a:rPr>
              <a:t>Physical address </a:t>
            </a:r>
            <a:r>
              <a:rPr lang="en-US" altLang="zh-TW" sz="2000" dirty="0">
                <a:ea typeface="Calibri" panose="020F0502020204030204" pitchFamily="34" charset="0"/>
              </a:rPr>
              <a:t>is formed </a:t>
            </a:r>
            <a:r>
              <a:rPr lang="en-US" altLang="zh-TW" sz="2000" dirty="0">
                <a:ea typeface="Calibri" panose="020F0502020204030204" pitchFamily="34" charset="0"/>
                <a:sym typeface="Symbol" panose="05050102010706020507" pitchFamily="18" charset="2"/>
              </a:rPr>
              <a:t>   </a:t>
            </a:r>
            <a:r>
              <a:rPr kumimoji="1" lang="en-US" altLang="zh-TW" sz="2000" dirty="0">
                <a:solidFill>
                  <a:srgbClr val="C00000"/>
                </a:solidFill>
                <a:ea typeface="Calibri" panose="020F0502020204030204" pitchFamily="34" charset="0"/>
              </a:rPr>
              <a:t>(f, d’)</a:t>
            </a:r>
            <a:endParaRPr kumimoji="1" lang="en-US" altLang="zh-TW" sz="2000" dirty="0">
              <a:ea typeface="Calibri" panose="020F0502020204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F7CE849-9EE9-3F02-68F2-D07B3F62529A}"/>
              </a:ext>
            </a:extLst>
          </p:cNvPr>
          <p:cNvGrpSpPr/>
          <p:nvPr/>
        </p:nvGrpSpPr>
        <p:grpSpPr>
          <a:xfrm>
            <a:off x="973576" y="4244214"/>
            <a:ext cx="7391400" cy="1795025"/>
            <a:chOff x="838200" y="4049672"/>
            <a:chExt cx="7391400" cy="1795025"/>
          </a:xfrm>
        </p:grpSpPr>
        <p:sp>
          <p:nvSpPr>
            <p:cNvPr id="89092" name="Rectangle 46"/>
            <p:cNvSpPr>
              <a:spLocks noChangeArrowheads="1"/>
            </p:cNvSpPr>
            <p:nvPr/>
          </p:nvSpPr>
          <p:spPr bwMode="auto">
            <a:xfrm>
              <a:off x="838200" y="4049673"/>
              <a:ext cx="7315200" cy="42358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lnSpc>
                  <a:spcPct val="97000"/>
                </a:lnSpc>
              </a:pPr>
              <a:endParaRPr kumimoji="1" lang="en-US" sz="1600" b="1">
                <a:solidFill>
                  <a:schemeClr val="bg2"/>
                </a:solidFill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89093" name="Text Box 47"/>
            <p:cNvSpPr txBox="1">
              <a:spLocks noChangeArrowheads="1"/>
            </p:cNvSpPr>
            <p:nvPr/>
          </p:nvSpPr>
          <p:spPr bwMode="auto">
            <a:xfrm>
              <a:off x="1219200" y="4092650"/>
              <a:ext cx="2057400" cy="3311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97000"/>
                </a:lnSpc>
                <a:spcBef>
                  <a:spcPct val="50000"/>
                </a:spcBef>
              </a:pPr>
              <a:r>
                <a:rPr kumimoji="1" lang="en-US" sz="1600" b="1" dirty="0">
                  <a:latin typeface="Comic Sans MS" pitchFamily="66" charset="0"/>
                  <a:ea typeface="굴림" charset="-127"/>
                </a:rPr>
                <a:t>s</a:t>
              </a:r>
            </a:p>
          </p:txBody>
        </p:sp>
        <p:sp>
          <p:nvSpPr>
            <p:cNvPr id="89094" name="Text Box 48"/>
            <p:cNvSpPr txBox="1">
              <a:spLocks noChangeArrowheads="1"/>
            </p:cNvSpPr>
            <p:nvPr/>
          </p:nvSpPr>
          <p:spPr bwMode="auto">
            <a:xfrm>
              <a:off x="4572000" y="4092650"/>
              <a:ext cx="2971800" cy="3311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97000"/>
                </a:lnSpc>
                <a:spcBef>
                  <a:spcPct val="50000"/>
                </a:spcBef>
              </a:pPr>
              <a:r>
                <a:rPr kumimoji="1" lang="en-US" sz="1600" b="1">
                  <a:latin typeface="Comic Sans MS" pitchFamily="66" charset="0"/>
                  <a:ea typeface="굴림" charset="-127"/>
                </a:rPr>
                <a:t>d</a:t>
              </a:r>
            </a:p>
          </p:txBody>
        </p:sp>
        <p:sp>
          <p:nvSpPr>
            <p:cNvPr id="9" name="Line 49"/>
            <p:cNvSpPr>
              <a:spLocks noChangeShapeType="1"/>
            </p:cNvSpPr>
            <p:nvPr/>
          </p:nvSpPr>
          <p:spPr bwMode="auto">
            <a:xfrm>
              <a:off x="3505200" y="4049672"/>
              <a:ext cx="0" cy="423583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7000"/>
                </a:lnSpc>
                <a:defRPr/>
              </a:pPr>
              <a:endParaRPr kumimoji="1" lang="en-US" sz="1050" b="1">
                <a:latin typeface="Arial" pitchFamily="34" charset="0"/>
                <a:ea typeface="굴림" charset="-127"/>
              </a:endParaRPr>
            </a:p>
          </p:txBody>
        </p:sp>
        <p:sp>
          <p:nvSpPr>
            <p:cNvPr id="89096" name="Rectangle 50"/>
            <p:cNvSpPr>
              <a:spLocks noChangeArrowheads="1"/>
            </p:cNvSpPr>
            <p:nvPr/>
          </p:nvSpPr>
          <p:spPr bwMode="auto">
            <a:xfrm>
              <a:off x="3505200" y="4903914"/>
              <a:ext cx="4648200" cy="46803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lnSpc>
                  <a:spcPct val="97000"/>
                </a:lnSpc>
              </a:pPr>
              <a:endParaRPr kumimoji="1" lang="en-US" sz="1600" b="1">
                <a:latin typeface="Comic Sans MS" pitchFamily="66" charset="0"/>
                <a:ea typeface="굴림" charset="-127"/>
              </a:endParaRPr>
            </a:p>
          </p:txBody>
        </p:sp>
        <p:sp>
          <p:nvSpPr>
            <p:cNvPr id="11" name="Line 51"/>
            <p:cNvSpPr>
              <a:spLocks noChangeShapeType="1"/>
            </p:cNvSpPr>
            <p:nvPr/>
          </p:nvSpPr>
          <p:spPr bwMode="auto">
            <a:xfrm>
              <a:off x="3505200" y="4575248"/>
              <a:ext cx="0" cy="285014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7000"/>
                </a:lnSpc>
                <a:defRPr/>
              </a:pPr>
              <a:endParaRPr kumimoji="1" lang="en-US" sz="1050" b="1">
                <a:latin typeface="Arial" pitchFamily="34" charset="0"/>
                <a:ea typeface="굴림" charset="-127"/>
              </a:endParaRPr>
            </a:p>
          </p:txBody>
        </p:sp>
        <p:sp>
          <p:nvSpPr>
            <p:cNvPr id="12" name="Line 52"/>
            <p:cNvSpPr>
              <a:spLocks noChangeShapeType="1"/>
            </p:cNvSpPr>
            <p:nvPr/>
          </p:nvSpPr>
          <p:spPr bwMode="auto">
            <a:xfrm>
              <a:off x="8153400" y="4575248"/>
              <a:ext cx="0" cy="285014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7000"/>
                </a:lnSpc>
                <a:defRPr/>
              </a:pPr>
              <a:endParaRPr kumimoji="1" lang="en-US" sz="1050" b="1">
                <a:latin typeface="Arial" pitchFamily="34" charset="0"/>
                <a:ea typeface="굴림" charset="-127"/>
              </a:endParaRPr>
            </a:p>
          </p:txBody>
        </p:sp>
        <p:sp>
          <p:nvSpPr>
            <p:cNvPr id="13" name="Line 54"/>
            <p:cNvSpPr>
              <a:spLocks noChangeShapeType="1"/>
            </p:cNvSpPr>
            <p:nvPr/>
          </p:nvSpPr>
          <p:spPr bwMode="auto">
            <a:xfrm>
              <a:off x="5334000" y="4903914"/>
              <a:ext cx="0" cy="468035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7000"/>
                </a:lnSpc>
                <a:defRPr/>
              </a:pPr>
              <a:endParaRPr kumimoji="1" lang="en-US" sz="1050" b="1">
                <a:latin typeface="Arial" pitchFamily="34" charset="0"/>
                <a:ea typeface="굴림" charset="-127"/>
              </a:endParaRPr>
            </a:p>
          </p:txBody>
        </p:sp>
        <p:sp>
          <p:nvSpPr>
            <p:cNvPr id="89100" name="Text Box 55"/>
            <p:cNvSpPr txBox="1">
              <a:spLocks noChangeArrowheads="1"/>
            </p:cNvSpPr>
            <p:nvPr/>
          </p:nvSpPr>
          <p:spPr bwMode="auto">
            <a:xfrm>
              <a:off x="3810000" y="4953092"/>
              <a:ext cx="1219200" cy="3311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97000"/>
                </a:lnSpc>
                <a:spcBef>
                  <a:spcPct val="50000"/>
                </a:spcBef>
              </a:pPr>
              <a:r>
                <a:rPr kumimoji="1" lang="en-US" sz="1600" b="1" dirty="0">
                  <a:latin typeface="Comic Sans MS" pitchFamily="66" charset="0"/>
                  <a:ea typeface="굴림" charset="-127"/>
                </a:rPr>
                <a:t>p</a:t>
              </a:r>
            </a:p>
          </p:txBody>
        </p:sp>
        <p:sp>
          <p:nvSpPr>
            <p:cNvPr id="89101" name="Text Box 56"/>
            <p:cNvSpPr txBox="1">
              <a:spLocks noChangeArrowheads="1"/>
            </p:cNvSpPr>
            <p:nvPr/>
          </p:nvSpPr>
          <p:spPr bwMode="auto">
            <a:xfrm>
              <a:off x="6096000" y="4965792"/>
              <a:ext cx="1219200" cy="3311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97000"/>
                </a:lnSpc>
                <a:spcBef>
                  <a:spcPct val="50000"/>
                </a:spcBef>
              </a:pPr>
              <a:r>
                <a:rPr kumimoji="1" lang="en-US" sz="1600" b="1" dirty="0">
                  <a:latin typeface="Comic Sans MS" pitchFamily="66" charset="0"/>
                  <a:ea typeface="굴림" charset="-127"/>
                </a:rPr>
                <a:t>d’</a:t>
              </a:r>
            </a:p>
          </p:txBody>
        </p:sp>
        <p:sp>
          <p:nvSpPr>
            <p:cNvPr id="89102" name="Text Box 59"/>
            <p:cNvSpPr txBox="1">
              <a:spLocks noChangeArrowheads="1"/>
            </p:cNvSpPr>
            <p:nvPr/>
          </p:nvSpPr>
          <p:spPr bwMode="auto">
            <a:xfrm>
              <a:off x="990600" y="4575248"/>
              <a:ext cx="2133600" cy="57002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97000"/>
                </a:lnSpc>
                <a:spcBef>
                  <a:spcPct val="50000"/>
                </a:spcBef>
              </a:pPr>
              <a:r>
                <a:rPr kumimoji="1" lang="en-US" sz="1600" b="1">
                  <a:latin typeface="Comic Sans MS" pitchFamily="66" charset="0"/>
                  <a:ea typeface="굴림" charset="-127"/>
                </a:rPr>
                <a:t>index segment table</a:t>
              </a:r>
            </a:p>
          </p:txBody>
        </p:sp>
        <p:sp>
          <p:nvSpPr>
            <p:cNvPr id="89103" name="Text Box 62"/>
            <p:cNvSpPr txBox="1">
              <a:spLocks noChangeArrowheads="1"/>
            </p:cNvSpPr>
            <p:nvPr/>
          </p:nvSpPr>
          <p:spPr bwMode="auto">
            <a:xfrm>
              <a:off x="3276600" y="5513516"/>
              <a:ext cx="2133600" cy="3311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97000"/>
                </a:lnSpc>
                <a:spcBef>
                  <a:spcPct val="50000"/>
                </a:spcBef>
              </a:pPr>
              <a:r>
                <a:rPr kumimoji="1" lang="en-US" sz="1600" b="1" dirty="0">
                  <a:latin typeface="Comic Sans MS" pitchFamily="66" charset="0"/>
                  <a:ea typeface="굴림" charset="-127"/>
                </a:rPr>
                <a:t>index page table</a:t>
              </a:r>
            </a:p>
          </p:txBody>
        </p:sp>
        <p:sp>
          <p:nvSpPr>
            <p:cNvPr id="89104" name="Text Box 63"/>
            <p:cNvSpPr txBox="1">
              <a:spLocks noChangeArrowheads="1"/>
            </p:cNvSpPr>
            <p:nvPr/>
          </p:nvSpPr>
          <p:spPr bwMode="auto">
            <a:xfrm>
              <a:off x="5334000" y="5513516"/>
              <a:ext cx="2895600" cy="3311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97000"/>
                </a:lnSpc>
                <a:spcBef>
                  <a:spcPct val="50000"/>
                </a:spcBef>
              </a:pPr>
              <a:r>
                <a:rPr kumimoji="1" lang="en-US" sz="1600" b="1">
                  <a:latin typeface="Comic Sans MS" pitchFamily="66" charset="0"/>
                  <a:ea typeface="굴림" charset="-127"/>
                </a:rPr>
                <a:t>offset within the page p</a:t>
              </a:r>
            </a:p>
          </p:txBody>
        </p:sp>
      </p:grpSp>
      <p:sp>
        <p:nvSpPr>
          <p:cNvPr id="28" name="Rectangle 2">
            <a:extLst>
              <a:ext uri="{FF2B5EF4-FFF2-40B4-BE49-F238E27FC236}">
                <a16:creationId xmlns:a16="http://schemas.microsoft.com/office/drawing/2014/main" id="{805E88FF-4670-82D0-6F1D-4FD85693F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166688"/>
            <a:ext cx="79089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kern="0" dirty="0"/>
              <a:t>Paged Segmentation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F5E3B-9A7E-FDC3-5589-02DB6DFCA4B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03ADA-A1F7-A405-EE35-547720B09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>
            <a:extLst>
              <a:ext uri="{FF2B5EF4-FFF2-40B4-BE49-F238E27FC236}">
                <a16:creationId xmlns:a16="http://schemas.microsoft.com/office/drawing/2014/main" id="{8681DE85-76EF-DCDD-DBA1-7B9A3AF8B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6412" y="1046926"/>
            <a:ext cx="8232417" cy="523714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2100" dirty="0">
                <a:solidFill>
                  <a:srgbClr val="C00000"/>
                </a:solidFill>
              </a:rPr>
              <a:t>Problem</a:t>
            </a:r>
          </a:p>
          <a:p>
            <a:pPr marL="339725" indent="0">
              <a:lnSpc>
                <a:spcPct val="90000"/>
              </a:lnSpc>
              <a:spcBef>
                <a:spcPts val="900"/>
              </a:spcBef>
              <a:buFont typeface="Arial" charset="0"/>
              <a:buNone/>
            </a:pPr>
            <a:r>
              <a:rPr lang="en-US" sz="2100" dirty="0"/>
              <a:t>Consider a process in MULTICS with its segment #15 having 5096 bytes</a:t>
            </a:r>
          </a:p>
          <a:p>
            <a:pPr marL="339725" indent="0">
              <a:lnSpc>
                <a:spcPct val="90000"/>
              </a:lnSpc>
              <a:spcBef>
                <a:spcPts val="900"/>
              </a:spcBef>
              <a:buFont typeface="Arial" charset="0"/>
              <a:buNone/>
            </a:pPr>
            <a:r>
              <a:rPr lang="en-US" sz="2100" dirty="0"/>
              <a:t>Page size in segment is 1 KB </a:t>
            </a:r>
          </a:p>
          <a:p>
            <a:pPr marL="339725" indent="0">
              <a:lnSpc>
                <a:spcPct val="90000"/>
              </a:lnSpc>
              <a:spcBef>
                <a:spcPts val="900"/>
              </a:spcBef>
              <a:buFont typeface="Arial" charset="0"/>
              <a:buNone/>
            </a:pPr>
            <a:r>
              <a:rPr lang="en-US" sz="2100" dirty="0"/>
              <a:t>Process generates a Logical Address of (15, 3921), </a:t>
            </a:r>
            <a:r>
              <a:rPr lang="en-US" altLang="ko-KR" sz="2100" dirty="0"/>
              <a:t>where 15 is segment number and 3921 is offset</a:t>
            </a:r>
            <a:endParaRPr lang="en-US" sz="2100" dirty="0"/>
          </a:p>
          <a:p>
            <a:pPr lvl="1">
              <a:lnSpc>
                <a:spcPct val="130000"/>
              </a:lnSpc>
              <a:spcBef>
                <a:spcPct val="20000"/>
              </a:spcBef>
              <a:buClrTx/>
              <a:buSzTx/>
              <a:buFont typeface="Arial" charset="0"/>
              <a:buChar char="–"/>
              <a:defRPr/>
            </a:pPr>
            <a:r>
              <a:rPr lang="en-US" sz="2100" dirty="0"/>
              <a:t>Is it a legal address; if yes why</a:t>
            </a:r>
          </a:p>
          <a:p>
            <a:pPr lvl="1">
              <a:lnSpc>
                <a:spcPct val="130000"/>
              </a:lnSpc>
              <a:spcBef>
                <a:spcPct val="20000"/>
              </a:spcBef>
              <a:buClrTx/>
              <a:buSzTx/>
              <a:buFont typeface="Arial" charset="0"/>
              <a:buChar char="–"/>
              <a:defRPr/>
            </a:pPr>
            <a:r>
              <a:rPr lang="en-US" sz="2100" dirty="0"/>
              <a:t>How many pages does the segment have</a:t>
            </a:r>
          </a:p>
          <a:p>
            <a:pPr lvl="1">
              <a:lnSpc>
                <a:spcPct val="130000"/>
              </a:lnSpc>
              <a:spcBef>
                <a:spcPct val="20000"/>
              </a:spcBef>
              <a:buClrTx/>
              <a:buSzTx/>
              <a:buFont typeface="Arial" charset="0"/>
              <a:buChar char="–"/>
              <a:defRPr/>
            </a:pPr>
            <a:r>
              <a:rPr lang="en-US" sz="2100" dirty="0"/>
              <a:t>What page does the logical address refer to, and what is its offset</a:t>
            </a:r>
          </a:p>
          <a:p>
            <a:pPr lvl="1">
              <a:lnSpc>
                <a:spcPct val="130000"/>
              </a:lnSpc>
              <a:spcBef>
                <a:spcPct val="20000"/>
              </a:spcBef>
              <a:buClrTx/>
              <a:buSzTx/>
              <a:buFont typeface="Arial" charset="0"/>
              <a:buChar char="–"/>
              <a:defRPr/>
            </a:pPr>
            <a:r>
              <a:rPr lang="en-US" sz="2100" dirty="0"/>
              <a:t>What is the Physical Address, if page#3 (fourth page) is in frame 12</a:t>
            </a:r>
          </a:p>
          <a:p>
            <a:pPr>
              <a:lnSpc>
                <a:spcPct val="90000"/>
              </a:lnSpc>
              <a:buNone/>
            </a:pP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F86E3C-AD4B-E6F0-50C5-5CA0C6CB2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7875" y="166688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Sample Problems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F11EB48-253E-ECE1-7833-8629012127A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339064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D9112-DA8C-9D27-F397-BB4827A6F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>
            <a:extLst>
              <a:ext uri="{FF2B5EF4-FFF2-40B4-BE49-F238E27FC236}">
                <a16:creationId xmlns:a16="http://schemas.microsoft.com/office/drawing/2014/main" id="{1AF564F8-0D59-EF3B-5629-A6C551A60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6412" y="1046926"/>
            <a:ext cx="8106652" cy="523714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2100" dirty="0">
                <a:solidFill>
                  <a:srgbClr val="C00000"/>
                </a:solidFill>
              </a:rPr>
              <a:t>Problem</a:t>
            </a:r>
          </a:p>
          <a:p>
            <a:pPr marL="339725" indent="0">
              <a:lnSpc>
                <a:spcPct val="90000"/>
              </a:lnSpc>
              <a:spcBef>
                <a:spcPts val="900"/>
              </a:spcBef>
              <a:buFont typeface="Arial" charset="0"/>
              <a:buNone/>
            </a:pPr>
            <a:r>
              <a:rPr lang="en-US" altLang="ko-KR" sz="2100" dirty="0"/>
              <a:t>In paged segmentation, consider a logical address of (16, 7865), where 16 is segment number and 7865 is offset</a:t>
            </a:r>
          </a:p>
          <a:p>
            <a:pPr marL="339725" indent="0">
              <a:lnSpc>
                <a:spcPct val="90000"/>
              </a:lnSpc>
              <a:spcBef>
                <a:spcPts val="900"/>
              </a:spcBef>
              <a:buFont typeface="Arial" charset="0"/>
              <a:buNone/>
            </a:pPr>
            <a:r>
              <a:rPr lang="en-US" altLang="ko-KR" sz="2100" dirty="0"/>
              <a:t>Suppose segment 16 has length of 15690 bytes &amp; page size is 2 KB </a:t>
            </a:r>
          </a:p>
          <a:p>
            <a:pPr marL="339725" indent="0">
              <a:lnSpc>
                <a:spcPct val="90000"/>
              </a:lnSpc>
              <a:spcBef>
                <a:spcPts val="900"/>
              </a:spcBef>
              <a:buFont typeface="Arial" charset="0"/>
              <a:buNone/>
            </a:pPr>
            <a:r>
              <a:rPr lang="en-US" altLang="ko-KR" sz="2100" dirty="0"/>
              <a:t>Calculate following:</a:t>
            </a:r>
            <a:r>
              <a:rPr lang="en-US" sz="2100" dirty="0"/>
              <a:t> </a:t>
            </a:r>
          </a:p>
          <a:p>
            <a:pPr lvl="1">
              <a:lnSpc>
                <a:spcPct val="130000"/>
              </a:lnSpc>
              <a:spcBef>
                <a:spcPct val="20000"/>
              </a:spcBef>
              <a:buClrTx/>
              <a:buSzTx/>
              <a:buFont typeface="Arial" charset="0"/>
              <a:buChar char="–"/>
              <a:defRPr/>
            </a:pPr>
            <a:r>
              <a:rPr lang="en-US" sz="2100" dirty="0"/>
              <a:t>Number of pages in segment number 16</a:t>
            </a:r>
          </a:p>
          <a:p>
            <a:pPr lvl="1">
              <a:lnSpc>
                <a:spcPct val="130000"/>
              </a:lnSpc>
              <a:spcBef>
                <a:spcPct val="20000"/>
              </a:spcBef>
              <a:buClrTx/>
              <a:buSzTx/>
              <a:buFont typeface="Arial" charset="0"/>
              <a:buChar char="–"/>
              <a:defRPr/>
            </a:pPr>
            <a:r>
              <a:rPr lang="en-US" sz="2100" dirty="0"/>
              <a:t>In which page the above said offset will reside</a:t>
            </a:r>
          </a:p>
          <a:p>
            <a:pPr lvl="1">
              <a:lnSpc>
                <a:spcPct val="130000"/>
              </a:lnSpc>
              <a:spcBef>
                <a:spcPct val="20000"/>
              </a:spcBef>
              <a:buClrTx/>
              <a:buSzTx/>
              <a:buFont typeface="Arial" charset="0"/>
              <a:buChar char="–"/>
              <a:defRPr/>
            </a:pPr>
            <a:r>
              <a:rPr lang="en-US" sz="2100" dirty="0"/>
              <a:t>How would you represent the above address in &lt;s, p, d’&gt; format</a:t>
            </a:r>
          </a:p>
          <a:p>
            <a:pPr lvl="1">
              <a:lnSpc>
                <a:spcPct val="130000"/>
              </a:lnSpc>
              <a:spcBef>
                <a:spcPct val="20000"/>
              </a:spcBef>
              <a:buClrTx/>
              <a:buSzTx/>
              <a:buFont typeface="Arial" charset="0"/>
              <a:buChar char="–"/>
              <a:defRPr/>
            </a:pPr>
            <a:r>
              <a:rPr lang="en-US" sz="2100" dirty="0"/>
              <a:t>Let the page p be stored in frame 30; what would be the physical address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13D9BB-BC4A-FB99-09CF-B52EE21679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7875" y="166688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Sample Problems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53961FD-5FB2-28CC-D495-8CC1E26329B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544795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56839</TotalTime>
  <Words>939</Words>
  <Application>Microsoft Office PowerPoint</Application>
  <PresentationFormat>On-screen Show (4:3)</PresentationFormat>
  <Paragraphs>247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굴림</vt:lpstr>
      <vt:lpstr>Arial</vt:lpstr>
      <vt:lpstr>Calibri</vt:lpstr>
      <vt:lpstr>Comic Sans MS</vt:lpstr>
      <vt:lpstr>Gill Sans MT</vt:lpstr>
      <vt:lpstr>Helvetica</vt:lpstr>
      <vt:lpstr>Monotype Sorts</vt:lpstr>
      <vt:lpstr>Tahoma</vt:lpstr>
      <vt:lpstr>Times New Roman</vt:lpstr>
      <vt:lpstr>Verdana</vt:lpstr>
      <vt:lpstr>Webdings</vt:lpstr>
      <vt:lpstr>Wingdings</vt:lpstr>
      <vt:lpstr>Wingdings 2</vt:lpstr>
      <vt:lpstr>os-8</vt:lpstr>
      <vt:lpstr>PowerPoint Presentation</vt:lpstr>
      <vt:lpstr>Agenda</vt:lpstr>
      <vt:lpstr>Segmentation</vt:lpstr>
      <vt:lpstr>Logical View of Segmentation</vt:lpstr>
      <vt:lpstr>Segmentation Example </vt:lpstr>
      <vt:lpstr>Segmentation Architecture </vt:lpstr>
      <vt:lpstr>Sample Problems</vt:lpstr>
      <vt:lpstr>PowerPoint Presentation</vt:lpstr>
      <vt:lpstr>PowerPoint Presentation</vt:lpstr>
      <vt:lpstr>PowerPoint Presentation</vt:lpstr>
      <vt:lpstr>PowerPoint Presentation</vt:lpstr>
      <vt:lpstr>Sample Problems</vt:lpstr>
      <vt:lpstr>Sample Problems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naumaz</cp:lastModifiedBy>
  <cp:revision>853</cp:revision>
  <cp:lastPrinted>2001-06-14T13:58:17Z</cp:lastPrinted>
  <dcterms:created xsi:type="dcterms:W3CDTF">2011-01-13T23:43:38Z</dcterms:created>
  <dcterms:modified xsi:type="dcterms:W3CDTF">2026-01-20T07:33:45Z</dcterms:modified>
</cp:coreProperties>
</file>