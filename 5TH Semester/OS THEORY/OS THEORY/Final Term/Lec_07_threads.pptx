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4"/>
  </p:notesMasterIdLst>
  <p:handoutMasterIdLst>
    <p:handoutMasterId r:id="rId55"/>
  </p:handoutMasterIdLst>
  <p:sldIdLst>
    <p:sldId id="256" r:id="rId2"/>
    <p:sldId id="348" r:id="rId3"/>
    <p:sldId id="430" r:id="rId4"/>
    <p:sldId id="666" r:id="rId5"/>
    <p:sldId id="671" r:id="rId6"/>
    <p:sldId id="672" r:id="rId7"/>
    <p:sldId id="670" r:id="rId8"/>
    <p:sldId id="510" r:id="rId9"/>
    <p:sldId id="512" r:id="rId10"/>
    <p:sldId id="555" r:id="rId11"/>
    <p:sldId id="653" r:id="rId12"/>
    <p:sldId id="526" r:id="rId13"/>
    <p:sldId id="589" r:id="rId14"/>
    <p:sldId id="511" r:id="rId15"/>
    <p:sldId id="334" r:id="rId16"/>
    <p:sldId id="566" r:id="rId17"/>
    <p:sldId id="655" r:id="rId18"/>
    <p:sldId id="568" r:id="rId19"/>
    <p:sldId id="335" r:id="rId20"/>
    <p:sldId id="558" r:id="rId21"/>
    <p:sldId id="643" r:id="rId22"/>
    <p:sldId id="658" r:id="rId23"/>
    <p:sldId id="341" r:id="rId24"/>
    <p:sldId id="606" r:id="rId25"/>
    <p:sldId id="535" r:id="rId26"/>
    <p:sldId id="667" r:id="rId27"/>
    <p:sldId id="536" r:id="rId28"/>
    <p:sldId id="517" r:id="rId29"/>
    <p:sldId id="343" r:id="rId30"/>
    <p:sldId id="344" r:id="rId31"/>
    <p:sldId id="345" r:id="rId32"/>
    <p:sldId id="657" r:id="rId33"/>
    <p:sldId id="610" r:id="rId34"/>
    <p:sldId id="543" r:id="rId35"/>
    <p:sldId id="614" r:id="rId36"/>
    <p:sldId id="615" r:id="rId37"/>
    <p:sldId id="616" r:id="rId38"/>
    <p:sldId id="644" r:id="rId39"/>
    <p:sldId id="645" r:id="rId40"/>
    <p:sldId id="617" r:id="rId41"/>
    <p:sldId id="646" r:id="rId42"/>
    <p:sldId id="647" r:id="rId43"/>
    <p:sldId id="648" r:id="rId44"/>
    <p:sldId id="649" r:id="rId45"/>
    <p:sldId id="640" r:id="rId46"/>
    <p:sldId id="676" r:id="rId47"/>
    <p:sldId id="669" r:id="rId48"/>
    <p:sldId id="663" r:id="rId49"/>
    <p:sldId id="364" r:id="rId50"/>
    <p:sldId id="662" r:id="rId51"/>
    <p:sldId id="357" r:id="rId52"/>
    <p:sldId id="674" r:id="rId53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800000"/>
    <a:srgbClr val="6633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92" autoAdjust="0"/>
  </p:normalViewPr>
  <p:slideViewPr>
    <p:cSldViewPr snapToGrid="0">
      <p:cViewPr varScale="1">
        <p:scale>
          <a:sx n="62" d="100"/>
          <a:sy n="62" d="100"/>
        </p:scale>
        <p:origin x="1352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818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F5B941C-6C70-45EA-B271-B429EAE6B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52257-B091-492A-BB7A-D3E9A29F2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07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21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06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7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3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48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Comparisons</a:t>
            </a:r>
            <a:r>
              <a:rPr lang="en-US" baseline="0" dirty="0"/>
              <a:t> on book page 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334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3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10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you</a:t>
            </a:r>
            <a:r>
              <a:rPr lang="en-US" baseline="0" dirty="0"/>
              <a:t> mean by a Thread Safe function?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804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B3B691F4-8A83-4EB6-9CC2-A3360F1AD4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EF4246C7-27CE-4111-80E3-59FD3BCD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Thread Pool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Consider the example of web server. Issues in</a:t>
            </a:r>
            <a:r>
              <a:rPr lang="en-US" b="0" baseline="0" dirty="0"/>
              <a:t> such scenarios are: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Amount of time to create thread.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If we have too many requests the unlimited threads will be created and system resources could be exhausted.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0" baseline="0" dirty="0"/>
              <a:t>Solution is thread pool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1" baseline="0" dirty="0"/>
              <a:t>Idea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No of threads are created at time of process start up and are placed into a pool where they sit and wait.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When a server receives a request, it awakens a thread from this pool and passes it the request to service.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Once finished, a thread returns to the pool and wait.</a:t>
            </a:r>
          </a:p>
          <a:p>
            <a:pPr marL="228600" lvl="0" indent="-228600">
              <a:buFont typeface="Arial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26620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Thread Pool</a:t>
            </a:r>
          </a:p>
          <a:p>
            <a:pPr marL="228600" indent="-228600">
              <a:buFont typeface="+mj-lt"/>
              <a:buAutoNum type="arabicPeriod"/>
            </a:pPr>
            <a:r>
              <a:rPr lang="en-US" b="0" dirty="0"/>
              <a:t>Consider the example of web server. Issues in</a:t>
            </a:r>
            <a:r>
              <a:rPr lang="en-US" b="0" baseline="0" dirty="0"/>
              <a:t> such scenarios are: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Amount of time to create thread.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If we have too many requests the unlimited threads will be created and system resources could be exhausted.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0" baseline="0" dirty="0"/>
              <a:t>Solution is thread pool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b="1" baseline="0" dirty="0"/>
              <a:t>Idea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No of threads are created at time of process start up and are placed into a pool where they sit and wait.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When a server receives a request, it awakens a thread from this pool and passes it the request to service.</a:t>
            </a:r>
          </a:p>
          <a:p>
            <a:pPr marL="685800" lvl="1" indent="-228600">
              <a:buFont typeface="Arial" pitchFamily="34" charset="0"/>
              <a:buChar char="•"/>
            </a:pPr>
            <a:r>
              <a:rPr lang="en-US" b="0" baseline="0" dirty="0"/>
              <a:t>Once finished, a thread returns to the pool and wait.</a:t>
            </a:r>
          </a:p>
          <a:p>
            <a:pPr marL="228600" lvl="0" indent="-228600">
              <a:buFont typeface="Arial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28564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593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3DF3E7C6-C9CA-4089-A553-275E1982B8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398EA6-8FE3-4BCE-B6A8-508B0A27C7F8}" type="slidenum">
              <a:rPr lang="en-US" altLang="en-US" smtClean="0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73988C8-FA90-46B8-B16F-16B1E13B3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2C96CC4-5B31-40CD-B384-477B7275D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74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72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532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344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49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EB8C0B8A-AD96-4A57-B567-49E824FFE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6B8074-FFAA-46E8-A8E7-A2DF12801B2C}" type="slidenum">
              <a:rPr lang="en-US" altLang="en-US" smtClean="0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F09C86C-58BC-4607-981A-D231C591F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398BD5B-BC5C-4CDB-9D48-4CA967CB7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C789749-18B6-4527-94FF-59E54FAC3E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7C39C-CCD1-4085-91E8-2B527B8A2188}" type="slidenum">
              <a:rPr lang="en-US" altLang="en-US" smtClean="0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0A9510C-2BDE-4137-877F-7D3AEFD825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C693E25-AC6E-41AC-A5E3-4037EB9E4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466CBFBC-E533-4BF2-B5D5-3A45F5C19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8AF47D-CB37-4C77-9E61-6FE982C48A6C}" type="slidenum">
              <a:rPr lang="en-US" altLang="en-US" smtClean="0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7584299-1856-48BE-B736-7EC68096B1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7E5BFC8-6F28-4BDE-8F1C-CE906E2BF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88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52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34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603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35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838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36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746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37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919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38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821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39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52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40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754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41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950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42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578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43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905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806E95-1A79-4F7A-A11C-5CCA1D455393}" type="slidenum">
              <a:rPr lang="en-US"/>
              <a:pPr/>
              <a:t>44</a:t>
            </a:fld>
            <a:endParaRPr lang="en-US"/>
          </a:p>
        </p:txBody>
      </p:sp>
      <p:sp>
        <p:nvSpPr>
          <p:cNvPr id="301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819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9256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BD62-C7B0-9381-DF8F-ACD197BF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266CF713-AC65-D192-2A41-8EC73E300B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D1C5901-D303-3C11-01D5-2E92A9834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D9880B1-7D56-13E7-13CA-A8D44C2DC9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2500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8161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9545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5962F69-093A-408F-B384-7C8444BFC0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6DE1FD-0744-4729-8EA7-07AB55511A72}" type="slidenum">
              <a:rPr lang="en-US" altLang="en-US" smtClean="0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EF35BB1E-D520-47C0-8054-BC16A9F209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5BD69566-D1C2-496F-B046-36CA881CC8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4669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712BD98-8FD1-4C5B-ACCD-B506C3F309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3646A7-87D1-4E08-9877-083F79BE34C5}" type="slidenum">
              <a:rPr lang="en-US" altLang="en-US" smtClean="0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8DCF3906-A485-420D-A07D-6796D1373A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7B4482B-2E5E-4B60-925B-792A62447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02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2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A080DD-98A5-D4C4-20F8-D9A475979D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8744B61-96D7-4760-03C8-CAB57CC5E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304" y="277813"/>
            <a:ext cx="7441096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889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2200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2200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2200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2200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B756355-6FC3-4D1A-BBDC-6B9FBCD76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209E117-91F8-FC11-86BA-CADC1106502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5DCB83-2430-8292-CDE8-F26EB8DE5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21" y="1177647"/>
            <a:ext cx="7558433" cy="5236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 sz="2400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200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 of execution, &amp; Execution context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 Thread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Single-threaded  vs  Multi-threaded processes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Threads vs Processes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Threads benefits, &amp; disadvantages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level &amp; Kernel level threads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Multithreading Models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M:1,       1:1,     M:N</a:t>
            </a:r>
          </a:p>
          <a:p>
            <a:pPr>
              <a:spcBef>
                <a:spcPts val="1200"/>
              </a:spcBef>
            </a:pPr>
            <a:r>
              <a:rPr lang="en-US" sz="23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Threads implementation </a:t>
            </a:r>
            <a:r>
              <a:rPr lang="en-US" sz="23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300" i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pthreads</a:t>
            </a:r>
            <a:r>
              <a:rPr lang="en-US" sz="2300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library)</a:t>
            </a:r>
          </a:p>
          <a:p>
            <a:pPr>
              <a:spcBef>
                <a:spcPts val="1200"/>
              </a:spcBef>
            </a:pPr>
            <a:r>
              <a:rPr lang="en-US" sz="230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Threads issues</a:t>
            </a:r>
          </a:p>
          <a:p>
            <a:pPr>
              <a:spcBef>
                <a:spcPts val="1200"/>
              </a:spcBef>
            </a:pPr>
            <a:endParaRPr lang="en-US" sz="23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sz="23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sz="23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sz="2300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endParaRPr lang="en-US" altLang="en-US" sz="23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sz="23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altLang="en-US" sz="23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155924" y="1213720"/>
            <a:ext cx="4212771" cy="2246630"/>
            <a:chOff x="658" y="432"/>
            <a:chExt cx="2784" cy="1728"/>
          </a:xfrm>
        </p:grpSpPr>
        <p:sp>
          <p:nvSpPr>
            <p:cNvPr id="307203" name="Oval 3"/>
            <p:cNvSpPr>
              <a:spLocks noChangeArrowheads="1"/>
            </p:cNvSpPr>
            <p:nvPr/>
          </p:nvSpPr>
          <p:spPr bwMode="auto">
            <a:xfrm>
              <a:off x="658" y="432"/>
              <a:ext cx="2784" cy="172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>
                <a:latin typeface="Comic Sans MS" pitchFamily="66" charset="0"/>
              </a:endParaRPr>
            </a:p>
          </p:txBody>
        </p:sp>
        <p:sp>
          <p:nvSpPr>
            <p:cNvPr id="307204" name="Oval 4"/>
            <p:cNvSpPr>
              <a:spLocks noChangeArrowheads="1"/>
            </p:cNvSpPr>
            <p:nvPr/>
          </p:nvSpPr>
          <p:spPr bwMode="auto">
            <a:xfrm>
              <a:off x="2515" y="960"/>
              <a:ext cx="720" cy="62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Comic Sans MS" pitchFamily="66" charset="0"/>
                </a:rPr>
                <a:t>Fetch</a:t>
              </a:r>
            </a:p>
            <a:p>
              <a:pPr algn="ctr"/>
              <a:r>
                <a:rPr lang="en-US" sz="1600" dirty="0">
                  <a:latin typeface="Comic Sans MS" pitchFamily="66" charset="0"/>
                </a:rPr>
                <a:t>Exec</a:t>
              </a:r>
            </a:p>
          </p:txBody>
        </p:sp>
        <p:sp>
          <p:nvSpPr>
            <p:cNvPr id="307206" name="Rectangle 6"/>
            <p:cNvSpPr>
              <a:spLocks noChangeArrowheads="1"/>
            </p:cNvSpPr>
            <p:nvPr/>
          </p:nvSpPr>
          <p:spPr bwMode="auto">
            <a:xfrm>
              <a:off x="1323" y="624"/>
              <a:ext cx="624" cy="12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Comic Sans MS" pitchFamily="66" charset="0"/>
                </a:rPr>
                <a:t>R0</a:t>
              </a:r>
            </a:p>
            <a:p>
              <a:pPr algn="ctr"/>
              <a:r>
                <a:rPr lang="en-US" sz="1600" dirty="0">
                  <a:latin typeface="Comic Sans MS" pitchFamily="66" charset="0"/>
                </a:rPr>
                <a:t>…</a:t>
              </a:r>
            </a:p>
            <a:p>
              <a:pPr algn="ctr"/>
              <a:endParaRPr lang="en-US" sz="1600" dirty="0">
                <a:latin typeface="Comic Sans MS" pitchFamily="66" charset="0"/>
              </a:endParaRPr>
            </a:p>
            <a:p>
              <a:pPr algn="ctr"/>
              <a:r>
                <a:rPr lang="en-US" sz="1600" dirty="0">
                  <a:latin typeface="Comic Sans MS" pitchFamily="66" charset="0"/>
                </a:rPr>
                <a:t>R31</a:t>
              </a:r>
            </a:p>
            <a:p>
              <a:pPr algn="ctr"/>
              <a:endParaRPr lang="en-US" sz="1600" dirty="0">
                <a:latin typeface="Comic Sans MS" pitchFamily="66" charset="0"/>
              </a:endParaRPr>
            </a:p>
            <a:p>
              <a:pPr algn="ctr"/>
              <a:r>
                <a:rPr lang="en-US" sz="1600" dirty="0">
                  <a:latin typeface="Comic Sans MS" pitchFamily="66" charset="0"/>
                </a:rPr>
                <a:t>PC</a:t>
              </a:r>
            </a:p>
          </p:txBody>
        </p:sp>
        <p:sp>
          <p:nvSpPr>
            <p:cNvPr id="307205" name="AutoShape 5"/>
            <p:cNvSpPr>
              <a:spLocks noChangeArrowheads="1"/>
            </p:cNvSpPr>
            <p:nvPr/>
          </p:nvSpPr>
          <p:spPr bwMode="auto">
            <a:xfrm rot="10800000">
              <a:off x="1968" y="1141"/>
              <a:ext cx="528" cy="238"/>
            </a:xfrm>
            <a:prstGeom prst="leftRightArrow">
              <a:avLst>
                <a:gd name="adj1" fmla="val 50000"/>
                <a:gd name="adj2" fmla="val 22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>
                <a:latin typeface="Comic Sans MS" pitchFamily="66" charset="0"/>
              </a:endParaRPr>
            </a:p>
          </p:txBody>
        </p:sp>
      </p:grpSp>
      <p:sp>
        <p:nvSpPr>
          <p:cNvPr id="307208" name="Rectangle 8"/>
          <p:cNvSpPr>
            <a:spLocks noChangeArrowheads="1"/>
          </p:cNvSpPr>
          <p:nvPr/>
        </p:nvSpPr>
        <p:spPr bwMode="auto">
          <a:xfrm>
            <a:off x="6256338" y="1620120"/>
            <a:ext cx="1439862" cy="37200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dirty="0">
                <a:latin typeface="Comic Sans MS" pitchFamily="66" charset="0"/>
              </a:rPr>
              <a:t>Stack</a:t>
            </a:r>
          </a:p>
          <a:p>
            <a:pPr algn="ctr"/>
            <a:r>
              <a:rPr lang="en-US" dirty="0">
                <a:latin typeface="Comic Sans MS" pitchFamily="66" charset="0"/>
              </a:rPr>
              <a:t>…</a:t>
            </a:r>
          </a:p>
          <a:p>
            <a:pPr algn="ctr"/>
            <a:r>
              <a:rPr lang="en-US" dirty="0">
                <a:latin typeface="Comic Sans MS" pitchFamily="66" charset="0"/>
              </a:rPr>
              <a:t>Data1</a:t>
            </a:r>
          </a:p>
          <a:p>
            <a:pPr algn="ctr"/>
            <a:r>
              <a:rPr lang="en-US" dirty="0">
                <a:latin typeface="Comic Sans MS" pitchFamily="66" charset="0"/>
              </a:rPr>
              <a:t>Data0</a:t>
            </a:r>
          </a:p>
          <a:p>
            <a:pPr algn="ctr"/>
            <a:r>
              <a:rPr lang="en-US" dirty="0">
                <a:latin typeface="Comic Sans MS" pitchFamily="66" charset="0"/>
              </a:rPr>
              <a:t>Inst237</a:t>
            </a:r>
          </a:p>
          <a:p>
            <a:pPr algn="ctr"/>
            <a:r>
              <a:rPr lang="en-US" dirty="0">
                <a:latin typeface="Comic Sans MS" pitchFamily="66" charset="0"/>
              </a:rPr>
              <a:t>Inst236</a:t>
            </a:r>
          </a:p>
          <a:p>
            <a:pPr algn="ctr"/>
            <a:r>
              <a:rPr lang="en-US" dirty="0">
                <a:latin typeface="Comic Sans MS" pitchFamily="66" charset="0"/>
              </a:rPr>
              <a:t>…</a:t>
            </a:r>
          </a:p>
          <a:p>
            <a:pPr algn="ctr"/>
            <a:r>
              <a:rPr lang="en-US" dirty="0">
                <a:latin typeface="Comic Sans MS" pitchFamily="66" charset="0"/>
              </a:rPr>
              <a:t>Inst4</a:t>
            </a:r>
          </a:p>
          <a:p>
            <a:pPr algn="ctr"/>
            <a:r>
              <a:rPr lang="en-US" dirty="0">
                <a:latin typeface="Comic Sans MS" pitchFamily="66" charset="0"/>
              </a:rPr>
              <a:t>Inst3</a:t>
            </a:r>
          </a:p>
          <a:p>
            <a:pPr algn="ctr"/>
            <a:r>
              <a:rPr lang="en-US" dirty="0">
                <a:latin typeface="Comic Sans MS" pitchFamily="66" charset="0"/>
              </a:rPr>
              <a:t>Inst2</a:t>
            </a:r>
            <a:br>
              <a:rPr lang="en-US" dirty="0">
                <a:latin typeface="Comic Sans MS" pitchFamily="66" charset="0"/>
              </a:rPr>
            </a:br>
            <a:r>
              <a:rPr lang="en-US" dirty="0">
                <a:latin typeface="Comic Sans MS" pitchFamily="66" charset="0"/>
              </a:rPr>
              <a:t>Inst1</a:t>
            </a:r>
          </a:p>
          <a:p>
            <a:pPr algn="ctr"/>
            <a:r>
              <a:rPr lang="en-US" dirty="0">
                <a:latin typeface="Comic Sans MS" pitchFamily="66" charset="0"/>
              </a:rPr>
              <a:t>Inst0</a:t>
            </a:r>
          </a:p>
        </p:txBody>
      </p:sp>
      <p:sp>
        <p:nvSpPr>
          <p:cNvPr id="307209" name="Text Box 9"/>
          <p:cNvSpPr txBox="1">
            <a:spLocks noChangeArrowheads="1"/>
          </p:cNvSpPr>
          <p:nvPr/>
        </p:nvSpPr>
        <p:spPr bwMode="auto">
          <a:xfrm>
            <a:off x="6415722" y="5411631"/>
            <a:ext cx="946093" cy="36933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</a:rPr>
              <a:t>Addr 0</a:t>
            </a:r>
          </a:p>
        </p:txBody>
      </p:sp>
      <p:sp>
        <p:nvSpPr>
          <p:cNvPr id="307210" name="Text Box 10"/>
          <p:cNvSpPr txBox="1">
            <a:spLocks noChangeArrowheads="1"/>
          </p:cNvSpPr>
          <p:nvPr/>
        </p:nvSpPr>
        <p:spPr bwMode="auto">
          <a:xfrm>
            <a:off x="6188075" y="1215308"/>
            <a:ext cx="1335622" cy="36933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Comic Sans MS" pitchFamily="66" charset="0"/>
              </a:rPr>
              <a:t>Addr 2</a:t>
            </a:r>
            <a:r>
              <a:rPr lang="en-US" baseline="30000">
                <a:latin typeface="Comic Sans MS" pitchFamily="66" charset="0"/>
              </a:rPr>
              <a:t>32</a:t>
            </a:r>
            <a:r>
              <a:rPr lang="en-US">
                <a:latin typeface="Comic Sans MS" pitchFamily="66" charset="0"/>
              </a:rPr>
              <a:t>-1</a:t>
            </a:r>
          </a:p>
        </p:txBody>
      </p:sp>
      <p:sp>
        <p:nvSpPr>
          <p:cNvPr id="307211" name="Rectangle 11"/>
          <p:cNvSpPr>
            <a:spLocks noGrp="1" noChangeArrowheads="1"/>
          </p:cNvSpPr>
          <p:nvPr>
            <p:ph type="title"/>
          </p:nvPr>
        </p:nvSpPr>
        <p:spPr>
          <a:xfrm>
            <a:off x="838200" y="76199"/>
            <a:ext cx="8305800" cy="614363"/>
          </a:xfrm>
        </p:spPr>
        <p:txBody>
          <a:bodyPr>
            <a:noAutofit/>
          </a:bodyPr>
          <a:lstStyle/>
          <a:p>
            <a:r>
              <a:rPr lang="en-US" sz="2800" dirty="0"/>
              <a:t>Instruction Execution</a:t>
            </a:r>
          </a:p>
        </p:txBody>
      </p:sp>
      <p:sp>
        <p:nvSpPr>
          <p:cNvPr id="307212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016170" y="3763780"/>
            <a:ext cx="4547461" cy="2718554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sz="2200" i="1" dirty="0">
                <a:solidFill>
                  <a:srgbClr val="00B0F0"/>
                </a:solidFill>
              </a:rPr>
              <a:t>Fetch</a:t>
            </a:r>
            <a:r>
              <a:rPr lang="en-US" sz="2200" dirty="0"/>
              <a:t> instruction at PC </a:t>
            </a:r>
            <a:r>
              <a:rPr lang="en-US" sz="2200" dirty="0">
                <a:sym typeface="Symbol" pitchFamily="18" charset="2"/>
              </a:rPr>
              <a:t> 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sz="2200" i="1" dirty="0">
                <a:solidFill>
                  <a:srgbClr val="00B0F0"/>
                </a:solidFill>
                <a:sym typeface="Symbol" pitchFamily="18" charset="2"/>
              </a:rPr>
              <a:t>Decode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sz="2200" i="1" dirty="0">
                <a:solidFill>
                  <a:srgbClr val="00B0F0"/>
                </a:solidFill>
                <a:sym typeface="Symbol" pitchFamily="18" charset="2"/>
              </a:rPr>
              <a:t>Execute</a:t>
            </a:r>
            <a:r>
              <a:rPr lang="en-US" sz="2200" dirty="0">
                <a:sym typeface="Symbol" pitchFamily="18" charset="2"/>
              </a:rPr>
              <a:t> - possibly using registers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sz="2200" dirty="0">
                <a:sym typeface="Symbol" pitchFamily="18" charset="2"/>
              </a:rPr>
              <a:t>Write results to registers/mem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en-US" sz="2200" dirty="0">
                <a:sym typeface="Symbol" pitchFamily="18" charset="2"/>
              </a:rPr>
              <a:t>PC = Next instruction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endParaRPr lang="en-US" dirty="0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696200" y="4815442"/>
            <a:ext cx="885825" cy="369888"/>
            <a:chOff x="4570" y="2832"/>
            <a:chExt cx="558" cy="233"/>
          </a:xfrm>
        </p:grpSpPr>
        <p:sp>
          <p:nvSpPr>
            <p:cNvPr id="307214" name="Text Box 14"/>
            <p:cNvSpPr txBox="1">
              <a:spLocks noChangeArrowheads="1"/>
            </p:cNvSpPr>
            <p:nvPr/>
          </p:nvSpPr>
          <p:spPr bwMode="auto">
            <a:xfrm>
              <a:off x="4848" y="2832"/>
              <a:ext cx="280" cy="23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PC</a:t>
              </a:r>
            </a:p>
          </p:txBody>
        </p:sp>
        <p:sp>
          <p:nvSpPr>
            <p:cNvPr id="307215" name="Line 15"/>
            <p:cNvSpPr>
              <a:spLocks noChangeShapeType="1"/>
            </p:cNvSpPr>
            <p:nvPr/>
          </p:nvSpPr>
          <p:spPr bwMode="auto">
            <a:xfrm flipH="1">
              <a:off x="4570" y="297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Comic Sans MS" pitchFamily="66" charset="0"/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696200" y="4515722"/>
            <a:ext cx="885825" cy="369888"/>
            <a:chOff x="4570" y="2832"/>
            <a:chExt cx="558" cy="233"/>
          </a:xfrm>
        </p:grpSpPr>
        <p:sp>
          <p:nvSpPr>
            <p:cNvPr id="307217" name="Text Box 17"/>
            <p:cNvSpPr txBox="1">
              <a:spLocks noChangeArrowheads="1"/>
            </p:cNvSpPr>
            <p:nvPr/>
          </p:nvSpPr>
          <p:spPr bwMode="auto">
            <a:xfrm>
              <a:off x="4848" y="2832"/>
              <a:ext cx="280" cy="23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PC</a:t>
              </a:r>
            </a:p>
          </p:txBody>
        </p:sp>
        <p:sp>
          <p:nvSpPr>
            <p:cNvPr id="307218" name="Line 18"/>
            <p:cNvSpPr>
              <a:spLocks noChangeShapeType="1"/>
            </p:cNvSpPr>
            <p:nvPr/>
          </p:nvSpPr>
          <p:spPr bwMode="auto">
            <a:xfrm flipH="1">
              <a:off x="4570" y="297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omic Sans MS" pitchFamily="66" charset="0"/>
              </a:endParaRP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7696200" y="4195682"/>
            <a:ext cx="885825" cy="369888"/>
            <a:chOff x="4570" y="2832"/>
            <a:chExt cx="558" cy="233"/>
          </a:xfrm>
        </p:grpSpPr>
        <p:sp>
          <p:nvSpPr>
            <p:cNvPr id="307220" name="Text Box 20"/>
            <p:cNvSpPr txBox="1">
              <a:spLocks noChangeArrowheads="1"/>
            </p:cNvSpPr>
            <p:nvPr/>
          </p:nvSpPr>
          <p:spPr bwMode="auto">
            <a:xfrm>
              <a:off x="4848" y="2832"/>
              <a:ext cx="280" cy="23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Comic Sans MS" pitchFamily="66" charset="0"/>
                </a:rPr>
                <a:t>PC</a:t>
              </a:r>
            </a:p>
          </p:txBody>
        </p:sp>
        <p:sp>
          <p:nvSpPr>
            <p:cNvPr id="307221" name="Line 21"/>
            <p:cNvSpPr>
              <a:spLocks noChangeShapeType="1"/>
            </p:cNvSpPr>
            <p:nvPr/>
          </p:nvSpPr>
          <p:spPr bwMode="auto">
            <a:xfrm flipH="1">
              <a:off x="4570" y="297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omic Sans MS" pitchFamily="66" charset="0"/>
              </a:endParaRP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7696200" y="3865482"/>
            <a:ext cx="885825" cy="369888"/>
            <a:chOff x="4570" y="2832"/>
            <a:chExt cx="558" cy="233"/>
          </a:xfrm>
        </p:grpSpPr>
        <p:sp>
          <p:nvSpPr>
            <p:cNvPr id="307223" name="Text Box 23"/>
            <p:cNvSpPr txBox="1">
              <a:spLocks noChangeArrowheads="1"/>
            </p:cNvSpPr>
            <p:nvPr/>
          </p:nvSpPr>
          <p:spPr bwMode="auto">
            <a:xfrm>
              <a:off x="4848" y="2832"/>
              <a:ext cx="280" cy="233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omic Sans MS" pitchFamily="66" charset="0"/>
                </a:rPr>
                <a:t>PC</a:t>
              </a:r>
            </a:p>
          </p:txBody>
        </p:sp>
        <p:sp>
          <p:nvSpPr>
            <p:cNvPr id="307224" name="Line 24"/>
            <p:cNvSpPr>
              <a:spLocks noChangeShapeType="1"/>
            </p:cNvSpPr>
            <p:nvPr/>
          </p:nvSpPr>
          <p:spPr bwMode="auto">
            <a:xfrm flipH="1">
              <a:off x="4570" y="297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 dirty="0">
                <a:latin typeface="Comic Sans MS" pitchFamily="66" charset="0"/>
              </a:endParaRPr>
            </a:p>
          </p:txBody>
        </p:sp>
      </p:grp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15E0FFB-3008-584C-A3F9-FBB9B949D48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07207" name="AutoShape 7"/>
          <p:cNvSpPr>
            <a:spLocks noChangeArrowheads="1"/>
          </p:cNvSpPr>
          <p:nvPr/>
        </p:nvSpPr>
        <p:spPr bwMode="auto">
          <a:xfrm rot="10800000">
            <a:off x="5396389" y="2141804"/>
            <a:ext cx="838200" cy="321120"/>
          </a:xfrm>
          <a:prstGeom prst="leftRightArrow">
            <a:avLst>
              <a:gd name="adj1" fmla="val 50000"/>
              <a:gd name="adj2" fmla="val 22000"/>
            </a:avLst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91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30" y="1954491"/>
            <a:ext cx="8606246" cy="46750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solidFill>
                  <a:srgbClr val="C00000"/>
                </a:solidFill>
              </a:rPr>
              <a:t>Flow of Execution </a:t>
            </a:r>
            <a:r>
              <a:rPr lang="en-US" alt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(Flow of Control) </a:t>
            </a:r>
          </a:p>
          <a:p>
            <a:pPr marL="457200" lvl="1" indent="0" algn="ctr">
              <a:spcBef>
                <a:spcPts val="600"/>
              </a:spcBef>
              <a:buNone/>
            </a:pPr>
            <a:r>
              <a:rPr lang="en-US" altLang="en-US" sz="2300" i="1" dirty="0">
                <a:solidFill>
                  <a:srgbClr val="0070C0"/>
                </a:solidFill>
              </a:rPr>
              <a:t>“</a:t>
            </a:r>
            <a:r>
              <a:rPr lang="en-US" sz="2300" i="1" dirty="0">
                <a:solidFill>
                  <a:srgbClr val="0070C0"/>
                </a:solidFill>
              </a:rPr>
              <a:t>sequence in which program instructions are executed”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path taken by a program,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from start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till end of execution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		</a:t>
            </a:r>
            <a:r>
              <a:rPr lang="en-US" sz="2000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(includes branches, function calls, </a:t>
            </a:r>
            <a:r>
              <a:rPr lang="en-US" sz="2000" b="0" i="1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etc</a:t>
            </a:r>
            <a:r>
              <a:rPr lang="en-US" sz="2000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</a:t>
            </a:r>
            <a:endParaRPr lang="en-US" altLang="en-US" sz="2000" i="1" dirty="0">
              <a:solidFill>
                <a:srgbClr val="FF0000"/>
              </a:solidFill>
            </a:endParaRPr>
          </a:p>
          <a:p>
            <a:pPr>
              <a:spcBef>
                <a:spcPts val="2400"/>
              </a:spcBef>
            </a:pPr>
            <a:r>
              <a:rPr lang="en-US" altLang="en-US" sz="2300" dirty="0">
                <a:solidFill>
                  <a:srgbClr val="C00000"/>
                </a:solidFill>
              </a:rPr>
              <a:t>Execution Context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en-US" sz="2300" i="1" dirty="0">
                <a:solidFill>
                  <a:srgbClr val="0070C0"/>
                </a:solidFill>
              </a:rPr>
              <a:t>“</a:t>
            </a:r>
            <a:r>
              <a:rPr lang="en-US" sz="2300" i="1" dirty="0">
                <a:solidFill>
                  <a:srgbClr val="0070C0"/>
                </a:solidFill>
              </a:rPr>
              <a:t>state of the program, at a specific point in time, </a:t>
            </a:r>
            <a:br>
              <a:rPr lang="en-US" sz="2300" i="1" dirty="0">
                <a:solidFill>
                  <a:srgbClr val="0070C0"/>
                </a:solidFill>
              </a:rPr>
            </a:br>
            <a:r>
              <a:rPr lang="en-US" sz="2300" i="1" dirty="0">
                <a:solidFill>
                  <a:srgbClr val="0070C0"/>
                </a:solidFill>
              </a:rPr>
              <a:t>during its execution</a:t>
            </a:r>
            <a:r>
              <a:rPr lang="en-US" altLang="en-US" sz="2300" i="1" dirty="0">
                <a:solidFill>
                  <a:srgbClr val="0070C0"/>
                </a:solidFill>
              </a:rPr>
              <a:t>”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values of program variables – </a:t>
            </a:r>
            <a:r>
              <a:rPr lang="en-US" sz="2000" i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Stack, Heap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contents of CPU registers – </a:t>
            </a:r>
            <a:r>
              <a:rPr lang="en-US" sz="2000" i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PC, SP, FP, PSW, gen purpose regs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state of open files, other I/O operations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5EB936-5014-79C2-CAE5-F1A61C41C4C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0772D68-4A9B-A240-7E58-91DF2AF90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4555"/>
            <a:ext cx="8153776" cy="691056"/>
          </a:xfrm>
        </p:spPr>
        <p:txBody>
          <a:bodyPr>
            <a:noAutofit/>
          </a:bodyPr>
          <a:lstStyle/>
          <a:p>
            <a:r>
              <a:rPr lang="en-US" sz="2800" dirty="0"/>
              <a:t>Flow of Execution &amp; Execution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0BA80A-2113-3CDA-DBBE-465754C18652}"/>
              </a:ext>
            </a:extLst>
          </p:cNvPr>
          <p:cNvSpPr txBox="1"/>
          <p:nvPr/>
        </p:nvSpPr>
        <p:spPr>
          <a:xfrm>
            <a:off x="1648834" y="977487"/>
            <a:ext cx="5805236" cy="88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“Every process has a unique flow of execution </a:t>
            </a:r>
            <a:b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execution context”</a:t>
            </a:r>
          </a:p>
        </p:txBody>
      </p:sp>
    </p:spTree>
    <p:extLst>
      <p:ext uri="{BB962C8B-B14F-4D97-AF65-F5344CB8AC3E}">
        <p14:creationId xmlns:p14="http://schemas.microsoft.com/office/powerpoint/2010/main" val="375290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9661" t="43156" r="7798" b="10033"/>
          <a:stretch/>
        </p:blipFill>
        <p:spPr>
          <a:xfrm>
            <a:off x="4356241" y="3423042"/>
            <a:ext cx="4709308" cy="167962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9AD297E-C684-48F5-18D8-C2EF337868E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A39759-B185-1920-8F94-BEB79CD9C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0"/>
            <a:ext cx="8178800" cy="792480"/>
          </a:xfrm>
        </p:spPr>
        <p:txBody>
          <a:bodyPr>
            <a:noAutofit/>
          </a:bodyPr>
          <a:lstStyle/>
          <a:p>
            <a:r>
              <a:rPr lang="en-US" sz="2800" dirty="0"/>
              <a:t>Sequential, Parallel, Concurrent Execution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1BBD33-F03E-95DD-6AE4-DF099385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770" y="1122287"/>
            <a:ext cx="8606246" cy="5582603"/>
          </a:xfrm>
        </p:spPr>
        <p:txBody>
          <a:bodyPr/>
          <a:lstStyle/>
          <a:p>
            <a:pPr marL="0" indent="0">
              <a:spcBef>
                <a:spcPts val="1800"/>
              </a:spcBef>
              <a:buNone/>
            </a:pPr>
            <a:r>
              <a:rPr lang="en-US" altLang="en-US" dirty="0">
                <a:solidFill>
                  <a:srgbClr val="C00000"/>
                </a:solidFill>
              </a:rPr>
              <a:t>Sequential Execution</a:t>
            </a:r>
          </a:p>
          <a:p>
            <a:pPr>
              <a:spcBef>
                <a:spcPts val="600"/>
              </a:spcBef>
            </a:pPr>
            <a:r>
              <a:rPr lang="en-US" altLang="en-US" sz="2100" dirty="0"/>
              <a:t>adding eight numbers needs seven addition operations</a:t>
            </a:r>
            <a:br>
              <a:rPr lang="en-US" altLang="en-US" sz="2200" dirty="0"/>
            </a:br>
            <a:r>
              <a:rPr lang="en-US" altLang="en-US" sz="2200" dirty="0"/>
              <a:t> 	        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x</a:t>
            </a:r>
            <a:r>
              <a:rPr lang="en-US" alt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>
              <a:spcBef>
                <a:spcPts val="600"/>
              </a:spcBef>
            </a:pPr>
            <a:r>
              <a:rPr lang="en-US" altLang="en-US" sz="2100" dirty="0"/>
              <a:t>if one addition uses one CPU cycle  </a:t>
            </a:r>
            <a:r>
              <a:rPr lang="en-US" altLang="en-US" sz="2100" dirty="0">
                <a:latin typeface="Abadi" panose="020B0604020104020204" pitchFamily="34" charset="0"/>
              </a:rPr>
              <a:t>→</a:t>
            </a:r>
            <a:r>
              <a:rPr lang="en-US" altLang="en-US" sz="2100" dirty="0"/>
              <a:t>  7 CPU cycles in total</a:t>
            </a:r>
          </a:p>
          <a:p>
            <a:pPr marL="0" indent="0">
              <a:spcBef>
                <a:spcPts val="4200"/>
              </a:spcBef>
              <a:buNone/>
            </a:pPr>
            <a:r>
              <a:rPr lang="en-US" altLang="en-US" dirty="0">
                <a:solidFill>
                  <a:srgbClr val="C00000"/>
                </a:solidFill>
              </a:rPr>
              <a:t>Parallel Execution</a:t>
            </a:r>
          </a:p>
          <a:p>
            <a:pPr>
              <a:spcBef>
                <a:spcPts val="600"/>
              </a:spcBef>
            </a:pPr>
            <a:r>
              <a:rPr lang="en-US" altLang="en-US" sz="2200" dirty="0"/>
              <a:t>with 4 CPUs </a:t>
            </a:r>
            <a:r>
              <a:rPr lang="en-US" altLang="en-US" sz="2200" i="1" dirty="0"/>
              <a:t>(or 4 Core CPU)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2200" i="1" dirty="0"/>
              <a:t>     </a:t>
            </a:r>
            <a:r>
              <a:rPr lang="en-US" altLang="en-US" sz="2200" dirty="0"/>
              <a:t>addition will take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en-US" sz="2200" dirty="0"/>
              <a:t>     3 CPU cycles</a:t>
            </a:r>
          </a:p>
          <a:p>
            <a:pPr>
              <a:spcBef>
                <a:spcPts val="600"/>
              </a:spcBef>
            </a:pPr>
            <a:endParaRPr lang="en-US" altLang="en-US" sz="1200" dirty="0"/>
          </a:p>
          <a:p>
            <a:pPr>
              <a:spcBef>
                <a:spcPts val="600"/>
              </a:spcBef>
            </a:pPr>
            <a:endParaRPr lang="en-US" altLang="en-US" sz="1200" dirty="0"/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rgbClr val="C00000"/>
                </a:solidFill>
              </a:rPr>
              <a:t>Concurrent Execution</a:t>
            </a:r>
          </a:p>
          <a:p>
            <a:pPr>
              <a:spcBef>
                <a:spcPts val="600"/>
              </a:spcBef>
            </a:pPr>
            <a:r>
              <a:rPr lang="en-US" sz="2100" dirty="0"/>
              <a:t>Single CPU switches rapidly between processes </a:t>
            </a:r>
            <a:r>
              <a:rPr lang="en-US" sz="2100" i="1" dirty="0"/>
              <a:t>(time-shared)</a:t>
            </a:r>
            <a:endParaRPr lang="en-US" altLang="en-US" sz="2100" i="1" dirty="0"/>
          </a:p>
        </p:txBody>
      </p:sp>
    </p:spTree>
    <p:extLst>
      <p:ext uri="{BB962C8B-B14F-4D97-AF65-F5344CB8AC3E}">
        <p14:creationId xmlns:p14="http://schemas.microsoft.com/office/powerpoint/2010/main" val="253401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9AD297E-C684-48F5-18D8-C2EF337868E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CA39759-B185-1920-8F94-BEB79CD9C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200" y="0"/>
            <a:ext cx="7921946" cy="792480"/>
          </a:xfrm>
        </p:spPr>
        <p:txBody>
          <a:bodyPr>
            <a:noAutofit/>
          </a:bodyPr>
          <a:lstStyle/>
          <a:p>
            <a:r>
              <a:rPr lang="en-US" sz="2800" dirty="0"/>
              <a:t>Multiple Flows of Execution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1BBD33-F03E-95DD-6AE4-DF099385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90" y="1208690"/>
            <a:ext cx="8574716" cy="546537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dirty="0"/>
              <a:t>Concurrent &amp; Parallel execution requires </a:t>
            </a:r>
            <a:r>
              <a:rPr lang="en-US" altLang="en-US" dirty="0">
                <a:solidFill>
                  <a:srgbClr val="C00000"/>
                </a:solidFill>
              </a:rPr>
              <a:t>multiple flows of execution</a:t>
            </a:r>
          </a:p>
          <a:p>
            <a:pPr>
              <a:spcBef>
                <a:spcPts val="1800"/>
              </a:spcBef>
            </a:pPr>
            <a:r>
              <a:rPr lang="en-US" altLang="en-US" dirty="0"/>
              <a:t>How to have multiple flows of execution…</a:t>
            </a:r>
          </a:p>
          <a:p>
            <a:pPr lvl="1">
              <a:spcBef>
                <a:spcPts val="1800"/>
              </a:spcBef>
            </a:pPr>
            <a:r>
              <a:rPr lang="en-US" altLang="en-US" dirty="0"/>
              <a:t>create </a:t>
            </a:r>
            <a:r>
              <a:rPr lang="en-US" altLang="en-US" i="1" dirty="0">
                <a:solidFill>
                  <a:srgbClr val="00B0F0"/>
                </a:solidFill>
              </a:rPr>
              <a:t>multiple processes </a:t>
            </a:r>
            <a:r>
              <a:rPr lang="en-US" altLang="en-US" dirty="0"/>
              <a:t>in the system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altLang="en-US" dirty="0"/>
              <a:t>child processes, using fork()</a:t>
            </a:r>
          </a:p>
          <a:p>
            <a:pPr lvl="1">
              <a:spcBef>
                <a:spcPts val="1800"/>
              </a:spcBef>
            </a:pPr>
            <a:r>
              <a:rPr lang="en-US" altLang="en-US" dirty="0"/>
              <a:t>create </a:t>
            </a:r>
            <a:r>
              <a:rPr lang="en-US" altLang="en-US" i="1" dirty="0">
                <a:solidFill>
                  <a:srgbClr val="00B0F0"/>
                </a:solidFill>
              </a:rPr>
              <a:t>Threads</a:t>
            </a:r>
            <a:r>
              <a:rPr lang="en-US" altLang="en-US" dirty="0"/>
              <a:t> 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altLang="en-US" dirty="0"/>
              <a:t>more efficient than processes – need to study</a:t>
            </a:r>
          </a:p>
          <a:p>
            <a:pPr>
              <a:spcBef>
                <a:spcPts val="60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532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Threads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810" y="1122996"/>
            <a:ext cx="8516532" cy="547084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/>
              <a:t>Process model, studied so far, assumed that: </a:t>
            </a:r>
          </a:p>
          <a:p>
            <a:pPr marL="457200" lvl="1" indent="0" algn="ctr">
              <a:spcBef>
                <a:spcPts val="600"/>
              </a:spcBef>
              <a:buNone/>
            </a:pPr>
            <a:r>
              <a:rPr lang="en-US" altLang="en-US" sz="2300" dirty="0">
                <a:solidFill>
                  <a:srgbClr val="FF0000"/>
                </a:solidFill>
              </a:rPr>
              <a:t>“A process is a program in execution, </a:t>
            </a:r>
            <a:br>
              <a:rPr lang="en-US" altLang="en-US" sz="2300" dirty="0">
                <a:solidFill>
                  <a:srgbClr val="FF0000"/>
                </a:solidFill>
              </a:rPr>
            </a:br>
            <a:r>
              <a:rPr lang="en-US" altLang="en-US" sz="2300" dirty="0">
                <a:solidFill>
                  <a:srgbClr val="FF0000"/>
                </a:solidFill>
              </a:rPr>
              <a:t>with a single flow of execution, or flow of control”</a:t>
            </a:r>
          </a:p>
          <a:p>
            <a:pPr>
              <a:spcBef>
                <a:spcPts val="2400"/>
              </a:spcBef>
            </a:pPr>
            <a:r>
              <a:rPr lang="en-US" altLang="en-US" sz="2300" dirty="0"/>
              <a:t>However, all modern OS allow a </a:t>
            </a:r>
            <a:r>
              <a:rPr lang="en-US" altLang="en-US" sz="2300" dirty="0">
                <a:solidFill>
                  <a:srgbClr val="0000CC"/>
                </a:solidFill>
              </a:rPr>
              <a:t>process</a:t>
            </a:r>
            <a:r>
              <a:rPr lang="en-US" altLang="en-US" sz="2300" dirty="0"/>
              <a:t> to contain </a:t>
            </a:r>
            <a:r>
              <a:rPr lang="en-US" altLang="en-US" sz="2300" dirty="0">
                <a:solidFill>
                  <a:srgbClr val="0000CC"/>
                </a:solidFill>
              </a:rPr>
              <a:t>multiple flows of execution</a:t>
            </a:r>
            <a:r>
              <a:rPr lang="en-US" altLang="en-US" sz="2300" dirty="0"/>
              <a:t>: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en-US" sz="2300" dirty="0">
                <a:solidFill>
                  <a:srgbClr val="FF0000"/>
                </a:solidFill>
              </a:rPr>
              <a:t>“Thread is a single flow of execution, </a:t>
            </a:r>
            <a:br>
              <a:rPr lang="en-US" altLang="en-US" sz="2300" dirty="0">
                <a:solidFill>
                  <a:srgbClr val="FF0000"/>
                </a:solidFill>
              </a:rPr>
            </a:br>
            <a:r>
              <a:rPr lang="en-US" altLang="en-US" sz="2300" dirty="0">
                <a:solidFill>
                  <a:srgbClr val="FF0000"/>
                </a:solidFill>
              </a:rPr>
              <a:t>used to perform some particular task </a:t>
            </a:r>
            <a:r>
              <a:rPr lang="en-US" altLang="en-US" sz="2300" i="1" dirty="0">
                <a:solidFill>
                  <a:srgbClr val="0000CC"/>
                </a:solidFill>
              </a:rPr>
              <a:t>within a process</a:t>
            </a:r>
            <a:r>
              <a:rPr lang="en-US" altLang="en-US" sz="2300" dirty="0">
                <a:solidFill>
                  <a:srgbClr val="FF0000"/>
                </a:solidFill>
              </a:rPr>
              <a:t>”</a:t>
            </a:r>
          </a:p>
          <a:p>
            <a:pPr>
              <a:spcBef>
                <a:spcPts val="2400"/>
              </a:spcBef>
            </a:pPr>
            <a:r>
              <a:rPr lang="en-US" altLang="en-US" sz="2300" dirty="0"/>
              <a:t>If a process has multiple threads, it can perform more than one task concurrently </a:t>
            </a:r>
            <a:r>
              <a:rPr lang="en-US" altLang="en-US" sz="2200" i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(or in parallel)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/>
              <a:t>each thread performs a separate task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sz="2100" i="1" dirty="0"/>
              <a:t>     (update display, fetch data, spell check, answer network request)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5EB936-5014-79C2-CAE5-F1A61C41C4C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1046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42"/>
          <p:cNvSpPr txBox="1">
            <a:spLocks noChangeArrowheads="1"/>
          </p:cNvSpPr>
          <p:nvPr/>
        </p:nvSpPr>
        <p:spPr bwMode="auto">
          <a:xfrm>
            <a:off x="1079827" y="2026147"/>
            <a:ext cx="2444992" cy="4353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main()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{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    …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    f1(…);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    …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    f2(…);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    …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}</a:t>
            </a:r>
          </a:p>
          <a:p>
            <a:pPr>
              <a:lnSpc>
                <a:spcPct val="65000"/>
              </a:lnSpc>
              <a:spcBef>
                <a:spcPct val="100000"/>
              </a:spcBef>
            </a:pPr>
            <a:r>
              <a:rPr lang="en-US" sz="2200" b="1" dirty="0">
                <a:latin typeface="Courier New" pitchFamily="49" charset="0"/>
              </a:rPr>
              <a:t>f1(…)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{ … }</a:t>
            </a:r>
          </a:p>
          <a:p>
            <a:pPr>
              <a:lnSpc>
                <a:spcPct val="65000"/>
              </a:lnSpc>
              <a:spcBef>
                <a:spcPct val="100000"/>
              </a:spcBef>
            </a:pPr>
            <a:r>
              <a:rPr lang="en-US" sz="2200" b="1" dirty="0">
                <a:latin typeface="Courier New" pitchFamily="49" charset="0"/>
              </a:rPr>
              <a:t>f2(…)</a:t>
            </a:r>
          </a:p>
          <a:p>
            <a:pPr>
              <a:lnSpc>
                <a:spcPct val="65000"/>
              </a:lnSpc>
              <a:spcBef>
                <a:spcPct val="30000"/>
              </a:spcBef>
            </a:pPr>
            <a:r>
              <a:rPr lang="en-US" sz="2200" b="1" dirty="0">
                <a:latin typeface="Courier New" pitchFamily="49" charset="0"/>
              </a:rPr>
              <a:t>{ … 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ABFDF8-FF7C-9E01-4F00-84FEFFD8499F}"/>
              </a:ext>
            </a:extLst>
          </p:cNvPr>
          <p:cNvGrpSpPr/>
          <p:nvPr/>
        </p:nvGrpSpPr>
        <p:grpSpPr>
          <a:xfrm>
            <a:off x="4673600" y="1838369"/>
            <a:ext cx="3464560" cy="4741298"/>
            <a:chOff x="4714240" y="1290320"/>
            <a:chExt cx="3581400" cy="5051286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H="1">
              <a:off x="5476240" y="17475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5476240" y="18999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 flipH="1">
              <a:off x="5476240" y="20523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5476240" y="22047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H="1">
              <a:off x="5476240" y="23571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5476240" y="25095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5476240" y="26619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5476240" y="28143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H="1">
              <a:off x="5476240" y="29667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H="1">
              <a:off x="5476240" y="3271520"/>
              <a:ext cx="762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5476240" y="34239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H="1">
              <a:off x="5476240" y="35763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5476240" y="37287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H="1">
              <a:off x="5476240" y="38811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5476240" y="40335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H="1">
              <a:off x="5476240" y="41859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5476240" y="433832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H="1">
              <a:off x="7305040" y="3881120"/>
              <a:ext cx="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7305040" y="40335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H="1">
              <a:off x="7305040" y="41859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7305040" y="43383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H="1">
              <a:off x="7305040" y="44907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7305040" y="46431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H="1">
              <a:off x="7305040" y="47955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7305040" y="49479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H="1">
              <a:off x="7305040" y="51003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H="1">
              <a:off x="7305040" y="2509520"/>
              <a:ext cx="762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7305040" y="26619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 flipH="1">
              <a:off x="7305040" y="28143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7305040" y="29667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 flipH="1">
              <a:off x="7305040" y="31191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7305040" y="32715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H="1">
              <a:off x="7305040" y="342392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5552440" y="4628833"/>
              <a:ext cx="76200" cy="2286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 flipH="1">
              <a:off x="5476240" y="4857433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>
              <a:off x="5476240" y="5009833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H="1">
              <a:off x="5476240" y="5162233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>
              <a:off x="5476240" y="5314633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6" name="Line 41"/>
            <p:cNvSpPr>
              <a:spLocks noChangeShapeType="1"/>
            </p:cNvSpPr>
            <p:nvPr/>
          </p:nvSpPr>
          <p:spPr bwMode="auto">
            <a:xfrm flipH="1">
              <a:off x="5476240" y="5467033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8" name="Text Box 43"/>
            <p:cNvSpPr txBox="1">
              <a:spLocks noChangeArrowheads="1"/>
            </p:cNvSpPr>
            <p:nvPr/>
          </p:nvSpPr>
          <p:spPr bwMode="auto">
            <a:xfrm>
              <a:off x="5019040" y="1290320"/>
              <a:ext cx="1295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Thread</a:t>
              </a:r>
            </a:p>
          </p:txBody>
        </p:sp>
        <p:sp>
          <p:nvSpPr>
            <p:cNvPr id="49" name="Text Box 44"/>
            <p:cNvSpPr txBox="1">
              <a:spLocks noChangeArrowheads="1"/>
            </p:cNvSpPr>
            <p:nvPr/>
          </p:nvSpPr>
          <p:spPr bwMode="auto">
            <a:xfrm>
              <a:off x="4714240" y="5633720"/>
              <a:ext cx="175260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Process Terminated</a:t>
              </a: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 flipV="1">
              <a:off x="5476240" y="2509520"/>
              <a:ext cx="1905000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Text Box 46"/>
            <p:cNvSpPr txBox="1">
              <a:spLocks noChangeArrowheads="1"/>
            </p:cNvSpPr>
            <p:nvPr/>
          </p:nvSpPr>
          <p:spPr bwMode="auto">
            <a:xfrm>
              <a:off x="7838440" y="4262120"/>
              <a:ext cx="4572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f2</a:t>
              </a:r>
            </a:p>
          </p:txBody>
        </p:sp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7762240" y="2814320"/>
              <a:ext cx="4572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f1</a:t>
              </a:r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 flipH="1" flipV="1">
              <a:off x="5552440" y="3271520"/>
              <a:ext cx="175260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 flipV="1">
              <a:off x="5628640" y="3881120"/>
              <a:ext cx="1676400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 flipH="1" flipV="1">
              <a:off x="5552440" y="4643120"/>
              <a:ext cx="1752600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57" name="Rectangle 2"/>
          <p:cNvSpPr>
            <a:spLocks noGrp="1" noChangeArrowheads="1"/>
          </p:cNvSpPr>
          <p:nvPr>
            <p:ph type="title"/>
          </p:nvPr>
        </p:nvSpPr>
        <p:spPr>
          <a:xfrm>
            <a:off x="802640" y="-1"/>
            <a:ext cx="8341360" cy="753551"/>
          </a:xfrm>
        </p:spPr>
        <p:txBody>
          <a:bodyPr>
            <a:noAutofit/>
          </a:bodyPr>
          <a:lstStyle/>
          <a:p>
            <a:r>
              <a:rPr lang="en-US" dirty="0"/>
              <a:t>Single Threaded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328550-82DB-94E7-9342-5C8CFFEB7A3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1E60B-4AB6-456B-BC43-FEF284645745}"/>
              </a:ext>
            </a:extLst>
          </p:cNvPr>
          <p:cNvSpPr txBox="1"/>
          <p:nvPr/>
        </p:nvSpPr>
        <p:spPr>
          <a:xfrm>
            <a:off x="365760" y="1080922"/>
            <a:ext cx="7986794" cy="446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Tx/>
              <a:buFont typeface="Wingdings" pitchFamily="2" charset="2"/>
              <a:buChar char="§"/>
              <a:tabLst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 example of a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with a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single thread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599" cy="716280"/>
          </a:xfrm>
        </p:spPr>
        <p:txBody>
          <a:bodyPr>
            <a:noAutofit/>
          </a:bodyPr>
          <a:lstStyle/>
          <a:p>
            <a:r>
              <a:rPr lang="en-US" dirty="0"/>
              <a:t>Multi Threaded Process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55EC28-4CEB-56FA-5E67-B5DDDCF0FC08}"/>
              </a:ext>
            </a:extLst>
          </p:cNvPr>
          <p:cNvGrpSpPr/>
          <p:nvPr/>
        </p:nvGrpSpPr>
        <p:grpSpPr>
          <a:xfrm>
            <a:off x="759460" y="1996440"/>
            <a:ext cx="7896860" cy="4470400"/>
            <a:chOff x="759460" y="1996440"/>
            <a:chExt cx="7896860" cy="4470400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 flipH="1">
              <a:off x="5374640" y="30378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5374640" y="31902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" name="Line 5"/>
            <p:cNvSpPr>
              <a:spLocks noChangeShapeType="1"/>
            </p:cNvSpPr>
            <p:nvPr/>
          </p:nvSpPr>
          <p:spPr bwMode="auto">
            <a:xfrm flipH="1">
              <a:off x="5374640" y="33426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5374640" y="34950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H="1">
              <a:off x="5374640" y="36474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5374640" y="37998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5374640" y="39522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5374640" y="41046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5374640" y="42570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5374640" y="44094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H="1">
              <a:off x="5374640" y="45618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5374640" y="47142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 flipH="1">
              <a:off x="5374640" y="48666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5374640" y="50190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H="1">
              <a:off x="5374640" y="51714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5374640" y="53238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 flipH="1">
              <a:off x="7513320" y="33426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7513320" y="34950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 flipH="1">
              <a:off x="7513320" y="36474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7513320" y="37998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 flipH="1">
              <a:off x="7513320" y="39522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7513320" y="41046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H="1">
              <a:off x="7513320" y="42570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7513320" y="44094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 flipH="1">
              <a:off x="7513320" y="45618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 flipH="1">
              <a:off x="6822440" y="33426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6822440" y="34950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 flipH="1">
              <a:off x="6822440" y="36474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6822440" y="37998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 flipH="1">
              <a:off x="6822440" y="39522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>
              <a:off x="6822440" y="41046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 flipH="1">
              <a:off x="6822440" y="42570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 flipH="1">
              <a:off x="5374640" y="54762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374640" y="56286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 flipH="1">
              <a:off x="5374640" y="57810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5374640" y="59334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 flipH="1">
              <a:off x="5374640" y="6085840"/>
              <a:ext cx="152400" cy="15240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4" name="Text Box 40"/>
            <p:cNvSpPr txBox="1">
              <a:spLocks noChangeArrowheads="1"/>
            </p:cNvSpPr>
            <p:nvPr/>
          </p:nvSpPr>
          <p:spPr bwMode="auto">
            <a:xfrm>
              <a:off x="759460" y="2109561"/>
              <a:ext cx="3581399" cy="43538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main()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{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    …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    thread(t1,f1);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    …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    thread(t2,f2);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    …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}</a:t>
              </a:r>
            </a:p>
            <a:p>
              <a:pPr>
                <a:lnSpc>
                  <a:spcPct val="65000"/>
                </a:lnSpc>
                <a:spcBef>
                  <a:spcPct val="100000"/>
                </a:spcBef>
              </a:pPr>
              <a:r>
                <a:rPr lang="en-US" sz="2200" b="1" dirty="0">
                  <a:latin typeface="Courier New" pitchFamily="49" charset="0"/>
                </a:rPr>
                <a:t>f1(…)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{ … }</a:t>
              </a:r>
            </a:p>
            <a:p>
              <a:pPr>
                <a:lnSpc>
                  <a:spcPct val="65000"/>
                </a:lnSpc>
                <a:spcBef>
                  <a:spcPct val="100000"/>
                </a:spcBef>
              </a:pPr>
              <a:r>
                <a:rPr lang="en-US" sz="2200" b="1" dirty="0">
                  <a:latin typeface="Courier New" pitchFamily="49" charset="0"/>
                </a:rPr>
                <a:t>f2(…)</a:t>
              </a:r>
            </a:p>
            <a:p>
              <a:pPr>
                <a:lnSpc>
                  <a:spcPct val="65000"/>
                </a:lnSpc>
                <a:spcBef>
                  <a:spcPct val="30000"/>
                </a:spcBef>
              </a:pPr>
              <a:r>
                <a:rPr lang="en-US" sz="2200" b="1" dirty="0">
                  <a:latin typeface="Courier New" pitchFamily="49" charset="0"/>
                </a:rPr>
                <a:t>{ … }</a:t>
              </a:r>
            </a:p>
          </p:txBody>
        </p:sp>
        <p:sp>
          <p:nvSpPr>
            <p:cNvPr id="45" name="Text Box 41"/>
            <p:cNvSpPr txBox="1">
              <a:spLocks noChangeArrowheads="1"/>
            </p:cNvSpPr>
            <p:nvPr/>
          </p:nvSpPr>
          <p:spPr bwMode="auto">
            <a:xfrm>
              <a:off x="5069840" y="2580640"/>
              <a:ext cx="914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/>
                <a:t>main</a:t>
              </a:r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7360920" y="2656840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t2</a:t>
              </a: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6670040" y="2656840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t1</a:t>
              </a: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7513320" y="47142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 flipH="1">
              <a:off x="7513320" y="4866640"/>
              <a:ext cx="152400" cy="152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4765040" y="2504440"/>
              <a:ext cx="0" cy="396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4765040" y="2504439"/>
              <a:ext cx="38912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8656320" y="2504440"/>
              <a:ext cx="0" cy="396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4765040" y="6466840"/>
              <a:ext cx="38912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4" name="Text Box 50"/>
            <p:cNvSpPr txBox="1">
              <a:spLocks noChangeArrowheads="1"/>
            </p:cNvSpPr>
            <p:nvPr/>
          </p:nvSpPr>
          <p:spPr bwMode="auto">
            <a:xfrm>
              <a:off x="4770120" y="1996440"/>
              <a:ext cx="38862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Process Address Space</a:t>
              </a:r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 flipH="1">
              <a:off x="5527040" y="486664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56" name="Text Box 52"/>
            <p:cNvSpPr txBox="1">
              <a:spLocks noChangeArrowheads="1"/>
            </p:cNvSpPr>
            <p:nvPr/>
          </p:nvSpPr>
          <p:spPr bwMode="auto">
            <a:xfrm>
              <a:off x="5984240" y="4714240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PC</a:t>
              </a:r>
            </a:p>
          </p:txBody>
        </p:sp>
        <p:sp>
          <p:nvSpPr>
            <p:cNvPr id="57" name="Text Box 53"/>
            <p:cNvSpPr txBox="1">
              <a:spLocks noChangeArrowheads="1"/>
            </p:cNvSpPr>
            <p:nvPr/>
          </p:nvSpPr>
          <p:spPr bwMode="auto">
            <a:xfrm>
              <a:off x="8122920" y="3495040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PC</a:t>
              </a:r>
            </a:p>
          </p:txBody>
        </p:sp>
        <p:sp>
          <p:nvSpPr>
            <p:cNvPr id="58" name="Text Box 54"/>
            <p:cNvSpPr txBox="1">
              <a:spLocks noChangeArrowheads="1"/>
            </p:cNvSpPr>
            <p:nvPr/>
          </p:nvSpPr>
          <p:spPr bwMode="auto">
            <a:xfrm>
              <a:off x="5984240" y="3952240"/>
              <a:ext cx="5334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PC</a:t>
              </a:r>
            </a:p>
          </p:txBody>
        </p:sp>
        <p:sp>
          <p:nvSpPr>
            <p:cNvPr id="59" name="Line 55"/>
            <p:cNvSpPr>
              <a:spLocks noChangeShapeType="1"/>
            </p:cNvSpPr>
            <p:nvPr/>
          </p:nvSpPr>
          <p:spPr bwMode="auto">
            <a:xfrm>
              <a:off x="6441440" y="410464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60" name="Line 56"/>
            <p:cNvSpPr>
              <a:spLocks noChangeShapeType="1"/>
            </p:cNvSpPr>
            <p:nvPr/>
          </p:nvSpPr>
          <p:spPr bwMode="auto">
            <a:xfrm flipH="1">
              <a:off x="7665720" y="364744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2000"/>
            </a:p>
          </p:txBody>
        </p:sp>
      </p:grp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5759F3-5060-9BEF-37D2-43F01F06BFC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8A5A0-A973-B02A-FC52-46225DCAC94C}"/>
              </a:ext>
            </a:extLst>
          </p:cNvPr>
          <p:cNvSpPr txBox="1"/>
          <p:nvPr/>
        </p:nvSpPr>
        <p:spPr>
          <a:xfrm>
            <a:off x="355600" y="966677"/>
            <a:ext cx="8524240" cy="81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main() function is executed by one thread, while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f1 &amp; f2 are executed by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separate threads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160" y="0"/>
            <a:ext cx="8117840" cy="751840"/>
          </a:xfrm>
        </p:spPr>
        <p:txBody>
          <a:bodyPr>
            <a:noAutofit/>
          </a:bodyPr>
          <a:lstStyle/>
          <a:p>
            <a:r>
              <a:rPr lang="en-US" dirty="0"/>
              <a:t>Single &amp; Multithreaded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4B8A9C2-F45A-0D3E-6CA0-08198D2C356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85A1FB-93D4-9145-8953-549827CF9D21}"/>
              </a:ext>
            </a:extLst>
          </p:cNvPr>
          <p:cNvGrpSpPr/>
          <p:nvPr/>
        </p:nvGrpSpPr>
        <p:grpSpPr>
          <a:xfrm>
            <a:off x="552439" y="1451347"/>
            <a:ext cx="8243218" cy="4550670"/>
            <a:chOff x="450391" y="1262161"/>
            <a:chExt cx="8243218" cy="4550670"/>
          </a:xfrm>
        </p:grpSpPr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50391" y="1322140"/>
              <a:ext cx="8243218" cy="3596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Rectangle 3"/>
            <p:cNvSpPr txBox="1">
              <a:spLocks noChangeArrowheads="1"/>
            </p:cNvSpPr>
            <p:nvPr/>
          </p:nvSpPr>
          <p:spPr>
            <a:xfrm>
              <a:off x="1754778" y="5051565"/>
              <a:ext cx="2654662" cy="56673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R="0" lvl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Three processes, 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each with one thread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0AF07CA-8401-F1C3-6E98-B35614BC3B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855789" y="5046069"/>
              <a:ext cx="2245360" cy="76676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pPr marR="0" lvl="0" algn="ctr" defTabSz="914400" rtl="0" eaLnBrk="1" fontAlgn="auto" latinLnBrk="0" hangingPunct="1">
                <a:lnSpc>
                  <a:spcPct val="9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One process, 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with three threads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A4599D-4B39-7349-D0BF-AC994C5EBC74}"/>
                </a:ext>
              </a:extLst>
            </p:cNvPr>
            <p:cNvSpPr txBox="1"/>
            <p:nvPr/>
          </p:nvSpPr>
          <p:spPr>
            <a:xfrm>
              <a:off x="1127760" y="1268470"/>
              <a:ext cx="109728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Process 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3650FA-7B36-16C4-2806-DE4802E4203C}"/>
                </a:ext>
              </a:extLst>
            </p:cNvPr>
            <p:cNvSpPr txBox="1"/>
            <p:nvPr/>
          </p:nvSpPr>
          <p:spPr>
            <a:xfrm>
              <a:off x="2433320" y="1268470"/>
              <a:ext cx="109728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Process 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337DC1-FDCE-4ADA-D735-3B1A280D442F}"/>
                </a:ext>
              </a:extLst>
            </p:cNvPr>
            <p:cNvSpPr txBox="1"/>
            <p:nvPr/>
          </p:nvSpPr>
          <p:spPr>
            <a:xfrm>
              <a:off x="3627120" y="1262161"/>
              <a:ext cx="109728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Process 3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Threads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40" y="1040918"/>
            <a:ext cx="8564880" cy="5470843"/>
          </a:xfrm>
        </p:spPr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altLang="en-US" sz="2300" dirty="0">
                <a:solidFill>
                  <a:srgbClr val="C00000"/>
                </a:solidFill>
              </a:rPr>
              <a:t>“Thread is the basic unit of CPU utilization”</a:t>
            </a:r>
          </a:p>
          <a:p>
            <a:pPr>
              <a:spcBef>
                <a:spcPts val="1200"/>
              </a:spcBef>
            </a:pPr>
            <a:r>
              <a:rPr lang="en-US" sz="2300" dirty="0"/>
              <a:t>Thread is the entity that is scheduled for execution on CPU</a:t>
            </a:r>
            <a:endParaRPr lang="en-US" altLang="en-US" sz="2300" dirty="0"/>
          </a:p>
          <a:p>
            <a:pPr>
              <a:spcBef>
                <a:spcPts val="1200"/>
              </a:spcBef>
            </a:pPr>
            <a:r>
              <a:rPr lang="en-US" altLang="en-US" sz="2300" dirty="0"/>
              <a:t>Thread has </a:t>
            </a:r>
            <a:r>
              <a:rPr lang="en-US" altLang="en-US" sz="2300" i="1" dirty="0">
                <a:solidFill>
                  <a:srgbClr val="00B0F0"/>
                </a:solidFill>
              </a:rPr>
              <a:t>same address space </a:t>
            </a:r>
            <a:r>
              <a:rPr lang="en-US" altLang="en-US" sz="2300" dirty="0"/>
              <a:t>as the </a:t>
            </a:r>
            <a:r>
              <a:rPr lang="en-US" altLang="en-US" sz="2300" i="1" dirty="0">
                <a:solidFill>
                  <a:srgbClr val="00B0F0"/>
                </a:solidFill>
              </a:rPr>
              <a:t>process</a:t>
            </a:r>
            <a:r>
              <a:rPr lang="en-US" altLang="en-US" sz="2300" dirty="0"/>
              <a:t> that created it</a:t>
            </a:r>
          </a:p>
          <a:p>
            <a:pPr>
              <a:spcBef>
                <a:spcPts val="1200"/>
              </a:spcBef>
            </a:pPr>
            <a:r>
              <a:rPr lang="en-US" altLang="en-US" sz="2300" dirty="0"/>
              <a:t>A thread has its own: </a:t>
            </a:r>
          </a:p>
          <a:p>
            <a:pPr marL="914400" lvl="1" indent="0">
              <a:spcBef>
                <a:spcPts val="600"/>
              </a:spcBef>
              <a:buNone/>
            </a:pPr>
            <a:r>
              <a:rPr lang="en-US" altLang="en-US" sz="2100" dirty="0"/>
              <a:t>Thread ID 	Program counter value (PC) </a:t>
            </a:r>
            <a:br>
              <a:rPr lang="en-US" altLang="en-US" sz="2100" dirty="0"/>
            </a:br>
            <a:r>
              <a:rPr lang="en-US" altLang="en-US" sz="2100" dirty="0"/>
              <a:t>Stack		Register set (CPU registers) 	</a:t>
            </a:r>
          </a:p>
          <a:p>
            <a:pPr>
              <a:spcBef>
                <a:spcPts val="1200"/>
              </a:spcBef>
            </a:pPr>
            <a:r>
              <a:rPr lang="en-US" altLang="en-US" sz="2300" dirty="0"/>
              <a:t>Thread </a:t>
            </a:r>
            <a:r>
              <a:rPr lang="en-US" altLang="en-US" sz="2300" i="1" dirty="0">
                <a:solidFill>
                  <a:srgbClr val="00B0F0"/>
                </a:solidFill>
              </a:rPr>
              <a:t>shares</a:t>
            </a:r>
            <a:r>
              <a:rPr lang="en-US" altLang="en-US" sz="2300" dirty="0"/>
              <a:t> following with </a:t>
            </a:r>
            <a:r>
              <a:rPr lang="en-US" altLang="en-US" sz="2300" i="1" dirty="0">
                <a:solidFill>
                  <a:srgbClr val="00B0F0"/>
                </a:solidFill>
              </a:rPr>
              <a:t>other threads </a:t>
            </a:r>
            <a:r>
              <a:rPr lang="en-US" altLang="en-US" sz="2300" dirty="0"/>
              <a:t>in same process:</a:t>
            </a:r>
            <a:br>
              <a:rPr lang="en-US" altLang="en-US" sz="2300" dirty="0"/>
            </a:br>
            <a:r>
              <a:rPr lang="en-US" altLang="en-US" sz="2000" dirty="0"/>
              <a:t>           </a:t>
            </a:r>
            <a:r>
              <a:rPr lang="en-US" altLang="en-US" sz="2100" i="1" dirty="0"/>
              <a:t>PID, text section, data section, heap, open files, </a:t>
            </a:r>
            <a:r>
              <a:rPr lang="en-US" altLang="en-US" sz="2100" i="1" dirty="0" err="1"/>
              <a:t>etc</a:t>
            </a:r>
            <a:endParaRPr lang="en-US" altLang="en-US" sz="2100" i="1" dirty="0"/>
          </a:p>
          <a:p>
            <a:pPr>
              <a:spcBef>
                <a:spcPts val="1200"/>
              </a:spcBef>
            </a:pPr>
            <a:r>
              <a:rPr lang="en-US" sz="2300" dirty="0"/>
              <a:t>Can see thread IDs in shell </a:t>
            </a:r>
            <a:r>
              <a:rPr lang="en-US" sz="2300" dirty="0">
                <a:latin typeface="Abadi" panose="020B0604020104020204" pitchFamily="34" charset="0"/>
              </a:rPr>
              <a:t>→</a:t>
            </a:r>
            <a:r>
              <a:rPr lang="en-US" sz="2300" dirty="0"/>
              <a:t> </a:t>
            </a:r>
            <a:r>
              <a:rPr lang="en-US" sz="2300" i="1" dirty="0" err="1">
                <a:solidFill>
                  <a:srgbClr val="00B0F0"/>
                </a:solidFill>
              </a:rPr>
              <a:t>ps</a:t>
            </a:r>
            <a:r>
              <a:rPr lang="en-US" sz="2300" i="1" dirty="0">
                <a:solidFill>
                  <a:srgbClr val="00B0F0"/>
                </a:solidFill>
              </a:rPr>
              <a:t> -</a:t>
            </a:r>
            <a:r>
              <a:rPr lang="en-US" sz="2300" i="1" dirty="0" err="1">
                <a:solidFill>
                  <a:srgbClr val="00B0F0"/>
                </a:solidFill>
              </a:rPr>
              <a:t>eLf</a:t>
            </a:r>
            <a:r>
              <a:rPr lang="en-US" sz="2300" i="1" dirty="0">
                <a:solidFill>
                  <a:srgbClr val="00B0F0"/>
                </a:solidFill>
              </a:rPr>
              <a:t> </a:t>
            </a:r>
            <a:endParaRPr lang="en-US" altLang="en-US" sz="2300" i="1" dirty="0">
              <a:solidFill>
                <a:srgbClr val="00B0F0"/>
              </a:solidFill>
            </a:endParaRPr>
          </a:p>
          <a:p>
            <a:pPr marL="0" indent="0" algn="ctr">
              <a:spcBef>
                <a:spcPts val="1800"/>
              </a:spcBef>
              <a:buNone/>
            </a:pPr>
            <a:r>
              <a:rPr lang="en-US" altLang="en-US" sz="2300" i="1" dirty="0">
                <a:solidFill>
                  <a:srgbClr val="C00000"/>
                </a:solidFill>
              </a:rPr>
              <a:t>“Thread is an execution context,</a:t>
            </a:r>
            <a:br>
              <a:rPr lang="en-US" altLang="en-US" sz="2300" i="1" dirty="0">
                <a:solidFill>
                  <a:srgbClr val="C00000"/>
                </a:solidFill>
              </a:rPr>
            </a:br>
            <a:r>
              <a:rPr lang="en-US" altLang="en-US" sz="2300" i="1" dirty="0">
                <a:solidFill>
                  <a:srgbClr val="C00000"/>
                </a:solidFill>
              </a:rPr>
              <a:t>scheduled independently, but shares a single address space </a:t>
            </a:r>
            <a:br>
              <a:rPr lang="en-US" altLang="en-US" sz="2300" i="1" dirty="0">
                <a:solidFill>
                  <a:srgbClr val="C00000"/>
                </a:solidFill>
              </a:rPr>
            </a:br>
            <a:r>
              <a:rPr lang="en-US" altLang="en-US" sz="2300" i="1" dirty="0">
                <a:solidFill>
                  <a:srgbClr val="C00000"/>
                </a:solidFill>
              </a:rPr>
              <a:t>with other threads of the same process”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en-US" sz="2300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C5EB936-5014-79C2-CAE5-F1A61C41C4C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468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0"/>
            <a:ext cx="8128000" cy="741680"/>
          </a:xfrm>
        </p:spPr>
        <p:txBody>
          <a:bodyPr>
            <a:noAutofit/>
          </a:bodyPr>
          <a:lstStyle/>
          <a:p>
            <a:r>
              <a:rPr lang="en-US" dirty="0"/>
              <a:t>Single &amp; Multithreaded Processes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" y="1330434"/>
            <a:ext cx="7782560" cy="4704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3E9CE85-E12F-A15D-AF55-66A290C837D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6817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A683F0-681F-4069-8BE2-A43AB9E4E2A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t="6738" b="-6045"/>
          <a:stretch>
            <a:fillRect/>
          </a:stretch>
        </p:blipFill>
        <p:spPr>
          <a:xfrm>
            <a:off x="1492312" y="363708"/>
            <a:ext cx="7580568" cy="667512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0414CD-A68E-4D6F-53FA-FAA40A67733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31614-F93B-F366-2469-69F8B97855A7}"/>
              </a:ext>
            </a:extLst>
          </p:cNvPr>
          <p:cNvSpPr txBox="1"/>
          <p:nvPr/>
        </p:nvSpPr>
        <p:spPr>
          <a:xfrm>
            <a:off x="6553200" y="654654"/>
            <a:ext cx="2133600" cy="9233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Set managed thru context switching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CA041-15BE-49F2-38E2-B983D337BC36}"/>
              </a:ext>
            </a:extLst>
          </p:cNvPr>
          <p:cNvSpPr txBox="1"/>
          <p:nvPr/>
        </p:nvSpPr>
        <p:spPr>
          <a:xfrm>
            <a:off x="6553200" y="2219733"/>
            <a:ext cx="213360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for each thread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23C6F-190F-5E49-ECF9-42FEE5E0C349}"/>
              </a:ext>
            </a:extLst>
          </p:cNvPr>
          <p:cNvSpPr txBox="1"/>
          <p:nvPr/>
        </p:nvSpPr>
        <p:spPr>
          <a:xfrm>
            <a:off x="6532880" y="4421259"/>
            <a:ext cx="2133600" cy="36933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for each thread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E4583AC-44EE-C85C-2B66-F46546C47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5440" y="1087663"/>
            <a:ext cx="2042160" cy="995137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Execution of Threads</a:t>
            </a:r>
          </a:p>
        </p:txBody>
      </p:sp>
    </p:spTree>
    <p:extLst>
      <p:ext uri="{BB962C8B-B14F-4D97-AF65-F5344CB8AC3E}">
        <p14:creationId xmlns:p14="http://schemas.microsoft.com/office/powerpoint/2010/main" val="133344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-1"/>
            <a:ext cx="7213600" cy="773701"/>
          </a:xfrm>
        </p:spPr>
        <p:txBody>
          <a:bodyPr>
            <a:noAutofit/>
          </a:bodyPr>
          <a:lstStyle/>
          <a:p>
            <a:r>
              <a:rPr lang="en-US" dirty="0"/>
              <a:t>Multi-threading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17960" y="1199940"/>
            <a:ext cx="8503920" cy="458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Tx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“Multi-threading is the ability of an OS </a:t>
            </a:r>
            <a:b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to support multiple 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flows of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execution </a:t>
            </a: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(execution contexts)</a:t>
            </a:r>
            <a:br>
              <a:rPr kumimoji="0" lang="en-US" sz="24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within a single process” </a:t>
            </a: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SzTx/>
              <a:buFont typeface="Wingdings" pitchFamily="2" charset="2"/>
              <a:buChar char="§"/>
              <a:tabLst/>
              <a:defRPr/>
            </a:pPr>
            <a:r>
              <a:rPr lang="en-US" sz="24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Multi-threading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works similar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multi-tasking</a:t>
            </a:r>
          </a:p>
          <a:p>
            <a:pPr marL="800100" lvl="1" indent="-342900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CPU switches rapidly, back &amp; forth, among threads</a:t>
            </a:r>
          </a:p>
          <a:p>
            <a:pPr marL="800100" lvl="1" indent="-342900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provides the illusion that threads are running in parallel</a:t>
            </a:r>
          </a:p>
          <a:p>
            <a:pPr marL="800100" lvl="1" indent="-342900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reality, threads are running concurrently –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concurrent execution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Most modern applications are multithreaded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Kernels are generally multithreaded</a:t>
            </a:r>
          </a:p>
          <a:p>
            <a:pPr marL="800100" lvl="1" indent="-342900" eaLnBrk="1" fontAlgn="auto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6989AB5-A6B1-02E0-290E-F8C0B52CBBF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222868"/>
            <a:ext cx="7498080" cy="576262"/>
          </a:xfrm>
        </p:spPr>
        <p:txBody>
          <a:bodyPr/>
          <a:lstStyle/>
          <a:p>
            <a:r>
              <a:rPr lang="en-US" dirty="0"/>
              <a:t>Ways to Achieve Concurrency</a:t>
            </a:r>
            <a:endParaRPr lang="en-US" altLang="en-US" dirty="0"/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3476"/>
            <a:ext cx="8564880" cy="552229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</a:rPr>
              <a:t>Multiple Processes – </a:t>
            </a:r>
            <a:r>
              <a:rPr lang="en-US" altLang="en-US" i="1" dirty="0">
                <a:solidFill>
                  <a:srgbClr val="FF0000"/>
                </a:solidFill>
              </a:rPr>
              <a:t>single threaded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create child processes using fork(), to handle new tasks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good if each child can operate in </a:t>
            </a:r>
            <a:r>
              <a:rPr lang="en-US" altLang="en-US" dirty="0">
                <a:solidFill>
                  <a:srgbClr val="0000CC"/>
                </a:solidFill>
              </a:rPr>
              <a:t>isolation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would </a:t>
            </a:r>
            <a:r>
              <a:rPr lang="en-US" altLang="en-US" dirty="0">
                <a:solidFill>
                  <a:srgbClr val="0000CC"/>
                </a:solidFill>
              </a:rPr>
              <a:t>need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00CC"/>
                </a:solidFill>
              </a:rPr>
              <a:t>IPC</a:t>
            </a:r>
            <a:r>
              <a:rPr lang="en-US" altLang="en-US" dirty="0"/>
              <a:t> between processes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process creation utilizes a lot of </a:t>
            </a:r>
            <a:r>
              <a:rPr lang="en-US" altLang="en-US" dirty="0">
                <a:solidFill>
                  <a:srgbClr val="0000CC"/>
                </a:solidFill>
              </a:rPr>
              <a:t>memory</a:t>
            </a:r>
            <a:r>
              <a:rPr lang="en-US" altLang="en-US" dirty="0"/>
              <a:t> &amp; </a:t>
            </a:r>
            <a:r>
              <a:rPr lang="en-US" altLang="en-US" dirty="0">
                <a:solidFill>
                  <a:srgbClr val="0000CC"/>
                </a:solidFill>
              </a:rPr>
              <a:t>time</a:t>
            </a:r>
            <a:endParaRPr lang="en-US" altLang="en-US" dirty="0"/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FF0000"/>
                </a:solidFill>
              </a:rPr>
              <a:t>Multiple Threads – </a:t>
            </a:r>
            <a:r>
              <a:rPr lang="en-US" altLang="en-US" i="1" dirty="0">
                <a:solidFill>
                  <a:srgbClr val="FF0000"/>
                </a:solidFill>
              </a:rPr>
              <a:t>within a single process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create threads in a single process, to handle new tasks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good if child threads need to </a:t>
            </a:r>
            <a:r>
              <a:rPr lang="en-US" altLang="en-US" dirty="0">
                <a:solidFill>
                  <a:srgbClr val="0000CC"/>
                </a:solidFill>
              </a:rPr>
              <a:t>share data</a:t>
            </a:r>
          </a:p>
          <a:p>
            <a:pPr lvl="1">
              <a:spcBef>
                <a:spcPts val="600"/>
              </a:spcBef>
            </a:pPr>
            <a:r>
              <a:rPr lang="en-US" altLang="en-US" dirty="0">
                <a:solidFill>
                  <a:srgbClr val="0000CC"/>
                </a:solidFill>
              </a:rPr>
              <a:t>no IPC </a:t>
            </a:r>
            <a:r>
              <a:rPr lang="en-US" altLang="en-US" dirty="0"/>
              <a:t>required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thread creation is </a:t>
            </a:r>
            <a:r>
              <a:rPr lang="en-US" altLang="en-US" dirty="0">
                <a:solidFill>
                  <a:srgbClr val="0000CC"/>
                </a:solidFill>
              </a:rPr>
              <a:t>low cost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en-US" alt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“Thread is regarded as a light-weight process”</a:t>
            </a:r>
          </a:p>
          <a:p>
            <a:pPr lvl="2">
              <a:spcBef>
                <a:spcPts val="600"/>
              </a:spcBef>
            </a:pPr>
            <a:endParaRPr lang="en-US" altLang="en-US" dirty="0">
              <a:solidFill>
                <a:srgbClr val="0000CC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B00FC1E-E595-B308-0EC0-94EA58A65BA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504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85520" y="0"/>
            <a:ext cx="8158480" cy="708584"/>
          </a:xfrm>
        </p:spPr>
        <p:txBody>
          <a:bodyPr>
            <a:normAutofit/>
          </a:bodyPr>
          <a:lstStyle/>
          <a:p>
            <a:r>
              <a:rPr lang="en-US" dirty="0"/>
              <a:t>Threads </a:t>
            </a:r>
            <a:r>
              <a:rPr lang="en-US" dirty="0" err="1"/>
              <a:t>vs</a:t>
            </a:r>
            <a:r>
              <a:rPr lang="en-US" dirty="0"/>
              <a:t> Processes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47040" y="1137919"/>
            <a:ext cx="8402320" cy="5380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SzTx/>
              <a:tabLst/>
              <a:defRPr/>
            </a:pPr>
            <a:r>
              <a:rPr kumimoji="0" lang="en-US" sz="24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Similarities</a:t>
            </a:r>
          </a:p>
          <a:p>
            <a:pPr marL="342900" lvl="0" indent="-342900" eaLnBrk="1" fontAlgn="auto" hangingPunct="1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Like processes, 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hreads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can also be in one of many </a:t>
            </a: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states</a:t>
            </a:r>
          </a:p>
          <a:p>
            <a:pPr lvl="1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new, ready, running, blocked, terminated)</a:t>
            </a:r>
            <a:endParaRPr lang="en-US" sz="2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eaLnBrk="1" fontAlgn="auto" hangingPunct="1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only one thread in running state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(on single CPU systems)</a:t>
            </a:r>
          </a:p>
          <a:p>
            <a:pPr marL="342900" marR="0" lvl="0" indent="-342900" algn="l" defTabSz="914400" rtl="0" eaLnBrk="1" fontAlgn="auto" latinLnBrk="0" hangingPunct="1">
              <a:spcBef>
                <a:spcPts val="1200"/>
              </a:spcBef>
              <a:spcAft>
                <a:spcPts val="0"/>
              </a:spcAft>
              <a:buSzTx/>
              <a:buFont typeface="Wingdings" pitchFamily="2" charset="2"/>
              <a:buChar char="§"/>
              <a:tabLst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hreads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can also create other </a:t>
            </a: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threads</a:t>
            </a:r>
          </a:p>
          <a:p>
            <a:pPr marL="342900" marR="0" lvl="0" indent="-342900" algn="l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SzTx/>
              <a:tabLst/>
              <a:defRPr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Differences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Every process has its </a:t>
            </a: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address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while all threads within a process, operate within the </a:t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address space</a:t>
            </a:r>
          </a:p>
          <a:p>
            <a:pPr marL="342900" indent="-342900">
              <a:spcBef>
                <a:spcPts val="120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kumimoji="1"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“automatic” memory protection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mechanism between threads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threads are meant to help each other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SzTx/>
              <a:tabLst/>
              <a:defRPr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SzTx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DD38CE7-44E1-4AFB-70C2-C0809384E2E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71774012-3807-4498-B991-8D9050F6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r>
              <a:rPr lang="en-US" altLang="en-US" dirty="0"/>
              <a:t>Benefits of Threads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284F1CF5-435D-4BB1-9339-BE39F15E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041716"/>
            <a:ext cx="8656320" cy="552229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Responsiveness </a:t>
            </a:r>
          </a:p>
          <a:p>
            <a:pPr marL="630238"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Multi-threaded server allows interaction with users while another thread formulates response to a previous user query </a:t>
            </a:r>
            <a:endParaRPr lang="en-US" altLang="en-US" dirty="0"/>
          </a:p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Resource Sharing </a:t>
            </a:r>
          </a:p>
          <a:p>
            <a:pPr marL="630238"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Process resources (code, data,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are shared by all threads</a:t>
            </a:r>
          </a:p>
          <a:p>
            <a:pPr marL="630238"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OS resources (PCB, PPFDT,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are also shared by all threads</a:t>
            </a:r>
            <a:endParaRPr lang="en-US" altLang="en-US" dirty="0"/>
          </a:p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Economy of Effort</a:t>
            </a:r>
          </a:p>
          <a:p>
            <a:pPr marL="630238"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Takes less time to create, schedule, &amp; terminate a thread</a:t>
            </a:r>
          </a:p>
          <a:p>
            <a:pPr marL="344488" lvl="1" indent="0">
              <a:spcBef>
                <a:spcPts val="600"/>
              </a:spcBef>
              <a:buNone/>
            </a:pPr>
            <a:r>
              <a:rPr lang="en-US" b="1" dirty="0"/>
              <a:t>    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Solaris 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 	Thread creation 30 times faster than </a:t>
            </a:r>
            <a:r>
              <a:rPr lang="en-US" sz="2000" dirty="0"/>
              <a:t>p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rocess creation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	Thread switching is 5 times faster than process switching</a:t>
            </a:r>
            <a:endParaRPr lang="en-US" altLang="en-US" sz="2000" dirty="0"/>
          </a:p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Performance </a:t>
            </a:r>
          </a:p>
          <a:p>
            <a:pPr marL="630238" lvl="1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dirty="0"/>
              <a:t>multi-threaded &amp; multi-processor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architectures, each thread may run on a different processor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(in parallel)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endParaRPr lang="en-US" altLang="en-US" dirty="0"/>
          </a:p>
          <a:p>
            <a:pPr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821C509-BBC1-DDE4-476E-0ABFB01AEB4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123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480" y="0"/>
            <a:ext cx="8097520" cy="741680"/>
          </a:xfrm>
        </p:spPr>
        <p:txBody>
          <a:bodyPr>
            <a:noAutofit/>
          </a:bodyPr>
          <a:lstStyle/>
          <a:p>
            <a:r>
              <a:rPr lang="en-US" dirty="0"/>
              <a:t>Disadvantages of Threads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65760" y="1097280"/>
            <a:ext cx="8636726" cy="518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6075" marR="0" lvl="0" indent="-346075" algn="l" defTabSz="914400" rtl="0" eaLnBrk="1" fontAlgn="auto" latinLnBrk="0" hangingPunct="1">
              <a:spcBef>
                <a:spcPct val="20000"/>
              </a:spcBef>
              <a:spcAft>
                <a:spcPts val="0"/>
              </a:spcAft>
              <a:buSzTx/>
              <a:buFont typeface="Wingdings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 due to Shared Memory</a:t>
            </a:r>
          </a:p>
          <a:p>
            <a:pPr marL="741363" lvl="1" indent="-28416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Race Conditions –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try to modify shared data</a:t>
            </a:r>
          </a:p>
          <a:p>
            <a:pPr marL="741363" lvl="1" indent="-28416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22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need to implement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Mutual Exclusion,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22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multiple threads need to access shared data for write/update</a:t>
            </a:r>
          </a:p>
          <a:p>
            <a:pPr marL="346075" indent="-346075">
              <a:spcBef>
                <a:spcPts val="1800"/>
              </a:spcBef>
              <a:buFont typeface="Wingdings" pitchFamily="2" charset="2"/>
              <a:buChar char="§"/>
              <a:defRPr/>
            </a:pPr>
            <a:r>
              <a:rPr kumimoji="1"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 library functions are not Thread-Safe</a:t>
            </a:r>
          </a:p>
          <a:p>
            <a:pPr marL="741363" lvl="1" indent="-28416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some functions use shared global or static data</a:t>
            </a:r>
          </a:p>
          <a:p>
            <a:pPr marL="1201738" lvl="2" indent="-287338">
              <a:spcBef>
                <a:spcPct val="20000"/>
              </a:spcBef>
              <a:buFont typeface="Symbol" panose="05050102010706020507" pitchFamily="18" charset="2"/>
              <a:buChar char="-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access by multiple threads may cause data inconsistency</a:t>
            </a:r>
          </a:p>
          <a:p>
            <a:pPr marL="741363" lvl="1" indent="-28416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need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synchronization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when using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non-thread-safe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functions</a:t>
            </a:r>
          </a:p>
          <a:p>
            <a:pPr marL="741363" lvl="1" indent="-28416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thread-safe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functions avoid shared data, or use synchronization</a:t>
            </a:r>
          </a:p>
          <a:p>
            <a:pPr marL="346075" marR="0" lvl="0" indent="-346075" algn="l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SzTx/>
              <a:buFont typeface="Wingdings" pitchFamily="2" charset="2"/>
              <a:buChar char="§"/>
              <a:tabLst/>
              <a:defRPr/>
            </a:pPr>
            <a:r>
              <a:rPr kumimoji="1" 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Lack of Robustness</a:t>
            </a:r>
          </a:p>
          <a:p>
            <a:pPr marL="741363" lvl="1" indent="-28416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 severe error caused by one thread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200" i="1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, segmentation fault)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terminates the whole process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6DC05A6-A21D-1B06-7F94-829F32DE7B9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FE08425D-ED51-450A-B441-45E2EB4C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</a:t>
            </a:r>
          </a:p>
        </p:txBody>
      </p:sp>
      <p:pic>
        <p:nvPicPr>
          <p:cNvPr id="14338" name="Picture 1">
            <a:extLst>
              <a:ext uri="{FF2B5EF4-FFF2-40B4-BE49-F238E27FC236}">
                <a16:creationId xmlns:a16="http://schemas.microsoft.com/office/drawing/2014/main" id="{CF5D0D58-5C7A-45B8-AD7F-B5E9EF919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06600"/>
            <a:ext cx="7966075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3C49E44-6E57-E230-91B4-F2068EC6488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2-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2209" y="2285868"/>
            <a:ext cx="6686280" cy="4389252"/>
          </a:xfrm>
          <a:prstGeom prst="rect">
            <a:avLst/>
          </a:prstGeom>
          <a:noFill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CC89D42-BDEF-1145-9059-648526D38FE0}"/>
              </a:ext>
            </a:extLst>
          </p:cNvPr>
          <p:cNvGrpSpPr/>
          <p:nvPr/>
        </p:nvGrpSpPr>
        <p:grpSpPr>
          <a:xfrm>
            <a:off x="1623188" y="999040"/>
            <a:ext cx="3079750" cy="1831976"/>
            <a:chOff x="5562600" y="732373"/>
            <a:chExt cx="3079750" cy="1831976"/>
          </a:xfrm>
        </p:grpSpPr>
        <p:pic>
          <p:nvPicPr>
            <p:cNvPr id="9" name="Picture 8" descr="MCj04041590000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562600" y="732373"/>
              <a:ext cx="869950" cy="873125"/>
            </a:xfrm>
            <a:prstGeom prst="rect">
              <a:avLst/>
            </a:prstGeom>
            <a:noFill/>
          </p:spPr>
        </p:pic>
        <p:pic>
          <p:nvPicPr>
            <p:cNvPr id="10" name="Picture 9" descr="j029298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101012" y="732373"/>
              <a:ext cx="541338" cy="534988"/>
            </a:xfrm>
            <a:prstGeom prst="rect">
              <a:avLst/>
            </a:prstGeom>
            <a:noFill/>
          </p:spPr>
        </p:pic>
        <p:pic>
          <p:nvPicPr>
            <p:cNvPr id="11" name="Picture 10" descr="j029298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101013" y="1341973"/>
              <a:ext cx="541337" cy="534988"/>
            </a:xfrm>
            <a:prstGeom prst="rect">
              <a:avLst/>
            </a:prstGeom>
            <a:noFill/>
          </p:spPr>
        </p:pic>
        <p:pic>
          <p:nvPicPr>
            <p:cNvPr id="12" name="Picture 11" descr="j029298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101013" y="2029361"/>
              <a:ext cx="541337" cy="534988"/>
            </a:xfrm>
            <a:prstGeom prst="rect">
              <a:avLst/>
            </a:prstGeom>
            <a:noFill/>
          </p:spPr>
        </p:pic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6280150" y="1037173"/>
              <a:ext cx="1752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6280150" y="1341973"/>
              <a:ext cx="1752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6203950" y="1418173"/>
              <a:ext cx="1905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349267" y="1086589"/>
            <a:ext cx="336379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Requests for pages arrive</a:t>
            </a:r>
          </a:p>
          <a:p>
            <a:pPr marL="233363" indent="-233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Each request handled by a different thread</a:t>
            </a:r>
          </a:p>
          <a:p>
            <a:pPr marL="233363" indent="-23336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Thread sends the page back to client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65BF826-2524-9E30-AFBD-F02B11FF277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CA8DF7-0F75-EBFE-57E3-BE72525C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 txBox="1">
            <a:spLocks noChangeArrowheads="1"/>
          </p:cNvSpPr>
          <p:nvPr/>
        </p:nvSpPr>
        <p:spPr>
          <a:xfrm>
            <a:off x="432435" y="1115952"/>
            <a:ext cx="8570051" cy="52739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Dispatcher</a:t>
            </a:r>
            <a:r>
              <a:rPr lang="en-US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 thread reads incoming requests from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N/W</a:t>
            </a:r>
            <a:endParaRPr lang="en-US" sz="2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1363" lvl="1" indent="-2841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chooses an idle worker thread </a:t>
            </a:r>
          </a:p>
          <a:p>
            <a:pPr marL="741363" lvl="1" indent="-2841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wakes up the worker –  </a:t>
            </a:r>
            <a: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blocked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2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ready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state</a:t>
            </a:r>
          </a:p>
          <a:p>
            <a:pPr marL="741363" lvl="1" indent="-2841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hands over the request</a:t>
            </a:r>
          </a:p>
          <a:p>
            <a:pPr marL="342900" marR="0" lvl="0" indent="-342900" algn="l" defTabSz="914400" rtl="0" eaLnBrk="1" fontAlgn="auto" latinLnBrk="0" hangingPunct="1">
              <a:spcBef>
                <a:spcPts val="18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now checks if request can be met from Web page cache, to which all threads have access</a:t>
            </a:r>
          </a:p>
          <a:p>
            <a:pPr marL="741363" lvl="1" indent="-284163" eaLnBrk="1" fontAlgn="auto" hangingPunct="1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if not, starts a 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read()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operation, to fetch page from disk</a:t>
            </a:r>
          </a:p>
          <a:p>
            <a:pPr marL="1198563" lvl="2" indent="-2841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worker blocks until disk read completes</a:t>
            </a:r>
          </a:p>
          <a:p>
            <a:pPr marL="741363" lvl="1" indent="-284163" eaLnBrk="1" fontAlgn="auto" hangingPunct="1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when thread blocks on disk, another thread chosen to run </a:t>
            </a:r>
          </a:p>
          <a:p>
            <a:pPr marL="1198563" lvl="2" indent="-2841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possibly the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dispatcher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to acquire more work, or</a:t>
            </a:r>
          </a:p>
          <a:p>
            <a:pPr marL="1198563" lvl="2" indent="-284163" eaLnBrk="1" fontAlgn="auto" hangingPunct="1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another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worker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that is now ready to run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65BF826-2524-9E30-AFBD-F02B11FF277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723A19-092D-859F-684B-1C2BCEB8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1688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Multithreaded Server</a:t>
            </a:r>
          </a:p>
        </p:txBody>
      </p:sp>
    </p:spTree>
    <p:extLst>
      <p:ext uri="{BB962C8B-B14F-4D97-AF65-F5344CB8AC3E}">
        <p14:creationId xmlns:p14="http://schemas.microsoft.com/office/powerpoint/2010/main" val="3107265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User &amp; Kernel Level Threads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2742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0A3DCFF-94B3-4FFC-B2A6-FE43AD179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625" y="229606"/>
            <a:ext cx="7826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User &amp; Kernel Threads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BA746B80-CDA4-4092-8028-5DF70403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2873" y="1091507"/>
            <a:ext cx="8401497" cy="510539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200" dirty="0"/>
              <a:t>Support for threads is provided at </a:t>
            </a:r>
            <a:r>
              <a:rPr lang="en-US" altLang="en-US" sz="2200" dirty="0">
                <a:solidFill>
                  <a:srgbClr val="FF0000"/>
                </a:solidFill>
              </a:rPr>
              <a:t>User</a:t>
            </a:r>
            <a:r>
              <a:rPr lang="en-US" altLang="en-US" sz="2200" dirty="0"/>
              <a:t> and </a:t>
            </a:r>
            <a:r>
              <a:rPr lang="en-US" altLang="en-US" sz="2200" dirty="0">
                <a:solidFill>
                  <a:srgbClr val="FF0000"/>
                </a:solidFill>
              </a:rPr>
              <a:t>Kernel</a:t>
            </a:r>
            <a:r>
              <a:rPr lang="en-US" altLang="en-US" sz="2200" dirty="0"/>
              <a:t> levels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>
                <a:solidFill>
                  <a:srgbClr val="006699"/>
                </a:solidFill>
              </a:rPr>
              <a:t>User threads </a:t>
            </a:r>
            <a:r>
              <a:rPr lang="en-US" altLang="en-US" sz="2400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User threads are created, scheduled, &amp; managed by user level thread library</a:t>
            </a:r>
            <a:endParaRPr lang="en-US" altLang="en-US" dirty="0"/>
          </a:p>
          <a:p>
            <a:pPr lvl="1">
              <a:spcBef>
                <a:spcPts val="600"/>
              </a:spcBef>
            </a:pPr>
            <a:r>
              <a:rPr lang="en-US" altLang="en-US" dirty="0"/>
              <a:t>Primary thread libraries:   POSIX </a:t>
            </a:r>
            <a:r>
              <a:rPr lang="en-US" altLang="en-US" b="1" dirty="0" err="1">
                <a:solidFill>
                  <a:srgbClr val="006699"/>
                </a:solidFill>
              </a:rPr>
              <a:t>pthreads</a:t>
            </a:r>
            <a:r>
              <a:rPr lang="en-US" altLang="en-US" b="1" dirty="0">
                <a:solidFill>
                  <a:srgbClr val="006699"/>
                </a:solidFill>
              </a:rPr>
              <a:t>, </a:t>
            </a:r>
            <a:r>
              <a:rPr lang="en-US" altLang="en-US" dirty="0"/>
              <a:t> Windows threads</a:t>
            </a:r>
          </a:p>
          <a:p>
            <a:pPr>
              <a:spcBef>
                <a:spcPts val="18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Kernel threads</a:t>
            </a:r>
            <a:r>
              <a:rPr lang="en-US" altLang="en-US" dirty="0"/>
              <a:t> </a:t>
            </a:r>
          </a:p>
          <a:p>
            <a:pPr lvl="1">
              <a:spcBef>
                <a:spcPts val="1200"/>
              </a:spcBef>
            </a:pPr>
            <a:r>
              <a:rPr lang="en-US" dirty="0"/>
              <a:t>Kernel threads are created, scheduled, &amp; managed by OS kernel</a:t>
            </a:r>
            <a:endParaRPr lang="en-US" altLang="en-US" dirty="0"/>
          </a:p>
          <a:p>
            <a:pPr marL="914400" lvl="1" indent="0">
              <a:spcBef>
                <a:spcPts val="600"/>
              </a:spcBef>
              <a:buNone/>
            </a:pPr>
            <a:r>
              <a:rPr lang="en-US" sz="2100" i="1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(OS specific APIs, libraries)</a:t>
            </a:r>
            <a:endParaRPr lang="en-US" altLang="en-US" sz="2100" i="1" dirty="0"/>
          </a:p>
          <a:p>
            <a:pPr lvl="1">
              <a:spcBef>
                <a:spcPts val="1200"/>
              </a:spcBef>
            </a:pPr>
            <a:r>
              <a:rPr lang="en-US" altLang="en-US" dirty="0"/>
              <a:t>All general-purpose OS have</a:t>
            </a:r>
            <a:br>
              <a:rPr lang="en-US" altLang="en-US" dirty="0"/>
            </a:br>
            <a:r>
              <a:rPr lang="en-US" altLang="en-US" dirty="0"/>
              <a:t>kernel threads</a:t>
            </a:r>
          </a:p>
          <a:p>
            <a:pPr marL="914400" lvl="1" indent="0">
              <a:spcBef>
                <a:spcPts val="600"/>
              </a:spcBef>
              <a:buNone/>
            </a:pPr>
            <a:r>
              <a:rPr lang="en-US" altLang="en-US" sz="2100" i="1" dirty="0"/>
              <a:t>Windows,  Linux,  iOS,  Android,</a:t>
            </a:r>
            <a:br>
              <a:rPr lang="en-US" altLang="en-US" sz="2100" i="1" dirty="0"/>
            </a:br>
            <a:r>
              <a:rPr lang="en-US" altLang="en-US" sz="2100" i="1" dirty="0"/>
              <a:t>Mac OS X  </a:t>
            </a:r>
          </a:p>
          <a:p>
            <a:pPr lvl="1"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5AC94B3-68B9-DEE4-8A35-0E51B03865E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3189D8-AB70-5766-0A6D-F147F95AF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575" y="4532759"/>
            <a:ext cx="3417854" cy="1884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" y="0"/>
            <a:ext cx="7715069" cy="741680"/>
          </a:xfrm>
        </p:spPr>
        <p:txBody>
          <a:bodyPr>
            <a:noAutofit/>
          </a:bodyPr>
          <a:lstStyle/>
          <a:p>
            <a:r>
              <a:rPr lang="en-US" dirty="0"/>
              <a:t>User Level Threads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65760" y="1041172"/>
            <a:ext cx="8636726" cy="5664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0" indent="-342900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Application starts as single thread, in a process managed by Kernel</a:t>
            </a:r>
          </a:p>
          <a:p>
            <a:pPr marL="741363" lvl="1" indent="-284163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may spawn new threads in same process – thread library</a:t>
            </a:r>
          </a:p>
          <a:p>
            <a:pPr marL="342900" marR="0" indent="-342900" defTabSz="914400" eaLnBrk="1" fontAlgn="auto" latinLnBrk="0" hangingPunct="1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 level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 libraries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contain code for:</a:t>
            </a:r>
          </a:p>
          <a:p>
            <a:pPr marL="741363" lvl="1" indent="-284163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thread creation &amp; termination </a:t>
            </a:r>
          </a:p>
          <a:p>
            <a:pPr marL="741363" lvl="1" indent="-284163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thread scheduling, saving/restoring thread context</a:t>
            </a:r>
          </a:p>
          <a:p>
            <a:pPr marL="741363" lvl="1" indent="-284163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passing data/messages between threads</a:t>
            </a:r>
          </a:p>
          <a:p>
            <a:pPr marL="342900" marR="0" indent="-342900" eaLnBrk="1" fontAlgn="auto" hangingPunct="1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 threads are lightweight, &amp; have lower overhead </a:t>
            </a:r>
          </a:p>
          <a:p>
            <a:pPr marL="800100" lvl="1" indent="-34290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management at user level, no direct involvement of kernel</a:t>
            </a:r>
          </a:p>
          <a:p>
            <a:pPr marL="800100" lvl="1" indent="-342900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context switch between user threads is faster </a:t>
            </a:r>
          </a:p>
          <a:p>
            <a:pPr marL="800100" lvl="1" indent="-342900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user-mode register values stored in thread control block (user space)</a:t>
            </a:r>
          </a:p>
          <a:p>
            <a:pPr marL="342900" indent="-342900" eaLnBrk="1" fontAlgn="auto" hangingPunct="1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If one user thread makes a system call that blocks 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(I/O operation) </a:t>
            </a:r>
          </a:p>
          <a:p>
            <a:pPr marL="800100" lvl="1" indent="-34290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entire process gets blocked</a:t>
            </a:r>
          </a:p>
          <a:p>
            <a:pPr marL="800100" lvl="1" indent="-34290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 unaware that user level threads exist in process</a:t>
            </a:r>
          </a:p>
          <a:p>
            <a:pPr marL="800100" lvl="1" indent="-342900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3738CC-6102-A9AA-64A6-7840EA6896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874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0320"/>
            <a:ext cx="8046720" cy="743768"/>
          </a:xfrm>
        </p:spPr>
        <p:txBody>
          <a:bodyPr>
            <a:noAutofit/>
          </a:bodyPr>
          <a:lstStyle/>
          <a:p>
            <a:r>
              <a:rPr lang="en-US" dirty="0"/>
              <a:t>Implementing Threads in User Space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85750" y="5957308"/>
            <a:ext cx="6515100" cy="58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</a:rPr>
              <a:t>User-level Threads</a:t>
            </a:r>
          </a:p>
        </p:txBody>
      </p:sp>
      <p:pic>
        <p:nvPicPr>
          <p:cNvPr id="8" name="Picture 4" descr="2-13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408" y="1270462"/>
            <a:ext cx="5478145" cy="4459316"/>
          </a:xfrm>
          <a:prstGeom prst="rect">
            <a:avLst/>
          </a:prstGeom>
          <a:noFill/>
        </p:spPr>
      </p:pic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2619693" y="3234100"/>
            <a:ext cx="685800" cy="667340"/>
          </a:xfrm>
          <a:prstGeom prst="ellips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782024" y="1776248"/>
            <a:ext cx="3188932" cy="338433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 anchor="ctr" anchorCtr="0">
            <a:noAutofit/>
          </a:bodyPr>
          <a:lstStyle/>
          <a:p>
            <a:pPr marL="274320" indent="-274320">
              <a:lnSpc>
                <a:spcPct val="110000"/>
              </a:lnSpc>
              <a:spcBef>
                <a:spcPts val="1800"/>
              </a:spcBef>
              <a:buFont typeface="Arial" pitchFamily="34" charset="0"/>
              <a:buChar char="•"/>
            </a:pPr>
            <a:r>
              <a:rPr lang="en-US" dirty="0"/>
              <a:t>Thread management done in user space </a:t>
            </a:r>
            <a:br>
              <a:rPr lang="en-US" dirty="0"/>
            </a:br>
            <a:r>
              <a:rPr lang="en-US" dirty="0"/>
              <a:t>by library</a:t>
            </a:r>
          </a:p>
          <a:p>
            <a:pPr marL="274320" indent="-274320">
              <a:lnSpc>
                <a:spcPct val="110000"/>
              </a:lnSpc>
              <a:spcBef>
                <a:spcPts val="1800"/>
              </a:spcBef>
              <a:buFont typeface="Arial" pitchFamily="34" charset="0"/>
              <a:buChar char="•"/>
            </a:pPr>
            <a:r>
              <a:rPr lang="en-US" b="1" dirty="0">
                <a:solidFill>
                  <a:srgbClr val="FF6600"/>
                </a:solidFill>
              </a:rPr>
              <a:t>Thread control block</a:t>
            </a:r>
            <a:r>
              <a:rPr lang="en-US" dirty="0"/>
              <a:t> maintained in user space</a:t>
            </a:r>
          </a:p>
          <a:p>
            <a:pPr marL="274320" indent="-274320">
              <a:lnSpc>
                <a:spcPct val="110000"/>
              </a:lnSpc>
              <a:spcBef>
                <a:spcPts val="1800"/>
              </a:spcBef>
              <a:buFont typeface="Arial" pitchFamily="34" charset="0"/>
              <a:buChar char="•"/>
            </a:pPr>
            <a:r>
              <a:rPr lang="en-US" dirty="0"/>
              <a:t>Kernel knows nothing about user threads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C244038-DA7A-1939-A22C-30BAAF49EEB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" y="0"/>
            <a:ext cx="7715069" cy="741680"/>
          </a:xfrm>
        </p:spPr>
        <p:txBody>
          <a:bodyPr>
            <a:noAutofit/>
          </a:bodyPr>
          <a:lstStyle/>
          <a:p>
            <a:r>
              <a:rPr lang="en-US" dirty="0"/>
              <a:t>Kernel Threads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36880" y="1070480"/>
            <a:ext cx="8524240" cy="5664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spcBef>
                <a:spcPts val="300"/>
              </a:spcBef>
              <a:spcAft>
                <a:spcPts val="0"/>
              </a:spcAft>
              <a:buSzTx/>
              <a:buFont typeface="Wingdings" pitchFamily="2" charset="2"/>
              <a:buChar char="§"/>
              <a:tabLst/>
              <a:defRPr/>
            </a:pPr>
            <a:r>
              <a:rPr lang="en-US" sz="23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Thread creation &amp; management done by OS kernel </a:t>
            </a:r>
          </a:p>
          <a:p>
            <a:pPr marL="744538" lvl="1" indent="-287338" eaLnBrk="1" fontAlgn="auto" hangingPunct="1"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Kernel is aware of threads</a:t>
            </a:r>
          </a:p>
          <a:p>
            <a:pPr marL="342900" lvl="0" indent="-342900" eaLnBrk="1" fontAlgn="auto" hangingPunct="1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Kernel threads are typically heavier than user threads, in terms of overhead</a:t>
            </a:r>
            <a:r>
              <a:rPr lang="en-US" sz="2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requires kernel involvement for thread creation, scheduling, switching, and management</a:t>
            </a:r>
          </a:p>
          <a:p>
            <a:pPr lvl="1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defRPr/>
            </a:pP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	(kernel-level data structures  &amp;  privileged operations)</a:t>
            </a:r>
          </a:p>
          <a:p>
            <a:pPr marL="342900" lvl="0" indent="-342900" eaLnBrk="1" fontAlgn="auto" hangingPunct="1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i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Blocking</a:t>
            </a: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does not affect other threads in the process</a:t>
            </a:r>
          </a:p>
          <a:p>
            <a:pPr marL="742950" lvl="1" indent="-28575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if one kernel thread blocks, other kernel threads continue </a:t>
            </a:r>
          </a:p>
          <a:p>
            <a:pPr marL="342900" indent="-342900" eaLnBrk="1" fontAlgn="auto" hangingPunct="1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dirty="0">
                <a:latin typeface="Calibri" panose="020F0502020204030204" pitchFamily="34" charset="0"/>
                <a:cs typeface="Times New Roman" panose="02020603050405020304" pitchFamily="18" charset="0"/>
              </a:rPr>
              <a:t>Each kernel thread can be </a:t>
            </a:r>
            <a:r>
              <a:rPr lang="en-US" sz="2300" i="1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scheduled independently </a:t>
            </a:r>
            <a:r>
              <a:rPr lang="en-US" sz="2300" dirty="0">
                <a:latin typeface="Calibri" panose="020F0502020204030204" pitchFamily="34" charset="0"/>
                <a:cs typeface="Times New Roman" panose="02020603050405020304" pitchFamily="18" charset="0"/>
              </a:rPr>
              <a:t>on one or more CPUs</a:t>
            </a:r>
          </a:p>
          <a:p>
            <a:pPr marL="800100" lvl="1" indent="-34290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good for parallelism / concurrency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33738CC-6102-A9AA-64A6-7840EA6896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1421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0"/>
            <a:ext cx="8432800" cy="762000"/>
          </a:xfrm>
        </p:spPr>
        <p:txBody>
          <a:bodyPr>
            <a:noAutofit/>
          </a:bodyPr>
          <a:lstStyle/>
          <a:p>
            <a:r>
              <a:rPr lang="en-US" dirty="0"/>
              <a:t>Implementing Threads in Kernel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40AD3F1-9F7A-A559-7CD1-ACDF4497792D}"/>
              </a:ext>
            </a:extLst>
          </p:cNvPr>
          <p:cNvGrpSpPr/>
          <p:nvPr/>
        </p:nvGrpSpPr>
        <p:grpSpPr>
          <a:xfrm>
            <a:off x="566860" y="1214120"/>
            <a:ext cx="4463870" cy="4429760"/>
            <a:chOff x="533400" y="685801"/>
            <a:chExt cx="5651500" cy="4954588"/>
          </a:xfrm>
        </p:grpSpPr>
        <p:pic>
          <p:nvPicPr>
            <p:cNvPr id="7" name="Picture 4" descr="2-1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33400" y="685801"/>
              <a:ext cx="5651500" cy="4954588"/>
            </a:xfrm>
            <a:prstGeom prst="rect">
              <a:avLst/>
            </a:prstGeom>
            <a:noFill/>
          </p:spPr>
        </p:pic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4885452" y="3859648"/>
              <a:ext cx="838200" cy="685800"/>
            </a:xfrm>
            <a:prstGeom prst="ellips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2528570" y="6097812"/>
            <a:ext cx="408686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ctr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en-US" sz="2400" i="0" dirty="0">
                <a:solidFill>
                  <a:srgbClr val="C00000"/>
                </a:solidFill>
                <a:latin typeface="Comic Sans MS" pitchFamily="66" charset="0"/>
              </a:rPr>
              <a:t>Kernel-level Threads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722881" y="1986455"/>
            <a:ext cx="3153103" cy="23438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 anchorCtr="0">
            <a:noAutofit/>
          </a:bodyPr>
          <a:lstStyle/>
          <a:p>
            <a:pPr marL="274320" indent="-274320">
              <a:lnSpc>
                <a:spcPct val="122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i="0" dirty="0"/>
              <a:t>OS knows about individual threads within each process</a:t>
            </a:r>
          </a:p>
          <a:p>
            <a:pPr marL="274320" indent="-274320">
              <a:lnSpc>
                <a:spcPct val="122000"/>
              </a:lnSpc>
              <a:spcBef>
                <a:spcPts val="1200"/>
              </a:spcBef>
              <a:buFontTx/>
              <a:buChar char="•"/>
            </a:pPr>
            <a:r>
              <a:rPr lang="en-US" b="1" dirty="0">
                <a:solidFill>
                  <a:srgbClr val="FF6600"/>
                </a:solidFill>
              </a:rPr>
              <a:t>Thread control block </a:t>
            </a:r>
            <a:r>
              <a:rPr lang="en-US" i="0" dirty="0"/>
              <a:t>maintained by kernel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9F4E610-CC2E-8D92-51B6-4C74F71774C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3760" y="0"/>
            <a:ext cx="7833360" cy="772160"/>
          </a:xfrm>
        </p:spPr>
        <p:txBody>
          <a:bodyPr>
            <a:noAutofit/>
          </a:bodyPr>
          <a:lstStyle/>
          <a:p>
            <a:r>
              <a:rPr lang="en-US" dirty="0"/>
              <a:t>Thread Implementation Models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67360" y="1219200"/>
            <a:ext cx="8463280" cy="517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sz="2400" baseline="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relationship exists between User level threads and Kernel level threads</a:t>
            </a:r>
          </a:p>
          <a:p>
            <a:pPr marL="744538" lvl="1" indent="-287338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three common models of this relationship: 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	(1:1,   M:1,   &amp;   M:N)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92BA88A-FD83-0103-D0D6-6AFFBF10AB2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1428C89C-D1C7-44B6-B4FD-1F83ABA1D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8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Many-to-One Model (M:1)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5D915EFA-C388-487C-B6EF-E80827050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668" y="1093917"/>
            <a:ext cx="8515972" cy="5430203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sz="2300" dirty="0"/>
              <a:t>Many user-level threads map to a single kernel thread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Kernel </a:t>
            </a:r>
            <a:r>
              <a:rPr lang="en-US" altLang="en-US" dirty="0">
                <a:solidFill>
                  <a:srgbClr val="C00000"/>
                </a:solidFill>
              </a:rPr>
              <a:t>unaware</a:t>
            </a:r>
            <a:r>
              <a:rPr lang="en-US" altLang="en-US" dirty="0"/>
              <a:t> of multiple threads within the process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kernel schedules only the one kernel thread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thread library then schedules user threads within given time slice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if one user thread blocks, causes entire process to block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no scheduling of multiple threads on CPUs in multicore systems 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User level threads can be used, even if OS does not support multithreading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Hardly any systems currently </a:t>
            </a:r>
            <a:br>
              <a:rPr lang="en-US" altLang="en-US" sz="2300" dirty="0"/>
            </a:br>
            <a:r>
              <a:rPr lang="en-US" altLang="en-US" sz="2300" dirty="0"/>
              <a:t>use this model</a:t>
            </a:r>
          </a:p>
        </p:txBody>
      </p:sp>
      <p:pic>
        <p:nvPicPr>
          <p:cNvPr id="33795" name="Picture 1">
            <a:extLst>
              <a:ext uri="{FF2B5EF4-FFF2-40B4-BE49-F238E27FC236}">
                <a16:creationId xmlns:a16="http://schemas.microsoft.com/office/drawing/2014/main" id="{6B215585-915F-44AD-918A-FBC0A438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108" y="4569201"/>
            <a:ext cx="3444708" cy="1889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890899E-92DF-5212-91B4-96D71C0C1A3B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4FBEFB0E-7F3F-4EF4-9827-FE005FBB4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One-to-One Model (1:1)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C9353153-B94C-4BC4-A944-80F7FC0E3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3156" y="1114587"/>
            <a:ext cx="8530126" cy="5369243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sz="2300" dirty="0"/>
              <a:t>Each user-level thread maps to one kernel thread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creating a user level thread creates a kernel thread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Kernel is </a:t>
            </a:r>
            <a:r>
              <a:rPr lang="en-US" altLang="en-US" dirty="0">
                <a:solidFill>
                  <a:srgbClr val="C00000"/>
                </a:solidFill>
              </a:rPr>
              <a:t>aware</a:t>
            </a:r>
            <a:r>
              <a:rPr lang="en-US" altLang="en-US" dirty="0"/>
              <a:t> of multiple threads within the process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when one thread in a process blocks, another is run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multiple threads can run in parallel on multiprocessors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Creating kernel threads can </a:t>
            </a:r>
            <a:r>
              <a:rPr lang="en-US" altLang="en-US" sz="2300" dirty="0">
                <a:solidFill>
                  <a:srgbClr val="C00000"/>
                </a:solidFill>
              </a:rPr>
              <a:t>overburden</a:t>
            </a:r>
            <a:r>
              <a:rPr lang="en-US" altLang="en-US" sz="2300" dirty="0"/>
              <a:t> the application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number of threads per process sometimes restricted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Examples:</a:t>
            </a:r>
          </a:p>
          <a:p>
            <a:pPr lvl="1">
              <a:spcBef>
                <a:spcPts val="300"/>
              </a:spcBef>
            </a:pPr>
            <a:r>
              <a:rPr lang="en-US" altLang="en-US" sz="2100" b="1" dirty="0">
                <a:solidFill>
                  <a:srgbClr val="006699"/>
                </a:solidFill>
              </a:rPr>
              <a:t>Windows</a:t>
            </a:r>
          </a:p>
          <a:p>
            <a:pPr lvl="1">
              <a:spcBef>
                <a:spcPts val="300"/>
              </a:spcBef>
            </a:pPr>
            <a:r>
              <a:rPr lang="en-US" altLang="en-US" sz="2100" b="1" dirty="0">
                <a:solidFill>
                  <a:srgbClr val="006699"/>
                </a:solidFill>
              </a:rPr>
              <a:t>Linux</a:t>
            </a:r>
          </a:p>
        </p:txBody>
      </p:sp>
      <p:pic>
        <p:nvPicPr>
          <p:cNvPr id="35843" name="Picture 1">
            <a:extLst>
              <a:ext uri="{FF2B5EF4-FFF2-40B4-BE49-F238E27FC236}">
                <a16:creationId xmlns:a16="http://schemas.microsoft.com/office/drawing/2014/main" id="{EF8F904A-031A-45E1-82C4-C375DF8A6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132" y="4521807"/>
            <a:ext cx="3417544" cy="1895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969B3C0-041E-64D7-419D-C3B21EC3D7B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C6AC490D-7E71-499F-80A2-0817A4495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45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Many-to-Many Model (M:N)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6A3ECDFD-78CA-4E72-9500-110C17908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0522" y="1124870"/>
            <a:ext cx="8478998" cy="535686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sz="2300" dirty="0"/>
              <a:t>Many user level threads are mapped to a smaller or equal number of kernel threads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OS can create sufficient number of kernel threads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aims to combine advantages of models – (many:1)  &amp;  (1:1)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Model does not suffer from: </a:t>
            </a:r>
          </a:p>
          <a:p>
            <a:pPr marL="741363" lvl="1" indent="0">
              <a:spcBef>
                <a:spcPts val="300"/>
              </a:spcBef>
              <a:buNone/>
            </a:pPr>
            <a:r>
              <a:rPr lang="en-US" altLang="en-US" dirty="0"/>
              <a:t>   </a:t>
            </a:r>
            <a:r>
              <a:rPr lang="en-US" altLang="en-US" dirty="0">
                <a:solidFill>
                  <a:srgbClr val="C00000"/>
                </a:solidFill>
              </a:rPr>
              <a:t>concurrency</a:t>
            </a:r>
            <a:r>
              <a:rPr lang="en-US" altLang="en-US" dirty="0"/>
              <a:t> issue of many:1 model</a:t>
            </a:r>
          </a:p>
          <a:p>
            <a:pPr marL="741363" lvl="1" indent="0">
              <a:spcBef>
                <a:spcPts val="300"/>
              </a:spcBef>
              <a:buNone/>
            </a:pPr>
            <a:r>
              <a:rPr lang="en-US" altLang="en-US" dirty="0"/>
              <a:t>   </a:t>
            </a:r>
            <a:r>
              <a:rPr lang="en-US" altLang="en-US" dirty="0">
                <a:solidFill>
                  <a:srgbClr val="C00000"/>
                </a:solidFill>
              </a:rPr>
              <a:t>overhead</a:t>
            </a:r>
            <a:r>
              <a:rPr lang="en-US" altLang="en-US" dirty="0"/>
              <a:t> burden of 1:1 model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But M:N model is more complex</a:t>
            </a:r>
          </a:p>
          <a:p>
            <a:pPr lvl="1">
              <a:spcBef>
                <a:spcPts val="300"/>
              </a:spcBef>
            </a:pPr>
            <a:r>
              <a:rPr lang="en-US" altLang="en-US" dirty="0"/>
              <a:t>not very common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Example:</a:t>
            </a:r>
          </a:p>
          <a:p>
            <a:pPr lvl="1">
              <a:spcBef>
                <a:spcPts val="300"/>
              </a:spcBef>
            </a:pPr>
            <a:r>
              <a:rPr lang="en-US" altLang="en-US" sz="2100" dirty="0"/>
              <a:t>Windows with </a:t>
            </a:r>
            <a:r>
              <a:rPr lang="en-US" altLang="en-US" sz="2100" b="1" dirty="0" err="1">
                <a:solidFill>
                  <a:srgbClr val="006699"/>
                </a:solidFill>
              </a:rPr>
              <a:t>ThreadFiber</a:t>
            </a:r>
            <a:r>
              <a:rPr lang="en-US" altLang="en-US" sz="2100" dirty="0"/>
              <a:t> </a:t>
            </a:r>
            <a:br>
              <a:rPr lang="en-US" altLang="en-US" sz="2100" dirty="0"/>
            </a:br>
            <a:r>
              <a:rPr lang="en-US" altLang="en-US" sz="2100" dirty="0"/>
              <a:t>package</a:t>
            </a:r>
          </a:p>
        </p:txBody>
      </p:sp>
      <p:pic>
        <p:nvPicPr>
          <p:cNvPr id="37891" name="Picture 1">
            <a:extLst>
              <a:ext uri="{FF2B5EF4-FFF2-40B4-BE49-F238E27FC236}">
                <a16:creationId xmlns:a16="http://schemas.microsoft.com/office/drawing/2014/main" id="{CCAA589D-3ED6-47FF-8B49-15D858089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969" y="4253662"/>
            <a:ext cx="3290509" cy="181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9FDDA22-EC21-AB7C-4EE0-BC5BC0172D7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Thread Libraries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7937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960" y="0"/>
            <a:ext cx="7762240" cy="731520"/>
          </a:xfrm>
        </p:spPr>
        <p:txBody>
          <a:bodyPr>
            <a:noAutofit/>
          </a:bodyPr>
          <a:lstStyle/>
          <a:p>
            <a:r>
              <a:rPr lang="en-US" dirty="0"/>
              <a:t>Thread Libraries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75920" y="1005840"/>
            <a:ext cx="8615680" cy="5572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defTabSz="914400" rtl="0" eaLnBrk="1" fontAlgn="auto" latinLnBrk="0" hangingPunct="1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Thread libraries provide programmers with API for creating &amp; managing threads</a:t>
            </a:r>
          </a:p>
          <a:p>
            <a:pPr marL="746125" lvl="1" indent="-288925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primary ways of implementing</a:t>
            </a:r>
          </a:p>
          <a:p>
            <a:pPr marL="741363" lvl="1" indent="-284163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200" baseline="0" dirty="0">
                <a:latin typeface="Calibri" panose="020F0502020204030204" pitchFamily="34" charset="0"/>
                <a:cs typeface="Calibri" panose="020F0502020204030204" pitchFamily="34" charset="0"/>
              </a:rPr>
              <a:t>library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entirely in </a:t>
            </a:r>
            <a:r>
              <a:rPr lang="en-US" sz="22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space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    or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Kernel-level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library</a:t>
            </a:r>
          </a:p>
          <a:p>
            <a:pPr marL="342900" indent="-342900">
              <a:spcBef>
                <a:spcPts val="18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b="1" baseline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Pthreads</a:t>
            </a:r>
            <a:endParaRPr kumimoji="0" lang="en-US" sz="2300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1363" lvl="1" indent="-284163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POSIX standard API for thread creation &amp; synchronization</a:t>
            </a:r>
          </a:p>
          <a:p>
            <a:pPr marL="741363" lvl="1" indent="-284163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Unix type systems; Linux, Solaris, Mac OS X  </a:t>
            </a:r>
          </a:p>
          <a:p>
            <a:pPr marL="342900" indent="-3429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Windows Threads</a:t>
            </a:r>
            <a:endParaRPr lang="en-US" sz="23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1363" lvl="1" indent="-284163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Windows threads library uses techniques similar to </a:t>
            </a:r>
            <a:r>
              <a:rPr 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Pthreads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§"/>
              <a:defRPr/>
            </a:pP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 Threads</a:t>
            </a:r>
            <a:endParaRPr lang="en-US" sz="23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1363" lvl="1" indent="-284163"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Java threads available on any system that provides JVM –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Windows, Linux, Mac OS X, Android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3E343E-DE37-85EE-3EA1-258CEE8262E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821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878676"/>
              </p:ext>
            </p:extLst>
          </p:nvPr>
        </p:nvGraphicFramePr>
        <p:xfrm>
          <a:off x="816428" y="1323342"/>
          <a:ext cx="7673703" cy="21793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8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6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mic Sans MS" pitchFamily="66" charset="0"/>
                        </a:rPr>
                        <a:t>Call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mic Sans MS" pitchFamily="66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163">
                <a:tc>
                  <a:txBody>
                    <a:bodyPr/>
                    <a:lstStyle/>
                    <a:p>
                      <a:pPr algn="l"/>
                      <a:r>
                        <a:rPr lang="en-US" sz="2200" b="0" baseline="0" dirty="0">
                          <a:latin typeface="Comic Sans MS" pitchFamily="66" charset="0"/>
                        </a:rPr>
                        <a:t> </a:t>
                      </a:r>
                      <a:r>
                        <a:rPr lang="en-US" sz="2200" b="0" baseline="0" dirty="0" err="1">
                          <a:latin typeface="Comic Sans MS" pitchFamily="66" charset="0"/>
                        </a:rPr>
                        <a:t>pthread_create</a:t>
                      </a:r>
                      <a:r>
                        <a:rPr lang="en-US" sz="2200" b="0" baseline="0" dirty="0">
                          <a:latin typeface="Comic Sans MS" pitchFamily="66" charset="0"/>
                        </a:rPr>
                        <a:t> ()</a:t>
                      </a:r>
                      <a:endParaRPr lang="en-US" sz="2200" b="0" dirty="0">
                        <a:latin typeface="Comic Sans MS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>
                          <a:latin typeface="Comic Sans MS" pitchFamily="66" charset="0"/>
                        </a:rPr>
                        <a:t> Similar to fork 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>
                          <a:latin typeface="Comic Sans MS" pitchFamily="66" charset="0"/>
                        </a:rPr>
                        <a:t> </a:t>
                      </a:r>
                      <a:r>
                        <a:rPr lang="en-US" sz="2200" b="0" dirty="0" err="1">
                          <a:latin typeface="Comic Sans MS" pitchFamily="66" charset="0"/>
                        </a:rPr>
                        <a:t>pthead_join</a:t>
                      </a:r>
                      <a:r>
                        <a:rPr lang="en-US" sz="2200" b="0" dirty="0">
                          <a:latin typeface="Comic Sans MS" pitchFamily="66" charset="0"/>
                        </a:rPr>
                        <a:t> 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>
                          <a:latin typeface="Comic Sans MS" pitchFamily="66" charset="0"/>
                        </a:rPr>
                        <a:t> Similar</a:t>
                      </a:r>
                      <a:r>
                        <a:rPr lang="en-US" sz="2200" b="0" baseline="0" dirty="0">
                          <a:latin typeface="Comic Sans MS" pitchFamily="66" charset="0"/>
                        </a:rPr>
                        <a:t> to </a:t>
                      </a:r>
                      <a:r>
                        <a:rPr lang="en-US" sz="2200" b="0" baseline="0" dirty="0" err="1">
                          <a:latin typeface="Comic Sans MS" pitchFamily="66" charset="0"/>
                        </a:rPr>
                        <a:t>waitpid</a:t>
                      </a:r>
                      <a:r>
                        <a:rPr lang="en-US" sz="2200" b="0" baseline="0" dirty="0">
                          <a:latin typeface="Comic Sans MS" pitchFamily="66" charset="0"/>
                        </a:rPr>
                        <a:t> ()</a:t>
                      </a:r>
                      <a:endParaRPr lang="en-US" sz="2200" b="0" dirty="0">
                        <a:latin typeface="Comic Sans MS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>
                          <a:latin typeface="Comic Sans MS" pitchFamily="66" charset="0"/>
                        </a:rPr>
                        <a:t> </a:t>
                      </a:r>
                      <a:r>
                        <a:rPr lang="en-US" sz="2200" b="0" dirty="0" err="1">
                          <a:latin typeface="Comic Sans MS" pitchFamily="66" charset="0"/>
                        </a:rPr>
                        <a:t>pthread_exit</a:t>
                      </a:r>
                      <a:r>
                        <a:rPr lang="en-US" sz="2200" b="0" dirty="0">
                          <a:latin typeface="Comic Sans MS" pitchFamily="66" charset="0"/>
                        </a:rPr>
                        <a:t> (void *status)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dirty="0">
                          <a:latin typeface="Comic Sans MS" pitchFamily="66" charset="0"/>
                        </a:rPr>
                        <a:t> To terminate a thread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44880" y="172719"/>
            <a:ext cx="7894320" cy="547641"/>
          </a:xfrm>
        </p:spPr>
        <p:txBody>
          <a:bodyPr>
            <a:noAutofit/>
          </a:bodyPr>
          <a:lstStyle/>
          <a:p>
            <a:r>
              <a:rPr lang="en-US" dirty="0"/>
              <a:t>Important POSIX System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519" y="3872038"/>
            <a:ext cx="84328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Thread operations include: </a:t>
            </a:r>
          </a:p>
          <a:p>
            <a:pPr marL="7315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thread creation, termination, synchronization (joins, blocking), scheduling, data management, &amp; process interaction</a:t>
            </a:r>
          </a:p>
          <a:p>
            <a:pPr marL="274320" indent="-274320">
              <a:spcBef>
                <a:spcPts val="1800"/>
              </a:spcBef>
              <a:buFont typeface="Arial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Thread does not maintain a list of other created threads, nor does it know the thread that created it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0D7D0CE-701B-3615-0D4D-EEF6F513E25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85520" y="152399"/>
            <a:ext cx="7853680" cy="589281"/>
          </a:xfrm>
        </p:spPr>
        <p:txBody>
          <a:bodyPr>
            <a:noAutofit/>
          </a:bodyPr>
          <a:lstStyle/>
          <a:p>
            <a:r>
              <a:rPr lang="en-US" dirty="0"/>
              <a:t>Thread Creation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652" b="-1369"/>
          <a:stretch/>
        </p:blipFill>
        <p:spPr>
          <a:xfrm>
            <a:off x="479620" y="1188720"/>
            <a:ext cx="8310880" cy="50292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E34E5B8-3AD2-DD7D-D2DE-7BEDB65F658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821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65200" y="92981"/>
            <a:ext cx="7874000" cy="654818"/>
          </a:xfrm>
        </p:spPr>
        <p:txBody>
          <a:bodyPr>
            <a:noAutofit/>
          </a:bodyPr>
          <a:lstStyle/>
          <a:p>
            <a:r>
              <a:rPr lang="en-US" dirty="0"/>
              <a:t>Thread Termination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90" y="1145627"/>
            <a:ext cx="8260080" cy="499346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BB513AC-E65F-DE82-B328-12A717BC912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9005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Joining a Thread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80" y="1208687"/>
            <a:ext cx="8243248" cy="4572003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7057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Example 0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D2D7376-267F-6AA0-ACBA-F0485B55FF4B}"/>
              </a:ext>
            </a:extLst>
          </p:cNvPr>
          <p:cNvSpPr txBox="1">
            <a:spLocks noChangeArrowheads="1"/>
          </p:cNvSpPr>
          <p:nvPr/>
        </p:nvSpPr>
        <p:spPr>
          <a:xfrm>
            <a:off x="373017" y="1249680"/>
            <a:ext cx="8534400" cy="2667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f1();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f2();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(){  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f1();  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f2();  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("\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nBye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Bye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from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\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");     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mr-IN" sz="2000" dirty="0">
                <a:latin typeface="Courier New" pitchFamily="49" charset="0"/>
                <a:cs typeface="Courier New" pitchFamily="49" charset="0"/>
              </a:rPr>
              <a:t> 0;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sz="20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E1D26-B094-FB0A-12F2-A9E066B20CFD}"/>
              </a:ext>
            </a:extLst>
          </p:cNvPr>
          <p:cNvSpPr/>
          <p:nvPr/>
        </p:nvSpPr>
        <p:spPr>
          <a:xfrm>
            <a:off x="373017" y="4038600"/>
            <a:ext cx="4114800" cy="169892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f1(){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&lt;5;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++){   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printf("%s", “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UCP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");        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sleep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(1);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BBA69-1E35-3DE7-28D1-996047E9EC26}"/>
              </a:ext>
            </a:extLst>
          </p:cNvPr>
          <p:cNvSpPr/>
          <p:nvPr/>
        </p:nvSpPr>
        <p:spPr>
          <a:xfrm>
            <a:off x="4792617" y="4038600"/>
            <a:ext cx="4114800" cy="169892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>
                <a:latin typeface="Courier New" pitchFamily="49" charset="0"/>
                <a:cs typeface="Courier New" pitchFamily="49" charset="0"/>
              </a:rPr>
              <a:t>void f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(){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&lt;5;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++){   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printf("%s", ”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FOIT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");  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sleep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(1);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568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012DC4E-C56D-321D-AE47-8752CA077258}"/>
              </a:ext>
            </a:extLst>
          </p:cNvPr>
          <p:cNvSpPr txBox="1">
            <a:spLocks noChangeArrowheads="1"/>
          </p:cNvSpPr>
          <p:nvPr/>
        </p:nvSpPr>
        <p:spPr>
          <a:xfrm>
            <a:off x="568960" y="1000760"/>
            <a:ext cx="8341360" cy="335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void* f1(void*);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void* f2(void*);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main(){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tid1, tid2;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(&amp;tid1, NULL, f1,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(&amp;tid2, NULL, f2, NULL);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(tid2,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("\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nBye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Bye from main thread\n");  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CFB96-BAFF-F20E-1B71-8B05EA466609}"/>
              </a:ext>
            </a:extLst>
          </p:cNvPr>
          <p:cNvSpPr/>
          <p:nvPr/>
        </p:nvSpPr>
        <p:spPr>
          <a:xfrm>
            <a:off x="568960" y="4450080"/>
            <a:ext cx="4114800" cy="226677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void * f1(void *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&lt;5;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++){  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("%s", “UCP");    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fflush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stdout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);  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sleep(1);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}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(NULL);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46C2B-7A32-C53C-C732-51EE2824AA6B}"/>
              </a:ext>
            </a:extLst>
          </p:cNvPr>
          <p:cNvSpPr/>
          <p:nvPr/>
        </p:nvSpPr>
        <p:spPr>
          <a:xfrm>
            <a:off x="4759960" y="4450080"/>
            <a:ext cx="4150360" cy="225292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void * f2(void *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&lt;5;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("%s", “FOIT");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fflush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stdout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sleep(1);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return NULL;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4102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23520"/>
            <a:ext cx="7741920" cy="558800"/>
          </a:xfrm>
        </p:spPr>
        <p:txBody>
          <a:bodyPr>
            <a:noAutofit/>
          </a:bodyPr>
          <a:lstStyle/>
          <a:p>
            <a:r>
              <a:rPr lang="en-US" dirty="0"/>
              <a:t>Compiling a multi-threaded Program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F4FD0EA-D662-AA8F-03BF-9E80154B5E4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196BC-34C0-11DF-10AC-0F649C6D0B61}"/>
              </a:ext>
            </a:extLst>
          </p:cNvPr>
          <p:cNvSpPr txBox="1">
            <a:spLocks noChangeArrowheads="1"/>
          </p:cNvSpPr>
          <p:nvPr/>
        </p:nvSpPr>
        <p:spPr>
          <a:xfrm>
            <a:off x="619760" y="1209040"/>
            <a:ext cx="7836989" cy="4500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marL="342900" marR="0" lvl="0" indent="-342900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Multi-Threaded programs need to be linked with the thread library /usr/lib/libpthread.so</a:t>
            </a:r>
          </a:p>
          <a:p>
            <a:pPr marR="0" lvl="0" defTabSz="9144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$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gcc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-o  t1  t1.c  –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pthread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$./t1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12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</a:t>
            </a:r>
          </a:p>
          <a:p>
            <a:pPr lvl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dirty="0">
                <a:latin typeface="Calibri" panose="020F0502020204030204" pitchFamily="34" charset="0"/>
                <a:ea typeface="Courier" charset="0"/>
                <a:cs typeface="Calibri" panose="020F0502020204030204" pitchFamily="34" charset="0"/>
              </a:rPr>
              <a:t>	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42479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C0724A66-F103-0906-64A9-033B35DA06B0}"/>
              </a:ext>
            </a:extLst>
          </p:cNvPr>
          <p:cNvSpPr txBox="1">
            <a:spLocks noChangeArrowheads="1"/>
          </p:cNvSpPr>
          <p:nvPr/>
        </p:nvSpPr>
        <p:spPr>
          <a:xfrm>
            <a:off x="924560" y="1005715"/>
            <a:ext cx="7447280" cy="2763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main(){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tid1, tid2;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(&amp;tid1, NULL, f1,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(&amp;tid2, NULL, f2, NULL);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(tid2,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("\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nBye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Bye from main thread\n");  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47D34-7506-BC2A-9245-69E6E5C68525}"/>
              </a:ext>
            </a:extLst>
          </p:cNvPr>
          <p:cNvSpPr/>
          <p:nvPr/>
        </p:nvSpPr>
        <p:spPr>
          <a:xfrm>
            <a:off x="2336074" y="3868059"/>
            <a:ext cx="4876800" cy="142192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f1(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){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&lt;1000;i++)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, "%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",'X');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(NULL);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5A8F2-9C25-D064-86D2-437864CEE9A5}"/>
              </a:ext>
            </a:extLst>
          </p:cNvPr>
          <p:cNvSpPr/>
          <p:nvPr/>
        </p:nvSpPr>
        <p:spPr>
          <a:xfrm>
            <a:off x="2336074" y="5388811"/>
            <a:ext cx="4876800" cy="142192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){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8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00;i++)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, "%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",’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O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');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(NULL);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82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2A7304C-DA49-1F93-BB70-0CE0C5B181B3}"/>
              </a:ext>
            </a:extLst>
          </p:cNvPr>
          <p:cNvSpPr txBox="1">
            <a:spLocks noChangeArrowheads="1"/>
          </p:cNvSpPr>
          <p:nvPr/>
        </p:nvSpPr>
        <p:spPr>
          <a:xfrm>
            <a:off x="454298" y="1207118"/>
            <a:ext cx="8534400" cy="31036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int main(int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char*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countofX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atoi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[1]);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countofO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atoi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[2]);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tid1, tid2;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(&amp;tid1, NULL, f1, (void*)&amp;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countofX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(&amp;tid2, NULL, f2, (void*)&amp;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countofO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(tid2,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("\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nBye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Bye from main thread\n");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return 0;}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EDC80-F028-E214-F8FD-BFF3F3666F13}"/>
              </a:ext>
            </a:extLst>
          </p:cNvPr>
          <p:cNvSpPr/>
          <p:nvPr/>
        </p:nvSpPr>
        <p:spPr>
          <a:xfrm>
            <a:off x="454298" y="4435791"/>
            <a:ext cx="4169229" cy="1934376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f1(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){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= *((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*)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++)   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, "%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", 'X');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(NULL);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>
                <a:latin typeface="Courier New" pitchFamily="49" charset="0"/>
                <a:cs typeface="Courier New" pitchFamily="49" charset="0"/>
              </a:rPr>
              <a:t>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8022C5-C9C9-13F3-6727-1DA8BBED4343}"/>
              </a:ext>
            </a:extLst>
          </p:cNvPr>
          <p:cNvSpPr/>
          <p:nvPr/>
        </p:nvSpPr>
        <p:spPr>
          <a:xfrm>
            <a:off x="4833258" y="4435791"/>
            <a:ext cx="4169228" cy="165737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){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= *((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*)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);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++)   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fprintf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stderr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, "%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c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", ’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O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');   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mr-IN" i="1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mr-IN" i="1" dirty="0">
                <a:latin typeface="Courier New" pitchFamily="49" charset="0"/>
                <a:cs typeface="Courier New" pitchFamily="49" charset="0"/>
              </a:rPr>
              <a:t>(NULL);}</a:t>
            </a:r>
            <a:endParaRPr lang="en-US" i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872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Example 4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26599D8A-AF1D-79D8-A313-9492686E4CB1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861393"/>
            <a:ext cx="8534400" cy="42694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mystruct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char character;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count;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void * f1(void *);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main(){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tid1, tid2;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mystruct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t1_args, t2_args;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t1_args.character = 'X';   t1_args.count = 1000;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(&amp;tid1, NULL, f1, (void*)&amp;t1_args);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t2_args.character = 'O';   t2_args.count = 800;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(&amp;tid2, NULL, f1, (void*)&amp;t2_args);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(tid2,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("\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nBye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Bye from main thread.\n"); return 0;}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A440F-3F08-07C8-5C21-19AD8473052C}"/>
              </a:ext>
            </a:extLst>
          </p:cNvPr>
          <p:cNvSpPr/>
          <p:nvPr/>
        </p:nvSpPr>
        <p:spPr>
          <a:xfrm>
            <a:off x="1270000" y="5159073"/>
            <a:ext cx="6604000" cy="1698927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void * f1(void *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mystruct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p = *(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mystruct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*)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p.count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putc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p.character,stdout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i="1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(NULL);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i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9524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172720"/>
            <a:ext cx="7863840" cy="579120"/>
          </a:xfrm>
        </p:spPr>
        <p:txBody>
          <a:bodyPr>
            <a:noAutofit/>
          </a:bodyPr>
          <a:lstStyle/>
          <a:p>
            <a:r>
              <a:rPr lang="en-US" dirty="0"/>
              <a:t>Example 5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56A7907-33ED-1DB2-BD39-12D0076DFD3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C41EE834-6CB1-76C7-A6BC-369DC89C923A}"/>
              </a:ext>
            </a:extLst>
          </p:cNvPr>
          <p:cNvSpPr txBox="1">
            <a:spLocks noChangeArrowheads="1"/>
          </p:cNvSpPr>
          <p:nvPr/>
        </p:nvSpPr>
        <p:spPr>
          <a:xfrm>
            <a:off x="815340" y="919241"/>
            <a:ext cx="7655560" cy="3581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char*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[]){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if(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!= 3){  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("Must pass two file names.\n");  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exit(1);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}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tid1, tid2;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(&amp;tid1, NULL,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(void*)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[1]);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(&amp;tid2, NULL,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(void*)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[2]);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(tid1,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(tid2, NULL);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(”Bye Bye from main thread\n");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C48652-C6CF-3037-C671-0EE2E1A6C17B}"/>
              </a:ext>
            </a:extLst>
          </p:cNvPr>
          <p:cNvSpPr txBox="1">
            <a:spLocks noChangeArrowheads="1"/>
          </p:cNvSpPr>
          <p:nvPr/>
        </p:nvSpPr>
        <p:spPr>
          <a:xfrm>
            <a:off x="815340" y="4541282"/>
            <a:ext cx="7655560" cy="2275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void*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func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(void*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){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char* filename = (char*)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0;   char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open(filename, O_RDONLY);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while((read(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1)) != 0) ctr++; 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close(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("Characters in %s: %d\n", filename,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ctr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   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(NULL);}</a:t>
            </a:r>
          </a:p>
        </p:txBody>
      </p:sp>
    </p:spTree>
    <p:extLst>
      <p:ext uri="{BB962C8B-B14F-4D97-AF65-F5344CB8AC3E}">
        <p14:creationId xmlns:p14="http://schemas.microsoft.com/office/powerpoint/2010/main" val="258565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3680" y="2276817"/>
            <a:ext cx="8580119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sz="3200" b="1" dirty="0">
                <a:solidFill>
                  <a:srgbClr val="006699"/>
                </a:solidFill>
                <a:latin typeface="+mj-lt"/>
              </a:rPr>
              <a:t>Threads Issues</a:t>
            </a:r>
          </a:p>
          <a:p>
            <a:pPr marL="457200" lvl="1" indent="0" algn="ctr">
              <a:buNone/>
            </a:pP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11610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DD10-C1F9-02ED-8A15-F26C92A6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2BDBB915-5F56-2E81-66E7-5C879D03E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dirty="0"/>
              <a:t>fork() in Multithreading</a:t>
            </a:r>
            <a:endParaRPr lang="en-US" altLang="en-US" dirty="0"/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65381CEA-E388-197D-6C27-576DD4BAC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3180" y="1078071"/>
            <a:ext cx="8516530" cy="5560430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2300" dirty="0"/>
              <a:t>If one thread calls </a:t>
            </a:r>
            <a:r>
              <a:rPr lang="en-US" altLang="en-US" sz="2300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fork()</a:t>
            </a:r>
            <a:r>
              <a:rPr lang="en-US" altLang="en-US" sz="2300" dirty="0"/>
              <a:t> in a multithreaded program…</a:t>
            </a:r>
            <a:endParaRPr lang="en-US" altLang="en-US" sz="2300" b="1" kern="1200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346075"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</a:rPr>
              <a:t>Only calling thread duplicated   </a:t>
            </a:r>
          </a:p>
          <a:p>
            <a:pPr marL="682625" lvl="1">
              <a:spcBef>
                <a:spcPts val="600"/>
              </a:spcBef>
            </a:pPr>
            <a:r>
              <a:rPr lang="en-US" kern="100" dirty="0">
                <a:cs typeface="Times New Roman" panose="02020603050405020304" pitchFamily="18" charset="0"/>
              </a:rPr>
              <a:t>issues – child has inconsistent state – abandoned locks, incomplete operations, shared data in undefined conditions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</a:rPr>
              <a:t>All threads in parent duplicated   </a:t>
            </a:r>
          </a:p>
          <a:p>
            <a:pPr marL="682625" lvl="1">
              <a:spcBef>
                <a:spcPts val="600"/>
              </a:spcBef>
            </a:pPr>
            <a:r>
              <a:rPr lang="en-US" kern="100" dirty="0">
                <a:cs typeface="Times New Roman" panose="02020603050405020304" pitchFamily="18" charset="0"/>
              </a:rPr>
              <a:t>issues – identical thread copies with shared kernel objects would operate independently in both parent/child </a:t>
            </a:r>
          </a:p>
          <a:p>
            <a:pPr marR="0">
              <a:spcBef>
                <a:spcPts val="1800"/>
              </a:spcBef>
              <a:spcAft>
                <a:spcPts val="0"/>
              </a:spcAft>
            </a:pPr>
            <a:r>
              <a:rPr lang="en-US" sz="2300" kern="100" dirty="0">
                <a:cs typeface="Times New Roman" panose="02020603050405020304" pitchFamily="18" charset="0"/>
              </a:rPr>
              <a:t>POSIX standard –</a:t>
            </a:r>
            <a:r>
              <a:rPr lang="en-US" b="1" dirty="0"/>
              <a:t> </a:t>
            </a:r>
            <a:r>
              <a:rPr lang="en-US" sz="2300" kern="100" dirty="0">
                <a:cs typeface="Times New Roman" panose="02020603050405020304" pitchFamily="18" charset="0"/>
              </a:rPr>
              <a:t>Only the calling thread is duplicated</a:t>
            </a:r>
          </a:p>
          <a:p>
            <a:pPr marL="741363" lvl="1">
              <a:spcBef>
                <a:spcPts val="600"/>
              </a:spcBef>
              <a:spcAft>
                <a:spcPts val="0"/>
              </a:spcAft>
            </a:pPr>
            <a:r>
              <a:rPr lang="en-US" kern="100" dirty="0">
                <a:cs typeface="Times New Roman" panose="02020603050405020304" pitchFamily="18" charset="0"/>
              </a:rPr>
              <a:t>clean up &amp; reinitialize shared state before any other operations</a:t>
            </a:r>
          </a:p>
          <a:p>
            <a:pPr marL="741363" lvl="1">
              <a:spcBef>
                <a:spcPts val="600"/>
              </a:spcBef>
              <a:spcAft>
                <a:spcPts val="0"/>
              </a:spcAft>
            </a:pPr>
            <a:r>
              <a:rPr lang="en-US" kern="100" dirty="0">
                <a:cs typeface="Times New Roman" panose="02020603050405020304" pitchFamily="18" charset="0"/>
              </a:rPr>
              <a:t>call exec() immediately after fork() to replace entire address space</a:t>
            </a:r>
          </a:p>
          <a:p>
            <a:pPr>
              <a:spcBef>
                <a:spcPts val="1800"/>
              </a:spcBef>
            </a:pPr>
            <a:r>
              <a:rPr lang="en-US" dirty="0">
                <a:solidFill>
                  <a:srgbClr val="C00000"/>
                </a:solidFill>
              </a:rPr>
              <a:t>Best Practice : </a:t>
            </a:r>
            <a:r>
              <a:rPr lang="en-US" sz="2300" kern="100" dirty="0">
                <a:cs typeface="Times New Roman" panose="02020603050405020304" pitchFamily="18" charset="0"/>
              </a:rPr>
              <a:t>avoid fork() with threads, or use fork() before creating threads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62E7C5F-3949-095A-BAC7-3C614E5571E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7077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dirty="0"/>
              <a:t>exec() in Multithreading</a:t>
            </a:r>
            <a:endParaRPr lang="en-US" altLang="en-US" dirty="0"/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240" y="1120111"/>
            <a:ext cx="8421939" cy="544867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en-US" sz="2300" dirty="0"/>
              <a:t>Behavior of </a:t>
            </a:r>
            <a:r>
              <a:rPr lang="en-US" altLang="en-US" sz="2300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sz="2300" dirty="0"/>
              <a:t>in multithreading environment…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300" dirty="0"/>
              <a:t>If a thread invokes </a:t>
            </a:r>
            <a:r>
              <a:rPr lang="en-US" altLang="en-US" sz="2300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exec()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program speciﬁed in parameter to 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altLang="en-US" b="1" kern="1200" dirty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dirty="0"/>
              <a:t>will replace the </a:t>
            </a:r>
            <a:br>
              <a:rPr lang="en-US" altLang="en-US" dirty="0"/>
            </a:br>
            <a:r>
              <a:rPr lang="en-US" altLang="en-US" dirty="0"/>
              <a:t>entire process — including all threads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any threads running before calling 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exec()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,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are terminated</a:t>
            </a:r>
            <a:endParaRPr lang="en-US" altLang="en-US" dirty="0"/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dirty="0"/>
              <a:t>as new program over-writes process memory, all global variables disappear </a:t>
            </a:r>
          </a:p>
          <a:p>
            <a:pPr marL="1146175" lvl="2" indent="-288925">
              <a:lnSpc>
                <a:spcPct val="110000"/>
              </a:lnSpc>
              <a:spcBef>
                <a:spcPts val="600"/>
              </a:spcBef>
            </a:pPr>
            <a:r>
              <a:rPr lang="en-US" altLang="en-US" dirty="0"/>
              <a:t>including all </a:t>
            </a:r>
            <a:r>
              <a:rPr lang="en-US" altLang="en-US" dirty="0" err="1"/>
              <a:t>pthread</a:t>
            </a:r>
            <a:r>
              <a:rPr lang="en-US" altLang="en-US" dirty="0"/>
              <a:t> objects </a:t>
            </a:r>
            <a:r>
              <a:rPr lang="en-US" altLang="en-US" i="1" dirty="0"/>
              <a:t>(mutex, condition variables)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6A8CB5-21A1-12CE-7321-15EC705FD80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258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4054" y="1024255"/>
            <a:ext cx="8505785" cy="543750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A thread can send a cancellation request to another thread to terminate </a:t>
            </a:r>
            <a:r>
              <a:rPr lang="en-US" altLang="en-US" dirty="0"/>
              <a:t>before it has completed</a:t>
            </a:r>
            <a:r>
              <a:rPr lang="en-US" dirty="0"/>
              <a:t> </a:t>
            </a:r>
            <a:endParaRPr lang="en-US" altLang="en-US" dirty="0"/>
          </a:p>
          <a:p>
            <a:pPr lvl="1"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Example:  </a:t>
            </a:r>
            <a:r>
              <a:rPr lang="en-US" altLang="en-US" sz="2100" dirty="0"/>
              <a:t>if multiple threads concurrently search a DB, and one thread returns result, remaining threads may need to be canceled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/>
              <a:t>thread to be canceled is </a:t>
            </a:r>
            <a:r>
              <a:rPr lang="en-US" altLang="en-US" sz="2100" b="1" dirty="0">
                <a:solidFill>
                  <a:srgbClr val="006699"/>
                </a:solidFill>
              </a:rPr>
              <a:t>target thread</a:t>
            </a:r>
            <a:endParaRPr lang="en-US" altLang="en-US" sz="2100" dirty="0"/>
          </a:p>
          <a:p>
            <a:pPr>
              <a:spcBef>
                <a:spcPts val="1800"/>
              </a:spcBef>
            </a:pPr>
            <a:r>
              <a:rPr lang="en-US" altLang="en-US" dirty="0"/>
              <a:t>Target thread cancellation may be done in two ways…</a:t>
            </a:r>
          </a:p>
          <a:p>
            <a:pPr lvl="1"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Asynchronous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cancellation </a:t>
            </a:r>
            <a:r>
              <a:rPr lang="en-US" altLang="en-US" dirty="0"/>
              <a:t> 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altLang="en-US" sz="2100" dirty="0"/>
              <a:t>target thread gets terminated immediately</a:t>
            </a:r>
          </a:p>
          <a:p>
            <a:pPr lvl="1">
              <a:spcBef>
                <a:spcPts val="600"/>
              </a:spcBef>
            </a:pPr>
            <a:r>
              <a:rPr lang="en-US" altLang="en-US" b="1" dirty="0">
                <a:solidFill>
                  <a:srgbClr val="006699"/>
                </a:solidFill>
              </a:rPr>
              <a:t>Deferred cancellation  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altLang="en-US" sz="2100" dirty="0"/>
              <a:t>target thread </a:t>
            </a:r>
            <a:r>
              <a:rPr lang="en-US" sz="2100" dirty="0"/>
              <a:t>checks for pending cancellation requests at specific cancellation points</a:t>
            </a:r>
            <a:endParaRPr lang="en-US" altLang="en-US" sz="2100" dirty="0"/>
          </a:p>
          <a:p>
            <a:pPr marL="1146175" lvl="2" indent="-288925">
              <a:spcBef>
                <a:spcPts val="600"/>
              </a:spcBef>
            </a:pPr>
            <a:r>
              <a:rPr lang="en-US" altLang="en-US" sz="2100" dirty="0"/>
              <a:t>allows itself opportunity to terminate in orderly fashion</a:t>
            </a:r>
          </a:p>
          <a:p>
            <a:pPr lvl="1">
              <a:spcBef>
                <a:spcPts val="600"/>
              </a:spcBef>
            </a:pPr>
            <a:endParaRPr lang="en-US" altLang="en-US" dirty="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E9A5CD-ED5E-13D4-5C99-8DEA26D242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8381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4054" y="1076455"/>
            <a:ext cx="8505785" cy="543750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/>
              <a:t>A thread can request that another thread be cancelled…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altLang="en-US" b="1" kern="12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pthread_cancel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en-US" b="1" kern="12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b="1" kern="12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)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sz="2100" dirty="0"/>
              <a:t>		</a:t>
            </a:r>
            <a:r>
              <a:rPr lang="en-US" altLang="en-US" sz="2100" i="1" dirty="0"/>
              <a:t>(mentions TID of target thread)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Cancellation may cause a problem, if target thread holds resources that it must free later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So, a thread can set its state as </a:t>
            </a:r>
            <a:r>
              <a:rPr lang="en-US" altLang="en-US" i="1" dirty="0">
                <a:solidFill>
                  <a:srgbClr val="FF0000"/>
                </a:solidFill>
              </a:rPr>
              <a:t>cancellable</a:t>
            </a:r>
            <a:r>
              <a:rPr lang="en-US" altLang="en-US" dirty="0"/>
              <a:t> or </a:t>
            </a:r>
            <a:r>
              <a:rPr lang="en-US" altLang="en-US" i="1" dirty="0">
                <a:solidFill>
                  <a:srgbClr val="FF0000"/>
                </a:solidFill>
              </a:rPr>
              <a:t>un-cancellable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 kern="12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pthread_setcancelstate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spcBef>
                <a:spcPts val="1800"/>
              </a:spcBef>
            </a:pPr>
            <a:r>
              <a:rPr lang="en-US" altLang="en-US" sz="2300" dirty="0"/>
              <a:t>Cancellable thread may also set its cancellation type, as:</a:t>
            </a:r>
          </a:p>
          <a:p>
            <a:pPr lvl="1" defTabSz="876300">
              <a:spcBef>
                <a:spcPts val="6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Asynchronous 	–</a:t>
            </a:r>
            <a:r>
              <a:rPr lang="en-US" altLang="en-US" dirty="0"/>
              <a:t>  cancelled at any point during execution</a:t>
            </a:r>
          </a:p>
          <a:p>
            <a:pPr lvl="1" defTabSz="876300">
              <a:spcBef>
                <a:spcPts val="6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Deferred 	–  </a:t>
            </a:r>
            <a:r>
              <a:rPr lang="en-US" altLang="en-US" dirty="0"/>
              <a:t>cancellation request is queued, until target</a:t>
            </a:r>
            <a:br>
              <a:rPr lang="en-US" altLang="en-US" dirty="0"/>
            </a:br>
            <a:r>
              <a:rPr lang="en-US" altLang="en-US" dirty="0"/>
              <a:t>			    thread reaches next cancellation point 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 kern="1200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pthread_setcanceltype</a:t>
            </a:r>
            <a:r>
              <a:rPr lang="en-US" altLang="en-US" b="1" kern="12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()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E9A5CD-ED5E-13D4-5C99-8DEA26D242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5A4A892A-809A-4516-AB08-9E20E9A57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1088" y="226237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Thread Cancellation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E0ACA4C6-47F5-415C-B47D-5700AEF12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74054" y="1064895"/>
            <a:ext cx="8505785" cy="5762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dirty="0" err="1"/>
              <a:t>Pthread</a:t>
            </a:r>
            <a:r>
              <a:rPr lang="en-US" altLang="en-US" dirty="0"/>
              <a:t> code to create &amp; cancel a thread:</a:t>
            </a:r>
          </a:p>
          <a:p>
            <a:pPr>
              <a:spcBef>
                <a:spcPts val="600"/>
              </a:spcBef>
              <a:buFont typeface="Monotype Sorts" pitchFamily="-84" charset="2"/>
              <a:buNone/>
            </a:pPr>
            <a:endParaRPr lang="en-US" altLang="en-US" dirty="0"/>
          </a:p>
          <a:p>
            <a:pPr lvl="1">
              <a:spcBef>
                <a:spcPts val="600"/>
              </a:spcBef>
            </a:pPr>
            <a:endParaRPr lang="en-US" altLang="en-US" dirty="0"/>
          </a:p>
        </p:txBody>
      </p:sp>
      <p:pic>
        <p:nvPicPr>
          <p:cNvPr id="87043" name="Picture 1">
            <a:extLst>
              <a:ext uri="{FF2B5EF4-FFF2-40B4-BE49-F238E27FC236}">
                <a16:creationId xmlns:a16="http://schemas.microsoft.com/office/drawing/2014/main" id="{C3014C15-8D5D-4EBD-B07F-81007A227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68" y="1822274"/>
            <a:ext cx="6268720" cy="3939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E9A5CD-ED5E-13D4-5C99-8DEA26D2420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1810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Explicit &amp; 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4140" y="1130621"/>
            <a:ext cx="8545286" cy="544867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Explicit Threading  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threads are explicitly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created &amp; managed using thread libraries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programmer decides where / when to create threads, and how to synchronize &amp; communicate between threads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provides more control over thread management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but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need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 more effort</a:t>
            </a:r>
            <a:endParaRPr lang="en-US" altLang="en-US" dirty="0"/>
          </a:p>
          <a:p>
            <a:pPr>
              <a:spcBef>
                <a:spcPts val="24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Implicit Threading 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creation &amp; management of threads done by compilers and </a:t>
            </a:r>
            <a:br>
              <a:rPr lang="en-US" altLang="en-US" dirty="0"/>
            </a:br>
            <a:r>
              <a:rPr lang="en-US" altLang="en-US" dirty="0"/>
              <a:t>runtime libraries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based on program's structure</a:t>
            </a:r>
            <a:endParaRPr lang="en-US" altLang="en-US" dirty="0"/>
          </a:p>
          <a:p>
            <a:pPr lvl="1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simplifies programming by automating thread management</a:t>
            </a:r>
          </a:p>
          <a:p>
            <a:pPr marL="1146175" lvl="2" indent="-288925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but may be less flexible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6A8CB5-21A1-12CE-7321-15EC705FD80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F9E55120-F5D0-46C2-82BE-CA6606138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94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Explicit &amp; Implicit Threading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FC74C183-73E7-433E-B44B-AE297348A8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750" y="1040525"/>
            <a:ext cx="8382001" cy="5444175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Approaches to Implicit Threading</a:t>
            </a:r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C00000"/>
                </a:solidFill>
              </a:rPr>
              <a:t>Thread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00000"/>
                </a:solidFill>
              </a:rPr>
              <a:t>Pools</a:t>
            </a:r>
            <a:r>
              <a:rPr lang="en-US" altLang="en-US" dirty="0"/>
              <a:t> 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use of existing threads from the pool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faster than creating new ones</a:t>
            </a:r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C00000"/>
                </a:solidFill>
              </a:rPr>
              <a:t>OpenMP</a:t>
            </a:r>
            <a:r>
              <a:rPr lang="en-US" altLang="en-US" dirty="0"/>
              <a:t>  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threads created by runtime system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programmer defines parts of code to be parallelized</a:t>
            </a:r>
          </a:p>
          <a:p>
            <a:pPr lvl="1">
              <a:spcBef>
                <a:spcPts val="600"/>
              </a:spcBef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OpenMP generates necessary code to create and manage threads accordingly</a:t>
            </a:r>
            <a:endParaRPr lang="en-US" altLang="en-US" dirty="0"/>
          </a:p>
          <a:p>
            <a:pPr>
              <a:spcBef>
                <a:spcPts val="1800"/>
              </a:spcBef>
            </a:pPr>
            <a:r>
              <a:rPr lang="en-US" altLang="en-US" dirty="0">
                <a:solidFill>
                  <a:srgbClr val="C00000"/>
                </a:solidFill>
              </a:rPr>
              <a:t>Grand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00000"/>
                </a:solidFill>
              </a:rPr>
              <a:t>Central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C00000"/>
                </a:solidFill>
              </a:rPr>
              <a:t>Dispatch</a:t>
            </a:r>
            <a:r>
              <a:rPr lang="en-US" altLang="en-US" dirty="0"/>
              <a:t> 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similar to OpenMP, for Mac OS X and iOS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D6A8CB5-21A1-12CE-7321-15EC705FD80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5125188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30988</TotalTime>
  <Words>3996</Words>
  <Application>Microsoft Office PowerPoint</Application>
  <PresentationFormat>On-screen Show (4:3)</PresentationFormat>
  <Paragraphs>629</Paragraphs>
  <Slides>52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9" baseType="lpstr">
      <vt:lpstr>Abadi</vt:lpstr>
      <vt:lpstr>Arial</vt:lpstr>
      <vt:lpstr>Calibri</vt:lpstr>
      <vt:lpstr>Comic Sans MS</vt:lpstr>
      <vt:lpstr>Courier New</vt:lpstr>
      <vt:lpstr>Gill Sans MT</vt:lpstr>
      <vt:lpstr>Helvetica</vt:lpstr>
      <vt:lpstr>Monotype Sorts</vt:lpstr>
      <vt:lpstr>Söhne</vt:lpstr>
      <vt:lpstr>Symbol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Objectives</vt:lpstr>
      <vt:lpstr>Instruction Execution</vt:lpstr>
      <vt:lpstr>Flow of Execution &amp; Execution Context</vt:lpstr>
      <vt:lpstr>Sequential, Parallel, Concurrent Execution</vt:lpstr>
      <vt:lpstr>Multiple Flows of Execution</vt:lpstr>
      <vt:lpstr>Threads</vt:lpstr>
      <vt:lpstr>Single Threaded Process</vt:lpstr>
      <vt:lpstr>Multi Threaded Process</vt:lpstr>
      <vt:lpstr>Single &amp; Multithreaded Process</vt:lpstr>
      <vt:lpstr>Threads</vt:lpstr>
      <vt:lpstr>Single &amp; Multithreaded Processes</vt:lpstr>
      <vt:lpstr>Execution of Threads</vt:lpstr>
      <vt:lpstr>Multi-threading</vt:lpstr>
      <vt:lpstr>Ways to Achieve Concurrency</vt:lpstr>
      <vt:lpstr>Threads vs Processes</vt:lpstr>
      <vt:lpstr>Benefits of Threads</vt:lpstr>
      <vt:lpstr>Disadvantages of Threads</vt:lpstr>
      <vt:lpstr>Multithreaded Server</vt:lpstr>
      <vt:lpstr>Multithreaded Server</vt:lpstr>
      <vt:lpstr>Multithreaded Server</vt:lpstr>
      <vt:lpstr>PowerPoint Presentation</vt:lpstr>
      <vt:lpstr>User &amp; Kernel Threads</vt:lpstr>
      <vt:lpstr>User Level Threads</vt:lpstr>
      <vt:lpstr>Implementing Threads in User Space</vt:lpstr>
      <vt:lpstr>Kernel Threads</vt:lpstr>
      <vt:lpstr>Implementing Threads in Kernel</vt:lpstr>
      <vt:lpstr>Thread Implementation Models</vt:lpstr>
      <vt:lpstr>Many-to-One Model (M:1)</vt:lpstr>
      <vt:lpstr>One-to-One Model (1:1)</vt:lpstr>
      <vt:lpstr>Many-to-Many Model (M:N)</vt:lpstr>
      <vt:lpstr>PowerPoint Presentation</vt:lpstr>
      <vt:lpstr>Thread Libraries</vt:lpstr>
      <vt:lpstr>Important POSIX System Calls</vt:lpstr>
      <vt:lpstr>Thread Creation</vt:lpstr>
      <vt:lpstr>Thread Termination</vt:lpstr>
      <vt:lpstr>Joining a Thread</vt:lpstr>
      <vt:lpstr>Example 0</vt:lpstr>
      <vt:lpstr>Example 1</vt:lpstr>
      <vt:lpstr>Compiling a multi-threaded Program</vt:lpstr>
      <vt:lpstr>Example 2</vt:lpstr>
      <vt:lpstr>Example 3</vt:lpstr>
      <vt:lpstr>Example 4</vt:lpstr>
      <vt:lpstr>Example 5</vt:lpstr>
      <vt:lpstr>PowerPoint Presentation</vt:lpstr>
      <vt:lpstr>fork() in Multithreading</vt:lpstr>
      <vt:lpstr>exec() in Multithreading</vt:lpstr>
      <vt:lpstr>Thread Cancellation</vt:lpstr>
      <vt:lpstr>Thread Cancellation</vt:lpstr>
      <vt:lpstr>Thread Cancellation</vt:lpstr>
      <vt:lpstr>Explicit &amp; Implicit Threading</vt:lpstr>
      <vt:lpstr>Explicit &amp; Implicit Threading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Dr Nauman Mazhar</cp:lastModifiedBy>
  <cp:revision>588</cp:revision>
  <cp:lastPrinted>2001-06-14T13:58:17Z</cp:lastPrinted>
  <dcterms:created xsi:type="dcterms:W3CDTF">2011-01-13T23:43:38Z</dcterms:created>
  <dcterms:modified xsi:type="dcterms:W3CDTF">2025-12-02T03:57:30Z</dcterms:modified>
</cp:coreProperties>
</file>