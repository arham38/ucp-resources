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9"/>
  </p:notesMasterIdLst>
  <p:handoutMasterIdLst>
    <p:handoutMasterId r:id="rId50"/>
  </p:handoutMasterIdLst>
  <p:sldIdLst>
    <p:sldId id="256" r:id="rId2"/>
    <p:sldId id="348" r:id="rId3"/>
    <p:sldId id="347" r:id="rId4"/>
    <p:sldId id="656" r:id="rId5"/>
    <p:sldId id="662" r:id="rId6"/>
    <p:sldId id="679" r:id="rId7"/>
    <p:sldId id="374" r:id="rId8"/>
    <p:sldId id="349" r:id="rId9"/>
    <p:sldId id="350" r:id="rId10"/>
    <p:sldId id="401" r:id="rId11"/>
    <p:sldId id="665" r:id="rId12"/>
    <p:sldId id="666" r:id="rId13"/>
    <p:sldId id="402" r:id="rId14"/>
    <p:sldId id="366" r:id="rId15"/>
    <p:sldId id="668" r:id="rId16"/>
    <p:sldId id="669" r:id="rId17"/>
    <p:sldId id="367" r:id="rId18"/>
    <p:sldId id="673" r:id="rId19"/>
    <p:sldId id="418" r:id="rId20"/>
    <p:sldId id="677" r:id="rId21"/>
    <p:sldId id="678" r:id="rId22"/>
    <p:sldId id="647" r:id="rId23"/>
    <p:sldId id="676" r:id="rId24"/>
    <p:sldId id="674" r:id="rId25"/>
    <p:sldId id="387" r:id="rId26"/>
    <p:sldId id="649" r:id="rId27"/>
    <p:sldId id="682" r:id="rId28"/>
    <p:sldId id="389" r:id="rId29"/>
    <p:sldId id="657" r:id="rId30"/>
    <p:sldId id="388" r:id="rId31"/>
    <p:sldId id="683" r:id="rId32"/>
    <p:sldId id="670" r:id="rId33"/>
    <p:sldId id="658" r:id="rId34"/>
    <p:sldId id="672" r:id="rId35"/>
    <p:sldId id="680" r:id="rId36"/>
    <p:sldId id="681" r:id="rId37"/>
    <p:sldId id="395" r:id="rId38"/>
    <p:sldId id="396" r:id="rId39"/>
    <p:sldId id="397" r:id="rId40"/>
    <p:sldId id="661" r:id="rId41"/>
    <p:sldId id="421" r:id="rId42"/>
    <p:sldId id="407" r:id="rId43"/>
    <p:sldId id="408" r:id="rId44"/>
    <p:sldId id="422" r:id="rId45"/>
    <p:sldId id="410" r:id="rId46"/>
    <p:sldId id="429" r:id="rId47"/>
    <p:sldId id="430" r:id="rId48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800000"/>
    <a:srgbClr val="0000CC"/>
    <a:srgbClr val="6633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3792" autoAdjust="0"/>
  </p:normalViewPr>
  <p:slideViewPr>
    <p:cSldViewPr snapToGrid="0">
      <p:cViewPr varScale="1">
        <p:scale>
          <a:sx n="61" d="100"/>
          <a:sy n="61" d="100"/>
        </p:scale>
        <p:origin x="1228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42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83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18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C0CBD4CD-FCBB-30E9-A4B0-C8652277BB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33DF54FE-BEC0-D2DE-F921-C18BCDD8F8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It is an integer variable but also has list of variables attached with it.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129B540-7B1C-CB68-157F-F4035F143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BFE6E7-CF51-4709-AEBB-EB4DC57DE64A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92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3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73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23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3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41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6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3A0DCB-8EFE-62E3-0460-184153BA8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589CA0D-3BBA-E1D6-43C3-719D779DC4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7F089CD-7451-3F77-F81D-783A17D8B7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416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B9D60B-9182-DFAE-B694-42C223A14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399" y="6450496"/>
            <a:ext cx="517663" cy="312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4DF9-63A5-4080-BAA1-93CDBE98FB8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 -2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22" y="1067037"/>
            <a:ext cx="7978840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Synchronization</a:t>
            </a:r>
          </a:p>
          <a:p>
            <a:pPr>
              <a:spcBef>
                <a:spcPts val="6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Based Solutions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Semaphores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binary semaphore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counting semaphore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Busy Waiting and its Solution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Semaphore usage &amp; issues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Classic Problems of Synchronization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Bounded Buffer Problem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Reader’s Writer’s Problem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Dining Philosophers’ Problem</a:t>
            </a:r>
          </a:p>
          <a:p>
            <a:pPr lvl="1"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62C700D-D1AF-8195-956A-5C95F8F50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84200"/>
          </a:xfrm>
        </p:spPr>
        <p:txBody>
          <a:bodyPr/>
          <a:lstStyle/>
          <a:p>
            <a:pPr eaLnBrk="1" hangingPunct="1"/>
            <a:r>
              <a:rPr lang="en-US" altLang="en-US" dirty="0"/>
              <a:t>Semaphores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B4CBC5B-54FF-80AB-6EB8-6E8957E1E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6080" y="1121941"/>
            <a:ext cx="8534400" cy="2558779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Tx/>
            </a:pPr>
            <a:r>
              <a:rPr lang="en-US" altLang="en-US" sz="2200" b="1" dirty="0">
                <a:solidFill>
                  <a:srgbClr val="0033CC"/>
                </a:solidFill>
              </a:rPr>
              <a:t>Synchronization Tool</a:t>
            </a:r>
            <a:r>
              <a:rPr lang="en-US" altLang="en-US" sz="2200" b="1" dirty="0"/>
              <a:t>  </a:t>
            </a:r>
            <a:r>
              <a:rPr lang="en-US" altLang="en-US" dirty="0"/>
              <a:t>provided by OS for n-processes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sz="2100" dirty="0"/>
              <a:t>allows more sophisticated ways for processes to synchronize their activities than Mutex locks</a:t>
            </a:r>
          </a:p>
          <a:p>
            <a:pPr eaLnBrk="1" hangingPunct="1">
              <a:spcBef>
                <a:spcPts val="1800"/>
              </a:spcBef>
              <a:buClrTx/>
            </a:pPr>
            <a:r>
              <a:rPr lang="en-US" altLang="en-US" sz="2300" b="1" dirty="0">
                <a:solidFill>
                  <a:srgbClr val="800000"/>
                </a:solidFill>
              </a:rPr>
              <a:t>Semaphore ‘S’ </a:t>
            </a:r>
            <a:r>
              <a:rPr lang="en-US" altLang="en-US" sz="2300" dirty="0"/>
              <a:t> </a:t>
            </a:r>
            <a:r>
              <a:rPr lang="en-US" altLang="en-US" sz="2200" dirty="0"/>
              <a:t>–  integer variable, initially S = 1 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sz="2100" dirty="0"/>
              <a:t>accessed only via two </a:t>
            </a:r>
            <a:r>
              <a:rPr lang="en-US" altLang="en-US" sz="2100" dirty="0">
                <a:solidFill>
                  <a:srgbClr val="0000CC"/>
                </a:solidFill>
              </a:rPr>
              <a:t>atomic operations:</a:t>
            </a:r>
            <a:r>
              <a:rPr lang="en-US" altLang="en-US" sz="2100" dirty="0"/>
              <a:t>   </a:t>
            </a:r>
            <a:r>
              <a:rPr lang="en-US" altLang="en-US" sz="2100" b="1" i="1" dirty="0">
                <a:solidFill>
                  <a:srgbClr val="800000"/>
                </a:solidFill>
              </a:rPr>
              <a:t>wait ()   </a:t>
            </a:r>
            <a:r>
              <a:rPr lang="en-US" altLang="en-US" sz="2100" dirty="0"/>
              <a:t>&amp; </a:t>
            </a:r>
            <a:r>
              <a:rPr lang="en-US" altLang="en-US" sz="2100" b="1" dirty="0">
                <a:solidFill>
                  <a:srgbClr val="800000"/>
                </a:solidFill>
              </a:rPr>
              <a:t> </a:t>
            </a:r>
            <a:r>
              <a:rPr lang="en-US" altLang="en-US" sz="2100" b="1" i="1" dirty="0">
                <a:solidFill>
                  <a:srgbClr val="800000"/>
                </a:solidFill>
              </a:rPr>
              <a:t>signal ()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sz="2100" dirty="0"/>
              <a:t>definitions of </a:t>
            </a:r>
            <a:r>
              <a:rPr lang="en-US" altLang="en-US" sz="2100" i="1" dirty="0"/>
              <a:t>wait ()  &amp; signal ()</a:t>
            </a:r>
            <a:endParaRPr lang="en-US" altLang="en-US" sz="21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803407E-1339-A5E4-1958-1DDAB047B9A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1AA095-C622-12D2-2594-5DD3A8E23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197" y="3905781"/>
            <a:ext cx="4730750" cy="1388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7525" marR="0" lvl="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517525" marR="0" lvl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wait(S){  </a:t>
            </a:r>
          </a:p>
          <a:p>
            <a:pPr marL="517525" marR="0" lvl="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while S </a:t>
            </a: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  <a:t> 0; //do nothing</a:t>
            </a:r>
            <a:b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S--;</a:t>
            </a:r>
            <a:endParaRPr kumimoji="0" lang="en-US" altLang="en-US" sz="1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517525" marR="0" lvl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3F7F8-0BA7-008B-5E35-23014E783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179" y="3905781"/>
            <a:ext cx="2029744" cy="1388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7525" marR="0" lvl="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517525" marR="0" lvl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  <a:t>signal(S){ </a:t>
            </a:r>
          </a:p>
          <a:p>
            <a:pPr marL="517525" marR="0" lvl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  <a:t>	S++;</a:t>
            </a:r>
          </a:p>
          <a:p>
            <a:pPr marL="517525" marR="0" lvl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  <a:sym typeface="Symbol" panose="05050102010706020507" pitchFamily="18" charset="2"/>
              </a:rPr>
              <a:t>}</a:t>
            </a:r>
            <a:endParaRPr kumimoji="0" lang="en-US" altLang="en-US" sz="1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A49FCBCC-BACB-F06C-20A2-5D9B1D65A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87" y="5557980"/>
            <a:ext cx="8202749" cy="8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200" i="1" kern="0" dirty="0"/>
              <a:t>Any testing &amp; modification of integer value of </a:t>
            </a:r>
            <a:r>
              <a:rPr lang="en-US" altLang="en-US" sz="2200" b="1" i="1" dirty="0">
                <a:solidFill>
                  <a:srgbClr val="800000"/>
                </a:solidFill>
              </a:rPr>
              <a:t>S</a:t>
            </a:r>
            <a:r>
              <a:rPr lang="en-US" altLang="en-US" sz="2200" i="1" kern="0" dirty="0"/>
              <a:t> in wait() and signal() must be done as an </a:t>
            </a:r>
            <a:r>
              <a:rPr lang="en-US" altLang="en-US" sz="2200" b="1" i="1" dirty="0">
                <a:solidFill>
                  <a:srgbClr val="800000"/>
                </a:solidFill>
              </a:rPr>
              <a:t>atomic operation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A792F53-851C-912C-96C7-802F9CC99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763000" cy="558482"/>
          </a:xfrm>
        </p:spPr>
        <p:txBody>
          <a:bodyPr/>
          <a:lstStyle/>
          <a:p>
            <a:pPr eaLnBrk="1" hangingPunct="1"/>
            <a:r>
              <a:rPr lang="en-US" altLang="en-US" dirty="0"/>
              <a:t>n-Process CS Problem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575C8D-5C06-391C-593A-8ACF11538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880" y="1097280"/>
            <a:ext cx="7853680" cy="1554480"/>
          </a:xfrm>
        </p:spPr>
        <p:txBody>
          <a:bodyPr/>
          <a:lstStyle/>
          <a:p>
            <a:pPr eaLnBrk="1" hangingPunct="1">
              <a:buClrTx/>
            </a:pPr>
            <a:r>
              <a:rPr lang="en-US" altLang="en-US" dirty="0"/>
              <a:t>Shared data:</a:t>
            </a:r>
          </a:p>
          <a:p>
            <a:pPr marL="0" indent="0" eaLnBrk="1" hangingPunct="1">
              <a:spcBef>
                <a:spcPts val="600"/>
              </a:spcBef>
              <a:buClrTx/>
              <a:buNone/>
            </a:pPr>
            <a:r>
              <a:rPr lang="en-US" altLang="en-US" dirty="0"/>
              <a:t>	semaphore  S = 1;</a:t>
            </a:r>
          </a:p>
          <a:p>
            <a:pPr eaLnBrk="1" hangingPunct="1">
              <a:spcBef>
                <a:spcPts val="1800"/>
              </a:spcBef>
              <a:buClrTx/>
            </a:pPr>
            <a:r>
              <a:rPr lang="en-US" altLang="en-US" dirty="0"/>
              <a:t>Structure of P</a:t>
            </a:r>
            <a:r>
              <a:rPr lang="en-US" altLang="en-US" baseline="-25000" dirty="0"/>
              <a:t>i</a:t>
            </a:r>
            <a:r>
              <a:rPr lang="en-US" altLang="en-US" dirty="0"/>
              <a:t> 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A39F07A-B6DB-057E-4711-F45B10D78C9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3" name="Group 4">
            <a:extLst>
              <a:ext uri="{FF2B5EF4-FFF2-40B4-BE49-F238E27FC236}">
                <a16:creationId xmlns:a16="http://schemas.microsoft.com/office/drawing/2014/main" id="{732AFE33-F18C-BBF5-F418-10F78AEB5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059981"/>
              </p:ext>
            </p:extLst>
          </p:nvPr>
        </p:nvGraphicFramePr>
        <p:xfrm>
          <a:off x="1139190" y="2834640"/>
          <a:ext cx="4550410" cy="3122024"/>
        </p:xfrm>
        <a:graphic>
          <a:graphicData uri="http://schemas.openxmlformats.org/drawingml/2006/table">
            <a:tbl>
              <a:tblPr/>
              <a:tblGrid>
                <a:gridCol w="4550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20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do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critical section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remainder section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} while (1);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10">
            <a:extLst>
              <a:ext uri="{FF2B5EF4-FFF2-40B4-BE49-F238E27FC236}">
                <a16:creationId xmlns:a16="http://schemas.microsoft.com/office/drawing/2014/main" id="{69FC3EFC-F341-49E6-39F4-BC582C62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470" y="3286760"/>
            <a:ext cx="3135410" cy="5007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wait( S );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092BE9-3FC7-345D-E216-71B92FC83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470" y="4378596"/>
            <a:ext cx="3135410" cy="5007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signal( S 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DD2242-C38C-4488-A0E3-1C72DCCC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640" y="2824481"/>
            <a:ext cx="2760454" cy="1463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E57B6D-7DF5-6DC0-F173-2C0B55E1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846" y="4784632"/>
            <a:ext cx="16002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62" y="1067037"/>
            <a:ext cx="8432878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often distinguishes between binary &amp; counting semaphores</a:t>
            </a:r>
          </a:p>
          <a:p>
            <a:pPr eaLnBrk="1" hangingPunct="1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Binary semaphore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binary semaphore can have only two values: 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 &amp;  1</a:t>
            </a:r>
          </a:p>
          <a:p>
            <a:pPr marL="457200" lvl="1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“used in situations where only one process, at a time, </a:t>
            </a:r>
            <a:b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allowed to access a particular resource”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binary semaphore is similar to 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mutex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lock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systems with no support for mutex, binary semaphore can be used to provide mutual exclusion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F648BF-EB60-F9E7-919E-92540B58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305800" cy="456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Semaphore Types</a:t>
            </a:r>
          </a:p>
        </p:txBody>
      </p:sp>
    </p:spTree>
    <p:extLst>
      <p:ext uri="{BB962C8B-B14F-4D97-AF65-F5344CB8AC3E}">
        <p14:creationId xmlns:p14="http://schemas.microsoft.com/office/powerpoint/2010/main" val="1865152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62" y="1067037"/>
            <a:ext cx="8657124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Counting semaphore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altLang="en-US" sz="2400" dirty="0">
              <a:solidFill>
                <a:srgbClr val="0033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can have </a:t>
            </a:r>
            <a:r>
              <a:rPr lang="en-US" sz="23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 &gt; 1 </a:t>
            </a:r>
          </a:p>
          <a:p>
            <a:pPr marL="1082675" lvl="2" indent="-284163">
              <a:spcBef>
                <a:spcPts val="12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allow multiple processes or threads to access a limited resource concurrently, up to a specified 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</a:p>
          <a:p>
            <a:pPr lvl="2" indent="-287338">
              <a:spcBef>
                <a:spcPts val="12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used to manage access to a finite number of identical resources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Usage: 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Font typeface="Calibri" panose="020F0502020204030204" pitchFamily="34" charset="0"/>
              <a:buChar char="―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semaphore initialized to “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” of resources available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Font typeface="Calibri" panose="020F0502020204030204" pitchFamily="34" charset="0"/>
              <a:buChar char="―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process needing a resource, calls 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wait()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decrements count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Font typeface="Calibri" panose="020F0502020204030204" pitchFamily="34" charset="0"/>
              <a:buChar char="―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resource released, calls 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signal()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increments count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Font typeface="Calibri" panose="020F0502020204030204" pitchFamily="34" charset="0"/>
              <a:buChar char="―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 == 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all resources are busy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Font typeface="Calibri" panose="020F0502020204030204" pitchFamily="34" charset="0"/>
              <a:buChar char="―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now, if a process needs a resource it blocks, until </a:t>
            </a:r>
            <a:r>
              <a:rPr lang="en-US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 &gt; 0</a:t>
            </a:r>
          </a:p>
          <a:p>
            <a:pPr lvl="1">
              <a:spcBef>
                <a:spcPts val="600"/>
              </a:spcBef>
            </a:pP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F648BF-EB60-F9E7-919E-92540B58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305800" cy="456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Semaphore Types</a:t>
            </a:r>
          </a:p>
        </p:txBody>
      </p:sp>
    </p:spTree>
    <p:extLst>
      <p:ext uri="{BB962C8B-B14F-4D97-AF65-F5344CB8AC3E}">
        <p14:creationId xmlns:p14="http://schemas.microsoft.com/office/powerpoint/2010/main" val="253976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CC824C8-5DAD-2914-E36D-F9DF0246C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763000" cy="558482"/>
          </a:xfrm>
        </p:spPr>
        <p:txBody>
          <a:bodyPr/>
          <a:lstStyle/>
          <a:p>
            <a:pPr eaLnBrk="1" hangingPunct="1"/>
            <a:r>
              <a:rPr lang="en-US" altLang="en-US" dirty="0"/>
              <a:t>Busy</a:t>
            </a:r>
            <a:r>
              <a:rPr lang="en-US" altLang="en-US" sz="5000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altLang="en-US" dirty="0"/>
              <a:t>Waiting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AA21EF6-8CBF-9CD9-CA19-6734A2616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420" y="1099820"/>
            <a:ext cx="8389620" cy="5483542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dirty="0"/>
              <a:t>This definition of wait() &amp; signal() involves busy waiting </a:t>
            </a:r>
          </a:p>
          <a:p>
            <a:pPr marL="457200" lvl="1" indent="0" eaLnBrk="1" hangingPunct="1">
              <a:spcBef>
                <a:spcPts val="1200"/>
              </a:spcBef>
              <a:buClrTx/>
              <a:buNone/>
            </a:pPr>
            <a:r>
              <a:rPr lang="en-US" altLang="en-US" b="1" dirty="0"/>
              <a:t>	Problem:</a:t>
            </a:r>
            <a:r>
              <a:rPr lang="en-US" altLang="en-US" dirty="0"/>
              <a:t>   wasted CPU cycles</a:t>
            </a:r>
          </a:p>
          <a:p>
            <a:pPr marL="457200" lvl="1" indent="0" eaLnBrk="1" hangingPunct="1">
              <a:spcBef>
                <a:spcPts val="600"/>
              </a:spcBef>
              <a:buClrTx/>
              <a:buNone/>
            </a:pPr>
            <a:r>
              <a:rPr lang="en-US" altLang="en-US" b="1" dirty="0"/>
              <a:t>	Solution:</a:t>
            </a:r>
            <a:r>
              <a:rPr lang="en-US" altLang="en-US" dirty="0"/>
              <a:t>   </a:t>
            </a:r>
            <a:r>
              <a:rPr lang="en-US" altLang="en-US" i="1" dirty="0">
                <a:solidFill>
                  <a:srgbClr val="0033CC"/>
                </a:solidFill>
              </a:rPr>
              <a:t>modify definition of semaphore</a:t>
            </a:r>
          </a:p>
          <a:p>
            <a:pPr eaLnBrk="1" hangingPunct="1">
              <a:spcBef>
                <a:spcPts val="24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rgbClr val="C00000"/>
                </a:solidFill>
              </a:rPr>
              <a:t>Solution:  </a:t>
            </a:r>
            <a:r>
              <a:rPr lang="en-US" altLang="en-US" dirty="0"/>
              <a:t>if process calls </a:t>
            </a:r>
            <a:r>
              <a:rPr lang="en-US" altLang="en-US" b="1" dirty="0">
                <a:solidFill>
                  <a:srgbClr val="C00000"/>
                </a:solidFill>
              </a:rPr>
              <a:t>wait(), </a:t>
            </a:r>
            <a:r>
              <a:rPr lang="en-US" altLang="en-US" dirty="0"/>
              <a:t>and semaphore value is not positive:</a:t>
            </a: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  <a:buClrTx/>
            </a:pPr>
            <a:r>
              <a:rPr lang="en-US" altLang="en-US" dirty="0"/>
              <a:t>process </a:t>
            </a:r>
            <a:r>
              <a:rPr lang="en-US" altLang="en-US" b="1" dirty="0">
                <a:solidFill>
                  <a:srgbClr val="C00000"/>
                </a:solidFill>
              </a:rPr>
              <a:t>blocks</a:t>
            </a:r>
            <a:r>
              <a:rPr lang="en-US" altLang="en-US" dirty="0"/>
              <a:t>, instead of busy waiting 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en-US" dirty="0"/>
              <a:t>process placed in </a:t>
            </a:r>
            <a:r>
              <a:rPr lang="en-US" altLang="en-US" b="1" dirty="0">
                <a:solidFill>
                  <a:srgbClr val="C00000"/>
                </a:solidFill>
              </a:rPr>
              <a:t>wait queue </a:t>
            </a:r>
            <a:r>
              <a:rPr lang="en-US" altLang="en-US" dirty="0"/>
              <a:t>associated with semaphore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en-US" dirty="0"/>
              <a:t>state of process changed to </a:t>
            </a:r>
            <a:r>
              <a:rPr lang="en-US" altLang="en-US" b="1" dirty="0">
                <a:solidFill>
                  <a:srgbClr val="C00000"/>
                </a:solidFill>
              </a:rPr>
              <a:t>waiting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en-US" dirty="0"/>
              <a:t>control transferred to CPU scheduler, select another process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en-US" dirty="0"/>
              <a:t>blocked process waiting on semaphore is restarted, if some other process executes </a:t>
            </a:r>
            <a:r>
              <a:rPr lang="en-US" altLang="en-US" b="1" dirty="0">
                <a:solidFill>
                  <a:srgbClr val="C00000"/>
                </a:solidFill>
              </a:rPr>
              <a:t>signal() </a:t>
            </a:r>
            <a:r>
              <a:rPr lang="en-US" altLang="en-US" dirty="0"/>
              <a:t>operation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E6BE6E-25AC-628E-AC7E-48467A7836D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DC32A19-865E-4106-16ED-B62AF116E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13678"/>
            <a:ext cx="8458200" cy="599122"/>
          </a:xfrm>
        </p:spPr>
        <p:txBody>
          <a:bodyPr/>
          <a:lstStyle/>
          <a:p>
            <a:pPr eaLnBrk="1" hangingPunct="1"/>
            <a:r>
              <a:rPr lang="en-US" altLang="en-US" dirty="0"/>
              <a:t>Semaphore –</a:t>
            </a:r>
            <a:r>
              <a:rPr lang="en-US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altLang="en-US" dirty="0"/>
              <a:t>Queue Waiting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180BF1E-0760-09B0-E247-028655DA6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6560" y="1102360"/>
            <a:ext cx="8585926" cy="201676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dirty="0"/>
              <a:t>Define semaphore </a:t>
            </a:r>
            <a:r>
              <a:rPr lang="en-US" altLang="en-US" b="1" dirty="0">
                <a:solidFill>
                  <a:srgbClr val="C00000"/>
                </a:solidFill>
              </a:rPr>
              <a:t>‘S’</a:t>
            </a:r>
            <a:r>
              <a:rPr lang="en-US" altLang="en-US" dirty="0"/>
              <a:t> as a record…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</a:rPr>
              <a:t>typedef struct {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int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value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   	struct process *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list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} semaphore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A8E7F36-1D3F-0642-2CD2-398DD5AFF3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A47D9E12-6855-2A70-0388-CCD888D38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17" y="4763220"/>
            <a:ext cx="8371840" cy="140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Assume two simple operations:</a:t>
            </a:r>
          </a:p>
          <a:p>
            <a:pPr lvl="1" defTabSz="8397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b="1" kern="0" dirty="0">
                <a:solidFill>
                  <a:srgbClr val="C00000"/>
                </a:solidFill>
                <a:latin typeface="Courier New" panose="02070309020205020404" pitchFamily="49" charset="0"/>
              </a:rPr>
              <a:t>block()</a:t>
            </a:r>
            <a:r>
              <a:rPr lang="en-US" altLang="en-US" b="1" kern="0" dirty="0">
                <a:solidFill>
                  <a:srgbClr val="C00000"/>
                </a:solidFill>
              </a:rPr>
              <a:t> </a:t>
            </a:r>
            <a:r>
              <a:rPr lang="en-US" altLang="en-US" kern="0" dirty="0"/>
              <a:t>	:  suspends the process, that invokes it</a:t>
            </a:r>
          </a:p>
          <a:p>
            <a:pPr lvl="1" defTabSz="8397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b="1" kern="0" dirty="0">
                <a:solidFill>
                  <a:srgbClr val="C00000"/>
                </a:solidFill>
                <a:latin typeface="Courier New" panose="02070309020205020404" pitchFamily="49" charset="0"/>
              </a:rPr>
              <a:t>wakeup(P)</a:t>
            </a:r>
            <a:r>
              <a:rPr lang="en-US" altLang="en-US" kern="0" dirty="0"/>
              <a:t> 	:  resumes execution of blocked process P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48CF7390-36DE-9CEB-F521-B1847A34E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" y="3422555"/>
            <a:ext cx="8202749" cy="140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Each semaphore has an integer </a:t>
            </a:r>
            <a:r>
              <a:rPr lang="en-US" altLang="en-US" sz="2300" b="1" kern="0" dirty="0">
                <a:solidFill>
                  <a:srgbClr val="C00000"/>
                </a:solidFill>
              </a:rPr>
              <a:t>value</a:t>
            </a:r>
            <a:r>
              <a:rPr lang="en-US" altLang="en-US" sz="2300" kern="0" dirty="0"/>
              <a:t>, &amp; </a:t>
            </a:r>
            <a:r>
              <a:rPr lang="en-US" altLang="en-US" sz="2300" b="1" kern="0" dirty="0">
                <a:solidFill>
                  <a:srgbClr val="C00000"/>
                </a:solidFill>
              </a:rPr>
              <a:t>list</a:t>
            </a:r>
            <a:r>
              <a:rPr lang="en-US" altLang="en-US" sz="2300" kern="0" dirty="0"/>
              <a:t> of processes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kern="0" dirty="0"/>
              <a:t>when process must wait on a semaphore, it is added to the list </a:t>
            </a:r>
            <a:br>
              <a:rPr lang="en-US" altLang="en-US" kern="0" dirty="0"/>
            </a:br>
            <a:r>
              <a:rPr lang="en-US" altLang="en-US" kern="0" dirty="0"/>
              <a:t>of processes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4B163C35-BD77-D7A7-0CF7-D8BD1721B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600" y="1056641"/>
            <a:ext cx="8397240" cy="303169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33CC"/>
                </a:solidFill>
              </a:rPr>
              <a:t>Semaphore operations now defined as…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</a:rPr>
              <a:t>void wait(semaphore S){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S.value</a:t>
            </a:r>
            <a:r>
              <a:rPr lang="en-US" altLang="en-US" sz="2000" b="1" dirty="0">
                <a:latin typeface="Courier New" panose="02070309020205020404" pitchFamily="49" charset="0"/>
              </a:rPr>
              <a:t>--;</a:t>
            </a:r>
            <a:endParaRPr lang="en-US" altLang="en-US" sz="2000" b="1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		if (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S.value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&lt; 0) {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		   add this process to 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S.list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  <a:b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</a:b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	   block();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		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	}</a:t>
            </a: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9DEC70C-6E71-883E-B8D4-706943EA4E5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331812-B65E-F425-1CCA-8E280F3B3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4256491"/>
            <a:ext cx="595376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void signal(semaphore S){</a:t>
            </a:r>
            <a:endParaRPr lang="en-US" altLang="en-US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S.value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++;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if (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S.value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&lt;= 0) 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remove process P from 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S.list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  <a:b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</a:b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wakeup(P);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}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4" name="Rectangle 2051">
            <a:extLst>
              <a:ext uri="{FF2B5EF4-FFF2-40B4-BE49-F238E27FC236}">
                <a16:creationId xmlns:a16="http://schemas.microsoft.com/office/drawing/2014/main" id="{7D567B5D-AC40-B6D8-47E3-B700DF403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3241" y="3301714"/>
            <a:ext cx="3046599" cy="1573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 eaLnBrk="1" hangingPunct="1">
              <a:buClr>
                <a:srgbClr val="800000"/>
              </a:buClr>
              <a:buNone/>
            </a:pPr>
            <a:r>
              <a:rPr lang="en-US" altLang="en-US" sz="2200" kern="0" dirty="0"/>
              <a:t>negative </a:t>
            </a:r>
            <a:r>
              <a:rPr lang="en-US" altLang="en-US" sz="2200" kern="0" dirty="0" err="1">
                <a:latin typeface="Courier New" panose="02070309020205020404" pitchFamily="49" charset="0"/>
              </a:rPr>
              <a:t>S.value</a:t>
            </a:r>
            <a:r>
              <a:rPr lang="en-US" altLang="en-US" sz="2200" kern="0" dirty="0"/>
              <a:t> indicates </a:t>
            </a:r>
            <a:br>
              <a:rPr lang="en-US" altLang="en-US" sz="2200" kern="0" dirty="0"/>
            </a:br>
            <a:r>
              <a:rPr lang="en-US" altLang="en-US" sz="2200" kern="0" dirty="0"/>
              <a:t>the number of processes waiting on semaphore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D0FD07-CFDF-1A10-7D15-C252876D9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13678"/>
            <a:ext cx="8458200" cy="599122"/>
          </a:xfrm>
        </p:spPr>
        <p:txBody>
          <a:bodyPr/>
          <a:lstStyle/>
          <a:p>
            <a:pPr eaLnBrk="1" hangingPunct="1"/>
            <a:r>
              <a:rPr lang="en-US" altLang="en-US" dirty="0"/>
              <a:t>Semaphore –</a:t>
            </a:r>
            <a:r>
              <a:rPr lang="en-US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altLang="en-US" dirty="0"/>
              <a:t>Queue Waiting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7CB4736-21D7-433E-7B4B-A7BE02A9E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678"/>
            <a:ext cx="8229600" cy="558482"/>
          </a:xfrm>
        </p:spPr>
        <p:txBody>
          <a:bodyPr/>
          <a:lstStyle/>
          <a:p>
            <a:pPr eaLnBrk="1" hangingPunct="1"/>
            <a:r>
              <a:rPr lang="en-US" altLang="en-US" dirty="0"/>
              <a:t>Analysis</a:t>
            </a: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D185CFD0-C4C1-700E-F980-1940A2EDF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8320" y="1268459"/>
            <a:ext cx="7721600" cy="5496560"/>
          </a:xfrm>
          <a:noFill/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§"/>
            </a:pPr>
            <a:r>
              <a:rPr lang="en-US" altLang="en-US" b="1" i="1" dirty="0">
                <a:solidFill>
                  <a:srgbClr val="C00000"/>
                </a:solidFill>
              </a:rPr>
              <a:t>Busy-waiting</a:t>
            </a:r>
            <a:r>
              <a:rPr lang="en-US" altLang="en-US" dirty="0"/>
              <a:t>  version is better… </a:t>
            </a:r>
          </a:p>
          <a:p>
            <a:pPr lvl="1" eaLnBrk="1" hangingPunct="1">
              <a:buClrTx/>
            </a:pPr>
            <a:r>
              <a:rPr lang="en-US" altLang="en-US" dirty="0"/>
              <a:t>when critical sections are small </a:t>
            </a:r>
          </a:p>
          <a:p>
            <a:pPr lvl="1" eaLnBrk="1" hangingPunct="1">
              <a:buClrTx/>
            </a:pPr>
            <a:r>
              <a:rPr lang="en-US" altLang="en-US" dirty="0"/>
              <a:t>wait time for processes waiting for semaphore is less</a:t>
            </a:r>
          </a:p>
          <a:p>
            <a:pPr eaLnBrk="1" hangingPunct="1">
              <a:spcBef>
                <a:spcPts val="18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b="1" i="1" dirty="0">
                <a:solidFill>
                  <a:srgbClr val="C00000"/>
                </a:solidFill>
              </a:rPr>
              <a:t>Queue-waiting</a:t>
            </a:r>
            <a:r>
              <a:rPr lang="en-US" altLang="en-US" dirty="0"/>
              <a:t>  version is better… </a:t>
            </a:r>
          </a:p>
          <a:p>
            <a:pPr lvl="1" eaLnBrk="1" hangingPunct="1">
              <a:buClrTx/>
            </a:pPr>
            <a:r>
              <a:rPr lang="en-US" altLang="en-US" dirty="0"/>
              <a:t>for long critical sections</a:t>
            </a:r>
          </a:p>
          <a:p>
            <a:pPr lvl="1" eaLnBrk="1" hangingPunct="1">
              <a:buClrTx/>
            </a:pPr>
            <a:r>
              <a:rPr lang="en-US" altLang="en-US" dirty="0"/>
              <a:t>when waiting is for longer periods of time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38F0598-572D-4813-36EC-EEF434B0813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62" y="1067037"/>
            <a:ext cx="8657124" cy="260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Semaphores can be used to enforce coordination among processes 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If we need to execute statement B in </a:t>
            </a:r>
            <a:r>
              <a:rPr lang="en-US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Pj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 after statement A has been executed in Pi 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 semaphore </a:t>
            </a:r>
            <a:r>
              <a:rPr lang="en-US" alt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initialized to </a:t>
            </a:r>
            <a:r>
              <a:rPr lang="en-US" alt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8A2371-D6ED-367F-0F5C-FAC94A9BC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98120"/>
            <a:ext cx="8839200" cy="614680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Coordination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F2604A6-285C-9469-15CF-0D13B02F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44" y="3933557"/>
            <a:ext cx="6453816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Clr>
                <a:srgbClr val="FFFF66"/>
              </a:buClr>
              <a:buNone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sz="2200" dirty="0"/>
              <a:t>  	</a:t>
            </a:r>
            <a:r>
              <a:rPr lang="en-US" altLang="en-US" sz="2200" b="1" dirty="0"/>
              <a:t>Pi				</a:t>
            </a:r>
            <a:r>
              <a:rPr lang="en-US" altLang="en-US" sz="2200" b="1" dirty="0" err="1"/>
              <a:t>Pj</a:t>
            </a:r>
            <a:endParaRPr lang="en-US" altLang="en-US" sz="2200" b="1" dirty="0"/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200" dirty="0"/>
              <a:t>		</a:t>
            </a:r>
            <a:r>
              <a:rPr lang="en-US" altLang="en-US" sz="2200" dirty="0">
                <a:latin typeface="Courier New" panose="02070309020205020404" pitchFamily="49" charset="0"/>
                <a:sym typeface="MT Extra" panose="05050102010205020202" pitchFamily="18" charset="2"/>
              </a:rPr>
              <a:t></a:t>
            </a:r>
            <a:r>
              <a:rPr lang="en-US" altLang="en-US" sz="2200" dirty="0">
                <a:latin typeface="Courier New" panose="02070309020205020404" pitchFamily="49" charset="0"/>
              </a:rPr>
              <a:t> </a:t>
            </a:r>
            <a:r>
              <a:rPr lang="en-US" altLang="en-US" sz="2200" dirty="0">
                <a:latin typeface="Courier New" panose="02070309020205020404" pitchFamily="49" charset="0"/>
                <a:sym typeface="MT Extra" panose="05050102010205020202" pitchFamily="18" charset="2"/>
              </a:rPr>
              <a:t>	 			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200" dirty="0">
                <a:latin typeface="Courier New" panose="02070309020205020404" pitchFamily="49" charset="0"/>
                <a:sym typeface="MT Extra" panose="05050102010205020202" pitchFamily="18" charset="2"/>
              </a:rPr>
              <a:t>		</a:t>
            </a:r>
            <a:r>
              <a:rPr lang="en-US" altLang="en-US" sz="2200" b="1" dirty="0">
                <a:latin typeface="Courier New" panose="02070309020205020404" pitchFamily="49" charset="0"/>
                <a:sym typeface="MT Extra" panose="05050102010205020202" pitchFamily="18" charset="2"/>
              </a:rPr>
              <a:t>A				wait(S)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MT Extra" panose="05050102010205020202" pitchFamily="18" charset="2"/>
              </a:rPr>
              <a:t>		signal(S)			B</a:t>
            </a:r>
            <a:endParaRPr lang="en-US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87668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62" y="1067037"/>
            <a:ext cx="8504348" cy="260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Give a semaphore based solution for the following problem: </a:t>
            </a:r>
          </a:p>
          <a:p>
            <a:pPr lvl="1"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Statement S1 in P1 should execute only after statement S2 in P2 has executed </a:t>
            </a:r>
          </a:p>
          <a:p>
            <a:pPr lvl="1"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Statement S2 in P2 should execute only after statement S3 in P3 has executed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8A2371-D6ED-367F-0F5C-FAC94A9BC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98120"/>
            <a:ext cx="8839200" cy="61468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- Process Coordination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6788B51-1F29-90E4-131E-2298DCBC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160" y="3429000"/>
            <a:ext cx="5770880" cy="221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hangingPunct="1">
              <a:lnSpc>
                <a:spcPct val="130000"/>
              </a:lnSpc>
              <a:spcBef>
                <a:spcPct val="400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r>
              <a:rPr lang="en-US" altLang="en-US" sz="2000" b="1" dirty="0"/>
              <a:t>	P1		P2		P3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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 			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	</a:t>
            </a:r>
            <a:r>
              <a:rPr lang="en-US" altLang="en-US" sz="2000" b="1" dirty="0">
                <a:latin typeface="Courier New" panose="02070309020205020404" pitchFamily="49" charset="0"/>
                <a:sym typeface="MT Extra" panose="05050102010205020202" pitchFamily="18" charset="2"/>
              </a:rPr>
              <a:t>S1		S2		S3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					</a:t>
            </a:r>
          </a:p>
        </p:txBody>
      </p:sp>
    </p:spTree>
    <p:extLst>
      <p:ext uri="{BB962C8B-B14F-4D97-AF65-F5344CB8AC3E}">
        <p14:creationId xmlns:p14="http://schemas.microsoft.com/office/powerpoint/2010/main" val="125482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FFE2551-DF6A-19D2-9663-7AC82C939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574040"/>
          </a:xfrm>
        </p:spPr>
        <p:txBody>
          <a:bodyPr/>
          <a:lstStyle/>
          <a:p>
            <a:pPr eaLnBrk="1" hangingPunct="1"/>
            <a:r>
              <a:rPr lang="en-US" altLang="en-US" dirty="0"/>
              <a:t>Solution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C5BEC1D-CEE8-E66E-768F-136F4D03C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05" y="1109616"/>
            <a:ext cx="8122195" cy="409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spcBef>
                <a:spcPct val="400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Semaphore A = 0,     B = 0;</a:t>
            </a:r>
          </a:p>
          <a:p>
            <a:pPr lvl="1" eaLnBrk="1" hangingPunct="1">
              <a:lnSpc>
                <a:spcPct val="130000"/>
              </a:lnSpc>
              <a:spcBef>
                <a:spcPct val="400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marL="457200" lvl="1" indent="0" eaLnBrk="1" hangingPunct="1">
              <a:lnSpc>
                <a:spcPct val="130000"/>
              </a:lnSpc>
              <a:spcBef>
                <a:spcPct val="400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r>
              <a:rPr lang="en-US" altLang="en-US" sz="2000" b="1" dirty="0"/>
              <a:t>	P1		  P2		    P3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/>
              <a:t>	  	</a:t>
            </a: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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 	 		  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	</a:t>
            </a:r>
            <a:r>
              <a:rPr lang="en-US" altLang="en-US" sz="2000" b="1" dirty="0">
                <a:latin typeface="Courier New" panose="02070309020205020404" pitchFamily="49" charset="0"/>
                <a:sym typeface="MT Extra" panose="05050102010205020202" pitchFamily="18" charset="2"/>
              </a:rPr>
              <a:t>wait(A)	 wait(B)	  S3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MT Extra" panose="05050102010205020202" pitchFamily="18" charset="2"/>
              </a:rPr>
              <a:t>	 	S1		 S2	  	  signal(B)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MT Extra" panose="05050102010205020202" pitchFamily="18" charset="2"/>
              </a:rPr>
              <a:t>				 signal(A)</a:t>
            </a:r>
          </a:p>
          <a:p>
            <a:pPr eaLnBrk="1" hangingPunct="1">
              <a:lnSpc>
                <a:spcPct val="130000"/>
              </a:lnSpc>
              <a:spcBef>
                <a:spcPct val="3000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sym typeface="MT Extra" panose="05050102010205020202" pitchFamily="18" charset="2"/>
              </a:rPr>
              <a:t>	 			 		  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4EB5C48-C3B4-B7D8-E332-86678F8B887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772C05C-0261-AA2F-01A4-76AE45AD5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3760" y="167640"/>
            <a:ext cx="7715069" cy="635000"/>
          </a:xfrm>
        </p:spPr>
        <p:txBody>
          <a:bodyPr/>
          <a:lstStyle/>
          <a:p>
            <a:pPr eaLnBrk="1" hangingPunct="1"/>
            <a:r>
              <a:rPr lang="en-US" altLang="en-US" dirty="0"/>
              <a:t>ME, Deadlock, Starvation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9C16BD8-1842-0BDC-C7DA-70DA8E78A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1166648"/>
            <a:ext cx="8493760" cy="555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Mutual Exclusion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Only one process at a time is allowed to execute in its critical section 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 set of processes are said to be in deadlock state 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if every process is waiting for an event that can be caused only by another process in the set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MT Extra" panose="05050102010205020202" pitchFamily="18" charset="2"/>
              </a:rPr>
              <a:t>Starvation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MT Extra" panose="05050102010205020202" pitchFamily="18" charset="2"/>
              </a:rPr>
              <a:t> </a:t>
            </a:r>
          </a:p>
          <a:p>
            <a:pPr lvl="1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  <a:sym typeface="MT Extra" panose="05050102010205020202" pitchFamily="18" charset="2"/>
              </a:rPr>
              <a:t>indefinite blocking due to unavailability of resources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886CF40-ACDE-53FD-7091-BFF81A20F84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212" y="1110127"/>
            <a:ext cx="8657124" cy="54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Semaphore is a powerful synchronization tool – can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provide 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mutual exclusion, progress &amp; bounded wait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Mutual Exclusion</a:t>
            </a:r>
          </a:p>
          <a:p>
            <a:pPr marL="741363" lvl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before entering CS, process acquires the semaphore (decrements its value), which denies access to other processes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Progress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achieved by using semaphores correctly, with properly designed algo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ensure all processes get opportunity to execute their CS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Bounded Wait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achieved by not letting processes wait indefinitely within semaphore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remove processes from list associated with semaphore, using fair scheduling policies – do not use LIFO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8A2371-D6ED-367F-0F5C-FAC94A9BC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98120"/>
            <a:ext cx="8839200" cy="61468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Is Semaphore a Good Solution…?</a:t>
            </a:r>
          </a:p>
        </p:txBody>
      </p:sp>
    </p:spTree>
    <p:extLst>
      <p:ext uri="{BB962C8B-B14F-4D97-AF65-F5344CB8AC3E}">
        <p14:creationId xmlns:p14="http://schemas.microsoft.com/office/powerpoint/2010/main" val="679193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62" y="1087357"/>
            <a:ext cx="8657124" cy="53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Semaphores need to be used correctly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wait(S) and signal(S) may be scattered among several processes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becomes difficult to understand their effects…</a:t>
            </a:r>
          </a:p>
          <a:p>
            <a:pPr marL="0" indent="0" algn="ctr" eaLnBrk="1" hangingPunct="1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“Semaphore’s ability to provide a good solution</a:t>
            </a:r>
            <a:b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how it is configured and used, </a:t>
            </a:r>
            <a:b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meet specific synchronization requirements</a:t>
            </a:r>
            <a:b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application”</a:t>
            </a:r>
          </a:p>
          <a:p>
            <a:pPr eaLnBrk="1" hangingPunct="1">
              <a:spcBef>
                <a:spcPts val="18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used incorrectly, may lead to: 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violation of ME, deadlocks, starvation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8A2371-D6ED-367F-0F5C-FAC94A9BC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98120"/>
            <a:ext cx="8839200" cy="61468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Is Semaphore a Good Solution…?</a:t>
            </a:r>
          </a:p>
        </p:txBody>
      </p:sp>
    </p:spTree>
    <p:extLst>
      <p:ext uri="{BB962C8B-B14F-4D97-AF65-F5344CB8AC3E}">
        <p14:creationId xmlns:p14="http://schemas.microsoft.com/office/powerpoint/2010/main" val="179485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2612183-1942-3861-3C1F-CF92365EF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533400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8F4D785-2228-5791-CACC-EFEA3F0E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681" y="3940715"/>
            <a:ext cx="5673997" cy="2347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P0		      P1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wait(S);			wait(Q);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wait(Q);			wait(S);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  <a:sym typeface="MT Extra" panose="05050102010205020202" pitchFamily="18" charset="2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 					   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	signal(S);		signal(Q);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	signal(Q);		signal(S);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BF232-06E8-64D9-F861-8A7D1960230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2A9A469-268A-CBCA-A6BC-6DED75AFE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05" y="1075595"/>
            <a:ext cx="8202749" cy="26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Consider a system consisting of two processes P0 and P1, each accessing two semaphores S and Q, set to value 1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P0 executes wait(S), and enters its CS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P1 executes wait(Q), and enters its CS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P0 then executes wait(Q), and P1 executes wait(S)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each process is now waiting for the other to call signal() to proceed further, but this will not happen, as both are now waiting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2612183-1942-3861-3C1F-CF92365EF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533400"/>
          </a:xfrm>
        </p:spPr>
        <p:txBody>
          <a:bodyPr/>
          <a:lstStyle/>
          <a:p>
            <a:pPr eaLnBrk="1" hangingPunct="1"/>
            <a:r>
              <a:rPr lang="en-US" altLang="en-US" dirty="0"/>
              <a:t>Mutual Exclusion Violation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BF232-06E8-64D9-F861-8A7D1960230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2A9A469-268A-CBCA-A6BC-6DED75AFE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05" y="1075595"/>
            <a:ext cx="8202749" cy="2353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Consider processes sharing a semaphore S, set to value 1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process must execute wait(S) before entering CS, and signal(S) afterwards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however, if a process interchanges the order in which wait() and signal() are called on semaphore S</a:t>
            </a:r>
          </a:p>
          <a:p>
            <a:pPr lvl="2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kern="0" dirty="0"/>
              <a:t>two processes may be in their CS simultaneously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EC075-6467-0993-AF59-53994BC5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114" y="3696875"/>
            <a:ext cx="5609771" cy="246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FFFF66"/>
              </a:buClr>
              <a:buFont typeface="Wingdings" panose="05000000000000000000" pitchFamily="2" charset="2"/>
              <a:buNone/>
            </a:pPr>
            <a:r>
              <a:rPr lang="en-US" altLang="en-US" sz="2000" b="1" dirty="0"/>
              <a:t>	 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P0		     	   P1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signal(S);		wait(S);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		 			  CS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	   CS			   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	wait(S);			signal(S);</a:t>
            </a:r>
          </a:p>
        </p:txBody>
      </p:sp>
    </p:spTree>
    <p:extLst>
      <p:ext uri="{BB962C8B-B14F-4D97-AF65-F5344CB8AC3E}">
        <p14:creationId xmlns:p14="http://schemas.microsoft.com/office/powerpoint/2010/main" val="3765733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7B03A7F-F7E3-076D-D07B-1C186717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" y="274638"/>
            <a:ext cx="8057606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Cause of Problem &amp; Solution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853F8E-FF87-A031-F83B-6756624C26B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299B9CE-DD66-F4AB-7A24-573363EE9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46" y="1203958"/>
            <a:ext cx="8458200" cy="4638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Caus</a:t>
            </a:r>
            <a:r>
              <a:rPr lang="en-US" altLang="en-US" b="1" dirty="0">
                <a:solidFill>
                  <a:srgbClr val="C00000"/>
                </a:solidFill>
              </a:rPr>
              <a:t>e: </a:t>
            </a:r>
          </a:p>
          <a:p>
            <a:pPr lvl="1"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Programming errors due to incorrect use of wait() and signal() operations</a:t>
            </a:r>
          </a:p>
          <a:p>
            <a:pPr lvl="2"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may be honest errors, or </a:t>
            </a:r>
            <a:r>
              <a:rPr lang="en-US" altLang="en-US" dirty="0"/>
              <a:t>non-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cooperative programmer</a:t>
            </a:r>
          </a:p>
          <a:p>
            <a:pPr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</a:t>
            </a:r>
            <a:r>
              <a:rPr lang="en-US" altLang="en-US" b="1" dirty="0">
                <a:solidFill>
                  <a:srgbClr val="C00000"/>
                </a:solidFill>
              </a:rPr>
              <a:t>n: </a:t>
            </a:r>
          </a:p>
          <a:p>
            <a:pPr lvl="1"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 of higher level language constructs, such as critical regions, monitors, &amp; condition variables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853F8E-FF87-A031-F83B-6756624C26B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299B9CE-DD66-F4AB-7A24-573363EE9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75" y="1161918"/>
            <a:ext cx="8521237" cy="542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Pthreads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library also provides semaphores </a:t>
            </a:r>
            <a:r>
              <a:rPr lang="en-US" altLang="en-US" b="1" dirty="0">
                <a:solidFill>
                  <a:srgbClr val="C00000"/>
                </a:solidFill>
              </a:rPr>
              <a:t> </a:t>
            </a:r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POSIX SEM extensions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858838" eaLnBrk="1" hangingPunct="1">
              <a:spcBef>
                <a:spcPts val="2400"/>
              </a:spcBef>
              <a:buClr>
                <a:srgbClr val="800000"/>
              </a:buClr>
              <a:buNone/>
            </a:pPr>
            <a:r>
              <a:rPr lang="en-US" dirty="0">
                <a:solidFill>
                  <a:srgbClr val="0033CC"/>
                </a:solidFill>
              </a:rPr>
              <a:t>POSIX specifies two types of semaphores: 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</a:p>
          <a:p>
            <a:pPr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b="1" dirty="0">
                <a:solidFill>
                  <a:srgbClr val="C00000"/>
                </a:solidFill>
              </a:rPr>
              <a:t>Unnamed Semaphores</a:t>
            </a:r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used within single process – shared between threads of a process</a:t>
            </a:r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allocated &amp; initialized in memory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b="1" dirty="0">
                <a:solidFill>
                  <a:srgbClr val="C00000"/>
                </a:solidFill>
              </a:rPr>
              <a:t>Named Semaphores</a:t>
            </a:r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can be shared between multiple unrelated processes</a:t>
            </a:r>
            <a:endParaRPr lang="en-US" altLang="en-US" dirty="0"/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created/opened using names in the file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system</a:t>
            </a:r>
          </a:p>
          <a:p>
            <a:pPr lvl="1" defTabSz="858838"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3344EB3-C737-734E-7484-FB17702F331D}"/>
              </a:ext>
            </a:extLst>
          </p:cNvPr>
          <p:cNvSpPr txBox="1">
            <a:spLocks noChangeArrowheads="1"/>
          </p:cNvSpPr>
          <p:nvPr/>
        </p:nvSpPr>
        <p:spPr>
          <a:xfrm>
            <a:off x="955040" y="149770"/>
            <a:ext cx="7633789" cy="675640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Use of Semaphores - </a:t>
            </a:r>
            <a:r>
              <a:rPr lang="en-US" kern="0" dirty="0" err="1"/>
              <a:t>pthreads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70458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853F8E-FF87-A031-F83B-6756624C26B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299B9CE-DD66-F4AB-7A24-573363EE9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85" y="1098858"/>
            <a:ext cx="8805015" cy="542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</a:pPr>
            <a:r>
              <a:rPr lang="en-US" dirty="0"/>
              <a:t>Initialize unnamed semaphore: </a:t>
            </a:r>
            <a:r>
              <a:rPr lang="en-US" altLang="en-US" dirty="0"/>
              <a:t> 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pt-BR" sz="2000" b="1" dirty="0">
                <a:latin typeface="Courier New"/>
                <a:cs typeface="Courier New"/>
              </a:rPr>
              <a:t>sem_t </a:t>
            </a:r>
            <a:r>
              <a:rPr lang="pt-BR" sz="2000" b="1" dirty="0">
                <a:solidFill>
                  <a:srgbClr val="0033CC"/>
                </a:solidFill>
                <a:latin typeface="Courier New"/>
                <a:cs typeface="Courier New"/>
              </a:rPr>
              <a:t>sem</a:t>
            </a:r>
            <a:r>
              <a:rPr lang="pt-BR" sz="2000" b="1" dirty="0">
                <a:latin typeface="Courier New"/>
                <a:cs typeface="Courier New"/>
              </a:rPr>
              <a:t>; </a:t>
            </a:r>
          </a:p>
          <a:p>
            <a:pPr marL="457200" lvl="1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sz="2000" b="1" dirty="0" err="1">
                <a:solidFill>
                  <a:srgbClr val="FF0000"/>
                </a:solidFill>
                <a:latin typeface="Courier New"/>
                <a:cs typeface="Courier New"/>
              </a:rPr>
              <a:t>sem_init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 err="1">
                <a:latin typeface="Courier New"/>
                <a:cs typeface="Courier New"/>
              </a:rPr>
              <a:t>sem_t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33CC"/>
                </a:solidFill>
                <a:latin typeface="Courier New"/>
                <a:cs typeface="Courier New"/>
              </a:rPr>
              <a:t>*</a:t>
            </a:r>
            <a:r>
              <a:rPr lang="en-US" sz="2000" b="1" dirty="0" err="1">
                <a:solidFill>
                  <a:srgbClr val="0033CC"/>
                </a:solidFill>
                <a:latin typeface="Courier New"/>
                <a:cs typeface="Courier New"/>
              </a:rPr>
              <a:t>sem</a:t>
            </a:r>
            <a:r>
              <a:rPr lang="en-US" sz="2000" b="1" dirty="0">
                <a:latin typeface="Courier New"/>
                <a:cs typeface="Courier New"/>
              </a:rPr>
              <a:t>, int </a:t>
            </a:r>
            <a:r>
              <a:rPr lang="en-US" sz="2000" b="1" dirty="0" err="1">
                <a:solidFill>
                  <a:srgbClr val="0033CC"/>
                </a:solidFill>
                <a:latin typeface="Courier New"/>
                <a:cs typeface="Courier New"/>
              </a:rPr>
              <a:t>pshared</a:t>
            </a:r>
            <a:r>
              <a:rPr lang="en-US" sz="2000" b="1" dirty="0">
                <a:latin typeface="Courier New"/>
                <a:cs typeface="Courier New"/>
              </a:rPr>
              <a:t>, unsigned int </a:t>
            </a:r>
            <a:r>
              <a:rPr lang="en-US" sz="2000" b="1" dirty="0">
                <a:solidFill>
                  <a:srgbClr val="0033CC"/>
                </a:solidFill>
                <a:latin typeface="Courier New"/>
                <a:cs typeface="Courier New"/>
              </a:rPr>
              <a:t>value</a:t>
            </a:r>
            <a:r>
              <a:rPr lang="en-US" sz="2000" b="1" dirty="0">
                <a:latin typeface="Courier New"/>
                <a:cs typeface="Courier New"/>
              </a:rPr>
              <a:t>)</a:t>
            </a:r>
            <a:endParaRPr lang="pt-BR" sz="2000" dirty="0"/>
          </a:p>
          <a:p>
            <a:pPr marL="0" lvl="1" indent="0" algn="ctr" defTabSz="858838" eaLnBrk="1" hangingPunct="1">
              <a:lnSpc>
                <a:spcPct val="110000"/>
              </a:lnSpc>
              <a:spcBef>
                <a:spcPts val="1200"/>
              </a:spcBef>
              <a:buClr>
                <a:srgbClr val="800000"/>
              </a:buClr>
              <a:buNone/>
            </a:pPr>
            <a:r>
              <a:rPr lang="pt-BR" dirty="0"/>
              <a:t>(to share between threads, with initial value 1)</a:t>
            </a:r>
          </a:p>
          <a:p>
            <a:pPr marL="0" lvl="1" indent="0" algn="ctr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pt-BR" sz="2000" b="1" dirty="0">
                <a:solidFill>
                  <a:srgbClr val="FF0000"/>
                </a:solidFill>
                <a:latin typeface="Courier New"/>
                <a:cs typeface="Courier New"/>
              </a:rPr>
              <a:t>sem_init</a:t>
            </a:r>
            <a:r>
              <a:rPr lang="pt-BR" sz="2000" b="1" dirty="0">
                <a:latin typeface="Courier New"/>
                <a:cs typeface="Courier New"/>
              </a:rPr>
              <a:t>(&amp;sem, 0, 1);</a:t>
            </a:r>
          </a:p>
          <a:p>
            <a:pPr defTabSz="858838" eaLnBrk="1" hangingPunct="1">
              <a:lnSpc>
                <a:spcPct val="110000"/>
              </a:lnSpc>
              <a:spcBef>
                <a:spcPts val="1800"/>
              </a:spcBef>
              <a:buClr>
                <a:srgbClr val="800000"/>
              </a:buClr>
            </a:pPr>
            <a:r>
              <a:rPr lang="en-US" dirty="0"/>
              <a:t>Protect critical section:</a:t>
            </a:r>
            <a:r>
              <a:rPr lang="en-US" altLang="en-US" dirty="0"/>
              <a:t> </a:t>
            </a:r>
          </a:p>
          <a:p>
            <a:pPr marL="346075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sz="1900" b="1" dirty="0">
                <a:latin typeface="Courier New"/>
                <a:cs typeface="Courier New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urier New"/>
                <a:cs typeface="Courier New"/>
              </a:rPr>
              <a:t>sem_wait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>
                <a:solidFill>
                  <a:srgbClr val="0033CC"/>
                </a:solidFill>
                <a:latin typeface="Courier New"/>
                <a:cs typeface="Courier New"/>
              </a:rPr>
              <a:t>&amp;</a:t>
            </a:r>
            <a:r>
              <a:rPr lang="en-US" sz="2000" b="1" dirty="0" err="1">
                <a:solidFill>
                  <a:srgbClr val="0033CC"/>
                </a:solidFill>
                <a:latin typeface="Courier New"/>
                <a:cs typeface="Courier New"/>
              </a:rPr>
              <a:t>sem</a:t>
            </a:r>
            <a:r>
              <a:rPr lang="en-US" sz="2000" b="1" dirty="0">
                <a:latin typeface="Courier New"/>
                <a:cs typeface="Courier New"/>
              </a:rPr>
              <a:t>); 	</a:t>
            </a:r>
            <a:r>
              <a:rPr lang="en-US" sz="1900" b="1" dirty="0">
                <a:latin typeface="Courier New"/>
                <a:cs typeface="Courier New"/>
              </a:rPr>
              <a:t>//increment &amp; lock semaphore </a:t>
            </a:r>
          </a:p>
          <a:p>
            <a:pPr marL="346075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sz="1900" b="1" dirty="0">
                <a:latin typeface="Courier New"/>
                <a:cs typeface="Courier New"/>
              </a:rPr>
              <a:t>	  </a:t>
            </a:r>
            <a:r>
              <a:rPr lang="en-US" sz="2000" b="1" dirty="0">
                <a:latin typeface="Courier New"/>
                <a:cs typeface="Courier New"/>
              </a:rPr>
              <a:t>&lt;CS&gt;		</a:t>
            </a:r>
            <a:endParaRPr lang="en-US" sz="1900" b="1" dirty="0">
              <a:latin typeface="Courier New"/>
              <a:cs typeface="Courier New"/>
            </a:endParaRPr>
          </a:p>
          <a:p>
            <a:pPr marL="346075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sz="2000" b="1" dirty="0">
                <a:latin typeface="Courier New"/>
                <a:cs typeface="Courier New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urier New"/>
                <a:cs typeface="Courier New"/>
              </a:rPr>
              <a:t>sem_post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>
                <a:solidFill>
                  <a:srgbClr val="0033CC"/>
                </a:solidFill>
                <a:latin typeface="Courier New"/>
                <a:cs typeface="Courier New"/>
              </a:rPr>
              <a:t>&amp;</a:t>
            </a:r>
            <a:r>
              <a:rPr lang="en-US" sz="2000" b="1" dirty="0" err="1">
                <a:solidFill>
                  <a:srgbClr val="0033CC"/>
                </a:solidFill>
                <a:latin typeface="Courier New"/>
                <a:cs typeface="Courier New"/>
              </a:rPr>
              <a:t>sem</a:t>
            </a:r>
            <a:r>
              <a:rPr lang="en-US" sz="2000" b="1" dirty="0">
                <a:latin typeface="Courier New"/>
                <a:cs typeface="Courier New"/>
              </a:rPr>
              <a:t>); 	</a:t>
            </a:r>
            <a:r>
              <a:rPr lang="en-US" sz="1900" b="1" dirty="0">
                <a:latin typeface="Courier New"/>
                <a:cs typeface="Courier New"/>
              </a:rPr>
              <a:t>//decrement &amp; unlock semaphore</a:t>
            </a:r>
            <a:endParaRPr lang="en-US" altLang="en-US" sz="1900" b="1" dirty="0">
              <a:latin typeface="Courier New"/>
              <a:cs typeface="Courier New"/>
            </a:endParaRPr>
          </a:p>
          <a:p>
            <a:pPr defTabSz="858838" eaLnBrk="1" hangingPunct="1">
              <a:lnSpc>
                <a:spcPct val="110000"/>
              </a:lnSpc>
              <a:spcBef>
                <a:spcPts val="1800"/>
              </a:spcBef>
              <a:buClr>
                <a:srgbClr val="800000"/>
              </a:buClr>
            </a:pPr>
            <a:r>
              <a:rPr lang="en-US" dirty="0"/>
              <a:t>Destroy semaphore:</a:t>
            </a:r>
          </a:p>
          <a:p>
            <a:pPr marL="346075" indent="0" defTabSz="858838" eaLnBrk="1" hangingPunct="1">
              <a:lnSpc>
                <a:spcPct val="110000"/>
              </a:lnSpc>
              <a:spcBef>
                <a:spcPts val="600"/>
              </a:spcBef>
              <a:buClr>
                <a:srgbClr val="800000"/>
              </a:buClr>
              <a:buNone/>
            </a:pPr>
            <a:r>
              <a:rPr lang="pt-BR" sz="2000" b="1" dirty="0">
                <a:latin typeface="Courier New"/>
                <a:cs typeface="Courier New"/>
              </a:rPr>
              <a:t>	</a:t>
            </a:r>
            <a:r>
              <a:rPr lang="pt-BR" sz="2000" b="1" dirty="0">
                <a:solidFill>
                  <a:srgbClr val="FF0000"/>
                </a:solidFill>
                <a:latin typeface="Courier New"/>
                <a:cs typeface="Courier New"/>
              </a:rPr>
              <a:t>sem_destroy</a:t>
            </a:r>
            <a:r>
              <a:rPr lang="pt-BR" sz="2000" b="1" dirty="0">
                <a:latin typeface="Courier New"/>
                <a:cs typeface="Courier New"/>
              </a:rPr>
              <a:t>(</a:t>
            </a:r>
            <a:r>
              <a:rPr lang="pt-BR" sz="2000" b="1" dirty="0">
                <a:solidFill>
                  <a:srgbClr val="0033CC"/>
                </a:solidFill>
                <a:latin typeface="Courier New"/>
                <a:cs typeface="Courier New"/>
              </a:rPr>
              <a:t>&amp;sem</a:t>
            </a:r>
            <a:r>
              <a:rPr lang="pt-BR" sz="2000" b="1" dirty="0">
                <a:latin typeface="Courier New"/>
                <a:cs typeface="Courier New"/>
              </a:rPr>
              <a:t>); </a:t>
            </a:r>
            <a:endParaRPr lang="en-US" altLang="en-US" sz="2000" b="1" dirty="0">
              <a:latin typeface="Courier New"/>
              <a:cs typeface="Courier New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3344EB3-C737-734E-7484-FB17702F331D}"/>
              </a:ext>
            </a:extLst>
          </p:cNvPr>
          <p:cNvSpPr txBox="1">
            <a:spLocks noChangeArrowheads="1"/>
          </p:cNvSpPr>
          <p:nvPr/>
        </p:nvSpPr>
        <p:spPr>
          <a:xfrm>
            <a:off x="955040" y="149770"/>
            <a:ext cx="7633789" cy="675640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Unnamed Semaphore - </a:t>
            </a:r>
            <a:r>
              <a:rPr lang="en-US" kern="0" dirty="0" err="1"/>
              <a:t>pthreads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98023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85520" y="0"/>
            <a:ext cx="8158480" cy="708584"/>
          </a:xfrm>
        </p:spPr>
        <p:txBody>
          <a:bodyPr>
            <a:norm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b="1" dirty="0">
                <a:ea typeface="+mj-ea"/>
                <a:cs typeface="+mj-cs"/>
              </a:rPr>
              <a:t>Example (Sol: Race Condition)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D38CE7-44E1-4AFB-70C2-C0809384E2E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2D6BE45-44C0-F525-F9EE-82FC86C3685C}"/>
              </a:ext>
            </a:extLst>
          </p:cNvPr>
          <p:cNvSpPr txBox="1">
            <a:spLocks noChangeArrowheads="1"/>
          </p:cNvSpPr>
          <p:nvPr/>
        </p:nvSpPr>
        <p:spPr>
          <a:xfrm>
            <a:off x="468086" y="833119"/>
            <a:ext cx="8534400" cy="3688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long balance = 0;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sem_t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 main(){  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 t1, t2;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sem_init(&amp;sem, 0, 1);</a:t>
            </a: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(&amp;t1, NULL,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inc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, NULL);  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(&amp;t2, NULL, dec, NULL);  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(t1,NULL);  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(t2,NULL);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sem_destroy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  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("Value of balance is :%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\n", balance);   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9B5D5C-D79E-E8C0-723E-62CC0CF5A0DE}"/>
              </a:ext>
            </a:extLst>
          </p:cNvPr>
          <p:cNvSpPr/>
          <p:nvPr/>
        </p:nvSpPr>
        <p:spPr>
          <a:xfrm>
            <a:off x="468086" y="4602480"/>
            <a:ext cx="4191000" cy="219829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ts val="6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void *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dec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(void *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for(long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=0;i&lt;1000000;i++){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sem_wait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balance--;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sem_post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(NULL);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7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ED3BD-1D7D-1E52-4CE3-88B69392BD7E}"/>
              </a:ext>
            </a:extLst>
          </p:cNvPr>
          <p:cNvSpPr/>
          <p:nvPr/>
        </p:nvSpPr>
        <p:spPr>
          <a:xfrm>
            <a:off x="4729480" y="4602480"/>
            <a:ext cx="4273006" cy="219829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void *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inc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(void *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for(long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=0;i&lt;1000000;i++){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sem_wait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balance++;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sem_post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sem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(NULL);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17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700" i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14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6"/>
            <a:ext cx="8580119" cy="1705903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Classic Problems of </a:t>
            </a:r>
            <a:br>
              <a:rPr lang="en-US" altLang="en-US" sz="3200" b="1" dirty="0">
                <a:solidFill>
                  <a:srgbClr val="006699"/>
                </a:solidFill>
                <a:latin typeface="+mj-lt"/>
              </a:rPr>
            </a:b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Synchronization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6643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7B03A7F-F7E3-076D-D07B-1C186717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" y="274638"/>
            <a:ext cx="8057606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Classic Problems of Synchronization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853F8E-FF87-A031-F83B-6756624C26B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299B9CE-DD66-F4AB-7A24-573363EE9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46" y="1203958"/>
            <a:ext cx="8600440" cy="4638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sz="2300" kern="0" dirty="0"/>
              <a:t>Few synchronization problems are used to represent a large class of concurrency control scenarios</a:t>
            </a:r>
          </a:p>
          <a:p>
            <a:pPr lvl="1" defTabSz="85883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kern="0" dirty="0"/>
              <a:t>used for testing new synchronization schemes</a:t>
            </a:r>
          </a:p>
          <a:p>
            <a:pPr defTabSz="858838"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sz="2300" kern="0" dirty="0"/>
              <a:t>The problems include:</a:t>
            </a:r>
          </a:p>
          <a:p>
            <a:pPr lvl="1" defTabSz="687388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sz="2300" kern="0" dirty="0">
                <a:solidFill>
                  <a:srgbClr val="C00000"/>
                </a:solidFill>
              </a:rPr>
              <a:t>Bounded Buffer Problem</a:t>
            </a:r>
          </a:p>
          <a:p>
            <a:pPr lvl="1" defTabSz="6873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>
                <a:solidFill>
                  <a:srgbClr val="C00000"/>
                </a:solidFill>
              </a:rPr>
              <a:t>Reader’s &amp; Writer’s Problem</a:t>
            </a:r>
          </a:p>
          <a:p>
            <a:pPr lvl="1" defTabSz="6873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>
                <a:solidFill>
                  <a:srgbClr val="C00000"/>
                </a:solidFill>
              </a:rPr>
              <a:t>Dining Philosopher’s Problem</a:t>
            </a:r>
          </a:p>
          <a:p>
            <a:pPr defTabSz="687388"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sz="2300" kern="0" dirty="0"/>
              <a:t>We’ll discuss solution to these problems using semaphores</a:t>
            </a:r>
          </a:p>
        </p:txBody>
      </p:sp>
    </p:spTree>
    <p:extLst>
      <p:ext uri="{BB962C8B-B14F-4D97-AF65-F5344CB8AC3E}">
        <p14:creationId xmlns:p14="http://schemas.microsoft.com/office/powerpoint/2010/main" val="4159017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71D2DCE-7A95-89BC-FFAD-61EBAEC9F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800"/>
            <a:ext cx="8839200" cy="45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 Buffer Problem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1C8C9B-9697-7998-8F01-24E99F726157}"/>
              </a:ext>
            </a:extLst>
          </p:cNvPr>
          <p:cNvGrpSpPr/>
          <p:nvPr/>
        </p:nvGrpSpPr>
        <p:grpSpPr>
          <a:xfrm>
            <a:off x="2017986" y="3184630"/>
            <a:ext cx="4748574" cy="3185460"/>
            <a:chOff x="1524000" y="1600200"/>
            <a:chExt cx="6248400" cy="4731889"/>
          </a:xfrm>
        </p:grpSpPr>
        <p:sp>
          <p:nvSpPr>
            <p:cNvPr id="8195" name="Oval 3">
              <a:extLst>
                <a:ext uri="{FF2B5EF4-FFF2-40B4-BE49-F238E27FC236}">
                  <a16:creationId xmlns:a16="http://schemas.microsoft.com/office/drawing/2014/main" id="{D3C9FF2F-A597-47E1-74D7-5B3400246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3352800"/>
              <a:ext cx="21336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/>
                <a:t>Producer</a:t>
              </a:r>
            </a:p>
          </p:txBody>
        </p:sp>
        <p:sp>
          <p:nvSpPr>
            <p:cNvPr id="8196" name="Oval 4">
              <a:extLst>
                <a:ext uri="{FF2B5EF4-FFF2-40B4-BE49-F238E27FC236}">
                  <a16:creationId xmlns:a16="http://schemas.microsoft.com/office/drawing/2014/main" id="{2F979D1A-FB3E-2AB0-2430-DDB5C037F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352800"/>
              <a:ext cx="20574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100"/>
                <a:t>Consumer</a:t>
              </a:r>
            </a:p>
          </p:txBody>
        </p:sp>
        <p:sp>
          <p:nvSpPr>
            <p:cNvPr id="8197" name="AutoShape 5">
              <a:extLst>
                <a:ext uri="{FF2B5EF4-FFF2-40B4-BE49-F238E27FC236}">
                  <a16:creationId xmlns:a16="http://schemas.microsoft.com/office/drawing/2014/main" id="{4BA227EC-5668-5073-DD00-6029102DD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2286000"/>
              <a:ext cx="1676400" cy="8382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198" name="AutoShape 6">
              <a:extLst>
                <a:ext uri="{FF2B5EF4-FFF2-40B4-BE49-F238E27FC236}">
                  <a16:creationId xmlns:a16="http://schemas.microsoft.com/office/drawing/2014/main" id="{101FA918-D937-744D-7392-6CF8F22FD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724400"/>
              <a:ext cx="1676400" cy="8382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199" name="Text Box 7">
              <a:extLst>
                <a:ext uri="{FF2B5EF4-FFF2-40B4-BE49-F238E27FC236}">
                  <a16:creationId xmlns:a16="http://schemas.microsoft.com/office/drawing/2014/main" id="{2EEAEC29-1A37-EEFB-7C85-CF18D4CC2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1600200"/>
              <a:ext cx="1994648" cy="56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2100" dirty="0"/>
                <a:t>Empty Pool</a:t>
              </a:r>
            </a:p>
          </p:txBody>
        </p:sp>
        <p:sp>
          <p:nvSpPr>
            <p:cNvPr id="8200" name="Text Box 8">
              <a:extLst>
                <a:ext uri="{FF2B5EF4-FFF2-40B4-BE49-F238E27FC236}">
                  <a16:creationId xmlns:a16="http://schemas.microsoft.com/office/drawing/2014/main" id="{15412C77-AD21-FDC6-604B-C9E0BF7DE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320" y="5770879"/>
              <a:ext cx="1572436" cy="56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2100" dirty="0"/>
                <a:t>Full Pool</a:t>
              </a:r>
            </a:p>
          </p:txBody>
        </p:sp>
        <p:sp>
          <p:nvSpPr>
            <p:cNvPr id="8201" name="Rectangle 9">
              <a:extLst>
                <a:ext uri="{FF2B5EF4-FFF2-40B4-BE49-F238E27FC236}">
                  <a16:creationId xmlns:a16="http://schemas.microsoft.com/office/drawing/2014/main" id="{22860B3D-E192-5FA6-1C88-4A325035D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5181600"/>
              <a:ext cx="304800" cy="2286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2" name="Rectangle 10">
              <a:extLst>
                <a:ext uri="{FF2B5EF4-FFF2-40B4-BE49-F238E27FC236}">
                  <a16:creationId xmlns:a16="http://schemas.microsoft.com/office/drawing/2014/main" id="{57D59AB0-E488-B2BC-FED2-5212EAE47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953000"/>
              <a:ext cx="304800" cy="2286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3" name="Rectangle 11">
              <a:extLst>
                <a:ext uri="{FF2B5EF4-FFF2-40B4-BE49-F238E27FC236}">
                  <a16:creationId xmlns:a16="http://schemas.microsoft.com/office/drawing/2014/main" id="{D8C8A289-C7FC-3ADD-2FFE-CBD17578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800600"/>
              <a:ext cx="304800" cy="2286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4" name="Rectangle 12">
              <a:extLst>
                <a:ext uri="{FF2B5EF4-FFF2-40B4-BE49-F238E27FC236}">
                  <a16:creationId xmlns:a16="http://schemas.microsoft.com/office/drawing/2014/main" id="{D5F828D2-6766-8437-363B-BE06C0878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2743200"/>
              <a:ext cx="3048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5" name="Rectangle 13">
              <a:extLst>
                <a:ext uri="{FF2B5EF4-FFF2-40B4-BE49-F238E27FC236}">
                  <a16:creationId xmlns:a16="http://schemas.microsoft.com/office/drawing/2014/main" id="{3F4D6732-27BF-F4A6-32D8-CEA3D27B5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362200"/>
              <a:ext cx="3048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6" name="Rectangle 14">
              <a:extLst>
                <a:ext uri="{FF2B5EF4-FFF2-40B4-BE49-F238E27FC236}">
                  <a16:creationId xmlns:a16="http://schemas.microsoft.com/office/drawing/2014/main" id="{2F1F19CB-A03E-8E16-815B-8EFF29E29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2667000"/>
              <a:ext cx="3048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7" name="Rectangle 15">
              <a:extLst>
                <a:ext uri="{FF2B5EF4-FFF2-40B4-BE49-F238E27FC236}">
                  <a16:creationId xmlns:a16="http://schemas.microsoft.com/office/drawing/2014/main" id="{20AD4A78-D925-72E8-54F6-7D888D945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438400"/>
              <a:ext cx="3048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8" name="AutoShape 16">
              <a:extLst>
                <a:ext uri="{FF2B5EF4-FFF2-40B4-BE49-F238E27FC236}">
                  <a16:creationId xmlns:a16="http://schemas.microsoft.com/office/drawing/2014/main" id="{C5C18860-FF6B-E8AB-2A48-C8945DD4C1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21429" flipH="1">
              <a:off x="5524500" y="2274888"/>
              <a:ext cx="1404938" cy="866775"/>
            </a:xfrm>
            <a:prstGeom prst="curvedDownArrow">
              <a:avLst>
                <a:gd name="adj1" fmla="val 32418"/>
                <a:gd name="adj2" fmla="val 64835"/>
                <a:gd name="adj3" fmla="val 3333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09" name="AutoShape 17">
              <a:extLst>
                <a:ext uri="{FF2B5EF4-FFF2-40B4-BE49-F238E27FC236}">
                  <a16:creationId xmlns:a16="http://schemas.microsoft.com/office/drawing/2014/main" id="{B45DDD01-526A-4E15-5597-7B2F26A4C0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50372" flipV="1">
              <a:off x="2209800" y="4800600"/>
              <a:ext cx="1524000" cy="914400"/>
            </a:xfrm>
            <a:prstGeom prst="curvedDownArrow">
              <a:avLst>
                <a:gd name="adj1" fmla="val 33333"/>
                <a:gd name="adj2" fmla="val 66667"/>
                <a:gd name="adj3" fmla="val 3333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10" name="AutoShape 18">
              <a:extLst>
                <a:ext uri="{FF2B5EF4-FFF2-40B4-BE49-F238E27FC236}">
                  <a16:creationId xmlns:a16="http://schemas.microsoft.com/office/drawing/2014/main" id="{E4CC161D-39A1-531E-643C-31417B94CE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1429" flipH="1">
              <a:off x="2264570" y="2209006"/>
              <a:ext cx="1211262" cy="1050925"/>
            </a:xfrm>
            <a:prstGeom prst="curvedDownArrow">
              <a:avLst>
                <a:gd name="adj1" fmla="val 23051"/>
                <a:gd name="adj2" fmla="val 46103"/>
                <a:gd name="adj3" fmla="val 3333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  <p:sp>
          <p:nvSpPr>
            <p:cNvPr id="8211" name="AutoShape 19">
              <a:extLst>
                <a:ext uri="{FF2B5EF4-FFF2-40B4-BE49-F238E27FC236}">
                  <a16:creationId xmlns:a16="http://schemas.microsoft.com/office/drawing/2014/main" id="{C709D343-C0E9-CA91-DEEA-E307FEBB29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121429" flipH="1">
              <a:off x="5537200" y="4478338"/>
              <a:ext cx="1295400" cy="914400"/>
            </a:xfrm>
            <a:prstGeom prst="curvedDownArrow">
              <a:avLst>
                <a:gd name="adj1" fmla="val 28333"/>
                <a:gd name="adj2" fmla="val 56667"/>
                <a:gd name="adj3" fmla="val 3333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100"/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E84823C-49B0-F6B1-0143-D40DC8D543D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A4E25819-00B3-E42D-9A4F-7AE4470E2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065434"/>
            <a:ext cx="8458200" cy="171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defTabSz="85883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Consider a pool of buffers, and two processes producer and consumer…</a:t>
            </a:r>
          </a:p>
          <a:p>
            <a:pPr lvl="1" defTabSz="6873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b="1" kern="0" dirty="0">
                <a:solidFill>
                  <a:srgbClr val="C00000"/>
                </a:solidFill>
              </a:rPr>
              <a:t>Producer</a:t>
            </a:r>
            <a:r>
              <a:rPr lang="en-US" altLang="en-US" sz="2100" kern="0" dirty="0"/>
              <a:t> 	–  produces full buffers for consumer </a:t>
            </a:r>
          </a:p>
          <a:p>
            <a:pPr lvl="1" defTabSz="687388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100" b="1" kern="0" dirty="0">
                <a:solidFill>
                  <a:srgbClr val="C00000"/>
                </a:solidFill>
              </a:rPr>
              <a:t>Consumer</a:t>
            </a:r>
            <a:r>
              <a:rPr lang="en-US" altLang="en-US" sz="2100" kern="0" dirty="0"/>
              <a:t> 	–  produces empty buffers for producer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D38CE7-44E1-4AFB-70C2-C0809384E2E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A055BAF-0653-1062-8260-A2604C175090}"/>
              </a:ext>
            </a:extLst>
          </p:cNvPr>
          <p:cNvSpPr txBox="1">
            <a:spLocks noChangeArrowheads="1"/>
          </p:cNvSpPr>
          <p:nvPr/>
        </p:nvSpPr>
        <p:spPr>
          <a:xfrm>
            <a:off x="471977" y="974445"/>
            <a:ext cx="8428183" cy="2336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#define BUF_SIZE 5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{ ---- } item;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[BUF_SIZE];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int in = 0; 	  </a:t>
            </a:r>
            <a: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//points to first empty location in buffer</a:t>
            </a:r>
            <a:b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    where next item will be placed by producer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int out = 0;</a:t>
            </a:r>
            <a: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	  //points to first filled location in buffer</a:t>
            </a:r>
            <a:b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 	    from where next item is to be consumed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int ctr = 0;	</a:t>
            </a:r>
            <a:r>
              <a:rPr lang="en-US" sz="16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//number of items in buffer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53F159-4DF7-FDF4-874A-3D64B7E9440B}"/>
              </a:ext>
            </a:extLst>
          </p:cNvPr>
          <p:cNvSpPr txBox="1">
            <a:spLocks noChangeArrowheads="1"/>
          </p:cNvSpPr>
          <p:nvPr/>
        </p:nvSpPr>
        <p:spPr>
          <a:xfrm>
            <a:off x="471976" y="3429000"/>
            <a:ext cx="4008584" cy="3307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indent="-342900" algn="ctr">
              <a:lnSpc>
                <a:spcPct val="120000"/>
              </a:lnSpc>
              <a:spcBef>
                <a:spcPct val="20000"/>
              </a:spcBef>
            </a:pPr>
            <a:r>
              <a:rPr lang="en-US" sz="1600" b="1" u="sng" dirty="0">
                <a:latin typeface="Courier New" pitchFamily="49" charset="0"/>
                <a:cs typeface="Courier New" pitchFamily="49" charset="0"/>
              </a:rPr>
              <a:t>Producer Process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nextProduced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while(1)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nextProduced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getItem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while(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ctr == BUF_SIZE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   ; //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full, do nothing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[in] =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nextProduced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in = (in + 1) % BUF_SIZE;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++; 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71623C-D451-C1E9-5DAD-9CFA4AF331EE}"/>
              </a:ext>
            </a:extLst>
          </p:cNvPr>
          <p:cNvSpPr txBox="1">
            <a:spLocks noChangeArrowheads="1"/>
          </p:cNvSpPr>
          <p:nvPr/>
        </p:nvSpPr>
        <p:spPr>
          <a:xfrm>
            <a:off x="4663442" y="3436165"/>
            <a:ext cx="4236718" cy="3299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indent="-342900" algn="ctr">
              <a:lnSpc>
                <a:spcPct val="120000"/>
              </a:lnSpc>
              <a:spcBef>
                <a:spcPct val="20000"/>
              </a:spcBef>
            </a:pPr>
            <a:r>
              <a:rPr lang="en-US" sz="1600" b="1" u="sng" dirty="0">
                <a:latin typeface="Courier New" pitchFamily="49" charset="0"/>
                <a:cs typeface="Courier New" pitchFamily="49" charset="0"/>
              </a:rPr>
              <a:t>Consumer Process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nextConsumed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while(1)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while(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 == 0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   ; //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empty, do nothing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nextConsumed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i="1" dirty="0" err="1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i="1" dirty="0">
                <a:latin typeface="Courier New" pitchFamily="49" charset="0"/>
                <a:cs typeface="Courier New" pitchFamily="49" charset="0"/>
              </a:rPr>
              <a:t>[out];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out = (out + 1) % BUF_SIZE;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--;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sz="1600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B0FA17D-F961-72EF-7EA9-D9B399FD6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0640" y="210502"/>
            <a:ext cx="7172960" cy="533400"/>
          </a:xfrm>
        </p:spPr>
        <p:txBody>
          <a:bodyPr>
            <a:noAutofit/>
          </a:bodyPr>
          <a:lstStyle/>
          <a:p>
            <a:r>
              <a:rPr lang="en-US" sz="3000" dirty="0"/>
              <a:t>Earlier Code…</a:t>
            </a:r>
          </a:p>
        </p:txBody>
      </p:sp>
    </p:spTree>
    <p:extLst>
      <p:ext uri="{BB962C8B-B14F-4D97-AF65-F5344CB8AC3E}">
        <p14:creationId xmlns:p14="http://schemas.microsoft.com/office/powerpoint/2010/main" val="1150088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146715"/>
            <a:ext cx="84582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kern="0" dirty="0"/>
              <a:t>Producer and Consumer share the following data structures: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E7AF17EA-B588-7952-B24F-211CFF56B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09" y="3463010"/>
            <a:ext cx="7818120" cy="255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altLang="en-US" b="1" kern="0" dirty="0">
                <a:solidFill>
                  <a:srgbClr val="C00000"/>
                </a:solidFill>
              </a:rPr>
              <a:t>n</a:t>
            </a:r>
            <a:r>
              <a:rPr lang="en-US" altLang="en-US" kern="0" dirty="0"/>
              <a:t> is the number of buffers in pool, each capable of holding one item</a:t>
            </a:r>
          </a:p>
          <a:p>
            <a:pPr eaLnBrk="1" hangingPunct="1">
              <a:spcBef>
                <a:spcPts val="600"/>
              </a:spcBef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altLang="en-US" b="1" kern="0" dirty="0">
                <a:solidFill>
                  <a:srgbClr val="C00000"/>
                </a:solidFill>
              </a:rPr>
              <a:t>Mutex</a:t>
            </a:r>
            <a:r>
              <a:rPr lang="en-US" altLang="en-US" kern="0" dirty="0"/>
              <a:t> semaphore provides mutual exclusion for accesses to buffer pool </a:t>
            </a:r>
          </a:p>
          <a:p>
            <a:pPr eaLnBrk="1" hangingPunct="1">
              <a:spcBef>
                <a:spcPts val="600"/>
              </a:spcBef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altLang="en-US" b="1" kern="0" dirty="0">
                <a:solidFill>
                  <a:srgbClr val="C00000"/>
                </a:solidFill>
              </a:rPr>
              <a:t>Empty</a:t>
            </a:r>
            <a:r>
              <a:rPr lang="en-US" altLang="en-US" kern="0" dirty="0"/>
              <a:t> &amp; </a:t>
            </a:r>
            <a:r>
              <a:rPr lang="en-US" altLang="en-US" b="1" kern="0" dirty="0">
                <a:solidFill>
                  <a:srgbClr val="C00000"/>
                </a:solidFill>
              </a:rPr>
              <a:t>Full</a:t>
            </a:r>
            <a:r>
              <a:rPr lang="en-US" altLang="en-US" kern="0" dirty="0"/>
              <a:t> semaphores count number of empty &amp; full buffers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45DE2-4896-AC27-543B-60853406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05" y="1841215"/>
            <a:ext cx="3543935" cy="141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77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291D4F5-849B-E763-92E6-1581BA39A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74638"/>
            <a:ext cx="8077200" cy="548322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26173E0-3AAC-A7B8-5750-799276D3BB4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9286F-C779-AE19-B9F7-D1C7A6E5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355996"/>
            <a:ext cx="6802120" cy="41460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291D4F5-849B-E763-92E6-1581BA39A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74638"/>
            <a:ext cx="8077200" cy="548322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26173E0-3AAC-A7B8-5750-799276D3BB4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C965D-1A55-02CE-2425-71A93C70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" y="1380967"/>
            <a:ext cx="8415669" cy="420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71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Solution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010085"/>
            <a:ext cx="8722360" cy="515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#define BUF_SIZE 10  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int buffer[BUF_SIZE],  in = 0,  out = 0;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 err="1"/>
              <a:t>sem_t</a:t>
            </a:r>
            <a:r>
              <a:rPr lang="en-US" altLang="en-US" sz="2000" kern="0" dirty="0"/>
              <a:t>   empty,   full,   mutex;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int main() {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pthread_t</a:t>
            </a:r>
            <a:r>
              <a:rPr lang="en-US" altLang="en-US" sz="2000" kern="0" dirty="0"/>
              <a:t>  </a:t>
            </a:r>
            <a:r>
              <a:rPr lang="en-US" altLang="en-US" sz="2000" kern="0" dirty="0" err="1"/>
              <a:t>prod_thread</a:t>
            </a:r>
            <a:r>
              <a:rPr lang="en-US" altLang="en-US" sz="2000" kern="0" dirty="0"/>
              <a:t>,  </a:t>
            </a:r>
            <a:r>
              <a:rPr lang="en-US" altLang="en-US" sz="2000" kern="0" dirty="0" err="1"/>
              <a:t>cons_thread</a:t>
            </a:r>
            <a:r>
              <a:rPr lang="en-US" altLang="en-US" sz="2000" kern="0" dirty="0"/>
              <a:t>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sem_init</a:t>
            </a:r>
            <a:r>
              <a:rPr lang="en-US" altLang="en-US" sz="2000" kern="0" dirty="0"/>
              <a:t> (&amp;empty, 0, BUF_SIZE);  </a:t>
            </a:r>
            <a:r>
              <a:rPr lang="en-US" altLang="en-US" sz="2000" kern="0" dirty="0" err="1"/>
              <a:t>sem_init</a:t>
            </a:r>
            <a:r>
              <a:rPr lang="en-US" altLang="en-US" sz="2000" kern="0" dirty="0"/>
              <a:t> (&amp;full, 0, 0);  </a:t>
            </a:r>
            <a:r>
              <a:rPr lang="en-US" altLang="en-US" sz="2000" kern="0" dirty="0" err="1"/>
              <a:t>sem_init</a:t>
            </a:r>
            <a:r>
              <a:rPr lang="en-US" altLang="en-US" sz="2000" kern="0" dirty="0"/>
              <a:t> (&amp;mutex, 0, 1);</a:t>
            </a:r>
          </a:p>
          <a:p>
            <a:pPr marL="0" indent="0" eaLnBrk="1" hangingPunct="1">
              <a:spcBef>
                <a:spcPts val="12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pthread_create</a:t>
            </a:r>
            <a:r>
              <a:rPr lang="en-US" altLang="en-US" sz="2000" kern="0" dirty="0"/>
              <a:t> (&amp;</a:t>
            </a:r>
            <a:r>
              <a:rPr lang="en-US" altLang="en-US" sz="2000" kern="0" dirty="0" err="1"/>
              <a:t>prod_thread</a:t>
            </a:r>
            <a:r>
              <a:rPr lang="en-US" altLang="en-US" sz="2000" kern="0" dirty="0"/>
              <a:t>, NULL, producer, NULL);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pthread_create</a:t>
            </a:r>
            <a:r>
              <a:rPr lang="en-US" altLang="en-US" sz="2000" kern="0" dirty="0"/>
              <a:t> (&amp;</a:t>
            </a:r>
            <a:r>
              <a:rPr lang="en-US" altLang="en-US" sz="2000" kern="0" dirty="0" err="1"/>
              <a:t>cons_thread</a:t>
            </a:r>
            <a:r>
              <a:rPr lang="en-US" altLang="en-US" sz="2000" kern="0" dirty="0"/>
              <a:t>, NULL, consumer, NULL);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pthread_join</a:t>
            </a:r>
            <a:r>
              <a:rPr lang="en-US" altLang="en-US" sz="2000" kern="0" dirty="0"/>
              <a:t> (</a:t>
            </a:r>
            <a:r>
              <a:rPr lang="en-US" altLang="en-US" sz="2000" kern="0" dirty="0" err="1"/>
              <a:t>prod_thread</a:t>
            </a:r>
            <a:r>
              <a:rPr lang="en-US" altLang="en-US" sz="2000" kern="0" dirty="0"/>
              <a:t>, NULL);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pthread_join</a:t>
            </a:r>
            <a:r>
              <a:rPr lang="en-US" altLang="en-US" sz="2000" kern="0" dirty="0"/>
              <a:t> (</a:t>
            </a:r>
            <a:r>
              <a:rPr lang="en-US" altLang="en-US" sz="2000" kern="0" dirty="0" err="1"/>
              <a:t>cons_thread</a:t>
            </a:r>
            <a:r>
              <a:rPr lang="en-US" altLang="en-US" sz="2000" kern="0" dirty="0"/>
              <a:t>, NULL);</a:t>
            </a:r>
          </a:p>
          <a:p>
            <a:pPr marL="0" indent="0" eaLnBrk="1" hangingPunct="1">
              <a:spcBef>
                <a:spcPts val="12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</a:t>
            </a:r>
            <a:r>
              <a:rPr lang="en-US" altLang="en-US" sz="2000" kern="0" dirty="0" err="1"/>
              <a:t>sem_destroy</a:t>
            </a:r>
            <a:r>
              <a:rPr lang="en-US" altLang="en-US" sz="2000" kern="0" dirty="0"/>
              <a:t> (&amp;empty);     </a:t>
            </a:r>
            <a:r>
              <a:rPr lang="en-US" altLang="en-US" sz="2000" kern="0" dirty="0" err="1"/>
              <a:t>sem_destroy</a:t>
            </a:r>
            <a:r>
              <a:rPr lang="en-US" altLang="en-US" sz="2000" kern="0" dirty="0"/>
              <a:t> (&amp;full);     </a:t>
            </a:r>
            <a:r>
              <a:rPr lang="en-US" altLang="en-US" sz="2000" kern="0" dirty="0" err="1"/>
              <a:t>sem_destroy</a:t>
            </a:r>
            <a:r>
              <a:rPr lang="en-US" altLang="en-US" sz="2000" kern="0" dirty="0"/>
              <a:t> (&amp;mutex);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return 0;</a:t>
            </a:r>
          </a:p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Solution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30" y="1230420"/>
            <a:ext cx="3656374" cy="515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void* producer (void* </a:t>
            </a:r>
            <a:r>
              <a:rPr lang="en-US" altLang="en-US" sz="2000" kern="0" dirty="0" err="1"/>
              <a:t>arg</a:t>
            </a:r>
            <a:r>
              <a:rPr lang="en-US" altLang="en-US" sz="2000" kern="0" dirty="0"/>
              <a:t>) {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int item;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while (1) {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item = rand() % 100;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sem_wait</a:t>
            </a:r>
            <a:r>
              <a:rPr lang="en-US" altLang="en-US" sz="2000" kern="0" dirty="0"/>
              <a:t> (&amp;empty);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sem_wait</a:t>
            </a:r>
            <a:r>
              <a:rPr lang="en-US" altLang="en-US" sz="2000" kern="0" dirty="0"/>
              <a:t> (&amp;mutex);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buffer[in] = item;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in = (in + 1) % BUF_SIZE;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sem_post</a:t>
            </a:r>
            <a:r>
              <a:rPr lang="en-US" altLang="en-US" sz="2000" kern="0" dirty="0"/>
              <a:t> (&amp;mutex);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sem_post</a:t>
            </a:r>
            <a:r>
              <a:rPr lang="en-US" altLang="en-US" sz="2000" kern="0" dirty="0"/>
              <a:t> (&amp;full);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sleep (1);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}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}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21C172E4-36B1-A0C7-6A84-A57772A81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596" y="1456393"/>
            <a:ext cx="4067523" cy="469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void* consumer (void* </a:t>
            </a:r>
            <a:r>
              <a:rPr lang="en-US" altLang="en-US" sz="2000" kern="0" dirty="0" err="1"/>
              <a:t>arg</a:t>
            </a:r>
            <a:r>
              <a:rPr lang="en-US" altLang="en-US" sz="2000" kern="0" dirty="0"/>
              <a:t>) {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int item;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while (1) {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sem_wait</a:t>
            </a:r>
            <a:r>
              <a:rPr lang="en-US" altLang="en-US" sz="2000" kern="0" dirty="0"/>
              <a:t> (&amp;full);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sem_wait</a:t>
            </a:r>
            <a:r>
              <a:rPr lang="en-US" altLang="en-US" sz="2000" kern="0" dirty="0"/>
              <a:t> (&amp;mutex);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item = buffer[out];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out = (out + 1) % BUF_SIZE;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sem_post</a:t>
            </a:r>
            <a:r>
              <a:rPr lang="en-US" altLang="en-US" sz="2000" kern="0" dirty="0"/>
              <a:t> (&amp;mutex);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</a:t>
            </a:r>
            <a:r>
              <a:rPr lang="en-US" altLang="en-US" sz="2000" kern="0" dirty="0" err="1"/>
              <a:t>sem_post</a:t>
            </a:r>
            <a:r>
              <a:rPr lang="en-US" altLang="en-US" sz="2000" kern="0" dirty="0"/>
              <a:t> (&amp;empty); 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endParaRPr lang="en-US" altLang="en-US" sz="2000" kern="0" dirty="0"/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     sleep (1); 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     }</a:t>
            </a:r>
          </a:p>
          <a:p>
            <a:pPr marL="0" indent="0" eaLnBrk="1" hangingPunct="1">
              <a:spcBef>
                <a:spcPts val="0"/>
              </a:spcBef>
              <a:buClr>
                <a:srgbClr val="800000"/>
              </a:buClr>
              <a:buNone/>
            </a:pPr>
            <a:r>
              <a:rPr lang="en-US" altLang="en-US" sz="2000" kern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165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B38E3AA-2920-6835-C90D-14506BF82807}"/>
              </a:ext>
            </a:extLst>
          </p:cNvPr>
          <p:cNvGrpSpPr/>
          <p:nvPr/>
        </p:nvGrpSpPr>
        <p:grpSpPr>
          <a:xfrm>
            <a:off x="1119728" y="2968262"/>
            <a:ext cx="3274913" cy="2947711"/>
            <a:chOff x="501810" y="1333500"/>
            <a:chExt cx="4876800" cy="4618028"/>
          </a:xfrm>
        </p:grpSpPr>
        <p:sp>
          <p:nvSpPr>
            <p:cNvPr id="12290" name="Cloud">
              <a:extLst>
                <a:ext uri="{FF2B5EF4-FFF2-40B4-BE49-F238E27FC236}">
                  <a16:creationId xmlns:a16="http://schemas.microsoft.com/office/drawing/2014/main" id="{A3409863-4AB7-0483-DF6C-71CA5911946C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01810" y="1333500"/>
              <a:ext cx="4876800" cy="4191000"/>
            </a:xfrm>
            <a:custGeom>
              <a:avLst/>
              <a:gdLst>
                <a:gd name="T0" fmla="*/ 15127 w 21600"/>
                <a:gd name="T1" fmla="*/ 2095500 h 21600"/>
                <a:gd name="T2" fmla="*/ 2438400 w 21600"/>
                <a:gd name="T3" fmla="*/ 4186537 h 21600"/>
                <a:gd name="T4" fmla="*/ 4872736 w 21600"/>
                <a:gd name="T5" fmla="*/ 2095500 h 21600"/>
                <a:gd name="T6" fmla="*/ 2438400 w 21600"/>
                <a:gd name="T7" fmla="*/ 239624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sz="2000"/>
            </a:p>
          </p:txBody>
        </p:sp>
        <p:pic>
          <p:nvPicPr>
            <p:cNvPr id="12293" name="Picture 7" descr="C:\Documents and Settings\nutt\Application Data\Microsoft\Media Catalog\Downloaded Clips\cl2\BD06385_.wmf">
              <a:extLst>
                <a:ext uri="{FF2B5EF4-FFF2-40B4-BE49-F238E27FC236}">
                  <a16:creationId xmlns:a16="http://schemas.microsoft.com/office/drawing/2014/main" id="{CF20DC0C-0097-3B40-1DED-7C314B21F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210" y="1638300"/>
              <a:ext cx="868363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4" name="Picture 9" descr="C:\Documents and Settings\nutt\Application Data\Microsoft\Media Catalog\Downloaded Clips\cl1\PE04044_.wmf">
              <a:extLst>
                <a:ext uri="{FF2B5EF4-FFF2-40B4-BE49-F238E27FC236}">
                  <a16:creationId xmlns:a16="http://schemas.microsoft.com/office/drawing/2014/main" id="{D4855A2F-054D-5BBA-75F1-37CAA9F7E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110" y="1714500"/>
              <a:ext cx="1363663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5" name="Picture 10" descr="C:\Documents and Settings\nutt\Application Data\Microsoft\Media Catalog\Downloaded Clips\cl29\j0103168.wmf">
              <a:extLst>
                <a:ext uri="{FF2B5EF4-FFF2-40B4-BE49-F238E27FC236}">
                  <a16:creationId xmlns:a16="http://schemas.microsoft.com/office/drawing/2014/main" id="{27FC0154-1D4B-6FC6-C0E0-B47592CCC0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9010" y="2857500"/>
              <a:ext cx="1098550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6" name="Picture 11" descr="C:\Documents and Settings\nutt\Application Data\Microsoft\Media Catalog\Downloaded Clips\cl2a\j0106316.wmf">
              <a:extLst>
                <a:ext uri="{FF2B5EF4-FFF2-40B4-BE49-F238E27FC236}">
                  <a16:creationId xmlns:a16="http://schemas.microsoft.com/office/drawing/2014/main" id="{098C7B42-28F7-8D1E-6B84-DCB6B8A915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6810" y="4000500"/>
              <a:ext cx="1074738" cy="129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8" name="Picture 13" descr="C:\Documents and Settings\nutt\Application Data\Microsoft\Media Catalog\Downloaded Clips\cl3e\j0155839.wmf">
              <a:extLst>
                <a:ext uri="{FF2B5EF4-FFF2-40B4-BE49-F238E27FC236}">
                  <a16:creationId xmlns:a16="http://schemas.microsoft.com/office/drawing/2014/main" id="{605C53E1-1E22-04A9-B73E-B1149E2554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8410" y="3086100"/>
              <a:ext cx="857250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9" name="Text Box 15">
              <a:extLst>
                <a:ext uri="{FF2B5EF4-FFF2-40B4-BE49-F238E27FC236}">
                  <a16:creationId xmlns:a16="http://schemas.microsoft.com/office/drawing/2014/main" id="{CF262499-56D6-F711-673D-35A9510A4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810" y="5524500"/>
              <a:ext cx="2514600" cy="427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Readers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EE2E7F0-8A4C-17F5-2961-C343BDE5A5DF}"/>
              </a:ext>
            </a:extLst>
          </p:cNvPr>
          <p:cNvGrpSpPr/>
          <p:nvPr/>
        </p:nvGrpSpPr>
        <p:grpSpPr>
          <a:xfrm>
            <a:off x="4956776" y="3045561"/>
            <a:ext cx="3095519" cy="2870412"/>
            <a:chOff x="5526247" y="2590800"/>
            <a:chExt cx="3429000" cy="3264466"/>
          </a:xfrm>
        </p:grpSpPr>
        <p:sp>
          <p:nvSpPr>
            <p:cNvPr id="12291" name="Cloud">
              <a:extLst>
                <a:ext uri="{FF2B5EF4-FFF2-40B4-BE49-F238E27FC236}">
                  <a16:creationId xmlns:a16="http://schemas.microsoft.com/office/drawing/2014/main" id="{9EA41BA6-2A4F-0988-90D1-EE5FECD1B021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526247" y="2590800"/>
              <a:ext cx="3429000" cy="2819400"/>
            </a:xfrm>
            <a:custGeom>
              <a:avLst/>
              <a:gdLst>
                <a:gd name="T0" fmla="*/ 10636 w 21600"/>
                <a:gd name="T1" fmla="*/ 1409700 h 21600"/>
                <a:gd name="T2" fmla="*/ 1714500 w 21600"/>
                <a:gd name="T3" fmla="*/ 2816398 h 21600"/>
                <a:gd name="T4" fmla="*/ 3426143 w 21600"/>
                <a:gd name="T5" fmla="*/ 1409700 h 21600"/>
                <a:gd name="T6" fmla="*/ 1714500 w 21600"/>
                <a:gd name="T7" fmla="*/ 161202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sz="2000"/>
            </a:p>
          </p:txBody>
        </p:sp>
        <p:pic>
          <p:nvPicPr>
            <p:cNvPr id="12292" name="Picture 6" descr="C:\Documents and Settings\nutt\Application Data\Microsoft\Media Catalog\Downloaded Clips\cl2\BD06300_.wmf">
              <a:extLst>
                <a:ext uri="{FF2B5EF4-FFF2-40B4-BE49-F238E27FC236}">
                  <a16:creationId xmlns:a16="http://schemas.microsoft.com/office/drawing/2014/main" id="{7A1A0614-A06D-35D5-DB3E-568EB2577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647" y="4038600"/>
              <a:ext cx="1371600" cy="1108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7" name="Picture 12" descr="C:\Documents and Settings\nutt\Application Data\Microsoft\Media Catalog\Downloaded Clips\cl2a\j0106654.wmf">
              <a:extLst>
                <a:ext uri="{FF2B5EF4-FFF2-40B4-BE49-F238E27FC236}">
                  <a16:creationId xmlns:a16="http://schemas.microsoft.com/office/drawing/2014/main" id="{7000EB87-5754-224A-43FE-F1CE77A4C1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2647" y="2819400"/>
              <a:ext cx="1201738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0" name="Text Box 16">
              <a:extLst>
                <a:ext uri="{FF2B5EF4-FFF2-40B4-BE49-F238E27FC236}">
                  <a16:creationId xmlns:a16="http://schemas.microsoft.com/office/drawing/2014/main" id="{751B9064-1C2C-B5A0-F71B-8D435C0FE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2047" y="5486400"/>
              <a:ext cx="2286000" cy="368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Writers</a:t>
              </a:r>
            </a:p>
          </p:txBody>
        </p:sp>
      </p:grpSp>
      <p:sp>
        <p:nvSpPr>
          <p:cNvPr id="12301" name="Rectangle 17">
            <a:extLst>
              <a:ext uri="{FF2B5EF4-FFF2-40B4-BE49-F238E27FC236}">
                <a16:creationId xmlns:a16="http://schemas.microsoft.com/office/drawing/2014/main" id="{C1DA17B5-E2FB-95F3-249B-15FA735DE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3838"/>
            <a:ext cx="8382000" cy="5635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Readers Writers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C5E12C6-0B47-F7B1-D807-7EB9AF82D2C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050EF16A-CAAC-234C-7117-2085C50AD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116234"/>
            <a:ext cx="8580846" cy="144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kern="0" dirty="0"/>
              <a:t>Consider a DB </a:t>
            </a:r>
            <a:r>
              <a:rPr lang="en-US" altLang="en-US" i="1" kern="0" dirty="0"/>
              <a:t>(or file) </a:t>
            </a:r>
            <a:r>
              <a:rPr lang="en-US" altLang="en-US" kern="0" dirty="0"/>
              <a:t>shared among concurrent processes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kern="0" dirty="0"/>
              <a:t>some processes want to read the DB – </a:t>
            </a:r>
            <a:r>
              <a:rPr lang="en-US" altLang="en-US" b="1" kern="0" dirty="0">
                <a:solidFill>
                  <a:srgbClr val="800000"/>
                </a:solidFill>
              </a:rPr>
              <a:t>readers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kern="0" dirty="0"/>
              <a:t>others want to read &amp; write the DB – </a:t>
            </a:r>
            <a:r>
              <a:rPr lang="en-US" altLang="en-US" b="1" kern="0" dirty="0">
                <a:solidFill>
                  <a:srgbClr val="800000"/>
                </a:solidFill>
              </a:rPr>
              <a:t>writers</a:t>
            </a:r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86235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86" y="2763885"/>
            <a:ext cx="8580846" cy="98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sz="2300" kern="0" dirty="0"/>
              <a:t>If multiple readers access shared data simultaneously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altLang="en-US" sz="2300" kern="0" dirty="0"/>
              <a:t>no adverse effects</a:t>
            </a:r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sz="2300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sz="2300" kern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7CE081-FA5D-0FA9-4E00-452513EF2BBE}"/>
              </a:ext>
            </a:extLst>
          </p:cNvPr>
          <p:cNvGrpSpPr/>
          <p:nvPr/>
        </p:nvGrpSpPr>
        <p:grpSpPr>
          <a:xfrm>
            <a:off x="6220283" y="4158865"/>
            <a:ext cx="2521553" cy="1540532"/>
            <a:chOff x="5562600" y="2057400"/>
            <a:chExt cx="2895600" cy="1981200"/>
          </a:xfrm>
        </p:grpSpPr>
        <p:sp>
          <p:nvSpPr>
            <p:cNvPr id="5" name="Oval 37">
              <a:extLst>
                <a:ext uri="{FF2B5EF4-FFF2-40B4-BE49-F238E27FC236}">
                  <a16:creationId xmlns:a16="http://schemas.microsoft.com/office/drawing/2014/main" id="{1EB0DF9D-8E8E-E819-5E74-49EDF932E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0574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6" name="Oval 38">
              <a:extLst>
                <a:ext uri="{FF2B5EF4-FFF2-40B4-BE49-F238E27FC236}">
                  <a16:creationId xmlns:a16="http://schemas.microsoft.com/office/drawing/2014/main" id="{0A419187-6A68-C4E8-B54D-6CC55A29D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2098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7" name="Oval 39">
              <a:extLst>
                <a:ext uri="{FF2B5EF4-FFF2-40B4-BE49-F238E27FC236}">
                  <a16:creationId xmlns:a16="http://schemas.microsoft.com/office/drawing/2014/main" id="{7D47834A-D5C4-C3F1-F506-E9F2F3A22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23622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8" name="Oval 40">
              <a:extLst>
                <a:ext uri="{FF2B5EF4-FFF2-40B4-BE49-F238E27FC236}">
                  <a16:creationId xmlns:a16="http://schemas.microsoft.com/office/drawing/2014/main" id="{4997BEDA-E56D-BA88-5B0D-C6E4CC52E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5146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9" name="Oval 41">
              <a:extLst>
                <a:ext uri="{FF2B5EF4-FFF2-40B4-BE49-F238E27FC236}">
                  <a16:creationId xmlns:a16="http://schemas.microsoft.com/office/drawing/2014/main" id="{35EF153D-1468-0383-D5B7-81263A5FC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26670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6A42F696-D4FB-9F63-8309-C070178B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8194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1" name="Oval 43">
              <a:extLst>
                <a:ext uri="{FF2B5EF4-FFF2-40B4-BE49-F238E27FC236}">
                  <a16:creationId xmlns:a16="http://schemas.microsoft.com/office/drawing/2014/main" id="{E2C15569-0C5A-F6EC-824C-CF08BFB0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9718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2" name="Oval 44">
              <a:extLst>
                <a:ext uri="{FF2B5EF4-FFF2-40B4-BE49-F238E27FC236}">
                  <a16:creationId xmlns:a16="http://schemas.microsoft.com/office/drawing/2014/main" id="{8B495A54-743A-83F8-31DD-40A600782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124200"/>
              <a:ext cx="18288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Writer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32BB31-F5D7-F4E9-CCA2-32711FBA38F0}"/>
              </a:ext>
            </a:extLst>
          </p:cNvPr>
          <p:cNvGrpSpPr/>
          <p:nvPr/>
        </p:nvGrpSpPr>
        <p:grpSpPr>
          <a:xfrm>
            <a:off x="1026367" y="4165736"/>
            <a:ext cx="4985460" cy="1959893"/>
            <a:chOff x="838200" y="3886200"/>
            <a:chExt cx="5938985" cy="2533710"/>
          </a:xfrm>
        </p:grpSpPr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FB3E044A-5829-194C-E689-2105754A6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200" y="5334000"/>
              <a:ext cx="6858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E651AD97-958E-787C-2AC2-76D810ED1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5181600"/>
              <a:ext cx="762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1FA0AB18-D86D-D4A9-74F0-CEA732349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029200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121A7544-1D7F-9DED-15F3-496F3C513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9530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6AF6A564-AEA9-84A7-E6AD-3CC65AB0E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4800600"/>
              <a:ext cx="1295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E1CBD318-6C1E-A3F0-B8A2-743A8B30D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4572000"/>
              <a:ext cx="1524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8D9D5207-FF34-C540-D74D-97087DDE1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4419600"/>
              <a:ext cx="1600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F60CD6CA-3369-7A02-C9CD-8468A1B1C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41910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2" name="Oval 28">
              <a:extLst>
                <a:ext uri="{FF2B5EF4-FFF2-40B4-BE49-F238E27FC236}">
                  <a16:creationId xmlns:a16="http://schemas.microsoft.com/office/drawing/2014/main" id="{0D64CCFD-B1EB-6950-3E51-5F8F08B6E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8862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3" name="Oval 29">
              <a:extLst>
                <a:ext uri="{FF2B5EF4-FFF2-40B4-BE49-F238E27FC236}">
                  <a16:creationId xmlns:a16="http://schemas.microsoft.com/office/drawing/2014/main" id="{B4413FD3-FF76-0FB0-D7A4-039021EE5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40386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4" name="Oval 30">
              <a:extLst>
                <a:ext uri="{FF2B5EF4-FFF2-40B4-BE49-F238E27FC236}">
                  <a16:creationId xmlns:a16="http://schemas.microsoft.com/office/drawing/2014/main" id="{8E2AD52F-FF25-5635-236D-3FCD5B00A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5" name="Oval 31">
              <a:extLst>
                <a:ext uri="{FF2B5EF4-FFF2-40B4-BE49-F238E27FC236}">
                  <a16:creationId xmlns:a16="http://schemas.microsoft.com/office/drawing/2014/main" id="{4EF68517-58CC-0AC2-B5D7-3CE12C90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3434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6" name="Oval 32">
              <a:extLst>
                <a:ext uri="{FF2B5EF4-FFF2-40B4-BE49-F238E27FC236}">
                  <a16:creationId xmlns:a16="http://schemas.microsoft.com/office/drawing/2014/main" id="{373A514B-318F-0B91-4A5E-8D436840F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44958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7" name="Oval 33">
              <a:extLst>
                <a:ext uri="{FF2B5EF4-FFF2-40B4-BE49-F238E27FC236}">
                  <a16:creationId xmlns:a16="http://schemas.microsoft.com/office/drawing/2014/main" id="{3457EE39-942E-467A-B3BC-E08F15B6A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46482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8" name="Oval 34">
              <a:extLst>
                <a:ext uri="{FF2B5EF4-FFF2-40B4-BE49-F238E27FC236}">
                  <a16:creationId xmlns:a16="http://schemas.microsoft.com/office/drawing/2014/main" id="{FBB5B2E7-306E-0BFB-06CF-0766A72FB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8006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29" name="Oval 35">
              <a:extLst>
                <a:ext uri="{FF2B5EF4-FFF2-40B4-BE49-F238E27FC236}">
                  <a16:creationId xmlns:a16="http://schemas.microsoft.com/office/drawing/2014/main" id="{503D9C4B-AA71-EF1F-EA5F-A7BDD76B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49530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30" name="Oval 36">
              <a:extLst>
                <a:ext uri="{FF2B5EF4-FFF2-40B4-BE49-F238E27FC236}">
                  <a16:creationId xmlns:a16="http://schemas.microsoft.com/office/drawing/2014/main" id="{4607FFD6-321A-A897-EBAA-42F621ECC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5105400"/>
              <a:ext cx="1981200" cy="914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Reader</a:t>
              </a:r>
            </a:p>
          </p:txBody>
        </p:sp>
        <p:sp>
          <p:nvSpPr>
            <p:cNvPr id="31" name="AutoShape 45">
              <a:extLst>
                <a:ext uri="{FF2B5EF4-FFF2-40B4-BE49-F238E27FC236}">
                  <a16:creationId xmlns:a16="http://schemas.microsoft.com/office/drawing/2014/main" id="{071BB232-029B-E098-66CA-99CB54E9C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572000"/>
              <a:ext cx="2057400" cy="114300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chemeClr val="hlink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32" name="Text Box 46">
              <a:extLst>
                <a:ext uri="{FF2B5EF4-FFF2-40B4-BE49-F238E27FC236}">
                  <a16:creationId xmlns:a16="http://schemas.microsoft.com/office/drawing/2014/main" id="{E4B34C3C-E900-27CC-AE8C-97075D971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365" y="6019800"/>
              <a:ext cx="22958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Shared Resource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1A9921B-4E36-E329-F867-3BDCA7B6D309}"/>
              </a:ext>
            </a:extLst>
          </p:cNvPr>
          <p:cNvSpPr txBox="1"/>
          <p:nvPr/>
        </p:nvSpPr>
        <p:spPr>
          <a:xfrm>
            <a:off x="360679" y="1075741"/>
            <a:ext cx="858084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Goal is to allow: </a:t>
            </a:r>
            <a:b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readers to access resource simultaneously,</a:t>
            </a:r>
            <a:b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one writer to access resource at a time, </a:t>
            </a:r>
            <a:b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300" i="1" kern="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no reader to access the resource while a writer is writing</a:t>
            </a:r>
          </a:p>
        </p:txBody>
      </p:sp>
    </p:spTree>
    <p:extLst>
      <p:ext uri="{BB962C8B-B14F-4D97-AF65-F5344CB8AC3E}">
        <p14:creationId xmlns:p14="http://schemas.microsoft.com/office/powerpoint/2010/main" val="3341468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Readers Writers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" y="1034954"/>
            <a:ext cx="8580846" cy="252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sz="2300" kern="0" dirty="0"/>
              <a:t>But if a writer and some other process </a:t>
            </a:r>
            <a:r>
              <a:rPr lang="en-US" altLang="en-US" sz="2300" i="1" kern="0" dirty="0"/>
              <a:t>(reader or writer) </a:t>
            </a:r>
            <a:r>
              <a:rPr lang="en-US" altLang="en-US" sz="2300" kern="0" dirty="0"/>
              <a:t>access the DB simultaneously</a:t>
            </a:r>
          </a:p>
          <a:p>
            <a:pPr lvl="1" eaLnBrk="1" hangingPunct="1">
              <a:spcBef>
                <a:spcPts val="0"/>
              </a:spcBef>
              <a:buClr>
                <a:srgbClr val="800000"/>
              </a:buClr>
            </a:pPr>
            <a:r>
              <a:rPr lang="en-US" altLang="en-US" kern="0" dirty="0"/>
              <a:t>results may be uncertain</a:t>
            </a:r>
          </a:p>
          <a:p>
            <a:pPr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sz="2300" kern="0" dirty="0"/>
              <a:t>To avoid data inconsistency, requires that…</a:t>
            </a:r>
          </a:p>
          <a:p>
            <a:pPr marL="0" indent="0" algn="ctr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i="1" kern="0" dirty="0">
                <a:solidFill>
                  <a:srgbClr val="0033CC"/>
                </a:solidFill>
              </a:rPr>
              <a:t>“writers have exclusive access to shared DB, while writing”</a:t>
            </a:r>
          </a:p>
          <a:p>
            <a:pPr marL="0" lvl="1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b="1" i="1" kern="0" dirty="0">
                <a:solidFill>
                  <a:srgbClr val="C00000"/>
                </a:solidFill>
              </a:rPr>
              <a:t>		Synchronization problem…!!!</a:t>
            </a:r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sz="2300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sz="2300" kern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0E235E-BDC4-DE4B-D357-B32B4317F511}"/>
              </a:ext>
            </a:extLst>
          </p:cNvPr>
          <p:cNvGrpSpPr/>
          <p:nvPr/>
        </p:nvGrpSpPr>
        <p:grpSpPr>
          <a:xfrm>
            <a:off x="914037" y="3972755"/>
            <a:ext cx="2568098" cy="1425130"/>
            <a:chOff x="1283062" y="3850640"/>
            <a:chExt cx="2568098" cy="1425130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C29D109D-3ED3-F726-67FF-FEFB3D1C8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062" y="3850640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E7999210-0069-8B2A-9012-DE6BC2F26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352" y="3952435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82023C6A-5B70-DEAE-8140-3AE7883DA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643" y="4054230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BE04DD6B-1777-DD56-8D0D-825724E09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933" y="4156025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EFDE2B36-CBBE-8F72-CE21-46742C252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2224" y="4257820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0A4FA979-FD8C-338F-8881-091058A89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4514" y="4359615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CF464B71-4B75-B593-0563-D86FFFACF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804" y="4461410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57E8DA62-781C-D29F-642A-F91C365D4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095" y="4563205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Reader</a:t>
              </a: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B4CCEBC4-6ED8-0EF8-3EA4-B7C8BD5B3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1385" y="4665000"/>
              <a:ext cx="158977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Reader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DF9C9C-8D32-C14F-7C1A-FB69F3F478C5}"/>
              </a:ext>
            </a:extLst>
          </p:cNvPr>
          <p:cNvGrpSpPr/>
          <p:nvPr/>
        </p:nvGrpSpPr>
        <p:grpSpPr>
          <a:xfrm>
            <a:off x="6260791" y="3704616"/>
            <a:ext cx="2201227" cy="1221541"/>
            <a:chOff x="6028736" y="3874392"/>
            <a:chExt cx="2201227" cy="1221541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74FA8763-96AE-8E4F-6543-FE79087CD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8736" y="3874392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0A553862-FF7F-487A-1BEF-EF041B8AB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1026" y="3976187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FB2DD24E-733E-04D0-CD32-AA0767D2E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3317" y="4077982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A1D73324-D678-2FB4-2769-69294EA90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607" y="4179777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677E1120-D6E5-E3A3-9C1E-DD0AEFF5E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7897" y="4281572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C4869344-DA9D-0360-9A69-16439387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188" y="4383367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FBAD8439-B9EF-E282-BCB5-09C265C5B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478" y="4485163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Writer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BF5F6D4-BAE9-BF55-5642-2DE76BBA30B7}"/>
              </a:ext>
            </a:extLst>
          </p:cNvPr>
          <p:cNvGrpSpPr/>
          <p:nvPr/>
        </p:nvGrpSpPr>
        <p:grpSpPr>
          <a:xfrm>
            <a:off x="3986835" y="5394024"/>
            <a:ext cx="3863731" cy="1081613"/>
            <a:chOff x="3864546" y="5469493"/>
            <a:chExt cx="3863731" cy="1081613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3FE7AA7-C215-D6D1-743F-7163EFA12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274" y="5523784"/>
              <a:ext cx="1650920" cy="61077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BF5BA357-BD6B-32F6-A524-32547BA59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546" y="6283854"/>
              <a:ext cx="1842236" cy="267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/>
                <a:t>Shared Resource</a:t>
              </a:r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22FA6A71-E21A-B8B3-4464-9E71FDBB4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792" y="5469493"/>
              <a:ext cx="1467485" cy="61077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Writer</a:t>
              </a: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209D0C24-B90D-2C20-7C6F-F2EA80D22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88194" y="5825776"/>
              <a:ext cx="672597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683648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kern="1200" dirty="0">
                <a:cs typeface="+mn-cs"/>
              </a:rPr>
              <a:t>Readers Writers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057024"/>
            <a:ext cx="8580846" cy="543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600"/>
              </a:spcBef>
              <a:buClr>
                <a:srgbClr val="800000"/>
              </a:buClr>
              <a:buNone/>
            </a:pPr>
            <a:r>
              <a:rPr lang="en-US" altLang="en-US" kern="0" dirty="0"/>
              <a:t>Several variations…</a:t>
            </a:r>
            <a:endParaRPr lang="en-US" altLang="en-US" b="1" kern="0" dirty="0">
              <a:solidFill>
                <a:srgbClr val="800000"/>
              </a:solidFill>
            </a:endParaRPr>
          </a:p>
          <a:p>
            <a:pPr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altLang="en-US" b="1" kern="0" dirty="0">
                <a:solidFill>
                  <a:srgbClr val="C00000"/>
                </a:solidFill>
              </a:rPr>
              <a:t>First Readers Writers problem</a:t>
            </a:r>
          </a:p>
          <a:p>
            <a:pPr marL="0" lvl="1" indent="0" algn="ctr" eaLnBrk="1" hangingPunct="1">
              <a:spcBef>
                <a:spcPts val="1200"/>
              </a:spcBef>
              <a:buClr>
                <a:srgbClr val="800000"/>
              </a:buClr>
              <a:buNone/>
            </a:pPr>
            <a:r>
              <a:rPr lang="en-US" altLang="en-US" i="1" kern="0" dirty="0">
                <a:solidFill>
                  <a:srgbClr val="0033CC"/>
                </a:solidFill>
              </a:rPr>
              <a:t>no reader be kept waiting, unless a writer has already obtained permission to use the shared object</a:t>
            </a:r>
          </a:p>
          <a:p>
            <a:pPr lvl="1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readers are given priority over writers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if a reader is accessing the resource, and another reader arrives, new reader is allowed access immediately, even if a writer is waiting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ui-sans-serif"/>
              </a:rPr>
              <a:t>w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riters must wait, until all readers who arrive during this wait, finish accessing the resource</a:t>
            </a:r>
            <a:endParaRPr lang="en-US" altLang="en-US" kern="0" dirty="0"/>
          </a:p>
          <a:p>
            <a:pPr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Possible </a:t>
            </a:r>
            <a:r>
              <a:rPr lang="en-US" i="1" dirty="0">
                <a:solidFill>
                  <a:srgbClr val="C00000"/>
                </a:solidFill>
                <a:highlight>
                  <a:srgbClr val="FFFFFF"/>
                </a:highlight>
                <a:latin typeface="ui-sans-serif"/>
              </a:rPr>
              <a:t>starvation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of </a:t>
            </a:r>
            <a:r>
              <a:rPr lang="en-US" i="1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ui-sans-serif"/>
              </a:rPr>
              <a:t>Writers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if there is constant stream of readers</a:t>
            </a:r>
            <a:endParaRPr lang="en-US" altLang="en-US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4093518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10CD44-2CA9-A8D2-1AB5-806394236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487362"/>
          </a:xfrm>
        </p:spPr>
        <p:txBody>
          <a:bodyPr/>
          <a:lstStyle/>
          <a:p>
            <a:pPr eaLnBrk="1" hangingPunct="1"/>
            <a:r>
              <a:rPr lang="en-US" altLang="en-US" kern="1200" dirty="0">
                <a:cs typeface="+mn-cs"/>
              </a:rPr>
              <a:t>Readers Writers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8A811A-27E7-F2E9-9664-B3D39987F84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648D7E4-78C7-6664-DF25-A63829C7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" y="1141104"/>
            <a:ext cx="8580846" cy="543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altLang="en-US" b="1" kern="0" dirty="0">
                <a:solidFill>
                  <a:srgbClr val="C00000"/>
                </a:solidFill>
              </a:rPr>
              <a:t>Second Readers Writers problem</a:t>
            </a:r>
          </a:p>
          <a:p>
            <a:pPr marL="0" lvl="1" indent="0" algn="ctr" eaLnBrk="1" hangingPunct="1">
              <a:spcBef>
                <a:spcPts val="1200"/>
              </a:spcBef>
              <a:buClr>
                <a:srgbClr val="800000"/>
              </a:buClr>
              <a:buNone/>
            </a:pPr>
            <a:r>
              <a:rPr lang="en-US" altLang="en-US" i="1" kern="0" dirty="0">
                <a:solidFill>
                  <a:srgbClr val="0033CC"/>
                </a:solidFill>
              </a:rPr>
              <a:t>once a writer is ready, </a:t>
            </a:r>
            <a:br>
              <a:rPr lang="en-US" altLang="en-US" i="1" kern="0" dirty="0">
                <a:solidFill>
                  <a:srgbClr val="0033CC"/>
                </a:solidFill>
              </a:rPr>
            </a:br>
            <a:r>
              <a:rPr lang="en-US" altLang="en-US" i="1" kern="0" dirty="0">
                <a:solidFill>
                  <a:srgbClr val="0033CC"/>
                </a:solidFill>
              </a:rPr>
              <a:t>that writer performs its write as soon as possible</a:t>
            </a:r>
          </a:p>
          <a:p>
            <a:pPr lvl="1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writers are given priority over readers</a:t>
            </a:r>
          </a:p>
          <a:p>
            <a:pPr lvl="1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if a writer is waiting to access the resource, no new readers are allowed to start reading, until the writer has finished writing</a:t>
            </a:r>
          </a:p>
          <a:p>
            <a:pPr lvl="1" eaLnBrk="1" hangingPunct="1">
              <a:spcBef>
                <a:spcPts val="12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prevents writer starvation if there are always readers trying to access the resource</a:t>
            </a:r>
            <a:endParaRPr lang="en-US" altLang="en-US" kern="0" dirty="0"/>
          </a:p>
          <a:p>
            <a:pPr eaLnBrk="1" hangingPunct="1">
              <a:spcBef>
                <a:spcPts val="1800"/>
              </a:spcBef>
              <a:buClr>
                <a:srgbClr val="800000"/>
              </a:buClr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Possible </a:t>
            </a:r>
            <a:r>
              <a:rPr lang="en-US" i="1" dirty="0">
                <a:solidFill>
                  <a:srgbClr val="C00000"/>
                </a:solidFill>
                <a:highlight>
                  <a:srgbClr val="FFFFFF"/>
                </a:highlight>
                <a:latin typeface="ui-sans-serif"/>
              </a:rPr>
              <a:t>starvation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of </a:t>
            </a:r>
            <a:r>
              <a:rPr lang="en-US" i="1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ui-sans-serif"/>
              </a:rPr>
              <a:t>Readers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</a:t>
            </a:r>
          </a:p>
          <a:p>
            <a:pPr lvl="1" eaLnBrk="1" hangingPunct="1">
              <a:spcBef>
                <a:spcPts val="600"/>
              </a:spcBef>
              <a:buClr>
                <a:srgbClr val="8000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if there is constant stream of writers</a:t>
            </a:r>
            <a:endParaRPr lang="en-US" altLang="en-US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  <a:p>
            <a:pPr eaLnBrk="1" hangingPunct="1">
              <a:spcBef>
                <a:spcPts val="600"/>
              </a:spcBef>
              <a:buClr>
                <a:srgbClr val="800000"/>
              </a:buClr>
            </a:pP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395437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6F0E716-6CCA-8F5C-1547-6DFB3A9A9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480" y="193358"/>
            <a:ext cx="7716520" cy="558482"/>
          </a:xfrm>
        </p:spPr>
        <p:txBody>
          <a:bodyPr/>
          <a:lstStyle/>
          <a:p>
            <a:pPr eaLnBrk="1" hangingPunct="1"/>
            <a:r>
              <a:rPr lang="en-US" altLang="en-US" dirty="0"/>
              <a:t>First Readers Writers Problem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D8CA244-31EA-BD1C-1B3A-8B4207E72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931" y="1078388"/>
            <a:ext cx="4956629" cy="1213506"/>
          </a:xfrm>
        </p:spPr>
        <p:txBody>
          <a:bodyPr/>
          <a:lstStyle/>
          <a:p>
            <a:pPr marL="0" indent="0" eaLnBrk="1" hangingPunct="1">
              <a:spcBef>
                <a:spcPct val="1500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Solution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en-US" sz="2300" dirty="0"/>
              <a:t>This solution uses following data structures:</a:t>
            </a:r>
            <a:br>
              <a:rPr lang="en-US" altLang="en-US" sz="2300" dirty="0"/>
            </a:br>
            <a:r>
              <a:rPr lang="en-US" altLang="en-US" sz="2800" dirty="0"/>
              <a:t>	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69011C0-B464-FBE8-A8ED-2FFA3EB968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BA422-F9C2-BF68-77DC-A6BC2B40F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359" y="1219200"/>
            <a:ext cx="3215589" cy="9363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8B98F1E7-E87F-4E38-D207-51D2AFC37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1" y="2415242"/>
            <a:ext cx="8203475" cy="42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284163" indent="-284163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200" b="1" kern="0" dirty="0">
                <a:solidFill>
                  <a:srgbClr val="C00000"/>
                </a:solidFill>
              </a:rPr>
              <a:t>read_count </a:t>
            </a:r>
            <a:r>
              <a:rPr lang="en-US" altLang="en-US" sz="2200" kern="0" dirty="0"/>
              <a:t>keeps track of how many processes are currently reading</a:t>
            </a:r>
          </a:p>
          <a:p>
            <a:pPr marL="284163" indent="-284163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200" b="1" kern="0" dirty="0">
                <a:solidFill>
                  <a:srgbClr val="C00000"/>
                </a:solidFill>
              </a:rPr>
              <a:t>mutex</a:t>
            </a:r>
            <a:r>
              <a:rPr lang="en-US" altLang="en-US" sz="2200" kern="0" dirty="0"/>
              <a:t> semaphore ensures mutual exclusion when </a:t>
            </a:r>
            <a:r>
              <a:rPr lang="en-US" altLang="en-US" sz="2200" b="1" kern="0" dirty="0">
                <a:solidFill>
                  <a:srgbClr val="C00000"/>
                </a:solidFill>
              </a:rPr>
              <a:t>read_count </a:t>
            </a:r>
            <a:r>
              <a:rPr lang="en-US" altLang="en-US" sz="2200" kern="0" dirty="0"/>
              <a:t>is updated</a:t>
            </a:r>
          </a:p>
          <a:p>
            <a:pPr marL="284163" indent="-284163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200" b="1" kern="0" dirty="0" err="1">
                <a:solidFill>
                  <a:srgbClr val="C00000"/>
                </a:solidFill>
              </a:rPr>
              <a:t>rw_mutex</a:t>
            </a:r>
            <a:r>
              <a:rPr lang="en-US" altLang="en-US" sz="2200" b="1" kern="0" dirty="0">
                <a:solidFill>
                  <a:srgbClr val="C00000"/>
                </a:solidFill>
              </a:rPr>
              <a:t> </a:t>
            </a:r>
            <a:r>
              <a:rPr lang="en-US" altLang="en-US" sz="2200" kern="0" dirty="0"/>
              <a:t>semaphore… </a:t>
            </a:r>
          </a:p>
          <a:p>
            <a:pPr marL="741363" lvl="1" indent="-284163" eaLnBrk="1" hangingPunct="1">
              <a:spcBef>
                <a:spcPts val="600"/>
              </a:spcBef>
            </a:pPr>
            <a:r>
              <a:rPr lang="en-US" altLang="en-US" sz="2200" kern="0" dirty="0"/>
              <a:t>common to readers &amp; writers </a:t>
            </a:r>
          </a:p>
          <a:p>
            <a:pPr marL="741363" lvl="1" indent="-284163" eaLnBrk="1" hangingPunct="1">
              <a:spcBef>
                <a:spcPts val="600"/>
              </a:spcBef>
            </a:pPr>
            <a:r>
              <a:rPr lang="en-US" altLang="en-US" i="1" kern="0" dirty="0">
                <a:solidFill>
                  <a:srgbClr val="0033CC"/>
                </a:solidFill>
              </a:rPr>
              <a:t>writers</a:t>
            </a:r>
            <a:r>
              <a:rPr lang="en-US" altLang="en-US" kern="0" dirty="0"/>
              <a:t> – acts as mutual exclusion semaphore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i="1" kern="0" dirty="0">
                <a:solidFill>
                  <a:srgbClr val="0033CC"/>
                </a:solidFill>
              </a:rPr>
              <a:t>readers</a:t>
            </a:r>
            <a:r>
              <a:rPr lang="en-US" altLang="en-US" kern="0" dirty="0"/>
              <a:t> – used by ﬁrst &amp; last reader, that enter/exit the CS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kern="0" dirty="0"/>
              <a:t>not used by those readers, who enter or exit while other readers are in their CS</a:t>
            </a:r>
          </a:p>
          <a:p>
            <a:pPr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800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07E5B3CF-F0D9-3CD3-0671-406BD8A04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3657" y="213678"/>
            <a:ext cx="8382000" cy="588962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Writer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5623855-4A9D-B646-5328-C76C71C6E55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BCDA2-509A-45E6-1AEE-10DC87F1C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4" y="1384861"/>
            <a:ext cx="5692601" cy="27246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5">
            <a:extLst>
              <a:ext uri="{FF2B5EF4-FFF2-40B4-BE49-F238E27FC236}">
                <a16:creationId xmlns:a16="http://schemas.microsoft.com/office/drawing/2014/main" id="{0BC982DB-F2FD-65E3-CD43-A9DED23D2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82000" cy="56896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Reader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FCE2FBD-79E8-CF24-8F6B-0E8A8FF68A1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6BC4F-8A5D-2176-7854-09187DC03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12" y="1126497"/>
            <a:ext cx="6086233" cy="51739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6F0E716-6CCA-8F5C-1547-6DFB3A9A9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480" y="193358"/>
            <a:ext cx="7716520" cy="558482"/>
          </a:xfrm>
        </p:spPr>
        <p:txBody>
          <a:bodyPr/>
          <a:lstStyle/>
          <a:p>
            <a:pPr eaLnBrk="1" hangingPunct="1"/>
            <a:r>
              <a:rPr lang="en-US" altLang="en-US" dirty="0"/>
              <a:t>First Readers Writers Problem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D8CA244-31EA-BD1C-1B3A-8B4207E72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931" y="1188720"/>
            <a:ext cx="8446589" cy="5201192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Note that, if a </a:t>
            </a:r>
            <a:r>
              <a:rPr lang="en-US" altLang="en-US" dirty="0">
                <a:solidFill>
                  <a:srgbClr val="0033CC"/>
                </a:solidFill>
              </a:rPr>
              <a:t>writer</a:t>
            </a:r>
            <a:r>
              <a:rPr lang="en-US" altLang="en-US" dirty="0"/>
              <a:t> is in CS, and </a:t>
            </a:r>
            <a:r>
              <a:rPr lang="en-US" altLang="en-US" b="1" dirty="0">
                <a:solidFill>
                  <a:srgbClr val="C00000"/>
                </a:solidFill>
              </a:rPr>
              <a:t>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33CC"/>
                </a:solidFill>
              </a:rPr>
              <a:t>readers</a:t>
            </a:r>
            <a:r>
              <a:rPr lang="en-US" altLang="en-US" dirty="0"/>
              <a:t> are waiting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solidFill>
                  <a:srgbClr val="C00000"/>
                </a:solidFill>
              </a:rPr>
              <a:t>one</a:t>
            </a:r>
            <a:r>
              <a:rPr lang="en-US" altLang="en-US" dirty="0"/>
              <a:t> reader is queued on </a:t>
            </a:r>
            <a:r>
              <a:rPr lang="en-US" altLang="en-US" b="1" dirty="0">
                <a:solidFill>
                  <a:srgbClr val="C00000"/>
                </a:solidFill>
              </a:rPr>
              <a:t>rw_mutex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and </a:t>
            </a:r>
            <a:r>
              <a:rPr lang="en-US" altLang="en-US" dirty="0">
                <a:solidFill>
                  <a:srgbClr val="C00000"/>
                </a:solidFill>
              </a:rPr>
              <a:t>n-1</a:t>
            </a:r>
            <a:r>
              <a:rPr lang="en-US" altLang="en-US" dirty="0"/>
              <a:t> readers are queued on </a:t>
            </a:r>
            <a:r>
              <a:rPr lang="en-US" altLang="en-US" b="1" dirty="0">
                <a:solidFill>
                  <a:srgbClr val="C00000"/>
                </a:solidFill>
              </a:rPr>
              <a:t>mutex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en-US" dirty="0"/>
              <a:t>Also, when a writer executes </a:t>
            </a:r>
            <a:r>
              <a:rPr lang="en-US" altLang="en-US" b="1" dirty="0">
                <a:solidFill>
                  <a:srgbClr val="C00000"/>
                </a:solidFill>
              </a:rPr>
              <a:t>signal (rw_mutex)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may resume the execution of…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en-US" dirty="0"/>
              <a:t>either the waiting readers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en-US" dirty="0"/>
              <a:t>or a single waiting writer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selection is made by scheduler</a:t>
            </a:r>
          </a:p>
          <a:p>
            <a:pPr eaLnBrk="1" hangingPunct="1"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69011C0-B464-FBE8-A8ED-2FFA3EB968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819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C8AE096-92EA-E991-A1F0-BD66F679D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196533"/>
            <a:ext cx="7441096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 Philosophers Problem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0B38963-A70A-7ADC-036E-FE1ABA46E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5440" y="1066800"/>
            <a:ext cx="8657046" cy="3058160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dirty="0"/>
              <a:t>Five philosophers, spend their lives just </a:t>
            </a:r>
            <a:r>
              <a:rPr lang="en-US" altLang="en-US" i="1" dirty="0">
                <a:solidFill>
                  <a:srgbClr val="C00000"/>
                </a:solidFill>
              </a:rPr>
              <a:t>thinking &amp; eating 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dirty="0"/>
              <a:t>only </a:t>
            </a:r>
            <a:r>
              <a:rPr lang="en-US" altLang="en-US" i="1" dirty="0">
                <a:solidFill>
                  <a:srgbClr val="C00000"/>
                </a:solidFill>
              </a:rPr>
              <a:t>five chopsticks </a:t>
            </a:r>
            <a:r>
              <a:rPr lang="en-US" altLang="en-US" dirty="0"/>
              <a:t>available to philosophers</a:t>
            </a:r>
          </a:p>
          <a:p>
            <a:pPr eaLnBrk="1" hangingPunct="1">
              <a:spcBef>
                <a:spcPts val="1200"/>
              </a:spcBef>
              <a:buClrTx/>
            </a:pPr>
            <a:r>
              <a:rPr lang="en-US" altLang="en-US" dirty="0"/>
              <a:t>Each philosopher mostly </a:t>
            </a:r>
            <a:r>
              <a:rPr lang="en-US" altLang="en-US" dirty="0">
                <a:solidFill>
                  <a:srgbClr val="C00000"/>
                </a:solidFill>
              </a:rPr>
              <a:t>thinks</a:t>
            </a:r>
          </a:p>
          <a:p>
            <a:pPr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dirty="0"/>
              <a:t>When he/she becomes </a:t>
            </a:r>
            <a:r>
              <a:rPr lang="en-US" altLang="en-US" dirty="0">
                <a:solidFill>
                  <a:srgbClr val="C00000"/>
                </a:solidFill>
              </a:rPr>
              <a:t>hungry</a:t>
            </a:r>
            <a:r>
              <a:rPr lang="en-US" altLang="en-US" dirty="0"/>
              <a:t>… 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dirty="0"/>
              <a:t>picks up the two closest chopsticks, &amp; </a:t>
            </a:r>
            <a:r>
              <a:rPr lang="en-US" altLang="en-US" dirty="0">
                <a:solidFill>
                  <a:srgbClr val="C00000"/>
                </a:solidFill>
              </a:rPr>
              <a:t>eats</a:t>
            </a:r>
            <a:r>
              <a:rPr lang="en-US" altLang="en-US" dirty="0"/>
              <a:t> </a:t>
            </a:r>
          </a:p>
          <a:p>
            <a:pPr eaLnBrk="1" hangingPunct="1">
              <a:spcBef>
                <a:spcPts val="1200"/>
              </a:spcBef>
              <a:buClrTx/>
            </a:pPr>
            <a:r>
              <a:rPr lang="en-US" altLang="en-US" dirty="0"/>
              <a:t>After eating, puts down the chopsticks, &amp; starts </a:t>
            </a:r>
            <a:r>
              <a:rPr lang="en-US" altLang="en-US" dirty="0">
                <a:solidFill>
                  <a:srgbClr val="C00000"/>
                </a:solidFill>
              </a:rPr>
              <a:t>thinking</a:t>
            </a:r>
            <a:r>
              <a:rPr lang="en-US" altLang="en-US" dirty="0"/>
              <a:t> again </a:t>
            </a:r>
          </a:p>
          <a:p>
            <a:pPr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§"/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A13EBF-870F-D266-5E8D-1790AE9AE19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3" descr="C:\Documents and Settings\Administrator\My Documents\My Pictures\DIAGRAM-philosopher-cycle.jpg">
            <a:extLst>
              <a:ext uri="{FF2B5EF4-FFF2-40B4-BE49-F238E27FC236}">
                <a16:creationId xmlns:a16="http://schemas.microsoft.com/office/drawing/2014/main" id="{60F4AA6B-C791-5BCC-F94B-C7917375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182" y="4179662"/>
            <a:ext cx="5741521" cy="227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64F28A-AC98-3E4F-FF91-9CF357ED0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206693"/>
            <a:ext cx="7441096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 Philosophers Problem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52F9D5F0-31C9-62CC-611C-2FF1D5D97AC1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4" t="1529" r="9151" b="710"/>
          <a:stretch>
            <a:fillRect/>
          </a:stretch>
        </p:blipFill>
        <p:spPr>
          <a:xfrm>
            <a:off x="5449428" y="3004705"/>
            <a:ext cx="3217051" cy="3093950"/>
          </a:xfr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</p:pic>
      <p:sp>
        <p:nvSpPr>
          <p:cNvPr id="24580" name="Rectangle 4">
            <a:extLst>
              <a:ext uri="{FF2B5EF4-FFF2-40B4-BE49-F238E27FC236}">
                <a16:creationId xmlns:a16="http://schemas.microsoft.com/office/drawing/2014/main" id="{D28E946A-2F0A-265A-C8D0-99FC42F5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846" y="1060748"/>
            <a:ext cx="8595360" cy="393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l">
              <a:spcBef>
                <a:spcPts val="12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Represent each chopstick with a semaphore</a:t>
            </a:r>
          </a:p>
          <a:p>
            <a:pPr marL="342900" indent="-342900" algn="l">
              <a:spcBef>
                <a:spcPts val="18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en-US" sz="2300" b="1" dirty="0">
                <a:latin typeface="Calibri" panose="020F0502020204030204" pitchFamily="34" charset="0"/>
                <a:cs typeface="Calibri" panose="020F0502020204030204" pitchFamily="34" charset="0"/>
              </a:rPr>
              <a:t>Shared data: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semaphore chopstick [5]    </a:t>
            </a:r>
          </a:p>
          <a:p>
            <a:pPr marL="741363" lvl="1" indent="-280988" algn="l">
              <a:spcBef>
                <a:spcPts val="600"/>
              </a:spcBef>
              <a:buClr>
                <a:schemeClr val="folHlink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all elements of chopstick initialized to 1</a:t>
            </a:r>
          </a:p>
          <a:p>
            <a:pPr marL="342900" indent="-342900" algn="l">
              <a:spcBef>
                <a:spcPts val="18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Philosopher can…</a:t>
            </a:r>
          </a:p>
          <a:p>
            <a:pPr marL="741363" lvl="1" indent="-280988" algn="l">
              <a:spcBef>
                <a:spcPts val="1200"/>
              </a:spcBef>
              <a:buClr>
                <a:schemeClr val="folHlink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grab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a chopstick, </a:t>
            </a:r>
            <a:b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by calling </a:t>
            </a:r>
            <a:r>
              <a:rPr lang="en-US" altLang="en-US" sz="23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wait()</a:t>
            </a:r>
          </a:p>
          <a:p>
            <a:pPr marL="741363" lvl="1" indent="-280988" algn="l">
              <a:spcBef>
                <a:spcPts val="1200"/>
              </a:spcBef>
              <a:buClr>
                <a:schemeClr val="folHlink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release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chopstick, </a:t>
            </a:r>
            <a:b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by calling </a:t>
            </a:r>
            <a:r>
              <a:rPr lang="en-US" altLang="en-US" sz="23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signal()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21324A3-85BC-AE43-D52E-6BA276D5D7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07785A3-B4B2-AA05-2CAF-35EA2B26A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13080"/>
          </a:xfrm>
        </p:spPr>
        <p:txBody>
          <a:bodyPr/>
          <a:lstStyle/>
          <a:p>
            <a:pPr eaLnBrk="1" hangingPunct="1"/>
            <a:r>
              <a:rPr lang="en-US" altLang="en-US" dirty="0"/>
              <a:t>Dining Philosophers Problem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0851A8B-9272-7204-A598-3C03F897B7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07440"/>
            <a:ext cx="4724400" cy="51308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Structure of Philosopher </a:t>
            </a:r>
            <a:r>
              <a:rPr lang="en-US" altLang="en-US" b="1" dirty="0" err="1">
                <a:solidFill>
                  <a:srgbClr val="C00000"/>
                </a:solidFill>
              </a:rPr>
              <a:t>i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333236C-AB0E-009D-9F6E-0981E514AD1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68E68-409B-0ABD-7D54-72008343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15" y="1772920"/>
            <a:ext cx="5699125" cy="416407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9737979-01DA-6C97-B595-2DB96838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3518"/>
            <a:ext cx="8229600" cy="55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Possibility of Deadlock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51AFC03-ECC2-73EE-968D-1DD5790B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29" y="1107440"/>
            <a:ext cx="8229600" cy="232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If all philosophers become hungry at the same time…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they all pick up their left chopsticks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now, all wait() for their right chopsticks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but they are already occupied &amp; not being released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occurs</a:t>
            </a:r>
          </a:p>
        </p:txBody>
      </p:sp>
      <p:pic>
        <p:nvPicPr>
          <p:cNvPr id="26628" name="Picture 4" descr="DIAGRAM-philosopher-deadlock">
            <a:extLst>
              <a:ext uri="{FF2B5EF4-FFF2-40B4-BE49-F238E27FC236}">
                <a16:creationId xmlns:a16="http://schemas.microsoft.com/office/drawing/2014/main" id="{03BB8406-9DF8-E215-8C8C-08D92E8D1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871" y="2983790"/>
            <a:ext cx="3672840" cy="340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23E6B97-A95C-FE8B-F217-C31B7CE7FB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C19B89F-C1AC-B9DE-0077-9DC1CE4F1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Possible Solutions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ACE244D-1913-47DB-C2EC-001D52466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23145"/>
            <a:ext cx="8229600" cy="5334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dirty="0"/>
              <a:t>Allow at most </a:t>
            </a:r>
            <a:r>
              <a:rPr lang="en-US" altLang="en-US" i="1" dirty="0">
                <a:solidFill>
                  <a:srgbClr val="C00000"/>
                </a:solidFill>
              </a:rPr>
              <a:t>four philosophers </a:t>
            </a:r>
            <a:r>
              <a:rPr lang="en-US" altLang="en-US" dirty="0"/>
              <a:t>to be sitting simultaneously at the table</a:t>
            </a:r>
          </a:p>
          <a:p>
            <a:pPr eaLnBrk="1" hangingPunct="1">
              <a:spcBef>
                <a:spcPts val="2400"/>
              </a:spcBef>
              <a:buClrTx/>
              <a:buFont typeface="Wingdings" panose="05000000000000000000" pitchFamily="2" charset="2"/>
              <a:buChar char="§"/>
            </a:pPr>
            <a:r>
              <a:rPr lang="en-US" altLang="en-US" dirty="0"/>
              <a:t>Allow a philosopher to pick up his chopsticks </a:t>
            </a:r>
            <a:r>
              <a:rPr lang="en-US" altLang="en-US" dirty="0">
                <a:solidFill>
                  <a:srgbClr val="0033CC"/>
                </a:solidFill>
              </a:rPr>
              <a:t>conditionally</a:t>
            </a:r>
          </a:p>
          <a:p>
            <a:pPr lvl="1" eaLnBrk="1" hangingPunct="1">
              <a:spcBef>
                <a:spcPts val="1200"/>
              </a:spcBef>
              <a:buClrTx/>
            </a:pPr>
            <a:r>
              <a:rPr lang="en-US" altLang="en-US" sz="2300" dirty="0"/>
              <a:t>only if </a:t>
            </a:r>
            <a:r>
              <a:rPr lang="en-US" altLang="en-US" sz="2300" i="1" dirty="0">
                <a:solidFill>
                  <a:srgbClr val="C00000"/>
                </a:solidFill>
              </a:rPr>
              <a:t>both chopsticks </a:t>
            </a:r>
            <a:r>
              <a:rPr lang="en-US" altLang="en-US" sz="2300" dirty="0"/>
              <a:t>are available</a:t>
            </a:r>
          </a:p>
          <a:p>
            <a:pPr lvl="1" eaLnBrk="1" hangingPunct="1">
              <a:spcBef>
                <a:spcPts val="600"/>
              </a:spcBef>
              <a:buClrTx/>
            </a:pPr>
            <a:r>
              <a:rPr lang="en-US" altLang="en-US" sz="2300" dirty="0"/>
              <a:t>to do this, he must pick them up in a </a:t>
            </a:r>
            <a:r>
              <a:rPr lang="en-US" altLang="en-US" sz="2300" i="1" dirty="0">
                <a:solidFill>
                  <a:srgbClr val="C00000"/>
                </a:solidFill>
              </a:rPr>
              <a:t>critical section</a:t>
            </a:r>
          </a:p>
          <a:p>
            <a:pPr eaLnBrk="1" hangingPunct="1">
              <a:spcBef>
                <a:spcPts val="2400"/>
              </a:spcBef>
              <a:buClrTx/>
            </a:pPr>
            <a:r>
              <a:rPr lang="en-US" altLang="en-US" dirty="0"/>
              <a:t>Use an </a:t>
            </a:r>
            <a:r>
              <a:rPr lang="en-US" altLang="en-US" dirty="0">
                <a:solidFill>
                  <a:srgbClr val="0033CC"/>
                </a:solidFill>
              </a:rPr>
              <a:t>asymmetric</a:t>
            </a:r>
            <a:r>
              <a:rPr lang="en-US" altLang="en-US" dirty="0"/>
              <a:t> solution</a:t>
            </a:r>
          </a:p>
          <a:p>
            <a:pPr lvl="1" defTabSz="814388" eaLnBrk="1" hangingPunct="1">
              <a:spcBef>
                <a:spcPts val="1200"/>
              </a:spcBef>
              <a:buClrTx/>
            </a:pPr>
            <a:r>
              <a:rPr lang="en-US" altLang="en-US" sz="2300" dirty="0"/>
              <a:t>an </a:t>
            </a:r>
            <a:r>
              <a:rPr lang="en-US" altLang="en-US" sz="2300" i="1" dirty="0">
                <a:solidFill>
                  <a:srgbClr val="C00000"/>
                </a:solidFill>
              </a:rPr>
              <a:t>odd</a:t>
            </a:r>
            <a:r>
              <a:rPr lang="en-US" altLang="en-US" sz="2300" dirty="0"/>
              <a:t> philosopher 	–  first picks up his left chopstick</a:t>
            </a:r>
          </a:p>
          <a:p>
            <a:pPr lvl="1" defTabSz="814388" eaLnBrk="1" hangingPunct="1">
              <a:spcBef>
                <a:spcPts val="600"/>
              </a:spcBef>
              <a:buClrTx/>
            </a:pPr>
            <a:r>
              <a:rPr lang="en-US" altLang="en-US" sz="2300" dirty="0"/>
              <a:t>an </a:t>
            </a:r>
            <a:r>
              <a:rPr lang="en-US" altLang="en-US" sz="2300" i="1" dirty="0">
                <a:solidFill>
                  <a:srgbClr val="C00000"/>
                </a:solidFill>
              </a:rPr>
              <a:t>even</a:t>
            </a:r>
            <a:r>
              <a:rPr lang="en-US" altLang="en-US" sz="2300" dirty="0"/>
              <a:t> philosopher	–  first picks up his right chopstick, &amp;</a:t>
            </a:r>
            <a:br>
              <a:rPr lang="en-US" altLang="en-US" sz="2300" dirty="0"/>
            </a:br>
            <a:r>
              <a:rPr lang="en-US" altLang="en-US" sz="2300" dirty="0"/>
              <a:t>				    then his left chopstick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08402C1-81CE-3286-D397-2AF893582E3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885EAD0-3F3F-C699-5C0C-67180EA83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3998"/>
            <a:ext cx="822960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Possibility of Starvation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E19F4A6-BFED-EA2F-EF33-8DBC0B968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29" y="1114742"/>
            <a:ext cx="82296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two philosophers are fast eaters &amp; fast thinkers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they may lock the chopsticks before others, every time</a:t>
            </a:r>
          </a:p>
        </p:txBody>
      </p:sp>
      <p:pic>
        <p:nvPicPr>
          <p:cNvPr id="12292" name="Picture 4" descr="DIAGRAM-philosopher-starve">
            <a:extLst>
              <a:ext uri="{FF2B5EF4-FFF2-40B4-BE49-F238E27FC236}">
                <a16:creationId xmlns:a16="http://schemas.microsoft.com/office/drawing/2014/main" id="{991DC287-ED84-6DCC-E320-F1EBA4D5F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765" y="2097405"/>
            <a:ext cx="4079875" cy="3758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82409A5-6508-EBEF-5AC5-8E56217CA5F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C926597-6A4D-4FA4-082C-1D06D6FA2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440" y="274638"/>
            <a:ext cx="8036560" cy="45688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High level Synchronization Constructs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A32212D-882A-E2D2-7E1E-67D22272B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224280"/>
            <a:ext cx="8458200" cy="4125486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altLang="en-US" dirty="0"/>
              <a:t>When using semaphores, responsibility of enforcing mutual exclusion lies with the programmer</a:t>
            </a:r>
          </a:p>
          <a:p>
            <a:pPr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To simplify concurrent programming, and reduce the risk of errors</a:t>
            </a:r>
            <a:endParaRPr lang="en-US" altLang="en-US" dirty="0"/>
          </a:p>
          <a:p>
            <a:pPr lvl="1"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altLang="en-US" dirty="0"/>
              <a:t>shift the responsibility from programmer to compiler and runtime environment</a:t>
            </a:r>
          </a:p>
          <a:p>
            <a:pPr lvl="2"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altLang="en-US" dirty="0"/>
              <a:t>Critical Regions</a:t>
            </a:r>
          </a:p>
          <a:p>
            <a:pPr lvl="2"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altLang="en-US" dirty="0"/>
              <a:t>Monitors</a:t>
            </a:r>
          </a:p>
          <a:p>
            <a:pPr lvl="2" eaLnBrk="1" hangingPunct="1">
              <a:spcBef>
                <a:spcPts val="1200"/>
              </a:spcBef>
              <a:buClr>
                <a:srgbClr val="FFCC00"/>
              </a:buClr>
            </a:pPr>
            <a:r>
              <a:rPr lang="en-US" altLang="en-US" dirty="0"/>
              <a:t>Condition Variables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7B94BF-9638-88F3-E752-9EAB789CFDB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32806</TotalTime>
  <Words>3337</Words>
  <Application>Microsoft Office PowerPoint</Application>
  <PresentationFormat>On-screen Show (4:3)</PresentationFormat>
  <Paragraphs>526</Paragraphs>
  <Slides>47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3" baseType="lpstr">
      <vt:lpstr>Arial</vt:lpstr>
      <vt:lpstr>Arial Black</vt:lpstr>
      <vt:lpstr>Calibri</vt:lpstr>
      <vt:lpstr>Courier New</vt:lpstr>
      <vt:lpstr>Gill Sans MT</vt:lpstr>
      <vt:lpstr>Helvetica</vt:lpstr>
      <vt:lpstr>Söhne</vt:lpstr>
      <vt:lpstr>Symbol</vt:lpstr>
      <vt:lpstr>Tahoma</vt:lpstr>
      <vt:lpstr>Times New Roman</vt:lpstr>
      <vt:lpstr>ui-sans-serif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Semaphores</vt:lpstr>
      <vt:lpstr>n-Process CS Problem</vt:lpstr>
      <vt:lpstr>PowerPoint Presentation</vt:lpstr>
      <vt:lpstr>PowerPoint Presentation</vt:lpstr>
      <vt:lpstr>Busy Waiting</vt:lpstr>
      <vt:lpstr>Semaphore – Queue Waiting</vt:lpstr>
      <vt:lpstr>Semaphore – Queue Waiting</vt:lpstr>
      <vt:lpstr>Analysis</vt:lpstr>
      <vt:lpstr>Process Coordination</vt:lpstr>
      <vt:lpstr>Example - Process Coordination</vt:lpstr>
      <vt:lpstr>Solution</vt:lpstr>
      <vt:lpstr>ME, Deadlock, Starvation</vt:lpstr>
      <vt:lpstr>Is Semaphore a Good Solution…?</vt:lpstr>
      <vt:lpstr>Is Semaphore a Good Solution…?</vt:lpstr>
      <vt:lpstr>Deadlock</vt:lpstr>
      <vt:lpstr>Mutual Exclusion Violation</vt:lpstr>
      <vt:lpstr>PowerPoint Presentation</vt:lpstr>
      <vt:lpstr>PowerPoint Presentation</vt:lpstr>
      <vt:lpstr>PowerPoint Presentation</vt:lpstr>
      <vt:lpstr>Example (Sol: Race Condition)</vt:lpstr>
      <vt:lpstr>PowerPoint Presentation</vt:lpstr>
      <vt:lpstr>PowerPoint Presentation</vt:lpstr>
      <vt:lpstr>PowerPoint Presentation</vt:lpstr>
      <vt:lpstr>Earlier Code…</vt:lpstr>
      <vt:lpstr>Bounded Buffer Problem</vt:lpstr>
      <vt:lpstr>Producer Process</vt:lpstr>
      <vt:lpstr>Consumer Process</vt:lpstr>
      <vt:lpstr>Bounded Buffer Solution</vt:lpstr>
      <vt:lpstr>Bounded Buffer Solution</vt:lpstr>
      <vt:lpstr>Readers Writers Problem</vt:lpstr>
      <vt:lpstr>Readers-Writers Problem</vt:lpstr>
      <vt:lpstr>Readers Writers Problem</vt:lpstr>
      <vt:lpstr>Readers Writers Problem</vt:lpstr>
      <vt:lpstr>Readers Writers Problem</vt:lpstr>
      <vt:lpstr>First Readers Writers Problem</vt:lpstr>
      <vt:lpstr>Writer Process</vt:lpstr>
      <vt:lpstr>Reader Process</vt:lpstr>
      <vt:lpstr>First Readers Writers Problem</vt:lpstr>
      <vt:lpstr>Dining Philosophers Problem</vt:lpstr>
      <vt:lpstr>Dining Philosophers Problem</vt:lpstr>
      <vt:lpstr>Dining Philosophers Problem</vt:lpstr>
      <vt:lpstr>PowerPoint Presentation</vt:lpstr>
      <vt:lpstr>Possible Solutions</vt:lpstr>
      <vt:lpstr>PowerPoint Presentation</vt:lpstr>
      <vt:lpstr>High level Synchronization Constructs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512</cp:revision>
  <cp:lastPrinted>2001-06-14T13:58:17Z</cp:lastPrinted>
  <dcterms:created xsi:type="dcterms:W3CDTF">2011-01-13T23:43:38Z</dcterms:created>
  <dcterms:modified xsi:type="dcterms:W3CDTF">2024-07-09T03:04:52Z</dcterms:modified>
</cp:coreProperties>
</file>