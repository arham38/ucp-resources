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68"/>
  </p:notesMasterIdLst>
  <p:handoutMasterIdLst>
    <p:handoutMasterId r:id="rId69"/>
  </p:handoutMasterIdLst>
  <p:sldIdLst>
    <p:sldId id="256" r:id="rId2"/>
    <p:sldId id="348" r:id="rId3"/>
    <p:sldId id="502" r:id="rId4"/>
    <p:sldId id="503" r:id="rId5"/>
    <p:sldId id="504" r:id="rId6"/>
    <p:sldId id="505" r:id="rId7"/>
    <p:sldId id="582" r:id="rId8"/>
    <p:sldId id="507" r:id="rId9"/>
    <p:sldId id="650" r:id="rId10"/>
    <p:sldId id="506" r:id="rId11"/>
    <p:sldId id="508" r:id="rId12"/>
    <p:sldId id="339" r:id="rId13"/>
    <p:sldId id="340" r:id="rId14"/>
    <p:sldId id="341" r:id="rId15"/>
    <p:sldId id="342" r:id="rId16"/>
    <p:sldId id="518" r:id="rId17"/>
    <p:sldId id="517" r:id="rId18"/>
    <p:sldId id="519" r:id="rId19"/>
    <p:sldId id="641" r:id="rId20"/>
    <p:sldId id="521" r:id="rId21"/>
    <p:sldId id="522" r:id="rId22"/>
    <p:sldId id="523" r:id="rId23"/>
    <p:sldId id="524" r:id="rId24"/>
    <p:sldId id="651" r:id="rId25"/>
    <p:sldId id="528" r:id="rId26"/>
    <p:sldId id="652" r:id="rId27"/>
    <p:sldId id="525" r:id="rId28"/>
    <p:sldId id="537" r:id="rId29"/>
    <p:sldId id="538" r:id="rId30"/>
    <p:sldId id="541" r:id="rId31"/>
    <p:sldId id="642" r:id="rId32"/>
    <p:sldId id="545" r:id="rId33"/>
    <p:sldId id="546" r:id="rId34"/>
    <p:sldId id="547" r:id="rId35"/>
    <p:sldId id="548" r:id="rId36"/>
    <p:sldId id="644" r:id="rId37"/>
    <p:sldId id="645" r:id="rId38"/>
    <p:sldId id="647" r:id="rId39"/>
    <p:sldId id="552" r:id="rId40"/>
    <p:sldId id="648" r:id="rId41"/>
    <p:sldId id="553" r:id="rId42"/>
    <p:sldId id="554" r:id="rId43"/>
    <p:sldId id="556" r:id="rId44"/>
    <p:sldId id="557" r:id="rId45"/>
    <p:sldId id="559" r:id="rId46"/>
    <p:sldId id="560" r:id="rId47"/>
    <p:sldId id="558" r:id="rId48"/>
    <p:sldId id="561" r:id="rId49"/>
    <p:sldId id="562" r:id="rId50"/>
    <p:sldId id="564" r:id="rId51"/>
    <p:sldId id="565" r:id="rId52"/>
    <p:sldId id="566" r:id="rId53"/>
    <p:sldId id="567" r:id="rId54"/>
    <p:sldId id="568" r:id="rId55"/>
    <p:sldId id="649" r:id="rId56"/>
    <p:sldId id="569" r:id="rId57"/>
    <p:sldId id="570" r:id="rId58"/>
    <p:sldId id="643" r:id="rId59"/>
    <p:sldId id="574" r:id="rId60"/>
    <p:sldId id="575" r:id="rId61"/>
    <p:sldId id="576" r:id="rId62"/>
    <p:sldId id="577" r:id="rId63"/>
    <p:sldId id="578" r:id="rId64"/>
    <p:sldId id="579" r:id="rId65"/>
    <p:sldId id="580" r:id="rId66"/>
    <p:sldId id="581" r:id="rId67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1" clrIdx="0">
    <p:extLst>
      <p:ext uri="{19B8F6BF-5375-455C-9EA6-DF929625EA0E}">
        <p15:presenceInfo xmlns:p15="http://schemas.microsoft.com/office/powerpoint/2012/main" userId="S::avi@yale.edu::016206a9-3acf-4d04-9473-be90a77fcf7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CC6600"/>
    <a:srgbClr val="66330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688" autoAdjust="0"/>
    <p:restoredTop sz="93792" autoAdjust="0"/>
  </p:normalViewPr>
  <p:slideViewPr>
    <p:cSldViewPr snapToGrid="0">
      <p:cViewPr varScale="1">
        <p:scale>
          <a:sx n="61" d="100"/>
          <a:sy n="61" d="100"/>
        </p:scale>
        <p:origin x="1852" y="5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-2678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4292038-6B0F-2949-BFB3-4480D59261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3CBFB87-3130-8A40-8B9F-D30E7EF9A78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F0701F88-43FF-0741-8A3A-C0F52350229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3A87DA65-858F-5A45-B34A-C02AA0EBFC0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pitchFamily="2" charset="0"/>
              </a:defRPr>
            </a:lvl1pPr>
          </a:lstStyle>
          <a:p>
            <a:pPr>
              <a:defRPr/>
            </a:pPr>
            <a:fld id="{C746EC8E-B597-402D-9662-ABD14BABEE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A289FF7-9133-044D-B490-8A3FD0ABAE4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37CAAC1-3D1D-9E43-A83C-E5D89AC6506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ED26F54-2C52-46FF-BCE0-8696D75415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180789FC-DD11-5542-803A-9516EB334E3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8A87854-4AA0-1349-AAA1-90BFC8DE2E9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97C6A482-1B06-854B-9B2C-D5CE05B662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8DDF7C7-3008-4DC4-9F8B-1490BCFC99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B8058-0711-45B7-B5A6-3DC92501CBA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636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3AA6C9F-7A55-412F-9FE5-55CB6315EA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D951E66-1449-4BF2-BD6D-78F009D7DF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157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44DE79D9-1365-1F95-AE85-CADD99809B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EE81A31-83F4-4633-859E-A02A878A1B1A}" type="slidenum">
              <a:rPr lang="en-US" altLang="en-US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0866294E-16B8-1621-63DE-B2EA48E491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08DDF7DF-5B3F-6ADF-965F-9082782075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64C5945B-6FD9-8C25-3088-9A42D2A2FF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C7BEB47-D64C-4D28-8D4B-8AE13278C7E9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0AF7A6A1-E160-BEF6-317A-C732A6F8E2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5E3B066B-D355-8EC0-B256-CFF1970994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354DF579-01C2-BDFA-7046-480F055494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7F23734-8983-4364-A22B-195D12D17D6D}" type="slidenum">
              <a:rPr lang="en-US" altLang="en-US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E23BA60E-0655-8D36-367E-4F72EE59EF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E3FEA715-4426-75B0-0909-752C56522C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8B3837B7-17E3-0946-F856-610392FD5B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4034FCB-FCE6-4D04-B193-8F1EDA12FEE8}" type="slidenum">
              <a:rPr lang="en-US" altLang="en-US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062800C9-50C1-F0EF-92C0-038A1E076C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DA13CE10-8575-2E15-661B-448E5ADFF0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3AA6C9F-7A55-412F-9FE5-55CB6315EA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D951E66-1449-4BF2-BD6D-78F009D7DF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0704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resource allocation diagram shows a deadlocked state.  Among</a:t>
            </a:r>
            <a:r>
              <a:rPr lang="en-US" baseline="0" dirty="0"/>
              <a:t> the request edges (blue), which of these requests would the processes not have been able to make according to the “No hold and wait” rule?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2A69CB-4233-3440-95E2-D1EA894328B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518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resource allocation diagram shows a deadlocked state.  Among</a:t>
            </a:r>
            <a:r>
              <a:rPr lang="en-US" baseline="0" dirty="0"/>
              <a:t> the request edges (blue), which of these requests would the processes not have been able to make according to the “No hold and wait” rule?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2A69CB-4233-3440-95E2-D1EA894328B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454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resource allocation diagram shows a deadlocked state.  Among</a:t>
            </a:r>
            <a:r>
              <a:rPr lang="en-US" baseline="0" dirty="0"/>
              <a:t> the request edges (blue), which of these requests would the processes not have been able to make according to the “No hold and wait” rule?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2A69CB-4233-3440-95E2-D1EA894328B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9789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3AA6C9F-7A55-412F-9FE5-55CB6315EA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D951E66-1449-4BF2-BD6D-78F009D7DF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776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3AA6C9F-7A55-412F-9FE5-55CB6315EA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D951E66-1449-4BF2-BD6D-78F009D7DF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005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51A2E241-E71B-4B35-B69B-2D69D5409309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A593407-3A83-4E89-8524-3F2D7E670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63C094EE-E8AB-42C7-A23E-1CE65617C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465B52CB-4EE3-4303-91A6-1E3D2BCA2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E29D3E6-430F-439A-B7E4-DBD6A407A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3EBF474A-C9EA-4112-BDD8-3544E23F5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019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itchFamily="2" charset="0"/>
              </a:rPr>
              <a:t>h</a:t>
            </a: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6F57BE7D-8CFC-4E3D-B9D3-E99A00EC1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94A9A856-762E-4DC7-9B2F-F993E5BF7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5912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1483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1281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6944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0761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4927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5A080DD-98A5-D4C4-20F8-D9A475979D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889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8744B61-96D7-4760-03C8-CAB57CC5E1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93304" y="277813"/>
            <a:ext cx="7441096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8678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 marL="742950" indent="-285750">
              <a:buFont typeface="Wingdings" panose="05000000000000000000" pitchFamily="2" charset="2"/>
              <a:buChar char="§"/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136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4207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8059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8954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E8EB374D-FC2E-49AD-94F6-BF0F89E9A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711A7626-44E9-4D96-BC9A-F6A4BE08DC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93304" y="277813"/>
            <a:ext cx="7441096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AC79F07-0E6C-44FE-917F-8A0EE9E66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0889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584B750-FEEC-0B4D-999E-B75B39028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BB3E8C43-4EF8-44FA-8DCA-47F2442F53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2FE5170B-2E7A-4B4C-94CA-557F2ECD9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496210B7-549D-3546-82A3-21674AB19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B9D60B-9182-DFAE-B694-42C223A14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399" y="6450496"/>
            <a:ext cx="517663" cy="312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24DF9-63A5-4080-BAA1-93CDBE98FB8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1" r:id="rId1"/>
    <p:sldLayoutId id="2147484061" r:id="rId2"/>
    <p:sldLayoutId id="2147484062" r:id="rId3"/>
    <p:sldLayoutId id="2147484063" r:id="rId4"/>
    <p:sldLayoutId id="2147484064" r:id="rId5"/>
    <p:sldLayoutId id="2147484065" r:id="rId6"/>
    <p:sldLayoutId id="2147484066" r:id="rId7"/>
    <p:sldLayoutId id="2147484067" r:id="rId8"/>
    <p:sldLayoutId id="2147484068" r:id="rId9"/>
    <p:sldLayoutId id="2147484069" r:id="rId10"/>
    <p:sldLayoutId id="214748407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 sz="2400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 sz="2200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 sz="2200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 sz="2200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 sz="2200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8A5870B4-1ED7-12B7-6AA3-77117E26F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088" y="4278086"/>
            <a:ext cx="2576512" cy="2373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08000"/>
                </a:solidFill>
                <a:latin typeface="Gill Sans MT" panose="020B0502020104020203" pitchFamily="34" charset="0"/>
              </a:rPr>
              <a:t>Operating System Concepts </a:t>
            </a:r>
            <a:br>
              <a:rPr lang="en-US" altLang="en-US" sz="24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9</a:t>
            </a:r>
            <a:r>
              <a:rPr lang="en-US" altLang="en-US" sz="1800" baseline="30000" dirty="0">
                <a:solidFill>
                  <a:srgbClr val="008000"/>
                </a:solidFill>
                <a:latin typeface="Gill Sans MT" panose="020B0502020104020203" pitchFamily="34" charset="0"/>
              </a:rPr>
              <a:t>th</a:t>
            </a: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 edition </a:t>
            </a:r>
            <a:b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altLang="en-US" sz="1800" dirty="0" err="1">
                <a:solidFill>
                  <a:srgbClr val="008000"/>
                </a:solidFill>
                <a:latin typeface="Gill Sans MT" panose="020B0502020104020203" pitchFamily="34" charset="0"/>
              </a:rPr>
              <a:t>Silberschatz</a:t>
            </a: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, Galvin &amp; Gagne</a:t>
            </a:r>
            <a:b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John Wiley &amp; Sons</a:t>
            </a:r>
            <a:b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2013</a:t>
            </a:r>
          </a:p>
        </p:txBody>
      </p:sp>
      <p:sp>
        <p:nvSpPr>
          <p:cNvPr id="3077" name="Rectangle 3">
            <a:extLst>
              <a:ext uri="{FF2B5EF4-FFF2-40B4-BE49-F238E27FC236}">
                <a16:creationId xmlns:a16="http://schemas.microsoft.com/office/drawing/2014/main" id="{9F7CCCC7-1A34-2F65-50C6-85CAE622F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419725"/>
            <a:ext cx="411480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marL="1746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</a:pPr>
            <a:r>
              <a:rPr lang="en-GB" altLang="en-US" sz="2200" i="1">
                <a:solidFill>
                  <a:srgbClr val="002060"/>
                </a:solidFill>
              </a:rPr>
              <a:t>Dr Nauman Mazhar</a:t>
            </a:r>
          </a:p>
          <a:p>
            <a:pPr eaLnBrk="1" hangingPunct="1">
              <a:spcBef>
                <a:spcPts val="12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</a:pPr>
            <a:r>
              <a:rPr lang="en-GB" altLang="en-US" sz="1800" i="1">
                <a:solidFill>
                  <a:srgbClr val="002060"/>
                </a:solidFill>
              </a:rPr>
              <a:t>Faculty of Information Technology (FIT)</a:t>
            </a:r>
          </a:p>
          <a:p>
            <a:pPr eaLnBrk="1" hangingPunct="1">
              <a:spcBef>
                <a:spcPct val="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</a:pPr>
            <a:r>
              <a:rPr lang="en-GB" altLang="en-US" sz="1800" i="1">
                <a:solidFill>
                  <a:srgbClr val="002060"/>
                </a:solidFill>
              </a:rPr>
              <a:t>University of Central Punjab (UCP)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3E0C7144-25C9-C5AB-98F9-BA0DEB94097B}"/>
              </a:ext>
            </a:extLst>
          </p:cNvPr>
          <p:cNvSpPr txBox="1">
            <a:spLocks noChangeArrowheads="1"/>
          </p:cNvSpPr>
          <p:nvPr/>
        </p:nvSpPr>
        <p:spPr>
          <a:xfrm>
            <a:off x="930728" y="833438"/>
            <a:ext cx="7282543" cy="1828800"/>
          </a:xfrm>
          <a:prstGeom prst="rect">
            <a:avLst/>
          </a:prstGeo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buFont typeface="Times New Roman" pitchFamily="18" charset="0"/>
              <a:buNone/>
              <a:defRPr/>
            </a:pPr>
            <a:r>
              <a:rPr lang="en-US" sz="3800" b="1" dirty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Operating Systems</a:t>
            </a:r>
          </a:p>
          <a:p>
            <a:pPr algn="ctr" eaLnBrk="1" fontAlgn="auto" hangingPunct="1">
              <a:spcBef>
                <a:spcPts val="1200"/>
              </a:spcBef>
              <a:spcAft>
                <a:spcPts val="0"/>
              </a:spcAft>
              <a:buFont typeface="Times New Roman" pitchFamily="18" charset="0"/>
              <a:buNone/>
              <a:defRPr/>
            </a:pPr>
            <a:r>
              <a:rPr lang="en-US" sz="2800" b="1" dirty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SENS-3513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9BC456DD-7F97-E05E-C599-ED9C715C1840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3352793"/>
            <a:ext cx="5410200" cy="1197429"/>
          </a:xfrm>
          <a:prstGeom prst="rect">
            <a:avLst/>
          </a:prstGeom>
        </p:spPr>
        <p:txBody>
          <a:bodyPr/>
          <a:lstStyle/>
          <a:p>
            <a:pPr marL="290513" indent="-290513" eaLnBrk="1" fontAlgn="auto" hangingPunct="1">
              <a:spcBef>
                <a:spcPts val="75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sz="2400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Deadlocks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F84B381-6B23-3BBF-67F5-2B4832F9FC4B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2819394"/>
            <a:ext cx="2819400" cy="533400"/>
          </a:xfrm>
          <a:prstGeom prst="rect">
            <a:avLst/>
          </a:prstGeom>
        </p:spPr>
        <p:txBody>
          <a:bodyPr/>
          <a:lstStyle/>
          <a:p>
            <a:pPr marL="342900" indent="-342900" eaLnBrk="1" fontAlgn="auto" hangingPunct="1">
              <a:spcBef>
                <a:spcPts val="750"/>
              </a:spcBef>
              <a:spcAft>
                <a:spcPts val="0"/>
              </a:spcAft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Week: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B756355-6FC3-4D1A-BBDC-6B9FBCD76A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6688"/>
            <a:ext cx="8015288" cy="617537"/>
          </a:xfrm>
        </p:spPr>
        <p:txBody>
          <a:bodyPr/>
          <a:lstStyle/>
          <a:p>
            <a:pPr eaLnBrk="1" hangingPunct="1"/>
            <a:r>
              <a:rPr lang="en-US" altLang="en-US" dirty="0"/>
              <a:t>Objectives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209E117-91F8-FC11-86BA-CADC1106502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25DCB83-2430-8292-CDE8-F26EB8DE5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522" y="1067037"/>
            <a:ext cx="7978840" cy="5429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algn="ctr">
              <a:spcBef>
                <a:spcPts val="600"/>
              </a:spcBef>
              <a:buNone/>
            </a:pPr>
            <a:r>
              <a:rPr lang="en-US" sz="2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Deadlocks</a:t>
            </a:r>
          </a:p>
          <a:p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Basic concepts	</a:t>
            </a:r>
          </a:p>
          <a:p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Deadlock Characterization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Resource Allocation Graph (RAG)</a:t>
            </a:r>
          </a:p>
          <a:p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Deadlock Handling Techniques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Prevention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Avoidance (Banker’s Algorithm)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Detection and Recovery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Ignore</a:t>
            </a:r>
            <a:endParaRPr lang="en-US" sz="2400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</a:pPr>
            <a:endParaRPr lang="en-US" sz="2400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</a:pPr>
            <a:endParaRPr lang="en-US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</a:pPr>
            <a:endParaRPr lang="en-US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</a:pPr>
            <a:endParaRPr lang="en-US" sz="2400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</a:pPr>
            <a:endParaRPr lang="en-US" sz="2400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</a:pPr>
            <a:endParaRPr lang="en-US" altLang="en-US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</a:pPr>
            <a:endParaRPr lang="en-US" altLang="en-US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</a:pPr>
            <a:endParaRPr lang="en-US" altLang="en-US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 txBox="1">
            <a:spLocks/>
          </p:cNvSpPr>
          <p:nvPr/>
        </p:nvSpPr>
        <p:spPr>
          <a:xfrm>
            <a:off x="436880" y="1158240"/>
            <a:ext cx="8478519" cy="51460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1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Deadlock  </a:t>
            </a:r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78000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situation where a set of processes or threads are unable to proceed because:</a:t>
            </a:r>
          </a:p>
          <a:p>
            <a:pPr marL="741363" lvl="1" indent="-300038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 process is holding a </a:t>
            </a:r>
            <a:r>
              <a:rPr lang="en-US" sz="23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resource</a:t>
            </a: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and is waiting to acquire a resource held by another process in the set</a:t>
            </a:r>
          </a:p>
          <a:p>
            <a:pPr marL="741363" lvl="1" indent="-300038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 process is waiting for an </a:t>
            </a:r>
            <a:r>
              <a:rPr lang="en-US" sz="23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event, </a:t>
            </a: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that can only be caused by another process within the set</a:t>
            </a:r>
          </a:p>
          <a:p>
            <a:pPr marL="284163" indent="-300038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 occur in concurrent systems – multitasking/multi-threaded environment</a:t>
            </a:r>
          </a:p>
          <a:p>
            <a:pPr marL="741363" lvl="1" indent="-300038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creates a cycle of dependencies that cannot be resolved</a:t>
            </a:r>
            <a:endParaRPr lang="en-US" sz="23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63138"/>
            <a:ext cx="6886575" cy="653142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Deadlock Problem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31EF501-D3A3-BF6A-DEEB-0E058D7AFB6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96854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 txBox="1">
            <a:spLocks/>
          </p:cNvSpPr>
          <p:nvPr/>
        </p:nvSpPr>
        <p:spPr>
          <a:xfrm>
            <a:off x="396240" y="1068900"/>
            <a:ext cx="8488679" cy="55210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100"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Examples:</a:t>
            </a:r>
          </a:p>
          <a:p>
            <a:pPr marL="3780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table with a writing pad and pen; two persons sitting around the table want to write letter; one picks up the pad and the other grabs the pen; causes deadlock</a:t>
            </a:r>
          </a:p>
          <a:p>
            <a:pPr marL="378000" indent="-34290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Two cars crossing a single lane bridge, from opposite directions</a:t>
            </a:r>
          </a:p>
          <a:p>
            <a:pPr marL="378000" indent="-34290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person going down a ladder, while another person is climbing up the ladder</a:t>
            </a:r>
          </a:p>
          <a:p>
            <a:pPr marL="378000" indent="-34290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Consider a system having 2 processes &amp; 2 tape drives</a:t>
            </a:r>
            <a:endParaRPr lang="en-US" sz="2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35200" lvl="1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P1 &amp; P2 each hold one tape drive</a:t>
            </a:r>
          </a:p>
          <a:p>
            <a:pPr marL="835200" lvl="1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each process needs the other tape drive too  </a:t>
            </a:r>
          </a:p>
          <a:p>
            <a:pPr marL="1292400" lvl="2" indent="-3429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2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n-US" sz="2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to copy data from one tape drive to another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2658"/>
            <a:ext cx="6886575" cy="653142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Deadlock Problem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DF5BA9A-0D7B-4E51-049D-FCF6C7BE382B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5041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355600" y="1028700"/>
            <a:ext cx="8642119" cy="6052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buFont typeface="Arial"/>
              <a:buChar char="•"/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Consider two semaphores,  s1 &amp; s2,  each initialized to 1</a:t>
            </a: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1143000" y="1695817"/>
            <a:ext cx="6548436" cy="28649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74320" marR="0" lvl="0" indent="-27432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US" sz="2000" dirty="0">
                <a:latin typeface="Comic Sans MS" pitchFamily="66" charset="0"/>
              </a:rPr>
              <a:t>		     </a:t>
            </a:r>
            <a:r>
              <a:rPr lang="en-US" sz="2400" b="1" dirty="0">
                <a:latin typeface="Comic Sans MS" pitchFamily="66" charset="0"/>
              </a:rPr>
              <a:t>P</a:t>
            </a:r>
            <a:r>
              <a:rPr lang="en-US" sz="2400" b="1" baseline="-25000" dirty="0">
                <a:latin typeface="Comic Sans MS" pitchFamily="66" charset="0"/>
              </a:rPr>
              <a:t>0</a:t>
            </a:r>
            <a:r>
              <a:rPr lang="en-US" sz="2400" b="1" dirty="0">
                <a:latin typeface="Comic Sans MS" pitchFamily="66" charset="0"/>
              </a:rPr>
              <a:t>			   P</a:t>
            </a:r>
            <a:r>
              <a:rPr lang="en-US" sz="2400" b="1" baseline="-25000" dirty="0">
                <a:latin typeface="Comic Sans MS" pitchFamily="66" charset="0"/>
              </a:rPr>
              <a:t>1</a:t>
            </a:r>
          </a:p>
          <a:p>
            <a:pPr marL="274320" marR="0" lvl="0" indent="-27432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dirty="0">
                <a:latin typeface="Comic Sans MS" pitchFamily="66" charset="0"/>
              </a:rPr>
              <a:t>		wait (s1);		wait (s2);</a:t>
            </a:r>
          </a:p>
          <a:p>
            <a:pPr marL="274320" marR="0" lvl="0" indent="-27432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dirty="0">
                <a:latin typeface="Comic Sans MS" pitchFamily="66" charset="0"/>
              </a:rPr>
              <a:t>		wait (s2);		wait (s1);</a:t>
            </a:r>
          </a:p>
          <a:p>
            <a:pPr marL="274320" lvl="0" indent="-274320">
              <a:lnSpc>
                <a:spcPct val="20000"/>
              </a:lnSpc>
              <a:defRPr/>
            </a:pPr>
            <a:r>
              <a:rPr lang="en-US" sz="2400" dirty="0">
                <a:latin typeface="Comic Sans MS" pitchFamily="66" charset="0"/>
              </a:rPr>
              <a:t>		.			.</a:t>
            </a:r>
          </a:p>
          <a:p>
            <a:pPr marL="274320" lvl="0" indent="-274320">
              <a:lnSpc>
                <a:spcPct val="20000"/>
              </a:lnSpc>
              <a:defRPr/>
            </a:pPr>
            <a:r>
              <a:rPr lang="en-US" sz="2400" dirty="0">
                <a:latin typeface="Comic Sans MS" pitchFamily="66" charset="0"/>
              </a:rPr>
              <a:t>		.			.</a:t>
            </a:r>
          </a:p>
          <a:p>
            <a:pPr marL="274320" lvl="0" indent="-274320">
              <a:lnSpc>
                <a:spcPct val="20000"/>
              </a:lnSpc>
              <a:defRPr/>
            </a:pPr>
            <a:r>
              <a:rPr lang="en-US" sz="2400" dirty="0">
                <a:latin typeface="Comic Sans MS" pitchFamily="66" charset="0"/>
              </a:rPr>
              <a:t>		.			.</a:t>
            </a:r>
          </a:p>
          <a:p>
            <a:pPr marL="274320" marR="0" lvl="0" indent="-27432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dirty="0">
                <a:latin typeface="Comic Sans MS" pitchFamily="66" charset="0"/>
              </a:rPr>
              <a:t>		signal (s1);		signal (s2);</a:t>
            </a:r>
          </a:p>
          <a:p>
            <a:pPr marL="274320" marR="0" lvl="0" indent="-27432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dirty="0">
                <a:latin typeface="Comic Sans MS" pitchFamily="66" charset="0"/>
              </a:rPr>
              <a:t>  		signal (s2);		signal (s1);</a:t>
            </a:r>
          </a:p>
          <a:p>
            <a:pPr marL="274320" lvl="0" indent="-274320">
              <a:lnSpc>
                <a:spcPct val="20000"/>
              </a:lnSpc>
              <a:defRPr/>
            </a:pPr>
            <a:r>
              <a:rPr lang="en-US" sz="2400" dirty="0">
                <a:latin typeface="Comic Sans MS" pitchFamily="66" charset="0"/>
              </a:rPr>
              <a:t>		.			.</a:t>
            </a:r>
          </a:p>
          <a:p>
            <a:pPr marL="274320" lvl="0" indent="-274320">
              <a:lnSpc>
                <a:spcPct val="20000"/>
              </a:lnSpc>
              <a:defRPr/>
            </a:pPr>
            <a:r>
              <a:rPr lang="en-US" sz="2400" dirty="0">
                <a:latin typeface="Comic Sans MS" pitchFamily="66" charset="0"/>
              </a:rPr>
              <a:t>		.			.</a:t>
            </a:r>
          </a:p>
          <a:p>
            <a:pPr marL="274320" lvl="0" indent="-274320">
              <a:lnSpc>
                <a:spcPct val="20000"/>
              </a:lnSpc>
              <a:defRPr/>
            </a:pPr>
            <a:r>
              <a:rPr lang="en-US" sz="2400" dirty="0">
                <a:latin typeface="Comic Sans MS" pitchFamily="66" charset="0"/>
              </a:rPr>
              <a:t>		.			.</a:t>
            </a:r>
          </a:p>
          <a:p>
            <a:pPr marL="274320" marR="0" lvl="0" indent="-27432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lang="en-US" sz="2000" dirty="0">
              <a:latin typeface="Comic Sans MS" pitchFamily="66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B64EF49-2074-EE4E-37F5-192BFDB8BA60}"/>
              </a:ext>
            </a:extLst>
          </p:cNvPr>
          <p:cNvGrpSpPr/>
          <p:nvPr/>
        </p:nvGrpSpPr>
        <p:grpSpPr>
          <a:xfrm>
            <a:off x="2626360" y="4789414"/>
            <a:ext cx="3124200" cy="1448098"/>
            <a:chOff x="5105400" y="4343400"/>
            <a:chExt cx="3124200" cy="1448098"/>
          </a:xfrm>
        </p:grpSpPr>
        <p:sp>
          <p:nvSpPr>
            <p:cNvPr id="23" name="Oval 22"/>
            <p:cNvSpPr/>
            <p:nvPr/>
          </p:nvSpPr>
          <p:spPr>
            <a:xfrm>
              <a:off x="5105400" y="4724400"/>
              <a:ext cx="990600" cy="6858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P</a:t>
              </a:r>
              <a:r>
                <a:rPr lang="en-US" sz="2800" baseline="-25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7239000" y="4724400"/>
              <a:ext cx="990600" cy="6858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P</a:t>
              </a:r>
              <a:r>
                <a:rPr lang="en-US" sz="2800" baseline="-25000" dirty="0">
                  <a:solidFill>
                    <a:schemeClr val="tx1"/>
                  </a:solidFill>
                </a:rPr>
                <a:t>1</a:t>
              </a:r>
            </a:p>
          </p:txBody>
        </p:sp>
        <p:cxnSp>
          <p:nvCxnSpPr>
            <p:cNvPr id="30" name="Elbow Connector 29"/>
            <p:cNvCxnSpPr>
              <a:stCxn id="23" idx="0"/>
            </p:cNvCxnSpPr>
            <p:nvPr/>
          </p:nvCxnSpPr>
          <p:spPr>
            <a:xfrm rot="5400000" flipH="1" flipV="1">
              <a:off x="6457950" y="3486150"/>
              <a:ext cx="381000" cy="2095500"/>
            </a:xfrm>
            <a:prstGeom prst="bentConnector2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 rot="5400000">
              <a:off x="7506494" y="4533900"/>
              <a:ext cx="38100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Elbow Connector 39"/>
            <p:cNvCxnSpPr>
              <a:stCxn id="24" idx="4"/>
            </p:cNvCxnSpPr>
            <p:nvPr/>
          </p:nvCxnSpPr>
          <p:spPr>
            <a:xfrm rot="5400000">
              <a:off x="6496050" y="4552950"/>
              <a:ext cx="381000" cy="2095500"/>
            </a:xfrm>
            <a:prstGeom prst="bentConnector2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rot="16200000" flipV="1">
              <a:off x="5429250" y="5581650"/>
              <a:ext cx="381000" cy="381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6014720" y="4378960"/>
              <a:ext cx="13692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signal (s</a:t>
              </a:r>
              <a:r>
                <a:rPr lang="en-US" baseline="-25000" dirty="0"/>
                <a:t>1</a:t>
              </a:r>
              <a:r>
                <a:rPr lang="en-US" dirty="0"/>
                <a:t>)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045200" y="5422166"/>
              <a:ext cx="13692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signal (s</a:t>
              </a:r>
              <a:r>
                <a:rPr lang="en-US" baseline="-25000" dirty="0"/>
                <a:t>2</a:t>
              </a:r>
              <a:r>
                <a:rPr lang="en-US" dirty="0"/>
                <a:t>)</a:t>
              </a:r>
            </a:p>
          </p:txBody>
        </p:sp>
      </p:grp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2658"/>
            <a:ext cx="6886575" cy="678542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Deadlock Problem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1FC62ED-ED26-F953-6A05-94C2D2FEE5EE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25231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 txBox="1">
            <a:spLocks/>
          </p:cNvSpPr>
          <p:nvPr/>
        </p:nvSpPr>
        <p:spPr>
          <a:xfrm>
            <a:off x="462281" y="1167265"/>
            <a:ext cx="8488679" cy="54864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100"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Dining Philosophers Problem</a:t>
            </a:r>
          </a:p>
          <a:p>
            <a:pPr marL="3780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Consider the dining philosophers problem</a:t>
            </a:r>
          </a:p>
          <a:p>
            <a:pPr marL="3780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 five philosophers become hungry at the same time</a:t>
            </a:r>
          </a:p>
          <a:p>
            <a:pPr marL="3780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 pick up chopsticks on their left</a:t>
            </a:r>
          </a:p>
          <a:p>
            <a:pPr marL="3780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 now look for the right one,</a:t>
            </a:r>
            <a:b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which is being held by neighboring </a:t>
            </a:r>
            <a:b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philosopher</a:t>
            </a:r>
          </a:p>
          <a:p>
            <a:pPr marL="3780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one puts the chopstick back</a:t>
            </a:r>
          </a:p>
          <a:p>
            <a:pPr marL="3780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 keep waiting for the right </a:t>
            </a:r>
            <a:b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chopstick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2658"/>
            <a:ext cx="6886575" cy="653142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Deadlock Problem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C2BE447-C3ED-B6BA-6089-F7FDF5A95A3F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5D59F52E-B86A-1831-23D7-2D0B5CA49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84" t="1529" r="9151" b="710"/>
          <a:stretch>
            <a:fillRect/>
          </a:stretch>
        </p:blipFill>
        <p:spPr bwMode="auto">
          <a:xfrm>
            <a:off x="5586912" y="3343571"/>
            <a:ext cx="2859677" cy="2750251"/>
          </a:xfrm>
          <a:prstGeom prst="rect">
            <a:avLst/>
          </a:prstGeom>
          <a:noFill/>
          <a:ln w="57150" cmpd="thickThin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2313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73297"/>
            <a:ext cx="6886575" cy="653143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Resources</a:t>
            </a: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375920" y="1097280"/>
            <a:ext cx="8626566" cy="53949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Deadlocks involve resources, which can be…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hardware device 	–  </a:t>
            </a:r>
            <a:r>
              <a:rPr lang="en-US" sz="21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tape drive,  printer,  memory,  CPU 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piece of info 	–  </a:t>
            </a:r>
            <a:r>
              <a:rPr lang="en-US" sz="21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variable,  file,  semaphore,  DB record</a:t>
            </a:r>
          </a:p>
          <a:p>
            <a:pPr>
              <a:spcBef>
                <a:spcPts val="18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Preemptable Resources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 be taken away from process, with no ill effects 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sz="22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sharable resources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   CPU, memory</a:t>
            </a:r>
          </a:p>
          <a:p>
            <a:pPr>
              <a:spcBef>
                <a:spcPts val="18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Non-Preemptable Resources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cannot be taken away from a process, w/o causing problems 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sz="22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non sharable resources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   if process is burning a CD ROM, taking it back &amp; giving to other process, will result in garbled CD</a:t>
            </a:r>
          </a:p>
          <a:p>
            <a:pPr marL="0" indent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general, DL involves </a:t>
            </a:r>
            <a:r>
              <a:rPr lang="en-US" sz="2400" b="1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Non-Preemptable</a:t>
            </a:r>
            <a:r>
              <a:rPr lang="en-US" sz="24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resources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10B66F6-011A-81DA-1719-BC9D603B351B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41724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83457"/>
            <a:ext cx="6886575" cy="639443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Conditions for Deadlock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idx="1"/>
          </p:nvPr>
        </p:nvSpPr>
        <p:spPr>
          <a:xfrm>
            <a:off x="447766" y="1033842"/>
            <a:ext cx="8615680" cy="5537928"/>
          </a:xfrm>
        </p:spPr>
        <p:txBody>
          <a:bodyPr>
            <a:noAutofit/>
          </a:bodyPr>
          <a:lstStyle/>
          <a:p>
            <a:pPr marL="0"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Font typeface="Wingdings" pitchFamily="2" charset="2"/>
              <a:buNone/>
              <a:defRPr/>
            </a:pPr>
            <a:r>
              <a:rPr lang="en-US" dirty="0">
                <a:solidFill>
                  <a:srgbClr val="000000"/>
                </a:solidFill>
              </a:rPr>
              <a:t>Deadlock arises, if four necessary conditions occur together:</a:t>
            </a:r>
            <a:endParaRPr lang="en-US" dirty="0"/>
          </a:p>
          <a:p>
            <a:pPr marL="457200" indent="-457200"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rgbClr val="C00000"/>
                </a:solidFill>
              </a:rPr>
              <a:t>Mutual exclusion</a:t>
            </a:r>
            <a:r>
              <a:rPr lang="en-US" dirty="0">
                <a:solidFill>
                  <a:srgbClr val="C00000"/>
                </a:solidFill>
              </a:rPr>
              <a:t>:   </a:t>
            </a:r>
            <a:r>
              <a:rPr lang="en-US" dirty="0">
                <a:solidFill>
                  <a:srgbClr val="000000"/>
                </a:solidFill>
              </a:rPr>
              <a:t>only one process can use a resource at 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any time</a:t>
            </a:r>
          </a:p>
          <a:p>
            <a:pPr marL="457200" indent="-457200"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b="1" dirty="0">
                <a:solidFill>
                  <a:srgbClr val="C00000"/>
                </a:solidFill>
              </a:rPr>
              <a:t>Hold &amp; wait</a:t>
            </a:r>
            <a:r>
              <a:rPr lang="en-US" dirty="0">
                <a:solidFill>
                  <a:srgbClr val="C00000"/>
                </a:solidFill>
              </a:rPr>
              <a:t>:   </a:t>
            </a:r>
            <a:r>
              <a:rPr lang="en-US" dirty="0">
                <a:solidFill>
                  <a:srgbClr val="000000"/>
                </a:solidFill>
              </a:rPr>
              <a:t>a process holds one or more resources, while waiting for others to be allocated</a:t>
            </a:r>
          </a:p>
          <a:p>
            <a:pPr marL="457200" indent="-457200"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rgbClr val="C00000"/>
                </a:solidFill>
              </a:rPr>
              <a:t>Non-preemption</a:t>
            </a:r>
            <a:r>
              <a:rPr lang="en-US" dirty="0">
                <a:solidFill>
                  <a:srgbClr val="C00000"/>
                </a:solidFill>
              </a:rPr>
              <a:t>:   </a:t>
            </a:r>
            <a:r>
              <a:rPr lang="en-US" dirty="0">
                <a:solidFill>
                  <a:srgbClr val="000000"/>
                </a:solidFill>
              </a:rPr>
              <a:t>resource cannot be taken away forcibly from 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a process holding it</a:t>
            </a:r>
          </a:p>
          <a:p>
            <a:pPr marL="457200" indent="-45720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b="1" dirty="0">
                <a:solidFill>
                  <a:srgbClr val="C00000"/>
                </a:solidFill>
              </a:rPr>
              <a:t>Circular wait</a:t>
            </a:r>
            <a:r>
              <a:rPr lang="en-US" dirty="0">
                <a:solidFill>
                  <a:srgbClr val="C00000"/>
                </a:solidFill>
              </a:rPr>
              <a:t>:   </a:t>
            </a:r>
            <a:r>
              <a:rPr lang="en-US" dirty="0">
                <a:solidFill>
                  <a:srgbClr val="000000"/>
                </a:solidFill>
              </a:rPr>
              <a:t>there is a set of waiting processes {P</a:t>
            </a:r>
            <a:r>
              <a:rPr lang="en-US" baseline="-25000" dirty="0">
                <a:solidFill>
                  <a:srgbClr val="000000"/>
                </a:solidFill>
              </a:rPr>
              <a:t>0</a:t>
            </a:r>
            <a:r>
              <a:rPr lang="en-US" dirty="0">
                <a:solidFill>
                  <a:srgbClr val="000000"/>
                </a:solidFill>
              </a:rPr>
              <a:t>, P</a:t>
            </a:r>
            <a:r>
              <a:rPr lang="en-US" baseline="-25000" dirty="0">
                <a:solidFill>
                  <a:srgbClr val="000000"/>
                </a:solidFill>
              </a:rPr>
              <a:t>1</a:t>
            </a:r>
            <a:r>
              <a:rPr lang="en-US" dirty="0">
                <a:solidFill>
                  <a:srgbClr val="000000"/>
                </a:solidFill>
              </a:rPr>
              <a:t>, …, </a:t>
            </a:r>
            <a:r>
              <a:rPr lang="en-US" dirty="0" err="1">
                <a:solidFill>
                  <a:srgbClr val="000000"/>
                </a:solidFill>
              </a:rPr>
              <a:t>P</a:t>
            </a:r>
            <a:r>
              <a:rPr lang="en-US" baseline="-25000" dirty="0" err="1">
                <a:solidFill>
                  <a:srgbClr val="000000"/>
                </a:solidFill>
              </a:rPr>
              <a:t>n</a:t>
            </a:r>
            <a:r>
              <a:rPr lang="en-US" dirty="0">
                <a:solidFill>
                  <a:srgbClr val="000000"/>
                </a:solidFill>
              </a:rPr>
              <a:t>}, such that:</a:t>
            </a:r>
          </a:p>
          <a:p>
            <a:pPr marL="400050" lvl="1" indent="0" defTabSz="85883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  <a:defRPr/>
            </a:pPr>
            <a:r>
              <a:rPr lang="en-US" dirty="0">
                <a:solidFill>
                  <a:srgbClr val="000000"/>
                </a:solidFill>
              </a:rPr>
              <a:t> 	  </a:t>
            </a:r>
            <a:r>
              <a:rPr lang="en-US" sz="2100" dirty="0">
                <a:solidFill>
                  <a:srgbClr val="000000"/>
                </a:solidFill>
              </a:rPr>
              <a:t>P</a:t>
            </a:r>
            <a:r>
              <a:rPr lang="en-US" sz="2100" baseline="-25000" dirty="0">
                <a:solidFill>
                  <a:srgbClr val="000000"/>
                </a:solidFill>
              </a:rPr>
              <a:t>0</a:t>
            </a:r>
            <a:r>
              <a:rPr lang="en-US" sz="2100" dirty="0">
                <a:solidFill>
                  <a:srgbClr val="000000"/>
                </a:solidFill>
              </a:rPr>
              <a:t>  	</a:t>
            </a:r>
            <a:r>
              <a:rPr lang="en-US" sz="2100" dirty="0">
                <a:solidFill>
                  <a:srgbClr val="000000"/>
                </a:solidFill>
                <a:latin typeface="Abadi" panose="020B0604020104020204" pitchFamily="34" charset="0"/>
              </a:rPr>
              <a:t>→  </a:t>
            </a:r>
            <a:r>
              <a:rPr lang="en-US" sz="2100" dirty="0">
                <a:solidFill>
                  <a:srgbClr val="000000"/>
                </a:solidFill>
              </a:rPr>
              <a:t>waiting for resource held by P</a:t>
            </a:r>
            <a:r>
              <a:rPr lang="en-US" sz="2100" baseline="-25000" dirty="0">
                <a:solidFill>
                  <a:srgbClr val="000000"/>
                </a:solidFill>
              </a:rPr>
              <a:t>1</a:t>
            </a:r>
            <a:r>
              <a:rPr lang="en-US" sz="2100" dirty="0">
                <a:solidFill>
                  <a:srgbClr val="000000"/>
                </a:solidFill>
              </a:rPr>
              <a:t>  </a:t>
            </a:r>
          </a:p>
          <a:p>
            <a:pPr marL="400050" lvl="1" indent="0" defTabSz="85883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  <a:defRPr/>
            </a:pPr>
            <a:r>
              <a:rPr lang="en-US" sz="2100" dirty="0">
                <a:solidFill>
                  <a:srgbClr val="000000"/>
                </a:solidFill>
              </a:rPr>
              <a:t> 	  P</a:t>
            </a:r>
            <a:r>
              <a:rPr lang="en-US" sz="2100" baseline="-25000" dirty="0">
                <a:solidFill>
                  <a:srgbClr val="000000"/>
                </a:solidFill>
              </a:rPr>
              <a:t>1</a:t>
            </a:r>
            <a:r>
              <a:rPr lang="en-US" sz="2100" dirty="0">
                <a:solidFill>
                  <a:srgbClr val="000000"/>
                </a:solidFill>
              </a:rPr>
              <a:t>  	</a:t>
            </a:r>
            <a:r>
              <a:rPr lang="en-US" sz="2100" dirty="0">
                <a:solidFill>
                  <a:srgbClr val="000000"/>
                </a:solidFill>
                <a:latin typeface="Abadi" panose="020B0604020104020204" pitchFamily="34" charset="0"/>
              </a:rPr>
              <a:t>→  </a:t>
            </a:r>
            <a:r>
              <a:rPr lang="en-US" sz="2100" dirty="0">
                <a:solidFill>
                  <a:srgbClr val="000000"/>
                </a:solidFill>
              </a:rPr>
              <a:t>waiting for resource held by P</a:t>
            </a:r>
            <a:r>
              <a:rPr lang="en-US" sz="2100" baseline="-25000" dirty="0">
                <a:solidFill>
                  <a:srgbClr val="000000"/>
                </a:solidFill>
              </a:rPr>
              <a:t>2</a:t>
            </a:r>
            <a:r>
              <a:rPr lang="en-US" sz="2100" dirty="0">
                <a:solidFill>
                  <a:srgbClr val="000000"/>
                </a:solidFill>
              </a:rPr>
              <a:t>  </a:t>
            </a:r>
          </a:p>
          <a:p>
            <a:pPr marL="400050" lvl="1" indent="0" defTabSz="85883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  <a:defRPr/>
            </a:pPr>
            <a:r>
              <a:rPr lang="en-US" sz="2100" dirty="0">
                <a:solidFill>
                  <a:srgbClr val="000000"/>
                </a:solidFill>
              </a:rPr>
              <a:t> 	  </a:t>
            </a:r>
            <a:r>
              <a:rPr lang="en-US" sz="2100" dirty="0" err="1">
                <a:solidFill>
                  <a:srgbClr val="000000"/>
                </a:solidFill>
              </a:rPr>
              <a:t>P</a:t>
            </a:r>
            <a:r>
              <a:rPr lang="en-US" sz="2100" baseline="-25000" dirty="0" err="1">
                <a:solidFill>
                  <a:srgbClr val="000000"/>
                </a:solidFill>
              </a:rPr>
              <a:t>n</a:t>
            </a:r>
            <a:r>
              <a:rPr lang="en-US" sz="2100" baseline="-25000" dirty="0">
                <a:solidFill>
                  <a:srgbClr val="000000"/>
                </a:solidFill>
              </a:rPr>
              <a:t>–1</a:t>
            </a:r>
            <a:r>
              <a:rPr lang="en-US" sz="2100" dirty="0">
                <a:solidFill>
                  <a:srgbClr val="000000"/>
                </a:solidFill>
              </a:rPr>
              <a:t>  	</a:t>
            </a:r>
            <a:r>
              <a:rPr lang="en-US" sz="2100" dirty="0">
                <a:solidFill>
                  <a:srgbClr val="000000"/>
                </a:solidFill>
                <a:latin typeface="Abadi" panose="020B0604020104020204" pitchFamily="34" charset="0"/>
              </a:rPr>
              <a:t>→  </a:t>
            </a:r>
            <a:r>
              <a:rPr lang="en-US" sz="2100" dirty="0">
                <a:solidFill>
                  <a:srgbClr val="000000"/>
                </a:solidFill>
              </a:rPr>
              <a:t>waiting for resource held by </a:t>
            </a:r>
            <a:r>
              <a:rPr lang="en-US" sz="2100" dirty="0" err="1">
                <a:solidFill>
                  <a:srgbClr val="000000"/>
                </a:solidFill>
              </a:rPr>
              <a:t>P</a:t>
            </a:r>
            <a:r>
              <a:rPr lang="en-US" sz="2100" baseline="-25000" dirty="0" err="1">
                <a:solidFill>
                  <a:srgbClr val="000000"/>
                </a:solidFill>
              </a:rPr>
              <a:t>n</a:t>
            </a:r>
            <a:endParaRPr lang="en-US" sz="2100" baseline="-25000" dirty="0">
              <a:solidFill>
                <a:srgbClr val="000000"/>
              </a:solidFill>
            </a:endParaRPr>
          </a:p>
          <a:p>
            <a:pPr marL="400050" lvl="1" indent="0" defTabSz="85883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  <a:defRPr/>
            </a:pPr>
            <a:r>
              <a:rPr lang="en-US" sz="2100" dirty="0">
                <a:solidFill>
                  <a:srgbClr val="000000"/>
                </a:solidFill>
              </a:rPr>
              <a:t> 	  </a:t>
            </a:r>
            <a:r>
              <a:rPr lang="en-US" sz="2100" dirty="0" err="1">
                <a:solidFill>
                  <a:srgbClr val="000000"/>
                </a:solidFill>
              </a:rPr>
              <a:t>P</a:t>
            </a:r>
            <a:r>
              <a:rPr lang="en-US" sz="2100" baseline="-25000" dirty="0" err="1">
                <a:solidFill>
                  <a:srgbClr val="000000"/>
                </a:solidFill>
              </a:rPr>
              <a:t>n</a:t>
            </a:r>
            <a:r>
              <a:rPr lang="en-US" sz="2100" dirty="0">
                <a:solidFill>
                  <a:srgbClr val="000000"/>
                </a:solidFill>
              </a:rPr>
              <a:t> </a:t>
            </a:r>
            <a:r>
              <a:rPr lang="en-US" sz="2100" dirty="0">
                <a:solidFill>
                  <a:srgbClr val="000000"/>
                </a:solidFill>
                <a:latin typeface="Abadi" panose="020B0604020104020204" pitchFamily="34" charset="0"/>
              </a:rPr>
              <a:t> 	→</a:t>
            </a:r>
            <a:r>
              <a:rPr lang="en-US" sz="2100" dirty="0">
                <a:solidFill>
                  <a:srgbClr val="000000"/>
                </a:solidFill>
              </a:rPr>
              <a:t>   waiting for resource held by P</a:t>
            </a:r>
            <a:r>
              <a:rPr lang="en-US" sz="2100" baseline="-25000" dirty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FEDF71D-5D06-3A3E-AEE8-7EFA2C35358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68598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>
            <a:extLst>
              <a:ext uri="{FF2B5EF4-FFF2-40B4-BE49-F238E27FC236}">
                <a16:creationId xmlns:a16="http://schemas.microsoft.com/office/drawing/2014/main" id="{F3E9582F-73D2-4BB5-8C85-155733606EC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33680" y="2144736"/>
            <a:ext cx="8580119" cy="2518704"/>
          </a:xfrm>
        </p:spPr>
        <p:txBody>
          <a:bodyPr/>
          <a:lstStyle/>
          <a:p>
            <a:pPr marL="457200" lvl="1" indent="0" algn="ctr">
              <a:buNone/>
            </a:pPr>
            <a:r>
              <a:rPr lang="en-US" sz="3200" b="1" dirty="0">
                <a:solidFill>
                  <a:srgbClr val="006699"/>
                </a:solidFill>
                <a:latin typeface="+mj-lt"/>
              </a:rPr>
              <a:t>Deadlock Characterization:</a:t>
            </a:r>
          </a:p>
          <a:p>
            <a:pPr marL="457200" lvl="1" indent="0" algn="ctr">
              <a:spcBef>
                <a:spcPts val="1200"/>
              </a:spcBef>
              <a:buNone/>
            </a:pPr>
            <a:endParaRPr lang="en-US" sz="1400" b="1" i="1" dirty="0">
              <a:solidFill>
                <a:srgbClr val="006699"/>
              </a:solidFill>
              <a:latin typeface="+mj-lt"/>
            </a:endParaRPr>
          </a:p>
          <a:p>
            <a:pPr marL="457200" lvl="1" indent="0" algn="ctr">
              <a:spcBef>
                <a:spcPts val="1200"/>
              </a:spcBef>
              <a:buNone/>
            </a:pPr>
            <a:r>
              <a:rPr lang="en-US" sz="2600" b="1" i="1" dirty="0">
                <a:solidFill>
                  <a:srgbClr val="006699"/>
                </a:solidFill>
                <a:latin typeface="+mj-lt"/>
              </a:rPr>
              <a:t>Resource Allocation Graph</a:t>
            </a:r>
          </a:p>
          <a:p>
            <a:pPr marL="457200" lvl="1" indent="0" algn="ctr">
              <a:buNone/>
            </a:pPr>
            <a:r>
              <a:rPr lang="en-US" altLang="en-US" sz="2600" b="1" i="1" dirty="0">
                <a:solidFill>
                  <a:srgbClr val="006699"/>
                </a:solidFill>
                <a:latin typeface="+mj-lt"/>
              </a:rPr>
              <a:t>(RAG)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C740614-1FBB-D246-96C3-BF4C6DE71AD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57923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2658"/>
            <a:ext cx="6886575" cy="698862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Deadlock Characterization</a:t>
            </a:r>
          </a:p>
        </p:txBody>
      </p:sp>
      <p:sp>
        <p:nvSpPr>
          <p:cNvPr id="12" name="Rectangle 3"/>
          <p:cNvSpPr>
            <a:spLocks noGrp="1" noChangeArrowheads="1"/>
          </p:cNvSpPr>
          <p:nvPr>
            <p:ph idx="1"/>
          </p:nvPr>
        </p:nvSpPr>
        <p:spPr>
          <a:xfrm>
            <a:off x="360453" y="1136379"/>
            <a:ext cx="8570913" cy="5253533"/>
          </a:xfrm>
          <a:noFill/>
          <a:ln>
            <a:noFill/>
          </a:ln>
        </p:spPr>
        <p:txBody>
          <a:bodyPr>
            <a:normAutofit/>
          </a:bodyPr>
          <a:lstStyle/>
          <a:p>
            <a:pPr marL="396875" indent="-396875">
              <a:spcBef>
                <a:spcPts val="1800"/>
              </a:spcBef>
              <a:spcAft>
                <a:spcPts val="0"/>
              </a:spcAft>
            </a:pPr>
            <a:r>
              <a:rPr lang="en-US" b="1" dirty="0">
                <a:solidFill>
                  <a:srgbClr val="0000CC"/>
                </a:solidFill>
              </a:rPr>
              <a:t>Resource Allocation Graph (RAG)</a:t>
            </a:r>
            <a:r>
              <a:rPr lang="en-US" b="1" dirty="0">
                <a:solidFill>
                  <a:srgbClr val="000000"/>
                </a:solidFill>
              </a:rPr>
              <a:t>  </a:t>
            </a:r>
            <a:endParaRPr lang="en-US" sz="2400" dirty="0">
              <a:solidFill>
                <a:srgbClr val="000000"/>
              </a:solidFill>
            </a:endParaRPr>
          </a:p>
          <a:p>
            <a:pPr marL="457200" lvl="1" indent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 is a tool used to describe deadlocks</a:t>
            </a:r>
          </a:p>
          <a:p>
            <a:pPr marL="777875" lvl="1" indent="-320675">
              <a:spcBef>
                <a:spcPts val="180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</a:rPr>
              <a:t>RAG comprises a set of vertices </a:t>
            </a:r>
            <a:r>
              <a:rPr lang="en-US" sz="2400" b="1" dirty="0">
                <a:solidFill>
                  <a:srgbClr val="C00000"/>
                </a:solidFill>
              </a:rPr>
              <a:t>V</a:t>
            </a:r>
            <a:r>
              <a:rPr lang="en-US" sz="2400" dirty="0">
                <a:solidFill>
                  <a:srgbClr val="000000"/>
                </a:solidFill>
              </a:rPr>
              <a:t>, and a set of edges </a:t>
            </a:r>
            <a:r>
              <a:rPr lang="en-US" sz="2400" b="1" dirty="0">
                <a:solidFill>
                  <a:srgbClr val="C00000"/>
                </a:solidFill>
              </a:rPr>
              <a:t>E</a:t>
            </a:r>
            <a:endParaRPr lang="en-US" sz="2400" dirty="0">
              <a:solidFill>
                <a:srgbClr val="C00000"/>
              </a:solidFill>
            </a:endParaRPr>
          </a:p>
          <a:p>
            <a:pPr marL="777875" lvl="1" indent="-320675">
              <a:spcBef>
                <a:spcPts val="240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C00000"/>
                </a:solidFill>
              </a:rPr>
              <a:t>V</a:t>
            </a:r>
            <a:r>
              <a:rPr lang="en-US" sz="2400" dirty="0">
                <a:solidFill>
                  <a:srgbClr val="000000"/>
                </a:solidFill>
              </a:rPr>
              <a:t> is partitioned into two types:</a:t>
            </a:r>
          </a:p>
          <a:p>
            <a:pPr marL="1155700" lvl="2" indent="-342900">
              <a:spcBef>
                <a:spcPts val="600"/>
              </a:spcBef>
              <a:spcAft>
                <a:spcPts val="0"/>
              </a:spcAft>
              <a:buFont typeface="Wingdings" charset="2"/>
              <a:buChar char="ü"/>
            </a:pPr>
            <a:r>
              <a:rPr lang="en-US" b="1" dirty="0">
                <a:solidFill>
                  <a:srgbClr val="000000"/>
                </a:solidFill>
              </a:rPr>
              <a:t>Processes   P</a:t>
            </a:r>
            <a:r>
              <a:rPr lang="en-US" dirty="0">
                <a:solidFill>
                  <a:srgbClr val="000000"/>
                </a:solidFill>
              </a:rPr>
              <a:t> 	=  {P1, P2, …, </a:t>
            </a:r>
            <a:r>
              <a:rPr lang="en-US" dirty="0" err="1">
                <a:solidFill>
                  <a:srgbClr val="000000"/>
                </a:solidFill>
              </a:rPr>
              <a:t>Pn</a:t>
            </a:r>
            <a:r>
              <a:rPr lang="en-US" dirty="0">
                <a:solidFill>
                  <a:srgbClr val="000000"/>
                </a:solidFill>
              </a:rPr>
              <a:t>}     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represented as </a:t>
            </a:r>
            <a:r>
              <a:rPr lang="en-US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circles</a:t>
            </a:r>
          </a:p>
          <a:p>
            <a:pPr marL="1155700" lvl="2" indent="-342900">
              <a:spcBef>
                <a:spcPts val="600"/>
              </a:spcBef>
              <a:spcAft>
                <a:spcPts val="0"/>
              </a:spcAft>
              <a:buFont typeface="Wingdings" charset="2"/>
              <a:buChar char="ü"/>
            </a:pPr>
            <a:r>
              <a:rPr lang="en-US" b="1" dirty="0">
                <a:solidFill>
                  <a:srgbClr val="000000"/>
                </a:solidFill>
              </a:rPr>
              <a:t>Resources  R</a:t>
            </a:r>
            <a:r>
              <a:rPr lang="en-US" dirty="0">
                <a:solidFill>
                  <a:srgbClr val="000000"/>
                </a:solidFill>
              </a:rPr>
              <a:t> 	=  {R1, R2, …, Rm}    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represented as </a:t>
            </a:r>
            <a:r>
              <a:rPr lang="en-US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rectangles</a:t>
            </a:r>
          </a:p>
          <a:p>
            <a:pPr marL="777875" lvl="1" indent="-320675">
              <a:spcBef>
                <a:spcPts val="240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C00000"/>
                </a:solidFill>
              </a:rPr>
              <a:t>E</a:t>
            </a:r>
            <a:r>
              <a:rPr lang="en-US" sz="2400" dirty="0">
                <a:solidFill>
                  <a:srgbClr val="000000"/>
                </a:solidFill>
              </a:rPr>
              <a:t> can also be of two types:</a:t>
            </a:r>
          </a:p>
          <a:p>
            <a:pPr marL="1155700" lvl="2" indent="-342900" defTabSz="858838">
              <a:spcBef>
                <a:spcPts val="600"/>
              </a:spcBef>
              <a:spcAft>
                <a:spcPts val="0"/>
              </a:spcAft>
              <a:buFont typeface="Wingdings" charset="2"/>
              <a:buChar char="ü"/>
            </a:pPr>
            <a:r>
              <a:rPr lang="en-US" b="1" dirty="0">
                <a:solidFill>
                  <a:srgbClr val="000000"/>
                </a:solidFill>
              </a:rPr>
              <a:t>Request Edge	</a:t>
            </a:r>
            <a:r>
              <a:rPr lang="en-US" dirty="0">
                <a:solidFill>
                  <a:srgbClr val="000000"/>
                </a:solidFill>
              </a:rPr>
              <a:t>:  Pi </a:t>
            </a:r>
            <a:r>
              <a:rPr lang="en-US" dirty="0">
                <a:solidFill>
                  <a:srgbClr val="000000"/>
                </a:solidFill>
                <a:sym typeface="Symbol" pitchFamily="18" charset="2"/>
              </a:rPr>
              <a:t> Rj</a:t>
            </a:r>
          </a:p>
          <a:p>
            <a:pPr marL="1155700" lvl="2" indent="-342900" defTabSz="858838">
              <a:spcBef>
                <a:spcPts val="600"/>
              </a:spcBef>
              <a:spcAft>
                <a:spcPts val="0"/>
              </a:spcAft>
              <a:buFont typeface="Wingdings" charset="2"/>
              <a:buChar char="ü"/>
            </a:pPr>
            <a:r>
              <a:rPr lang="en-US" b="1" dirty="0">
                <a:solidFill>
                  <a:srgbClr val="000000"/>
                </a:solidFill>
                <a:sym typeface="Symbol" pitchFamily="18" charset="2"/>
              </a:rPr>
              <a:t>Assignment Edge	</a:t>
            </a:r>
            <a:r>
              <a:rPr lang="en-US" dirty="0">
                <a:solidFill>
                  <a:srgbClr val="000000"/>
                </a:solidFill>
                <a:sym typeface="Symbol" pitchFamily="18" charset="2"/>
              </a:rPr>
              <a:t>:  </a:t>
            </a:r>
            <a:r>
              <a:rPr lang="en-US" dirty="0" err="1">
                <a:solidFill>
                  <a:srgbClr val="000000"/>
                </a:solidFill>
              </a:rPr>
              <a:t>Rj</a:t>
            </a:r>
            <a:r>
              <a:rPr lang="en-US" dirty="0">
                <a:solidFill>
                  <a:srgbClr val="000000"/>
                </a:solidFill>
              </a:rPr>
              <a:t>  </a:t>
            </a:r>
            <a:r>
              <a:rPr lang="en-US" dirty="0">
                <a:solidFill>
                  <a:srgbClr val="000000"/>
                </a:solidFill>
                <a:sym typeface="Symbol" pitchFamily="18" charset="2"/>
              </a:rPr>
              <a:t> Pi</a:t>
            </a:r>
          </a:p>
          <a:p>
            <a:pPr marL="457200">
              <a:spcBef>
                <a:spcPts val="600"/>
              </a:spcBef>
              <a:spcAft>
                <a:spcPts val="0"/>
              </a:spcAft>
            </a:pP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13" name="Oval 4"/>
          <p:cNvSpPr>
            <a:spLocks noChangeArrowheads="1"/>
          </p:cNvSpPr>
          <p:nvPr/>
        </p:nvSpPr>
        <p:spPr bwMode="auto">
          <a:xfrm>
            <a:off x="6223033" y="4560039"/>
            <a:ext cx="685800" cy="685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sz="2800" dirty="0"/>
              <a:t>P</a:t>
            </a:r>
            <a:endParaRPr lang="en-US" dirty="0"/>
          </a:p>
        </p:txBody>
      </p:sp>
      <p:grpSp>
        <p:nvGrpSpPr>
          <p:cNvPr id="14" name="Group 5"/>
          <p:cNvGrpSpPr>
            <a:grpSpLocks/>
          </p:cNvGrpSpPr>
          <p:nvPr/>
        </p:nvGrpSpPr>
        <p:grpSpPr bwMode="auto">
          <a:xfrm>
            <a:off x="7706995" y="4849599"/>
            <a:ext cx="685800" cy="609600"/>
            <a:chOff x="2666" y="1966"/>
            <a:chExt cx="276" cy="264"/>
          </a:xfrm>
        </p:grpSpPr>
        <p:sp>
          <p:nvSpPr>
            <p:cNvPr id="15" name="Rectangle 6"/>
            <p:cNvSpPr>
              <a:spLocks noChangeArrowheads="1"/>
            </p:cNvSpPr>
            <p:nvPr/>
          </p:nvSpPr>
          <p:spPr bwMode="auto">
            <a:xfrm>
              <a:off x="2666" y="1966"/>
              <a:ext cx="276" cy="264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" name="Rectangle 7"/>
            <p:cNvSpPr>
              <a:spLocks noChangeArrowheads="1"/>
            </p:cNvSpPr>
            <p:nvPr/>
          </p:nvSpPr>
          <p:spPr bwMode="auto">
            <a:xfrm>
              <a:off x="2736" y="2026"/>
              <a:ext cx="47" cy="47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" name="Rectangle 8"/>
            <p:cNvSpPr>
              <a:spLocks noChangeArrowheads="1"/>
            </p:cNvSpPr>
            <p:nvPr/>
          </p:nvSpPr>
          <p:spPr bwMode="auto">
            <a:xfrm>
              <a:off x="2832" y="2026"/>
              <a:ext cx="47" cy="47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" name="Rectangle 9"/>
            <p:cNvSpPr>
              <a:spLocks noChangeArrowheads="1"/>
            </p:cNvSpPr>
            <p:nvPr/>
          </p:nvSpPr>
          <p:spPr bwMode="auto">
            <a:xfrm>
              <a:off x="2736" y="2108"/>
              <a:ext cx="47" cy="47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2832" y="2108"/>
              <a:ext cx="47" cy="47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20" name="TextBox 14"/>
          <p:cNvSpPr txBox="1">
            <a:spLocks noChangeArrowheads="1"/>
          </p:cNvSpPr>
          <p:nvPr/>
        </p:nvSpPr>
        <p:spPr bwMode="auto">
          <a:xfrm>
            <a:off x="7837871" y="4349834"/>
            <a:ext cx="3517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/>
              <a:t>R</a:t>
            </a:r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742FE93-9ACB-92EB-516D-0A6043CB5447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31721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2658"/>
            <a:ext cx="6886575" cy="709022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Resource Allocation Graph</a:t>
            </a:r>
          </a:p>
        </p:txBody>
      </p:sp>
      <p:sp>
        <p:nvSpPr>
          <p:cNvPr id="17" name="Line 3"/>
          <p:cNvSpPr>
            <a:spLocks noChangeShapeType="1"/>
          </p:cNvSpPr>
          <p:nvPr/>
        </p:nvSpPr>
        <p:spPr bwMode="auto">
          <a:xfrm>
            <a:off x="1621696" y="3957320"/>
            <a:ext cx="272414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  <p:sp>
        <p:nvSpPr>
          <p:cNvPr id="18" name="Line 7"/>
          <p:cNvSpPr>
            <a:spLocks noChangeShapeType="1"/>
          </p:cNvSpPr>
          <p:nvPr/>
        </p:nvSpPr>
        <p:spPr bwMode="auto">
          <a:xfrm>
            <a:off x="1621696" y="2890520"/>
            <a:ext cx="272414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  <p:pic>
        <p:nvPicPr>
          <p:cNvPr id="20" name="Picture 4" descr="3-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64640" y="2259649"/>
            <a:ext cx="6234906" cy="2088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3"/>
          <p:cNvSpPr txBox="1">
            <a:spLocks noChangeArrowheads="1"/>
          </p:cNvSpPr>
          <p:nvPr/>
        </p:nvSpPr>
        <p:spPr>
          <a:xfrm>
            <a:off x="364390" y="1037589"/>
            <a:ext cx="8393530" cy="5727429"/>
          </a:xfrm>
          <a:prstGeom prst="rect">
            <a:avLst/>
          </a:prstGeom>
        </p:spPr>
        <p:txBody>
          <a:bodyPr/>
          <a:lstStyle/>
          <a:p>
            <a:pPr marL="396875" indent="-396875">
              <a:lnSpc>
                <a:spcPct val="90000"/>
              </a:lnSpc>
              <a:spcBef>
                <a:spcPct val="20000"/>
              </a:spcBef>
              <a:buSzPct val="65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 process </a:t>
            </a:r>
            <a:r>
              <a:rPr lang="en-US" sz="2400" b="1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Requests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is </a:t>
            </a:r>
            <a:r>
              <a:rPr lang="en-US" sz="2400" b="1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Assigned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resource… </a:t>
            </a:r>
            <a:endParaRPr lang="en-US" sz="24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6875" indent="-396875" algn="l" eaLnBrk="0" hangingPunct="0">
              <a:lnSpc>
                <a:spcPct val="90000"/>
              </a:lnSpc>
              <a:spcBef>
                <a:spcPct val="20000"/>
              </a:spcBef>
              <a:buSzPct val="65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Modeled with directed graphs</a:t>
            </a:r>
          </a:p>
          <a:p>
            <a:pPr marL="547688" indent="-411163" algn="l" eaLnBrk="0" hangingPunct="0">
              <a:lnSpc>
                <a:spcPct val="90000"/>
              </a:lnSpc>
              <a:spcBef>
                <a:spcPct val="20000"/>
              </a:spcBef>
              <a:buSzPct val="65000"/>
              <a:buFont typeface="Wingdings 2" pitchFamily="18" charset="2"/>
              <a:buChar char=""/>
              <a:defRPr/>
            </a:pP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47688" indent="-411163" algn="l" eaLnBrk="0" hangingPunct="0">
              <a:lnSpc>
                <a:spcPct val="90000"/>
              </a:lnSpc>
              <a:spcBef>
                <a:spcPct val="20000"/>
              </a:spcBef>
              <a:buSzPct val="65000"/>
              <a:buFont typeface="Wingdings 2" pitchFamily="18" charset="2"/>
              <a:buChar char=""/>
              <a:defRPr/>
            </a:pP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47688" indent="-411163" algn="l" eaLnBrk="0" hangingPunct="0">
              <a:lnSpc>
                <a:spcPct val="90000"/>
              </a:lnSpc>
              <a:spcBef>
                <a:spcPct val="20000"/>
              </a:spcBef>
              <a:buSzPct val="65000"/>
              <a:buFont typeface="Wingdings 2" pitchFamily="18" charset="2"/>
              <a:buChar char=""/>
              <a:defRPr/>
            </a:pP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47688" indent="-411163" algn="l" eaLnBrk="0" hangingPunct="0">
              <a:lnSpc>
                <a:spcPct val="90000"/>
              </a:lnSpc>
              <a:spcBef>
                <a:spcPct val="20000"/>
              </a:spcBef>
              <a:buSzPct val="65000"/>
              <a:buFont typeface="Wingdings 2" pitchFamily="18" charset="2"/>
              <a:buChar char=""/>
              <a:defRPr/>
            </a:pP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47688" indent="-411163" algn="l" eaLnBrk="0" hangingPunct="0">
              <a:lnSpc>
                <a:spcPct val="90000"/>
              </a:lnSpc>
              <a:spcBef>
                <a:spcPct val="20000"/>
              </a:spcBef>
              <a:buSzPct val="65000"/>
              <a:defRPr/>
            </a:pP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47688" indent="-411163" algn="l" eaLnBrk="0" hangingPunct="0">
              <a:lnSpc>
                <a:spcPct val="90000"/>
              </a:lnSpc>
              <a:spcBef>
                <a:spcPct val="20000"/>
              </a:spcBef>
              <a:buSzPct val="65000"/>
              <a:buFont typeface="Wingdings 2" pitchFamily="18" charset="2"/>
              <a:buChar char=""/>
              <a:defRPr/>
            </a:pP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68363" lvl="1" indent="-282575" algn="l" eaLnBrk="0" hangingPunct="0">
              <a:lnSpc>
                <a:spcPct val="90000"/>
              </a:lnSpc>
              <a:spcBef>
                <a:spcPct val="20000"/>
              </a:spcBef>
              <a:buSzPct val="80000"/>
              <a:buFont typeface="Wingdings 2" pitchFamily="18" charset="2"/>
              <a:buChar char=""/>
              <a:defRPr/>
            </a:pP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30238" lvl="1" indent="-282575" algn="l" eaLnBrk="0" hangingPunct="0">
              <a:lnSpc>
                <a:spcPct val="90000"/>
              </a:lnSpc>
              <a:spcBef>
                <a:spcPct val="20000"/>
              </a:spcBef>
              <a:buSzPct val="80000"/>
              <a:buFont typeface="Arial"/>
              <a:buChar char="•"/>
              <a:defRPr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Resource R assigned to process A</a:t>
            </a:r>
          </a:p>
          <a:p>
            <a:pPr marL="630238" lvl="1" indent="-282575" algn="l" eaLnBrk="0" hangingPunct="0">
              <a:lnSpc>
                <a:spcPct val="90000"/>
              </a:lnSpc>
              <a:spcBef>
                <a:spcPct val="20000"/>
              </a:spcBef>
              <a:buSzPct val="80000"/>
              <a:buFont typeface="Arial"/>
              <a:buChar char="•"/>
              <a:defRPr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 B has requested, &amp; is waiting for resource S</a:t>
            </a:r>
          </a:p>
          <a:p>
            <a:pPr marL="630238" lvl="1" indent="-282575" algn="l" eaLnBrk="0" hangingPunct="0">
              <a:lnSpc>
                <a:spcPct val="90000"/>
              </a:lnSpc>
              <a:spcBef>
                <a:spcPct val="20000"/>
              </a:spcBef>
              <a:buSzPct val="80000"/>
              <a:buFont typeface="Arial"/>
              <a:buChar char="•"/>
              <a:defRPr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 C &amp; D are in deadlock, over resources T &amp; U</a:t>
            </a:r>
          </a:p>
          <a:p>
            <a:pPr marL="0" lvl="1" algn="ctr" eaLnBrk="0" hangingPunct="0">
              <a:lnSpc>
                <a:spcPct val="90000"/>
              </a:lnSpc>
              <a:spcBef>
                <a:spcPts val="1200"/>
              </a:spcBef>
              <a:buSzPct val="80000"/>
              <a:defRPr/>
            </a:pPr>
            <a:r>
              <a:rPr lang="en-US" sz="22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(if graph contains a cycle, deadlock may exist)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19BC6C1-2340-1C76-F664-E3092321FBA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26755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>
            <a:extLst>
              <a:ext uri="{FF2B5EF4-FFF2-40B4-BE49-F238E27FC236}">
                <a16:creationId xmlns:a16="http://schemas.microsoft.com/office/drawing/2014/main" id="{6CCAA8FF-39EF-CB78-D246-A2347FEB2D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6325" y="207963"/>
            <a:ext cx="8067675" cy="512762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Resource Allocation Graph – w/o Deadlock</a:t>
            </a:r>
          </a:p>
        </p:txBody>
      </p:sp>
      <p:pic>
        <p:nvPicPr>
          <p:cNvPr id="11267" name="Picture 1032">
            <a:extLst>
              <a:ext uri="{FF2B5EF4-FFF2-40B4-BE49-F238E27FC236}">
                <a16:creationId xmlns:a16="http://schemas.microsoft.com/office/drawing/2014/main" id="{9C888925-2B83-A384-DD9D-8B5B139A20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87" t="926" r="25287" b="1532"/>
          <a:stretch>
            <a:fillRect/>
          </a:stretch>
        </p:blipFill>
        <p:spPr bwMode="auto">
          <a:xfrm>
            <a:off x="4765040" y="2651760"/>
            <a:ext cx="3336809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BB4706F-A74E-043A-9C30-DC4D57D5A93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E77FC56-6E76-B468-C703-ACAD79174BC0}"/>
              </a:ext>
            </a:extLst>
          </p:cNvPr>
          <p:cNvGrpSpPr/>
          <p:nvPr/>
        </p:nvGrpSpPr>
        <p:grpSpPr>
          <a:xfrm>
            <a:off x="428261" y="1002031"/>
            <a:ext cx="8287476" cy="1381898"/>
            <a:chOff x="715010" y="1692911"/>
            <a:chExt cx="8287476" cy="138189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265BA3A-EDC3-2A4B-A422-92E09FFAFF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5010" y="1692911"/>
              <a:ext cx="2240330" cy="47910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255DEA7-B70D-04AA-1CF5-34699C9E53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6254" y="2204994"/>
              <a:ext cx="8276232" cy="869815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7AEA467-7375-0235-0193-AA6499B6CA33}"/>
              </a:ext>
            </a:extLst>
          </p:cNvPr>
          <p:cNvSpPr txBox="1"/>
          <p:nvPr/>
        </p:nvSpPr>
        <p:spPr>
          <a:xfrm>
            <a:off x="588645" y="3703320"/>
            <a:ext cx="34643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RAG contains no cycle, and no deadlock exists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67E9923-D676-0979-E192-32A02C8704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3463" y="273050"/>
            <a:ext cx="8110537" cy="469900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Resource Allocation Graph - with Deadlock</a:t>
            </a:r>
          </a:p>
        </p:txBody>
      </p:sp>
      <p:pic>
        <p:nvPicPr>
          <p:cNvPr id="12291" name="Picture 7">
            <a:extLst>
              <a:ext uri="{FF2B5EF4-FFF2-40B4-BE49-F238E27FC236}">
                <a16:creationId xmlns:a16="http://schemas.microsoft.com/office/drawing/2014/main" id="{D34F413A-FBC5-27AF-2F23-BB0DB095A4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1509" y="1991361"/>
            <a:ext cx="3751814" cy="4644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DBCED77-61C9-2B5E-1408-A5E171452D1A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2BB26E-CDD8-E6B7-6CCD-3394DE98F0CF}"/>
              </a:ext>
            </a:extLst>
          </p:cNvPr>
          <p:cNvSpPr txBox="1"/>
          <p:nvPr/>
        </p:nvSpPr>
        <p:spPr>
          <a:xfrm>
            <a:off x="456838" y="1094155"/>
            <a:ext cx="8311604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Consider process P3 requests an instance of resource type R2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Add request edge in graph</a:t>
            </a:r>
            <a:b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P3 </a:t>
            </a:r>
            <a:r>
              <a:rPr lang="en-US" sz="2200" dirty="0">
                <a:solidFill>
                  <a:srgbClr val="000000"/>
                </a:solidFill>
                <a:latin typeface="Abadi" panose="020B0604020104020204" pitchFamily="34" charset="0"/>
              </a:rPr>
              <a:t>→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R2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No instance of R2 readily </a:t>
            </a:r>
            <a:b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available 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Two cycles in system…??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Processes P1, P2 &amp; P3 are</a:t>
            </a:r>
            <a:b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in deadlock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30031623-9841-3DAE-6D63-1F714258D3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41425" y="304800"/>
            <a:ext cx="7902575" cy="457200"/>
          </a:xfrm>
        </p:spPr>
        <p:txBody>
          <a:bodyPr/>
          <a:lstStyle/>
          <a:p>
            <a:pPr eaLnBrk="1" hangingPunct="1"/>
            <a:r>
              <a:rPr lang="en-US" altLang="en-US" dirty="0"/>
              <a:t>RAG With a Cycle - No Deadlock</a:t>
            </a:r>
          </a:p>
        </p:txBody>
      </p:sp>
      <p:pic>
        <p:nvPicPr>
          <p:cNvPr id="13315" name="Picture 4" descr="7">
            <a:extLst>
              <a:ext uri="{FF2B5EF4-FFF2-40B4-BE49-F238E27FC236}">
                <a16:creationId xmlns:a16="http://schemas.microsoft.com/office/drawing/2014/main" id="{E4721090-BB97-7909-F926-6DB5F624A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1415" y="1731387"/>
            <a:ext cx="3300413" cy="421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FF51D8C-4DC3-F5F4-6AF7-33E0F49B215B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69EE05-5695-57F7-4BD0-90098FD1DBCC}"/>
              </a:ext>
            </a:extLst>
          </p:cNvPr>
          <p:cNvSpPr txBox="1"/>
          <p:nvPr/>
        </p:nvSpPr>
        <p:spPr>
          <a:xfrm>
            <a:off x="365760" y="1063675"/>
            <a:ext cx="68338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Consider the resource allocation graph, with a cycle…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65C992-CDE5-C042-8C7E-F404B15ED6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372" y="1588890"/>
            <a:ext cx="4067175" cy="4762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2CD6B7-ED85-C140-3873-67788814112C}"/>
              </a:ext>
            </a:extLst>
          </p:cNvPr>
          <p:cNvSpPr txBox="1"/>
          <p:nvPr/>
        </p:nvSpPr>
        <p:spPr>
          <a:xfrm>
            <a:off x="365760" y="2751222"/>
            <a:ext cx="457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Cycle, but NO deadlock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process P4 may release its </a:t>
            </a:r>
            <a:b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instance of R2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R2 can then be allocated to P3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breaks the cycle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C6B601B-5A8C-796E-CD00-D0185DE670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Basic Facts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A49FB131-0DDB-7816-53E4-D3D24B2FE9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1028" y="1228725"/>
            <a:ext cx="7516812" cy="440055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dirty="0">
                <a:solidFill>
                  <a:srgbClr val="C00000"/>
                </a:solidFill>
              </a:rPr>
              <a:t>If RAG contains no cycles…</a:t>
            </a:r>
          </a:p>
          <a:p>
            <a:pPr lvl="1">
              <a:spcBef>
                <a:spcPts val="600"/>
              </a:spcBef>
            </a:pPr>
            <a:r>
              <a:rPr lang="en-US" altLang="en-US" sz="2300" dirty="0">
                <a:sym typeface="Symbol" panose="05050102010706020507" pitchFamily="18" charset="2"/>
              </a:rPr>
              <a:t>no deadlock</a:t>
            </a:r>
          </a:p>
          <a:p>
            <a:pPr>
              <a:spcBef>
                <a:spcPts val="1800"/>
              </a:spcBef>
            </a:pPr>
            <a:r>
              <a:rPr lang="en-US" altLang="en-US" dirty="0">
                <a:solidFill>
                  <a:srgbClr val="C00000"/>
                </a:solidFill>
                <a:sym typeface="Symbol" panose="05050102010706020507" pitchFamily="18" charset="2"/>
              </a:rPr>
              <a:t>If RAG contains a cycle…</a:t>
            </a:r>
          </a:p>
          <a:p>
            <a:pPr lvl="1">
              <a:spcBef>
                <a:spcPts val="600"/>
              </a:spcBef>
            </a:pPr>
            <a:r>
              <a:rPr lang="en-US" altLang="en-US" sz="2300" dirty="0">
                <a:sym typeface="Symbol" panose="05050102010706020507" pitchFamily="18" charset="2"/>
              </a:rPr>
              <a:t>if only </a:t>
            </a:r>
            <a:r>
              <a:rPr lang="en-US" altLang="en-US" sz="2300" dirty="0">
                <a:solidFill>
                  <a:srgbClr val="0000CC"/>
                </a:solidFill>
                <a:sym typeface="Symbol" panose="05050102010706020507" pitchFamily="18" charset="2"/>
              </a:rPr>
              <a:t>one instance </a:t>
            </a:r>
            <a:r>
              <a:rPr lang="en-US" altLang="en-US" sz="2300" dirty="0">
                <a:sym typeface="Symbol" panose="05050102010706020507" pitchFamily="18" charset="2"/>
              </a:rPr>
              <a:t>per resource type </a:t>
            </a:r>
          </a:p>
          <a:p>
            <a:pPr lvl="2">
              <a:spcBef>
                <a:spcPts val="600"/>
              </a:spcBef>
            </a:pPr>
            <a:r>
              <a:rPr lang="en-US" altLang="en-US" sz="2300" dirty="0">
                <a:sym typeface="Symbol" panose="05050102010706020507" pitchFamily="18" charset="2"/>
              </a:rPr>
              <a:t>then deadlock</a:t>
            </a:r>
          </a:p>
          <a:p>
            <a:pPr lvl="1">
              <a:spcBef>
                <a:spcPts val="1200"/>
              </a:spcBef>
            </a:pPr>
            <a:r>
              <a:rPr lang="en-US" altLang="en-US" sz="2300" dirty="0">
                <a:sym typeface="Symbol" panose="05050102010706020507" pitchFamily="18" charset="2"/>
              </a:rPr>
              <a:t>if </a:t>
            </a:r>
            <a:r>
              <a:rPr lang="en-US" altLang="en-US" sz="2300" dirty="0">
                <a:solidFill>
                  <a:srgbClr val="0000CC"/>
                </a:solidFill>
                <a:sym typeface="Symbol" panose="05050102010706020507" pitchFamily="18" charset="2"/>
              </a:rPr>
              <a:t>several instances </a:t>
            </a:r>
            <a:r>
              <a:rPr lang="en-US" altLang="en-US" sz="2300" dirty="0">
                <a:sym typeface="Symbol" panose="05050102010706020507" pitchFamily="18" charset="2"/>
              </a:rPr>
              <a:t>per resource type </a:t>
            </a:r>
          </a:p>
          <a:p>
            <a:pPr lvl="2">
              <a:spcBef>
                <a:spcPts val="600"/>
              </a:spcBef>
            </a:pPr>
            <a:r>
              <a:rPr lang="en-US" altLang="en-US" sz="2300" dirty="0">
                <a:sym typeface="Symbol" panose="05050102010706020507" pitchFamily="18" charset="2"/>
              </a:rPr>
              <a:t>possibility of deadlock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F6471C4-02C6-C6D3-CF97-9F2142002146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2658"/>
            <a:ext cx="6886575" cy="719182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Sample Problem</a:t>
            </a:r>
          </a:p>
        </p:txBody>
      </p:sp>
      <p:sp>
        <p:nvSpPr>
          <p:cNvPr id="13" name="Rectangle 3"/>
          <p:cNvSpPr>
            <a:spLocks noGrp="1" noChangeArrowheads="1"/>
          </p:cNvSpPr>
          <p:nvPr>
            <p:ph idx="1"/>
          </p:nvPr>
        </p:nvSpPr>
        <p:spPr>
          <a:xfrm>
            <a:off x="498566" y="1011022"/>
            <a:ext cx="8421914" cy="5642026"/>
          </a:xfrm>
          <a:noFill/>
        </p:spPr>
        <p:txBody>
          <a:bodyPr>
            <a:noAutofit/>
          </a:bodyPr>
          <a:lstStyle/>
          <a:p>
            <a:pPr marL="0" eaLnBrk="1" hangingPunct="1">
              <a:spcBef>
                <a:spcPts val="600"/>
              </a:spcBef>
              <a:buClr>
                <a:schemeClr val="tx1"/>
              </a:buClr>
              <a:buFont typeface="Wingdings 2" pitchFamily="18" charset="2"/>
              <a:buNone/>
            </a:pPr>
            <a:r>
              <a:rPr lang="en-US" b="1" u="sng" dirty="0"/>
              <a:t>Problem 1 </a:t>
            </a:r>
            <a:endParaRPr lang="en-US" dirty="0"/>
          </a:p>
          <a:p>
            <a:pPr marL="0" eaLnBrk="1" hangingPunct="1">
              <a:spcBef>
                <a:spcPts val="600"/>
              </a:spcBef>
              <a:buClr>
                <a:schemeClr val="tx1"/>
              </a:buClr>
              <a:buFont typeface="Wingdings 2" pitchFamily="18" charset="2"/>
              <a:buNone/>
            </a:pPr>
            <a:r>
              <a:rPr lang="en-US" dirty="0"/>
              <a:t>A system has four processes P1 thru P4, and two resource types </a:t>
            </a:r>
            <a:br>
              <a:rPr lang="en-US" dirty="0"/>
            </a:br>
            <a:r>
              <a:rPr lang="en-US" dirty="0"/>
              <a:t>R1 &amp; R2. It has 2 units of R1, and 3 units of R2.</a:t>
            </a:r>
          </a:p>
          <a:p>
            <a:pPr marL="0" eaLnBrk="1" hangingPunct="1">
              <a:spcBef>
                <a:spcPts val="600"/>
              </a:spcBef>
              <a:buClr>
                <a:schemeClr val="tx1"/>
              </a:buClr>
              <a:buFont typeface="Wingdings 2" pitchFamily="18" charset="2"/>
              <a:buNone/>
            </a:pPr>
            <a:r>
              <a:rPr lang="en-US" dirty="0"/>
              <a:t>Given that:</a:t>
            </a:r>
          </a:p>
          <a:p>
            <a:pPr marL="690563" lvl="2" indent="-334963" eaLnBrk="1" hangingPunct="1">
              <a:spcBef>
                <a:spcPts val="600"/>
              </a:spcBef>
              <a:buClr>
                <a:schemeClr val="tx1"/>
              </a:buClr>
            </a:pPr>
            <a:r>
              <a:rPr lang="en-US" dirty="0"/>
              <a:t>P1 requests 2 units of R2, and 1 unit of R1</a:t>
            </a:r>
          </a:p>
          <a:p>
            <a:pPr marL="690563" lvl="2" indent="-334963" eaLnBrk="1" hangingPunct="1">
              <a:spcBef>
                <a:spcPts val="600"/>
              </a:spcBef>
              <a:buClr>
                <a:schemeClr val="tx1"/>
              </a:buClr>
            </a:pPr>
            <a:r>
              <a:rPr lang="en-US" dirty="0"/>
              <a:t>P2 holds 2 units of R1, and 1 unit of R2</a:t>
            </a:r>
          </a:p>
          <a:p>
            <a:pPr marL="690563" lvl="2" indent="-334963" eaLnBrk="1" hangingPunct="1">
              <a:spcBef>
                <a:spcPts val="600"/>
              </a:spcBef>
              <a:buClr>
                <a:schemeClr val="tx1"/>
              </a:buClr>
            </a:pPr>
            <a:r>
              <a:rPr lang="en-US" dirty="0"/>
              <a:t>P3 holds 1 unit of R2</a:t>
            </a:r>
          </a:p>
          <a:p>
            <a:pPr marL="690563" lvl="2" indent="-334963" eaLnBrk="1" hangingPunct="1">
              <a:spcBef>
                <a:spcPts val="600"/>
              </a:spcBef>
              <a:buClr>
                <a:schemeClr val="tx1"/>
              </a:buClr>
            </a:pPr>
            <a:r>
              <a:rPr lang="en-US" dirty="0"/>
              <a:t>P4 requests 1 unit of R1</a:t>
            </a:r>
          </a:p>
          <a:p>
            <a:pPr marL="57150" lvl="1" indent="-342900" eaLnBrk="1" hangingPunct="1">
              <a:spcBef>
                <a:spcPts val="1800"/>
              </a:spcBef>
              <a:buClr>
                <a:schemeClr val="tx1"/>
              </a:buClr>
            </a:pPr>
            <a:r>
              <a:rPr lang="en-US" sz="2400" dirty="0"/>
              <a:t>Draw the RAG for this state of the system</a:t>
            </a:r>
          </a:p>
          <a:p>
            <a:pPr marL="690563" lvl="2" indent="-342900" eaLnBrk="1" hangingPunct="1">
              <a:spcBef>
                <a:spcPts val="600"/>
              </a:spcBef>
              <a:buClr>
                <a:schemeClr val="tx1"/>
              </a:buClr>
            </a:pPr>
            <a:r>
              <a:rPr lang="en-US" sz="2400" dirty="0"/>
              <a:t>is the system in deadlock</a:t>
            </a:r>
          </a:p>
          <a:p>
            <a:pPr marL="690563" lvl="2" indent="-342900" eaLnBrk="1" hangingPunct="1">
              <a:spcBef>
                <a:spcPts val="600"/>
              </a:spcBef>
              <a:buClr>
                <a:schemeClr val="tx1"/>
              </a:buClr>
            </a:pPr>
            <a:r>
              <a:rPr lang="en-US" sz="2400" dirty="0"/>
              <a:t>if so, which process(es) are involved</a:t>
            </a:r>
          </a:p>
          <a:p>
            <a:pPr marL="347663" lvl="2" indent="0" eaLnBrk="1" hangingPunct="1">
              <a:spcBef>
                <a:spcPts val="1200"/>
              </a:spcBef>
              <a:buClr>
                <a:schemeClr val="tx1"/>
              </a:buClr>
              <a:buNone/>
            </a:pPr>
            <a:r>
              <a:rPr lang="en-US" sz="2400" i="1" dirty="0">
                <a:solidFill>
                  <a:srgbClr val="C00000"/>
                </a:solidFill>
              </a:rPr>
              <a:t>	     (there is No Deadlock in the system…!!)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96BFDAB-F40D-ADDA-D863-5818B3515BC5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54427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rhk\AppData\Local\Microsoft\Windows\Temporary Internet Files\Content.IE5\R0QNV618\MC900091123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6413" y="4586892"/>
            <a:ext cx="1457959" cy="1694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2"/>
          <p:cNvSpPr txBox="1">
            <a:spLocks/>
          </p:cNvSpPr>
          <p:nvPr/>
        </p:nvSpPr>
        <p:spPr>
          <a:xfrm>
            <a:off x="345440" y="1097280"/>
            <a:ext cx="8468359" cy="50749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6075" indent="-346075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Generally speaking we can deal with Deadlock problem in one of three ways:</a:t>
            </a:r>
          </a:p>
          <a:p>
            <a:pPr marL="800100" lvl="1" indent="-34290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Ensure that system will never enter deadlock state </a:t>
            </a:r>
            <a:b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(a)  Prevention          (b)  Avoidance</a:t>
            </a:r>
          </a:p>
          <a:p>
            <a:pPr marL="800100" lvl="1" indent="-34290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Allow system to enter deadlock state &amp; then recover </a:t>
            </a:r>
            <a:b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(c)  Detection &amp; Recovery</a:t>
            </a:r>
          </a:p>
          <a:p>
            <a:pPr marL="800100" lvl="1" indent="-34290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Ignore the problem &amp; pretend that deadlocks never occur</a:t>
            </a:r>
            <a:b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(d)  Do nothing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2658"/>
            <a:ext cx="6886575" cy="653142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Deadlock Solutions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0A34D52-407F-A31E-758A-8F9D93F85484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515516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 txBox="1">
            <a:spLocks/>
          </p:cNvSpPr>
          <p:nvPr/>
        </p:nvSpPr>
        <p:spPr>
          <a:xfrm>
            <a:off x="375920" y="995680"/>
            <a:ext cx="8656320" cy="5689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Prevention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Design the system so that deadlock is impossible</a:t>
            </a:r>
          </a:p>
          <a:p>
            <a:pPr lvl="1"/>
            <a:r>
              <a:rPr lang="en-US" sz="2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</a:t>
            </a:r>
            <a:r>
              <a:rPr lang="en-US" sz="22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disallow one of four conditions for deadlock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Avoidance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Steer around deadlock with smart scheduling</a:t>
            </a:r>
          </a:p>
          <a:p>
            <a:pPr lvl="1"/>
            <a:r>
              <a:rPr lang="en-US" sz="2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</a:t>
            </a:r>
            <a:r>
              <a:rPr lang="en-US" sz="22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 dynamic choices that help avoid deadlocks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Detection &amp; recovery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Check for deadlocks periodically, &amp; apply recovery</a:t>
            </a:r>
          </a:p>
          <a:p>
            <a:pPr lvl="1"/>
            <a:r>
              <a:rPr lang="en-US" sz="2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</a:t>
            </a:r>
            <a:r>
              <a:rPr lang="en-US" sz="22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abort deadlocked process, release resources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 nothing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Prevention, avoidance and detection/recovery are expensive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deadlock is rare, is it worth the overhead…??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Manual intervention, if needed  </a:t>
            </a:r>
          </a:p>
          <a:p>
            <a:pPr lvl="1"/>
            <a:r>
              <a:rPr lang="en-US" sz="22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   </a:t>
            </a:r>
            <a:r>
              <a:rPr lang="en-US" sz="22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kill processes, reboot system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2657"/>
            <a:ext cx="6886575" cy="720723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Deadlock Solutions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4EA091E-4BA4-8FF2-4E64-B690B206C9C9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82190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>
            <a:extLst>
              <a:ext uri="{FF2B5EF4-FFF2-40B4-BE49-F238E27FC236}">
                <a16:creationId xmlns:a16="http://schemas.microsoft.com/office/drawing/2014/main" id="{F3E9582F-73D2-4BB5-8C85-155733606EC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33680" y="2276817"/>
            <a:ext cx="8580119" cy="1063396"/>
          </a:xfrm>
        </p:spPr>
        <p:txBody>
          <a:bodyPr/>
          <a:lstStyle/>
          <a:p>
            <a:pPr marL="457200" lvl="1" indent="0" algn="ctr">
              <a:buNone/>
            </a:pPr>
            <a:r>
              <a:rPr lang="en-US" sz="3200" b="1" dirty="0">
                <a:solidFill>
                  <a:srgbClr val="006699"/>
                </a:solidFill>
                <a:latin typeface="+mj-lt"/>
              </a:rPr>
              <a:t>Prevention</a:t>
            </a:r>
            <a:endParaRPr lang="en-US" altLang="en-US" sz="3200" b="1" dirty="0">
              <a:solidFill>
                <a:srgbClr val="006699"/>
              </a:solidFill>
              <a:latin typeface="+mj-lt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C740614-1FBB-D246-96C3-BF4C6DE71AD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09034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2658"/>
            <a:ext cx="6886575" cy="719182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Deadlock Prevention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>
          <a:xfrm>
            <a:off x="436880" y="1127760"/>
            <a:ext cx="8478520" cy="534924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6075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Restrain how Resource Requests can be allocated…</a:t>
            </a:r>
          </a:p>
          <a:p>
            <a:pPr marL="3175" indent="0" algn="ctr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“Ensure that at least</a:t>
            </a:r>
            <a:br>
              <a:rPr lang="en-US" sz="2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of the four necessary conditions for deadlocks </a:t>
            </a:r>
            <a:br>
              <a:rPr lang="en-US" sz="2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violated”</a:t>
            </a:r>
          </a:p>
          <a:p>
            <a:pPr marL="803275" lvl="1" algn="just">
              <a:spcBef>
                <a:spcPts val="1800"/>
              </a:spcBef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Mutual Exclusion</a:t>
            </a:r>
          </a:p>
          <a:p>
            <a:pPr marL="803275" lvl="1" algn="just">
              <a:spcBef>
                <a:spcPts val="1200"/>
              </a:spcBef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Hold &amp; Wait</a:t>
            </a:r>
          </a:p>
          <a:p>
            <a:pPr marL="803275" lvl="1" algn="just">
              <a:spcBef>
                <a:spcPts val="1200"/>
              </a:spcBef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No Preemption</a:t>
            </a:r>
          </a:p>
          <a:p>
            <a:pPr marL="803275" lvl="1" algn="just">
              <a:spcBef>
                <a:spcPts val="1200"/>
              </a:spcBef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Circular Wait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E4C3717-F87F-AD4F-2FC6-733A081C4656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1049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2658"/>
            <a:ext cx="6886575" cy="688702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Deadlock Prevention</a:t>
            </a: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>
          <a:xfrm>
            <a:off x="447040" y="1169799"/>
            <a:ext cx="8427720" cy="559521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>
              <a:spcBef>
                <a:spcPts val="1200"/>
              </a:spcBef>
              <a:buFont typeface="Wingdings 2" pitchFamily="18" charset="2"/>
              <a:buNone/>
            </a:pP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Deny Mutual Exclusion :</a:t>
            </a:r>
          </a:p>
          <a:p>
            <a:pPr marL="457200">
              <a:lnSpc>
                <a:spcPct val="110000"/>
              </a:lnSpc>
              <a:spcBef>
                <a:spcPts val="1200"/>
              </a:spcBef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Denying mutual exclusion can help with DL</a:t>
            </a:r>
          </a:p>
          <a:p>
            <a:pPr marL="457200">
              <a:lnSpc>
                <a:spcPct val="110000"/>
              </a:lnSpc>
              <a:spcBef>
                <a:spcPts val="1200"/>
              </a:spcBef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But not possible to totally prevent deadlocks, by denying mutual exclusion condition alone </a:t>
            </a:r>
          </a:p>
          <a:p>
            <a:pPr marL="857250" lvl="1">
              <a:lnSpc>
                <a:spcPct val="110000"/>
              </a:lnSpc>
              <a:spcBef>
                <a:spcPts val="1200"/>
              </a:spcBef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certain resources are non-sharable</a:t>
            </a:r>
            <a:endParaRPr lang="en-US" sz="22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57250" lvl="1">
              <a:lnSpc>
                <a:spcPct val="110000"/>
              </a:lnSpc>
              <a:spcBef>
                <a:spcPts val="1200"/>
              </a:spcBef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cannot deny mutual exclusion for </a:t>
            </a:r>
            <a:r>
              <a:rPr lang="en-US" sz="22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non-sharable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resource, </a:t>
            </a:r>
            <a:b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mutex, semaphores, printers, </a:t>
            </a:r>
            <a:r>
              <a:rPr lang="en-US" sz="2200" i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endParaRPr lang="en-US" sz="2200" i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1" indent="0" algn="ctr">
              <a:lnSpc>
                <a:spcPct val="120000"/>
              </a:lnSpc>
              <a:spcBef>
                <a:spcPts val="1800"/>
              </a:spcBef>
              <a:buNone/>
            </a:pPr>
            <a:r>
              <a:rPr lang="en-US" sz="21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process A holds mutex 1 and waits for mutex 2, </a:t>
            </a:r>
            <a:br>
              <a:rPr lang="en-US" sz="21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1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while process B holds mutex 2 and waits for mutex 1, </a:t>
            </a:r>
            <a:br>
              <a:rPr lang="en-US" sz="21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1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both will be stuck in a deadlock</a:t>
            </a:r>
          </a:p>
          <a:p>
            <a:pPr marL="0" lvl="1" indent="0" algn="ctr">
              <a:lnSpc>
                <a:spcPct val="120000"/>
              </a:lnSpc>
              <a:spcBef>
                <a:spcPts val="1800"/>
              </a:spcBef>
              <a:buNone/>
            </a:pPr>
            <a:r>
              <a:rPr lang="en-US" sz="21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cannot preempt a process that has printed half a page</a:t>
            </a:r>
            <a:br>
              <a:rPr lang="en-US" sz="21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1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give the printer to another process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6F2D577-DDE6-F04F-3D55-566F42970A3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521721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2658"/>
            <a:ext cx="6886575" cy="698862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Deadlock Prevention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>
          <a:xfrm>
            <a:off x="325120" y="1119700"/>
            <a:ext cx="8651240" cy="56134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>
              <a:spcBef>
                <a:spcPts val="600"/>
              </a:spcBef>
              <a:buFont typeface="Wingdings 2" pitchFamily="18" charset="2"/>
              <a:buNone/>
            </a:pP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Deny Hold &amp; Wait :</a:t>
            </a:r>
          </a:p>
          <a:p>
            <a:pPr marL="457200">
              <a:spcBef>
                <a:spcPts val="1200"/>
              </a:spcBef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must guarantee that whenever a process requests a resource, it is not holding any other resource</a:t>
            </a:r>
          </a:p>
          <a:p>
            <a:pPr marL="457200">
              <a:spcBef>
                <a:spcPts val="1800"/>
              </a:spcBef>
            </a:pPr>
            <a:r>
              <a:rPr lang="en-US" sz="23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Option 1  </a:t>
            </a:r>
          </a:p>
          <a:p>
            <a:pPr marL="777875" lvl="1">
              <a:spcBef>
                <a:spcPts val="600"/>
              </a:spcBef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 be allocated all requested resources, before it starts</a:t>
            </a:r>
          </a:p>
          <a:p>
            <a:pPr marL="777875" lvl="1">
              <a:spcBef>
                <a:spcPts val="600"/>
              </a:spcBef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but allocated resources may remain unused for long period </a:t>
            </a:r>
            <a:b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sz="2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(low resource utilization)</a:t>
            </a:r>
          </a:p>
          <a:p>
            <a:pPr marL="457200">
              <a:spcBef>
                <a:spcPts val="1800"/>
              </a:spcBef>
            </a:pPr>
            <a:r>
              <a:rPr lang="en-US" sz="23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Option 2 </a:t>
            </a:r>
          </a:p>
          <a:p>
            <a:pPr marL="777875" lvl="1">
              <a:spcBef>
                <a:spcPts val="600"/>
              </a:spcBef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 must release all resources it currently holds, before it can request additional resources </a:t>
            </a:r>
          </a:p>
          <a:p>
            <a:pPr marL="777875" lvl="1">
              <a:spcBef>
                <a:spcPts val="600"/>
              </a:spcBef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ensures process cannot hold resource while waiting for others</a:t>
            </a:r>
            <a:b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sz="2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(starvation possible)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3640656-4944-1BE2-3A1E-0E4616ED8406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984963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83458"/>
            <a:ext cx="6886575" cy="648062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Deadlock Prevention</a:t>
            </a: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>
          <a:xfrm>
            <a:off x="436880" y="1129860"/>
            <a:ext cx="8565606" cy="5323112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>
              <a:spcBef>
                <a:spcPts val="600"/>
              </a:spcBef>
              <a:buFont typeface="Wingdings 2" pitchFamily="18" charset="2"/>
              <a:buNone/>
            </a:pP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Allow Preemption :</a:t>
            </a:r>
          </a:p>
          <a:p>
            <a:pPr marL="457200">
              <a:spcBef>
                <a:spcPts val="1200"/>
              </a:spcBef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process is holding some resource, &amp; requests another resource that cannot be allocated immediately, then all resources currently held are preempted</a:t>
            </a:r>
          </a:p>
          <a:p>
            <a:pPr marL="857250" lvl="1">
              <a:spcBef>
                <a:spcPts val="600"/>
              </a:spcBef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 restarted only when it can be allocated all required resources  –  </a:t>
            </a:r>
            <a:r>
              <a:rPr lang="en-US" sz="22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old as well as new ones</a:t>
            </a:r>
          </a:p>
          <a:p>
            <a:pPr marL="457200">
              <a:spcBef>
                <a:spcPts val="1800"/>
              </a:spcBef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Protocol often applied to resources, whose state can be saved &amp; restored, easily</a:t>
            </a:r>
            <a:b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22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preemptable resources,  </a:t>
            </a:r>
            <a:r>
              <a:rPr lang="en-US" sz="2200" i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n-US" sz="22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CPU registers &amp; memory space</a:t>
            </a:r>
          </a:p>
          <a:p>
            <a:pPr marL="457200">
              <a:spcBef>
                <a:spcPts val="1800"/>
              </a:spcBef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Cannot be applied to resources, like printers &amp; tape drives</a:t>
            </a:r>
          </a:p>
          <a:p>
            <a:pPr marL="0" lvl="1" indent="3175" algn="ctr">
              <a:spcBef>
                <a:spcPts val="600"/>
              </a:spcBef>
              <a:buNone/>
            </a:pPr>
            <a:r>
              <a:rPr lang="en-US" sz="2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2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take tape drive away from a process</a:t>
            </a:r>
            <a:br>
              <a:rPr lang="en-US" sz="22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is busy writing a tape</a:t>
            </a:r>
          </a:p>
          <a:p>
            <a:pPr marL="457200">
              <a:spcBef>
                <a:spcPts val="600"/>
              </a:spcBef>
            </a:pP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>
              <a:spcBef>
                <a:spcPts val="600"/>
              </a:spcBef>
            </a:pP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1516F7F-2158-CD5A-71D4-5CF4AA31ED64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35248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2443331" y="3137500"/>
            <a:ext cx="5461000" cy="1244600"/>
            <a:chOff x="0" y="0"/>
            <a:chExt cx="3440" cy="784"/>
          </a:xfrm>
        </p:grpSpPr>
        <p:sp>
          <p:nvSpPr>
            <p:cNvPr id="5" name="Oval 13"/>
            <p:cNvSpPr>
              <a:spLocks/>
            </p:cNvSpPr>
            <p:nvPr/>
          </p:nvSpPr>
          <p:spPr bwMode="auto">
            <a:xfrm>
              <a:off x="0" y="304"/>
              <a:ext cx="160" cy="160"/>
            </a:xfrm>
            <a:prstGeom prst="ellipse">
              <a:avLst/>
            </a:prstGeom>
            <a:solidFill>
              <a:srgbClr val="008000"/>
            </a:solidFill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6" name="Oval 14"/>
            <p:cNvSpPr>
              <a:spLocks/>
            </p:cNvSpPr>
            <p:nvPr/>
          </p:nvSpPr>
          <p:spPr bwMode="auto">
            <a:xfrm>
              <a:off x="1248" y="40"/>
              <a:ext cx="160" cy="160"/>
            </a:xfrm>
            <a:prstGeom prst="ellipse">
              <a:avLst/>
            </a:prstGeom>
            <a:solidFill>
              <a:srgbClr val="008000"/>
            </a:solidFill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7" name="Oval 15"/>
            <p:cNvSpPr>
              <a:spLocks/>
            </p:cNvSpPr>
            <p:nvPr/>
          </p:nvSpPr>
          <p:spPr bwMode="auto">
            <a:xfrm>
              <a:off x="2592" y="304"/>
              <a:ext cx="160" cy="160"/>
            </a:xfrm>
            <a:prstGeom prst="ellipse">
              <a:avLst/>
            </a:prstGeom>
            <a:solidFill>
              <a:srgbClr val="008000"/>
            </a:solidFill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8" name="Oval 16"/>
            <p:cNvSpPr>
              <a:spLocks/>
            </p:cNvSpPr>
            <p:nvPr/>
          </p:nvSpPr>
          <p:spPr bwMode="auto">
            <a:xfrm>
              <a:off x="1248" y="584"/>
              <a:ext cx="160" cy="160"/>
            </a:xfrm>
            <a:prstGeom prst="ellipse">
              <a:avLst/>
            </a:prstGeom>
            <a:solidFill>
              <a:srgbClr val="008000"/>
            </a:solidFill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9" name="Rectangle 17"/>
            <p:cNvSpPr>
              <a:spLocks/>
            </p:cNvSpPr>
            <p:nvPr/>
          </p:nvSpPr>
          <p:spPr bwMode="auto">
            <a:xfrm>
              <a:off x="592" y="264"/>
              <a:ext cx="240" cy="240"/>
            </a:xfrm>
            <a:prstGeom prst="rect">
              <a:avLst/>
            </a:prstGeom>
            <a:solidFill>
              <a:srgbClr val="008000"/>
            </a:solidFill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10" name="Rectangle 18"/>
            <p:cNvSpPr>
              <a:spLocks/>
            </p:cNvSpPr>
            <p:nvPr/>
          </p:nvSpPr>
          <p:spPr bwMode="auto">
            <a:xfrm>
              <a:off x="1936" y="0"/>
              <a:ext cx="240" cy="240"/>
            </a:xfrm>
            <a:prstGeom prst="rect">
              <a:avLst/>
            </a:prstGeom>
            <a:solidFill>
              <a:srgbClr val="008000"/>
            </a:solidFill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11" name="Rectangle 19"/>
            <p:cNvSpPr>
              <a:spLocks/>
            </p:cNvSpPr>
            <p:nvPr/>
          </p:nvSpPr>
          <p:spPr bwMode="auto">
            <a:xfrm>
              <a:off x="1936" y="544"/>
              <a:ext cx="240" cy="240"/>
            </a:xfrm>
            <a:prstGeom prst="rect">
              <a:avLst/>
            </a:prstGeom>
            <a:solidFill>
              <a:srgbClr val="008000"/>
            </a:solidFill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12" name="Line 20"/>
            <p:cNvSpPr>
              <a:spLocks noChangeShapeType="1"/>
            </p:cNvSpPr>
            <p:nvPr/>
          </p:nvSpPr>
          <p:spPr bwMode="auto">
            <a:xfrm flipH="1">
              <a:off x="872" y="144"/>
              <a:ext cx="368" cy="207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stealth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3" name="Line 21"/>
            <p:cNvSpPr>
              <a:spLocks noChangeShapeType="1"/>
            </p:cNvSpPr>
            <p:nvPr/>
          </p:nvSpPr>
          <p:spPr bwMode="auto">
            <a:xfrm rot="10800000">
              <a:off x="2216" y="128"/>
              <a:ext cx="319" cy="175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stealth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4" name="Line 22"/>
            <p:cNvSpPr>
              <a:spLocks noChangeShapeType="1"/>
            </p:cNvSpPr>
            <p:nvPr/>
          </p:nvSpPr>
          <p:spPr bwMode="auto">
            <a:xfrm rot="10800000" flipH="1">
              <a:off x="1439" y="667"/>
              <a:ext cx="473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stealth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5" name="Line 23"/>
            <p:cNvSpPr>
              <a:spLocks noChangeShapeType="1"/>
            </p:cNvSpPr>
            <p:nvPr/>
          </p:nvSpPr>
          <p:spPr bwMode="auto">
            <a:xfrm rot="10800000" flipH="1">
              <a:off x="207" y="384"/>
              <a:ext cx="361" cy="0"/>
            </a:xfrm>
            <a:prstGeom prst="line">
              <a:avLst/>
            </a:prstGeom>
            <a:noFill/>
            <a:ln w="63500">
              <a:solidFill>
                <a:srgbClr val="0000FF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6" name="Line 24"/>
            <p:cNvSpPr>
              <a:spLocks noChangeShapeType="1"/>
            </p:cNvSpPr>
            <p:nvPr/>
          </p:nvSpPr>
          <p:spPr bwMode="auto">
            <a:xfrm rot="10800000" flipH="1">
              <a:off x="2816" y="383"/>
              <a:ext cx="360" cy="0"/>
            </a:xfrm>
            <a:prstGeom prst="line">
              <a:avLst/>
            </a:prstGeom>
            <a:noFill/>
            <a:ln w="63500">
              <a:solidFill>
                <a:srgbClr val="0000FF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7" name="Line 25"/>
            <p:cNvSpPr>
              <a:spLocks noChangeShapeType="1"/>
            </p:cNvSpPr>
            <p:nvPr/>
          </p:nvSpPr>
          <p:spPr bwMode="auto">
            <a:xfrm>
              <a:off x="1496" y="119"/>
              <a:ext cx="400" cy="0"/>
            </a:xfrm>
            <a:prstGeom prst="line">
              <a:avLst/>
            </a:prstGeom>
            <a:noFill/>
            <a:ln w="63500">
              <a:solidFill>
                <a:srgbClr val="0000FF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8" name="Line 26"/>
            <p:cNvSpPr>
              <a:spLocks noChangeShapeType="1"/>
            </p:cNvSpPr>
            <p:nvPr/>
          </p:nvSpPr>
          <p:spPr bwMode="auto">
            <a:xfrm flipH="1">
              <a:off x="2216" y="448"/>
              <a:ext cx="352" cy="208"/>
            </a:xfrm>
            <a:prstGeom prst="line">
              <a:avLst/>
            </a:prstGeom>
            <a:noFill/>
            <a:ln w="63500">
              <a:solidFill>
                <a:srgbClr val="0000FF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9" name="Line 27"/>
            <p:cNvSpPr>
              <a:spLocks noChangeShapeType="1"/>
            </p:cNvSpPr>
            <p:nvPr/>
          </p:nvSpPr>
          <p:spPr bwMode="auto">
            <a:xfrm rot="10800000">
              <a:off x="848" y="431"/>
              <a:ext cx="367" cy="185"/>
            </a:xfrm>
            <a:prstGeom prst="line">
              <a:avLst/>
            </a:prstGeom>
            <a:noFill/>
            <a:ln w="63500">
              <a:solidFill>
                <a:srgbClr val="0000FF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0" name="Rectangle 28"/>
            <p:cNvSpPr>
              <a:spLocks/>
            </p:cNvSpPr>
            <p:nvPr/>
          </p:nvSpPr>
          <p:spPr bwMode="auto">
            <a:xfrm>
              <a:off x="3200" y="264"/>
              <a:ext cx="240" cy="240"/>
            </a:xfrm>
            <a:prstGeom prst="rect">
              <a:avLst/>
            </a:prstGeom>
            <a:solidFill>
              <a:srgbClr val="008000"/>
            </a:solidFill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</p:grpSp>
      <p:sp>
        <p:nvSpPr>
          <p:cNvPr id="33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2658"/>
            <a:ext cx="6886575" cy="729342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Deadlock Prevention</a:t>
            </a:r>
          </a:p>
        </p:txBody>
      </p:sp>
      <p:sp>
        <p:nvSpPr>
          <p:cNvPr id="21" name="Slide Number Placeholder 3">
            <a:extLst>
              <a:ext uri="{FF2B5EF4-FFF2-40B4-BE49-F238E27FC236}">
                <a16:creationId xmlns:a16="http://schemas.microsoft.com/office/drawing/2014/main" id="{499A8653-A23D-0CC2-362E-CFA46AB24EF6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0DB5937-C802-8738-19C1-C2E36289A40B}"/>
              </a:ext>
            </a:extLst>
          </p:cNvPr>
          <p:cNvSpPr txBox="1">
            <a:spLocks/>
          </p:cNvSpPr>
          <p:nvPr/>
        </p:nvSpPr>
        <p:spPr>
          <a:xfrm>
            <a:off x="491774" y="1025071"/>
            <a:ext cx="8510712" cy="21782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Break Circular Wait :   </a:t>
            </a:r>
            <a:r>
              <a:rPr lang="en-US" sz="2400" b="1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(Sol - 1)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resource allocation diagram </a:t>
            </a:r>
            <a:b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US" sz="2400" i="1" dirty="0">
                <a:solidFill>
                  <a:srgbClr val="1F497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 with an outgoing link, must have no incoming link</a:t>
            </a:r>
            <a:r>
              <a:rPr lang="en-US" sz="2400" dirty="0">
                <a:solidFill>
                  <a:srgbClr val="1F497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</a:p>
          <a:p>
            <a:pPr marL="742950" lvl="1" indent="-285750">
              <a:spcBef>
                <a:spcPts val="60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cannot have a loop…!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45A4868-2F97-6E26-EEDF-8483A43065CD}"/>
              </a:ext>
            </a:extLst>
          </p:cNvPr>
          <p:cNvGrpSpPr/>
          <p:nvPr/>
        </p:nvGrpSpPr>
        <p:grpSpPr>
          <a:xfrm>
            <a:off x="554834" y="5363659"/>
            <a:ext cx="4091516" cy="963624"/>
            <a:chOff x="491774" y="5584369"/>
            <a:chExt cx="4091516" cy="963624"/>
          </a:xfrm>
        </p:grpSpPr>
        <p:sp>
          <p:nvSpPr>
            <p:cNvPr id="26" name="Oval 13">
              <a:extLst>
                <a:ext uri="{FF2B5EF4-FFF2-40B4-BE49-F238E27FC236}">
                  <a16:creationId xmlns:a16="http://schemas.microsoft.com/office/drawing/2014/main" id="{880A788B-FD39-0F46-39B5-ACA981DAB2B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660" y="5678282"/>
              <a:ext cx="254000" cy="254000"/>
            </a:xfrm>
            <a:prstGeom prst="ellipse">
              <a:avLst/>
            </a:prstGeom>
            <a:solidFill>
              <a:srgbClr val="008000"/>
            </a:solidFill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CC91D8E-79EB-D3B3-6725-DCCD222A5431}"/>
                </a:ext>
              </a:extLst>
            </p:cNvPr>
            <p:cNvSpPr txBox="1"/>
            <p:nvPr/>
          </p:nvSpPr>
          <p:spPr>
            <a:xfrm>
              <a:off x="930433" y="5584369"/>
              <a:ext cx="9846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>
                  <a:latin typeface="Gill Sans MT"/>
                  <a:cs typeface="Gill Sans MT"/>
                </a:rPr>
                <a:t>Process</a:t>
              </a:r>
            </a:p>
          </p:txBody>
        </p:sp>
        <p:sp>
          <p:nvSpPr>
            <p:cNvPr id="34" name="Line 23">
              <a:extLst>
                <a:ext uri="{FF2B5EF4-FFF2-40B4-BE49-F238E27FC236}">
                  <a16:creationId xmlns:a16="http://schemas.microsoft.com/office/drawing/2014/main" id="{3D7BC836-FCA6-3AED-23EB-5B418A0BB4C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2656694" y="5817857"/>
              <a:ext cx="573088" cy="0"/>
            </a:xfrm>
            <a:prstGeom prst="line">
              <a:avLst/>
            </a:prstGeom>
            <a:noFill/>
            <a:ln w="63500">
              <a:solidFill>
                <a:srgbClr val="0000FF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5" name="Line 21">
              <a:extLst>
                <a:ext uri="{FF2B5EF4-FFF2-40B4-BE49-F238E27FC236}">
                  <a16:creationId xmlns:a16="http://schemas.microsoft.com/office/drawing/2014/main" id="{93507461-8AED-43CE-5C96-E1495757B49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2656693" y="6368191"/>
              <a:ext cx="573088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stealth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" name="Rectangle 17">
              <a:extLst>
                <a:ext uri="{FF2B5EF4-FFF2-40B4-BE49-F238E27FC236}">
                  <a16:creationId xmlns:a16="http://schemas.microsoft.com/office/drawing/2014/main" id="{4DAC43A6-9D6A-A429-9725-6CACEBBD2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774" y="6166993"/>
              <a:ext cx="381000" cy="381000"/>
            </a:xfrm>
            <a:prstGeom prst="rect">
              <a:avLst/>
            </a:prstGeom>
            <a:solidFill>
              <a:srgbClr val="008000"/>
            </a:solidFill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59C165F-8DDE-68C5-A413-4B8004B1F23B}"/>
                </a:ext>
              </a:extLst>
            </p:cNvPr>
            <p:cNvSpPr txBox="1"/>
            <p:nvPr/>
          </p:nvSpPr>
          <p:spPr>
            <a:xfrm>
              <a:off x="930433" y="6147883"/>
              <a:ext cx="116124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>
                  <a:latin typeface="Gill Sans MT"/>
                  <a:cs typeface="Gill Sans MT"/>
                </a:rPr>
                <a:t>Resource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8A1C8FA-34C0-D7F4-AFD0-1E3946E870E1}"/>
                </a:ext>
              </a:extLst>
            </p:cNvPr>
            <p:cNvSpPr txBox="1"/>
            <p:nvPr/>
          </p:nvSpPr>
          <p:spPr>
            <a:xfrm>
              <a:off x="3269177" y="5617802"/>
              <a:ext cx="9673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>
                  <a:latin typeface="Gill Sans MT"/>
                  <a:cs typeface="Gill Sans MT"/>
                </a:rPr>
                <a:t>request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616F0FB-EDAC-D686-BC78-2F0F862FB719}"/>
                </a:ext>
              </a:extLst>
            </p:cNvPr>
            <p:cNvSpPr txBox="1"/>
            <p:nvPr/>
          </p:nvSpPr>
          <p:spPr>
            <a:xfrm>
              <a:off x="3263698" y="6134416"/>
              <a:ext cx="13195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>
                  <a:latin typeface="Gill Sans MT"/>
                  <a:cs typeface="Gill Sans MT"/>
                </a:rPr>
                <a:t>assignment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91970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2442777" y="3145230"/>
            <a:ext cx="5461000" cy="1244600"/>
            <a:chOff x="0" y="0"/>
            <a:chExt cx="3440" cy="784"/>
          </a:xfrm>
        </p:grpSpPr>
        <p:sp>
          <p:nvSpPr>
            <p:cNvPr id="5" name="Oval 13"/>
            <p:cNvSpPr>
              <a:spLocks/>
            </p:cNvSpPr>
            <p:nvPr/>
          </p:nvSpPr>
          <p:spPr bwMode="auto">
            <a:xfrm>
              <a:off x="0" y="304"/>
              <a:ext cx="160" cy="160"/>
            </a:xfrm>
            <a:prstGeom prst="ellipse">
              <a:avLst/>
            </a:prstGeom>
            <a:solidFill>
              <a:srgbClr val="008000"/>
            </a:solidFill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6" name="Oval 14"/>
            <p:cNvSpPr>
              <a:spLocks/>
            </p:cNvSpPr>
            <p:nvPr/>
          </p:nvSpPr>
          <p:spPr bwMode="auto">
            <a:xfrm>
              <a:off x="1248" y="40"/>
              <a:ext cx="160" cy="160"/>
            </a:xfrm>
            <a:prstGeom prst="ellipse">
              <a:avLst/>
            </a:prstGeom>
            <a:solidFill>
              <a:srgbClr val="008000"/>
            </a:solidFill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7" name="Oval 15"/>
            <p:cNvSpPr>
              <a:spLocks/>
            </p:cNvSpPr>
            <p:nvPr/>
          </p:nvSpPr>
          <p:spPr bwMode="auto">
            <a:xfrm>
              <a:off x="2592" y="304"/>
              <a:ext cx="160" cy="160"/>
            </a:xfrm>
            <a:prstGeom prst="ellipse">
              <a:avLst/>
            </a:prstGeom>
            <a:solidFill>
              <a:srgbClr val="008000"/>
            </a:solidFill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8" name="Oval 16"/>
            <p:cNvSpPr>
              <a:spLocks/>
            </p:cNvSpPr>
            <p:nvPr/>
          </p:nvSpPr>
          <p:spPr bwMode="auto">
            <a:xfrm>
              <a:off x="1248" y="584"/>
              <a:ext cx="160" cy="160"/>
            </a:xfrm>
            <a:prstGeom prst="ellipse">
              <a:avLst/>
            </a:prstGeom>
            <a:solidFill>
              <a:srgbClr val="008000"/>
            </a:solidFill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9" name="Rectangle 17"/>
            <p:cNvSpPr>
              <a:spLocks/>
            </p:cNvSpPr>
            <p:nvPr/>
          </p:nvSpPr>
          <p:spPr bwMode="auto">
            <a:xfrm>
              <a:off x="592" y="264"/>
              <a:ext cx="240" cy="240"/>
            </a:xfrm>
            <a:prstGeom prst="rect">
              <a:avLst/>
            </a:prstGeom>
            <a:solidFill>
              <a:srgbClr val="008000"/>
            </a:solidFill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10" name="Rectangle 18"/>
            <p:cNvSpPr>
              <a:spLocks/>
            </p:cNvSpPr>
            <p:nvPr/>
          </p:nvSpPr>
          <p:spPr bwMode="auto">
            <a:xfrm>
              <a:off x="1936" y="0"/>
              <a:ext cx="240" cy="240"/>
            </a:xfrm>
            <a:prstGeom prst="rect">
              <a:avLst/>
            </a:prstGeom>
            <a:solidFill>
              <a:srgbClr val="008000"/>
            </a:solidFill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11" name="Rectangle 19"/>
            <p:cNvSpPr>
              <a:spLocks/>
            </p:cNvSpPr>
            <p:nvPr/>
          </p:nvSpPr>
          <p:spPr bwMode="auto">
            <a:xfrm>
              <a:off x="1936" y="544"/>
              <a:ext cx="240" cy="240"/>
            </a:xfrm>
            <a:prstGeom prst="rect">
              <a:avLst/>
            </a:prstGeom>
            <a:solidFill>
              <a:srgbClr val="008000"/>
            </a:solidFill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12" name="Line 20"/>
            <p:cNvSpPr>
              <a:spLocks noChangeShapeType="1"/>
            </p:cNvSpPr>
            <p:nvPr/>
          </p:nvSpPr>
          <p:spPr bwMode="auto">
            <a:xfrm flipH="1">
              <a:off x="872" y="144"/>
              <a:ext cx="368" cy="207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stealth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3" name="Line 21"/>
            <p:cNvSpPr>
              <a:spLocks noChangeShapeType="1"/>
            </p:cNvSpPr>
            <p:nvPr/>
          </p:nvSpPr>
          <p:spPr bwMode="auto">
            <a:xfrm rot="10800000">
              <a:off x="2216" y="128"/>
              <a:ext cx="319" cy="175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stealth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4" name="Line 22"/>
            <p:cNvSpPr>
              <a:spLocks noChangeShapeType="1"/>
            </p:cNvSpPr>
            <p:nvPr/>
          </p:nvSpPr>
          <p:spPr bwMode="auto">
            <a:xfrm rot="10800000" flipH="1">
              <a:off x="1439" y="667"/>
              <a:ext cx="473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stealth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5" name="Line 23"/>
            <p:cNvSpPr>
              <a:spLocks noChangeShapeType="1"/>
            </p:cNvSpPr>
            <p:nvPr/>
          </p:nvSpPr>
          <p:spPr bwMode="auto">
            <a:xfrm rot="10800000" flipH="1">
              <a:off x="207" y="384"/>
              <a:ext cx="361" cy="0"/>
            </a:xfrm>
            <a:prstGeom prst="line">
              <a:avLst/>
            </a:prstGeom>
            <a:noFill/>
            <a:ln w="63500">
              <a:solidFill>
                <a:srgbClr val="0000FF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0" name="Rectangle 28"/>
            <p:cNvSpPr>
              <a:spLocks/>
            </p:cNvSpPr>
            <p:nvPr/>
          </p:nvSpPr>
          <p:spPr bwMode="auto">
            <a:xfrm>
              <a:off x="3200" y="264"/>
              <a:ext cx="240" cy="240"/>
            </a:xfrm>
            <a:prstGeom prst="rect">
              <a:avLst/>
            </a:prstGeom>
            <a:solidFill>
              <a:srgbClr val="008000"/>
            </a:solidFill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</p:grpSp>
      <p:sp>
        <p:nvSpPr>
          <p:cNvPr id="33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2657"/>
            <a:ext cx="6886575" cy="693191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Deadlock Prevention</a:t>
            </a:r>
          </a:p>
        </p:txBody>
      </p:sp>
      <p:sp>
        <p:nvSpPr>
          <p:cNvPr id="26" name="Text Placeholder 2"/>
          <p:cNvSpPr txBox="1">
            <a:spLocks/>
          </p:cNvSpPr>
          <p:nvPr/>
        </p:nvSpPr>
        <p:spPr>
          <a:xfrm>
            <a:off x="491774" y="1025071"/>
            <a:ext cx="8510712" cy="21782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Break Circular Wait :   </a:t>
            </a:r>
            <a:r>
              <a:rPr lang="en-US" sz="2400" b="1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(Sol - 1)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resource allocation diagram </a:t>
            </a:r>
            <a:b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US" sz="2400" i="1" dirty="0">
                <a:solidFill>
                  <a:srgbClr val="1F497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 with an outgoing link, must have no incoming link</a:t>
            </a:r>
            <a:r>
              <a:rPr lang="en-US" sz="2400" dirty="0">
                <a:solidFill>
                  <a:srgbClr val="1F497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</a:p>
          <a:p>
            <a:pPr marL="742950" lvl="1" indent="-285750">
              <a:spcBef>
                <a:spcPts val="60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cannot have a loop…!</a:t>
            </a:r>
          </a:p>
          <a:p>
            <a:pPr marL="284163" indent="-2841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Legal Links are: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99C5E17D-71BD-BDFE-6076-841A573FBC42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990702D-C420-5D49-86A7-94A1A7562600}"/>
              </a:ext>
            </a:extLst>
          </p:cNvPr>
          <p:cNvGrpSpPr/>
          <p:nvPr/>
        </p:nvGrpSpPr>
        <p:grpSpPr>
          <a:xfrm>
            <a:off x="554834" y="5363659"/>
            <a:ext cx="4091516" cy="963624"/>
            <a:chOff x="491774" y="5584369"/>
            <a:chExt cx="4091516" cy="963624"/>
          </a:xfrm>
        </p:grpSpPr>
        <p:sp>
          <p:nvSpPr>
            <p:cNvPr id="2" name="Oval 13">
              <a:extLst>
                <a:ext uri="{FF2B5EF4-FFF2-40B4-BE49-F238E27FC236}">
                  <a16:creationId xmlns:a16="http://schemas.microsoft.com/office/drawing/2014/main" id="{36B9D8CE-81EB-8F96-21CF-49B8334AA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660" y="5678282"/>
              <a:ext cx="254000" cy="254000"/>
            </a:xfrm>
            <a:prstGeom prst="ellipse">
              <a:avLst/>
            </a:prstGeom>
            <a:solidFill>
              <a:srgbClr val="008000"/>
            </a:solidFill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EC43539-98C2-0A96-7F73-5FD31943FFF7}"/>
                </a:ext>
              </a:extLst>
            </p:cNvPr>
            <p:cNvSpPr txBox="1"/>
            <p:nvPr/>
          </p:nvSpPr>
          <p:spPr>
            <a:xfrm>
              <a:off x="930433" y="5584369"/>
              <a:ext cx="9846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>
                  <a:latin typeface="Gill Sans MT"/>
                  <a:cs typeface="Gill Sans MT"/>
                </a:rPr>
                <a:t>Process</a:t>
              </a:r>
            </a:p>
          </p:txBody>
        </p:sp>
        <p:sp>
          <p:nvSpPr>
            <p:cNvPr id="17" name="Line 23">
              <a:extLst>
                <a:ext uri="{FF2B5EF4-FFF2-40B4-BE49-F238E27FC236}">
                  <a16:creationId xmlns:a16="http://schemas.microsoft.com/office/drawing/2014/main" id="{2C0DA8AA-68FE-587E-2DBC-C6104CA57E4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2656694" y="5817857"/>
              <a:ext cx="573088" cy="0"/>
            </a:xfrm>
            <a:prstGeom prst="line">
              <a:avLst/>
            </a:prstGeom>
            <a:noFill/>
            <a:ln w="63500">
              <a:solidFill>
                <a:srgbClr val="0000FF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8" name="Line 21">
              <a:extLst>
                <a:ext uri="{FF2B5EF4-FFF2-40B4-BE49-F238E27FC236}">
                  <a16:creationId xmlns:a16="http://schemas.microsoft.com/office/drawing/2014/main" id="{A33B7EF6-4BA9-D68F-4D94-D31AC2E28BF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2656693" y="6368191"/>
              <a:ext cx="573088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stealth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9" name="Rectangle 17">
              <a:extLst>
                <a:ext uri="{FF2B5EF4-FFF2-40B4-BE49-F238E27FC236}">
                  <a16:creationId xmlns:a16="http://schemas.microsoft.com/office/drawing/2014/main" id="{5247F10E-07DB-5036-2717-842D84E71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774" y="6166993"/>
              <a:ext cx="381000" cy="381000"/>
            </a:xfrm>
            <a:prstGeom prst="rect">
              <a:avLst/>
            </a:prstGeom>
            <a:solidFill>
              <a:srgbClr val="008000"/>
            </a:solidFill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D9534DD-CB4B-6B39-8AE8-C413D03A8F74}"/>
                </a:ext>
              </a:extLst>
            </p:cNvPr>
            <p:cNvSpPr txBox="1"/>
            <p:nvPr/>
          </p:nvSpPr>
          <p:spPr>
            <a:xfrm>
              <a:off x="930433" y="6147883"/>
              <a:ext cx="116124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>
                  <a:latin typeface="Gill Sans MT"/>
                  <a:cs typeface="Gill Sans MT"/>
                </a:rPr>
                <a:t>Resource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0086A2A-A50E-F0F8-5EE9-047942831D1C}"/>
                </a:ext>
              </a:extLst>
            </p:cNvPr>
            <p:cNvSpPr txBox="1"/>
            <p:nvPr/>
          </p:nvSpPr>
          <p:spPr>
            <a:xfrm>
              <a:off x="3269177" y="5617802"/>
              <a:ext cx="9673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>
                  <a:latin typeface="Gill Sans MT"/>
                  <a:cs typeface="Gill Sans MT"/>
                </a:rPr>
                <a:t>request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436EE29-3A2C-C37C-511B-7F6B3B54921B}"/>
                </a:ext>
              </a:extLst>
            </p:cNvPr>
            <p:cNvSpPr txBox="1"/>
            <p:nvPr/>
          </p:nvSpPr>
          <p:spPr>
            <a:xfrm>
              <a:off x="3263698" y="6134416"/>
              <a:ext cx="13195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>
                  <a:latin typeface="Gill Sans MT"/>
                  <a:cs typeface="Gill Sans MT"/>
                </a:rPr>
                <a:t>assignment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42709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2442777" y="3145230"/>
            <a:ext cx="5461000" cy="1244600"/>
            <a:chOff x="0" y="0"/>
            <a:chExt cx="3440" cy="784"/>
          </a:xfrm>
        </p:grpSpPr>
        <p:sp>
          <p:nvSpPr>
            <p:cNvPr id="5" name="Oval 13"/>
            <p:cNvSpPr>
              <a:spLocks/>
            </p:cNvSpPr>
            <p:nvPr/>
          </p:nvSpPr>
          <p:spPr bwMode="auto">
            <a:xfrm>
              <a:off x="0" y="304"/>
              <a:ext cx="160" cy="160"/>
            </a:xfrm>
            <a:prstGeom prst="ellipse">
              <a:avLst/>
            </a:prstGeom>
            <a:solidFill>
              <a:srgbClr val="008000"/>
            </a:solidFill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6" name="Oval 14"/>
            <p:cNvSpPr>
              <a:spLocks/>
            </p:cNvSpPr>
            <p:nvPr/>
          </p:nvSpPr>
          <p:spPr bwMode="auto">
            <a:xfrm>
              <a:off x="1248" y="40"/>
              <a:ext cx="160" cy="160"/>
            </a:xfrm>
            <a:prstGeom prst="ellipse">
              <a:avLst/>
            </a:prstGeom>
            <a:solidFill>
              <a:srgbClr val="008000"/>
            </a:solidFill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7" name="Oval 15"/>
            <p:cNvSpPr>
              <a:spLocks/>
            </p:cNvSpPr>
            <p:nvPr/>
          </p:nvSpPr>
          <p:spPr bwMode="auto">
            <a:xfrm>
              <a:off x="2592" y="304"/>
              <a:ext cx="160" cy="160"/>
            </a:xfrm>
            <a:prstGeom prst="ellipse">
              <a:avLst/>
            </a:prstGeom>
            <a:solidFill>
              <a:srgbClr val="008000"/>
            </a:solidFill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8" name="Oval 16"/>
            <p:cNvSpPr>
              <a:spLocks/>
            </p:cNvSpPr>
            <p:nvPr/>
          </p:nvSpPr>
          <p:spPr bwMode="auto">
            <a:xfrm>
              <a:off x="1248" y="584"/>
              <a:ext cx="160" cy="160"/>
            </a:xfrm>
            <a:prstGeom prst="ellipse">
              <a:avLst/>
            </a:prstGeom>
            <a:solidFill>
              <a:srgbClr val="008000"/>
            </a:solidFill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9" name="Rectangle 17"/>
            <p:cNvSpPr>
              <a:spLocks/>
            </p:cNvSpPr>
            <p:nvPr/>
          </p:nvSpPr>
          <p:spPr bwMode="auto">
            <a:xfrm>
              <a:off x="592" y="264"/>
              <a:ext cx="240" cy="240"/>
            </a:xfrm>
            <a:prstGeom prst="rect">
              <a:avLst/>
            </a:prstGeom>
            <a:solidFill>
              <a:srgbClr val="008000"/>
            </a:solidFill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10" name="Rectangle 18"/>
            <p:cNvSpPr>
              <a:spLocks/>
            </p:cNvSpPr>
            <p:nvPr/>
          </p:nvSpPr>
          <p:spPr bwMode="auto">
            <a:xfrm>
              <a:off x="1936" y="0"/>
              <a:ext cx="240" cy="240"/>
            </a:xfrm>
            <a:prstGeom prst="rect">
              <a:avLst/>
            </a:prstGeom>
            <a:solidFill>
              <a:srgbClr val="008000"/>
            </a:solidFill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11" name="Rectangle 19"/>
            <p:cNvSpPr>
              <a:spLocks/>
            </p:cNvSpPr>
            <p:nvPr/>
          </p:nvSpPr>
          <p:spPr bwMode="auto">
            <a:xfrm>
              <a:off x="1936" y="544"/>
              <a:ext cx="240" cy="240"/>
            </a:xfrm>
            <a:prstGeom prst="rect">
              <a:avLst/>
            </a:prstGeom>
            <a:solidFill>
              <a:srgbClr val="008000"/>
            </a:solidFill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12" name="Line 20"/>
            <p:cNvSpPr>
              <a:spLocks noChangeShapeType="1"/>
            </p:cNvSpPr>
            <p:nvPr/>
          </p:nvSpPr>
          <p:spPr bwMode="auto">
            <a:xfrm flipH="1">
              <a:off x="872" y="144"/>
              <a:ext cx="368" cy="207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stealth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3" name="Line 21"/>
            <p:cNvSpPr>
              <a:spLocks noChangeShapeType="1"/>
            </p:cNvSpPr>
            <p:nvPr/>
          </p:nvSpPr>
          <p:spPr bwMode="auto">
            <a:xfrm rot="10800000">
              <a:off x="2216" y="128"/>
              <a:ext cx="319" cy="175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stealth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4" name="Line 22"/>
            <p:cNvSpPr>
              <a:spLocks noChangeShapeType="1"/>
            </p:cNvSpPr>
            <p:nvPr/>
          </p:nvSpPr>
          <p:spPr bwMode="auto">
            <a:xfrm rot="10800000" flipH="1">
              <a:off x="1439" y="667"/>
              <a:ext cx="473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stealth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5" name="Line 23"/>
            <p:cNvSpPr>
              <a:spLocks noChangeShapeType="1"/>
            </p:cNvSpPr>
            <p:nvPr/>
          </p:nvSpPr>
          <p:spPr bwMode="auto">
            <a:xfrm rot="10800000" flipH="1">
              <a:off x="207" y="384"/>
              <a:ext cx="361" cy="0"/>
            </a:xfrm>
            <a:prstGeom prst="line">
              <a:avLst/>
            </a:prstGeom>
            <a:noFill/>
            <a:ln w="63500">
              <a:solidFill>
                <a:srgbClr val="0000FF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0" name="Rectangle 28"/>
            <p:cNvSpPr>
              <a:spLocks/>
            </p:cNvSpPr>
            <p:nvPr/>
          </p:nvSpPr>
          <p:spPr bwMode="auto">
            <a:xfrm>
              <a:off x="3200" y="264"/>
              <a:ext cx="240" cy="240"/>
            </a:xfrm>
            <a:prstGeom prst="rect">
              <a:avLst/>
            </a:prstGeom>
            <a:solidFill>
              <a:srgbClr val="008000"/>
            </a:solidFill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</p:grpSp>
      <p:sp>
        <p:nvSpPr>
          <p:cNvPr id="33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2657"/>
            <a:ext cx="6886575" cy="693191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Deadlock Prevention</a:t>
            </a:r>
          </a:p>
        </p:txBody>
      </p:sp>
      <p:sp>
        <p:nvSpPr>
          <p:cNvPr id="26" name="Text Placeholder 2"/>
          <p:cNvSpPr txBox="1">
            <a:spLocks/>
          </p:cNvSpPr>
          <p:nvPr/>
        </p:nvSpPr>
        <p:spPr>
          <a:xfrm>
            <a:off x="491774" y="1025071"/>
            <a:ext cx="8510712" cy="21782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Break Circular Wait :   </a:t>
            </a:r>
            <a:r>
              <a:rPr lang="en-US" sz="2400" b="1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(Sol - 1)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resource allocation diagram </a:t>
            </a:r>
            <a:b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US" sz="2400" i="1" dirty="0">
                <a:solidFill>
                  <a:srgbClr val="1F497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 with an outgoing link, must have no incoming link</a:t>
            </a:r>
            <a:r>
              <a:rPr lang="en-US" sz="2400" dirty="0">
                <a:solidFill>
                  <a:srgbClr val="1F497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</a:p>
          <a:p>
            <a:pPr marL="742950" lvl="1" indent="-285750">
              <a:spcBef>
                <a:spcPts val="60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cannot have a loop…!</a:t>
            </a:r>
          </a:p>
          <a:p>
            <a:pPr marL="284163" indent="-2841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Legal Links are: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99C5E17D-71BD-BDFE-6076-841A573FBC42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C674DA0-C6E4-7BD5-B48A-71E8E51E2DC3}"/>
              </a:ext>
            </a:extLst>
          </p:cNvPr>
          <p:cNvSpPr txBox="1">
            <a:spLocks/>
          </p:cNvSpPr>
          <p:nvPr/>
        </p:nvSpPr>
        <p:spPr>
          <a:xfrm>
            <a:off x="491774" y="4435252"/>
            <a:ext cx="8418546" cy="20509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Very constraining</a:t>
            </a: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often need more than one resource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hard to predict at the beginning what all resources you’ll need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releasing &amp; re-requesting is inefficient </a:t>
            </a:r>
          </a:p>
          <a:p>
            <a:pPr marL="800100" lvl="1" indent="-342900">
              <a:spcBef>
                <a:spcPts val="0"/>
              </a:spcBef>
              <a:buFont typeface="Arial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complicates programming, might lead to starvation</a:t>
            </a:r>
          </a:p>
        </p:txBody>
      </p:sp>
    </p:spTree>
    <p:extLst>
      <p:ext uri="{BB962C8B-B14F-4D97-AF65-F5344CB8AC3E}">
        <p14:creationId xmlns:p14="http://schemas.microsoft.com/office/powerpoint/2010/main" val="1746125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2658"/>
            <a:ext cx="6886575" cy="698862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Deadlock Prevention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>
          <a:xfrm>
            <a:off x="433387" y="1086392"/>
            <a:ext cx="8529320" cy="47048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Break Circular Wait :   </a:t>
            </a:r>
            <a:r>
              <a:rPr lang="en-US" sz="2400" b="1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(Sol - 2)</a:t>
            </a:r>
          </a:p>
          <a:p>
            <a:pPr marL="457200">
              <a:spcBef>
                <a:spcPts val="1200"/>
              </a:spcBef>
              <a:buFont typeface="Wingdings" panose="05000000000000000000" pitchFamily="2" charset="2"/>
              <a:buChar char="§"/>
              <a:defRPr/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Break circular wait by </a:t>
            </a:r>
            <a:r>
              <a:rPr lang="en-US" sz="23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requesting resources in order</a:t>
            </a:r>
          </a:p>
          <a:p>
            <a:pPr marL="857250" lvl="1">
              <a:spcBef>
                <a:spcPts val="600"/>
              </a:spcBef>
              <a:defRPr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 a unique number to each resource type </a:t>
            </a:r>
          </a:p>
          <a:p>
            <a:pPr marL="857250" lvl="1">
              <a:spcBef>
                <a:spcPts val="600"/>
              </a:spcBef>
              <a:defRPr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 process can request resources only in increasing order of enumeration</a:t>
            </a:r>
          </a:p>
          <a:p>
            <a:pPr marL="457200">
              <a:spcBef>
                <a:spcPts val="1800"/>
              </a:spcBef>
              <a:buFont typeface="Wingdings" panose="05000000000000000000" pitchFamily="2" charset="2"/>
              <a:buChar char="§"/>
              <a:defRPr/>
            </a:pPr>
            <a:r>
              <a:rPr lang="en-US" sz="2300" b="1" u="sng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77875" lvl="1">
              <a:spcBef>
                <a:spcPts val="600"/>
              </a:spcBef>
              <a:defRPr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Consider processes P1 &amp; P2</a:t>
            </a:r>
          </a:p>
          <a:p>
            <a:pPr marL="777875" lvl="1">
              <a:spcBef>
                <a:spcPts val="600"/>
              </a:spcBef>
              <a:defRPr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Resources:  Tape drive = 1,   Disk drive = 5,   Printer = 12 </a:t>
            </a:r>
          </a:p>
          <a:p>
            <a:pPr marL="1177925" lvl="2">
              <a:spcBef>
                <a:spcPts val="1200"/>
              </a:spcBef>
              <a:defRPr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P1 holding Tape, can request both DD &amp; Printer</a:t>
            </a:r>
          </a:p>
          <a:p>
            <a:pPr marL="1177925" lvl="2">
              <a:spcBef>
                <a:spcPts val="600"/>
              </a:spcBef>
              <a:defRPr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P2 holding DD, can request Printer, but not TD</a:t>
            </a:r>
          </a:p>
          <a:p>
            <a:pPr marL="457200">
              <a:spcBef>
                <a:spcPts val="600"/>
              </a:spcBef>
              <a:defRPr/>
            </a:pP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728C35F-E951-C7CB-1DA3-900F9BC15F62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526153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8"/>
          <p:cNvSpPr>
            <a:spLocks noGrp="1" noChangeArrowheads="1"/>
          </p:cNvSpPr>
          <p:nvPr>
            <p:ph type="body" idx="4294967295"/>
          </p:nvPr>
        </p:nvSpPr>
        <p:spPr>
          <a:xfrm>
            <a:off x="949325" y="1590040"/>
            <a:ext cx="7661275" cy="4495800"/>
          </a:xfrm>
          <a:prstGeom prst="rect">
            <a:avLst/>
          </a:prstGeom>
        </p:spPr>
        <p:txBody>
          <a:bodyPr rIns="132080"/>
          <a:lstStyle/>
          <a:p>
            <a:r>
              <a:rPr lang="en-US" dirty="0">
                <a:latin typeface="Comic Sans MS"/>
                <a:cs typeface="Calibri" panose="020F0502020204030204" pitchFamily="34" charset="0"/>
              </a:rPr>
              <a:t>Without numbering</a:t>
            </a:r>
          </a:p>
        </p:txBody>
      </p:sp>
      <p:grpSp>
        <p:nvGrpSpPr>
          <p:cNvPr id="40969" name="Group 12"/>
          <p:cNvGrpSpPr>
            <a:grpSpLocks/>
          </p:cNvGrpSpPr>
          <p:nvPr/>
        </p:nvGrpSpPr>
        <p:grpSpPr bwMode="auto">
          <a:xfrm>
            <a:off x="1854200" y="2628900"/>
            <a:ext cx="5461000" cy="1244600"/>
            <a:chOff x="0" y="0"/>
            <a:chExt cx="3440" cy="784"/>
          </a:xfrm>
        </p:grpSpPr>
        <p:sp>
          <p:nvSpPr>
            <p:cNvPr id="57" name="Oval 13"/>
            <p:cNvSpPr>
              <a:spLocks/>
            </p:cNvSpPr>
            <p:nvPr/>
          </p:nvSpPr>
          <p:spPr bwMode="auto">
            <a:xfrm>
              <a:off x="0" y="304"/>
              <a:ext cx="160" cy="160"/>
            </a:xfrm>
            <a:prstGeom prst="ellipse">
              <a:avLst/>
            </a:prstGeom>
            <a:solidFill>
              <a:srgbClr val="008000"/>
            </a:solidFill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58" name="Oval 14"/>
            <p:cNvSpPr>
              <a:spLocks/>
            </p:cNvSpPr>
            <p:nvPr/>
          </p:nvSpPr>
          <p:spPr bwMode="auto">
            <a:xfrm>
              <a:off x="1248" y="40"/>
              <a:ext cx="160" cy="160"/>
            </a:xfrm>
            <a:prstGeom prst="ellipse">
              <a:avLst/>
            </a:prstGeom>
            <a:solidFill>
              <a:srgbClr val="008000"/>
            </a:solidFill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59" name="Oval 15"/>
            <p:cNvSpPr>
              <a:spLocks/>
            </p:cNvSpPr>
            <p:nvPr/>
          </p:nvSpPr>
          <p:spPr bwMode="auto">
            <a:xfrm>
              <a:off x="2592" y="304"/>
              <a:ext cx="160" cy="160"/>
            </a:xfrm>
            <a:prstGeom prst="ellipse">
              <a:avLst/>
            </a:prstGeom>
            <a:solidFill>
              <a:srgbClr val="008000"/>
            </a:solidFill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60" name="Oval 16"/>
            <p:cNvSpPr>
              <a:spLocks/>
            </p:cNvSpPr>
            <p:nvPr/>
          </p:nvSpPr>
          <p:spPr bwMode="auto">
            <a:xfrm>
              <a:off x="1248" y="584"/>
              <a:ext cx="160" cy="160"/>
            </a:xfrm>
            <a:prstGeom prst="ellipse">
              <a:avLst/>
            </a:prstGeom>
            <a:solidFill>
              <a:srgbClr val="008000"/>
            </a:solidFill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61" name="Rectangle 17"/>
            <p:cNvSpPr>
              <a:spLocks/>
            </p:cNvSpPr>
            <p:nvPr/>
          </p:nvSpPr>
          <p:spPr bwMode="auto">
            <a:xfrm>
              <a:off x="592" y="264"/>
              <a:ext cx="240" cy="240"/>
            </a:xfrm>
            <a:prstGeom prst="rect">
              <a:avLst/>
            </a:prstGeom>
            <a:solidFill>
              <a:srgbClr val="008000"/>
            </a:solidFill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62" name="Rectangle 18"/>
            <p:cNvSpPr>
              <a:spLocks/>
            </p:cNvSpPr>
            <p:nvPr/>
          </p:nvSpPr>
          <p:spPr bwMode="auto">
            <a:xfrm>
              <a:off x="1936" y="0"/>
              <a:ext cx="240" cy="240"/>
            </a:xfrm>
            <a:prstGeom prst="rect">
              <a:avLst/>
            </a:prstGeom>
            <a:solidFill>
              <a:srgbClr val="008000"/>
            </a:solidFill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63" name="Rectangle 19"/>
            <p:cNvSpPr>
              <a:spLocks/>
            </p:cNvSpPr>
            <p:nvPr/>
          </p:nvSpPr>
          <p:spPr bwMode="auto">
            <a:xfrm>
              <a:off x="1936" y="544"/>
              <a:ext cx="240" cy="240"/>
            </a:xfrm>
            <a:prstGeom prst="rect">
              <a:avLst/>
            </a:prstGeom>
            <a:solidFill>
              <a:srgbClr val="008000"/>
            </a:solidFill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40981" name="Line 20"/>
            <p:cNvSpPr>
              <a:spLocks noChangeShapeType="1"/>
            </p:cNvSpPr>
            <p:nvPr/>
          </p:nvSpPr>
          <p:spPr bwMode="auto">
            <a:xfrm flipH="1">
              <a:off x="872" y="144"/>
              <a:ext cx="368" cy="207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stealth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0982" name="Line 21"/>
            <p:cNvSpPr>
              <a:spLocks noChangeShapeType="1"/>
            </p:cNvSpPr>
            <p:nvPr/>
          </p:nvSpPr>
          <p:spPr bwMode="auto">
            <a:xfrm rot="10800000">
              <a:off x="2216" y="128"/>
              <a:ext cx="319" cy="175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stealth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0983" name="Line 22"/>
            <p:cNvSpPr>
              <a:spLocks noChangeShapeType="1"/>
            </p:cNvSpPr>
            <p:nvPr/>
          </p:nvSpPr>
          <p:spPr bwMode="auto">
            <a:xfrm rot="10800000" flipH="1">
              <a:off x="1439" y="667"/>
              <a:ext cx="473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stealth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0984" name="Line 23"/>
            <p:cNvSpPr>
              <a:spLocks noChangeShapeType="1"/>
            </p:cNvSpPr>
            <p:nvPr/>
          </p:nvSpPr>
          <p:spPr bwMode="auto">
            <a:xfrm rot="10800000" flipH="1">
              <a:off x="207" y="384"/>
              <a:ext cx="361" cy="0"/>
            </a:xfrm>
            <a:prstGeom prst="line">
              <a:avLst/>
            </a:prstGeom>
            <a:noFill/>
            <a:ln w="63500">
              <a:solidFill>
                <a:srgbClr val="0000FF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0985" name="Line 24"/>
            <p:cNvSpPr>
              <a:spLocks noChangeShapeType="1"/>
            </p:cNvSpPr>
            <p:nvPr/>
          </p:nvSpPr>
          <p:spPr bwMode="auto">
            <a:xfrm rot="10800000" flipH="1">
              <a:off x="2816" y="383"/>
              <a:ext cx="360" cy="0"/>
            </a:xfrm>
            <a:prstGeom prst="line">
              <a:avLst/>
            </a:prstGeom>
            <a:noFill/>
            <a:ln w="63500">
              <a:solidFill>
                <a:srgbClr val="0000FF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0986" name="Line 25"/>
            <p:cNvSpPr>
              <a:spLocks noChangeShapeType="1"/>
            </p:cNvSpPr>
            <p:nvPr/>
          </p:nvSpPr>
          <p:spPr bwMode="auto">
            <a:xfrm>
              <a:off x="1496" y="119"/>
              <a:ext cx="400" cy="0"/>
            </a:xfrm>
            <a:prstGeom prst="line">
              <a:avLst/>
            </a:prstGeom>
            <a:noFill/>
            <a:ln w="63500">
              <a:solidFill>
                <a:srgbClr val="0000FF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0987" name="Line 26"/>
            <p:cNvSpPr>
              <a:spLocks noChangeShapeType="1"/>
            </p:cNvSpPr>
            <p:nvPr/>
          </p:nvSpPr>
          <p:spPr bwMode="auto">
            <a:xfrm flipH="1">
              <a:off x="2216" y="448"/>
              <a:ext cx="352" cy="208"/>
            </a:xfrm>
            <a:prstGeom prst="line">
              <a:avLst/>
            </a:prstGeom>
            <a:noFill/>
            <a:ln w="63500">
              <a:solidFill>
                <a:srgbClr val="0000FF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0988" name="Line 27"/>
            <p:cNvSpPr>
              <a:spLocks noChangeShapeType="1"/>
            </p:cNvSpPr>
            <p:nvPr/>
          </p:nvSpPr>
          <p:spPr bwMode="auto">
            <a:xfrm rot="10800000">
              <a:off x="848" y="431"/>
              <a:ext cx="367" cy="185"/>
            </a:xfrm>
            <a:prstGeom prst="line">
              <a:avLst/>
            </a:prstGeom>
            <a:noFill/>
            <a:ln w="63500">
              <a:solidFill>
                <a:srgbClr val="0000FF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72" name="Rectangle 28"/>
            <p:cNvSpPr>
              <a:spLocks/>
            </p:cNvSpPr>
            <p:nvPr/>
          </p:nvSpPr>
          <p:spPr bwMode="auto">
            <a:xfrm>
              <a:off x="3200" y="264"/>
              <a:ext cx="240" cy="240"/>
            </a:xfrm>
            <a:prstGeom prst="rect">
              <a:avLst/>
            </a:prstGeom>
            <a:solidFill>
              <a:srgbClr val="008000"/>
            </a:solidFill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</p:grpSp>
      <p:sp>
        <p:nvSpPr>
          <p:cNvPr id="35" name="Oval 34"/>
          <p:cNvSpPr>
            <a:spLocks noChangeArrowheads="1"/>
          </p:cNvSpPr>
          <p:nvPr/>
        </p:nvSpPr>
        <p:spPr bwMode="auto">
          <a:xfrm>
            <a:off x="2667000" y="2438400"/>
            <a:ext cx="3886200" cy="17526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>
              <a:latin typeface="Arial" charset="0"/>
            </a:endParaRPr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3870325" y="4581344"/>
            <a:ext cx="1403350" cy="646113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/>
            <a:r>
              <a:rPr lang="en-US" sz="3600" dirty="0">
                <a:latin typeface="Gill Sans MT"/>
                <a:cs typeface="Gill Sans MT"/>
              </a:rPr>
              <a:t>Cycle!</a:t>
            </a:r>
          </a:p>
        </p:txBody>
      </p:sp>
      <p:sp>
        <p:nvSpPr>
          <p:cNvPr id="23" name="Rectangle 8"/>
          <p:cNvSpPr txBox="1">
            <a:spLocks noChangeArrowheads="1"/>
          </p:cNvSpPr>
          <p:nvPr/>
        </p:nvSpPr>
        <p:spPr>
          <a:xfrm>
            <a:off x="1056640" y="101600"/>
            <a:ext cx="8087360" cy="736600"/>
          </a:xfrm>
          <a:prstGeom prst="rect">
            <a:avLst/>
          </a:prstGeom>
        </p:spPr>
        <p:txBody>
          <a:bodyPr vert="horz" lIns="91440" tIns="45720" rIns="13208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006699"/>
                </a:solidFill>
                <a:ea typeface="MS PGothic" pitchFamily="34" charset="-128"/>
              </a:rPr>
              <a:t>Ordered Resource Requests prevent DL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4DBBCB9-16FB-9DEC-6DAD-0DC7F17615E6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7" name="Line 23">
            <a:extLst>
              <a:ext uri="{FF2B5EF4-FFF2-40B4-BE49-F238E27FC236}">
                <a16:creationId xmlns:a16="http://schemas.microsoft.com/office/drawing/2014/main" id="{5EAC8A57-78FC-B66A-0E78-51C47F94A24A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577844" y="5839460"/>
            <a:ext cx="573088" cy="0"/>
          </a:xfrm>
          <a:prstGeom prst="line">
            <a:avLst/>
          </a:prstGeom>
          <a:noFill/>
          <a:ln w="63500">
            <a:solidFill>
              <a:srgbClr val="0000FF"/>
            </a:solidFill>
            <a:round/>
            <a:headEnd/>
            <a:tailEnd type="stealth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" name="Line 21">
            <a:extLst>
              <a:ext uri="{FF2B5EF4-FFF2-40B4-BE49-F238E27FC236}">
                <a16:creationId xmlns:a16="http://schemas.microsoft.com/office/drawing/2014/main" id="{81FA16BE-AE2E-5D37-4D86-9566AFAA0996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577843" y="6389794"/>
            <a:ext cx="573088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stealth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5A434F-54B0-5797-9EC0-549E26FE186D}"/>
              </a:ext>
            </a:extLst>
          </p:cNvPr>
          <p:cNvSpPr txBox="1"/>
          <p:nvPr/>
        </p:nvSpPr>
        <p:spPr>
          <a:xfrm>
            <a:off x="1190327" y="5639405"/>
            <a:ext cx="9673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>
                <a:latin typeface="Gill Sans MT"/>
                <a:cs typeface="Gill Sans MT"/>
              </a:rPr>
              <a:t>request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5706DD-5CD6-41AA-B2CA-5A493569B1B7}"/>
              </a:ext>
            </a:extLst>
          </p:cNvPr>
          <p:cNvSpPr txBox="1"/>
          <p:nvPr/>
        </p:nvSpPr>
        <p:spPr>
          <a:xfrm>
            <a:off x="1184848" y="6156019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>
                <a:latin typeface="Gill Sans MT"/>
                <a:cs typeface="Gill Sans MT"/>
              </a:rPr>
              <a:t>assignment</a:t>
            </a:r>
          </a:p>
        </p:txBody>
      </p:sp>
    </p:spTree>
    <p:extLst>
      <p:ext uri="{BB962C8B-B14F-4D97-AF65-F5344CB8AC3E}">
        <p14:creationId xmlns:p14="http://schemas.microsoft.com/office/powerpoint/2010/main" val="2044344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8"/>
          <p:cNvSpPr>
            <a:spLocks noGrp="1" noChangeArrowheads="1"/>
          </p:cNvSpPr>
          <p:nvPr>
            <p:ph type="body" idx="4294967295"/>
          </p:nvPr>
        </p:nvSpPr>
        <p:spPr>
          <a:xfrm>
            <a:off x="949325" y="1595120"/>
            <a:ext cx="7661275" cy="4419600"/>
          </a:xfrm>
          <a:prstGeom prst="rect">
            <a:avLst/>
          </a:prstGeom>
        </p:spPr>
        <p:txBody>
          <a:bodyPr rIns="132080"/>
          <a:lstStyle/>
          <a:p>
            <a:r>
              <a:rPr lang="en-US" dirty="0">
                <a:latin typeface="Comic Sans MS"/>
                <a:cs typeface="Comic Sans MS"/>
              </a:rPr>
              <a:t>With numbering</a:t>
            </a:r>
          </a:p>
        </p:txBody>
      </p:sp>
      <p:sp>
        <p:nvSpPr>
          <p:cNvPr id="79" name="Freeform 2"/>
          <p:cNvSpPr>
            <a:spLocks/>
          </p:cNvSpPr>
          <p:nvPr/>
        </p:nvSpPr>
        <p:spPr bwMode="auto">
          <a:xfrm>
            <a:off x="2590800" y="2895600"/>
            <a:ext cx="2892425" cy="1125538"/>
          </a:xfrm>
          <a:custGeom>
            <a:avLst/>
            <a:gdLst/>
            <a:ahLst/>
            <a:cxnLst>
              <a:cxn ang="0">
                <a:pos x="18013" y="10430"/>
              </a:cxn>
              <a:cxn ang="0">
                <a:pos x="8597" y="13173"/>
              </a:cxn>
              <a:cxn ang="0">
                <a:pos x="923" y="656"/>
              </a:cxn>
              <a:cxn ang="0">
                <a:pos x="9705" y="6829"/>
              </a:cxn>
              <a:cxn ang="0">
                <a:pos x="18013" y="10430"/>
              </a:cxn>
              <a:cxn ang="0">
                <a:pos x="18013" y="10430"/>
              </a:cxn>
            </a:cxnLst>
            <a:rect l="0" t="0" r="r" b="b"/>
            <a:pathLst>
              <a:path w="18017" h="15182">
                <a:moveTo>
                  <a:pt x="18013" y="10430"/>
                </a:moveTo>
                <a:cubicBezTo>
                  <a:pt x="18250" y="19175"/>
                  <a:pt x="8597" y="13173"/>
                  <a:pt x="8597" y="13173"/>
                </a:cubicBezTo>
                <a:cubicBezTo>
                  <a:pt x="8597" y="13173"/>
                  <a:pt x="-3350" y="8029"/>
                  <a:pt x="923" y="656"/>
                </a:cubicBezTo>
                <a:cubicBezTo>
                  <a:pt x="2708" y="-2425"/>
                  <a:pt x="6303" y="6315"/>
                  <a:pt x="9705" y="6829"/>
                </a:cubicBezTo>
                <a:cubicBezTo>
                  <a:pt x="13107" y="7343"/>
                  <a:pt x="17800" y="2606"/>
                  <a:pt x="18013" y="10430"/>
                </a:cubicBezTo>
                <a:close/>
                <a:moveTo>
                  <a:pt x="18013" y="10430"/>
                </a:moveTo>
              </a:path>
            </a:pathLst>
          </a:custGeom>
          <a:solidFill>
            <a:srgbClr val="FFFFFF"/>
          </a:solidFill>
          <a:ln w="19050" cap="flat">
            <a:solidFill>
              <a:srgbClr val="FF0000"/>
            </a:solidFill>
            <a:round/>
            <a:headEnd type="none" w="med" len="med"/>
            <a:tailEnd type="none" w="med" len="med"/>
          </a:ln>
          <a:effectLst>
            <a:outerShdw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pPr>
              <a:defRPr/>
            </a:pPr>
            <a:endParaRPr lang="en-US">
              <a:latin typeface="Tahoma" pitchFamily="34" charset="0"/>
              <a:ea typeface="+mn-ea"/>
            </a:endParaRP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854200" y="2628900"/>
            <a:ext cx="5461000" cy="1244600"/>
            <a:chOff x="0" y="0"/>
            <a:chExt cx="3440" cy="784"/>
          </a:xfrm>
          <a:solidFill>
            <a:srgbClr val="008000"/>
          </a:solidFill>
        </p:grpSpPr>
        <p:sp>
          <p:nvSpPr>
            <p:cNvPr id="57" name="Oval 13"/>
            <p:cNvSpPr>
              <a:spLocks/>
            </p:cNvSpPr>
            <p:nvPr/>
          </p:nvSpPr>
          <p:spPr bwMode="auto">
            <a:xfrm>
              <a:off x="0" y="304"/>
              <a:ext cx="160" cy="160"/>
            </a:xfrm>
            <a:prstGeom prst="ellipse">
              <a:avLst/>
            </a:prstGeom>
            <a:grpFill/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58" name="Oval 14"/>
            <p:cNvSpPr>
              <a:spLocks/>
            </p:cNvSpPr>
            <p:nvPr/>
          </p:nvSpPr>
          <p:spPr bwMode="auto">
            <a:xfrm>
              <a:off x="1248" y="40"/>
              <a:ext cx="160" cy="160"/>
            </a:xfrm>
            <a:prstGeom prst="ellipse">
              <a:avLst/>
            </a:prstGeom>
            <a:grpFill/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59" name="Oval 15"/>
            <p:cNvSpPr>
              <a:spLocks/>
            </p:cNvSpPr>
            <p:nvPr/>
          </p:nvSpPr>
          <p:spPr bwMode="auto">
            <a:xfrm>
              <a:off x="2592" y="304"/>
              <a:ext cx="160" cy="160"/>
            </a:xfrm>
            <a:prstGeom prst="ellipse">
              <a:avLst/>
            </a:prstGeom>
            <a:grpFill/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60" name="Oval 16"/>
            <p:cNvSpPr>
              <a:spLocks/>
            </p:cNvSpPr>
            <p:nvPr/>
          </p:nvSpPr>
          <p:spPr bwMode="auto">
            <a:xfrm>
              <a:off x="1248" y="584"/>
              <a:ext cx="160" cy="160"/>
            </a:xfrm>
            <a:prstGeom prst="ellipse">
              <a:avLst/>
            </a:prstGeom>
            <a:grpFill/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61" name="Rectangle 17"/>
            <p:cNvSpPr>
              <a:spLocks/>
            </p:cNvSpPr>
            <p:nvPr/>
          </p:nvSpPr>
          <p:spPr bwMode="auto">
            <a:xfrm>
              <a:off x="592" y="264"/>
              <a:ext cx="240" cy="240"/>
            </a:xfrm>
            <a:prstGeom prst="rect">
              <a:avLst/>
            </a:prstGeom>
            <a:grpFill/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62" name="Rectangle 18"/>
            <p:cNvSpPr>
              <a:spLocks/>
            </p:cNvSpPr>
            <p:nvPr/>
          </p:nvSpPr>
          <p:spPr bwMode="auto">
            <a:xfrm>
              <a:off x="1936" y="0"/>
              <a:ext cx="240" cy="240"/>
            </a:xfrm>
            <a:prstGeom prst="rect">
              <a:avLst/>
            </a:prstGeom>
            <a:grpFill/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63" name="Rectangle 19"/>
            <p:cNvSpPr>
              <a:spLocks/>
            </p:cNvSpPr>
            <p:nvPr/>
          </p:nvSpPr>
          <p:spPr bwMode="auto">
            <a:xfrm>
              <a:off x="1936" y="544"/>
              <a:ext cx="240" cy="240"/>
            </a:xfrm>
            <a:prstGeom prst="rect">
              <a:avLst/>
            </a:prstGeom>
            <a:grpFill/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42010" name="Line 20"/>
            <p:cNvSpPr>
              <a:spLocks noChangeShapeType="1"/>
            </p:cNvSpPr>
            <p:nvPr/>
          </p:nvSpPr>
          <p:spPr bwMode="auto">
            <a:xfrm flipH="1">
              <a:off x="872" y="144"/>
              <a:ext cx="368" cy="207"/>
            </a:xfrm>
            <a:prstGeom prst="line">
              <a:avLst/>
            </a:prstGeom>
            <a:grpFill/>
            <a:ln w="63500">
              <a:solidFill>
                <a:srgbClr val="FF0000"/>
              </a:solidFill>
              <a:round/>
              <a:headEnd type="stealth" w="med" len="med"/>
              <a:tailEnd/>
            </a:ln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42011" name="Line 21"/>
            <p:cNvSpPr>
              <a:spLocks noChangeShapeType="1"/>
            </p:cNvSpPr>
            <p:nvPr/>
          </p:nvSpPr>
          <p:spPr bwMode="auto">
            <a:xfrm rot="10800000">
              <a:off x="2216" y="128"/>
              <a:ext cx="319" cy="175"/>
            </a:xfrm>
            <a:prstGeom prst="line">
              <a:avLst/>
            </a:prstGeom>
            <a:grpFill/>
            <a:ln w="63500">
              <a:solidFill>
                <a:srgbClr val="FF0000"/>
              </a:solidFill>
              <a:round/>
              <a:headEnd type="stealth" w="med" len="med"/>
              <a:tailEnd/>
            </a:ln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42012" name="Line 22"/>
            <p:cNvSpPr>
              <a:spLocks noChangeShapeType="1"/>
            </p:cNvSpPr>
            <p:nvPr/>
          </p:nvSpPr>
          <p:spPr bwMode="auto">
            <a:xfrm rot="10800000" flipH="1">
              <a:off x="1439" y="667"/>
              <a:ext cx="473" cy="0"/>
            </a:xfrm>
            <a:prstGeom prst="line">
              <a:avLst/>
            </a:prstGeom>
            <a:grpFill/>
            <a:ln w="63500">
              <a:solidFill>
                <a:srgbClr val="FF0000"/>
              </a:solidFill>
              <a:round/>
              <a:headEnd type="stealth" w="med" len="med"/>
              <a:tailEnd/>
            </a:ln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42013" name="Line 23"/>
            <p:cNvSpPr>
              <a:spLocks noChangeShapeType="1"/>
            </p:cNvSpPr>
            <p:nvPr/>
          </p:nvSpPr>
          <p:spPr bwMode="auto">
            <a:xfrm rot="10800000" flipH="1">
              <a:off x="207" y="384"/>
              <a:ext cx="361" cy="0"/>
            </a:xfrm>
            <a:prstGeom prst="line">
              <a:avLst/>
            </a:prstGeom>
            <a:grpFill/>
            <a:ln w="63500">
              <a:solidFill>
                <a:srgbClr val="0000FF"/>
              </a:solidFill>
              <a:round/>
              <a:headEnd/>
              <a:tailEnd type="stealth" w="med" len="med"/>
            </a:ln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42014" name="Line 24"/>
            <p:cNvSpPr>
              <a:spLocks noChangeShapeType="1"/>
            </p:cNvSpPr>
            <p:nvPr/>
          </p:nvSpPr>
          <p:spPr bwMode="auto">
            <a:xfrm rot="10800000" flipH="1">
              <a:off x="2816" y="383"/>
              <a:ext cx="360" cy="0"/>
            </a:xfrm>
            <a:prstGeom prst="line">
              <a:avLst/>
            </a:prstGeom>
            <a:grpFill/>
            <a:ln w="63500">
              <a:solidFill>
                <a:srgbClr val="0000FF"/>
              </a:solidFill>
              <a:round/>
              <a:headEnd/>
              <a:tailEnd type="stealth" w="med" len="med"/>
            </a:ln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42015" name="Line 25"/>
            <p:cNvSpPr>
              <a:spLocks noChangeShapeType="1"/>
            </p:cNvSpPr>
            <p:nvPr/>
          </p:nvSpPr>
          <p:spPr bwMode="auto">
            <a:xfrm>
              <a:off x="1496" y="119"/>
              <a:ext cx="400" cy="0"/>
            </a:xfrm>
            <a:prstGeom prst="line">
              <a:avLst/>
            </a:prstGeom>
            <a:grpFill/>
            <a:ln w="63500">
              <a:solidFill>
                <a:srgbClr val="0000FF"/>
              </a:solidFill>
              <a:round/>
              <a:headEnd/>
              <a:tailEnd type="stealth" w="med" len="med"/>
            </a:ln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42016" name="Line 26"/>
            <p:cNvSpPr>
              <a:spLocks noChangeShapeType="1"/>
            </p:cNvSpPr>
            <p:nvPr/>
          </p:nvSpPr>
          <p:spPr bwMode="auto">
            <a:xfrm flipH="1">
              <a:off x="2216" y="448"/>
              <a:ext cx="352" cy="208"/>
            </a:xfrm>
            <a:prstGeom prst="line">
              <a:avLst/>
            </a:prstGeom>
            <a:grpFill/>
            <a:ln w="63500">
              <a:solidFill>
                <a:srgbClr val="0000FF"/>
              </a:solidFill>
              <a:round/>
              <a:headEnd/>
              <a:tailEnd type="stealth" w="med" len="med"/>
            </a:ln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42017" name="Line 27"/>
            <p:cNvSpPr>
              <a:spLocks noChangeShapeType="1"/>
            </p:cNvSpPr>
            <p:nvPr/>
          </p:nvSpPr>
          <p:spPr bwMode="auto">
            <a:xfrm rot="10800000">
              <a:off x="848" y="431"/>
              <a:ext cx="367" cy="185"/>
            </a:xfrm>
            <a:prstGeom prst="line">
              <a:avLst/>
            </a:prstGeom>
            <a:grpFill/>
            <a:ln w="63500">
              <a:solidFill>
                <a:srgbClr val="0000FF"/>
              </a:solidFill>
              <a:round/>
              <a:headEnd/>
              <a:tailEnd type="stealth" w="med" len="med"/>
            </a:ln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72" name="Rectangle 28"/>
            <p:cNvSpPr>
              <a:spLocks/>
            </p:cNvSpPr>
            <p:nvPr/>
          </p:nvSpPr>
          <p:spPr bwMode="auto">
            <a:xfrm>
              <a:off x="3200" y="264"/>
              <a:ext cx="240" cy="240"/>
            </a:xfrm>
            <a:prstGeom prst="rect">
              <a:avLst/>
            </a:prstGeom>
            <a:grpFill/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</p:grpSp>
      <p:grpSp>
        <p:nvGrpSpPr>
          <p:cNvPr id="41995" name="Group 29"/>
          <p:cNvGrpSpPr>
            <a:grpSpLocks/>
          </p:cNvGrpSpPr>
          <p:nvPr/>
        </p:nvGrpSpPr>
        <p:grpSpPr bwMode="auto">
          <a:xfrm>
            <a:off x="2851150" y="2590800"/>
            <a:ext cx="4464050" cy="1371600"/>
            <a:chOff x="0" y="0"/>
            <a:chExt cx="2812" cy="864"/>
          </a:xfrm>
        </p:grpSpPr>
        <p:sp>
          <p:nvSpPr>
            <p:cNvPr id="41999" name="Rectangle 30"/>
            <p:cNvSpPr>
              <a:spLocks/>
            </p:cNvSpPr>
            <p:nvPr/>
          </p:nvSpPr>
          <p:spPr bwMode="auto">
            <a:xfrm>
              <a:off x="0" y="296"/>
              <a:ext cx="204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>
              <a:spAutoFit/>
            </a:bodyPr>
            <a:lstStyle/>
            <a:p>
              <a:pPr marL="39688"/>
              <a:r>
                <a:rPr lang="en-US" sz="2400">
                  <a:solidFill>
                    <a:srgbClr val="FFFFFF"/>
                  </a:solidFill>
                  <a:latin typeface="Arial" charset="0"/>
                  <a:cs typeface="Arial" charset="0"/>
                  <a:sym typeface="Arial" charset="0"/>
                </a:rPr>
                <a:t>3</a:t>
              </a:r>
            </a:p>
          </p:txBody>
        </p:sp>
        <p:sp>
          <p:nvSpPr>
            <p:cNvPr id="42000" name="Rectangle 31"/>
            <p:cNvSpPr>
              <a:spLocks/>
            </p:cNvSpPr>
            <p:nvPr/>
          </p:nvSpPr>
          <p:spPr bwMode="auto">
            <a:xfrm>
              <a:off x="1344" y="0"/>
              <a:ext cx="204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>
              <a:spAutoFit/>
            </a:bodyPr>
            <a:lstStyle/>
            <a:p>
              <a:pPr marL="39688"/>
              <a:r>
                <a:rPr lang="en-US" sz="2400">
                  <a:solidFill>
                    <a:srgbClr val="FFFFFF"/>
                  </a:solidFill>
                  <a:latin typeface="Arial" charset="0"/>
                  <a:cs typeface="Arial" charset="0"/>
                  <a:sym typeface="Arial" charset="0"/>
                </a:rPr>
                <a:t>4</a:t>
              </a:r>
            </a:p>
          </p:txBody>
        </p:sp>
        <p:sp>
          <p:nvSpPr>
            <p:cNvPr id="42001" name="Rectangle 32"/>
            <p:cNvSpPr>
              <a:spLocks/>
            </p:cNvSpPr>
            <p:nvPr/>
          </p:nvSpPr>
          <p:spPr bwMode="auto">
            <a:xfrm>
              <a:off x="1344" y="584"/>
              <a:ext cx="204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>
              <a:spAutoFit/>
            </a:bodyPr>
            <a:lstStyle/>
            <a:p>
              <a:pPr marL="39688"/>
              <a:r>
                <a:rPr lang="en-US" sz="2400">
                  <a:solidFill>
                    <a:srgbClr val="FFFFFF"/>
                  </a:solidFill>
                  <a:latin typeface="Arial" charset="0"/>
                  <a:cs typeface="Arial" charset="0"/>
                  <a:sym typeface="Arial" charset="0"/>
                </a:rPr>
                <a:t>7</a:t>
              </a:r>
            </a:p>
          </p:txBody>
        </p:sp>
        <p:sp>
          <p:nvSpPr>
            <p:cNvPr id="42002" name="Rectangle 33"/>
            <p:cNvSpPr>
              <a:spLocks/>
            </p:cNvSpPr>
            <p:nvPr/>
          </p:nvSpPr>
          <p:spPr bwMode="auto">
            <a:xfrm>
              <a:off x="2608" y="296"/>
              <a:ext cx="204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>
              <a:spAutoFit/>
            </a:bodyPr>
            <a:lstStyle/>
            <a:p>
              <a:pPr marL="39688"/>
              <a:r>
                <a:rPr lang="en-US" sz="2400">
                  <a:solidFill>
                    <a:srgbClr val="FFFFFF"/>
                  </a:solidFill>
                  <a:latin typeface="Arial" charset="0"/>
                  <a:cs typeface="Arial" charset="0"/>
                  <a:sym typeface="Arial" charset="0"/>
                </a:rPr>
                <a:t>8</a:t>
              </a:r>
            </a:p>
          </p:txBody>
        </p:sp>
      </p:grpSp>
      <p:sp>
        <p:nvSpPr>
          <p:cNvPr id="81" name="TextBox 80"/>
          <p:cNvSpPr txBox="1">
            <a:spLocks noChangeArrowheads="1"/>
          </p:cNvSpPr>
          <p:nvPr/>
        </p:nvSpPr>
        <p:spPr bwMode="auto">
          <a:xfrm>
            <a:off x="2458720" y="4343400"/>
            <a:ext cx="4419600" cy="954107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latin typeface="Gill Sans MT"/>
                <a:cs typeface="Gill Sans MT"/>
              </a:rPr>
              <a:t>Contradiction: </a:t>
            </a:r>
            <a:br>
              <a:rPr lang="en-US" sz="2800" dirty="0">
                <a:latin typeface="Gill Sans MT"/>
                <a:cs typeface="Gill Sans MT"/>
              </a:rPr>
            </a:br>
            <a:r>
              <a:rPr lang="en-US" sz="2800" dirty="0">
                <a:latin typeface="Gill Sans MT"/>
                <a:cs typeface="Gill Sans MT"/>
              </a:rPr>
              <a:t>Must have requested 3 first!</a:t>
            </a:r>
          </a:p>
        </p:txBody>
      </p:sp>
      <p:sp>
        <p:nvSpPr>
          <p:cNvPr id="30" name="Rectangle 8"/>
          <p:cNvSpPr txBox="1">
            <a:spLocks noChangeArrowheads="1"/>
          </p:cNvSpPr>
          <p:nvPr/>
        </p:nvSpPr>
        <p:spPr>
          <a:xfrm>
            <a:off x="1127760" y="36514"/>
            <a:ext cx="8016239" cy="804861"/>
          </a:xfrm>
          <a:prstGeom prst="rect">
            <a:avLst/>
          </a:prstGeom>
        </p:spPr>
        <p:txBody>
          <a:bodyPr vert="horz" lIns="91440" tIns="45720" rIns="13208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006699"/>
                </a:solidFill>
                <a:ea typeface="MS PGothic" pitchFamily="34" charset="-128"/>
              </a:rPr>
              <a:t>Ordered Resource Requests prevent DL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D90A7-B83F-6DA5-E5A1-97AF374F1AC4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Line 23">
            <a:extLst>
              <a:ext uri="{FF2B5EF4-FFF2-40B4-BE49-F238E27FC236}">
                <a16:creationId xmlns:a16="http://schemas.microsoft.com/office/drawing/2014/main" id="{EB142B8C-5546-5274-8336-0137D7187784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577844" y="5839460"/>
            <a:ext cx="573088" cy="0"/>
          </a:xfrm>
          <a:prstGeom prst="line">
            <a:avLst/>
          </a:prstGeom>
          <a:noFill/>
          <a:ln w="63500">
            <a:solidFill>
              <a:srgbClr val="0000FF"/>
            </a:solidFill>
            <a:round/>
            <a:headEnd/>
            <a:tailEnd type="stealth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" name="Line 21">
            <a:extLst>
              <a:ext uri="{FF2B5EF4-FFF2-40B4-BE49-F238E27FC236}">
                <a16:creationId xmlns:a16="http://schemas.microsoft.com/office/drawing/2014/main" id="{B5CE66CA-1917-C618-AE82-510F00D7620D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577843" y="6389794"/>
            <a:ext cx="573088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stealth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893253-2FBA-05E9-B8E6-4F83D9362231}"/>
              </a:ext>
            </a:extLst>
          </p:cNvPr>
          <p:cNvSpPr txBox="1"/>
          <p:nvPr/>
        </p:nvSpPr>
        <p:spPr>
          <a:xfrm>
            <a:off x="1190327" y="5639405"/>
            <a:ext cx="9673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>
                <a:latin typeface="Gill Sans MT"/>
                <a:cs typeface="Gill Sans MT"/>
              </a:rPr>
              <a:t>request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9F6977-65D1-BBCC-580F-BAC99AF50A17}"/>
              </a:ext>
            </a:extLst>
          </p:cNvPr>
          <p:cNvSpPr txBox="1"/>
          <p:nvPr/>
        </p:nvSpPr>
        <p:spPr>
          <a:xfrm>
            <a:off x="1184848" y="6156019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>
                <a:latin typeface="Gill Sans MT"/>
                <a:cs typeface="Gill Sans MT"/>
              </a:rPr>
              <a:t>assignment</a:t>
            </a:r>
          </a:p>
        </p:txBody>
      </p:sp>
    </p:spTree>
    <p:extLst>
      <p:ext uri="{BB962C8B-B14F-4D97-AF65-F5344CB8AC3E}">
        <p14:creationId xmlns:p14="http://schemas.microsoft.com/office/powerpoint/2010/main" val="13110420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5" name="Rectangle 7"/>
          <p:cNvSpPr>
            <a:spLocks noGrp="1" noChangeArrowheads="1"/>
          </p:cNvSpPr>
          <p:nvPr>
            <p:ph type="title"/>
          </p:nvPr>
        </p:nvSpPr>
        <p:spPr>
          <a:xfrm>
            <a:off x="469582" y="1103313"/>
            <a:ext cx="7661275" cy="544515"/>
          </a:xfrm>
        </p:spPr>
        <p:txBody>
          <a:bodyPr rIns="132080">
            <a:no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Are we always in trouble without ordering resources…?</a:t>
            </a:r>
          </a:p>
        </p:txBody>
      </p:sp>
      <p:sp>
        <p:nvSpPr>
          <p:cNvPr id="27656" name="Rectangle 8"/>
          <p:cNvSpPr>
            <a:spLocks noGrp="1" noChangeArrowheads="1"/>
          </p:cNvSpPr>
          <p:nvPr>
            <p:ph type="body" idx="4294967295"/>
          </p:nvPr>
        </p:nvSpPr>
        <p:spPr>
          <a:xfrm>
            <a:off x="949325" y="1981200"/>
            <a:ext cx="7661275" cy="4114800"/>
          </a:xfrm>
          <a:prstGeom prst="rect">
            <a:avLst/>
          </a:prstGeom>
        </p:spPr>
        <p:txBody>
          <a:bodyPr rIns="132080">
            <a:normAutofit/>
          </a:bodyPr>
          <a:lstStyle/>
          <a:p>
            <a:pPr>
              <a:buFont typeface="Wingdings" pitchFamily="2" charset="2"/>
              <a:buChar char="n"/>
              <a:defRPr/>
            </a:pPr>
            <a:r>
              <a:rPr 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No, not always:</a:t>
            </a:r>
          </a:p>
          <a:p>
            <a:pPr>
              <a:spcBef>
                <a:spcPts val="15600"/>
              </a:spcBef>
              <a:defRPr/>
            </a:pPr>
            <a:r>
              <a:rPr 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Ordered resource requests are </a:t>
            </a:r>
            <a:r>
              <a:rPr lang="en-US" dirty="0">
                <a:solidFill>
                  <a:srgbClr val="EF5B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sufficient </a:t>
            </a:r>
            <a:r>
              <a:rPr 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 avoid deadlock, but </a:t>
            </a:r>
            <a:r>
              <a:rPr lang="en-US" dirty="0">
                <a:solidFill>
                  <a:srgbClr val="EF5B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not necessary</a:t>
            </a:r>
          </a:p>
          <a:p>
            <a:pPr>
              <a:defRPr/>
            </a:pPr>
            <a:r>
              <a:rPr 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Convenient, but may be conservative…!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854200" y="2628900"/>
            <a:ext cx="5461000" cy="1244600"/>
            <a:chOff x="0" y="0"/>
            <a:chExt cx="3440" cy="784"/>
          </a:xfrm>
          <a:solidFill>
            <a:srgbClr val="008000"/>
          </a:solidFill>
        </p:grpSpPr>
        <p:sp>
          <p:nvSpPr>
            <p:cNvPr id="37" name="Oval 13"/>
            <p:cNvSpPr>
              <a:spLocks/>
            </p:cNvSpPr>
            <p:nvPr/>
          </p:nvSpPr>
          <p:spPr bwMode="auto">
            <a:xfrm>
              <a:off x="0" y="304"/>
              <a:ext cx="160" cy="160"/>
            </a:xfrm>
            <a:prstGeom prst="ellipse">
              <a:avLst/>
            </a:prstGeom>
            <a:grpFill/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38" name="Oval 14"/>
            <p:cNvSpPr>
              <a:spLocks/>
            </p:cNvSpPr>
            <p:nvPr/>
          </p:nvSpPr>
          <p:spPr bwMode="auto">
            <a:xfrm>
              <a:off x="1248" y="40"/>
              <a:ext cx="160" cy="160"/>
            </a:xfrm>
            <a:prstGeom prst="ellipse">
              <a:avLst/>
            </a:prstGeom>
            <a:grpFill/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39" name="Oval 15"/>
            <p:cNvSpPr>
              <a:spLocks/>
            </p:cNvSpPr>
            <p:nvPr/>
          </p:nvSpPr>
          <p:spPr bwMode="auto">
            <a:xfrm>
              <a:off x="2592" y="304"/>
              <a:ext cx="160" cy="160"/>
            </a:xfrm>
            <a:prstGeom prst="ellipse">
              <a:avLst/>
            </a:prstGeom>
            <a:grpFill/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40" name="Oval 16"/>
            <p:cNvSpPr>
              <a:spLocks/>
            </p:cNvSpPr>
            <p:nvPr/>
          </p:nvSpPr>
          <p:spPr bwMode="auto">
            <a:xfrm>
              <a:off x="1248" y="584"/>
              <a:ext cx="160" cy="160"/>
            </a:xfrm>
            <a:prstGeom prst="ellipse">
              <a:avLst/>
            </a:prstGeom>
            <a:grpFill/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41" name="Rectangle 17"/>
            <p:cNvSpPr>
              <a:spLocks/>
            </p:cNvSpPr>
            <p:nvPr/>
          </p:nvSpPr>
          <p:spPr bwMode="auto">
            <a:xfrm>
              <a:off x="592" y="264"/>
              <a:ext cx="240" cy="240"/>
            </a:xfrm>
            <a:prstGeom prst="rect">
              <a:avLst/>
            </a:prstGeom>
            <a:grpFill/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42" name="Rectangle 18"/>
            <p:cNvSpPr>
              <a:spLocks/>
            </p:cNvSpPr>
            <p:nvPr/>
          </p:nvSpPr>
          <p:spPr bwMode="auto">
            <a:xfrm>
              <a:off x="1936" y="0"/>
              <a:ext cx="240" cy="240"/>
            </a:xfrm>
            <a:prstGeom prst="rect">
              <a:avLst/>
            </a:prstGeom>
            <a:grpFill/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43" name="Rectangle 19"/>
            <p:cNvSpPr>
              <a:spLocks/>
            </p:cNvSpPr>
            <p:nvPr/>
          </p:nvSpPr>
          <p:spPr bwMode="auto">
            <a:xfrm>
              <a:off x="1936" y="544"/>
              <a:ext cx="240" cy="240"/>
            </a:xfrm>
            <a:prstGeom prst="rect">
              <a:avLst/>
            </a:prstGeom>
            <a:grpFill/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45" name="Line 21"/>
            <p:cNvSpPr>
              <a:spLocks noChangeShapeType="1"/>
            </p:cNvSpPr>
            <p:nvPr/>
          </p:nvSpPr>
          <p:spPr bwMode="auto">
            <a:xfrm rot="10800000">
              <a:off x="2216" y="128"/>
              <a:ext cx="319" cy="175"/>
            </a:xfrm>
            <a:prstGeom prst="line">
              <a:avLst/>
            </a:prstGeom>
            <a:grpFill/>
            <a:ln w="63500">
              <a:solidFill>
                <a:srgbClr val="FF0000"/>
              </a:solidFill>
              <a:round/>
              <a:headEnd type="stealth" w="med" len="med"/>
              <a:tailEnd/>
            </a:ln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46" name="Line 22"/>
            <p:cNvSpPr>
              <a:spLocks noChangeShapeType="1"/>
            </p:cNvSpPr>
            <p:nvPr/>
          </p:nvSpPr>
          <p:spPr bwMode="auto">
            <a:xfrm rot="10800000" flipH="1">
              <a:off x="1439" y="667"/>
              <a:ext cx="473" cy="0"/>
            </a:xfrm>
            <a:prstGeom prst="line">
              <a:avLst/>
            </a:prstGeom>
            <a:grpFill/>
            <a:ln w="63500">
              <a:solidFill>
                <a:srgbClr val="FF0000"/>
              </a:solidFill>
              <a:round/>
              <a:headEnd type="stealth" w="med" len="med"/>
              <a:tailEnd/>
            </a:ln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47" name="Line 23"/>
            <p:cNvSpPr>
              <a:spLocks noChangeShapeType="1"/>
            </p:cNvSpPr>
            <p:nvPr/>
          </p:nvSpPr>
          <p:spPr bwMode="auto">
            <a:xfrm rot="10800000" flipH="1">
              <a:off x="207" y="384"/>
              <a:ext cx="361" cy="0"/>
            </a:xfrm>
            <a:prstGeom prst="line">
              <a:avLst/>
            </a:prstGeom>
            <a:grpFill/>
            <a:ln w="63500">
              <a:solidFill>
                <a:srgbClr val="0000FF"/>
              </a:solidFill>
              <a:round/>
              <a:headEnd/>
              <a:tailEnd type="stealth" w="med" len="med"/>
            </a:ln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48" name="Line 24"/>
            <p:cNvSpPr>
              <a:spLocks noChangeShapeType="1"/>
            </p:cNvSpPr>
            <p:nvPr/>
          </p:nvSpPr>
          <p:spPr bwMode="auto">
            <a:xfrm rot="10800000" flipH="1">
              <a:off x="2816" y="383"/>
              <a:ext cx="360" cy="0"/>
            </a:xfrm>
            <a:prstGeom prst="line">
              <a:avLst/>
            </a:prstGeom>
            <a:grpFill/>
            <a:ln w="63500">
              <a:solidFill>
                <a:srgbClr val="0000FF"/>
              </a:solidFill>
              <a:round/>
              <a:headEnd/>
              <a:tailEnd type="stealth" w="med" len="med"/>
            </a:ln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49" name="Line 25"/>
            <p:cNvSpPr>
              <a:spLocks noChangeShapeType="1"/>
            </p:cNvSpPr>
            <p:nvPr/>
          </p:nvSpPr>
          <p:spPr bwMode="auto">
            <a:xfrm>
              <a:off x="1496" y="119"/>
              <a:ext cx="400" cy="0"/>
            </a:xfrm>
            <a:prstGeom prst="line">
              <a:avLst/>
            </a:prstGeom>
            <a:grpFill/>
            <a:ln w="63500">
              <a:solidFill>
                <a:srgbClr val="0000FF"/>
              </a:solidFill>
              <a:round/>
              <a:headEnd/>
              <a:tailEnd type="stealth" w="med" len="med"/>
            </a:ln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50" name="Line 26"/>
            <p:cNvSpPr>
              <a:spLocks noChangeShapeType="1"/>
            </p:cNvSpPr>
            <p:nvPr/>
          </p:nvSpPr>
          <p:spPr bwMode="auto">
            <a:xfrm flipH="1">
              <a:off x="2216" y="448"/>
              <a:ext cx="352" cy="208"/>
            </a:xfrm>
            <a:prstGeom prst="line">
              <a:avLst/>
            </a:prstGeom>
            <a:grpFill/>
            <a:ln w="63500">
              <a:solidFill>
                <a:srgbClr val="0000FF"/>
              </a:solidFill>
              <a:round/>
              <a:headEnd/>
              <a:tailEnd type="stealth" w="med" len="med"/>
            </a:ln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51" name="Line 27"/>
            <p:cNvSpPr>
              <a:spLocks noChangeShapeType="1"/>
            </p:cNvSpPr>
            <p:nvPr/>
          </p:nvSpPr>
          <p:spPr bwMode="auto">
            <a:xfrm rot="10800000">
              <a:off x="848" y="431"/>
              <a:ext cx="367" cy="185"/>
            </a:xfrm>
            <a:prstGeom prst="line">
              <a:avLst/>
            </a:prstGeom>
            <a:grpFill/>
            <a:ln w="63500">
              <a:solidFill>
                <a:srgbClr val="0000FF"/>
              </a:solidFill>
              <a:round/>
              <a:headEnd/>
              <a:tailEnd type="stealth" w="med" len="med"/>
            </a:ln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52" name="Rectangle 28"/>
            <p:cNvSpPr>
              <a:spLocks/>
            </p:cNvSpPr>
            <p:nvPr/>
          </p:nvSpPr>
          <p:spPr bwMode="auto">
            <a:xfrm>
              <a:off x="3200" y="264"/>
              <a:ext cx="240" cy="240"/>
            </a:xfrm>
            <a:prstGeom prst="rect">
              <a:avLst/>
            </a:prstGeom>
            <a:grpFill/>
            <a:ln w="9525" cap="flat">
              <a:noFill/>
              <a:round/>
              <a:headEnd type="none" w="med" len="med"/>
              <a:tailEnd type="none" w="med" len="med"/>
            </a:ln>
            <a:effectLst>
              <a:outerShdw dist="508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</p:grpSp>
      <p:grpSp>
        <p:nvGrpSpPr>
          <p:cNvPr id="43020" name="Group 29"/>
          <p:cNvGrpSpPr>
            <a:grpSpLocks/>
          </p:cNvGrpSpPr>
          <p:nvPr/>
        </p:nvGrpSpPr>
        <p:grpSpPr bwMode="auto">
          <a:xfrm>
            <a:off x="2851150" y="2590800"/>
            <a:ext cx="4464050" cy="1371600"/>
            <a:chOff x="0" y="0"/>
            <a:chExt cx="2812" cy="864"/>
          </a:xfrm>
        </p:grpSpPr>
        <p:sp>
          <p:nvSpPr>
            <p:cNvPr id="43021" name="Rectangle 30"/>
            <p:cNvSpPr>
              <a:spLocks/>
            </p:cNvSpPr>
            <p:nvPr/>
          </p:nvSpPr>
          <p:spPr bwMode="auto">
            <a:xfrm>
              <a:off x="0" y="296"/>
              <a:ext cx="204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>
              <a:spAutoFit/>
            </a:bodyPr>
            <a:lstStyle/>
            <a:p>
              <a:pPr marL="39688"/>
              <a:r>
                <a:rPr lang="en-US" sz="2400">
                  <a:solidFill>
                    <a:srgbClr val="FFFFFF"/>
                  </a:solidFill>
                  <a:latin typeface="Arial" charset="0"/>
                  <a:cs typeface="Arial" charset="0"/>
                  <a:sym typeface="Arial" charset="0"/>
                </a:rPr>
                <a:t>3</a:t>
              </a:r>
            </a:p>
          </p:txBody>
        </p:sp>
        <p:sp>
          <p:nvSpPr>
            <p:cNvPr id="43022" name="Rectangle 31"/>
            <p:cNvSpPr>
              <a:spLocks/>
            </p:cNvSpPr>
            <p:nvPr/>
          </p:nvSpPr>
          <p:spPr bwMode="auto">
            <a:xfrm>
              <a:off x="1344" y="0"/>
              <a:ext cx="204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>
              <a:spAutoFit/>
            </a:bodyPr>
            <a:lstStyle/>
            <a:p>
              <a:pPr marL="39688"/>
              <a:r>
                <a:rPr lang="en-US" sz="2400">
                  <a:solidFill>
                    <a:srgbClr val="FFFFFF"/>
                  </a:solidFill>
                  <a:latin typeface="Arial" charset="0"/>
                  <a:cs typeface="Arial" charset="0"/>
                  <a:sym typeface="Arial" charset="0"/>
                </a:rPr>
                <a:t>4</a:t>
              </a:r>
            </a:p>
          </p:txBody>
        </p:sp>
        <p:sp>
          <p:nvSpPr>
            <p:cNvPr id="43023" name="Rectangle 32"/>
            <p:cNvSpPr>
              <a:spLocks/>
            </p:cNvSpPr>
            <p:nvPr/>
          </p:nvSpPr>
          <p:spPr bwMode="auto">
            <a:xfrm>
              <a:off x="1344" y="584"/>
              <a:ext cx="204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>
              <a:spAutoFit/>
            </a:bodyPr>
            <a:lstStyle/>
            <a:p>
              <a:pPr marL="39688"/>
              <a:r>
                <a:rPr lang="en-US" sz="2400">
                  <a:solidFill>
                    <a:srgbClr val="FFFFFF"/>
                  </a:solidFill>
                  <a:latin typeface="Arial" charset="0"/>
                  <a:cs typeface="Arial" charset="0"/>
                  <a:sym typeface="Arial" charset="0"/>
                </a:rPr>
                <a:t>7</a:t>
              </a:r>
            </a:p>
          </p:txBody>
        </p:sp>
        <p:sp>
          <p:nvSpPr>
            <p:cNvPr id="43024" name="Rectangle 33"/>
            <p:cNvSpPr>
              <a:spLocks/>
            </p:cNvSpPr>
            <p:nvPr/>
          </p:nvSpPr>
          <p:spPr bwMode="auto">
            <a:xfrm>
              <a:off x="2608" y="296"/>
              <a:ext cx="204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>
              <a:spAutoFit/>
            </a:bodyPr>
            <a:lstStyle/>
            <a:p>
              <a:pPr marL="39688"/>
              <a:r>
                <a:rPr lang="en-US" sz="2400">
                  <a:solidFill>
                    <a:srgbClr val="FFFFFF"/>
                  </a:solidFill>
                  <a:latin typeface="Arial" charset="0"/>
                  <a:cs typeface="Arial" charset="0"/>
                  <a:sym typeface="Arial" charset="0"/>
                </a:rPr>
                <a:t>8</a:t>
              </a:r>
            </a:p>
          </p:txBody>
        </p:sp>
      </p:grpSp>
      <p:sp>
        <p:nvSpPr>
          <p:cNvPr id="25" name="Rectangle 8"/>
          <p:cNvSpPr txBox="1">
            <a:spLocks noChangeArrowheads="1"/>
          </p:cNvSpPr>
          <p:nvPr/>
        </p:nvSpPr>
        <p:spPr>
          <a:xfrm>
            <a:off x="1127760" y="120651"/>
            <a:ext cx="8016240" cy="703264"/>
          </a:xfrm>
          <a:prstGeom prst="rect">
            <a:avLst/>
          </a:prstGeom>
        </p:spPr>
        <p:txBody>
          <a:bodyPr vert="horz" lIns="91440" tIns="45720" rIns="13208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006699"/>
                </a:solidFill>
                <a:ea typeface="MS PGothic" pitchFamily="34" charset="-128"/>
              </a:rPr>
              <a:t>Ordered Resource Requests prevent DL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F3C74-8A98-1B49-260A-0C1DD30BCD9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31979444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>
            <a:extLst>
              <a:ext uri="{FF2B5EF4-FFF2-40B4-BE49-F238E27FC236}">
                <a16:creationId xmlns:a16="http://schemas.microsoft.com/office/drawing/2014/main" id="{F3E9582F-73D2-4BB5-8C85-155733606EC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33680" y="2276817"/>
            <a:ext cx="8580119" cy="1063396"/>
          </a:xfrm>
        </p:spPr>
        <p:txBody>
          <a:bodyPr/>
          <a:lstStyle/>
          <a:p>
            <a:pPr marL="457200" lvl="1" indent="0" algn="ctr">
              <a:buNone/>
            </a:pPr>
            <a:r>
              <a:rPr lang="en-US" sz="3200" b="1" dirty="0">
                <a:solidFill>
                  <a:srgbClr val="006699"/>
                </a:solidFill>
                <a:latin typeface="+mj-lt"/>
              </a:rPr>
              <a:t>Avoidance</a:t>
            </a:r>
            <a:endParaRPr lang="en-US" altLang="en-US" sz="3200" b="1" dirty="0">
              <a:solidFill>
                <a:srgbClr val="006699"/>
              </a:solidFill>
              <a:latin typeface="+mj-lt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C740614-1FBB-D246-96C3-BF4C6DE71AD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173600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335280" y="1137920"/>
            <a:ext cx="8712200" cy="53543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Deadlock avoidance is different from deadlock prevention</a:t>
            </a:r>
          </a:p>
          <a:p>
            <a:pPr marL="0" lvl="1" indent="0" algn="ctr">
              <a:spcBef>
                <a:spcPts val="1200"/>
              </a:spcBef>
              <a:buNone/>
            </a:pPr>
            <a:r>
              <a:rPr lang="en-US" sz="22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 the necessary conditions for deadlock,</a:t>
            </a:r>
          </a:p>
          <a:p>
            <a:pPr marL="0" lvl="1" indent="0" algn="ctr">
              <a:buNone/>
            </a:pPr>
            <a:r>
              <a:rPr lang="en-US" sz="22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dynamically allocate resources such that deadlock never occurs</a:t>
            </a:r>
          </a:p>
          <a:p>
            <a:pPr>
              <a:spcBef>
                <a:spcPts val="2400"/>
              </a:spcBef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Two approaches:</a:t>
            </a:r>
          </a:p>
          <a:p>
            <a:pPr marL="914400" lvl="1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400" b="1" dirty="0">
                <a:solidFill>
                  <a:srgbClr val="1F497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 not start a process if its demands might lead to </a:t>
            </a:r>
            <a:br>
              <a:rPr lang="en-US" sz="2400" b="1" dirty="0">
                <a:solidFill>
                  <a:srgbClr val="1F497D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dirty="0">
                <a:solidFill>
                  <a:srgbClr val="1F497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deadlock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is conservative, and thus inefficient</a:t>
            </a:r>
          </a:p>
          <a:p>
            <a:pPr marL="914400" lvl="1" indent="-457200">
              <a:spcBef>
                <a:spcPts val="1800"/>
              </a:spcBef>
              <a:buFont typeface="+mj-lt"/>
              <a:buAutoNum type="arabicPeriod"/>
            </a:pPr>
            <a:r>
              <a:rPr lang="en-US" sz="2400" b="1" dirty="0">
                <a:solidFill>
                  <a:srgbClr val="1F497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 not grant a resource request if this allocation might </a:t>
            </a:r>
            <a:br>
              <a:rPr lang="en-US" sz="2400" b="1" dirty="0">
                <a:solidFill>
                  <a:srgbClr val="1F497D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dirty="0">
                <a:solidFill>
                  <a:srgbClr val="1F497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lead to deadlock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is granted only if some allocation of remaining free</a:t>
            </a:r>
            <a:b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resources is sufficient to allow all processes to complete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2658"/>
            <a:ext cx="6886575" cy="739502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Deadlock Avoidance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EEABE4E-AC0F-0BEA-DBD3-219D9EC863F3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274475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73297"/>
            <a:ext cx="6886575" cy="685163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Deadlock Avoidance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47040" y="1108490"/>
            <a:ext cx="8544560" cy="5471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Deadlock avoidance requires information about </a:t>
            </a:r>
            <a:r>
              <a:rPr lang="en-US" sz="24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future use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resources by processes</a:t>
            </a:r>
          </a:p>
          <a:p>
            <a:pPr marL="746125" lvl="1" indent="-342900">
              <a:spcBef>
                <a:spcPts val="600"/>
              </a:spcBef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 process declares max number of resources of each type </a:t>
            </a:r>
            <a:b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may need</a:t>
            </a:r>
          </a:p>
          <a:p>
            <a:pPr>
              <a:spcBef>
                <a:spcPts val="1800"/>
              </a:spcBef>
              <a:buFont typeface="Wingdings" pitchFamily="2" charset="2"/>
              <a:buChar char="§"/>
            </a:pP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Resource Allocation State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total number of resources </a:t>
            </a:r>
            <a:r>
              <a:rPr lang="en-US" sz="22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available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system</a:t>
            </a:r>
          </a:p>
          <a:p>
            <a:pPr lvl="1">
              <a:spcBef>
                <a:spcPts val="600"/>
              </a:spcBef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 </a:t>
            </a:r>
            <a:r>
              <a:rPr lang="en-US" sz="22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demand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of processes </a:t>
            </a:r>
          </a:p>
          <a:p>
            <a:pPr lvl="1">
              <a:spcBef>
                <a:spcPts val="600"/>
              </a:spcBef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number of resources currently </a:t>
            </a:r>
            <a:r>
              <a:rPr lang="en-US" sz="22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allocated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processes</a:t>
            </a:r>
          </a:p>
          <a:p>
            <a:pPr marL="0" indent="0" algn="ctr">
              <a:spcBef>
                <a:spcPts val="1800"/>
              </a:spcBef>
              <a:buNone/>
            </a:pPr>
            <a:r>
              <a:rPr lang="en-US" sz="24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“DL avoidance algo dynamically examines</a:t>
            </a:r>
            <a:br>
              <a:rPr lang="en-US" sz="24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Resource Allocation State and </a:t>
            </a:r>
            <a:r>
              <a:rPr lang="en-US" sz="22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ensures there can never be</a:t>
            </a:r>
            <a:br>
              <a:rPr lang="en-US" sz="22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circular-wait condition”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E7559A5-511D-D703-398A-86018D826206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50555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93617"/>
            <a:ext cx="6886575" cy="639443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Deadlock Avoidance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16560" y="1095530"/>
            <a:ext cx="8544560" cy="55168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3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Safe State  </a:t>
            </a:r>
            <a:br>
              <a:rPr lang="en-US" sz="23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process requests an available resource, system must decide </a:t>
            </a:r>
            <a:b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its allocation leaves system in safe state</a:t>
            </a:r>
          </a:p>
          <a:p>
            <a:pPr marL="0" indent="0" algn="ctr">
              <a:spcBef>
                <a:spcPts val="1200"/>
              </a:spcBef>
              <a:buNone/>
            </a:pPr>
            <a:r>
              <a:rPr lang="en-US" sz="23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is in safe state, </a:t>
            </a:r>
            <a:br>
              <a:rPr lang="en-US" sz="23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at least one resource allocation sequence exists</a:t>
            </a:r>
            <a:br>
              <a:rPr lang="en-US" sz="23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does not result in DL</a:t>
            </a:r>
            <a:endParaRPr lang="en-US" sz="2300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800"/>
              </a:spcBef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in Safe state 	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  no deadlocks</a:t>
            </a:r>
          </a:p>
          <a:p>
            <a:pPr lvl="1">
              <a:spcBef>
                <a:spcPts val="600"/>
              </a:spcBef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system in Unsafe state 	  possibility of deadlock</a:t>
            </a:r>
          </a:p>
          <a:p>
            <a:pPr>
              <a:spcBef>
                <a:spcPts val="2400"/>
              </a:spcBef>
              <a:buFont typeface="Wingdings" pitchFamily="2" charset="2"/>
              <a:buChar char="§"/>
            </a:pPr>
            <a:r>
              <a:rPr lang="en-US" sz="22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Safe Sequence</a:t>
            </a:r>
            <a:r>
              <a:rPr lang="en-US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br>
              <a:rPr lang="en-US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sequence of execution of processes in which OS can meet resource requests of all processes, and still avoid DL </a:t>
            </a:r>
          </a:p>
          <a:p>
            <a:pPr marL="0" indent="0" algn="ctr">
              <a:spcBef>
                <a:spcPts val="1200"/>
              </a:spcBef>
              <a:buNone/>
            </a:pPr>
            <a:r>
              <a:rPr lang="en-US" sz="23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DL Avoidance ensures system never enters Unsafe state 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167F5B3-549C-FDE7-FC93-9666F55196F2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80761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2658"/>
            <a:ext cx="6886575" cy="719182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Sample Problem 1</a:t>
            </a: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294640" y="995680"/>
            <a:ext cx="8696960" cy="985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6075" indent="-346075">
              <a:spcBef>
                <a:spcPct val="4000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Consider a system having 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12 tape drives 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6075" indent="-346075">
              <a:spcBef>
                <a:spcPct val="4000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There are 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03 processes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which need to use these tape drives</a:t>
            </a:r>
          </a:p>
          <a:p>
            <a:pPr marL="346075" indent="-346075">
              <a:spcBef>
                <a:spcPct val="4000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Current system state is as shown:</a:t>
            </a:r>
          </a:p>
        </p:txBody>
      </p:sp>
      <p:graphicFrame>
        <p:nvGraphicFramePr>
          <p:cNvPr id="14" name="Group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283478"/>
              </p:ext>
            </p:extLst>
          </p:nvPr>
        </p:nvGraphicFramePr>
        <p:xfrm>
          <a:off x="609600" y="2626360"/>
          <a:ext cx="7924800" cy="2133600"/>
        </p:xfrm>
        <a:graphic>
          <a:graphicData uri="http://schemas.openxmlformats.org/drawingml/2006/table">
            <a:tbl>
              <a:tblPr/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Process</a:t>
                      </a:r>
                    </a:p>
                  </a:txBody>
                  <a:tcPr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Max Need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Allocated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</a:t>
                      </a:r>
                      <a:r>
                        <a:rPr kumimoji="0" lang="en-US" sz="2400" b="1" i="0" u="none" strike="noStrike" cap="none" normalizeH="0" baseline="-12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</a:t>
                      </a:r>
                      <a:r>
                        <a:rPr kumimoji="0" lang="en-US" sz="2400" b="1" i="0" u="none" strike="noStrike" cap="none" normalizeH="0" baseline="-12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</a:t>
                      </a:r>
                      <a:r>
                        <a:rPr kumimoji="0" lang="en-US" sz="2400" b="1" i="0" u="none" strike="noStrike" cap="none" normalizeH="0" baseline="-12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294640" y="5216432"/>
            <a:ext cx="850392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4000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 the system in safe state;   if yes, give a safe sequence. 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A2684E1-08EF-3D43-3D3D-16AD07F51DD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937482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Group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390625"/>
              </p:ext>
            </p:extLst>
          </p:nvPr>
        </p:nvGraphicFramePr>
        <p:xfrm>
          <a:off x="515469" y="1128545"/>
          <a:ext cx="7924800" cy="1864162"/>
        </p:xfrm>
        <a:graphic>
          <a:graphicData uri="http://schemas.openxmlformats.org/drawingml/2006/table">
            <a:tbl>
              <a:tblPr/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0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Process</a:t>
                      </a:r>
                    </a:p>
                  </a:txBody>
                  <a:tcPr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Max Need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Allocated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</a:t>
                      </a:r>
                      <a:r>
                        <a:rPr kumimoji="0" lang="en-US" sz="2200" b="1" i="0" u="none" strike="noStrike" cap="none" normalizeH="0" baseline="-12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</a:t>
                      </a:r>
                      <a:r>
                        <a:rPr kumimoji="0" lang="en-US" sz="2200" b="1" i="0" u="none" strike="noStrike" cap="none" normalizeH="0" baseline="-12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1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</a:t>
                      </a:r>
                      <a:r>
                        <a:rPr kumimoji="0" lang="en-US" sz="2200" b="1" i="0" u="none" strike="noStrike" cap="none" normalizeH="0" baseline="-12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E22AFF9-1A73-5DB8-159E-89B2C15787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743008"/>
              </p:ext>
            </p:extLst>
          </p:nvPr>
        </p:nvGraphicFramePr>
        <p:xfrm>
          <a:off x="786447" y="3948249"/>
          <a:ext cx="4402922" cy="1898995"/>
        </p:xfrm>
        <a:graphic>
          <a:graphicData uri="http://schemas.openxmlformats.org/drawingml/2006/table">
            <a:tbl>
              <a:tblPr/>
              <a:tblGrid>
                <a:gridCol w="2201461">
                  <a:extLst>
                    <a:ext uri="{9D8B030D-6E8A-4147-A177-3AD203B41FA5}">
                      <a16:colId xmlns:a16="http://schemas.microsoft.com/office/drawing/2014/main" val="983885171"/>
                    </a:ext>
                  </a:extLst>
                </a:gridCol>
                <a:gridCol w="2201461">
                  <a:extLst>
                    <a:ext uri="{9D8B030D-6E8A-4147-A177-3AD203B41FA5}">
                      <a16:colId xmlns:a16="http://schemas.microsoft.com/office/drawing/2014/main" val="2112401738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Process</a:t>
                      </a:r>
                    </a:p>
                  </a:txBody>
                  <a:tcPr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Curr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 Need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2167644"/>
                  </a:ext>
                </a:extLst>
              </a:tr>
              <a:tr h="4715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</a:t>
                      </a:r>
                      <a:r>
                        <a:rPr kumimoji="0" lang="en-US" sz="2200" b="1" i="0" u="none" strike="noStrike" cap="none" normalizeH="0" baseline="-12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3494309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</a:t>
                      </a:r>
                      <a:r>
                        <a:rPr kumimoji="0" lang="en-US" sz="2200" b="1" i="0" u="none" strike="noStrike" cap="none" normalizeH="0" baseline="-12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911946"/>
                  </a:ext>
                </a:extLst>
              </a:tr>
              <a:tr h="380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</a:t>
                      </a:r>
                      <a:r>
                        <a:rPr kumimoji="0" lang="en-US" sz="2200" b="1" i="0" u="none" strike="noStrike" cap="none" normalizeH="0" baseline="-12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146283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083B929-5CCF-02D0-AA56-366CF0C121C1}"/>
              </a:ext>
            </a:extLst>
          </p:cNvPr>
          <p:cNvSpPr txBox="1"/>
          <p:nvPr/>
        </p:nvSpPr>
        <p:spPr>
          <a:xfrm>
            <a:off x="1012114" y="3270423"/>
            <a:ext cx="72972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Total Tape Drives: 12       Total Allocated: 9        </a:t>
            </a: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Available = 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9F317F-559A-59E2-B2E2-CC2B8C8D3F66}"/>
              </a:ext>
            </a:extLst>
          </p:cNvPr>
          <p:cNvSpPr txBox="1"/>
          <p:nvPr/>
        </p:nvSpPr>
        <p:spPr>
          <a:xfrm>
            <a:off x="5038649" y="4992332"/>
            <a:ext cx="3648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Safe Sequence: &lt;P1, P0, P2&gt;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6EAB1A6-F7A9-098E-D165-A6A3D8002E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32658"/>
            <a:ext cx="6886575" cy="719182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Sample Problem 1 - solution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AFDBF242-FF83-0A0F-D38E-8F78262A21E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192990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314960" y="1082040"/>
            <a:ext cx="8686800" cy="797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Assuming that P2 requests and is allocated one more instance </a:t>
            </a:r>
            <a:b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tape drive. The new system state will be:</a:t>
            </a:r>
          </a:p>
        </p:txBody>
      </p:sp>
      <p:graphicFrame>
        <p:nvGraphicFramePr>
          <p:cNvPr id="16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673820"/>
              </p:ext>
            </p:extLst>
          </p:nvPr>
        </p:nvGraphicFramePr>
        <p:xfrm>
          <a:off x="609600" y="2183130"/>
          <a:ext cx="7924800" cy="1894840"/>
        </p:xfrm>
        <a:graphic>
          <a:graphicData uri="http://schemas.openxmlformats.org/drawingml/2006/table">
            <a:tbl>
              <a:tblPr/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Process</a:t>
                      </a:r>
                    </a:p>
                  </a:txBody>
                  <a:tcPr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Max Need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Allocated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200" b="1" i="0" u="none" strike="noStrike" cap="none" normalizeH="0" baseline="-12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200" b="1" i="0" u="none" strike="noStrike" cap="none" normalizeH="0" baseline="-12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200" b="1" i="0" u="none" strike="noStrike" cap="none" normalizeH="0" baseline="-12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309880" y="4881880"/>
            <a:ext cx="8524240" cy="125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30238" indent="-282575" algn="l">
              <a:spcBef>
                <a:spcPct val="40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 the system in safe state. If yes, give a safe sequence. </a:t>
            </a:r>
            <a:b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not, explain which process may cause a deadlock.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A4D519-2CA3-8BFB-AC3E-60978AE4F9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32658"/>
            <a:ext cx="6886575" cy="719182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Sample Problem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BCB33B-C369-F759-7F20-1E2B4BDF699B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74786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Group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0286552"/>
              </p:ext>
            </p:extLst>
          </p:nvPr>
        </p:nvGraphicFramePr>
        <p:xfrm>
          <a:off x="515469" y="1128545"/>
          <a:ext cx="7924800" cy="1864162"/>
        </p:xfrm>
        <a:graphic>
          <a:graphicData uri="http://schemas.openxmlformats.org/drawingml/2006/table">
            <a:tbl>
              <a:tblPr/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0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Process</a:t>
                      </a:r>
                    </a:p>
                  </a:txBody>
                  <a:tcPr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Max Need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Allocated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</a:t>
                      </a:r>
                      <a:r>
                        <a:rPr kumimoji="0" lang="en-US" sz="2200" b="1" i="0" u="none" strike="noStrike" cap="none" normalizeH="0" baseline="-12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</a:t>
                      </a:r>
                      <a:r>
                        <a:rPr kumimoji="0" lang="en-US" sz="2200" b="1" i="0" u="none" strike="noStrike" cap="none" normalizeH="0" baseline="-12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1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</a:t>
                      </a:r>
                      <a:r>
                        <a:rPr kumimoji="0" lang="en-US" sz="2200" b="1" i="0" u="none" strike="noStrike" cap="none" normalizeH="0" baseline="-12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E22AFF9-1A73-5DB8-159E-89B2C157870F}"/>
              </a:ext>
            </a:extLst>
          </p:cNvPr>
          <p:cNvGraphicFramePr>
            <a:graphicFrameLocks noGrp="1"/>
          </p:cNvGraphicFramePr>
          <p:nvPr/>
        </p:nvGraphicFramePr>
        <p:xfrm>
          <a:off x="786447" y="3948249"/>
          <a:ext cx="4402922" cy="1898995"/>
        </p:xfrm>
        <a:graphic>
          <a:graphicData uri="http://schemas.openxmlformats.org/drawingml/2006/table">
            <a:tbl>
              <a:tblPr/>
              <a:tblGrid>
                <a:gridCol w="2201461">
                  <a:extLst>
                    <a:ext uri="{9D8B030D-6E8A-4147-A177-3AD203B41FA5}">
                      <a16:colId xmlns:a16="http://schemas.microsoft.com/office/drawing/2014/main" val="983885171"/>
                    </a:ext>
                  </a:extLst>
                </a:gridCol>
                <a:gridCol w="2201461">
                  <a:extLst>
                    <a:ext uri="{9D8B030D-6E8A-4147-A177-3AD203B41FA5}">
                      <a16:colId xmlns:a16="http://schemas.microsoft.com/office/drawing/2014/main" val="2112401738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Process</a:t>
                      </a:r>
                    </a:p>
                  </a:txBody>
                  <a:tcPr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Curr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 Need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2167644"/>
                  </a:ext>
                </a:extLst>
              </a:tr>
              <a:tr h="4715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</a:t>
                      </a:r>
                      <a:r>
                        <a:rPr kumimoji="0" lang="en-US" sz="2200" b="1" i="0" u="none" strike="noStrike" cap="none" normalizeH="0" baseline="-12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3494309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</a:t>
                      </a:r>
                      <a:r>
                        <a:rPr kumimoji="0" lang="en-US" sz="2200" b="1" i="0" u="none" strike="noStrike" cap="none" normalizeH="0" baseline="-12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911946"/>
                  </a:ext>
                </a:extLst>
              </a:tr>
              <a:tr h="380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</a:t>
                      </a:r>
                      <a:r>
                        <a:rPr kumimoji="0" lang="en-US" sz="2200" b="1" i="0" u="none" strike="noStrike" cap="none" normalizeH="0" baseline="-12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146283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083B929-5CCF-02D0-AA56-366CF0C121C1}"/>
              </a:ext>
            </a:extLst>
          </p:cNvPr>
          <p:cNvSpPr txBox="1"/>
          <p:nvPr/>
        </p:nvSpPr>
        <p:spPr>
          <a:xfrm>
            <a:off x="1012114" y="3270423"/>
            <a:ext cx="72972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Total Tape Drives: 12       Total Allocated: 10        </a:t>
            </a: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Available =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9F317F-559A-59E2-B2E2-CC2B8C8D3F66}"/>
              </a:ext>
            </a:extLst>
          </p:cNvPr>
          <p:cNvSpPr txBox="1"/>
          <p:nvPr/>
        </p:nvSpPr>
        <p:spPr>
          <a:xfrm>
            <a:off x="5038649" y="4992332"/>
            <a:ext cx="3648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Safe Sequence: &lt;P1, ????&gt;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6EAB1A6-F7A9-098E-D165-A6A3D8002E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32658"/>
            <a:ext cx="6886575" cy="719182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Sample Problem 2 - solution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AFDBF242-FF83-0A0F-D38E-8F78262A21E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DD5821-59E7-FC06-0ACF-AB1A09AF99FC}"/>
              </a:ext>
            </a:extLst>
          </p:cNvPr>
          <p:cNvSpPr txBox="1"/>
          <p:nvPr/>
        </p:nvSpPr>
        <p:spPr>
          <a:xfrm>
            <a:off x="5140249" y="5555749"/>
            <a:ext cx="3648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P0 &amp; P2 are in deadlock…!</a:t>
            </a:r>
          </a:p>
        </p:txBody>
      </p:sp>
    </p:spTree>
    <p:extLst>
      <p:ext uri="{BB962C8B-B14F-4D97-AF65-F5344CB8AC3E}">
        <p14:creationId xmlns:p14="http://schemas.microsoft.com/office/powerpoint/2010/main" val="22345942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52978"/>
            <a:ext cx="6886575" cy="653142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Sample Problems</a:t>
            </a:r>
          </a:p>
        </p:txBody>
      </p:sp>
      <p:sp>
        <p:nvSpPr>
          <p:cNvPr id="14" name="Rectangle 3"/>
          <p:cNvSpPr>
            <a:spLocks noGrp="1" noChangeArrowheads="1"/>
          </p:cNvSpPr>
          <p:nvPr>
            <p:ph idx="1"/>
          </p:nvPr>
        </p:nvSpPr>
        <p:spPr>
          <a:xfrm>
            <a:off x="449166" y="1202730"/>
            <a:ext cx="8544560" cy="5156200"/>
          </a:xfrm>
        </p:spPr>
        <p:txBody>
          <a:bodyPr/>
          <a:lstStyle/>
          <a:p>
            <a:pPr marL="0" eaLnBrk="1" hangingPunct="1">
              <a:spcBef>
                <a:spcPts val="1200"/>
              </a:spcBef>
              <a:buClr>
                <a:schemeClr val="bg1"/>
              </a:buClr>
              <a:buFont typeface="Wingdings 2" pitchFamily="18" charset="2"/>
              <a:buNone/>
              <a:defRPr/>
            </a:pPr>
            <a:r>
              <a:rPr lang="en-US" sz="2400" b="1" u="sng" dirty="0">
                <a:solidFill>
                  <a:srgbClr val="000000"/>
                </a:solidFill>
              </a:rPr>
              <a:t>Problem 1</a:t>
            </a:r>
          </a:p>
          <a:p>
            <a:pPr>
              <a:spcBef>
                <a:spcPts val="1200"/>
              </a:spcBef>
              <a:defRPr/>
            </a:pPr>
            <a:r>
              <a:rPr lang="en-US" sz="2400" dirty="0">
                <a:solidFill>
                  <a:srgbClr val="000000"/>
                </a:solidFill>
              </a:rPr>
              <a:t>Consider a system consisting of four resources of same type that are shared by three processes, each of which needs at most two resources. Show that system is deadlock free.</a:t>
            </a:r>
          </a:p>
          <a:p>
            <a:pPr marL="0" eaLnBrk="1" hangingPunct="1">
              <a:spcBef>
                <a:spcPts val="1200"/>
              </a:spcBef>
              <a:buClr>
                <a:schemeClr val="bg1"/>
              </a:buClr>
              <a:buFont typeface="Wingdings 2" pitchFamily="18" charset="2"/>
              <a:buNone/>
              <a:defRPr/>
            </a:pPr>
            <a:endParaRPr lang="en-US" sz="2400" b="1" u="sng" dirty="0">
              <a:solidFill>
                <a:srgbClr val="000000"/>
              </a:solidFill>
            </a:endParaRPr>
          </a:p>
          <a:p>
            <a:pPr marL="0" eaLnBrk="1" hangingPunct="1">
              <a:spcBef>
                <a:spcPts val="1200"/>
              </a:spcBef>
              <a:buClr>
                <a:schemeClr val="bg1"/>
              </a:buClr>
              <a:buFont typeface="Wingdings 2" pitchFamily="18" charset="2"/>
              <a:buNone/>
              <a:defRPr/>
            </a:pPr>
            <a:r>
              <a:rPr lang="en-US" sz="2400" b="1" u="sng" dirty="0">
                <a:solidFill>
                  <a:srgbClr val="000000"/>
                </a:solidFill>
              </a:rPr>
              <a:t>Problem 2</a:t>
            </a:r>
          </a:p>
          <a:p>
            <a:pPr>
              <a:spcBef>
                <a:spcPts val="1200"/>
              </a:spcBef>
              <a:defRPr/>
            </a:pPr>
            <a:r>
              <a:rPr lang="en-US" sz="2400" dirty="0">
                <a:solidFill>
                  <a:srgbClr val="000000"/>
                </a:solidFill>
              </a:rPr>
              <a:t>A system has two processes and three identical resources. Each process needs a maximum of two resources. Is deadlock possible. Explain your answer.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BF3D88B-BD1F-F16D-4EE4-800FD89B76E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635847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73297"/>
            <a:ext cx="6886575" cy="685163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Deadlock Avoidance Approaches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508000" y="1198880"/>
            <a:ext cx="8260080" cy="45618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Resource Allocation Graph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(RAG) algorithm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DL avoidance when there is a </a:t>
            </a:r>
            <a:r>
              <a:rPr lang="en-US" sz="24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single instance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each resource type</a:t>
            </a:r>
          </a:p>
          <a:p>
            <a:pPr lvl="1">
              <a:spcBef>
                <a:spcPts val="600"/>
              </a:spcBef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uses a variant of RAG</a:t>
            </a:r>
          </a:p>
          <a:p>
            <a:pPr>
              <a:spcBef>
                <a:spcPts val="1800"/>
              </a:spcBef>
              <a:buFont typeface="Wingdings" pitchFamily="2" charset="2"/>
              <a:buChar char="§"/>
            </a:pP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Banker’s Algorithm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DL avoidance when there are </a:t>
            </a:r>
            <a:r>
              <a:rPr lang="en-US" sz="24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multiple instances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each resource type</a:t>
            </a:r>
            <a:endParaRPr lang="en-US" sz="2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</a:pPr>
            <a:endParaRPr lang="en-US" sz="2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E7559A5-511D-D703-398A-86018D826206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560745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42818"/>
            <a:ext cx="6886575" cy="719182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RAG Algorithm</a:t>
            </a: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406399" y="1046480"/>
            <a:ext cx="8432801" cy="5343432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800"/>
              </a:spcBef>
              <a:buFont typeface="Wingdings" pitchFamily="2" charset="2"/>
              <a:buChar char="§"/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addition to </a:t>
            </a:r>
            <a:r>
              <a:rPr lang="en-US" sz="23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Request</a:t>
            </a: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en-US" sz="23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</a:t>
            </a: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edge, RAG algo makes use of </a:t>
            </a:r>
            <a:r>
              <a:rPr lang="en-US" sz="23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Claim</a:t>
            </a: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edge</a:t>
            </a:r>
          </a:p>
          <a:p>
            <a:pPr marL="342900" indent="-342900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3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Claim edge  </a:t>
            </a:r>
            <a:r>
              <a:rPr lang="en-US" sz="23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 </a:t>
            </a:r>
            <a:r>
              <a:rPr lang="en-US" sz="23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          </a:t>
            </a:r>
            <a:r>
              <a:rPr lang="en-US" sz="2300" dirty="0" err="1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Rj</a:t>
            </a:r>
            <a:r>
              <a:rPr lang="en-US" sz="23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  </a:t>
            </a: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indicates future requirement of process: </a:t>
            </a:r>
          </a:p>
          <a:p>
            <a:pPr algn="ctr">
              <a:spcBef>
                <a:spcPts val="600"/>
              </a:spcBef>
            </a:pPr>
            <a:r>
              <a:rPr lang="en-US" sz="23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“process Pi may request an instance of resource </a:t>
            </a:r>
            <a:r>
              <a:rPr lang="en-US" sz="23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Rj</a:t>
            </a:r>
            <a:r>
              <a:rPr lang="en-US" sz="23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</a:t>
            </a:r>
            <a:br>
              <a:rPr lang="en-US" sz="23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</a:br>
            <a:r>
              <a:rPr lang="en-US" sz="23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some time in future” </a:t>
            </a:r>
            <a:endParaRPr lang="en-US" sz="21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itchFamily="18" charset="2"/>
            </a:endParaRPr>
          </a:p>
          <a:p>
            <a:pPr marL="800100" lvl="1" indent="-342900">
              <a:spcBef>
                <a:spcPts val="1800"/>
              </a:spcBef>
              <a:buFont typeface="Calibri" panose="020F0502020204030204" pitchFamily="34" charset="0"/>
              <a:buChar char="―"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when process makes request for resource</a:t>
            </a:r>
          </a:p>
          <a:p>
            <a:pPr lvl="1">
              <a:spcBef>
                <a:spcPts val="600"/>
              </a:spcBef>
            </a:pPr>
            <a:r>
              <a:rPr lang="en-US" sz="20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	    </a:t>
            </a:r>
            <a:r>
              <a:rPr lang="en-US" sz="22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Claim edge  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is</a:t>
            </a:r>
            <a:r>
              <a:rPr lang="en-US" sz="22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converted to </a:t>
            </a:r>
            <a:r>
              <a:rPr lang="en-US" sz="22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Request edge  </a:t>
            </a:r>
          </a:p>
          <a:p>
            <a:pPr marL="800100" lvl="1" indent="-342900">
              <a:spcBef>
                <a:spcPts val="1200"/>
              </a:spcBef>
              <a:buFont typeface="Calibri" panose="020F0502020204030204" pitchFamily="34" charset="0"/>
              <a:buChar char="―"/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when resource is assigned to a process</a:t>
            </a:r>
          </a:p>
          <a:p>
            <a:pPr lvl="1">
              <a:spcBef>
                <a:spcPts val="600"/>
              </a:spcBef>
            </a:pPr>
            <a:r>
              <a:rPr lang="en-US" sz="23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	    </a:t>
            </a:r>
            <a:r>
              <a:rPr lang="en-US" sz="22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Request edge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  is converted to </a:t>
            </a:r>
            <a:r>
              <a:rPr lang="en-US" sz="22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Assignment edge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   </a:t>
            </a:r>
            <a:endParaRPr lang="en-US" sz="220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  <a:sym typeface="Symbol" pitchFamily="18" charset="2"/>
            </a:endParaRPr>
          </a:p>
          <a:p>
            <a:pPr marL="342900" indent="-342900">
              <a:spcBef>
                <a:spcPts val="1800"/>
              </a:spcBef>
              <a:buFont typeface="Wingdings" pitchFamily="2" charset="2"/>
              <a:buChar char="§"/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Processes inform their resource needs in advance </a:t>
            </a:r>
          </a:p>
          <a:p>
            <a:pPr marL="342900" indent="-342900" algn="ctr">
              <a:spcBef>
                <a:spcPts val="600"/>
              </a:spcBef>
              <a:buFont typeface="Calibri" panose="020F0502020204030204" pitchFamily="34" charset="0"/>
              <a:buChar char="―"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before Pi starts execution, its claim edges must appear in RAG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D76FB2D-D353-EBF6-EAA4-95BA80311D0E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7BBB7B7-858C-B164-6255-3489121EE1E7}"/>
              </a:ext>
            </a:extLst>
          </p:cNvPr>
          <p:cNvCxnSpPr>
            <a:cxnSpLocks/>
          </p:cNvCxnSpPr>
          <p:nvPr/>
        </p:nvCxnSpPr>
        <p:spPr bwMode="auto">
          <a:xfrm>
            <a:off x="2651760" y="2143760"/>
            <a:ext cx="599440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00CC"/>
            </a:solidFill>
            <a:prstDash val="sysDash"/>
            <a:round/>
            <a:headEnd type="none" w="med" len="med"/>
            <a:tailEnd type="triangle" w="lg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382617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2658"/>
            <a:ext cx="6886575" cy="729342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RAG Algorithm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/>
          <a:srcRect l="15321" t="6532" r="15155" b="7086"/>
          <a:stretch>
            <a:fillRect/>
          </a:stretch>
        </p:blipFill>
        <p:spPr bwMode="auto">
          <a:xfrm>
            <a:off x="636075" y="1447800"/>
            <a:ext cx="3373949" cy="344424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/>
          <a:srcRect l="15393" t="6873" r="15479" b="6873"/>
          <a:stretch>
            <a:fillRect/>
          </a:stretch>
        </p:blipFill>
        <p:spPr bwMode="auto">
          <a:xfrm>
            <a:off x="4800600" y="1447800"/>
            <a:ext cx="3788229" cy="3507619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14" name="TextBox 8"/>
          <p:cNvSpPr txBox="1">
            <a:spLocks noChangeArrowheads="1"/>
          </p:cNvSpPr>
          <p:nvPr/>
        </p:nvSpPr>
        <p:spPr bwMode="auto">
          <a:xfrm>
            <a:off x="635635" y="5410200"/>
            <a:ext cx="2950845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Claim edge is converted to request edge, and then to assignment edge</a:t>
            </a:r>
          </a:p>
        </p:txBody>
      </p:sp>
      <p:cxnSp>
        <p:nvCxnSpPr>
          <p:cNvPr id="15" name="Shape 10"/>
          <p:cNvCxnSpPr>
            <a:cxnSpLocks/>
          </p:cNvCxnSpPr>
          <p:nvPr/>
        </p:nvCxnSpPr>
        <p:spPr>
          <a:xfrm rot="5400000" flipH="1" flipV="1">
            <a:off x="1724819" y="3993039"/>
            <a:ext cx="1671320" cy="1203642"/>
          </a:xfrm>
          <a:prstGeom prst="curvedConnector3">
            <a:avLst>
              <a:gd name="adj1" fmla="val 17781"/>
            </a:avLst>
          </a:prstGeom>
          <a:ln w="28575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urved Connector 15"/>
          <p:cNvCxnSpPr>
            <a:cxnSpLocks/>
          </p:cNvCxnSpPr>
          <p:nvPr/>
        </p:nvCxnSpPr>
        <p:spPr>
          <a:xfrm rot="5400000" flipH="1" flipV="1">
            <a:off x="6294120" y="3977640"/>
            <a:ext cx="1483360" cy="1168400"/>
          </a:xfrm>
          <a:prstGeom prst="curvedConnector3">
            <a:avLst>
              <a:gd name="adj1" fmla="val 9589"/>
            </a:avLst>
          </a:prstGeom>
          <a:ln w="28575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5"/>
          <p:cNvSpPr txBox="1">
            <a:spLocks noChangeArrowheads="1"/>
          </p:cNvSpPr>
          <p:nvPr/>
        </p:nvSpPr>
        <p:spPr bwMode="auto">
          <a:xfrm>
            <a:off x="4004628" y="5399200"/>
            <a:ext cx="5123497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Before converting claim edge to request edge, need to check whether it will create a cycle</a:t>
            </a:r>
            <a:b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directed Graph, or not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A3894C8-3B10-515C-DA8E-0BE3B8363351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610434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83457"/>
            <a:ext cx="6886575" cy="639443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Banker’s Algorithm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16560" y="1036319"/>
            <a:ext cx="8636726" cy="56272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4163" indent="-284163">
              <a:spcBef>
                <a:spcPts val="600"/>
              </a:spcBef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multiple resources, with multiple instances</a:t>
            </a:r>
          </a:p>
          <a:p>
            <a:pPr marL="284163" indent="-284163">
              <a:spcBef>
                <a:spcPts val="600"/>
              </a:spcBef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process makes a resource request, algorithm checks…</a:t>
            </a:r>
          </a:p>
          <a:p>
            <a:pPr marL="0" indent="0" algn="ctr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22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“whether after grant of request,</a:t>
            </a:r>
            <a:br>
              <a:rPr lang="en-US" sz="22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will remain in Safe state or not;</a:t>
            </a:r>
            <a:br>
              <a:rPr lang="en-US" sz="22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yes request is granted, if not request is denied”</a:t>
            </a:r>
          </a:p>
          <a:p>
            <a:pPr marL="0" lvl="1" indent="0" algn="ctr">
              <a:spcBef>
                <a:spcPts val="1200"/>
              </a:spcBef>
              <a:buNone/>
            </a:pPr>
            <a:r>
              <a:rPr lang="en-US" sz="2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(algo is based on </a:t>
            </a:r>
            <a:r>
              <a:rPr lang="en-US" sz="21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resource denial</a:t>
            </a:r>
            <a:r>
              <a:rPr lang="en-US" sz="2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if risk of deadlock)</a:t>
            </a:r>
          </a:p>
          <a:p>
            <a:pPr marL="284163" indent="-284163">
              <a:spcBef>
                <a:spcPts val="1800"/>
              </a:spcBef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 process must declare its </a:t>
            </a:r>
            <a:r>
              <a:rPr lang="en-US" sz="23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resource requirement </a:t>
            </a: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advance</a:t>
            </a:r>
          </a:p>
          <a:p>
            <a:pPr marL="684213" lvl="1" indent="-284163">
              <a:spcBef>
                <a:spcPts val="600"/>
              </a:spcBef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process requests a resource…</a:t>
            </a:r>
          </a:p>
          <a:p>
            <a:pPr marL="682625" lvl="2" indent="0">
              <a:spcBef>
                <a:spcPts val="0"/>
              </a:spcBef>
              <a:buNone/>
            </a:pPr>
            <a:r>
              <a:rPr lang="en-US" sz="2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may have to </a:t>
            </a:r>
            <a:r>
              <a:rPr lang="en-US" sz="21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wait</a:t>
            </a:r>
            <a:r>
              <a:rPr lang="en-US" sz="2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>
                <a:solidFill>
                  <a:srgbClr val="000000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→ </a:t>
            </a:r>
            <a:r>
              <a:rPr lang="en-US" sz="2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allocation results in </a:t>
            </a:r>
            <a:r>
              <a:rPr lang="en-US" sz="21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Unsafe state</a:t>
            </a:r>
          </a:p>
          <a:p>
            <a:pPr marL="684213" lvl="1" indent="-284163">
              <a:spcBef>
                <a:spcPts val="1200"/>
              </a:spcBef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process gets all its resources…</a:t>
            </a:r>
          </a:p>
          <a:p>
            <a:pPr marL="682625" lvl="2" indent="0">
              <a:spcBef>
                <a:spcPts val="0"/>
              </a:spcBef>
              <a:buNone/>
            </a:pPr>
            <a:r>
              <a:rPr lang="en-US" sz="2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must </a:t>
            </a:r>
            <a:r>
              <a:rPr lang="en-US" sz="21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</a:t>
            </a:r>
            <a:r>
              <a:rPr lang="en-US" sz="2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them in </a:t>
            </a:r>
            <a:r>
              <a:rPr lang="en-US" sz="21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finite amount of time</a:t>
            </a:r>
          </a:p>
          <a:p>
            <a:pPr marL="284163" indent="-284163">
              <a:spcBef>
                <a:spcPts val="1800"/>
              </a:spcBef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Banker’s Algo comprises:  </a:t>
            </a:r>
            <a:r>
              <a:rPr lang="en-US" sz="23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Resource Request algo </a:t>
            </a: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&amp; </a:t>
            </a:r>
            <a:r>
              <a:rPr lang="en-US" sz="23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Safety algo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93DDB8D-417A-1EFA-821A-ABF2651C4D6A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718059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2658"/>
            <a:ext cx="6886575" cy="719182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Data Structures used</a:t>
            </a:r>
          </a:p>
        </p:txBody>
      </p:sp>
      <p:sp>
        <p:nvSpPr>
          <p:cNvPr id="12" name="Rectangle 5"/>
          <p:cNvSpPr txBox="1">
            <a:spLocks noChangeArrowheads="1"/>
          </p:cNvSpPr>
          <p:nvPr/>
        </p:nvSpPr>
        <p:spPr>
          <a:xfrm>
            <a:off x="336232" y="1015999"/>
            <a:ext cx="8716328" cy="5749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1200"/>
              </a:spcBef>
              <a:buNone/>
              <a:defRPr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n = Number of processes	   m = Number of resource types</a:t>
            </a:r>
          </a:p>
          <a:p>
            <a:pPr marL="346075">
              <a:lnSpc>
                <a:spcPct val="11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/>
            </a:pPr>
            <a:r>
              <a:rPr lang="en-US" sz="2200" b="1" u="sng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</a:t>
            </a:r>
            <a:r>
              <a:rPr lang="en-US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n x m matrix, indicates max need of resources by each process</a:t>
            </a:r>
            <a:b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2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 [</a:t>
            </a:r>
            <a:r>
              <a:rPr lang="en-US" sz="22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i,j</a:t>
            </a:r>
            <a:r>
              <a:rPr lang="en-US" sz="22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] = k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US" sz="21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	– P</a:t>
            </a:r>
            <a:r>
              <a:rPr lang="en-US" sz="2100" i="1" baseline="-14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1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may request at most k instances of </a:t>
            </a:r>
            <a:r>
              <a:rPr lang="en-US" sz="2100" i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100" i="1" baseline="-10000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2100" i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6075">
              <a:lnSpc>
                <a:spcPct val="11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/>
            </a:pPr>
            <a:r>
              <a:rPr lang="en-US" sz="2200" b="1" u="sng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Allocation</a:t>
            </a:r>
            <a:r>
              <a:rPr lang="en-US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n x m matrix, indicates number of currently allocated instances of each resource type to each process</a:t>
            </a:r>
            <a:b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2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Allocation [</a:t>
            </a:r>
            <a:r>
              <a:rPr lang="en-US" sz="22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i,j</a:t>
            </a:r>
            <a:r>
              <a:rPr lang="en-US" sz="22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] = k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21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P</a:t>
            </a:r>
            <a:r>
              <a:rPr lang="en-US" sz="2100" b="1" i="1" baseline="-25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1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currently allocated k instances of </a:t>
            </a:r>
            <a:r>
              <a:rPr lang="en-US" sz="2100" i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100" i="1" baseline="-10000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2100" i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6075">
              <a:lnSpc>
                <a:spcPct val="11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/>
            </a:pPr>
            <a:r>
              <a:rPr lang="en-US" sz="2200" b="1" u="sng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Need</a:t>
            </a:r>
            <a:r>
              <a:rPr lang="en-US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n x m matrix, indicates remaining resource need of each process</a:t>
            </a:r>
            <a:b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2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Need [</a:t>
            </a:r>
            <a:r>
              <a:rPr lang="en-US" sz="22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i,j</a:t>
            </a:r>
            <a:r>
              <a:rPr lang="en-US" sz="22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] = k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	  </a:t>
            </a:r>
            <a:r>
              <a:rPr lang="en-US" sz="21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P</a:t>
            </a:r>
            <a:r>
              <a:rPr lang="en-US" sz="2100" i="1" baseline="-14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1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needs k more instances of </a:t>
            </a:r>
            <a:r>
              <a:rPr lang="en-US" sz="2100" i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100" i="1" baseline="-14000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21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6075" indent="-346075">
              <a:lnSpc>
                <a:spcPct val="110000"/>
              </a:lnSpc>
              <a:spcBef>
                <a:spcPts val="1200"/>
              </a:spcBef>
              <a:buFont typeface="Wingdings 2" pitchFamily="18" charset="2"/>
              <a:buNone/>
              <a:defRPr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	</a:t>
            </a:r>
            <a:r>
              <a:rPr lang="en-US" sz="22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Need [</a:t>
            </a:r>
            <a:r>
              <a:rPr lang="en-US" sz="22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i,j</a:t>
            </a:r>
            <a:r>
              <a:rPr lang="en-US" sz="22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]  =  Max [</a:t>
            </a:r>
            <a:r>
              <a:rPr lang="en-US" sz="22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i,j</a:t>
            </a:r>
            <a:r>
              <a:rPr lang="en-US" sz="22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] – Allocation [</a:t>
            </a:r>
            <a:r>
              <a:rPr lang="en-US" sz="22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i,j</a:t>
            </a:r>
            <a:r>
              <a:rPr lang="en-US" sz="22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]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Wingdings" pitchFamily="2" charset="2"/>
              <a:buChar char="§"/>
              <a:defRPr/>
            </a:pPr>
            <a:r>
              <a:rPr lang="en-US" sz="2200" b="1" u="sng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Available</a:t>
            </a:r>
            <a:r>
              <a:rPr lang="en-US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vector of length m, indicates number of currently available instances of each resource type </a:t>
            </a:r>
            <a:b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2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Available [j] = k       </a:t>
            </a:r>
            <a:r>
              <a:rPr lang="en-US" sz="21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resource type </a:t>
            </a:r>
            <a:r>
              <a:rPr lang="en-US" sz="2100" i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100" i="1" baseline="-12000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21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has k instances available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Wingdings" pitchFamily="2" charset="2"/>
              <a:buChar char="§"/>
              <a:defRPr/>
            </a:pPr>
            <a:endParaRPr lang="en-US" sz="2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81426C7-2EAA-9EB4-BEF2-19483E28C32E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565842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485930" y="1131959"/>
            <a:ext cx="8493760" cy="5268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None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Let request vector for process P</a:t>
            </a:r>
            <a:r>
              <a:rPr lang="en-US" sz="2200" b="1" baseline="-1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  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 </a:t>
            </a:r>
            <a:r>
              <a:rPr lang="en-US" sz="2200" dirty="0">
                <a:solidFill>
                  <a:srgbClr val="000000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rgbClr val="C0504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Request</a:t>
            </a:r>
            <a:r>
              <a:rPr lang="en-US" sz="2200" baseline="-25000" dirty="0" err="1">
                <a:solidFill>
                  <a:srgbClr val="C0504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200" dirty="0">
                <a:solidFill>
                  <a:srgbClr val="C0504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[j] = k</a:t>
            </a:r>
            <a:endParaRPr lang="en-US" sz="2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1" indent="-533400">
              <a:spcBef>
                <a:spcPts val="1800"/>
              </a:spcBef>
              <a:buFont typeface="Wingdings" pitchFamily="2" charset="2"/>
              <a:buAutoNum type="arabicPeriod"/>
            </a:pPr>
            <a:r>
              <a:rPr lang="en-US" sz="2100" b="1" dirty="0">
                <a:solidFill>
                  <a:srgbClr val="0000CC"/>
                </a:solidFill>
                <a:latin typeface="Courier New"/>
                <a:cs typeface="Courier New"/>
              </a:rPr>
              <a:t>If </a:t>
            </a:r>
            <a:r>
              <a:rPr lang="en-US" sz="2100" b="1" dirty="0" err="1">
                <a:solidFill>
                  <a:srgbClr val="0000CC"/>
                </a:solidFill>
                <a:latin typeface="Courier New"/>
                <a:cs typeface="Courier New"/>
              </a:rPr>
              <a:t>Request</a:t>
            </a:r>
            <a:r>
              <a:rPr lang="en-US" sz="2100" b="1" baseline="-25000" dirty="0" err="1">
                <a:solidFill>
                  <a:srgbClr val="0000CC"/>
                </a:solidFill>
                <a:latin typeface="Courier New"/>
                <a:cs typeface="Courier New"/>
              </a:rPr>
              <a:t>i</a:t>
            </a:r>
            <a:r>
              <a:rPr lang="en-US" sz="2100" b="1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lang="en-US" sz="2100" b="1" dirty="0">
                <a:solidFill>
                  <a:srgbClr val="0000CC"/>
                </a:solidFill>
                <a:latin typeface="Courier New"/>
                <a:cs typeface="Courier New"/>
                <a:sym typeface="Symbol" pitchFamily="18" charset="2"/>
              </a:rPr>
              <a:t> </a:t>
            </a:r>
            <a:r>
              <a:rPr lang="en-US" sz="2100" b="1" dirty="0" err="1">
                <a:solidFill>
                  <a:srgbClr val="0000CC"/>
                </a:solidFill>
                <a:latin typeface="Courier New"/>
                <a:cs typeface="Courier New"/>
                <a:sym typeface="Symbol" pitchFamily="18" charset="2"/>
              </a:rPr>
              <a:t>Need</a:t>
            </a:r>
            <a:r>
              <a:rPr lang="en-US" sz="2100" b="1" baseline="-25000" dirty="0" err="1">
                <a:solidFill>
                  <a:srgbClr val="0000CC"/>
                </a:solidFill>
                <a:latin typeface="Courier New"/>
                <a:cs typeface="Courier New"/>
              </a:rPr>
              <a:t>i</a:t>
            </a:r>
            <a:r>
              <a:rPr lang="en-US" sz="2100" b="1" dirty="0">
                <a:solidFill>
                  <a:srgbClr val="0000CC"/>
                </a:solidFill>
                <a:latin typeface="Courier New"/>
                <a:cs typeface="Courier New"/>
                <a:sym typeface="Symbol" pitchFamily="18" charset="2"/>
              </a:rPr>
              <a:t>  then</a:t>
            </a:r>
          </a:p>
          <a:p>
            <a:pPr marL="0" lvl="2" indent="-533400">
              <a:spcBef>
                <a:spcPts val="400"/>
              </a:spcBef>
              <a:buFont typeface="Wingdings" pitchFamily="2" charset="2"/>
              <a:buNone/>
            </a:pPr>
            <a:r>
              <a:rPr lang="en-US" sz="2000" dirty="0">
                <a:solidFill>
                  <a:srgbClr val="000000"/>
                </a:solidFill>
                <a:latin typeface="Courier New"/>
                <a:cs typeface="Courier New"/>
                <a:sym typeface="Symbol" pitchFamily="18" charset="2"/>
              </a:rPr>
              <a:t>	go to step 2</a:t>
            </a:r>
          </a:p>
          <a:p>
            <a:pPr marL="0" lvl="2" indent="-533400">
              <a:spcBef>
                <a:spcPts val="0"/>
              </a:spcBef>
              <a:buFont typeface="Wingdings" pitchFamily="2" charset="2"/>
              <a:buNone/>
            </a:pPr>
            <a:r>
              <a:rPr lang="en-US" sz="2000" dirty="0">
                <a:solidFill>
                  <a:srgbClr val="000000"/>
                </a:solidFill>
                <a:latin typeface="Courier New"/>
                <a:cs typeface="Courier New"/>
                <a:sym typeface="Symbol" pitchFamily="18" charset="2"/>
              </a:rPr>
              <a:t>    else</a:t>
            </a:r>
          </a:p>
          <a:p>
            <a:pPr marL="0" lvl="2" indent="-533400">
              <a:spcBef>
                <a:spcPts val="0"/>
              </a:spcBef>
              <a:buFont typeface="Wingdings" pitchFamily="2" charset="2"/>
              <a:buNone/>
            </a:pPr>
            <a:r>
              <a:rPr lang="en-US" sz="2000" dirty="0">
                <a:solidFill>
                  <a:srgbClr val="000000"/>
                </a:solidFill>
                <a:latin typeface="Courier New"/>
                <a:cs typeface="Courier New"/>
                <a:sym typeface="Symbol" pitchFamily="18" charset="2"/>
              </a:rPr>
              <a:t>    	report error 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  <a:sym typeface="Symbol" pitchFamily="18" charset="2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Courier New"/>
                <a:cs typeface="Courier New"/>
                <a:sym typeface="Symbol" pitchFamily="18" charset="2"/>
              </a:rPr>
              <a:t>process exceeded its max claim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  <a:sym typeface="Symbol" pitchFamily="18" charset="2"/>
              </a:rPr>
              <a:t>)</a:t>
            </a:r>
            <a:endParaRPr lang="en-US" sz="2000" dirty="0">
              <a:solidFill>
                <a:srgbClr val="000000"/>
              </a:solidFill>
              <a:latin typeface="Courier New"/>
              <a:cs typeface="Courier New"/>
              <a:sym typeface="Symbol" pitchFamily="18" charset="2"/>
            </a:endParaRPr>
          </a:p>
          <a:p>
            <a:pPr marL="0" lvl="1" indent="-533400">
              <a:spcBef>
                <a:spcPts val="1800"/>
              </a:spcBef>
              <a:buFont typeface="Wingdings" pitchFamily="2" charset="2"/>
              <a:buAutoNum type="arabicPeriod" startAt="2"/>
            </a:pPr>
            <a:r>
              <a:rPr lang="en-US" sz="2100" b="1" dirty="0">
                <a:solidFill>
                  <a:srgbClr val="0000CC"/>
                </a:solidFill>
                <a:latin typeface="Courier New"/>
                <a:cs typeface="Courier New"/>
                <a:sym typeface="Symbol" pitchFamily="18" charset="2"/>
              </a:rPr>
              <a:t>If </a:t>
            </a:r>
            <a:r>
              <a:rPr lang="en-US" sz="2100" b="1" dirty="0" err="1">
                <a:solidFill>
                  <a:srgbClr val="0000CC"/>
                </a:solidFill>
                <a:latin typeface="Courier New"/>
                <a:cs typeface="Courier New"/>
              </a:rPr>
              <a:t>Request</a:t>
            </a:r>
            <a:r>
              <a:rPr lang="en-US" sz="2100" b="1" baseline="-25000" dirty="0" err="1">
                <a:solidFill>
                  <a:srgbClr val="0000CC"/>
                </a:solidFill>
                <a:latin typeface="Courier New"/>
                <a:cs typeface="Courier New"/>
              </a:rPr>
              <a:t>i</a:t>
            </a:r>
            <a:r>
              <a:rPr lang="en-US" sz="2100" b="1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lang="en-US" sz="2100" b="1" dirty="0">
                <a:solidFill>
                  <a:srgbClr val="0000CC"/>
                </a:solidFill>
                <a:latin typeface="Courier New"/>
                <a:cs typeface="Courier New"/>
                <a:sym typeface="Symbol" pitchFamily="18" charset="2"/>
              </a:rPr>
              <a:t> Available then</a:t>
            </a:r>
          </a:p>
          <a:p>
            <a:pPr marL="0" lvl="2" indent="-533400">
              <a:spcBef>
                <a:spcPts val="400"/>
              </a:spcBef>
              <a:buFont typeface="Wingdings" pitchFamily="2" charset="2"/>
              <a:buNone/>
            </a:pPr>
            <a:r>
              <a:rPr lang="en-US" sz="2000" dirty="0">
                <a:solidFill>
                  <a:srgbClr val="000000"/>
                </a:solidFill>
                <a:latin typeface="Courier New"/>
                <a:cs typeface="Courier New"/>
                <a:sym typeface="Symbol" pitchFamily="18" charset="2"/>
              </a:rPr>
              <a:t>	go to step 3</a:t>
            </a:r>
          </a:p>
          <a:p>
            <a:pPr marL="0" lvl="2" indent="-533400">
              <a:spcBef>
                <a:spcPts val="0"/>
              </a:spcBef>
              <a:buFont typeface="Wingdings" pitchFamily="2" charset="2"/>
              <a:buNone/>
            </a:pPr>
            <a:r>
              <a:rPr lang="en-US" sz="2000" dirty="0">
                <a:solidFill>
                  <a:srgbClr val="000000"/>
                </a:solidFill>
                <a:latin typeface="Courier New"/>
                <a:cs typeface="Courier New"/>
                <a:sym typeface="Symbol" pitchFamily="18" charset="2"/>
              </a:rPr>
              <a:t>    else</a:t>
            </a:r>
          </a:p>
          <a:p>
            <a:pPr marL="0" lvl="2" indent="-533400">
              <a:spcBef>
                <a:spcPts val="0"/>
              </a:spcBef>
              <a:buFont typeface="Wingdings" pitchFamily="2" charset="2"/>
              <a:buNone/>
            </a:pPr>
            <a:r>
              <a:rPr lang="en-US" sz="2000" dirty="0">
                <a:solidFill>
                  <a:srgbClr val="000000"/>
                </a:solidFill>
                <a:latin typeface="Courier New"/>
                <a:cs typeface="Courier New"/>
                <a:sym typeface="Symbol" pitchFamily="18" charset="2"/>
              </a:rPr>
              <a:t>	P</a:t>
            </a:r>
            <a:r>
              <a:rPr lang="en-US" sz="2000" baseline="-14000" dirty="0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urier New"/>
                <a:cs typeface="Courier New"/>
                <a:sym typeface="Symbol" pitchFamily="18" charset="2"/>
              </a:rPr>
              <a:t> must wait 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  <a:sym typeface="Symbol" pitchFamily="18" charset="2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Courier New"/>
                <a:cs typeface="Courier New"/>
                <a:sym typeface="Symbol" pitchFamily="18" charset="2"/>
              </a:rPr>
              <a:t>resources not available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  <a:sym typeface="Symbol" pitchFamily="18" charset="2"/>
              </a:rPr>
              <a:t>)</a:t>
            </a:r>
            <a:endParaRPr lang="en-US" sz="2000" dirty="0">
              <a:solidFill>
                <a:srgbClr val="000000"/>
              </a:solidFill>
              <a:latin typeface="Courier New"/>
              <a:cs typeface="Courier New"/>
              <a:sym typeface="Symbol" pitchFamily="18" charset="2"/>
            </a:endParaRPr>
          </a:p>
          <a:p>
            <a:pPr marL="0" lvl="1" indent="-533400">
              <a:spcBef>
                <a:spcPts val="1800"/>
              </a:spcBef>
              <a:buFont typeface="Wingdings" pitchFamily="2" charset="2"/>
              <a:buAutoNum type="arabicPeriod" startAt="2"/>
            </a:pPr>
            <a:r>
              <a:rPr lang="en-US" sz="2100" b="1" dirty="0">
                <a:solidFill>
                  <a:srgbClr val="0000CC"/>
                </a:solidFill>
                <a:latin typeface="Courier New"/>
                <a:cs typeface="Courier New"/>
                <a:sym typeface="Symbol" pitchFamily="18" charset="2"/>
              </a:rPr>
              <a:t>Update system state:</a:t>
            </a:r>
          </a:p>
          <a:p>
            <a:pPr marL="482600" lvl="3" indent="-282575">
              <a:spcBef>
                <a:spcPts val="400"/>
              </a:spcBef>
              <a:buFontTx/>
              <a:buNone/>
            </a:pPr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  <a:sym typeface="Symbol" pitchFamily="18" charset="2"/>
              </a:rPr>
              <a:t>		Available 	=   Available – </a:t>
            </a:r>
            <a:r>
              <a:rPr lang="en-US" dirty="0" err="1">
                <a:solidFill>
                  <a:srgbClr val="000000"/>
                </a:solidFill>
                <a:latin typeface="Courier New"/>
                <a:cs typeface="Courier New"/>
                <a:sym typeface="Symbol" pitchFamily="18" charset="2"/>
              </a:rPr>
              <a:t>Request</a:t>
            </a:r>
            <a:r>
              <a:rPr lang="en-US" baseline="-14000" dirty="0" err="1">
                <a:solidFill>
                  <a:srgbClr val="000000"/>
                </a:solidFill>
                <a:latin typeface="Courier New"/>
                <a:cs typeface="Courier New"/>
                <a:sym typeface="Symbol" pitchFamily="18" charset="2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  <a:sym typeface="Symbol" pitchFamily="18" charset="2"/>
              </a:rPr>
              <a:t>;</a:t>
            </a:r>
          </a:p>
          <a:p>
            <a:pPr marL="482600" lvl="3" indent="-282575">
              <a:spcBef>
                <a:spcPts val="400"/>
              </a:spcBef>
              <a:buFontTx/>
              <a:buNone/>
            </a:pPr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  <a:sym typeface="Symbol" pitchFamily="18" charset="2"/>
              </a:rPr>
              <a:t>		</a:t>
            </a:r>
            <a:r>
              <a:rPr lang="en-US" dirty="0" err="1">
                <a:solidFill>
                  <a:srgbClr val="000000"/>
                </a:solidFill>
                <a:latin typeface="Courier New"/>
                <a:cs typeface="Courier New"/>
                <a:sym typeface="Symbol" pitchFamily="18" charset="2"/>
              </a:rPr>
              <a:t>Allocation</a:t>
            </a:r>
            <a:r>
              <a:rPr lang="en-US" baseline="-14000" dirty="0" err="1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  <a:sym typeface="Symbol" pitchFamily="18" charset="2"/>
              </a:rPr>
              <a:t> 	=   </a:t>
            </a:r>
            <a:r>
              <a:rPr lang="en-US" dirty="0" err="1">
                <a:solidFill>
                  <a:srgbClr val="000000"/>
                </a:solidFill>
                <a:latin typeface="Courier New"/>
                <a:cs typeface="Courier New"/>
                <a:sym typeface="Symbol" pitchFamily="18" charset="2"/>
              </a:rPr>
              <a:t>Allocation</a:t>
            </a:r>
            <a:r>
              <a:rPr lang="en-US" baseline="-14000" dirty="0" err="1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  <a:sym typeface="Symbol" pitchFamily="18" charset="2"/>
              </a:rPr>
              <a:t> + </a:t>
            </a:r>
            <a:r>
              <a:rPr lang="en-US" dirty="0" err="1">
                <a:solidFill>
                  <a:srgbClr val="000000"/>
                </a:solidFill>
                <a:latin typeface="Courier New"/>
                <a:cs typeface="Courier New"/>
                <a:sym typeface="Symbol" pitchFamily="18" charset="2"/>
              </a:rPr>
              <a:t>Request</a:t>
            </a:r>
            <a:r>
              <a:rPr lang="en-US" baseline="-14000" dirty="0" err="1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  <a:sym typeface="Symbol" pitchFamily="18" charset="2"/>
              </a:rPr>
              <a:t>;</a:t>
            </a:r>
          </a:p>
          <a:p>
            <a:pPr marL="482600" lvl="3" indent="-282575">
              <a:spcBef>
                <a:spcPts val="400"/>
              </a:spcBef>
              <a:buFontTx/>
              <a:buNone/>
            </a:pPr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  <a:sym typeface="Symbol" pitchFamily="18" charset="2"/>
              </a:rPr>
              <a:t>		</a:t>
            </a:r>
            <a:r>
              <a:rPr lang="en-US" dirty="0" err="1">
                <a:solidFill>
                  <a:srgbClr val="000000"/>
                </a:solidFill>
                <a:latin typeface="Courier New"/>
                <a:cs typeface="Courier New"/>
                <a:sym typeface="Symbol" pitchFamily="18" charset="2"/>
              </a:rPr>
              <a:t>Need</a:t>
            </a:r>
            <a:r>
              <a:rPr lang="en-US" baseline="-14000" dirty="0" err="1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  <a:sym typeface="Symbol" pitchFamily="18" charset="2"/>
              </a:rPr>
              <a:t>       	=   </a:t>
            </a:r>
            <a:r>
              <a:rPr lang="en-US" dirty="0" err="1">
                <a:solidFill>
                  <a:srgbClr val="000000"/>
                </a:solidFill>
                <a:latin typeface="Courier New"/>
                <a:cs typeface="Courier New"/>
                <a:sym typeface="Symbol" pitchFamily="18" charset="2"/>
              </a:rPr>
              <a:t>Need</a:t>
            </a:r>
            <a:r>
              <a:rPr lang="en-US" baseline="-14000" dirty="0" err="1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  <a:sym typeface="Symbol" pitchFamily="18" charset="2"/>
              </a:rPr>
              <a:t> – </a:t>
            </a:r>
            <a:r>
              <a:rPr lang="en-US" dirty="0" err="1">
                <a:solidFill>
                  <a:srgbClr val="000000"/>
                </a:solidFill>
                <a:latin typeface="Courier New"/>
                <a:cs typeface="Courier New"/>
                <a:sym typeface="Symbol" pitchFamily="18" charset="2"/>
              </a:rPr>
              <a:t>Request</a:t>
            </a:r>
            <a:r>
              <a:rPr lang="en-US" baseline="-14000" dirty="0" err="1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/>
                <a:cs typeface="Courier New"/>
                <a:sym typeface="Symbol" pitchFamily="18" charset="2"/>
              </a:rPr>
              <a:t>;</a:t>
            </a:r>
          </a:p>
          <a:p>
            <a:pPr marL="482600" lvl="3" indent="-282575">
              <a:spcBef>
                <a:spcPts val="400"/>
              </a:spcBef>
              <a:buFontTx/>
              <a:buNone/>
            </a:pPr>
            <a:endParaRPr lang="en-US" dirty="0">
              <a:solidFill>
                <a:srgbClr val="000000"/>
              </a:solidFill>
              <a:latin typeface="Courier New"/>
              <a:cs typeface="Courier New"/>
              <a:sym typeface="Symbol" pitchFamily="18" charset="2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8FD6E3D-48F9-232D-9EB1-D9B8871535DB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2C985DA-653B-6DD9-BC1B-D5C8D7E52C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4560" y="92980"/>
            <a:ext cx="7823200" cy="669019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Resource Request Algorithm</a:t>
            </a:r>
          </a:p>
        </p:txBody>
      </p:sp>
    </p:spTree>
    <p:extLst>
      <p:ext uri="{BB962C8B-B14F-4D97-AF65-F5344CB8AC3E}">
        <p14:creationId xmlns:p14="http://schemas.microsoft.com/office/powerpoint/2010/main" val="1297233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924560" y="92980"/>
            <a:ext cx="7823200" cy="669019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Resource Request Algorithm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77520" y="1271752"/>
            <a:ext cx="8341360" cy="501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6075" indent="-346075" defTabSz="1082675">
              <a:spcBef>
                <a:spcPts val="1200"/>
              </a:spcBef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Now invoke Safety algo with this </a:t>
            </a: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new system state</a:t>
            </a:r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 </a:t>
            </a:r>
          </a:p>
          <a:p>
            <a:pPr marL="346075" indent="-346075" defTabSz="1082675">
              <a:spcBef>
                <a:spcPts val="1800"/>
              </a:spcBef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Safety algo tells Banking algo whether new state is </a:t>
            </a: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safe</a:t>
            </a:r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or not</a:t>
            </a:r>
          </a:p>
          <a:p>
            <a:pPr lvl="1" defTabSz="1082675">
              <a:spcBef>
                <a:spcPts val="1200"/>
              </a:spcBef>
              <a:defRPr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If  </a:t>
            </a:r>
            <a:r>
              <a:rPr lang="en-US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Safe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  	   resources are allocated to P</a:t>
            </a:r>
            <a:r>
              <a:rPr lang="en-US" sz="2200" b="1" baseline="-1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 </a:t>
            </a:r>
          </a:p>
          <a:p>
            <a:pPr lvl="1" defTabSz="1082675">
              <a:spcBef>
                <a:spcPts val="1800"/>
              </a:spcBef>
              <a:defRPr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if  </a:t>
            </a:r>
            <a:r>
              <a:rPr lang="en-US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Unsafe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 	   P</a:t>
            </a:r>
            <a:r>
              <a:rPr lang="en-US" sz="2200" b="1" baseline="-1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 must wait,</a:t>
            </a:r>
          </a:p>
          <a:p>
            <a:pPr marL="457200" lvl="1" indent="0" defTabSz="1082675">
              <a:spcBef>
                <a:spcPts val="600"/>
              </a:spcBef>
              <a:buNone/>
              <a:defRPr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		       old resource allocation state is restored</a:t>
            </a:r>
          </a:p>
          <a:p>
            <a:pPr marL="0" lvl="1" indent="-533400">
              <a:spcBef>
                <a:spcPts val="1200"/>
              </a:spcBef>
              <a:buFont typeface="Wingdings" pitchFamily="2" charset="2"/>
              <a:buAutoNum type="arabicPeriod" startAt="2"/>
              <a:defRPr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Symbol" pitchFamily="18" charset="2"/>
            </a:endParaRPr>
          </a:p>
          <a:p>
            <a:pPr marL="0" lvl="1" indent="-533400">
              <a:spcBef>
                <a:spcPts val="1200"/>
              </a:spcBef>
              <a:buFont typeface="Wingdings" pitchFamily="2" charset="2"/>
              <a:buAutoNum type="arabicPeriod"/>
              <a:defRPr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Symbol" pitchFamily="18" charset="2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F197954-2334-922C-2273-409B0D25116B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957460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2497"/>
            <a:ext cx="6886575" cy="735963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Safety Algorithm</a:t>
            </a:r>
          </a:p>
        </p:txBody>
      </p:sp>
      <p:sp>
        <p:nvSpPr>
          <p:cNvPr id="7" name="Rectangle 5"/>
          <p:cNvSpPr txBox="1">
            <a:spLocks noChangeArrowheads="1"/>
          </p:cNvSpPr>
          <p:nvPr/>
        </p:nvSpPr>
        <p:spPr>
          <a:xfrm>
            <a:off x="416560" y="1066800"/>
            <a:ext cx="8492808" cy="558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200"/>
              </a:spcBef>
              <a:buNone/>
            </a:pPr>
            <a:r>
              <a:rPr lang="en-US" sz="2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determine whether system is in Safe state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854075" lvl="1" indent="-396875">
              <a:spcBef>
                <a:spcPts val="1200"/>
              </a:spcBef>
              <a:buFont typeface="Calibri" panose="020F0502020204030204" pitchFamily="34" charset="0"/>
              <a:buChar char="―"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check system state</a:t>
            </a:r>
          </a:p>
          <a:p>
            <a:pPr marL="854075" lvl="1" indent="-396875">
              <a:spcBef>
                <a:spcPts val="600"/>
              </a:spcBef>
              <a:buFont typeface="Calibri" panose="020F0502020204030204" pitchFamily="34" charset="0"/>
              <a:buChar char="―"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 there any process whose resource request can be met</a:t>
            </a:r>
          </a:p>
          <a:p>
            <a:pPr marL="854075" lvl="1" indent="-396875">
              <a:spcBef>
                <a:spcPts val="600"/>
              </a:spcBef>
              <a:buFont typeface="Calibri" panose="020F0502020204030204" pitchFamily="34" charset="0"/>
              <a:buChar char="―"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yes, note it down in </a:t>
            </a:r>
            <a:r>
              <a:rPr lang="en-US" sz="22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safe sequence</a:t>
            </a:r>
          </a:p>
          <a:p>
            <a:pPr marL="854075" lvl="1" indent="-396875">
              <a:spcBef>
                <a:spcPts val="600"/>
              </a:spcBef>
              <a:buFont typeface="Calibri" panose="020F0502020204030204" pitchFamily="34" charset="0"/>
              <a:buChar char="―"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then add its </a:t>
            </a:r>
            <a:r>
              <a:rPr lang="en-US" sz="22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allocation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vector to </a:t>
            </a:r>
            <a:r>
              <a:rPr lang="en-US" sz="22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available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vector</a:t>
            </a:r>
          </a:p>
          <a:p>
            <a:pPr marL="854075" lvl="1" indent="-396875">
              <a:spcBef>
                <a:spcPts val="600"/>
              </a:spcBef>
              <a:buFont typeface="Calibri" panose="020F0502020204030204" pitchFamily="34" charset="0"/>
              <a:buChar char="―"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get a new </a:t>
            </a:r>
            <a:r>
              <a:rPr lang="en-US" sz="22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available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vector, with some new instances of various resource types</a:t>
            </a:r>
          </a:p>
          <a:p>
            <a:pPr marL="0" lvl="1" indent="0" algn="ctr">
              <a:spcBef>
                <a:spcPts val="600"/>
              </a:spcBef>
              <a:buNone/>
            </a:pPr>
            <a:r>
              <a:rPr lang="en-US" sz="2100" b="1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(repeat above steps for all processes)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Finally, either we are able to :</a:t>
            </a:r>
          </a:p>
          <a:p>
            <a:pPr lvl="1">
              <a:spcBef>
                <a:spcPts val="600"/>
              </a:spcBef>
              <a:buFont typeface="Calibri" panose="020F0502020204030204" pitchFamily="34" charset="0"/>
              <a:buChar char="―"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finish all processes with a safe sequence,     </a:t>
            </a:r>
            <a:r>
              <a:rPr lang="en-US" sz="22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</a:p>
          <a:p>
            <a:pPr lvl="1">
              <a:spcBef>
                <a:spcPts val="0"/>
              </a:spcBef>
              <a:buFont typeface="Calibri" panose="020F0502020204030204" pitchFamily="34" charset="0"/>
              <a:buChar char="―"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may get stuck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Safety algo returns </a:t>
            </a:r>
            <a:r>
              <a:rPr lang="en-US" sz="2400" i="1" dirty="0"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US" sz="23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Safe</a:t>
            </a: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or  </a:t>
            </a:r>
            <a:r>
              <a:rPr lang="en-US" sz="23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Unsafe</a:t>
            </a: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2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(whatever is applicable)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500F0B6-EA5C-78A6-7358-E74BA450BEE5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42012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177"/>
            <a:ext cx="8534400" cy="741269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Sample Problem 1</a:t>
            </a: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386080" y="996860"/>
            <a:ext cx="8697686" cy="10605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mic Sans MS"/>
                <a:cs typeface="Comic Sans MS"/>
              </a:rPr>
              <a:t>Five processes: P</a:t>
            </a:r>
            <a:r>
              <a:rPr lang="en-US" sz="2000" baseline="-14000" dirty="0">
                <a:solidFill>
                  <a:srgbClr val="000000"/>
                </a:solidFill>
                <a:latin typeface="Comic Sans MS"/>
                <a:cs typeface="Comic Sans MS"/>
              </a:rPr>
              <a:t>0</a:t>
            </a:r>
            <a:r>
              <a:rPr lang="en-US" sz="2000" dirty="0">
                <a:solidFill>
                  <a:srgbClr val="000000"/>
                </a:solidFill>
                <a:latin typeface="Comic Sans MS"/>
                <a:cs typeface="Comic Sans MS"/>
              </a:rPr>
              <a:t> … P</a:t>
            </a:r>
            <a:r>
              <a:rPr lang="en-US" sz="2000" baseline="-14000" dirty="0">
                <a:solidFill>
                  <a:srgbClr val="000000"/>
                </a:solidFill>
                <a:latin typeface="Comic Sans MS"/>
                <a:cs typeface="Comic Sans MS"/>
              </a:rPr>
              <a:t>4</a:t>
            </a:r>
            <a:r>
              <a:rPr lang="en-US" sz="2000" dirty="0">
                <a:solidFill>
                  <a:srgbClr val="000000"/>
                </a:solidFill>
                <a:latin typeface="Comic Sans MS"/>
                <a:cs typeface="Comic Sans MS"/>
              </a:rPr>
              <a:t>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mic Sans MS"/>
                <a:cs typeface="Comic Sans MS"/>
              </a:rPr>
              <a:t>Three resource types: A (10 instances), B (5 instances), C (7 instances)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mic Sans MS"/>
                <a:cs typeface="Comic Sans MS"/>
              </a:rPr>
              <a:t>System state is shown below:</a:t>
            </a:r>
          </a:p>
        </p:txBody>
      </p:sp>
      <p:graphicFrame>
        <p:nvGraphicFramePr>
          <p:cNvPr id="13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919569"/>
              </p:ext>
            </p:extLst>
          </p:nvPr>
        </p:nvGraphicFramePr>
        <p:xfrm>
          <a:off x="472440" y="2269219"/>
          <a:ext cx="1714500" cy="449580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Process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4" name="Group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960731"/>
              </p:ext>
            </p:extLst>
          </p:nvPr>
        </p:nvGraphicFramePr>
        <p:xfrm>
          <a:off x="6263640" y="2280332"/>
          <a:ext cx="2438400" cy="44958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Available Vector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" name="Group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838542"/>
              </p:ext>
            </p:extLst>
          </p:nvPr>
        </p:nvGraphicFramePr>
        <p:xfrm>
          <a:off x="3977640" y="2269219"/>
          <a:ext cx="2286000" cy="44958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Allocation Matrix</a:t>
                      </a:r>
                      <a:endParaRPr kumimoji="0" 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  B  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0 1 0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2 0 0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3 0 2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2 1 1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0 0 2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6" name="Group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505148"/>
              </p:ext>
            </p:extLst>
          </p:nvPr>
        </p:nvGraphicFramePr>
        <p:xfrm>
          <a:off x="2225040" y="2269219"/>
          <a:ext cx="1752600" cy="449580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Max Matrix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  B  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7 5 3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3 2 2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9 0 2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2 2 2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4 3 3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-1449294" y="62752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8983ECA1-E0E3-D0E5-6ECE-D9511314BAAD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845916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2658"/>
            <a:ext cx="8534400" cy="698862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Sample Problem 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-1449294" y="62752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>
          <a:xfrm>
            <a:off x="381000" y="1178560"/>
            <a:ext cx="8356600" cy="99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 err="1">
                <a:solidFill>
                  <a:srgbClr val="000000"/>
                </a:solidFill>
                <a:latin typeface="Comic Sans MS"/>
                <a:cs typeface="Comic Sans MS"/>
              </a:rPr>
              <a:t>Need</a:t>
            </a:r>
            <a:r>
              <a:rPr lang="en-US" sz="2400" baseline="-14000" dirty="0" err="1">
                <a:solidFill>
                  <a:srgbClr val="000000"/>
                </a:solidFill>
                <a:latin typeface="Comic Sans MS"/>
                <a:cs typeface="Comic Sans MS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mic Sans MS"/>
                <a:cs typeface="Comic Sans MS"/>
              </a:rPr>
              <a:t> = Max</a:t>
            </a:r>
            <a:r>
              <a:rPr lang="en-US" sz="2400" baseline="-14000" dirty="0">
                <a:solidFill>
                  <a:srgbClr val="000000"/>
                </a:solidFill>
                <a:latin typeface="Comic Sans MS"/>
                <a:cs typeface="Comic Sans MS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mic Sans MS"/>
                <a:cs typeface="Comic Sans MS"/>
              </a:rPr>
              <a:t> – </a:t>
            </a:r>
            <a:r>
              <a:rPr lang="en-US" sz="2400" dirty="0" err="1">
                <a:solidFill>
                  <a:srgbClr val="000000"/>
                </a:solidFill>
                <a:latin typeface="Comic Sans MS"/>
                <a:cs typeface="Comic Sans MS"/>
              </a:rPr>
              <a:t>Allocation</a:t>
            </a:r>
            <a:r>
              <a:rPr lang="en-US" sz="2400" baseline="-14000" dirty="0" err="1">
                <a:solidFill>
                  <a:srgbClr val="000000"/>
                </a:solidFill>
                <a:latin typeface="Comic Sans MS"/>
                <a:cs typeface="Comic Sans MS"/>
              </a:rPr>
              <a:t>i</a:t>
            </a:r>
            <a:endParaRPr lang="en-US" sz="2400" baseline="-14000" dirty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Comic Sans MS"/>
                <a:cs typeface="Comic Sans MS"/>
              </a:rPr>
              <a:t>Need matrix</a:t>
            </a:r>
          </a:p>
        </p:txBody>
      </p:sp>
      <p:graphicFrame>
        <p:nvGraphicFramePr>
          <p:cNvPr id="18" name="Group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219987"/>
              </p:ext>
            </p:extLst>
          </p:nvPr>
        </p:nvGraphicFramePr>
        <p:xfrm>
          <a:off x="1935480" y="2359296"/>
          <a:ext cx="4953000" cy="3482976"/>
        </p:xfrm>
        <a:graphic>
          <a:graphicData uri="http://schemas.openxmlformats.org/drawingml/2006/table">
            <a:tbl>
              <a:tblPr/>
              <a:tblGrid>
                <a:gridCol w="2144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3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7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Process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B16D1617-3FBB-E01D-5EBA-4029C166A09F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05601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2658"/>
            <a:ext cx="8534400" cy="668382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Sample Problem 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-1449294" y="62752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Rectangle 2050"/>
          <p:cNvSpPr>
            <a:spLocks noChangeArrowheads="1"/>
          </p:cNvSpPr>
          <p:nvPr/>
        </p:nvSpPr>
        <p:spPr bwMode="auto">
          <a:xfrm>
            <a:off x="228600" y="5943600"/>
            <a:ext cx="8763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</a:rPr>
              <a:t>Safe Sequence: &lt;&gt;</a:t>
            </a:r>
          </a:p>
        </p:txBody>
      </p:sp>
      <p:graphicFrame>
        <p:nvGraphicFramePr>
          <p:cNvPr id="13" name="Group 20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317238"/>
              </p:ext>
            </p:extLst>
          </p:nvPr>
        </p:nvGraphicFramePr>
        <p:xfrm>
          <a:off x="533400" y="1295400"/>
          <a:ext cx="1714500" cy="449580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Process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4" name="Group 20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474440"/>
              </p:ext>
            </p:extLst>
          </p:nvPr>
        </p:nvGraphicFramePr>
        <p:xfrm>
          <a:off x="6248400" y="1295400"/>
          <a:ext cx="2438400" cy="44958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Available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" name="Group 2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081753"/>
              </p:ext>
            </p:extLst>
          </p:nvPr>
        </p:nvGraphicFramePr>
        <p:xfrm>
          <a:off x="4038600" y="1295400"/>
          <a:ext cx="1981200" cy="44958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Allocation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  B  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0 1 0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2 0 0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3 0 2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2 1 1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0 0 2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6" name="Group 2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671195"/>
              </p:ext>
            </p:extLst>
          </p:nvPr>
        </p:nvGraphicFramePr>
        <p:xfrm>
          <a:off x="2286000" y="1295400"/>
          <a:ext cx="1752600" cy="449580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Need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  B  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7 4 3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1 2 2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6 0 0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0 1 1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4 3 1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07ED080C-990A-5699-C581-E4957ACDB266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321441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2658"/>
            <a:ext cx="8534400" cy="688702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Sample Problem 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-1449294" y="62752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Rectangle 2050"/>
          <p:cNvSpPr>
            <a:spLocks noChangeArrowheads="1"/>
          </p:cNvSpPr>
          <p:nvPr/>
        </p:nvSpPr>
        <p:spPr bwMode="auto">
          <a:xfrm>
            <a:off x="228600" y="5943600"/>
            <a:ext cx="8763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</a:rPr>
              <a:t>Safe Sequence: &lt;P1&gt;</a:t>
            </a:r>
          </a:p>
        </p:txBody>
      </p:sp>
      <p:graphicFrame>
        <p:nvGraphicFramePr>
          <p:cNvPr id="13" name="Group 20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872023"/>
              </p:ext>
            </p:extLst>
          </p:nvPr>
        </p:nvGraphicFramePr>
        <p:xfrm>
          <a:off x="533400" y="1295400"/>
          <a:ext cx="1714500" cy="449580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Process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4" name="Group 20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073233"/>
              </p:ext>
            </p:extLst>
          </p:nvPr>
        </p:nvGraphicFramePr>
        <p:xfrm>
          <a:off x="6248400" y="1295400"/>
          <a:ext cx="2438400" cy="44958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Available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" name="Group 2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09769"/>
              </p:ext>
            </p:extLst>
          </p:nvPr>
        </p:nvGraphicFramePr>
        <p:xfrm>
          <a:off x="4038600" y="1295400"/>
          <a:ext cx="1981200" cy="44958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Allocation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  B  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0 1 0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2 0 0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3 0 2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2 1 1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0 0 2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6" name="Group 2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552972"/>
              </p:ext>
            </p:extLst>
          </p:nvPr>
        </p:nvGraphicFramePr>
        <p:xfrm>
          <a:off x="2286000" y="1295400"/>
          <a:ext cx="1752600" cy="449580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Need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  B  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7 4 3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1 2 2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6 0 0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0 1 1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4 3 1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4E3EE2D-A5AE-7705-BC4E-DFCD4E910F0D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07118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2658"/>
            <a:ext cx="8534400" cy="688702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Sample Problem 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-1449294" y="62752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Rectangle 2050"/>
          <p:cNvSpPr>
            <a:spLocks noChangeArrowheads="1"/>
          </p:cNvSpPr>
          <p:nvPr/>
        </p:nvSpPr>
        <p:spPr bwMode="auto">
          <a:xfrm>
            <a:off x="228600" y="5943600"/>
            <a:ext cx="8763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</a:rPr>
              <a:t>Safe Sequence: &lt;P1, P3&gt;</a:t>
            </a:r>
          </a:p>
        </p:txBody>
      </p:sp>
      <p:graphicFrame>
        <p:nvGraphicFramePr>
          <p:cNvPr id="13" name="Group 20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506467"/>
              </p:ext>
            </p:extLst>
          </p:nvPr>
        </p:nvGraphicFramePr>
        <p:xfrm>
          <a:off x="533400" y="1295400"/>
          <a:ext cx="1714500" cy="449580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Process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4" name="Group 20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654160"/>
              </p:ext>
            </p:extLst>
          </p:nvPr>
        </p:nvGraphicFramePr>
        <p:xfrm>
          <a:off x="6248400" y="1295400"/>
          <a:ext cx="2438400" cy="44958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Available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" name="Group 2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853911"/>
              </p:ext>
            </p:extLst>
          </p:nvPr>
        </p:nvGraphicFramePr>
        <p:xfrm>
          <a:off x="4038600" y="1295400"/>
          <a:ext cx="1981200" cy="44958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Allocation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  B  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0 1 0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2 0 0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3 0 2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2 1 1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0 0 2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6" name="Group 2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265573"/>
              </p:ext>
            </p:extLst>
          </p:nvPr>
        </p:nvGraphicFramePr>
        <p:xfrm>
          <a:off x="2286000" y="1295400"/>
          <a:ext cx="1752600" cy="449580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Need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  B  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7 4 3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1 2 2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6 0 0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0 1 1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4 3 1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FBA3ECF7-78B5-EC76-14DC-79EDAEBF4BE3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969190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2658"/>
            <a:ext cx="8534400" cy="678542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Sample Problem 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-1449294" y="62752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Rectangle 2050"/>
          <p:cNvSpPr>
            <a:spLocks noChangeArrowheads="1"/>
          </p:cNvSpPr>
          <p:nvPr/>
        </p:nvSpPr>
        <p:spPr bwMode="auto">
          <a:xfrm>
            <a:off x="228600" y="5943600"/>
            <a:ext cx="8763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</a:rPr>
              <a:t>Safe Sequence: &lt;P1, P3, P4&gt;</a:t>
            </a:r>
          </a:p>
        </p:txBody>
      </p:sp>
      <p:graphicFrame>
        <p:nvGraphicFramePr>
          <p:cNvPr id="13" name="Group 20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35586"/>
              </p:ext>
            </p:extLst>
          </p:nvPr>
        </p:nvGraphicFramePr>
        <p:xfrm>
          <a:off x="533400" y="1295400"/>
          <a:ext cx="1714500" cy="449580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Process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4" name="Group 20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287146"/>
              </p:ext>
            </p:extLst>
          </p:nvPr>
        </p:nvGraphicFramePr>
        <p:xfrm>
          <a:off x="6248400" y="1295400"/>
          <a:ext cx="2438400" cy="44958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Available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" name="Group 2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671285"/>
              </p:ext>
            </p:extLst>
          </p:nvPr>
        </p:nvGraphicFramePr>
        <p:xfrm>
          <a:off x="4038600" y="1295400"/>
          <a:ext cx="1981200" cy="44958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Allocation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  B  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0 1 0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2 0 0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3 0 2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2 1 1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0 0 2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6" name="Group 2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109004"/>
              </p:ext>
            </p:extLst>
          </p:nvPr>
        </p:nvGraphicFramePr>
        <p:xfrm>
          <a:off x="2286000" y="1295400"/>
          <a:ext cx="1752600" cy="449580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Need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  B  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7 4 3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1 2 2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6 0 0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0 1 1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4 3 1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A4E4A42D-4D7F-2D04-61EF-3DB7D29B23F7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907556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2658"/>
            <a:ext cx="8534400" cy="678542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Sample Problem 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-1449294" y="62752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Rectangle 2050"/>
          <p:cNvSpPr>
            <a:spLocks noChangeArrowheads="1"/>
          </p:cNvSpPr>
          <p:nvPr/>
        </p:nvSpPr>
        <p:spPr bwMode="auto">
          <a:xfrm>
            <a:off x="228600" y="5943600"/>
            <a:ext cx="8763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</a:rPr>
              <a:t>Safe Sequence: &lt;P1, P3, P4, P0&gt;</a:t>
            </a:r>
          </a:p>
        </p:txBody>
      </p:sp>
      <p:graphicFrame>
        <p:nvGraphicFramePr>
          <p:cNvPr id="13" name="Group 20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5567"/>
              </p:ext>
            </p:extLst>
          </p:nvPr>
        </p:nvGraphicFramePr>
        <p:xfrm>
          <a:off x="533400" y="1295400"/>
          <a:ext cx="1714500" cy="449580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Process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4" name="Group 20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097092"/>
              </p:ext>
            </p:extLst>
          </p:nvPr>
        </p:nvGraphicFramePr>
        <p:xfrm>
          <a:off x="6248400" y="1295400"/>
          <a:ext cx="2438400" cy="44958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Available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" name="Group 2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610925"/>
              </p:ext>
            </p:extLst>
          </p:nvPr>
        </p:nvGraphicFramePr>
        <p:xfrm>
          <a:off x="4038600" y="1295400"/>
          <a:ext cx="1981200" cy="44958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Allocation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  B  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0 1 0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2 0 0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3 0 2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2 1 1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0 0 2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6" name="Group 2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750360"/>
              </p:ext>
            </p:extLst>
          </p:nvPr>
        </p:nvGraphicFramePr>
        <p:xfrm>
          <a:off x="2286000" y="1295400"/>
          <a:ext cx="1752600" cy="449580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Need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  B  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7 4 3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1 2 2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6 0 0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0 1 1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4 3 1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567D259-28F5-FC35-6714-9E9962C0BDA9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298730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2658"/>
            <a:ext cx="8534400" cy="678542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Sample Problem 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-1449294" y="62752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Rectangle 2050"/>
          <p:cNvSpPr>
            <a:spLocks noChangeArrowheads="1"/>
          </p:cNvSpPr>
          <p:nvPr/>
        </p:nvSpPr>
        <p:spPr bwMode="auto">
          <a:xfrm>
            <a:off x="228600" y="5943600"/>
            <a:ext cx="8763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</a:rPr>
              <a:t>Safe Sequence: &lt;P1, P3, P4, P0, P2&gt;</a:t>
            </a:r>
          </a:p>
        </p:txBody>
      </p:sp>
      <p:graphicFrame>
        <p:nvGraphicFramePr>
          <p:cNvPr id="13" name="Group 20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473449"/>
              </p:ext>
            </p:extLst>
          </p:nvPr>
        </p:nvGraphicFramePr>
        <p:xfrm>
          <a:off x="533400" y="1295400"/>
          <a:ext cx="1714500" cy="449580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Process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4" name="Group 2068"/>
          <p:cNvGraphicFramePr>
            <a:graphicFrameLocks noGrp="1"/>
          </p:cNvGraphicFramePr>
          <p:nvPr/>
        </p:nvGraphicFramePr>
        <p:xfrm>
          <a:off x="6248400" y="1295400"/>
          <a:ext cx="2438400" cy="44958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Available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" name="Group 2100"/>
          <p:cNvGraphicFramePr>
            <a:graphicFrameLocks noGrp="1"/>
          </p:cNvGraphicFramePr>
          <p:nvPr/>
        </p:nvGraphicFramePr>
        <p:xfrm>
          <a:off x="4038600" y="1295400"/>
          <a:ext cx="1981200" cy="44958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Allocation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  B  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0 1 0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2 0 0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3 0 2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2 1 1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0 0 2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6" name="Group 2118"/>
          <p:cNvGraphicFramePr>
            <a:graphicFrameLocks noGrp="1"/>
          </p:cNvGraphicFramePr>
          <p:nvPr/>
        </p:nvGraphicFramePr>
        <p:xfrm>
          <a:off x="2286000" y="1295400"/>
          <a:ext cx="1752600" cy="449580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Need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  B  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7 4 3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1 2 2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6 0 0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0 1 1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4 3 1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567D259-28F5-FC35-6714-9E9962C0BDA9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8889281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2658"/>
            <a:ext cx="8534400" cy="729342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Sample Problem 1</a:t>
            </a: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528320" y="1229360"/>
            <a:ext cx="8463280" cy="4866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35000"/>
              </a:spcBef>
              <a:buFont typeface="Wingdings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Final safe sequence:</a:t>
            </a:r>
          </a:p>
          <a:p>
            <a:pPr marL="342900" indent="-342900" algn="l">
              <a:spcBef>
                <a:spcPct val="35000"/>
              </a:spcBef>
              <a:buFont typeface="Wingdings" pitchFamily="2" charset="2"/>
              <a:buNone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	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&lt;P1, P3, P4, P0, P2&gt;</a:t>
            </a:r>
          </a:p>
          <a:p>
            <a:pPr marL="342900" indent="-342900" algn="l">
              <a:spcBef>
                <a:spcPts val="1800"/>
              </a:spcBef>
              <a:buFont typeface="Wingdings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 a unique sequence</a:t>
            </a:r>
          </a:p>
          <a:p>
            <a:pPr marL="342900" indent="-342900" algn="l">
              <a:spcBef>
                <a:spcPts val="1800"/>
              </a:spcBef>
              <a:buFont typeface="Wingdings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Possible safe sequences for this example:</a:t>
            </a:r>
          </a:p>
          <a:p>
            <a:pPr marL="342900" indent="-342900" algn="l">
              <a:spcBef>
                <a:spcPct val="35000"/>
              </a:spcBef>
              <a:buFont typeface="Wingdings" pitchFamily="2" charset="2"/>
              <a:buNone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 </a:t>
            </a: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&lt;P1,P3,P4,P0,P2&gt;,  &lt;P1,P3,P4,P2,P0&gt;,  &lt;P1,P3,P2,P0,P4&gt;,</a:t>
            </a:r>
          </a:p>
          <a:p>
            <a:pPr marL="342900" indent="-342900" algn="l">
              <a:spcBef>
                <a:spcPct val="35000"/>
              </a:spcBef>
              <a:buFont typeface="Wingdings" pitchFamily="2" charset="2"/>
              <a:buNone/>
            </a:pP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&lt;P1,P3,P2,P4,P0&gt;,  &lt;P1,P3,P0,P2,P4&gt;,  &lt;P1,P3,P0,P4,P2&gt;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6DA7E03-8015-5D85-16B2-250A9693EBBD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55870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2658"/>
            <a:ext cx="8534400" cy="669652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Sample Problem 2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16560" y="1026160"/>
            <a:ext cx="8458200" cy="12903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Four processes: P</a:t>
            </a:r>
            <a:r>
              <a:rPr lang="en-US" sz="2200" baseline="-1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… P</a:t>
            </a:r>
            <a:r>
              <a:rPr lang="en-US" sz="2200" baseline="-1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Three resource types: A (9 instances), B (3 instances), C (6 instances)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state is shown below:</a:t>
            </a:r>
          </a:p>
        </p:txBody>
      </p:sp>
      <p:graphicFrame>
        <p:nvGraphicFramePr>
          <p:cNvPr id="8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160895"/>
              </p:ext>
            </p:extLst>
          </p:nvPr>
        </p:nvGraphicFramePr>
        <p:xfrm>
          <a:off x="533400" y="2457450"/>
          <a:ext cx="1714500" cy="392303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168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Process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5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5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5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5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  <a:r>
                        <a:rPr kumimoji="0" lang="en-US" sz="2400" b="0" i="0" u="none" strike="noStrike" cap="none" normalizeH="0" baseline="-14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1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-14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4" name="Group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858556"/>
              </p:ext>
            </p:extLst>
          </p:nvPr>
        </p:nvGraphicFramePr>
        <p:xfrm>
          <a:off x="6324600" y="2468563"/>
          <a:ext cx="2438400" cy="3855714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742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Available Vector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7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3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3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7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3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33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" name="Group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265632"/>
              </p:ext>
            </p:extLst>
          </p:nvPr>
        </p:nvGraphicFramePr>
        <p:xfrm>
          <a:off x="4038600" y="2457450"/>
          <a:ext cx="2286000" cy="38883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48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Allocation Matrix</a:t>
                      </a:r>
                      <a:endParaRPr kumimoji="0" 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  B  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1 0 0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6 1 2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4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2 1 1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7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0 0 2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4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6" name="Group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015645"/>
              </p:ext>
            </p:extLst>
          </p:nvPr>
        </p:nvGraphicFramePr>
        <p:xfrm>
          <a:off x="2286000" y="2457450"/>
          <a:ext cx="1752600" cy="392303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4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Max Matrix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5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</a:rPr>
                        <a:t>A  B  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5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3 2 2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5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6 1 3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5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3 1 4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5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4 2 2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11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56AD50D-EBAF-81FF-1C9B-8A0E9423DE29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767786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>
            <a:extLst>
              <a:ext uri="{FF2B5EF4-FFF2-40B4-BE49-F238E27FC236}">
                <a16:creationId xmlns:a16="http://schemas.microsoft.com/office/drawing/2014/main" id="{F3E9582F-73D2-4BB5-8C85-155733606EC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33680" y="2276817"/>
            <a:ext cx="8580119" cy="1063396"/>
          </a:xfrm>
        </p:spPr>
        <p:txBody>
          <a:bodyPr/>
          <a:lstStyle/>
          <a:p>
            <a:pPr marL="457200" lvl="1" indent="0" algn="ctr">
              <a:buNone/>
            </a:pPr>
            <a:r>
              <a:rPr lang="en-US" sz="3200" b="1" dirty="0">
                <a:solidFill>
                  <a:srgbClr val="006699"/>
                </a:solidFill>
                <a:latin typeface="+mj-lt"/>
              </a:rPr>
              <a:t>Detection &amp; Recovery</a:t>
            </a:r>
            <a:endParaRPr lang="en-US" altLang="en-US" sz="3200" b="1" dirty="0">
              <a:solidFill>
                <a:srgbClr val="006699"/>
              </a:solidFill>
              <a:latin typeface="+mj-lt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C740614-1FBB-D246-96C3-BF4C6DE71AD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7619535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904240" y="32658"/>
            <a:ext cx="7934960" cy="694510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Deadlock Detection &amp; Recovery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16560" y="1127760"/>
            <a:ext cx="8534400" cy="492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400"/>
              </a:spcBef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Deadlock </a:t>
            </a:r>
            <a:r>
              <a:rPr lang="en-US" sz="24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prevention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en-US" sz="24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avoidance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result in…</a:t>
            </a:r>
          </a:p>
          <a:p>
            <a:pPr lvl="1">
              <a:spcBef>
                <a:spcPts val="600"/>
              </a:spcBef>
              <a:defRPr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conservative allocation of resources</a:t>
            </a:r>
          </a:p>
          <a:p>
            <a:pPr lvl="1">
              <a:spcBef>
                <a:spcPts val="600"/>
              </a:spcBef>
              <a:defRPr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related inefficiencies</a:t>
            </a:r>
          </a:p>
          <a:p>
            <a:pPr>
              <a:spcBef>
                <a:spcPts val="2400"/>
              </a:spcBef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Deadlock detection takes the opposite approach…</a:t>
            </a:r>
          </a:p>
          <a:p>
            <a:pPr lvl="1">
              <a:spcBef>
                <a:spcPts val="1200"/>
              </a:spcBef>
              <a:defRPr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make allocations liberally</a:t>
            </a:r>
          </a:p>
          <a:p>
            <a:pPr lvl="1">
              <a:spcBef>
                <a:spcPts val="1200"/>
              </a:spcBef>
              <a:defRPr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allow deadlock to occur       </a:t>
            </a:r>
            <a:r>
              <a:rPr lang="en-US" sz="22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(assumption </a:t>
            </a:r>
            <a:r>
              <a:rPr lang="en-US" sz="2200" i="1" dirty="0">
                <a:solidFill>
                  <a:srgbClr val="0000CC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→ </a:t>
            </a:r>
            <a:r>
              <a:rPr lang="en-US" sz="22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DL will be rare)</a:t>
            </a:r>
          </a:p>
          <a:p>
            <a:pPr lvl="1">
              <a:spcBef>
                <a:spcPts val="1200"/>
              </a:spcBef>
              <a:defRPr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then use following algos…</a:t>
            </a:r>
          </a:p>
          <a:p>
            <a:pPr marL="457200" lvl="1" indent="0" defTabSz="741363">
              <a:spcBef>
                <a:spcPts val="1200"/>
              </a:spcBef>
              <a:buNone/>
              <a:defRPr/>
            </a:pPr>
            <a:r>
              <a:rPr lang="en-US" sz="22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  Detection algo  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 check periodically for deadlocks</a:t>
            </a:r>
          </a:p>
          <a:p>
            <a:pPr marL="457200" lvl="1" indent="0" defTabSz="741363">
              <a:spcBef>
                <a:spcPts val="1200"/>
              </a:spcBef>
              <a:buNone/>
              <a:defRPr/>
            </a:pPr>
            <a:r>
              <a:rPr lang="en-US" sz="22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  Recovery algo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–  apply recovery, when necessary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681734B-56ED-9C31-4072-923E22D89731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4698187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924560" y="238145"/>
            <a:ext cx="7985760" cy="1055823"/>
          </a:xfrm>
          <a:noFill/>
          <a:ln/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Deadlock Detection Algo</a:t>
            </a:r>
            <a:br>
              <a:rPr lang="en-US" dirty="0"/>
            </a:br>
            <a:r>
              <a:rPr lang="en-US" sz="2700" b="0" i="1" dirty="0"/>
              <a:t>(for Single Instance of each Resource Type)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518886" y="1495309"/>
            <a:ext cx="8360954" cy="5054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Wait for Graph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used to describe deadlocks: 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1200"/>
              </a:spcBef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‘wait for graph’ is derived from </a:t>
            </a:r>
            <a:r>
              <a:rPr lang="en-US" sz="22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RAG – 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collapse resource nodes</a:t>
            </a:r>
          </a:p>
          <a:p>
            <a:pPr lvl="1">
              <a:spcBef>
                <a:spcPts val="1200"/>
              </a:spcBef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 </a:t>
            </a:r>
            <a:r>
              <a:rPr lang="en-US" sz="22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2200" b="1" baseline="-120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2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 </a:t>
            </a:r>
            <a:r>
              <a:rPr lang="en-US" sz="2200" b="1" dirty="0" err="1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P</a:t>
            </a:r>
            <a:r>
              <a:rPr lang="en-US" sz="2200" b="1" baseline="-12000" dirty="0" err="1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j</a:t>
            </a:r>
            <a:r>
              <a:rPr lang="en-US" sz="22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  </a:t>
            </a:r>
            <a:r>
              <a:rPr lang="en-US" sz="2200" dirty="0">
                <a:solidFill>
                  <a:srgbClr val="000000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→ 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2200" i="1" baseline="-120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2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 is waiting for </a:t>
            </a:r>
            <a:r>
              <a:rPr lang="en-US" sz="2200" i="1" dirty="0" err="1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P</a:t>
            </a:r>
            <a:r>
              <a:rPr lang="en-US" sz="2200" i="1" baseline="-12000" dirty="0" err="1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j</a:t>
            </a:r>
            <a:endParaRPr lang="en-US" sz="2200" i="1" dirty="0">
              <a:solidFill>
                <a:srgbClr val="0000CC"/>
              </a:solidFill>
              <a:latin typeface="Calibri" panose="020F0502020204030204" pitchFamily="34" charset="0"/>
              <a:cs typeface="Calibri" panose="020F0502020204030204" pitchFamily="34" charset="0"/>
              <a:sym typeface="Symbol" pitchFamily="18" charset="2"/>
            </a:endParaRPr>
          </a:p>
          <a:p>
            <a:pPr lvl="1">
              <a:spcBef>
                <a:spcPts val="1200"/>
              </a:spcBef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 </a:t>
            </a:r>
            <a:r>
              <a:rPr lang="en-US" sz="22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cycle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in ‘wait for graph’ </a:t>
            </a:r>
            <a:r>
              <a:rPr lang="en-US" sz="2200" dirty="0">
                <a:solidFill>
                  <a:srgbClr val="000000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2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deadlock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spcBef>
                <a:spcPts val="2400"/>
              </a:spcBef>
              <a:buFont typeface="Wingdings" pitchFamily="2" charset="2"/>
              <a:buChar char="§"/>
            </a:pP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Deadlock detection:</a:t>
            </a:r>
          </a:p>
          <a:p>
            <a:pPr lvl="1">
              <a:spcBef>
                <a:spcPts val="600"/>
              </a:spcBef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maintains a </a:t>
            </a:r>
            <a:r>
              <a:rPr lang="en-US" sz="22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wait for graph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spcBef>
                <a:spcPts val="600"/>
              </a:spcBef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periodically invokes algo to search for </a:t>
            </a:r>
            <a:r>
              <a:rPr lang="en-US" sz="22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cycles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wait for graph</a:t>
            </a:r>
          </a:p>
          <a:p>
            <a:pPr>
              <a:spcBef>
                <a:spcPts val="2400"/>
              </a:spcBef>
              <a:buFont typeface="Wingdings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Algo is simpler than RAG</a:t>
            </a:r>
          </a:p>
          <a:p>
            <a:pPr lvl="1">
              <a:spcBef>
                <a:spcPts val="600"/>
              </a:spcBef>
              <a:buFont typeface="Calibri" panose="020F0502020204030204" pitchFamily="34" charset="0"/>
              <a:buChar char="―"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only includes process dependencies to detect cycles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A92DD09D-644D-D892-0ABF-F15EE34D014F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60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151216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995680" y="93618"/>
            <a:ext cx="7843520" cy="627742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RAG  &amp;  Wait for Graph</a:t>
            </a:r>
          </a:p>
        </p:txBody>
      </p:sp>
      <p:pic>
        <p:nvPicPr>
          <p:cNvPr id="8" name="Picture 4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/>
          <a:srcRect l="592" t="9808" r="458" b="15298"/>
          <a:stretch/>
        </p:blipFill>
        <p:spPr>
          <a:xfrm>
            <a:off x="675187" y="1216480"/>
            <a:ext cx="8153400" cy="4480560"/>
          </a:xfrm>
          <a:noFill/>
          <a:ln w="57150" cmpd="thickThin">
            <a:noFill/>
          </a:ln>
        </p:spPr>
      </p:pic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981492" y="5957224"/>
            <a:ext cx="3227102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>
                <a:solidFill>
                  <a:srgbClr val="000000"/>
                </a:solidFill>
              </a:rPr>
              <a:t>Resource Allocation Graph</a:t>
            </a:r>
          </a:p>
        </p:txBody>
      </p:sp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6389465" y="5883654"/>
            <a:ext cx="1878143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>
                <a:solidFill>
                  <a:srgbClr val="000000"/>
                </a:solidFill>
              </a:rPr>
              <a:t>Wait for Graph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5F7EA88-632B-9E70-83F3-7924FA73C3CE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61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2627972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2658"/>
            <a:ext cx="7772400" cy="698862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Deadlock Detection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26720" y="1066800"/>
            <a:ext cx="8575766" cy="5405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75" indent="0">
              <a:spcBef>
                <a:spcPts val="600"/>
              </a:spcBef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often should detection algo be invoked…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request for allocation can’t be granted immediately</a:t>
            </a:r>
          </a:p>
          <a:p>
            <a:pPr lvl="1" indent="-342900">
              <a:spcBef>
                <a:spcPts val="600"/>
              </a:spcBef>
              <a:defRPr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expensive, but </a:t>
            </a:r>
            <a:r>
              <a:rPr lang="en-US" sz="22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 causing deadlock is identified</a:t>
            </a:r>
          </a:p>
          <a:p>
            <a:pPr lvl="1" indent="-342900">
              <a:spcBef>
                <a:spcPts val="600"/>
              </a:spcBef>
              <a:defRPr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along with other processes involved in deadlock</a:t>
            </a: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Other approaches…</a:t>
            </a:r>
          </a:p>
          <a:p>
            <a:pPr lvl="1" indent="-342900" defTabSz="800100">
              <a:spcBef>
                <a:spcPts val="600"/>
              </a:spcBef>
              <a:defRPr/>
            </a:pPr>
            <a:r>
              <a:rPr lang="en-US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Monitor CPU usage  	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 when usage is below certain level,</a:t>
            </a:r>
            <a:b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		     invoke the algo</a:t>
            </a:r>
          </a:p>
          <a:p>
            <a:pPr lvl="1" indent="-342900" defTabSz="800100">
              <a:spcBef>
                <a:spcPts val="600"/>
              </a:spcBef>
              <a:defRPr/>
            </a:pPr>
            <a:r>
              <a:rPr lang="en-US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Run periodically 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–  after specified time intervals</a:t>
            </a:r>
          </a:p>
          <a:p>
            <a:pPr lvl="1" indent="-342900" defTabSz="801688">
              <a:spcBef>
                <a:spcPts val="600"/>
              </a:spcBef>
              <a:defRPr/>
            </a:pPr>
            <a:r>
              <a:rPr lang="en-US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Run arbitrarily  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–  at random times</a:t>
            </a:r>
          </a:p>
          <a:p>
            <a:pPr marL="0" indent="0" algn="ctr">
              <a:lnSpc>
                <a:spcPct val="110000"/>
              </a:lnSpc>
              <a:spcBef>
                <a:spcPts val="1800"/>
              </a:spcBef>
              <a:buNone/>
              <a:defRPr/>
            </a:pPr>
            <a:r>
              <a:rPr lang="en-US" sz="22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may find a number of cycles in the system,</a:t>
            </a:r>
          </a:p>
          <a:p>
            <a:pPr marL="0" indent="0" algn="ctr">
              <a:lnSpc>
                <a:spcPct val="110000"/>
              </a:lnSpc>
              <a:spcBef>
                <a:spcPts val="600"/>
              </a:spcBef>
              <a:buNone/>
              <a:defRPr/>
            </a:pPr>
            <a:r>
              <a:rPr lang="en-US" sz="22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may not be able to find which process created the cycles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1AD090C-1727-EF28-5CEA-C42EF08379B9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62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3652622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1036320" y="83458"/>
            <a:ext cx="7802880" cy="648062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Deadlock Recovery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11480" y="1219199"/>
            <a:ext cx="8591006" cy="50393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Recovery includes the following approaches…</a:t>
            </a:r>
          </a:p>
          <a:p>
            <a:pPr marL="741363" lvl="2" indent="-385763">
              <a:spcBef>
                <a:spcPts val="1800"/>
              </a:spcBef>
              <a:buFont typeface="+mj-lt"/>
              <a:buAutoNum type="arabicPeriod"/>
            </a:pPr>
            <a:r>
              <a:rPr lang="en-US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Abort all deadlocked processes</a:t>
            </a:r>
          </a:p>
          <a:p>
            <a:pPr marL="1087438" lvl="3" indent="-274638">
              <a:spcBef>
                <a:spcPts val="600"/>
              </a:spcBef>
            </a:pPr>
            <a:r>
              <a:rPr lang="en-US" sz="2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though drastic, but probably most common approach</a:t>
            </a:r>
          </a:p>
          <a:p>
            <a:pPr marL="741363" lvl="2" indent="-385763">
              <a:spcBef>
                <a:spcPts val="1800"/>
              </a:spcBef>
              <a:buFont typeface="+mj-lt"/>
              <a:buAutoNum type="arabicPeriod"/>
            </a:pPr>
            <a:r>
              <a:rPr lang="en-US" sz="22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Abort deadlocked processes, one at a time</a:t>
            </a:r>
          </a:p>
          <a:p>
            <a:pPr marL="1098550" lvl="3" indent="-285750">
              <a:spcBef>
                <a:spcPts val="600"/>
              </a:spcBef>
            </a:pPr>
            <a:r>
              <a:rPr lang="en-US" sz="2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until no deadlock</a:t>
            </a:r>
          </a:p>
          <a:p>
            <a:pPr marL="741363" lvl="2" indent="-385763">
              <a:spcBef>
                <a:spcPts val="1800"/>
              </a:spcBef>
              <a:buFont typeface="+mj-lt"/>
              <a:buAutoNum type="arabicPeriod"/>
            </a:pPr>
            <a:r>
              <a:rPr lang="en-US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Rollback all deadlocked processes</a:t>
            </a:r>
          </a:p>
          <a:p>
            <a:pPr marL="1098550" lvl="3" indent="-285750">
              <a:spcBef>
                <a:spcPts val="600"/>
              </a:spcBef>
            </a:pPr>
            <a:r>
              <a:rPr lang="en-US" sz="2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revert processes to a previous safe state </a:t>
            </a:r>
          </a:p>
          <a:p>
            <a:pPr marL="1098550" lvl="3" indent="-285750">
              <a:spcBef>
                <a:spcPts val="600"/>
              </a:spcBef>
            </a:pPr>
            <a:r>
              <a:rPr lang="en-US" sz="2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rollback mechanisms potentially expensive</a:t>
            </a:r>
          </a:p>
          <a:p>
            <a:pPr marL="1098550" lvl="3" indent="-285750">
              <a:spcBef>
                <a:spcPts val="600"/>
              </a:spcBef>
            </a:pPr>
            <a:r>
              <a:rPr lang="en-US" sz="2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also, original deadlock may recur</a:t>
            </a:r>
          </a:p>
          <a:p>
            <a:pPr marL="741363" lvl="2" indent="-385763">
              <a:spcBef>
                <a:spcPts val="1800"/>
              </a:spcBef>
              <a:buFont typeface="+mj-lt"/>
              <a:buAutoNum type="arabicPeriod"/>
            </a:pPr>
            <a:r>
              <a:rPr lang="en-US" sz="22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Preempt resources</a:t>
            </a:r>
          </a:p>
          <a:p>
            <a:pPr marL="1098550" lvl="3" indent="-285750">
              <a:spcBef>
                <a:spcPts val="600"/>
              </a:spcBef>
            </a:pPr>
            <a:r>
              <a:rPr lang="en-US" sz="2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until no deadlock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D89DDC0-0CE8-1CB9-2895-95A9534A98A4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63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1988028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944880" y="32657"/>
            <a:ext cx="7894320" cy="725803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Deadlock Detection &amp; Recovery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375920" y="1158240"/>
            <a:ext cx="8361680" cy="5318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detection algo determines that deadlock exists, it either:</a:t>
            </a:r>
          </a:p>
          <a:p>
            <a:pPr lvl="1">
              <a:spcBef>
                <a:spcPts val="1200"/>
              </a:spcBef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lets operator deal with deadlock </a:t>
            </a:r>
            <a:r>
              <a:rPr lang="en-US" sz="23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manually</a:t>
            </a: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    </a:t>
            </a:r>
            <a:r>
              <a:rPr lang="en-US" sz="23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</a:p>
          <a:p>
            <a:pPr lvl="1">
              <a:spcBef>
                <a:spcPts val="600"/>
              </a:spcBef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recovers from deadlock </a:t>
            </a:r>
            <a:r>
              <a:rPr lang="en-US" sz="23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automatically</a:t>
            </a:r>
          </a:p>
          <a:p>
            <a:pPr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Two options for breaking a deadlock…</a:t>
            </a:r>
          </a:p>
          <a:p>
            <a:pPr marL="971550" lvl="1" indent="-514350">
              <a:spcBef>
                <a:spcPts val="1200"/>
              </a:spcBef>
              <a:buFont typeface="Lucida Sans" pitchFamily="34" charset="0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 Termination</a:t>
            </a:r>
          </a:p>
          <a:p>
            <a:pPr marL="971550" lvl="1" indent="-514350">
              <a:spcBef>
                <a:spcPts val="600"/>
              </a:spcBef>
              <a:buFont typeface="Lucida Sans" pitchFamily="34" charset="0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Resource Preemption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B54E547-89F1-22B7-89C0-E2192A5FC4B9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64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7189422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995680" y="32658"/>
            <a:ext cx="7843520" cy="678542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Deadlock Detection &amp; Recovery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533400" y="1047180"/>
            <a:ext cx="8534400" cy="5603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Wingdings 2" pitchFamily="18" charset="2"/>
              <a:buNone/>
              <a:defRPr/>
            </a:pP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 Termination</a:t>
            </a:r>
          </a:p>
          <a:p>
            <a:pPr>
              <a:spcBef>
                <a:spcPts val="1200"/>
              </a:spcBef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Abort all deadlocked processes</a:t>
            </a:r>
          </a:p>
          <a:p>
            <a:pPr>
              <a:spcBef>
                <a:spcPts val="1200"/>
              </a:spcBef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Abort one process at a time, until deadlock cycle eliminated</a:t>
            </a:r>
          </a:p>
          <a:p>
            <a:pPr>
              <a:spcBef>
                <a:spcPts val="1800"/>
              </a:spcBef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While selecting </a:t>
            </a:r>
            <a:r>
              <a:rPr lang="en-US" sz="24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victim process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consider following issues:</a:t>
            </a:r>
          </a:p>
          <a:p>
            <a:pPr marL="1042988" lvl="1" indent="-4572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priority of process</a:t>
            </a:r>
          </a:p>
          <a:p>
            <a:pPr marL="1042988" lvl="1" indent="-4572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long process has run</a:t>
            </a:r>
          </a:p>
          <a:p>
            <a:pPr marL="1042988" lvl="1" indent="-4572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 process interactive or batch</a:t>
            </a:r>
          </a:p>
          <a:p>
            <a:pPr marL="1042416" lvl="1" indent="-4572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resources already held by process</a:t>
            </a:r>
          </a:p>
          <a:p>
            <a:pPr marL="1042416" lvl="1" indent="-4572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additional resources needed to complete</a:t>
            </a:r>
          </a:p>
          <a:p>
            <a:pPr marL="1042416" lvl="1" indent="-4572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many child processes will need to be terminated 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998EAC1-ACBD-544E-3858-CA6D0DE1593E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65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965664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1076960" y="83458"/>
            <a:ext cx="7762240" cy="653142"/>
          </a:xfrm>
          <a:noFill/>
          <a:ln/>
        </p:spPr>
        <p:txBody>
          <a:bodyPr>
            <a:noAutofit/>
          </a:bodyPr>
          <a:lstStyle/>
          <a:p>
            <a:r>
              <a:rPr lang="en-US" dirty="0"/>
              <a:t>Deadlock Detection &amp; Recovery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70860" y="1083776"/>
            <a:ext cx="8626566" cy="56137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  <a:defRPr/>
            </a:pP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Resource Preemption    </a:t>
            </a:r>
          </a:p>
          <a:p>
            <a:pPr marL="344488" indent="-457200">
              <a:spcBef>
                <a:spcPts val="1000"/>
              </a:spcBef>
              <a:buFont typeface="Wingdings" panose="05000000000000000000" pitchFamily="2" charset="2"/>
              <a:buChar char="§"/>
              <a:defRPr/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 a process, &amp; take back some resources</a:t>
            </a:r>
          </a:p>
          <a:p>
            <a:pPr marL="344488" indent="-457200">
              <a:spcBef>
                <a:spcPts val="1000"/>
              </a:spcBef>
              <a:buFont typeface="Wingdings" panose="05000000000000000000" pitchFamily="2" charset="2"/>
              <a:buChar char="§"/>
              <a:defRPr/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allocate these resources to other requesting processes</a:t>
            </a:r>
          </a:p>
          <a:p>
            <a:pPr marL="344488" indent="-457200">
              <a:spcBef>
                <a:spcPts val="1000"/>
              </a:spcBef>
              <a:buFont typeface="Wingdings" panose="05000000000000000000" pitchFamily="2" charset="2"/>
              <a:buChar char="§"/>
              <a:defRPr/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bring system out of deadlock</a:t>
            </a:r>
          </a:p>
          <a:p>
            <a:pPr marL="0">
              <a:spcBef>
                <a:spcPts val="2400"/>
              </a:spcBef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Three important issues to be considered:</a:t>
            </a:r>
          </a:p>
          <a:p>
            <a:pPr marL="630238" indent="-282575">
              <a:spcBef>
                <a:spcPts val="1200"/>
              </a:spcBef>
              <a:defRPr/>
            </a:pPr>
            <a:r>
              <a:rPr lang="en-US" sz="22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Victim Selection </a:t>
            </a:r>
            <a:r>
              <a:rPr lang="en-US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 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which process/resource to be preempted</a:t>
            </a:r>
          </a:p>
          <a:p>
            <a:pPr marL="630238" indent="-282575">
              <a:spcBef>
                <a:spcPts val="1200"/>
              </a:spcBef>
              <a:defRPr/>
            </a:pPr>
            <a:r>
              <a:rPr lang="en-US" sz="22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Rollback</a:t>
            </a:r>
            <a:r>
              <a:rPr lang="en-US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 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resource preempted from a process </a:t>
            </a:r>
          </a:p>
          <a:p>
            <a:pPr marL="1030288" lvl="1" indent="-282575">
              <a:spcBef>
                <a:spcPts val="600"/>
              </a:spcBef>
              <a:defRPr/>
            </a:pPr>
            <a:r>
              <a:rPr lang="en-US" sz="21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need to rollback victim process to some safe state</a:t>
            </a:r>
          </a:p>
          <a:p>
            <a:pPr marL="1030288" lvl="1" indent="-282575">
              <a:spcBef>
                <a:spcPts val="600"/>
              </a:spcBef>
              <a:defRPr/>
            </a:pPr>
            <a:r>
              <a:rPr lang="en-US" sz="21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restarting later</a:t>
            </a:r>
          </a:p>
          <a:p>
            <a:pPr marL="630238" indent="-282575">
              <a:spcBef>
                <a:spcPts val="1200"/>
              </a:spcBef>
              <a:defRPr/>
            </a:pPr>
            <a:r>
              <a:rPr lang="en-US" sz="22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Starvation</a:t>
            </a:r>
            <a:r>
              <a:rPr lang="en-US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 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possible to always pick the same process as victim </a:t>
            </a:r>
          </a:p>
          <a:p>
            <a:pPr marL="1030288" lvl="1" indent="-282575">
              <a:spcBef>
                <a:spcPts val="600"/>
              </a:spcBef>
              <a:defRPr/>
            </a:pPr>
            <a:r>
              <a:rPr lang="en-US" sz="21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include rollback count in cost factor of victim selection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7ED4937-DDE5-855C-1635-F5AE06174E39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66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50420225"/>
      </p:ext>
    </p:extLst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27496</TotalTime>
  <Words>4511</Words>
  <Application>Microsoft Office PowerPoint</Application>
  <PresentationFormat>On-screen Show (4:3)</PresentationFormat>
  <Paragraphs>909</Paragraphs>
  <Slides>66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84" baseType="lpstr">
      <vt:lpstr>MS PGothic</vt:lpstr>
      <vt:lpstr>Abadi</vt:lpstr>
      <vt:lpstr>Arial</vt:lpstr>
      <vt:lpstr>Calibri</vt:lpstr>
      <vt:lpstr>Comic Sans MS</vt:lpstr>
      <vt:lpstr>Courier New</vt:lpstr>
      <vt:lpstr>Gill Sans MT</vt:lpstr>
      <vt:lpstr>Helvetica</vt:lpstr>
      <vt:lpstr>Lucida Sans</vt:lpstr>
      <vt:lpstr>Symbol</vt:lpstr>
      <vt:lpstr>Tahoma</vt:lpstr>
      <vt:lpstr>Times New Roman</vt:lpstr>
      <vt:lpstr>ui-sans-serif</vt:lpstr>
      <vt:lpstr>Verdana</vt:lpstr>
      <vt:lpstr>Webdings</vt:lpstr>
      <vt:lpstr>Wingdings</vt:lpstr>
      <vt:lpstr>Wingdings 2</vt:lpstr>
      <vt:lpstr>os-8</vt:lpstr>
      <vt:lpstr>PowerPoint Presentation</vt:lpstr>
      <vt:lpstr>Objectives</vt:lpstr>
      <vt:lpstr>Deadlock Problem</vt:lpstr>
      <vt:lpstr>Deadlock Problem</vt:lpstr>
      <vt:lpstr>Deadlock Problem</vt:lpstr>
      <vt:lpstr>Deadlock Problem</vt:lpstr>
      <vt:lpstr>Resources</vt:lpstr>
      <vt:lpstr>Conditions for Deadlock</vt:lpstr>
      <vt:lpstr>PowerPoint Presentation</vt:lpstr>
      <vt:lpstr>Deadlock Characterization</vt:lpstr>
      <vt:lpstr>Resource Allocation Graph</vt:lpstr>
      <vt:lpstr>Resource Allocation Graph – w/o Deadlock</vt:lpstr>
      <vt:lpstr>Resource Allocation Graph - with Deadlock</vt:lpstr>
      <vt:lpstr>RAG With a Cycle - No Deadlock</vt:lpstr>
      <vt:lpstr>Basic Facts</vt:lpstr>
      <vt:lpstr>Sample Problem</vt:lpstr>
      <vt:lpstr>Deadlock Solutions</vt:lpstr>
      <vt:lpstr>Deadlock Solutions</vt:lpstr>
      <vt:lpstr>PowerPoint Presentation</vt:lpstr>
      <vt:lpstr>Deadlock Prevention</vt:lpstr>
      <vt:lpstr>Deadlock Prevention</vt:lpstr>
      <vt:lpstr>Deadlock Prevention</vt:lpstr>
      <vt:lpstr>Deadlock Prevention</vt:lpstr>
      <vt:lpstr>Deadlock Prevention</vt:lpstr>
      <vt:lpstr>Deadlock Prevention</vt:lpstr>
      <vt:lpstr>Deadlock Prevention</vt:lpstr>
      <vt:lpstr>Deadlock Prevention</vt:lpstr>
      <vt:lpstr>PowerPoint Presentation</vt:lpstr>
      <vt:lpstr>PowerPoint Presentation</vt:lpstr>
      <vt:lpstr>Are we always in trouble without ordering resources…?</vt:lpstr>
      <vt:lpstr>PowerPoint Presentation</vt:lpstr>
      <vt:lpstr>Deadlock Avoidance</vt:lpstr>
      <vt:lpstr>Deadlock Avoidance</vt:lpstr>
      <vt:lpstr>Deadlock Avoidance</vt:lpstr>
      <vt:lpstr>Sample Problem 1</vt:lpstr>
      <vt:lpstr>Sample Problem 1 - solution</vt:lpstr>
      <vt:lpstr>Sample Problem 2</vt:lpstr>
      <vt:lpstr>Sample Problem 2 - solution</vt:lpstr>
      <vt:lpstr>Sample Problems</vt:lpstr>
      <vt:lpstr>Deadlock Avoidance Approaches</vt:lpstr>
      <vt:lpstr>RAG Algorithm</vt:lpstr>
      <vt:lpstr>RAG Algorithm</vt:lpstr>
      <vt:lpstr>Banker’s Algorithm</vt:lpstr>
      <vt:lpstr>Data Structures used</vt:lpstr>
      <vt:lpstr>Resource Request Algorithm</vt:lpstr>
      <vt:lpstr>Resource Request Algorithm</vt:lpstr>
      <vt:lpstr>Safety Algorithm</vt:lpstr>
      <vt:lpstr>Sample Problem 1</vt:lpstr>
      <vt:lpstr>Sample Problem 1</vt:lpstr>
      <vt:lpstr>Sample Problem 1</vt:lpstr>
      <vt:lpstr>Sample Problem 1</vt:lpstr>
      <vt:lpstr>Sample Problem 1</vt:lpstr>
      <vt:lpstr>Sample Problem 1</vt:lpstr>
      <vt:lpstr>Sample Problem 1</vt:lpstr>
      <vt:lpstr>Sample Problem 1</vt:lpstr>
      <vt:lpstr>Sample Problem 1</vt:lpstr>
      <vt:lpstr>Sample Problem 2</vt:lpstr>
      <vt:lpstr>PowerPoint Presentation</vt:lpstr>
      <vt:lpstr>Deadlock Detection &amp; Recovery</vt:lpstr>
      <vt:lpstr>Deadlock Detection Algo (for Single Instance of each Resource Type)</vt:lpstr>
      <vt:lpstr>RAG  &amp;  Wait for Graph</vt:lpstr>
      <vt:lpstr>Deadlock Detection</vt:lpstr>
      <vt:lpstr>Deadlock Recovery</vt:lpstr>
      <vt:lpstr>Deadlock Detection &amp; Recovery</vt:lpstr>
      <vt:lpstr>Deadlock Detection &amp; Recovery</vt:lpstr>
      <vt:lpstr>Deadlock Detection &amp; Recovery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Dr Nauman Mazhar</cp:lastModifiedBy>
  <cp:revision>653</cp:revision>
  <cp:lastPrinted>2001-06-14T13:58:17Z</cp:lastPrinted>
  <dcterms:created xsi:type="dcterms:W3CDTF">2011-01-13T23:43:38Z</dcterms:created>
  <dcterms:modified xsi:type="dcterms:W3CDTF">2024-06-14T04:57:14Z</dcterms:modified>
</cp:coreProperties>
</file>